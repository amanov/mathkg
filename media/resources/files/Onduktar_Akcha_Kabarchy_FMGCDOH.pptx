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4"/>
  </p:notesMasterIdLst>
  <p:sldIdLst>
    <p:sldId id="955" r:id="rId2"/>
    <p:sldId id="956" r:id="rId3"/>
    <p:sldId id="878" r:id="rId4"/>
    <p:sldId id="894" r:id="rId5"/>
    <p:sldId id="881" r:id="rId6"/>
    <p:sldId id="943" r:id="rId7"/>
    <p:sldId id="948" r:id="rId8"/>
    <p:sldId id="871" r:id="rId9"/>
    <p:sldId id="950" r:id="rId10"/>
    <p:sldId id="945" r:id="rId11"/>
    <p:sldId id="882" r:id="rId12"/>
    <p:sldId id="949" r:id="rId13"/>
    <p:sldId id="883" r:id="rId14"/>
    <p:sldId id="884" r:id="rId15"/>
    <p:sldId id="946" r:id="rId16"/>
    <p:sldId id="888" r:id="rId17"/>
    <p:sldId id="947" r:id="rId18"/>
    <p:sldId id="940" r:id="rId19"/>
    <p:sldId id="958" r:id="rId20"/>
    <p:sldId id="951" r:id="rId21"/>
    <p:sldId id="952" r:id="rId22"/>
    <p:sldId id="957" r:id="rId23"/>
  </p:sldIdLst>
  <p:sldSz cx="9906000" cy="6858000" type="A4"/>
  <p:notesSz cx="6669088" cy="9926638"/>
  <p:embeddedFontLst>
    <p:embeddedFont>
      <p:font typeface="Arial Rounded MT Bold" panose="020F0704030504030204" pitchFamily="34" charset="0"/>
      <p:regular r:id="rId25"/>
    </p:embeddedFont>
    <p:embeddedFont>
      <p:font typeface="Forte" panose="03060902040502070203" pitchFamily="66" charset="0"/>
      <p:regular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EF9AA782-7305-4EF0-826B-496B748B9DFA}">
          <p14:sldIdLst>
            <p14:sldId id="955"/>
            <p14:sldId id="956"/>
          </p14:sldIdLst>
        </p14:section>
        <p14:section name="Башкы слайд" id="{F72FDD69-17BE-4A5B-85A4-6E32B4A84C68}">
          <p14:sldIdLst>
            <p14:sldId id="878"/>
            <p14:sldId id="894"/>
          </p14:sldIdLst>
        </p14:section>
        <p14:section name="A5 Суроолор" id="{7AB822BA-3FD1-4214-B6A3-0CC2B5594D37}">
          <p14:sldIdLst>
            <p14:sldId id="881"/>
            <p14:sldId id="943"/>
            <p14:sldId id="948"/>
            <p14:sldId id="871"/>
            <p14:sldId id="950"/>
            <p14:sldId id="945"/>
            <p14:sldId id="882"/>
            <p14:sldId id="949"/>
            <p14:sldId id="883"/>
            <p14:sldId id="884"/>
            <p14:sldId id="946"/>
            <p14:sldId id="888"/>
            <p14:sldId id="947"/>
          </p14:sldIdLst>
        </p14:section>
        <p14:section name="Жооптор" id="{76F00656-3C7B-48B1-AB40-B28CB114CE94}">
          <p14:sldIdLst>
            <p14:sldId id="940"/>
          </p14:sldIdLst>
        </p14:section>
        <p14:section name="Окуучулардын жооп кагазы" id="{1229D97B-7AD4-4172-843E-8573209DA75B}">
          <p14:sldIdLst>
            <p14:sldId id="958"/>
            <p14:sldId id="951"/>
            <p14:sldId id="952"/>
          </p14:sldIdLst>
        </p14:section>
        <p14:section name="Кайтарым байланыш" id="{5CEDF54B-67BB-44A6-A080-F68F267EFC37}">
          <p14:sldIdLst>
            <p14:sldId id="9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C280BA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91" autoAdjust="0"/>
    <p:restoredTop sz="94343" autoAdjust="0"/>
  </p:normalViewPr>
  <p:slideViewPr>
    <p:cSldViewPr snapToGrid="0" showGuides="1">
      <p:cViewPr varScale="1">
        <p:scale>
          <a:sx n="59" d="100"/>
          <a:sy n="59" d="100"/>
        </p:scale>
        <p:origin x="1508" y="28"/>
      </p:cViewPr>
      <p:guideLst>
        <p:guide orient="horz" pos="2137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1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Title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553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Optional rules slide to show the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8004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y-KG"/>
              <a:t>Жооптор окуучулардын өздөрүнүн же башка команданын ишин текшерүү\салыштыруу  үчүн көрсөтүлөт.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75952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51018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1830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microsoft.com/office/2007/relationships/hdphoto" Target="../media/hdphoto3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microsoft.com/office/2007/relationships/hdphoto" Target="../media/hdphoto4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21920" y="1218533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 –Тур</a:t>
            </a:r>
            <a:r>
              <a:rPr lang="ky-KG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уштан эсептер– Калькулятор менен иштөө – Кабарчы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жарышта бир окуучу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 же андан көп окуучудан турган команданын кабарчысы болот.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Чуркап тынчтыкты бузбастан(!), алар суроолор тууралуу маалыматты (бөлмөнүн айланасында жайгаштырылган) командалаштарына кабар беришет, командалаштары кабарчыдан алган суроолорго жооп беришет.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кабарчынын суроонсун жана жообун жазып алышы керек, алар иш-чаранын аягындагы жооп слайдын колдонуу менен өз иштерин текшере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Упайлар системасы менен окуучулар тиешелүү суроолорго жооп берүүгө аракет кыла алышат..)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22825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2459504"/>
            <a:ext cx="9906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 – Чыныгы жашоо – Калькулятор </a:t>
            </a:r>
            <a:r>
              <a:rPr kumimoji="0" lang="ky-KG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Кабарчы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!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Упайына жараша окуучулар суроо тандап жооп бере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Башкаларды жеңүү жана утуу үчүн плакаттарды/суроолорду тандасаңыз болот.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[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Мугалимге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]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(Классыңыздын айланасындагы таза пластик капчыктар(файлдар) плакаттарды тез жана оңой көрсөтүүгө жардам берет.)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8535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2AF318-ED68-4721-B7D4-144CC7D05C78}"/>
              </a:ext>
            </a:extLst>
          </p:cNvPr>
          <p:cNvSpPr/>
          <p:nvPr/>
        </p:nvSpPr>
        <p:spPr>
          <a:xfrm>
            <a:off x="0" y="-22761"/>
            <a:ext cx="9906000" cy="37338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2F6E04-3F6C-4C48-A588-8EA19169BFCE}"/>
              </a:ext>
            </a:extLst>
          </p:cNvPr>
          <p:cNvSpPr/>
          <p:nvPr/>
        </p:nvSpPr>
        <p:spPr>
          <a:xfrm>
            <a:off x="0" y="3124200"/>
            <a:ext cx="9906000" cy="3733800"/>
          </a:xfrm>
          <a:prstGeom prst="rect">
            <a:avLst/>
          </a:prstGeom>
          <a:solidFill>
            <a:srgbClr val="C280B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Smiley Face 1">
            <a:extLst>
              <a:ext uri="{FF2B5EF4-FFF2-40B4-BE49-F238E27FC236}">
                <a16:creationId xmlns:a16="http://schemas.microsoft.com/office/drawing/2014/main" id="{B661F1CD-E199-407A-AE68-0F73B3BE5EDA}"/>
              </a:ext>
            </a:extLst>
          </p:cNvPr>
          <p:cNvSpPr/>
          <p:nvPr/>
        </p:nvSpPr>
        <p:spPr>
          <a:xfrm>
            <a:off x="219530" y="673883"/>
            <a:ext cx="4518562" cy="4518562"/>
          </a:xfrm>
          <a:prstGeom prst="smileyFace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Smiley Face 2">
            <a:extLst>
              <a:ext uri="{FF2B5EF4-FFF2-40B4-BE49-F238E27FC236}">
                <a16:creationId xmlns:a16="http://schemas.microsoft.com/office/drawing/2014/main" id="{8672EA1B-E3A3-4065-8517-37D11824351C}"/>
              </a:ext>
            </a:extLst>
          </p:cNvPr>
          <p:cNvSpPr/>
          <p:nvPr/>
        </p:nvSpPr>
        <p:spPr>
          <a:xfrm>
            <a:off x="6021327" y="3308350"/>
            <a:ext cx="3365500" cy="3365500"/>
          </a:xfrm>
          <a:prstGeom prst="smileyFace">
            <a:avLst>
              <a:gd name="adj" fmla="val 340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Speech Bubble: Oval 4">
            <a:extLst>
              <a:ext uri="{FF2B5EF4-FFF2-40B4-BE49-F238E27FC236}">
                <a16:creationId xmlns:a16="http://schemas.microsoft.com/office/drawing/2014/main" id="{287653A8-406B-418D-89C5-1E120F7EED34}"/>
              </a:ext>
            </a:extLst>
          </p:cNvPr>
          <p:cNvSpPr/>
          <p:nvPr/>
        </p:nvSpPr>
        <p:spPr>
          <a:xfrm>
            <a:off x="4165104" y="358094"/>
            <a:ext cx="5549900" cy="3070905"/>
          </a:xfrm>
          <a:prstGeom prst="wedgeEllipseCallout">
            <a:avLst>
              <a:gd name="adj1" fmla="val -52477"/>
              <a:gd name="adj2" fmla="val 63556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EC065B-171E-4F9A-8F05-9B6C8FC14CA7}"/>
              </a:ext>
            </a:extLst>
          </p:cNvPr>
          <p:cNvSpPr/>
          <p:nvPr/>
        </p:nvSpPr>
        <p:spPr>
          <a:xfrm>
            <a:off x="4831517" y="1173843"/>
            <a:ext cx="4305153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8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Кабарчы</a:t>
            </a:r>
            <a:r>
              <a:rPr lang="en-US" sz="8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!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C4B942-231F-4F87-8A4D-5BBBCE871074}"/>
              </a:ext>
            </a:extLst>
          </p:cNvPr>
          <p:cNvSpPr/>
          <p:nvPr/>
        </p:nvSpPr>
        <p:spPr>
          <a:xfrm>
            <a:off x="6534150" y="5443775"/>
            <a:ext cx="2232479" cy="6621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9D84321-D7C4-4F20-9FE2-D8669F3CF308}"/>
              </a:ext>
            </a:extLst>
          </p:cNvPr>
          <p:cNvSpPr/>
          <p:nvPr/>
        </p:nvSpPr>
        <p:spPr>
          <a:xfrm>
            <a:off x="6769100" y="5502267"/>
            <a:ext cx="1997529" cy="272579"/>
          </a:xfrm>
          <a:custGeom>
            <a:avLst/>
            <a:gdLst>
              <a:gd name="connsiteX0" fmla="*/ 0 w 3207657"/>
              <a:gd name="connsiteY0" fmla="*/ 144225 h 437711"/>
              <a:gd name="connsiteX1" fmla="*/ 1001485 w 3207657"/>
              <a:gd name="connsiteY1" fmla="*/ 13596 h 437711"/>
              <a:gd name="connsiteX2" fmla="*/ 2061028 w 3207657"/>
              <a:gd name="connsiteY2" fmla="*/ 434511 h 437711"/>
              <a:gd name="connsiteX3" fmla="*/ 3207657 w 3207657"/>
              <a:gd name="connsiteY3" fmla="*/ 173254 h 437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7657" h="437711">
                <a:moveTo>
                  <a:pt x="0" y="144225"/>
                </a:moveTo>
                <a:cubicBezTo>
                  <a:pt x="328990" y="54720"/>
                  <a:pt x="657980" y="-34785"/>
                  <a:pt x="1001485" y="13596"/>
                </a:cubicBezTo>
                <a:cubicBezTo>
                  <a:pt x="1344990" y="61977"/>
                  <a:pt x="1693333" y="407901"/>
                  <a:pt x="2061028" y="434511"/>
                </a:cubicBezTo>
                <a:cubicBezTo>
                  <a:pt x="2428723" y="461121"/>
                  <a:pt x="2818190" y="317187"/>
                  <a:pt x="3207657" y="173254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3453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2AF318-ED68-4721-B7D4-144CC7D05C78}"/>
              </a:ext>
            </a:extLst>
          </p:cNvPr>
          <p:cNvSpPr/>
          <p:nvPr/>
        </p:nvSpPr>
        <p:spPr>
          <a:xfrm>
            <a:off x="0" y="-22761"/>
            <a:ext cx="9906000" cy="37338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2F6E04-3F6C-4C48-A588-8EA19169BFCE}"/>
              </a:ext>
            </a:extLst>
          </p:cNvPr>
          <p:cNvSpPr/>
          <p:nvPr/>
        </p:nvSpPr>
        <p:spPr>
          <a:xfrm>
            <a:off x="0" y="3124200"/>
            <a:ext cx="9906000" cy="3733800"/>
          </a:xfrm>
          <a:prstGeom prst="rect">
            <a:avLst/>
          </a:prstGeom>
          <a:solidFill>
            <a:srgbClr val="C280B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Smiley Face 1">
            <a:extLst>
              <a:ext uri="{FF2B5EF4-FFF2-40B4-BE49-F238E27FC236}">
                <a16:creationId xmlns:a16="http://schemas.microsoft.com/office/drawing/2014/main" id="{B661F1CD-E199-407A-AE68-0F73B3BE5EDA}"/>
              </a:ext>
            </a:extLst>
          </p:cNvPr>
          <p:cNvSpPr/>
          <p:nvPr/>
        </p:nvSpPr>
        <p:spPr>
          <a:xfrm>
            <a:off x="219530" y="673883"/>
            <a:ext cx="4518562" cy="4518562"/>
          </a:xfrm>
          <a:prstGeom prst="smileyFace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Smiley Face 2">
            <a:extLst>
              <a:ext uri="{FF2B5EF4-FFF2-40B4-BE49-F238E27FC236}">
                <a16:creationId xmlns:a16="http://schemas.microsoft.com/office/drawing/2014/main" id="{8672EA1B-E3A3-4065-8517-37D11824351C}"/>
              </a:ext>
            </a:extLst>
          </p:cNvPr>
          <p:cNvSpPr/>
          <p:nvPr/>
        </p:nvSpPr>
        <p:spPr>
          <a:xfrm>
            <a:off x="6021327" y="3308350"/>
            <a:ext cx="3365500" cy="3365500"/>
          </a:xfrm>
          <a:prstGeom prst="smileyFace">
            <a:avLst>
              <a:gd name="adj" fmla="val 340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C4B942-231F-4F87-8A4D-5BBBCE871074}"/>
              </a:ext>
            </a:extLst>
          </p:cNvPr>
          <p:cNvSpPr/>
          <p:nvPr/>
        </p:nvSpPr>
        <p:spPr>
          <a:xfrm>
            <a:off x="6534150" y="5443775"/>
            <a:ext cx="2232479" cy="6621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9D84321-D7C4-4F20-9FE2-D8669F3CF308}"/>
              </a:ext>
            </a:extLst>
          </p:cNvPr>
          <p:cNvSpPr/>
          <p:nvPr/>
        </p:nvSpPr>
        <p:spPr>
          <a:xfrm>
            <a:off x="6769100" y="5502267"/>
            <a:ext cx="1997529" cy="272579"/>
          </a:xfrm>
          <a:custGeom>
            <a:avLst/>
            <a:gdLst>
              <a:gd name="connsiteX0" fmla="*/ 0 w 3207657"/>
              <a:gd name="connsiteY0" fmla="*/ 144225 h 437711"/>
              <a:gd name="connsiteX1" fmla="*/ 1001485 w 3207657"/>
              <a:gd name="connsiteY1" fmla="*/ 13596 h 437711"/>
              <a:gd name="connsiteX2" fmla="*/ 2061028 w 3207657"/>
              <a:gd name="connsiteY2" fmla="*/ 434511 h 437711"/>
              <a:gd name="connsiteX3" fmla="*/ 3207657 w 3207657"/>
              <a:gd name="connsiteY3" fmla="*/ 173254 h 437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7657" h="437711">
                <a:moveTo>
                  <a:pt x="0" y="144225"/>
                </a:moveTo>
                <a:cubicBezTo>
                  <a:pt x="328990" y="54720"/>
                  <a:pt x="657980" y="-34785"/>
                  <a:pt x="1001485" y="13596"/>
                </a:cubicBezTo>
                <a:cubicBezTo>
                  <a:pt x="1344990" y="61977"/>
                  <a:pt x="1693333" y="407901"/>
                  <a:pt x="2061028" y="434511"/>
                </a:cubicBezTo>
                <a:cubicBezTo>
                  <a:pt x="2428723" y="461121"/>
                  <a:pt x="2818190" y="317187"/>
                  <a:pt x="3207657" y="173254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383BB24-5B82-4478-8447-5BE5FED85D73}"/>
              </a:ext>
            </a:extLst>
          </p:cNvPr>
          <p:cNvSpPr/>
          <p:nvPr/>
        </p:nvSpPr>
        <p:spPr>
          <a:xfrm>
            <a:off x="2129051" y="184151"/>
            <a:ext cx="7369791" cy="640260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232389-8C5B-4FA8-AD54-7F4A37007CD6}"/>
              </a:ext>
            </a:extLst>
          </p:cNvPr>
          <p:cNvSpPr txBox="1"/>
          <p:nvPr/>
        </p:nvSpPr>
        <p:spPr>
          <a:xfrm>
            <a:off x="2318627" y="529045"/>
            <a:ext cx="6879511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Командаларда кабарчыларды тандаңыз!</a:t>
            </a:r>
          </a:p>
          <a:p>
            <a:pPr algn="ctr"/>
            <a:endParaRPr lang="ky-KG" sz="2400" dirty="0"/>
          </a:p>
          <a:p>
            <a:pPr algn="ctr"/>
            <a:r>
              <a:rPr lang="ky-KG" sz="2400" dirty="0"/>
              <a:t>Калган командага жооп берүү үчүн суроолорду </a:t>
            </a:r>
          </a:p>
          <a:p>
            <a:pPr algn="ctr"/>
            <a:r>
              <a:rPr lang="ky-KG" sz="2400" dirty="0"/>
              <a:t>чогултуу кабарчылардын милдети.</a:t>
            </a:r>
          </a:p>
          <a:p>
            <a:pPr algn="ctr"/>
            <a:endParaRPr lang="ky-KG" sz="2400" dirty="0"/>
          </a:p>
          <a:p>
            <a:pPr algn="ctr"/>
            <a:r>
              <a:rPr lang="ky-KG" sz="2400" dirty="0"/>
              <a:t>Кабарчыларды оюн учурунда өзгөртсөңүз  болот, </a:t>
            </a:r>
          </a:p>
          <a:p>
            <a:pPr algn="ctr"/>
            <a:r>
              <a:rPr lang="ky-KG" sz="2400" dirty="0"/>
              <a:t>бирок бир эле адам ордунан тура алат жана алар </a:t>
            </a:r>
          </a:p>
          <a:p>
            <a:pPr algn="ctr"/>
            <a:r>
              <a:rPr lang="ky-KG" sz="2400" dirty="0"/>
              <a:t>суроого калем же кагаз колдоно алышпайт!</a:t>
            </a:r>
          </a:p>
          <a:p>
            <a:pPr algn="ctr"/>
            <a:endParaRPr lang="ky-KG" sz="2400" dirty="0"/>
          </a:p>
          <a:p>
            <a:pPr algn="ctr"/>
            <a:r>
              <a:rPr lang="ky-KG" sz="2400" dirty="0"/>
              <a:t>Ар бир суроо ар кандай упайга ээ!</a:t>
            </a:r>
          </a:p>
          <a:p>
            <a:pPr algn="ctr"/>
            <a:endParaRPr lang="ky-KG" sz="2400" dirty="0"/>
          </a:p>
          <a:p>
            <a:pPr algn="ctr"/>
            <a:r>
              <a:rPr lang="ky-KG" sz="2400" dirty="0"/>
              <a:t>Суроо катты жана жообуңузду бир кагазга </a:t>
            </a:r>
          </a:p>
          <a:p>
            <a:pPr algn="ctr"/>
            <a:r>
              <a:rPr lang="ky-KG" sz="2400" dirty="0"/>
              <a:t>жазыңыз.</a:t>
            </a:r>
          </a:p>
          <a:p>
            <a:pPr algn="ctr"/>
            <a:endParaRPr lang="ky-KG" sz="2400" dirty="0"/>
          </a:p>
          <a:p>
            <a:pPr algn="ctr"/>
            <a:r>
              <a:rPr lang="ky-KG" sz="2400" dirty="0"/>
              <a:t>Суроолор чыгарылгандан кийин, </a:t>
            </a:r>
          </a:p>
          <a:p>
            <a:pPr algn="ctr"/>
            <a:r>
              <a:rPr lang="ky-KG" sz="2400" dirty="0"/>
              <a:t>эң көп упай топтогон команда жеңет!</a:t>
            </a:r>
            <a:endParaRPr lang="en-GB" sz="2400" dirty="0"/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7C5B2F5A-57D0-4D14-B349-03415C9B8D36}"/>
              </a:ext>
            </a:extLst>
          </p:cNvPr>
          <p:cNvSpPr/>
          <p:nvPr/>
        </p:nvSpPr>
        <p:spPr>
          <a:xfrm>
            <a:off x="8273024" y="4024602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332167-EDBD-4E90-ACA2-26FA117384DC}"/>
              </a:ext>
            </a:extLst>
          </p:cNvPr>
          <p:cNvSpPr/>
          <p:nvPr/>
        </p:nvSpPr>
        <p:spPr>
          <a:xfrm>
            <a:off x="8623383" y="4394787"/>
            <a:ext cx="886781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79352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3077467C-D967-4228-B65B-5DC4FB4E96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623" y="2301098"/>
            <a:ext cx="1234943" cy="136504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6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Суроо А</a:t>
              </a:r>
              <a:endParaRPr lang="en-GB" sz="3600" b="1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Суроо Б</a:t>
              </a:r>
              <a:endParaRPr lang="en-GB" sz="3200" b="1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1EBDF0-5084-466F-A9F6-4D0E95C5221B}"/>
              </a:ext>
            </a:extLst>
          </p:cNvPr>
          <p:cNvSpPr txBox="1"/>
          <p:nvPr/>
        </p:nvSpPr>
        <p:spPr>
          <a:xfrm>
            <a:off x="757538" y="5004151"/>
            <a:ext cx="34682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3 балмуздактын баасы канча?</a:t>
            </a:r>
            <a:endParaRPr lang="en-GB" sz="2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4536A34-5E0B-4298-94A8-7C73B01DD324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636" y="1845284"/>
            <a:ext cx="1112042" cy="2491391"/>
          </a:xfrm>
          <a:prstGeom prst="rect">
            <a:avLst/>
          </a:prstGeom>
        </p:spPr>
      </p:pic>
      <p:sp>
        <p:nvSpPr>
          <p:cNvPr id="3" name="Star: 5 Points 2">
            <a:extLst>
              <a:ext uri="{FF2B5EF4-FFF2-40B4-BE49-F238E27FC236}">
                <a16:creationId xmlns:a16="http://schemas.microsoft.com/office/drawing/2014/main" id="{D5FECD07-8335-4534-B1D4-010C3D39B643}"/>
              </a:ext>
            </a:extLst>
          </p:cNvPr>
          <p:cNvSpPr/>
          <p:nvPr/>
        </p:nvSpPr>
        <p:spPr>
          <a:xfrm>
            <a:off x="1934282" y="2223189"/>
            <a:ext cx="1895213" cy="1895213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44355D-12C5-4CDA-9D57-95ACE798ED87}"/>
              </a:ext>
            </a:extLst>
          </p:cNvPr>
          <p:cNvSpPr txBox="1"/>
          <p:nvPr/>
        </p:nvSpPr>
        <p:spPr>
          <a:xfrm>
            <a:off x="2511073" y="2937585"/>
            <a:ext cx="7601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97</a:t>
            </a:r>
            <a:r>
              <a:rPr lang="ky-KG" sz="3200" dirty="0"/>
              <a:t>т</a:t>
            </a:r>
            <a:endParaRPr lang="en-GB" sz="3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0B8BC4-5946-4286-8CB2-230E052DF3FE}"/>
              </a:ext>
            </a:extLst>
          </p:cNvPr>
          <p:cNvSpPr txBox="1"/>
          <p:nvPr/>
        </p:nvSpPr>
        <p:spPr>
          <a:xfrm>
            <a:off x="6108007" y="5004151"/>
            <a:ext cx="27697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5 алманын баасы канча</a:t>
            </a:r>
            <a:endParaRPr lang="en-GB" sz="2000" dirty="0"/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26AC6DCD-98B9-413F-B6E6-AB807BCD29BC}"/>
              </a:ext>
            </a:extLst>
          </p:cNvPr>
          <p:cNvSpPr/>
          <p:nvPr/>
        </p:nvSpPr>
        <p:spPr>
          <a:xfrm>
            <a:off x="6935490" y="2223189"/>
            <a:ext cx="1895213" cy="1895213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4D4D60-3A05-47E9-A090-0F9A9DD619DA}"/>
              </a:ext>
            </a:extLst>
          </p:cNvPr>
          <p:cNvSpPr txBox="1"/>
          <p:nvPr/>
        </p:nvSpPr>
        <p:spPr>
          <a:xfrm>
            <a:off x="7512282" y="2937585"/>
            <a:ext cx="7601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63</a:t>
            </a:r>
            <a:r>
              <a:rPr lang="ky-KG" sz="3200" dirty="0"/>
              <a:t>т</a:t>
            </a:r>
            <a:endParaRPr lang="en-GB" sz="32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FF7207D-2C00-4F4A-BAB1-3D207DFC7DFA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892" y="182880"/>
            <a:ext cx="353951" cy="4156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0325DCF-1AA6-4D21-872C-2CA97918D5D6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309" y="160611"/>
            <a:ext cx="353951" cy="41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125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94FA6F1E-6340-4F44-9CA8-950A8C5933E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2933" y="2958766"/>
            <a:ext cx="1684666" cy="117926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6EF7F4B-5604-428C-9CA0-0F1E325A7FB2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857" y="3114034"/>
            <a:ext cx="2307021" cy="1153511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В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Суроо Г</a:t>
              </a:r>
              <a:endParaRPr lang="en-GB" sz="3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1EBDF0-5084-466F-A9F6-4D0E95C5221B}"/>
              </a:ext>
            </a:extLst>
          </p:cNvPr>
          <p:cNvSpPr txBox="1"/>
          <p:nvPr/>
        </p:nvSpPr>
        <p:spPr>
          <a:xfrm>
            <a:off x="986575" y="5004151"/>
            <a:ext cx="30101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5 пиццанын баасы канча?</a:t>
            </a:r>
            <a:endParaRPr lang="en-GB" sz="2000" dirty="0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D5FECD07-8335-4534-B1D4-010C3D39B643}"/>
              </a:ext>
            </a:extLst>
          </p:cNvPr>
          <p:cNvSpPr/>
          <p:nvPr/>
        </p:nvSpPr>
        <p:spPr>
          <a:xfrm>
            <a:off x="1899558" y="2037994"/>
            <a:ext cx="2221029" cy="2221029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44355D-12C5-4CDA-9D57-95ACE798ED87}"/>
              </a:ext>
            </a:extLst>
          </p:cNvPr>
          <p:cNvSpPr txBox="1"/>
          <p:nvPr/>
        </p:nvSpPr>
        <p:spPr>
          <a:xfrm>
            <a:off x="2428589" y="2856562"/>
            <a:ext cx="10871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4,71</a:t>
            </a:r>
            <a:r>
              <a:rPr lang="ky-KG" sz="3200" dirty="0"/>
              <a:t>с</a:t>
            </a:r>
            <a:endParaRPr lang="en-GB" sz="3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9C2047-6A94-4E38-9591-BA10DA5661EC}"/>
              </a:ext>
            </a:extLst>
          </p:cNvPr>
          <p:cNvSpPr txBox="1"/>
          <p:nvPr/>
        </p:nvSpPr>
        <p:spPr>
          <a:xfrm>
            <a:off x="5764095" y="5004151"/>
            <a:ext cx="36640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7 бургердин баасы канча турат?</a:t>
            </a:r>
            <a:endParaRPr lang="en-GB" sz="2000" dirty="0"/>
          </a:p>
        </p:txBody>
      </p:sp>
      <p:sp>
        <p:nvSpPr>
          <p:cNvPr id="25" name="Star: 5 Points 24">
            <a:extLst>
              <a:ext uri="{FF2B5EF4-FFF2-40B4-BE49-F238E27FC236}">
                <a16:creationId xmlns:a16="http://schemas.microsoft.com/office/drawing/2014/main" id="{104E0E5C-D164-45BA-90FB-AC9ED579856F}"/>
              </a:ext>
            </a:extLst>
          </p:cNvPr>
          <p:cNvSpPr/>
          <p:nvPr/>
        </p:nvSpPr>
        <p:spPr>
          <a:xfrm>
            <a:off x="7003993" y="2037994"/>
            <a:ext cx="2221029" cy="2221029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1A88E9-A2EB-4532-9825-B0F104776684}"/>
              </a:ext>
            </a:extLst>
          </p:cNvPr>
          <p:cNvSpPr txBox="1"/>
          <p:nvPr/>
        </p:nvSpPr>
        <p:spPr>
          <a:xfrm>
            <a:off x="7533023" y="2856562"/>
            <a:ext cx="10871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3,13</a:t>
            </a:r>
            <a:r>
              <a:rPr lang="ky-KG" sz="3200" dirty="0"/>
              <a:t>с</a:t>
            </a:r>
            <a:endParaRPr lang="en-GB" sz="32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654406A-AC69-4678-BC24-36B2038DE621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892" y="182880"/>
            <a:ext cx="353951" cy="41565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2818BB8-B912-4B2B-9D52-ABFA42238350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309" y="160611"/>
            <a:ext cx="353951" cy="41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023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D1A82E5F-1412-4C8B-A907-92CA7093FA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4966" y="2311600"/>
            <a:ext cx="1606947" cy="160694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4A7630C-0FEE-48DD-8098-1F7F5C66A455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608" y="2495330"/>
            <a:ext cx="1540731" cy="1221726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Д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Е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1EBDF0-5084-466F-A9F6-4D0E95C5221B}"/>
              </a:ext>
            </a:extLst>
          </p:cNvPr>
          <p:cNvSpPr txBox="1"/>
          <p:nvPr/>
        </p:nvSpPr>
        <p:spPr>
          <a:xfrm>
            <a:off x="1134851" y="5004151"/>
            <a:ext cx="2713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12 кепканын канча турат?</a:t>
            </a:r>
            <a:endParaRPr lang="en-GB" dirty="0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D5FECD07-8335-4534-B1D4-010C3D39B643}"/>
              </a:ext>
            </a:extLst>
          </p:cNvPr>
          <p:cNvSpPr/>
          <p:nvPr/>
        </p:nvSpPr>
        <p:spPr>
          <a:xfrm>
            <a:off x="1859637" y="2157875"/>
            <a:ext cx="2171187" cy="2171187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44355D-12C5-4CDA-9D57-95ACE798ED87}"/>
              </a:ext>
            </a:extLst>
          </p:cNvPr>
          <p:cNvSpPr txBox="1"/>
          <p:nvPr/>
        </p:nvSpPr>
        <p:spPr>
          <a:xfrm>
            <a:off x="2347567" y="2937585"/>
            <a:ext cx="10871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5,28</a:t>
            </a:r>
            <a:r>
              <a:rPr lang="ky-KG" sz="3200" dirty="0"/>
              <a:t>с</a:t>
            </a:r>
            <a:endParaRPr lang="en-GB" sz="3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0B8BC4-5946-4286-8CB2-230E052DF3FE}"/>
              </a:ext>
            </a:extLst>
          </p:cNvPr>
          <p:cNvSpPr txBox="1"/>
          <p:nvPr/>
        </p:nvSpPr>
        <p:spPr>
          <a:xfrm>
            <a:off x="5704216" y="5004151"/>
            <a:ext cx="3577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15 ич шымдын баасы канча турат?</a:t>
            </a:r>
            <a:endParaRPr lang="en-GB" dirty="0"/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26AC6DCD-98B9-413F-B6E6-AB807BCD29BC}"/>
              </a:ext>
            </a:extLst>
          </p:cNvPr>
          <p:cNvSpPr/>
          <p:nvPr/>
        </p:nvSpPr>
        <p:spPr>
          <a:xfrm>
            <a:off x="6823522" y="2101891"/>
            <a:ext cx="2208510" cy="2208510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4D4D60-3A05-47E9-A090-0F9A9DD619DA}"/>
              </a:ext>
            </a:extLst>
          </p:cNvPr>
          <p:cNvSpPr txBox="1"/>
          <p:nvPr/>
        </p:nvSpPr>
        <p:spPr>
          <a:xfrm>
            <a:off x="7348775" y="2937585"/>
            <a:ext cx="10871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2,31</a:t>
            </a:r>
            <a:r>
              <a:rPr lang="ky-KG" sz="3200" dirty="0"/>
              <a:t>с</a:t>
            </a:r>
            <a:endParaRPr lang="en-GB" sz="32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56B559D-5BE4-4590-8230-9700C7DC4756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892" y="182880"/>
            <a:ext cx="353951" cy="415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E2C4612-A930-4C1C-B046-1F2D028C6507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309" y="160611"/>
            <a:ext cx="353951" cy="41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983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 Суроо Е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Ж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11DAD0-E272-4435-B1EE-2C21D4DC416A}"/>
              </a:ext>
            </a:extLst>
          </p:cNvPr>
          <p:cNvSpPr txBox="1"/>
          <p:nvPr/>
        </p:nvSpPr>
        <p:spPr>
          <a:xfrm>
            <a:off x="501619" y="1992083"/>
            <a:ext cx="385842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Анна 9 кекс сатып алат.</a:t>
            </a:r>
          </a:p>
          <a:p>
            <a:pPr algn="ctr"/>
            <a:r>
              <a:rPr lang="ky-KG" dirty="0"/>
              <a:t>Ар бир кекс 42т турат.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Анна 5сомдук банкнот менен төлөйт.</a:t>
            </a:r>
          </a:p>
          <a:p>
            <a:pPr algn="ctr"/>
            <a:r>
              <a:rPr lang="ky-KG" dirty="0"/>
              <a:t>Ал канча кайтарым алат?</a:t>
            </a:r>
            <a:endParaRPr lang="en-GB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B82B253-060C-4A56-BBAF-B2E1D7933251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1353291" y="4030703"/>
            <a:ext cx="1977738" cy="230533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CAFBFDA-E911-45BF-9D2A-8BCFBB748440}"/>
              </a:ext>
            </a:extLst>
          </p:cNvPr>
          <p:cNvSpPr txBox="1"/>
          <p:nvPr/>
        </p:nvSpPr>
        <p:spPr>
          <a:xfrm>
            <a:off x="5558237" y="1992083"/>
            <a:ext cx="389690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Пит 13 пончик сатып алат.</a:t>
            </a:r>
          </a:p>
          <a:p>
            <a:pPr algn="ctr"/>
            <a:r>
              <a:rPr lang="ky-KG" dirty="0"/>
              <a:t>Ар бир пончиктин баасы 59 т.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Пит 20 сомдук банкнот менен төлөйт.</a:t>
            </a:r>
          </a:p>
          <a:p>
            <a:pPr algn="ctr"/>
            <a:r>
              <a:rPr lang="ky-KG" dirty="0"/>
              <a:t>Ал канча кайтарым алат?</a:t>
            </a:r>
            <a:endParaRPr lang="en-GB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D54DF48-47B1-47B0-922D-0DE0A3D62C30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182" y="3858474"/>
            <a:ext cx="2816876" cy="249557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4108647-13C3-49E5-9801-758E3B518EFF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892" y="182880"/>
            <a:ext cx="353951" cy="41565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D95BC85-F670-428E-80F0-A3F67EED89A6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309" y="160611"/>
            <a:ext cx="353951" cy="41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20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З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И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11DAD0-E272-4435-B1EE-2C21D4DC416A}"/>
              </a:ext>
            </a:extLst>
          </p:cNvPr>
          <p:cNvSpPr txBox="1"/>
          <p:nvPr/>
        </p:nvSpPr>
        <p:spPr>
          <a:xfrm>
            <a:off x="318174" y="1992083"/>
            <a:ext cx="422532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Жусуп 17 банан сатып алат.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Ал 10 сомдук купюра менен төлөйт жана</a:t>
            </a:r>
          </a:p>
          <a:p>
            <a:pPr algn="ctr"/>
            <a:r>
              <a:rPr lang="ky-KG" dirty="0"/>
              <a:t>4,56 сом өзгөртүү алат.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Бир банан канча турат?</a:t>
            </a:r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AFBFDA-E911-45BF-9D2A-8BCFBB748440}"/>
              </a:ext>
            </a:extLst>
          </p:cNvPr>
          <p:cNvSpPr txBox="1"/>
          <p:nvPr/>
        </p:nvSpPr>
        <p:spPr>
          <a:xfrm>
            <a:off x="5578502" y="1992083"/>
            <a:ext cx="385637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Ресторан үчүн Сэм 27 нан сатып алат.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Ал 20</a:t>
            </a:r>
            <a:r>
              <a:rPr lang="en-US" dirty="0"/>
              <a:t>с</a:t>
            </a:r>
            <a:r>
              <a:rPr lang="ky-KG" dirty="0"/>
              <a:t>ом купюра менен төлөйт жана</a:t>
            </a:r>
          </a:p>
          <a:p>
            <a:pPr algn="ctr"/>
            <a:r>
              <a:rPr lang="ky-KG" dirty="0"/>
              <a:t>Өзгөртүү үчүн 5,69сом алат.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Нан канча турат?</a:t>
            </a:r>
            <a:endParaRPr lang="en-GB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108647-13C3-49E5-9801-758E3B518EFF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892" y="182880"/>
            <a:ext cx="353951" cy="41565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D95BC85-F670-428E-80F0-A3F67EED89A6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309" y="160611"/>
            <a:ext cx="353951" cy="41565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0299486-1CEE-41CE-94B0-A97681AB1DC7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786" y="4484484"/>
            <a:ext cx="2904414" cy="147943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E1D8896-687A-45E7-827B-F62DCB891782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1872" y="4096111"/>
            <a:ext cx="3562448" cy="1896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757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Й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К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11DAD0-E272-4435-B1EE-2C21D4DC416A}"/>
              </a:ext>
            </a:extLst>
          </p:cNvPr>
          <p:cNvSpPr txBox="1"/>
          <p:nvPr/>
        </p:nvSpPr>
        <p:spPr>
          <a:xfrm>
            <a:off x="396667" y="1992083"/>
            <a:ext cx="406835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Акуда: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2 даана  10сомдук акча</a:t>
            </a:r>
          </a:p>
          <a:p>
            <a:pPr algn="ctr"/>
            <a:r>
              <a:rPr lang="ky-KG" dirty="0"/>
              <a:t>3 даана  5сомдук акча</a:t>
            </a:r>
          </a:p>
          <a:p>
            <a:pPr algn="ctr"/>
            <a:r>
              <a:rPr lang="ky-KG" dirty="0"/>
              <a:t>7 даана 1сомдук тыйын акча</a:t>
            </a:r>
          </a:p>
          <a:p>
            <a:pPr algn="ctr"/>
            <a:r>
              <a:rPr lang="ky-KG" dirty="0"/>
              <a:t>8 даана  20тыйын</a:t>
            </a:r>
          </a:p>
          <a:p>
            <a:pPr algn="ctr"/>
            <a:r>
              <a:rPr lang="ky-KG" dirty="0"/>
              <a:t>жана</a:t>
            </a:r>
          </a:p>
          <a:p>
            <a:pPr algn="ctr"/>
            <a:r>
              <a:rPr lang="ky-KG" dirty="0"/>
              <a:t>12 даана 2тыйын бар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Акунун жалпысынан канча акчасы бар?</a:t>
            </a:r>
            <a:endParaRPr lang="en-GB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3C37DDE0-19A7-446D-BF2F-B580A5309E7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178" y="4986965"/>
            <a:ext cx="1906849" cy="1592517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56478367-594B-44FF-ABD5-5679FFE2B635}"/>
              </a:ext>
            </a:extLst>
          </p:cNvPr>
          <p:cNvSpPr txBox="1"/>
          <p:nvPr/>
        </p:nvSpPr>
        <p:spPr>
          <a:xfrm>
            <a:off x="5506817" y="1992083"/>
            <a:ext cx="390645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Жокиде: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5 даана 10 сомдук акча</a:t>
            </a:r>
          </a:p>
          <a:p>
            <a:pPr algn="ctr"/>
            <a:r>
              <a:rPr lang="ky-KG" dirty="0"/>
              <a:t>9 даана 1 сомдук тыйындар</a:t>
            </a:r>
          </a:p>
          <a:p>
            <a:pPr algn="ctr"/>
            <a:r>
              <a:rPr lang="ky-KG" dirty="0"/>
              <a:t>8 даана  50тыйын</a:t>
            </a:r>
          </a:p>
          <a:p>
            <a:pPr algn="ctr"/>
            <a:r>
              <a:rPr lang="ky-KG" dirty="0"/>
              <a:t>7 даана 10тыйын</a:t>
            </a:r>
          </a:p>
          <a:p>
            <a:pPr algn="ctr"/>
            <a:r>
              <a:rPr lang="ky-KG" dirty="0"/>
              <a:t>11 даана  20тыйын </a:t>
            </a:r>
          </a:p>
          <a:p>
            <a:pPr algn="ctr"/>
            <a:r>
              <a:rPr lang="ky-KG" dirty="0"/>
              <a:t>3 даана 2тыйын</a:t>
            </a:r>
          </a:p>
          <a:p>
            <a:pPr algn="ctr"/>
            <a:r>
              <a:rPr lang="ky-KG" dirty="0"/>
              <a:t>жана</a:t>
            </a:r>
          </a:p>
          <a:p>
            <a:pPr algn="ctr"/>
            <a:r>
              <a:rPr lang="ky-KG" dirty="0"/>
              <a:t>14 тыйын бар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Анын жалпысынан канча акчасы бар?</a:t>
            </a:r>
            <a:endParaRPr lang="en-GB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FC7D728B-5EA6-4774-B3AC-9B3C6E52F657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8095" y="1026367"/>
            <a:ext cx="1355826" cy="1379537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9C58D51D-DA26-43A2-9DF2-3E8287B898CE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892" y="182880"/>
            <a:ext cx="353951" cy="41565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F3DC78E9-FA98-47AF-BB2A-16B303AAE5BD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309" y="160611"/>
            <a:ext cx="353951" cy="41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002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492F29D1-DF41-46A9-ADFA-98FA6471A20C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7195" y="4206447"/>
            <a:ext cx="2365512" cy="100003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Л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М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498A70-DED5-4733-BB17-42461285D816}"/>
              </a:ext>
            </a:extLst>
          </p:cNvPr>
          <p:cNvSpPr txBox="1"/>
          <p:nvPr/>
        </p:nvSpPr>
        <p:spPr>
          <a:xfrm>
            <a:off x="363390" y="1992083"/>
            <a:ext cx="413491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Каку достору менен ресторанга барууну</a:t>
            </a:r>
          </a:p>
          <a:p>
            <a:pPr algn="ctr"/>
            <a:r>
              <a:rPr lang="ru-RU" dirty="0"/>
              <a:t> пландап жатат.</a:t>
            </a:r>
          </a:p>
          <a:p>
            <a:pPr algn="ctr"/>
            <a:endParaRPr lang="ru-RU" dirty="0"/>
          </a:p>
          <a:p>
            <a:pPr algn="ctr"/>
            <a:r>
              <a:rPr lang="ru-RU" dirty="0"/>
              <a:t>9 тилим пиццанын баасы канча болот?</a:t>
            </a:r>
            <a:endParaRPr lang="en-GB" dirty="0"/>
          </a:p>
        </p:txBody>
      </p:sp>
      <p:sp>
        <p:nvSpPr>
          <p:cNvPr id="14" name="Star: 5 Points 13">
            <a:extLst>
              <a:ext uri="{FF2B5EF4-FFF2-40B4-BE49-F238E27FC236}">
                <a16:creationId xmlns:a16="http://schemas.microsoft.com/office/drawing/2014/main" id="{C9F121AD-6BC6-4686-B1A0-C7165B9D511A}"/>
              </a:ext>
            </a:extLst>
          </p:cNvPr>
          <p:cNvSpPr/>
          <p:nvPr/>
        </p:nvSpPr>
        <p:spPr>
          <a:xfrm>
            <a:off x="1922106" y="3343962"/>
            <a:ext cx="2556588" cy="2556588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D4FC478-F5FD-49C0-B141-F79CEB5FD1EB}"/>
              </a:ext>
            </a:extLst>
          </p:cNvPr>
          <p:cNvSpPr/>
          <p:nvPr/>
        </p:nvSpPr>
        <p:spPr>
          <a:xfrm>
            <a:off x="2063835" y="3986204"/>
            <a:ext cx="2340144" cy="144051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ru-RU" dirty="0">
                <a:solidFill>
                  <a:prstClr val="black"/>
                </a:solidFill>
              </a:rPr>
              <a:t>Бир тилим 3,22 сом</a:t>
            </a:r>
          </a:p>
          <a:p>
            <a:pPr lvl="0" algn="ctr"/>
            <a:r>
              <a:rPr lang="ru-RU" dirty="0">
                <a:solidFill>
                  <a:prstClr val="black"/>
                </a:solidFill>
              </a:rPr>
              <a:t>1 тилимди сатып алсаң, 2-чи тилимди жарым баада алыңыз!</a:t>
            </a:r>
            <a:endParaRPr lang="en-GB" sz="195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36D973-6571-4058-9289-9199203E42EB}"/>
              </a:ext>
            </a:extLst>
          </p:cNvPr>
          <p:cNvSpPr txBox="1"/>
          <p:nvPr/>
        </p:nvSpPr>
        <p:spPr>
          <a:xfrm>
            <a:off x="5124282" y="1861891"/>
            <a:ext cx="453181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Таку жана анын 3 досу кинотеатрга барууну </a:t>
            </a:r>
          </a:p>
          <a:p>
            <a:pPr algn="ctr"/>
            <a:r>
              <a:rPr lang="ky-KG" dirty="0"/>
              <a:t>пландап жатышат.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Ар бир билеттин баасы 5,23 сом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Алар 4 попкорн сатып алышса, </a:t>
            </a:r>
          </a:p>
          <a:p>
            <a:pPr algn="ctr"/>
            <a:r>
              <a:rPr lang="ky-KG" dirty="0"/>
              <a:t>жалпысынан канча төлөшөт?</a:t>
            </a:r>
            <a:endParaRPr lang="en-GB" dirty="0"/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E9C77390-B82A-4855-8B82-22AA64A55BEB}"/>
              </a:ext>
            </a:extLst>
          </p:cNvPr>
          <p:cNvSpPr/>
          <p:nvPr/>
        </p:nvSpPr>
        <p:spPr>
          <a:xfrm>
            <a:off x="6746032" y="4034428"/>
            <a:ext cx="2556588" cy="2556588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FDB8E08-F124-47B7-8497-283D6B005D58}"/>
              </a:ext>
            </a:extLst>
          </p:cNvPr>
          <p:cNvSpPr/>
          <p:nvPr/>
        </p:nvSpPr>
        <p:spPr>
          <a:xfrm>
            <a:off x="6978794" y="4706463"/>
            <a:ext cx="2091064" cy="1162186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ru-RU" dirty="0">
                <a:solidFill>
                  <a:prstClr val="black"/>
                </a:solidFill>
              </a:rPr>
              <a:t>Ар бири 2,18сом</a:t>
            </a:r>
          </a:p>
          <a:p>
            <a:pPr lvl="0" algn="ctr"/>
            <a:r>
              <a:rPr lang="ru-RU" dirty="0">
                <a:solidFill>
                  <a:prstClr val="black"/>
                </a:solidFill>
              </a:rPr>
              <a:t>2 сатып алсаң, </a:t>
            </a:r>
          </a:p>
          <a:p>
            <a:pPr lvl="0" algn="ctr"/>
            <a:r>
              <a:rPr lang="ru-RU" dirty="0">
                <a:solidFill>
                  <a:prstClr val="black"/>
                </a:solidFill>
              </a:rPr>
              <a:t>1 бекер !</a:t>
            </a:r>
            <a:endParaRPr lang="en-GB" sz="1950" b="1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AB4A83D-FE08-4CCE-A63A-4EF6C5B57655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1769" y="4395725"/>
            <a:ext cx="1486071" cy="210190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7CFC78E-399C-4ACB-B603-DF087BF73BB1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892" y="182880"/>
            <a:ext cx="353951" cy="41565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8B3D529-2668-4261-832A-914823B3E9D9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309" y="160611"/>
            <a:ext cx="353951" cy="41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208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Н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Ң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498A70-DED5-4733-BB17-42461285D816}"/>
              </a:ext>
            </a:extLst>
          </p:cNvPr>
          <p:cNvSpPr txBox="1"/>
          <p:nvPr/>
        </p:nvSpPr>
        <p:spPr>
          <a:xfrm>
            <a:off x="551163" y="1992083"/>
            <a:ext cx="37593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Чупачупста атайын сунуш бар.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27 чупачуп сатып алуу канча турат?</a:t>
            </a:r>
            <a:endParaRPr lang="en-GB" dirty="0"/>
          </a:p>
        </p:txBody>
      </p:sp>
      <p:sp>
        <p:nvSpPr>
          <p:cNvPr id="14" name="Star: 5 Points 13">
            <a:extLst>
              <a:ext uri="{FF2B5EF4-FFF2-40B4-BE49-F238E27FC236}">
                <a16:creationId xmlns:a16="http://schemas.microsoft.com/office/drawing/2014/main" id="{C9F121AD-6BC6-4686-B1A0-C7165B9D511A}"/>
              </a:ext>
            </a:extLst>
          </p:cNvPr>
          <p:cNvSpPr/>
          <p:nvPr/>
        </p:nvSpPr>
        <p:spPr>
          <a:xfrm>
            <a:off x="1791477" y="3577228"/>
            <a:ext cx="2556588" cy="2556588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63CAF9-85AE-40B2-8103-7D7D3A1A9B3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041" y="3869448"/>
            <a:ext cx="1169952" cy="2339904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D4FC478-F5FD-49C0-B141-F79CEB5FD1EB}"/>
              </a:ext>
            </a:extLst>
          </p:cNvPr>
          <p:cNvSpPr/>
          <p:nvPr/>
        </p:nvSpPr>
        <p:spPr>
          <a:xfrm>
            <a:off x="2014405" y="4702627"/>
            <a:ext cx="2091064" cy="10584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ru-RU" dirty="0">
                <a:solidFill>
                  <a:prstClr val="black"/>
                </a:solidFill>
              </a:rPr>
              <a:t>Даанасы: 31т</a:t>
            </a:r>
          </a:p>
          <a:p>
            <a:pPr lvl="0" algn="ctr"/>
            <a:r>
              <a:rPr lang="ru-RU" dirty="0">
                <a:solidFill>
                  <a:prstClr val="black"/>
                </a:solidFill>
              </a:rPr>
              <a:t>1 сатып алып, 1 бекер ал!</a:t>
            </a:r>
            <a:endParaRPr lang="en-GB" sz="195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36D973-6571-4058-9289-9199203E42EB}"/>
              </a:ext>
            </a:extLst>
          </p:cNvPr>
          <p:cNvSpPr txBox="1"/>
          <p:nvPr/>
        </p:nvSpPr>
        <p:spPr>
          <a:xfrm>
            <a:off x="5655949" y="1992083"/>
            <a:ext cx="34588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Таттууларга атайын сунуш бар.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95 таттуу сатып алуу канча турат?</a:t>
            </a:r>
            <a:endParaRPr lang="en-GB" dirty="0"/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E9C77390-B82A-4855-8B82-22AA64A55BEB}"/>
              </a:ext>
            </a:extLst>
          </p:cNvPr>
          <p:cNvSpPr/>
          <p:nvPr/>
        </p:nvSpPr>
        <p:spPr>
          <a:xfrm>
            <a:off x="6746032" y="3577228"/>
            <a:ext cx="2556588" cy="2556588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FDB8E08-F124-47B7-8497-283D6B005D58}"/>
              </a:ext>
            </a:extLst>
          </p:cNvPr>
          <p:cNvSpPr/>
          <p:nvPr/>
        </p:nvSpPr>
        <p:spPr>
          <a:xfrm>
            <a:off x="6968960" y="4702628"/>
            <a:ext cx="2091064" cy="105849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ky-KG" dirty="0">
                <a:solidFill>
                  <a:prstClr val="black"/>
                </a:solidFill>
              </a:rPr>
              <a:t>Даанасы : </a:t>
            </a:r>
            <a:r>
              <a:rPr lang="en-GB" dirty="0">
                <a:solidFill>
                  <a:prstClr val="black"/>
                </a:solidFill>
              </a:rPr>
              <a:t>12</a:t>
            </a:r>
            <a:r>
              <a:rPr lang="ky-KG" dirty="0">
                <a:solidFill>
                  <a:prstClr val="black"/>
                </a:solidFill>
              </a:rPr>
              <a:t>т</a:t>
            </a:r>
            <a:r>
              <a:rPr lang="en-GB" dirty="0">
                <a:solidFill>
                  <a:prstClr val="black"/>
                </a:solidFill>
              </a:rPr>
              <a:t> </a:t>
            </a:r>
          </a:p>
          <a:p>
            <a:pPr lvl="0" algn="ctr"/>
            <a:r>
              <a:rPr lang="ru-RU" b="1" dirty="0">
                <a:solidFill>
                  <a:prstClr val="black"/>
                </a:solidFill>
              </a:rPr>
              <a:t>2 сатып алып, </a:t>
            </a:r>
          </a:p>
          <a:p>
            <a:pPr lvl="0" algn="ctr"/>
            <a:r>
              <a:rPr lang="ru-RU" b="1" dirty="0">
                <a:solidFill>
                  <a:prstClr val="black"/>
                </a:solidFill>
              </a:rPr>
              <a:t>1 бекер ал!</a:t>
            </a:r>
            <a:endParaRPr lang="en-GB" sz="1950" b="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B3688C2-B464-4162-AA71-167493F82FB6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4463" y="3880023"/>
            <a:ext cx="1072215" cy="80416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CC52109-2ACC-47FD-BEFB-B1CEE5B56A96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198514">
            <a:off x="6008549" y="4291217"/>
            <a:ext cx="1072215" cy="80416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35F43E2-2FF9-44A3-8D3F-D11DA43F9B2A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287995">
            <a:off x="5294356" y="4982103"/>
            <a:ext cx="1072215" cy="80416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61995BD-68AC-4467-90A7-891697FA6C86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892" y="182880"/>
            <a:ext cx="353951" cy="41565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C948E87-1FB6-4021-A1EA-C1EE5FA4EBA7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309" y="160611"/>
            <a:ext cx="353951" cy="41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999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О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Ө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013D9A-A728-4412-B21D-0A1984C8EE26}"/>
              </a:ext>
            </a:extLst>
          </p:cNvPr>
          <p:cNvSpPr txBox="1"/>
          <p:nvPr/>
        </p:nvSpPr>
        <p:spPr>
          <a:xfrm>
            <a:off x="501507" y="1992083"/>
            <a:ext cx="38586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Кайрат 700 г сыр сатып алгысы келет.</a:t>
            </a:r>
          </a:p>
          <a:p>
            <a:pPr algn="ctr"/>
            <a:endParaRPr lang="ru-RU" dirty="0"/>
          </a:p>
          <a:p>
            <a:pPr algn="ctr"/>
            <a:r>
              <a:rPr lang="ru-RU" dirty="0"/>
              <a:t>Анын баасы канча болот?</a:t>
            </a:r>
            <a:endParaRPr lang="en-GB" dirty="0"/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8BCF685E-1E31-410A-8452-7A5A442EA5E2}"/>
              </a:ext>
            </a:extLst>
          </p:cNvPr>
          <p:cNvSpPr/>
          <p:nvPr/>
        </p:nvSpPr>
        <p:spPr>
          <a:xfrm>
            <a:off x="1791477" y="3577228"/>
            <a:ext cx="2556588" cy="2556588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DE42E23-C853-447C-87E1-F82E58548B6A}"/>
              </a:ext>
            </a:extLst>
          </p:cNvPr>
          <p:cNvSpPr/>
          <p:nvPr/>
        </p:nvSpPr>
        <p:spPr>
          <a:xfrm>
            <a:off x="2014404" y="4702628"/>
            <a:ext cx="2269097" cy="66144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ky-KG" dirty="0">
                <a:solidFill>
                  <a:prstClr val="black"/>
                </a:solidFill>
              </a:rPr>
              <a:t>200гр сырдын баасы  2,36 сом</a:t>
            </a:r>
            <a:endParaRPr lang="en-GB" dirty="0">
              <a:solidFill>
                <a:prstClr val="black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AC15561-76AD-482D-90CD-C3364BBDE75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133" y="4538909"/>
            <a:ext cx="1494287" cy="120886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EC2DC15-D874-4D41-B05E-0D3DB04794E8}"/>
              </a:ext>
            </a:extLst>
          </p:cNvPr>
          <p:cNvSpPr txBox="1"/>
          <p:nvPr/>
        </p:nvSpPr>
        <p:spPr>
          <a:xfrm>
            <a:off x="5255628" y="1992083"/>
            <a:ext cx="43528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Кайрат 550 г шоколад сатып алгысы келет.</a:t>
            </a:r>
          </a:p>
          <a:p>
            <a:pPr algn="ctr"/>
            <a:endParaRPr lang="ru-RU" dirty="0"/>
          </a:p>
          <a:p>
            <a:pPr algn="ctr"/>
            <a:r>
              <a:rPr lang="ru-RU" dirty="0"/>
              <a:t>Анын баасы канча болот?</a:t>
            </a:r>
            <a:endParaRPr lang="en-GB" dirty="0"/>
          </a:p>
        </p:txBody>
      </p:sp>
      <p:sp>
        <p:nvSpPr>
          <p:cNvPr id="18" name="Star: 5 Points 17">
            <a:extLst>
              <a:ext uri="{FF2B5EF4-FFF2-40B4-BE49-F238E27FC236}">
                <a16:creationId xmlns:a16="http://schemas.microsoft.com/office/drawing/2014/main" id="{AA844896-14A9-4AC0-919E-804901189F38}"/>
              </a:ext>
            </a:extLst>
          </p:cNvPr>
          <p:cNvSpPr/>
          <p:nvPr/>
        </p:nvSpPr>
        <p:spPr>
          <a:xfrm>
            <a:off x="6792685" y="3577228"/>
            <a:ext cx="2556588" cy="2556588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1F4EF36-10BF-4334-A5FA-D4289142FDEE}"/>
              </a:ext>
            </a:extLst>
          </p:cNvPr>
          <p:cNvSpPr/>
          <p:nvPr/>
        </p:nvSpPr>
        <p:spPr>
          <a:xfrm>
            <a:off x="7015613" y="4702628"/>
            <a:ext cx="2091064" cy="66144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ru-RU" dirty="0">
                <a:solidFill>
                  <a:prstClr val="black"/>
                </a:solidFill>
              </a:rPr>
              <a:t>100 г шоколадтын баасы 1,72 сом</a:t>
            </a:r>
            <a:endParaRPr lang="en-GB" dirty="0">
              <a:solidFill>
                <a:prstClr val="black"/>
              </a:solidFill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EE222DD-6B9A-4D5D-8E94-6E3FAB00499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8493" y="4406285"/>
            <a:ext cx="1440175" cy="135804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6992CB6-04D7-4BE9-ACAC-4D58F30E0B26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892" y="182880"/>
            <a:ext cx="353951" cy="41565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A05C269-4870-4A30-A12A-F0B806D2777B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309" y="160611"/>
            <a:ext cx="353951" cy="41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156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П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Р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553A6F2-DEC5-481B-822C-A27FA7BD45D8}"/>
              </a:ext>
            </a:extLst>
          </p:cNvPr>
          <p:cNvSpPr/>
          <p:nvPr/>
        </p:nvSpPr>
        <p:spPr>
          <a:xfrm>
            <a:off x="261257" y="2921631"/>
            <a:ext cx="2004360" cy="23580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950" b="1" dirty="0">
                <a:solidFill>
                  <a:schemeClr val="tx1"/>
                </a:solidFill>
              </a:rPr>
              <a:t>Супер дүкөн</a:t>
            </a:r>
          </a:p>
          <a:p>
            <a:pPr algn="ctr"/>
            <a:endParaRPr lang="ru-RU" sz="1950" b="1" dirty="0">
              <a:solidFill>
                <a:schemeClr val="tx1"/>
              </a:solidFill>
            </a:endParaRPr>
          </a:p>
          <a:p>
            <a:pPr algn="ctr"/>
            <a:r>
              <a:rPr lang="ru-RU" sz="1950" b="1" dirty="0">
                <a:solidFill>
                  <a:schemeClr val="tx1"/>
                </a:solidFill>
              </a:rPr>
              <a:t>1 транспортир 22 т</a:t>
            </a:r>
          </a:p>
          <a:p>
            <a:pPr algn="ctr"/>
            <a:endParaRPr lang="ru-RU" sz="1950" b="1" dirty="0">
              <a:solidFill>
                <a:schemeClr val="tx1"/>
              </a:solidFill>
            </a:endParaRPr>
          </a:p>
          <a:p>
            <a:pPr algn="ctr"/>
            <a:r>
              <a:rPr lang="ru-RU" sz="1950" b="1" dirty="0">
                <a:solidFill>
                  <a:schemeClr val="tx1"/>
                </a:solidFill>
              </a:rPr>
              <a:t>10 транспортир 1,42сом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BA8270F-89F9-4A3A-9C04-62E63B59925C}"/>
              </a:ext>
            </a:extLst>
          </p:cNvPr>
          <p:cNvSpPr/>
          <p:nvPr/>
        </p:nvSpPr>
        <p:spPr>
          <a:xfrm>
            <a:off x="2629666" y="2921631"/>
            <a:ext cx="2005282" cy="23580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950" b="1" dirty="0">
                <a:solidFill>
                  <a:schemeClr val="tx1"/>
                </a:solidFill>
              </a:rPr>
              <a:t>Арзан дүкөн</a:t>
            </a:r>
          </a:p>
          <a:p>
            <a:pPr algn="ctr"/>
            <a:endParaRPr lang="ru-RU" sz="1950" b="1" dirty="0">
              <a:solidFill>
                <a:schemeClr val="tx1"/>
              </a:solidFill>
            </a:endParaRPr>
          </a:p>
          <a:p>
            <a:pPr algn="ctr"/>
            <a:r>
              <a:rPr lang="ru-RU" sz="1950" b="1" dirty="0">
                <a:solidFill>
                  <a:schemeClr val="tx1"/>
                </a:solidFill>
              </a:rPr>
              <a:t>1 транспортир 17т </a:t>
            </a:r>
          </a:p>
          <a:p>
            <a:pPr algn="ctr"/>
            <a:endParaRPr lang="ru-RU" sz="1950" b="1" dirty="0">
              <a:solidFill>
                <a:schemeClr val="tx1"/>
              </a:solidFill>
            </a:endParaRPr>
          </a:p>
          <a:p>
            <a:pPr algn="ctr"/>
            <a:r>
              <a:rPr lang="ru-RU" sz="1950" b="1" dirty="0">
                <a:solidFill>
                  <a:schemeClr val="tx1"/>
                </a:solidFill>
              </a:rPr>
              <a:t>20 транспортир 2,92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7C7288-093D-4649-8514-A4E500EC794E}"/>
              </a:ext>
            </a:extLst>
          </p:cNvPr>
          <p:cNvSpPr txBox="1"/>
          <p:nvPr/>
        </p:nvSpPr>
        <p:spPr>
          <a:xfrm>
            <a:off x="743087" y="1992083"/>
            <a:ext cx="33755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62 транспортир сатып алуу үчүн </a:t>
            </a:r>
          </a:p>
          <a:p>
            <a:pPr algn="ctr"/>
            <a:r>
              <a:rPr lang="ky-KG" dirty="0"/>
              <a:t>кайсы дүкөн эң арзан?</a:t>
            </a:r>
            <a:endParaRPr lang="en-GB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73EAFD8-9027-42C4-BFF3-08D3B348519F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94" y="5241928"/>
            <a:ext cx="2730066" cy="1505891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11BE730-94D0-4CF2-9022-3BB44C3AE6CD}"/>
              </a:ext>
            </a:extLst>
          </p:cNvPr>
          <p:cNvSpPr/>
          <p:nvPr/>
        </p:nvSpPr>
        <p:spPr>
          <a:xfrm>
            <a:off x="5318449" y="2921631"/>
            <a:ext cx="2004360" cy="23580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950" b="1" dirty="0">
                <a:solidFill>
                  <a:schemeClr val="tx1"/>
                </a:solidFill>
              </a:rPr>
              <a:t>Супер дүкөн</a:t>
            </a:r>
          </a:p>
          <a:p>
            <a:pPr algn="ctr"/>
            <a:endParaRPr lang="en-GB" sz="1950" dirty="0">
              <a:solidFill>
                <a:schemeClr val="tx1"/>
              </a:solidFill>
            </a:endParaRPr>
          </a:p>
          <a:p>
            <a:pPr algn="ctr"/>
            <a:r>
              <a:rPr lang="ky-KG" sz="1950" dirty="0">
                <a:solidFill>
                  <a:schemeClr val="tx1"/>
                </a:solidFill>
              </a:rPr>
              <a:t>1 сызгыч 18тыйын</a:t>
            </a:r>
          </a:p>
          <a:p>
            <a:pPr algn="ctr"/>
            <a:endParaRPr lang="ky-KG" sz="1950" dirty="0">
              <a:solidFill>
                <a:schemeClr val="tx1"/>
              </a:solidFill>
            </a:endParaRPr>
          </a:p>
          <a:p>
            <a:pPr algn="ctr"/>
            <a:r>
              <a:rPr lang="ky-KG" sz="1950" dirty="0">
                <a:solidFill>
                  <a:schemeClr val="tx1"/>
                </a:solidFill>
              </a:rPr>
              <a:t>15 сызгыч 2,37 сомго 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00AE92B-E92B-4980-84D5-26BB1EFA38A5}"/>
              </a:ext>
            </a:extLst>
          </p:cNvPr>
          <p:cNvSpPr/>
          <p:nvPr/>
        </p:nvSpPr>
        <p:spPr>
          <a:xfrm>
            <a:off x="7686858" y="2921631"/>
            <a:ext cx="2005282" cy="23580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950" b="1" dirty="0">
                <a:solidFill>
                  <a:schemeClr val="tx1"/>
                </a:solidFill>
              </a:rPr>
              <a:t>Арзан дүкөн</a:t>
            </a:r>
          </a:p>
          <a:p>
            <a:pPr algn="ctr"/>
            <a:endParaRPr lang="en-GB" sz="1950" dirty="0">
              <a:solidFill>
                <a:schemeClr val="tx1"/>
              </a:solidFill>
            </a:endParaRPr>
          </a:p>
          <a:p>
            <a:pPr algn="ctr"/>
            <a:r>
              <a:rPr lang="ky-KG" sz="1950" dirty="0">
                <a:solidFill>
                  <a:schemeClr val="tx1"/>
                </a:solidFill>
              </a:rPr>
              <a:t>1 сызгыч 21тыйын</a:t>
            </a:r>
            <a:endParaRPr lang="en-GB" sz="1950" dirty="0">
              <a:solidFill>
                <a:schemeClr val="tx1"/>
              </a:solidFill>
            </a:endParaRPr>
          </a:p>
          <a:p>
            <a:pPr algn="ctr"/>
            <a:endParaRPr lang="en-GB" sz="1950" dirty="0">
              <a:solidFill>
                <a:schemeClr val="tx1"/>
              </a:solidFill>
            </a:endParaRPr>
          </a:p>
          <a:p>
            <a:pPr algn="ctr"/>
            <a:r>
              <a:rPr lang="ky-KG" sz="1950" dirty="0">
                <a:solidFill>
                  <a:schemeClr val="tx1"/>
                </a:solidFill>
              </a:rPr>
              <a:t>30 сызгыч </a:t>
            </a:r>
          </a:p>
          <a:p>
            <a:pPr algn="ctr"/>
            <a:r>
              <a:rPr lang="en-GB" sz="1950" dirty="0">
                <a:solidFill>
                  <a:schemeClr val="tx1"/>
                </a:solidFill>
              </a:rPr>
              <a:t>4,55</a:t>
            </a:r>
            <a:r>
              <a:rPr lang="ky-KG" sz="1950" dirty="0">
                <a:solidFill>
                  <a:schemeClr val="tx1"/>
                </a:solidFill>
              </a:rPr>
              <a:t>сомго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6DD04C-250D-45B9-8D6A-BC8EB2F1CF5C}"/>
              </a:ext>
            </a:extLst>
          </p:cNvPr>
          <p:cNvSpPr txBox="1"/>
          <p:nvPr/>
        </p:nvSpPr>
        <p:spPr>
          <a:xfrm>
            <a:off x="5618586" y="1879554"/>
            <a:ext cx="37809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b="1" dirty="0">
                <a:solidFill>
                  <a:schemeClr val="tx1"/>
                </a:solidFill>
              </a:rPr>
              <a:t>Арзан дүкөндөн </a:t>
            </a:r>
            <a:r>
              <a:rPr lang="en-GB" dirty="0"/>
              <a:t>97 </a:t>
            </a:r>
            <a:r>
              <a:rPr lang="ky-KG" dirty="0"/>
              <a:t>сызгычты сатып </a:t>
            </a:r>
          </a:p>
          <a:p>
            <a:pPr algn="ctr"/>
            <a:r>
              <a:rPr lang="ky-KG" dirty="0"/>
              <a:t>алуу Супер дүкөнгө караганда </a:t>
            </a:r>
          </a:p>
          <a:p>
            <a:pPr algn="ctr"/>
            <a:r>
              <a:rPr lang="ky-KG" dirty="0"/>
              <a:t>канчага арзан?</a:t>
            </a:r>
            <a:endParaRPr lang="en-GB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8403FAF-46DD-4D90-BFBF-5D4AB099733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56" b="32558"/>
          <a:stretch/>
        </p:blipFill>
        <p:spPr>
          <a:xfrm>
            <a:off x="5333672" y="5934270"/>
            <a:ext cx="4152182" cy="72218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6EE7B33-E489-4149-99F1-413928FD0C49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892" y="182880"/>
            <a:ext cx="353951" cy="415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24437FF-8A98-428B-B0BB-4AE044D8A5F2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309" y="160611"/>
            <a:ext cx="353951" cy="41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209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С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Т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553A6F2-DEC5-481B-822C-A27FA7BD45D8}"/>
              </a:ext>
            </a:extLst>
          </p:cNvPr>
          <p:cNvSpPr/>
          <p:nvPr/>
        </p:nvSpPr>
        <p:spPr>
          <a:xfrm>
            <a:off x="201387" y="2921631"/>
            <a:ext cx="2108719" cy="23580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1950" b="1" dirty="0">
                <a:solidFill>
                  <a:schemeClr val="tx1"/>
                </a:solidFill>
              </a:rPr>
              <a:t>Супер жеткирүү</a:t>
            </a:r>
          </a:p>
          <a:p>
            <a:pPr algn="ctr"/>
            <a:endParaRPr lang="en-GB" sz="1950" b="1" dirty="0">
              <a:solidFill>
                <a:schemeClr val="tx1"/>
              </a:solidFill>
            </a:endParaRPr>
          </a:p>
          <a:p>
            <a:pPr algn="ctr"/>
            <a:r>
              <a:rPr lang="en-GB" sz="1950" b="1" dirty="0">
                <a:solidFill>
                  <a:schemeClr val="tx1"/>
                </a:solidFill>
              </a:rPr>
              <a:t>1 </a:t>
            </a:r>
            <a:r>
              <a:rPr lang="ky-KG" sz="1950" b="1" dirty="0">
                <a:solidFill>
                  <a:schemeClr val="tx1"/>
                </a:solidFill>
              </a:rPr>
              <a:t>калем 52 тыйын</a:t>
            </a:r>
          </a:p>
          <a:p>
            <a:pPr algn="ctr"/>
            <a:endParaRPr lang="ky-KG" sz="1950" b="1" dirty="0">
              <a:solidFill>
                <a:schemeClr val="tx1"/>
              </a:solidFill>
            </a:endParaRPr>
          </a:p>
          <a:p>
            <a:pPr algn="ctr"/>
            <a:r>
              <a:rPr lang="ky-KG" sz="1950" b="1" dirty="0">
                <a:solidFill>
                  <a:schemeClr val="tx1"/>
                </a:solidFill>
              </a:rPr>
              <a:t>1 сатып алсаң</a:t>
            </a:r>
          </a:p>
          <a:p>
            <a:pPr algn="ctr"/>
            <a:r>
              <a:rPr lang="ky-KG" sz="1950" b="1" dirty="0">
                <a:solidFill>
                  <a:schemeClr val="tx1"/>
                </a:solidFill>
              </a:rPr>
              <a:t> 1 бекер !</a:t>
            </a:r>
            <a:endParaRPr lang="en-GB" sz="1950" b="1" dirty="0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BA8270F-89F9-4A3A-9C04-62E63B59925C}"/>
              </a:ext>
            </a:extLst>
          </p:cNvPr>
          <p:cNvSpPr/>
          <p:nvPr/>
        </p:nvSpPr>
        <p:spPr>
          <a:xfrm>
            <a:off x="2569796" y="2921631"/>
            <a:ext cx="2109689" cy="23580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1950" b="1" dirty="0">
                <a:solidFill>
                  <a:schemeClr val="tx1"/>
                </a:solidFill>
              </a:rPr>
              <a:t>Мектеп жабдык.</a:t>
            </a:r>
          </a:p>
          <a:p>
            <a:pPr algn="ctr"/>
            <a:endParaRPr lang="en-GB" sz="1950" dirty="0">
              <a:solidFill>
                <a:schemeClr val="tx1"/>
              </a:solidFill>
            </a:endParaRPr>
          </a:p>
          <a:p>
            <a:pPr algn="ctr"/>
            <a:r>
              <a:rPr lang="ru-RU" sz="1950" b="1" dirty="0">
                <a:solidFill>
                  <a:schemeClr val="tx1"/>
                </a:solidFill>
              </a:rPr>
              <a:t>1 калем 43тыйын</a:t>
            </a:r>
          </a:p>
          <a:p>
            <a:pPr algn="ctr"/>
            <a:endParaRPr lang="ru-RU" sz="1950" b="1" dirty="0">
              <a:solidFill>
                <a:schemeClr val="tx1"/>
              </a:solidFill>
            </a:endParaRPr>
          </a:p>
          <a:p>
            <a:pPr algn="ctr"/>
            <a:r>
              <a:rPr lang="ru-RU" sz="1950" b="1" dirty="0">
                <a:solidFill>
                  <a:schemeClr val="tx1"/>
                </a:solidFill>
              </a:rPr>
              <a:t>2 сатып алсаң </a:t>
            </a:r>
          </a:p>
          <a:p>
            <a:pPr algn="ctr"/>
            <a:r>
              <a:rPr lang="ru-RU" sz="1950" b="1" dirty="0">
                <a:solidFill>
                  <a:schemeClr val="tx1"/>
                </a:solidFill>
              </a:rPr>
              <a:t>1 алуу бекер!</a:t>
            </a:r>
            <a:endParaRPr lang="en-GB" sz="1950" b="1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7C7288-093D-4649-8514-A4E500EC794E}"/>
              </a:ext>
            </a:extLst>
          </p:cNvPr>
          <p:cNvSpPr txBox="1"/>
          <p:nvPr/>
        </p:nvSpPr>
        <p:spPr>
          <a:xfrm>
            <a:off x="581247" y="1992083"/>
            <a:ext cx="36992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Кайсы дүкөндөн эң арзан 23 калем </a:t>
            </a:r>
          </a:p>
          <a:p>
            <a:pPr algn="ctr"/>
            <a:r>
              <a:rPr lang="ky-KG" dirty="0"/>
              <a:t>сатып алса болот?</a:t>
            </a:r>
            <a:endParaRPr lang="en-GB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4E35327-3F1D-4C46-9296-EBA33256472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600" b="31891"/>
          <a:stretch/>
        </p:blipFill>
        <p:spPr>
          <a:xfrm rot="9906612">
            <a:off x="661514" y="5687411"/>
            <a:ext cx="3588340" cy="601201"/>
          </a:xfrm>
          <a:prstGeom prst="rect">
            <a:avLst/>
          </a:prstGeom>
        </p:spPr>
      </p:pic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228D2B3-BECD-4DFB-91CE-224273522B6D}"/>
              </a:ext>
            </a:extLst>
          </p:cNvPr>
          <p:cNvSpPr/>
          <p:nvPr/>
        </p:nvSpPr>
        <p:spPr>
          <a:xfrm>
            <a:off x="5193264" y="2921630"/>
            <a:ext cx="2108719" cy="3087283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1950" b="1" dirty="0">
                <a:solidFill>
                  <a:schemeClr val="tx1"/>
                </a:solidFill>
              </a:rPr>
              <a:t>Калькулятор дүйнөсү</a:t>
            </a:r>
            <a:endParaRPr lang="en-US" sz="1950" b="1" dirty="0">
              <a:solidFill>
                <a:schemeClr val="tx1"/>
              </a:solidFill>
            </a:endParaRPr>
          </a:p>
          <a:p>
            <a:pPr algn="ctr"/>
            <a:endParaRPr lang="en-GB" sz="1950" b="1" dirty="0">
              <a:solidFill>
                <a:schemeClr val="tx1"/>
              </a:solidFill>
            </a:endParaRPr>
          </a:p>
          <a:p>
            <a:pPr algn="ctr"/>
            <a:r>
              <a:rPr lang="ru-RU" sz="1950" dirty="0">
                <a:solidFill>
                  <a:schemeClr val="tx1"/>
                </a:solidFill>
              </a:rPr>
              <a:t>1 калькулятор 4,52 </a:t>
            </a:r>
            <a:r>
              <a:rPr lang="ky-KG" sz="1950" dirty="0">
                <a:solidFill>
                  <a:schemeClr val="tx1"/>
                </a:solidFill>
              </a:rPr>
              <a:t>сом</a:t>
            </a:r>
            <a:endParaRPr lang="ru-RU" sz="1950" dirty="0">
              <a:solidFill>
                <a:schemeClr val="tx1"/>
              </a:solidFill>
            </a:endParaRPr>
          </a:p>
          <a:p>
            <a:pPr algn="ctr"/>
            <a:endParaRPr lang="ru-RU" sz="1950" dirty="0">
              <a:solidFill>
                <a:schemeClr val="tx1"/>
              </a:solidFill>
            </a:endParaRPr>
          </a:p>
          <a:p>
            <a:pPr algn="ctr"/>
            <a:r>
              <a:rPr lang="ru-RU" sz="1950" dirty="0">
                <a:solidFill>
                  <a:schemeClr val="tx1"/>
                </a:solidFill>
              </a:rPr>
              <a:t>1 сатып алсаң,</a:t>
            </a:r>
          </a:p>
          <a:p>
            <a:pPr algn="ctr"/>
            <a:r>
              <a:rPr lang="ru-RU" sz="1950" dirty="0">
                <a:solidFill>
                  <a:schemeClr val="tx1"/>
                </a:solidFill>
              </a:rPr>
              <a:t> 1ге 50% арзандатуу</a:t>
            </a:r>
            <a:r>
              <a:rPr lang="en-GB" sz="1950" b="1" dirty="0"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B715C83-8117-47F3-84FC-F28204779DDD}"/>
              </a:ext>
            </a:extLst>
          </p:cNvPr>
          <p:cNvSpPr/>
          <p:nvPr/>
        </p:nvSpPr>
        <p:spPr>
          <a:xfrm>
            <a:off x="7561673" y="2921629"/>
            <a:ext cx="2109689" cy="2989313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1950" b="1" dirty="0">
                <a:solidFill>
                  <a:schemeClr val="tx1"/>
                </a:solidFill>
              </a:rPr>
              <a:t>Электрондук билим</a:t>
            </a:r>
          </a:p>
          <a:p>
            <a:pPr algn="ctr"/>
            <a:endParaRPr lang="ky-KG" sz="1950" b="1" dirty="0">
              <a:solidFill>
                <a:schemeClr val="tx1"/>
              </a:solidFill>
            </a:endParaRPr>
          </a:p>
          <a:p>
            <a:pPr algn="ctr"/>
            <a:r>
              <a:rPr lang="ky-KG" sz="1950" dirty="0">
                <a:solidFill>
                  <a:schemeClr val="tx1"/>
                </a:solidFill>
              </a:rPr>
              <a:t>1 калькулятор  3,80 сом</a:t>
            </a:r>
          </a:p>
          <a:p>
            <a:pPr algn="ctr"/>
            <a:endParaRPr lang="ky-KG" sz="1950" dirty="0">
              <a:solidFill>
                <a:schemeClr val="tx1"/>
              </a:solidFill>
            </a:endParaRPr>
          </a:p>
          <a:p>
            <a:pPr algn="ctr"/>
            <a:r>
              <a:rPr lang="ky-KG" sz="1950" dirty="0">
                <a:solidFill>
                  <a:schemeClr val="tx1"/>
                </a:solidFill>
              </a:rPr>
              <a:t>5 сатып алсаңыз, 1 бекер !</a:t>
            </a:r>
            <a:endParaRPr lang="en-GB" sz="1950" b="1" dirty="0">
              <a:solidFill>
                <a:schemeClr val="tx1"/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7F3D9F5-EE3D-4A97-B408-6C71D7828E38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5012" y="5486422"/>
            <a:ext cx="946677" cy="1111696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A1EA1254-90AE-49B0-8349-AE67C2DFBEEF}"/>
              </a:ext>
            </a:extLst>
          </p:cNvPr>
          <p:cNvSpPr txBox="1"/>
          <p:nvPr/>
        </p:nvSpPr>
        <p:spPr>
          <a:xfrm>
            <a:off x="5483921" y="1992083"/>
            <a:ext cx="40082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How much cheaper is Electric Education </a:t>
            </a:r>
          </a:p>
          <a:p>
            <a:pPr algn="ctr"/>
            <a:r>
              <a:rPr lang="en-GB" dirty="0"/>
              <a:t>than Calc. World for buying</a:t>
            </a:r>
          </a:p>
          <a:p>
            <a:pPr algn="ctr"/>
            <a:r>
              <a:rPr lang="en-GB" dirty="0"/>
              <a:t>15 calculators?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39C6E49E-931B-4188-8564-1AF691AB813D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892" y="182880"/>
            <a:ext cx="353951" cy="41565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A6F78C5D-CC0B-4AFE-BFDB-3DAAAFDE18ED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309" y="160611"/>
            <a:ext cx="353951" cy="41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901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У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Ү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</a:p>
        </p:txBody>
      </p:sp>
      <p:sp>
        <p:nvSpPr>
          <p:cNvPr id="3" name="Wave 2">
            <a:extLst>
              <a:ext uri="{FF2B5EF4-FFF2-40B4-BE49-F238E27FC236}">
                <a16:creationId xmlns:a16="http://schemas.microsoft.com/office/drawing/2014/main" id="{EA81ABEC-28CB-4761-9FC4-8CF997F6B093}"/>
              </a:ext>
            </a:extLst>
          </p:cNvPr>
          <p:cNvSpPr/>
          <p:nvPr/>
        </p:nvSpPr>
        <p:spPr>
          <a:xfrm>
            <a:off x="587830" y="2146041"/>
            <a:ext cx="3704252" cy="1866122"/>
          </a:xfrm>
          <a:prstGeom prst="wave">
            <a:avLst>
              <a:gd name="adj1" fmla="val 7094"/>
              <a:gd name="adj2" fmla="val 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C14F2C2A-BD5F-4A15-81F6-82AAA56FE7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428681"/>
              </p:ext>
            </p:extLst>
          </p:nvPr>
        </p:nvGraphicFramePr>
        <p:xfrm>
          <a:off x="709464" y="2476241"/>
          <a:ext cx="3471506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5753">
                  <a:extLst>
                    <a:ext uri="{9D8B030D-6E8A-4147-A177-3AD203B41FA5}">
                      <a16:colId xmlns:a16="http://schemas.microsoft.com/office/drawing/2014/main" val="850467736"/>
                    </a:ext>
                  </a:extLst>
                </a:gridCol>
                <a:gridCol w="1735753">
                  <a:extLst>
                    <a:ext uri="{9D8B030D-6E8A-4147-A177-3AD203B41FA5}">
                      <a16:colId xmlns:a16="http://schemas.microsoft.com/office/drawing/2014/main" val="1931761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Бургер 2,49с 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Макарон 1,72т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035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Фри 88т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Алма 53т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92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Газдалган суусундук 74т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Сок 81т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30155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9BEF4AD-F3F9-44A7-9EC9-C7DC08187C76}"/>
              </a:ext>
            </a:extLst>
          </p:cNvPr>
          <p:cNvSpPr txBox="1"/>
          <p:nvPr/>
        </p:nvSpPr>
        <p:spPr>
          <a:xfrm>
            <a:off x="497392" y="4296744"/>
            <a:ext cx="38669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Түшкү тамакка Канат бургер, алма </a:t>
            </a:r>
          </a:p>
          <a:p>
            <a:pPr algn="ctr"/>
            <a:r>
              <a:rPr lang="ky-KG" dirty="0"/>
              <a:t>жана газдалган суусундук сатып алат.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Тамагы үчүн канча төлөйт?</a:t>
            </a:r>
            <a:endParaRPr lang="en-GB" dirty="0"/>
          </a:p>
        </p:txBody>
      </p:sp>
      <p:sp>
        <p:nvSpPr>
          <p:cNvPr id="17" name="Wave 16">
            <a:extLst>
              <a:ext uri="{FF2B5EF4-FFF2-40B4-BE49-F238E27FC236}">
                <a16:creationId xmlns:a16="http://schemas.microsoft.com/office/drawing/2014/main" id="{E9E719DD-62AD-4296-9DBC-0BC6F164FCE8}"/>
              </a:ext>
            </a:extLst>
          </p:cNvPr>
          <p:cNvSpPr/>
          <p:nvPr/>
        </p:nvSpPr>
        <p:spPr>
          <a:xfrm>
            <a:off x="5645022" y="2146041"/>
            <a:ext cx="3704252" cy="1866122"/>
          </a:xfrm>
          <a:prstGeom prst="wave">
            <a:avLst>
              <a:gd name="adj1" fmla="val 7094"/>
              <a:gd name="adj2" fmla="val 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8B9E8E-A7CC-40DB-A074-056E169F8D8A}"/>
              </a:ext>
            </a:extLst>
          </p:cNvPr>
          <p:cNvSpPr txBox="1"/>
          <p:nvPr/>
        </p:nvSpPr>
        <p:spPr>
          <a:xfrm>
            <a:off x="5371218" y="4296744"/>
            <a:ext cx="423372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Дастан үй-бүлөсү үчүн түшкү тамак </a:t>
            </a:r>
          </a:p>
          <a:p>
            <a:pPr algn="ctr"/>
            <a:r>
              <a:rPr lang="ky-KG" dirty="0"/>
              <a:t>сатып алайын деп пландап жатат: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2 бургер, 2 макарон, 4 алма,</a:t>
            </a:r>
          </a:p>
          <a:p>
            <a:pPr algn="ctr"/>
            <a:r>
              <a:rPr lang="ky-KG" dirty="0"/>
              <a:t>1 фри, 5 газдалган суусундук.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Ал 20 сомдон канча кайтарым акча алат?</a:t>
            </a:r>
            <a:endParaRPr lang="en-GB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8A6254F-0629-4D05-9E71-68EDFC23DB67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892" y="182880"/>
            <a:ext cx="353951" cy="41565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07F2E8C-1012-403E-B7B6-1142394D0BDD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309" y="160611"/>
            <a:ext cx="353951" cy="41565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E7BFA69-B358-EF9F-7365-87467C1430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8751021"/>
              </p:ext>
            </p:extLst>
          </p:nvPr>
        </p:nvGraphicFramePr>
        <p:xfrm>
          <a:off x="5846664" y="2388222"/>
          <a:ext cx="3471506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5753">
                  <a:extLst>
                    <a:ext uri="{9D8B030D-6E8A-4147-A177-3AD203B41FA5}">
                      <a16:colId xmlns:a16="http://schemas.microsoft.com/office/drawing/2014/main" val="850467736"/>
                    </a:ext>
                  </a:extLst>
                </a:gridCol>
                <a:gridCol w="1735753">
                  <a:extLst>
                    <a:ext uri="{9D8B030D-6E8A-4147-A177-3AD203B41FA5}">
                      <a16:colId xmlns:a16="http://schemas.microsoft.com/office/drawing/2014/main" val="1931761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Бургер 2,49с 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Макарон 1,72т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035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Фри 88т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Алма 53т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92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Газдалган суусундук 74т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Сок 81т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301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9833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Ф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Х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443058" y="460673"/>
            <a:ext cx="886781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</a:p>
        </p:txBody>
      </p:sp>
      <p:sp>
        <p:nvSpPr>
          <p:cNvPr id="3" name="Wave 2">
            <a:extLst>
              <a:ext uri="{FF2B5EF4-FFF2-40B4-BE49-F238E27FC236}">
                <a16:creationId xmlns:a16="http://schemas.microsoft.com/office/drawing/2014/main" id="{EA81ABEC-28CB-4761-9FC4-8CF997F6B093}"/>
              </a:ext>
            </a:extLst>
          </p:cNvPr>
          <p:cNvSpPr/>
          <p:nvPr/>
        </p:nvSpPr>
        <p:spPr>
          <a:xfrm>
            <a:off x="587830" y="2146041"/>
            <a:ext cx="3704252" cy="1866122"/>
          </a:xfrm>
          <a:prstGeom prst="wave">
            <a:avLst>
              <a:gd name="adj1" fmla="val 7094"/>
              <a:gd name="adj2" fmla="val 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BEF4AD-F3F9-44A7-9EC9-C7DC08187C76}"/>
              </a:ext>
            </a:extLst>
          </p:cNvPr>
          <p:cNvSpPr txBox="1"/>
          <p:nvPr/>
        </p:nvSpPr>
        <p:spPr>
          <a:xfrm>
            <a:off x="88444" y="4296744"/>
            <a:ext cx="468487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Түшкү тамакка Маке макарон жана </a:t>
            </a:r>
          </a:p>
          <a:p>
            <a:pPr algn="ctr"/>
            <a:r>
              <a:rPr lang="ky-KG" dirty="0"/>
              <a:t>газдалган суусундук сатып алды.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5 сомдук акча менен төлөп, </a:t>
            </a:r>
          </a:p>
          <a:p>
            <a:pPr algn="ctr"/>
            <a:r>
              <a:rPr lang="ky-KG" dirty="0"/>
              <a:t>2,32 сом кайтарым акча алды.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Газдалган суусундук жаңы баасы канча экен?</a:t>
            </a:r>
            <a:r>
              <a:rPr lang="en-GB" dirty="0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10FFA2-B33A-43FC-B866-6B9B1DD35705}"/>
              </a:ext>
            </a:extLst>
          </p:cNvPr>
          <p:cNvSpPr txBox="1"/>
          <p:nvPr/>
        </p:nvSpPr>
        <p:spPr>
          <a:xfrm rot="493720">
            <a:off x="1945092" y="1925918"/>
            <a:ext cx="1598515" cy="4206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b="1" baseline="6000" dirty="0">
                <a:latin typeface="Forte" panose="03060902040502070203" pitchFamily="66" charset="0"/>
              </a:rPr>
              <a:t>Жаңы баа!</a:t>
            </a:r>
            <a:endParaRPr lang="en-GB" sz="3200" b="1" baseline="6000" dirty="0">
              <a:latin typeface="Forte" panose="03060902040502070203" pitchFamily="66" charset="0"/>
            </a:endParaRPr>
          </a:p>
        </p:txBody>
      </p:sp>
      <p:sp>
        <p:nvSpPr>
          <p:cNvPr id="29" name="Wave 28">
            <a:extLst>
              <a:ext uri="{FF2B5EF4-FFF2-40B4-BE49-F238E27FC236}">
                <a16:creationId xmlns:a16="http://schemas.microsoft.com/office/drawing/2014/main" id="{4EBB8CB3-C0F5-4327-8AED-5BC2C78B4201}"/>
              </a:ext>
            </a:extLst>
          </p:cNvPr>
          <p:cNvSpPr/>
          <p:nvPr/>
        </p:nvSpPr>
        <p:spPr>
          <a:xfrm>
            <a:off x="5607699" y="2146041"/>
            <a:ext cx="3704252" cy="1866122"/>
          </a:xfrm>
          <a:prstGeom prst="wave">
            <a:avLst>
              <a:gd name="adj1" fmla="val 7094"/>
              <a:gd name="adj2" fmla="val 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F50112-E388-4054-83BB-E821E7E9B8D0}"/>
              </a:ext>
            </a:extLst>
          </p:cNvPr>
          <p:cNvSpPr txBox="1"/>
          <p:nvPr/>
        </p:nvSpPr>
        <p:spPr>
          <a:xfrm>
            <a:off x="5282588" y="4019744"/>
            <a:ext cx="4304062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Талант досторуна түшкү тамак сатып алат.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Ал 3 макарон, 4 бургер, </a:t>
            </a:r>
          </a:p>
          <a:p>
            <a:pPr algn="ctr"/>
            <a:r>
              <a:rPr lang="ky-KG" dirty="0"/>
              <a:t>2 фри жана 4 шире сатып алат.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Ал 50 сомдук акча менен төлөп, </a:t>
            </a:r>
          </a:p>
          <a:p>
            <a:pPr algn="ctr"/>
            <a:r>
              <a:rPr lang="ky-KG" dirty="0"/>
              <a:t>29,40 сом кайтарым алды.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Бургердин жаңы баасы канча экен?</a:t>
            </a:r>
            <a:endParaRPr lang="en-GB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77FA401-210D-4EEE-8FC5-41AE98A51F09}"/>
              </a:ext>
            </a:extLst>
          </p:cNvPr>
          <p:cNvSpPr txBox="1"/>
          <p:nvPr/>
        </p:nvSpPr>
        <p:spPr>
          <a:xfrm rot="493720">
            <a:off x="7007370" y="1901127"/>
            <a:ext cx="1598515" cy="4206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b="1" baseline="6000" dirty="0">
                <a:latin typeface="Forte" panose="03060902040502070203" pitchFamily="66" charset="0"/>
              </a:rPr>
              <a:t>Жаңы баа!</a:t>
            </a:r>
            <a:endParaRPr lang="en-GB" sz="3200" b="1" baseline="6000" dirty="0">
              <a:latin typeface="Forte" panose="03060902040502070203" pitchFamily="66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B4D07F45-6936-4305-833D-E194B91C29C0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892" y="182880"/>
            <a:ext cx="353951" cy="41565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E794D79A-EDD0-47A8-9D61-BBFDACC6E619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309" y="160611"/>
            <a:ext cx="353951" cy="41565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C75301B-450A-35BC-C33D-B5A211841A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51526"/>
              </p:ext>
            </p:extLst>
          </p:nvPr>
        </p:nvGraphicFramePr>
        <p:xfrm>
          <a:off x="790008" y="2427782"/>
          <a:ext cx="3471506" cy="137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5753">
                  <a:extLst>
                    <a:ext uri="{9D8B030D-6E8A-4147-A177-3AD203B41FA5}">
                      <a16:colId xmlns:a16="http://schemas.microsoft.com/office/drawing/2014/main" val="850467736"/>
                    </a:ext>
                  </a:extLst>
                </a:gridCol>
                <a:gridCol w="1735753">
                  <a:extLst>
                    <a:ext uri="{9D8B030D-6E8A-4147-A177-3AD203B41FA5}">
                      <a16:colId xmlns:a16="http://schemas.microsoft.com/office/drawing/2014/main" val="19317614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Бургер 2,49с 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Макарон 1,72т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035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Фри 88т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Алма 53т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92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Газдалган суусундук 74т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Сок 81т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301558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8953EE6-7200-43E4-BE16-7357AFDCFE3E}"/>
              </a:ext>
            </a:extLst>
          </p:cNvPr>
          <p:cNvCxnSpPr>
            <a:cxnSpLocks/>
          </p:cNvCxnSpPr>
          <p:nvPr/>
        </p:nvCxnSpPr>
        <p:spPr>
          <a:xfrm flipV="1">
            <a:off x="1833866" y="3526155"/>
            <a:ext cx="344805" cy="156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AD7FEB4-4D21-412F-B169-E1DBDE333C47}"/>
              </a:ext>
            </a:extLst>
          </p:cNvPr>
          <p:cNvCxnSpPr>
            <a:cxnSpLocks/>
          </p:cNvCxnSpPr>
          <p:nvPr/>
        </p:nvCxnSpPr>
        <p:spPr>
          <a:xfrm>
            <a:off x="1858521" y="3526155"/>
            <a:ext cx="381816" cy="1951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9FF162-0E82-4A37-90AF-1F0C9D76834E}"/>
              </a:ext>
            </a:extLst>
          </p:cNvPr>
          <p:cNvCxnSpPr>
            <a:cxnSpLocks/>
          </p:cNvCxnSpPr>
          <p:nvPr/>
        </p:nvCxnSpPr>
        <p:spPr>
          <a:xfrm flipV="1">
            <a:off x="3097032" y="2901964"/>
            <a:ext cx="344805" cy="156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EAA9A94-C4B2-4ED0-9979-7B00A4004F6E}"/>
              </a:ext>
            </a:extLst>
          </p:cNvPr>
          <p:cNvCxnSpPr>
            <a:cxnSpLocks/>
          </p:cNvCxnSpPr>
          <p:nvPr/>
        </p:nvCxnSpPr>
        <p:spPr>
          <a:xfrm>
            <a:off x="3136119" y="2872784"/>
            <a:ext cx="381816" cy="1951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FC519E1-318A-4E6C-8CA4-892B4201E909}"/>
              </a:ext>
            </a:extLst>
          </p:cNvPr>
          <p:cNvCxnSpPr>
            <a:cxnSpLocks/>
          </p:cNvCxnSpPr>
          <p:nvPr/>
        </p:nvCxnSpPr>
        <p:spPr>
          <a:xfrm flipV="1">
            <a:off x="1626810" y="2531110"/>
            <a:ext cx="344805" cy="156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570AD3B-AB24-42C1-9943-D2D23587AD9E}"/>
              </a:ext>
            </a:extLst>
          </p:cNvPr>
          <p:cNvCxnSpPr>
            <a:cxnSpLocks/>
          </p:cNvCxnSpPr>
          <p:nvPr/>
        </p:nvCxnSpPr>
        <p:spPr>
          <a:xfrm>
            <a:off x="1599052" y="2526204"/>
            <a:ext cx="381816" cy="1951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D360AF2-5F32-7255-0EED-9184463DDC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429703"/>
              </p:ext>
            </p:extLst>
          </p:nvPr>
        </p:nvGraphicFramePr>
        <p:xfrm>
          <a:off x="5787948" y="2435311"/>
          <a:ext cx="3471506" cy="137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5753">
                  <a:extLst>
                    <a:ext uri="{9D8B030D-6E8A-4147-A177-3AD203B41FA5}">
                      <a16:colId xmlns:a16="http://schemas.microsoft.com/office/drawing/2014/main" val="850467736"/>
                    </a:ext>
                  </a:extLst>
                </a:gridCol>
                <a:gridCol w="1735753">
                  <a:extLst>
                    <a:ext uri="{9D8B030D-6E8A-4147-A177-3AD203B41FA5}">
                      <a16:colId xmlns:a16="http://schemas.microsoft.com/office/drawing/2014/main" val="19317614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Бургер 2,49с 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Макарон 1,72т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035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Фри 88т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Алма 53т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92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Газдалган суусундук 74т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Сок 81т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301558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7D324AE-898B-D0BF-CEE2-6EA8D6FF313F}"/>
              </a:ext>
            </a:extLst>
          </p:cNvPr>
          <p:cNvCxnSpPr>
            <a:cxnSpLocks/>
          </p:cNvCxnSpPr>
          <p:nvPr/>
        </p:nvCxnSpPr>
        <p:spPr>
          <a:xfrm flipV="1">
            <a:off x="6831806" y="3533684"/>
            <a:ext cx="344805" cy="156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E0DBAE5-0772-3E6B-9705-A4FB9ECD35B5}"/>
              </a:ext>
            </a:extLst>
          </p:cNvPr>
          <p:cNvCxnSpPr>
            <a:cxnSpLocks/>
          </p:cNvCxnSpPr>
          <p:nvPr/>
        </p:nvCxnSpPr>
        <p:spPr>
          <a:xfrm>
            <a:off x="6856461" y="3533684"/>
            <a:ext cx="381816" cy="1951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FE93396-6413-93C2-48BA-30D59055601C}"/>
              </a:ext>
            </a:extLst>
          </p:cNvPr>
          <p:cNvCxnSpPr>
            <a:cxnSpLocks/>
          </p:cNvCxnSpPr>
          <p:nvPr/>
        </p:nvCxnSpPr>
        <p:spPr>
          <a:xfrm flipV="1">
            <a:off x="8094972" y="2909493"/>
            <a:ext cx="344805" cy="156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40065FE-3724-9EEB-0AE6-02E9FF61E464}"/>
              </a:ext>
            </a:extLst>
          </p:cNvPr>
          <p:cNvCxnSpPr>
            <a:cxnSpLocks/>
          </p:cNvCxnSpPr>
          <p:nvPr/>
        </p:nvCxnSpPr>
        <p:spPr>
          <a:xfrm>
            <a:off x="8134059" y="2880313"/>
            <a:ext cx="381816" cy="1951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9FD077C-8CAA-6BC7-C8B6-CB61095F463A}"/>
              </a:ext>
            </a:extLst>
          </p:cNvPr>
          <p:cNvCxnSpPr>
            <a:cxnSpLocks/>
          </p:cNvCxnSpPr>
          <p:nvPr/>
        </p:nvCxnSpPr>
        <p:spPr>
          <a:xfrm flipV="1">
            <a:off x="6624750" y="2538639"/>
            <a:ext cx="344805" cy="156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F57191C-2FF5-3E26-5C95-1CBA30BFD007}"/>
              </a:ext>
            </a:extLst>
          </p:cNvPr>
          <p:cNvCxnSpPr>
            <a:cxnSpLocks/>
          </p:cNvCxnSpPr>
          <p:nvPr/>
        </p:nvCxnSpPr>
        <p:spPr>
          <a:xfrm>
            <a:off x="6596992" y="2533733"/>
            <a:ext cx="381816" cy="1951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63780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03D9BE1-E101-4FB3-A5E5-A858BEA8E9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519893"/>
              </p:ext>
            </p:extLst>
          </p:nvPr>
        </p:nvGraphicFramePr>
        <p:xfrm>
          <a:off x="131123" y="44918"/>
          <a:ext cx="4672889" cy="676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447">
                  <a:extLst>
                    <a:ext uri="{9D8B030D-6E8A-4147-A177-3AD203B41FA5}">
                      <a16:colId xmlns:a16="http://schemas.microsoft.com/office/drawing/2014/main" val="999528523"/>
                    </a:ext>
                  </a:extLst>
                </a:gridCol>
                <a:gridCol w="3057099">
                  <a:extLst>
                    <a:ext uri="{9D8B030D-6E8A-4147-A177-3AD203B41FA5}">
                      <a16:colId xmlns:a16="http://schemas.microsoft.com/office/drawing/2014/main" val="4233635885"/>
                    </a:ext>
                  </a:extLst>
                </a:gridCol>
                <a:gridCol w="955343">
                  <a:extLst>
                    <a:ext uri="{9D8B030D-6E8A-4147-A177-3AD203B41FA5}">
                      <a16:colId xmlns:a16="http://schemas.microsoft.com/office/drawing/2014/main" val="368119011"/>
                    </a:ext>
                  </a:extLst>
                </a:gridCol>
              </a:tblGrid>
              <a:tr h="424620"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Сур.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Жооптор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Упай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005034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А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2,91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3200" baseline="30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dirty="0"/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828738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Б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3,15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376462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В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23,55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568799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Г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21,91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71753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Д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63,36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8289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Е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34,65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807072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Е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1,22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624037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Ж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12,33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7736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З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32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тыйын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729023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И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53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тыйын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670860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Й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43,84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50698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К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66,10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47767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Л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22,54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86305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E6A4FF7-331C-41A8-9FF5-12FEF974C1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9606008"/>
              </p:ext>
            </p:extLst>
          </p:nvPr>
        </p:nvGraphicFramePr>
        <p:xfrm>
          <a:off x="5101988" y="47360"/>
          <a:ext cx="4672889" cy="676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447">
                  <a:extLst>
                    <a:ext uri="{9D8B030D-6E8A-4147-A177-3AD203B41FA5}">
                      <a16:colId xmlns:a16="http://schemas.microsoft.com/office/drawing/2014/main" val="999528523"/>
                    </a:ext>
                  </a:extLst>
                </a:gridCol>
                <a:gridCol w="3057099">
                  <a:extLst>
                    <a:ext uri="{9D8B030D-6E8A-4147-A177-3AD203B41FA5}">
                      <a16:colId xmlns:a16="http://schemas.microsoft.com/office/drawing/2014/main" val="4233635885"/>
                    </a:ext>
                  </a:extLst>
                </a:gridCol>
                <a:gridCol w="955343">
                  <a:extLst>
                    <a:ext uri="{9D8B030D-6E8A-4147-A177-3AD203B41FA5}">
                      <a16:colId xmlns:a16="http://schemas.microsoft.com/office/drawing/2014/main" val="368119011"/>
                    </a:ext>
                  </a:extLst>
                </a:gridCol>
              </a:tblGrid>
              <a:tr h="424620"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Сур.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Жооптор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Упай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005034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М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27,46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3200" baseline="30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dirty="0"/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828738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Н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4,34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376462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Ң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7,68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568799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О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8,26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71753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Ө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9,46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8289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П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b="1" dirty="0">
                          <a:solidFill>
                            <a:schemeClr val="tx1"/>
                          </a:solidFill>
                        </a:rPr>
                        <a:t>Супер дүкөн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807072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Р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36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тыйынга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624037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С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chemeClr val="tx1"/>
                          </a:solidFill>
                        </a:rPr>
                        <a:t>Супер жеткирүү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7736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Т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2,58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729023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У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3,76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670860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Ү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4,88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50698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Ф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96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тыйын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47767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Х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2,61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863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41112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AD17504-C126-C5A8-36D6-E71A281E0D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787496"/>
              </p:ext>
            </p:extLst>
          </p:nvPr>
        </p:nvGraphicFramePr>
        <p:xfrm>
          <a:off x="131123" y="44918"/>
          <a:ext cx="4672889" cy="676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447">
                  <a:extLst>
                    <a:ext uri="{9D8B030D-6E8A-4147-A177-3AD203B41FA5}">
                      <a16:colId xmlns:a16="http://schemas.microsoft.com/office/drawing/2014/main" val="999528523"/>
                    </a:ext>
                  </a:extLst>
                </a:gridCol>
                <a:gridCol w="3057099">
                  <a:extLst>
                    <a:ext uri="{9D8B030D-6E8A-4147-A177-3AD203B41FA5}">
                      <a16:colId xmlns:a16="http://schemas.microsoft.com/office/drawing/2014/main" val="4233635885"/>
                    </a:ext>
                  </a:extLst>
                </a:gridCol>
                <a:gridCol w="955343">
                  <a:extLst>
                    <a:ext uri="{9D8B030D-6E8A-4147-A177-3AD203B41FA5}">
                      <a16:colId xmlns:a16="http://schemas.microsoft.com/office/drawing/2014/main" val="368119011"/>
                    </a:ext>
                  </a:extLst>
                </a:gridCol>
              </a:tblGrid>
              <a:tr h="424620"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Сур.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Жооптор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Упай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005034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А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3200" baseline="30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32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828738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Б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376462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В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568799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Г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71753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Д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8289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Е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807072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Е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624037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Ж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7736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З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729023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И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670860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Й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50698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К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47767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Л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863053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8679D52-5DED-F80C-02BE-DF698E982C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319298"/>
              </p:ext>
            </p:extLst>
          </p:nvPr>
        </p:nvGraphicFramePr>
        <p:xfrm>
          <a:off x="5101988" y="47360"/>
          <a:ext cx="4672889" cy="676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447">
                  <a:extLst>
                    <a:ext uri="{9D8B030D-6E8A-4147-A177-3AD203B41FA5}">
                      <a16:colId xmlns:a16="http://schemas.microsoft.com/office/drawing/2014/main" val="999528523"/>
                    </a:ext>
                  </a:extLst>
                </a:gridCol>
                <a:gridCol w="3057099">
                  <a:extLst>
                    <a:ext uri="{9D8B030D-6E8A-4147-A177-3AD203B41FA5}">
                      <a16:colId xmlns:a16="http://schemas.microsoft.com/office/drawing/2014/main" val="4233635885"/>
                    </a:ext>
                  </a:extLst>
                </a:gridCol>
                <a:gridCol w="955343">
                  <a:extLst>
                    <a:ext uri="{9D8B030D-6E8A-4147-A177-3AD203B41FA5}">
                      <a16:colId xmlns:a16="http://schemas.microsoft.com/office/drawing/2014/main" val="368119011"/>
                    </a:ext>
                  </a:extLst>
                </a:gridCol>
              </a:tblGrid>
              <a:tr h="424620"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Сур.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Жооптор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Упай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005034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М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3200" baseline="30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32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828738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Н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376462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Ң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568799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О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71753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Ө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8289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П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3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807072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Р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624037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С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y-KG" sz="3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7736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Т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729023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У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670860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Ү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50698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Ф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47767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Х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863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49217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E01E105-F68E-9DB2-E3D9-A84109669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864841" y="1040158"/>
            <a:ext cx="6825063" cy="48106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681A01-3BD2-E2D6-3351-AAFBF6A1D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088158" y="1040158"/>
            <a:ext cx="6825063" cy="4810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8036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7325432-0058-28FC-A2A5-C5C5BA785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321"/>
            <a:ext cx="4953000" cy="33324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E33004-288F-B4F0-84A1-724149055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794" y="0"/>
            <a:ext cx="4719628" cy="33324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240101-D838-9418-20F3-72E5D1A5E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05202"/>
            <a:ext cx="4953000" cy="33324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0376C8-E163-1576-F830-1D9ACF077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794" y="3484881"/>
            <a:ext cx="4719628" cy="333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7958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8720</TotalTime>
  <Words>1180</Words>
  <Application>Microsoft Office PowerPoint</Application>
  <PresentationFormat>A4 Paper (210x297 mm)</PresentationFormat>
  <Paragraphs>422</Paragraphs>
  <Slides>22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Forte</vt:lpstr>
      <vt:lpstr>Calibri</vt:lpstr>
      <vt:lpstr>Arial</vt:lpstr>
      <vt:lpstr>Arial Rounded MT Bold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397</cp:revision>
  <cp:lastPrinted>2019-09-19T06:17:16Z</cp:lastPrinted>
  <dcterms:created xsi:type="dcterms:W3CDTF">2017-01-17T16:57:04Z</dcterms:created>
  <dcterms:modified xsi:type="dcterms:W3CDTF">2024-09-11T17:21:28Z</dcterms:modified>
</cp:coreProperties>
</file>