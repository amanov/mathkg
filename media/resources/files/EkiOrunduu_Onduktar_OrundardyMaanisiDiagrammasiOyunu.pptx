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1015" r:id="rId3"/>
    <p:sldId id="944" r:id="rId4"/>
    <p:sldId id="945" r:id="rId5"/>
    <p:sldId id="946" r:id="rId6"/>
  </p:sldIdLst>
  <p:sldSz cx="9906000" cy="6858000" type="A4"/>
  <p:notesSz cx="7104063" cy="10234613"/>
  <p:embeddedFontLst>
    <p:embeddedFont>
      <p:font typeface="Berlin Sans FB Demi" panose="020E0802020502020306" pitchFamily="34" charset="0"/>
      <p:bold r:id="rId8"/>
    </p:embeddedFon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  <p:embeddedFont>
      <p:font typeface="Constantia" panose="02030602050306030303" pitchFamily="18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3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17/10/2023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9591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100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mathematicskgz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5789-A92C-E16C-E548-D04799F55D79}"/>
              </a:ext>
            </a:extLst>
          </p:cNvPr>
          <p:cNvSpPr txBox="1"/>
          <p:nvPr/>
        </p:nvSpPr>
        <p:spPr>
          <a:xfrm>
            <a:off x="406400" y="1351280"/>
            <a:ext cx="9062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Кошуу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Класстык иш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иш-чарада 2+ окуучулардан турган топтор туш келди тандалган цифралык карталарды колдонуп, эң чоң санды чыгаруу үчүн ат салышат.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Жеңүүчү ондук сандардын ортосундагы маанинин айырмасын упай алат.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7D565D6-DA7F-39FF-47B5-EB94DC0C6326}"/>
              </a:ext>
            </a:extLst>
          </p:cNvPr>
          <p:cNvSpPr txBox="1">
            <a:spLocks/>
          </p:cNvSpPr>
          <p:nvPr/>
        </p:nvSpPr>
        <p:spPr>
          <a:xfrm>
            <a:off x="501650" y="1476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627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68721" y="-9966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/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117145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09297" y="193432"/>
            <a:ext cx="4674613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73473" y="1920144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3030950"/>
              </p:ext>
            </p:extLst>
          </p:nvPr>
        </p:nvGraphicFramePr>
        <p:xfrm>
          <a:off x="123022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111251"/>
              </p:ext>
            </p:extLst>
          </p:nvPr>
        </p:nvGraphicFramePr>
        <p:xfrm>
          <a:off x="123022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23342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853EE0B-B7FE-4A2D-AC77-4A4311C29DDB}"/>
              </a:ext>
            </a:extLst>
          </p:cNvPr>
          <p:cNvSpPr/>
          <p:nvPr/>
        </p:nvSpPr>
        <p:spPr>
          <a:xfrm>
            <a:off x="762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437953" y="-53362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D2B8258C-418F-4B11-964A-F98F504B7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84025"/>
              </p:ext>
            </p:extLst>
          </p:nvPr>
        </p:nvGraphicFramePr>
        <p:xfrm>
          <a:off x="3321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6A578D3B-EC1A-4D74-9841-B65D2C391A84}"/>
              </a:ext>
            </a:extLst>
          </p:cNvPr>
          <p:cNvSpPr txBox="1"/>
          <p:nvPr/>
        </p:nvSpPr>
        <p:spPr>
          <a:xfrm>
            <a:off x="61961" y="2731934"/>
            <a:ext cx="1037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7A5B26F-E291-4506-8D53-D873152D62F9}"/>
              </a:ext>
            </a:extLst>
          </p:cNvPr>
          <p:cNvSpPr txBox="1"/>
          <p:nvPr/>
        </p:nvSpPr>
        <p:spPr>
          <a:xfrm>
            <a:off x="109295" y="193432"/>
            <a:ext cx="4674614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5B4DBF-8596-4808-AF0B-CA30B7934E1B}"/>
              </a:ext>
            </a:extLst>
          </p:cNvPr>
          <p:cNvSpPr txBox="1"/>
          <p:nvPr/>
        </p:nvSpPr>
        <p:spPr>
          <a:xfrm>
            <a:off x="115861" y="1908392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F0334D7-30F4-4085-A150-B81EB68515A0}"/>
              </a:ext>
            </a:extLst>
          </p:cNvPr>
          <p:cNvSpPr/>
          <p:nvPr/>
        </p:nvSpPr>
        <p:spPr>
          <a:xfrm>
            <a:off x="69040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4" name="Table 11">
            <a:extLst>
              <a:ext uri="{FF2B5EF4-FFF2-40B4-BE49-F238E27FC236}">
                <a16:creationId xmlns:a16="http://schemas.microsoft.com/office/drawing/2014/main" id="{DC6CFFAA-9632-4717-BFB5-7A564BF89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6535641"/>
              </p:ext>
            </p:extLst>
          </p:nvPr>
        </p:nvGraphicFramePr>
        <p:xfrm>
          <a:off x="123022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8289EA3-07FB-464B-8BFF-67FB359CB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753431"/>
              </p:ext>
            </p:extLst>
          </p:nvPr>
        </p:nvGraphicFramePr>
        <p:xfrm>
          <a:off x="123022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88861E08-F7FC-48F5-96F3-FA74C2D2BE5B}"/>
              </a:ext>
            </a:extLst>
          </p:cNvPr>
          <p:cNvSpPr/>
          <p:nvPr/>
        </p:nvSpPr>
        <p:spPr>
          <a:xfrm>
            <a:off x="213808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35D5497-07CD-4215-94FD-7B4B6A908CDD}"/>
              </a:ext>
            </a:extLst>
          </p:cNvPr>
          <p:cNvSpPr/>
          <p:nvPr/>
        </p:nvSpPr>
        <p:spPr>
          <a:xfrm>
            <a:off x="213617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52732DF-49E6-4691-A6CF-04FFE80535CE}"/>
              </a:ext>
            </a:extLst>
          </p:cNvPr>
          <p:cNvSpPr/>
          <p:nvPr/>
        </p:nvSpPr>
        <p:spPr>
          <a:xfrm>
            <a:off x="4996180" y="7620"/>
            <a:ext cx="4877888" cy="3431540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0A36CE-4D82-4445-BA94-6E2745F10363}"/>
              </a:ext>
            </a:extLst>
          </p:cNvPr>
          <p:cNvSpPr txBox="1"/>
          <p:nvPr/>
        </p:nvSpPr>
        <p:spPr>
          <a:xfrm>
            <a:off x="5168387" y="-36795"/>
            <a:ext cx="44167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>
                <a:latin typeface="Constantia" panose="02030602050306030303" pitchFamily="18" charset="0"/>
              </a:rPr>
              <a:t>Орундардын мааниси диаграммасы  карта оюну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  <p:graphicFrame>
        <p:nvGraphicFramePr>
          <p:cNvPr id="24" name="Table 11">
            <a:extLst>
              <a:ext uri="{FF2B5EF4-FFF2-40B4-BE49-F238E27FC236}">
                <a16:creationId xmlns:a16="http://schemas.microsoft.com/office/drawing/2014/main" id="{00B80216-AB22-45EB-AEB6-CF142ABFBA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484025"/>
              </p:ext>
            </p:extLst>
          </p:nvPr>
        </p:nvGraphicFramePr>
        <p:xfrm>
          <a:off x="5021774" y="3471120"/>
          <a:ext cx="4852295" cy="3354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1143077558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371978252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132845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5048"/>
                  </a:ext>
                </a:extLst>
              </a:tr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6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0736472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941912E-933E-4676-BE44-051B91A40AA2}"/>
              </a:ext>
            </a:extLst>
          </p:cNvPr>
          <p:cNvSpPr txBox="1"/>
          <p:nvPr/>
        </p:nvSpPr>
        <p:spPr>
          <a:xfrm>
            <a:off x="5088752" y="2796250"/>
            <a:ext cx="1037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</a:t>
            </a:r>
            <a:r>
              <a:rPr lang="en-US" b="1" dirty="0">
                <a:latin typeface="Berlin Sans FB Demi" panose="020E0802020502020306" pitchFamily="34" charset="0"/>
              </a:rPr>
              <a:t>2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F50B62-632F-4E80-8939-810A7C1CF90D}"/>
              </a:ext>
            </a:extLst>
          </p:cNvPr>
          <p:cNvSpPr txBox="1"/>
          <p:nvPr/>
        </p:nvSpPr>
        <p:spPr>
          <a:xfrm>
            <a:off x="5097855" y="193432"/>
            <a:ext cx="4674614" cy="16466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200" dirty="0"/>
              <a:t>Ар бир оюнчу өзүнүн сандык карталарын алат (0-9).</a:t>
            </a:r>
            <a:endParaRPr lang="th-TH" sz="1200" dirty="0"/>
          </a:p>
          <a:p>
            <a:pPr algn="ctr"/>
            <a:r>
              <a:rPr lang="ru-RU" sz="1200" dirty="0"/>
              <a:t> Карталарды кесип, аралаштырыңыз</a:t>
            </a:r>
            <a:r>
              <a:rPr lang="th-TH" sz="1200" dirty="0"/>
              <a:t> </a:t>
            </a:r>
            <a:r>
              <a:rPr lang="ru-RU" sz="1200" dirty="0"/>
              <a:t> жана ылдый </a:t>
            </a:r>
            <a:endParaRPr lang="th-TH" sz="1200" dirty="0"/>
          </a:p>
          <a:p>
            <a:pPr algn="ctr"/>
            <a:r>
              <a:rPr lang="ru-RU" sz="1200" dirty="0"/>
              <a:t>караңыз. Эң улуу оюнчу биринчи барат!</a:t>
            </a:r>
            <a:endParaRPr lang="en-GB" sz="300" dirty="0"/>
          </a:p>
          <a:p>
            <a:pPr algn="ctr"/>
            <a:endParaRPr lang="en-GB" sz="300" dirty="0"/>
          </a:p>
          <a:p>
            <a:pPr algn="ctr"/>
            <a:endParaRPr lang="en-GB" sz="200" dirty="0"/>
          </a:p>
          <a:p>
            <a:pPr algn="ctr"/>
            <a:r>
              <a:rPr lang="ru-RU" sz="1200" dirty="0"/>
              <a:t>Картаны тандап, аны </a:t>
            </a:r>
            <a:r>
              <a:rPr lang="ru-RU" sz="1200" b="1" dirty="0">
                <a:latin typeface="Constantia" panose="02030602050306030303" pitchFamily="18" charset="0"/>
              </a:rPr>
              <a:t>Орундардын мааниси</a:t>
            </a:r>
            <a:r>
              <a:rPr lang="ru-RU" sz="1200" dirty="0"/>
              <a:t> каалаган жерине</a:t>
            </a:r>
            <a:endParaRPr lang="en-US" sz="1200" dirty="0"/>
          </a:p>
          <a:p>
            <a:pPr algn="ctr"/>
            <a:r>
              <a:rPr lang="ru-RU" sz="1200" dirty="0"/>
              <a:t> коюңуз. Ар бириңизде</a:t>
            </a:r>
            <a:r>
              <a:rPr lang="en-US" sz="1200" dirty="0"/>
              <a:t> </a:t>
            </a:r>
            <a:r>
              <a:rPr lang="ru-RU" sz="1200" dirty="0"/>
              <a:t> толук 2 орундуу ондук сан болмоюнча </a:t>
            </a:r>
            <a:endParaRPr lang="en-US" sz="1200" dirty="0"/>
          </a:p>
          <a:p>
            <a:pPr algn="ctr"/>
            <a:r>
              <a:rPr lang="ru-RU" sz="1200" dirty="0"/>
              <a:t>кезек менен жүрүңүз.Эң көп санга ээ болгон оюнчу жеңишке жетип,</a:t>
            </a:r>
            <a:endParaRPr lang="th-TH" sz="1200" dirty="0"/>
          </a:p>
          <a:p>
            <a:pPr algn="ctr"/>
            <a:r>
              <a:rPr lang="ru-RU" sz="1200" dirty="0"/>
              <a:t> сандардын жалпы маанисин упай алат!</a:t>
            </a:r>
            <a:endParaRPr lang="en-GB" sz="1200" dirty="0"/>
          </a:p>
          <a:p>
            <a:pPr algn="ctr"/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7B6A39-E112-471A-96ED-556981AF301A}"/>
              </a:ext>
            </a:extLst>
          </p:cNvPr>
          <p:cNvSpPr txBox="1"/>
          <p:nvPr/>
        </p:nvSpPr>
        <p:spPr>
          <a:xfrm>
            <a:off x="5049458" y="1920144"/>
            <a:ext cx="99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Berlin Sans FB Demi" panose="020E0802020502020306" pitchFamily="34" charset="0"/>
              </a:rPr>
              <a:t>Оюнчу 1</a:t>
            </a:r>
            <a:endParaRPr lang="en-GB" b="1" dirty="0">
              <a:latin typeface="Berlin Sans FB Demi" panose="020E0802020502020306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CB9B2E-5CC4-46F2-86AB-1038D57261E2}"/>
              </a:ext>
            </a:extLst>
          </p:cNvPr>
          <p:cNvSpPr/>
          <p:nvPr/>
        </p:nvSpPr>
        <p:spPr>
          <a:xfrm>
            <a:off x="5678965" y="219809"/>
            <a:ext cx="3512318" cy="590256"/>
          </a:xfrm>
          <a:prstGeom prst="roundRect">
            <a:avLst>
              <a:gd name="adj" fmla="val 2730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9" name="Table 11">
            <a:extLst>
              <a:ext uri="{FF2B5EF4-FFF2-40B4-BE49-F238E27FC236}">
                <a16:creationId xmlns:a16="http://schemas.microsoft.com/office/drawing/2014/main" id="{F1D8B77A-E4F4-4348-9CC4-72CD905CEF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102882"/>
              </p:ext>
            </p:extLst>
          </p:nvPr>
        </p:nvGraphicFramePr>
        <p:xfrm>
          <a:off x="6218788" y="1685439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8C389EF-76D4-4744-A9F7-CB52C7211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0799660"/>
              </p:ext>
            </p:extLst>
          </p:nvPr>
        </p:nvGraphicFramePr>
        <p:xfrm>
          <a:off x="6218788" y="2561545"/>
          <a:ext cx="2911377" cy="838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0459">
                  <a:extLst>
                    <a:ext uri="{9D8B030D-6E8A-4147-A177-3AD203B41FA5}">
                      <a16:colId xmlns:a16="http://schemas.microsoft.com/office/drawing/2014/main" val="3288608306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4193740473"/>
                    </a:ext>
                  </a:extLst>
                </a:gridCol>
                <a:gridCol w="970459">
                  <a:extLst>
                    <a:ext uri="{9D8B030D-6E8A-4147-A177-3AD203B41FA5}">
                      <a16:colId xmlns:a16="http://schemas.microsoft.com/office/drawing/2014/main" val="242971208"/>
                    </a:ext>
                  </a:extLst>
                </a:gridCol>
              </a:tblGrid>
              <a:tr h="838742"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Б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О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4000" b="1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Ж</a:t>
                      </a:r>
                      <a:endParaRPr lang="en-GB" sz="400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719374"/>
                  </a:ext>
                </a:extLst>
              </a:tr>
            </a:tbl>
          </a:graphicData>
        </a:graphic>
      </p:graphicFrame>
      <p:sp>
        <p:nvSpPr>
          <p:cNvPr id="31" name="Oval 30">
            <a:extLst>
              <a:ext uri="{FF2B5EF4-FFF2-40B4-BE49-F238E27FC236}">
                <a16:creationId xmlns:a16="http://schemas.microsoft.com/office/drawing/2014/main" id="{74A393F5-E964-4BD5-9FF3-E5135575E747}"/>
              </a:ext>
            </a:extLst>
          </p:cNvPr>
          <p:cNvSpPr/>
          <p:nvPr/>
        </p:nvSpPr>
        <p:spPr>
          <a:xfrm>
            <a:off x="7126641" y="2040494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0E613A7-A634-4BC0-BC18-F316E0897E3F}"/>
              </a:ext>
            </a:extLst>
          </p:cNvPr>
          <p:cNvSpPr/>
          <p:nvPr/>
        </p:nvSpPr>
        <p:spPr>
          <a:xfrm>
            <a:off x="7124736" y="2916600"/>
            <a:ext cx="128632" cy="128632"/>
          </a:xfrm>
          <a:prstGeom prst="ellipse">
            <a:avLst/>
          </a:prstGeom>
          <a:solidFill>
            <a:srgbClr val="BFBF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582923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809080"/>
            <a:ext cx="9240883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mathematicskgz@gmail.com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98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10391</TotalTime>
  <Words>382</Words>
  <Application>Microsoft Office PowerPoint</Application>
  <PresentationFormat>A4 Paper (210x297 mm)</PresentationFormat>
  <Paragraphs>134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 Light</vt:lpstr>
      <vt:lpstr>Constantia</vt:lpstr>
      <vt:lpstr>Berlin Sans FB Demi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491</cp:revision>
  <cp:lastPrinted>2023-10-17T15:55:06Z</cp:lastPrinted>
  <dcterms:created xsi:type="dcterms:W3CDTF">2017-01-17T16:57:04Z</dcterms:created>
  <dcterms:modified xsi:type="dcterms:W3CDTF">2023-10-17T15:55:44Z</dcterms:modified>
</cp:coreProperties>
</file>