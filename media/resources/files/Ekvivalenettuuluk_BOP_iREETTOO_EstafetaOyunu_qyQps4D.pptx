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4" r:id="rId1"/>
  </p:sldMasterIdLst>
  <p:notesMasterIdLst>
    <p:notesMasterId r:id="rId11"/>
  </p:notesMasterIdLst>
  <p:sldIdLst>
    <p:sldId id="1004" r:id="rId2"/>
    <p:sldId id="880" r:id="rId3"/>
    <p:sldId id="939" r:id="rId4"/>
    <p:sldId id="942" r:id="rId5"/>
    <p:sldId id="941" r:id="rId6"/>
    <p:sldId id="945" r:id="rId7"/>
    <p:sldId id="1009" r:id="rId8"/>
    <p:sldId id="1010" r:id="rId9"/>
    <p:sldId id="1008" r:id="rId10"/>
  </p:sldIdLst>
  <p:sldSz cx="9906000" cy="6858000" type="A4"/>
  <p:notesSz cx="6669088" cy="9926638"/>
  <p:embeddedFontLst>
    <p:embeddedFont>
      <p:font typeface="Cambria Math" panose="02040503050406030204" pitchFamily="18" charset="0"/>
      <p:regular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апкак слайд" id="{197FF5E7-57A8-40D7-8FA0-8A089C366947}">
          <p14:sldIdLst>
            <p14:sldId id="1004"/>
          </p14:sldIdLst>
        </p14:section>
        <p14:section name="Титулдук Байланыш" id="{9BEE903E-B95C-446E-B71E-F46D7EE87885}">
          <p14:sldIdLst>
            <p14:sldId id="880"/>
          </p14:sldIdLst>
        </p14:section>
        <p14:section name="Стандарттык суроолор баракчалары" id="{17259F3C-CDA9-4D70-A8A8-9D2EB84B5B59}">
          <p14:sldIdLst>
            <p14:sldId id="939"/>
            <p14:sldId id="942"/>
          </p14:sldIdLst>
        </p14:section>
        <p14:section name="Кичинекей суроо баракчалары" id="{C32772F2-8B2F-4835-ACC6-CE510F6238CD}">
          <p14:sldIdLst>
            <p14:sldId id="941"/>
          </p14:sldIdLst>
        </p14:section>
        <p14:section name="Мугалимдин жооп баракчасы" id="{A4721649-B80D-4EF6-B48D-AFD3BAAD7B06}">
          <p14:sldIdLst>
            <p14:sldId id="945"/>
          </p14:sldIdLst>
        </p14:section>
        <p14:section name="Жооптор" id="{5C0B256D-3011-486B-AAAA-1A5AA1F47B00}">
          <p14:sldIdLst>
            <p14:sldId id="1009"/>
            <p14:sldId id="1010"/>
          </p14:sldIdLst>
        </p14:section>
        <p14:section name="Кайтарым байланыш" id="{44593A35-489B-47C3-9FD2-BAFF3AF9952F}">
          <p14:sldIdLst>
            <p14:sldId id="1008"/>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0066"/>
    <a:srgbClr val="00FF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384" autoAdjust="0"/>
  </p:normalViewPr>
  <p:slideViewPr>
    <p:cSldViewPr snapToGrid="0" showGuides="1">
      <p:cViewPr varScale="1">
        <p:scale>
          <a:sx n="63" d="100"/>
          <a:sy n="63" d="100"/>
        </p:scale>
        <p:origin x="1292" y="56"/>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89938" cy="498056"/>
          </a:xfrm>
          <a:prstGeom prst="rect">
            <a:avLst/>
          </a:prstGeom>
        </p:spPr>
        <p:txBody>
          <a:bodyPr vert="horz" lIns="90589" tIns="45294" rIns="90589" bIns="45294" rtlCol="0"/>
          <a:lstStyle>
            <a:lvl1pPr algn="l">
              <a:defRPr sz="1200"/>
            </a:lvl1pPr>
          </a:lstStyle>
          <a:p>
            <a:endParaRPr lang="en-GB"/>
          </a:p>
        </p:txBody>
      </p:sp>
      <p:sp>
        <p:nvSpPr>
          <p:cNvPr id="3" name="Date Placeholder 2"/>
          <p:cNvSpPr>
            <a:spLocks noGrp="1"/>
          </p:cNvSpPr>
          <p:nvPr>
            <p:ph type="dt" idx="1"/>
          </p:nvPr>
        </p:nvSpPr>
        <p:spPr>
          <a:xfrm>
            <a:off x="3777607" y="0"/>
            <a:ext cx="2889938" cy="498056"/>
          </a:xfrm>
          <a:prstGeom prst="rect">
            <a:avLst/>
          </a:prstGeom>
        </p:spPr>
        <p:txBody>
          <a:bodyPr vert="horz" lIns="90589" tIns="45294" rIns="90589" bIns="45294" rtlCol="0"/>
          <a:lstStyle>
            <a:lvl1pPr algn="r">
              <a:defRPr sz="1200"/>
            </a:lvl1pPr>
          </a:lstStyle>
          <a:p>
            <a:fld id="{9C6A85EB-AF26-437E-8488-94E19A13AA79}" type="datetimeFigureOut">
              <a:rPr lang="en-GB" smtClean="0"/>
              <a:t>03/09/2024</a:t>
            </a:fld>
            <a:endParaRPr lang="en-GB"/>
          </a:p>
        </p:txBody>
      </p:sp>
      <p:sp>
        <p:nvSpPr>
          <p:cNvPr id="4" name="Slide Image Placeholder 3"/>
          <p:cNvSpPr>
            <a:spLocks noGrp="1" noRot="1" noChangeAspect="1"/>
          </p:cNvSpPr>
          <p:nvPr>
            <p:ph type="sldImg" idx="2"/>
          </p:nvPr>
        </p:nvSpPr>
        <p:spPr>
          <a:xfrm>
            <a:off x="915988" y="1241425"/>
            <a:ext cx="4837112" cy="3349625"/>
          </a:xfrm>
          <a:prstGeom prst="rect">
            <a:avLst/>
          </a:prstGeom>
          <a:noFill/>
          <a:ln w="12700">
            <a:solidFill>
              <a:prstClr val="black"/>
            </a:solidFill>
          </a:ln>
        </p:spPr>
        <p:txBody>
          <a:bodyPr vert="horz" lIns="90589" tIns="45294" rIns="90589" bIns="45294" rtlCol="0" anchor="ctr"/>
          <a:lstStyle/>
          <a:p>
            <a:endParaRPr lang="en-GB"/>
          </a:p>
        </p:txBody>
      </p:sp>
      <p:sp>
        <p:nvSpPr>
          <p:cNvPr id="5" name="Notes Placeholder 4"/>
          <p:cNvSpPr>
            <a:spLocks noGrp="1"/>
          </p:cNvSpPr>
          <p:nvPr>
            <p:ph type="body" sz="quarter" idx="3"/>
          </p:nvPr>
        </p:nvSpPr>
        <p:spPr>
          <a:xfrm>
            <a:off x="666909" y="4777196"/>
            <a:ext cx="5335270" cy="3908613"/>
          </a:xfrm>
          <a:prstGeom prst="rect">
            <a:avLst/>
          </a:prstGeom>
        </p:spPr>
        <p:txBody>
          <a:bodyPr vert="horz" lIns="90589" tIns="45294" rIns="90589" bIns="4529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428586"/>
            <a:ext cx="2889938" cy="498055"/>
          </a:xfrm>
          <a:prstGeom prst="rect">
            <a:avLst/>
          </a:prstGeom>
        </p:spPr>
        <p:txBody>
          <a:bodyPr vert="horz" lIns="90589" tIns="45294" rIns="90589" bIns="45294"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428586"/>
            <a:ext cx="2889938" cy="498055"/>
          </a:xfrm>
          <a:prstGeom prst="rect">
            <a:avLst/>
          </a:prstGeom>
        </p:spPr>
        <p:txBody>
          <a:bodyPr vert="horz" lIns="90589" tIns="45294" rIns="90589" bIns="45294" rtlCol="0" anchor="b"/>
          <a:lstStyle>
            <a:lvl1pPr algn="r">
              <a:defRPr sz="1200"/>
            </a:lvl1pPr>
          </a:lstStyle>
          <a:p>
            <a:fld id="{DD4EDCD2-601A-461C-9AB5-639C33E3F986}" type="slidenum">
              <a:rPr lang="en-GB" smtClean="0"/>
              <a:t>‹#›</a:t>
            </a:fld>
            <a:endParaRPr lang="en-GB"/>
          </a:p>
        </p:txBody>
      </p:sp>
    </p:spTree>
    <p:extLst>
      <p:ext uri="{BB962C8B-B14F-4D97-AF65-F5344CB8AC3E}">
        <p14:creationId xmlns:p14="http://schemas.microsoft.com/office/powerpoint/2010/main" val="2759492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3</a:t>
            </a:fld>
            <a:endParaRPr lang="en-GB"/>
          </a:p>
        </p:txBody>
      </p:sp>
    </p:spTree>
    <p:extLst>
      <p:ext uri="{BB962C8B-B14F-4D97-AF65-F5344CB8AC3E}">
        <p14:creationId xmlns:p14="http://schemas.microsoft.com/office/powerpoint/2010/main" val="3051301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4</a:t>
            </a:fld>
            <a:endParaRPr lang="en-GB"/>
          </a:p>
        </p:txBody>
      </p:sp>
    </p:spTree>
    <p:extLst>
      <p:ext uri="{BB962C8B-B14F-4D97-AF65-F5344CB8AC3E}">
        <p14:creationId xmlns:p14="http://schemas.microsoft.com/office/powerpoint/2010/main" val="512433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7</a:t>
            </a:fld>
            <a:endParaRPr lang="en-GB"/>
          </a:p>
        </p:txBody>
      </p:sp>
    </p:spTree>
    <p:extLst>
      <p:ext uri="{BB962C8B-B14F-4D97-AF65-F5344CB8AC3E}">
        <p14:creationId xmlns:p14="http://schemas.microsoft.com/office/powerpoint/2010/main" val="3613096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8</a:t>
            </a:fld>
            <a:endParaRPr lang="en-GB"/>
          </a:p>
        </p:txBody>
      </p:sp>
    </p:spTree>
    <p:extLst>
      <p:ext uri="{BB962C8B-B14F-4D97-AF65-F5344CB8AC3E}">
        <p14:creationId xmlns:p14="http://schemas.microsoft.com/office/powerpoint/2010/main" val="74765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4914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7299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7483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89894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51050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06765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06774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3568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6215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1801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5142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988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41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9/3/2024</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630079719"/>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34" Type="http://schemas.openxmlformats.org/officeDocument/2006/relationships/image" Target="../media/image29.png"/><Relationship Id="rId7" Type="http://schemas.openxmlformats.org/officeDocument/2006/relationships/image" Target="../media/image9.png"/><Relationship Id="rId12" Type="http://schemas.openxmlformats.org/officeDocument/2006/relationships/image" Target="../media/image8.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7.pn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3.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6.png"/><Relationship Id="rId19"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18" Type="http://schemas.openxmlformats.org/officeDocument/2006/relationships/image" Target="../media/image58.png"/><Relationship Id="rId26" Type="http://schemas.openxmlformats.org/officeDocument/2006/relationships/image" Target="../media/image66.png"/><Relationship Id="rId39" Type="http://schemas.openxmlformats.org/officeDocument/2006/relationships/image" Target="../media/image79.png"/><Relationship Id="rId51" Type="http://schemas.openxmlformats.org/officeDocument/2006/relationships/image" Target="../media/image91.png"/><Relationship Id="rId3" Type="http://schemas.openxmlformats.org/officeDocument/2006/relationships/image" Target="../media/image43.png"/><Relationship Id="rId42" Type="http://schemas.openxmlformats.org/officeDocument/2006/relationships/image" Target="../media/image82.png"/><Relationship Id="rId50" Type="http://schemas.openxmlformats.org/officeDocument/2006/relationships/image" Target="../media/image90.png"/><Relationship Id="rId55" Type="http://schemas.openxmlformats.org/officeDocument/2006/relationships/image" Target="../media/image95.png"/><Relationship Id="rId7" Type="http://schemas.openxmlformats.org/officeDocument/2006/relationships/image" Target="../media/image47.png"/><Relationship Id="rId17" Type="http://schemas.openxmlformats.org/officeDocument/2006/relationships/image" Target="../media/image57.png"/><Relationship Id="rId38" Type="http://schemas.openxmlformats.org/officeDocument/2006/relationships/image" Target="../media/image78.png"/><Relationship Id="rId59" Type="http://schemas.openxmlformats.org/officeDocument/2006/relationships/image" Target="../media/image99.png"/><Relationship Id="rId2" Type="http://schemas.openxmlformats.org/officeDocument/2006/relationships/notesSlide" Target="../notesSlides/notesSlide2.xml"/><Relationship Id="rId16" Type="http://schemas.openxmlformats.org/officeDocument/2006/relationships/image" Target="../media/image56.png"/><Relationship Id="rId29" Type="http://schemas.openxmlformats.org/officeDocument/2006/relationships/image" Target="../media/image69.png"/><Relationship Id="rId41" Type="http://schemas.openxmlformats.org/officeDocument/2006/relationships/image" Target="../media/image81.png"/><Relationship Id="rId54" Type="http://schemas.openxmlformats.org/officeDocument/2006/relationships/image" Target="../media/image31.png"/><Relationship Id="rId62" Type="http://schemas.openxmlformats.org/officeDocument/2006/relationships/image" Target="../media/image102.png"/><Relationship Id="rId1" Type="http://schemas.openxmlformats.org/officeDocument/2006/relationships/slideLayout" Target="../slideLayouts/slideLayout12.xml"/><Relationship Id="rId6" Type="http://schemas.openxmlformats.org/officeDocument/2006/relationships/image" Target="../media/image46.png"/><Relationship Id="rId40" Type="http://schemas.openxmlformats.org/officeDocument/2006/relationships/image" Target="../media/image80.png"/><Relationship Id="rId53" Type="http://schemas.openxmlformats.org/officeDocument/2006/relationships/image" Target="../media/image30.png"/><Relationship Id="rId58" Type="http://schemas.openxmlformats.org/officeDocument/2006/relationships/image" Target="../media/image98.png"/><Relationship Id="rId5" Type="http://schemas.openxmlformats.org/officeDocument/2006/relationships/image" Target="../media/image45.png"/><Relationship Id="rId15" Type="http://schemas.openxmlformats.org/officeDocument/2006/relationships/image" Target="../media/image55.png"/><Relationship Id="rId28" Type="http://schemas.openxmlformats.org/officeDocument/2006/relationships/image" Target="../media/image68.png"/><Relationship Id="rId57" Type="http://schemas.openxmlformats.org/officeDocument/2006/relationships/image" Target="../media/image97.png"/><Relationship Id="rId61" Type="http://schemas.openxmlformats.org/officeDocument/2006/relationships/image" Target="../media/image101.png"/><Relationship Id="rId19" Type="http://schemas.openxmlformats.org/officeDocument/2006/relationships/image" Target="../media/image59.png"/><Relationship Id="rId31" Type="http://schemas.openxmlformats.org/officeDocument/2006/relationships/image" Target="../media/image71.png"/><Relationship Id="rId52" Type="http://schemas.openxmlformats.org/officeDocument/2006/relationships/image" Target="../media/image92.png"/><Relationship Id="rId60" Type="http://schemas.openxmlformats.org/officeDocument/2006/relationships/image" Target="../media/image100.png"/><Relationship Id="rId4" Type="http://schemas.openxmlformats.org/officeDocument/2006/relationships/image" Target="../media/image44.png"/><Relationship Id="rId14" Type="http://schemas.openxmlformats.org/officeDocument/2006/relationships/image" Target="../media/image54.png"/><Relationship Id="rId27" Type="http://schemas.openxmlformats.org/officeDocument/2006/relationships/image" Target="../media/image67.png"/><Relationship Id="rId30" Type="http://schemas.openxmlformats.org/officeDocument/2006/relationships/image" Target="../media/image70.png"/><Relationship Id="rId43" Type="http://schemas.openxmlformats.org/officeDocument/2006/relationships/image" Target="../media/image83.png"/><Relationship Id="rId56" Type="http://schemas.openxmlformats.org/officeDocument/2006/relationships/image" Target="../media/image96.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34" Type="http://schemas.openxmlformats.org/officeDocument/2006/relationships/image" Target="../media/image29.png"/><Relationship Id="rId7" Type="http://schemas.openxmlformats.org/officeDocument/2006/relationships/image" Target="../media/image9.png"/><Relationship Id="rId12" Type="http://schemas.openxmlformats.org/officeDocument/2006/relationships/image" Target="../media/image8.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12.png"/><Relationship Id="rId20"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7.pn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3.png"/><Relationship Id="rId15" Type="http://schemas.openxmlformats.org/officeDocument/2006/relationships/image" Target="../media/image17.png"/><Relationship Id="rId23" Type="http://schemas.openxmlformats.org/officeDocument/2006/relationships/image" Target="../media/image25.png"/><Relationship Id="rId36" Type="http://schemas.openxmlformats.org/officeDocument/2006/relationships/image" Target="../media/image35.png"/><Relationship Id="rId10" Type="http://schemas.openxmlformats.org/officeDocument/2006/relationships/image" Target="../media/image6.png"/><Relationship Id="rId19"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35" Type="http://schemas.openxmlformats.org/officeDocument/2006/relationships/image" Target="../media/image33.png"/></Relationships>
</file>

<file path=ppt/slides/_rels/slide8.xml.rels><?xml version="1.0" encoding="UTF-8" standalone="yes"?>
<Relationships xmlns="http://schemas.openxmlformats.org/package/2006/relationships"><Relationship Id="rId18" Type="http://schemas.openxmlformats.org/officeDocument/2006/relationships/image" Target="../media/image58.png"/><Relationship Id="rId26" Type="http://schemas.openxmlformats.org/officeDocument/2006/relationships/image" Target="../media/image66.png"/><Relationship Id="rId39" Type="http://schemas.openxmlformats.org/officeDocument/2006/relationships/image" Target="../media/image79.png"/><Relationship Id="rId3" Type="http://schemas.openxmlformats.org/officeDocument/2006/relationships/image" Target="../media/image43.png"/><Relationship Id="rId42" Type="http://schemas.openxmlformats.org/officeDocument/2006/relationships/image" Target="../media/image82.png"/><Relationship Id="rId50" Type="http://schemas.openxmlformats.org/officeDocument/2006/relationships/image" Target="../media/image90.png"/><Relationship Id="rId55" Type="http://schemas.openxmlformats.org/officeDocument/2006/relationships/image" Target="../media/image95.png"/><Relationship Id="rId63" Type="http://schemas.openxmlformats.org/officeDocument/2006/relationships/image" Target="../media/image36.png"/><Relationship Id="rId68" Type="http://schemas.openxmlformats.org/officeDocument/2006/relationships/image" Target="../media/image41.png"/><Relationship Id="rId76" Type="http://schemas.openxmlformats.org/officeDocument/2006/relationships/image" Target="../media/image60.png"/><Relationship Id="rId7" Type="http://schemas.openxmlformats.org/officeDocument/2006/relationships/image" Target="../media/image47.png"/><Relationship Id="rId17" Type="http://schemas.openxmlformats.org/officeDocument/2006/relationships/image" Target="../media/image57.png"/><Relationship Id="rId38" Type="http://schemas.openxmlformats.org/officeDocument/2006/relationships/image" Target="../media/image78.png"/><Relationship Id="rId59" Type="http://schemas.openxmlformats.org/officeDocument/2006/relationships/image" Target="../media/image99.png"/><Relationship Id="rId67" Type="http://schemas.openxmlformats.org/officeDocument/2006/relationships/image" Target="../media/image40.png"/><Relationship Id="rId71"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56.png"/><Relationship Id="rId29" Type="http://schemas.openxmlformats.org/officeDocument/2006/relationships/image" Target="../media/image69.png"/><Relationship Id="rId41" Type="http://schemas.openxmlformats.org/officeDocument/2006/relationships/image" Target="../media/image81.png"/><Relationship Id="rId54" Type="http://schemas.openxmlformats.org/officeDocument/2006/relationships/image" Target="../media/image31.png"/><Relationship Id="rId62" Type="http://schemas.openxmlformats.org/officeDocument/2006/relationships/image" Target="../media/image102.png"/><Relationship Id="rId70" Type="http://schemas.openxmlformats.org/officeDocument/2006/relationships/image" Target="../media/image48.png"/><Relationship Id="rId75"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6.png"/><Relationship Id="rId40" Type="http://schemas.openxmlformats.org/officeDocument/2006/relationships/image" Target="../media/image80.png"/><Relationship Id="rId53" Type="http://schemas.openxmlformats.org/officeDocument/2006/relationships/image" Target="../media/image30.png"/><Relationship Id="rId58" Type="http://schemas.openxmlformats.org/officeDocument/2006/relationships/image" Target="../media/image98.png"/><Relationship Id="rId66" Type="http://schemas.openxmlformats.org/officeDocument/2006/relationships/image" Target="../media/image39.png"/><Relationship Id="rId74" Type="http://schemas.openxmlformats.org/officeDocument/2006/relationships/image" Target="../media/image52.png"/><Relationship Id="rId5" Type="http://schemas.openxmlformats.org/officeDocument/2006/relationships/image" Target="../media/image45.png"/><Relationship Id="rId15" Type="http://schemas.openxmlformats.org/officeDocument/2006/relationships/image" Target="../media/image55.png"/><Relationship Id="rId28" Type="http://schemas.openxmlformats.org/officeDocument/2006/relationships/image" Target="../media/image68.png"/><Relationship Id="rId57" Type="http://schemas.openxmlformats.org/officeDocument/2006/relationships/image" Target="../media/image97.png"/><Relationship Id="rId61" Type="http://schemas.openxmlformats.org/officeDocument/2006/relationships/image" Target="../media/image101.png"/><Relationship Id="rId19" Type="http://schemas.openxmlformats.org/officeDocument/2006/relationships/image" Target="../media/image59.png"/><Relationship Id="rId31" Type="http://schemas.openxmlformats.org/officeDocument/2006/relationships/image" Target="../media/image71.png"/><Relationship Id="rId52" Type="http://schemas.openxmlformats.org/officeDocument/2006/relationships/image" Target="../media/image92.png"/><Relationship Id="rId60" Type="http://schemas.openxmlformats.org/officeDocument/2006/relationships/image" Target="../media/image100.png"/><Relationship Id="rId65" Type="http://schemas.openxmlformats.org/officeDocument/2006/relationships/image" Target="../media/image38.png"/><Relationship Id="rId73" Type="http://schemas.openxmlformats.org/officeDocument/2006/relationships/image" Target="../media/image51.png"/><Relationship Id="rId4" Type="http://schemas.openxmlformats.org/officeDocument/2006/relationships/image" Target="../media/image44.png"/><Relationship Id="rId14" Type="http://schemas.openxmlformats.org/officeDocument/2006/relationships/image" Target="../media/image54.png"/><Relationship Id="rId27" Type="http://schemas.openxmlformats.org/officeDocument/2006/relationships/image" Target="../media/image67.png"/><Relationship Id="rId30" Type="http://schemas.openxmlformats.org/officeDocument/2006/relationships/image" Target="../media/image70.png"/><Relationship Id="rId43" Type="http://schemas.openxmlformats.org/officeDocument/2006/relationships/image" Target="../media/image83.png"/><Relationship Id="rId56" Type="http://schemas.openxmlformats.org/officeDocument/2006/relationships/image" Target="../media/image96.png"/><Relationship Id="rId64" Type="http://schemas.openxmlformats.org/officeDocument/2006/relationships/image" Target="../media/image37.png"/><Relationship Id="rId69" Type="http://schemas.openxmlformats.org/officeDocument/2006/relationships/image" Target="../media/image42.png"/><Relationship Id="rId51" Type="http://schemas.openxmlformats.org/officeDocument/2006/relationships/image" Target="../media/image91.png"/><Relationship Id="rId72"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1330960"/>
            <a:ext cx="9831070" cy="492379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Бөлчөктөрдү, ондуктарды жана пайыздарды ирээттөө – </a:t>
            </a:r>
            <a:r>
              <a:rPr lang="ru-RU" b="1" dirty="0"/>
              <a:t>Эстафеталык жарыш</a:t>
            </a:r>
            <a:endParaRPr lang="en-US" b="1" dirty="0"/>
          </a:p>
          <a:p>
            <a:endParaRPr lang="ru-RU" dirty="0"/>
          </a:p>
          <a:p>
            <a:r>
              <a:rPr lang="ru-RU" dirty="0"/>
              <a:t>Бул сынактык иш-чарада окуучулар кичинекей кагаздарда берилген суроолорго жооп берүү үчүн командаларда  иштешет.</a:t>
            </a:r>
          </a:p>
          <a:p>
            <a:endParaRPr lang="ru-RU" dirty="0"/>
          </a:p>
          <a:p>
            <a:r>
              <a:rPr lang="ru-RU" dirty="0"/>
              <a:t>Окуучулар жоопторун мугалим менен текшериши керек (ал жооп баракчасы менен бөлмөнүн каалаган жеринде боло алат). Эгерде окуучулар туура айтса, алар кийинки номерленген баракты ала алышат (оңой алуу үчүн  бети өйдө каратып алды жагындагы партага жайгаштырылат).</a:t>
            </a:r>
          </a:p>
          <a:p>
            <a:endParaRPr lang="ru-RU" dirty="0"/>
          </a:p>
          <a:p>
            <a:r>
              <a:rPr lang="ru-RU" dirty="0"/>
              <a:t>Туура чыкпаса, окуучу суроону өткөрүп жибериши мүмкүн, же 1</a:t>
            </a:r>
            <a:r>
              <a:rPr lang="en-US" dirty="0"/>
              <a:t> </a:t>
            </a:r>
            <a:r>
              <a:rPr lang="ky-KG" dirty="0"/>
              <a:t>упай,</a:t>
            </a:r>
            <a:r>
              <a:rPr lang="ru-RU" dirty="0"/>
              <a:t> же дагы бир мүмкүнчүлүк алат. </a:t>
            </a:r>
            <a:endParaRPr lang="en-US" dirty="0"/>
          </a:p>
          <a:p>
            <a:r>
              <a:rPr lang="ru-RU" dirty="0"/>
              <a:t>Анимацияларды текшерип, </a:t>
            </a:r>
            <a:r>
              <a:rPr lang="ky-KG" dirty="0"/>
              <a:t>сабагы</a:t>
            </a:r>
            <a:r>
              <a:rPr lang="ru-RU" dirty="0"/>
              <a:t>ң</a:t>
            </a:r>
            <a:r>
              <a:rPr lang="ky-KG" dirty="0"/>
              <a:t>ызга </a:t>
            </a:r>
            <a:r>
              <a:rPr lang="ru-RU" b="1" dirty="0">
                <a:solidFill>
                  <a:srgbClr val="FF0000"/>
                </a:solidFill>
              </a:rPr>
              <a:t>КЕРЕГИ ЖОК </a:t>
            </a:r>
            <a:r>
              <a:rPr lang="ru-RU" dirty="0"/>
              <a:t>слайддарды </a:t>
            </a:r>
            <a:r>
              <a:rPr lang="ru-RU" sz="3200" b="1" dirty="0">
                <a:solidFill>
                  <a:srgbClr val="FF0000"/>
                </a:solidFill>
              </a:rPr>
              <a:t>ӨЧҮРҮ</a:t>
            </a:r>
            <a:r>
              <a:rPr lang="ky-KG" sz="3200" b="1" dirty="0">
                <a:solidFill>
                  <a:srgbClr val="FF0000"/>
                </a:solidFill>
              </a:rPr>
              <a:t>П САЛЫ</a:t>
            </a:r>
            <a:r>
              <a:rPr lang="ru-RU" sz="3200" b="1" dirty="0">
                <a:solidFill>
                  <a:srgbClr val="FF0000"/>
                </a:solidFill>
              </a:rPr>
              <a:t>ҢЫЗ.</a:t>
            </a:r>
            <a:endParaRPr lang="en-US" b="1" dirty="0">
              <a:solidFill>
                <a:srgbClr val="FF0000"/>
              </a:solidFill>
            </a:endParaRPr>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426720" y="503238"/>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err="1">
                <a:solidFill>
                  <a:srgbClr val="00B0F0"/>
                </a:solidFill>
              </a:rPr>
              <a:t>MathKGZ</a:t>
            </a:r>
            <a:r>
              <a:rPr lang="en-US" sz="5200" dirty="0">
                <a:solidFill>
                  <a:srgbClr val="00B0F0"/>
                </a:solidFill>
              </a:rPr>
              <a:t>  -- </a:t>
            </a:r>
          </a:p>
        </p:txBody>
      </p:sp>
    </p:spTree>
    <p:extLst>
      <p:ext uri="{BB962C8B-B14F-4D97-AF65-F5344CB8AC3E}">
        <p14:creationId xmlns:p14="http://schemas.microsoft.com/office/powerpoint/2010/main" val="304685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E2DC35-6FE1-48A4-99DD-2A85E886E9CA}"/>
              </a:ext>
            </a:extLst>
          </p:cNvPr>
          <p:cNvSpPr/>
          <p:nvPr/>
        </p:nvSpPr>
        <p:spPr>
          <a:xfrm>
            <a:off x="0" y="0"/>
            <a:ext cx="9906000" cy="5598159"/>
          </a:xfrm>
          <a:prstGeom prst="rect">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pic>
        <p:nvPicPr>
          <p:cNvPr id="10" name="Picture 9">
            <a:extLst>
              <a:ext uri="{FF2B5EF4-FFF2-40B4-BE49-F238E27FC236}">
                <a16:creationId xmlns:a16="http://schemas.microsoft.com/office/drawing/2014/main" id="{F14B476E-766F-45CB-AE36-E7C3D33E6A96}"/>
              </a:ext>
            </a:extLst>
          </p:cNvPr>
          <p:cNvPicPr>
            <a:picLocks noChangeAspect="1"/>
          </p:cNvPicPr>
          <p:nvPr/>
        </p:nvPicPr>
        <p:blipFill rotWithShape="1">
          <a:blip r:embed="rId2">
            <a:extLst>
              <a:ext uri="{28A0092B-C50C-407E-A947-70E740481C1C}">
                <a14:useLocalDpi xmlns:a14="http://schemas.microsoft.com/office/drawing/2010/main" val="0"/>
              </a:ext>
            </a:extLst>
          </a:blip>
          <a:srcRect l="2519" r="2519" b="37768"/>
          <a:stretch/>
        </p:blipFill>
        <p:spPr>
          <a:xfrm>
            <a:off x="-1" y="3643744"/>
            <a:ext cx="9906001" cy="3214255"/>
          </a:xfrm>
          <a:prstGeom prst="rect">
            <a:avLst/>
          </a:prstGeom>
        </p:spPr>
      </p:pic>
      <p:sp>
        <p:nvSpPr>
          <p:cNvPr id="2" name="Rectangle 1">
            <a:extLst>
              <a:ext uri="{FF2B5EF4-FFF2-40B4-BE49-F238E27FC236}">
                <a16:creationId xmlns:a16="http://schemas.microsoft.com/office/drawing/2014/main" id="{AB0566E7-DEE7-45B7-8260-5543C4A6E85A}"/>
              </a:ext>
            </a:extLst>
          </p:cNvPr>
          <p:cNvSpPr/>
          <p:nvPr/>
        </p:nvSpPr>
        <p:spPr>
          <a:xfrm rot="20054087">
            <a:off x="-49083" y="1870076"/>
            <a:ext cx="9060969" cy="2215991"/>
          </a:xfrm>
          <a:prstGeom prst="rect">
            <a:avLst/>
          </a:prstGeom>
          <a:noFill/>
        </p:spPr>
        <p:txBody>
          <a:bodyPr wrap="square" lIns="91440" tIns="45720" rIns="91440" bIns="45720">
            <a:spAutoFit/>
          </a:bodyPr>
          <a:lstStyle/>
          <a:p>
            <a:pPr algn="ctr"/>
            <a:r>
              <a:rPr lang="ky-KG" sz="13800" b="1" cap="none" spc="0" dirty="0">
                <a:ln w="38100">
                  <a:solidFill>
                    <a:schemeClr val="tx1"/>
                  </a:solidFill>
                </a:ln>
                <a:solidFill>
                  <a:srgbClr val="FF0000"/>
                </a:solidFill>
                <a:effectLst>
                  <a:outerShdw blurRad="38100" dist="19050" dir="2700000" algn="tl" rotWithShape="0">
                    <a:schemeClr val="dk1">
                      <a:alpha val="40000"/>
                    </a:schemeClr>
                  </a:outerShdw>
                </a:effectLst>
              </a:rPr>
              <a:t>Эстафета!</a:t>
            </a:r>
            <a:endParaRPr lang="en-US" sz="13800" b="1" cap="none" spc="0" dirty="0">
              <a:ln w="38100">
                <a:solidFill>
                  <a:schemeClr val="tx1"/>
                </a:solidFill>
              </a:ln>
              <a:solidFill>
                <a:srgbClr val="FF0000"/>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F7147A27-FFCA-4791-9128-8B3A9C63B51D}"/>
              </a:ext>
            </a:extLst>
          </p:cNvPr>
          <p:cNvSpPr/>
          <p:nvPr/>
        </p:nvSpPr>
        <p:spPr>
          <a:xfrm>
            <a:off x="2222598" y="3984780"/>
            <a:ext cx="7867260" cy="2862322"/>
          </a:xfrm>
          <a:prstGeom prst="rect">
            <a:avLst/>
          </a:prstGeom>
          <a:noFill/>
        </p:spPr>
        <p:txBody>
          <a:bodyPr wrap="square" lIns="91440" tIns="45720" rIns="91440" bIns="45720">
            <a:spAutoFit/>
          </a:bodyPr>
          <a:lstStyle/>
          <a:p>
            <a:pPr algn="ctr"/>
            <a:r>
              <a:rPr lang="ky-KG" sz="6000" b="1" dirty="0">
                <a:ln w="19050">
                  <a:solidFill>
                    <a:schemeClr val="tx1"/>
                  </a:solidFill>
                </a:ln>
                <a:solidFill>
                  <a:srgbClr val="FF0000"/>
                </a:solidFill>
                <a:effectLst>
                  <a:outerShdw blurRad="38100" dist="19050" dir="2700000" algn="tl" rotWithShape="0">
                    <a:schemeClr val="dk1">
                      <a:alpha val="40000"/>
                    </a:schemeClr>
                  </a:outerShdw>
                </a:effectLst>
              </a:rPr>
              <a:t>Бөлчөктөрдү, ондуктарды жана пайыздарды ирээттөө</a:t>
            </a:r>
            <a:endParaRPr lang="en-US" sz="6000" b="1" cap="none" spc="0" dirty="0">
              <a:ln w="19050">
                <a:solidFill>
                  <a:schemeClr val="tx1"/>
                </a:solidFill>
              </a:ln>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67619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73B4A45-E6BD-4D7D-92A8-20E716832AAE}"/>
              </a:ext>
            </a:extLst>
          </p:cNvPr>
          <p:cNvGrpSpPr/>
          <p:nvPr/>
        </p:nvGrpSpPr>
        <p:grpSpPr>
          <a:xfrm>
            <a:off x="11823" y="3455376"/>
            <a:ext cx="4911637" cy="3379030"/>
            <a:chOff x="11823" y="3455376"/>
            <a:chExt cx="4911637" cy="3379030"/>
          </a:xfrm>
        </p:grpSpPr>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3</a:t>
              </a:r>
            </a:p>
          </p:txBody>
        </p:sp>
      </p:grpSp>
      <p:sp>
        <p:nvSpPr>
          <p:cNvPr id="228" name="Rectangle: Rounded Corners 227">
            <a:extLst>
              <a:ext uri="{FF2B5EF4-FFF2-40B4-BE49-F238E27FC236}">
                <a16:creationId xmlns:a16="http://schemas.microsoft.com/office/drawing/2014/main" id="{AADDB397-6441-4695-8141-6777C37FF4CE}"/>
              </a:ext>
            </a:extLst>
          </p:cNvPr>
          <p:cNvSpPr/>
          <p:nvPr/>
        </p:nvSpPr>
        <p:spPr>
          <a:xfrm>
            <a:off x="1594339" y="4207294"/>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grpSp>
        <p:nvGrpSpPr>
          <p:cNvPr id="9" name="Group 8">
            <a:extLst>
              <a:ext uri="{FF2B5EF4-FFF2-40B4-BE49-F238E27FC236}">
                <a16:creationId xmlns:a16="http://schemas.microsoft.com/office/drawing/2014/main" id="{E8FB9B65-EFB9-42A9-B48C-F31A80B3CD33}"/>
              </a:ext>
            </a:extLst>
          </p:cNvPr>
          <p:cNvGrpSpPr/>
          <p:nvPr/>
        </p:nvGrpSpPr>
        <p:grpSpPr>
          <a:xfrm>
            <a:off x="17498" y="8792"/>
            <a:ext cx="4911637" cy="3378925"/>
            <a:chOff x="17498" y="8792"/>
            <a:chExt cx="4911637" cy="3378925"/>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1</a:t>
              </a:r>
            </a:p>
          </p:txBody>
        </p:sp>
      </p:grpSp>
      <p:grpSp>
        <p:nvGrpSpPr>
          <p:cNvPr id="10" name="Group 9">
            <a:extLst>
              <a:ext uri="{FF2B5EF4-FFF2-40B4-BE49-F238E27FC236}">
                <a16:creationId xmlns:a16="http://schemas.microsoft.com/office/drawing/2014/main" id="{8EE4D531-9074-4366-8451-DF4CEF35BAF7}"/>
              </a:ext>
            </a:extLst>
          </p:cNvPr>
          <p:cNvGrpSpPr/>
          <p:nvPr/>
        </p:nvGrpSpPr>
        <p:grpSpPr>
          <a:xfrm>
            <a:off x="4976864" y="8792"/>
            <a:ext cx="4898269" cy="3378925"/>
            <a:chOff x="4976864" y="8792"/>
            <a:chExt cx="4911637" cy="3378925"/>
          </a:xfrm>
        </p:grpSpPr>
        <p:grpSp>
          <p:nvGrpSpPr>
            <p:cNvPr id="55" name="Group 54">
              <a:extLst>
                <a:ext uri="{FF2B5EF4-FFF2-40B4-BE49-F238E27FC236}">
                  <a16:creationId xmlns:a16="http://schemas.microsoft.com/office/drawing/2014/main" id="{D4C0F71F-3163-4FF1-9920-9FE630D43BC7}"/>
                </a:ext>
              </a:extLst>
            </p:cNvPr>
            <p:cNvGrpSpPr/>
            <p:nvPr/>
          </p:nvGrpSpPr>
          <p:grpSpPr>
            <a:xfrm>
              <a:off x="4976864" y="17496"/>
              <a:ext cx="4911637"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2</a:t>
              </a:r>
            </a:p>
          </p:txBody>
        </p:sp>
      </p:grpSp>
      <p:grpSp>
        <p:nvGrpSpPr>
          <p:cNvPr id="13" name="Group 12">
            <a:extLst>
              <a:ext uri="{FF2B5EF4-FFF2-40B4-BE49-F238E27FC236}">
                <a16:creationId xmlns:a16="http://schemas.microsoft.com/office/drawing/2014/main" id="{FB6DBB8C-C4A2-4BCE-8A7D-33C81F852FFC}"/>
              </a:ext>
            </a:extLst>
          </p:cNvPr>
          <p:cNvGrpSpPr/>
          <p:nvPr/>
        </p:nvGrpSpPr>
        <p:grpSpPr>
          <a:xfrm>
            <a:off x="4988773" y="3455376"/>
            <a:ext cx="4898269" cy="3379030"/>
            <a:chOff x="4988773" y="3455376"/>
            <a:chExt cx="4911637" cy="3379030"/>
          </a:xfrm>
        </p:grpSpPr>
        <p:grpSp>
          <p:nvGrpSpPr>
            <p:cNvPr id="63" name="Group 62">
              <a:extLst>
                <a:ext uri="{FF2B5EF4-FFF2-40B4-BE49-F238E27FC236}">
                  <a16:creationId xmlns:a16="http://schemas.microsoft.com/office/drawing/2014/main" id="{465703F2-EDDF-4694-B8ED-423480DA8D47}"/>
                </a:ext>
              </a:extLst>
            </p:cNvPr>
            <p:cNvGrpSpPr/>
            <p:nvPr/>
          </p:nvGrpSpPr>
          <p:grpSpPr>
            <a:xfrm>
              <a:off x="4988773" y="3464185"/>
              <a:ext cx="4911637"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4</a:t>
              </a:r>
            </a:p>
          </p:txBody>
        </p:sp>
      </p:grpSp>
      <p:sp>
        <p:nvSpPr>
          <p:cNvPr id="158" name="TextBox 157">
            <a:extLst>
              <a:ext uri="{FF2B5EF4-FFF2-40B4-BE49-F238E27FC236}">
                <a16:creationId xmlns:a16="http://schemas.microsoft.com/office/drawing/2014/main" id="{05B32A70-33A3-4D80-831A-32028A1016AE}"/>
              </a:ext>
            </a:extLst>
          </p:cNvPr>
          <p:cNvSpPr txBox="1"/>
          <p:nvPr/>
        </p:nvSpPr>
        <p:spPr>
          <a:xfrm>
            <a:off x="482257" y="3486546"/>
            <a:ext cx="4358886" cy="584775"/>
          </a:xfrm>
          <a:prstGeom prst="rect">
            <a:avLst/>
          </a:prstGeom>
          <a:noFill/>
        </p:spPr>
        <p:txBody>
          <a:bodyPr wrap="none" rtlCol="0">
            <a:spAutoFit/>
          </a:bodyPr>
          <a:lstStyle/>
          <a:p>
            <a:pPr algn="ctr"/>
            <a:r>
              <a:rPr lang="ky-KG" sz="1600" dirty="0"/>
              <a:t>Бул сандар өлчөмүнө жараша ирээттелген.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817481" y="4203206"/>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817481" y="4203206"/>
                <a:ext cx="527709" cy="670568"/>
              </a:xfrm>
              <a:prstGeom prst="rect">
                <a:avLst/>
              </a:prstGeom>
              <a:blipFill>
                <a:blip r:embed="rId3"/>
                <a:stretch>
                  <a:fillRect/>
                </a:stretch>
              </a:blipFill>
            </p:spPr>
            <p:txBody>
              <a:bodyPr/>
              <a:lstStyle/>
              <a:p>
                <a:r>
                  <a:rPr lang="en-GB">
                    <a:noFill/>
                  </a:rPr>
                  <a:t> </a:t>
                </a:r>
              </a:p>
            </p:txBody>
          </p:sp>
        </mc:Fallback>
      </mc:AlternateContent>
      <p:grpSp>
        <p:nvGrpSpPr>
          <p:cNvPr id="17" name="Group 16">
            <a:extLst>
              <a:ext uri="{FF2B5EF4-FFF2-40B4-BE49-F238E27FC236}">
                <a16:creationId xmlns:a16="http://schemas.microsoft.com/office/drawing/2014/main" id="{49FCCB88-2638-4359-9E41-58A1EF5ED50B}"/>
              </a:ext>
            </a:extLst>
          </p:cNvPr>
          <p:cNvGrpSpPr/>
          <p:nvPr/>
        </p:nvGrpSpPr>
        <p:grpSpPr>
          <a:xfrm>
            <a:off x="341459" y="-9698"/>
            <a:ext cx="5070016" cy="3255701"/>
            <a:chOff x="341459" y="-9698"/>
            <a:chExt cx="5070016" cy="3255701"/>
          </a:xfrm>
        </p:grpSpPr>
        <p:sp>
          <p:nvSpPr>
            <p:cNvPr id="16" name="TextBox 15">
              <a:extLst>
                <a:ext uri="{FF2B5EF4-FFF2-40B4-BE49-F238E27FC236}">
                  <a16:creationId xmlns:a16="http://schemas.microsoft.com/office/drawing/2014/main" id="{3A5369A5-0158-434C-8132-D9B854A3D158}"/>
                </a:ext>
              </a:extLst>
            </p:cNvPr>
            <p:cNvSpPr txBox="1"/>
            <p:nvPr/>
          </p:nvSpPr>
          <p:spPr>
            <a:xfrm>
              <a:off x="395580" y="-9698"/>
              <a:ext cx="5015895" cy="338554"/>
            </a:xfrm>
            <a:prstGeom prst="rect">
              <a:avLst/>
            </a:prstGeom>
            <a:noFill/>
          </p:spPr>
          <p:txBody>
            <a:bodyPr wrap="square" rtlCol="0">
              <a:spAutoFit/>
            </a:bodyPr>
            <a:lstStyle/>
            <a:p>
              <a:r>
                <a:rPr lang="ru-RU" sz="1600" dirty="0"/>
                <a:t>Бул сандар кичинеден чоңго карай ирээттелген.</a:t>
              </a:r>
              <a:endParaRPr lang="en-GB" sz="1600" dirty="0"/>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0477975F-ABEB-44BE-966B-CB0367F71348}"/>
                    </a:ext>
                  </a:extLst>
                </p:cNvPr>
                <p:cNvSpPr txBox="1"/>
                <p:nvPr/>
              </p:nvSpPr>
              <p:spPr>
                <a:xfrm>
                  <a:off x="921666" y="446181"/>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𝟏𝟎</m:t>
                            </m:r>
                          </m:den>
                        </m:f>
                      </m:oMath>
                    </m:oMathPara>
                  </a14:m>
                  <a:endParaRPr lang="en-GB" sz="1400" b="1" dirty="0"/>
                </a:p>
              </p:txBody>
            </p:sp>
          </mc:Choice>
          <mc:Fallback>
            <p:sp>
              <p:nvSpPr>
                <p:cNvPr id="25" name="TextBox 24">
                  <a:extLst>
                    <a:ext uri="{FF2B5EF4-FFF2-40B4-BE49-F238E27FC236}">
                      <a16:creationId xmlns:a16="http://schemas.microsoft.com/office/drawing/2014/main" id="{0477975F-ABEB-44BE-966B-CB0367F71348}"/>
                    </a:ext>
                  </a:extLst>
                </p:cNvPr>
                <p:cNvSpPr txBox="1">
                  <a:spLocks noRot="1" noChangeAspect="1" noMove="1" noResize="1" noEditPoints="1" noAdjustHandles="1" noChangeArrowheads="1" noChangeShapeType="1" noTextEdit="1"/>
                </p:cNvSpPr>
                <p:nvPr/>
              </p:nvSpPr>
              <p:spPr>
                <a:xfrm>
                  <a:off x="921666" y="446181"/>
                  <a:ext cx="550151" cy="6705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8D51F810-01E9-4352-B65E-896847AFD54D}"/>
                    </a:ext>
                  </a:extLst>
                </p:cNvPr>
                <p:cNvSpPr txBox="1"/>
                <p:nvPr/>
              </p:nvSpPr>
              <p:spPr>
                <a:xfrm>
                  <a:off x="2055875" y="608437"/>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𝟒𝟎</m:t>
                        </m:r>
                        <m:r>
                          <a:rPr lang="en-GB" sz="2000" b="1" i="1" dirty="0" smtClean="0">
                            <a:latin typeface="Cambria Math" panose="02040503050406030204" pitchFamily="18" charset="0"/>
                          </a:rPr>
                          <m:t>%</m:t>
                        </m:r>
                      </m:oMath>
                    </m:oMathPara>
                  </a14:m>
                  <a:endParaRPr lang="en-GB" sz="1400" b="1" dirty="0"/>
                </a:p>
              </p:txBody>
            </p:sp>
          </mc:Choice>
          <mc:Fallback>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2055875" y="608437"/>
                  <a:ext cx="77777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E087569-4A2C-466C-9C90-A2937CF648BD}"/>
                    </a:ext>
                  </a:extLst>
                </p:cNvPr>
                <p:cNvSpPr txBox="1"/>
                <p:nvPr/>
              </p:nvSpPr>
              <p:spPr>
                <a:xfrm>
                  <a:off x="3568152" y="608437"/>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𝟓</m:t>
                        </m:r>
                      </m:oMath>
                    </m:oMathPara>
                  </a14:m>
                  <a:endParaRPr lang="en-GB" sz="1400" b="1" dirty="0"/>
                </a:p>
              </p:txBody>
            </p:sp>
          </mc:Choice>
          <mc:Fallback>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3568152" y="608437"/>
                  <a:ext cx="645818" cy="400110"/>
                </a:xfrm>
                <a:prstGeom prst="rect">
                  <a:avLst/>
                </a:prstGeom>
                <a:blipFill>
                  <a:blip r:embed="rId6"/>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231972" y="1182828"/>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19" name="TextBox 118">
              <a:extLst>
                <a:ext uri="{FF2B5EF4-FFF2-40B4-BE49-F238E27FC236}">
                  <a16:creationId xmlns:a16="http://schemas.microsoft.com/office/drawing/2014/main" id="{A8F5C3E9-391F-4256-9DA2-5BD9D4D82EA5}"/>
                </a:ext>
              </a:extLst>
            </p:cNvPr>
            <p:cNvSpPr txBox="1"/>
            <p:nvPr/>
          </p:nvSpPr>
          <p:spPr>
            <a:xfrm>
              <a:off x="1503400" y="1206973"/>
              <a:ext cx="1739194" cy="461665"/>
            </a:xfrm>
            <a:prstGeom prst="rect">
              <a:avLst/>
            </a:prstGeom>
            <a:noFill/>
          </p:spPr>
          <p:txBody>
            <a:bodyPr wrap="none" rtlCol="0">
              <a:spAutoFit/>
            </a:bodyPr>
            <a:lstStyle/>
            <a:p>
              <a:r>
                <a:rPr lang="ky-KG" sz="2400" dirty="0"/>
                <a:t>Туура / Ката</a:t>
              </a:r>
              <a:endParaRPr lang="en-GB" sz="2400" dirty="0"/>
            </a:p>
          </p:txBody>
        </p:sp>
        <p:sp>
          <p:nvSpPr>
            <p:cNvPr id="191" name="TextBox 190">
              <a:extLst>
                <a:ext uri="{FF2B5EF4-FFF2-40B4-BE49-F238E27FC236}">
                  <a16:creationId xmlns:a16="http://schemas.microsoft.com/office/drawing/2014/main" id="{E74F8DBC-F5C7-44FD-ADBB-7669E84D6943}"/>
                </a:ext>
              </a:extLst>
            </p:cNvPr>
            <p:cNvSpPr txBox="1"/>
            <p:nvPr/>
          </p:nvSpPr>
          <p:spPr>
            <a:xfrm>
              <a:off x="341459" y="1756215"/>
              <a:ext cx="4367414"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0644044F-1CBA-4A4F-914F-F82AD4554340}"/>
                    </a:ext>
                  </a:extLst>
                </p:cNvPr>
                <p:cNvSpPr txBox="1"/>
                <p:nvPr/>
              </p:nvSpPr>
              <p:spPr>
                <a:xfrm>
                  <a:off x="2353871" y="203910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192" name="TextBox 191">
                  <a:extLst>
                    <a:ext uri="{FF2B5EF4-FFF2-40B4-BE49-F238E27FC236}">
                      <a16:creationId xmlns:a16="http://schemas.microsoft.com/office/drawing/2014/main" id="{0644044F-1CBA-4A4F-914F-F82AD4554340}"/>
                    </a:ext>
                  </a:extLst>
                </p:cNvPr>
                <p:cNvSpPr txBox="1">
                  <a:spLocks noRot="1" noChangeAspect="1" noMove="1" noResize="1" noEditPoints="1" noAdjustHandles="1" noChangeArrowheads="1" noChangeShapeType="1" noTextEdit="1"/>
                </p:cNvSpPr>
                <p:nvPr/>
              </p:nvSpPr>
              <p:spPr>
                <a:xfrm>
                  <a:off x="2353871" y="2039105"/>
                  <a:ext cx="385041" cy="67056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AE5A3D88-15B4-4F84-8A4E-A18978E5C943}"/>
                    </a:ext>
                  </a:extLst>
                </p:cNvPr>
                <p:cNvSpPr txBox="1"/>
                <p:nvPr/>
              </p:nvSpPr>
              <p:spPr>
                <a:xfrm>
                  <a:off x="3420006" y="22013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25%</m:t>
                        </m:r>
                      </m:oMath>
                    </m:oMathPara>
                  </a14:m>
                  <a:endParaRPr lang="en-GB" sz="1400" dirty="0"/>
                </a:p>
              </p:txBody>
            </p:sp>
          </mc:Choice>
          <mc:Fallback xmlns="">
            <p:sp>
              <p:nvSpPr>
                <p:cNvPr id="193" name="TextBox 192">
                  <a:extLst>
                    <a:ext uri="{FF2B5EF4-FFF2-40B4-BE49-F238E27FC236}">
                      <a16:creationId xmlns:a16="http://schemas.microsoft.com/office/drawing/2014/main" id="{AE5A3D88-15B4-4F84-8A4E-A18978E5C943}"/>
                    </a:ext>
                  </a:extLst>
                </p:cNvPr>
                <p:cNvSpPr txBox="1">
                  <a:spLocks noRot="1" noChangeAspect="1" noMove="1" noResize="1" noEditPoints="1" noAdjustHandles="1" noChangeArrowheads="1" noChangeShapeType="1" noTextEdit="1"/>
                </p:cNvSpPr>
                <p:nvPr/>
              </p:nvSpPr>
              <p:spPr>
                <a:xfrm>
                  <a:off x="3420006" y="2201361"/>
                  <a:ext cx="755335"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5A7461F2-A483-4131-97FC-6B8C2AAB2F25}"/>
                    </a:ext>
                  </a:extLst>
                </p:cNvPr>
                <p:cNvSpPr txBox="1"/>
                <p:nvPr/>
              </p:nvSpPr>
              <p:spPr>
                <a:xfrm>
                  <a:off x="975744" y="22013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194" name="TextBox 193">
                  <a:extLst>
                    <a:ext uri="{FF2B5EF4-FFF2-40B4-BE49-F238E27FC236}">
                      <a16:creationId xmlns:a16="http://schemas.microsoft.com/office/drawing/2014/main" id="{5A7461F2-A483-4131-97FC-6B8C2AAB2F25}"/>
                    </a:ext>
                  </a:extLst>
                </p:cNvPr>
                <p:cNvSpPr txBox="1">
                  <a:spLocks noRot="1" noChangeAspect="1" noMove="1" noResize="1" noEditPoints="1" noAdjustHandles="1" noChangeArrowheads="1" noChangeShapeType="1" noTextEdit="1"/>
                </p:cNvSpPr>
                <p:nvPr/>
              </p:nvSpPr>
              <p:spPr>
                <a:xfrm>
                  <a:off x="975744" y="2201361"/>
                  <a:ext cx="580607" cy="400110"/>
                </a:xfrm>
                <a:prstGeom prst="rect">
                  <a:avLst/>
                </a:prstGeom>
                <a:blipFill>
                  <a:blip r:embed="rId9"/>
                  <a:stretch>
                    <a:fillRect/>
                  </a:stretch>
                </a:blipFill>
              </p:spPr>
              <p:txBody>
                <a:bodyPr/>
                <a:lstStyle/>
                <a:p>
                  <a:r>
                    <a:rPr lang="en-GB">
                      <a:noFill/>
                    </a:rPr>
                    <a:t> </a:t>
                  </a:r>
                </a:p>
              </p:txBody>
            </p:sp>
          </mc:Fallback>
        </mc:AlternateContent>
        <p:sp>
          <p:nvSpPr>
            <p:cNvPr id="195" name="Rectangle: Rounded Corners 194">
              <a:extLst>
                <a:ext uri="{FF2B5EF4-FFF2-40B4-BE49-F238E27FC236}">
                  <a16:creationId xmlns:a16="http://schemas.microsoft.com/office/drawing/2014/main" id="{F3B89CB1-69DC-4875-802D-12E5F01041C3}"/>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96" name="TextBox 195">
              <a:extLst>
                <a:ext uri="{FF2B5EF4-FFF2-40B4-BE49-F238E27FC236}">
                  <a16:creationId xmlns:a16="http://schemas.microsoft.com/office/drawing/2014/main" id="{FD44414E-CA91-40B0-8174-F54737562377}"/>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p:grpSp>
      <p:grpSp>
        <p:nvGrpSpPr>
          <p:cNvPr id="215" name="Group 214">
            <a:extLst>
              <a:ext uri="{FF2B5EF4-FFF2-40B4-BE49-F238E27FC236}">
                <a16:creationId xmlns:a16="http://schemas.microsoft.com/office/drawing/2014/main" id="{951CEB68-BBD5-4A24-ABA6-46E8D425A4F6}"/>
              </a:ext>
            </a:extLst>
          </p:cNvPr>
          <p:cNvGrpSpPr/>
          <p:nvPr/>
        </p:nvGrpSpPr>
        <p:grpSpPr>
          <a:xfrm>
            <a:off x="5233604" y="51651"/>
            <a:ext cx="4653438" cy="3194352"/>
            <a:chOff x="239573" y="51651"/>
            <a:chExt cx="4653438" cy="3194352"/>
          </a:xfrm>
        </p:grpSpPr>
        <p:sp>
          <p:nvSpPr>
            <p:cNvPr id="216" name="TextBox 215">
              <a:extLst>
                <a:ext uri="{FF2B5EF4-FFF2-40B4-BE49-F238E27FC236}">
                  <a16:creationId xmlns:a16="http://schemas.microsoft.com/office/drawing/2014/main" id="{66BFF185-1B13-4BE2-9355-834C4B3CF1F3}"/>
                </a:ext>
              </a:extLst>
            </p:cNvPr>
            <p:cNvSpPr txBox="1"/>
            <p:nvPr/>
          </p:nvSpPr>
          <p:spPr>
            <a:xfrm>
              <a:off x="239573" y="51651"/>
              <a:ext cx="4653438" cy="338554"/>
            </a:xfrm>
            <a:prstGeom prst="rect">
              <a:avLst/>
            </a:prstGeom>
            <a:noFill/>
          </p:spPr>
          <p:txBody>
            <a:bodyPr wrap="square" rtlCol="0">
              <a:spAutoFit/>
            </a:bodyPr>
            <a:lstStyle/>
            <a:p>
              <a:pPr algn="ctr"/>
              <a:r>
                <a:rPr lang="ru-RU" sz="1600" dirty="0"/>
                <a:t>Бул сандар чоңдон кичинесине  карай ирээттелген.</a:t>
              </a:r>
              <a:endParaRPr lang="en-GB" sz="1600" dirty="0"/>
            </a:p>
          </p:txBody>
        </p:sp>
        <mc:AlternateContent xmlns:mc="http://schemas.openxmlformats.org/markup-compatibility/2006">
          <mc:Choice xmlns:a14="http://schemas.microsoft.com/office/drawing/2010/main" Requires="a14">
            <p:sp>
              <p:nvSpPr>
                <p:cNvPr id="217" name="TextBox 216">
                  <a:extLst>
                    <a:ext uri="{FF2B5EF4-FFF2-40B4-BE49-F238E27FC236}">
                      <a16:creationId xmlns:a16="http://schemas.microsoft.com/office/drawing/2014/main" id="{2A848587-7EFF-4C1A-8C17-5D3828DD57A1}"/>
                    </a:ext>
                  </a:extLst>
                </p:cNvPr>
                <p:cNvSpPr txBox="1"/>
                <p:nvPr/>
              </p:nvSpPr>
              <p:spPr>
                <a:xfrm>
                  <a:off x="922989" y="324605"/>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𝟏𝟏</m:t>
                            </m:r>
                          </m:num>
                          <m:den>
                            <m:r>
                              <a:rPr lang="en-GB" sz="2000" b="1" i="1" dirty="0" smtClean="0">
                                <a:latin typeface="Cambria Math" panose="02040503050406030204" pitchFamily="18" charset="0"/>
                              </a:rPr>
                              <m:t>𝟐𝟎</m:t>
                            </m:r>
                          </m:den>
                        </m:f>
                      </m:oMath>
                    </m:oMathPara>
                  </a14:m>
                  <a:endParaRPr lang="en-GB" sz="1400" b="1" dirty="0"/>
                </a:p>
              </p:txBody>
            </p:sp>
          </mc:Choice>
          <mc:Fallback>
            <p:sp>
              <p:nvSpPr>
                <p:cNvPr id="217" name="TextBox 216">
                  <a:extLst>
                    <a:ext uri="{FF2B5EF4-FFF2-40B4-BE49-F238E27FC236}">
                      <a16:creationId xmlns:a16="http://schemas.microsoft.com/office/drawing/2014/main" id="{2A848587-7EFF-4C1A-8C17-5D3828DD57A1}"/>
                    </a:ext>
                  </a:extLst>
                </p:cNvPr>
                <p:cNvSpPr txBox="1">
                  <a:spLocks noRot="1" noChangeAspect="1" noMove="1" noResize="1" noEditPoints="1" noAdjustHandles="1" noChangeArrowheads="1" noChangeShapeType="1" noTextEdit="1"/>
                </p:cNvSpPr>
                <p:nvPr/>
              </p:nvSpPr>
              <p:spPr>
                <a:xfrm>
                  <a:off x="922989" y="324605"/>
                  <a:ext cx="550151" cy="6705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8" name="TextBox 217">
                  <a:extLst>
                    <a:ext uri="{FF2B5EF4-FFF2-40B4-BE49-F238E27FC236}">
                      <a16:creationId xmlns:a16="http://schemas.microsoft.com/office/drawing/2014/main" id="{24A521BA-7B70-477B-B07C-D0F00E45BB46}"/>
                    </a:ext>
                  </a:extLst>
                </p:cNvPr>
                <p:cNvSpPr txBox="1"/>
                <p:nvPr/>
              </p:nvSpPr>
              <p:spPr>
                <a:xfrm>
                  <a:off x="1723091" y="486861"/>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𝟓𝟎</m:t>
                        </m:r>
                        <m:r>
                          <a:rPr lang="en-GB" sz="2000" b="1" i="1" dirty="0" smtClean="0">
                            <a:latin typeface="Cambria Math" panose="02040503050406030204" pitchFamily="18" charset="0"/>
                          </a:rPr>
                          <m:t>%</m:t>
                        </m:r>
                      </m:oMath>
                    </m:oMathPara>
                  </a14:m>
                  <a:endParaRPr lang="en-GB" sz="1400" b="1" dirty="0"/>
                </a:p>
              </p:txBody>
            </p:sp>
          </mc:Choice>
          <mc:Fallback>
            <p:sp>
              <p:nvSpPr>
                <p:cNvPr id="218" name="TextBox 217">
                  <a:extLst>
                    <a:ext uri="{FF2B5EF4-FFF2-40B4-BE49-F238E27FC236}">
                      <a16:creationId xmlns:a16="http://schemas.microsoft.com/office/drawing/2014/main" id="{24A521BA-7B70-477B-B07C-D0F00E45BB46}"/>
                    </a:ext>
                  </a:extLst>
                </p:cNvPr>
                <p:cNvSpPr txBox="1">
                  <a:spLocks noRot="1" noChangeAspect="1" noMove="1" noResize="1" noEditPoints="1" noAdjustHandles="1" noChangeArrowheads="1" noChangeShapeType="1" noTextEdit="1"/>
                </p:cNvSpPr>
                <p:nvPr/>
              </p:nvSpPr>
              <p:spPr>
                <a:xfrm>
                  <a:off x="1723091" y="486861"/>
                  <a:ext cx="777777"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9" name="TextBox 218">
                  <a:extLst>
                    <a:ext uri="{FF2B5EF4-FFF2-40B4-BE49-F238E27FC236}">
                      <a16:creationId xmlns:a16="http://schemas.microsoft.com/office/drawing/2014/main" id="{8E1ACE75-E912-4DDC-8919-2CF9C08AF699}"/>
                    </a:ext>
                  </a:extLst>
                </p:cNvPr>
                <p:cNvSpPr txBox="1"/>
                <p:nvPr/>
              </p:nvSpPr>
              <p:spPr>
                <a:xfrm>
                  <a:off x="3420006" y="486861"/>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𝟑</m:t>
                        </m:r>
                      </m:oMath>
                    </m:oMathPara>
                  </a14:m>
                  <a:endParaRPr lang="en-GB" sz="1400" b="1" dirty="0"/>
                </a:p>
              </p:txBody>
            </p:sp>
          </mc:Choice>
          <mc:Fallback>
            <p:sp>
              <p:nvSpPr>
                <p:cNvPr id="219" name="TextBox 218">
                  <a:extLst>
                    <a:ext uri="{FF2B5EF4-FFF2-40B4-BE49-F238E27FC236}">
                      <a16:creationId xmlns:a16="http://schemas.microsoft.com/office/drawing/2014/main" id="{8E1ACE75-E912-4DDC-8919-2CF9C08AF699}"/>
                    </a:ext>
                  </a:extLst>
                </p:cNvPr>
                <p:cNvSpPr txBox="1">
                  <a:spLocks noRot="1" noChangeAspect="1" noMove="1" noResize="1" noEditPoints="1" noAdjustHandles="1" noChangeArrowheads="1" noChangeShapeType="1" noTextEdit="1"/>
                </p:cNvSpPr>
                <p:nvPr/>
              </p:nvSpPr>
              <p:spPr>
                <a:xfrm>
                  <a:off x="3420006" y="486861"/>
                  <a:ext cx="645818" cy="400110"/>
                </a:xfrm>
                <a:prstGeom prst="rect">
                  <a:avLst/>
                </a:prstGeom>
                <a:blipFill>
                  <a:blip r:embed="rId12"/>
                  <a:stretch>
                    <a:fillRect/>
                  </a:stretch>
                </a:blipFill>
              </p:spPr>
              <p:txBody>
                <a:bodyPr/>
                <a:lstStyle/>
                <a:p>
                  <a:r>
                    <a:rPr lang="en-US">
                      <a:noFill/>
                    </a:rPr>
                    <a:t> </a:t>
                  </a:r>
                </a:p>
              </p:txBody>
            </p:sp>
          </mc:Fallback>
        </mc:AlternateContent>
        <p:sp>
          <p:nvSpPr>
            <p:cNvPr id="220" name="Rectangle: Rounded Corners 219">
              <a:extLst>
                <a:ext uri="{FF2B5EF4-FFF2-40B4-BE49-F238E27FC236}">
                  <a16:creationId xmlns:a16="http://schemas.microsoft.com/office/drawing/2014/main" id="{C1805EB6-6A7C-4371-B31B-E0AA8A883580}"/>
                </a:ext>
              </a:extLst>
            </p:cNvPr>
            <p:cNvSpPr/>
            <p:nvPr/>
          </p:nvSpPr>
          <p:spPr>
            <a:xfrm>
              <a:off x="1222132" y="1125151"/>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1" name="TextBox 220">
              <a:extLst>
                <a:ext uri="{FF2B5EF4-FFF2-40B4-BE49-F238E27FC236}">
                  <a16:creationId xmlns:a16="http://schemas.microsoft.com/office/drawing/2014/main" id="{DB545557-AAB0-4940-A013-EBC28D507E52}"/>
                </a:ext>
              </a:extLst>
            </p:cNvPr>
            <p:cNvSpPr txBox="1"/>
            <p:nvPr/>
          </p:nvSpPr>
          <p:spPr>
            <a:xfrm>
              <a:off x="1493560" y="1149296"/>
              <a:ext cx="1739194" cy="461665"/>
            </a:xfrm>
            <a:prstGeom prst="rect">
              <a:avLst/>
            </a:prstGeom>
            <a:noFill/>
          </p:spPr>
          <p:txBody>
            <a:bodyPr wrap="none" rtlCol="0">
              <a:spAutoFit/>
            </a:bodyPr>
            <a:lstStyle/>
            <a:p>
              <a:r>
                <a:rPr lang="ky-KG" sz="2400" dirty="0"/>
                <a:t>Туура / Ката</a:t>
              </a:r>
              <a:endParaRPr lang="en-GB" sz="2400" dirty="0"/>
            </a:p>
          </p:txBody>
        </p:sp>
        <p:sp>
          <p:nvSpPr>
            <p:cNvPr id="222" name="TextBox 221">
              <a:extLst>
                <a:ext uri="{FF2B5EF4-FFF2-40B4-BE49-F238E27FC236}">
                  <a16:creationId xmlns:a16="http://schemas.microsoft.com/office/drawing/2014/main" id="{352719E2-4BC5-4B69-9411-D1A2D580816F}"/>
                </a:ext>
              </a:extLst>
            </p:cNvPr>
            <p:cNvSpPr txBox="1"/>
            <p:nvPr/>
          </p:nvSpPr>
          <p:spPr>
            <a:xfrm>
              <a:off x="309727" y="1744495"/>
              <a:ext cx="4367413"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91AAD681-8440-47A3-BD28-91452F73350A}"/>
                    </a:ext>
                  </a:extLst>
                </p:cNvPr>
                <p:cNvSpPr txBox="1"/>
                <p:nvPr/>
              </p:nvSpPr>
              <p:spPr>
                <a:xfrm>
                  <a:off x="922989" y="20391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23" name="TextBox 222">
                  <a:extLst>
                    <a:ext uri="{FF2B5EF4-FFF2-40B4-BE49-F238E27FC236}">
                      <a16:creationId xmlns:a16="http://schemas.microsoft.com/office/drawing/2014/main" id="{91AAD681-8440-47A3-BD28-91452F73350A}"/>
                    </a:ext>
                  </a:extLst>
                </p:cNvPr>
                <p:cNvSpPr txBox="1">
                  <a:spLocks noRot="1" noChangeAspect="1" noMove="1" noResize="1" noEditPoints="1" noAdjustHandles="1" noChangeArrowheads="1" noChangeShapeType="1" noTextEdit="1"/>
                </p:cNvSpPr>
                <p:nvPr/>
              </p:nvSpPr>
              <p:spPr>
                <a:xfrm>
                  <a:off x="922989" y="2039105"/>
                  <a:ext cx="527709" cy="67050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E85753AC-A8AB-4BC6-8E09-C65F35099B9D}"/>
                    </a:ext>
                  </a:extLst>
                </p:cNvPr>
                <p:cNvSpPr txBox="1"/>
                <p:nvPr/>
              </p:nvSpPr>
              <p:spPr>
                <a:xfrm>
                  <a:off x="2057198" y="2201361"/>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52.5%</m:t>
                        </m:r>
                      </m:oMath>
                    </m:oMathPara>
                  </a14:m>
                  <a:endParaRPr lang="en-GB" sz="1400" dirty="0"/>
                </a:p>
              </p:txBody>
            </p:sp>
          </mc:Choice>
          <mc:Fallback xmlns="">
            <p:sp>
              <p:nvSpPr>
                <p:cNvPr id="224" name="TextBox 223">
                  <a:extLst>
                    <a:ext uri="{FF2B5EF4-FFF2-40B4-BE49-F238E27FC236}">
                      <a16:creationId xmlns:a16="http://schemas.microsoft.com/office/drawing/2014/main" id="{E85753AC-A8AB-4BC6-8E09-C65F35099B9D}"/>
                    </a:ext>
                  </a:extLst>
                </p:cNvPr>
                <p:cNvSpPr txBox="1">
                  <a:spLocks noRot="1" noChangeAspect="1" noMove="1" noResize="1" noEditPoints="1" noAdjustHandles="1" noChangeArrowheads="1" noChangeShapeType="1" noTextEdit="1"/>
                </p:cNvSpPr>
                <p:nvPr/>
              </p:nvSpPr>
              <p:spPr>
                <a:xfrm>
                  <a:off x="2057198" y="2201361"/>
                  <a:ext cx="950901" cy="40011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DC38D8CC-4FB0-4709-82E5-7E2345AD36C2}"/>
                    </a:ext>
                  </a:extLst>
                </p:cNvPr>
                <p:cNvSpPr txBox="1"/>
                <p:nvPr/>
              </p:nvSpPr>
              <p:spPr>
                <a:xfrm>
                  <a:off x="3569475" y="2201361"/>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0.53</m:t>
                        </m:r>
                      </m:oMath>
                    </m:oMathPara>
                  </a14:m>
                  <a:endParaRPr lang="en-GB" sz="1400" dirty="0"/>
                </a:p>
              </p:txBody>
            </p:sp>
          </mc:Choice>
          <mc:Fallback xmlns="">
            <p:sp>
              <p:nvSpPr>
                <p:cNvPr id="225" name="TextBox 224">
                  <a:extLst>
                    <a:ext uri="{FF2B5EF4-FFF2-40B4-BE49-F238E27FC236}">
                      <a16:creationId xmlns:a16="http://schemas.microsoft.com/office/drawing/2014/main" id="{DC38D8CC-4FB0-4709-82E5-7E2345AD36C2}"/>
                    </a:ext>
                  </a:extLst>
                </p:cNvPr>
                <p:cNvSpPr txBox="1">
                  <a:spLocks noRot="1" noChangeAspect="1" noMove="1" noResize="1" noEditPoints="1" noAdjustHandles="1" noChangeArrowheads="1" noChangeShapeType="1" noTextEdit="1"/>
                </p:cNvSpPr>
                <p:nvPr/>
              </p:nvSpPr>
              <p:spPr>
                <a:xfrm>
                  <a:off x="3569475" y="2201361"/>
                  <a:ext cx="723275" cy="400110"/>
                </a:xfrm>
                <a:prstGeom prst="rect">
                  <a:avLst/>
                </a:prstGeom>
                <a:blipFill>
                  <a:blip r:embed="rId15"/>
                  <a:stretch>
                    <a:fillRect/>
                  </a:stretch>
                </a:blipFill>
              </p:spPr>
              <p:txBody>
                <a:bodyPr/>
                <a:lstStyle/>
                <a:p>
                  <a:r>
                    <a:rPr lang="en-GB">
                      <a:noFill/>
                    </a:rPr>
                    <a:t> </a:t>
                  </a:r>
                </a:p>
              </p:txBody>
            </p:sp>
          </mc:Fallback>
        </mc:AlternateContent>
        <p:sp>
          <p:nvSpPr>
            <p:cNvPr id="226" name="Rectangle: Rounded Corners 225">
              <a:extLst>
                <a:ext uri="{FF2B5EF4-FFF2-40B4-BE49-F238E27FC236}">
                  <a16:creationId xmlns:a16="http://schemas.microsoft.com/office/drawing/2014/main" id="{44F344DA-8ED0-40FF-A167-496896B29D7B}"/>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7" name="TextBox 226">
              <a:extLst>
                <a:ext uri="{FF2B5EF4-FFF2-40B4-BE49-F238E27FC236}">
                  <a16:creationId xmlns:a16="http://schemas.microsoft.com/office/drawing/2014/main" id="{DDB5F6DF-E517-4ADF-88E4-BAEFE4A3416B}"/>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mc:AlternateContent xmlns:mc="http://schemas.openxmlformats.org/markup-compatibility/2006">
          <mc:Choice xmlns:a14="http://schemas.microsoft.com/office/drawing/2010/main" Requires="a14">
            <p:sp>
              <p:nvSpPr>
                <p:cNvPr id="260" name="TextBox 259">
                  <a:extLst>
                    <a:ext uri="{FF2B5EF4-FFF2-40B4-BE49-F238E27FC236}">
                      <a16:creationId xmlns:a16="http://schemas.microsoft.com/office/drawing/2014/main" id="{22505795-2064-410F-8AAA-411DFDF1425A}"/>
                    </a:ext>
                  </a:extLst>
                </p:cNvPr>
                <p:cNvSpPr txBox="1"/>
                <p:nvPr/>
              </p:nvSpPr>
              <p:spPr>
                <a:xfrm>
                  <a:off x="2941637" y="321651"/>
                  <a:ext cx="396262"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𝟒</m:t>
                            </m:r>
                          </m:den>
                        </m:f>
                      </m:oMath>
                    </m:oMathPara>
                  </a14:m>
                  <a:endParaRPr lang="en-GB" sz="1400" b="1" dirty="0"/>
                </a:p>
              </p:txBody>
            </p:sp>
          </mc:Choice>
          <mc:Fallback>
            <p:sp>
              <p:nvSpPr>
                <p:cNvPr id="260" name="TextBox 259">
                  <a:extLst>
                    <a:ext uri="{FF2B5EF4-FFF2-40B4-BE49-F238E27FC236}">
                      <a16:creationId xmlns:a16="http://schemas.microsoft.com/office/drawing/2014/main" id="{22505795-2064-410F-8AAA-411DFDF1425A}"/>
                    </a:ext>
                  </a:extLst>
                </p:cNvPr>
                <p:cNvSpPr txBox="1">
                  <a:spLocks noRot="1" noChangeAspect="1" noMove="1" noResize="1" noEditPoints="1" noAdjustHandles="1" noChangeArrowheads="1" noChangeShapeType="1" noTextEdit="1"/>
                </p:cNvSpPr>
                <p:nvPr/>
              </p:nvSpPr>
              <p:spPr>
                <a:xfrm>
                  <a:off x="2941637" y="321651"/>
                  <a:ext cx="396262" cy="668516"/>
                </a:xfrm>
                <a:prstGeom prst="rect">
                  <a:avLst/>
                </a:prstGeom>
                <a:blipFill>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C9E53DC0-8E4E-4091-93AD-ABF2D5CAC776}"/>
                  </a:ext>
                </a:extLst>
              </p:cNvPr>
              <p:cNvSpPr txBox="1"/>
              <p:nvPr/>
            </p:nvSpPr>
            <p:spPr>
              <a:xfrm>
                <a:off x="3868414" y="4365462"/>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m:t>
                      </m:r>
                    </m:oMath>
                  </m:oMathPara>
                </a14:m>
                <a:endParaRPr lang="en-GB" sz="1400" dirty="0"/>
              </a:p>
            </p:txBody>
          </p:sp>
        </mc:Choice>
        <mc:Fallback xmlns="">
          <p:sp>
            <p:nvSpPr>
              <p:cNvPr id="234" name="TextBox 233">
                <a:extLst>
                  <a:ext uri="{FF2B5EF4-FFF2-40B4-BE49-F238E27FC236}">
                    <a16:creationId xmlns:a16="http://schemas.microsoft.com/office/drawing/2014/main" id="{C9E53DC0-8E4E-4091-93AD-ABF2D5CAC776}"/>
                  </a:ext>
                </a:extLst>
              </p:cNvPr>
              <p:cNvSpPr txBox="1">
                <a:spLocks noRot="1" noChangeAspect="1" noMove="1" noResize="1" noEditPoints="1" noAdjustHandles="1" noChangeArrowheads="1" noChangeShapeType="1" noTextEdit="1"/>
              </p:cNvSpPr>
              <p:nvPr/>
            </p:nvSpPr>
            <p:spPr>
              <a:xfrm>
                <a:off x="3868414" y="4365462"/>
                <a:ext cx="580608" cy="400110"/>
              </a:xfrm>
              <a:prstGeom prst="rect">
                <a:avLst/>
              </a:prstGeom>
              <a:blipFill>
                <a:blip r:embed="rId17"/>
                <a:stretch>
                  <a:fillRect/>
                </a:stretch>
              </a:blipFill>
            </p:spPr>
            <p:txBody>
              <a:bodyPr/>
              <a:lstStyle/>
              <a:p>
                <a:r>
                  <a:rPr lang="en-GB">
                    <a:noFill/>
                  </a:rPr>
                  <a:t> </a:t>
                </a:r>
              </a:p>
            </p:txBody>
          </p:sp>
        </mc:Fallback>
      </mc:AlternateContent>
      <p:sp>
        <p:nvSpPr>
          <p:cNvPr id="235" name="Rectangle: Rounded Corners 234">
            <a:extLst>
              <a:ext uri="{FF2B5EF4-FFF2-40B4-BE49-F238E27FC236}">
                <a16:creationId xmlns:a16="http://schemas.microsoft.com/office/drawing/2014/main" id="{9A0B2DD9-F56C-412B-8B97-9270A07024C3}"/>
              </a:ext>
            </a:extLst>
          </p:cNvPr>
          <p:cNvSpPr/>
          <p:nvPr/>
        </p:nvSpPr>
        <p:spPr>
          <a:xfrm>
            <a:off x="1989992" y="5974548"/>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36" name="TextBox 235">
            <a:extLst>
              <a:ext uri="{FF2B5EF4-FFF2-40B4-BE49-F238E27FC236}">
                <a16:creationId xmlns:a16="http://schemas.microsoft.com/office/drawing/2014/main" id="{FA06CC43-0204-4BC4-A665-0B407712E19B}"/>
              </a:ext>
            </a:extLst>
          </p:cNvPr>
          <p:cNvSpPr txBox="1"/>
          <p:nvPr/>
        </p:nvSpPr>
        <p:spPr>
          <a:xfrm>
            <a:off x="482256" y="5253800"/>
            <a:ext cx="4358887" cy="584775"/>
          </a:xfrm>
          <a:prstGeom prst="rect">
            <a:avLst/>
          </a:prstGeom>
          <a:noFill/>
        </p:spPr>
        <p:txBody>
          <a:bodyPr wrap="none" rtlCol="0">
            <a:spAutoFit/>
          </a:bodyPr>
          <a:lstStyle/>
          <a:p>
            <a:pPr algn="ctr"/>
            <a:r>
              <a:rPr lang="ky-KG" sz="1600" dirty="0"/>
              <a:t>Бул сандар өлчөмүнө жараша ирээттелген.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CDC207F5-FC7B-44E2-8746-B559FEB8A396}"/>
                  </a:ext>
                </a:extLst>
              </p:cNvPr>
              <p:cNvSpPr txBox="1"/>
              <p:nvPr/>
            </p:nvSpPr>
            <p:spPr>
              <a:xfrm>
                <a:off x="620035" y="6132716"/>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239" name="TextBox 238">
                <a:extLst>
                  <a:ext uri="{FF2B5EF4-FFF2-40B4-BE49-F238E27FC236}">
                    <a16:creationId xmlns:a16="http://schemas.microsoft.com/office/drawing/2014/main" id="{CDC207F5-FC7B-44E2-8746-B559FEB8A396}"/>
                  </a:ext>
                </a:extLst>
              </p:cNvPr>
              <p:cNvSpPr txBox="1">
                <a:spLocks noRot="1" noChangeAspect="1" noMove="1" noResize="1" noEditPoints="1" noAdjustHandles="1" noChangeArrowheads="1" noChangeShapeType="1" noTextEdit="1"/>
              </p:cNvSpPr>
              <p:nvPr/>
            </p:nvSpPr>
            <p:spPr>
              <a:xfrm>
                <a:off x="620035" y="6132716"/>
                <a:ext cx="580607" cy="400110"/>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022F9E7B-B40F-46D6-B7D1-9EE4F5F772D5}"/>
                  </a:ext>
                </a:extLst>
              </p:cNvPr>
              <p:cNvSpPr txBox="1"/>
              <p:nvPr/>
            </p:nvSpPr>
            <p:spPr>
              <a:xfrm>
                <a:off x="3683775" y="6132716"/>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140%</m:t>
                      </m:r>
                    </m:oMath>
                  </m:oMathPara>
                </a14:m>
                <a:endParaRPr lang="en-GB" sz="1400" dirty="0"/>
              </a:p>
            </p:txBody>
          </p:sp>
        </mc:Choice>
        <mc:Fallback xmlns="">
          <p:sp>
            <p:nvSpPr>
              <p:cNvPr id="240" name="TextBox 239">
                <a:extLst>
                  <a:ext uri="{FF2B5EF4-FFF2-40B4-BE49-F238E27FC236}">
                    <a16:creationId xmlns:a16="http://schemas.microsoft.com/office/drawing/2014/main" id="{022F9E7B-B40F-46D6-B7D1-9EE4F5F772D5}"/>
                  </a:ext>
                </a:extLst>
              </p:cNvPr>
              <p:cNvSpPr txBox="1">
                <a:spLocks noRot="1" noChangeAspect="1" noMove="1" noResize="1" noEditPoints="1" noAdjustHandles="1" noChangeArrowheads="1" noChangeShapeType="1" noTextEdit="1"/>
              </p:cNvSpPr>
              <p:nvPr/>
            </p:nvSpPr>
            <p:spPr>
              <a:xfrm>
                <a:off x="3683775" y="6132716"/>
                <a:ext cx="898003" cy="400110"/>
              </a:xfrm>
              <a:prstGeom prst="rect">
                <a:avLst/>
              </a:prstGeom>
              <a:blipFill>
                <a:blip r:embed="rId19"/>
                <a:stretch>
                  <a:fillRect/>
                </a:stretch>
              </a:blipFill>
            </p:spPr>
            <p:txBody>
              <a:bodyPr/>
              <a:lstStyle/>
              <a:p>
                <a:r>
                  <a:rPr lang="en-GB">
                    <a:noFill/>
                  </a:rPr>
                  <a:t> </a:t>
                </a:r>
              </a:p>
            </p:txBody>
          </p:sp>
        </mc:Fallback>
      </mc:AlternateContent>
      <p:sp>
        <p:nvSpPr>
          <p:cNvPr id="242" name="TextBox 241">
            <a:extLst>
              <a:ext uri="{FF2B5EF4-FFF2-40B4-BE49-F238E27FC236}">
                <a16:creationId xmlns:a16="http://schemas.microsoft.com/office/drawing/2014/main" id="{F35E2347-7BC2-47F7-97E2-A961277A532B}"/>
              </a:ext>
            </a:extLst>
          </p:cNvPr>
          <p:cNvSpPr txBox="1"/>
          <p:nvPr/>
        </p:nvSpPr>
        <p:spPr>
          <a:xfrm>
            <a:off x="5388930" y="3513050"/>
            <a:ext cx="4366516"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3" name="TextBox 242">
                <a:extLst>
                  <a:ext uri="{FF2B5EF4-FFF2-40B4-BE49-F238E27FC236}">
                    <a16:creationId xmlns:a16="http://schemas.microsoft.com/office/drawing/2014/main" id="{54CD3E50-6CB0-4E32-A50A-F542E4FB731E}"/>
                  </a:ext>
                </a:extLst>
              </p:cNvPr>
              <p:cNvSpPr txBox="1"/>
              <p:nvPr/>
            </p:nvSpPr>
            <p:spPr>
              <a:xfrm>
                <a:off x="5917020" y="3744813"/>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243" name="TextBox 242">
                <a:extLst>
                  <a:ext uri="{FF2B5EF4-FFF2-40B4-BE49-F238E27FC236}">
                    <a16:creationId xmlns:a16="http://schemas.microsoft.com/office/drawing/2014/main" id="{54CD3E50-6CB0-4E32-A50A-F542E4FB731E}"/>
                  </a:ext>
                </a:extLst>
              </p:cNvPr>
              <p:cNvSpPr txBox="1">
                <a:spLocks noRot="1" noChangeAspect="1" noMove="1" noResize="1" noEditPoints="1" noAdjustHandles="1" noChangeArrowheads="1" noChangeShapeType="1" noTextEdit="1"/>
              </p:cNvSpPr>
              <p:nvPr/>
            </p:nvSpPr>
            <p:spPr>
              <a:xfrm>
                <a:off x="5917020" y="3744813"/>
                <a:ext cx="385041" cy="670568"/>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13F6E7ED-9F67-41D5-8A0E-217E0B415672}"/>
                  </a:ext>
                </a:extLst>
              </p:cNvPr>
              <p:cNvSpPr txBox="1"/>
              <p:nvPr/>
            </p:nvSpPr>
            <p:spPr>
              <a:xfrm>
                <a:off x="7051229" y="3907069"/>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88%</m:t>
                      </m:r>
                    </m:oMath>
                  </m:oMathPara>
                </a14:m>
                <a:endParaRPr lang="en-GB" sz="1400" dirty="0"/>
              </a:p>
            </p:txBody>
          </p:sp>
        </mc:Choice>
        <mc:Fallback xmlns="">
          <p:sp>
            <p:nvSpPr>
              <p:cNvPr id="244" name="TextBox 243">
                <a:extLst>
                  <a:ext uri="{FF2B5EF4-FFF2-40B4-BE49-F238E27FC236}">
                    <a16:creationId xmlns:a16="http://schemas.microsoft.com/office/drawing/2014/main" id="{13F6E7ED-9F67-41D5-8A0E-217E0B415672}"/>
                  </a:ext>
                </a:extLst>
              </p:cNvPr>
              <p:cNvSpPr txBox="1">
                <a:spLocks noRot="1" noChangeAspect="1" noMove="1" noResize="1" noEditPoints="1" noAdjustHandles="1" noChangeArrowheads="1" noChangeShapeType="1" noTextEdit="1"/>
              </p:cNvSpPr>
              <p:nvPr/>
            </p:nvSpPr>
            <p:spPr>
              <a:xfrm>
                <a:off x="7051229" y="3907069"/>
                <a:ext cx="755335" cy="400110"/>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5" name="TextBox 244">
                <a:extLst>
                  <a:ext uri="{FF2B5EF4-FFF2-40B4-BE49-F238E27FC236}">
                    <a16:creationId xmlns:a16="http://schemas.microsoft.com/office/drawing/2014/main" id="{237FA74E-664E-43C3-A896-F0BE830BC9A8}"/>
                  </a:ext>
                </a:extLst>
              </p:cNvPr>
              <p:cNvSpPr txBox="1"/>
              <p:nvPr/>
            </p:nvSpPr>
            <p:spPr>
              <a:xfrm>
                <a:off x="8563506" y="3907069"/>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m:t>
                      </m:r>
                    </m:oMath>
                  </m:oMathPara>
                </a14:m>
                <a:endParaRPr lang="en-GB" sz="1400" dirty="0"/>
              </a:p>
            </p:txBody>
          </p:sp>
        </mc:Choice>
        <mc:Fallback xmlns="">
          <p:sp>
            <p:nvSpPr>
              <p:cNvPr id="245" name="TextBox 244">
                <a:extLst>
                  <a:ext uri="{FF2B5EF4-FFF2-40B4-BE49-F238E27FC236}">
                    <a16:creationId xmlns:a16="http://schemas.microsoft.com/office/drawing/2014/main" id="{237FA74E-664E-43C3-A896-F0BE830BC9A8}"/>
                  </a:ext>
                </a:extLst>
              </p:cNvPr>
              <p:cNvSpPr txBox="1">
                <a:spLocks noRot="1" noChangeAspect="1" noMove="1" noResize="1" noEditPoints="1" noAdjustHandles="1" noChangeArrowheads="1" noChangeShapeType="1" noTextEdit="1"/>
              </p:cNvSpPr>
              <p:nvPr/>
            </p:nvSpPr>
            <p:spPr>
              <a:xfrm>
                <a:off x="8563506" y="3907069"/>
                <a:ext cx="723275" cy="400110"/>
              </a:xfrm>
              <a:prstGeom prst="rect">
                <a:avLst/>
              </a:prstGeom>
              <a:blipFill>
                <a:blip r:embed="rId22"/>
                <a:stretch>
                  <a:fillRect/>
                </a:stretch>
              </a:blipFill>
            </p:spPr>
            <p:txBody>
              <a:bodyPr/>
              <a:lstStyle/>
              <a:p>
                <a:r>
                  <a:rPr lang="en-GB">
                    <a:noFill/>
                  </a:rPr>
                  <a:t> </a:t>
                </a:r>
              </a:p>
            </p:txBody>
          </p:sp>
        </mc:Fallback>
      </mc:AlternateContent>
      <p:sp>
        <p:nvSpPr>
          <p:cNvPr id="246" name="Rectangle: Rounded Corners 245">
            <a:extLst>
              <a:ext uri="{FF2B5EF4-FFF2-40B4-BE49-F238E27FC236}">
                <a16:creationId xmlns:a16="http://schemas.microsoft.com/office/drawing/2014/main" id="{61531BC3-B191-4E84-929F-6C90BC81856B}"/>
              </a:ext>
            </a:extLst>
          </p:cNvPr>
          <p:cNvSpPr/>
          <p:nvPr/>
        </p:nvSpPr>
        <p:spPr>
          <a:xfrm>
            <a:off x="5099590" y="4448908"/>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47" name="TextBox 246">
            <a:extLst>
              <a:ext uri="{FF2B5EF4-FFF2-40B4-BE49-F238E27FC236}">
                <a16:creationId xmlns:a16="http://schemas.microsoft.com/office/drawing/2014/main" id="{0B46A413-40D8-4E49-91B1-808B95D8AE09}"/>
              </a:ext>
            </a:extLst>
          </p:cNvPr>
          <p:cNvSpPr txBox="1"/>
          <p:nvPr/>
        </p:nvSpPr>
        <p:spPr>
          <a:xfrm>
            <a:off x="5353796" y="5157165"/>
            <a:ext cx="4374531"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2B056727-7DB1-4EFB-8E46-7BEDDCFCDD60}"/>
                  </a:ext>
                </a:extLst>
              </p:cNvPr>
              <p:cNvSpPr txBox="1"/>
              <p:nvPr/>
            </p:nvSpPr>
            <p:spPr>
              <a:xfrm>
                <a:off x="5776343" y="556482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94%</m:t>
                      </m:r>
                    </m:oMath>
                  </m:oMathPara>
                </a14:m>
                <a:endParaRPr lang="en-GB" sz="1400" dirty="0"/>
              </a:p>
            </p:txBody>
          </p:sp>
        </mc:Choice>
        <mc:Fallback xmlns="">
          <p:sp>
            <p:nvSpPr>
              <p:cNvPr id="248" name="TextBox 247">
                <a:extLst>
                  <a:ext uri="{FF2B5EF4-FFF2-40B4-BE49-F238E27FC236}">
                    <a16:creationId xmlns:a16="http://schemas.microsoft.com/office/drawing/2014/main" id="{2B056727-7DB1-4EFB-8E46-7BEDDCFCDD60}"/>
                  </a:ext>
                </a:extLst>
              </p:cNvPr>
              <p:cNvSpPr txBox="1">
                <a:spLocks noRot="1" noChangeAspect="1" noMove="1" noResize="1" noEditPoints="1" noAdjustHandles="1" noChangeArrowheads="1" noChangeShapeType="1" noTextEdit="1"/>
              </p:cNvSpPr>
              <p:nvPr/>
            </p:nvSpPr>
            <p:spPr>
              <a:xfrm>
                <a:off x="5776343" y="5564821"/>
                <a:ext cx="755335" cy="400110"/>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9" name="TextBox 248">
                <a:extLst>
                  <a:ext uri="{FF2B5EF4-FFF2-40B4-BE49-F238E27FC236}">
                    <a16:creationId xmlns:a16="http://schemas.microsoft.com/office/drawing/2014/main" id="{922F69DB-0910-4245-A3D6-D3F028097209}"/>
                  </a:ext>
                </a:extLst>
              </p:cNvPr>
              <p:cNvSpPr txBox="1"/>
              <p:nvPr/>
            </p:nvSpPr>
            <p:spPr>
              <a:xfrm>
                <a:off x="7183113" y="5410553"/>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19</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249" name="TextBox 248">
                <a:extLst>
                  <a:ext uri="{FF2B5EF4-FFF2-40B4-BE49-F238E27FC236}">
                    <a16:creationId xmlns:a16="http://schemas.microsoft.com/office/drawing/2014/main" id="{922F69DB-0910-4245-A3D6-D3F028097209}"/>
                  </a:ext>
                </a:extLst>
              </p:cNvPr>
              <p:cNvSpPr txBox="1">
                <a:spLocks noRot="1" noChangeAspect="1" noMove="1" noResize="1" noEditPoints="1" noAdjustHandles="1" noChangeArrowheads="1" noChangeShapeType="1" noTextEdit="1"/>
              </p:cNvSpPr>
              <p:nvPr/>
            </p:nvSpPr>
            <p:spPr>
              <a:xfrm>
                <a:off x="7183113" y="5410553"/>
                <a:ext cx="527709" cy="670568"/>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0" name="TextBox 249">
                <a:extLst>
                  <a:ext uri="{FF2B5EF4-FFF2-40B4-BE49-F238E27FC236}">
                    <a16:creationId xmlns:a16="http://schemas.microsoft.com/office/drawing/2014/main" id="{DCD37EDE-186C-4E5B-BF98-5C39080CBB46}"/>
                  </a:ext>
                </a:extLst>
              </p:cNvPr>
              <p:cNvSpPr txBox="1"/>
              <p:nvPr/>
            </p:nvSpPr>
            <p:spPr>
              <a:xfrm>
                <a:off x="8563506" y="5560023"/>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0.49</m:t>
                      </m:r>
                    </m:oMath>
                  </m:oMathPara>
                </a14:m>
                <a:endParaRPr lang="en-GB" sz="1400" dirty="0"/>
              </a:p>
            </p:txBody>
          </p:sp>
        </mc:Choice>
        <mc:Fallback xmlns="">
          <p:sp>
            <p:nvSpPr>
              <p:cNvPr id="250" name="TextBox 249">
                <a:extLst>
                  <a:ext uri="{FF2B5EF4-FFF2-40B4-BE49-F238E27FC236}">
                    <a16:creationId xmlns:a16="http://schemas.microsoft.com/office/drawing/2014/main" id="{DCD37EDE-186C-4E5B-BF98-5C39080CBB46}"/>
                  </a:ext>
                </a:extLst>
              </p:cNvPr>
              <p:cNvSpPr txBox="1">
                <a:spLocks noRot="1" noChangeAspect="1" noMove="1" noResize="1" noEditPoints="1" noAdjustHandles="1" noChangeArrowheads="1" noChangeShapeType="1" noTextEdit="1"/>
              </p:cNvSpPr>
              <p:nvPr/>
            </p:nvSpPr>
            <p:spPr>
              <a:xfrm>
                <a:off x="8563506" y="5560023"/>
                <a:ext cx="723275" cy="400110"/>
              </a:xfrm>
              <a:prstGeom prst="rect">
                <a:avLst/>
              </a:prstGeom>
              <a:blipFill>
                <a:blip r:embed="rId25"/>
                <a:stretch>
                  <a:fillRect/>
                </a:stretch>
              </a:blipFill>
            </p:spPr>
            <p:txBody>
              <a:bodyPr/>
              <a:lstStyle/>
              <a:p>
                <a:r>
                  <a:rPr lang="en-GB">
                    <a:noFill/>
                  </a:rPr>
                  <a:t> </a:t>
                </a:r>
              </a:p>
            </p:txBody>
          </p:sp>
        </mc:Fallback>
      </mc:AlternateContent>
      <p:sp>
        <p:nvSpPr>
          <p:cNvPr id="251" name="Rectangle: Rounded Corners 250">
            <a:extLst>
              <a:ext uri="{FF2B5EF4-FFF2-40B4-BE49-F238E27FC236}">
                <a16:creationId xmlns:a16="http://schemas.microsoft.com/office/drawing/2014/main" id="{BDEAF8CA-00E4-45D5-8042-135C2B7D19B2}"/>
              </a:ext>
            </a:extLst>
          </p:cNvPr>
          <p:cNvSpPr/>
          <p:nvPr/>
        </p:nvSpPr>
        <p:spPr>
          <a:xfrm>
            <a:off x="5099590" y="6101862"/>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265" name="TextBox 264">
                <a:extLst>
                  <a:ext uri="{FF2B5EF4-FFF2-40B4-BE49-F238E27FC236}">
                    <a16:creationId xmlns:a16="http://schemas.microsoft.com/office/drawing/2014/main" id="{756ADF7D-B35D-4A22-B982-734F27348C79}"/>
                  </a:ext>
                </a:extLst>
              </p:cNvPr>
              <p:cNvSpPr txBox="1"/>
              <p:nvPr/>
            </p:nvSpPr>
            <p:spPr>
              <a:xfrm>
                <a:off x="2980389" y="4203206"/>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17</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65" name="TextBox 264">
                <a:extLst>
                  <a:ext uri="{FF2B5EF4-FFF2-40B4-BE49-F238E27FC236}">
                    <a16:creationId xmlns:a16="http://schemas.microsoft.com/office/drawing/2014/main" id="{756ADF7D-B35D-4A22-B982-734F27348C79}"/>
                  </a:ext>
                </a:extLst>
              </p:cNvPr>
              <p:cNvSpPr txBox="1">
                <a:spLocks noRot="1" noChangeAspect="1" noMove="1" noResize="1" noEditPoints="1" noAdjustHandles="1" noChangeArrowheads="1" noChangeShapeType="1" noTextEdit="1"/>
              </p:cNvSpPr>
              <p:nvPr/>
            </p:nvSpPr>
            <p:spPr>
              <a:xfrm>
                <a:off x="2980389" y="4203206"/>
                <a:ext cx="527709" cy="670505"/>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7C7E50F0-FEC8-402C-8D9D-95DAAB912E9F}"/>
                  </a:ext>
                </a:extLst>
              </p:cNvPr>
              <p:cNvSpPr txBox="1"/>
              <p:nvPr/>
            </p:nvSpPr>
            <p:spPr>
              <a:xfrm>
                <a:off x="3200198" y="59880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14</m:t>
                          </m:r>
                        </m:num>
                        <m:den>
                          <m:r>
                            <a:rPr lang="en-GB" sz="2000" b="0" i="1" dirty="0" smtClean="0">
                              <a:latin typeface="Cambria Math" panose="02040503050406030204" pitchFamily="18" charset="0"/>
                            </a:rPr>
                            <m:t>40</m:t>
                          </m:r>
                        </m:den>
                      </m:f>
                    </m:oMath>
                  </m:oMathPara>
                </a14:m>
                <a:endParaRPr lang="en-GB" sz="1400" dirty="0"/>
              </a:p>
            </p:txBody>
          </p:sp>
        </mc:Choice>
        <mc:Fallback xmlns="">
          <p:sp>
            <p:nvSpPr>
              <p:cNvPr id="269" name="TextBox 268">
                <a:extLst>
                  <a:ext uri="{FF2B5EF4-FFF2-40B4-BE49-F238E27FC236}">
                    <a16:creationId xmlns:a16="http://schemas.microsoft.com/office/drawing/2014/main" id="{7C7E50F0-FEC8-402C-8D9D-95DAAB912E9F}"/>
                  </a:ext>
                </a:extLst>
              </p:cNvPr>
              <p:cNvSpPr txBox="1">
                <a:spLocks noRot="1" noChangeAspect="1" noMove="1" noResize="1" noEditPoints="1" noAdjustHandles="1" noChangeArrowheads="1" noChangeShapeType="1" noTextEdit="1"/>
              </p:cNvSpPr>
              <p:nvPr/>
            </p:nvSpPr>
            <p:spPr>
              <a:xfrm>
                <a:off x="3200198" y="5988045"/>
                <a:ext cx="527709" cy="670568"/>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04AE860E-C0B3-4C85-B6F3-A9A0A13210AB}"/>
                  </a:ext>
                </a:extLst>
              </p:cNvPr>
              <p:cNvSpPr txBox="1"/>
              <p:nvPr/>
            </p:nvSpPr>
            <p:spPr>
              <a:xfrm>
                <a:off x="1380189" y="59880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270" name="TextBox 269">
                <a:extLst>
                  <a:ext uri="{FF2B5EF4-FFF2-40B4-BE49-F238E27FC236}">
                    <a16:creationId xmlns:a16="http://schemas.microsoft.com/office/drawing/2014/main" id="{04AE860E-C0B3-4C85-B6F3-A9A0A13210AB}"/>
                  </a:ext>
                </a:extLst>
              </p:cNvPr>
              <p:cNvSpPr txBox="1">
                <a:spLocks noRot="1" noChangeAspect="1" noMove="1" noResize="1" noEditPoints="1" noAdjustHandles="1" noChangeArrowheads="1" noChangeShapeType="1" noTextEdit="1"/>
              </p:cNvSpPr>
              <p:nvPr/>
            </p:nvSpPr>
            <p:spPr>
              <a:xfrm>
                <a:off x="1380189" y="5988045"/>
                <a:ext cx="385041" cy="670568"/>
              </a:xfrm>
              <a:prstGeom prst="rect">
                <a:avLst/>
              </a:prstGeom>
              <a:blipFill>
                <a:blip r:embed="rId3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88578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5</a:t>
            </a:r>
          </a:p>
        </p:txBody>
      </p:sp>
      <p:grpSp>
        <p:nvGrpSpPr>
          <p:cNvPr id="55" name="Group 54">
            <a:extLst>
              <a:ext uri="{FF2B5EF4-FFF2-40B4-BE49-F238E27FC236}">
                <a16:creationId xmlns:a16="http://schemas.microsoft.com/office/drawing/2014/main" id="{D4C0F71F-3163-4FF1-9920-9FE630D43BC7}"/>
              </a:ext>
            </a:extLst>
          </p:cNvPr>
          <p:cNvGrpSpPr/>
          <p:nvPr/>
        </p:nvGrpSpPr>
        <p:grpSpPr>
          <a:xfrm>
            <a:off x="4976865" y="17496"/>
            <a:ext cx="4899728"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6</a:t>
            </a:r>
          </a:p>
        </p:txBody>
      </p:sp>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7</a:t>
            </a:r>
          </a:p>
        </p:txBody>
      </p:sp>
      <p:grpSp>
        <p:nvGrpSpPr>
          <p:cNvPr id="63" name="Group 62">
            <a:extLst>
              <a:ext uri="{FF2B5EF4-FFF2-40B4-BE49-F238E27FC236}">
                <a16:creationId xmlns:a16="http://schemas.microsoft.com/office/drawing/2014/main" id="{465703F2-EDDF-4694-B8ED-423480DA8D47}"/>
              </a:ext>
            </a:extLst>
          </p:cNvPr>
          <p:cNvGrpSpPr/>
          <p:nvPr/>
        </p:nvGrpSpPr>
        <p:grpSpPr>
          <a:xfrm>
            <a:off x="4988774" y="3464185"/>
            <a:ext cx="4899728"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8</a:t>
            </a:r>
          </a:p>
        </p:txBody>
      </p:sp>
      <p:sp>
        <p:nvSpPr>
          <p:cNvPr id="16" name="TextBox 15">
            <a:extLst>
              <a:ext uri="{FF2B5EF4-FFF2-40B4-BE49-F238E27FC236}">
                <a16:creationId xmlns:a16="http://schemas.microsoft.com/office/drawing/2014/main" id="{3A5369A5-0158-434C-8132-D9B854A3D158}"/>
              </a:ext>
            </a:extLst>
          </p:cNvPr>
          <p:cNvSpPr txBox="1"/>
          <p:nvPr/>
        </p:nvSpPr>
        <p:spPr>
          <a:xfrm>
            <a:off x="584139" y="31169"/>
            <a:ext cx="4155113" cy="338554"/>
          </a:xfrm>
          <a:prstGeom prst="rect">
            <a:avLst/>
          </a:prstGeom>
          <a:noFill/>
        </p:spPr>
        <p:txBody>
          <a:bodyPr wrap="none" rtlCol="0">
            <a:spAutoFit/>
          </a:bodyPr>
          <a:lstStyle/>
          <a:p>
            <a:pPr algn="ctr"/>
            <a:r>
              <a:rPr lang="ru-RU" sz="1600" dirty="0"/>
              <a:t>Бул сандарды чоңдон кичинеге карай ирээтте.</a:t>
            </a:r>
            <a:endParaRPr lang="en-GB" sz="16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D51F810-01E9-4352-B65E-896847AFD54D}"/>
                  </a:ext>
                </a:extLst>
              </p:cNvPr>
              <p:cNvSpPr txBox="1"/>
              <p:nvPr/>
            </p:nvSpPr>
            <p:spPr>
              <a:xfrm>
                <a:off x="817678" y="4868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85%</m:t>
                      </m:r>
                    </m:oMath>
                  </m:oMathPara>
                </a14:m>
                <a:endParaRPr lang="en-GB" sz="1400" dirty="0"/>
              </a:p>
            </p:txBody>
          </p:sp>
        </mc:Choice>
        <mc:Fallback xmlns="">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817678" y="486861"/>
                <a:ext cx="755335" cy="40011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E087569-4A2C-466C-9C90-A2937CF648BD}"/>
                  </a:ext>
                </a:extLst>
              </p:cNvPr>
              <p:cNvSpPr txBox="1"/>
              <p:nvPr/>
            </p:nvSpPr>
            <p:spPr>
              <a:xfrm>
                <a:off x="2320501" y="4868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0.9</m:t>
                      </m:r>
                    </m:oMath>
                  </m:oMathPara>
                </a14:m>
                <a:endParaRPr lang="en-GB" sz="1400" dirty="0"/>
              </a:p>
            </p:txBody>
          </p:sp>
        </mc:Choice>
        <mc:Fallback xmlns="">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2320501" y="486861"/>
                <a:ext cx="580607" cy="400110"/>
              </a:xfrm>
              <a:prstGeom prst="rect">
                <a:avLst/>
              </a:prstGeom>
              <a:blipFill>
                <a:blip r:embed="rId4"/>
                <a:stretch>
                  <a:fillRect/>
                </a:stretch>
              </a:blipFill>
            </p:spPr>
            <p:txBody>
              <a:bodyPr/>
              <a:lstStyle/>
              <a:p>
                <a:r>
                  <a:rPr lang="en-GB">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05559"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9" name="TextBox 28">
            <a:extLst>
              <a:ext uri="{FF2B5EF4-FFF2-40B4-BE49-F238E27FC236}">
                <a16:creationId xmlns:a16="http://schemas.microsoft.com/office/drawing/2014/main" id="{C0F10564-3A53-4524-AF43-BF782987DDBE}"/>
              </a:ext>
            </a:extLst>
          </p:cNvPr>
          <p:cNvSpPr txBox="1"/>
          <p:nvPr/>
        </p:nvSpPr>
        <p:spPr>
          <a:xfrm>
            <a:off x="452111" y="1733903"/>
            <a:ext cx="4155112" cy="338554"/>
          </a:xfrm>
          <a:prstGeom prst="rect">
            <a:avLst/>
          </a:prstGeom>
          <a:noFill/>
        </p:spPr>
        <p:txBody>
          <a:bodyPr wrap="none" rtlCol="0">
            <a:spAutoFit/>
          </a:bodyPr>
          <a:lstStyle/>
          <a:p>
            <a:pPr algn="ctr"/>
            <a:r>
              <a:rPr lang="ru-RU" sz="1600" dirty="0"/>
              <a:t>Бул сандарды чоңдон кичинеге карай ирээтте.</a:t>
            </a:r>
            <a:endParaRPr lang="en-GB" sz="16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CE2F57E-2DD3-4CC7-A08C-966683430547}"/>
                  </a:ext>
                </a:extLst>
              </p:cNvPr>
              <p:cNvSpPr txBox="1"/>
              <p:nvPr/>
            </p:nvSpPr>
            <p:spPr>
              <a:xfrm>
                <a:off x="782312" y="212702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71%</m:t>
                      </m:r>
                    </m:oMath>
                  </m:oMathPara>
                </a14:m>
                <a:endParaRPr lang="en-GB" sz="1400" dirty="0"/>
              </a:p>
            </p:txBody>
          </p:sp>
        </mc:Choice>
        <mc:Fallback xmlns="">
          <p:sp>
            <p:nvSpPr>
              <p:cNvPr id="30" name="TextBox 29">
                <a:extLst>
                  <a:ext uri="{FF2B5EF4-FFF2-40B4-BE49-F238E27FC236}">
                    <a16:creationId xmlns:a16="http://schemas.microsoft.com/office/drawing/2014/main" id="{4CE2F57E-2DD3-4CC7-A08C-966683430547}"/>
                  </a:ext>
                </a:extLst>
              </p:cNvPr>
              <p:cNvSpPr txBox="1">
                <a:spLocks noRot="1" noChangeAspect="1" noMove="1" noResize="1" noEditPoints="1" noAdjustHandles="1" noChangeArrowheads="1" noChangeShapeType="1" noTextEdit="1"/>
              </p:cNvSpPr>
              <p:nvPr/>
            </p:nvSpPr>
            <p:spPr>
              <a:xfrm>
                <a:off x="782312" y="2127028"/>
                <a:ext cx="755335"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644E43-8775-4B1C-B327-E4595C4F1D7A}"/>
                  </a:ext>
                </a:extLst>
              </p:cNvPr>
              <p:cNvSpPr txBox="1"/>
              <p:nvPr/>
            </p:nvSpPr>
            <p:spPr>
              <a:xfrm>
                <a:off x="2189082" y="1990345"/>
                <a:ext cx="527709" cy="6971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i="1" dirty="0">
                              <a:latin typeface="Cambria Math" panose="02040503050406030204" pitchFamily="18" charset="0"/>
                            </a:rPr>
                            <m:t>3</m:t>
                          </m:r>
                          <m:r>
                            <a:rPr lang="en-GB" sz="2000" b="0" i="1" dirty="0" smtClean="0">
                              <a:latin typeface="Cambria Math" panose="02040503050406030204" pitchFamily="18" charset="0"/>
                            </a:rPr>
                            <m:t>0</m:t>
                          </m:r>
                        </m:den>
                      </m:f>
                    </m:oMath>
                  </m:oMathPara>
                </a14:m>
                <a:endParaRPr lang="en-GB" sz="1400" dirty="0"/>
              </a:p>
            </p:txBody>
          </p:sp>
        </mc:Choice>
        <mc:Fallback xmlns="">
          <p:sp>
            <p:nvSpPr>
              <p:cNvPr id="31" name="TextBox 30">
                <a:extLst>
                  <a:ext uri="{FF2B5EF4-FFF2-40B4-BE49-F238E27FC236}">
                    <a16:creationId xmlns:a16="http://schemas.microsoft.com/office/drawing/2014/main" id="{F6644E43-8775-4B1C-B327-E4595C4F1D7A}"/>
                  </a:ext>
                </a:extLst>
              </p:cNvPr>
              <p:cNvSpPr txBox="1">
                <a:spLocks noRot="1" noChangeAspect="1" noMove="1" noResize="1" noEditPoints="1" noAdjustHandles="1" noChangeArrowheads="1" noChangeShapeType="1" noTextEdit="1"/>
              </p:cNvSpPr>
              <p:nvPr/>
            </p:nvSpPr>
            <p:spPr>
              <a:xfrm>
                <a:off x="2189082" y="1990345"/>
                <a:ext cx="527709" cy="69711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E5B71B2-D149-4A7E-B957-918744F59F38}"/>
                  </a:ext>
                </a:extLst>
              </p:cNvPr>
              <p:cNvSpPr txBox="1"/>
              <p:nvPr/>
            </p:nvSpPr>
            <p:spPr>
              <a:xfrm>
                <a:off x="3569475" y="2139815"/>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0.701</m:t>
                      </m:r>
                    </m:oMath>
                  </m:oMathPara>
                </a14:m>
                <a:endParaRPr lang="en-GB" sz="1400" dirty="0"/>
              </a:p>
            </p:txBody>
          </p:sp>
        </mc:Choice>
        <mc:Fallback xmlns="">
          <p:sp>
            <p:nvSpPr>
              <p:cNvPr id="32" name="TextBox 31">
                <a:extLst>
                  <a:ext uri="{FF2B5EF4-FFF2-40B4-BE49-F238E27FC236}">
                    <a16:creationId xmlns:a16="http://schemas.microsoft.com/office/drawing/2014/main" id="{EE5B71B2-D149-4A7E-B957-918744F59F38}"/>
                  </a:ext>
                </a:extLst>
              </p:cNvPr>
              <p:cNvSpPr txBox="1">
                <a:spLocks noRot="1" noChangeAspect="1" noMove="1" noResize="1" noEditPoints="1" noAdjustHandles="1" noChangeArrowheads="1" noChangeShapeType="1" noTextEdit="1"/>
              </p:cNvSpPr>
              <p:nvPr/>
            </p:nvSpPr>
            <p:spPr>
              <a:xfrm>
                <a:off x="3569475" y="2139815"/>
                <a:ext cx="865943" cy="400110"/>
              </a:xfrm>
              <a:prstGeom prst="rect">
                <a:avLst/>
              </a:prstGeom>
              <a:blipFill>
                <a:blip r:embed="rId7"/>
                <a:stretch>
                  <a:fillRect/>
                </a:stretch>
              </a:blipFill>
            </p:spPr>
            <p:txBody>
              <a:bodyPr/>
              <a:lstStyle/>
              <a:p>
                <a:r>
                  <a:rPr lang="en-GB">
                    <a:noFill/>
                  </a:rPr>
                  <a:t> </a:t>
                </a:r>
              </a:p>
            </p:txBody>
          </p:sp>
        </mc:Fallback>
      </mc:AlternateContent>
      <p:sp>
        <p:nvSpPr>
          <p:cNvPr id="33" name="Rectangle: Rounded Corners 32">
            <a:extLst>
              <a:ext uri="{FF2B5EF4-FFF2-40B4-BE49-F238E27FC236}">
                <a16:creationId xmlns:a16="http://schemas.microsoft.com/office/drawing/2014/main" id="{A7424195-2311-4EF1-B160-78B35D0AEB43}"/>
              </a:ext>
            </a:extLst>
          </p:cNvPr>
          <p:cNvSpPr/>
          <p:nvPr/>
        </p:nvSpPr>
        <p:spPr>
          <a:xfrm>
            <a:off x="105559"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1" name="TextBox 140">
            <a:extLst>
              <a:ext uri="{FF2B5EF4-FFF2-40B4-BE49-F238E27FC236}">
                <a16:creationId xmlns:a16="http://schemas.microsoft.com/office/drawing/2014/main" id="{F1EB8BDE-A9AE-4687-8168-22B9121B81A7}"/>
              </a:ext>
            </a:extLst>
          </p:cNvPr>
          <p:cNvSpPr txBox="1"/>
          <p:nvPr/>
        </p:nvSpPr>
        <p:spPr>
          <a:xfrm>
            <a:off x="5410529" y="31169"/>
            <a:ext cx="4490395" cy="338554"/>
          </a:xfrm>
          <a:prstGeom prst="rect">
            <a:avLst/>
          </a:prstGeom>
          <a:noFill/>
        </p:spPr>
        <p:txBody>
          <a:bodyPr wrap="none" rtlCol="0">
            <a:spAutoFit/>
          </a:bodyPr>
          <a:lstStyle/>
          <a:p>
            <a:pPr algn="ctr"/>
            <a:r>
              <a:rPr lang="ru-RU" sz="1600" dirty="0"/>
              <a:t>Бул сандарды эң кичинеден чоңго карай ирээтте.</a:t>
            </a:r>
            <a:endParaRPr lang="en-GB" sz="1600" dirty="0"/>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96BD8634-8E3A-4729-B3D9-FC31072A9DB4}"/>
                  </a:ext>
                </a:extLst>
              </p:cNvPr>
              <p:cNvSpPr txBox="1"/>
              <p:nvPr/>
            </p:nvSpPr>
            <p:spPr>
              <a:xfrm>
                <a:off x="5411361" y="32460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42" name="TextBox 141">
                <a:extLst>
                  <a:ext uri="{FF2B5EF4-FFF2-40B4-BE49-F238E27FC236}">
                    <a16:creationId xmlns:a16="http://schemas.microsoft.com/office/drawing/2014/main" id="{96BD8634-8E3A-4729-B3D9-FC31072A9DB4}"/>
                  </a:ext>
                </a:extLst>
              </p:cNvPr>
              <p:cNvSpPr txBox="1">
                <a:spLocks noRot="1" noChangeAspect="1" noMove="1" noResize="1" noEditPoints="1" noAdjustHandles="1" noChangeArrowheads="1" noChangeShapeType="1" noTextEdit="1"/>
              </p:cNvSpPr>
              <p:nvPr/>
            </p:nvSpPr>
            <p:spPr>
              <a:xfrm>
                <a:off x="5411361" y="324605"/>
                <a:ext cx="527709" cy="670568"/>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4D0F3B68-598E-4F8F-85B0-2A46B77B5CAB}"/>
                  </a:ext>
                </a:extLst>
              </p:cNvPr>
              <p:cNvSpPr txBox="1"/>
              <p:nvPr/>
            </p:nvSpPr>
            <p:spPr>
              <a:xfrm>
                <a:off x="6462987" y="486861"/>
                <a:ext cx="8082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1.5%</m:t>
                      </m:r>
                    </m:oMath>
                  </m:oMathPara>
                </a14:m>
                <a:endParaRPr lang="en-GB" sz="1400" dirty="0"/>
              </a:p>
            </p:txBody>
          </p:sp>
        </mc:Choice>
        <mc:Fallback xmlns="">
          <p:sp>
            <p:nvSpPr>
              <p:cNvPr id="143" name="TextBox 142">
                <a:extLst>
                  <a:ext uri="{FF2B5EF4-FFF2-40B4-BE49-F238E27FC236}">
                    <a16:creationId xmlns:a16="http://schemas.microsoft.com/office/drawing/2014/main" id="{4D0F3B68-598E-4F8F-85B0-2A46B77B5CAB}"/>
                  </a:ext>
                </a:extLst>
              </p:cNvPr>
              <p:cNvSpPr txBox="1">
                <a:spLocks noRot="1" noChangeAspect="1" noMove="1" noResize="1" noEditPoints="1" noAdjustHandles="1" noChangeArrowheads="1" noChangeShapeType="1" noTextEdit="1"/>
              </p:cNvSpPr>
              <p:nvPr/>
            </p:nvSpPr>
            <p:spPr>
              <a:xfrm>
                <a:off x="6462987" y="486861"/>
                <a:ext cx="808235" cy="400110"/>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76278510-0C95-4099-BF10-8A096A38E30C}"/>
                  </a:ext>
                </a:extLst>
              </p:cNvPr>
              <p:cNvSpPr txBox="1"/>
              <p:nvPr/>
            </p:nvSpPr>
            <p:spPr>
              <a:xfrm>
                <a:off x="8989433" y="486861"/>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0.099</m:t>
                      </m:r>
                    </m:oMath>
                  </m:oMathPara>
                </a14:m>
                <a:endParaRPr lang="en-GB" sz="1400" dirty="0"/>
              </a:p>
            </p:txBody>
          </p:sp>
        </mc:Choice>
        <mc:Fallback xmlns="">
          <p:sp>
            <p:nvSpPr>
              <p:cNvPr id="144" name="TextBox 143">
                <a:extLst>
                  <a:ext uri="{FF2B5EF4-FFF2-40B4-BE49-F238E27FC236}">
                    <a16:creationId xmlns:a16="http://schemas.microsoft.com/office/drawing/2014/main" id="{76278510-0C95-4099-BF10-8A096A38E30C}"/>
                  </a:ext>
                </a:extLst>
              </p:cNvPr>
              <p:cNvSpPr txBox="1">
                <a:spLocks noRot="1" noChangeAspect="1" noMove="1" noResize="1" noEditPoints="1" noAdjustHandles="1" noChangeArrowheads="1" noChangeShapeType="1" noTextEdit="1"/>
              </p:cNvSpPr>
              <p:nvPr/>
            </p:nvSpPr>
            <p:spPr>
              <a:xfrm>
                <a:off x="8989433" y="486861"/>
                <a:ext cx="865943" cy="400110"/>
              </a:xfrm>
              <a:prstGeom prst="rect">
                <a:avLst/>
              </a:prstGeom>
              <a:blipFill>
                <a:blip r:embed="rId16"/>
                <a:stretch>
                  <a:fillRect/>
                </a:stretch>
              </a:blipFill>
            </p:spPr>
            <p:txBody>
              <a:bodyPr/>
              <a:lstStyle/>
              <a:p>
                <a:r>
                  <a:rPr lang="en-GB">
                    <a:noFill/>
                  </a:rPr>
                  <a:t> </a:t>
                </a:r>
              </a:p>
            </p:txBody>
          </p:sp>
        </mc:Fallback>
      </mc:AlternateContent>
      <p:sp>
        <p:nvSpPr>
          <p:cNvPr id="145" name="Rectangle: Rounded Corners 144">
            <a:extLst>
              <a:ext uri="{FF2B5EF4-FFF2-40B4-BE49-F238E27FC236}">
                <a16:creationId xmlns:a16="http://schemas.microsoft.com/office/drawing/2014/main" id="{EE3E5C1F-4AF1-4A8F-9A6F-96F4727AD8FE}"/>
              </a:ext>
            </a:extLst>
          </p:cNvPr>
          <p:cNvSpPr/>
          <p:nvPr/>
        </p:nvSpPr>
        <p:spPr>
          <a:xfrm>
            <a:off x="5099590"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6" name="TextBox 145">
            <a:extLst>
              <a:ext uri="{FF2B5EF4-FFF2-40B4-BE49-F238E27FC236}">
                <a16:creationId xmlns:a16="http://schemas.microsoft.com/office/drawing/2014/main" id="{F2FE3DE0-778E-44E5-A745-B1CEB254987C}"/>
              </a:ext>
            </a:extLst>
          </p:cNvPr>
          <p:cNvSpPr txBox="1"/>
          <p:nvPr/>
        </p:nvSpPr>
        <p:spPr>
          <a:xfrm>
            <a:off x="5409009" y="1684123"/>
            <a:ext cx="4403834" cy="338554"/>
          </a:xfrm>
          <a:prstGeom prst="rect">
            <a:avLst/>
          </a:prstGeom>
          <a:noFill/>
        </p:spPr>
        <p:txBody>
          <a:bodyPr wrap="none" rtlCol="0">
            <a:spAutoFit/>
          </a:bodyPr>
          <a:lstStyle/>
          <a:p>
            <a:pPr algn="ctr"/>
            <a:r>
              <a:rPr lang="ru-RU" sz="1600" dirty="0"/>
              <a:t>Бул сандарды эң кичинеден чоңго карай ирээтте.</a:t>
            </a:r>
            <a:endParaRPr lang="en-GB" sz="1600" dirty="0"/>
          </a:p>
        </p:txBody>
      </p: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CDAE389B-9868-4C14-8A03-CC81DE07B722}"/>
                  </a:ext>
                </a:extLst>
              </p:cNvPr>
              <p:cNvSpPr txBox="1"/>
              <p:nvPr/>
            </p:nvSpPr>
            <p:spPr>
              <a:xfrm>
                <a:off x="8796191" y="2127028"/>
                <a:ext cx="109356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102.9%</m:t>
                      </m:r>
                    </m:oMath>
                  </m:oMathPara>
                </a14:m>
                <a:endParaRPr lang="en-GB" sz="1400" dirty="0"/>
              </a:p>
            </p:txBody>
          </p:sp>
        </mc:Choice>
        <mc:Fallback xmlns="">
          <p:sp>
            <p:nvSpPr>
              <p:cNvPr id="147" name="TextBox 146">
                <a:extLst>
                  <a:ext uri="{FF2B5EF4-FFF2-40B4-BE49-F238E27FC236}">
                    <a16:creationId xmlns:a16="http://schemas.microsoft.com/office/drawing/2014/main" id="{CDAE389B-9868-4C14-8A03-CC81DE07B722}"/>
                  </a:ext>
                </a:extLst>
              </p:cNvPr>
              <p:cNvSpPr txBox="1">
                <a:spLocks noRot="1" noChangeAspect="1" noMove="1" noResize="1" noEditPoints="1" noAdjustHandles="1" noChangeArrowheads="1" noChangeShapeType="1" noTextEdit="1"/>
              </p:cNvSpPr>
              <p:nvPr/>
            </p:nvSpPr>
            <p:spPr>
              <a:xfrm>
                <a:off x="8796191" y="2127028"/>
                <a:ext cx="1093569" cy="400110"/>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A7BC2B11-20DE-4EA4-B5E7-3D4F01B31D77}"/>
                  </a:ext>
                </a:extLst>
              </p:cNvPr>
              <p:cNvSpPr txBox="1"/>
              <p:nvPr/>
            </p:nvSpPr>
            <p:spPr>
              <a:xfrm>
                <a:off x="6878967" y="19903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4</m:t>
                          </m:r>
                        </m:den>
                      </m:f>
                    </m:oMath>
                  </m:oMathPara>
                </a14:m>
                <a:endParaRPr lang="en-GB" sz="1400" dirty="0"/>
              </a:p>
            </p:txBody>
          </p:sp>
        </mc:Choice>
        <mc:Fallback xmlns="">
          <p:sp>
            <p:nvSpPr>
              <p:cNvPr id="148" name="TextBox 147">
                <a:extLst>
                  <a:ext uri="{FF2B5EF4-FFF2-40B4-BE49-F238E27FC236}">
                    <a16:creationId xmlns:a16="http://schemas.microsoft.com/office/drawing/2014/main" id="{A7BC2B11-20DE-4EA4-B5E7-3D4F01B31D77}"/>
                  </a:ext>
                </a:extLst>
              </p:cNvPr>
              <p:cNvSpPr txBox="1">
                <a:spLocks noRot="1" noChangeAspect="1" noMove="1" noResize="1" noEditPoints="1" noAdjustHandles="1" noChangeArrowheads="1" noChangeShapeType="1" noTextEdit="1"/>
              </p:cNvSpPr>
              <p:nvPr/>
            </p:nvSpPr>
            <p:spPr>
              <a:xfrm>
                <a:off x="6878967" y="1990345"/>
                <a:ext cx="385041" cy="670568"/>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9DF622D8-F24F-459F-837E-954856B4F0D7}"/>
                  </a:ext>
                </a:extLst>
              </p:cNvPr>
              <p:cNvSpPr txBox="1"/>
              <p:nvPr/>
            </p:nvSpPr>
            <p:spPr>
              <a:xfrm>
                <a:off x="7920975" y="2139815"/>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m:t>
                      </m:r>
                    </m:oMath>
                  </m:oMathPara>
                </a14:m>
                <a:endParaRPr lang="en-GB" sz="1400" dirty="0"/>
              </a:p>
            </p:txBody>
          </p:sp>
        </mc:Choice>
        <mc:Fallback xmlns="">
          <p:sp>
            <p:nvSpPr>
              <p:cNvPr id="149" name="TextBox 148">
                <a:extLst>
                  <a:ext uri="{FF2B5EF4-FFF2-40B4-BE49-F238E27FC236}">
                    <a16:creationId xmlns:a16="http://schemas.microsoft.com/office/drawing/2014/main" id="{9DF622D8-F24F-459F-837E-954856B4F0D7}"/>
                  </a:ext>
                </a:extLst>
              </p:cNvPr>
              <p:cNvSpPr txBox="1">
                <a:spLocks noRot="1" noChangeAspect="1" noMove="1" noResize="1" noEditPoints="1" noAdjustHandles="1" noChangeArrowheads="1" noChangeShapeType="1" noTextEdit="1"/>
              </p:cNvSpPr>
              <p:nvPr/>
            </p:nvSpPr>
            <p:spPr>
              <a:xfrm>
                <a:off x="7920975" y="2139815"/>
                <a:ext cx="580608" cy="400110"/>
              </a:xfrm>
              <a:prstGeom prst="rect">
                <a:avLst/>
              </a:prstGeom>
              <a:blipFill>
                <a:blip r:embed="rId19"/>
                <a:stretch>
                  <a:fillRect/>
                </a:stretch>
              </a:blipFill>
            </p:spPr>
            <p:txBody>
              <a:bodyPr/>
              <a:lstStyle/>
              <a:p>
                <a:r>
                  <a:rPr lang="en-GB">
                    <a:noFill/>
                  </a:rPr>
                  <a:t> </a:t>
                </a:r>
              </a:p>
            </p:txBody>
          </p:sp>
        </mc:Fallback>
      </mc:AlternateContent>
      <p:sp>
        <p:nvSpPr>
          <p:cNvPr id="150" name="Rectangle: Rounded Corners 149">
            <a:extLst>
              <a:ext uri="{FF2B5EF4-FFF2-40B4-BE49-F238E27FC236}">
                <a16:creationId xmlns:a16="http://schemas.microsoft.com/office/drawing/2014/main" id="{D47B4246-B36E-412D-B7BF-3E53BEF497DF}"/>
              </a:ext>
            </a:extLst>
          </p:cNvPr>
          <p:cNvSpPr/>
          <p:nvPr/>
        </p:nvSpPr>
        <p:spPr>
          <a:xfrm>
            <a:off x="5099590"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58" name="TextBox 157">
            <a:extLst>
              <a:ext uri="{FF2B5EF4-FFF2-40B4-BE49-F238E27FC236}">
                <a16:creationId xmlns:a16="http://schemas.microsoft.com/office/drawing/2014/main" id="{05B32A70-33A3-4D80-831A-32028A1016AE}"/>
              </a:ext>
            </a:extLst>
          </p:cNvPr>
          <p:cNvSpPr txBox="1"/>
          <p:nvPr/>
        </p:nvSpPr>
        <p:spPr>
          <a:xfrm>
            <a:off x="1400835" y="3486546"/>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2328074" y="3779982"/>
                <a:ext cx="527709"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9</m:t>
                          </m:r>
                        </m:num>
                        <m:den>
                          <m:r>
                            <a:rPr lang="en-GB" sz="2000" b="0" i="1" dirty="0" smtClean="0">
                              <a:latin typeface="Cambria Math" panose="02040503050406030204" pitchFamily="18" charset="0"/>
                            </a:rPr>
                            <m:t>12</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2328074" y="3779982"/>
                <a:ext cx="527709" cy="668516"/>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9A34C3CD-0095-4A7E-B4C6-20ADA6817FB9}"/>
                  </a:ext>
                </a:extLst>
              </p:cNvPr>
              <p:cNvSpPr txBox="1"/>
              <p:nvPr/>
            </p:nvSpPr>
            <p:spPr>
              <a:xfrm>
                <a:off x="1324521"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66%</m:t>
                      </m:r>
                    </m:oMath>
                  </m:oMathPara>
                </a14:m>
                <a:endParaRPr lang="en-GB" sz="1400" dirty="0"/>
              </a:p>
            </p:txBody>
          </p:sp>
        </mc:Choice>
        <mc:Fallback xmlns="">
          <p:sp>
            <p:nvSpPr>
              <p:cNvPr id="160" name="TextBox 159">
                <a:extLst>
                  <a:ext uri="{FF2B5EF4-FFF2-40B4-BE49-F238E27FC236}">
                    <a16:creationId xmlns:a16="http://schemas.microsoft.com/office/drawing/2014/main" id="{9A34C3CD-0095-4A7E-B4C6-20ADA6817FB9}"/>
                  </a:ext>
                </a:extLst>
              </p:cNvPr>
              <p:cNvSpPr txBox="1">
                <a:spLocks noRot="1" noChangeAspect="1" noMove="1" noResize="1" noEditPoints="1" noAdjustHandles="1" noChangeArrowheads="1" noChangeShapeType="1" noTextEdit="1"/>
              </p:cNvSpPr>
              <p:nvPr/>
            </p:nvSpPr>
            <p:spPr>
              <a:xfrm>
                <a:off x="1324521" y="3942238"/>
                <a:ext cx="755335" cy="400110"/>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05669C16-439A-4EA1-A6D3-57BCE72C9776}"/>
                  </a:ext>
                </a:extLst>
              </p:cNvPr>
              <p:cNvSpPr txBox="1"/>
              <p:nvPr/>
            </p:nvSpPr>
            <p:spPr>
              <a:xfrm>
                <a:off x="3104001" y="3942238"/>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0.607</m:t>
                      </m:r>
                    </m:oMath>
                  </m:oMathPara>
                </a14:m>
                <a:endParaRPr lang="en-GB" sz="1400" dirty="0"/>
              </a:p>
            </p:txBody>
          </p:sp>
        </mc:Choice>
        <mc:Fallback xmlns="">
          <p:sp>
            <p:nvSpPr>
              <p:cNvPr id="161" name="TextBox 160">
                <a:extLst>
                  <a:ext uri="{FF2B5EF4-FFF2-40B4-BE49-F238E27FC236}">
                    <a16:creationId xmlns:a16="http://schemas.microsoft.com/office/drawing/2014/main" id="{05669C16-439A-4EA1-A6D3-57BCE72C9776}"/>
                  </a:ext>
                </a:extLst>
              </p:cNvPr>
              <p:cNvSpPr txBox="1">
                <a:spLocks noRot="1" noChangeAspect="1" noMove="1" noResize="1" noEditPoints="1" noAdjustHandles="1" noChangeArrowheads="1" noChangeShapeType="1" noTextEdit="1"/>
              </p:cNvSpPr>
              <p:nvPr/>
            </p:nvSpPr>
            <p:spPr>
              <a:xfrm>
                <a:off x="3104001" y="3942238"/>
                <a:ext cx="865943" cy="400110"/>
              </a:xfrm>
              <a:prstGeom prst="rect">
                <a:avLst/>
              </a:prstGeom>
              <a:blipFill>
                <a:blip r:embed="rId28"/>
                <a:stretch>
                  <a:fillRect/>
                </a:stretch>
              </a:blipFill>
            </p:spPr>
            <p:txBody>
              <a:bodyPr/>
              <a:lstStyle/>
              <a:p>
                <a:r>
                  <a:rPr lang="en-GB">
                    <a:noFill/>
                  </a:rPr>
                  <a:t> </a:t>
                </a:r>
              </a:p>
            </p:txBody>
          </p:sp>
        </mc:Fallback>
      </mc:AlternateContent>
      <p:sp>
        <p:nvSpPr>
          <p:cNvPr id="162" name="Rectangle: Rounded Corners 161">
            <a:extLst>
              <a:ext uri="{FF2B5EF4-FFF2-40B4-BE49-F238E27FC236}">
                <a16:creationId xmlns:a16="http://schemas.microsoft.com/office/drawing/2014/main" id="{D819ECCD-8FBE-4D91-9B7D-DEC8C10FCFC4}"/>
              </a:ext>
            </a:extLst>
          </p:cNvPr>
          <p:cNvSpPr/>
          <p:nvPr/>
        </p:nvSpPr>
        <p:spPr>
          <a:xfrm>
            <a:off x="105559"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63" name="TextBox 162">
            <a:extLst>
              <a:ext uri="{FF2B5EF4-FFF2-40B4-BE49-F238E27FC236}">
                <a16:creationId xmlns:a16="http://schemas.microsoft.com/office/drawing/2014/main" id="{889BA68E-BD5B-4955-9CC0-CD15A84E0B82}"/>
              </a:ext>
            </a:extLst>
          </p:cNvPr>
          <p:cNvSpPr txBox="1"/>
          <p:nvPr/>
        </p:nvSpPr>
        <p:spPr>
          <a:xfrm>
            <a:off x="1331331" y="5139500"/>
            <a:ext cx="2660729"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63FF0407-88CA-463F-9E91-9EE93F074776}"/>
                  </a:ext>
                </a:extLst>
              </p:cNvPr>
              <p:cNvSpPr txBox="1"/>
              <p:nvPr/>
            </p:nvSpPr>
            <p:spPr>
              <a:xfrm>
                <a:off x="30218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12.2%</m:t>
                      </m:r>
                    </m:oMath>
                  </m:oMathPara>
                </a14:m>
                <a:endParaRPr lang="en-GB" sz="1400" dirty="0"/>
              </a:p>
            </p:txBody>
          </p:sp>
        </mc:Choice>
        <mc:Fallback xmlns="">
          <p:sp>
            <p:nvSpPr>
              <p:cNvPr id="164" name="TextBox 163">
                <a:extLst>
                  <a:ext uri="{FF2B5EF4-FFF2-40B4-BE49-F238E27FC236}">
                    <a16:creationId xmlns:a16="http://schemas.microsoft.com/office/drawing/2014/main" id="{63FF0407-88CA-463F-9E91-9EE93F074776}"/>
                  </a:ext>
                </a:extLst>
              </p:cNvPr>
              <p:cNvSpPr txBox="1">
                <a:spLocks noRot="1" noChangeAspect="1" noMove="1" noResize="1" noEditPoints="1" noAdjustHandles="1" noChangeArrowheads="1" noChangeShapeType="1" noTextEdit="1"/>
              </p:cNvSpPr>
              <p:nvPr/>
            </p:nvSpPr>
            <p:spPr>
              <a:xfrm>
                <a:off x="3021847" y="5582405"/>
                <a:ext cx="950901" cy="400110"/>
              </a:xfrm>
              <a:prstGeom prst="rect">
                <a:avLst/>
              </a:prstGeom>
              <a:blipFill>
                <a:blip r:embed="rId2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3369A569-E7D9-4C12-BB24-592E1075FFC3}"/>
                  </a:ext>
                </a:extLst>
              </p:cNvPr>
              <p:cNvSpPr txBox="1"/>
              <p:nvPr/>
            </p:nvSpPr>
            <p:spPr>
              <a:xfrm>
                <a:off x="2409827"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65" name="TextBox 164">
                <a:extLst>
                  <a:ext uri="{FF2B5EF4-FFF2-40B4-BE49-F238E27FC236}">
                    <a16:creationId xmlns:a16="http://schemas.microsoft.com/office/drawing/2014/main" id="{3369A569-E7D9-4C12-BB24-592E1075FFC3}"/>
                  </a:ext>
                </a:extLst>
              </p:cNvPr>
              <p:cNvSpPr txBox="1">
                <a:spLocks noRot="1" noChangeAspect="1" noMove="1" noResize="1" noEditPoints="1" noAdjustHandles="1" noChangeArrowheads="1" noChangeShapeType="1" noTextEdit="1"/>
              </p:cNvSpPr>
              <p:nvPr/>
            </p:nvSpPr>
            <p:spPr>
              <a:xfrm>
                <a:off x="2409827" y="5445722"/>
                <a:ext cx="385041" cy="670568"/>
              </a:xfrm>
              <a:prstGeom prst="rect">
                <a:avLst/>
              </a:prstGeom>
              <a:blipFill>
                <a:blip r:embed="rId3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B045F798-15E4-447C-919B-F43A3360CB90}"/>
                  </a:ext>
                </a:extLst>
              </p:cNvPr>
              <p:cNvSpPr txBox="1"/>
              <p:nvPr/>
            </p:nvSpPr>
            <p:spPr>
              <a:xfrm>
                <a:off x="281694"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0.12</m:t>
                      </m:r>
                    </m:oMath>
                  </m:oMathPara>
                </a14:m>
                <a:endParaRPr lang="en-GB" sz="1400" dirty="0"/>
              </a:p>
            </p:txBody>
          </p:sp>
        </mc:Choice>
        <mc:Fallback xmlns="">
          <p:sp>
            <p:nvSpPr>
              <p:cNvPr id="166" name="TextBox 165">
                <a:extLst>
                  <a:ext uri="{FF2B5EF4-FFF2-40B4-BE49-F238E27FC236}">
                    <a16:creationId xmlns:a16="http://schemas.microsoft.com/office/drawing/2014/main" id="{B045F798-15E4-447C-919B-F43A3360CB90}"/>
                  </a:ext>
                </a:extLst>
              </p:cNvPr>
              <p:cNvSpPr txBox="1">
                <a:spLocks noRot="1" noChangeAspect="1" noMove="1" noResize="1" noEditPoints="1" noAdjustHandles="1" noChangeArrowheads="1" noChangeShapeType="1" noTextEdit="1"/>
              </p:cNvSpPr>
              <p:nvPr/>
            </p:nvSpPr>
            <p:spPr>
              <a:xfrm>
                <a:off x="281694" y="5595192"/>
                <a:ext cx="723275" cy="400110"/>
              </a:xfrm>
              <a:prstGeom prst="rect">
                <a:avLst/>
              </a:prstGeom>
              <a:blipFill>
                <a:blip r:embed="rId31"/>
                <a:stretch>
                  <a:fillRect/>
                </a:stretch>
              </a:blipFill>
            </p:spPr>
            <p:txBody>
              <a:bodyPr/>
              <a:lstStyle/>
              <a:p>
                <a:r>
                  <a:rPr lang="en-GB">
                    <a:noFill/>
                  </a:rPr>
                  <a:t> </a:t>
                </a:r>
              </a:p>
            </p:txBody>
          </p:sp>
        </mc:Fallback>
      </mc:AlternateContent>
      <p:sp>
        <p:nvSpPr>
          <p:cNvPr id="167" name="Rectangle: Rounded Corners 166">
            <a:extLst>
              <a:ext uri="{FF2B5EF4-FFF2-40B4-BE49-F238E27FC236}">
                <a16:creationId xmlns:a16="http://schemas.microsoft.com/office/drawing/2014/main" id="{3819247E-1769-46A5-ACD1-3691BDB6E6EA}"/>
              </a:ext>
            </a:extLst>
          </p:cNvPr>
          <p:cNvSpPr/>
          <p:nvPr/>
        </p:nvSpPr>
        <p:spPr>
          <a:xfrm>
            <a:off x="105559"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75" name="TextBox 174">
            <a:extLst>
              <a:ext uri="{FF2B5EF4-FFF2-40B4-BE49-F238E27FC236}">
                <a16:creationId xmlns:a16="http://schemas.microsoft.com/office/drawing/2014/main" id="{21A6BEDC-C05E-4921-AE8A-9D53DCD8B390}"/>
              </a:ext>
            </a:extLst>
          </p:cNvPr>
          <p:cNvSpPr txBox="1"/>
          <p:nvPr/>
        </p:nvSpPr>
        <p:spPr>
          <a:xfrm>
            <a:off x="6325362" y="3486546"/>
            <a:ext cx="2660728"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591C9D6A-5FAE-422B-A4A3-1AF1F68BFA56}"/>
                  </a:ext>
                </a:extLst>
              </p:cNvPr>
              <p:cNvSpPr txBox="1"/>
              <p:nvPr/>
            </p:nvSpPr>
            <p:spPr>
              <a:xfrm>
                <a:off x="5911620"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76" name="TextBox 175">
                <a:extLst>
                  <a:ext uri="{FF2B5EF4-FFF2-40B4-BE49-F238E27FC236}">
                    <a16:creationId xmlns:a16="http://schemas.microsoft.com/office/drawing/2014/main" id="{591C9D6A-5FAE-422B-A4A3-1AF1F68BFA56}"/>
                  </a:ext>
                </a:extLst>
              </p:cNvPr>
              <p:cNvSpPr txBox="1">
                <a:spLocks noRot="1" noChangeAspect="1" noMove="1" noResize="1" noEditPoints="1" noAdjustHandles="1" noChangeArrowheads="1" noChangeShapeType="1" noTextEdit="1"/>
              </p:cNvSpPr>
              <p:nvPr/>
            </p:nvSpPr>
            <p:spPr>
              <a:xfrm>
                <a:off x="5911620" y="3779982"/>
                <a:ext cx="385041" cy="670568"/>
              </a:xfrm>
              <a:prstGeom prst="rect">
                <a:avLst/>
              </a:prstGeom>
              <a:blipFill>
                <a:blip r:embed="rId3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072AAE9F-7A5D-458C-8116-AD9B90074AB7}"/>
                  </a:ext>
                </a:extLst>
              </p:cNvPr>
              <p:cNvSpPr txBox="1"/>
              <p:nvPr/>
            </p:nvSpPr>
            <p:spPr>
              <a:xfrm>
                <a:off x="5060248"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37%</m:t>
                      </m:r>
                    </m:oMath>
                  </m:oMathPara>
                </a14:m>
                <a:endParaRPr lang="en-GB" sz="1400" dirty="0"/>
              </a:p>
            </p:txBody>
          </p:sp>
        </mc:Choice>
        <mc:Fallback xmlns="">
          <p:sp>
            <p:nvSpPr>
              <p:cNvPr id="177" name="TextBox 176">
                <a:extLst>
                  <a:ext uri="{FF2B5EF4-FFF2-40B4-BE49-F238E27FC236}">
                    <a16:creationId xmlns:a16="http://schemas.microsoft.com/office/drawing/2014/main" id="{072AAE9F-7A5D-458C-8116-AD9B90074AB7}"/>
                  </a:ext>
                </a:extLst>
              </p:cNvPr>
              <p:cNvSpPr txBox="1">
                <a:spLocks noRot="1" noChangeAspect="1" noMove="1" noResize="1" noEditPoints="1" noAdjustHandles="1" noChangeArrowheads="1" noChangeShapeType="1" noTextEdit="1"/>
              </p:cNvSpPr>
              <p:nvPr/>
            </p:nvSpPr>
            <p:spPr>
              <a:xfrm>
                <a:off x="5060248" y="3942238"/>
                <a:ext cx="755335" cy="400110"/>
              </a:xfrm>
              <a:prstGeom prst="rect">
                <a:avLst/>
              </a:prstGeom>
              <a:blipFill>
                <a:blip r:embed="rId3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8B234943-A438-4410-97AA-849D55D32A9A}"/>
                  </a:ext>
                </a:extLst>
              </p:cNvPr>
              <p:cNvSpPr txBox="1"/>
              <p:nvPr/>
            </p:nvSpPr>
            <p:spPr>
              <a:xfrm>
                <a:off x="6392698" y="3942238"/>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0.0499</m:t>
                      </m:r>
                    </m:oMath>
                  </m:oMathPara>
                </a14:m>
                <a:endParaRPr lang="en-GB" sz="1400" dirty="0"/>
              </a:p>
            </p:txBody>
          </p:sp>
        </mc:Choice>
        <mc:Fallback xmlns="">
          <p:sp>
            <p:nvSpPr>
              <p:cNvPr id="178" name="TextBox 177">
                <a:extLst>
                  <a:ext uri="{FF2B5EF4-FFF2-40B4-BE49-F238E27FC236}">
                    <a16:creationId xmlns:a16="http://schemas.microsoft.com/office/drawing/2014/main" id="{8B234943-A438-4410-97AA-849D55D32A9A}"/>
                  </a:ext>
                </a:extLst>
              </p:cNvPr>
              <p:cNvSpPr txBox="1">
                <a:spLocks noRot="1" noChangeAspect="1" noMove="1" noResize="1" noEditPoints="1" noAdjustHandles="1" noChangeArrowheads="1" noChangeShapeType="1" noTextEdit="1"/>
              </p:cNvSpPr>
              <p:nvPr/>
            </p:nvSpPr>
            <p:spPr>
              <a:xfrm>
                <a:off x="6392698" y="3942238"/>
                <a:ext cx="1008609" cy="400110"/>
              </a:xfrm>
              <a:prstGeom prst="rect">
                <a:avLst/>
              </a:prstGeom>
              <a:blipFill>
                <a:blip r:embed="rId40"/>
                <a:stretch>
                  <a:fillRect/>
                </a:stretch>
              </a:blipFill>
            </p:spPr>
            <p:txBody>
              <a:bodyPr/>
              <a:lstStyle/>
              <a:p>
                <a:r>
                  <a:rPr lang="en-GB">
                    <a:noFill/>
                  </a:rPr>
                  <a:t> </a:t>
                </a:r>
              </a:p>
            </p:txBody>
          </p:sp>
        </mc:Fallback>
      </mc:AlternateContent>
      <p:sp>
        <p:nvSpPr>
          <p:cNvPr id="179" name="Rectangle: Rounded Corners 178">
            <a:extLst>
              <a:ext uri="{FF2B5EF4-FFF2-40B4-BE49-F238E27FC236}">
                <a16:creationId xmlns:a16="http://schemas.microsoft.com/office/drawing/2014/main" id="{BB95A2CD-0263-4273-8CC9-7C8040FDD343}"/>
              </a:ext>
            </a:extLst>
          </p:cNvPr>
          <p:cNvSpPr/>
          <p:nvPr/>
        </p:nvSpPr>
        <p:spPr>
          <a:xfrm>
            <a:off x="5099590"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80" name="TextBox 179">
            <a:extLst>
              <a:ext uri="{FF2B5EF4-FFF2-40B4-BE49-F238E27FC236}">
                <a16:creationId xmlns:a16="http://schemas.microsoft.com/office/drawing/2014/main" id="{E4E3E9B0-E01F-4B9F-93DD-1B6DA6CEBB73}"/>
              </a:ext>
            </a:extLst>
          </p:cNvPr>
          <p:cNvSpPr txBox="1"/>
          <p:nvPr/>
        </p:nvSpPr>
        <p:spPr>
          <a:xfrm>
            <a:off x="6394867" y="5139500"/>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09646422-11A9-4346-9368-20D6751D2EB3}"/>
                  </a:ext>
                </a:extLst>
              </p:cNvPr>
              <p:cNvSpPr txBox="1"/>
              <p:nvPr/>
            </p:nvSpPr>
            <p:spPr>
              <a:xfrm>
                <a:off x="4988914" y="5582405"/>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608%</m:t>
                      </m:r>
                    </m:oMath>
                  </m:oMathPara>
                </a14:m>
                <a:endParaRPr lang="en-GB" sz="1400" dirty="0"/>
              </a:p>
            </p:txBody>
          </p:sp>
        </mc:Choice>
        <mc:Fallback xmlns="">
          <p:sp>
            <p:nvSpPr>
              <p:cNvPr id="181" name="TextBox 180">
                <a:extLst>
                  <a:ext uri="{FF2B5EF4-FFF2-40B4-BE49-F238E27FC236}">
                    <a16:creationId xmlns:a16="http://schemas.microsoft.com/office/drawing/2014/main" id="{09646422-11A9-4346-9368-20D6751D2EB3}"/>
                  </a:ext>
                </a:extLst>
              </p:cNvPr>
              <p:cNvSpPr txBox="1">
                <a:spLocks noRot="1" noChangeAspect="1" noMove="1" noResize="1" noEditPoints="1" noAdjustHandles="1" noChangeArrowheads="1" noChangeShapeType="1" noTextEdit="1"/>
              </p:cNvSpPr>
              <p:nvPr/>
            </p:nvSpPr>
            <p:spPr>
              <a:xfrm>
                <a:off x="4988914" y="5582405"/>
                <a:ext cx="898003" cy="400110"/>
              </a:xfrm>
              <a:prstGeom prst="rect">
                <a:avLst/>
              </a:prstGeom>
              <a:blipFill>
                <a:blip r:embed="rId4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BABD6ACD-6B2E-4E65-A8C5-AEC3DE0AF8BD}"/>
                  </a:ext>
                </a:extLst>
              </p:cNvPr>
              <p:cNvSpPr txBox="1"/>
              <p:nvPr/>
            </p:nvSpPr>
            <p:spPr>
              <a:xfrm>
                <a:off x="6036334"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6</m:t>
                          </m:r>
                        </m:den>
                      </m:f>
                    </m:oMath>
                  </m:oMathPara>
                </a14:m>
                <a:endParaRPr lang="en-GB" sz="1400" dirty="0"/>
              </a:p>
            </p:txBody>
          </p:sp>
        </mc:Choice>
        <mc:Fallback xmlns="">
          <p:sp>
            <p:nvSpPr>
              <p:cNvPr id="182" name="TextBox 181">
                <a:extLst>
                  <a:ext uri="{FF2B5EF4-FFF2-40B4-BE49-F238E27FC236}">
                    <a16:creationId xmlns:a16="http://schemas.microsoft.com/office/drawing/2014/main" id="{BABD6ACD-6B2E-4E65-A8C5-AEC3DE0AF8BD}"/>
                  </a:ext>
                </a:extLst>
              </p:cNvPr>
              <p:cNvSpPr txBox="1">
                <a:spLocks noRot="1" noChangeAspect="1" noMove="1" noResize="1" noEditPoints="1" noAdjustHandles="1" noChangeArrowheads="1" noChangeShapeType="1" noTextEdit="1"/>
              </p:cNvSpPr>
              <p:nvPr/>
            </p:nvSpPr>
            <p:spPr>
              <a:xfrm>
                <a:off x="6036334" y="5445722"/>
                <a:ext cx="385041" cy="670568"/>
              </a:xfrm>
              <a:prstGeom prst="rect">
                <a:avLst/>
              </a:prstGeom>
              <a:blipFill>
                <a:blip r:embed="rId4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F668DD79-B702-4F57-87FF-904D411CB97A}"/>
                  </a:ext>
                </a:extLst>
              </p:cNvPr>
              <p:cNvSpPr txBox="1"/>
              <p:nvPr/>
            </p:nvSpPr>
            <p:spPr>
              <a:xfrm>
                <a:off x="7475544" y="5595192"/>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0.6008</m:t>
                      </m:r>
                    </m:oMath>
                  </m:oMathPara>
                </a14:m>
                <a:endParaRPr lang="en-GB" sz="1400" dirty="0"/>
              </a:p>
            </p:txBody>
          </p:sp>
        </mc:Choice>
        <mc:Fallback xmlns="">
          <p:sp>
            <p:nvSpPr>
              <p:cNvPr id="183" name="TextBox 182">
                <a:extLst>
                  <a:ext uri="{FF2B5EF4-FFF2-40B4-BE49-F238E27FC236}">
                    <a16:creationId xmlns:a16="http://schemas.microsoft.com/office/drawing/2014/main" id="{F668DD79-B702-4F57-87FF-904D411CB97A}"/>
                  </a:ext>
                </a:extLst>
              </p:cNvPr>
              <p:cNvSpPr txBox="1">
                <a:spLocks noRot="1" noChangeAspect="1" noMove="1" noResize="1" noEditPoints="1" noAdjustHandles="1" noChangeArrowheads="1" noChangeShapeType="1" noTextEdit="1"/>
              </p:cNvSpPr>
              <p:nvPr/>
            </p:nvSpPr>
            <p:spPr>
              <a:xfrm>
                <a:off x="7475544" y="5595192"/>
                <a:ext cx="1008609" cy="400110"/>
              </a:xfrm>
              <a:prstGeom prst="rect">
                <a:avLst/>
              </a:prstGeom>
              <a:blipFill>
                <a:blip r:embed="rId43"/>
                <a:stretch>
                  <a:fillRect/>
                </a:stretch>
              </a:blipFill>
            </p:spPr>
            <p:txBody>
              <a:bodyPr/>
              <a:lstStyle/>
              <a:p>
                <a:r>
                  <a:rPr lang="en-GB">
                    <a:noFill/>
                  </a:rPr>
                  <a:t> </a:t>
                </a:r>
              </a:p>
            </p:txBody>
          </p:sp>
        </mc:Fallback>
      </mc:AlternateContent>
      <p:sp>
        <p:nvSpPr>
          <p:cNvPr id="184" name="Rectangle: Rounded Corners 183">
            <a:extLst>
              <a:ext uri="{FF2B5EF4-FFF2-40B4-BE49-F238E27FC236}">
                <a16:creationId xmlns:a16="http://schemas.microsoft.com/office/drawing/2014/main" id="{CE98EF3F-2C2B-4288-9160-943FB903FF16}"/>
              </a:ext>
            </a:extLst>
          </p:cNvPr>
          <p:cNvSpPr/>
          <p:nvPr/>
        </p:nvSpPr>
        <p:spPr>
          <a:xfrm>
            <a:off x="5099590"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7E72660-24AD-4554-B070-32AABB98A2FB}"/>
                  </a:ext>
                </a:extLst>
              </p:cNvPr>
              <p:cNvSpPr txBox="1"/>
              <p:nvPr/>
            </p:nvSpPr>
            <p:spPr>
              <a:xfrm>
                <a:off x="7795139" y="324605"/>
                <a:ext cx="670376"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46</m:t>
                          </m:r>
                        </m:num>
                        <m:den>
                          <m:r>
                            <a:rPr lang="en-GB" sz="2000" b="0" i="1" dirty="0" smtClean="0">
                              <a:latin typeface="Cambria Math" panose="02040503050406030204" pitchFamily="18" charset="0"/>
                            </a:rPr>
                            <m:t>200</m:t>
                          </m:r>
                        </m:den>
                      </m:f>
                    </m:oMath>
                  </m:oMathPara>
                </a14:m>
                <a:endParaRPr lang="en-GB" sz="1400" dirty="0"/>
              </a:p>
            </p:txBody>
          </p:sp>
        </mc:Choice>
        <mc:Fallback xmlns="">
          <p:sp>
            <p:nvSpPr>
              <p:cNvPr id="90" name="TextBox 89">
                <a:extLst>
                  <a:ext uri="{FF2B5EF4-FFF2-40B4-BE49-F238E27FC236}">
                    <a16:creationId xmlns:a16="http://schemas.microsoft.com/office/drawing/2014/main" id="{87E72660-24AD-4554-B070-32AABB98A2FB}"/>
                  </a:ext>
                </a:extLst>
              </p:cNvPr>
              <p:cNvSpPr txBox="1">
                <a:spLocks noRot="1" noChangeAspect="1" noMove="1" noResize="1" noEditPoints="1" noAdjustHandles="1" noChangeArrowheads="1" noChangeShapeType="1" noTextEdit="1"/>
              </p:cNvSpPr>
              <p:nvPr/>
            </p:nvSpPr>
            <p:spPr>
              <a:xfrm>
                <a:off x="7795139" y="324605"/>
                <a:ext cx="670376" cy="670568"/>
              </a:xfrm>
              <a:prstGeom prst="rect">
                <a:avLst/>
              </a:prstGeom>
              <a:blipFill>
                <a:blip r:embed="rId5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10DD347-21B2-424A-894F-1160B805235F}"/>
                  </a:ext>
                </a:extLst>
              </p:cNvPr>
              <p:cNvSpPr txBox="1"/>
              <p:nvPr/>
            </p:nvSpPr>
            <p:spPr>
              <a:xfrm>
                <a:off x="5429830" y="19903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56</m:t>
                          </m:r>
                        </m:num>
                        <m:den>
                          <m:r>
                            <a:rPr lang="en-GB" sz="2000" b="0" i="1" dirty="0" smtClean="0">
                              <a:latin typeface="Cambria Math" panose="02040503050406030204" pitchFamily="18" charset="0"/>
                            </a:rPr>
                            <m:t>50</m:t>
                          </m:r>
                        </m:den>
                      </m:f>
                    </m:oMath>
                  </m:oMathPara>
                </a14:m>
                <a:endParaRPr lang="en-GB" sz="1400" dirty="0"/>
              </a:p>
            </p:txBody>
          </p:sp>
        </mc:Choice>
        <mc:Fallback xmlns="">
          <p:sp>
            <p:nvSpPr>
              <p:cNvPr id="91" name="TextBox 90">
                <a:extLst>
                  <a:ext uri="{FF2B5EF4-FFF2-40B4-BE49-F238E27FC236}">
                    <a16:creationId xmlns:a16="http://schemas.microsoft.com/office/drawing/2014/main" id="{A10DD347-21B2-424A-894F-1160B805235F}"/>
                  </a:ext>
                </a:extLst>
              </p:cNvPr>
              <p:cNvSpPr txBox="1">
                <a:spLocks noRot="1" noChangeAspect="1" noMove="1" noResize="1" noEditPoints="1" noAdjustHandles="1" noChangeArrowheads="1" noChangeShapeType="1" noTextEdit="1"/>
              </p:cNvSpPr>
              <p:nvPr/>
            </p:nvSpPr>
            <p:spPr>
              <a:xfrm>
                <a:off x="5429830" y="1990345"/>
                <a:ext cx="527709" cy="670568"/>
              </a:xfrm>
              <a:prstGeom prst="rect">
                <a:avLst/>
              </a:prstGeom>
              <a:blipFill>
                <a:blip r:embed="rId5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4E60B250-1EAB-4989-A943-859FBC6E0A27}"/>
                  </a:ext>
                </a:extLst>
              </p:cNvPr>
              <p:cNvSpPr txBox="1"/>
              <p:nvPr/>
            </p:nvSpPr>
            <p:spPr>
              <a:xfrm>
                <a:off x="4218161"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92" name="TextBox 91">
                <a:extLst>
                  <a:ext uri="{FF2B5EF4-FFF2-40B4-BE49-F238E27FC236}">
                    <a16:creationId xmlns:a16="http://schemas.microsoft.com/office/drawing/2014/main" id="{4E60B250-1EAB-4989-A943-859FBC6E0A27}"/>
                  </a:ext>
                </a:extLst>
              </p:cNvPr>
              <p:cNvSpPr txBox="1">
                <a:spLocks noRot="1" noChangeAspect="1" noMove="1" noResize="1" noEditPoints="1" noAdjustHandles="1" noChangeArrowheads="1" noChangeShapeType="1" noTextEdit="1"/>
              </p:cNvSpPr>
              <p:nvPr/>
            </p:nvSpPr>
            <p:spPr>
              <a:xfrm>
                <a:off x="4218161" y="3779982"/>
                <a:ext cx="385041" cy="670568"/>
              </a:xfrm>
              <a:prstGeom prst="rect">
                <a:avLst/>
              </a:prstGeom>
              <a:blipFill>
                <a:blip r:embed="rId5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DDC63F7-40E3-43C4-A335-F19133C187D4}"/>
                  </a:ext>
                </a:extLst>
              </p:cNvPr>
              <p:cNvSpPr txBox="1"/>
              <p:nvPr/>
            </p:nvSpPr>
            <p:spPr>
              <a:xfrm>
                <a:off x="210360" y="3942238"/>
                <a:ext cx="86594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0.706</m:t>
                      </m:r>
                    </m:oMath>
                  </m:oMathPara>
                </a14:m>
                <a:endParaRPr lang="en-GB" sz="1400" dirty="0"/>
              </a:p>
            </p:txBody>
          </p:sp>
        </mc:Choice>
        <mc:Fallback xmlns="">
          <p:sp>
            <p:nvSpPr>
              <p:cNvPr id="94" name="TextBox 93">
                <a:extLst>
                  <a:ext uri="{FF2B5EF4-FFF2-40B4-BE49-F238E27FC236}">
                    <a16:creationId xmlns:a16="http://schemas.microsoft.com/office/drawing/2014/main" id="{1DDC63F7-40E3-43C4-A335-F19133C187D4}"/>
                  </a:ext>
                </a:extLst>
              </p:cNvPr>
              <p:cNvSpPr txBox="1">
                <a:spLocks noRot="1" noChangeAspect="1" noMove="1" noResize="1" noEditPoints="1" noAdjustHandles="1" noChangeArrowheads="1" noChangeShapeType="1" noTextEdit="1"/>
              </p:cNvSpPr>
              <p:nvPr/>
            </p:nvSpPr>
            <p:spPr>
              <a:xfrm>
                <a:off x="210360" y="3942238"/>
                <a:ext cx="865942" cy="400110"/>
              </a:xfrm>
              <a:prstGeom prst="rect">
                <a:avLst/>
              </a:prstGeom>
              <a:blipFill>
                <a:blip r:embed="rId5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3DCFD76-CEB4-4225-855F-51FDA4A65D3B}"/>
                  </a:ext>
                </a:extLst>
              </p:cNvPr>
              <p:cNvSpPr txBox="1"/>
              <p:nvPr/>
            </p:nvSpPr>
            <p:spPr>
              <a:xfrm>
                <a:off x="4004160" y="5445722"/>
                <a:ext cx="813043"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135</m:t>
                          </m:r>
                        </m:num>
                        <m:den>
                          <m:r>
                            <a:rPr lang="en-GB" sz="2000" b="0" i="1" dirty="0" smtClean="0">
                              <a:latin typeface="Cambria Math" panose="02040503050406030204" pitchFamily="18" charset="0"/>
                            </a:rPr>
                            <m:t>1000</m:t>
                          </m:r>
                        </m:den>
                      </m:f>
                    </m:oMath>
                  </m:oMathPara>
                </a14:m>
                <a:endParaRPr lang="en-GB" sz="1400" dirty="0"/>
              </a:p>
            </p:txBody>
          </p:sp>
        </mc:Choice>
        <mc:Fallback xmlns="">
          <p:sp>
            <p:nvSpPr>
              <p:cNvPr id="95" name="TextBox 94">
                <a:extLst>
                  <a:ext uri="{FF2B5EF4-FFF2-40B4-BE49-F238E27FC236}">
                    <a16:creationId xmlns:a16="http://schemas.microsoft.com/office/drawing/2014/main" id="{C3DCFD76-CEB4-4225-855F-51FDA4A65D3B}"/>
                  </a:ext>
                </a:extLst>
              </p:cNvPr>
              <p:cNvSpPr txBox="1">
                <a:spLocks noRot="1" noChangeAspect="1" noMove="1" noResize="1" noEditPoints="1" noAdjustHandles="1" noChangeArrowheads="1" noChangeShapeType="1" noTextEdit="1"/>
              </p:cNvSpPr>
              <p:nvPr/>
            </p:nvSpPr>
            <p:spPr>
              <a:xfrm>
                <a:off x="4004160" y="5445722"/>
                <a:ext cx="813043" cy="670568"/>
              </a:xfrm>
              <a:prstGeom prst="rect">
                <a:avLst/>
              </a:prstGeom>
              <a:blipFill>
                <a:blip r:embed="rId5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36D54EE-05C5-4EAA-9677-953523CC6F60}"/>
                  </a:ext>
                </a:extLst>
              </p:cNvPr>
              <p:cNvSpPr txBox="1"/>
              <p:nvPr/>
            </p:nvSpPr>
            <p:spPr>
              <a:xfrm>
                <a:off x="12319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10.5%</m:t>
                      </m:r>
                    </m:oMath>
                  </m:oMathPara>
                </a14:m>
                <a:endParaRPr lang="en-GB" sz="1400" dirty="0"/>
              </a:p>
            </p:txBody>
          </p:sp>
        </mc:Choice>
        <mc:Fallback xmlns="">
          <p:sp>
            <p:nvSpPr>
              <p:cNvPr id="96" name="TextBox 95">
                <a:extLst>
                  <a:ext uri="{FF2B5EF4-FFF2-40B4-BE49-F238E27FC236}">
                    <a16:creationId xmlns:a16="http://schemas.microsoft.com/office/drawing/2014/main" id="{636D54EE-05C5-4EAA-9677-953523CC6F60}"/>
                  </a:ext>
                </a:extLst>
              </p:cNvPr>
              <p:cNvSpPr txBox="1">
                <a:spLocks noRot="1" noChangeAspect="1" noMove="1" noResize="1" noEditPoints="1" noAdjustHandles="1" noChangeArrowheads="1" noChangeShapeType="1" noTextEdit="1"/>
              </p:cNvSpPr>
              <p:nvPr/>
            </p:nvSpPr>
            <p:spPr>
              <a:xfrm>
                <a:off x="1231947" y="5582405"/>
                <a:ext cx="950901" cy="400110"/>
              </a:xfrm>
              <a:prstGeom prst="rect">
                <a:avLst/>
              </a:prstGeom>
              <a:blipFill>
                <a:blip r:embed="rId5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319EF89-0065-443A-A781-7DAC701AFD28}"/>
                  </a:ext>
                </a:extLst>
              </p:cNvPr>
              <p:cNvSpPr txBox="1"/>
              <p:nvPr/>
            </p:nvSpPr>
            <p:spPr>
              <a:xfrm>
                <a:off x="7497344" y="3779982"/>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42</m:t>
                          </m:r>
                        </m:num>
                        <m:den>
                          <m:r>
                            <a:rPr lang="en-GB" sz="2000" b="0" i="1" dirty="0" smtClean="0">
                              <a:latin typeface="Cambria Math" panose="02040503050406030204" pitchFamily="18" charset="0"/>
                            </a:rPr>
                            <m:t>60</m:t>
                          </m:r>
                        </m:den>
                      </m:f>
                    </m:oMath>
                  </m:oMathPara>
                </a14:m>
                <a:endParaRPr lang="en-GB" sz="1400" dirty="0"/>
              </a:p>
            </p:txBody>
          </p:sp>
        </mc:Choice>
        <mc:Fallback xmlns="">
          <p:sp>
            <p:nvSpPr>
              <p:cNvPr id="97" name="TextBox 96">
                <a:extLst>
                  <a:ext uri="{FF2B5EF4-FFF2-40B4-BE49-F238E27FC236}">
                    <a16:creationId xmlns:a16="http://schemas.microsoft.com/office/drawing/2014/main" id="{D319EF89-0065-443A-A781-7DAC701AFD28}"/>
                  </a:ext>
                </a:extLst>
              </p:cNvPr>
              <p:cNvSpPr txBox="1">
                <a:spLocks noRot="1" noChangeAspect="1" noMove="1" noResize="1" noEditPoints="1" noAdjustHandles="1" noChangeArrowheads="1" noChangeShapeType="1" noTextEdit="1"/>
              </p:cNvSpPr>
              <p:nvPr/>
            </p:nvSpPr>
            <p:spPr>
              <a:xfrm>
                <a:off x="7497344" y="3779982"/>
                <a:ext cx="527709" cy="670568"/>
              </a:xfrm>
              <a:prstGeom prst="rect">
                <a:avLst/>
              </a:prstGeom>
              <a:blipFill>
                <a:blip r:embed="rId5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E928066-45C3-487A-8C65-1C759AF076C5}"/>
                  </a:ext>
                </a:extLst>
              </p:cNvPr>
              <p:cNvSpPr txBox="1"/>
              <p:nvPr/>
            </p:nvSpPr>
            <p:spPr>
              <a:xfrm>
                <a:off x="8121090" y="3942238"/>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35.9%</m:t>
                      </m:r>
                    </m:oMath>
                  </m:oMathPara>
                </a14:m>
                <a:endParaRPr lang="en-GB" sz="1400" dirty="0"/>
              </a:p>
            </p:txBody>
          </p:sp>
        </mc:Choice>
        <mc:Fallback xmlns="">
          <p:sp>
            <p:nvSpPr>
              <p:cNvPr id="98" name="TextBox 97">
                <a:extLst>
                  <a:ext uri="{FF2B5EF4-FFF2-40B4-BE49-F238E27FC236}">
                    <a16:creationId xmlns:a16="http://schemas.microsoft.com/office/drawing/2014/main" id="{1E928066-45C3-487A-8C65-1C759AF076C5}"/>
                  </a:ext>
                </a:extLst>
              </p:cNvPr>
              <p:cNvSpPr txBox="1">
                <a:spLocks noRot="1" noChangeAspect="1" noMove="1" noResize="1" noEditPoints="1" noAdjustHandles="1" noChangeArrowheads="1" noChangeShapeType="1" noTextEdit="1"/>
              </p:cNvSpPr>
              <p:nvPr/>
            </p:nvSpPr>
            <p:spPr>
              <a:xfrm>
                <a:off x="8121090" y="3942238"/>
                <a:ext cx="950901" cy="400110"/>
              </a:xfrm>
              <a:prstGeom prst="rect">
                <a:avLst/>
              </a:prstGeom>
              <a:blipFill>
                <a:blip r:embed="rId5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1AF1443-CD7D-461C-B366-891E41C8B0D7}"/>
                  </a:ext>
                </a:extLst>
              </p:cNvPr>
              <p:cNvSpPr txBox="1"/>
              <p:nvPr/>
            </p:nvSpPr>
            <p:spPr>
              <a:xfrm>
                <a:off x="9168026" y="3942238"/>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0.05</m:t>
                      </m:r>
                    </m:oMath>
                  </m:oMathPara>
                </a14:m>
                <a:endParaRPr lang="en-GB" sz="1400" dirty="0"/>
              </a:p>
            </p:txBody>
          </p:sp>
        </mc:Choice>
        <mc:Fallback xmlns="">
          <p:sp>
            <p:nvSpPr>
              <p:cNvPr id="99" name="TextBox 98">
                <a:extLst>
                  <a:ext uri="{FF2B5EF4-FFF2-40B4-BE49-F238E27FC236}">
                    <a16:creationId xmlns:a16="http://schemas.microsoft.com/office/drawing/2014/main" id="{B1AF1443-CD7D-461C-B366-891E41C8B0D7}"/>
                  </a:ext>
                </a:extLst>
              </p:cNvPr>
              <p:cNvSpPr txBox="1">
                <a:spLocks noRot="1" noChangeAspect="1" noMove="1" noResize="1" noEditPoints="1" noAdjustHandles="1" noChangeArrowheads="1" noChangeShapeType="1" noTextEdit="1"/>
              </p:cNvSpPr>
              <p:nvPr/>
            </p:nvSpPr>
            <p:spPr>
              <a:xfrm>
                <a:off x="9168026" y="3942238"/>
                <a:ext cx="723275" cy="400110"/>
              </a:xfrm>
              <a:prstGeom prst="rect">
                <a:avLst/>
              </a:prstGeom>
              <a:blipFill>
                <a:blip r:embed="rId5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2A0B961-357C-4C8E-82C0-49A59B457D7B}"/>
                  </a:ext>
                </a:extLst>
              </p:cNvPr>
              <p:cNvSpPr txBox="1"/>
              <p:nvPr/>
            </p:nvSpPr>
            <p:spPr>
              <a:xfrm>
                <a:off x="6570792" y="5582405"/>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62%</m:t>
                      </m:r>
                    </m:oMath>
                  </m:oMathPara>
                </a14:m>
                <a:endParaRPr lang="en-GB" sz="1400" dirty="0"/>
              </a:p>
            </p:txBody>
          </p:sp>
        </mc:Choice>
        <mc:Fallback xmlns="">
          <p:sp>
            <p:nvSpPr>
              <p:cNvPr id="100" name="TextBox 99">
                <a:extLst>
                  <a:ext uri="{FF2B5EF4-FFF2-40B4-BE49-F238E27FC236}">
                    <a16:creationId xmlns:a16="http://schemas.microsoft.com/office/drawing/2014/main" id="{A2A0B961-357C-4C8E-82C0-49A59B457D7B}"/>
                  </a:ext>
                </a:extLst>
              </p:cNvPr>
              <p:cNvSpPr txBox="1">
                <a:spLocks noRot="1" noChangeAspect="1" noMove="1" noResize="1" noEditPoints="1" noAdjustHandles="1" noChangeArrowheads="1" noChangeShapeType="1" noTextEdit="1"/>
              </p:cNvSpPr>
              <p:nvPr/>
            </p:nvSpPr>
            <p:spPr>
              <a:xfrm>
                <a:off x="6570792" y="5582405"/>
                <a:ext cx="755335" cy="400110"/>
              </a:xfrm>
              <a:prstGeom prst="rect">
                <a:avLst/>
              </a:prstGeom>
              <a:blipFill>
                <a:blip r:embed="rId5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D1922FE-D674-40BE-9A29-646001A57ABA}"/>
                  </a:ext>
                </a:extLst>
              </p:cNvPr>
              <p:cNvSpPr txBox="1"/>
              <p:nvPr/>
            </p:nvSpPr>
            <p:spPr>
              <a:xfrm>
                <a:off x="8633570"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7</m:t>
                          </m:r>
                        </m:den>
                      </m:f>
                    </m:oMath>
                  </m:oMathPara>
                </a14:m>
                <a:endParaRPr lang="en-GB" sz="1400" dirty="0"/>
              </a:p>
            </p:txBody>
          </p:sp>
        </mc:Choice>
        <mc:Fallback xmlns="">
          <p:sp>
            <p:nvSpPr>
              <p:cNvPr id="101" name="TextBox 100">
                <a:extLst>
                  <a:ext uri="{FF2B5EF4-FFF2-40B4-BE49-F238E27FC236}">
                    <a16:creationId xmlns:a16="http://schemas.microsoft.com/office/drawing/2014/main" id="{ED1922FE-D674-40BE-9A29-646001A57ABA}"/>
                  </a:ext>
                </a:extLst>
              </p:cNvPr>
              <p:cNvSpPr txBox="1">
                <a:spLocks noRot="1" noChangeAspect="1" noMove="1" noResize="1" noEditPoints="1" noAdjustHandles="1" noChangeArrowheads="1" noChangeShapeType="1" noTextEdit="1"/>
              </p:cNvSpPr>
              <p:nvPr/>
            </p:nvSpPr>
            <p:spPr>
              <a:xfrm>
                <a:off x="8633570" y="5445722"/>
                <a:ext cx="385041" cy="670568"/>
              </a:xfrm>
              <a:prstGeom prst="rect">
                <a:avLst/>
              </a:prstGeom>
              <a:blipFill>
                <a:blip r:embed="rId6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D7AD3DAE-68B2-40EC-B751-D4882DE9EB0C}"/>
                  </a:ext>
                </a:extLst>
              </p:cNvPr>
              <p:cNvSpPr txBox="1"/>
              <p:nvPr/>
            </p:nvSpPr>
            <p:spPr>
              <a:xfrm>
                <a:off x="9168026"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0.57</m:t>
                      </m:r>
                    </m:oMath>
                  </m:oMathPara>
                </a14:m>
                <a:endParaRPr lang="en-GB" sz="1400" dirty="0"/>
              </a:p>
            </p:txBody>
          </p:sp>
        </mc:Choice>
        <mc:Fallback xmlns="">
          <p:sp>
            <p:nvSpPr>
              <p:cNvPr id="102" name="TextBox 101">
                <a:extLst>
                  <a:ext uri="{FF2B5EF4-FFF2-40B4-BE49-F238E27FC236}">
                    <a16:creationId xmlns:a16="http://schemas.microsoft.com/office/drawing/2014/main" id="{D7AD3DAE-68B2-40EC-B751-D4882DE9EB0C}"/>
                  </a:ext>
                </a:extLst>
              </p:cNvPr>
              <p:cNvSpPr txBox="1">
                <a:spLocks noRot="1" noChangeAspect="1" noMove="1" noResize="1" noEditPoints="1" noAdjustHandles="1" noChangeArrowheads="1" noChangeShapeType="1" noTextEdit="1"/>
              </p:cNvSpPr>
              <p:nvPr/>
            </p:nvSpPr>
            <p:spPr>
              <a:xfrm>
                <a:off x="9168026" y="5595192"/>
                <a:ext cx="723275" cy="400110"/>
              </a:xfrm>
              <a:prstGeom prst="rect">
                <a:avLst/>
              </a:prstGeom>
              <a:blipFill>
                <a:blip r:embed="rId6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3908A57A-2993-4DA2-AC3F-8015EC05CD0B}"/>
                  </a:ext>
                </a:extLst>
              </p:cNvPr>
              <p:cNvSpPr txBox="1"/>
              <p:nvPr/>
            </p:nvSpPr>
            <p:spPr>
              <a:xfrm>
                <a:off x="3605229" y="3246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103" name="TextBox 102">
                <a:extLst>
                  <a:ext uri="{FF2B5EF4-FFF2-40B4-BE49-F238E27FC236}">
                    <a16:creationId xmlns:a16="http://schemas.microsoft.com/office/drawing/2014/main" id="{3908A57A-2993-4DA2-AC3F-8015EC05CD0B}"/>
                  </a:ext>
                </a:extLst>
              </p:cNvPr>
              <p:cNvSpPr txBox="1">
                <a:spLocks noRot="1" noChangeAspect="1" noMove="1" noResize="1" noEditPoints="1" noAdjustHandles="1" noChangeArrowheads="1" noChangeShapeType="1" noTextEdit="1"/>
              </p:cNvSpPr>
              <p:nvPr/>
            </p:nvSpPr>
            <p:spPr>
              <a:xfrm>
                <a:off x="3605229" y="324605"/>
                <a:ext cx="527709" cy="670505"/>
              </a:xfrm>
              <a:prstGeom prst="rect">
                <a:avLst/>
              </a:prstGeom>
              <a:blipFill>
                <a:blip r:embed="rId6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83569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7058F3-25F6-65C4-D7E8-A42C63787F47}"/>
              </a:ext>
            </a:extLst>
          </p:cNvPr>
          <p:cNvPicPr>
            <a:picLocks noChangeAspect="1"/>
          </p:cNvPicPr>
          <p:nvPr/>
        </p:nvPicPr>
        <p:blipFill>
          <a:blip r:embed="rId2"/>
          <a:stretch>
            <a:fillRect/>
          </a:stretch>
        </p:blipFill>
        <p:spPr>
          <a:xfrm rot="16200000">
            <a:off x="-911162" y="1034152"/>
            <a:ext cx="6744734" cy="4749910"/>
          </a:xfrm>
          <a:prstGeom prst="rect">
            <a:avLst/>
          </a:prstGeom>
        </p:spPr>
      </p:pic>
      <p:pic>
        <p:nvPicPr>
          <p:cNvPr id="7" name="Picture 6">
            <a:extLst>
              <a:ext uri="{FF2B5EF4-FFF2-40B4-BE49-F238E27FC236}">
                <a16:creationId xmlns:a16="http://schemas.microsoft.com/office/drawing/2014/main" id="{AC0345CA-ADAA-B1E8-B10B-1D35A1521001}"/>
              </a:ext>
            </a:extLst>
          </p:cNvPr>
          <p:cNvPicPr>
            <a:picLocks noChangeAspect="1"/>
          </p:cNvPicPr>
          <p:nvPr/>
        </p:nvPicPr>
        <p:blipFill>
          <a:blip r:embed="rId3"/>
          <a:stretch>
            <a:fillRect/>
          </a:stretch>
        </p:blipFill>
        <p:spPr>
          <a:xfrm rot="16200000">
            <a:off x="4026593" y="1079987"/>
            <a:ext cx="6744737" cy="4658235"/>
          </a:xfrm>
          <a:prstGeom prst="rect">
            <a:avLst/>
          </a:prstGeom>
        </p:spPr>
      </p:pic>
    </p:spTree>
    <p:extLst>
      <p:ext uri="{BB962C8B-B14F-4D97-AF65-F5344CB8AC3E}">
        <p14:creationId xmlns:p14="http://schemas.microsoft.com/office/powerpoint/2010/main" val="94322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8E91AA-3838-4029-B40F-0414BB381B60}"/>
              </a:ext>
            </a:extLst>
          </p:cNvPr>
          <p:cNvSpPr txBox="1"/>
          <p:nvPr/>
        </p:nvSpPr>
        <p:spPr>
          <a:xfrm rot="16200000">
            <a:off x="-1375599" y="3244334"/>
            <a:ext cx="3120534" cy="369332"/>
          </a:xfrm>
          <a:prstGeom prst="rect">
            <a:avLst/>
          </a:prstGeom>
          <a:noFill/>
        </p:spPr>
        <p:txBody>
          <a:bodyPr wrap="none" rtlCol="0">
            <a:spAutoFit/>
          </a:bodyPr>
          <a:lstStyle/>
          <a:p>
            <a:r>
              <a:rPr lang="ky-KG" u="sng" dirty="0"/>
              <a:t>Мугалимдин жооп баракчасы</a:t>
            </a:r>
            <a:endParaRPr lang="en-GB" u="sng" dirty="0"/>
          </a:p>
        </p:txBody>
      </p:sp>
      <p:pic>
        <p:nvPicPr>
          <p:cNvPr id="13" name="Picture 12">
            <a:extLst>
              <a:ext uri="{FF2B5EF4-FFF2-40B4-BE49-F238E27FC236}">
                <a16:creationId xmlns:a16="http://schemas.microsoft.com/office/drawing/2014/main" id="{891EA096-1354-64E1-A227-6D4FE64F6B46}"/>
              </a:ext>
            </a:extLst>
          </p:cNvPr>
          <p:cNvPicPr>
            <a:picLocks noChangeAspect="1"/>
          </p:cNvPicPr>
          <p:nvPr/>
        </p:nvPicPr>
        <p:blipFill>
          <a:blip r:embed="rId2"/>
          <a:stretch>
            <a:fillRect/>
          </a:stretch>
        </p:blipFill>
        <p:spPr>
          <a:xfrm rot="16200000">
            <a:off x="-670739" y="1163141"/>
            <a:ext cx="6715759" cy="4531718"/>
          </a:xfrm>
          <a:prstGeom prst="rect">
            <a:avLst/>
          </a:prstGeom>
        </p:spPr>
      </p:pic>
      <p:pic>
        <p:nvPicPr>
          <p:cNvPr id="15" name="Picture 14">
            <a:extLst>
              <a:ext uri="{FF2B5EF4-FFF2-40B4-BE49-F238E27FC236}">
                <a16:creationId xmlns:a16="http://schemas.microsoft.com/office/drawing/2014/main" id="{35B3B307-F390-5D9B-F793-2EBBEBA227B7}"/>
              </a:ext>
            </a:extLst>
          </p:cNvPr>
          <p:cNvPicPr>
            <a:picLocks noChangeAspect="1"/>
          </p:cNvPicPr>
          <p:nvPr/>
        </p:nvPicPr>
        <p:blipFill>
          <a:blip r:embed="rId3"/>
          <a:stretch>
            <a:fillRect/>
          </a:stretch>
        </p:blipFill>
        <p:spPr>
          <a:xfrm rot="16200000">
            <a:off x="4089578" y="1092019"/>
            <a:ext cx="6715761" cy="4673958"/>
          </a:xfrm>
          <a:prstGeom prst="rect">
            <a:avLst/>
          </a:prstGeom>
        </p:spPr>
      </p:pic>
    </p:spTree>
    <p:extLst>
      <p:ext uri="{BB962C8B-B14F-4D97-AF65-F5344CB8AC3E}">
        <p14:creationId xmlns:p14="http://schemas.microsoft.com/office/powerpoint/2010/main" val="32227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73B4A45-E6BD-4D7D-92A8-20E716832AAE}"/>
              </a:ext>
            </a:extLst>
          </p:cNvPr>
          <p:cNvGrpSpPr/>
          <p:nvPr/>
        </p:nvGrpSpPr>
        <p:grpSpPr>
          <a:xfrm>
            <a:off x="11823" y="3455376"/>
            <a:ext cx="4911637" cy="3379030"/>
            <a:chOff x="11823" y="3455376"/>
            <a:chExt cx="4911637" cy="3379030"/>
          </a:xfrm>
        </p:grpSpPr>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3</a:t>
              </a:r>
            </a:p>
          </p:txBody>
        </p:sp>
      </p:grpSp>
      <p:sp>
        <p:nvSpPr>
          <p:cNvPr id="228" name="Rectangle: Rounded Corners 227">
            <a:extLst>
              <a:ext uri="{FF2B5EF4-FFF2-40B4-BE49-F238E27FC236}">
                <a16:creationId xmlns:a16="http://schemas.microsoft.com/office/drawing/2014/main" id="{AADDB397-6441-4695-8141-6777C37FF4CE}"/>
              </a:ext>
            </a:extLst>
          </p:cNvPr>
          <p:cNvSpPr/>
          <p:nvPr/>
        </p:nvSpPr>
        <p:spPr>
          <a:xfrm>
            <a:off x="1594339" y="4207294"/>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ky-KG" sz="1950" b="1" dirty="0">
                <a:solidFill>
                  <a:srgbClr val="00B0F0"/>
                </a:solidFill>
              </a:rPr>
              <a:t>0,66</a:t>
            </a:r>
            <a:endParaRPr lang="en-GB" sz="1950" b="1" dirty="0">
              <a:solidFill>
                <a:srgbClr val="00B0F0"/>
              </a:solidFill>
            </a:endParaRPr>
          </a:p>
        </p:txBody>
      </p:sp>
      <p:grpSp>
        <p:nvGrpSpPr>
          <p:cNvPr id="9" name="Group 8">
            <a:extLst>
              <a:ext uri="{FF2B5EF4-FFF2-40B4-BE49-F238E27FC236}">
                <a16:creationId xmlns:a16="http://schemas.microsoft.com/office/drawing/2014/main" id="{E8FB9B65-EFB9-42A9-B48C-F31A80B3CD33}"/>
              </a:ext>
            </a:extLst>
          </p:cNvPr>
          <p:cNvGrpSpPr/>
          <p:nvPr/>
        </p:nvGrpSpPr>
        <p:grpSpPr>
          <a:xfrm>
            <a:off x="17498" y="8792"/>
            <a:ext cx="4911637" cy="3378925"/>
            <a:chOff x="17498" y="8792"/>
            <a:chExt cx="4911637" cy="3378925"/>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1</a:t>
              </a:r>
            </a:p>
          </p:txBody>
        </p:sp>
      </p:grpSp>
      <p:grpSp>
        <p:nvGrpSpPr>
          <p:cNvPr id="10" name="Group 9">
            <a:extLst>
              <a:ext uri="{FF2B5EF4-FFF2-40B4-BE49-F238E27FC236}">
                <a16:creationId xmlns:a16="http://schemas.microsoft.com/office/drawing/2014/main" id="{8EE4D531-9074-4366-8451-DF4CEF35BAF7}"/>
              </a:ext>
            </a:extLst>
          </p:cNvPr>
          <p:cNvGrpSpPr/>
          <p:nvPr/>
        </p:nvGrpSpPr>
        <p:grpSpPr>
          <a:xfrm>
            <a:off x="4976864" y="8792"/>
            <a:ext cx="4898269" cy="3378925"/>
            <a:chOff x="4976864" y="8792"/>
            <a:chExt cx="4911637" cy="3378925"/>
          </a:xfrm>
        </p:grpSpPr>
        <p:grpSp>
          <p:nvGrpSpPr>
            <p:cNvPr id="55" name="Group 54">
              <a:extLst>
                <a:ext uri="{FF2B5EF4-FFF2-40B4-BE49-F238E27FC236}">
                  <a16:creationId xmlns:a16="http://schemas.microsoft.com/office/drawing/2014/main" id="{D4C0F71F-3163-4FF1-9920-9FE630D43BC7}"/>
                </a:ext>
              </a:extLst>
            </p:cNvPr>
            <p:cNvGrpSpPr/>
            <p:nvPr/>
          </p:nvGrpSpPr>
          <p:grpSpPr>
            <a:xfrm>
              <a:off x="4976864" y="17496"/>
              <a:ext cx="4911637"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2</a:t>
              </a:r>
            </a:p>
          </p:txBody>
        </p:sp>
      </p:grpSp>
      <p:grpSp>
        <p:nvGrpSpPr>
          <p:cNvPr id="13" name="Group 12">
            <a:extLst>
              <a:ext uri="{FF2B5EF4-FFF2-40B4-BE49-F238E27FC236}">
                <a16:creationId xmlns:a16="http://schemas.microsoft.com/office/drawing/2014/main" id="{FB6DBB8C-C4A2-4BCE-8A7D-33C81F852FFC}"/>
              </a:ext>
            </a:extLst>
          </p:cNvPr>
          <p:cNvGrpSpPr/>
          <p:nvPr/>
        </p:nvGrpSpPr>
        <p:grpSpPr>
          <a:xfrm>
            <a:off x="4988773" y="3455376"/>
            <a:ext cx="4898269" cy="3379030"/>
            <a:chOff x="4988773" y="3455376"/>
            <a:chExt cx="4911637" cy="3379030"/>
          </a:xfrm>
        </p:grpSpPr>
        <p:grpSp>
          <p:nvGrpSpPr>
            <p:cNvPr id="63" name="Group 62">
              <a:extLst>
                <a:ext uri="{FF2B5EF4-FFF2-40B4-BE49-F238E27FC236}">
                  <a16:creationId xmlns:a16="http://schemas.microsoft.com/office/drawing/2014/main" id="{465703F2-EDDF-4694-B8ED-423480DA8D47}"/>
                </a:ext>
              </a:extLst>
            </p:cNvPr>
            <p:cNvGrpSpPr/>
            <p:nvPr/>
          </p:nvGrpSpPr>
          <p:grpSpPr>
            <a:xfrm>
              <a:off x="4988773" y="3464185"/>
              <a:ext cx="4911637"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4</a:t>
              </a:r>
            </a:p>
          </p:txBody>
        </p:sp>
      </p:grpSp>
      <p:sp>
        <p:nvSpPr>
          <p:cNvPr id="158" name="TextBox 157">
            <a:extLst>
              <a:ext uri="{FF2B5EF4-FFF2-40B4-BE49-F238E27FC236}">
                <a16:creationId xmlns:a16="http://schemas.microsoft.com/office/drawing/2014/main" id="{05B32A70-33A3-4D80-831A-32028A1016AE}"/>
              </a:ext>
            </a:extLst>
          </p:cNvPr>
          <p:cNvSpPr txBox="1"/>
          <p:nvPr/>
        </p:nvSpPr>
        <p:spPr>
          <a:xfrm>
            <a:off x="482257" y="3486546"/>
            <a:ext cx="4358886" cy="584775"/>
          </a:xfrm>
          <a:prstGeom prst="rect">
            <a:avLst/>
          </a:prstGeom>
          <a:noFill/>
        </p:spPr>
        <p:txBody>
          <a:bodyPr wrap="none" rtlCol="0">
            <a:spAutoFit/>
          </a:bodyPr>
          <a:lstStyle/>
          <a:p>
            <a:pPr algn="ctr"/>
            <a:r>
              <a:rPr lang="ky-KG" sz="1600" dirty="0"/>
              <a:t>Бул сандар өлчөмүнө жараша ирээттелген.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817481" y="4203206"/>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817481" y="4203206"/>
                <a:ext cx="527709" cy="670568"/>
              </a:xfrm>
              <a:prstGeom prst="rect">
                <a:avLst/>
              </a:prstGeom>
              <a:blipFill>
                <a:blip r:embed="rId3"/>
                <a:stretch>
                  <a:fillRect/>
                </a:stretch>
              </a:blipFill>
            </p:spPr>
            <p:txBody>
              <a:bodyPr/>
              <a:lstStyle/>
              <a:p>
                <a:r>
                  <a:rPr lang="en-GB">
                    <a:noFill/>
                  </a:rPr>
                  <a:t> </a:t>
                </a:r>
              </a:p>
            </p:txBody>
          </p:sp>
        </mc:Fallback>
      </mc:AlternateContent>
      <p:grpSp>
        <p:nvGrpSpPr>
          <p:cNvPr id="17" name="Group 16">
            <a:extLst>
              <a:ext uri="{FF2B5EF4-FFF2-40B4-BE49-F238E27FC236}">
                <a16:creationId xmlns:a16="http://schemas.microsoft.com/office/drawing/2014/main" id="{49FCCB88-2638-4359-9E41-58A1EF5ED50B}"/>
              </a:ext>
            </a:extLst>
          </p:cNvPr>
          <p:cNvGrpSpPr/>
          <p:nvPr/>
        </p:nvGrpSpPr>
        <p:grpSpPr>
          <a:xfrm>
            <a:off x="341459" y="-9698"/>
            <a:ext cx="5070016" cy="3255701"/>
            <a:chOff x="341459" y="-9698"/>
            <a:chExt cx="5070016" cy="3255701"/>
          </a:xfrm>
        </p:grpSpPr>
        <p:sp>
          <p:nvSpPr>
            <p:cNvPr id="16" name="TextBox 15">
              <a:extLst>
                <a:ext uri="{FF2B5EF4-FFF2-40B4-BE49-F238E27FC236}">
                  <a16:creationId xmlns:a16="http://schemas.microsoft.com/office/drawing/2014/main" id="{3A5369A5-0158-434C-8132-D9B854A3D158}"/>
                </a:ext>
              </a:extLst>
            </p:cNvPr>
            <p:cNvSpPr txBox="1"/>
            <p:nvPr/>
          </p:nvSpPr>
          <p:spPr>
            <a:xfrm>
              <a:off x="395580" y="-9698"/>
              <a:ext cx="5015895" cy="338554"/>
            </a:xfrm>
            <a:prstGeom prst="rect">
              <a:avLst/>
            </a:prstGeom>
            <a:noFill/>
          </p:spPr>
          <p:txBody>
            <a:bodyPr wrap="square" rtlCol="0">
              <a:spAutoFit/>
            </a:bodyPr>
            <a:lstStyle/>
            <a:p>
              <a:r>
                <a:rPr lang="ru-RU" sz="1600" dirty="0"/>
                <a:t>Бул сандар кичинеден чоңго карай ирээттелген.</a:t>
              </a:r>
              <a:endParaRPr lang="en-GB" sz="1600" dirty="0"/>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0477975F-ABEB-44BE-966B-CB0367F71348}"/>
                    </a:ext>
                  </a:extLst>
                </p:cNvPr>
                <p:cNvSpPr txBox="1"/>
                <p:nvPr/>
              </p:nvSpPr>
              <p:spPr>
                <a:xfrm>
                  <a:off x="921666" y="446181"/>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𝟏𝟎</m:t>
                            </m:r>
                          </m:den>
                        </m:f>
                      </m:oMath>
                    </m:oMathPara>
                  </a14:m>
                  <a:endParaRPr lang="en-GB" sz="1400" b="1" dirty="0"/>
                </a:p>
              </p:txBody>
            </p:sp>
          </mc:Choice>
          <mc:Fallback>
            <p:sp>
              <p:nvSpPr>
                <p:cNvPr id="25" name="TextBox 24">
                  <a:extLst>
                    <a:ext uri="{FF2B5EF4-FFF2-40B4-BE49-F238E27FC236}">
                      <a16:creationId xmlns:a16="http://schemas.microsoft.com/office/drawing/2014/main" id="{0477975F-ABEB-44BE-966B-CB0367F71348}"/>
                    </a:ext>
                  </a:extLst>
                </p:cNvPr>
                <p:cNvSpPr txBox="1">
                  <a:spLocks noRot="1" noChangeAspect="1" noMove="1" noResize="1" noEditPoints="1" noAdjustHandles="1" noChangeArrowheads="1" noChangeShapeType="1" noTextEdit="1"/>
                </p:cNvSpPr>
                <p:nvPr/>
              </p:nvSpPr>
              <p:spPr>
                <a:xfrm>
                  <a:off x="921666" y="446181"/>
                  <a:ext cx="550151" cy="6705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8D51F810-01E9-4352-B65E-896847AFD54D}"/>
                    </a:ext>
                  </a:extLst>
                </p:cNvPr>
                <p:cNvSpPr txBox="1"/>
                <p:nvPr/>
              </p:nvSpPr>
              <p:spPr>
                <a:xfrm>
                  <a:off x="2055875" y="608437"/>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𝟒𝟎</m:t>
                        </m:r>
                        <m:r>
                          <a:rPr lang="en-GB" sz="2000" b="1" i="1" dirty="0" smtClean="0">
                            <a:latin typeface="Cambria Math" panose="02040503050406030204" pitchFamily="18" charset="0"/>
                          </a:rPr>
                          <m:t>%</m:t>
                        </m:r>
                      </m:oMath>
                    </m:oMathPara>
                  </a14:m>
                  <a:endParaRPr lang="en-GB" sz="1400" b="1" dirty="0"/>
                </a:p>
              </p:txBody>
            </p:sp>
          </mc:Choice>
          <mc:Fallback>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2055875" y="608437"/>
                  <a:ext cx="77777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E087569-4A2C-466C-9C90-A2937CF648BD}"/>
                    </a:ext>
                  </a:extLst>
                </p:cNvPr>
                <p:cNvSpPr txBox="1"/>
                <p:nvPr/>
              </p:nvSpPr>
              <p:spPr>
                <a:xfrm>
                  <a:off x="3568152" y="608437"/>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𝟓</m:t>
                        </m:r>
                      </m:oMath>
                    </m:oMathPara>
                  </a14:m>
                  <a:endParaRPr lang="en-GB" sz="1400" b="1" dirty="0"/>
                </a:p>
              </p:txBody>
            </p:sp>
          </mc:Choice>
          <mc:Fallback>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3568152" y="608437"/>
                  <a:ext cx="645818" cy="400110"/>
                </a:xfrm>
                <a:prstGeom prst="rect">
                  <a:avLst/>
                </a:prstGeom>
                <a:blipFill>
                  <a:blip r:embed="rId6"/>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231972" y="1182828"/>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19" name="TextBox 118">
              <a:extLst>
                <a:ext uri="{FF2B5EF4-FFF2-40B4-BE49-F238E27FC236}">
                  <a16:creationId xmlns:a16="http://schemas.microsoft.com/office/drawing/2014/main" id="{A8F5C3E9-391F-4256-9DA2-5BD9D4D82EA5}"/>
                </a:ext>
              </a:extLst>
            </p:cNvPr>
            <p:cNvSpPr txBox="1"/>
            <p:nvPr/>
          </p:nvSpPr>
          <p:spPr>
            <a:xfrm>
              <a:off x="1503400" y="1206973"/>
              <a:ext cx="1739194" cy="461665"/>
            </a:xfrm>
            <a:prstGeom prst="rect">
              <a:avLst/>
            </a:prstGeom>
            <a:noFill/>
          </p:spPr>
          <p:txBody>
            <a:bodyPr wrap="none" rtlCol="0">
              <a:spAutoFit/>
            </a:bodyPr>
            <a:lstStyle/>
            <a:p>
              <a:r>
                <a:rPr lang="ky-KG" sz="2400" dirty="0"/>
                <a:t>Туура / Ката</a:t>
              </a:r>
              <a:endParaRPr lang="en-GB" sz="2400" dirty="0"/>
            </a:p>
          </p:txBody>
        </p:sp>
        <p:sp>
          <p:nvSpPr>
            <p:cNvPr id="191" name="TextBox 190">
              <a:extLst>
                <a:ext uri="{FF2B5EF4-FFF2-40B4-BE49-F238E27FC236}">
                  <a16:creationId xmlns:a16="http://schemas.microsoft.com/office/drawing/2014/main" id="{E74F8DBC-F5C7-44FD-ADBB-7669E84D6943}"/>
                </a:ext>
              </a:extLst>
            </p:cNvPr>
            <p:cNvSpPr txBox="1"/>
            <p:nvPr/>
          </p:nvSpPr>
          <p:spPr>
            <a:xfrm>
              <a:off x="341459" y="1756215"/>
              <a:ext cx="4367414"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0644044F-1CBA-4A4F-914F-F82AD4554340}"/>
                    </a:ext>
                  </a:extLst>
                </p:cNvPr>
                <p:cNvSpPr txBox="1"/>
                <p:nvPr/>
              </p:nvSpPr>
              <p:spPr>
                <a:xfrm>
                  <a:off x="2353871" y="203910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192" name="TextBox 191">
                  <a:extLst>
                    <a:ext uri="{FF2B5EF4-FFF2-40B4-BE49-F238E27FC236}">
                      <a16:creationId xmlns:a16="http://schemas.microsoft.com/office/drawing/2014/main" id="{0644044F-1CBA-4A4F-914F-F82AD4554340}"/>
                    </a:ext>
                  </a:extLst>
                </p:cNvPr>
                <p:cNvSpPr txBox="1">
                  <a:spLocks noRot="1" noChangeAspect="1" noMove="1" noResize="1" noEditPoints="1" noAdjustHandles="1" noChangeArrowheads="1" noChangeShapeType="1" noTextEdit="1"/>
                </p:cNvSpPr>
                <p:nvPr/>
              </p:nvSpPr>
              <p:spPr>
                <a:xfrm>
                  <a:off x="2353871" y="2039105"/>
                  <a:ext cx="385041" cy="67056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AE5A3D88-15B4-4F84-8A4E-A18978E5C943}"/>
                    </a:ext>
                  </a:extLst>
                </p:cNvPr>
                <p:cNvSpPr txBox="1"/>
                <p:nvPr/>
              </p:nvSpPr>
              <p:spPr>
                <a:xfrm>
                  <a:off x="3420006" y="22013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25%</m:t>
                        </m:r>
                      </m:oMath>
                    </m:oMathPara>
                  </a14:m>
                  <a:endParaRPr lang="en-GB" sz="1400" dirty="0"/>
                </a:p>
              </p:txBody>
            </p:sp>
          </mc:Choice>
          <mc:Fallback xmlns="">
            <p:sp>
              <p:nvSpPr>
                <p:cNvPr id="193" name="TextBox 192">
                  <a:extLst>
                    <a:ext uri="{FF2B5EF4-FFF2-40B4-BE49-F238E27FC236}">
                      <a16:creationId xmlns:a16="http://schemas.microsoft.com/office/drawing/2014/main" id="{AE5A3D88-15B4-4F84-8A4E-A18978E5C943}"/>
                    </a:ext>
                  </a:extLst>
                </p:cNvPr>
                <p:cNvSpPr txBox="1">
                  <a:spLocks noRot="1" noChangeAspect="1" noMove="1" noResize="1" noEditPoints="1" noAdjustHandles="1" noChangeArrowheads="1" noChangeShapeType="1" noTextEdit="1"/>
                </p:cNvSpPr>
                <p:nvPr/>
              </p:nvSpPr>
              <p:spPr>
                <a:xfrm>
                  <a:off x="3420006" y="2201361"/>
                  <a:ext cx="755335"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5A7461F2-A483-4131-97FC-6B8C2AAB2F25}"/>
                    </a:ext>
                  </a:extLst>
                </p:cNvPr>
                <p:cNvSpPr txBox="1"/>
                <p:nvPr/>
              </p:nvSpPr>
              <p:spPr>
                <a:xfrm>
                  <a:off x="975744" y="22013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194" name="TextBox 193">
                  <a:extLst>
                    <a:ext uri="{FF2B5EF4-FFF2-40B4-BE49-F238E27FC236}">
                      <a16:creationId xmlns:a16="http://schemas.microsoft.com/office/drawing/2014/main" id="{5A7461F2-A483-4131-97FC-6B8C2AAB2F25}"/>
                    </a:ext>
                  </a:extLst>
                </p:cNvPr>
                <p:cNvSpPr txBox="1">
                  <a:spLocks noRot="1" noChangeAspect="1" noMove="1" noResize="1" noEditPoints="1" noAdjustHandles="1" noChangeArrowheads="1" noChangeShapeType="1" noTextEdit="1"/>
                </p:cNvSpPr>
                <p:nvPr/>
              </p:nvSpPr>
              <p:spPr>
                <a:xfrm>
                  <a:off x="975744" y="2201361"/>
                  <a:ext cx="580607" cy="400110"/>
                </a:xfrm>
                <a:prstGeom prst="rect">
                  <a:avLst/>
                </a:prstGeom>
                <a:blipFill>
                  <a:blip r:embed="rId9"/>
                  <a:stretch>
                    <a:fillRect/>
                  </a:stretch>
                </a:blipFill>
              </p:spPr>
              <p:txBody>
                <a:bodyPr/>
                <a:lstStyle/>
                <a:p>
                  <a:r>
                    <a:rPr lang="en-GB">
                      <a:noFill/>
                    </a:rPr>
                    <a:t> </a:t>
                  </a:r>
                </a:p>
              </p:txBody>
            </p:sp>
          </mc:Fallback>
        </mc:AlternateContent>
        <p:sp>
          <p:nvSpPr>
            <p:cNvPr id="195" name="Rectangle: Rounded Corners 194">
              <a:extLst>
                <a:ext uri="{FF2B5EF4-FFF2-40B4-BE49-F238E27FC236}">
                  <a16:creationId xmlns:a16="http://schemas.microsoft.com/office/drawing/2014/main" id="{F3B89CB1-69DC-4875-802D-12E5F01041C3}"/>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96" name="TextBox 195">
              <a:extLst>
                <a:ext uri="{FF2B5EF4-FFF2-40B4-BE49-F238E27FC236}">
                  <a16:creationId xmlns:a16="http://schemas.microsoft.com/office/drawing/2014/main" id="{FD44414E-CA91-40B0-8174-F54737562377}"/>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p:grpSp>
      <p:grpSp>
        <p:nvGrpSpPr>
          <p:cNvPr id="215" name="Group 214">
            <a:extLst>
              <a:ext uri="{FF2B5EF4-FFF2-40B4-BE49-F238E27FC236}">
                <a16:creationId xmlns:a16="http://schemas.microsoft.com/office/drawing/2014/main" id="{951CEB68-BBD5-4A24-ABA6-46E8D425A4F6}"/>
              </a:ext>
            </a:extLst>
          </p:cNvPr>
          <p:cNvGrpSpPr/>
          <p:nvPr/>
        </p:nvGrpSpPr>
        <p:grpSpPr>
          <a:xfrm>
            <a:off x="5233604" y="51651"/>
            <a:ext cx="4653438" cy="3194352"/>
            <a:chOff x="239573" y="51651"/>
            <a:chExt cx="4653438" cy="3194352"/>
          </a:xfrm>
        </p:grpSpPr>
        <p:sp>
          <p:nvSpPr>
            <p:cNvPr id="216" name="TextBox 215">
              <a:extLst>
                <a:ext uri="{FF2B5EF4-FFF2-40B4-BE49-F238E27FC236}">
                  <a16:creationId xmlns:a16="http://schemas.microsoft.com/office/drawing/2014/main" id="{66BFF185-1B13-4BE2-9355-834C4B3CF1F3}"/>
                </a:ext>
              </a:extLst>
            </p:cNvPr>
            <p:cNvSpPr txBox="1"/>
            <p:nvPr/>
          </p:nvSpPr>
          <p:spPr>
            <a:xfrm>
              <a:off x="239573" y="51651"/>
              <a:ext cx="4653438" cy="338554"/>
            </a:xfrm>
            <a:prstGeom prst="rect">
              <a:avLst/>
            </a:prstGeom>
            <a:noFill/>
          </p:spPr>
          <p:txBody>
            <a:bodyPr wrap="square" rtlCol="0">
              <a:spAutoFit/>
            </a:bodyPr>
            <a:lstStyle/>
            <a:p>
              <a:pPr algn="ctr"/>
              <a:r>
                <a:rPr lang="ru-RU" sz="1600" dirty="0"/>
                <a:t>Бул сандар чоңдон кичинесине  карай ирээттелген.</a:t>
              </a:r>
              <a:endParaRPr lang="en-GB" sz="1600" dirty="0"/>
            </a:p>
          </p:txBody>
        </p:sp>
        <mc:AlternateContent xmlns:mc="http://schemas.openxmlformats.org/markup-compatibility/2006">
          <mc:Choice xmlns:a14="http://schemas.microsoft.com/office/drawing/2010/main" Requires="a14">
            <p:sp>
              <p:nvSpPr>
                <p:cNvPr id="217" name="TextBox 216">
                  <a:extLst>
                    <a:ext uri="{FF2B5EF4-FFF2-40B4-BE49-F238E27FC236}">
                      <a16:creationId xmlns:a16="http://schemas.microsoft.com/office/drawing/2014/main" id="{2A848587-7EFF-4C1A-8C17-5D3828DD57A1}"/>
                    </a:ext>
                  </a:extLst>
                </p:cNvPr>
                <p:cNvSpPr txBox="1"/>
                <p:nvPr/>
              </p:nvSpPr>
              <p:spPr>
                <a:xfrm>
                  <a:off x="922989" y="324605"/>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𝟏𝟏</m:t>
                            </m:r>
                          </m:num>
                          <m:den>
                            <m:r>
                              <a:rPr lang="en-GB" sz="2000" b="1" i="1" dirty="0" smtClean="0">
                                <a:latin typeface="Cambria Math" panose="02040503050406030204" pitchFamily="18" charset="0"/>
                              </a:rPr>
                              <m:t>𝟐𝟎</m:t>
                            </m:r>
                          </m:den>
                        </m:f>
                      </m:oMath>
                    </m:oMathPara>
                  </a14:m>
                  <a:endParaRPr lang="en-GB" sz="1400" b="1" dirty="0"/>
                </a:p>
              </p:txBody>
            </p:sp>
          </mc:Choice>
          <mc:Fallback>
            <p:sp>
              <p:nvSpPr>
                <p:cNvPr id="217" name="TextBox 216">
                  <a:extLst>
                    <a:ext uri="{FF2B5EF4-FFF2-40B4-BE49-F238E27FC236}">
                      <a16:creationId xmlns:a16="http://schemas.microsoft.com/office/drawing/2014/main" id="{2A848587-7EFF-4C1A-8C17-5D3828DD57A1}"/>
                    </a:ext>
                  </a:extLst>
                </p:cNvPr>
                <p:cNvSpPr txBox="1">
                  <a:spLocks noRot="1" noChangeAspect="1" noMove="1" noResize="1" noEditPoints="1" noAdjustHandles="1" noChangeArrowheads="1" noChangeShapeType="1" noTextEdit="1"/>
                </p:cNvSpPr>
                <p:nvPr/>
              </p:nvSpPr>
              <p:spPr>
                <a:xfrm>
                  <a:off x="922989" y="324605"/>
                  <a:ext cx="550151" cy="6705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8" name="TextBox 217">
                  <a:extLst>
                    <a:ext uri="{FF2B5EF4-FFF2-40B4-BE49-F238E27FC236}">
                      <a16:creationId xmlns:a16="http://schemas.microsoft.com/office/drawing/2014/main" id="{24A521BA-7B70-477B-B07C-D0F00E45BB46}"/>
                    </a:ext>
                  </a:extLst>
                </p:cNvPr>
                <p:cNvSpPr txBox="1"/>
                <p:nvPr/>
              </p:nvSpPr>
              <p:spPr>
                <a:xfrm>
                  <a:off x="1723091" y="486861"/>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𝟓𝟎</m:t>
                        </m:r>
                        <m:r>
                          <a:rPr lang="en-GB" sz="2000" b="1" i="1" dirty="0" smtClean="0">
                            <a:latin typeface="Cambria Math" panose="02040503050406030204" pitchFamily="18" charset="0"/>
                          </a:rPr>
                          <m:t>%</m:t>
                        </m:r>
                      </m:oMath>
                    </m:oMathPara>
                  </a14:m>
                  <a:endParaRPr lang="en-GB" sz="1400" b="1" dirty="0"/>
                </a:p>
              </p:txBody>
            </p:sp>
          </mc:Choice>
          <mc:Fallback>
            <p:sp>
              <p:nvSpPr>
                <p:cNvPr id="218" name="TextBox 217">
                  <a:extLst>
                    <a:ext uri="{FF2B5EF4-FFF2-40B4-BE49-F238E27FC236}">
                      <a16:creationId xmlns:a16="http://schemas.microsoft.com/office/drawing/2014/main" id="{24A521BA-7B70-477B-B07C-D0F00E45BB46}"/>
                    </a:ext>
                  </a:extLst>
                </p:cNvPr>
                <p:cNvSpPr txBox="1">
                  <a:spLocks noRot="1" noChangeAspect="1" noMove="1" noResize="1" noEditPoints="1" noAdjustHandles="1" noChangeArrowheads="1" noChangeShapeType="1" noTextEdit="1"/>
                </p:cNvSpPr>
                <p:nvPr/>
              </p:nvSpPr>
              <p:spPr>
                <a:xfrm>
                  <a:off x="1723091" y="486861"/>
                  <a:ext cx="777777"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9" name="TextBox 218">
                  <a:extLst>
                    <a:ext uri="{FF2B5EF4-FFF2-40B4-BE49-F238E27FC236}">
                      <a16:creationId xmlns:a16="http://schemas.microsoft.com/office/drawing/2014/main" id="{8E1ACE75-E912-4DDC-8919-2CF9C08AF699}"/>
                    </a:ext>
                  </a:extLst>
                </p:cNvPr>
                <p:cNvSpPr txBox="1"/>
                <p:nvPr/>
              </p:nvSpPr>
              <p:spPr>
                <a:xfrm>
                  <a:off x="3420006" y="486861"/>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𝟑</m:t>
                        </m:r>
                      </m:oMath>
                    </m:oMathPara>
                  </a14:m>
                  <a:endParaRPr lang="en-GB" sz="1400" b="1" dirty="0"/>
                </a:p>
              </p:txBody>
            </p:sp>
          </mc:Choice>
          <mc:Fallback>
            <p:sp>
              <p:nvSpPr>
                <p:cNvPr id="219" name="TextBox 218">
                  <a:extLst>
                    <a:ext uri="{FF2B5EF4-FFF2-40B4-BE49-F238E27FC236}">
                      <a16:creationId xmlns:a16="http://schemas.microsoft.com/office/drawing/2014/main" id="{8E1ACE75-E912-4DDC-8919-2CF9C08AF699}"/>
                    </a:ext>
                  </a:extLst>
                </p:cNvPr>
                <p:cNvSpPr txBox="1">
                  <a:spLocks noRot="1" noChangeAspect="1" noMove="1" noResize="1" noEditPoints="1" noAdjustHandles="1" noChangeArrowheads="1" noChangeShapeType="1" noTextEdit="1"/>
                </p:cNvSpPr>
                <p:nvPr/>
              </p:nvSpPr>
              <p:spPr>
                <a:xfrm>
                  <a:off x="3420006" y="486861"/>
                  <a:ext cx="645818" cy="400110"/>
                </a:xfrm>
                <a:prstGeom prst="rect">
                  <a:avLst/>
                </a:prstGeom>
                <a:blipFill>
                  <a:blip r:embed="rId12"/>
                  <a:stretch>
                    <a:fillRect/>
                  </a:stretch>
                </a:blipFill>
              </p:spPr>
              <p:txBody>
                <a:bodyPr/>
                <a:lstStyle/>
                <a:p>
                  <a:r>
                    <a:rPr lang="en-US">
                      <a:noFill/>
                    </a:rPr>
                    <a:t> </a:t>
                  </a:r>
                </a:p>
              </p:txBody>
            </p:sp>
          </mc:Fallback>
        </mc:AlternateContent>
        <p:sp>
          <p:nvSpPr>
            <p:cNvPr id="220" name="Rectangle: Rounded Corners 219">
              <a:extLst>
                <a:ext uri="{FF2B5EF4-FFF2-40B4-BE49-F238E27FC236}">
                  <a16:creationId xmlns:a16="http://schemas.microsoft.com/office/drawing/2014/main" id="{C1805EB6-6A7C-4371-B31B-E0AA8A883580}"/>
                </a:ext>
              </a:extLst>
            </p:cNvPr>
            <p:cNvSpPr/>
            <p:nvPr/>
          </p:nvSpPr>
          <p:spPr>
            <a:xfrm>
              <a:off x="1222132" y="1125151"/>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1" name="TextBox 220">
              <a:extLst>
                <a:ext uri="{FF2B5EF4-FFF2-40B4-BE49-F238E27FC236}">
                  <a16:creationId xmlns:a16="http://schemas.microsoft.com/office/drawing/2014/main" id="{DB545557-AAB0-4940-A013-EBC28D507E52}"/>
                </a:ext>
              </a:extLst>
            </p:cNvPr>
            <p:cNvSpPr txBox="1"/>
            <p:nvPr/>
          </p:nvSpPr>
          <p:spPr>
            <a:xfrm>
              <a:off x="1493560" y="1149296"/>
              <a:ext cx="1739194" cy="461665"/>
            </a:xfrm>
            <a:prstGeom prst="rect">
              <a:avLst/>
            </a:prstGeom>
            <a:noFill/>
          </p:spPr>
          <p:txBody>
            <a:bodyPr wrap="none" rtlCol="0">
              <a:spAutoFit/>
            </a:bodyPr>
            <a:lstStyle/>
            <a:p>
              <a:r>
                <a:rPr lang="ky-KG" sz="2400" dirty="0"/>
                <a:t>Туура / Ката</a:t>
              </a:r>
              <a:endParaRPr lang="en-GB" sz="2400" dirty="0"/>
            </a:p>
          </p:txBody>
        </p:sp>
        <p:sp>
          <p:nvSpPr>
            <p:cNvPr id="222" name="TextBox 221">
              <a:extLst>
                <a:ext uri="{FF2B5EF4-FFF2-40B4-BE49-F238E27FC236}">
                  <a16:creationId xmlns:a16="http://schemas.microsoft.com/office/drawing/2014/main" id="{352719E2-4BC5-4B69-9411-D1A2D580816F}"/>
                </a:ext>
              </a:extLst>
            </p:cNvPr>
            <p:cNvSpPr txBox="1"/>
            <p:nvPr/>
          </p:nvSpPr>
          <p:spPr>
            <a:xfrm>
              <a:off x="309727" y="1744495"/>
              <a:ext cx="4367413"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91AAD681-8440-47A3-BD28-91452F73350A}"/>
                    </a:ext>
                  </a:extLst>
                </p:cNvPr>
                <p:cNvSpPr txBox="1"/>
                <p:nvPr/>
              </p:nvSpPr>
              <p:spPr>
                <a:xfrm>
                  <a:off x="922989" y="20391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23" name="TextBox 222">
                  <a:extLst>
                    <a:ext uri="{FF2B5EF4-FFF2-40B4-BE49-F238E27FC236}">
                      <a16:creationId xmlns:a16="http://schemas.microsoft.com/office/drawing/2014/main" id="{91AAD681-8440-47A3-BD28-91452F73350A}"/>
                    </a:ext>
                  </a:extLst>
                </p:cNvPr>
                <p:cNvSpPr txBox="1">
                  <a:spLocks noRot="1" noChangeAspect="1" noMove="1" noResize="1" noEditPoints="1" noAdjustHandles="1" noChangeArrowheads="1" noChangeShapeType="1" noTextEdit="1"/>
                </p:cNvSpPr>
                <p:nvPr/>
              </p:nvSpPr>
              <p:spPr>
                <a:xfrm>
                  <a:off x="922989" y="2039105"/>
                  <a:ext cx="527709" cy="67050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E85753AC-A8AB-4BC6-8E09-C65F35099B9D}"/>
                    </a:ext>
                  </a:extLst>
                </p:cNvPr>
                <p:cNvSpPr txBox="1"/>
                <p:nvPr/>
              </p:nvSpPr>
              <p:spPr>
                <a:xfrm>
                  <a:off x="2057198" y="2201361"/>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52.5%</m:t>
                        </m:r>
                      </m:oMath>
                    </m:oMathPara>
                  </a14:m>
                  <a:endParaRPr lang="en-GB" sz="1400" dirty="0"/>
                </a:p>
              </p:txBody>
            </p:sp>
          </mc:Choice>
          <mc:Fallback xmlns="">
            <p:sp>
              <p:nvSpPr>
                <p:cNvPr id="224" name="TextBox 223">
                  <a:extLst>
                    <a:ext uri="{FF2B5EF4-FFF2-40B4-BE49-F238E27FC236}">
                      <a16:creationId xmlns:a16="http://schemas.microsoft.com/office/drawing/2014/main" id="{E85753AC-A8AB-4BC6-8E09-C65F35099B9D}"/>
                    </a:ext>
                  </a:extLst>
                </p:cNvPr>
                <p:cNvSpPr txBox="1">
                  <a:spLocks noRot="1" noChangeAspect="1" noMove="1" noResize="1" noEditPoints="1" noAdjustHandles="1" noChangeArrowheads="1" noChangeShapeType="1" noTextEdit="1"/>
                </p:cNvSpPr>
                <p:nvPr/>
              </p:nvSpPr>
              <p:spPr>
                <a:xfrm>
                  <a:off x="2057198" y="2201361"/>
                  <a:ext cx="950901" cy="40011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DC38D8CC-4FB0-4709-82E5-7E2345AD36C2}"/>
                    </a:ext>
                  </a:extLst>
                </p:cNvPr>
                <p:cNvSpPr txBox="1"/>
                <p:nvPr/>
              </p:nvSpPr>
              <p:spPr>
                <a:xfrm>
                  <a:off x="3569475" y="2201361"/>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0.53</m:t>
                        </m:r>
                      </m:oMath>
                    </m:oMathPara>
                  </a14:m>
                  <a:endParaRPr lang="en-GB" sz="1400" dirty="0"/>
                </a:p>
              </p:txBody>
            </p:sp>
          </mc:Choice>
          <mc:Fallback xmlns="">
            <p:sp>
              <p:nvSpPr>
                <p:cNvPr id="225" name="TextBox 224">
                  <a:extLst>
                    <a:ext uri="{FF2B5EF4-FFF2-40B4-BE49-F238E27FC236}">
                      <a16:creationId xmlns:a16="http://schemas.microsoft.com/office/drawing/2014/main" id="{DC38D8CC-4FB0-4709-82E5-7E2345AD36C2}"/>
                    </a:ext>
                  </a:extLst>
                </p:cNvPr>
                <p:cNvSpPr txBox="1">
                  <a:spLocks noRot="1" noChangeAspect="1" noMove="1" noResize="1" noEditPoints="1" noAdjustHandles="1" noChangeArrowheads="1" noChangeShapeType="1" noTextEdit="1"/>
                </p:cNvSpPr>
                <p:nvPr/>
              </p:nvSpPr>
              <p:spPr>
                <a:xfrm>
                  <a:off x="3569475" y="2201361"/>
                  <a:ext cx="723275" cy="400110"/>
                </a:xfrm>
                <a:prstGeom prst="rect">
                  <a:avLst/>
                </a:prstGeom>
                <a:blipFill>
                  <a:blip r:embed="rId15"/>
                  <a:stretch>
                    <a:fillRect/>
                  </a:stretch>
                </a:blipFill>
              </p:spPr>
              <p:txBody>
                <a:bodyPr/>
                <a:lstStyle/>
                <a:p>
                  <a:r>
                    <a:rPr lang="en-GB">
                      <a:noFill/>
                    </a:rPr>
                    <a:t> </a:t>
                  </a:r>
                </a:p>
              </p:txBody>
            </p:sp>
          </mc:Fallback>
        </mc:AlternateContent>
        <p:sp>
          <p:nvSpPr>
            <p:cNvPr id="226" name="Rectangle: Rounded Corners 225">
              <a:extLst>
                <a:ext uri="{FF2B5EF4-FFF2-40B4-BE49-F238E27FC236}">
                  <a16:creationId xmlns:a16="http://schemas.microsoft.com/office/drawing/2014/main" id="{44F344DA-8ED0-40FF-A167-496896B29D7B}"/>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7" name="TextBox 226">
              <a:extLst>
                <a:ext uri="{FF2B5EF4-FFF2-40B4-BE49-F238E27FC236}">
                  <a16:creationId xmlns:a16="http://schemas.microsoft.com/office/drawing/2014/main" id="{DDB5F6DF-E517-4ADF-88E4-BAEFE4A3416B}"/>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mc:AlternateContent xmlns:mc="http://schemas.openxmlformats.org/markup-compatibility/2006">
          <mc:Choice xmlns:a14="http://schemas.microsoft.com/office/drawing/2010/main" Requires="a14">
            <p:sp>
              <p:nvSpPr>
                <p:cNvPr id="260" name="TextBox 259">
                  <a:extLst>
                    <a:ext uri="{FF2B5EF4-FFF2-40B4-BE49-F238E27FC236}">
                      <a16:creationId xmlns:a16="http://schemas.microsoft.com/office/drawing/2014/main" id="{22505795-2064-410F-8AAA-411DFDF1425A}"/>
                    </a:ext>
                  </a:extLst>
                </p:cNvPr>
                <p:cNvSpPr txBox="1"/>
                <p:nvPr/>
              </p:nvSpPr>
              <p:spPr>
                <a:xfrm>
                  <a:off x="2941637" y="321651"/>
                  <a:ext cx="396262"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𝟒</m:t>
                            </m:r>
                          </m:den>
                        </m:f>
                      </m:oMath>
                    </m:oMathPara>
                  </a14:m>
                  <a:endParaRPr lang="en-GB" sz="1400" b="1" dirty="0"/>
                </a:p>
              </p:txBody>
            </p:sp>
          </mc:Choice>
          <mc:Fallback>
            <p:sp>
              <p:nvSpPr>
                <p:cNvPr id="260" name="TextBox 259">
                  <a:extLst>
                    <a:ext uri="{FF2B5EF4-FFF2-40B4-BE49-F238E27FC236}">
                      <a16:creationId xmlns:a16="http://schemas.microsoft.com/office/drawing/2014/main" id="{22505795-2064-410F-8AAA-411DFDF1425A}"/>
                    </a:ext>
                  </a:extLst>
                </p:cNvPr>
                <p:cNvSpPr txBox="1">
                  <a:spLocks noRot="1" noChangeAspect="1" noMove="1" noResize="1" noEditPoints="1" noAdjustHandles="1" noChangeArrowheads="1" noChangeShapeType="1" noTextEdit="1"/>
                </p:cNvSpPr>
                <p:nvPr/>
              </p:nvSpPr>
              <p:spPr>
                <a:xfrm>
                  <a:off x="2941637" y="321651"/>
                  <a:ext cx="396262" cy="668516"/>
                </a:xfrm>
                <a:prstGeom prst="rect">
                  <a:avLst/>
                </a:prstGeom>
                <a:blipFill>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C9E53DC0-8E4E-4091-93AD-ABF2D5CAC776}"/>
                  </a:ext>
                </a:extLst>
              </p:cNvPr>
              <p:cNvSpPr txBox="1"/>
              <p:nvPr/>
            </p:nvSpPr>
            <p:spPr>
              <a:xfrm>
                <a:off x="3868414" y="4365462"/>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m:t>
                      </m:r>
                    </m:oMath>
                  </m:oMathPara>
                </a14:m>
                <a:endParaRPr lang="en-GB" sz="1400" dirty="0"/>
              </a:p>
            </p:txBody>
          </p:sp>
        </mc:Choice>
        <mc:Fallback xmlns="">
          <p:sp>
            <p:nvSpPr>
              <p:cNvPr id="234" name="TextBox 233">
                <a:extLst>
                  <a:ext uri="{FF2B5EF4-FFF2-40B4-BE49-F238E27FC236}">
                    <a16:creationId xmlns:a16="http://schemas.microsoft.com/office/drawing/2014/main" id="{C9E53DC0-8E4E-4091-93AD-ABF2D5CAC776}"/>
                  </a:ext>
                </a:extLst>
              </p:cNvPr>
              <p:cNvSpPr txBox="1">
                <a:spLocks noRot="1" noChangeAspect="1" noMove="1" noResize="1" noEditPoints="1" noAdjustHandles="1" noChangeArrowheads="1" noChangeShapeType="1" noTextEdit="1"/>
              </p:cNvSpPr>
              <p:nvPr/>
            </p:nvSpPr>
            <p:spPr>
              <a:xfrm>
                <a:off x="3868414" y="4365462"/>
                <a:ext cx="580608" cy="400110"/>
              </a:xfrm>
              <a:prstGeom prst="rect">
                <a:avLst/>
              </a:prstGeom>
              <a:blipFill>
                <a:blip r:embed="rId17"/>
                <a:stretch>
                  <a:fillRect/>
                </a:stretch>
              </a:blipFill>
            </p:spPr>
            <p:txBody>
              <a:bodyPr/>
              <a:lstStyle/>
              <a:p>
                <a:r>
                  <a:rPr lang="en-GB">
                    <a:noFill/>
                  </a:rPr>
                  <a:t> </a:t>
                </a:r>
              </a:p>
            </p:txBody>
          </p:sp>
        </mc:Fallback>
      </mc:AlternateContent>
      <p:sp>
        <p:nvSpPr>
          <p:cNvPr id="235" name="Rectangle: Rounded Corners 234">
            <a:extLst>
              <a:ext uri="{FF2B5EF4-FFF2-40B4-BE49-F238E27FC236}">
                <a16:creationId xmlns:a16="http://schemas.microsoft.com/office/drawing/2014/main" id="{9A0B2DD9-F56C-412B-8B97-9270A07024C3}"/>
              </a:ext>
            </a:extLst>
          </p:cNvPr>
          <p:cNvSpPr/>
          <p:nvPr/>
        </p:nvSpPr>
        <p:spPr>
          <a:xfrm>
            <a:off x="1989992" y="5974548"/>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ky-KG" sz="1950" b="1" dirty="0">
                <a:solidFill>
                  <a:srgbClr val="00B0F0"/>
                </a:solidFill>
              </a:rPr>
              <a:t>0,34</a:t>
            </a:r>
            <a:endParaRPr lang="en-GB" sz="1950" b="1" dirty="0">
              <a:solidFill>
                <a:srgbClr val="00B0F0"/>
              </a:solidFill>
            </a:endParaRPr>
          </a:p>
        </p:txBody>
      </p:sp>
      <p:sp>
        <p:nvSpPr>
          <p:cNvPr id="236" name="TextBox 235">
            <a:extLst>
              <a:ext uri="{FF2B5EF4-FFF2-40B4-BE49-F238E27FC236}">
                <a16:creationId xmlns:a16="http://schemas.microsoft.com/office/drawing/2014/main" id="{FA06CC43-0204-4BC4-A665-0B407712E19B}"/>
              </a:ext>
            </a:extLst>
          </p:cNvPr>
          <p:cNvSpPr txBox="1"/>
          <p:nvPr/>
        </p:nvSpPr>
        <p:spPr>
          <a:xfrm>
            <a:off x="482256" y="5253800"/>
            <a:ext cx="4358887" cy="584775"/>
          </a:xfrm>
          <a:prstGeom prst="rect">
            <a:avLst/>
          </a:prstGeom>
          <a:noFill/>
        </p:spPr>
        <p:txBody>
          <a:bodyPr wrap="none" rtlCol="0">
            <a:spAutoFit/>
          </a:bodyPr>
          <a:lstStyle/>
          <a:p>
            <a:pPr algn="ctr"/>
            <a:r>
              <a:rPr lang="ky-KG" sz="1600" dirty="0"/>
              <a:t>Бул сандар өлчөмүнө жараша ирээттелген.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CDC207F5-FC7B-44E2-8746-B559FEB8A396}"/>
                  </a:ext>
                </a:extLst>
              </p:cNvPr>
              <p:cNvSpPr txBox="1"/>
              <p:nvPr/>
            </p:nvSpPr>
            <p:spPr>
              <a:xfrm>
                <a:off x="620035" y="6132716"/>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239" name="TextBox 238">
                <a:extLst>
                  <a:ext uri="{FF2B5EF4-FFF2-40B4-BE49-F238E27FC236}">
                    <a16:creationId xmlns:a16="http://schemas.microsoft.com/office/drawing/2014/main" id="{CDC207F5-FC7B-44E2-8746-B559FEB8A396}"/>
                  </a:ext>
                </a:extLst>
              </p:cNvPr>
              <p:cNvSpPr txBox="1">
                <a:spLocks noRot="1" noChangeAspect="1" noMove="1" noResize="1" noEditPoints="1" noAdjustHandles="1" noChangeArrowheads="1" noChangeShapeType="1" noTextEdit="1"/>
              </p:cNvSpPr>
              <p:nvPr/>
            </p:nvSpPr>
            <p:spPr>
              <a:xfrm>
                <a:off x="620035" y="6132716"/>
                <a:ext cx="580607" cy="400110"/>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022F9E7B-B40F-46D6-B7D1-9EE4F5F772D5}"/>
                  </a:ext>
                </a:extLst>
              </p:cNvPr>
              <p:cNvSpPr txBox="1"/>
              <p:nvPr/>
            </p:nvSpPr>
            <p:spPr>
              <a:xfrm>
                <a:off x="3683775" y="6132716"/>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140%</m:t>
                      </m:r>
                    </m:oMath>
                  </m:oMathPara>
                </a14:m>
                <a:endParaRPr lang="en-GB" sz="1400" dirty="0"/>
              </a:p>
            </p:txBody>
          </p:sp>
        </mc:Choice>
        <mc:Fallback xmlns="">
          <p:sp>
            <p:nvSpPr>
              <p:cNvPr id="240" name="TextBox 239">
                <a:extLst>
                  <a:ext uri="{FF2B5EF4-FFF2-40B4-BE49-F238E27FC236}">
                    <a16:creationId xmlns:a16="http://schemas.microsoft.com/office/drawing/2014/main" id="{022F9E7B-B40F-46D6-B7D1-9EE4F5F772D5}"/>
                  </a:ext>
                </a:extLst>
              </p:cNvPr>
              <p:cNvSpPr txBox="1">
                <a:spLocks noRot="1" noChangeAspect="1" noMove="1" noResize="1" noEditPoints="1" noAdjustHandles="1" noChangeArrowheads="1" noChangeShapeType="1" noTextEdit="1"/>
              </p:cNvSpPr>
              <p:nvPr/>
            </p:nvSpPr>
            <p:spPr>
              <a:xfrm>
                <a:off x="3683775" y="6132716"/>
                <a:ext cx="898003" cy="400110"/>
              </a:xfrm>
              <a:prstGeom prst="rect">
                <a:avLst/>
              </a:prstGeom>
              <a:blipFill>
                <a:blip r:embed="rId19"/>
                <a:stretch>
                  <a:fillRect/>
                </a:stretch>
              </a:blipFill>
            </p:spPr>
            <p:txBody>
              <a:bodyPr/>
              <a:lstStyle/>
              <a:p>
                <a:r>
                  <a:rPr lang="en-GB">
                    <a:noFill/>
                  </a:rPr>
                  <a:t> </a:t>
                </a:r>
              </a:p>
            </p:txBody>
          </p:sp>
        </mc:Fallback>
      </mc:AlternateContent>
      <p:sp>
        <p:nvSpPr>
          <p:cNvPr id="242" name="TextBox 241">
            <a:extLst>
              <a:ext uri="{FF2B5EF4-FFF2-40B4-BE49-F238E27FC236}">
                <a16:creationId xmlns:a16="http://schemas.microsoft.com/office/drawing/2014/main" id="{F35E2347-7BC2-47F7-97E2-A961277A532B}"/>
              </a:ext>
            </a:extLst>
          </p:cNvPr>
          <p:cNvSpPr txBox="1"/>
          <p:nvPr/>
        </p:nvSpPr>
        <p:spPr>
          <a:xfrm>
            <a:off x="5388930" y="3513050"/>
            <a:ext cx="4366516"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3" name="TextBox 242">
                <a:extLst>
                  <a:ext uri="{FF2B5EF4-FFF2-40B4-BE49-F238E27FC236}">
                    <a16:creationId xmlns:a16="http://schemas.microsoft.com/office/drawing/2014/main" id="{54CD3E50-6CB0-4E32-A50A-F542E4FB731E}"/>
                  </a:ext>
                </a:extLst>
              </p:cNvPr>
              <p:cNvSpPr txBox="1"/>
              <p:nvPr/>
            </p:nvSpPr>
            <p:spPr>
              <a:xfrm>
                <a:off x="5917020" y="3744813"/>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243" name="TextBox 242">
                <a:extLst>
                  <a:ext uri="{FF2B5EF4-FFF2-40B4-BE49-F238E27FC236}">
                    <a16:creationId xmlns:a16="http://schemas.microsoft.com/office/drawing/2014/main" id="{54CD3E50-6CB0-4E32-A50A-F542E4FB731E}"/>
                  </a:ext>
                </a:extLst>
              </p:cNvPr>
              <p:cNvSpPr txBox="1">
                <a:spLocks noRot="1" noChangeAspect="1" noMove="1" noResize="1" noEditPoints="1" noAdjustHandles="1" noChangeArrowheads="1" noChangeShapeType="1" noTextEdit="1"/>
              </p:cNvSpPr>
              <p:nvPr/>
            </p:nvSpPr>
            <p:spPr>
              <a:xfrm>
                <a:off x="5917020" y="3744813"/>
                <a:ext cx="385041" cy="670568"/>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13F6E7ED-9F67-41D5-8A0E-217E0B415672}"/>
                  </a:ext>
                </a:extLst>
              </p:cNvPr>
              <p:cNvSpPr txBox="1"/>
              <p:nvPr/>
            </p:nvSpPr>
            <p:spPr>
              <a:xfrm>
                <a:off x="7051229" y="3907069"/>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88%</m:t>
                      </m:r>
                    </m:oMath>
                  </m:oMathPara>
                </a14:m>
                <a:endParaRPr lang="en-GB" sz="1400" dirty="0"/>
              </a:p>
            </p:txBody>
          </p:sp>
        </mc:Choice>
        <mc:Fallback xmlns="">
          <p:sp>
            <p:nvSpPr>
              <p:cNvPr id="244" name="TextBox 243">
                <a:extLst>
                  <a:ext uri="{FF2B5EF4-FFF2-40B4-BE49-F238E27FC236}">
                    <a16:creationId xmlns:a16="http://schemas.microsoft.com/office/drawing/2014/main" id="{13F6E7ED-9F67-41D5-8A0E-217E0B415672}"/>
                  </a:ext>
                </a:extLst>
              </p:cNvPr>
              <p:cNvSpPr txBox="1">
                <a:spLocks noRot="1" noChangeAspect="1" noMove="1" noResize="1" noEditPoints="1" noAdjustHandles="1" noChangeArrowheads="1" noChangeShapeType="1" noTextEdit="1"/>
              </p:cNvSpPr>
              <p:nvPr/>
            </p:nvSpPr>
            <p:spPr>
              <a:xfrm>
                <a:off x="7051229" y="3907069"/>
                <a:ext cx="755335" cy="400110"/>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5" name="TextBox 244">
                <a:extLst>
                  <a:ext uri="{FF2B5EF4-FFF2-40B4-BE49-F238E27FC236}">
                    <a16:creationId xmlns:a16="http://schemas.microsoft.com/office/drawing/2014/main" id="{237FA74E-664E-43C3-A896-F0BE830BC9A8}"/>
                  </a:ext>
                </a:extLst>
              </p:cNvPr>
              <p:cNvSpPr txBox="1"/>
              <p:nvPr/>
            </p:nvSpPr>
            <p:spPr>
              <a:xfrm>
                <a:off x="8563506" y="3907069"/>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m:t>
                      </m:r>
                    </m:oMath>
                  </m:oMathPara>
                </a14:m>
                <a:endParaRPr lang="en-GB" sz="1400" dirty="0"/>
              </a:p>
            </p:txBody>
          </p:sp>
        </mc:Choice>
        <mc:Fallback xmlns="">
          <p:sp>
            <p:nvSpPr>
              <p:cNvPr id="245" name="TextBox 244">
                <a:extLst>
                  <a:ext uri="{FF2B5EF4-FFF2-40B4-BE49-F238E27FC236}">
                    <a16:creationId xmlns:a16="http://schemas.microsoft.com/office/drawing/2014/main" id="{237FA74E-664E-43C3-A896-F0BE830BC9A8}"/>
                  </a:ext>
                </a:extLst>
              </p:cNvPr>
              <p:cNvSpPr txBox="1">
                <a:spLocks noRot="1" noChangeAspect="1" noMove="1" noResize="1" noEditPoints="1" noAdjustHandles="1" noChangeArrowheads="1" noChangeShapeType="1" noTextEdit="1"/>
              </p:cNvSpPr>
              <p:nvPr/>
            </p:nvSpPr>
            <p:spPr>
              <a:xfrm>
                <a:off x="8563506" y="3907069"/>
                <a:ext cx="723275" cy="400110"/>
              </a:xfrm>
              <a:prstGeom prst="rect">
                <a:avLst/>
              </a:prstGeom>
              <a:blipFill>
                <a:blip r:embed="rId22"/>
                <a:stretch>
                  <a:fillRect/>
                </a:stretch>
              </a:blipFill>
            </p:spPr>
            <p:txBody>
              <a:bodyPr/>
              <a:lstStyle/>
              <a:p>
                <a:r>
                  <a:rPr lang="en-GB">
                    <a:noFill/>
                  </a:rPr>
                  <a:t> </a:t>
                </a:r>
              </a:p>
            </p:txBody>
          </p:sp>
        </mc:Fallback>
      </mc:AlternateContent>
      <p:sp>
        <p:nvSpPr>
          <p:cNvPr id="246" name="Rectangle: Rounded Corners 245">
            <a:extLst>
              <a:ext uri="{FF2B5EF4-FFF2-40B4-BE49-F238E27FC236}">
                <a16:creationId xmlns:a16="http://schemas.microsoft.com/office/drawing/2014/main" id="{61531BC3-B191-4E84-929F-6C90BC81856B}"/>
              </a:ext>
            </a:extLst>
          </p:cNvPr>
          <p:cNvSpPr/>
          <p:nvPr/>
        </p:nvSpPr>
        <p:spPr>
          <a:xfrm>
            <a:off x="5099590" y="4448908"/>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47" name="TextBox 246">
            <a:extLst>
              <a:ext uri="{FF2B5EF4-FFF2-40B4-BE49-F238E27FC236}">
                <a16:creationId xmlns:a16="http://schemas.microsoft.com/office/drawing/2014/main" id="{0B46A413-40D8-4E49-91B1-808B95D8AE09}"/>
              </a:ext>
            </a:extLst>
          </p:cNvPr>
          <p:cNvSpPr txBox="1"/>
          <p:nvPr/>
        </p:nvSpPr>
        <p:spPr>
          <a:xfrm>
            <a:off x="5353796" y="5157165"/>
            <a:ext cx="4374531"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2B056727-7DB1-4EFB-8E46-7BEDDCFCDD60}"/>
                  </a:ext>
                </a:extLst>
              </p:cNvPr>
              <p:cNvSpPr txBox="1"/>
              <p:nvPr/>
            </p:nvSpPr>
            <p:spPr>
              <a:xfrm>
                <a:off x="5776343" y="556482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94%</m:t>
                      </m:r>
                    </m:oMath>
                  </m:oMathPara>
                </a14:m>
                <a:endParaRPr lang="en-GB" sz="1400" dirty="0"/>
              </a:p>
            </p:txBody>
          </p:sp>
        </mc:Choice>
        <mc:Fallback xmlns="">
          <p:sp>
            <p:nvSpPr>
              <p:cNvPr id="248" name="TextBox 247">
                <a:extLst>
                  <a:ext uri="{FF2B5EF4-FFF2-40B4-BE49-F238E27FC236}">
                    <a16:creationId xmlns:a16="http://schemas.microsoft.com/office/drawing/2014/main" id="{2B056727-7DB1-4EFB-8E46-7BEDDCFCDD60}"/>
                  </a:ext>
                </a:extLst>
              </p:cNvPr>
              <p:cNvSpPr txBox="1">
                <a:spLocks noRot="1" noChangeAspect="1" noMove="1" noResize="1" noEditPoints="1" noAdjustHandles="1" noChangeArrowheads="1" noChangeShapeType="1" noTextEdit="1"/>
              </p:cNvSpPr>
              <p:nvPr/>
            </p:nvSpPr>
            <p:spPr>
              <a:xfrm>
                <a:off x="5776343" y="5564821"/>
                <a:ext cx="755335" cy="400110"/>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9" name="TextBox 248">
                <a:extLst>
                  <a:ext uri="{FF2B5EF4-FFF2-40B4-BE49-F238E27FC236}">
                    <a16:creationId xmlns:a16="http://schemas.microsoft.com/office/drawing/2014/main" id="{922F69DB-0910-4245-A3D6-D3F028097209}"/>
                  </a:ext>
                </a:extLst>
              </p:cNvPr>
              <p:cNvSpPr txBox="1"/>
              <p:nvPr/>
            </p:nvSpPr>
            <p:spPr>
              <a:xfrm>
                <a:off x="7183113" y="5410553"/>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19</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249" name="TextBox 248">
                <a:extLst>
                  <a:ext uri="{FF2B5EF4-FFF2-40B4-BE49-F238E27FC236}">
                    <a16:creationId xmlns:a16="http://schemas.microsoft.com/office/drawing/2014/main" id="{922F69DB-0910-4245-A3D6-D3F028097209}"/>
                  </a:ext>
                </a:extLst>
              </p:cNvPr>
              <p:cNvSpPr txBox="1">
                <a:spLocks noRot="1" noChangeAspect="1" noMove="1" noResize="1" noEditPoints="1" noAdjustHandles="1" noChangeArrowheads="1" noChangeShapeType="1" noTextEdit="1"/>
              </p:cNvSpPr>
              <p:nvPr/>
            </p:nvSpPr>
            <p:spPr>
              <a:xfrm>
                <a:off x="7183113" y="5410553"/>
                <a:ext cx="527709" cy="670568"/>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0" name="TextBox 249">
                <a:extLst>
                  <a:ext uri="{FF2B5EF4-FFF2-40B4-BE49-F238E27FC236}">
                    <a16:creationId xmlns:a16="http://schemas.microsoft.com/office/drawing/2014/main" id="{DCD37EDE-186C-4E5B-BF98-5C39080CBB46}"/>
                  </a:ext>
                </a:extLst>
              </p:cNvPr>
              <p:cNvSpPr txBox="1"/>
              <p:nvPr/>
            </p:nvSpPr>
            <p:spPr>
              <a:xfrm>
                <a:off x="8563506" y="5560023"/>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0.49</m:t>
                      </m:r>
                    </m:oMath>
                  </m:oMathPara>
                </a14:m>
                <a:endParaRPr lang="en-GB" sz="1400" dirty="0"/>
              </a:p>
            </p:txBody>
          </p:sp>
        </mc:Choice>
        <mc:Fallback xmlns="">
          <p:sp>
            <p:nvSpPr>
              <p:cNvPr id="250" name="TextBox 249">
                <a:extLst>
                  <a:ext uri="{FF2B5EF4-FFF2-40B4-BE49-F238E27FC236}">
                    <a16:creationId xmlns:a16="http://schemas.microsoft.com/office/drawing/2014/main" id="{DCD37EDE-186C-4E5B-BF98-5C39080CBB46}"/>
                  </a:ext>
                </a:extLst>
              </p:cNvPr>
              <p:cNvSpPr txBox="1">
                <a:spLocks noRot="1" noChangeAspect="1" noMove="1" noResize="1" noEditPoints="1" noAdjustHandles="1" noChangeArrowheads="1" noChangeShapeType="1" noTextEdit="1"/>
              </p:cNvSpPr>
              <p:nvPr/>
            </p:nvSpPr>
            <p:spPr>
              <a:xfrm>
                <a:off x="8563506" y="5560023"/>
                <a:ext cx="723275" cy="400110"/>
              </a:xfrm>
              <a:prstGeom prst="rect">
                <a:avLst/>
              </a:prstGeom>
              <a:blipFill>
                <a:blip r:embed="rId25"/>
                <a:stretch>
                  <a:fillRect/>
                </a:stretch>
              </a:blipFill>
            </p:spPr>
            <p:txBody>
              <a:bodyPr/>
              <a:lstStyle/>
              <a:p>
                <a:r>
                  <a:rPr lang="en-GB">
                    <a:noFill/>
                  </a:rPr>
                  <a:t> </a:t>
                </a:r>
              </a:p>
            </p:txBody>
          </p:sp>
        </mc:Fallback>
      </mc:AlternateContent>
      <p:sp>
        <p:nvSpPr>
          <p:cNvPr id="251" name="Rectangle: Rounded Corners 250">
            <a:extLst>
              <a:ext uri="{FF2B5EF4-FFF2-40B4-BE49-F238E27FC236}">
                <a16:creationId xmlns:a16="http://schemas.microsoft.com/office/drawing/2014/main" id="{BDEAF8CA-00E4-45D5-8042-135C2B7D19B2}"/>
              </a:ext>
            </a:extLst>
          </p:cNvPr>
          <p:cNvSpPr/>
          <p:nvPr/>
        </p:nvSpPr>
        <p:spPr>
          <a:xfrm>
            <a:off x="5099590" y="6101862"/>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265" name="TextBox 264">
                <a:extLst>
                  <a:ext uri="{FF2B5EF4-FFF2-40B4-BE49-F238E27FC236}">
                    <a16:creationId xmlns:a16="http://schemas.microsoft.com/office/drawing/2014/main" id="{756ADF7D-B35D-4A22-B982-734F27348C79}"/>
                  </a:ext>
                </a:extLst>
              </p:cNvPr>
              <p:cNvSpPr txBox="1"/>
              <p:nvPr/>
            </p:nvSpPr>
            <p:spPr>
              <a:xfrm>
                <a:off x="2980389" y="4203206"/>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17</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65" name="TextBox 264">
                <a:extLst>
                  <a:ext uri="{FF2B5EF4-FFF2-40B4-BE49-F238E27FC236}">
                    <a16:creationId xmlns:a16="http://schemas.microsoft.com/office/drawing/2014/main" id="{756ADF7D-B35D-4A22-B982-734F27348C79}"/>
                  </a:ext>
                </a:extLst>
              </p:cNvPr>
              <p:cNvSpPr txBox="1">
                <a:spLocks noRot="1" noChangeAspect="1" noMove="1" noResize="1" noEditPoints="1" noAdjustHandles="1" noChangeArrowheads="1" noChangeShapeType="1" noTextEdit="1"/>
              </p:cNvSpPr>
              <p:nvPr/>
            </p:nvSpPr>
            <p:spPr>
              <a:xfrm>
                <a:off x="2980389" y="4203206"/>
                <a:ext cx="527709" cy="670505"/>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7C7E50F0-FEC8-402C-8D9D-95DAAB912E9F}"/>
                  </a:ext>
                </a:extLst>
              </p:cNvPr>
              <p:cNvSpPr txBox="1"/>
              <p:nvPr/>
            </p:nvSpPr>
            <p:spPr>
              <a:xfrm>
                <a:off x="3200198" y="59880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14</m:t>
                          </m:r>
                        </m:num>
                        <m:den>
                          <m:r>
                            <a:rPr lang="en-GB" sz="2000" b="0" i="1" dirty="0" smtClean="0">
                              <a:latin typeface="Cambria Math" panose="02040503050406030204" pitchFamily="18" charset="0"/>
                            </a:rPr>
                            <m:t>40</m:t>
                          </m:r>
                        </m:den>
                      </m:f>
                    </m:oMath>
                  </m:oMathPara>
                </a14:m>
                <a:endParaRPr lang="en-GB" sz="1400" dirty="0"/>
              </a:p>
            </p:txBody>
          </p:sp>
        </mc:Choice>
        <mc:Fallback xmlns="">
          <p:sp>
            <p:nvSpPr>
              <p:cNvPr id="269" name="TextBox 268">
                <a:extLst>
                  <a:ext uri="{FF2B5EF4-FFF2-40B4-BE49-F238E27FC236}">
                    <a16:creationId xmlns:a16="http://schemas.microsoft.com/office/drawing/2014/main" id="{7C7E50F0-FEC8-402C-8D9D-95DAAB912E9F}"/>
                  </a:ext>
                </a:extLst>
              </p:cNvPr>
              <p:cNvSpPr txBox="1">
                <a:spLocks noRot="1" noChangeAspect="1" noMove="1" noResize="1" noEditPoints="1" noAdjustHandles="1" noChangeArrowheads="1" noChangeShapeType="1" noTextEdit="1"/>
              </p:cNvSpPr>
              <p:nvPr/>
            </p:nvSpPr>
            <p:spPr>
              <a:xfrm>
                <a:off x="3200198" y="5988045"/>
                <a:ext cx="527709" cy="670568"/>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04AE860E-C0B3-4C85-B6F3-A9A0A13210AB}"/>
                  </a:ext>
                </a:extLst>
              </p:cNvPr>
              <p:cNvSpPr txBox="1"/>
              <p:nvPr/>
            </p:nvSpPr>
            <p:spPr>
              <a:xfrm>
                <a:off x="1380189" y="59880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270" name="TextBox 269">
                <a:extLst>
                  <a:ext uri="{FF2B5EF4-FFF2-40B4-BE49-F238E27FC236}">
                    <a16:creationId xmlns:a16="http://schemas.microsoft.com/office/drawing/2014/main" id="{04AE860E-C0B3-4C85-B6F3-A9A0A13210AB}"/>
                  </a:ext>
                </a:extLst>
              </p:cNvPr>
              <p:cNvSpPr txBox="1">
                <a:spLocks noRot="1" noChangeAspect="1" noMove="1" noResize="1" noEditPoints="1" noAdjustHandles="1" noChangeArrowheads="1" noChangeShapeType="1" noTextEdit="1"/>
              </p:cNvSpPr>
              <p:nvPr/>
            </p:nvSpPr>
            <p:spPr>
              <a:xfrm>
                <a:off x="1380189" y="5988045"/>
                <a:ext cx="385041" cy="670568"/>
              </a:xfrm>
              <a:prstGeom prst="rect">
                <a:avLst/>
              </a:prstGeom>
              <a:blipFill>
                <a:blip r:embed="rId34"/>
                <a:stretch>
                  <a:fillRect/>
                </a:stretch>
              </a:blipFill>
            </p:spPr>
            <p:txBody>
              <a:bodyPr/>
              <a:lstStyle/>
              <a:p>
                <a:r>
                  <a:rPr lang="en-GB">
                    <a:noFill/>
                  </a:rPr>
                  <a:t> </a:t>
                </a:r>
              </a:p>
            </p:txBody>
          </p:sp>
        </mc:Fallback>
      </mc:AlternateContent>
      <p:sp>
        <p:nvSpPr>
          <p:cNvPr id="4" name="Oval 3">
            <a:extLst>
              <a:ext uri="{FF2B5EF4-FFF2-40B4-BE49-F238E27FC236}">
                <a16:creationId xmlns:a16="http://schemas.microsoft.com/office/drawing/2014/main" id="{5439B483-2826-5A11-FBD3-DB51A862E10E}"/>
              </a:ext>
            </a:extLst>
          </p:cNvPr>
          <p:cNvSpPr/>
          <p:nvPr/>
        </p:nvSpPr>
        <p:spPr>
          <a:xfrm>
            <a:off x="1231972" y="1149296"/>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sp>
        <p:nvSpPr>
          <p:cNvPr id="7" name="Oval 6">
            <a:extLst>
              <a:ext uri="{FF2B5EF4-FFF2-40B4-BE49-F238E27FC236}">
                <a16:creationId xmlns:a16="http://schemas.microsoft.com/office/drawing/2014/main" id="{F457B760-266F-DCD6-0C9B-178DA9618427}"/>
              </a:ext>
            </a:extLst>
          </p:cNvPr>
          <p:cNvSpPr/>
          <p:nvPr/>
        </p:nvSpPr>
        <p:spPr>
          <a:xfrm>
            <a:off x="2254874" y="2708063"/>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sp>
        <p:nvSpPr>
          <p:cNvPr id="12" name="Oval 11">
            <a:extLst>
              <a:ext uri="{FF2B5EF4-FFF2-40B4-BE49-F238E27FC236}">
                <a16:creationId xmlns:a16="http://schemas.microsoft.com/office/drawing/2014/main" id="{2DCAE4B9-31ED-2D07-E070-E08DEDF6CB7D}"/>
              </a:ext>
            </a:extLst>
          </p:cNvPr>
          <p:cNvSpPr/>
          <p:nvPr/>
        </p:nvSpPr>
        <p:spPr>
          <a:xfrm>
            <a:off x="7357188" y="1129330"/>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sp>
        <p:nvSpPr>
          <p:cNvPr id="14" name="Oval 13">
            <a:extLst>
              <a:ext uri="{FF2B5EF4-FFF2-40B4-BE49-F238E27FC236}">
                <a16:creationId xmlns:a16="http://schemas.microsoft.com/office/drawing/2014/main" id="{192BF569-02D7-FA2C-2F58-969D780D9445}"/>
              </a:ext>
            </a:extLst>
          </p:cNvPr>
          <p:cNvSpPr/>
          <p:nvPr/>
        </p:nvSpPr>
        <p:spPr>
          <a:xfrm>
            <a:off x="6248308" y="2693103"/>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cxnSp>
        <p:nvCxnSpPr>
          <p:cNvPr id="18" name="Straight Arrow Connector 17">
            <a:extLst>
              <a:ext uri="{FF2B5EF4-FFF2-40B4-BE49-F238E27FC236}">
                <a16:creationId xmlns:a16="http://schemas.microsoft.com/office/drawing/2014/main" id="{019FB748-4F87-1C0E-5E2E-DED8EB0EE82C}"/>
              </a:ext>
            </a:extLst>
          </p:cNvPr>
          <p:cNvCxnSpPr/>
          <p:nvPr/>
        </p:nvCxnSpPr>
        <p:spPr>
          <a:xfrm>
            <a:off x="856763" y="5229365"/>
            <a:ext cx="376429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DDF3E93-327F-BAFC-DF85-7251DDDEBF2A}"/>
              </a:ext>
            </a:extLst>
          </p:cNvPr>
          <p:cNvSpPr txBox="1"/>
          <p:nvPr/>
        </p:nvSpPr>
        <p:spPr>
          <a:xfrm>
            <a:off x="774446" y="4873711"/>
            <a:ext cx="725155" cy="369332"/>
          </a:xfrm>
          <a:prstGeom prst="rect">
            <a:avLst/>
          </a:prstGeom>
          <a:noFill/>
        </p:spPr>
        <p:txBody>
          <a:bodyPr wrap="square" rtlCol="0">
            <a:spAutoFit/>
          </a:bodyPr>
          <a:lstStyle/>
          <a:p>
            <a:r>
              <a:rPr lang="ky-KG" b="1" dirty="0">
                <a:solidFill>
                  <a:srgbClr val="00B0F0"/>
                </a:solidFill>
              </a:rPr>
              <a:t>0,65</a:t>
            </a:r>
            <a:endParaRPr lang="en-US" b="1" dirty="0">
              <a:solidFill>
                <a:srgbClr val="00B0F0"/>
              </a:solidFill>
            </a:endParaRPr>
          </a:p>
        </p:txBody>
      </p:sp>
      <p:sp>
        <p:nvSpPr>
          <p:cNvPr id="21" name="TextBox 20">
            <a:extLst>
              <a:ext uri="{FF2B5EF4-FFF2-40B4-BE49-F238E27FC236}">
                <a16:creationId xmlns:a16="http://schemas.microsoft.com/office/drawing/2014/main" id="{9C4CC53C-9C56-B219-FA5F-69BB9950FAC5}"/>
              </a:ext>
            </a:extLst>
          </p:cNvPr>
          <p:cNvSpPr txBox="1"/>
          <p:nvPr/>
        </p:nvSpPr>
        <p:spPr>
          <a:xfrm>
            <a:off x="2968444" y="4884243"/>
            <a:ext cx="725155" cy="369332"/>
          </a:xfrm>
          <a:prstGeom prst="rect">
            <a:avLst/>
          </a:prstGeom>
          <a:noFill/>
        </p:spPr>
        <p:txBody>
          <a:bodyPr wrap="square" rtlCol="0">
            <a:spAutoFit/>
          </a:bodyPr>
          <a:lstStyle/>
          <a:p>
            <a:r>
              <a:rPr lang="ky-KG" dirty="0">
                <a:solidFill>
                  <a:srgbClr val="00B0F0"/>
                </a:solidFill>
              </a:rPr>
              <a:t>0,68</a:t>
            </a:r>
            <a:endParaRPr lang="en-US" dirty="0">
              <a:solidFill>
                <a:srgbClr val="00B0F0"/>
              </a:solidFill>
            </a:endParaRPr>
          </a:p>
        </p:txBody>
      </p:sp>
      <p:cxnSp>
        <p:nvCxnSpPr>
          <p:cNvPr id="29" name="Straight Arrow Connector 28">
            <a:extLst>
              <a:ext uri="{FF2B5EF4-FFF2-40B4-BE49-F238E27FC236}">
                <a16:creationId xmlns:a16="http://schemas.microsoft.com/office/drawing/2014/main" id="{8A50161C-CC5A-E9ED-404C-82A2CA403AD4}"/>
              </a:ext>
            </a:extLst>
          </p:cNvPr>
          <p:cNvCxnSpPr/>
          <p:nvPr/>
        </p:nvCxnSpPr>
        <p:spPr>
          <a:xfrm flipH="1">
            <a:off x="817481" y="6752494"/>
            <a:ext cx="363154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BAB78D8-3AD4-E995-2D0B-4C6A58F658CC}"/>
              </a:ext>
            </a:extLst>
          </p:cNvPr>
          <p:cNvSpPr txBox="1"/>
          <p:nvPr/>
        </p:nvSpPr>
        <p:spPr>
          <a:xfrm>
            <a:off x="3141876" y="5709498"/>
            <a:ext cx="725155" cy="369332"/>
          </a:xfrm>
          <a:prstGeom prst="rect">
            <a:avLst/>
          </a:prstGeom>
          <a:noFill/>
        </p:spPr>
        <p:txBody>
          <a:bodyPr wrap="square" rtlCol="0">
            <a:spAutoFit/>
          </a:bodyPr>
          <a:lstStyle/>
          <a:p>
            <a:r>
              <a:rPr lang="ky-KG" b="1" dirty="0">
                <a:solidFill>
                  <a:srgbClr val="00B0F0"/>
                </a:solidFill>
              </a:rPr>
              <a:t>0,35</a:t>
            </a:r>
            <a:endParaRPr lang="en-US" b="1" dirty="0">
              <a:solidFill>
                <a:srgbClr val="00B0F0"/>
              </a:solidFill>
            </a:endParaRPr>
          </a:p>
        </p:txBody>
      </p:sp>
      <p:sp>
        <p:nvSpPr>
          <p:cNvPr id="31" name="TextBox 30">
            <a:extLst>
              <a:ext uri="{FF2B5EF4-FFF2-40B4-BE49-F238E27FC236}">
                <a16:creationId xmlns:a16="http://schemas.microsoft.com/office/drawing/2014/main" id="{D97D0176-2C32-B187-3E63-B04BD67EDB9E}"/>
              </a:ext>
            </a:extLst>
          </p:cNvPr>
          <p:cNvSpPr txBox="1"/>
          <p:nvPr/>
        </p:nvSpPr>
        <p:spPr>
          <a:xfrm>
            <a:off x="1281993" y="5728333"/>
            <a:ext cx="725155" cy="369332"/>
          </a:xfrm>
          <a:prstGeom prst="rect">
            <a:avLst/>
          </a:prstGeom>
          <a:noFill/>
        </p:spPr>
        <p:txBody>
          <a:bodyPr wrap="square" rtlCol="0">
            <a:spAutoFit/>
          </a:bodyPr>
          <a:lstStyle/>
          <a:p>
            <a:r>
              <a:rPr lang="ky-KG" b="1" dirty="0">
                <a:solidFill>
                  <a:srgbClr val="00B0F0"/>
                </a:solidFill>
              </a:rPr>
              <a:t>0,33</a:t>
            </a:r>
            <a:endParaRPr lang="en-US" b="1" dirty="0">
              <a:solidFill>
                <a:srgbClr val="00B0F0"/>
              </a:solidFill>
            </a:endParaRPr>
          </a:p>
        </p:txBody>
      </p:sp>
      <p:sp>
        <p:nvSpPr>
          <p:cNvPr id="229" name="TextBox 228">
            <a:extLst>
              <a:ext uri="{FF2B5EF4-FFF2-40B4-BE49-F238E27FC236}">
                <a16:creationId xmlns:a16="http://schemas.microsoft.com/office/drawing/2014/main" id="{E8E89E85-E380-5C22-6CDC-2E0153826F6A}"/>
              </a:ext>
            </a:extLst>
          </p:cNvPr>
          <p:cNvSpPr txBox="1"/>
          <p:nvPr/>
        </p:nvSpPr>
        <p:spPr>
          <a:xfrm>
            <a:off x="5771213" y="4599697"/>
            <a:ext cx="725155" cy="369332"/>
          </a:xfrm>
          <a:prstGeom prst="rect">
            <a:avLst/>
          </a:prstGeom>
          <a:noFill/>
        </p:spPr>
        <p:txBody>
          <a:bodyPr wrap="square" rtlCol="0">
            <a:spAutoFit/>
          </a:bodyPr>
          <a:lstStyle/>
          <a:p>
            <a:r>
              <a:rPr lang="ky-KG" b="1" dirty="0">
                <a:solidFill>
                  <a:srgbClr val="00B0F0"/>
                </a:solidFill>
              </a:rPr>
              <a:t>0,09</a:t>
            </a:r>
            <a:endParaRPr lang="en-US" b="1" dirty="0">
              <a:solidFill>
                <a:srgbClr val="00B0F0"/>
              </a:solidFill>
            </a:endParaRPr>
          </a:p>
        </p:txBody>
      </p:sp>
      <mc:AlternateContent xmlns:mc="http://schemas.openxmlformats.org/markup-compatibility/2006">
        <mc:Choice xmlns:a14="http://schemas.microsoft.com/office/drawing/2010/main" Requires="a14">
          <p:sp>
            <p:nvSpPr>
              <p:cNvPr id="230" name="TextBox 229">
                <a:extLst>
                  <a:ext uri="{FF2B5EF4-FFF2-40B4-BE49-F238E27FC236}">
                    <a16:creationId xmlns:a16="http://schemas.microsoft.com/office/drawing/2014/main" id="{AE4371E1-E3FD-0F2E-E276-8F32154AE5BC}"/>
                  </a:ext>
                </a:extLst>
              </p:cNvPr>
              <p:cNvSpPr txBox="1"/>
              <p:nvPr/>
            </p:nvSpPr>
            <p:spPr>
              <a:xfrm>
                <a:off x="7106010" y="4447999"/>
                <a:ext cx="725155" cy="60991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𝟒</m:t>
                          </m:r>
                        </m:num>
                        <m:den>
                          <m:r>
                            <a:rPr lang="ky-KG" b="1" i="1" smtClean="0">
                              <a:solidFill>
                                <a:srgbClr val="00B0F0"/>
                              </a:solidFill>
                              <a:latin typeface="Cambria Math" panose="02040503050406030204" pitchFamily="18" charset="0"/>
                            </a:rPr>
                            <m:t>𝟓</m:t>
                          </m:r>
                        </m:den>
                      </m:f>
                    </m:oMath>
                  </m:oMathPara>
                </a14:m>
                <a:endParaRPr lang="en-US" b="1" dirty="0">
                  <a:solidFill>
                    <a:srgbClr val="00B0F0"/>
                  </a:solidFill>
                </a:endParaRPr>
              </a:p>
            </p:txBody>
          </p:sp>
        </mc:Choice>
        <mc:Fallback>
          <p:sp>
            <p:nvSpPr>
              <p:cNvPr id="230" name="TextBox 229">
                <a:extLst>
                  <a:ext uri="{FF2B5EF4-FFF2-40B4-BE49-F238E27FC236}">
                    <a16:creationId xmlns:a16="http://schemas.microsoft.com/office/drawing/2014/main" id="{AE4371E1-E3FD-0F2E-E276-8F32154AE5BC}"/>
                  </a:ext>
                </a:extLst>
              </p:cNvPr>
              <p:cNvSpPr txBox="1">
                <a:spLocks noRot="1" noChangeAspect="1" noMove="1" noResize="1" noEditPoints="1" noAdjustHandles="1" noChangeArrowheads="1" noChangeShapeType="1" noTextEdit="1"/>
              </p:cNvSpPr>
              <p:nvPr/>
            </p:nvSpPr>
            <p:spPr>
              <a:xfrm>
                <a:off x="7106010" y="4447999"/>
                <a:ext cx="725155" cy="609911"/>
              </a:xfrm>
              <a:prstGeom prst="rect">
                <a:avLst/>
              </a:prstGeom>
              <a:blipFill>
                <a:blip r:embed="rId35"/>
                <a:stretch>
                  <a:fillRect/>
                </a:stretch>
              </a:blipFill>
            </p:spPr>
            <p:txBody>
              <a:bodyPr/>
              <a:lstStyle/>
              <a:p>
                <a:r>
                  <a:rPr lang="en-US">
                    <a:noFill/>
                  </a:rPr>
                  <a:t> </a:t>
                </a:r>
              </a:p>
            </p:txBody>
          </p:sp>
        </mc:Fallback>
      </mc:AlternateContent>
      <p:sp>
        <p:nvSpPr>
          <p:cNvPr id="231" name="TextBox 230">
            <a:extLst>
              <a:ext uri="{FF2B5EF4-FFF2-40B4-BE49-F238E27FC236}">
                <a16:creationId xmlns:a16="http://schemas.microsoft.com/office/drawing/2014/main" id="{38A2596D-7E23-4D5E-25B6-FD24D1B56660}"/>
              </a:ext>
            </a:extLst>
          </p:cNvPr>
          <p:cNvSpPr txBox="1"/>
          <p:nvPr/>
        </p:nvSpPr>
        <p:spPr>
          <a:xfrm>
            <a:off x="8563546" y="4619561"/>
            <a:ext cx="725155" cy="369332"/>
          </a:xfrm>
          <a:prstGeom prst="rect">
            <a:avLst/>
          </a:prstGeom>
          <a:noFill/>
        </p:spPr>
        <p:txBody>
          <a:bodyPr wrap="square" rtlCol="0">
            <a:spAutoFit/>
          </a:bodyPr>
          <a:lstStyle/>
          <a:p>
            <a:r>
              <a:rPr lang="ky-KG" b="1" dirty="0">
                <a:solidFill>
                  <a:srgbClr val="00B0F0"/>
                </a:solidFill>
              </a:rPr>
              <a:t>88%</a:t>
            </a:r>
            <a:endParaRPr lang="en-US" b="1" dirty="0">
              <a:solidFill>
                <a:srgbClr val="00B0F0"/>
              </a:solidFill>
            </a:endParaRPr>
          </a:p>
        </p:txBody>
      </p:sp>
      <p:sp>
        <p:nvSpPr>
          <p:cNvPr id="232" name="TextBox 231">
            <a:extLst>
              <a:ext uri="{FF2B5EF4-FFF2-40B4-BE49-F238E27FC236}">
                <a16:creationId xmlns:a16="http://schemas.microsoft.com/office/drawing/2014/main" id="{928ED6CC-AAFA-5E45-EB93-3F858555C57B}"/>
              </a:ext>
            </a:extLst>
          </p:cNvPr>
          <p:cNvSpPr txBox="1"/>
          <p:nvPr/>
        </p:nvSpPr>
        <p:spPr>
          <a:xfrm>
            <a:off x="5702035" y="6307815"/>
            <a:ext cx="725155" cy="369332"/>
          </a:xfrm>
          <a:prstGeom prst="rect">
            <a:avLst/>
          </a:prstGeom>
          <a:noFill/>
        </p:spPr>
        <p:txBody>
          <a:bodyPr wrap="square" rtlCol="0">
            <a:spAutoFit/>
          </a:bodyPr>
          <a:lstStyle/>
          <a:p>
            <a:r>
              <a:rPr lang="ky-KG" b="1" dirty="0">
                <a:solidFill>
                  <a:srgbClr val="00B0F0"/>
                </a:solidFill>
              </a:rPr>
              <a:t>0,49</a:t>
            </a:r>
            <a:endParaRPr lang="en-US" b="1" dirty="0">
              <a:solidFill>
                <a:srgbClr val="00B0F0"/>
              </a:solidFill>
            </a:endParaRPr>
          </a:p>
        </p:txBody>
      </p:sp>
      <mc:AlternateContent xmlns:mc="http://schemas.openxmlformats.org/markup-compatibility/2006">
        <mc:Choice xmlns:a14="http://schemas.microsoft.com/office/drawing/2010/main" Requires="a14">
          <p:sp>
            <p:nvSpPr>
              <p:cNvPr id="233" name="TextBox 232">
                <a:extLst>
                  <a:ext uri="{FF2B5EF4-FFF2-40B4-BE49-F238E27FC236}">
                    <a16:creationId xmlns:a16="http://schemas.microsoft.com/office/drawing/2014/main" id="{8DB9FF18-E7C0-DBEA-56D4-4485716DE486}"/>
                  </a:ext>
                </a:extLst>
              </p:cNvPr>
              <p:cNvSpPr txBox="1"/>
              <p:nvPr/>
            </p:nvSpPr>
            <p:spPr>
              <a:xfrm>
                <a:off x="8836724" y="6167791"/>
                <a:ext cx="725155" cy="60991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𝟏𝟗</m:t>
                          </m:r>
                        </m:num>
                        <m:den>
                          <m:r>
                            <a:rPr lang="ky-KG" b="1" i="1" smtClean="0">
                              <a:solidFill>
                                <a:srgbClr val="00B0F0"/>
                              </a:solidFill>
                              <a:latin typeface="Cambria Math" panose="02040503050406030204" pitchFamily="18" charset="0"/>
                            </a:rPr>
                            <m:t>𝟐𝟎</m:t>
                          </m:r>
                        </m:den>
                      </m:f>
                    </m:oMath>
                  </m:oMathPara>
                </a14:m>
                <a:endParaRPr lang="en-US" b="1" dirty="0">
                  <a:solidFill>
                    <a:srgbClr val="00B0F0"/>
                  </a:solidFill>
                </a:endParaRPr>
              </a:p>
            </p:txBody>
          </p:sp>
        </mc:Choice>
        <mc:Fallback>
          <p:sp>
            <p:nvSpPr>
              <p:cNvPr id="233" name="TextBox 232">
                <a:extLst>
                  <a:ext uri="{FF2B5EF4-FFF2-40B4-BE49-F238E27FC236}">
                    <a16:creationId xmlns:a16="http://schemas.microsoft.com/office/drawing/2014/main" id="{8DB9FF18-E7C0-DBEA-56D4-4485716DE486}"/>
                  </a:ext>
                </a:extLst>
              </p:cNvPr>
              <p:cNvSpPr txBox="1">
                <a:spLocks noRot="1" noChangeAspect="1" noMove="1" noResize="1" noEditPoints="1" noAdjustHandles="1" noChangeArrowheads="1" noChangeShapeType="1" noTextEdit="1"/>
              </p:cNvSpPr>
              <p:nvPr/>
            </p:nvSpPr>
            <p:spPr>
              <a:xfrm>
                <a:off x="8836724" y="6167791"/>
                <a:ext cx="725155" cy="609911"/>
              </a:xfrm>
              <a:prstGeom prst="rect">
                <a:avLst/>
              </a:prstGeom>
              <a:blipFill>
                <a:blip r:embed="rId36"/>
                <a:stretch>
                  <a:fillRect/>
                </a:stretch>
              </a:blipFill>
            </p:spPr>
            <p:txBody>
              <a:bodyPr/>
              <a:lstStyle/>
              <a:p>
                <a:r>
                  <a:rPr lang="en-US">
                    <a:noFill/>
                  </a:rPr>
                  <a:t> </a:t>
                </a:r>
              </a:p>
            </p:txBody>
          </p:sp>
        </mc:Fallback>
      </mc:AlternateContent>
      <p:sp>
        <p:nvSpPr>
          <p:cNvPr id="237" name="TextBox 236">
            <a:extLst>
              <a:ext uri="{FF2B5EF4-FFF2-40B4-BE49-F238E27FC236}">
                <a16:creationId xmlns:a16="http://schemas.microsoft.com/office/drawing/2014/main" id="{5FC11FEB-F9A9-92E4-CA6C-EE2F54ABB3A2}"/>
              </a:ext>
            </a:extLst>
          </p:cNvPr>
          <p:cNvSpPr txBox="1"/>
          <p:nvPr/>
        </p:nvSpPr>
        <p:spPr>
          <a:xfrm>
            <a:off x="7195028" y="6263155"/>
            <a:ext cx="725155" cy="369332"/>
          </a:xfrm>
          <a:prstGeom prst="rect">
            <a:avLst/>
          </a:prstGeom>
          <a:noFill/>
        </p:spPr>
        <p:txBody>
          <a:bodyPr wrap="square" rtlCol="0">
            <a:spAutoFit/>
          </a:bodyPr>
          <a:lstStyle/>
          <a:p>
            <a:r>
              <a:rPr lang="ky-KG" b="1" dirty="0">
                <a:solidFill>
                  <a:srgbClr val="00B0F0"/>
                </a:solidFill>
              </a:rPr>
              <a:t>94%</a:t>
            </a:r>
            <a:endParaRPr lang="en-US" b="1" dirty="0">
              <a:solidFill>
                <a:srgbClr val="00B0F0"/>
              </a:solidFill>
            </a:endParaRPr>
          </a:p>
        </p:txBody>
      </p:sp>
    </p:spTree>
    <p:extLst>
      <p:ext uri="{BB962C8B-B14F-4D97-AF65-F5344CB8AC3E}">
        <p14:creationId xmlns:p14="http://schemas.microsoft.com/office/powerpoint/2010/main" val="3929197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5</a:t>
            </a:r>
          </a:p>
        </p:txBody>
      </p:sp>
      <p:grpSp>
        <p:nvGrpSpPr>
          <p:cNvPr id="55" name="Group 54">
            <a:extLst>
              <a:ext uri="{FF2B5EF4-FFF2-40B4-BE49-F238E27FC236}">
                <a16:creationId xmlns:a16="http://schemas.microsoft.com/office/drawing/2014/main" id="{D4C0F71F-3163-4FF1-9920-9FE630D43BC7}"/>
              </a:ext>
            </a:extLst>
          </p:cNvPr>
          <p:cNvGrpSpPr/>
          <p:nvPr/>
        </p:nvGrpSpPr>
        <p:grpSpPr>
          <a:xfrm>
            <a:off x="4976865" y="17496"/>
            <a:ext cx="4899728"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6</a:t>
            </a:r>
          </a:p>
        </p:txBody>
      </p:sp>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7</a:t>
            </a:r>
          </a:p>
        </p:txBody>
      </p:sp>
      <p:grpSp>
        <p:nvGrpSpPr>
          <p:cNvPr id="63" name="Group 62">
            <a:extLst>
              <a:ext uri="{FF2B5EF4-FFF2-40B4-BE49-F238E27FC236}">
                <a16:creationId xmlns:a16="http://schemas.microsoft.com/office/drawing/2014/main" id="{465703F2-EDDF-4694-B8ED-423480DA8D47}"/>
              </a:ext>
            </a:extLst>
          </p:cNvPr>
          <p:cNvGrpSpPr/>
          <p:nvPr/>
        </p:nvGrpSpPr>
        <p:grpSpPr>
          <a:xfrm>
            <a:off x="4988774" y="3464185"/>
            <a:ext cx="4899728"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8</a:t>
            </a:r>
          </a:p>
        </p:txBody>
      </p:sp>
      <p:sp>
        <p:nvSpPr>
          <p:cNvPr id="16" name="TextBox 15">
            <a:extLst>
              <a:ext uri="{FF2B5EF4-FFF2-40B4-BE49-F238E27FC236}">
                <a16:creationId xmlns:a16="http://schemas.microsoft.com/office/drawing/2014/main" id="{3A5369A5-0158-434C-8132-D9B854A3D158}"/>
              </a:ext>
            </a:extLst>
          </p:cNvPr>
          <p:cNvSpPr txBox="1"/>
          <p:nvPr/>
        </p:nvSpPr>
        <p:spPr>
          <a:xfrm>
            <a:off x="584139" y="31169"/>
            <a:ext cx="4155113" cy="338554"/>
          </a:xfrm>
          <a:prstGeom prst="rect">
            <a:avLst/>
          </a:prstGeom>
          <a:noFill/>
        </p:spPr>
        <p:txBody>
          <a:bodyPr wrap="none" rtlCol="0">
            <a:spAutoFit/>
          </a:bodyPr>
          <a:lstStyle/>
          <a:p>
            <a:pPr algn="ctr"/>
            <a:r>
              <a:rPr lang="ru-RU" sz="1600" dirty="0"/>
              <a:t>Бул сандарды чоңдон кичинеге карай ирээтте.</a:t>
            </a:r>
            <a:endParaRPr lang="en-GB" sz="16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D51F810-01E9-4352-B65E-896847AFD54D}"/>
                  </a:ext>
                </a:extLst>
              </p:cNvPr>
              <p:cNvSpPr txBox="1"/>
              <p:nvPr/>
            </p:nvSpPr>
            <p:spPr>
              <a:xfrm>
                <a:off x="817678" y="4868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85%</m:t>
                      </m:r>
                    </m:oMath>
                  </m:oMathPara>
                </a14:m>
                <a:endParaRPr lang="en-GB" sz="1400" dirty="0"/>
              </a:p>
            </p:txBody>
          </p:sp>
        </mc:Choice>
        <mc:Fallback xmlns="">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817678" y="486861"/>
                <a:ext cx="755335" cy="40011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E087569-4A2C-466C-9C90-A2937CF648BD}"/>
                  </a:ext>
                </a:extLst>
              </p:cNvPr>
              <p:cNvSpPr txBox="1"/>
              <p:nvPr/>
            </p:nvSpPr>
            <p:spPr>
              <a:xfrm>
                <a:off x="2320501" y="4868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0.9</m:t>
                      </m:r>
                    </m:oMath>
                  </m:oMathPara>
                </a14:m>
                <a:endParaRPr lang="en-GB" sz="1400" dirty="0"/>
              </a:p>
            </p:txBody>
          </p:sp>
        </mc:Choice>
        <mc:Fallback xmlns="">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2320501" y="486861"/>
                <a:ext cx="580607" cy="400110"/>
              </a:xfrm>
              <a:prstGeom prst="rect">
                <a:avLst/>
              </a:prstGeom>
              <a:blipFill>
                <a:blip r:embed="rId4"/>
                <a:stretch>
                  <a:fillRect/>
                </a:stretch>
              </a:blipFill>
            </p:spPr>
            <p:txBody>
              <a:bodyPr/>
              <a:lstStyle/>
              <a:p>
                <a:r>
                  <a:rPr lang="en-GB">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05559"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9" name="TextBox 28">
            <a:extLst>
              <a:ext uri="{FF2B5EF4-FFF2-40B4-BE49-F238E27FC236}">
                <a16:creationId xmlns:a16="http://schemas.microsoft.com/office/drawing/2014/main" id="{C0F10564-3A53-4524-AF43-BF782987DDBE}"/>
              </a:ext>
            </a:extLst>
          </p:cNvPr>
          <p:cNvSpPr txBox="1"/>
          <p:nvPr/>
        </p:nvSpPr>
        <p:spPr>
          <a:xfrm>
            <a:off x="452111" y="1733903"/>
            <a:ext cx="4155112" cy="338554"/>
          </a:xfrm>
          <a:prstGeom prst="rect">
            <a:avLst/>
          </a:prstGeom>
          <a:noFill/>
        </p:spPr>
        <p:txBody>
          <a:bodyPr wrap="none" rtlCol="0">
            <a:spAutoFit/>
          </a:bodyPr>
          <a:lstStyle/>
          <a:p>
            <a:pPr algn="ctr"/>
            <a:r>
              <a:rPr lang="ru-RU" sz="1600" dirty="0"/>
              <a:t>Бул сандарды чоңдон кичинеге карай ирээтте.</a:t>
            </a:r>
            <a:endParaRPr lang="en-GB" sz="16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CE2F57E-2DD3-4CC7-A08C-966683430547}"/>
                  </a:ext>
                </a:extLst>
              </p:cNvPr>
              <p:cNvSpPr txBox="1"/>
              <p:nvPr/>
            </p:nvSpPr>
            <p:spPr>
              <a:xfrm>
                <a:off x="782312" y="212702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71%</m:t>
                      </m:r>
                    </m:oMath>
                  </m:oMathPara>
                </a14:m>
                <a:endParaRPr lang="en-GB" sz="1400" dirty="0"/>
              </a:p>
            </p:txBody>
          </p:sp>
        </mc:Choice>
        <mc:Fallback xmlns="">
          <p:sp>
            <p:nvSpPr>
              <p:cNvPr id="30" name="TextBox 29">
                <a:extLst>
                  <a:ext uri="{FF2B5EF4-FFF2-40B4-BE49-F238E27FC236}">
                    <a16:creationId xmlns:a16="http://schemas.microsoft.com/office/drawing/2014/main" id="{4CE2F57E-2DD3-4CC7-A08C-966683430547}"/>
                  </a:ext>
                </a:extLst>
              </p:cNvPr>
              <p:cNvSpPr txBox="1">
                <a:spLocks noRot="1" noChangeAspect="1" noMove="1" noResize="1" noEditPoints="1" noAdjustHandles="1" noChangeArrowheads="1" noChangeShapeType="1" noTextEdit="1"/>
              </p:cNvSpPr>
              <p:nvPr/>
            </p:nvSpPr>
            <p:spPr>
              <a:xfrm>
                <a:off x="782312" y="2127028"/>
                <a:ext cx="755335"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644E43-8775-4B1C-B327-E4595C4F1D7A}"/>
                  </a:ext>
                </a:extLst>
              </p:cNvPr>
              <p:cNvSpPr txBox="1"/>
              <p:nvPr/>
            </p:nvSpPr>
            <p:spPr>
              <a:xfrm>
                <a:off x="2189082" y="1990345"/>
                <a:ext cx="527709" cy="6971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i="1" dirty="0">
                              <a:latin typeface="Cambria Math" panose="02040503050406030204" pitchFamily="18" charset="0"/>
                            </a:rPr>
                            <m:t>3</m:t>
                          </m:r>
                          <m:r>
                            <a:rPr lang="en-GB" sz="2000" b="0" i="1" dirty="0" smtClean="0">
                              <a:latin typeface="Cambria Math" panose="02040503050406030204" pitchFamily="18" charset="0"/>
                            </a:rPr>
                            <m:t>0</m:t>
                          </m:r>
                        </m:den>
                      </m:f>
                    </m:oMath>
                  </m:oMathPara>
                </a14:m>
                <a:endParaRPr lang="en-GB" sz="1400" dirty="0"/>
              </a:p>
            </p:txBody>
          </p:sp>
        </mc:Choice>
        <mc:Fallback xmlns="">
          <p:sp>
            <p:nvSpPr>
              <p:cNvPr id="31" name="TextBox 30">
                <a:extLst>
                  <a:ext uri="{FF2B5EF4-FFF2-40B4-BE49-F238E27FC236}">
                    <a16:creationId xmlns:a16="http://schemas.microsoft.com/office/drawing/2014/main" id="{F6644E43-8775-4B1C-B327-E4595C4F1D7A}"/>
                  </a:ext>
                </a:extLst>
              </p:cNvPr>
              <p:cNvSpPr txBox="1">
                <a:spLocks noRot="1" noChangeAspect="1" noMove="1" noResize="1" noEditPoints="1" noAdjustHandles="1" noChangeArrowheads="1" noChangeShapeType="1" noTextEdit="1"/>
              </p:cNvSpPr>
              <p:nvPr/>
            </p:nvSpPr>
            <p:spPr>
              <a:xfrm>
                <a:off x="2189082" y="1990345"/>
                <a:ext cx="527709" cy="69711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E5B71B2-D149-4A7E-B957-918744F59F38}"/>
                  </a:ext>
                </a:extLst>
              </p:cNvPr>
              <p:cNvSpPr txBox="1"/>
              <p:nvPr/>
            </p:nvSpPr>
            <p:spPr>
              <a:xfrm>
                <a:off x="3569475" y="2139815"/>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0.701</m:t>
                      </m:r>
                    </m:oMath>
                  </m:oMathPara>
                </a14:m>
                <a:endParaRPr lang="en-GB" sz="1400" dirty="0"/>
              </a:p>
            </p:txBody>
          </p:sp>
        </mc:Choice>
        <mc:Fallback xmlns="">
          <p:sp>
            <p:nvSpPr>
              <p:cNvPr id="32" name="TextBox 31">
                <a:extLst>
                  <a:ext uri="{FF2B5EF4-FFF2-40B4-BE49-F238E27FC236}">
                    <a16:creationId xmlns:a16="http://schemas.microsoft.com/office/drawing/2014/main" id="{EE5B71B2-D149-4A7E-B957-918744F59F38}"/>
                  </a:ext>
                </a:extLst>
              </p:cNvPr>
              <p:cNvSpPr txBox="1">
                <a:spLocks noRot="1" noChangeAspect="1" noMove="1" noResize="1" noEditPoints="1" noAdjustHandles="1" noChangeArrowheads="1" noChangeShapeType="1" noTextEdit="1"/>
              </p:cNvSpPr>
              <p:nvPr/>
            </p:nvSpPr>
            <p:spPr>
              <a:xfrm>
                <a:off x="3569475" y="2139815"/>
                <a:ext cx="865943" cy="400110"/>
              </a:xfrm>
              <a:prstGeom prst="rect">
                <a:avLst/>
              </a:prstGeom>
              <a:blipFill>
                <a:blip r:embed="rId7"/>
                <a:stretch>
                  <a:fillRect/>
                </a:stretch>
              </a:blipFill>
            </p:spPr>
            <p:txBody>
              <a:bodyPr/>
              <a:lstStyle/>
              <a:p>
                <a:r>
                  <a:rPr lang="en-GB">
                    <a:noFill/>
                  </a:rPr>
                  <a:t> </a:t>
                </a:r>
              </a:p>
            </p:txBody>
          </p:sp>
        </mc:Fallback>
      </mc:AlternateContent>
      <p:sp>
        <p:nvSpPr>
          <p:cNvPr id="33" name="Rectangle: Rounded Corners 32">
            <a:extLst>
              <a:ext uri="{FF2B5EF4-FFF2-40B4-BE49-F238E27FC236}">
                <a16:creationId xmlns:a16="http://schemas.microsoft.com/office/drawing/2014/main" id="{A7424195-2311-4EF1-B160-78B35D0AEB43}"/>
              </a:ext>
            </a:extLst>
          </p:cNvPr>
          <p:cNvSpPr/>
          <p:nvPr/>
        </p:nvSpPr>
        <p:spPr>
          <a:xfrm>
            <a:off x="105559"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1" name="TextBox 140">
            <a:extLst>
              <a:ext uri="{FF2B5EF4-FFF2-40B4-BE49-F238E27FC236}">
                <a16:creationId xmlns:a16="http://schemas.microsoft.com/office/drawing/2014/main" id="{F1EB8BDE-A9AE-4687-8168-22B9121B81A7}"/>
              </a:ext>
            </a:extLst>
          </p:cNvPr>
          <p:cNvSpPr txBox="1"/>
          <p:nvPr/>
        </p:nvSpPr>
        <p:spPr>
          <a:xfrm>
            <a:off x="5410529" y="31169"/>
            <a:ext cx="4490395" cy="338554"/>
          </a:xfrm>
          <a:prstGeom prst="rect">
            <a:avLst/>
          </a:prstGeom>
          <a:noFill/>
        </p:spPr>
        <p:txBody>
          <a:bodyPr wrap="none" rtlCol="0">
            <a:spAutoFit/>
          </a:bodyPr>
          <a:lstStyle/>
          <a:p>
            <a:pPr algn="ctr"/>
            <a:r>
              <a:rPr lang="ru-RU" sz="1600" dirty="0"/>
              <a:t>Бул сандарды эң кичинеден чоңго карай ирээтте.</a:t>
            </a:r>
            <a:endParaRPr lang="en-GB" sz="1600" dirty="0"/>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96BD8634-8E3A-4729-B3D9-FC31072A9DB4}"/>
                  </a:ext>
                </a:extLst>
              </p:cNvPr>
              <p:cNvSpPr txBox="1"/>
              <p:nvPr/>
            </p:nvSpPr>
            <p:spPr>
              <a:xfrm>
                <a:off x="5411361" y="32460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42" name="TextBox 141">
                <a:extLst>
                  <a:ext uri="{FF2B5EF4-FFF2-40B4-BE49-F238E27FC236}">
                    <a16:creationId xmlns:a16="http://schemas.microsoft.com/office/drawing/2014/main" id="{96BD8634-8E3A-4729-B3D9-FC31072A9DB4}"/>
                  </a:ext>
                </a:extLst>
              </p:cNvPr>
              <p:cNvSpPr txBox="1">
                <a:spLocks noRot="1" noChangeAspect="1" noMove="1" noResize="1" noEditPoints="1" noAdjustHandles="1" noChangeArrowheads="1" noChangeShapeType="1" noTextEdit="1"/>
              </p:cNvSpPr>
              <p:nvPr/>
            </p:nvSpPr>
            <p:spPr>
              <a:xfrm>
                <a:off x="5411361" y="324605"/>
                <a:ext cx="527709" cy="670568"/>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4D0F3B68-598E-4F8F-85B0-2A46B77B5CAB}"/>
                  </a:ext>
                </a:extLst>
              </p:cNvPr>
              <p:cNvSpPr txBox="1"/>
              <p:nvPr/>
            </p:nvSpPr>
            <p:spPr>
              <a:xfrm>
                <a:off x="6462987" y="486861"/>
                <a:ext cx="8082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1.5%</m:t>
                      </m:r>
                    </m:oMath>
                  </m:oMathPara>
                </a14:m>
                <a:endParaRPr lang="en-GB" sz="1400" dirty="0"/>
              </a:p>
            </p:txBody>
          </p:sp>
        </mc:Choice>
        <mc:Fallback xmlns="">
          <p:sp>
            <p:nvSpPr>
              <p:cNvPr id="143" name="TextBox 142">
                <a:extLst>
                  <a:ext uri="{FF2B5EF4-FFF2-40B4-BE49-F238E27FC236}">
                    <a16:creationId xmlns:a16="http://schemas.microsoft.com/office/drawing/2014/main" id="{4D0F3B68-598E-4F8F-85B0-2A46B77B5CAB}"/>
                  </a:ext>
                </a:extLst>
              </p:cNvPr>
              <p:cNvSpPr txBox="1">
                <a:spLocks noRot="1" noChangeAspect="1" noMove="1" noResize="1" noEditPoints="1" noAdjustHandles="1" noChangeArrowheads="1" noChangeShapeType="1" noTextEdit="1"/>
              </p:cNvSpPr>
              <p:nvPr/>
            </p:nvSpPr>
            <p:spPr>
              <a:xfrm>
                <a:off x="6462987" y="486861"/>
                <a:ext cx="808235" cy="400110"/>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76278510-0C95-4099-BF10-8A096A38E30C}"/>
                  </a:ext>
                </a:extLst>
              </p:cNvPr>
              <p:cNvSpPr txBox="1"/>
              <p:nvPr/>
            </p:nvSpPr>
            <p:spPr>
              <a:xfrm>
                <a:off x="8989433" y="486861"/>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0.099</m:t>
                      </m:r>
                    </m:oMath>
                  </m:oMathPara>
                </a14:m>
                <a:endParaRPr lang="en-GB" sz="1400" dirty="0"/>
              </a:p>
            </p:txBody>
          </p:sp>
        </mc:Choice>
        <mc:Fallback xmlns="">
          <p:sp>
            <p:nvSpPr>
              <p:cNvPr id="144" name="TextBox 143">
                <a:extLst>
                  <a:ext uri="{FF2B5EF4-FFF2-40B4-BE49-F238E27FC236}">
                    <a16:creationId xmlns:a16="http://schemas.microsoft.com/office/drawing/2014/main" id="{76278510-0C95-4099-BF10-8A096A38E30C}"/>
                  </a:ext>
                </a:extLst>
              </p:cNvPr>
              <p:cNvSpPr txBox="1">
                <a:spLocks noRot="1" noChangeAspect="1" noMove="1" noResize="1" noEditPoints="1" noAdjustHandles="1" noChangeArrowheads="1" noChangeShapeType="1" noTextEdit="1"/>
              </p:cNvSpPr>
              <p:nvPr/>
            </p:nvSpPr>
            <p:spPr>
              <a:xfrm>
                <a:off x="8989433" y="486861"/>
                <a:ext cx="865943" cy="400110"/>
              </a:xfrm>
              <a:prstGeom prst="rect">
                <a:avLst/>
              </a:prstGeom>
              <a:blipFill>
                <a:blip r:embed="rId16"/>
                <a:stretch>
                  <a:fillRect/>
                </a:stretch>
              </a:blipFill>
            </p:spPr>
            <p:txBody>
              <a:bodyPr/>
              <a:lstStyle/>
              <a:p>
                <a:r>
                  <a:rPr lang="en-GB">
                    <a:noFill/>
                  </a:rPr>
                  <a:t> </a:t>
                </a:r>
              </a:p>
            </p:txBody>
          </p:sp>
        </mc:Fallback>
      </mc:AlternateContent>
      <p:sp>
        <p:nvSpPr>
          <p:cNvPr id="145" name="Rectangle: Rounded Corners 144">
            <a:extLst>
              <a:ext uri="{FF2B5EF4-FFF2-40B4-BE49-F238E27FC236}">
                <a16:creationId xmlns:a16="http://schemas.microsoft.com/office/drawing/2014/main" id="{EE3E5C1F-4AF1-4A8F-9A6F-96F4727AD8FE}"/>
              </a:ext>
            </a:extLst>
          </p:cNvPr>
          <p:cNvSpPr/>
          <p:nvPr/>
        </p:nvSpPr>
        <p:spPr>
          <a:xfrm>
            <a:off x="5099590"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6" name="TextBox 145">
            <a:extLst>
              <a:ext uri="{FF2B5EF4-FFF2-40B4-BE49-F238E27FC236}">
                <a16:creationId xmlns:a16="http://schemas.microsoft.com/office/drawing/2014/main" id="{F2FE3DE0-778E-44E5-A745-B1CEB254987C}"/>
              </a:ext>
            </a:extLst>
          </p:cNvPr>
          <p:cNvSpPr txBox="1"/>
          <p:nvPr/>
        </p:nvSpPr>
        <p:spPr>
          <a:xfrm>
            <a:off x="5409009" y="1684123"/>
            <a:ext cx="4403834" cy="338554"/>
          </a:xfrm>
          <a:prstGeom prst="rect">
            <a:avLst/>
          </a:prstGeom>
          <a:noFill/>
        </p:spPr>
        <p:txBody>
          <a:bodyPr wrap="none" rtlCol="0">
            <a:spAutoFit/>
          </a:bodyPr>
          <a:lstStyle/>
          <a:p>
            <a:pPr algn="ctr"/>
            <a:r>
              <a:rPr lang="ru-RU" sz="1600" dirty="0"/>
              <a:t>Бул сандарды эң кичинеден чоңго карай ирээтте.</a:t>
            </a:r>
            <a:endParaRPr lang="en-GB" sz="1600" dirty="0"/>
          </a:p>
        </p:txBody>
      </p: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CDAE389B-9868-4C14-8A03-CC81DE07B722}"/>
                  </a:ext>
                </a:extLst>
              </p:cNvPr>
              <p:cNvSpPr txBox="1"/>
              <p:nvPr/>
            </p:nvSpPr>
            <p:spPr>
              <a:xfrm>
                <a:off x="8796191" y="2127028"/>
                <a:ext cx="109356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102.9%</m:t>
                      </m:r>
                    </m:oMath>
                  </m:oMathPara>
                </a14:m>
                <a:endParaRPr lang="en-GB" sz="1400" dirty="0"/>
              </a:p>
            </p:txBody>
          </p:sp>
        </mc:Choice>
        <mc:Fallback xmlns="">
          <p:sp>
            <p:nvSpPr>
              <p:cNvPr id="147" name="TextBox 146">
                <a:extLst>
                  <a:ext uri="{FF2B5EF4-FFF2-40B4-BE49-F238E27FC236}">
                    <a16:creationId xmlns:a16="http://schemas.microsoft.com/office/drawing/2014/main" id="{CDAE389B-9868-4C14-8A03-CC81DE07B722}"/>
                  </a:ext>
                </a:extLst>
              </p:cNvPr>
              <p:cNvSpPr txBox="1">
                <a:spLocks noRot="1" noChangeAspect="1" noMove="1" noResize="1" noEditPoints="1" noAdjustHandles="1" noChangeArrowheads="1" noChangeShapeType="1" noTextEdit="1"/>
              </p:cNvSpPr>
              <p:nvPr/>
            </p:nvSpPr>
            <p:spPr>
              <a:xfrm>
                <a:off x="8796191" y="2127028"/>
                <a:ext cx="1093569" cy="400110"/>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A7BC2B11-20DE-4EA4-B5E7-3D4F01B31D77}"/>
                  </a:ext>
                </a:extLst>
              </p:cNvPr>
              <p:cNvSpPr txBox="1"/>
              <p:nvPr/>
            </p:nvSpPr>
            <p:spPr>
              <a:xfrm>
                <a:off x="6878967" y="19903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4</m:t>
                          </m:r>
                        </m:den>
                      </m:f>
                    </m:oMath>
                  </m:oMathPara>
                </a14:m>
                <a:endParaRPr lang="en-GB" sz="1400" dirty="0"/>
              </a:p>
            </p:txBody>
          </p:sp>
        </mc:Choice>
        <mc:Fallback xmlns="">
          <p:sp>
            <p:nvSpPr>
              <p:cNvPr id="148" name="TextBox 147">
                <a:extLst>
                  <a:ext uri="{FF2B5EF4-FFF2-40B4-BE49-F238E27FC236}">
                    <a16:creationId xmlns:a16="http://schemas.microsoft.com/office/drawing/2014/main" id="{A7BC2B11-20DE-4EA4-B5E7-3D4F01B31D77}"/>
                  </a:ext>
                </a:extLst>
              </p:cNvPr>
              <p:cNvSpPr txBox="1">
                <a:spLocks noRot="1" noChangeAspect="1" noMove="1" noResize="1" noEditPoints="1" noAdjustHandles="1" noChangeArrowheads="1" noChangeShapeType="1" noTextEdit="1"/>
              </p:cNvSpPr>
              <p:nvPr/>
            </p:nvSpPr>
            <p:spPr>
              <a:xfrm>
                <a:off x="6878967" y="1990345"/>
                <a:ext cx="385041" cy="670568"/>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9DF622D8-F24F-459F-837E-954856B4F0D7}"/>
                  </a:ext>
                </a:extLst>
              </p:cNvPr>
              <p:cNvSpPr txBox="1"/>
              <p:nvPr/>
            </p:nvSpPr>
            <p:spPr>
              <a:xfrm>
                <a:off x="7920975" y="2139815"/>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m:t>
                      </m:r>
                    </m:oMath>
                  </m:oMathPara>
                </a14:m>
                <a:endParaRPr lang="en-GB" sz="1400" dirty="0"/>
              </a:p>
            </p:txBody>
          </p:sp>
        </mc:Choice>
        <mc:Fallback xmlns="">
          <p:sp>
            <p:nvSpPr>
              <p:cNvPr id="149" name="TextBox 148">
                <a:extLst>
                  <a:ext uri="{FF2B5EF4-FFF2-40B4-BE49-F238E27FC236}">
                    <a16:creationId xmlns:a16="http://schemas.microsoft.com/office/drawing/2014/main" id="{9DF622D8-F24F-459F-837E-954856B4F0D7}"/>
                  </a:ext>
                </a:extLst>
              </p:cNvPr>
              <p:cNvSpPr txBox="1">
                <a:spLocks noRot="1" noChangeAspect="1" noMove="1" noResize="1" noEditPoints="1" noAdjustHandles="1" noChangeArrowheads="1" noChangeShapeType="1" noTextEdit="1"/>
              </p:cNvSpPr>
              <p:nvPr/>
            </p:nvSpPr>
            <p:spPr>
              <a:xfrm>
                <a:off x="7920975" y="2139815"/>
                <a:ext cx="580608" cy="400110"/>
              </a:xfrm>
              <a:prstGeom prst="rect">
                <a:avLst/>
              </a:prstGeom>
              <a:blipFill>
                <a:blip r:embed="rId19"/>
                <a:stretch>
                  <a:fillRect/>
                </a:stretch>
              </a:blipFill>
            </p:spPr>
            <p:txBody>
              <a:bodyPr/>
              <a:lstStyle/>
              <a:p>
                <a:r>
                  <a:rPr lang="en-GB">
                    <a:noFill/>
                  </a:rPr>
                  <a:t> </a:t>
                </a:r>
              </a:p>
            </p:txBody>
          </p:sp>
        </mc:Fallback>
      </mc:AlternateContent>
      <p:sp>
        <p:nvSpPr>
          <p:cNvPr id="150" name="Rectangle: Rounded Corners 149">
            <a:extLst>
              <a:ext uri="{FF2B5EF4-FFF2-40B4-BE49-F238E27FC236}">
                <a16:creationId xmlns:a16="http://schemas.microsoft.com/office/drawing/2014/main" id="{D47B4246-B36E-412D-B7BF-3E53BEF497DF}"/>
              </a:ext>
            </a:extLst>
          </p:cNvPr>
          <p:cNvSpPr/>
          <p:nvPr/>
        </p:nvSpPr>
        <p:spPr>
          <a:xfrm>
            <a:off x="5099590"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58" name="TextBox 157">
            <a:extLst>
              <a:ext uri="{FF2B5EF4-FFF2-40B4-BE49-F238E27FC236}">
                <a16:creationId xmlns:a16="http://schemas.microsoft.com/office/drawing/2014/main" id="{05B32A70-33A3-4D80-831A-32028A1016AE}"/>
              </a:ext>
            </a:extLst>
          </p:cNvPr>
          <p:cNvSpPr txBox="1"/>
          <p:nvPr/>
        </p:nvSpPr>
        <p:spPr>
          <a:xfrm>
            <a:off x="1400835" y="3486546"/>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2328074" y="3779982"/>
                <a:ext cx="527709"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9</m:t>
                          </m:r>
                        </m:num>
                        <m:den>
                          <m:r>
                            <a:rPr lang="en-GB" sz="2000" b="0" i="1" dirty="0" smtClean="0">
                              <a:latin typeface="Cambria Math" panose="02040503050406030204" pitchFamily="18" charset="0"/>
                            </a:rPr>
                            <m:t>12</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2328074" y="3779982"/>
                <a:ext cx="527709" cy="668516"/>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9A34C3CD-0095-4A7E-B4C6-20ADA6817FB9}"/>
                  </a:ext>
                </a:extLst>
              </p:cNvPr>
              <p:cNvSpPr txBox="1"/>
              <p:nvPr/>
            </p:nvSpPr>
            <p:spPr>
              <a:xfrm>
                <a:off x="1324521"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66%</m:t>
                      </m:r>
                    </m:oMath>
                  </m:oMathPara>
                </a14:m>
                <a:endParaRPr lang="en-GB" sz="1400" dirty="0"/>
              </a:p>
            </p:txBody>
          </p:sp>
        </mc:Choice>
        <mc:Fallback xmlns="">
          <p:sp>
            <p:nvSpPr>
              <p:cNvPr id="160" name="TextBox 159">
                <a:extLst>
                  <a:ext uri="{FF2B5EF4-FFF2-40B4-BE49-F238E27FC236}">
                    <a16:creationId xmlns:a16="http://schemas.microsoft.com/office/drawing/2014/main" id="{9A34C3CD-0095-4A7E-B4C6-20ADA6817FB9}"/>
                  </a:ext>
                </a:extLst>
              </p:cNvPr>
              <p:cNvSpPr txBox="1">
                <a:spLocks noRot="1" noChangeAspect="1" noMove="1" noResize="1" noEditPoints="1" noAdjustHandles="1" noChangeArrowheads="1" noChangeShapeType="1" noTextEdit="1"/>
              </p:cNvSpPr>
              <p:nvPr/>
            </p:nvSpPr>
            <p:spPr>
              <a:xfrm>
                <a:off x="1324521" y="3942238"/>
                <a:ext cx="755335" cy="400110"/>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05669C16-439A-4EA1-A6D3-57BCE72C9776}"/>
                  </a:ext>
                </a:extLst>
              </p:cNvPr>
              <p:cNvSpPr txBox="1"/>
              <p:nvPr/>
            </p:nvSpPr>
            <p:spPr>
              <a:xfrm>
                <a:off x="3104001" y="3942238"/>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0.607</m:t>
                      </m:r>
                    </m:oMath>
                  </m:oMathPara>
                </a14:m>
                <a:endParaRPr lang="en-GB" sz="1400" dirty="0"/>
              </a:p>
            </p:txBody>
          </p:sp>
        </mc:Choice>
        <mc:Fallback xmlns="">
          <p:sp>
            <p:nvSpPr>
              <p:cNvPr id="161" name="TextBox 160">
                <a:extLst>
                  <a:ext uri="{FF2B5EF4-FFF2-40B4-BE49-F238E27FC236}">
                    <a16:creationId xmlns:a16="http://schemas.microsoft.com/office/drawing/2014/main" id="{05669C16-439A-4EA1-A6D3-57BCE72C9776}"/>
                  </a:ext>
                </a:extLst>
              </p:cNvPr>
              <p:cNvSpPr txBox="1">
                <a:spLocks noRot="1" noChangeAspect="1" noMove="1" noResize="1" noEditPoints="1" noAdjustHandles="1" noChangeArrowheads="1" noChangeShapeType="1" noTextEdit="1"/>
              </p:cNvSpPr>
              <p:nvPr/>
            </p:nvSpPr>
            <p:spPr>
              <a:xfrm>
                <a:off x="3104001" y="3942238"/>
                <a:ext cx="865943" cy="400110"/>
              </a:xfrm>
              <a:prstGeom prst="rect">
                <a:avLst/>
              </a:prstGeom>
              <a:blipFill>
                <a:blip r:embed="rId28"/>
                <a:stretch>
                  <a:fillRect/>
                </a:stretch>
              </a:blipFill>
            </p:spPr>
            <p:txBody>
              <a:bodyPr/>
              <a:lstStyle/>
              <a:p>
                <a:r>
                  <a:rPr lang="en-GB">
                    <a:noFill/>
                  </a:rPr>
                  <a:t> </a:t>
                </a:r>
              </a:p>
            </p:txBody>
          </p:sp>
        </mc:Fallback>
      </mc:AlternateContent>
      <p:sp>
        <p:nvSpPr>
          <p:cNvPr id="162" name="Rectangle: Rounded Corners 161">
            <a:extLst>
              <a:ext uri="{FF2B5EF4-FFF2-40B4-BE49-F238E27FC236}">
                <a16:creationId xmlns:a16="http://schemas.microsoft.com/office/drawing/2014/main" id="{D819ECCD-8FBE-4D91-9B7D-DEC8C10FCFC4}"/>
              </a:ext>
            </a:extLst>
          </p:cNvPr>
          <p:cNvSpPr/>
          <p:nvPr/>
        </p:nvSpPr>
        <p:spPr>
          <a:xfrm>
            <a:off x="105559"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63" name="TextBox 162">
            <a:extLst>
              <a:ext uri="{FF2B5EF4-FFF2-40B4-BE49-F238E27FC236}">
                <a16:creationId xmlns:a16="http://schemas.microsoft.com/office/drawing/2014/main" id="{889BA68E-BD5B-4955-9CC0-CD15A84E0B82}"/>
              </a:ext>
            </a:extLst>
          </p:cNvPr>
          <p:cNvSpPr txBox="1"/>
          <p:nvPr/>
        </p:nvSpPr>
        <p:spPr>
          <a:xfrm>
            <a:off x="1331331" y="5139500"/>
            <a:ext cx="2660729"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63FF0407-88CA-463F-9E91-9EE93F074776}"/>
                  </a:ext>
                </a:extLst>
              </p:cNvPr>
              <p:cNvSpPr txBox="1"/>
              <p:nvPr/>
            </p:nvSpPr>
            <p:spPr>
              <a:xfrm>
                <a:off x="30218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12.2%</m:t>
                      </m:r>
                    </m:oMath>
                  </m:oMathPara>
                </a14:m>
                <a:endParaRPr lang="en-GB" sz="1400" dirty="0"/>
              </a:p>
            </p:txBody>
          </p:sp>
        </mc:Choice>
        <mc:Fallback xmlns="">
          <p:sp>
            <p:nvSpPr>
              <p:cNvPr id="164" name="TextBox 163">
                <a:extLst>
                  <a:ext uri="{FF2B5EF4-FFF2-40B4-BE49-F238E27FC236}">
                    <a16:creationId xmlns:a16="http://schemas.microsoft.com/office/drawing/2014/main" id="{63FF0407-88CA-463F-9E91-9EE93F074776}"/>
                  </a:ext>
                </a:extLst>
              </p:cNvPr>
              <p:cNvSpPr txBox="1">
                <a:spLocks noRot="1" noChangeAspect="1" noMove="1" noResize="1" noEditPoints="1" noAdjustHandles="1" noChangeArrowheads="1" noChangeShapeType="1" noTextEdit="1"/>
              </p:cNvSpPr>
              <p:nvPr/>
            </p:nvSpPr>
            <p:spPr>
              <a:xfrm>
                <a:off x="3021847" y="5582405"/>
                <a:ext cx="950901" cy="400110"/>
              </a:xfrm>
              <a:prstGeom prst="rect">
                <a:avLst/>
              </a:prstGeom>
              <a:blipFill>
                <a:blip r:embed="rId2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3369A569-E7D9-4C12-BB24-592E1075FFC3}"/>
                  </a:ext>
                </a:extLst>
              </p:cNvPr>
              <p:cNvSpPr txBox="1"/>
              <p:nvPr/>
            </p:nvSpPr>
            <p:spPr>
              <a:xfrm>
                <a:off x="2409827"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65" name="TextBox 164">
                <a:extLst>
                  <a:ext uri="{FF2B5EF4-FFF2-40B4-BE49-F238E27FC236}">
                    <a16:creationId xmlns:a16="http://schemas.microsoft.com/office/drawing/2014/main" id="{3369A569-E7D9-4C12-BB24-592E1075FFC3}"/>
                  </a:ext>
                </a:extLst>
              </p:cNvPr>
              <p:cNvSpPr txBox="1">
                <a:spLocks noRot="1" noChangeAspect="1" noMove="1" noResize="1" noEditPoints="1" noAdjustHandles="1" noChangeArrowheads="1" noChangeShapeType="1" noTextEdit="1"/>
              </p:cNvSpPr>
              <p:nvPr/>
            </p:nvSpPr>
            <p:spPr>
              <a:xfrm>
                <a:off x="2409827" y="5445722"/>
                <a:ext cx="385041" cy="670568"/>
              </a:xfrm>
              <a:prstGeom prst="rect">
                <a:avLst/>
              </a:prstGeom>
              <a:blipFill>
                <a:blip r:embed="rId3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B045F798-15E4-447C-919B-F43A3360CB90}"/>
                  </a:ext>
                </a:extLst>
              </p:cNvPr>
              <p:cNvSpPr txBox="1"/>
              <p:nvPr/>
            </p:nvSpPr>
            <p:spPr>
              <a:xfrm>
                <a:off x="281694"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0.12</m:t>
                      </m:r>
                    </m:oMath>
                  </m:oMathPara>
                </a14:m>
                <a:endParaRPr lang="en-GB" sz="1400" dirty="0"/>
              </a:p>
            </p:txBody>
          </p:sp>
        </mc:Choice>
        <mc:Fallback xmlns="">
          <p:sp>
            <p:nvSpPr>
              <p:cNvPr id="166" name="TextBox 165">
                <a:extLst>
                  <a:ext uri="{FF2B5EF4-FFF2-40B4-BE49-F238E27FC236}">
                    <a16:creationId xmlns:a16="http://schemas.microsoft.com/office/drawing/2014/main" id="{B045F798-15E4-447C-919B-F43A3360CB90}"/>
                  </a:ext>
                </a:extLst>
              </p:cNvPr>
              <p:cNvSpPr txBox="1">
                <a:spLocks noRot="1" noChangeAspect="1" noMove="1" noResize="1" noEditPoints="1" noAdjustHandles="1" noChangeArrowheads="1" noChangeShapeType="1" noTextEdit="1"/>
              </p:cNvSpPr>
              <p:nvPr/>
            </p:nvSpPr>
            <p:spPr>
              <a:xfrm>
                <a:off x="281694" y="5595192"/>
                <a:ext cx="723275" cy="400110"/>
              </a:xfrm>
              <a:prstGeom prst="rect">
                <a:avLst/>
              </a:prstGeom>
              <a:blipFill>
                <a:blip r:embed="rId31"/>
                <a:stretch>
                  <a:fillRect/>
                </a:stretch>
              </a:blipFill>
            </p:spPr>
            <p:txBody>
              <a:bodyPr/>
              <a:lstStyle/>
              <a:p>
                <a:r>
                  <a:rPr lang="en-GB">
                    <a:noFill/>
                  </a:rPr>
                  <a:t> </a:t>
                </a:r>
              </a:p>
            </p:txBody>
          </p:sp>
        </mc:Fallback>
      </mc:AlternateContent>
      <p:sp>
        <p:nvSpPr>
          <p:cNvPr id="167" name="Rectangle: Rounded Corners 166">
            <a:extLst>
              <a:ext uri="{FF2B5EF4-FFF2-40B4-BE49-F238E27FC236}">
                <a16:creationId xmlns:a16="http://schemas.microsoft.com/office/drawing/2014/main" id="{3819247E-1769-46A5-ACD1-3691BDB6E6EA}"/>
              </a:ext>
            </a:extLst>
          </p:cNvPr>
          <p:cNvSpPr/>
          <p:nvPr/>
        </p:nvSpPr>
        <p:spPr>
          <a:xfrm>
            <a:off x="105559"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75" name="TextBox 174">
            <a:extLst>
              <a:ext uri="{FF2B5EF4-FFF2-40B4-BE49-F238E27FC236}">
                <a16:creationId xmlns:a16="http://schemas.microsoft.com/office/drawing/2014/main" id="{21A6BEDC-C05E-4921-AE8A-9D53DCD8B390}"/>
              </a:ext>
            </a:extLst>
          </p:cNvPr>
          <p:cNvSpPr txBox="1"/>
          <p:nvPr/>
        </p:nvSpPr>
        <p:spPr>
          <a:xfrm>
            <a:off x="6325362" y="3486546"/>
            <a:ext cx="2660728"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591C9D6A-5FAE-422B-A4A3-1AF1F68BFA56}"/>
                  </a:ext>
                </a:extLst>
              </p:cNvPr>
              <p:cNvSpPr txBox="1"/>
              <p:nvPr/>
            </p:nvSpPr>
            <p:spPr>
              <a:xfrm>
                <a:off x="5911620"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76" name="TextBox 175">
                <a:extLst>
                  <a:ext uri="{FF2B5EF4-FFF2-40B4-BE49-F238E27FC236}">
                    <a16:creationId xmlns:a16="http://schemas.microsoft.com/office/drawing/2014/main" id="{591C9D6A-5FAE-422B-A4A3-1AF1F68BFA56}"/>
                  </a:ext>
                </a:extLst>
              </p:cNvPr>
              <p:cNvSpPr txBox="1">
                <a:spLocks noRot="1" noChangeAspect="1" noMove="1" noResize="1" noEditPoints="1" noAdjustHandles="1" noChangeArrowheads="1" noChangeShapeType="1" noTextEdit="1"/>
              </p:cNvSpPr>
              <p:nvPr/>
            </p:nvSpPr>
            <p:spPr>
              <a:xfrm>
                <a:off x="5911620" y="3779982"/>
                <a:ext cx="385041" cy="670568"/>
              </a:xfrm>
              <a:prstGeom prst="rect">
                <a:avLst/>
              </a:prstGeom>
              <a:blipFill>
                <a:blip r:embed="rId3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072AAE9F-7A5D-458C-8116-AD9B90074AB7}"/>
                  </a:ext>
                </a:extLst>
              </p:cNvPr>
              <p:cNvSpPr txBox="1"/>
              <p:nvPr/>
            </p:nvSpPr>
            <p:spPr>
              <a:xfrm>
                <a:off x="5060248"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37%</m:t>
                      </m:r>
                    </m:oMath>
                  </m:oMathPara>
                </a14:m>
                <a:endParaRPr lang="en-GB" sz="1400" dirty="0"/>
              </a:p>
            </p:txBody>
          </p:sp>
        </mc:Choice>
        <mc:Fallback xmlns="">
          <p:sp>
            <p:nvSpPr>
              <p:cNvPr id="177" name="TextBox 176">
                <a:extLst>
                  <a:ext uri="{FF2B5EF4-FFF2-40B4-BE49-F238E27FC236}">
                    <a16:creationId xmlns:a16="http://schemas.microsoft.com/office/drawing/2014/main" id="{072AAE9F-7A5D-458C-8116-AD9B90074AB7}"/>
                  </a:ext>
                </a:extLst>
              </p:cNvPr>
              <p:cNvSpPr txBox="1">
                <a:spLocks noRot="1" noChangeAspect="1" noMove="1" noResize="1" noEditPoints="1" noAdjustHandles="1" noChangeArrowheads="1" noChangeShapeType="1" noTextEdit="1"/>
              </p:cNvSpPr>
              <p:nvPr/>
            </p:nvSpPr>
            <p:spPr>
              <a:xfrm>
                <a:off x="5060248" y="3942238"/>
                <a:ext cx="755335" cy="400110"/>
              </a:xfrm>
              <a:prstGeom prst="rect">
                <a:avLst/>
              </a:prstGeom>
              <a:blipFill>
                <a:blip r:embed="rId3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8B234943-A438-4410-97AA-849D55D32A9A}"/>
                  </a:ext>
                </a:extLst>
              </p:cNvPr>
              <p:cNvSpPr txBox="1"/>
              <p:nvPr/>
            </p:nvSpPr>
            <p:spPr>
              <a:xfrm>
                <a:off x="6392698" y="3942238"/>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0.0499</m:t>
                      </m:r>
                    </m:oMath>
                  </m:oMathPara>
                </a14:m>
                <a:endParaRPr lang="en-GB" sz="1400" dirty="0"/>
              </a:p>
            </p:txBody>
          </p:sp>
        </mc:Choice>
        <mc:Fallback xmlns="">
          <p:sp>
            <p:nvSpPr>
              <p:cNvPr id="178" name="TextBox 177">
                <a:extLst>
                  <a:ext uri="{FF2B5EF4-FFF2-40B4-BE49-F238E27FC236}">
                    <a16:creationId xmlns:a16="http://schemas.microsoft.com/office/drawing/2014/main" id="{8B234943-A438-4410-97AA-849D55D32A9A}"/>
                  </a:ext>
                </a:extLst>
              </p:cNvPr>
              <p:cNvSpPr txBox="1">
                <a:spLocks noRot="1" noChangeAspect="1" noMove="1" noResize="1" noEditPoints="1" noAdjustHandles="1" noChangeArrowheads="1" noChangeShapeType="1" noTextEdit="1"/>
              </p:cNvSpPr>
              <p:nvPr/>
            </p:nvSpPr>
            <p:spPr>
              <a:xfrm>
                <a:off x="6392698" y="3942238"/>
                <a:ext cx="1008609" cy="400110"/>
              </a:xfrm>
              <a:prstGeom prst="rect">
                <a:avLst/>
              </a:prstGeom>
              <a:blipFill>
                <a:blip r:embed="rId40"/>
                <a:stretch>
                  <a:fillRect/>
                </a:stretch>
              </a:blipFill>
            </p:spPr>
            <p:txBody>
              <a:bodyPr/>
              <a:lstStyle/>
              <a:p>
                <a:r>
                  <a:rPr lang="en-GB">
                    <a:noFill/>
                  </a:rPr>
                  <a:t> </a:t>
                </a:r>
              </a:p>
            </p:txBody>
          </p:sp>
        </mc:Fallback>
      </mc:AlternateContent>
      <p:sp>
        <p:nvSpPr>
          <p:cNvPr id="179" name="Rectangle: Rounded Corners 178">
            <a:extLst>
              <a:ext uri="{FF2B5EF4-FFF2-40B4-BE49-F238E27FC236}">
                <a16:creationId xmlns:a16="http://schemas.microsoft.com/office/drawing/2014/main" id="{BB95A2CD-0263-4273-8CC9-7C8040FDD343}"/>
              </a:ext>
            </a:extLst>
          </p:cNvPr>
          <p:cNvSpPr/>
          <p:nvPr/>
        </p:nvSpPr>
        <p:spPr>
          <a:xfrm>
            <a:off x="5099590"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80" name="TextBox 179">
            <a:extLst>
              <a:ext uri="{FF2B5EF4-FFF2-40B4-BE49-F238E27FC236}">
                <a16:creationId xmlns:a16="http://schemas.microsoft.com/office/drawing/2014/main" id="{E4E3E9B0-E01F-4B9F-93DD-1B6DA6CEBB73}"/>
              </a:ext>
            </a:extLst>
          </p:cNvPr>
          <p:cNvSpPr txBox="1"/>
          <p:nvPr/>
        </p:nvSpPr>
        <p:spPr>
          <a:xfrm>
            <a:off x="6394867" y="5139500"/>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09646422-11A9-4346-9368-20D6751D2EB3}"/>
                  </a:ext>
                </a:extLst>
              </p:cNvPr>
              <p:cNvSpPr txBox="1"/>
              <p:nvPr/>
            </p:nvSpPr>
            <p:spPr>
              <a:xfrm>
                <a:off x="4988914" y="5582405"/>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608%</m:t>
                      </m:r>
                    </m:oMath>
                  </m:oMathPara>
                </a14:m>
                <a:endParaRPr lang="en-GB" sz="1400" dirty="0"/>
              </a:p>
            </p:txBody>
          </p:sp>
        </mc:Choice>
        <mc:Fallback xmlns="">
          <p:sp>
            <p:nvSpPr>
              <p:cNvPr id="181" name="TextBox 180">
                <a:extLst>
                  <a:ext uri="{FF2B5EF4-FFF2-40B4-BE49-F238E27FC236}">
                    <a16:creationId xmlns:a16="http://schemas.microsoft.com/office/drawing/2014/main" id="{09646422-11A9-4346-9368-20D6751D2EB3}"/>
                  </a:ext>
                </a:extLst>
              </p:cNvPr>
              <p:cNvSpPr txBox="1">
                <a:spLocks noRot="1" noChangeAspect="1" noMove="1" noResize="1" noEditPoints="1" noAdjustHandles="1" noChangeArrowheads="1" noChangeShapeType="1" noTextEdit="1"/>
              </p:cNvSpPr>
              <p:nvPr/>
            </p:nvSpPr>
            <p:spPr>
              <a:xfrm>
                <a:off x="4988914" y="5582405"/>
                <a:ext cx="898003" cy="400110"/>
              </a:xfrm>
              <a:prstGeom prst="rect">
                <a:avLst/>
              </a:prstGeom>
              <a:blipFill>
                <a:blip r:embed="rId4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BABD6ACD-6B2E-4E65-A8C5-AEC3DE0AF8BD}"/>
                  </a:ext>
                </a:extLst>
              </p:cNvPr>
              <p:cNvSpPr txBox="1"/>
              <p:nvPr/>
            </p:nvSpPr>
            <p:spPr>
              <a:xfrm>
                <a:off x="6036334"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6</m:t>
                          </m:r>
                        </m:den>
                      </m:f>
                    </m:oMath>
                  </m:oMathPara>
                </a14:m>
                <a:endParaRPr lang="en-GB" sz="1400" dirty="0"/>
              </a:p>
            </p:txBody>
          </p:sp>
        </mc:Choice>
        <mc:Fallback xmlns="">
          <p:sp>
            <p:nvSpPr>
              <p:cNvPr id="182" name="TextBox 181">
                <a:extLst>
                  <a:ext uri="{FF2B5EF4-FFF2-40B4-BE49-F238E27FC236}">
                    <a16:creationId xmlns:a16="http://schemas.microsoft.com/office/drawing/2014/main" id="{BABD6ACD-6B2E-4E65-A8C5-AEC3DE0AF8BD}"/>
                  </a:ext>
                </a:extLst>
              </p:cNvPr>
              <p:cNvSpPr txBox="1">
                <a:spLocks noRot="1" noChangeAspect="1" noMove="1" noResize="1" noEditPoints="1" noAdjustHandles="1" noChangeArrowheads="1" noChangeShapeType="1" noTextEdit="1"/>
              </p:cNvSpPr>
              <p:nvPr/>
            </p:nvSpPr>
            <p:spPr>
              <a:xfrm>
                <a:off x="6036334" y="5445722"/>
                <a:ext cx="385041" cy="670568"/>
              </a:xfrm>
              <a:prstGeom prst="rect">
                <a:avLst/>
              </a:prstGeom>
              <a:blipFill>
                <a:blip r:embed="rId4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F668DD79-B702-4F57-87FF-904D411CB97A}"/>
                  </a:ext>
                </a:extLst>
              </p:cNvPr>
              <p:cNvSpPr txBox="1"/>
              <p:nvPr/>
            </p:nvSpPr>
            <p:spPr>
              <a:xfrm>
                <a:off x="7475544" y="5595192"/>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0.6008</m:t>
                      </m:r>
                    </m:oMath>
                  </m:oMathPara>
                </a14:m>
                <a:endParaRPr lang="en-GB" sz="1400" dirty="0"/>
              </a:p>
            </p:txBody>
          </p:sp>
        </mc:Choice>
        <mc:Fallback xmlns="">
          <p:sp>
            <p:nvSpPr>
              <p:cNvPr id="183" name="TextBox 182">
                <a:extLst>
                  <a:ext uri="{FF2B5EF4-FFF2-40B4-BE49-F238E27FC236}">
                    <a16:creationId xmlns:a16="http://schemas.microsoft.com/office/drawing/2014/main" id="{F668DD79-B702-4F57-87FF-904D411CB97A}"/>
                  </a:ext>
                </a:extLst>
              </p:cNvPr>
              <p:cNvSpPr txBox="1">
                <a:spLocks noRot="1" noChangeAspect="1" noMove="1" noResize="1" noEditPoints="1" noAdjustHandles="1" noChangeArrowheads="1" noChangeShapeType="1" noTextEdit="1"/>
              </p:cNvSpPr>
              <p:nvPr/>
            </p:nvSpPr>
            <p:spPr>
              <a:xfrm>
                <a:off x="7475544" y="5595192"/>
                <a:ext cx="1008609" cy="400110"/>
              </a:xfrm>
              <a:prstGeom prst="rect">
                <a:avLst/>
              </a:prstGeom>
              <a:blipFill>
                <a:blip r:embed="rId43"/>
                <a:stretch>
                  <a:fillRect/>
                </a:stretch>
              </a:blipFill>
            </p:spPr>
            <p:txBody>
              <a:bodyPr/>
              <a:lstStyle/>
              <a:p>
                <a:r>
                  <a:rPr lang="en-GB">
                    <a:noFill/>
                  </a:rPr>
                  <a:t> </a:t>
                </a:r>
              </a:p>
            </p:txBody>
          </p:sp>
        </mc:Fallback>
      </mc:AlternateContent>
      <p:sp>
        <p:nvSpPr>
          <p:cNvPr id="184" name="Rectangle: Rounded Corners 183">
            <a:extLst>
              <a:ext uri="{FF2B5EF4-FFF2-40B4-BE49-F238E27FC236}">
                <a16:creationId xmlns:a16="http://schemas.microsoft.com/office/drawing/2014/main" id="{CE98EF3F-2C2B-4288-9160-943FB903FF16}"/>
              </a:ext>
            </a:extLst>
          </p:cNvPr>
          <p:cNvSpPr/>
          <p:nvPr/>
        </p:nvSpPr>
        <p:spPr>
          <a:xfrm>
            <a:off x="5099590"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7E72660-24AD-4554-B070-32AABB98A2FB}"/>
                  </a:ext>
                </a:extLst>
              </p:cNvPr>
              <p:cNvSpPr txBox="1"/>
              <p:nvPr/>
            </p:nvSpPr>
            <p:spPr>
              <a:xfrm>
                <a:off x="7795139" y="324605"/>
                <a:ext cx="670376"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46</m:t>
                          </m:r>
                        </m:num>
                        <m:den>
                          <m:r>
                            <a:rPr lang="en-GB" sz="2000" b="0" i="1" dirty="0" smtClean="0">
                              <a:latin typeface="Cambria Math" panose="02040503050406030204" pitchFamily="18" charset="0"/>
                            </a:rPr>
                            <m:t>200</m:t>
                          </m:r>
                        </m:den>
                      </m:f>
                    </m:oMath>
                  </m:oMathPara>
                </a14:m>
                <a:endParaRPr lang="en-GB" sz="1400" dirty="0"/>
              </a:p>
            </p:txBody>
          </p:sp>
        </mc:Choice>
        <mc:Fallback xmlns="">
          <p:sp>
            <p:nvSpPr>
              <p:cNvPr id="90" name="TextBox 89">
                <a:extLst>
                  <a:ext uri="{FF2B5EF4-FFF2-40B4-BE49-F238E27FC236}">
                    <a16:creationId xmlns:a16="http://schemas.microsoft.com/office/drawing/2014/main" id="{87E72660-24AD-4554-B070-32AABB98A2FB}"/>
                  </a:ext>
                </a:extLst>
              </p:cNvPr>
              <p:cNvSpPr txBox="1">
                <a:spLocks noRot="1" noChangeAspect="1" noMove="1" noResize="1" noEditPoints="1" noAdjustHandles="1" noChangeArrowheads="1" noChangeShapeType="1" noTextEdit="1"/>
              </p:cNvSpPr>
              <p:nvPr/>
            </p:nvSpPr>
            <p:spPr>
              <a:xfrm>
                <a:off x="7795139" y="324605"/>
                <a:ext cx="670376" cy="670568"/>
              </a:xfrm>
              <a:prstGeom prst="rect">
                <a:avLst/>
              </a:prstGeom>
              <a:blipFill>
                <a:blip r:embed="rId5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10DD347-21B2-424A-894F-1160B805235F}"/>
                  </a:ext>
                </a:extLst>
              </p:cNvPr>
              <p:cNvSpPr txBox="1"/>
              <p:nvPr/>
            </p:nvSpPr>
            <p:spPr>
              <a:xfrm>
                <a:off x="5429830" y="19903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56</m:t>
                          </m:r>
                        </m:num>
                        <m:den>
                          <m:r>
                            <a:rPr lang="en-GB" sz="2000" b="0" i="1" dirty="0" smtClean="0">
                              <a:latin typeface="Cambria Math" panose="02040503050406030204" pitchFamily="18" charset="0"/>
                            </a:rPr>
                            <m:t>50</m:t>
                          </m:r>
                        </m:den>
                      </m:f>
                    </m:oMath>
                  </m:oMathPara>
                </a14:m>
                <a:endParaRPr lang="en-GB" sz="1400" dirty="0"/>
              </a:p>
            </p:txBody>
          </p:sp>
        </mc:Choice>
        <mc:Fallback xmlns="">
          <p:sp>
            <p:nvSpPr>
              <p:cNvPr id="91" name="TextBox 90">
                <a:extLst>
                  <a:ext uri="{FF2B5EF4-FFF2-40B4-BE49-F238E27FC236}">
                    <a16:creationId xmlns:a16="http://schemas.microsoft.com/office/drawing/2014/main" id="{A10DD347-21B2-424A-894F-1160B805235F}"/>
                  </a:ext>
                </a:extLst>
              </p:cNvPr>
              <p:cNvSpPr txBox="1">
                <a:spLocks noRot="1" noChangeAspect="1" noMove="1" noResize="1" noEditPoints="1" noAdjustHandles="1" noChangeArrowheads="1" noChangeShapeType="1" noTextEdit="1"/>
              </p:cNvSpPr>
              <p:nvPr/>
            </p:nvSpPr>
            <p:spPr>
              <a:xfrm>
                <a:off x="5429830" y="1990345"/>
                <a:ext cx="527709" cy="670568"/>
              </a:xfrm>
              <a:prstGeom prst="rect">
                <a:avLst/>
              </a:prstGeom>
              <a:blipFill>
                <a:blip r:embed="rId5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4E60B250-1EAB-4989-A943-859FBC6E0A27}"/>
                  </a:ext>
                </a:extLst>
              </p:cNvPr>
              <p:cNvSpPr txBox="1"/>
              <p:nvPr/>
            </p:nvSpPr>
            <p:spPr>
              <a:xfrm>
                <a:off x="4218161"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92" name="TextBox 91">
                <a:extLst>
                  <a:ext uri="{FF2B5EF4-FFF2-40B4-BE49-F238E27FC236}">
                    <a16:creationId xmlns:a16="http://schemas.microsoft.com/office/drawing/2014/main" id="{4E60B250-1EAB-4989-A943-859FBC6E0A27}"/>
                  </a:ext>
                </a:extLst>
              </p:cNvPr>
              <p:cNvSpPr txBox="1">
                <a:spLocks noRot="1" noChangeAspect="1" noMove="1" noResize="1" noEditPoints="1" noAdjustHandles="1" noChangeArrowheads="1" noChangeShapeType="1" noTextEdit="1"/>
              </p:cNvSpPr>
              <p:nvPr/>
            </p:nvSpPr>
            <p:spPr>
              <a:xfrm>
                <a:off x="4218161" y="3779982"/>
                <a:ext cx="385041" cy="670568"/>
              </a:xfrm>
              <a:prstGeom prst="rect">
                <a:avLst/>
              </a:prstGeom>
              <a:blipFill>
                <a:blip r:embed="rId5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DDC63F7-40E3-43C4-A335-F19133C187D4}"/>
                  </a:ext>
                </a:extLst>
              </p:cNvPr>
              <p:cNvSpPr txBox="1"/>
              <p:nvPr/>
            </p:nvSpPr>
            <p:spPr>
              <a:xfrm>
                <a:off x="210360" y="3942238"/>
                <a:ext cx="86594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0.706</m:t>
                      </m:r>
                    </m:oMath>
                  </m:oMathPara>
                </a14:m>
                <a:endParaRPr lang="en-GB" sz="1400" dirty="0"/>
              </a:p>
            </p:txBody>
          </p:sp>
        </mc:Choice>
        <mc:Fallback xmlns="">
          <p:sp>
            <p:nvSpPr>
              <p:cNvPr id="94" name="TextBox 93">
                <a:extLst>
                  <a:ext uri="{FF2B5EF4-FFF2-40B4-BE49-F238E27FC236}">
                    <a16:creationId xmlns:a16="http://schemas.microsoft.com/office/drawing/2014/main" id="{1DDC63F7-40E3-43C4-A335-F19133C187D4}"/>
                  </a:ext>
                </a:extLst>
              </p:cNvPr>
              <p:cNvSpPr txBox="1">
                <a:spLocks noRot="1" noChangeAspect="1" noMove="1" noResize="1" noEditPoints="1" noAdjustHandles="1" noChangeArrowheads="1" noChangeShapeType="1" noTextEdit="1"/>
              </p:cNvSpPr>
              <p:nvPr/>
            </p:nvSpPr>
            <p:spPr>
              <a:xfrm>
                <a:off x="210360" y="3942238"/>
                <a:ext cx="865942" cy="400110"/>
              </a:xfrm>
              <a:prstGeom prst="rect">
                <a:avLst/>
              </a:prstGeom>
              <a:blipFill>
                <a:blip r:embed="rId5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3DCFD76-CEB4-4225-855F-51FDA4A65D3B}"/>
                  </a:ext>
                </a:extLst>
              </p:cNvPr>
              <p:cNvSpPr txBox="1"/>
              <p:nvPr/>
            </p:nvSpPr>
            <p:spPr>
              <a:xfrm>
                <a:off x="4004160" y="5445722"/>
                <a:ext cx="813043"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135</m:t>
                          </m:r>
                        </m:num>
                        <m:den>
                          <m:r>
                            <a:rPr lang="en-GB" sz="2000" b="0" i="1" dirty="0" smtClean="0">
                              <a:latin typeface="Cambria Math" panose="02040503050406030204" pitchFamily="18" charset="0"/>
                            </a:rPr>
                            <m:t>1000</m:t>
                          </m:r>
                        </m:den>
                      </m:f>
                    </m:oMath>
                  </m:oMathPara>
                </a14:m>
                <a:endParaRPr lang="en-GB" sz="1400" dirty="0"/>
              </a:p>
            </p:txBody>
          </p:sp>
        </mc:Choice>
        <mc:Fallback xmlns="">
          <p:sp>
            <p:nvSpPr>
              <p:cNvPr id="95" name="TextBox 94">
                <a:extLst>
                  <a:ext uri="{FF2B5EF4-FFF2-40B4-BE49-F238E27FC236}">
                    <a16:creationId xmlns:a16="http://schemas.microsoft.com/office/drawing/2014/main" id="{C3DCFD76-CEB4-4225-855F-51FDA4A65D3B}"/>
                  </a:ext>
                </a:extLst>
              </p:cNvPr>
              <p:cNvSpPr txBox="1">
                <a:spLocks noRot="1" noChangeAspect="1" noMove="1" noResize="1" noEditPoints="1" noAdjustHandles="1" noChangeArrowheads="1" noChangeShapeType="1" noTextEdit="1"/>
              </p:cNvSpPr>
              <p:nvPr/>
            </p:nvSpPr>
            <p:spPr>
              <a:xfrm>
                <a:off x="4004160" y="5445722"/>
                <a:ext cx="813043" cy="670568"/>
              </a:xfrm>
              <a:prstGeom prst="rect">
                <a:avLst/>
              </a:prstGeom>
              <a:blipFill>
                <a:blip r:embed="rId5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36D54EE-05C5-4EAA-9677-953523CC6F60}"/>
                  </a:ext>
                </a:extLst>
              </p:cNvPr>
              <p:cNvSpPr txBox="1"/>
              <p:nvPr/>
            </p:nvSpPr>
            <p:spPr>
              <a:xfrm>
                <a:off x="12319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10.5%</m:t>
                      </m:r>
                    </m:oMath>
                  </m:oMathPara>
                </a14:m>
                <a:endParaRPr lang="en-GB" sz="1400" dirty="0"/>
              </a:p>
            </p:txBody>
          </p:sp>
        </mc:Choice>
        <mc:Fallback xmlns="">
          <p:sp>
            <p:nvSpPr>
              <p:cNvPr id="96" name="TextBox 95">
                <a:extLst>
                  <a:ext uri="{FF2B5EF4-FFF2-40B4-BE49-F238E27FC236}">
                    <a16:creationId xmlns:a16="http://schemas.microsoft.com/office/drawing/2014/main" id="{636D54EE-05C5-4EAA-9677-953523CC6F60}"/>
                  </a:ext>
                </a:extLst>
              </p:cNvPr>
              <p:cNvSpPr txBox="1">
                <a:spLocks noRot="1" noChangeAspect="1" noMove="1" noResize="1" noEditPoints="1" noAdjustHandles="1" noChangeArrowheads="1" noChangeShapeType="1" noTextEdit="1"/>
              </p:cNvSpPr>
              <p:nvPr/>
            </p:nvSpPr>
            <p:spPr>
              <a:xfrm>
                <a:off x="1231947" y="5582405"/>
                <a:ext cx="950901" cy="400110"/>
              </a:xfrm>
              <a:prstGeom prst="rect">
                <a:avLst/>
              </a:prstGeom>
              <a:blipFill>
                <a:blip r:embed="rId5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319EF89-0065-443A-A781-7DAC701AFD28}"/>
                  </a:ext>
                </a:extLst>
              </p:cNvPr>
              <p:cNvSpPr txBox="1"/>
              <p:nvPr/>
            </p:nvSpPr>
            <p:spPr>
              <a:xfrm>
                <a:off x="7497344" y="3779982"/>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42</m:t>
                          </m:r>
                        </m:num>
                        <m:den>
                          <m:r>
                            <a:rPr lang="en-GB" sz="2000" b="0" i="1" dirty="0" smtClean="0">
                              <a:latin typeface="Cambria Math" panose="02040503050406030204" pitchFamily="18" charset="0"/>
                            </a:rPr>
                            <m:t>60</m:t>
                          </m:r>
                        </m:den>
                      </m:f>
                    </m:oMath>
                  </m:oMathPara>
                </a14:m>
                <a:endParaRPr lang="en-GB" sz="1400" dirty="0"/>
              </a:p>
            </p:txBody>
          </p:sp>
        </mc:Choice>
        <mc:Fallback xmlns="">
          <p:sp>
            <p:nvSpPr>
              <p:cNvPr id="97" name="TextBox 96">
                <a:extLst>
                  <a:ext uri="{FF2B5EF4-FFF2-40B4-BE49-F238E27FC236}">
                    <a16:creationId xmlns:a16="http://schemas.microsoft.com/office/drawing/2014/main" id="{D319EF89-0065-443A-A781-7DAC701AFD28}"/>
                  </a:ext>
                </a:extLst>
              </p:cNvPr>
              <p:cNvSpPr txBox="1">
                <a:spLocks noRot="1" noChangeAspect="1" noMove="1" noResize="1" noEditPoints="1" noAdjustHandles="1" noChangeArrowheads="1" noChangeShapeType="1" noTextEdit="1"/>
              </p:cNvSpPr>
              <p:nvPr/>
            </p:nvSpPr>
            <p:spPr>
              <a:xfrm>
                <a:off x="7497344" y="3779982"/>
                <a:ext cx="527709" cy="670568"/>
              </a:xfrm>
              <a:prstGeom prst="rect">
                <a:avLst/>
              </a:prstGeom>
              <a:blipFill>
                <a:blip r:embed="rId5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E928066-45C3-487A-8C65-1C759AF076C5}"/>
                  </a:ext>
                </a:extLst>
              </p:cNvPr>
              <p:cNvSpPr txBox="1"/>
              <p:nvPr/>
            </p:nvSpPr>
            <p:spPr>
              <a:xfrm>
                <a:off x="8121090" y="3942238"/>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35.9%</m:t>
                      </m:r>
                    </m:oMath>
                  </m:oMathPara>
                </a14:m>
                <a:endParaRPr lang="en-GB" sz="1400" dirty="0"/>
              </a:p>
            </p:txBody>
          </p:sp>
        </mc:Choice>
        <mc:Fallback xmlns="">
          <p:sp>
            <p:nvSpPr>
              <p:cNvPr id="98" name="TextBox 97">
                <a:extLst>
                  <a:ext uri="{FF2B5EF4-FFF2-40B4-BE49-F238E27FC236}">
                    <a16:creationId xmlns:a16="http://schemas.microsoft.com/office/drawing/2014/main" id="{1E928066-45C3-487A-8C65-1C759AF076C5}"/>
                  </a:ext>
                </a:extLst>
              </p:cNvPr>
              <p:cNvSpPr txBox="1">
                <a:spLocks noRot="1" noChangeAspect="1" noMove="1" noResize="1" noEditPoints="1" noAdjustHandles="1" noChangeArrowheads="1" noChangeShapeType="1" noTextEdit="1"/>
              </p:cNvSpPr>
              <p:nvPr/>
            </p:nvSpPr>
            <p:spPr>
              <a:xfrm>
                <a:off x="8121090" y="3942238"/>
                <a:ext cx="950901" cy="400110"/>
              </a:xfrm>
              <a:prstGeom prst="rect">
                <a:avLst/>
              </a:prstGeom>
              <a:blipFill>
                <a:blip r:embed="rId5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1AF1443-CD7D-461C-B366-891E41C8B0D7}"/>
                  </a:ext>
                </a:extLst>
              </p:cNvPr>
              <p:cNvSpPr txBox="1"/>
              <p:nvPr/>
            </p:nvSpPr>
            <p:spPr>
              <a:xfrm>
                <a:off x="9168026" y="3942238"/>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0.05</m:t>
                      </m:r>
                    </m:oMath>
                  </m:oMathPara>
                </a14:m>
                <a:endParaRPr lang="en-GB" sz="1400" dirty="0"/>
              </a:p>
            </p:txBody>
          </p:sp>
        </mc:Choice>
        <mc:Fallback xmlns="">
          <p:sp>
            <p:nvSpPr>
              <p:cNvPr id="99" name="TextBox 98">
                <a:extLst>
                  <a:ext uri="{FF2B5EF4-FFF2-40B4-BE49-F238E27FC236}">
                    <a16:creationId xmlns:a16="http://schemas.microsoft.com/office/drawing/2014/main" id="{B1AF1443-CD7D-461C-B366-891E41C8B0D7}"/>
                  </a:ext>
                </a:extLst>
              </p:cNvPr>
              <p:cNvSpPr txBox="1">
                <a:spLocks noRot="1" noChangeAspect="1" noMove="1" noResize="1" noEditPoints="1" noAdjustHandles="1" noChangeArrowheads="1" noChangeShapeType="1" noTextEdit="1"/>
              </p:cNvSpPr>
              <p:nvPr/>
            </p:nvSpPr>
            <p:spPr>
              <a:xfrm>
                <a:off x="9168026" y="3942238"/>
                <a:ext cx="723275" cy="400110"/>
              </a:xfrm>
              <a:prstGeom prst="rect">
                <a:avLst/>
              </a:prstGeom>
              <a:blipFill>
                <a:blip r:embed="rId5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2A0B961-357C-4C8E-82C0-49A59B457D7B}"/>
                  </a:ext>
                </a:extLst>
              </p:cNvPr>
              <p:cNvSpPr txBox="1"/>
              <p:nvPr/>
            </p:nvSpPr>
            <p:spPr>
              <a:xfrm>
                <a:off x="6570792" y="5582405"/>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62%</m:t>
                      </m:r>
                    </m:oMath>
                  </m:oMathPara>
                </a14:m>
                <a:endParaRPr lang="en-GB" sz="1400" dirty="0"/>
              </a:p>
            </p:txBody>
          </p:sp>
        </mc:Choice>
        <mc:Fallback xmlns="">
          <p:sp>
            <p:nvSpPr>
              <p:cNvPr id="100" name="TextBox 99">
                <a:extLst>
                  <a:ext uri="{FF2B5EF4-FFF2-40B4-BE49-F238E27FC236}">
                    <a16:creationId xmlns:a16="http://schemas.microsoft.com/office/drawing/2014/main" id="{A2A0B961-357C-4C8E-82C0-49A59B457D7B}"/>
                  </a:ext>
                </a:extLst>
              </p:cNvPr>
              <p:cNvSpPr txBox="1">
                <a:spLocks noRot="1" noChangeAspect="1" noMove="1" noResize="1" noEditPoints="1" noAdjustHandles="1" noChangeArrowheads="1" noChangeShapeType="1" noTextEdit="1"/>
              </p:cNvSpPr>
              <p:nvPr/>
            </p:nvSpPr>
            <p:spPr>
              <a:xfrm>
                <a:off x="6570792" y="5582405"/>
                <a:ext cx="755335" cy="400110"/>
              </a:xfrm>
              <a:prstGeom prst="rect">
                <a:avLst/>
              </a:prstGeom>
              <a:blipFill>
                <a:blip r:embed="rId5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D1922FE-D674-40BE-9A29-646001A57ABA}"/>
                  </a:ext>
                </a:extLst>
              </p:cNvPr>
              <p:cNvSpPr txBox="1"/>
              <p:nvPr/>
            </p:nvSpPr>
            <p:spPr>
              <a:xfrm>
                <a:off x="8633570"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7</m:t>
                          </m:r>
                        </m:den>
                      </m:f>
                    </m:oMath>
                  </m:oMathPara>
                </a14:m>
                <a:endParaRPr lang="en-GB" sz="1400" dirty="0"/>
              </a:p>
            </p:txBody>
          </p:sp>
        </mc:Choice>
        <mc:Fallback xmlns="">
          <p:sp>
            <p:nvSpPr>
              <p:cNvPr id="101" name="TextBox 100">
                <a:extLst>
                  <a:ext uri="{FF2B5EF4-FFF2-40B4-BE49-F238E27FC236}">
                    <a16:creationId xmlns:a16="http://schemas.microsoft.com/office/drawing/2014/main" id="{ED1922FE-D674-40BE-9A29-646001A57ABA}"/>
                  </a:ext>
                </a:extLst>
              </p:cNvPr>
              <p:cNvSpPr txBox="1">
                <a:spLocks noRot="1" noChangeAspect="1" noMove="1" noResize="1" noEditPoints="1" noAdjustHandles="1" noChangeArrowheads="1" noChangeShapeType="1" noTextEdit="1"/>
              </p:cNvSpPr>
              <p:nvPr/>
            </p:nvSpPr>
            <p:spPr>
              <a:xfrm>
                <a:off x="8633570" y="5445722"/>
                <a:ext cx="385041" cy="670568"/>
              </a:xfrm>
              <a:prstGeom prst="rect">
                <a:avLst/>
              </a:prstGeom>
              <a:blipFill>
                <a:blip r:embed="rId6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D7AD3DAE-68B2-40EC-B751-D4882DE9EB0C}"/>
                  </a:ext>
                </a:extLst>
              </p:cNvPr>
              <p:cNvSpPr txBox="1"/>
              <p:nvPr/>
            </p:nvSpPr>
            <p:spPr>
              <a:xfrm>
                <a:off x="9168026"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0.57</m:t>
                      </m:r>
                    </m:oMath>
                  </m:oMathPara>
                </a14:m>
                <a:endParaRPr lang="en-GB" sz="1400" dirty="0"/>
              </a:p>
            </p:txBody>
          </p:sp>
        </mc:Choice>
        <mc:Fallback xmlns="">
          <p:sp>
            <p:nvSpPr>
              <p:cNvPr id="102" name="TextBox 101">
                <a:extLst>
                  <a:ext uri="{FF2B5EF4-FFF2-40B4-BE49-F238E27FC236}">
                    <a16:creationId xmlns:a16="http://schemas.microsoft.com/office/drawing/2014/main" id="{D7AD3DAE-68B2-40EC-B751-D4882DE9EB0C}"/>
                  </a:ext>
                </a:extLst>
              </p:cNvPr>
              <p:cNvSpPr txBox="1">
                <a:spLocks noRot="1" noChangeAspect="1" noMove="1" noResize="1" noEditPoints="1" noAdjustHandles="1" noChangeArrowheads="1" noChangeShapeType="1" noTextEdit="1"/>
              </p:cNvSpPr>
              <p:nvPr/>
            </p:nvSpPr>
            <p:spPr>
              <a:xfrm>
                <a:off x="9168026" y="5595192"/>
                <a:ext cx="723275" cy="400110"/>
              </a:xfrm>
              <a:prstGeom prst="rect">
                <a:avLst/>
              </a:prstGeom>
              <a:blipFill>
                <a:blip r:embed="rId6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3908A57A-2993-4DA2-AC3F-8015EC05CD0B}"/>
                  </a:ext>
                </a:extLst>
              </p:cNvPr>
              <p:cNvSpPr txBox="1"/>
              <p:nvPr/>
            </p:nvSpPr>
            <p:spPr>
              <a:xfrm>
                <a:off x="3605229" y="3246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103" name="TextBox 102">
                <a:extLst>
                  <a:ext uri="{FF2B5EF4-FFF2-40B4-BE49-F238E27FC236}">
                    <a16:creationId xmlns:a16="http://schemas.microsoft.com/office/drawing/2014/main" id="{3908A57A-2993-4DA2-AC3F-8015EC05CD0B}"/>
                  </a:ext>
                </a:extLst>
              </p:cNvPr>
              <p:cNvSpPr txBox="1">
                <a:spLocks noRot="1" noChangeAspect="1" noMove="1" noResize="1" noEditPoints="1" noAdjustHandles="1" noChangeArrowheads="1" noChangeShapeType="1" noTextEdit="1"/>
              </p:cNvSpPr>
              <p:nvPr/>
            </p:nvSpPr>
            <p:spPr>
              <a:xfrm>
                <a:off x="3605229" y="324605"/>
                <a:ext cx="527709" cy="670505"/>
              </a:xfrm>
              <a:prstGeom prst="rect">
                <a:avLst/>
              </a:prstGeom>
              <a:blipFill>
                <a:blip r:embed="rId62"/>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5270AB89-CFE1-864F-5A7A-1C7ACF78C3AA}"/>
              </a:ext>
            </a:extLst>
          </p:cNvPr>
          <p:cNvSpPr txBox="1"/>
          <p:nvPr/>
        </p:nvSpPr>
        <p:spPr>
          <a:xfrm>
            <a:off x="782312" y="1175607"/>
            <a:ext cx="725155" cy="369332"/>
          </a:xfrm>
          <a:prstGeom prst="rect">
            <a:avLst/>
          </a:prstGeom>
          <a:noFill/>
        </p:spPr>
        <p:txBody>
          <a:bodyPr wrap="square" rtlCol="0">
            <a:spAutoFit/>
          </a:bodyPr>
          <a:lstStyle/>
          <a:p>
            <a:r>
              <a:rPr lang="ky-KG" b="1" dirty="0">
                <a:solidFill>
                  <a:srgbClr val="00B0F0"/>
                </a:solidFill>
              </a:rPr>
              <a:t>0,9</a:t>
            </a:r>
            <a:endParaRPr lang="en-US" b="1" dirty="0">
              <a:solidFill>
                <a:srgbClr val="00B0F0"/>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953FDB3-4FD7-65BF-C069-6631C9D472FB}"/>
                  </a:ext>
                </a:extLst>
              </p:cNvPr>
              <p:cNvSpPr txBox="1"/>
              <p:nvPr/>
            </p:nvSpPr>
            <p:spPr>
              <a:xfrm>
                <a:off x="3882068" y="1044176"/>
                <a:ext cx="725155" cy="63664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𝟐𝟏</m:t>
                          </m:r>
                        </m:num>
                        <m:den>
                          <m:r>
                            <a:rPr lang="ky-KG" b="1" i="1" smtClean="0">
                              <a:solidFill>
                                <a:srgbClr val="00B0F0"/>
                              </a:solidFill>
                              <a:latin typeface="Cambria Math" panose="02040503050406030204" pitchFamily="18" charset="0"/>
                            </a:rPr>
                            <m:t>𝟐𝟓</m:t>
                          </m:r>
                        </m:den>
                      </m:f>
                    </m:oMath>
                  </m:oMathPara>
                </a14:m>
                <a:endParaRPr lang="en-US" b="1" dirty="0">
                  <a:solidFill>
                    <a:srgbClr val="00B0F0"/>
                  </a:solidFill>
                </a:endParaRPr>
              </a:p>
            </p:txBody>
          </p:sp>
        </mc:Choice>
        <mc:Fallback>
          <p:sp>
            <p:nvSpPr>
              <p:cNvPr id="7" name="TextBox 6">
                <a:extLst>
                  <a:ext uri="{FF2B5EF4-FFF2-40B4-BE49-F238E27FC236}">
                    <a16:creationId xmlns:a16="http://schemas.microsoft.com/office/drawing/2014/main" id="{C953FDB3-4FD7-65BF-C069-6631C9D472FB}"/>
                  </a:ext>
                </a:extLst>
              </p:cNvPr>
              <p:cNvSpPr txBox="1">
                <a:spLocks noRot="1" noChangeAspect="1" noMove="1" noResize="1" noEditPoints="1" noAdjustHandles="1" noChangeArrowheads="1" noChangeShapeType="1" noTextEdit="1"/>
              </p:cNvSpPr>
              <p:nvPr/>
            </p:nvSpPr>
            <p:spPr>
              <a:xfrm>
                <a:off x="3882068" y="1044176"/>
                <a:ext cx="725155" cy="636649"/>
              </a:xfrm>
              <a:prstGeom prst="rect">
                <a:avLst/>
              </a:prstGeom>
              <a:blipFill>
                <a:blip r:embed="rId6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D995E2C-3CC9-6ACE-4A3E-952B0F0C37BD}"/>
              </a:ext>
            </a:extLst>
          </p:cNvPr>
          <p:cNvSpPr txBox="1"/>
          <p:nvPr/>
        </p:nvSpPr>
        <p:spPr>
          <a:xfrm>
            <a:off x="2296692" y="1193193"/>
            <a:ext cx="725155" cy="369332"/>
          </a:xfrm>
          <a:prstGeom prst="rect">
            <a:avLst/>
          </a:prstGeom>
          <a:noFill/>
        </p:spPr>
        <p:txBody>
          <a:bodyPr wrap="square" rtlCol="0">
            <a:spAutoFit/>
          </a:bodyPr>
          <a:lstStyle/>
          <a:p>
            <a:r>
              <a:rPr lang="ky-KG" b="1" dirty="0">
                <a:solidFill>
                  <a:srgbClr val="00B0F0"/>
                </a:solidFill>
              </a:rPr>
              <a:t>85%</a:t>
            </a:r>
            <a:endParaRPr lang="en-US" b="1" dirty="0">
              <a:solidFill>
                <a:srgbClr val="00B0F0"/>
              </a:solidFill>
            </a:endParaRPr>
          </a:p>
        </p:txBody>
      </p:sp>
      <p:sp>
        <p:nvSpPr>
          <p:cNvPr id="10" name="TextBox 9">
            <a:extLst>
              <a:ext uri="{FF2B5EF4-FFF2-40B4-BE49-F238E27FC236}">
                <a16:creationId xmlns:a16="http://schemas.microsoft.com/office/drawing/2014/main" id="{81A9E53E-4253-7638-311C-6BB97370A9B1}"/>
              </a:ext>
            </a:extLst>
          </p:cNvPr>
          <p:cNvSpPr txBox="1"/>
          <p:nvPr/>
        </p:nvSpPr>
        <p:spPr>
          <a:xfrm>
            <a:off x="763514" y="2902073"/>
            <a:ext cx="725155" cy="369332"/>
          </a:xfrm>
          <a:prstGeom prst="rect">
            <a:avLst/>
          </a:prstGeom>
          <a:noFill/>
        </p:spPr>
        <p:txBody>
          <a:bodyPr wrap="square" rtlCol="0">
            <a:spAutoFit/>
          </a:bodyPr>
          <a:lstStyle/>
          <a:p>
            <a:r>
              <a:rPr lang="ky-KG" b="1" dirty="0">
                <a:solidFill>
                  <a:srgbClr val="00B0F0"/>
                </a:solidFill>
              </a:rPr>
              <a:t>71%</a:t>
            </a:r>
            <a:endParaRPr lang="en-US" b="1" dirty="0">
              <a:solidFill>
                <a:srgbClr val="00B0F0"/>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D4A481E-84EB-F6CD-C8D5-2312125FF5BD}"/>
                  </a:ext>
                </a:extLst>
              </p:cNvPr>
              <p:cNvSpPr txBox="1"/>
              <p:nvPr/>
            </p:nvSpPr>
            <p:spPr>
              <a:xfrm>
                <a:off x="3863270" y="2770642"/>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𝟐𝟏</m:t>
                          </m:r>
                        </m:num>
                        <m:den>
                          <m:r>
                            <a:rPr lang="ky-KG" b="1" i="1" smtClean="0">
                              <a:solidFill>
                                <a:srgbClr val="00B0F0"/>
                              </a:solidFill>
                              <a:latin typeface="Cambria Math" panose="02040503050406030204" pitchFamily="18" charset="0"/>
                            </a:rPr>
                            <m:t>𝟑𝟎</m:t>
                          </m:r>
                        </m:den>
                      </m:f>
                    </m:oMath>
                  </m:oMathPara>
                </a14:m>
                <a:endParaRPr lang="en-US" b="1" dirty="0">
                  <a:solidFill>
                    <a:srgbClr val="00B0F0"/>
                  </a:solidFill>
                </a:endParaRPr>
              </a:p>
            </p:txBody>
          </p:sp>
        </mc:Choice>
        <mc:Fallback>
          <p:sp>
            <p:nvSpPr>
              <p:cNvPr id="11" name="TextBox 10">
                <a:extLst>
                  <a:ext uri="{FF2B5EF4-FFF2-40B4-BE49-F238E27FC236}">
                    <a16:creationId xmlns:a16="http://schemas.microsoft.com/office/drawing/2014/main" id="{DD4A481E-84EB-F6CD-C8D5-2312125FF5BD}"/>
                  </a:ext>
                </a:extLst>
              </p:cNvPr>
              <p:cNvSpPr txBox="1">
                <a:spLocks noRot="1" noChangeAspect="1" noMove="1" noResize="1" noEditPoints="1" noAdjustHandles="1" noChangeArrowheads="1" noChangeShapeType="1" noTextEdit="1"/>
              </p:cNvSpPr>
              <p:nvPr/>
            </p:nvSpPr>
            <p:spPr>
              <a:xfrm>
                <a:off x="3863270" y="2770642"/>
                <a:ext cx="725155" cy="610936"/>
              </a:xfrm>
              <a:prstGeom prst="rect">
                <a:avLst/>
              </a:prstGeom>
              <a:blipFill>
                <a:blip r:embed="rId6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F2233C2-3845-5E38-73FC-44F8A9B91B9B}"/>
              </a:ext>
            </a:extLst>
          </p:cNvPr>
          <p:cNvSpPr txBox="1"/>
          <p:nvPr/>
        </p:nvSpPr>
        <p:spPr>
          <a:xfrm>
            <a:off x="2277894" y="2919659"/>
            <a:ext cx="725155" cy="369332"/>
          </a:xfrm>
          <a:prstGeom prst="rect">
            <a:avLst/>
          </a:prstGeom>
          <a:noFill/>
        </p:spPr>
        <p:txBody>
          <a:bodyPr wrap="square" rtlCol="0">
            <a:spAutoFit/>
          </a:bodyPr>
          <a:lstStyle/>
          <a:p>
            <a:r>
              <a:rPr lang="ky-KG" b="1" dirty="0">
                <a:solidFill>
                  <a:srgbClr val="00B0F0"/>
                </a:solidFill>
              </a:rPr>
              <a:t>0,701</a:t>
            </a:r>
            <a:endParaRPr lang="en-US" b="1" dirty="0">
              <a:solidFill>
                <a:srgbClr val="00B0F0"/>
              </a:solidFill>
            </a:endParaRPr>
          </a:p>
        </p:txBody>
      </p:sp>
      <p:sp>
        <p:nvSpPr>
          <p:cNvPr id="13" name="TextBox 12">
            <a:extLst>
              <a:ext uri="{FF2B5EF4-FFF2-40B4-BE49-F238E27FC236}">
                <a16:creationId xmlns:a16="http://schemas.microsoft.com/office/drawing/2014/main" id="{4598D98A-9A6B-A8FE-C53D-39296AB26535}"/>
              </a:ext>
            </a:extLst>
          </p:cNvPr>
          <p:cNvSpPr txBox="1"/>
          <p:nvPr/>
        </p:nvSpPr>
        <p:spPr>
          <a:xfrm>
            <a:off x="5524349" y="1186171"/>
            <a:ext cx="725155" cy="369332"/>
          </a:xfrm>
          <a:prstGeom prst="rect">
            <a:avLst/>
          </a:prstGeom>
          <a:noFill/>
        </p:spPr>
        <p:txBody>
          <a:bodyPr wrap="square" rtlCol="0">
            <a:spAutoFit/>
          </a:bodyPr>
          <a:lstStyle/>
          <a:p>
            <a:r>
              <a:rPr lang="ky-KG" b="1" dirty="0">
                <a:solidFill>
                  <a:srgbClr val="00B0F0"/>
                </a:solidFill>
              </a:rPr>
              <a:t>1,5%</a:t>
            </a:r>
            <a:endParaRPr lang="en-US" b="1" dirty="0">
              <a:solidFill>
                <a:srgbClr val="00B0F0"/>
              </a:solidFil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442E61F-D1DA-1488-DB88-CDBC278E1FA2}"/>
                  </a:ext>
                </a:extLst>
              </p:cNvPr>
              <p:cNvSpPr txBox="1"/>
              <p:nvPr/>
            </p:nvSpPr>
            <p:spPr>
              <a:xfrm>
                <a:off x="7681311" y="1094858"/>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𝟑</m:t>
                          </m:r>
                        </m:num>
                        <m:den>
                          <m:r>
                            <a:rPr lang="ky-KG" b="1" i="1" smtClean="0">
                              <a:solidFill>
                                <a:srgbClr val="00B0F0"/>
                              </a:solidFill>
                              <a:latin typeface="Cambria Math" panose="02040503050406030204" pitchFamily="18" charset="0"/>
                            </a:rPr>
                            <m:t>𝟐𝟎</m:t>
                          </m:r>
                        </m:den>
                      </m:f>
                    </m:oMath>
                  </m:oMathPara>
                </a14:m>
                <a:endParaRPr lang="en-US" b="1" dirty="0">
                  <a:solidFill>
                    <a:srgbClr val="00B0F0"/>
                  </a:solidFill>
                </a:endParaRPr>
              </a:p>
            </p:txBody>
          </p:sp>
        </mc:Choice>
        <mc:Fallback>
          <p:sp>
            <p:nvSpPr>
              <p:cNvPr id="14" name="TextBox 13">
                <a:extLst>
                  <a:ext uri="{FF2B5EF4-FFF2-40B4-BE49-F238E27FC236}">
                    <a16:creationId xmlns:a16="http://schemas.microsoft.com/office/drawing/2014/main" id="{4442E61F-D1DA-1488-DB88-CDBC278E1FA2}"/>
                  </a:ext>
                </a:extLst>
              </p:cNvPr>
              <p:cNvSpPr txBox="1">
                <a:spLocks noRot="1" noChangeAspect="1" noMove="1" noResize="1" noEditPoints="1" noAdjustHandles="1" noChangeArrowheads="1" noChangeShapeType="1" noTextEdit="1"/>
              </p:cNvSpPr>
              <p:nvPr/>
            </p:nvSpPr>
            <p:spPr>
              <a:xfrm>
                <a:off x="7681311" y="1094858"/>
                <a:ext cx="725155" cy="610936"/>
              </a:xfrm>
              <a:prstGeom prst="rect">
                <a:avLst/>
              </a:prstGeom>
              <a:blipFill>
                <a:blip r:embed="rId65"/>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A9A9A300-ECFF-1BC1-D966-19A605910C8A}"/>
              </a:ext>
            </a:extLst>
          </p:cNvPr>
          <p:cNvSpPr txBox="1"/>
          <p:nvPr/>
        </p:nvSpPr>
        <p:spPr>
          <a:xfrm>
            <a:off x="6646737" y="1203466"/>
            <a:ext cx="725155" cy="369332"/>
          </a:xfrm>
          <a:prstGeom prst="rect">
            <a:avLst/>
          </a:prstGeom>
          <a:noFill/>
        </p:spPr>
        <p:txBody>
          <a:bodyPr wrap="square" rtlCol="0">
            <a:spAutoFit/>
          </a:bodyPr>
          <a:lstStyle/>
          <a:p>
            <a:r>
              <a:rPr lang="ky-KG" b="1" dirty="0">
                <a:solidFill>
                  <a:srgbClr val="00B0F0"/>
                </a:solidFill>
              </a:rPr>
              <a:t>0,099</a:t>
            </a:r>
            <a:endParaRPr lang="en-US" b="1" dirty="0">
              <a:solidFill>
                <a:srgbClr val="00B0F0"/>
              </a:solidFill>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E714CBCD-1FC2-A81E-8B17-252073144C22}"/>
                  </a:ext>
                </a:extLst>
              </p:cNvPr>
              <p:cNvSpPr txBox="1"/>
              <p:nvPr/>
            </p:nvSpPr>
            <p:spPr>
              <a:xfrm>
                <a:off x="8728218" y="1075653"/>
                <a:ext cx="725155" cy="61170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𝟒𝟔</m:t>
                          </m:r>
                        </m:num>
                        <m:den>
                          <m:r>
                            <a:rPr lang="ky-KG" b="1" i="1" smtClean="0">
                              <a:solidFill>
                                <a:srgbClr val="00B0F0"/>
                              </a:solidFill>
                              <a:latin typeface="Cambria Math" panose="02040503050406030204" pitchFamily="18" charset="0"/>
                            </a:rPr>
                            <m:t>𝟐𝟎𝟎</m:t>
                          </m:r>
                        </m:den>
                      </m:f>
                    </m:oMath>
                  </m:oMathPara>
                </a14:m>
                <a:endParaRPr lang="en-US" b="1" dirty="0">
                  <a:solidFill>
                    <a:srgbClr val="00B0F0"/>
                  </a:solidFill>
                </a:endParaRPr>
              </a:p>
            </p:txBody>
          </p:sp>
        </mc:Choice>
        <mc:Fallback>
          <p:sp>
            <p:nvSpPr>
              <p:cNvPr id="17" name="TextBox 16">
                <a:extLst>
                  <a:ext uri="{FF2B5EF4-FFF2-40B4-BE49-F238E27FC236}">
                    <a16:creationId xmlns:a16="http://schemas.microsoft.com/office/drawing/2014/main" id="{E714CBCD-1FC2-A81E-8B17-252073144C22}"/>
                  </a:ext>
                </a:extLst>
              </p:cNvPr>
              <p:cNvSpPr txBox="1">
                <a:spLocks noRot="1" noChangeAspect="1" noMove="1" noResize="1" noEditPoints="1" noAdjustHandles="1" noChangeArrowheads="1" noChangeShapeType="1" noTextEdit="1"/>
              </p:cNvSpPr>
              <p:nvPr/>
            </p:nvSpPr>
            <p:spPr>
              <a:xfrm>
                <a:off x="8728218" y="1075653"/>
                <a:ext cx="725155" cy="611706"/>
              </a:xfrm>
              <a:prstGeom prst="rect">
                <a:avLst/>
              </a:prstGeom>
              <a:blipFill>
                <a:blip r:embed="rId66"/>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D94C24ED-FB86-1F58-14AA-FB5E1674A591}"/>
              </a:ext>
            </a:extLst>
          </p:cNvPr>
          <p:cNvSpPr txBox="1"/>
          <p:nvPr/>
        </p:nvSpPr>
        <p:spPr>
          <a:xfrm>
            <a:off x="5286607" y="2831823"/>
            <a:ext cx="1053402" cy="369332"/>
          </a:xfrm>
          <a:prstGeom prst="rect">
            <a:avLst/>
          </a:prstGeom>
          <a:noFill/>
        </p:spPr>
        <p:txBody>
          <a:bodyPr wrap="square" rtlCol="0">
            <a:spAutoFit/>
          </a:bodyPr>
          <a:lstStyle/>
          <a:p>
            <a:r>
              <a:rPr lang="ky-KG" b="1" dirty="0">
                <a:solidFill>
                  <a:srgbClr val="00B0F0"/>
                </a:solidFill>
              </a:rPr>
              <a:t>102,9%</a:t>
            </a:r>
            <a:endParaRPr lang="en-US" b="1" dirty="0">
              <a:solidFill>
                <a:srgbClr val="00B0F0"/>
              </a:solidFill>
            </a:endParaRPr>
          </a:p>
        </p:txBody>
      </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369EAD3-C850-6F1A-315E-EDC9D2A17E28}"/>
                  </a:ext>
                </a:extLst>
              </p:cNvPr>
              <p:cNvSpPr txBox="1"/>
              <p:nvPr/>
            </p:nvSpPr>
            <p:spPr>
              <a:xfrm>
                <a:off x="6730746" y="2711021"/>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𝟓𝟔</m:t>
                          </m:r>
                        </m:num>
                        <m:den>
                          <m:r>
                            <a:rPr lang="ky-KG" b="1" i="1" smtClean="0">
                              <a:solidFill>
                                <a:srgbClr val="00B0F0"/>
                              </a:solidFill>
                              <a:latin typeface="Cambria Math" panose="02040503050406030204" pitchFamily="18" charset="0"/>
                            </a:rPr>
                            <m:t>𝟓𝟎</m:t>
                          </m:r>
                        </m:den>
                      </m:f>
                    </m:oMath>
                  </m:oMathPara>
                </a14:m>
                <a:endParaRPr lang="en-US" b="1" dirty="0">
                  <a:solidFill>
                    <a:srgbClr val="00B0F0"/>
                  </a:solidFill>
                </a:endParaRPr>
              </a:p>
            </p:txBody>
          </p:sp>
        </mc:Choice>
        <mc:Fallback>
          <p:sp>
            <p:nvSpPr>
              <p:cNvPr id="34" name="TextBox 33">
                <a:extLst>
                  <a:ext uri="{FF2B5EF4-FFF2-40B4-BE49-F238E27FC236}">
                    <a16:creationId xmlns:a16="http://schemas.microsoft.com/office/drawing/2014/main" id="{9369EAD3-C850-6F1A-315E-EDC9D2A17E28}"/>
                  </a:ext>
                </a:extLst>
              </p:cNvPr>
              <p:cNvSpPr txBox="1">
                <a:spLocks noRot="1" noChangeAspect="1" noMove="1" noResize="1" noEditPoints="1" noAdjustHandles="1" noChangeArrowheads="1" noChangeShapeType="1" noTextEdit="1"/>
              </p:cNvSpPr>
              <p:nvPr/>
            </p:nvSpPr>
            <p:spPr>
              <a:xfrm>
                <a:off x="6730746" y="2711021"/>
                <a:ext cx="725155" cy="636585"/>
              </a:xfrm>
              <a:prstGeom prst="rect">
                <a:avLst/>
              </a:prstGeom>
              <a:blipFill>
                <a:blip r:embed="rId6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1E0356ED-76E3-386E-C349-0A3C24A51494}"/>
              </a:ext>
            </a:extLst>
          </p:cNvPr>
          <p:cNvSpPr txBox="1"/>
          <p:nvPr/>
        </p:nvSpPr>
        <p:spPr>
          <a:xfrm>
            <a:off x="7923282" y="2769573"/>
            <a:ext cx="725155" cy="369332"/>
          </a:xfrm>
          <a:prstGeom prst="rect">
            <a:avLst/>
          </a:prstGeom>
          <a:noFill/>
        </p:spPr>
        <p:txBody>
          <a:bodyPr wrap="square" rtlCol="0">
            <a:spAutoFit/>
          </a:bodyPr>
          <a:lstStyle/>
          <a:p>
            <a:r>
              <a:rPr lang="ky-KG" b="1" dirty="0">
                <a:solidFill>
                  <a:srgbClr val="00B0F0"/>
                </a:solidFill>
              </a:rPr>
              <a:t>1,2</a:t>
            </a:r>
            <a:endParaRPr lang="en-US" b="1" dirty="0">
              <a:solidFill>
                <a:srgbClr val="00B0F0"/>
              </a:solidFill>
            </a:endParaRP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D8243ACC-901F-C0B1-CA70-ABA5EECFA377}"/>
                  </a:ext>
                </a:extLst>
              </p:cNvPr>
              <p:cNvSpPr txBox="1"/>
              <p:nvPr/>
            </p:nvSpPr>
            <p:spPr>
              <a:xfrm>
                <a:off x="8708668" y="2660882"/>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𝟓</m:t>
                          </m:r>
                        </m:num>
                        <m:den>
                          <m:r>
                            <a:rPr lang="ky-KG" b="1" i="1" smtClean="0">
                              <a:solidFill>
                                <a:srgbClr val="00B0F0"/>
                              </a:solidFill>
                              <a:latin typeface="Cambria Math" panose="02040503050406030204" pitchFamily="18" charset="0"/>
                            </a:rPr>
                            <m:t>𝟒</m:t>
                          </m:r>
                        </m:den>
                      </m:f>
                    </m:oMath>
                  </m:oMathPara>
                </a14:m>
                <a:endParaRPr lang="en-US" b="1" dirty="0">
                  <a:solidFill>
                    <a:srgbClr val="00B0F0"/>
                  </a:solidFill>
                </a:endParaRPr>
              </a:p>
            </p:txBody>
          </p:sp>
        </mc:Choice>
        <mc:Fallback>
          <p:sp>
            <p:nvSpPr>
              <p:cNvPr id="36" name="TextBox 35">
                <a:extLst>
                  <a:ext uri="{FF2B5EF4-FFF2-40B4-BE49-F238E27FC236}">
                    <a16:creationId xmlns:a16="http://schemas.microsoft.com/office/drawing/2014/main" id="{D8243ACC-901F-C0B1-CA70-ABA5EECFA377}"/>
                  </a:ext>
                </a:extLst>
              </p:cNvPr>
              <p:cNvSpPr txBox="1">
                <a:spLocks noRot="1" noChangeAspect="1" noMove="1" noResize="1" noEditPoints="1" noAdjustHandles="1" noChangeArrowheads="1" noChangeShapeType="1" noTextEdit="1"/>
              </p:cNvSpPr>
              <p:nvPr/>
            </p:nvSpPr>
            <p:spPr>
              <a:xfrm>
                <a:off x="8708668" y="2660882"/>
                <a:ext cx="725155" cy="636585"/>
              </a:xfrm>
              <a:prstGeom prst="rect">
                <a:avLst/>
              </a:prstGeom>
              <a:blipFill>
                <a:blip r:embed="rId68"/>
                <a:stretch>
                  <a:fillRect/>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1A3E6AA2-70AA-8D79-A788-465128DB0FFA}"/>
              </a:ext>
            </a:extLst>
          </p:cNvPr>
          <p:cNvSpPr txBox="1"/>
          <p:nvPr/>
        </p:nvSpPr>
        <p:spPr>
          <a:xfrm>
            <a:off x="203426" y="4608636"/>
            <a:ext cx="1053402" cy="369332"/>
          </a:xfrm>
          <a:prstGeom prst="rect">
            <a:avLst/>
          </a:prstGeom>
          <a:noFill/>
        </p:spPr>
        <p:txBody>
          <a:bodyPr wrap="square" rtlCol="0">
            <a:spAutoFit/>
          </a:bodyPr>
          <a:lstStyle/>
          <a:p>
            <a:r>
              <a:rPr lang="ky-KG" b="1" dirty="0">
                <a:solidFill>
                  <a:srgbClr val="00B0F0"/>
                </a:solidFill>
              </a:rPr>
              <a:t>0,607</a:t>
            </a:r>
            <a:endParaRPr lang="en-US" b="1" dirty="0">
              <a:solidFill>
                <a:srgbClr val="00B0F0"/>
              </a:solidFill>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F9F4394B-CEA7-2FE4-415C-3C649F6D5D04}"/>
                  </a:ext>
                </a:extLst>
              </p:cNvPr>
              <p:cNvSpPr txBox="1"/>
              <p:nvPr/>
            </p:nvSpPr>
            <p:spPr>
              <a:xfrm>
                <a:off x="1937273" y="4501327"/>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𝟐</m:t>
                          </m:r>
                        </m:num>
                        <m:den>
                          <m:r>
                            <a:rPr lang="ky-KG" b="1" i="1" smtClean="0">
                              <a:solidFill>
                                <a:srgbClr val="00B0F0"/>
                              </a:solidFill>
                              <a:latin typeface="Cambria Math" panose="02040503050406030204" pitchFamily="18" charset="0"/>
                            </a:rPr>
                            <m:t>𝟑</m:t>
                          </m:r>
                        </m:den>
                      </m:f>
                    </m:oMath>
                  </m:oMathPara>
                </a14:m>
                <a:endParaRPr lang="en-US" b="1" dirty="0">
                  <a:solidFill>
                    <a:srgbClr val="00B0F0"/>
                  </a:solidFill>
                </a:endParaRPr>
              </a:p>
            </p:txBody>
          </p:sp>
        </mc:Choice>
        <mc:Fallback>
          <p:sp>
            <p:nvSpPr>
              <p:cNvPr id="38" name="TextBox 37">
                <a:extLst>
                  <a:ext uri="{FF2B5EF4-FFF2-40B4-BE49-F238E27FC236}">
                    <a16:creationId xmlns:a16="http://schemas.microsoft.com/office/drawing/2014/main" id="{F9F4394B-CEA7-2FE4-415C-3C649F6D5D04}"/>
                  </a:ext>
                </a:extLst>
              </p:cNvPr>
              <p:cNvSpPr txBox="1">
                <a:spLocks noRot="1" noChangeAspect="1" noMove="1" noResize="1" noEditPoints="1" noAdjustHandles="1" noChangeArrowheads="1" noChangeShapeType="1" noTextEdit="1"/>
              </p:cNvSpPr>
              <p:nvPr/>
            </p:nvSpPr>
            <p:spPr>
              <a:xfrm>
                <a:off x="1937273" y="4501327"/>
                <a:ext cx="725155" cy="610936"/>
              </a:xfrm>
              <a:prstGeom prst="rect">
                <a:avLst/>
              </a:prstGeom>
              <a:blipFill>
                <a:blip r:embed="rId69"/>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3B757482-8122-67B9-56D6-5A72600C2DB1}"/>
              </a:ext>
            </a:extLst>
          </p:cNvPr>
          <p:cNvSpPr txBox="1"/>
          <p:nvPr/>
        </p:nvSpPr>
        <p:spPr>
          <a:xfrm>
            <a:off x="2906933" y="4614270"/>
            <a:ext cx="725155" cy="369332"/>
          </a:xfrm>
          <a:prstGeom prst="rect">
            <a:avLst/>
          </a:prstGeom>
          <a:noFill/>
        </p:spPr>
        <p:txBody>
          <a:bodyPr wrap="square" rtlCol="0">
            <a:spAutoFit/>
          </a:bodyPr>
          <a:lstStyle/>
          <a:p>
            <a:r>
              <a:rPr lang="ky-KG" b="1" dirty="0">
                <a:solidFill>
                  <a:srgbClr val="00B0F0"/>
                </a:solidFill>
              </a:rPr>
              <a:t>0,706</a:t>
            </a:r>
            <a:endParaRPr lang="en-US" b="1" dirty="0">
              <a:solidFill>
                <a:srgbClr val="00B0F0"/>
              </a:solidFill>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9EA57B79-669B-A572-2F88-6B75497AB947}"/>
                  </a:ext>
                </a:extLst>
              </p:cNvPr>
              <p:cNvSpPr txBox="1"/>
              <p:nvPr/>
            </p:nvSpPr>
            <p:spPr>
              <a:xfrm>
                <a:off x="3760925" y="4510541"/>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𝟗</m:t>
                          </m:r>
                        </m:num>
                        <m:den>
                          <m:r>
                            <a:rPr lang="ky-KG" b="1" i="1" smtClean="0">
                              <a:solidFill>
                                <a:srgbClr val="00B0F0"/>
                              </a:solidFill>
                              <a:latin typeface="Cambria Math" panose="02040503050406030204" pitchFamily="18" charset="0"/>
                            </a:rPr>
                            <m:t>𝟏𝟐</m:t>
                          </m:r>
                        </m:den>
                      </m:f>
                    </m:oMath>
                  </m:oMathPara>
                </a14:m>
                <a:endParaRPr lang="en-US" b="1" dirty="0">
                  <a:solidFill>
                    <a:srgbClr val="00B0F0"/>
                  </a:solidFill>
                </a:endParaRPr>
              </a:p>
            </p:txBody>
          </p:sp>
        </mc:Choice>
        <mc:Fallback>
          <p:sp>
            <p:nvSpPr>
              <p:cNvPr id="40" name="TextBox 39">
                <a:extLst>
                  <a:ext uri="{FF2B5EF4-FFF2-40B4-BE49-F238E27FC236}">
                    <a16:creationId xmlns:a16="http://schemas.microsoft.com/office/drawing/2014/main" id="{9EA57B79-669B-A572-2F88-6B75497AB947}"/>
                  </a:ext>
                </a:extLst>
              </p:cNvPr>
              <p:cNvSpPr txBox="1">
                <a:spLocks noRot="1" noChangeAspect="1" noMove="1" noResize="1" noEditPoints="1" noAdjustHandles="1" noChangeArrowheads="1" noChangeShapeType="1" noTextEdit="1"/>
              </p:cNvSpPr>
              <p:nvPr/>
            </p:nvSpPr>
            <p:spPr>
              <a:xfrm>
                <a:off x="3760925" y="4510541"/>
                <a:ext cx="725155" cy="610936"/>
              </a:xfrm>
              <a:prstGeom prst="rect">
                <a:avLst/>
              </a:prstGeom>
              <a:blipFill>
                <a:blip r:embed="rId70"/>
                <a:stretch>
                  <a:fillRect/>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526D284-4E6C-303E-B137-C1BE5777BD9B}"/>
              </a:ext>
            </a:extLst>
          </p:cNvPr>
          <p:cNvSpPr txBox="1"/>
          <p:nvPr/>
        </p:nvSpPr>
        <p:spPr>
          <a:xfrm>
            <a:off x="1106920" y="4613480"/>
            <a:ext cx="1053402" cy="369332"/>
          </a:xfrm>
          <a:prstGeom prst="rect">
            <a:avLst/>
          </a:prstGeom>
          <a:noFill/>
        </p:spPr>
        <p:txBody>
          <a:bodyPr wrap="square" rtlCol="0">
            <a:spAutoFit/>
          </a:bodyPr>
          <a:lstStyle/>
          <a:p>
            <a:r>
              <a:rPr lang="ky-KG" b="1" dirty="0">
                <a:solidFill>
                  <a:srgbClr val="00B0F0"/>
                </a:solidFill>
              </a:rPr>
              <a:t>66%</a:t>
            </a:r>
            <a:endParaRPr lang="en-US" b="1" dirty="0">
              <a:solidFill>
                <a:srgbClr val="00B0F0"/>
              </a:solidFill>
            </a:endParaRPr>
          </a:p>
        </p:txBody>
      </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76213D16-6C0A-91F2-5CDC-F59FE3528C26}"/>
                  </a:ext>
                </a:extLst>
              </p:cNvPr>
              <p:cNvSpPr txBox="1"/>
              <p:nvPr/>
            </p:nvSpPr>
            <p:spPr>
              <a:xfrm>
                <a:off x="1126091" y="6137030"/>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𝟏</m:t>
                          </m:r>
                        </m:num>
                        <m:den>
                          <m:r>
                            <a:rPr lang="ky-KG" b="1" i="1" smtClean="0">
                              <a:solidFill>
                                <a:srgbClr val="00B0F0"/>
                              </a:solidFill>
                              <a:latin typeface="Cambria Math" panose="02040503050406030204" pitchFamily="18" charset="0"/>
                            </a:rPr>
                            <m:t>𝟖</m:t>
                          </m:r>
                        </m:den>
                      </m:f>
                    </m:oMath>
                  </m:oMathPara>
                </a14:m>
                <a:endParaRPr lang="en-US" b="1" dirty="0">
                  <a:solidFill>
                    <a:srgbClr val="00B0F0"/>
                  </a:solidFill>
                </a:endParaRPr>
              </a:p>
            </p:txBody>
          </p:sp>
        </mc:Choice>
        <mc:Fallback>
          <p:sp>
            <p:nvSpPr>
              <p:cNvPr id="43" name="TextBox 42">
                <a:extLst>
                  <a:ext uri="{FF2B5EF4-FFF2-40B4-BE49-F238E27FC236}">
                    <a16:creationId xmlns:a16="http://schemas.microsoft.com/office/drawing/2014/main" id="{76213D16-6C0A-91F2-5CDC-F59FE3528C26}"/>
                  </a:ext>
                </a:extLst>
              </p:cNvPr>
              <p:cNvSpPr txBox="1">
                <a:spLocks noRot="1" noChangeAspect="1" noMove="1" noResize="1" noEditPoints="1" noAdjustHandles="1" noChangeArrowheads="1" noChangeShapeType="1" noTextEdit="1"/>
              </p:cNvSpPr>
              <p:nvPr/>
            </p:nvSpPr>
            <p:spPr>
              <a:xfrm>
                <a:off x="1126091" y="6137030"/>
                <a:ext cx="725155" cy="610936"/>
              </a:xfrm>
              <a:prstGeom prst="rect">
                <a:avLst/>
              </a:prstGeom>
              <a:blipFill>
                <a:blip r:embed="rId71"/>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546D8A98-56FB-FC2C-F939-3ED26A7777E4}"/>
              </a:ext>
            </a:extLst>
          </p:cNvPr>
          <p:cNvSpPr txBox="1"/>
          <p:nvPr/>
        </p:nvSpPr>
        <p:spPr>
          <a:xfrm>
            <a:off x="2005675" y="6258019"/>
            <a:ext cx="850108" cy="369332"/>
          </a:xfrm>
          <a:prstGeom prst="rect">
            <a:avLst/>
          </a:prstGeom>
          <a:noFill/>
        </p:spPr>
        <p:txBody>
          <a:bodyPr wrap="square" rtlCol="0">
            <a:spAutoFit/>
          </a:bodyPr>
          <a:lstStyle/>
          <a:p>
            <a:r>
              <a:rPr lang="ky-KG" b="1" dirty="0">
                <a:solidFill>
                  <a:srgbClr val="00B0F0"/>
                </a:solidFill>
              </a:rPr>
              <a:t>12,2%</a:t>
            </a:r>
            <a:endParaRPr lang="en-US" b="1" dirty="0">
              <a:solidFill>
                <a:srgbClr val="00B0F0"/>
              </a:solidFill>
            </a:endParaRPr>
          </a:p>
        </p:txBody>
      </p:sp>
      <p:sp>
        <p:nvSpPr>
          <p:cNvPr id="45" name="TextBox 44">
            <a:extLst>
              <a:ext uri="{FF2B5EF4-FFF2-40B4-BE49-F238E27FC236}">
                <a16:creationId xmlns:a16="http://schemas.microsoft.com/office/drawing/2014/main" id="{A3A422AB-D45B-773D-BE39-1760419E0480}"/>
              </a:ext>
            </a:extLst>
          </p:cNvPr>
          <p:cNvSpPr txBox="1"/>
          <p:nvPr/>
        </p:nvSpPr>
        <p:spPr>
          <a:xfrm>
            <a:off x="3150745" y="6247352"/>
            <a:ext cx="725155" cy="369332"/>
          </a:xfrm>
          <a:prstGeom prst="rect">
            <a:avLst/>
          </a:prstGeom>
          <a:noFill/>
        </p:spPr>
        <p:txBody>
          <a:bodyPr wrap="square" rtlCol="0">
            <a:spAutoFit/>
          </a:bodyPr>
          <a:lstStyle/>
          <a:p>
            <a:r>
              <a:rPr lang="ky-KG" b="1" dirty="0">
                <a:solidFill>
                  <a:srgbClr val="00B0F0"/>
                </a:solidFill>
              </a:rPr>
              <a:t>0,12</a:t>
            </a:r>
            <a:endParaRPr lang="en-US" b="1" dirty="0">
              <a:solidFill>
                <a:srgbClr val="00B0F0"/>
              </a:solidFill>
            </a:endParaRPr>
          </a:p>
        </p:txBody>
      </p: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55931AE3-53DB-5367-0823-DB85B08BB58B}"/>
                  </a:ext>
                </a:extLst>
              </p:cNvPr>
              <p:cNvSpPr txBox="1"/>
              <p:nvPr/>
            </p:nvSpPr>
            <p:spPr>
              <a:xfrm>
                <a:off x="238648" y="6137030"/>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𝟏𝟑𝟓</m:t>
                          </m:r>
                        </m:num>
                        <m:den>
                          <m:r>
                            <a:rPr lang="ky-KG" b="1" i="1" smtClean="0">
                              <a:solidFill>
                                <a:srgbClr val="00B0F0"/>
                              </a:solidFill>
                              <a:latin typeface="Cambria Math" panose="02040503050406030204" pitchFamily="18" charset="0"/>
                            </a:rPr>
                            <m:t>𝟏𝟎𝟎𝟎</m:t>
                          </m:r>
                        </m:den>
                      </m:f>
                    </m:oMath>
                  </m:oMathPara>
                </a14:m>
                <a:endParaRPr lang="en-US" b="1" dirty="0">
                  <a:solidFill>
                    <a:srgbClr val="00B0F0"/>
                  </a:solidFill>
                </a:endParaRPr>
              </a:p>
            </p:txBody>
          </p:sp>
        </mc:Choice>
        <mc:Fallback>
          <p:sp>
            <p:nvSpPr>
              <p:cNvPr id="52" name="TextBox 51">
                <a:extLst>
                  <a:ext uri="{FF2B5EF4-FFF2-40B4-BE49-F238E27FC236}">
                    <a16:creationId xmlns:a16="http://schemas.microsoft.com/office/drawing/2014/main" id="{55931AE3-53DB-5367-0823-DB85B08BB58B}"/>
                  </a:ext>
                </a:extLst>
              </p:cNvPr>
              <p:cNvSpPr txBox="1">
                <a:spLocks noRot="1" noChangeAspect="1" noMove="1" noResize="1" noEditPoints="1" noAdjustHandles="1" noChangeArrowheads="1" noChangeShapeType="1" noTextEdit="1"/>
              </p:cNvSpPr>
              <p:nvPr/>
            </p:nvSpPr>
            <p:spPr>
              <a:xfrm>
                <a:off x="238648" y="6137030"/>
                <a:ext cx="725155" cy="636585"/>
              </a:xfrm>
              <a:prstGeom prst="rect">
                <a:avLst/>
              </a:prstGeom>
              <a:blipFill>
                <a:blip r:embed="rId72"/>
                <a:stretch>
                  <a:fillRect/>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3EBDED4B-910B-9B64-CDE2-47367AF612D0}"/>
              </a:ext>
            </a:extLst>
          </p:cNvPr>
          <p:cNvSpPr txBox="1"/>
          <p:nvPr/>
        </p:nvSpPr>
        <p:spPr>
          <a:xfrm>
            <a:off x="4010364" y="6287024"/>
            <a:ext cx="850108" cy="369332"/>
          </a:xfrm>
          <a:prstGeom prst="rect">
            <a:avLst/>
          </a:prstGeom>
          <a:noFill/>
        </p:spPr>
        <p:txBody>
          <a:bodyPr wrap="square" rtlCol="0">
            <a:spAutoFit/>
          </a:bodyPr>
          <a:lstStyle/>
          <a:p>
            <a:r>
              <a:rPr lang="ky-KG" b="1" dirty="0">
                <a:solidFill>
                  <a:srgbClr val="00B0F0"/>
                </a:solidFill>
              </a:rPr>
              <a:t>10,5%</a:t>
            </a:r>
            <a:endParaRPr lang="en-US" b="1" dirty="0">
              <a:solidFill>
                <a:srgbClr val="00B0F0"/>
              </a:solidFill>
            </a:endParaRPr>
          </a:p>
        </p:txBody>
      </p:sp>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124DB06C-8058-384C-B7AB-689A3DBA4019}"/>
                  </a:ext>
                </a:extLst>
              </p:cNvPr>
              <p:cNvSpPr txBox="1"/>
              <p:nvPr/>
            </p:nvSpPr>
            <p:spPr>
              <a:xfrm>
                <a:off x="5717913" y="4510541"/>
                <a:ext cx="725155" cy="63664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𝟑</m:t>
                          </m:r>
                        </m:num>
                        <m:den>
                          <m:r>
                            <a:rPr lang="ky-KG" b="1" i="1" smtClean="0">
                              <a:solidFill>
                                <a:srgbClr val="00B0F0"/>
                              </a:solidFill>
                              <a:latin typeface="Cambria Math" panose="02040503050406030204" pitchFamily="18" charset="0"/>
                            </a:rPr>
                            <m:t>𝟖</m:t>
                          </m:r>
                        </m:den>
                      </m:f>
                    </m:oMath>
                  </m:oMathPara>
                </a14:m>
                <a:endParaRPr lang="en-US" b="1" dirty="0">
                  <a:solidFill>
                    <a:srgbClr val="00B0F0"/>
                  </a:solidFill>
                </a:endParaRPr>
              </a:p>
            </p:txBody>
          </p:sp>
        </mc:Choice>
        <mc:Fallback>
          <p:sp>
            <p:nvSpPr>
              <p:cNvPr id="54" name="TextBox 53">
                <a:extLst>
                  <a:ext uri="{FF2B5EF4-FFF2-40B4-BE49-F238E27FC236}">
                    <a16:creationId xmlns:a16="http://schemas.microsoft.com/office/drawing/2014/main" id="{124DB06C-8058-384C-B7AB-689A3DBA4019}"/>
                  </a:ext>
                </a:extLst>
              </p:cNvPr>
              <p:cNvSpPr txBox="1">
                <a:spLocks noRot="1" noChangeAspect="1" noMove="1" noResize="1" noEditPoints="1" noAdjustHandles="1" noChangeArrowheads="1" noChangeShapeType="1" noTextEdit="1"/>
              </p:cNvSpPr>
              <p:nvPr/>
            </p:nvSpPr>
            <p:spPr>
              <a:xfrm>
                <a:off x="5717913" y="4510541"/>
                <a:ext cx="725155" cy="636649"/>
              </a:xfrm>
              <a:prstGeom prst="rect">
                <a:avLst/>
              </a:prstGeom>
              <a:blipFill>
                <a:blip r:embed="rId73"/>
                <a:stretch>
                  <a:fillRect/>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3B56C283-A9EC-BBC4-442A-07D684EC16A7}"/>
              </a:ext>
            </a:extLst>
          </p:cNvPr>
          <p:cNvSpPr txBox="1"/>
          <p:nvPr/>
        </p:nvSpPr>
        <p:spPr>
          <a:xfrm>
            <a:off x="6465868" y="4631993"/>
            <a:ext cx="850108" cy="369332"/>
          </a:xfrm>
          <a:prstGeom prst="rect">
            <a:avLst/>
          </a:prstGeom>
          <a:noFill/>
        </p:spPr>
        <p:txBody>
          <a:bodyPr wrap="square" rtlCol="0">
            <a:spAutoFit/>
          </a:bodyPr>
          <a:lstStyle/>
          <a:p>
            <a:r>
              <a:rPr lang="ky-KG" b="1" dirty="0">
                <a:solidFill>
                  <a:srgbClr val="00B0F0"/>
                </a:solidFill>
              </a:rPr>
              <a:t>37%</a:t>
            </a:r>
            <a:endParaRPr lang="en-US" b="1" dirty="0">
              <a:solidFill>
                <a:srgbClr val="00B0F0"/>
              </a:solidFill>
            </a:endParaRPr>
          </a:p>
        </p:txBody>
      </p:sp>
      <p:sp>
        <p:nvSpPr>
          <p:cNvPr id="62" name="TextBox 61">
            <a:extLst>
              <a:ext uri="{FF2B5EF4-FFF2-40B4-BE49-F238E27FC236}">
                <a16:creationId xmlns:a16="http://schemas.microsoft.com/office/drawing/2014/main" id="{A6ACB764-7774-E577-CD0E-75FADFC9C580}"/>
              </a:ext>
            </a:extLst>
          </p:cNvPr>
          <p:cNvSpPr txBox="1"/>
          <p:nvPr/>
        </p:nvSpPr>
        <p:spPr>
          <a:xfrm>
            <a:off x="8007470" y="4621084"/>
            <a:ext cx="725155" cy="369332"/>
          </a:xfrm>
          <a:prstGeom prst="rect">
            <a:avLst/>
          </a:prstGeom>
          <a:noFill/>
        </p:spPr>
        <p:txBody>
          <a:bodyPr wrap="square" rtlCol="0">
            <a:spAutoFit/>
          </a:bodyPr>
          <a:lstStyle/>
          <a:p>
            <a:r>
              <a:rPr lang="ky-KG" b="1" dirty="0">
                <a:solidFill>
                  <a:srgbClr val="00B0F0"/>
                </a:solidFill>
              </a:rPr>
              <a:t>0,</a:t>
            </a:r>
            <a:r>
              <a:rPr lang="en-US" b="1" dirty="0">
                <a:solidFill>
                  <a:srgbClr val="00B0F0"/>
                </a:solidFill>
              </a:rPr>
              <a:t>05</a:t>
            </a:r>
          </a:p>
        </p:txBody>
      </p:sp>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C81D220A-7CDB-268A-FD04-DD2C770594CF}"/>
                  </a:ext>
                </a:extLst>
              </p:cNvPr>
              <p:cNvSpPr txBox="1"/>
              <p:nvPr/>
            </p:nvSpPr>
            <p:spPr>
              <a:xfrm>
                <a:off x="5095373" y="4510762"/>
                <a:ext cx="725155" cy="61170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𝟒𝟐</m:t>
                          </m:r>
                        </m:num>
                        <m:den>
                          <m:r>
                            <a:rPr lang="ky-KG" b="1" i="1" smtClean="0">
                              <a:solidFill>
                                <a:srgbClr val="00B0F0"/>
                              </a:solidFill>
                              <a:latin typeface="Cambria Math" panose="02040503050406030204" pitchFamily="18" charset="0"/>
                            </a:rPr>
                            <m:t>𝟔𝟎</m:t>
                          </m:r>
                        </m:den>
                      </m:f>
                    </m:oMath>
                  </m:oMathPara>
                </a14:m>
                <a:endParaRPr lang="en-US" b="1" dirty="0">
                  <a:solidFill>
                    <a:srgbClr val="00B0F0"/>
                  </a:solidFill>
                </a:endParaRPr>
              </a:p>
            </p:txBody>
          </p:sp>
        </mc:Choice>
        <mc:Fallback>
          <p:sp>
            <p:nvSpPr>
              <p:cNvPr id="66" name="TextBox 65">
                <a:extLst>
                  <a:ext uri="{FF2B5EF4-FFF2-40B4-BE49-F238E27FC236}">
                    <a16:creationId xmlns:a16="http://schemas.microsoft.com/office/drawing/2014/main" id="{C81D220A-7CDB-268A-FD04-DD2C770594CF}"/>
                  </a:ext>
                </a:extLst>
              </p:cNvPr>
              <p:cNvSpPr txBox="1">
                <a:spLocks noRot="1" noChangeAspect="1" noMove="1" noResize="1" noEditPoints="1" noAdjustHandles="1" noChangeArrowheads="1" noChangeShapeType="1" noTextEdit="1"/>
              </p:cNvSpPr>
              <p:nvPr/>
            </p:nvSpPr>
            <p:spPr>
              <a:xfrm>
                <a:off x="5095373" y="4510762"/>
                <a:ext cx="725155" cy="611706"/>
              </a:xfrm>
              <a:prstGeom prst="rect">
                <a:avLst/>
              </a:prstGeom>
              <a:blipFill>
                <a:blip r:embed="rId74"/>
                <a:stretch>
                  <a:fillRect/>
                </a:stretch>
              </a:blipFill>
            </p:spPr>
            <p:txBody>
              <a:bodyPr/>
              <a:lstStyle/>
              <a:p>
                <a:r>
                  <a:rPr lang="en-US">
                    <a:noFill/>
                  </a:rPr>
                  <a:t> </a:t>
                </a:r>
              </a:p>
            </p:txBody>
          </p:sp>
        </mc:Fallback>
      </mc:AlternateContent>
      <p:sp>
        <p:nvSpPr>
          <p:cNvPr id="67" name="TextBox 66">
            <a:extLst>
              <a:ext uri="{FF2B5EF4-FFF2-40B4-BE49-F238E27FC236}">
                <a16:creationId xmlns:a16="http://schemas.microsoft.com/office/drawing/2014/main" id="{33D2DDE1-016C-53F2-39DA-AFE2501CCE9B}"/>
              </a:ext>
            </a:extLst>
          </p:cNvPr>
          <p:cNvSpPr txBox="1"/>
          <p:nvPr/>
        </p:nvSpPr>
        <p:spPr>
          <a:xfrm>
            <a:off x="7152972" y="4630275"/>
            <a:ext cx="850108" cy="369332"/>
          </a:xfrm>
          <a:prstGeom prst="rect">
            <a:avLst/>
          </a:prstGeom>
          <a:noFill/>
        </p:spPr>
        <p:txBody>
          <a:bodyPr wrap="square" rtlCol="0">
            <a:spAutoFit/>
          </a:bodyPr>
          <a:lstStyle/>
          <a:p>
            <a:r>
              <a:rPr lang="ky-KG" b="1" dirty="0">
                <a:solidFill>
                  <a:srgbClr val="00B0F0"/>
                </a:solidFill>
              </a:rPr>
              <a:t>35,9%</a:t>
            </a:r>
            <a:endParaRPr lang="en-US" b="1" dirty="0">
              <a:solidFill>
                <a:srgbClr val="00B0F0"/>
              </a:solidFill>
            </a:endParaRPr>
          </a:p>
        </p:txBody>
      </p:sp>
      <p:sp>
        <p:nvSpPr>
          <p:cNvPr id="68" name="TextBox 67">
            <a:extLst>
              <a:ext uri="{FF2B5EF4-FFF2-40B4-BE49-F238E27FC236}">
                <a16:creationId xmlns:a16="http://schemas.microsoft.com/office/drawing/2014/main" id="{04EB9557-FC5A-FC41-1E96-2E25C8B175BF}"/>
              </a:ext>
            </a:extLst>
          </p:cNvPr>
          <p:cNvSpPr txBox="1"/>
          <p:nvPr/>
        </p:nvSpPr>
        <p:spPr>
          <a:xfrm>
            <a:off x="8794127" y="4630275"/>
            <a:ext cx="908447" cy="369332"/>
          </a:xfrm>
          <a:prstGeom prst="rect">
            <a:avLst/>
          </a:prstGeom>
          <a:noFill/>
        </p:spPr>
        <p:txBody>
          <a:bodyPr wrap="square" rtlCol="0">
            <a:spAutoFit/>
          </a:bodyPr>
          <a:lstStyle/>
          <a:p>
            <a:r>
              <a:rPr lang="ky-KG" b="1" dirty="0">
                <a:solidFill>
                  <a:srgbClr val="00B0F0"/>
                </a:solidFill>
              </a:rPr>
              <a:t>0,</a:t>
            </a:r>
            <a:r>
              <a:rPr lang="en-US" b="1" dirty="0">
                <a:solidFill>
                  <a:srgbClr val="00B0F0"/>
                </a:solidFill>
              </a:rPr>
              <a:t>0499</a:t>
            </a:r>
          </a:p>
        </p:txBody>
      </p: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60768559-C924-1F9B-AB4F-0FEC5065308E}"/>
                  </a:ext>
                </a:extLst>
              </p:cNvPr>
              <p:cNvSpPr txBox="1"/>
              <p:nvPr/>
            </p:nvSpPr>
            <p:spPr>
              <a:xfrm>
                <a:off x="5762933" y="6149512"/>
                <a:ext cx="725155" cy="61177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en-US" b="1" i="1" smtClean="0">
                              <a:solidFill>
                                <a:srgbClr val="00B0F0"/>
                              </a:solidFill>
                              <a:latin typeface="Cambria Math" panose="02040503050406030204" pitchFamily="18" charset="0"/>
                            </a:rPr>
                            <m:t>𝟒</m:t>
                          </m:r>
                        </m:num>
                        <m:den>
                          <m:r>
                            <a:rPr lang="en-US" b="1" i="1" smtClean="0">
                              <a:solidFill>
                                <a:srgbClr val="00B0F0"/>
                              </a:solidFill>
                              <a:latin typeface="Cambria Math" panose="02040503050406030204" pitchFamily="18" charset="0"/>
                            </a:rPr>
                            <m:t>𝟕</m:t>
                          </m:r>
                        </m:den>
                      </m:f>
                    </m:oMath>
                  </m:oMathPara>
                </a14:m>
                <a:endParaRPr lang="en-US" b="1" dirty="0">
                  <a:solidFill>
                    <a:srgbClr val="00B0F0"/>
                  </a:solidFill>
                </a:endParaRPr>
              </a:p>
            </p:txBody>
          </p:sp>
        </mc:Choice>
        <mc:Fallback>
          <p:sp>
            <p:nvSpPr>
              <p:cNvPr id="75" name="TextBox 74">
                <a:extLst>
                  <a:ext uri="{FF2B5EF4-FFF2-40B4-BE49-F238E27FC236}">
                    <a16:creationId xmlns:a16="http://schemas.microsoft.com/office/drawing/2014/main" id="{60768559-C924-1F9B-AB4F-0FEC5065308E}"/>
                  </a:ext>
                </a:extLst>
              </p:cNvPr>
              <p:cNvSpPr txBox="1">
                <a:spLocks noRot="1" noChangeAspect="1" noMove="1" noResize="1" noEditPoints="1" noAdjustHandles="1" noChangeArrowheads="1" noChangeShapeType="1" noTextEdit="1"/>
              </p:cNvSpPr>
              <p:nvPr/>
            </p:nvSpPr>
            <p:spPr>
              <a:xfrm>
                <a:off x="5762933" y="6149512"/>
                <a:ext cx="725155" cy="611771"/>
              </a:xfrm>
              <a:prstGeom prst="rect">
                <a:avLst/>
              </a:prstGeom>
              <a:blipFill>
                <a:blip r:embed="rId75"/>
                <a:stretch>
                  <a:fillRect/>
                </a:stretch>
              </a:blipFill>
            </p:spPr>
            <p:txBody>
              <a:bodyPr/>
              <a:lstStyle/>
              <a:p>
                <a:r>
                  <a:rPr lang="en-US">
                    <a:noFill/>
                  </a:rPr>
                  <a:t> </a:t>
                </a:r>
              </a:p>
            </p:txBody>
          </p:sp>
        </mc:Fallback>
      </mc:AlternateContent>
      <p:sp>
        <p:nvSpPr>
          <p:cNvPr id="76" name="TextBox 75">
            <a:extLst>
              <a:ext uri="{FF2B5EF4-FFF2-40B4-BE49-F238E27FC236}">
                <a16:creationId xmlns:a16="http://schemas.microsoft.com/office/drawing/2014/main" id="{936D0266-1253-2832-1131-8719B685C190}"/>
              </a:ext>
            </a:extLst>
          </p:cNvPr>
          <p:cNvSpPr txBox="1"/>
          <p:nvPr/>
        </p:nvSpPr>
        <p:spPr>
          <a:xfrm>
            <a:off x="6510888" y="6270964"/>
            <a:ext cx="850108" cy="369332"/>
          </a:xfrm>
          <a:prstGeom prst="rect">
            <a:avLst/>
          </a:prstGeom>
          <a:noFill/>
        </p:spPr>
        <p:txBody>
          <a:bodyPr wrap="square" rtlCol="0">
            <a:spAutoFit/>
          </a:bodyPr>
          <a:lstStyle/>
          <a:p>
            <a:r>
              <a:rPr lang="en-US" b="1" dirty="0">
                <a:solidFill>
                  <a:srgbClr val="00B0F0"/>
                </a:solidFill>
              </a:rPr>
              <a:t>0,6008</a:t>
            </a:r>
          </a:p>
        </p:txBody>
      </p:sp>
      <p:sp>
        <p:nvSpPr>
          <p:cNvPr id="77" name="TextBox 76">
            <a:extLst>
              <a:ext uri="{FF2B5EF4-FFF2-40B4-BE49-F238E27FC236}">
                <a16:creationId xmlns:a16="http://schemas.microsoft.com/office/drawing/2014/main" id="{0A388F9D-E3E5-76E1-E664-6EDCE44DF510}"/>
              </a:ext>
            </a:extLst>
          </p:cNvPr>
          <p:cNvSpPr txBox="1"/>
          <p:nvPr/>
        </p:nvSpPr>
        <p:spPr>
          <a:xfrm>
            <a:off x="5218422" y="6287024"/>
            <a:ext cx="725155" cy="369332"/>
          </a:xfrm>
          <a:prstGeom prst="rect">
            <a:avLst/>
          </a:prstGeom>
          <a:noFill/>
        </p:spPr>
        <p:txBody>
          <a:bodyPr wrap="square" rtlCol="0">
            <a:spAutoFit/>
          </a:bodyPr>
          <a:lstStyle/>
          <a:p>
            <a:r>
              <a:rPr lang="ky-KG" b="1" dirty="0">
                <a:solidFill>
                  <a:srgbClr val="00B0F0"/>
                </a:solidFill>
              </a:rPr>
              <a:t>0,</a:t>
            </a:r>
            <a:r>
              <a:rPr lang="en-US" b="1" dirty="0">
                <a:solidFill>
                  <a:srgbClr val="00B0F0"/>
                </a:solidFill>
              </a:rPr>
              <a:t>57</a:t>
            </a:r>
          </a:p>
        </p:txBody>
      </p:sp>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8E0A5A29-9661-3C62-F15E-5C6BB25E6457}"/>
                  </a:ext>
                </a:extLst>
              </p:cNvPr>
              <p:cNvSpPr txBox="1"/>
              <p:nvPr/>
            </p:nvSpPr>
            <p:spPr>
              <a:xfrm>
                <a:off x="8097169" y="6172031"/>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en-US" b="1" i="1" smtClean="0">
                              <a:solidFill>
                                <a:srgbClr val="00B0F0"/>
                              </a:solidFill>
                              <a:latin typeface="Cambria Math" panose="02040503050406030204" pitchFamily="18" charset="0"/>
                            </a:rPr>
                            <m:t>𝟓</m:t>
                          </m:r>
                        </m:num>
                        <m:den>
                          <m:r>
                            <a:rPr lang="ky-KG" b="1" i="1" smtClean="0">
                              <a:solidFill>
                                <a:srgbClr val="00B0F0"/>
                              </a:solidFill>
                              <a:latin typeface="Cambria Math" panose="02040503050406030204" pitchFamily="18" charset="0"/>
                            </a:rPr>
                            <m:t>𝟔</m:t>
                          </m:r>
                        </m:den>
                      </m:f>
                    </m:oMath>
                  </m:oMathPara>
                </a14:m>
                <a:endParaRPr lang="en-US" b="1" dirty="0">
                  <a:solidFill>
                    <a:srgbClr val="00B0F0"/>
                  </a:solidFill>
                </a:endParaRPr>
              </a:p>
            </p:txBody>
          </p:sp>
        </mc:Choice>
        <mc:Fallback>
          <p:sp>
            <p:nvSpPr>
              <p:cNvPr id="78" name="TextBox 77">
                <a:extLst>
                  <a:ext uri="{FF2B5EF4-FFF2-40B4-BE49-F238E27FC236}">
                    <a16:creationId xmlns:a16="http://schemas.microsoft.com/office/drawing/2014/main" id="{8E0A5A29-9661-3C62-F15E-5C6BB25E6457}"/>
                  </a:ext>
                </a:extLst>
              </p:cNvPr>
              <p:cNvSpPr txBox="1">
                <a:spLocks noRot="1" noChangeAspect="1" noMove="1" noResize="1" noEditPoints="1" noAdjustHandles="1" noChangeArrowheads="1" noChangeShapeType="1" noTextEdit="1"/>
              </p:cNvSpPr>
              <p:nvPr/>
            </p:nvSpPr>
            <p:spPr>
              <a:xfrm>
                <a:off x="8097169" y="6172031"/>
                <a:ext cx="725155" cy="636585"/>
              </a:xfrm>
              <a:prstGeom prst="rect">
                <a:avLst/>
              </a:prstGeom>
              <a:blipFill>
                <a:blip r:embed="rId76"/>
                <a:stretch>
                  <a:fillRect/>
                </a:stretch>
              </a:blipFill>
            </p:spPr>
            <p:txBody>
              <a:bodyPr/>
              <a:lstStyle/>
              <a:p>
                <a:r>
                  <a:rPr lang="en-US">
                    <a:noFill/>
                  </a:rPr>
                  <a:t> </a:t>
                </a:r>
              </a:p>
            </p:txBody>
          </p:sp>
        </mc:Fallback>
      </mc:AlternateContent>
      <p:sp>
        <p:nvSpPr>
          <p:cNvPr id="79" name="TextBox 78">
            <a:extLst>
              <a:ext uri="{FF2B5EF4-FFF2-40B4-BE49-F238E27FC236}">
                <a16:creationId xmlns:a16="http://schemas.microsoft.com/office/drawing/2014/main" id="{6FC7287E-14A5-F37C-2CEB-EB1B8B7B8F57}"/>
              </a:ext>
            </a:extLst>
          </p:cNvPr>
          <p:cNvSpPr txBox="1"/>
          <p:nvPr/>
        </p:nvSpPr>
        <p:spPr>
          <a:xfrm>
            <a:off x="7586839" y="6303780"/>
            <a:ext cx="850108" cy="369332"/>
          </a:xfrm>
          <a:prstGeom prst="rect">
            <a:avLst/>
          </a:prstGeom>
          <a:noFill/>
        </p:spPr>
        <p:txBody>
          <a:bodyPr wrap="square" rtlCol="0">
            <a:spAutoFit/>
          </a:bodyPr>
          <a:lstStyle/>
          <a:p>
            <a:r>
              <a:rPr lang="en-US" b="1" dirty="0">
                <a:solidFill>
                  <a:srgbClr val="00B0F0"/>
                </a:solidFill>
              </a:rPr>
              <a:t>62</a:t>
            </a:r>
            <a:r>
              <a:rPr lang="ky-KG" b="1" dirty="0">
                <a:solidFill>
                  <a:srgbClr val="00B0F0"/>
                </a:solidFill>
              </a:rPr>
              <a:t>%</a:t>
            </a:r>
            <a:endParaRPr lang="en-US" b="1" dirty="0">
              <a:solidFill>
                <a:srgbClr val="00B0F0"/>
              </a:solidFill>
            </a:endParaRPr>
          </a:p>
        </p:txBody>
      </p:sp>
      <p:sp>
        <p:nvSpPr>
          <p:cNvPr id="80" name="TextBox 79">
            <a:extLst>
              <a:ext uri="{FF2B5EF4-FFF2-40B4-BE49-F238E27FC236}">
                <a16:creationId xmlns:a16="http://schemas.microsoft.com/office/drawing/2014/main" id="{368C3EE5-E6D9-A779-0BC5-F65640A0225E}"/>
              </a:ext>
            </a:extLst>
          </p:cNvPr>
          <p:cNvSpPr txBox="1"/>
          <p:nvPr/>
        </p:nvSpPr>
        <p:spPr>
          <a:xfrm>
            <a:off x="8901189" y="6287024"/>
            <a:ext cx="908447" cy="369332"/>
          </a:xfrm>
          <a:prstGeom prst="rect">
            <a:avLst/>
          </a:prstGeom>
          <a:noFill/>
        </p:spPr>
        <p:txBody>
          <a:bodyPr wrap="square" rtlCol="0">
            <a:spAutoFit/>
          </a:bodyPr>
          <a:lstStyle/>
          <a:p>
            <a:r>
              <a:rPr lang="en-US" b="1" dirty="0">
                <a:solidFill>
                  <a:srgbClr val="00B0F0"/>
                </a:solidFill>
              </a:rPr>
              <a:t>608%</a:t>
            </a:r>
          </a:p>
        </p:txBody>
      </p:sp>
    </p:spTree>
    <p:extLst>
      <p:ext uri="{BB962C8B-B14F-4D97-AF65-F5344CB8AC3E}">
        <p14:creationId xmlns:p14="http://schemas.microsoft.com/office/powerpoint/2010/main" val="2285743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9DD828-9816-48D5-8793-DAFED5357886}"/>
              </a:ext>
            </a:extLst>
          </p:cNvPr>
          <p:cNvSpPr/>
          <p:nvPr/>
        </p:nvSpPr>
        <p:spPr>
          <a:xfrm>
            <a:off x="332558" y="351880"/>
            <a:ext cx="9240883" cy="5509200"/>
          </a:xfrm>
          <a:prstGeom prst="rect">
            <a:avLst/>
          </a:prstGeom>
        </p:spPr>
        <p:txBody>
          <a:bodyPr wrap="square">
            <a:spAutoFit/>
          </a:bodyPr>
          <a:lstStyle/>
          <a:p>
            <a:pPr marL="0" indent="0" algn="ctr">
              <a:buNone/>
            </a:pPr>
            <a:r>
              <a:rPr lang="ru-RU" sz="3200" dirty="0"/>
              <a:t>Суроолор барбы?</a:t>
            </a:r>
          </a:p>
          <a:p>
            <a:pPr marL="0" indent="0" algn="ctr">
              <a:buNone/>
            </a:pPr>
            <a:r>
              <a:rPr lang="ru-RU" sz="3200" dirty="0"/>
              <a:t>Комментарийлер?</a:t>
            </a:r>
          </a:p>
          <a:p>
            <a:pPr marL="0" indent="0" algn="ctr">
              <a:buNone/>
            </a:pPr>
            <a:r>
              <a:rPr lang="ru-RU" sz="3200" dirty="0"/>
              <a:t>Сунуштар?</a:t>
            </a:r>
          </a:p>
          <a:p>
            <a:pPr marL="0" indent="0" algn="ctr">
              <a:buNone/>
            </a:pPr>
            <a:endParaRPr lang="ru-RU" sz="3200" dirty="0"/>
          </a:p>
          <a:p>
            <a:pPr marL="0" indent="0" algn="ctr">
              <a:buNone/>
            </a:pPr>
            <a:r>
              <a:rPr lang="ru-RU" sz="3200" dirty="0"/>
              <a:t>…же ката таптыңызбы!?</a:t>
            </a:r>
          </a:p>
          <a:p>
            <a:pPr marL="0" indent="0" algn="ctr">
              <a:buNone/>
            </a:pPr>
            <a:endParaRPr lang="ru-RU" sz="3200" dirty="0"/>
          </a:p>
          <a:p>
            <a:pPr marL="0" indent="0" algn="ctr">
              <a:buNone/>
            </a:pPr>
            <a:r>
              <a:rPr lang="ru-RU" sz="3200" dirty="0"/>
              <a:t>Түрдүү пикирлер үчүн ыраазычылык билдиребиз.</a:t>
            </a:r>
          </a:p>
          <a:p>
            <a:pPr marL="0" indent="0" algn="ctr">
              <a:buNone/>
            </a:pPr>
            <a:endParaRPr lang="ru-RU" sz="3200" dirty="0"/>
          </a:p>
          <a:p>
            <a:pPr marL="0" indent="0" algn="ctr">
              <a:buNone/>
            </a:pPr>
            <a:r>
              <a:rPr lang="ru-RU" sz="3200" dirty="0"/>
              <a:t>Сураныч, электрондук кат жөнөтүңүз:</a:t>
            </a:r>
          </a:p>
          <a:p>
            <a:pPr marL="0" indent="0" algn="ctr">
              <a:buNone/>
            </a:pPr>
            <a:endParaRPr lang="ru-RU" sz="3200" dirty="0"/>
          </a:p>
          <a:p>
            <a:pPr marL="0" indent="0" algn="ctr">
              <a:buNone/>
            </a:pPr>
            <a:r>
              <a:rPr lang="en-US" sz="3200" dirty="0"/>
              <a:t>mathematicskgz@gmail.com</a:t>
            </a:r>
          </a:p>
        </p:txBody>
      </p:sp>
    </p:spTree>
    <p:extLst>
      <p:ext uri="{BB962C8B-B14F-4D97-AF65-F5344CB8AC3E}">
        <p14:creationId xmlns:p14="http://schemas.microsoft.com/office/powerpoint/2010/main" val="20623469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75000"/>
          </a:schemeClr>
        </a:solidFill>
        <a:ln w="12700">
          <a:solidFill>
            <a:schemeClr val="tx1"/>
          </a:solidFill>
        </a:ln>
      </a:spPr>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defPPr algn="ctr">
          <a:defRPr sz="195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8458</TotalTime>
  <Words>751</Words>
  <Application>Microsoft Office PowerPoint</Application>
  <PresentationFormat>A4 Paper (210x297 mm)</PresentationFormat>
  <Paragraphs>263</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Cambria Math</vt:lpstr>
      <vt:lpstr>Calibri Light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Kite</dc:creator>
  <cp:lastModifiedBy>Isa Amanov</cp:lastModifiedBy>
  <cp:revision>380</cp:revision>
  <cp:lastPrinted>2024-09-03T17:38:31Z</cp:lastPrinted>
  <dcterms:created xsi:type="dcterms:W3CDTF">2017-01-17T16:57:04Z</dcterms:created>
  <dcterms:modified xsi:type="dcterms:W3CDTF">2024-09-03T17:41:58Z</dcterms:modified>
</cp:coreProperties>
</file>