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55" r:id="rId2"/>
    <p:sldId id="956" r:id="rId3"/>
    <p:sldId id="878" r:id="rId4"/>
    <p:sldId id="894" r:id="rId5"/>
    <p:sldId id="881" r:id="rId6"/>
    <p:sldId id="943" r:id="rId7"/>
    <p:sldId id="948" r:id="rId8"/>
    <p:sldId id="871" r:id="rId9"/>
    <p:sldId id="950" r:id="rId10"/>
    <p:sldId id="945" r:id="rId11"/>
    <p:sldId id="882" r:id="rId12"/>
    <p:sldId id="949" r:id="rId13"/>
    <p:sldId id="883" r:id="rId14"/>
    <p:sldId id="884" r:id="rId15"/>
    <p:sldId id="946" r:id="rId16"/>
    <p:sldId id="888" r:id="rId17"/>
    <p:sldId id="947" r:id="rId18"/>
    <p:sldId id="940" r:id="rId19"/>
    <p:sldId id="958" r:id="rId20"/>
    <p:sldId id="951" r:id="rId21"/>
    <p:sldId id="952" r:id="rId22"/>
    <p:sldId id="957" r:id="rId23"/>
  </p:sldIdLst>
  <p:sldSz cx="9906000" cy="6858000" type="A4"/>
  <p:notesSz cx="6669088" cy="9926638"/>
  <p:embeddedFontLst>
    <p:embeddedFont>
      <p:font typeface="Arial Rounded MT Bold" panose="020F0704030504030204" pitchFamily="34" charset="0"/>
      <p:regular r:id="rId25"/>
    </p:embeddedFont>
    <p:embeddedFont>
      <p:font typeface="Forte" panose="03060902040502070203" pitchFamily="66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9AA782-7305-4EF0-826B-496B748B9DFA}">
          <p14:sldIdLst>
            <p14:sldId id="955"/>
            <p14:sldId id="956"/>
          </p14:sldIdLst>
        </p14:section>
        <p14:section name="Башкы слайд" id="{F72FDD69-17BE-4A5B-85A4-6E32B4A84C68}">
          <p14:sldIdLst>
            <p14:sldId id="878"/>
            <p14:sldId id="894"/>
          </p14:sldIdLst>
        </p14:section>
        <p14:section name="A5 Суроолор" id="{7AB822BA-3FD1-4214-B6A3-0CC2B5594D37}">
          <p14:sldIdLst>
            <p14:sldId id="881"/>
            <p14:sldId id="943"/>
            <p14:sldId id="948"/>
            <p14:sldId id="871"/>
            <p14:sldId id="950"/>
            <p14:sldId id="945"/>
            <p14:sldId id="882"/>
            <p14:sldId id="949"/>
            <p14:sldId id="883"/>
            <p14:sldId id="884"/>
            <p14:sldId id="946"/>
            <p14:sldId id="888"/>
            <p14:sldId id="947"/>
          </p14:sldIdLst>
        </p14:section>
        <p14:section name="Жооптор" id="{76F00656-3C7B-48B1-AB40-B28CB114CE94}">
          <p14:sldIdLst>
            <p14:sldId id="940"/>
          </p14:sldIdLst>
        </p14:section>
        <p14:section name="Окуучулардын жооп кагазы" id="{1229D97B-7AD4-4172-843E-8573209DA75B}">
          <p14:sldIdLst>
            <p14:sldId id="958"/>
            <p14:sldId id="951"/>
            <p14:sldId id="952"/>
          </p14:sldIdLst>
        </p14:section>
        <p14:section name="Кайтарым байланыш" id="{5CEDF54B-67BB-44A6-A080-F68F267EFC37}">
          <p14:sldIdLst>
            <p14:sldId id="9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280BA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508" y="28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rules slide to show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y-KG"/>
              <a:t>Жооптор окуучулардын өздөрүнүн же башка команданын ишин текшерүү\салыштыруу  үчүн көрсөтүлөт.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59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3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920" y="1218533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– Кабарчы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конкурстук иш-чарада бир окуучу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же андан көп студенттен турган команданын кабарчысы болуп саналат.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Чуркап тынчтыкты бузбастан(!), алар суроолор тууралуу маалыматты (бөлмөнүн айланасында жайгаштырылган) командалаштарына кабар беришет, командалаштары кабарчыдан алган суроолорго жооп беришет.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кабарчынын суроонсун жана жообун жазып алышы керек, алар иш-чаранын аягындагы жооп слайдын колдонуу менен өз иштерин текшере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окуучулар тиешелүү суроолорго жооп берүүгө аракет кыла алышат..)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Чыныгы жашоо – Калькулятор </a:t>
            </a:r>
            <a:r>
              <a:rPr kumimoji="0" lang="ky-KG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Кабарчы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студенттер тиешелүү суроолорго аракет кыла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Башкаларды жеңүү жана утуу үчүн плакаттарды/суроолорду тандасаңыз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Мугалимге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(Классыңыздын айланасындагы таза пластик капчыктар(файлдар) плакаттарды тез жана оңой көрсөтүүгө жардам берет.)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53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87653A8-406B-418D-89C5-1E120F7EED34}"/>
              </a:ext>
            </a:extLst>
          </p:cNvPr>
          <p:cNvSpPr/>
          <p:nvPr/>
        </p:nvSpPr>
        <p:spPr>
          <a:xfrm>
            <a:off x="4165104" y="358094"/>
            <a:ext cx="5549900" cy="3070905"/>
          </a:xfrm>
          <a:prstGeom prst="wedgeEllipseCallout">
            <a:avLst>
              <a:gd name="adj1" fmla="val -52477"/>
              <a:gd name="adj2" fmla="val 6355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C065B-171E-4F9A-8F05-9B6C8FC14CA7}"/>
              </a:ext>
            </a:extLst>
          </p:cNvPr>
          <p:cNvSpPr/>
          <p:nvPr/>
        </p:nvSpPr>
        <p:spPr>
          <a:xfrm>
            <a:off x="4831517" y="1173843"/>
            <a:ext cx="43051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Кабарчы</a:t>
            </a:r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45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83BB24-5B82-4478-8447-5BE5FED85D73}"/>
              </a:ext>
            </a:extLst>
          </p:cNvPr>
          <p:cNvSpPr/>
          <p:nvPr/>
        </p:nvSpPr>
        <p:spPr>
          <a:xfrm>
            <a:off x="2129051" y="184151"/>
            <a:ext cx="7369791" cy="640260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2389-8C5B-4FA8-AD54-7F4A37007CD6}"/>
              </a:ext>
            </a:extLst>
          </p:cNvPr>
          <p:cNvSpPr txBox="1"/>
          <p:nvPr/>
        </p:nvSpPr>
        <p:spPr>
          <a:xfrm>
            <a:off x="2318627" y="529045"/>
            <a:ext cx="68795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Командаларда кабарчыларды тандаңыз!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Калган командага жооп берүү үчүн суроолорду </a:t>
            </a:r>
          </a:p>
          <a:p>
            <a:pPr algn="ctr"/>
            <a:r>
              <a:rPr lang="ky-KG" sz="2400" dirty="0"/>
              <a:t>чогултуу кабарчылардын милдети.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Кабарчыларды оюн учурунда өзгөртсөңүз  болот, </a:t>
            </a:r>
          </a:p>
          <a:p>
            <a:pPr algn="ctr"/>
            <a:r>
              <a:rPr lang="ky-KG" sz="2400" dirty="0"/>
              <a:t>бирок бир эле адам ордунан тура алат жана алар </a:t>
            </a:r>
          </a:p>
          <a:p>
            <a:pPr algn="ctr"/>
            <a:r>
              <a:rPr lang="ky-KG" sz="2400" dirty="0"/>
              <a:t>суроого калем же кагаз колдоно алышпайт!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Ар бир суроо ар кандай упайга ээ!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 катты жана жообуңузду бир кагазга </a:t>
            </a:r>
          </a:p>
          <a:p>
            <a:pPr algn="ctr"/>
            <a:r>
              <a:rPr lang="ky-KG" sz="2400" dirty="0"/>
              <a:t>жазыңыз.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Суроолор чыгарылгандан кийин, </a:t>
            </a:r>
          </a:p>
          <a:p>
            <a:pPr algn="ctr"/>
            <a:r>
              <a:rPr lang="ky-KG" sz="2400" dirty="0"/>
              <a:t>эң көп упай топтогон команда жеңет!</a:t>
            </a:r>
            <a:endParaRPr lang="en-GB" sz="2400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7C5B2F5A-57D0-4D14-B349-03415C9B8D36}"/>
              </a:ext>
            </a:extLst>
          </p:cNvPr>
          <p:cNvSpPr/>
          <p:nvPr/>
        </p:nvSpPr>
        <p:spPr>
          <a:xfrm>
            <a:off x="8273024" y="4024602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32167-EDBD-4E90-ACA2-26FA117384DC}"/>
              </a:ext>
            </a:extLst>
          </p:cNvPr>
          <p:cNvSpPr/>
          <p:nvPr/>
        </p:nvSpPr>
        <p:spPr>
          <a:xfrm>
            <a:off x="8623383" y="4394787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935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77467C-D967-4228-B65B-5DC4FB4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23" y="2301098"/>
            <a:ext cx="1234943" cy="13650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6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А</a:t>
              </a:r>
              <a:endParaRPr lang="en-GB" sz="36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Б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757538" y="5004151"/>
            <a:ext cx="3468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балмуздактын баасы канча?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536A34-5E0B-4298-94A8-7C73B01DD3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36" y="1845284"/>
            <a:ext cx="1112042" cy="2491391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934282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511073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</a:t>
            </a:r>
            <a:r>
              <a:rPr lang="ky-KG" sz="3200" dirty="0"/>
              <a:t>т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6108007" y="5004151"/>
            <a:ext cx="27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алманын баасы канча</a:t>
            </a:r>
            <a:endParaRPr lang="en-GB" sz="2000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935490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512282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</a:t>
            </a:r>
            <a:r>
              <a:rPr lang="ky-KG" sz="3200" dirty="0"/>
              <a:t>т</a:t>
            </a:r>
            <a:endParaRPr lang="en-GB" sz="3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F7207D-2C00-4F4A-BAB1-3D207DFC7DFA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325DCF-1AA6-4D21-872C-2CA97918D5D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2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4FA6F1E-6340-4F44-9CA8-950A8C593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33" y="2958766"/>
            <a:ext cx="1684666" cy="11792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F7F4B-5604-428C-9CA0-0F1E325A7FB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" y="3114034"/>
            <a:ext cx="2307021" cy="115351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В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Г</a:t>
              </a:r>
              <a:endParaRPr lang="en-GB" sz="3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986575" y="5004151"/>
            <a:ext cx="3010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пиццанын баасы канча?</a:t>
            </a:r>
            <a:endParaRPr lang="en-GB" sz="2000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99558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428589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4.71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C2047-6A94-4E38-9591-BA10DA5661EC}"/>
              </a:ext>
            </a:extLst>
          </p:cNvPr>
          <p:cNvSpPr txBox="1"/>
          <p:nvPr/>
        </p:nvSpPr>
        <p:spPr>
          <a:xfrm>
            <a:off x="5764095" y="5004151"/>
            <a:ext cx="3664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7 бургердин баасы канча турат?</a:t>
            </a:r>
            <a:endParaRPr lang="en-GB" sz="2000" dirty="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04E0E5C-D164-45BA-90FB-AC9ED579856F}"/>
              </a:ext>
            </a:extLst>
          </p:cNvPr>
          <p:cNvSpPr/>
          <p:nvPr/>
        </p:nvSpPr>
        <p:spPr>
          <a:xfrm>
            <a:off x="7003993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A88E9-A2EB-4532-9825-B0F104776684}"/>
              </a:ext>
            </a:extLst>
          </p:cNvPr>
          <p:cNvSpPr txBox="1"/>
          <p:nvPr/>
        </p:nvSpPr>
        <p:spPr>
          <a:xfrm>
            <a:off x="7533023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3.13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654406A-AC69-4678-BC24-36B2038DE62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2818BB8-B912-4B2B-9D52-ABFA4223835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2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1A82E5F-1412-4C8B-A907-92CA7093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66" y="2311600"/>
            <a:ext cx="1606947" cy="160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A7630C-0FEE-48DD-8098-1F7F5C66A4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08" y="2495330"/>
            <a:ext cx="1540731" cy="12217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Д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134851" y="5004151"/>
            <a:ext cx="271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12 кепканын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59637" y="2157875"/>
            <a:ext cx="2171187" cy="2171187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347567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5.28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5704216" y="5004151"/>
            <a:ext cx="3577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15 ич шымдын баасы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823522" y="2101891"/>
            <a:ext cx="2208510" cy="2208510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348775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2.31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6B559D-5BE4-4590-8230-9700C7DC475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2C4612-A930-4C1C-B046-1F2D028C650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 Суроо Е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Ж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501619" y="1992083"/>
            <a:ext cx="38584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Анна 9 кекс сатып алат.</a:t>
            </a:r>
          </a:p>
          <a:p>
            <a:pPr algn="ctr"/>
            <a:r>
              <a:rPr lang="ky-KG" dirty="0"/>
              <a:t>Ар бир кекс 42т турат.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Анна 5сомдук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82B253-060C-4A56-BBAF-B2E1D793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53291" y="4030703"/>
            <a:ext cx="1977738" cy="2305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58237" y="1992083"/>
            <a:ext cx="3896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Пит 13 пончик сатып алат.</a:t>
            </a:r>
          </a:p>
          <a:p>
            <a:pPr algn="ctr"/>
            <a:r>
              <a:rPr lang="ky-KG" dirty="0"/>
              <a:t>Ар бир пончиктин баасы 59 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Пит 20 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4DF48-47B1-47B0-922D-0DE0A3D6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82" y="3858474"/>
            <a:ext cx="2816876" cy="24955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З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И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18174" y="1992083"/>
            <a:ext cx="4225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Жусуп 17 банан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 сомдук купюра менен төлөйт жана</a:t>
            </a:r>
          </a:p>
          <a:p>
            <a:pPr algn="ctr"/>
            <a:r>
              <a:rPr lang="ky-KG" dirty="0"/>
              <a:t>4.56 сом өзгөртүү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Бир банан канча турат?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78502" y="1992083"/>
            <a:ext cx="38563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Ресторан үчүн Сэм 27 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</a:t>
            </a:r>
            <a:r>
              <a:rPr lang="en-US" dirty="0"/>
              <a:t>c</a:t>
            </a:r>
            <a:r>
              <a:rPr lang="ky-KG" dirty="0"/>
              <a:t>ом купюра менен төлөйт жана</a:t>
            </a:r>
          </a:p>
          <a:p>
            <a:pPr algn="ctr"/>
            <a:r>
              <a:rPr lang="ky-KG" dirty="0"/>
              <a:t>Өзгөртүү үчүн 5,69сом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Нан канча турат?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299486-1CEE-41CE-94B0-A97681AB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86" y="4484484"/>
            <a:ext cx="2904414" cy="14794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D8896-687A-45E7-827B-F62DCB89178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72" y="4096111"/>
            <a:ext cx="3562448" cy="189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57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Й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К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96667" y="1992083"/>
            <a:ext cx="40683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Акуда: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даана  10сомдук акча</a:t>
            </a:r>
          </a:p>
          <a:p>
            <a:pPr algn="ctr"/>
            <a:r>
              <a:rPr lang="ky-KG" dirty="0"/>
              <a:t>3 даана  5сомдук акча</a:t>
            </a:r>
          </a:p>
          <a:p>
            <a:pPr algn="ctr"/>
            <a:r>
              <a:rPr lang="ky-KG" dirty="0"/>
              <a:t>7 даана 1сомдук тыйын акча</a:t>
            </a:r>
          </a:p>
          <a:p>
            <a:pPr algn="ctr"/>
            <a:r>
              <a:rPr lang="ky-KG" dirty="0"/>
              <a:t>8 даана  20тыйын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12 даана 2тыйын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Акунун жалпысынан канча акчасы бар?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C37DDE0-19A7-446D-BF2F-B580A5309E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178" y="4986965"/>
            <a:ext cx="1906849" cy="159251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478367-594B-44FF-ABD5-5679FFE2B635}"/>
              </a:ext>
            </a:extLst>
          </p:cNvPr>
          <p:cNvSpPr txBox="1"/>
          <p:nvPr/>
        </p:nvSpPr>
        <p:spPr>
          <a:xfrm>
            <a:off x="5506817" y="1992083"/>
            <a:ext cx="39064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Жокиде: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даана 10 сомдук акча</a:t>
            </a:r>
          </a:p>
          <a:p>
            <a:pPr algn="ctr"/>
            <a:r>
              <a:rPr lang="ky-KG" dirty="0"/>
              <a:t>9 даана 1 сомдук тыйындар</a:t>
            </a:r>
          </a:p>
          <a:p>
            <a:pPr algn="ctr"/>
            <a:r>
              <a:rPr lang="ky-KG" dirty="0"/>
              <a:t>8 даана  50тыйын</a:t>
            </a:r>
          </a:p>
          <a:p>
            <a:pPr algn="ctr"/>
            <a:r>
              <a:rPr lang="ky-KG" dirty="0"/>
              <a:t>7 даана 10тыйын</a:t>
            </a:r>
          </a:p>
          <a:p>
            <a:pPr algn="ctr"/>
            <a:r>
              <a:rPr lang="ky-KG" dirty="0"/>
              <a:t>11 даана  20тыйын </a:t>
            </a:r>
          </a:p>
          <a:p>
            <a:pPr algn="ctr"/>
            <a:r>
              <a:rPr lang="ky-KG" dirty="0"/>
              <a:t>3 даана 2тыйын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14 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7D728B-5EA6-4774-B3AC-9B3C6E52F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95" y="1026367"/>
            <a:ext cx="1355826" cy="13795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C58D51D-DA26-43A2-9DF2-3E8287B898C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3DC78E9-FA98-47AF-BB2A-16B303AAE5B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92F29D1-DF41-46A9-ADFA-98FA6471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195" y="4206447"/>
            <a:ext cx="2365512" cy="10000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Л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М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363390" y="1992083"/>
            <a:ext cx="413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Каку достору менен ресторанга барууну</a:t>
            </a:r>
          </a:p>
          <a:p>
            <a:pPr algn="ctr"/>
            <a:r>
              <a:rPr lang="ru-RU" dirty="0"/>
              <a:t> пландап жатат.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9 тилим пиццанын баасы канча болот?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922106" y="3343962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63835" y="3986204"/>
            <a:ext cx="2340144" cy="14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Бир тилим 3.22 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тилимди сатып алсаң, 2-чи тилимди жарым баада алыңыз!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124282" y="1861891"/>
            <a:ext cx="45318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Таку жана анын 3 досу кинотеатрга барууну </a:t>
            </a:r>
          </a:p>
          <a:p>
            <a:pPr algn="ctr"/>
            <a:r>
              <a:rPr lang="ky-KG" dirty="0"/>
              <a:t>пландап жатышат.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билеттин баасы 5,23 сом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Алар 4 попкорн сатып алышса, </a:t>
            </a:r>
          </a:p>
          <a:p>
            <a:pPr algn="ctr"/>
            <a:r>
              <a:rPr lang="ky-KG" dirty="0"/>
              <a:t>жалпысынан канча төлөшөт?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40344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78794" y="4706463"/>
            <a:ext cx="2091064" cy="116218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2,18сом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2 сатып алсаң, 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бекер !</a:t>
            </a:r>
            <a:endParaRPr lang="en-GB" sz="195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B4A83D-FE08-4CCE-A63A-4EF6C5B5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69" y="4395725"/>
            <a:ext cx="1486071" cy="21019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CFC78E-399C-4ACB-B603-DF087BF73BB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8B3D529-2668-4261-832A-914823B3E9D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Н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Ң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551163" y="1992083"/>
            <a:ext cx="3759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Чупачупста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27 чупачуп сатып алуу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3CAF9-85AE-40B2-8103-7D7D3A1A9B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41" y="3869448"/>
            <a:ext cx="1169952" cy="233990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14405" y="4702627"/>
            <a:ext cx="2091064" cy="10584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Даанасы: 31т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сатып алып, 1 бекер ал!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655949" y="1992083"/>
            <a:ext cx="3458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Таттууларга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95 таттуу сатып алуу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68960" y="4702628"/>
            <a:ext cx="2091064" cy="105849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Даанасы : </a:t>
            </a:r>
            <a:r>
              <a:rPr lang="en-GB" dirty="0">
                <a:solidFill>
                  <a:prstClr val="black"/>
                </a:solidFill>
              </a:rPr>
              <a:t>12</a:t>
            </a:r>
            <a:r>
              <a:rPr lang="ky-KG" dirty="0">
                <a:solidFill>
                  <a:prstClr val="black"/>
                </a:solidFill>
              </a:rPr>
              <a:t>т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 сатып алып,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1 бекер ал!</a:t>
            </a:r>
            <a:endParaRPr lang="en-GB" sz="195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3688C2-B464-4162-AA71-167493F8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63" y="3880023"/>
            <a:ext cx="1072215" cy="804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52109-2ACC-47FD-BEFB-B1CEE5B5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8514">
            <a:off x="6008549" y="4291217"/>
            <a:ext cx="1072215" cy="804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F43E2-2FF9-44A3-8D3F-D11DA43F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7995">
            <a:off x="5294356" y="4982103"/>
            <a:ext cx="1072215" cy="8041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1995BD-68AC-4467-90A7-891697FA6C8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948E87-1FB6-4021-A1EA-C1EE5FA4EBA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О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Ө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13D9A-A728-4412-B21D-0A1984C8EE26}"/>
              </a:ext>
            </a:extLst>
          </p:cNvPr>
          <p:cNvSpPr txBox="1"/>
          <p:nvPr/>
        </p:nvSpPr>
        <p:spPr>
          <a:xfrm>
            <a:off x="501507" y="1992083"/>
            <a:ext cx="3858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700 г сыр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BCF685E-1E31-410A-8452-7A5A442EA5E2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E42E23-C853-447C-87E1-F82E58548B6A}"/>
              </a:ext>
            </a:extLst>
          </p:cNvPr>
          <p:cNvSpPr/>
          <p:nvPr/>
        </p:nvSpPr>
        <p:spPr>
          <a:xfrm>
            <a:off x="2014404" y="4702628"/>
            <a:ext cx="2269097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200гр сырдын баасы  2,36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15561-76AD-482D-90CD-C3364BBDE7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3" y="4538909"/>
            <a:ext cx="1494287" cy="1208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C2DC15-D874-4D41-B05E-0D3DB04794E8}"/>
              </a:ext>
            </a:extLst>
          </p:cNvPr>
          <p:cNvSpPr txBox="1"/>
          <p:nvPr/>
        </p:nvSpPr>
        <p:spPr>
          <a:xfrm>
            <a:off x="5255628" y="1992083"/>
            <a:ext cx="43528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550 г шоколад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A844896-14A9-4AC0-919E-804901189F38}"/>
              </a:ext>
            </a:extLst>
          </p:cNvPr>
          <p:cNvSpPr/>
          <p:nvPr/>
        </p:nvSpPr>
        <p:spPr>
          <a:xfrm>
            <a:off x="6792685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F4EF36-10BF-4334-A5FA-D4289142FDEE}"/>
              </a:ext>
            </a:extLst>
          </p:cNvPr>
          <p:cNvSpPr/>
          <p:nvPr/>
        </p:nvSpPr>
        <p:spPr>
          <a:xfrm>
            <a:off x="7015613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100 г шоколадтын баасы 1,72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E222DD-6B9A-4D5D-8E94-6E3FAB0049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93" y="4406285"/>
            <a:ext cx="1440175" cy="13580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992CB6-04D7-4BE9-ACAC-4D58F30E0B2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A05C269-4870-4A30-A12A-F0B806D2777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П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Р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61257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22 т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10 транспортир 1.42сом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629666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дукөн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17т 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20 транспортир 2,92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743087" y="1992083"/>
            <a:ext cx="337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62 транспортир сатып алуу үчүн </a:t>
            </a:r>
          </a:p>
          <a:p>
            <a:pPr algn="ctr"/>
            <a:r>
              <a:rPr lang="ky-KG" dirty="0"/>
              <a:t>кайсы дүкөн эң арзан?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EAFD8-9027-42C4-BFF3-08D3B348519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94" y="5241928"/>
            <a:ext cx="2730066" cy="150589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BE730-94D0-4CF2-9022-3BB44C3AE6CD}"/>
              </a:ext>
            </a:extLst>
          </p:cNvPr>
          <p:cNvSpPr/>
          <p:nvPr/>
        </p:nvSpPr>
        <p:spPr>
          <a:xfrm>
            <a:off x="5318449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18тыйын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15 сызгыч 2.37 сомго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0AE92B-E92B-4980-84D5-26BB1EFA38A5}"/>
              </a:ext>
            </a:extLst>
          </p:cNvPr>
          <p:cNvSpPr/>
          <p:nvPr/>
        </p:nvSpPr>
        <p:spPr>
          <a:xfrm>
            <a:off x="7686858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дукөн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21тыйын</a:t>
            </a:r>
            <a:endParaRPr lang="en-GB" sz="1950" dirty="0">
              <a:solidFill>
                <a:schemeClr val="tx1"/>
              </a:solidFill>
            </a:endParaRP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30 сызгыч </a:t>
            </a:r>
          </a:p>
          <a:p>
            <a:pPr algn="ctr"/>
            <a:r>
              <a:rPr lang="en-GB" sz="1950" dirty="0">
                <a:solidFill>
                  <a:schemeClr val="tx1"/>
                </a:solidFill>
              </a:rPr>
              <a:t>4.55</a:t>
            </a:r>
            <a:r>
              <a:rPr lang="ky-KG" sz="1950" dirty="0">
                <a:solidFill>
                  <a:schemeClr val="tx1"/>
                </a:solidFill>
              </a:rPr>
              <a:t>сомго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DD04C-250D-45B9-8D6A-BC8EB2F1CF5C}"/>
              </a:ext>
            </a:extLst>
          </p:cNvPr>
          <p:cNvSpPr txBox="1"/>
          <p:nvPr/>
        </p:nvSpPr>
        <p:spPr>
          <a:xfrm>
            <a:off x="5618586" y="1879554"/>
            <a:ext cx="3780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Арзан дукөндөн </a:t>
            </a:r>
            <a:r>
              <a:rPr lang="en-GB" dirty="0"/>
              <a:t>97 </a:t>
            </a:r>
            <a:r>
              <a:rPr lang="ky-KG" dirty="0"/>
              <a:t>сызгычты сатып </a:t>
            </a:r>
          </a:p>
          <a:p>
            <a:pPr algn="ctr"/>
            <a:r>
              <a:rPr lang="ky-KG" dirty="0"/>
              <a:t>алуу Супер дүкөнгө караганда </a:t>
            </a:r>
          </a:p>
          <a:p>
            <a:pPr algn="ctr"/>
            <a:r>
              <a:rPr lang="ky-KG" dirty="0"/>
              <a:t>канчага арзан?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403FAF-46DD-4D90-BFBF-5D4AB0997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6" b="32558"/>
          <a:stretch/>
        </p:blipFill>
        <p:spPr>
          <a:xfrm>
            <a:off x="5333672" y="5934270"/>
            <a:ext cx="4152182" cy="7221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EE7B33-E489-4149-99F1-413928FD0C4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4437FF-8A98-428B-B0BB-4AE044D8A5F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С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Т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01387" y="2921631"/>
            <a:ext cx="210871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Супер жеткирүү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1 </a:t>
            </a:r>
            <a:r>
              <a:rPr lang="ky-KG" sz="1950" b="1" dirty="0">
                <a:solidFill>
                  <a:schemeClr val="tx1"/>
                </a:solidFill>
              </a:rPr>
              <a:t>калем 52 тыйын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сатып алсаң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569796" y="2921631"/>
            <a:ext cx="210968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Мектеп жабдык.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калем 43тыйын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 сатып алсаң </a:t>
            </a: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алуу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581247" y="1992083"/>
            <a:ext cx="3699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Кайсы дүкөндөн эң арзан 23 калем </a:t>
            </a:r>
          </a:p>
          <a:p>
            <a:pPr algn="ctr"/>
            <a:r>
              <a:rPr lang="ky-KG" dirty="0"/>
              <a:t>сатып алса болот?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E35327-3F1D-4C46-9296-EBA3325647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9906612">
            <a:off x="661514" y="5687411"/>
            <a:ext cx="3588340" cy="6012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28D2B3-BECD-4DFB-91CE-224273522B6D}"/>
              </a:ext>
            </a:extLst>
          </p:cNvPr>
          <p:cNvSpPr/>
          <p:nvPr/>
        </p:nvSpPr>
        <p:spPr>
          <a:xfrm>
            <a:off x="5193264" y="2921630"/>
            <a:ext cx="2108719" cy="308728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Калькулятор дүйнөсү</a:t>
            </a:r>
            <a:endParaRPr lang="en-US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4,52 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ru-RU" sz="1950" dirty="0">
              <a:solidFill>
                <a:schemeClr val="tx1"/>
              </a:solidFill>
            </a:endParaRP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сатып алсаң,</a:t>
            </a: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 1ге 50% арзандатуу</a:t>
            </a:r>
            <a:r>
              <a:rPr lang="en-GB" sz="195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715C83-8117-47F3-84FC-F28204779DDD}"/>
              </a:ext>
            </a:extLst>
          </p:cNvPr>
          <p:cNvSpPr/>
          <p:nvPr/>
        </p:nvSpPr>
        <p:spPr>
          <a:xfrm>
            <a:off x="7561673" y="2921629"/>
            <a:ext cx="2109689" cy="29893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Электрондук билим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калькулятор  3,80 сом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5 сатып алсаңыз,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F3D9F5-EE3D-4A97-B408-6C71D7828E3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12" y="5486422"/>
            <a:ext cx="946677" cy="111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EA1254-90AE-49B0-8349-AE67C2DFBEEF}"/>
              </a:ext>
            </a:extLst>
          </p:cNvPr>
          <p:cNvSpPr txBox="1"/>
          <p:nvPr/>
        </p:nvSpPr>
        <p:spPr>
          <a:xfrm>
            <a:off x="5483921" y="1992083"/>
            <a:ext cx="4008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How much cheaper is Electric Education </a:t>
            </a:r>
          </a:p>
          <a:p>
            <a:pPr algn="ctr"/>
            <a:r>
              <a:rPr lang="en-GB" dirty="0"/>
              <a:t>than Calc. World for buying</a:t>
            </a:r>
          </a:p>
          <a:p>
            <a:pPr algn="ctr"/>
            <a:r>
              <a:rPr lang="en-GB" dirty="0"/>
              <a:t>15 calculators?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C6E49E-931B-4188-8564-1AF691AB813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6F78C5D-CC0B-4AFE-BFDB-3DAAAFDE18E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0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У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Ү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28681"/>
              </p:ext>
            </p:extLst>
          </p:nvPr>
        </p:nvGraphicFramePr>
        <p:xfrm>
          <a:off x="709464" y="2476241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497392" y="4296744"/>
            <a:ext cx="38669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Канат бургер, алма </a:t>
            </a:r>
          </a:p>
          <a:p>
            <a:pPr algn="ctr"/>
            <a:r>
              <a:rPr lang="ky-KG" dirty="0"/>
              <a:t>жана 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Тамагы үчүн канча төлөйт?</a:t>
            </a:r>
            <a:endParaRPr lang="en-GB" dirty="0"/>
          </a:p>
        </p:txBody>
      </p:sp>
      <p:sp>
        <p:nvSpPr>
          <p:cNvPr id="17" name="Wave 16">
            <a:extLst>
              <a:ext uri="{FF2B5EF4-FFF2-40B4-BE49-F238E27FC236}">
                <a16:creationId xmlns:a16="http://schemas.microsoft.com/office/drawing/2014/main" id="{E9E719DD-62AD-4296-9DBC-0BC6F164FCE8}"/>
              </a:ext>
            </a:extLst>
          </p:cNvPr>
          <p:cNvSpPr/>
          <p:nvPr/>
        </p:nvSpPr>
        <p:spPr>
          <a:xfrm>
            <a:off x="5645022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B9E8E-A7CC-40DB-A074-056E169F8D8A}"/>
              </a:ext>
            </a:extLst>
          </p:cNvPr>
          <p:cNvSpPr txBox="1"/>
          <p:nvPr/>
        </p:nvSpPr>
        <p:spPr>
          <a:xfrm>
            <a:off x="5371218" y="4296744"/>
            <a:ext cx="42337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Дастан үй-бүлөсү үчүн түшкү тамак </a:t>
            </a:r>
          </a:p>
          <a:p>
            <a:pPr algn="ctr"/>
            <a:r>
              <a:rPr lang="ky-KG" dirty="0"/>
              <a:t>сатып алайын деп пландап жатат: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бургер, 2 макарон, 4 алма,</a:t>
            </a:r>
          </a:p>
          <a:p>
            <a:pPr algn="ctr"/>
            <a:r>
              <a:rPr lang="ky-KG" dirty="0"/>
              <a:t>1 фри, 5 газдалган суусундук.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 сомдон канча кайтарым акча алат?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A6254F-0629-4D05-9E71-68EDFC23DB6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7F2E8C-1012-403E-B7B6-1142394D0BD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7BFA69-B358-EF9F-7365-87467C143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51021"/>
              </p:ext>
            </p:extLst>
          </p:nvPr>
        </p:nvGraphicFramePr>
        <p:xfrm>
          <a:off x="5846664" y="2388222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3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Ф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Х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443058" y="460673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88444" y="4296744"/>
            <a:ext cx="46848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Маке макарон жана </a:t>
            </a:r>
          </a:p>
          <a:p>
            <a:pPr algn="ctr"/>
            <a:r>
              <a:rPr lang="ky-KG" dirty="0"/>
              <a:t>газдалган суусундук сатып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сомдук акча менен төлөп, </a:t>
            </a:r>
          </a:p>
          <a:p>
            <a:pPr algn="ctr"/>
            <a:r>
              <a:rPr lang="ky-KG" dirty="0"/>
              <a:t>2,32 сом кайтарым акча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Газдалган суусундук жаңы баасы канча экен?</a:t>
            </a:r>
            <a:r>
              <a:rPr lang="en-GB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0FFA2-B33A-43FC-B866-6B9B1DD35705}"/>
              </a:ext>
            </a:extLst>
          </p:cNvPr>
          <p:cNvSpPr txBox="1"/>
          <p:nvPr/>
        </p:nvSpPr>
        <p:spPr>
          <a:xfrm rot="493720">
            <a:off x="1945092" y="1925918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4EBB8CB3-C0F5-4327-8AED-5BC2C78B4201}"/>
              </a:ext>
            </a:extLst>
          </p:cNvPr>
          <p:cNvSpPr/>
          <p:nvPr/>
        </p:nvSpPr>
        <p:spPr>
          <a:xfrm>
            <a:off x="5607699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F50112-E388-4054-83BB-E821E7E9B8D0}"/>
              </a:ext>
            </a:extLst>
          </p:cNvPr>
          <p:cNvSpPr txBox="1"/>
          <p:nvPr/>
        </p:nvSpPr>
        <p:spPr>
          <a:xfrm>
            <a:off x="5282588" y="4019744"/>
            <a:ext cx="430406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Талант досторуна түшкү тамак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3 макарон, 4 бургер, </a:t>
            </a:r>
          </a:p>
          <a:p>
            <a:pPr algn="ctr"/>
            <a:r>
              <a:rPr lang="ky-KG" dirty="0"/>
              <a:t>2 фри жана 4 шире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50 сомдук акча менен төлөп, </a:t>
            </a:r>
          </a:p>
          <a:p>
            <a:pPr algn="ctr"/>
            <a:r>
              <a:rPr lang="ky-KG" dirty="0"/>
              <a:t>29,40 сом кайтарым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Бургердин жаңы баасы канча экен?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FA401-210D-4EEE-8FC5-41AE98A51F09}"/>
              </a:ext>
            </a:extLst>
          </p:cNvPr>
          <p:cNvSpPr txBox="1"/>
          <p:nvPr/>
        </p:nvSpPr>
        <p:spPr>
          <a:xfrm rot="493720">
            <a:off x="7007370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D07F45-6936-4305-833D-E194B91C29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794D79A-EDD0-47A8-9D61-BBFDACC6E61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75301B-450A-35BC-C33D-B5A211841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1526"/>
              </p:ext>
            </p:extLst>
          </p:nvPr>
        </p:nvGraphicFramePr>
        <p:xfrm>
          <a:off x="790008" y="2427782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EE6-7200-43E4-BE16-7357AFDCFE3E}"/>
              </a:ext>
            </a:extLst>
          </p:cNvPr>
          <p:cNvCxnSpPr>
            <a:cxnSpLocks/>
          </p:cNvCxnSpPr>
          <p:nvPr/>
        </p:nvCxnSpPr>
        <p:spPr>
          <a:xfrm flipV="1">
            <a:off x="1833866" y="3526155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7FEB4-4D21-412F-B169-E1DBDE333C47}"/>
              </a:ext>
            </a:extLst>
          </p:cNvPr>
          <p:cNvCxnSpPr>
            <a:cxnSpLocks/>
          </p:cNvCxnSpPr>
          <p:nvPr/>
        </p:nvCxnSpPr>
        <p:spPr>
          <a:xfrm>
            <a:off x="1858521" y="3526155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9FF162-0E82-4A37-90AF-1F0C9D76834E}"/>
              </a:ext>
            </a:extLst>
          </p:cNvPr>
          <p:cNvCxnSpPr>
            <a:cxnSpLocks/>
          </p:cNvCxnSpPr>
          <p:nvPr/>
        </p:nvCxnSpPr>
        <p:spPr>
          <a:xfrm flipV="1">
            <a:off x="3097032" y="290196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AA9A94-C4B2-4ED0-9979-7B00A4004F6E}"/>
              </a:ext>
            </a:extLst>
          </p:cNvPr>
          <p:cNvCxnSpPr>
            <a:cxnSpLocks/>
          </p:cNvCxnSpPr>
          <p:nvPr/>
        </p:nvCxnSpPr>
        <p:spPr>
          <a:xfrm>
            <a:off x="3136119" y="28727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C519E1-318A-4E6C-8CA4-892B4201E909}"/>
              </a:ext>
            </a:extLst>
          </p:cNvPr>
          <p:cNvCxnSpPr>
            <a:cxnSpLocks/>
          </p:cNvCxnSpPr>
          <p:nvPr/>
        </p:nvCxnSpPr>
        <p:spPr>
          <a:xfrm flipV="1">
            <a:off x="1626810" y="2531110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70AD3B-AB24-42C1-9943-D2D23587AD9E}"/>
              </a:ext>
            </a:extLst>
          </p:cNvPr>
          <p:cNvCxnSpPr>
            <a:cxnSpLocks/>
          </p:cNvCxnSpPr>
          <p:nvPr/>
        </p:nvCxnSpPr>
        <p:spPr>
          <a:xfrm>
            <a:off x="1599052" y="252620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360AF2-5F32-7255-0EED-9184463D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429703"/>
              </p:ext>
            </p:extLst>
          </p:nvPr>
        </p:nvGraphicFramePr>
        <p:xfrm>
          <a:off x="5787948" y="2435311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D324AE-898B-D0BF-CEE2-6EA8D6FF313F}"/>
              </a:ext>
            </a:extLst>
          </p:cNvPr>
          <p:cNvCxnSpPr>
            <a:cxnSpLocks/>
          </p:cNvCxnSpPr>
          <p:nvPr/>
        </p:nvCxnSpPr>
        <p:spPr>
          <a:xfrm flipV="1">
            <a:off x="6831806" y="353368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0DBAE5-0772-3E6B-9705-A4FB9ECD35B5}"/>
              </a:ext>
            </a:extLst>
          </p:cNvPr>
          <p:cNvCxnSpPr>
            <a:cxnSpLocks/>
          </p:cNvCxnSpPr>
          <p:nvPr/>
        </p:nvCxnSpPr>
        <p:spPr>
          <a:xfrm>
            <a:off x="6856461" y="35336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E93396-6413-93C2-48BA-30D59055601C}"/>
              </a:ext>
            </a:extLst>
          </p:cNvPr>
          <p:cNvCxnSpPr>
            <a:cxnSpLocks/>
          </p:cNvCxnSpPr>
          <p:nvPr/>
        </p:nvCxnSpPr>
        <p:spPr>
          <a:xfrm flipV="1">
            <a:off x="8094972" y="2909493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065FE-3724-9EEB-0AE6-02E9FF61E464}"/>
              </a:ext>
            </a:extLst>
          </p:cNvPr>
          <p:cNvCxnSpPr>
            <a:cxnSpLocks/>
          </p:cNvCxnSpPr>
          <p:nvPr/>
        </p:nvCxnSpPr>
        <p:spPr>
          <a:xfrm>
            <a:off x="8134059" y="288031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FD077C-8CAA-6BC7-C8B6-CB61095F463A}"/>
              </a:ext>
            </a:extLst>
          </p:cNvPr>
          <p:cNvCxnSpPr>
            <a:cxnSpLocks/>
          </p:cNvCxnSpPr>
          <p:nvPr/>
        </p:nvCxnSpPr>
        <p:spPr>
          <a:xfrm flipV="1">
            <a:off x="6624750" y="2538639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57191C-2FF5-3E26-5C95-1CBA30BFD007}"/>
              </a:ext>
            </a:extLst>
          </p:cNvPr>
          <p:cNvCxnSpPr>
            <a:cxnSpLocks/>
          </p:cNvCxnSpPr>
          <p:nvPr/>
        </p:nvCxnSpPr>
        <p:spPr>
          <a:xfrm>
            <a:off x="6596992" y="253373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37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3D9BE1-E101-4FB3-A5E5-A858BEA8E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519893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23.55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21.91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63.36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34.65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12.33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43.84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66.10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22.54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A4FF7-331C-41A8-9FF5-12FEF97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60600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4.34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7.68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8.26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tx1"/>
                          </a:solidFill>
                        </a:rPr>
                        <a:t>Супер дүкөн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тыйынга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chemeClr val="tx1"/>
                          </a:solidFill>
                        </a:rPr>
                        <a:t>Супер жеткирүү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3.76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17504-C126-C5A8-36D6-E71A281E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87496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79D52-5DED-F80C-02BE-DF698E982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1929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y-KG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21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1E105-F68E-9DB2-E3D9-A841096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4841" y="1040158"/>
            <a:ext cx="6825063" cy="481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81A01-3BD2-E2D6-3351-AAFBF6A1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158" y="1040158"/>
            <a:ext cx="6825063" cy="48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03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25432-0058-28FC-A2A5-C5C5BA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1"/>
            <a:ext cx="4953000" cy="3332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33004-288F-B4F0-84A1-72414905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0"/>
            <a:ext cx="4719628" cy="3332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40101-D838-9418-20F3-72E5D1A5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2"/>
            <a:ext cx="4953000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376C8-E163-1576-F830-1D9ACF07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3484881"/>
            <a:ext cx="4719628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8720</TotalTime>
  <Words>1180</Words>
  <Application>Microsoft Office PowerPoint</Application>
  <PresentationFormat>A4 Paper (210x297 mm)</PresentationFormat>
  <Paragraphs>422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Forte</vt:lpstr>
      <vt:lpstr>Calibri</vt:lpstr>
      <vt:lpstr>Arial</vt:lpstr>
      <vt:lpstr>Arial Rounded MT Bold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397</cp:revision>
  <cp:lastPrinted>2019-09-19T06:17:16Z</cp:lastPrinted>
  <dcterms:created xsi:type="dcterms:W3CDTF">2017-01-17T16:57:04Z</dcterms:created>
  <dcterms:modified xsi:type="dcterms:W3CDTF">2024-09-11T17:21:28Z</dcterms:modified>
</cp:coreProperties>
</file>