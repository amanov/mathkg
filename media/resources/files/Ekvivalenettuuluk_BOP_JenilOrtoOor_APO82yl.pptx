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51" r:id="rId2"/>
    <p:sldId id="945" r:id="rId3"/>
    <p:sldId id="944" r:id="rId4"/>
    <p:sldId id="946" r:id="rId5"/>
    <p:sldId id="952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0C89CAEC-A8C2-4EB0-8E1C-704134C34027}">
          <p14:sldIdLst>
            <p14:sldId id="951"/>
          </p14:sldIdLst>
        </p14:section>
        <p14:section name="Көрсөтүүгө" id="{059544AC-2C27-45B1-9F95-F87DF8854DD6}">
          <p14:sldIdLst>
            <p14:sldId id="945"/>
          </p14:sldIdLst>
        </p14:section>
        <p14:section name="Жооптор" id="{1FEDB314-42DC-4694-9B04-D4A4AAE625F7}">
          <p14:sldIdLst>
            <p14:sldId id="944"/>
          </p14:sldIdLst>
        </p14:section>
        <p14:section name="Өз алдынча иштоо баракчалары" id="{A78D9305-6AAE-4715-A210-52F6908F30F7}">
          <p14:sldIdLst>
            <p14:sldId id="946"/>
          </p14:sldIdLst>
        </p14:section>
        <p14:section name="Кайтарым байоаныш" id="{C294891A-7DD8-4F33-8B92-7595612B80E5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FFFF"/>
    <a:srgbClr val="00B050"/>
    <a:srgbClr val="2E75B6"/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02/09/2024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3" Type="http://schemas.openxmlformats.org/officeDocument/2006/relationships/image" Target="../media/image3.png"/><Relationship Id="rId12" Type="http://schemas.openxmlformats.org/officeDocument/2006/relationships/image" Target="../media/image5.png"/><Relationship Id="rId2" Type="http://schemas.openxmlformats.org/officeDocument/2006/relationships/image" Target="../media/image2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4.png"/><Relationship Id="rId15" Type="http://schemas.openxmlformats.org/officeDocument/2006/relationships/image" Target="../media/image11.png"/><Relationship Id="rId10" Type="http://schemas.openxmlformats.org/officeDocument/2006/relationships/image" Target="../media/image100.png"/><Relationship Id="rId4" Type="http://schemas.openxmlformats.org/officeDocument/2006/relationships/image" Target="../media/image4.png"/><Relationship Id="rId1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Эквиваленттүүлүк – Бөлчөктөр, Ондуктар жана Проценттер -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көнүгүү катары берсе болот.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9504" y="518160"/>
            <a:ext cx="3020256" cy="62179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56744" y="518160"/>
            <a:ext cx="3020256" cy="62179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73984" y="518160"/>
            <a:ext cx="3020256" cy="62179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" name="Table 5">
                <a:extLst>
                  <a:ext uri="{FF2B5EF4-FFF2-40B4-BE49-F238E27FC236}">
                    <a16:creationId xmlns:a16="http://schemas.microsoft.com/office/drawing/2014/main" id="{909F1548-6B24-476C-83EE-545B062453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8578844"/>
                  </p:ext>
                </p:extLst>
              </p:nvPr>
            </p:nvGraphicFramePr>
            <p:xfrm>
              <a:off x="6787115" y="1162972"/>
              <a:ext cx="2998812" cy="55811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960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891768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10744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398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dirty="0">
                              <a:solidFill>
                                <a:schemeClr val="tx1"/>
                              </a:solidFill>
                            </a:rPr>
                            <a:t>Бөлчөк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solidFill>
                                <a:schemeClr val="tx1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dirty="0">
                              <a:solidFill>
                                <a:schemeClr val="tx1"/>
                              </a:solidFill>
                            </a:rPr>
                            <a:t>Пайыз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0,44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64334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185%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964727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0,125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12801045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7782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37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54078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" name="Table 5">
                <a:extLst>
                  <a:ext uri="{FF2B5EF4-FFF2-40B4-BE49-F238E27FC236}">
                    <a16:creationId xmlns:a16="http://schemas.microsoft.com/office/drawing/2014/main" id="{909F1548-6B24-476C-83EE-545B062453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8578844"/>
                  </p:ext>
                </p:extLst>
              </p:nvPr>
            </p:nvGraphicFramePr>
            <p:xfrm>
              <a:off x="6787115" y="1162972"/>
              <a:ext cx="2998812" cy="55811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960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891768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10744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398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dirty="0">
                              <a:solidFill>
                                <a:schemeClr val="tx1"/>
                              </a:solidFill>
                            </a:rPr>
                            <a:t>Бөлчөк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solidFill>
                                <a:schemeClr val="tx1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dirty="0">
                              <a:solidFill>
                                <a:schemeClr val="tx1"/>
                              </a:solidFill>
                            </a:rPr>
                            <a:t>Пайыз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1064" r="-20122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0,44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64334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185%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964727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0,125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12801045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50355" r="-201220" b="-100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7782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50355" r="-201220" b="-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54078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CAD0A964-A68D-4A00-B9C8-5AA9F99842DE}"/>
              </a:ext>
            </a:extLst>
          </p:cNvPr>
          <p:cNvSpPr txBox="1"/>
          <p:nvPr/>
        </p:nvSpPr>
        <p:spPr>
          <a:xfrm>
            <a:off x="831749" y="753986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 ... к</a:t>
            </a:r>
            <a:r>
              <a:rPr lang="ru-RU" sz="2000" dirty="0"/>
              <a:t>өрсөтүңүз.</a:t>
            </a:r>
            <a:endParaRPr lang="en-GB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262553" y="127057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51067F-9737-4B0F-B650-0F37717B24F8}"/>
              </a:ext>
            </a:extLst>
          </p:cNvPr>
          <p:cNvSpPr txBox="1"/>
          <p:nvPr/>
        </p:nvSpPr>
        <p:spPr>
          <a:xfrm>
            <a:off x="512516" y="1249350"/>
            <a:ext cx="2512996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2000" dirty="0"/>
              <a:t>42% ондук сан </a:t>
            </a:r>
            <a:r>
              <a:rPr lang="ky-KG" sz="2000" dirty="0"/>
              <a:t>түрүндө</a:t>
            </a:r>
            <a:endParaRPr lang="en-US" sz="2000" dirty="0"/>
          </a:p>
          <a:p>
            <a:r>
              <a:rPr lang="ru-RU" sz="2000" dirty="0"/>
              <a:t> ... </a:t>
            </a:r>
            <a:endParaRPr lang="en-GB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F589B3-F130-4DCC-89C3-3609AAA99437}"/>
              </a:ext>
            </a:extLst>
          </p:cNvPr>
          <p:cNvSpPr txBox="1"/>
          <p:nvPr/>
        </p:nvSpPr>
        <p:spPr>
          <a:xfrm>
            <a:off x="262553" y="218996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9A21BA-1659-43B7-8713-45BDAFC7E999}"/>
              </a:ext>
            </a:extLst>
          </p:cNvPr>
          <p:cNvSpPr txBox="1"/>
          <p:nvPr/>
        </p:nvSpPr>
        <p:spPr>
          <a:xfrm>
            <a:off x="1238119" y="2189962"/>
            <a:ext cx="190436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DCC961-C431-4062-B6DF-527AF21C7D55}"/>
              </a:ext>
            </a:extLst>
          </p:cNvPr>
          <p:cNvSpPr txBox="1"/>
          <p:nvPr/>
        </p:nvSpPr>
        <p:spPr>
          <a:xfrm>
            <a:off x="262553" y="310935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7DD81C-5808-48A7-8B97-149485C8FF38}"/>
                  </a:ext>
                </a:extLst>
              </p:cNvPr>
              <p:cNvSpPr txBox="1"/>
              <p:nvPr/>
            </p:nvSpPr>
            <p:spPr>
              <a:xfrm>
                <a:off x="653289" y="2044121"/>
                <a:ext cx="485710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7DD81C-5808-48A7-8B97-149485C8F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89" y="2044121"/>
                <a:ext cx="485710" cy="5782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BCC1D2D3-0915-4157-A9FB-D7F5CFCEBEE2}"/>
              </a:ext>
            </a:extLst>
          </p:cNvPr>
          <p:cNvSpPr txBox="1"/>
          <p:nvPr/>
        </p:nvSpPr>
        <p:spPr>
          <a:xfrm>
            <a:off x="650640" y="3109350"/>
            <a:ext cx="228588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0,8 </a:t>
            </a:r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1BF030-FF06-42B3-9307-5F1AA3221A93}"/>
              </a:ext>
            </a:extLst>
          </p:cNvPr>
          <p:cNvSpPr txBox="1"/>
          <p:nvPr/>
        </p:nvSpPr>
        <p:spPr>
          <a:xfrm>
            <a:off x="262553" y="402873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1E227A8-45BF-41DC-B6AA-DBE524AAF84D}"/>
                  </a:ext>
                </a:extLst>
              </p:cNvPr>
              <p:cNvSpPr txBox="1"/>
              <p:nvPr/>
            </p:nvSpPr>
            <p:spPr>
              <a:xfrm>
                <a:off x="724622" y="3894535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1E227A8-45BF-41DC-B6AA-DBE524AAF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22" y="3894535"/>
                <a:ext cx="343043" cy="5782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9B147491-7EB1-44E3-8335-1E949B09D6C3}"/>
              </a:ext>
            </a:extLst>
          </p:cNvPr>
          <p:cNvSpPr txBox="1"/>
          <p:nvPr/>
        </p:nvSpPr>
        <p:spPr>
          <a:xfrm>
            <a:off x="1219210" y="4028738"/>
            <a:ext cx="190436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6EBD28-EAD4-4256-AA79-DEECD42E2F32}"/>
              </a:ext>
            </a:extLst>
          </p:cNvPr>
          <p:cNvSpPr txBox="1"/>
          <p:nvPr/>
        </p:nvSpPr>
        <p:spPr>
          <a:xfrm>
            <a:off x="262553" y="494812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CF8386-7FE5-4E92-A105-C5673716142C}"/>
              </a:ext>
            </a:extLst>
          </p:cNvPr>
          <p:cNvSpPr txBox="1"/>
          <p:nvPr/>
        </p:nvSpPr>
        <p:spPr>
          <a:xfrm>
            <a:off x="650640" y="4948126"/>
            <a:ext cx="246381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20% </a:t>
            </a:r>
            <a:r>
              <a:rPr lang="ky-KG" sz="2000" dirty="0"/>
              <a:t>бөлчөк түрүндө ...</a:t>
            </a:r>
            <a:endParaRPr lang="en-GB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042EF6-DAD6-4840-A3F8-692800DFCF20}"/>
              </a:ext>
            </a:extLst>
          </p:cNvPr>
          <p:cNvSpPr txBox="1"/>
          <p:nvPr/>
        </p:nvSpPr>
        <p:spPr>
          <a:xfrm>
            <a:off x="262553" y="586751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953C52-CD96-4AB2-8415-BC521B7F20A3}"/>
              </a:ext>
            </a:extLst>
          </p:cNvPr>
          <p:cNvSpPr txBox="1"/>
          <p:nvPr/>
        </p:nvSpPr>
        <p:spPr>
          <a:xfrm>
            <a:off x="650640" y="5867512"/>
            <a:ext cx="241732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0,06 </a:t>
            </a:r>
            <a:r>
              <a:rPr lang="ky-KG" sz="2000" dirty="0"/>
              <a:t>бөлчөк түрүндө...</a:t>
            </a:r>
            <a:endParaRPr lang="en-GB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AF663C-A0D1-4456-A3C0-C847B3A19604}"/>
              </a:ext>
            </a:extLst>
          </p:cNvPr>
          <p:cNvSpPr txBox="1"/>
          <p:nvPr/>
        </p:nvSpPr>
        <p:spPr>
          <a:xfrm>
            <a:off x="4160534" y="753986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 ... к</a:t>
            </a:r>
            <a:r>
              <a:rPr lang="ru-RU" sz="2000" dirty="0"/>
              <a:t>өрсөтүңүз.</a:t>
            </a:r>
            <a:endParaRPr lang="en-GB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64F53E3-CA0E-4B06-9C82-1CF0ACA741A2}"/>
              </a:ext>
            </a:extLst>
          </p:cNvPr>
          <p:cNvSpPr txBox="1"/>
          <p:nvPr/>
        </p:nvSpPr>
        <p:spPr>
          <a:xfrm>
            <a:off x="3571019" y="127057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6FF3648-7FE9-4A56-9B10-493A449F59BE}"/>
              </a:ext>
            </a:extLst>
          </p:cNvPr>
          <p:cNvSpPr txBox="1"/>
          <p:nvPr/>
        </p:nvSpPr>
        <p:spPr>
          <a:xfrm>
            <a:off x="4540997" y="1270574"/>
            <a:ext cx="190436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8B32324-B61D-44E4-8603-20E4FD70A20A}"/>
              </a:ext>
            </a:extLst>
          </p:cNvPr>
          <p:cNvSpPr txBox="1"/>
          <p:nvPr/>
        </p:nvSpPr>
        <p:spPr>
          <a:xfrm>
            <a:off x="3571019" y="218996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2D1F76B-34A9-4A65-B516-A658D1F6DFA6}"/>
              </a:ext>
            </a:extLst>
          </p:cNvPr>
          <p:cNvSpPr txBox="1"/>
          <p:nvPr/>
        </p:nvSpPr>
        <p:spPr>
          <a:xfrm>
            <a:off x="3983741" y="2189962"/>
            <a:ext cx="252793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12% </a:t>
            </a:r>
            <a:r>
              <a:rPr lang="ky-KG" sz="2000" dirty="0"/>
              <a:t>бөлчөк түрүндө ...</a:t>
            </a:r>
            <a:endParaRPr lang="en-GB" sz="1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FFAFF28-7ADE-461F-A2DE-EC5FC0AF8D9B}"/>
              </a:ext>
            </a:extLst>
          </p:cNvPr>
          <p:cNvSpPr txBox="1"/>
          <p:nvPr/>
        </p:nvSpPr>
        <p:spPr>
          <a:xfrm>
            <a:off x="3571019" y="310935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26EE4F4-D79D-437B-88F5-A3D3AE79A803}"/>
              </a:ext>
            </a:extLst>
          </p:cNvPr>
          <p:cNvSpPr txBox="1"/>
          <p:nvPr/>
        </p:nvSpPr>
        <p:spPr>
          <a:xfrm>
            <a:off x="4407032" y="3044215"/>
            <a:ext cx="1132811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ондук сан </a:t>
            </a:r>
            <a:endParaRPr lang="en-US" sz="2000" dirty="0"/>
          </a:p>
          <a:p>
            <a:pPr algn="ctr"/>
            <a:r>
              <a:rPr lang="ky-KG" sz="2000" dirty="0"/>
              <a:t>түрүндө</a:t>
            </a:r>
            <a:endParaRPr lang="en-US" sz="2000" dirty="0"/>
          </a:p>
          <a:p>
            <a:pPr algn="ctr"/>
            <a:r>
              <a:rPr lang="ru-RU" sz="2000" dirty="0"/>
              <a:t> ...</a:t>
            </a:r>
            <a:endParaRPr lang="en-GB" sz="14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52DE693-6692-434F-A4D6-49CB46672C16}"/>
              </a:ext>
            </a:extLst>
          </p:cNvPr>
          <p:cNvSpPr txBox="1"/>
          <p:nvPr/>
        </p:nvSpPr>
        <p:spPr>
          <a:xfrm>
            <a:off x="3571019" y="402873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CA286AE-3476-4236-9877-EEFA1CD8BD1C}"/>
              </a:ext>
            </a:extLst>
          </p:cNvPr>
          <p:cNvSpPr txBox="1"/>
          <p:nvPr/>
        </p:nvSpPr>
        <p:spPr>
          <a:xfrm>
            <a:off x="3779409" y="4047703"/>
            <a:ext cx="266900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0,009 </a:t>
            </a:r>
            <a:r>
              <a:rPr lang="ky-KG" sz="2000" dirty="0"/>
              <a:t>бөлчөк түрүндө ...</a:t>
            </a:r>
            <a:endParaRPr lang="en-GB" sz="14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47E2240-35A5-4921-B17E-FF9E683C01F4}"/>
              </a:ext>
            </a:extLst>
          </p:cNvPr>
          <p:cNvSpPr txBox="1"/>
          <p:nvPr/>
        </p:nvSpPr>
        <p:spPr>
          <a:xfrm>
            <a:off x="3571019" y="494812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A1E942-8AD8-4625-A2DF-21BC9962FFDA}"/>
              </a:ext>
            </a:extLst>
          </p:cNvPr>
          <p:cNvSpPr txBox="1"/>
          <p:nvPr/>
        </p:nvSpPr>
        <p:spPr>
          <a:xfrm>
            <a:off x="4071906" y="4948126"/>
            <a:ext cx="2369238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0,055 </a:t>
            </a:r>
            <a:r>
              <a:rPr lang="ky-KG" sz="2000" dirty="0"/>
              <a:t> пайыз түрүндө</a:t>
            </a:r>
            <a:r>
              <a:rPr lang="en-US" sz="2000" dirty="0"/>
              <a:t> </a:t>
            </a:r>
          </a:p>
          <a:p>
            <a:pPr algn="ctr"/>
            <a:r>
              <a:rPr lang="en-US" sz="2000" dirty="0"/>
              <a:t>…</a:t>
            </a:r>
            <a:endParaRPr lang="en-GB" sz="1400" dirty="0"/>
          </a:p>
          <a:p>
            <a:pPr algn="ctr"/>
            <a:endParaRPr lang="en-GB" sz="1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6E7A93B-5BF3-460B-987E-BA8A60F6C311}"/>
              </a:ext>
            </a:extLst>
          </p:cNvPr>
          <p:cNvSpPr txBox="1"/>
          <p:nvPr/>
        </p:nvSpPr>
        <p:spPr>
          <a:xfrm>
            <a:off x="3571019" y="586751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2917A7B-85B7-4C60-B035-9F190DC5C038}"/>
              </a:ext>
            </a:extLst>
          </p:cNvPr>
          <p:cNvSpPr txBox="1"/>
          <p:nvPr/>
        </p:nvSpPr>
        <p:spPr>
          <a:xfrm>
            <a:off x="4396488" y="5867512"/>
            <a:ext cx="239062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2000" dirty="0"/>
              <a:t>ондук сан</a:t>
            </a:r>
            <a:r>
              <a:rPr lang="en-US" sz="2000" dirty="0"/>
              <a:t> </a:t>
            </a:r>
            <a:r>
              <a:rPr lang="ky-KG" sz="2000" dirty="0"/>
              <a:t>түрүндө</a:t>
            </a:r>
            <a:endParaRPr lang="en-US" sz="2000" dirty="0"/>
          </a:p>
          <a:p>
            <a:pPr algn="ctr"/>
            <a:r>
              <a:rPr lang="ru-RU" sz="2000" dirty="0"/>
              <a:t> ...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5E6C674-4DC8-448E-A833-032ACF8BE489}"/>
                  </a:ext>
                </a:extLst>
              </p:cNvPr>
              <p:cNvSpPr txBox="1"/>
              <p:nvPr/>
            </p:nvSpPr>
            <p:spPr>
              <a:xfrm>
                <a:off x="4033088" y="1162972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5E6C674-4DC8-448E-A833-032ACF8BE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088" y="1162972"/>
                <a:ext cx="343043" cy="578235"/>
              </a:xfrm>
              <a:prstGeom prst="rect">
                <a:avLst/>
              </a:prstGeom>
              <a:blipFill>
                <a:blip r:embed="rId12"/>
                <a:stretch>
                  <a:fillRect l="-17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D461A90-FC47-4784-AD9D-796B98DCE8D5}"/>
                  </a:ext>
                </a:extLst>
              </p:cNvPr>
              <p:cNvSpPr txBox="1"/>
              <p:nvPr/>
            </p:nvSpPr>
            <p:spPr>
              <a:xfrm>
                <a:off x="4033088" y="2996761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D461A90-FC47-4784-AD9D-796B98DCE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088" y="2996761"/>
                <a:ext cx="343043" cy="578235"/>
              </a:xfrm>
              <a:prstGeom prst="rect">
                <a:avLst/>
              </a:prstGeom>
              <a:blipFill>
                <a:blip r:embed="rId13"/>
                <a:stretch>
                  <a:fillRect l="-17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6D2A33F-8813-4199-AE4E-4102C9CF089B}"/>
                  </a:ext>
                </a:extLst>
              </p:cNvPr>
              <p:cNvSpPr txBox="1"/>
              <p:nvPr/>
            </p:nvSpPr>
            <p:spPr>
              <a:xfrm>
                <a:off x="4129361" y="5706710"/>
                <a:ext cx="200375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6D2A33F-8813-4199-AE4E-4102C9CF0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361" y="5706710"/>
                <a:ext cx="200375" cy="57823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8DA91D7C-DEFD-4B21-9F0F-B0FE3762E7FA}"/>
              </a:ext>
            </a:extLst>
          </p:cNvPr>
          <p:cNvSpPr txBox="1"/>
          <p:nvPr/>
        </p:nvSpPr>
        <p:spPr>
          <a:xfrm>
            <a:off x="7107705" y="753986"/>
            <a:ext cx="245759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Бул таблицаны толтур.</a:t>
            </a:r>
            <a:endParaRPr lang="en-GB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365B6A-B36E-D540-1085-5B2BBEF16548}"/>
              </a:ext>
            </a:extLst>
          </p:cNvPr>
          <p:cNvSpPr txBox="1"/>
          <p:nvPr/>
        </p:nvSpPr>
        <p:spPr>
          <a:xfrm>
            <a:off x="763065" y="-107851"/>
            <a:ext cx="1783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4"/>
                </a:solidFill>
              </a:rPr>
              <a:t>ЖЕҢИЛ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0479F-07AD-DC8D-54B8-D2A83746698F}"/>
              </a:ext>
            </a:extLst>
          </p:cNvPr>
          <p:cNvSpPr txBox="1"/>
          <p:nvPr/>
        </p:nvSpPr>
        <p:spPr>
          <a:xfrm>
            <a:off x="4279485" y="-107851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ОРТО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711F4-1AA9-86A0-4E65-ADD0C405DA50}"/>
              </a:ext>
            </a:extLst>
          </p:cNvPr>
          <p:cNvSpPr txBox="1"/>
          <p:nvPr/>
        </p:nvSpPr>
        <p:spPr>
          <a:xfrm>
            <a:off x="7604576" y="-92082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600" dirty="0">
                <a:solidFill>
                  <a:srgbClr val="2E75B6"/>
                </a:solidFill>
              </a:rPr>
              <a:t>ООР</a:t>
            </a:r>
            <a:endParaRPr lang="en-US" dirty="0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187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15952" y="119380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33192" y="180340"/>
            <a:ext cx="467360" cy="39601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" name="Table 5">
                <a:extLst>
                  <a:ext uri="{FF2B5EF4-FFF2-40B4-BE49-F238E27FC236}">
                    <a16:creationId xmlns:a16="http://schemas.microsoft.com/office/drawing/2014/main" id="{909F1548-6B24-476C-83EE-545B062453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0495302"/>
                  </p:ext>
                </p:extLst>
              </p:nvPr>
            </p:nvGraphicFramePr>
            <p:xfrm>
              <a:off x="6787115" y="1162972"/>
              <a:ext cx="2998812" cy="55811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960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891768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10744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398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dirty="0">
                              <a:solidFill>
                                <a:schemeClr val="tx1"/>
                              </a:solidFill>
                            </a:rPr>
                            <a:t>Бөлчөк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dirty="0">
                              <a:solidFill>
                                <a:schemeClr val="tx1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dirty="0">
                              <a:solidFill>
                                <a:schemeClr val="tx1"/>
                              </a:solidFill>
                            </a:rPr>
                            <a:t>Пайыз</a:t>
                          </a:r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1,2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120%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0,44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44%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64334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37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1,85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185%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964727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0,125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12,5%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12801045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0,012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1,2%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7782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37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0,925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92,5%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54078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" name="Table 5">
                <a:extLst>
                  <a:ext uri="{FF2B5EF4-FFF2-40B4-BE49-F238E27FC236}">
                    <a16:creationId xmlns:a16="http://schemas.microsoft.com/office/drawing/2014/main" id="{909F1548-6B24-476C-83EE-545B062453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0495302"/>
                  </p:ext>
                </p:extLst>
              </p:nvPr>
            </p:nvGraphicFramePr>
            <p:xfrm>
              <a:off x="6787115" y="1162972"/>
              <a:ext cx="2998812" cy="55811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960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891768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10744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398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dirty="0">
                              <a:solidFill>
                                <a:schemeClr val="tx1"/>
                              </a:solidFill>
                            </a:rPr>
                            <a:t>Бөлчөк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dirty="0">
                              <a:solidFill>
                                <a:schemeClr val="tx1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dirty="0">
                              <a:solidFill>
                                <a:schemeClr val="tx1"/>
                              </a:solidFill>
                            </a:rPr>
                            <a:t>Пайыз</a:t>
                          </a:r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1064" r="-20122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1,2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120%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51064" r="-20122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0,44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44%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64334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51064" r="-20122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1,85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185%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964727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53571" r="-201220" b="-202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0,125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12,5%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12801045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50355" r="-201220" b="-100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0,012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1,2%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7782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50355" r="-201220" b="-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0,925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92,5%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54078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1D0D4010-1378-4C3C-9F87-A69985025562}"/>
              </a:ext>
            </a:extLst>
          </p:cNvPr>
          <p:cNvSpPr txBox="1"/>
          <p:nvPr/>
        </p:nvSpPr>
        <p:spPr>
          <a:xfrm>
            <a:off x="2277979" y="1633762"/>
            <a:ext cx="683200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0,42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F5DED9-B38B-429E-AC41-A2C98A081E79}"/>
              </a:ext>
            </a:extLst>
          </p:cNvPr>
          <p:cNvSpPr txBox="1"/>
          <p:nvPr/>
        </p:nvSpPr>
        <p:spPr>
          <a:xfrm>
            <a:off x="2283590" y="2553150"/>
            <a:ext cx="671979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17%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30161A-7064-427F-9FBE-923B94301726}"/>
              </a:ext>
            </a:extLst>
          </p:cNvPr>
          <p:cNvSpPr txBox="1"/>
          <p:nvPr/>
        </p:nvSpPr>
        <p:spPr>
          <a:xfrm>
            <a:off x="2283589" y="3472538"/>
            <a:ext cx="671979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80%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942A80-4527-4136-A50A-38824AD6146F}"/>
              </a:ext>
            </a:extLst>
          </p:cNvPr>
          <p:cNvSpPr txBox="1"/>
          <p:nvPr/>
        </p:nvSpPr>
        <p:spPr>
          <a:xfrm>
            <a:off x="2283589" y="4391926"/>
            <a:ext cx="671979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90%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44B2FB8-A096-450E-837F-70B7F7F7DDD0}"/>
                  </a:ext>
                </a:extLst>
              </p:cNvPr>
              <p:cNvSpPr txBox="1"/>
              <p:nvPr/>
            </p:nvSpPr>
            <p:spPr>
              <a:xfrm>
                <a:off x="2798783" y="4973803"/>
                <a:ext cx="404277" cy="72840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44B2FB8-A096-450E-837F-70B7F7F7D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783" y="4973803"/>
                <a:ext cx="404277" cy="7284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740EADF-7E07-4B90-A117-A6E1F5E169F8}"/>
                  </a:ext>
                </a:extLst>
              </p:cNvPr>
              <p:cNvSpPr txBox="1"/>
              <p:nvPr/>
            </p:nvSpPr>
            <p:spPr>
              <a:xfrm>
                <a:off x="2689916" y="5893191"/>
                <a:ext cx="559769" cy="72840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740EADF-7E07-4B90-A117-A6E1F5E16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916" y="5893191"/>
                <a:ext cx="559769" cy="7284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A3864840-D045-4CF3-8DAF-448567F411FE}"/>
              </a:ext>
            </a:extLst>
          </p:cNvPr>
          <p:cNvSpPr txBox="1"/>
          <p:nvPr/>
        </p:nvSpPr>
        <p:spPr>
          <a:xfrm>
            <a:off x="5625306" y="1608824"/>
            <a:ext cx="671979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15%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B23D5BE-C661-4A5A-BC18-CC6A7E8F139B}"/>
                  </a:ext>
                </a:extLst>
              </p:cNvPr>
              <p:cNvSpPr txBox="1"/>
              <p:nvPr/>
            </p:nvSpPr>
            <p:spPr>
              <a:xfrm>
                <a:off x="5847666" y="2486647"/>
                <a:ext cx="559769" cy="72840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B23D5BE-C661-4A5A-BC18-CC6A7E8F1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666" y="2486647"/>
                <a:ext cx="559769" cy="7284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25F669EE-6A89-4C61-8DB6-D6AB2A648A07}"/>
              </a:ext>
            </a:extLst>
          </p:cNvPr>
          <p:cNvSpPr txBox="1"/>
          <p:nvPr/>
        </p:nvSpPr>
        <p:spPr>
          <a:xfrm>
            <a:off x="5478379" y="3414349"/>
            <a:ext cx="683200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0,34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E16D3A9-6BF9-4985-9883-3B64DB1BBCA9}"/>
                  </a:ext>
                </a:extLst>
              </p:cNvPr>
              <p:cNvSpPr txBox="1"/>
              <p:nvPr/>
            </p:nvSpPr>
            <p:spPr>
              <a:xfrm>
                <a:off x="5534234" y="4292174"/>
                <a:ext cx="870751" cy="72834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E16D3A9-6BF9-4985-9883-3B64DB1BB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234" y="4292174"/>
                <a:ext cx="870751" cy="7283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D39727A8-0D5F-416E-BAAF-739682069C19}"/>
              </a:ext>
            </a:extLst>
          </p:cNvPr>
          <p:cNvSpPr txBox="1"/>
          <p:nvPr/>
        </p:nvSpPr>
        <p:spPr>
          <a:xfrm>
            <a:off x="5590040" y="5294689"/>
            <a:ext cx="742511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5,5%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D75C030-0C34-4899-8691-34C1EA06E48E}"/>
              </a:ext>
            </a:extLst>
          </p:cNvPr>
          <p:cNvSpPr txBox="1"/>
          <p:nvPr/>
        </p:nvSpPr>
        <p:spPr>
          <a:xfrm>
            <a:off x="5057273" y="6226837"/>
            <a:ext cx="1037463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0,333…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C6BA87-B84B-4CC6-B085-8264FAF4F9D5}"/>
              </a:ext>
            </a:extLst>
          </p:cNvPr>
          <p:cNvSpPr/>
          <p:nvPr/>
        </p:nvSpPr>
        <p:spPr>
          <a:xfrm>
            <a:off x="7879081" y="1803468"/>
            <a:ext cx="649778" cy="58228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8CF26F3-49E6-4525-993E-18D4DBAA57B6}"/>
              </a:ext>
            </a:extLst>
          </p:cNvPr>
          <p:cNvSpPr/>
          <p:nvPr/>
        </p:nvSpPr>
        <p:spPr>
          <a:xfrm>
            <a:off x="8951422" y="1728653"/>
            <a:ext cx="649778" cy="58228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CB37F09-D303-4345-A0E4-75FF5A9FDBC6}"/>
              </a:ext>
            </a:extLst>
          </p:cNvPr>
          <p:cNvSpPr/>
          <p:nvPr/>
        </p:nvSpPr>
        <p:spPr>
          <a:xfrm>
            <a:off x="8951422" y="2582890"/>
            <a:ext cx="649778" cy="63216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3747955-A69C-43E6-8DA7-2E12ED5115F6}"/>
              </a:ext>
            </a:extLst>
          </p:cNvPr>
          <p:cNvSpPr/>
          <p:nvPr/>
        </p:nvSpPr>
        <p:spPr>
          <a:xfrm>
            <a:off x="6989618" y="2582890"/>
            <a:ext cx="649778" cy="63216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4D81BC4-9E77-4FFA-AE0A-C10874C8E390}"/>
              </a:ext>
            </a:extLst>
          </p:cNvPr>
          <p:cNvSpPr/>
          <p:nvPr/>
        </p:nvSpPr>
        <p:spPr>
          <a:xfrm>
            <a:off x="6898180" y="3449388"/>
            <a:ext cx="649778" cy="58228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2653BA9-EEF8-4FBC-8A96-EE1F58DC310D}"/>
              </a:ext>
            </a:extLst>
          </p:cNvPr>
          <p:cNvSpPr/>
          <p:nvPr/>
        </p:nvSpPr>
        <p:spPr>
          <a:xfrm>
            <a:off x="7887394" y="3449388"/>
            <a:ext cx="749530" cy="58228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2236AAF-4EF8-4FEC-8DFE-C9F8A7757207}"/>
              </a:ext>
            </a:extLst>
          </p:cNvPr>
          <p:cNvSpPr/>
          <p:nvPr/>
        </p:nvSpPr>
        <p:spPr>
          <a:xfrm>
            <a:off x="6889867" y="4305599"/>
            <a:ext cx="749530" cy="61553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644D75D-EC6B-4789-B153-4DDA8E3A8EED}"/>
              </a:ext>
            </a:extLst>
          </p:cNvPr>
          <p:cNvSpPr/>
          <p:nvPr/>
        </p:nvSpPr>
        <p:spPr>
          <a:xfrm>
            <a:off x="8868296" y="4305599"/>
            <a:ext cx="749530" cy="61553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908FAC9-C633-4710-8961-D4FD038B7387}"/>
              </a:ext>
            </a:extLst>
          </p:cNvPr>
          <p:cNvSpPr/>
          <p:nvPr/>
        </p:nvSpPr>
        <p:spPr>
          <a:xfrm>
            <a:off x="8835045" y="5219999"/>
            <a:ext cx="749530" cy="61553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84BB2C7-0B9C-465B-B826-B6ABB412C0D5}"/>
              </a:ext>
            </a:extLst>
          </p:cNvPr>
          <p:cNvSpPr/>
          <p:nvPr/>
        </p:nvSpPr>
        <p:spPr>
          <a:xfrm>
            <a:off x="7845830" y="5219999"/>
            <a:ext cx="749530" cy="61553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F6DAC41-F362-4717-8183-96142074A470}"/>
              </a:ext>
            </a:extLst>
          </p:cNvPr>
          <p:cNvSpPr/>
          <p:nvPr/>
        </p:nvSpPr>
        <p:spPr>
          <a:xfrm>
            <a:off x="7862456" y="5976458"/>
            <a:ext cx="749530" cy="61553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4B3DE14-DA26-4A24-A246-B8BA4103EF2E}"/>
              </a:ext>
            </a:extLst>
          </p:cNvPr>
          <p:cNvSpPr/>
          <p:nvPr/>
        </p:nvSpPr>
        <p:spPr>
          <a:xfrm>
            <a:off x="8884921" y="5976458"/>
            <a:ext cx="749530" cy="61553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5BE84D46-4B57-F9A8-FD1B-8BA71ED882FA}"/>
              </a:ext>
            </a:extLst>
          </p:cNvPr>
          <p:cNvSpPr/>
          <p:nvPr/>
        </p:nvSpPr>
        <p:spPr>
          <a:xfrm>
            <a:off x="139504" y="518160"/>
            <a:ext cx="3020256" cy="62179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72B8D569-072E-2DB1-0D8C-42916159B6E6}"/>
              </a:ext>
            </a:extLst>
          </p:cNvPr>
          <p:cNvSpPr/>
          <p:nvPr/>
        </p:nvSpPr>
        <p:spPr>
          <a:xfrm>
            <a:off x="3456744" y="518160"/>
            <a:ext cx="3020256" cy="62179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54E5C1F0-048E-3E3B-DA85-082D42407FDA}"/>
              </a:ext>
            </a:extLst>
          </p:cNvPr>
          <p:cNvSpPr/>
          <p:nvPr/>
        </p:nvSpPr>
        <p:spPr>
          <a:xfrm>
            <a:off x="6773984" y="518160"/>
            <a:ext cx="3020256" cy="62179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AC6F02B-985C-0DD4-4880-97EA6989D260}"/>
              </a:ext>
            </a:extLst>
          </p:cNvPr>
          <p:cNvSpPr txBox="1"/>
          <p:nvPr/>
        </p:nvSpPr>
        <p:spPr>
          <a:xfrm>
            <a:off x="831749" y="753986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 ... к</a:t>
            </a:r>
            <a:r>
              <a:rPr lang="ru-RU" sz="2000" dirty="0"/>
              <a:t>өрсөтүңүз.</a:t>
            </a:r>
            <a:endParaRPr lang="en-GB" sz="14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02920BF-E338-AC68-D679-19B4C67B4844}"/>
              </a:ext>
            </a:extLst>
          </p:cNvPr>
          <p:cNvSpPr txBox="1"/>
          <p:nvPr/>
        </p:nvSpPr>
        <p:spPr>
          <a:xfrm>
            <a:off x="262553" y="127057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0962AE7-E6E8-AF23-40C4-6DBBC3CB4962}"/>
              </a:ext>
            </a:extLst>
          </p:cNvPr>
          <p:cNvSpPr txBox="1"/>
          <p:nvPr/>
        </p:nvSpPr>
        <p:spPr>
          <a:xfrm>
            <a:off x="512516" y="1249350"/>
            <a:ext cx="2512996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2000" dirty="0"/>
              <a:t>42% ондук сан </a:t>
            </a:r>
            <a:r>
              <a:rPr lang="ky-KG" sz="2000" dirty="0"/>
              <a:t>түрүндө</a:t>
            </a:r>
            <a:endParaRPr lang="en-US" sz="2000" dirty="0"/>
          </a:p>
          <a:p>
            <a:r>
              <a:rPr lang="ru-RU" sz="2000" dirty="0"/>
              <a:t> ... </a:t>
            </a:r>
            <a:endParaRPr lang="en-GB" sz="14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3718398-EB64-C36E-8735-32759744C362}"/>
              </a:ext>
            </a:extLst>
          </p:cNvPr>
          <p:cNvSpPr txBox="1"/>
          <p:nvPr/>
        </p:nvSpPr>
        <p:spPr>
          <a:xfrm>
            <a:off x="262553" y="218996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8C6AB16-664B-C0FD-364B-A95A8A05816A}"/>
              </a:ext>
            </a:extLst>
          </p:cNvPr>
          <p:cNvSpPr txBox="1"/>
          <p:nvPr/>
        </p:nvSpPr>
        <p:spPr>
          <a:xfrm>
            <a:off x="1238119" y="2189962"/>
            <a:ext cx="190436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8222D2B-4B00-37EE-5BC3-7812183A1F14}"/>
              </a:ext>
            </a:extLst>
          </p:cNvPr>
          <p:cNvSpPr txBox="1"/>
          <p:nvPr/>
        </p:nvSpPr>
        <p:spPr>
          <a:xfrm>
            <a:off x="262553" y="310935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61D0C356-421C-2619-8129-8C45F4537212}"/>
                  </a:ext>
                </a:extLst>
              </p:cNvPr>
              <p:cNvSpPr txBox="1"/>
              <p:nvPr/>
            </p:nvSpPr>
            <p:spPr>
              <a:xfrm>
                <a:off x="653289" y="2044121"/>
                <a:ext cx="485710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61D0C356-421C-2619-8129-8C45F4537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89" y="2044121"/>
                <a:ext cx="485710" cy="57823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TextBox 143">
            <a:extLst>
              <a:ext uri="{FF2B5EF4-FFF2-40B4-BE49-F238E27FC236}">
                <a16:creationId xmlns:a16="http://schemas.microsoft.com/office/drawing/2014/main" id="{654BC0D6-DCDD-A0A9-A432-C183FF99594C}"/>
              </a:ext>
            </a:extLst>
          </p:cNvPr>
          <p:cNvSpPr txBox="1"/>
          <p:nvPr/>
        </p:nvSpPr>
        <p:spPr>
          <a:xfrm>
            <a:off x="650640" y="3109350"/>
            <a:ext cx="228588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0,8 </a:t>
            </a:r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A7942EF-90C3-54D1-E978-FBE69D6F09D2}"/>
              </a:ext>
            </a:extLst>
          </p:cNvPr>
          <p:cNvSpPr txBox="1"/>
          <p:nvPr/>
        </p:nvSpPr>
        <p:spPr>
          <a:xfrm>
            <a:off x="262553" y="402873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FAE07B73-4A8F-336C-A46E-B9D7088AA1EA}"/>
                  </a:ext>
                </a:extLst>
              </p:cNvPr>
              <p:cNvSpPr txBox="1"/>
              <p:nvPr/>
            </p:nvSpPr>
            <p:spPr>
              <a:xfrm>
                <a:off x="724622" y="3894535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FAE07B73-4A8F-336C-A46E-B9D7088AA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22" y="3894535"/>
                <a:ext cx="343043" cy="57823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TextBox 146">
            <a:extLst>
              <a:ext uri="{FF2B5EF4-FFF2-40B4-BE49-F238E27FC236}">
                <a16:creationId xmlns:a16="http://schemas.microsoft.com/office/drawing/2014/main" id="{DC1FD6AC-0443-15AA-C1BA-D13FB16BA00B}"/>
              </a:ext>
            </a:extLst>
          </p:cNvPr>
          <p:cNvSpPr txBox="1"/>
          <p:nvPr/>
        </p:nvSpPr>
        <p:spPr>
          <a:xfrm>
            <a:off x="1219210" y="4028738"/>
            <a:ext cx="190436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0BF23E1-ECBD-F2C2-3194-3825E6166431}"/>
              </a:ext>
            </a:extLst>
          </p:cNvPr>
          <p:cNvSpPr txBox="1"/>
          <p:nvPr/>
        </p:nvSpPr>
        <p:spPr>
          <a:xfrm>
            <a:off x="262553" y="494812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B350C40A-9F85-9E92-8BD3-2AFD45D45915}"/>
              </a:ext>
            </a:extLst>
          </p:cNvPr>
          <p:cNvSpPr txBox="1"/>
          <p:nvPr/>
        </p:nvSpPr>
        <p:spPr>
          <a:xfrm>
            <a:off x="537106" y="4937517"/>
            <a:ext cx="246381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20% </a:t>
            </a:r>
            <a:r>
              <a:rPr lang="ky-KG" sz="2000" dirty="0"/>
              <a:t>бөлчөк түрүндө ...</a:t>
            </a:r>
            <a:endParaRPr lang="en-GB" sz="14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7AFEA08-27AD-EC46-4D03-9E8BAF3E4FED}"/>
              </a:ext>
            </a:extLst>
          </p:cNvPr>
          <p:cNvSpPr txBox="1"/>
          <p:nvPr/>
        </p:nvSpPr>
        <p:spPr>
          <a:xfrm>
            <a:off x="262553" y="586751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40B3FC1-2278-1197-CD32-5151214CFD65}"/>
              </a:ext>
            </a:extLst>
          </p:cNvPr>
          <p:cNvSpPr txBox="1"/>
          <p:nvPr/>
        </p:nvSpPr>
        <p:spPr>
          <a:xfrm>
            <a:off x="512516" y="5876597"/>
            <a:ext cx="228908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0,06 </a:t>
            </a:r>
            <a:r>
              <a:rPr lang="ky-KG" sz="2000" dirty="0"/>
              <a:t>бөлчөк түрүндө</a:t>
            </a:r>
            <a:endParaRPr lang="en-GB" sz="14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AB99271-BE17-A6E7-1C0B-CF4AE20CC4E9}"/>
              </a:ext>
            </a:extLst>
          </p:cNvPr>
          <p:cNvSpPr txBox="1"/>
          <p:nvPr/>
        </p:nvSpPr>
        <p:spPr>
          <a:xfrm>
            <a:off x="4160534" y="753986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 ... к</a:t>
            </a:r>
            <a:r>
              <a:rPr lang="ru-RU" sz="2000" dirty="0"/>
              <a:t>өрсөтүңүз.</a:t>
            </a:r>
            <a:endParaRPr lang="en-GB" sz="14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C193750-BE39-D2AA-9C0D-008CEA864931}"/>
              </a:ext>
            </a:extLst>
          </p:cNvPr>
          <p:cNvSpPr txBox="1"/>
          <p:nvPr/>
        </p:nvSpPr>
        <p:spPr>
          <a:xfrm>
            <a:off x="3571019" y="127057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C8D6E8B-A7ED-BD11-3134-292B8BB7AFF8}"/>
              </a:ext>
            </a:extLst>
          </p:cNvPr>
          <p:cNvSpPr txBox="1"/>
          <p:nvPr/>
        </p:nvSpPr>
        <p:spPr>
          <a:xfrm>
            <a:off x="4540997" y="1270574"/>
            <a:ext cx="190436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7FAF613-F6EE-0B83-5884-CADB85DD3447}"/>
              </a:ext>
            </a:extLst>
          </p:cNvPr>
          <p:cNvSpPr txBox="1"/>
          <p:nvPr/>
        </p:nvSpPr>
        <p:spPr>
          <a:xfrm>
            <a:off x="3571019" y="218996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24EC156-C0F9-C1C2-EBC8-AB5D8F246722}"/>
              </a:ext>
            </a:extLst>
          </p:cNvPr>
          <p:cNvSpPr txBox="1"/>
          <p:nvPr/>
        </p:nvSpPr>
        <p:spPr>
          <a:xfrm>
            <a:off x="3983741" y="2189962"/>
            <a:ext cx="252793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12% </a:t>
            </a:r>
            <a:r>
              <a:rPr lang="ky-KG" sz="2000" dirty="0"/>
              <a:t>бөлчөк түрүндө ...</a:t>
            </a:r>
            <a:endParaRPr lang="en-GB" sz="14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B82A7BE-F9E4-AE3F-5553-0CA8B244846B}"/>
              </a:ext>
            </a:extLst>
          </p:cNvPr>
          <p:cNvSpPr txBox="1"/>
          <p:nvPr/>
        </p:nvSpPr>
        <p:spPr>
          <a:xfrm>
            <a:off x="3571019" y="310935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5EF90D48-EBAE-B2AD-5CCA-7BD01123E6EA}"/>
              </a:ext>
            </a:extLst>
          </p:cNvPr>
          <p:cNvSpPr txBox="1"/>
          <p:nvPr/>
        </p:nvSpPr>
        <p:spPr>
          <a:xfrm>
            <a:off x="4407032" y="3044215"/>
            <a:ext cx="1132811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ондук сан </a:t>
            </a:r>
            <a:endParaRPr lang="en-US" sz="2000" dirty="0"/>
          </a:p>
          <a:p>
            <a:pPr algn="ctr"/>
            <a:r>
              <a:rPr lang="ky-KG" sz="2000" dirty="0"/>
              <a:t>түрүндө</a:t>
            </a:r>
            <a:endParaRPr lang="en-US" sz="2000" dirty="0"/>
          </a:p>
          <a:p>
            <a:pPr algn="ctr"/>
            <a:r>
              <a:rPr lang="ru-RU" sz="2000" dirty="0"/>
              <a:t> ...</a:t>
            </a:r>
            <a:endParaRPr lang="en-GB" sz="14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020B2F8-C74F-0D2A-F8AA-1A95CB6B814F}"/>
              </a:ext>
            </a:extLst>
          </p:cNvPr>
          <p:cNvSpPr txBox="1"/>
          <p:nvPr/>
        </p:nvSpPr>
        <p:spPr>
          <a:xfrm>
            <a:off x="3571019" y="402873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ACB4D105-CCD6-F97C-4EF8-D6216769C448}"/>
              </a:ext>
            </a:extLst>
          </p:cNvPr>
          <p:cNvSpPr txBox="1"/>
          <p:nvPr/>
        </p:nvSpPr>
        <p:spPr>
          <a:xfrm>
            <a:off x="3779409" y="4047703"/>
            <a:ext cx="266900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0,009 </a:t>
            </a:r>
            <a:r>
              <a:rPr lang="ky-KG" sz="2000" dirty="0"/>
              <a:t>бөлчөк түрүндө ...</a:t>
            </a:r>
            <a:endParaRPr lang="en-GB" sz="14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82AFAB3-5BE2-F2EB-1645-3FE1E7B19DA1}"/>
              </a:ext>
            </a:extLst>
          </p:cNvPr>
          <p:cNvSpPr txBox="1"/>
          <p:nvPr/>
        </p:nvSpPr>
        <p:spPr>
          <a:xfrm>
            <a:off x="3571019" y="494812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8D0A46D-27AD-424E-DA17-6F30F221F262}"/>
              </a:ext>
            </a:extLst>
          </p:cNvPr>
          <p:cNvSpPr txBox="1"/>
          <p:nvPr/>
        </p:nvSpPr>
        <p:spPr>
          <a:xfrm>
            <a:off x="4071906" y="4948126"/>
            <a:ext cx="2369238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0,055 </a:t>
            </a:r>
            <a:r>
              <a:rPr lang="ky-KG" sz="2000" dirty="0"/>
              <a:t> пайыз түрүндө</a:t>
            </a:r>
            <a:r>
              <a:rPr lang="en-US" sz="2000" dirty="0"/>
              <a:t> </a:t>
            </a:r>
          </a:p>
          <a:p>
            <a:pPr algn="ctr"/>
            <a:r>
              <a:rPr lang="en-US" sz="2000" dirty="0"/>
              <a:t>…</a:t>
            </a:r>
            <a:endParaRPr lang="en-GB" sz="1400" dirty="0"/>
          </a:p>
          <a:p>
            <a:pPr algn="ctr"/>
            <a:endParaRPr lang="en-GB" sz="14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8D2B12D-109E-8EFB-DD3A-E63090CF5020}"/>
              </a:ext>
            </a:extLst>
          </p:cNvPr>
          <p:cNvSpPr txBox="1"/>
          <p:nvPr/>
        </p:nvSpPr>
        <p:spPr>
          <a:xfrm>
            <a:off x="3571019" y="586751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1E2A6B7C-592D-9768-2A7F-C5353ED318EE}"/>
              </a:ext>
            </a:extLst>
          </p:cNvPr>
          <p:cNvSpPr txBox="1"/>
          <p:nvPr/>
        </p:nvSpPr>
        <p:spPr>
          <a:xfrm>
            <a:off x="4396488" y="5867512"/>
            <a:ext cx="239062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2000" dirty="0"/>
              <a:t>ондук сан</a:t>
            </a:r>
            <a:r>
              <a:rPr lang="en-US" sz="2000" dirty="0"/>
              <a:t> </a:t>
            </a:r>
            <a:r>
              <a:rPr lang="ky-KG" sz="2000" dirty="0"/>
              <a:t>түрүндө</a:t>
            </a:r>
            <a:endParaRPr lang="en-US" sz="2000" dirty="0"/>
          </a:p>
          <a:p>
            <a:pPr algn="ctr"/>
            <a:r>
              <a:rPr lang="ru-RU" sz="2000" dirty="0"/>
              <a:t> </a:t>
            </a:r>
            <a:endParaRPr lang="en-GB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19753FB7-E8CD-CE29-5B51-A01EA2C0C2A7}"/>
                  </a:ext>
                </a:extLst>
              </p:cNvPr>
              <p:cNvSpPr txBox="1"/>
              <p:nvPr/>
            </p:nvSpPr>
            <p:spPr>
              <a:xfrm>
                <a:off x="4033088" y="1162972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19753FB7-E8CD-CE29-5B51-A01EA2C0C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088" y="1162972"/>
                <a:ext cx="343043" cy="578235"/>
              </a:xfrm>
              <a:prstGeom prst="rect">
                <a:avLst/>
              </a:prstGeom>
              <a:blipFill>
                <a:blip r:embed="rId14"/>
                <a:stretch>
                  <a:fillRect l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47E1CCD2-FF56-6C4E-C8DA-354F9A31CD72}"/>
                  </a:ext>
                </a:extLst>
              </p:cNvPr>
              <p:cNvSpPr txBox="1"/>
              <p:nvPr/>
            </p:nvSpPr>
            <p:spPr>
              <a:xfrm>
                <a:off x="4033088" y="2996761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47E1CCD2-FF56-6C4E-C8DA-354F9A31C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088" y="2996761"/>
                <a:ext cx="343043" cy="578235"/>
              </a:xfrm>
              <a:prstGeom prst="rect">
                <a:avLst/>
              </a:prstGeom>
              <a:blipFill>
                <a:blip r:embed="rId15"/>
                <a:stretch>
                  <a:fillRect l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B9AF03AB-58F6-CF9D-592B-DCC813F37EEC}"/>
                  </a:ext>
                </a:extLst>
              </p:cNvPr>
              <p:cNvSpPr txBox="1"/>
              <p:nvPr/>
            </p:nvSpPr>
            <p:spPr>
              <a:xfrm>
                <a:off x="4129361" y="5706710"/>
                <a:ext cx="200375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B9AF03AB-58F6-CF9D-592B-DCC813F37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361" y="5706710"/>
                <a:ext cx="200375" cy="57823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TextBox 167">
            <a:extLst>
              <a:ext uri="{FF2B5EF4-FFF2-40B4-BE49-F238E27FC236}">
                <a16:creationId xmlns:a16="http://schemas.microsoft.com/office/drawing/2014/main" id="{651AF675-6CCE-F8BB-986C-8DD0CE83C795}"/>
              </a:ext>
            </a:extLst>
          </p:cNvPr>
          <p:cNvSpPr txBox="1"/>
          <p:nvPr/>
        </p:nvSpPr>
        <p:spPr>
          <a:xfrm>
            <a:off x="7107705" y="753986"/>
            <a:ext cx="245759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Бул таблицаны толтур.</a:t>
            </a:r>
            <a:endParaRPr lang="en-GB" sz="14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549C4BC-EB2F-807E-304F-0BBC2674F6CC}"/>
              </a:ext>
            </a:extLst>
          </p:cNvPr>
          <p:cNvSpPr txBox="1"/>
          <p:nvPr/>
        </p:nvSpPr>
        <p:spPr>
          <a:xfrm>
            <a:off x="763065" y="-107851"/>
            <a:ext cx="1783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4"/>
                </a:solidFill>
              </a:rPr>
              <a:t>ЖЕҢИЛ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27EA8EDA-4C89-2DA1-720B-A10BCEDDA87A}"/>
              </a:ext>
            </a:extLst>
          </p:cNvPr>
          <p:cNvSpPr txBox="1"/>
          <p:nvPr/>
        </p:nvSpPr>
        <p:spPr>
          <a:xfrm>
            <a:off x="4279485" y="-107851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ОРТО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A27D4B2B-E359-A50A-31C6-BAD675B3D3BD}"/>
              </a:ext>
            </a:extLst>
          </p:cNvPr>
          <p:cNvSpPr txBox="1"/>
          <p:nvPr/>
        </p:nvSpPr>
        <p:spPr>
          <a:xfrm>
            <a:off x="7604576" y="-92082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600" dirty="0">
                <a:solidFill>
                  <a:srgbClr val="2E75B6"/>
                </a:solidFill>
              </a:rPr>
              <a:t>ООР</a:t>
            </a:r>
            <a:endParaRPr lang="en-US" dirty="0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68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9" grpId="0" animBg="1"/>
      <p:bldP spid="39" grpId="0" animBg="1"/>
      <p:bldP spid="44" grpId="0" animBg="1"/>
      <p:bldP spid="52" grpId="0" animBg="1"/>
      <p:bldP spid="57" grpId="0" animBg="1"/>
      <p:bldP spid="63" grpId="0" animBg="1"/>
      <p:bldP spid="66" grpId="0" animBg="1"/>
      <p:bldP spid="70" grpId="0" animBg="1"/>
      <p:bldP spid="74" grpId="0" animBg="1"/>
      <p:bldP spid="77" grpId="0" animBg="1"/>
      <p:bldP spid="80" grpId="0" animBg="1"/>
      <p:bldP spid="3" grpId="0" animBg="1"/>
      <p:bldP spid="59" grpId="0" animBg="1"/>
      <p:bldP spid="68" grpId="0" animBg="1"/>
      <p:bldP spid="72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8D340E-995A-BE78-454E-7091C9E07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" y="0"/>
            <a:ext cx="4907643" cy="33581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6A1FC9-B6F6-2DA7-2902-AD08E5DDF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907643" cy="33581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AE7F21-254E-8F4E-6889-7FE427141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907643" cy="33581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6DBDE4-CA24-DCC1-9F9B-9234FCE04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171" y="3429000"/>
            <a:ext cx="4907643" cy="335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09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10609</TotalTime>
  <Words>310</Words>
  <Application>Microsoft Office PowerPoint</Application>
  <PresentationFormat>A4 Paper (210x297 mm)</PresentationFormat>
  <Paragraphs>140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 Light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526</cp:revision>
  <cp:lastPrinted>2017-12-31T22:38:51Z</cp:lastPrinted>
  <dcterms:created xsi:type="dcterms:W3CDTF">2017-01-17T16:57:04Z</dcterms:created>
  <dcterms:modified xsi:type="dcterms:W3CDTF">2024-09-02T03:13:48Z</dcterms:modified>
</cp:coreProperties>
</file>