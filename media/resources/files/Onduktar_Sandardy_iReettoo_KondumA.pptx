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62" r:id="rId2"/>
    <p:sldId id="941" r:id="rId3"/>
    <p:sldId id="964" r:id="rId4"/>
    <p:sldId id="966" r:id="rId5"/>
    <p:sldId id="963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DFDB891-6043-4F18-9727-3CD210989408}">
          <p14:sldIdLst>
            <p14:sldId id="962"/>
          </p14:sldIdLst>
        </p14:section>
        <p14:section name="Көрсөтүү үчүн" id="{059544AC-2C27-45B1-9F95-F87DF8854DD6}">
          <p14:sldIdLst>
            <p14:sldId id="941"/>
          </p14:sldIdLst>
        </p14:section>
        <p14:section name="Жооптор" id="{1FEDB314-42DC-4694-9B04-D4A4AAE625F7}">
          <p14:sldIdLst>
            <p14:sldId id="964"/>
          </p14:sldIdLst>
        </p14:section>
        <p14:section name="Таркатма иш кагаздар" id="{A78D9305-6AAE-4715-A210-52F6908F30F7}">
          <p14:sldIdLst>
            <p14:sldId id="966"/>
          </p14:sldIdLst>
        </p14:section>
        <p14:section name="Кайтарым байланыш" id="{36D62B54-5704-45DC-8C0E-2607280430C8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95554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Көндүм А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95053" y="-38569"/>
            <a:ext cx="1644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  <a:endParaRPr lang="en-GB" sz="1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8406626"/>
                  </p:ext>
                </p:extLst>
              </p:nvPr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8406626"/>
                  </p:ext>
                </p:extLst>
              </p:nvPr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942" t="-1471" r="-202913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71" r="-100962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913" t="-1471" r="-1942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9679A5-DFB0-4D6F-AAF5-0804719CDBD2}"/>
              </a:ext>
            </a:extLst>
          </p:cNvPr>
          <p:cNvSpPr txBox="1"/>
          <p:nvPr/>
        </p:nvSpPr>
        <p:spPr>
          <a:xfrm>
            <a:off x="-114636" y="147867"/>
            <a:ext cx="506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орундардын мааниси таблицасында кайсы эки сан берилген?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9B3AD-0881-47CF-9575-A230464DFE8F}"/>
              </a:ext>
            </a:extLst>
          </p:cNvPr>
          <p:cNvSpPr txBox="1"/>
          <p:nvPr/>
        </p:nvSpPr>
        <p:spPr>
          <a:xfrm>
            <a:off x="2662312" y="393909"/>
            <a:ext cx="214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Эң чоң санды табуу үчүн</a:t>
            </a:r>
          </a:p>
          <a:p>
            <a:pPr algn="ctr"/>
            <a:r>
              <a:rPr lang="ru-RU" sz="1200" dirty="0"/>
              <a:t> таблицаны кантип колдонсок</a:t>
            </a:r>
          </a:p>
          <a:p>
            <a:pPr algn="ctr"/>
            <a:r>
              <a:rPr lang="ru-RU" sz="1200" dirty="0"/>
              <a:t> болот?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218E2-8BA7-4424-8F5A-31155EA2B7DA}"/>
              </a:ext>
            </a:extLst>
          </p:cNvPr>
          <p:cNvSpPr txBox="1"/>
          <p:nvPr/>
        </p:nvSpPr>
        <p:spPr>
          <a:xfrm>
            <a:off x="2778611" y="94814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EBEAAA-ABE0-44BE-B4B1-C414F6869085}"/>
              </a:ext>
            </a:extLst>
          </p:cNvPr>
          <p:cNvSpPr/>
          <p:nvPr/>
        </p:nvSpPr>
        <p:spPr>
          <a:xfrm>
            <a:off x="680973" y="9281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886B73-2B42-47EF-84B3-7FC5D62C3963}"/>
              </a:ext>
            </a:extLst>
          </p:cNvPr>
          <p:cNvSpPr/>
          <p:nvPr/>
        </p:nvSpPr>
        <p:spPr>
          <a:xfrm>
            <a:off x="680973" y="11872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6499690"/>
                  </p:ext>
                </p:extLst>
              </p:nvPr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6499690"/>
                  </p:ext>
                </p:extLst>
              </p:nvPr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6C9C5C3-E8F3-4E16-8B79-38BC7AEEBF26}"/>
              </a:ext>
            </a:extLst>
          </p:cNvPr>
          <p:cNvSpPr txBox="1"/>
          <p:nvPr/>
        </p:nvSpPr>
        <p:spPr>
          <a:xfrm>
            <a:off x="3064278" y="1786303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3.52   </a:t>
            </a:r>
            <a:r>
              <a:rPr lang="en-GB" sz="1200" dirty="0"/>
              <a:t>&amp;</a:t>
            </a:r>
            <a:r>
              <a:rPr lang="en-GB" sz="1200" b="1" dirty="0"/>
              <a:t>   3.361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1B8AC-B187-4F92-A6ED-B99C1BF13942}"/>
              </a:ext>
            </a:extLst>
          </p:cNvPr>
          <p:cNvSpPr txBox="1"/>
          <p:nvPr/>
        </p:nvSpPr>
        <p:spPr>
          <a:xfrm>
            <a:off x="273968" y="1326465"/>
            <a:ext cx="447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сандардын ар бир жубу үчүн орундардын мааниси </a:t>
            </a:r>
          </a:p>
          <a:p>
            <a:pPr algn="ctr"/>
            <a:r>
              <a:rPr lang="ky-KG" sz="1200" dirty="0"/>
              <a:t>таблицасын толтур жана аны эң чоң санды табуу үчүн колдон.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26FCC-67C4-4C71-934D-979598D79DBD}"/>
              </a:ext>
            </a:extLst>
          </p:cNvPr>
          <p:cNvSpPr txBox="1"/>
          <p:nvPr/>
        </p:nvSpPr>
        <p:spPr>
          <a:xfrm>
            <a:off x="2589918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795230"/>
                  </p:ext>
                </p:extLst>
              </p:nvPr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795230"/>
                  </p:ext>
                </p:extLst>
              </p:nvPr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47A18D4-E8EF-4D51-9A7C-6CEE72CA749E}"/>
              </a:ext>
            </a:extLst>
          </p:cNvPr>
          <p:cNvSpPr txBox="1"/>
          <p:nvPr/>
        </p:nvSpPr>
        <p:spPr>
          <a:xfrm>
            <a:off x="428343" y="1786303"/>
            <a:ext cx="1217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5.493   </a:t>
            </a:r>
            <a:r>
              <a:rPr lang="en-GB" sz="1200" dirty="0"/>
              <a:t>&amp;</a:t>
            </a:r>
            <a:r>
              <a:rPr lang="en-GB" sz="1200" b="1" dirty="0"/>
              <a:t>   5.506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861C95-ABDD-498E-A44F-96DC9548013A}"/>
              </a:ext>
            </a:extLst>
          </p:cNvPr>
          <p:cNvSpPr txBox="1"/>
          <p:nvPr/>
        </p:nvSpPr>
        <p:spPr>
          <a:xfrm>
            <a:off x="10840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27" name="Table 3">
            <a:extLst>
              <a:ext uri="{FF2B5EF4-FFF2-40B4-BE49-F238E27FC236}">
                <a16:creationId xmlns:a16="http://schemas.microsoft.com/office/drawing/2014/main" id="{9913A40E-B143-458F-94D1-6E299495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70160"/>
              </p:ext>
            </p:extLst>
          </p:nvPr>
        </p:nvGraphicFramePr>
        <p:xfrm>
          <a:off x="9378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833717A-41ED-4BFA-9F89-9078BC1C7577}"/>
              </a:ext>
            </a:extLst>
          </p:cNvPr>
          <p:cNvSpPr txBox="1"/>
          <p:nvPr/>
        </p:nvSpPr>
        <p:spPr>
          <a:xfrm>
            <a:off x="540299" y="3251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4.405   </a:t>
            </a:r>
            <a:r>
              <a:rPr lang="en-GB" sz="1200" dirty="0"/>
              <a:t>&amp;</a:t>
            </a:r>
            <a:r>
              <a:rPr lang="en-GB" sz="1200" b="1" dirty="0"/>
              <a:t>   4.45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8D23F-0978-41CB-9B8E-64DB6747E8F6}"/>
              </a:ext>
            </a:extLst>
          </p:cNvPr>
          <p:cNvSpPr txBox="1"/>
          <p:nvPr/>
        </p:nvSpPr>
        <p:spPr>
          <a:xfrm>
            <a:off x="13770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30" name="Table 3">
            <a:extLst>
              <a:ext uri="{FF2B5EF4-FFF2-40B4-BE49-F238E27FC236}">
                <a16:creationId xmlns:a16="http://schemas.microsoft.com/office/drawing/2014/main" id="{6051E522-0260-4BC2-BC52-1EDDDB8EF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54483"/>
              </p:ext>
            </p:extLst>
          </p:nvPr>
        </p:nvGraphicFramePr>
        <p:xfrm>
          <a:off x="267696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C822F2D-C7A5-41EB-89B4-09535F2C1FEA}"/>
              </a:ext>
            </a:extLst>
          </p:cNvPr>
          <p:cNvSpPr txBox="1"/>
          <p:nvPr/>
        </p:nvSpPr>
        <p:spPr>
          <a:xfrm>
            <a:off x="3123479" y="3251922"/>
            <a:ext cx="113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7.761   </a:t>
            </a:r>
            <a:r>
              <a:rPr lang="en-GB" sz="1200" dirty="0"/>
              <a:t>&amp;</a:t>
            </a:r>
            <a:r>
              <a:rPr lang="en-GB" sz="1200" b="1" dirty="0"/>
              <a:t>   7.76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900056-920D-47DB-BC48-06C1AFB90790}"/>
              </a:ext>
            </a:extLst>
          </p:cNvPr>
          <p:cNvSpPr txBox="1"/>
          <p:nvPr/>
        </p:nvSpPr>
        <p:spPr>
          <a:xfrm>
            <a:off x="2588158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37" name="Table 3">
            <a:extLst>
              <a:ext uri="{FF2B5EF4-FFF2-40B4-BE49-F238E27FC236}">
                <a16:creationId xmlns:a16="http://schemas.microsoft.com/office/drawing/2014/main" id="{56031DAC-70B5-48CA-9008-6D878382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152413"/>
              </p:ext>
            </p:extLst>
          </p:nvPr>
        </p:nvGraphicFramePr>
        <p:xfrm>
          <a:off x="93784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861007B-1AFB-4047-A599-B84F0CF071C4}"/>
              </a:ext>
            </a:extLst>
          </p:cNvPr>
          <p:cNvSpPr txBox="1"/>
          <p:nvPr/>
        </p:nvSpPr>
        <p:spPr>
          <a:xfrm>
            <a:off x="202065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8.204   </a:t>
            </a:r>
            <a:r>
              <a:rPr lang="en-GB" sz="1200" dirty="0"/>
              <a:t>&amp;</a:t>
            </a:r>
            <a:r>
              <a:rPr lang="en-GB" sz="1200" b="1" dirty="0"/>
              <a:t>   8.402   </a:t>
            </a:r>
            <a:r>
              <a:rPr lang="en-GB" sz="1200" dirty="0"/>
              <a:t>&amp;</a:t>
            </a:r>
            <a:r>
              <a:rPr lang="en-GB" sz="1200" b="1" dirty="0"/>
              <a:t>   8.39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9EE96-DFE5-4047-8CAB-749C40D2241D}"/>
              </a:ext>
            </a:extLst>
          </p:cNvPr>
          <p:cNvSpPr txBox="1"/>
          <p:nvPr/>
        </p:nvSpPr>
        <p:spPr>
          <a:xfrm>
            <a:off x="4978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C6E1710D-2F5F-4672-A1AF-2B46BBCDF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864559"/>
              </p:ext>
            </p:extLst>
          </p:nvPr>
        </p:nvGraphicFramePr>
        <p:xfrm>
          <a:off x="2678488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4E76A32-F78B-41DC-83CC-76E93AFD90E2}"/>
              </a:ext>
            </a:extLst>
          </p:cNvPr>
          <p:cNvSpPr txBox="1"/>
          <p:nvPr/>
        </p:nvSpPr>
        <p:spPr>
          <a:xfrm>
            <a:off x="2786769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0.76   </a:t>
            </a:r>
            <a:r>
              <a:rPr lang="en-GB" sz="1200" dirty="0"/>
              <a:t>&amp;</a:t>
            </a:r>
            <a:r>
              <a:rPr lang="en-GB" sz="1200" b="1" dirty="0"/>
              <a:t>   0.607   </a:t>
            </a:r>
            <a:r>
              <a:rPr lang="en-GB" sz="1200" dirty="0"/>
              <a:t>&amp;</a:t>
            </a:r>
            <a:r>
              <a:rPr lang="en-GB" sz="1200" b="1" dirty="0"/>
              <a:t>   0.706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9C6A17-30C5-487D-A8A6-5EC57854F75E}"/>
              </a:ext>
            </a:extLst>
          </p:cNvPr>
          <p:cNvSpPr txBox="1"/>
          <p:nvPr/>
        </p:nvSpPr>
        <p:spPr>
          <a:xfrm>
            <a:off x="2598475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4C68E5-43F6-4C96-9CE7-14053DCB31EB}"/>
              </a:ext>
            </a:extLst>
          </p:cNvPr>
          <p:cNvSpPr txBox="1"/>
          <p:nvPr/>
        </p:nvSpPr>
        <p:spPr>
          <a:xfrm>
            <a:off x="454481" y="5578366"/>
            <a:ext cx="3984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Сандардын ар бир топтомундагы эң чоң санды тегеректе.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AAD3B4-4DE7-4E28-BD71-F19A09E3EF74}"/>
              </a:ext>
            </a:extLst>
          </p:cNvPr>
          <p:cNvSpPr txBox="1"/>
          <p:nvPr/>
        </p:nvSpPr>
        <p:spPr>
          <a:xfrm>
            <a:off x="170274" y="6073372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в</a:t>
            </a:r>
            <a:r>
              <a:rPr lang="en-GB" sz="1200" dirty="0"/>
              <a:t>)  7.6, 6.76, 7.66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61A74A-5A63-4D79-90D2-1D2C0F601CFD}"/>
              </a:ext>
            </a:extLst>
          </p:cNvPr>
          <p:cNvSpPr txBox="1"/>
          <p:nvPr/>
        </p:nvSpPr>
        <p:spPr>
          <a:xfrm>
            <a:off x="170274" y="6329521"/>
            <a:ext cx="1976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д</a:t>
            </a:r>
            <a:r>
              <a:rPr lang="en-GB" sz="1200" dirty="0"/>
              <a:t>)  0.98, 0.809, 0.998, 0.898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7B986-046B-4E4F-A7FB-2C0E74F4B37C}"/>
              </a:ext>
            </a:extLst>
          </p:cNvPr>
          <p:cNvSpPr txBox="1"/>
          <p:nvPr/>
        </p:nvSpPr>
        <p:spPr>
          <a:xfrm>
            <a:off x="170274" y="6585671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ж</a:t>
            </a:r>
            <a:r>
              <a:rPr lang="en-GB" sz="1200" dirty="0"/>
              <a:t>)  1.202, 1.192, 1.2, 1.129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D808B3-58F8-46C0-ABE6-CB846CC4C189}"/>
              </a:ext>
            </a:extLst>
          </p:cNvPr>
          <p:cNvSpPr txBox="1"/>
          <p:nvPr/>
        </p:nvSpPr>
        <p:spPr>
          <a:xfrm>
            <a:off x="170274" y="5817223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а</a:t>
            </a:r>
            <a:r>
              <a:rPr lang="en-GB" sz="1200" dirty="0"/>
              <a:t>)  2.5, 5.12, 12.5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5F6646-8063-4370-AF97-52632E74C319}"/>
              </a:ext>
            </a:extLst>
          </p:cNvPr>
          <p:cNvSpPr txBox="1"/>
          <p:nvPr/>
        </p:nvSpPr>
        <p:spPr>
          <a:xfrm>
            <a:off x="2303874" y="6073372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г</a:t>
            </a:r>
            <a:r>
              <a:rPr lang="en-GB" sz="1200" dirty="0"/>
              <a:t>)  3.4, 4.03, 0.43, 4.3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649B5E-114E-4509-8B30-C022A932C95C}"/>
              </a:ext>
            </a:extLst>
          </p:cNvPr>
          <p:cNvSpPr txBox="1"/>
          <p:nvPr/>
        </p:nvSpPr>
        <p:spPr>
          <a:xfrm>
            <a:off x="2303874" y="6329521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е</a:t>
            </a:r>
            <a:r>
              <a:rPr lang="en-GB" sz="1200" dirty="0"/>
              <a:t>)  4.056, 4.605, 4.560, 4.650,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AE337E-BD0E-4A42-86D4-C2B31F4EE8A8}"/>
              </a:ext>
            </a:extLst>
          </p:cNvPr>
          <p:cNvSpPr txBox="1"/>
          <p:nvPr/>
        </p:nvSpPr>
        <p:spPr>
          <a:xfrm>
            <a:off x="2303874" y="6585671"/>
            <a:ext cx="2632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з</a:t>
            </a:r>
            <a:r>
              <a:rPr lang="en-GB" sz="1200" dirty="0"/>
              <a:t>)  12.546, 12.654, 12.56, 12.4, 12.564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042BCD-281F-4096-9A39-054E427E3633}"/>
              </a:ext>
            </a:extLst>
          </p:cNvPr>
          <p:cNvSpPr txBox="1"/>
          <p:nvPr/>
        </p:nvSpPr>
        <p:spPr>
          <a:xfrm>
            <a:off x="2303874" y="5817223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  5.25, 5.205, 2.5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2C9B75-1F65-4CC3-A664-39A66FE0EAB5}"/>
              </a:ext>
            </a:extLst>
          </p:cNvPr>
          <p:cNvSpPr/>
          <p:nvPr/>
        </p:nvSpPr>
        <p:spPr>
          <a:xfrm>
            <a:off x="57683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15203AE-F513-4364-AC71-43903D70AE60}"/>
              </a:ext>
            </a:extLst>
          </p:cNvPr>
          <p:cNvSpPr/>
          <p:nvPr/>
        </p:nvSpPr>
        <p:spPr>
          <a:xfrm>
            <a:off x="57683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657E08-CB1E-4B80-A6BA-EB6EDCA02BA5}"/>
              </a:ext>
            </a:extLst>
          </p:cNvPr>
          <p:cNvSpPr/>
          <p:nvPr/>
        </p:nvSpPr>
        <p:spPr>
          <a:xfrm>
            <a:off x="317017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7307077-1D54-462C-90EC-8EDEECDB6AB6}"/>
              </a:ext>
            </a:extLst>
          </p:cNvPr>
          <p:cNvSpPr/>
          <p:nvPr/>
        </p:nvSpPr>
        <p:spPr>
          <a:xfrm>
            <a:off x="317017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64508D-479F-494B-AB6F-9D5AA33DEBE4}"/>
              </a:ext>
            </a:extLst>
          </p:cNvPr>
          <p:cNvSpPr/>
          <p:nvPr/>
        </p:nvSpPr>
        <p:spPr>
          <a:xfrm>
            <a:off x="581913" y="35824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DDCD12B-EB12-4938-AF7C-4F4FE7D7DEC5}"/>
              </a:ext>
            </a:extLst>
          </p:cNvPr>
          <p:cNvSpPr/>
          <p:nvPr/>
        </p:nvSpPr>
        <p:spPr>
          <a:xfrm>
            <a:off x="581913" y="38415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86166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95053" y="-38569"/>
            <a:ext cx="1644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  <a:endParaRPr lang="en-GB" sz="1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942" t="-1471" r="-202913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71" r="-100962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913" t="-1471" r="-1942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9679A5-DFB0-4D6F-AAF5-0804719CDBD2}"/>
              </a:ext>
            </a:extLst>
          </p:cNvPr>
          <p:cNvSpPr txBox="1"/>
          <p:nvPr/>
        </p:nvSpPr>
        <p:spPr>
          <a:xfrm>
            <a:off x="-114636" y="147867"/>
            <a:ext cx="506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орундардын мааниси таблицасында кайсы эки сан берилген?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9B3AD-0881-47CF-9575-A230464DFE8F}"/>
              </a:ext>
            </a:extLst>
          </p:cNvPr>
          <p:cNvSpPr txBox="1"/>
          <p:nvPr/>
        </p:nvSpPr>
        <p:spPr>
          <a:xfrm>
            <a:off x="2662312" y="393909"/>
            <a:ext cx="214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Эң чоң санды табуу үчүн</a:t>
            </a:r>
          </a:p>
          <a:p>
            <a:pPr algn="ctr"/>
            <a:r>
              <a:rPr lang="ru-RU" sz="1200" dirty="0"/>
              <a:t> таблицаны кантип колдонсок</a:t>
            </a:r>
          </a:p>
          <a:p>
            <a:pPr algn="ctr"/>
            <a:r>
              <a:rPr lang="ru-RU" sz="1200" dirty="0"/>
              <a:t> болот?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218E2-8BA7-4424-8F5A-31155EA2B7DA}"/>
              </a:ext>
            </a:extLst>
          </p:cNvPr>
          <p:cNvSpPr txBox="1"/>
          <p:nvPr/>
        </p:nvSpPr>
        <p:spPr>
          <a:xfrm>
            <a:off x="2778611" y="94814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EBEAAA-ABE0-44BE-B4B1-C414F6869085}"/>
              </a:ext>
            </a:extLst>
          </p:cNvPr>
          <p:cNvSpPr/>
          <p:nvPr/>
        </p:nvSpPr>
        <p:spPr>
          <a:xfrm>
            <a:off x="680973" y="9281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886B73-2B42-47EF-84B3-7FC5D62C3963}"/>
              </a:ext>
            </a:extLst>
          </p:cNvPr>
          <p:cNvSpPr/>
          <p:nvPr/>
        </p:nvSpPr>
        <p:spPr>
          <a:xfrm>
            <a:off x="680973" y="11872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9126633"/>
                  </p:ext>
                </p:extLst>
              </p:nvPr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9126633"/>
                  </p:ext>
                </p:extLst>
              </p:nvPr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76" t="-1471" r="-201176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571" t="-1471" r="-103571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471" r="-2353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6C9C5C3-E8F3-4E16-8B79-38BC7AEEBF26}"/>
              </a:ext>
            </a:extLst>
          </p:cNvPr>
          <p:cNvSpPr txBox="1"/>
          <p:nvPr/>
        </p:nvSpPr>
        <p:spPr>
          <a:xfrm>
            <a:off x="3064278" y="1786303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3.52   </a:t>
            </a:r>
            <a:r>
              <a:rPr lang="en-GB" sz="1200" dirty="0"/>
              <a:t>&amp;</a:t>
            </a:r>
            <a:r>
              <a:rPr lang="en-GB" sz="1200" b="1" dirty="0"/>
              <a:t>   3.361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1B8AC-B187-4F92-A6ED-B99C1BF13942}"/>
              </a:ext>
            </a:extLst>
          </p:cNvPr>
          <p:cNvSpPr txBox="1"/>
          <p:nvPr/>
        </p:nvSpPr>
        <p:spPr>
          <a:xfrm>
            <a:off x="273968" y="1326465"/>
            <a:ext cx="447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сандардын ар бир жубу үчүн орундардын мааниси </a:t>
            </a:r>
          </a:p>
          <a:p>
            <a:pPr algn="ctr"/>
            <a:r>
              <a:rPr lang="ky-KG" sz="1200" dirty="0"/>
              <a:t>таблицасын толтур жана аны эң чоң санды табуу үчүн колдон.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26FCC-67C4-4C71-934D-979598D79DBD}"/>
              </a:ext>
            </a:extLst>
          </p:cNvPr>
          <p:cNvSpPr txBox="1"/>
          <p:nvPr/>
        </p:nvSpPr>
        <p:spPr>
          <a:xfrm>
            <a:off x="2589918" y="2895012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3.52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768177"/>
                  </p:ext>
                </p:extLst>
              </p:nvPr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768177"/>
                  </p:ext>
                </p:extLst>
              </p:nvPr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76" t="-1471" r="-201176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3571" t="-1471" r="-103571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471" r="-2353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47A18D4-E8EF-4D51-9A7C-6CEE72CA749E}"/>
              </a:ext>
            </a:extLst>
          </p:cNvPr>
          <p:cNvSpPr txBox="1"/>
          <p:nvPr/>
        </p:nvSpPr>
        <p:spPr>
          <a:xfrm>
            <a:off x="428343" y="1786303"/>
            <a:ext cx="1217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5.493   </a:t>
            </a:r>
            <a:r>
              <a:rPr lang="en-GB" sz="1200" dirty="0"/>
              <a:t>&amp;</a:t>
            </a:r>
            <a:r>
              <a:rPr lang="en-GB" sz="1200" b="1" dirty="0"/>
              <a:t>   5.506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861C95-ABDD-498E-A44F-96DC9548013A}"/>
              </a:ext>
            </a:extLst>
          </p:cNvPr>
          <p:cNvSpPr txBox="1"/>
          <p:nvPr/>
        </p:nvSpPr>
        <p:spPr>
          <a:xfrm>
            <a:off x="10840" y="2895012"/>
            <a:ext cx="1128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5.506</a:t>
            </a:r>
          </a:p>
        </p:txBody>
      </p:sp>
      <p:graphicFrame>
        <p:nvGraphicFramePr>
          <p:cNvPr id="27" name="Table 3">
            <a:extLst>
              <a:ext uri="{FF2B5EF4-FFF2-40B4-BE49-F238E27FC236}">
                <a16:creationId xmlns:a16="http://schemas.microsoft.com/office/drawing/2014/main" id="{9913A40E-B143-458F-94D1-6E299495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455578"/>
              </p:ext>
            </p:extLst>
          </p:nvPr>
        </p:nvGraphicFramePr>
        <p:xfrm>
          <a:off x="9378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833717A-41ED-4BFA-9F89-9078BC1C7577}"/>
              </a:ext>
            </a:extLst>
          </p:cNvPr>
          <p:cNvSpPr txBox="1"/>
          <p:nvPr/>
        </p:nvSpPr>
        <p:spPr>
          <a:xfrm>
            <a:off x="540299" y="3251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4.405   </a:t>
            </a:r>
            <a:r>
              <a:rPr lang="en-GB" sz="1200" dirty="0"/>
              <a:t>&amp;</a:t>
            </a:r>
            <a:r>
              <a:rPr lang="en-GB" sz="1200" b="1" dirty="0"/>
              <a:t>   4.45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8D23F-0978-41CB-9B8E-64DB6747E8F6}"/>
              </a:ext>
            </a:extLst>
          </p:cNvPr>
          <p:cNvSpPr txBox="1"/>
          <p:nvPr/>
        </p:nvSpPr>
        <p:spPr>
          <a:xfrm>
            <a:off x="13770" y="3933911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4.45</a:t>
            </a:r>
          </a:p>
        </p:txBody>
      </p:sp>
      <p:graphicFrame>
        <p:nvGraphicFramePr>
          <p:cNvPr id="30" name="Table 3">
            <a:extLst>
              <a:ext uri="{FF2B5EF4-FFF2-40B4-BE49-F238E27FC236}">
                <a16:creationId xmlns:a16="http://schemas.microsoft.com/office/drawing/2014/main" id="{6051E522-0260-4BC2-BC52-1EDDDB8EF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910691"/>
              </p:ext>
            </p:extLst>
          </p:nvPr>
        </p:nvGraphicFramePr>
        <p:xfrm>
          <a:off x="267696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C822F2D-C7A5-41EB-89B4-09535F2C1FEA}"/>
              </a:ext>
            </a:extLst>
          </p:cNvPr>
          <p:cNvSpPr txBox="1"/>
          <p:nvPr/>
        </p:nvSpPr>
        <p:spPr>
          <a:xfrm>
            <a:off x="3123479" y="3251922"/>
            <a:ext cx="113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7.761   </a:t>
            </a:r>
            <a:r>
              <a:rPr lang="en-GB" sz="1200" dirty="0"/>
              <a:t>&amp;</a:t>
            </a:r>
            <a:r>
              <a:rPr lang="en-GB" sz="1200" b="1" dirty="0"/>
              <a:t>   7.76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900056-920D-47DB-BC48-06C1AFB90790}"/>
              </a:ext>
            </a:extLst>
          </p:cNvPr>
          <p:cNvSpPr txBox="1"/>
          <p:nvPr/>
        </p:nvSpPr>
        <p:spPr>
          <a:xfrm>
            <a:off x="2588158" y="3933911"/>
            <a:ext cx="1164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 7.761</a:t>
            </a:r>
          </a:p>
        </p:txBody>
      </p:sp>
      <p:graphicFrame>
        <p:nvGraphicFramePr>
          <p:cNvPr id="37" name="Table 3">
            <a:extLst>
              <a:ext uri="{FF2B5EF4-FFF2-40B4-BE49-F238E27FC236}">
                <a16:creationId xmlns:a16="http://schemas.microsoft.com/office/drawing/2014/main" id="{56031DAC-70B5-48CA-9008-6D878382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321019"/>
              </p:ext>
            </p:extLst>
          </p:nvPr>
        </p:nvGraphicFramePr>
        <p:xfrm>
          <a:off x="93784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861007B-1AFB-4047-A599-B84F0CF071C4}"/>
              </a:ext>
            </a:extLst>
          </p:cNvPr>
          <p:cNvSpPr txBox="1"/>
          <p:nvPr/>
        </p:nvSpPr>
        <p:spPr>
          <a:xfrm>
            <a:off x="202065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8.204   </a:t>
            </a:r>
            <a:r>
              <a:rPr lang="en-GB" sz="1200" dirty="0"/>
              <a:t>&amp;</a:t>
            </a:r>
            <a:r>
              <a:rPr lang="en-GB" sz="1200" b="1" dirty="0"/>
              <a:t>   8.402   </a:t>
            </a:r>
            <a:r>
              <a:rPr lang="en-GB" sz="1200" dirty="0"/>
              <a:t>&amp;</a:t>
            </a:r>
            <a:r>
              <a:rPr lang="en-GB" sz="1200" b="1" dirty="0"/>
              <a:t>   8.39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9EE96-DFE5-4047-8CAB-749C40D2241D}"/>
              </a:ext>
            </a:extLst>
          </p:cNvPr>
          <p:cNvSpPr txBox="1"/>
          <p:nvPr/>
        </p:nvSpPr>
        <p:spPr>
          <a:xfrm>
            <a:off x="4978" y="5320751"/>
            <a:ext cx="1128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8.402</a:t>
            </a:r>
          </a:p>
        </p:txBody>
      </p:sp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C6E1710D-2F5F-4672-A1AF-2B46BBCDF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851037"/>
              </p:ext>
            </p:extLst>
          </p:nvPr>
        </p:nvGraphicFramePr>
        <p:xfrm>
          <a:off x="2678488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4E76A32-F78B-41DC-83CC-76E93AFD90E2}"/>
              </a:ext>
            </a:extLst>
          </p:cNvPr>
          <p:cNvSpPr txBox="1"/>
          <p:nvPr/>
        </p:nvSpPr>
        <p:spPr>
          <a:xfrm>
            <a:off x="2786769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0.76   </a:t>
            </a:r>
            <a:r>
              <a:rPr lang="en-GB" sz="1200" dirty="0"/>
              <a:t>&amp;</a:t>
            </a:r>
            <a:r>
              <a:rPr lang="en-GB" sz="1200" b="1" dirty="0"/>
              <a:t>   0.607   </a:t>
            </a:r>
            <a:r>
              <a:rPr lang="en-GB" sz="1200" dirty="0"/>
              <a:t>&amp;</a:t>
            </a:r>
            <a:r>
              <a:rPr lang="en-GB" sz="1200" b="1" dirty="0"/>
              <a:t>   0.706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9C6A17-30C5-487D-A8A6-5EC57854F75E}"/>
              </a:ext>
            </a:extLst>
          </p:cNvPr>
          <p:cNvSpPr txBox="1"/>
          <p:nvPr/>
        </p:nvSpPr>
        <p:spPr>
          <a:xfrm>
            <a:off x="2598475" y="5320751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0.76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4C68E5-43F6-4C96-9CE7-14053DCB31EB}"/>
              </a:ext>
            </a:extLst>
          </p:cNvPr>
          <p:cNvSpPr txBox="1"/>
          <p:nvPr/>
        </p:nvSpPr>
        <p:spPr>
          <a:xfrm>
            <a:off x="454481" y="5578366"/>
            <a:ext cx="3984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Сандардын ар бир топтомундагы эң чоң санды тегеректе.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AAD3B4-4DE7-4E28-BD71-F19A09E3EF74}"/>
              </a:ext>
            </a:extLst>
          </p:cNvPr>
          <p:cNvSpPr txBox="1"/>
          <p:nvPr/>
        </p:nvSpPr>
        <p:spPr>
          <a:xfrm>
            <a:off x="170274" y="6073372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в</a:t>
            </a:r>
            <a:r>
              <a:rPr lang="en-GB" sz="1200" dirty="0"/>
              <a:t>)  7.6, 6.76, 7.66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61A74A-5A63-4D79-90D2-1D2C0F601CFD}"/>
              </a:ext>
            </a:extLst>
          </p:cNvPr>
          <p:cNvSpPr txBox="1"/>
          <p:nvPr/>
        </p:nvSpPr>
        <p:spPr>
          <a:xfrm>
            <a:off x="170274" y="6329521"/>
            <a:ext cx="1976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д</a:t>
            </a:r>
            <a:r>
              <a:rPr lang="en-GB" sz="1200" dirty="0"/>
              <a:t>)  0.98, 0.809, 0.998, 0.898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7B986-046B-4E4F-A7FB-2C0E74F4B37C}"/>
              </a:ext>
            </a:extLst>
          </p:cNvPr>
          <p:cNvSpPr txBox="1"/>
          <p:nvPr/>
        </p:nvSpPr>
        <p:spPr>
          <a:xfrm>
            <a:off x="170274" y="6585671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ж</a:t>
            </a:r>
            <a:r>
              <a:rPr lang="en-GB" sz="1200" dirty="0"/>
              <a:t>)  1.202, 1.192, 1.2, 1.129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D808B3-58F8-46C0-ABE6-CB846CC4C189}"/>
              </a:ext>
            </a:extLst>
          </p:cNvPr>
          <p:cNvSpPr txBox="1"/>
          <p:nvPr/>
        </p:nvSpPr>
        <p:spPr>
          <a:xfrm>
            <a:off x="170274" y="5817223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а</a:t>
            </a:r>
            <a:r>
              <a:rPr lang="en-GB" sz="1200" dirty="0"/>
              <a:t>)  2.5, 5.12, 12.5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5F6646-8063-4370-AF97-52632E74C319}"/>
              </a:ext>
            </a:extLst>
          </p:cNvPr>
          <p:cNvSpPr txBox="1"/>
          <p:nvPr/>
        </p:nvSpPr>
        <p:spPr>
          <a:xfrm>
            <a:off x="2303874" y="6073372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г</a:t>
            </a:r>
            <a:r>
              <a:rPr lang="en-GB" sz="1200" dirty="0"/>
              <a:t>)  3.4, 4.03, 0.43, 4.3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649B5E-114E-4509-8B30-C022A932C95C}"/>
              </a:ext>
            </a:extLst>
          </p:cNvPr>
          <p:cNvSpPr txBox="1"/>
          <p:nvPr/>
        </p:nvSpPr>
        <p:spPr>
          <a:xfrm>
            <a:off x="2303874" y="6329521"/>
            <a:ext cx="2079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е</a:t>
            </a:r>
            <a:r>
              <a:rPr lang="en-GB" sz="1200" dirty="0"/>
              <a:t>)  4.056, 4.605, 4.560, 4.650,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AE337E-BD0E-4A42-86D4-C2B31F4EE8A8}"/>
              </a:ext>
            </a:extLst>
          </p:cNvPr>
          <p:cNvSpPr txBox="1"/>
          <p:nvPr/>
        </p:nvSpPr>
        <p:spPr>
          <a:xfrm>
            <a:off x="2303874" y="6585671"/>
            <a:ext cx="2632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з</a:t>
            </a:r>
            <a:r>
              <a:rPr lang="en-GB" sz="1200" dirty="0"/>
              <a:t>)  12.546, 12.654, 12.56, 12.4, 12.564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042BCD-281F-4096-9A39-054E427E3633}"/>
              </a:ext>
            </a:extLst>
          </p:cNvPr>
          <p:cNvSpPr txBox="1"/>
          <p:nvPr/>
        </p:nvSpPr>
        <p:spPr>
          <a:xfrm>
            <a:off x="2303874" y="5817223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  5.25, 5.205, 2.5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2C9B75-1F65-4CC3-A664-39A66FE0EAB5}"/>
              </a:ext>
            </a:extLst>
          </p:cNvPr>
          <p:cNvSpPr/>
          <p:nvPr/>
        </p:nvSpPr>
        <p:spPr>
          <a:xfrm>
            <a:off x="57683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15203AE-F513-4364-AC71-43903D70AE60}"/>
              </a:ext>
            </a:extLst>
          </p:cNvPr>
          <p:cNvSpPr/>
          <p:nvPr/>
        </p:nvSpPr>
        <p:spPr>
          <a:xfrm>
            <a:off x="57683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657E08-CB1E-4B80-A6BA-EB6EDCA02BA5}"/>
              </a:ext>
            </a:extLst>
          </p:cNvPr>
          <p:cNvSpPr/>
          <p:nvPr/>
        </p:nvSpPr>
        <p:spPr>
          <a:xfrm>
            <a:off x="317017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7307077-1D54-462C-90EC-8EDEECDB6AB6}"/>
              </a:ext>
            </a:extLst>
          </p:cNvPr>
          <p:cNvSpPr/>
          <p:nvPr/>
        </p:nvSpPr>
        <p:spPr>
          <a:xfrm>
            <a:off x="317017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64508D-479F-494B-AB6F-9D5AA33DEBE4}"/>
              </a:ext>
            </a:extLst>
          </p:cNvPr>
          <p:cNvSpPr/>
          <p:nvPr/>
        </p:nvSpPr>
        <p:spPr>
          <a:xfrm>
            <a:off x="581913" y="35824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DDCD12B-EB12-4938-AF7C-4F4FE7D7DEC5}"/>
              </a:ext>
            </a:extLst>
          </p:cNvPr>
          <p:cNvSpPr/>
          <p:nvPr/>
        </p:nvSpPr>
        <p:spPr>
          <a:xfrm>
            <a:off x="581913" y="38415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209C32-5AAC-2A8F-5C9D-230C737660D0}"/>
              </a:ext>
            </a:extLst>
          </p:cNvPr>
          <p:cNvSpPr/>
          <p:nvPr/>
        </p:nvSpPr>
        <p:spPr>
          <a:xfrm>
            <a:off x="7002177" y="3739495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95A52F-DB6F-D698-387A-DD28B2FCF9C1}"/>
              </a:ext>
            </a:extLst>
          </p:cNvPr>
          <p:cNvSpPr/>
          <p:nvPr/>
        </p:nvSpPr>
        <p:spPr>
          <a:xfrm>
            <a:off x="1041889" y="5777426"/>
            <a:ext cx="360485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E16DF4-128F-E3E6-683C-0551C71B5A67}"/>
              </a:ext>
            </a:extLst>
          </p:cNvPr>
          <p:cNvSpPr/>
          <p:nvPr/>
        </p:nvSpPr>
        <p:spPr>
          <a:xfrm>
            <a:off x="2554459" y="5769806"/>
            <a:ext cx="360485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57CF93-76A9-B1F8-E8C0-B707E2A12C9D}"/>
              </a:ext>
            </a:extLst>
          </p:cNvPr>
          <p:cNvSpPr/>
          <p:nvPr/>
        </p:nvSpPr>
        <p:spPr>
          <a:xfrm>
            <a:off x="1030459" y="6036506"/>
            <a:ext cx="360485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C94361-4530-430A-4B7B-9178CEFD7C3C}"/>
              </a:ext>
            </a:extLst>
          </p:cNvPr>
          <p:cNvSpPr/>
          <p:nvPr/>
        </p:nvSpPr>
        <p:spPr>
          <a:xfrm>
            <a:off x="3480289" y="6025076"/>
            <a:ext cx="360485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2D2F5E-881A-9DB6-E488-6AC201D03A89}"/>
              </a:ext>
            </a:extLst>
          </p:cNvPr>
          <p:cNvSpPr/>
          <p:nvPr/>
        </p:nvSpPr>
        <p:spPr>
          <a:xfrm>
            <a:off x="1182859" y="6272726"/>
            <a:ext cx="444011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E8EF21-9A23-BAD2-DF84-34C9955FBB05}"/>
              </a:ext>
            </a:extLst>
          </p:cNvPr>
          <p:cNvSpPr/>
          <p:nvPr/>
        </p:nvSpPr>
        <p:spPr>
          <a:xfrm>
            <a:off x="3785089" y="6284156"/>
            <a:ext cx="444011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21EAAD-D66E-77CE-9EB6-7AF38FE50E01}"/>
              </a:ext>
            </a:extLst>
          </p:cNvPr>
          <p:cNvSpPr/>
          <p:nvPr/>
        </p:nvSpPr>
        <p:spPr>
          <a:xfrm>
            <a:off x="405619" y="6539426"/>
            <a:ext cx="444011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ABF27E0-6E81-C9DF-237A-862053221DCB}"/>
              </a:ext>
            </a:extLst>
          </p:cNvPr>
          <p:cNvSpPr/>
          <p:nvPr/>
        </p:nvSpPr>
        <p:spPr>
          <a:xfrm>
            <a:off x="3103099" y="6539426"/>
            <a:ext cx="444011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60293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9" grpId="0"/>
      <p:bldP spid="32" grpId="0"/>
      <p:bldP spid="39" grpId="0"/>
      <p:bldP spid="42" grpId="0"/>
      <p:bldP spid="5" grpId="0" animBg="1"/>
      <p:bldP spid="6" grpId="0" animBg="1"/>
      <p:bldP spid="7" grpId="0" animBg="1"/>
      <p:bldP spid="8" grpId="0" animBg="1"/>
      <p:bldP spid="10" grpId="0" animBg="1"/>
      <p:bldP spid="13" grpId="0" animBg="1"/>
      <p:bldP spid="16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95053" y="-38569"/>
            <a:ext cx="1644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  <a:endParaRPr lang="en-GB" sz="1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942" t="-1471" r="-202913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71" r="-100962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913" t="-1471" r="-1942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9679A5-DFB0-4D6F-AAF5-0804719CDBD2}"/>
              </a:ext>
            </a:extLst>
          </p:cNvPr>
          <p:cNvSpPr txBox="1"/>
          <p:nvPr/>
        </p:nvSpPr>
        <p:spPr>
          <a:xfrm>
            <a:off x="-114636" y="147867"/>
            <a:ext cx="506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орундардын мааниси таблицасында кайсы эки сан берилген?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9B3AD-0881-47CF-9575-A230464DFE8F}"/>
              </a:ext>
            </a:extLst>
          </p:cNvPr>
          <p:cNvSpPr txBox="1"/>
          <p:nvPr/>
        </p:nvSpPr>
        <p:spPr>
          <a:xfrm>
            <a:off x="2662312" y="393909"/>
            <a:ext cx="214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Эң чоң санды табуу үчүн</a:t>
            </a:r>
          </a:p>
          <a:p>
            <a:pPr algn="ctr"/>
            <a:r>
              <a:rPr lang="ru-RU" sz="1200" dirty="0"/>
              <a:t> таблицаны кантип колдонсок</a:t>
            </a:r>
          </a:p>
          <a:p>
            <a:pPr algn="ctr"/>
            <a:r>
              <a:rPr lang="ru-RU" sz="1200" dirty="0"/>
              <a:t> болот?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218E2-8BA7-4424-8F5A-31155EA2B7DA}"/>
              </a:ext>
            </a:extLst>
          </p:cNvPr>
          <p:cNvSpPr txBox="1"/>
          <p:nvPr/>
        </p:nvSpPr>
        <p:spPr>
          <a:xfrm>
            <a:off x="2778611" y="94814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EBEAAA-ABE0-44BE-B4B1-C414F6869085}"/>
              </a:ext>
            </a:extLst>
          </p:cNvPr>
          <p:cNvSpPr/>
          <p:nvPr/>
        </p:nvSpPr>
        <p:spPr>
          <a:xfrm>
            <a:off x="680973" y="9281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886B73-2B42-47EF-84B3-7FC5D62C3963}"/>
              </a:ext>
            </a:extLst>
          </p:cNvPr>
          <p:cNvSpPr/>
          <p:nvPr/>
        </p:nvSpPr>
        <p:spPr>
          <a:xfrm>
            <a:off x="680973" y="11872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6C9C5C3-E8F3-4E16-8B79-38BC7AEEBF26}"/>
              </a:ext>
            </a:extLst>
          </p:cNvPr>
          <p:cNvSpPr txBox="1"/>
          <p:nvPr/>
        </p:nvSpPr>
        <p:spPr>
          <a:xfrm>
            <a:off x="3064278" y="1786303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3.52   </a:t>
            </a:r>
            <a:r>
              <a:rPr lang="en-GB" sz="1200" dirty="0"/>
              <a:t>&amp;</a:t>
            </a:r>
            <a:r>
              <a:rPr lang="en-GB" sz="1200" b="1" dirty="0"/>
              <a:t>   3.361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1B8AC-B187-4F92-A6ED-B99C1BF13942}"/>
              </a:ext>
            </a:extLst>
          </p:cNvPr>
          <p:cNvSpPr txBox="1"/>
          <p:nvPr/>
        </p:nvSpPr>
        <p:spPr>
          <a:xfrm>
            <a:off x="273968" y="1326465"/>
            <a:ext cx="447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сандардын ар бир жубу үчүн орундардын мааниси </a:t>
            </a:r>
          </a:p>
          <a:p>
            <a:pPr algn="ctr"/>
            <a:r>
              <a:rPr lang="ky-KG" sz="1200" dirty="0"/>
              <a:t>таблицасын толтур жана аны эң чоң санды табуу үчүн колдон.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26FCC-67C4-4C71-934D-979598D79DBD}"/>
              </a:ext>
            </a:extLst>
          </p:cNvPr>
          <p:cNvSpPr txBox="1"/>
          <p:nvPr/>
        </p:nvSpPr>
        <p:spPr>
          <a:xfrm>
            <a:off x="2589918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47A18D4-E8EF-4D51-9A7C-6CEE72CA749E}"/>
              </a:ext>
            </a:extLst>
          </p:cNvPr>
          <p:cNvSpPr txBox="1"/>
          <p:nvPr/>
        </p:nvSpPr>
        <p:spPr>
          <a:xfrm>
            <a:off x="428343" y="1786303"/>
            <a:ext cx="1217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5.493   </a:t>
            </a:r>
            <a:r>
              <a:rPr lang="en-GB" sz="1200" dirty="0"/>
              <a:t>&amp;</a:t>
            </a:r>
            <a:r>
              <a:rPr lang="en-GB" sz="1200" b="1" dirty="0"/>
              <a:t>   5.506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861C95-ABDD-498E-A44F-96DC9548013A}"/>
              </a:ext>
            </a:extLst>
          </p:cNvPr>
          <p:cNvSpPr txBox="1"/>
          <p:nvPr/>
        </p:nvSpPr>
        <p:spPr>
          <a:xfrm>
            <a:off x="10840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27" name="Table 3">
            <a:extLst>
              <a:ext uri="{FF2B5EF4-FFF2-40B4-BE49-F238E27FC236}">
                <a16:creationId xmlns:a16="http://schemas.microsoft.com/office/drawing/2014/main" id="{9913A40E-B143-458F-94D1-6E299495F4F6}"/>
              </a:ext>
            </a:extLst>
          </p:cNvPr>
          <p:cNvGraphicFramePr>
            <a:graphicFrameLocks noGrp="1"/>
          </p:cNvGraphicFramePr>
          <p:nvPr/>
        </p:nvGraphicFramePr>
        <p:xfrm>
          <a:off x="9378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833717A-41ED-4BFA-9F89-9078BC1C7577}"/>
              </a:ext>
            </a:extLst>
          </p:cNvPr>
          <p:cNvSpPr txBox="1"/>
          <p:nvPr/>
        </p:nvSpPr>
        <p:spPr>
          <a:xfrm>
            <a:off x="540299" y="3251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4.405   </a:t>
            </a:r>
            <a:r>
              <a:rPr lang="en-GB" sz="1200" dirty="0"/>
              <a:t>&amp;</a:t>
            </a:r>
            <a:r>
              <a:rPr lang="en-GB" sz="1200" b="1" dirty="0"/>
              <a:t>   4.45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8D23F-0978-41CB-9B8E-64DB6747E8F6}"/>
              </a:ext>
            </a:extLst>
          </p:cNvPr>
          <p:cNvSpPr txBox="1"/>
          <p:nvPr/>
        </p:nvSpPr>
        <p:spPr>
          <a:xfrm>
            <a:off x="13770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30" name="Table 3">
            <a:extLst>
              <a:ext uri="{FF2B5EF4-FFF2-40B4-BE49-F238E27FC236}">
                <a16:creationId xmlns:a16="http://schemas.microsoft.com/office/drawing/2014/main" id="{6051E522-0260-4BC2-BC52-1EDDDB8EF9B9}"/>
              </a:ext>
            </a:extLst>
          </p:cNvPr>
          <p:cNvGraphicFramePr>
            <a:graphicFrameLocks noGrp="1"/>
          </p:cNvGraphicFramePr>
          <p:nvPr/>
        </p:nvGraphicFramePr>
        <p:xfrm>
          <a:off x="267696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C822F2D-C7A5-41EB-89B4-09535F2C1FEA}"/>
              </a:ext>
            </a:extLst>
          </p:cNvPr>
          <p:cNvSpPr txBox="1"/>
          <p:nvPr/>
        </p:nvSpPr>
        <p:spPr>
          <a:xfrm>
            <a:off x="3123479" y="3251922"/>
            <a:ext cx="113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7.761   </a:t>
            </a:r>
            <a:r>
              <a:rPr lang="en-GB" sz="1200" dirty="0"/>
              <a:t>&amp;</a:t>
            </a:r>
            <a:r>
              <a:rPr lang="en-GB" sz="1200" b="1" dirty="0"/>
              <a:t>   7.76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900056-920D-47DB-BC48-06C1AFB90790}"/>
              </a:ext>
            </a:extLst>
          </p:cNvPr>
          <p:cNvSpPr txBox="1"/>
          <p:nvPr/>
        </p:nvSpPr>
        <p:spPr>
          <a:xfrm>
            <a:off x="2588158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37" name="Table 3">
            <a:extLst>
              <a:ext uri="{FF2B5EF4-FFF2-40B4-BE49-F238E27FC236}">
                <a16:creationId xmlns:a16="http://schemas.microsoft.com/office/drawing/2014/main" id="{56031DAC-70B5-48CA-9008-6D878382D353}"/>
              </a:ext>
            </a:extLst>
          </p:cNvPr>
          <p:cNvGraphicFramePr>
            <a:graphicFrameLocks noGrp="1"/>
          </p:cNvGraphicFramePr>
          <p:nvPr/>
        </p:nvGraphicFramePr>
        <p:xfrm>
          <a:off x="93784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861007B-1AFB-4047-A599-B84F0CF071C4}"/>
              </a:ext>
            </a:extLst>
          </p:cNvPr>
          <p:cNvSpPr txBox="1"/>
          <p:nvPr/>
        </p:nvSpPr>
        <p:spPr>
          <a:xfrm>
            <a:off x="202065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8.204   </a:t>
            </a:r>
            <a:r>
              <a:rPr lang="en-GB" sz="1200" dirty="0"/>
              <a:t>&amp;</a:t>
            </a:r>
            <a:r>
              <a:rPr lang="en-GB" sz="1200" b="1" dirty="0"/>
              <a:t>   8.402   </a:t>
            </a:r>
            <a:r>
              <a:rPr lang="en-GB" sz="1200" dirty="0"/>
              <a:t>&amp;</a:t>
            </a:r>
            <a:r>
              <a:rPr lang="en-GB" sz="1200" b="1" dirty="0"/>
              <a:t>   8.39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9EE96-DFE5-4047-8CAB-749C40D2241D}"/>
              </a:ext>
            </a:extLst>
          </p:cNvPr>
          <p:cNvSpPr txBox="1"/>
          <p:nvPr/>
        </p:nvSpPr>
        <p:spPr>
          <a:xfrm>
            <a:off x="4978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C6E1710D-2F5F-4672-A1AF-2B46BBCDFF98}"/>
              </a:ext>
            </a:extLst>
          </p:cNvPr>
          <p:cNvGraphicFramePr>
            <a:graphicFrameLocks noGrp="1"/>
          </p:cNvGraphicFramePr>
          <p:nvPr/>
        </p:nvGraphicFramePr>
        <p:xfrm>
          <a:off x="2678488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4E76A32-F78B-41DC-83CC-76E93AFD90E2}"/>
              </a:ext>
            </a:extLst>
          </p:cNvPr>
          <p:cNvSpPr txBox="1"/>
          <p:nvPr/>
        </p:nvSpPr>
        <p:spPr>
          <a:xfrm>
            <a:off x="2786769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0.76   </a:t>
            </a:r>
            <a:r>
              <a:rPr lang="en-GB" sz="1200" dirty="0"/>
              <a:t>&amp;</a:t>
            </a:r>
            <a:r>
              <a:rPr lang="en-GB" sz="1200" b="1" dirty="0"/>
              <a:t>   0.607   </a:t>
            </a:r>
            <a:r>
              <a:rPr lang="en-GB" sz="1200" dirty="0"/>
              <a:t>&amp;</a:t>
            </a:r>
            <a:r>
              <a:rPr lang="en-GB" sz="1200" b="1" dirty="0"/>
              <a:t>   0.706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9C6A17-30C5-487D-A8A6-5EC57854F75E}"/>
              </a:ext>
            </a:extLst>
          </p:cNvPr>
          <p:cNvSpPr txBox="1"/>
          <p:nvPr/>
        </p:nvSpPr>
        <p:spPr>
          <a:xfrm>
            <a:off x="2598475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4C68E5-43F6-4C96-9CE7-14053DCB31EB}"/>
              </a:ext>
            </a:extLst>
          </p:cNvPr>
          <p:cNvSpPr txBox="1"/>
          <p:nvPr/>
        </p:nvSpPr>
        <p:spPr>
          <a:xfrm>
            <a:off x="454481" y="5578366"/>
            <a:ext cx="3984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Сандардын ар бир топтомундагы эң чоң санды тегеректе.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AAD3B4-4DE7-4E28-BD71-F19A09E3EF74}"/>
              </a:ext>
            </a:extLst>
          </p:cNvPr>
          <p:cNvSpPr txBox="1"/>
          <p:nvPr/>
        </p:nvSpPr>
        <p:spPr>
          <a:xfrm>
            <a:off x="170274" y="6073372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в</a:t>
            </a:r>
            <a:r>
              <a:rPr lang="en-GB" sz="1200" dirty="0"/>
              <a:t>)  7.6, 6.76, 7.66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61A74A-5A63-4D79-90D2-1D2C0F601CFD}"/>
              </a:ext>
            </a:extLst>
          </p:cNvPr>
          <p:cNvSpPr txBox="1"/>
          <p:nvPr/>
        </p:nvSpPr>
        <p:spPr>
          <a:xfrm>
            <a:off x="170274" y="6329521"/>
            <a:ext cx="1976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д</a:t>
            </a:r>
            <a:r>
              <a:rPr lang="en-GB" sz="1200" dirty="0"/>
              <a:t>)  0.98, 0.809, 0.998, 0.898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7B986-046B-4E4F-A7FB-2C0E74F4B37C}"/>
              </a:ext>
            </a:extLst>
          </p:cNvPr>
          <p:cNvSpPr txBox="1"/>
          <p:nvPr/>
        </p:nvSpPr>
        <p:spPr>
          <a:xfrm>
            <a:off x="170274" y="6585671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ж</a:t>
            </a:r>
            <a:r>
              <a:rPr lang="en-GB" sz="1200" dirty="0"/>
              <a:t>)  1.202, 1.192, 1.2, 1.129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D808B3-58F8-46C0-ABE6-CB846CC4C189}"/>
              </a:ext>
            </a:extLst>
          </p:cNvPr>
          <p:cNvSpPr txBox="1"/>
          <p:nvPr/>
        </p:nvSpPr>
        <p:spPr>
          <a:xfrm>
            <a:off x="170274" y="5817223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а</a:t>
            </a:r>
            <a:r>
              <a:rPr lang="en-GB" sz="1200" dirty="0"/>
              <a:t>)  2.5, 5.12, 12.5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5F6646-8063-4370-AF97-52632E74C319}"/>
              </a:ext>
            </a:extLst>
          </p:cNvPr>
          <p:cNvSpPr txBox="1"/>
          <p:nvPr/>
        </p:nvSpPr>
        <p:spPr>
          <a:xfrm>
            <a:off x="2303874" y="6073372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г</a:t>
            </a:r>
            <a:r>
              <a:rPr lang="en-GB" sz="1200" dirty="0"/>
              <a:t>)  3.4, 4.03, 0.43, 4.3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649B5E-114E-4509-8B30-C022A932C95C}"/>
              </a:ext>
            </a:extLst>
          </p:cNvPr>
          <p:cNvSpPr txBox="1"/>
          <p:nvPr/>
        </p:nvSpPr>
        <p:spPr>
          <a:xfrm>
            <a:off x="2303874" y="6329521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е</a:t>
            </a:r>
            <a:r>
              <a:rPr lang="en-GB" sz="1200" dirty="0"/>
              <a:t>)  4.056, 4.605, 4.560, 4.650,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AE337E-BD0E-4A42-86D4-C2B31F4EE8A8}"/>
              </a:ext>
            </a:extLst>
          </p:cNvPr>
          <p:cNvSpPr txBox="1"/>
          <p:nvPr/>
        </p:nvSpPr>
        <p:spPr>
          <a:xfrm>
            <a:off x="2303874" y="6585671"/>
            <a:ext cx="2632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з</a:t>
            </a:r>
            <a:r>
              <a:rPr lang="en-GB" sz="1200" dirty="0"/>
              <a:t>)  12.546, 12.654, 12.56, 12.4, 12.564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042BCD-281F-4096-9A39-054E427E3633}"/>
              </a:ext>
            </a:extLst>
          </p:cNvPr>
          <p:cNvSpPr txBox="1"/>
          <p:nvPr/>
        </p:nvSpPr>
        <p:spPr>
          <a:xfrm>
            <a:off x="2303874" y="5817223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  5.25, 5.205, 2.5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2C9B75-1F65-4CC3-A664-39A66FE0EAB5}"/>
              </a:ext>
            </a:extLst>
          </p:cNvPr>
          <p:cNvSpPr/>
          <p:nvPr/>
        </p:nvSpPr>
        <p:spPr>
          <a:xfrm>
            <a:off x="57683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15203AE-F513-4364-AC71-43903D70AE60}"/>
              </a:ext>
            </a:extLst>
          </p:cNvPr>
          <p:cNvSpPr/>
          <p:nvPr/>
        </p:nvSpPr>
        <p:spPr>
          <a:xfrm>
            <a:off x="57683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657E08-CB1E-4B80-A6BA-EB6EDCA02BA5}"/>
              </a:ext>
            </a:extLst>
          </p:cNvPr>
          <p:cNvSpPr/>
          <p:nvPr/>
        </p:nvSpPr>
        <p:spPr>
          <a:xfrm>
            <a:off x="317017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7307077-1D54-462C-90EC-8EDEECDB6AB6}"/>
              </a:ext>
            </a:extLst>
          </p:cNvPr>
          <p:cNvSpPr/>
          <p:nvPr/>
        </p:nvSpPr>
        <p:spPr>
          <a:xfrm>
            <a:off x="317017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64508D-479F-494B-AB6F-9D5AA33DEBE4}"/>
              </a:ext>
            </a:extLst>
          </p:cNvPr>
          <p:cNvSpPr/>
          <p:nvPr/>
        </p:nvSpPr>
        <p:spPr>
          <a:xfrm>
            <a:off x="581913" y="35824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DDCD12B-EB12-4938-AF7C-4F4FE7D7DEC5}"/>
              </a:ext>
            </a:extLst>
          </p:cNvPr>
          <p:cNvSpPr/>
          <p:nvPr/>
        </p:nvSpPr>
        <p:spPr>
          <a:xfrm>
            <a:off x="581913" y="38415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C87916-0088-AA45-E15C-758EE2B860DB}"/>
              </a:ext>
            </a:extLst>
          </p:cNvPr>
          <p:cNvSpPr/>
          <p:nvPr/>
        </p:nvSpPr>
        <p:spPr>
          <a:xfrm>
            <a:off x="4987244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CD026-85FE-E155-1136-C988FFD2980F}"/>
              </a:ext>
            </a:extLst>
          </p:cNvPr>
          <p:cNvSpPr txBox="1"/>
          <p:nvPr/>
        </p:nvSpPr>
        <p:spPr>
          <a:xfrm>
            <a:off x="6574677" y="-38569"/>
            <a:ext cx="1644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  <a:endParaRPr lang="en-GB" sz="1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3">
                <a:extLst>
                  <a:ext uri="{FF2B5EF4-FFF2-40B4-BE49-F238E27FC236}">
                    <a16:creationId xmlns:a16="http://schemas.microsoft.com/office/drawing/2014/main" id="{61E7956E-6F60-800F-D1AE-FCA0DB5003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5721730"/>
                  </p:ext>
                </p:extLst>
              </p:nvPr>
            </p:nvGraphicFramePr>
            <p:xfrm>
              <a:off x="5055824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3">
                <a:extLst>
                  <a:ext uri="{FF2B5EF4-FFF2-40B4-BE49-F238E27FC236}">
                    <a16:creationId xmlns:a16="http://schemas.microsoft.com/office/drawing/2014/main" id="{61E7956E-6F60-800F-D1AE-FCA0DB5003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5721730"/>
                  </p:ext>
                </p:extLst>
              </p:nvPr>
            </p:nvGraphicFramePr>
            <p:xfrm>
              <a:off x="5055824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942" t="-1471" r="-202913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471" r="-100962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913" t="-1471" r="-1942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075FBFA-71D9-D7F2-A8E1-319FA3F7771E}"/>
              </a:ext>
            </a:extLst>
          </p:cNvPr>
          <p:cNvSpPr txBox="1"/>
          <p:nvPr/>
        </p:nvSpPr>
        <p:spPr>
          <a:xfrm>
            <a:off x="4864988" y="147867"/>
            <a:ext cx="506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орундардын мааниси таблицасында кайсы эки сан берилген?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3838C-51E5-4B85-3351-27710A2F4905}"/>
              </a:ext>
            </a:extLst>
          </p:cNvPr>
          <p:cNvSpPr txBox="1"/>
          <p:nvPr/>
        </p:nvSpPr>
        <p:spPr>
          <a:xfrm>
            <a:off x="7641936" y="393909"/>
            <a:ext cx="214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Эң чоң санды табуу үчүн</a:t>
            </a:r>
          </a:p>
          <a:p>
            <a:pPr algn="ctr"/>
            <a:r>
              <a:rPr lang="ru-RU" sz="1200" dirty="0"/>
              <a:t> таблицаны кантип колдонсок</a:t>
            </a:r>
          </a:p>
          <a:p>
            <a:pPr algn="ctr"/>
            <a:r>
              <a:rPr lang="ru-RU" sz="1200" dirty="0"/>
              <a:t> болот?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39202-F90F-424E-A17E-76FF8DAB5086}"/>
              </a:ext>
            </a:extLst>
          </p:cNvPr>
          <p:cNvSpPr txBox="1"/>
          <p:nvPr/>
        </p:nvSpPr>
        <p:spPr>
          <a:xfrm>
            <a:off x="7758235" y="94814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DAA6A8-C84C-DB68-F954-8BA1D1A72895}"/>
              </a:ext>
            </a:extLst>
          </p:cNvPr>
          <p:cNvSpPr/>
          <p:nvPr/>
        </p:nvSpPr>
        <p:spPr>
          <a:xfrm>
            <a:off x="5660597" y="9281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512D0C-7EBD-AC36-3C7F-873CFA1655C8}"/>
              </a:ext>
            </a:extLst>
          </p:cNvPr>
          <p:cNvSpPr/>
          <p:nvPr/>
        </p:nvSpPr>
        <p:spPr>
          <a:xfrm>
            <a:off x="5660597" y="11872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Table 3">
                <a:extLst>
                  <a:ext uri="{FF2B5EF4-FFF2-40B4-BE49-F238E27FC236}">
                    <a16:creationId xmlns:a16="http://schemas.microsoft.com/office/drawing/2014/main" id="{62779880-3095-378E-B62F-A9B230F53E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9656200"/>
                  </p:ext>
                </p:extLst>
              </p:nvPr>
            </p:nvGraphicFramePr>
            <p:xfrm>
              <a:off x="7658347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Table 3">
                <a:extLst>
                  <a:ext uri="{FF2B5EF4-FFF2-40B4-BE49-F238E27FC236}">
                    <a16:creationId xmlns:a16="http://schemas.microsoft.com/office/drawing/2014/main" id="{62779880-3095-378E-B62F-A9B230F53E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9656200"/>
                  </p:ext>
                </p:extLst>
              </p:nvPr>
            </p:nvGraphicFramePr>
            <p:xfrm>
              <a:off x="7658347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0AE8AC8-E982-80F7-1F80-03A7A974F72D}"/>
              </a:ext>
            </a:extLst>
          </p:cNvPr>
          <p:cNvSpPr txBox="1"/>
          <p:nvPr/>
        </p:nvSpPr>
        <p:spPr>
          <a:xfrm>
            <a:off x="8043902" y="1786303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3.52   </a:t>
            </a:r>
            <a:r>
              <a:rPr lang="en-GB" sz="1200" dirty="0"/>
              <a:t>&amp;</a:t>
            </a:r>
            <a:r>
              <a:rPr lang="en-GB" sz="1200" b="1" dirty="0"/>
              <a:t>   3.361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51DDBC-6D3F-C374-0352-D13E154241C5}"/>
              </a:ext>
            </a:extLst>
          </p:cNvPr>
          <p:cNvSpPr txBox="1"/>
          <p:nvPr/>
        </p:nvSpPr>
        <p:spPr>
          <a:xfrm>
            <a:off x="5253592" y="1326465"/>
            <a:ext cx="447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сандардын ар бир жубу үчүн орундардын мааниси </a:t>
            </a:r>
          </a:p>
          <a:p>
            <a:pPr algn="ctr"/>
            <a:r>
              <a:rPr lang="ky-KG" sz="1200" dirty="0"/>
              <a:t>таблицасын толтур жана аны эң чоң санды табуу үчүн колдон.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E5A8FD-52A0-6314-2E40-45894E4758C0}"/>
              </a:ext>
            </a:extLst>
          </p:cNvPr>
          <p:cNvSpPr txBox="1"/>
          <p:nvPr/>
        </p:nvSpPr>
        <p:spPr>
          <a:xfrm>
            <a:off x="7569542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Table 3">
                <a:extLst>
                  <a:ext uri="{FF2B5EF4-FFF2-40B4-BE49-F238E27FC236}">
                    <a16:creationId xmlns:a16="http://schemas.microsoft.com/office/drawing/2014/main" id="{50C2FAC7-3E02-5A5E-2905-1082A194A0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216511"/>
                  </p:ext>
                </p:extLst>
              </p:nvPr>
            </p:nvGraphicFramePr>
            <p:xfrm>
              <a:off x="5061685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Table 3">
                <a:extLst>
                  <a:ext uri="{FF2B5EF4-FFF2-40B4-BE49-F238E27FC236}">
                    <a16:creationId xmlns:a16="http://schemas.microsoft.com/office/drawing/2014/main" id="{50C2FAC7-3E02-5A5E-2905-1082A194A0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216511"/>
                  </p:ext>
                </p:extLst>
              </p:nvPr>
            </p:nvGraphicFramePr>
            <p:xfrm>
              <a:off x="5061685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1A953CC-6E7E-DC39-8B20-A1FCB179DAE9}"/>
              </a:ext>
            </a:extLst>
          </p:cNvPr>
          <p:cNvSpPr txBox="1"/>
          <p:nvPr/>
        </p:nvSpPr>
        <p:spPr>
          <a:xfrm>
            <a:off x="5407967" y="1786303"/>
            <a:ext cx="1217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5.493   </a:t>
            </a:r>
            <a:r>
              <a:rPr lang="en-GB" sz="1200" dirty="0"/>
              <a:t>&amp;</a:t>
            </a:r>
            <a:r>
              <a:rPr lang="en-GB" sz="1200" b="1" dirty="0"/>
              <a:t>   5.506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98D5F9-CAF1-7F5D-3B7F-0D3310227624}"/>
              </a:ext>
            </a:extLst>
          </p:cNvPr>
          <p:cNvSpPr txBox="1"/>
          <p:nvPr/>
        </p:nvSpPr>
        <p:spPr>
          <a:xfrm>
            <a:off x="4990464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48" name="Table 3">
            <a:extLst>
              <a:ext uri="{FF2B5EF4-FFF2-40B4-BE49-F238E27FC236}">
                <a16:creationId xmlns:a16="http://schemas.microsoft.com/office/drawing/2014/main" id="{9AACFA0B-4270-9651-A5BE-A7A8D446D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039667"/>
              </p:ext>
            </p:extLst>
          </p:nvPr>
        </p:nvGraphicFramePr>
        <p:xfrm>
          <a:off x="5073408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B3102D45-D4FD-49C8-93AC-05883F911DD5}"/>
              </a:ext>
            </a:extLst>
          </p:cNvPr>
          <p:cNvSpPr txBox="1"/>
          <p:nvPr/>
        </p:nvSpPr>
        <p:spPr>
          <a:xfrm>
            <a:off x="5519923" y="3251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4.405   </a:t>
            </a:r>
            <a:r>
              <a:rPr lang="en-GB" sz="1200" dirty="0"/>
              <a:t>&amp;</a:t>
            </a:r>
            <a:r>
              <a:rPr lang="en-GB" sz="1200" b="1" dirty="0"/>
              <a:t>   4.45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973E6D-47E3-7259-129A-AEEBB363A637}"/>
              </a:ext>
            </a:extLst>
          </p:cNvPr>
          <p:cNvSpPr txBox="1"/>
          <p:nvPr/>
        </p:nvSpPr>
        <p:spPr>
          <a:xfrm>
            <a:off x="4993394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60" name="Table 3">
            <a:extLst>
              <a:ext uri="{FF2B5EF4-FFF2-40B4-BE49-F238E27FC236}">
                <a16:creationId xmlns:a16="http://schemas.microsoft.com/office/drawing/2014/main" id="{09C97C55-9AA9-C06A-AA8D-4A9B731C3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12045"/>
              </p:ext>
            </p:extLst>
          </p:nvPr>
        </p:nvGraphicFramePr>
        <p:xfrm>
          <a:off x="7656588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0B453815-8060-7876-0904-ABBDE93E1136}"/>
              </a:ext>
            </a:extLst>
          </p:cNvPr>
          <p:cNvSpPr txBox="1"/>
          <p:nvPr/>
        </p:nvSpPr>
        <p:spPr>
          <a:xfrm>
            <a:off x="8103103" y="3251922"/>
            <a:ext cx="113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7.761   </a:t>
            </a:r>
            <a:r>
              <a:rPr lang="en-GB" sz="1200" dirty="0"/>
              <a:t>&amp;</a:t>
            </a:r>
            <a:r>
              <a:rPr lang="en-GB" sz="1200" b="1" dirty="0"/>
              <a:t>   7.76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3826B9-7F0E-2B9A-5124-64AB0A3A08A8}"/>
              </a:ext>
            </a:extLst>
          </p:cNvPr>
          <p:cNvSpPr txBox="1"/>
          <p:nvPr/>
        </p:nvSpPr>
        <p:spPr>
          <a:xfrm>
            <a:off x="7567782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65" name="Table 3">
            <a:extLst>
              <a:ext uri="{FF2B5EF4-FFF2-40B4-BE49-F238E27FC236}">
                <a16:creationId xmlns:a16="http://schemas.microsoft.com/office/drawing/2014/main" id="{9B8F9321-1DA0-2511-3352-864EB5F95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317786"/>
              </p:ext>
            </p:extLst>
          </p:nvPr>
        </p:nvGraphicFramePr>
        <p:xfrm>
          <a:off x="5073408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D6EDA3DE-989C-6A27-7D72-43ED486DE1A2}"/>
              </a:ext>
            </a:extLst>
          </p:cNvPr>
          <p:cNvSpPr txBox="1"/>
          <p:nvPr/>
        </p:nvSpPr>
        <p:spPr>
          <a:xfrm>
            <a:off x="5181689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8.204   </a:t>
            </a:r>
            <a:r>
              <a:rPr lang="en-GB" sz="1200" dirty="0"/>
              <a:t>&amp;</a:t>
            </a:r>
            <a:r>
              <a:rPr lang="en-GB" sz="1200" b="1" dirty="0"/>
              <a:t>   8.402   </a:t>
            </a:r>
            <a:r>
              <a:rPr lang="en-GB" sz="1200" dirty="0"/>
              <a:t>&amp;</a:t>
            </a:r>
            <a:r>
              <a:rPr lang="en-GB" sz="1200" b="1" dirty="0"/>
              <a:t>   8.39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C2BAE7-055F-01BE-4BF7-76A4F8584361}"/>
              </a:ext>
            </a:extLst>
          </p:cNvPr>
          <p:cNvSpPr txBox="1"/>
          <p:nvPr/>
        </p:nvSpPr>
        <p:spPr>
          <a:xfrm>
            <a:off x="4984602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68" name="Table 3">
            <a:extLst>
              <a:ext uri="{FF2B5EF4-FFF2-40B4-BE49-F238E27FC236}">
                <a16:creationId xmlns:a16="http://schemas.microsoft.com/office/drawing/2014/main" id="{35239545-3DB2-DB5E-FBAD-4590FB4F6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392144"/>
              </p:ext>
            </p:extLst>
          </p:nvPr>
        </p:nvGraphicFramePr>
        <p:xfrm>
          <a:off x="7658112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6E268D6F-B8F1-F805-FE42-16192FBEB992}"/>
              </a:ext>
            </a:extLst>
          </p:cNvPr>
          <p:cNvSpPr txBox="1"/>
          <p:nvPr/>
        </p:nvSpPr>
        <p:spPr>
          <a:xfrm>
            <a:off x="7766393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0.76   </a:t>
            </a:r>
            <a:r>
              <a:rPr lang="en-GB" sz="1200" dirty="0"/>
              <a:t>&amp;</a:t>
            </a:r>
            <a:r>
              <a:rPr lang="en-GB" sz="1200" b="1" dirty="0"/>
              <a:t>   0.607   </a:t>
            </a:r>
            <a:r>
              <a:rPr lang="en-GB" sz="1200" dirty="0"/>
              <a:t>&amp;</a:t>
            </a:r>
            <a:r>
              <a:rPr lang="en-GB" sz="1200" b="1" dirty="0"/>
              <a:t>   0.706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97F9DD-7A84-10FC-F354-41A6B7CEC0B8}"/>
              </a:ext>
            </a:extLst>
          </p:cNvPr>
          <p:cNvSpPr txBox="1"/>
          <p:nvPr/>
        </p:nvSpPr>
        <p:spPr>
          <a:xfrm>
            <a:off x="7578099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D746DE-3AC7-F25C-3814-EA301D05303F}"/>
              </a:ext>
            </a:extLst>
          </p:cNvPr>
          <p:cNvSpPr txBox="1"/>
          <p:nvPr/>
        </p:nvSpPr>
        <p:spPr>
          <a:xfrm>
            <a:off x="5434105" y="5578366"/>
            <a:ext cx="3984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Сандардын ар бир топтомундагы эң чоң санды тегеректе.</a:t>
            </a:r>
            <a:endParaRPr lang="en-GB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368CDC-7CD7-E75B-C8DD-936368D18AA9}"/>
              </a:ext>
            </a:extLst>
          </p:cNvPr>
          <p:cNvSpPr txBox="1"/>
          <p:nvPr/>
        </p:nvSpPr>
        <p:spPr>
          <a:xfrm>
            <a:off x="5149898" y="6073372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в</a:t>
            </a:r>
            <a:r>
              <a:rPr lang="en-GB" sz="1200" dirty="0"/>
              <a:t>)  7.6, 6.76, 7.66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9BC47F-9D93-FC37-BB94-ED950437176D}"/>
              </a:ext>
            </a:extLst>
          </p:cNvPr>
          <p:cNvSpPr txBox="1"/>
          <p:nvPr/>
        </p:nvSpPr>
        <p:spPr>
          <a:xfrm>
            <a:off x="5149898" y="6329521"/>
            <a:ext cx="1976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д</a:t>
            </a:r>
            <a:r>
              <a:rPr lang="en-GB" sz="1200" dirty="0"/>
              <a:t>)  0.98, 0.809, 0.998, 0.898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375C80-2C46-4D61-FBA7-6F593CDBC338}"/>
              </a:ext>
            </a:extLst>
          </p:cNvPr>
          <p:cNvSpPr txBox="1"/>
          <p:nvPr/>
        </p:nvSpPr>
        <p:spPr>
          <a:xfrm>
            <a:off x="5149898" y="6585671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ж</a:t>
            </a:r>
            <a:r>
              <a:rPr lang="en-GB" sz="1200" dirty="0"/>
              <a:t>)  1.202, 1.192, 1.2, 1.129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07C624-95BA-FDEA-2707-B71A6B104931}"/>
              </a:ext>
            </a:extLst>
          </p:cNvPr>
          <p:cNvSpPr txBox="1"/>
          <p:nvPr/>
        </p:nvSpPr>
        <p:spPr>
          <a:xfrm>
            <a:off x="5149898" y="5817223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а</a:t>
            </a:r>
            <a:r>
              <a:rPr lang="en-GB" sz="1200" dirty="0"/>
              <a:t>)  2.5, 5.12, 12.5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5D91AD-ABFF-A8B7-6B76-60E6366416AE}"/>
              </a:ext>
            </a:extLst>
          </p:cNvPr>
          <p:cNvSpPr txBox="1"/>
          <p:nvPr/>
        </p:nvSpPr>
        <p:spPr>
          <a:xfrm>
            <a:off x="7283498" y="6073372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г</a:t>
            </a:r>
            <a:r>
              <a:rPr lang="en-GB" sz="1200" dirty="0"/>
              <a:t>)  3.4, 4.03, 0.43, 4.3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CF15B8-1613-7613-A563-F7A50B77AF1B}"/>
              </a:ext>
            </a:extLst>
          </p:cNvPr>
          <p:cNvSpPr txBox="1"/>
          <p:nvPr/>
        </p:nvSpPr>
        <p:spPr>
          <a:xfrm>
            <a:off x="7283498" y="6329521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е</a:t>
            </a:r>
            <a:r>
              <a:rPr lang="en-GB" sz="1200" dirty="0"/>
              <a:t>)  4.056, 4.605, 4.560, 4.650,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A34A23-7249-6206-09A3-323CC3EDB001}"/>
              </a:ext>
            </a:extLst>
          </p:cNvPr>
          <p:cNvSpPr txBox="1"/>
          <p:nvPr/>
        </p:nvSpPr>
        <p:spPr>
          <a:xfrm>
            <a:off x="7283498" y="6585671"/>
            <a:ext cx="2632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з</a:t>
            </a:r>
            <a:r>
              <a:rPr lang="en-GB" sz="1200" dirty="0"/>
              <a:t>)  12.546, 12.654, 12.56, 12.4, 12.564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A8E549-61CE-0B9E-CF27-E814BF4B38FD}"/>
              </a:ext>
            </a:extLst>
          </p:cNvPr>
          <p:cNvSpPr txBox="1"/>
          <p:nvPr/>
        </p:nvSpPr>
        <p:spPr>
          <a:xfrm>
            <a:off x="7283498" y="5817223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  5.25, 5.205, 2.5 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2473E75-7F1D-D039-44C0-5D11FE9EA7C7}"/>
              </a:ext>
            </a:extLst>
          </p:cNvPr>
          <p:cNvSpPr/>
          <p:nvPr/>
        </p:nvSpPr>
        <p:spPr>
          <a:xfrm>
            <a:off x="5556457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ADB40B-3F2D-2DAA-01BB-A0A1DC079EFF}"/>
              </a:ext>
            </a:extLst>
          </p:cNvPr>
          <p:cNvSpPr/>
          <p:nvPr/>
        </p:nvSpPr>
        <p:spPr>
          <a:xfrm>
            <a:off x="5556457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E1D7BCE-25F7-0AF5-AA04-716CB2D4AF30}"/>
              </a:ext>
            </a:extLst>
          </p:cNvPr>
          <p:cNvSpPr/>
          <p:nvPr/>
        </p:nvSpPr>
        <p:spPr>
          <a:xfrm>
            <a:off x="8149797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42762A4-1F42-28AA-67A6-E076DC5AEECA}"/>
              </a:ext>
            </a:extLst>
          </p:cNvPr>
          <p:cNvSpPr/>
          <p:nvPr/>
        </p:nvSpPr>
        <p:spPr>
          <a:xfrm>
            <a:off x="8149797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41D6205-9365-31AD-E4E5-9D7EF8A8E86D}"/>
              </a:ext>
            </a:extLst>
          </p:cNvPr>
          <p:cNvSpPr/>
          <p:nvPr/>
        </p:nvSpPr>
        <p:spPr>
          <a:xfrm>
            <a:off x="5561537" y="35824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4EB30C3-3AA4-2FCD-6D15-E5F729F2285B}"/>
              </a:ext>
            </a:extLst>
          </p:cNvPr>
          <p:cNvSpPr/>
          <p:nvPr/>
        </p:nvSpPr>
        <p:spPr>
          <a:xfrm>
            <a:off x="5561537" y="38415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3988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10385</TotalTime>
  <Words>858</Words>
  <Application>Microsoft Office PowerPoint</Application>
  <PresentationFormat>A4 Paper (210x297 mm)</PresentationFormat>
  <Paragraphs>282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Calibri Light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486</cp:revision>
  <cp:lastPrinted>2024-09-19T16:07:30Z</cp:lastPrinted>
  <dcterms:created xsi:type="dcterms:W3CDTF">2017-01-17T16:57:04Z</dcterms:created>
  <dcterms:modified xsi:type="dcterms:W3CDTF">2024-09-19T16:08:05Z</dcterms:modified>
</cp:coreProperties>
</file>