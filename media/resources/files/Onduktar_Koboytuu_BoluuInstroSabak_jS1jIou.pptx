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66"/>
  </p:notesMasterIdLst>
  <p:handoutMasterIdLst>
    <p:handoutMasterId r:id="rId67"/>
  </p:handoutMasterIdLst>
  <p:sldIdLst>
    <p:sldId id="257" r:id="rId3"/>
    <p:sldId id="996" r:id="rId4"/>
    <p:sldId id="964" r:id="rId5"/>
    <p:sldId id="965" r:id="rId6"/>
    <p:sldId id="966" r:id="rId7"/>
    <p:sldId id="967" r:id="rId8"/>
    <p:sldId id="997" r:id="rId9"/>
    <p:sldId id="998" r:id="rId10"/>
    <p:sldId id="973" r:id="rId11"/>
    <p:sldId id="976" r:id="rId12"/>
    <p:sldId id="974" r:id="rId13"/>
    <p:sldId id="977" r:id="rId14"/>
    <p:sldId id="978" r:id="rId15"/>
    <p:sldId id="979" r:id="rId16"/>
    <p:sldId id="980" r:id="rId17"/>
    <p:sldId id="981" r:id="rId18"/>
    <p:sldId id="982" r:id="rId19"/>
    <p:sldId id="983" r:id="rId20"/>
    <p:sldId id="1146" r:id="rId21"/>
    <p:sldId id="1147" r:id="rId22"/>
    <p:sldId id="1143" r:id="rId23"/>
    <p:sldId id="1145" r:id="rId24"/>
    <p:sldId id="1144" r:id="rId25"/>
    <p:sldId id="1123" r:id="rId26"/>
    <p:sldId id="1124" r:id="rId27"/>
    <p:sldId id="1122" r:id="rId28"/>
    <p:sldId id="1125" r:id="rId29"/>
    <p:sldId id="1103" r:id="rId30"/>
    <p:sldId id="1126" r:id="rId31"/>
    <p:sldId id="1108" r:id="rId32"/>
    <p:sldId id="1084" r:id="rId33"/>
    <p:sldId id="1109" r:id="rId34"/>
    <p:sldId id="1110" r:id="rId35"/>
    <p:sldId id="1111" r:id="rId36"/>
    <p:sldId id="1100" r:id="rId37"/>
    <p:sldId id="1112" r:id="rId38"/>
    <p:sldId id="1113" r:id="rId39"/>
    <p:sldId id="1114" r:id="rId40"/>
    <p:sldId id="1115" r:id="rId41"/>
    <p:sldId id="1101" r:id="rId42"/>
    <p:sldId id="1116" r:id="rId43"/>
    <p:sldId id="1139" r:id="rId44"/>
    <p:sldId id="1138" r:id="rId45"/>
    <p:sldId id="1102" r:id="rId46"/>
    <p:sldId id="1117" r:id="rId47"/>
    <p:sldId id="1118" r:id="rId48"/>
    <p:sldId id="1119" r:id="rId49"/>
    <p:sldId id="1120" r:id="rId50"/>
    <p:sldId id="1105" r:id="rId51"/>
    <p:sldId id="1128" r:id="rId52"/>
    <p:sldId id="1129" r:id="rId53"/>
    <p:sldId id="1130" r:id="rId54"/>
    <p:sldId id="1149" r:id="rId55"/>
    <p:sldId id="1150" r:id="rId56"/>
    <p:sldId id="1151" r:id="rId57"/>
    <p:sldId id="1133" r:id="rId58"/>
    <p:sldId id="1152" r:id="rId59"/>
    <p:sldId id="1153" r:id="rId60"/>
    <p:sldId id="1154" r:id="rId61"/>
    <p:sldId id="1136" r:id="rId62"/>
    <p:sldId id="1155" r:id="rId63"/>
    <p:sldId id="1148" r:id="rId64"/>
    <p:sldId id="942" r:id="rId65"/>
  </p:sldIdLst>
  <p:sldSz cx="9906000" cy="6858000" type="A4"/>
  <p:notesSz cx="7104063" cy="10234613"/>
  <p:embeddedFontLst>
    <p:embeddedFont>
      <p:font typeface="Stencil" panose="040409050D0802020404" pitchFamily="82" charset="0"/>
      <p:regular r:id="rId6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лайдтардын кабы" id="{197FF5E7-57A8-40D7-8FA0-8A089C366947}">
          <p14:sldIdLst>
            <p14:sldId id="257"/>
          </p14:sldIdLst>
        </p14:section>
        <p14:section name="Көбөйтүү" id="{059544AC-2C27-45B1-9F95-F87DF8854DD6}">
          <p14:sldIdLst>
            <p14:sldId id="996"/>
            <p14:sldId id="964"/>
            <p14:sldId id="965"/>
            <p14:sldId id="966"/>
            <p14:sldId id="967"/>
            <p14:sldId id="997"/>
            <p14:sldId id="998"/>
            <p14:sldId id="973"/>
            <p14:sldId id="976"/>
            <p14:sldId id="974"/>
            <p14:sldId id="977"/>
            <p14:sldId id="978"/>
            <p14:sldId id="979"/>
            <p14:sldId id="980"/>
            <p14:sldId id="981"/>
            <p14:sldId id="982"/>
            <p14:sldId id="983"/>
          </p14:sldIdLst>
        </p14:section>
        <p14:section name="Баалоо суроолору" id="{5E4D9F5D-3342-4588-B8B5-5D66E34278B6}">
          <p14:sldIdLst>
            <p14:sldId id="1146"/>
            <p14:sldId id="1147"/>
          </p14:sldIdLst>
        </p14:section>
        <p14:section name="Бөлүү" id="{80AAAB19-D972-460F-ADF6-9D2A516AB23D}">
          <p14:sldIdLst>
            <p14:sldId id="1143"/>
            <p14:sldId id="1145"/>
            <p14:sldId id="1144"/>
            <p14:sldId id="1123"/>
            <p14:sldId id="1124"/>
            <p14:sldId id="1122"/>
            <p14:sldId id="1125"/>
          </p14:sldIdLst>
        </p14:section>
        <p14:section name="Көрсөтмөлөр" id="{CCAA12B3-15ED-4681-A04F-4E3F45CE5E0D}">
          <p14:sldIdLst>
            <p14:sldId id="1103"/>
            <p14:sldId id="1126"/>
            <p14:sldId id="1108"/>
            <p14:sldId id="1084"/>
            <p14:sldId id="1109"/>
            <p14:sldId id="1110"/>
            <p14:sldId id="1111"/>
            <p14:sldId id="1100"/>
            <p14:sldId id="1112"/>
            <p14:sldId id="1113"/>
            <p14:sldId id="1114"/>
            <p14:sldId id="1115"/>
            <p14:sldId id="1101"/>
            <p14:sldId id="1116"/>
            <p14:sldId id="1139"/>
            <p14:sldId id="1138"/>
            <p14:sldId id="1102"/>
            <p14:sldId id="1117"/>
            <p14:sldId id="1118"/>
            <p14:sldId id="1119"/>
            <p14:sldId id="1120"/>
            <p14:sldId id="1105"/>
            <p14:sldId id="1128"/>
            <p14:sldId id="1129"/>
            <p14:sldId id="1130"/>
            <p14:sldId id="1149"/>
            <p14:sldId id="1150"/>
            <p14:sldId id="1151"/>
            <p14:sldId id="1133"/>
            <p14:sldId id="1152"/>
            <p14:sldId id="1153"/>
            <p14:sldId id="1154"/>
            <p14:sldId id="1136"/>
          </p14:sldIdLst>
        </p14:section>
        <p14:section name="Баалоо суроолору" id="{848964E2-803D-4001-9E9B-4C664F062107}">
          <p14:sldIdLst>
            <p14:sldId id="1155"/>
            <p14:sldId id="1148"/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938" y="60"/>
      </p:cViewPr>
      <p:guideLst>
        <p:guide orient="horz" pos="2092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font" Target="fonts/font1.fnt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0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2742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062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2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9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9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35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76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35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0783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468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01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52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Сандык Ондуктар – Көбөйтүү</a:t>
            </a:r>
            <a:r>
              <a:rPr lang="en-US" dirty="0"/>
              <a:t> </a:t>
            </a:r>
            <a:r>
              <a:rPr lang="ky-KG" dirty="0"/>
              <a:t>жана </a:t>
            </a:r>
            <a:r>
              <a:rPr lang="ru-RU" dirty="0"/>
              <a:t>Бөлүү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358640" y="21806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E0A47D-36F4-4F4C-B3F8-2CCA3AA278AE}"/>
              </a:ext>
            </a:extLst>
          </p:cNvPr>
          <p:cNvSpPr/>
          <p:nvPr/>
        </p:nvSpPr>
        <p:spPr>
          <a:xfrm>
            <a:off x="464526" y="1302098"/>
            <a:ext cx="3921370" cy="54336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39C5B4-4432-4FC8-B622-0E3A5A393D0E}"/>
              </a:ext>
            </a:extLst>
          </p:cNvPr>
          <p:cNvSpPr/>
          <p:nvPr/>
        </p:nvSpPr>
        <p:spPr>
          <a:xfrm>
            <a:off x="5520103" y="1302098"/>
            <a:ext cx="3921370" cy="54336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6AB1E-E1AE-4737-A766-C844139F1234}"/>
              </a:ext>
            </a:extLst>
          </p:cNvPr>
          <p:cNvSpPr/>
          <p:nvPr/>
        </p:nvSpPr>
        <p:spPr>
          <a:xfrm>
            <a:off x="3207170" y="-98999"/>
            <a:ext cx="3491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Башталгыч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04A1-38E8-49A8-A002-E09F9AEFCA9C}"/>
              </a:ext>
            </a:extLst>
          </p:cNvPr>
          <p:cNvSpPr txBox="1"/>
          <p:nvPr/>
        </p:nvSpPr>
        <p:spPr>
          <a:xfrm>
            <a:off x="3476789" y="706884"/>
            <a:ext cx="2952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 аткаргыла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389C-1452-4EF9-99D3-47D827B372CA}"/>
              </a:ext>
            </a:extLst>
          </p:cNvPr>
          <p:cNvSpPr txBox="1"/>
          <p:nvPr/>
        </p:nvSpPr>
        <p:spPr>
          <a:xfrm>
            <a:off x="1001551" y="17496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 × 6 = 18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77B6-5F9E-456F-B8BA-8AB059ACE5E7}"/>
              </a:ext>
            </a:extLst>
          </p:cNvPr>
          <p:cNvSpPr txBox="1"/>
          <p:nvPr/>
        </p:nvSpPr>
        <p:spPr>
          <a:xfrm>
            <a:off x="1001551" y="30450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8 = 32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5E0D-E301-45F4-9DD3-AA35FD190174}"/>
              </a:ext>
            </a:extLst>
          </p:cNvPr>
          <p:cNvSpPr txBox="1"/>
          <p:nvPr/>
        </p:nvSpPr>
        <p:spPr>
          <a:xfrm>
            <a:off x="1001551" y="43404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11 = 44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F70A4-4857-4A37-A8F3-6731D80D0B0E}"/>
              </a:ext>
            </a:extLst>
          </p:cNvPr>
          <p:cNvSpPr txBox="1"/>
          <p:nvPr/>
        </p:nvSpPr>
        <p:spPr>
          <a:xfrm>
            <a:off x="1001551" y="56358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 × 4 = 48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873F8-2A32-41E4-8EFF-A1B8860DA79E}"/>
              </a:ext>
            </a:extLst>
          </p:cNvPr>
          <p:cNvSpPr txBox="1"/>
          <p:nvPr/>
        </p:nvSpPr>
        <p:spPr>
          <a:xfrm>
            <a:off x="6092297" y="1749672"/>
            <a:ext cx="2568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 × 12 = 108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4E94-9DF0-444C-A5D0-7E12F802D7BD}"/>
              </a:ext>
            </a:extLst>
          </p:cNvPr>
          <p:cNvSpPr txBox="1"/>
          <p:nvPr/>
        </p:nvSpPr>
        <p:spPr>
          <a:xfrm>
            <a:off x="6092297" y="30450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 × 13 = 143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BCCA9-DAA0-4123-91F8-629F28988911}"/>
              </a:ext>
            </a:extLst>
          </p:cNvPr>
          <p:cNvSpPr txBox="1"/>
          <p:nvPr/>
        </p:nvSpPr>
        <p:spPr>
          <a:xfrm>
            <a:off x="6092297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15 × 18 = 270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7E0EF-A4A8-4AA5-83A6-0CDB715C72AD}"/>
              </a:ext>
            </a:extLst>
          </p:cNvPr>
          <p:cNvSpPr txBox="1"/>
          <p:nvPr/>
        </p:nvSpPr>
        <p:spPr>
          <a:xfrm>
            <a:off x="6092297" y="56358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23 × 31 = 713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5CD53-08D0-42CD-ABBE-FC8D02705869}"/>
              </a:ext>
            </a:extLst>
          </p:cNvPr>
          <p:cNvSpPr/>
          <p:nvPr/>
        </p:nvSpPr>
        <p:spPr>
          <a:xfrm>
            <a:off x="2400299" y="17329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BDFAA-C458-4A49-A618-BB58274E08D6}"/>
              </a:ext>
            </a:extLst>
          </p:cNvPr>
          <p:cNvSpPr/>
          <p:nvPr/>
        </p:nvSpPr>
        <p:spPr>
          <a:xfrm>
            <a:off x="2332892" y="3072284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FE64C-60EB-4945-A942-25B1BFC387E1}"/>
              </a:ext>
            </a:extLst>
          </p:cNvPr>
          <p:cNvSpPr/>
          <p:nvPr/>
        </p:nvSpPr>
        <p:spPr>
          <a:xfrm>
            <a:off x="2608384" y="4350100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77FB7-C59D-4440-B164-5A8FD8354F0B}"/>
              </a:ext>
            </a:extLst>
          </p:cNvPr>
          <p:cNvSpPr/>
          <p:nvPr/>
        </p:nvSpPr>
        <p:spPr>
          <a:xfrm>
            <a:off x="2611314" y="5583953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6342-5199-4703-A79E-18E14DA64611}"/>
              </a:ext>
            </a:extLst>
          </p:cNvPr>
          <p:cNvSpPr/>
          <p:nvPr/>
        </p:nvSpPr>
        <p:spPr>
          <a:xfrm>
            <a:off x="7766538" y="1876529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2A3C76-1428-4036-91B3-EDE0380C825D}"/>
              </a:ext>
            </a:extLst>
          </p:cNvPr>
          <p:cNvSpPr/>
          <p:nvPr/>
        </p:nvSpPr>
        <p:spPr>
          <a:xfrm>
            <a:off x="7927731" y="3048836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3900F-B514-400C-B2BB-B267A361A7B0}"/>
              </a:ext>
            </a:extLst>
          </p:cNvPr>
          <p:cNvSpPr/>
          <p:nvPr/>
        </p:nvSpPr>
        <p:spPr>
          <a:xfrm>
            <a:off x="7904285" y="4414575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AF24-37C1-4A41-8CF1-4DF54101A387}"/>
              </a:ext>
            </a:extLst>
          </p:cNvPr>
          <p:cNvSpPr/>
          <p:nvPr/>
        </p:nvSpPr>
        <p:spPr>
          <a:xfrm>
            <a:off x="7968761" y="5604467"/>
            <a:ext cx="1008185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342900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9B7615-BC56-414A-8348-29B75AE59479}"/>
              </a:ext>
            </a:extLst>
          </p:cNvPr>
          <p:cNvSpPr/>
          <p:nvPr/>
        </p:nvSpPr>
        <p:spPr>
          <a:xfrm>
            <a:off x="5328139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769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5110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10429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8088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599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2999623" y="344219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2999623" y="42884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2999623" y="2595933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2999623" y="1749673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29996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29ADF-309B-4608-91E3-C7D10CE2F8AF}"/>
              </a:ext>
            </a:extLst>
          </p:cNvPr>
          <p:cNvSpPr txBox="1"/>
          <p:nvPr/>
        </p:nvSpPr>
        <p:spPr>
          <a:xfrm>
            <a:off x="63061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3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2F79D-C4FD-4418-8633-F3944E91319D}"/>
              </a:ext>
            </a:extLst>
          </p:cNvPr>
          <p:cNvSpPr txBox="1"/>
          <p:nvPr/>
        </p:nvSpPr>
        <p:spPr>
          <a:xfrm>
            <a:off x="65402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3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E6C0-7B35-4F0E-9C49-3112287137AC}"/>
              </a:ext>
            </a:extLst>
          </p:cNvPr>
          <p:cNvSpPr txBox="1"/>
          <p:nvPr/>
        </p:nvSpPr>
        <p:spPr>
          <a:xfrm>
            <a:off x="60721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 × 3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42D0C-033F-42EA-932A-89E00A27F50A}"/>
              </a:ext>
            </a:extLst>
          </p:cNvPr>
          <p:cNvSpPr txBox="1"/>
          <p:nvPr/>
        </p:nvSpPr>
        <p:spPr>
          <a:xfrm>
            <a:off x="58380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4000 × 3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DB9C-6797-4394-9CAD-66326C867207}"/>
              </a:ext>
            </a:extLst>
          </p:cNvPr>
          <p:cNvSpPr txBox="1"/>
          <p:nvPr/>
        </p:nvSpPr>
        <p:spPr>
          <a:xfrm>
            <a:off x="61891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0.4 × 3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15EB-F29B-450C-B0E3-8DD7AB596752}"/>
              </a:ext>
            </a:extLst>
          </p:cNvPr>
          <p:cNvSpPr txBox="1"/>
          <p:nvPr/>
        </p:nvSpPr>
        <p:spPr>
          <a:xfrm>
            <a:off x="8028823" y="3442193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9C3CF-57FA-4FC8-B4D1-29BB419AF4CE}"/>
              </a:ext>
            </a:extLst>
          </p:cNvPr>
          <p:cNvSpPr txBox="1"/>
          <p:nvPr/>
        </p:nvSpPr>
        <p:spPr>
          <a:xfrm>
            <a:off x="8028823" y="428845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6CA8-4C58-491E-8477-EE1A63AC6E3D}"/>
              </a:ext>
            </a:extLst>
          </p:cNvPr>
          <p:cNvSpPr txBox="1"/>
          <p:nvPr/>
        </p:nvSpPr>
        <p:spPr>
          <a:xfrm>
            <a:off x="8028823" y="259593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28DFA-1877-4E3D-BD55-639166D84A50}"/>
              </a:ext>
            </a:extLst>
          </p:cNvPr>
          <p:cNvSpPr txBox="1"/>
          <p:nvPr/>
        </p:nvSpPr>
        <p:spPr>
          <a:xfrm>
            <a:off x="8028823" y="1749673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E1B08-21AE-4BFF-9014-D951F6D5F84A}"/>
              </a:ext>
            </a:extLst>
          </p:cNvPr>
          <p:cNvSpPr txBox="1"/>
          <p:nvPr/>
        </p:nvSpPr>
        <p:spPr>
          <a:xfrm>
            <a:off x="80288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1.2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63433-3464-4912-BA86-AA663C862F98}"/>
              </a:ext>
            </a:extLst>
          </p:cNvPr>
          <p:cNvSpPr txBox="1"/>
          <p:nvPr/>
        </p:nvSpPr>
        <p:spPr>
          <a:xfrm>
            <a:off x="339549" y="38669"/>
            <a:ext cx="92269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жерде эсептердин эки топтому бар.</a:t>
            </a:r>
          </a:p>
          <a:p>
            <a:pPr algn="ctr"/>
            <a:r>
              <a:rPr lang="ru-RU" sz="2000" dirty="0"/>
              <a:t>Сиз үчүн бир эсептөө жасалды.</a:t>
            </a:r>
          </a:p>
          <a:p>
            <a:pPr algn="ctr"/>
            <a:r>
              <a:rPr lang="ru-RU" sz="2000" dirty="0"/>
              <a:t>Бул эсепти ар бир топтомдун калган бөлүгүнө жооп табуу үчүн колдоно аласызбы?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30520F-74FB-4D6A-813A-AB16F46E3DE4}"/>
              </a:ext>
            </a:extLst>
          </p:cNvPr>
          <p:cNvSpPr txBox="1"/>
          <p:nvPr/>
        </p:nvSpPr>
        <p:spPr>
          <a:xfrm>
            <a:off x="2524189" y="6395507"/>
            <a:ext cx="48576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Кандай закон ченемдүүлүк таба алдыңыз?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20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1178171"/>
            <a:ext cx="4334608" cy="441373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3028955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875215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2182695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1336435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721473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302895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8752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2182695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1336435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721473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3328997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3330207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4217020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4218230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2036857" y="273699"/>
            <a:ext cx="5985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 </a:t>
            </a:r>
          </a:p>
          <a:p>
            <a:pPr algn="ctr"/>
            <a:r>
              <a:rPr lang="ru-RU" sz="2000" dirty="0"/>
              <a:t>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71834" y="6008646"/>
            <a:ext cx="5762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</a:t>
            </a:r>
          </a:p>
          <a:p>
            <a:pPr algn="ctr"/>
            <a:r>
              <a:rPr lang="ru-RU" sz="2000" dirty="0"/>
              <a:t>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300612" y="38669"/>
            <a:ext cx="730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Көнүгүүлөрдүн ар бир топтомун көчүрүп, амалдарды аткарыңыз.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3149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3149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4" grpId="0"/>
      <p:bldP spid="45" grpId="0"/>
      <p:bldP spid="52" grpId="0"/>
      <p:bldP spid="53" grpId="0"/>
      <p:bldP spid="54" grpId="0"/>
      <p:bldP spid="61" grpId="0"/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 × 0.2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>
                <a:solidFill>
                  <a:prstClr val="black"/>
                </a:solidFill>
              </a:rPr>
              <a:t>4 × 2 = 8 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0.4 × 0.2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0.08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088E02-CC39-4C66-AA0B-A2031CAD0838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E8569B-ACDD-4F18-82E5-D5E54286229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32291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0.3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7 × 3 = 21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0.7 × 0.7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0.21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77151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 × 0.9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2878486" y="38669"/>
            <a:ext cx="414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3 баскыч менен амалды аткарыңыз.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8 × 9 = 72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0.8 × 0.9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0.72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07654-70EF-4C01-B6B3-DC2E4021FA9A}"/>
              </a:ext>
            </a:extLst>
          </p:cNvPr>
          <p:cNvSpPr/>
          <p:nvPr/>
        </p:nvSpPr>
        <p:spPr>
          <a:xfrm>
            <a:off x="5428447" y="1152630"/>
            <a:ext cx="690999" cy="693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7.2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7.2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CF670-BFEE-AA26-D502-575B88A236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8AD1B-24C1-3146-0301-A1556BEA587D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A9C0A-F77B-9394-E09E-874F87CA4968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2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27600" y="41493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834D5-5549-4384-893B-3541C832B20A}"/>
              </a:ext>
            </a:extLst>
          </p:cNvPr>
          <p:cNvSpPr txBox="1"/>
          <p:nvPr/>
        </p:nvSpPr>
        <p:spPr>
          <a:xfrm>
            <a:off x="-27329" y="5048811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CB98F-80E6-4947-BA2D-B7CCA65DE12D}"/>
              </a:ext>
            </a:extLst>
          </p:cNvPr>
          <p:cNvSpPr txBox="1"/>
          <p:nvPr/>
        </p:nvSpPr>
        <p:spPr>
          <a:xfrm>
            <a:off x="-27524" y="5735184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34B2E1-6468-4B90-8DA9-AA758A83279F}"/>
              </a:ext>
            </a:extLst>
          </p:cNvPr>
          <p:cNvSpPr txBox="1"/>
          <p:nvPr/>
        </p:nvSpPr>
        <p:spPr>
          <a:xfrm>
            <a:off x="0" y="6375390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2" grpId="0"/>
      <p:bldP spid="33" grpId="0"/>
      <p:bldP spid="36" grpId="0"/>
      <p:bldP spid="37" grpId="0"/>
      <p:bldP spid="43" grpId="0"/>
      <p:bldP spid="48" grpId="0"/>
      <p:bldP spid="49" grpId="0"/>
      <p:bldP spid="57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5F0EB-9FB1-B621-FAE1-CA7380F429A0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46ADC-A38F-7CC0-3CE8-3809EBE12DF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3F107-86F4-0FDA-3CC3-D72BD1C2D46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BC6DB-0F76-DDE2-4526-C0A2C6313568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AF48A-31EE-D3CD-6B1B-976E9B3ED13E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27EF7-B69F-3B98-989E-C35340406BA7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26585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26AA2-0D18-0B14-4A4D-31659CED1AB1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6CAE-9841-605D-EE91-8909C08330C5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7F747-5D19-DCFC-CF20-E53F339A62C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35532" y="4566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24CCF-573C-2613-7928-55C5A3E4A43C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0E222-EE4E-6B06-5AA0-F2A0F4D9478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4F2E6-C96C-648C-FFD2-CDBAF8AD0BAD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D6158-CFE4-CAF8-10F7-AEC5DF01C93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A2FB8-8431-5F6C-FD65-37FB3EFF68D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D7BEA-B702-0342-2030-02C1D4F0389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0FB69-B82B-9F2C-C82A-CFC3AD0D2416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66EC1-F4D6-D48A-E88E-199D8EEA427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8C34F-3EE3-9F99-CC9A-50BE7292B4E6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123DC-9C27-8455-6CBB-27DF06D0F4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50128-D7A3-DED5-4A52-513F662FB3D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BC953-C4BB-4A4F-1980-2B33F97B4B7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1287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15093-9BE3-82F3-95B9-9BCB8DF3AB8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1DF23-BD9A-12F8-D33B-9EA88AA08CA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3D25-79AD-7F3C-D072-EE29E97F6E01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79100" y="27868"/>
            <a:ext cx="2079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1082310"/>
            <a:ext cx="1965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5 × 0.3 =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906372"/>
            <a:ext cx="2047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0.2 × 7 =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730434"/>
            <a:ext cx="1965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1.3 × 4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554496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0.2 × 0.9 =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378558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0.4 × 1.3 =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5202620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3.2 × 0.8 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453B3D-E5FF-4787-B07D-22A04D2AECCD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82FF7C-225A-437E-B52B-30E07DEAE45C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1F37FC-D2DD-4839-B12E-41CFDA22374C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D13A59-801C-4F70-9CA1-8AAFCED708AD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C26C26-5DFC-494C-B964-180C854E6403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63C32A-107A-4404-8A2B-EA363B90406A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28183C-5B30-477F-9EB9-63864116D9A5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8E51A0-C026-413F-9784-7512CA95A971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7B21D3-3373-4EB8-8B6A-202651D420F0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07A5FC-C5E4-481A-9AC6-13A4A20A0A99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001DAE-4BB7-4E98-AE45-29EF0DC28FC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38BBE-6F65-4D81-8B64-C6D24586CE21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C33948-35E6-409A-90E1-A7E667911F43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4307-C7FB-4D6B-A9E7-D78C1F31987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AF42DB-7D41-4CD7-91CC-B3EA22EED7F7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4D02CF-A84B-48FC-ADE1-93ACD3616EE1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33A106-F1E6-49B4-8056-B24F9AFE8987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72CA6-5FC2-FA0C-177C-BDC83E43421D}"/>
              </a:ext>
            </a:extLst>
          </p:cNvPr>
          <p:cNvSpPr txBox="1"/>
          <p:nvPr/>
        </p:nvSpPr>
        <p:spPr>
          <a:xfrm>
            <a:off x="8094543" y="1082310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67D43-9454-55D3-C996-FEEA8B1DB5AA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7AC14-278B-F651-D488-12443CE7E089}"/>
              </a:ext>
            </a:extLst>
          </p:cNvPr>
          <p:cNvSpPr txBox="1"/>
          <p:nvPr/>
        </p:nvSpPr>
        <p:spPr>
          <a:xfrm>
            <a:off x="5448465" y="6026680"/>
            <a:ext cx="2422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4.8 × 0.14 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28280-38F3-6C45-18A2-012391A5DDB8}"/>
              </a:ext>
            </a:extLst>
          </p:cNvPr>
          <p:cNvSpPr txBox="1"/>
          <p:nvPr/>
        </p:nvSpPr>
        <p:spPr>
          <a:xfrm>
            <a:off x="8094543" y="1906372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1.4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1D915-303A-8A5F-DF19-8DE15E685D43}"/>
              </a:ext>
            </a:extLst>
          </p:cNvPr>
          <p:cNvSpPr txBox="1"/>
          <p:nvPr/>
        </p:nvSpPr>
        <p:spPr>
          <a:xfrm>
            <a:off x="8094543" y="2730434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CE0C1-733A-AE9F-CDDE-BE0A2D23D082}"/>
              </a:ext>
            </a:extLst>
          </p:cNvPr>
          <p:cNvSpPr txBox="1"/>
          <p:nvPr/>
        </p:nvSpPr>
        <p:spPr>
          <a:xfrm>
            <a:off x="8094543" y="3554496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8E73D-5721-0096-F945-FADF6CA06EDF}"/>
              </a:ext>
            </a:extLst>
          </p:cNvPr>
          <p:cNvSpPr txBox="1"/>
          <p:nvPr/>
        </p:nvSpPr>
        <p:spPr>
          <a:xfrm>
            <a:off x="8094543" y="4378558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0.52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C5E5A-CF37-5679-F136-45A7A578D5F5}"/>
              </a:ext>
            </a:extLst>
          </p:cNvPr>
          <p:cNvSpPr txBox="1"/>
          <p:nvPr/>
        </p:nvSpPr>
        <p:spPr>
          <a:xfrm>
            <a:off x="8094543" y="5202620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2.56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03073-93E6-85C8-30F9-A461E36F6C31}"/>
              </a:ext>
            </a:extLst>
          </p:cNvPr>
          <p:cNvSpPr txBox="1"/>
          <p:nvPr/>
        </p:nvSpPr>
        <p:spPr>
          <a:xfrm>
            <a:off x="8094543" y="6026680"/>
            <a:ext cx="1007007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0.672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04207-BD9B-D843-7579-5608F3000F8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C9F49-F99B-1D37-3C3A-5162A598DC4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5E26D-BDAD-7B4C-B0F8-05F191639E3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1502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85535" y="31088"/>
            <a:ext cx="2286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СЕНИН КЕЗЕГИҢ 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1</a:t>
            </a:r>
            <a:r>
              <a:rPr lang="en-GB" sz="3200" dirty="0"/>
              <a:t>)   1.5 × 0.8 = 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2</a:t>
            </a:r>
            <a:r>
              <a:rPr lang="en-GB" sz="3200" dirty="0"/>
              <a:t>)   0.15 × 0.02 = 0.003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3</a:t>
            </a:r>
            <a:r>
              <a:rPr lang="en-GB" sz="3200" dirty="0"/>
              <a:t>)   0.06 × 0.08 = 0.0048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4</a:t>
            </a:r>
            <a:r>
              <a:rPr lang="en-GB" sz="3200" dirty="0"/>
              <a:t>)   0.41 × 1.2 = 0.492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5</a:t>
            </a:r>
            <a:r>
              <a:rPr lang="en-GB" sz="3200" dirty="0"/>
              <a:t>)   5.2 × 0.14 = 0.728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6</a:t>
            </a:r>
            <a:r>
              <a:rPr lang="en-GB" sz="3200" dirty="0"/>
              <a:t>)   1.14 × 0.08 = 0.0912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7</a:t>
            </a:r>
            <a:r>
              <a:rPr lang="en-GB" sz="3200" dirty="0"/>
              <a:t>)   2.44 × 0.26 = 0.6344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453B3D-E5FF-4787-B07D-22A04D2AECCD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82FF7C-225A-437E-B52B-30E07DEAE45C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1F37FC-D2DD-4839-B12E-41CFDA22374C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D13A59-801C-4F70-9CA1-8AAFCED708AD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C26C26-5DFC-494C-B964-180C854E6403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63C32A-107A-4404-8A2B-EA363B90406A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28183C-5B30-477F-9EB9-63864116D9A5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8E51A0-C026-413F-9784-7512CA95A971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7B21D3-3373-4EB8-8B6A-202651D420F0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07A5FC-C5E4-481A-9AC6-13A4A20A0A99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001DAE-4BB7-4E98-AE45-29EF0DC28FC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38BBE-6F65-4D81-8B64-C6D24586CE21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C33948-35E6-409A-90E1-A7E667911F43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4307-C7FB-4D6B-A9E7-D78C1F31987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AF42DB-7D41-4CD7-91CC-B3EA22EED7F7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4D02CF-A84B-48FC-ADE1-93ACD3616EE1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33A106-F1E6-49B4-8056-B24F9AFE8987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06BCBD-0BA0-2277-4D25-2F1A48202DAD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1BAB-BA35-A409-DD85-DFAD261FA07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982CE-99C7-E220-DCCD-D04392981CAA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8246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бөлүк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' </a:t>
            </a:r>
            <a:r>
              <a:rPr lang="ru-RU" sz="2400" dirty="0">
                <a:solidFill>
                  <a:srgbClr val="FF0000"/>
                </a:solidFill>
              </a:rPr>
              <a:t>Бөлүк</a:t>
            </a:r>
            <a:r>
              <a:rPr lang="ru-RU" sz="2400" dirty="0"/>
              <a:t> ар дайым </a:t>
            </a:r>
            <a:r>
              <a:rPr lang="ru-RU" sz="2400" dirty="0">
                <a:solidFill>
                  <a:srgbClr val="FF0000"/>
                </a:solidFill>
              </a:rPr>
              <a:t>бөлүнүүчүдөн</a:t>
            </a:r>
            <a:r>
              <a:rPr lang="ru-RU" sz="2400" dirty="0"/>
              <a:t> кичине болот'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Сиз макулсузбу?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2 ÷ 0.5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2 бүтүндүктө канча жарым бар?</a:t>
            </a:r>
            <a:endParaRPr lang="en-GB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 ÷ 0.25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 бүтүндүктө канча чейрек бар?</a:t>
            </a:r>
            <a:endParaRPr lang="en-GB" sz="2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0.5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5 бар?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0,5 бар?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2400" dirty="0"/>
              <a:t>Бөлүүчү 1ден аз болгондо, натыйжа </a:t>
            </a:r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r>
              <a:rPr lang="ru-RU" sz="2400" dirty="0"/>
              <a:t> чоң болот.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эсепти кантип </a:t>
            </a:r>
            <a:r>
              <a:rPr lang="ru-RU" sz="2000" b="1" dirty="0"/>
              <a:t>сүрөттөп</a:t>
            </a:r>
            <a:r>
              <a:rPr lang="ru-RU" sz="2000" dirty="0"/>
              <a:t> бере алабыз?</a:t>
            </a:r>
            <a:endParaRPr lang="en-GB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 бирдикте канча 0,8 бар?</a:t>
            </a:r>
            <a:endParaRPr lang="en-GB" sz="2000" dirty="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Бөлүүдө биз </a:t>
            </a:r>
            <a:r>
              <a:rPr lang="ru-RU" sz="2000" b="1" dirty="0"/>
              <a:t>бүтүн санга бөлүүнү </a:t>
            </a:r>
            <a:r>
              <a:rPr lang="ru-RU" sz="2000" dirty="0"/>
              <a:t>туура көрөбүз.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ондук эмес,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"тегерек</a:t>
            </a:r>
            <a:r>
              <a:rPr lang="ky-KG" sz="2000" dirty="0">
                <a:solidFill>
                  <a:srgbClr val="FF0000"/>
                </a:solidFill>
              </a:rPr>
              <a:t>телген</a:t>
            </a:r>
            <a:r>
              <a:rPr lang="ru-RU" sz="2000" dirty="0">
                <a:solidFill>
                  <a:srgbClr val="FF0000"/>
                </a:solidFill>
              </a:rPr>
              <a:t>" сан</a:t>
            </a:r>
            <a:r>
              <a:rPr lang="en-GB" sz="2000" dirty="0">
                <a:solidFill>
                  <a:srgbClr val="FF0000"/>
                </a:solidFill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40 бирдикте канча 8 бар?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9077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3F155-3E16-002A-4EA1-EBE6DF0E71BE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Бул эсептөөлөрдү кайра жазыңыз, алар бүтүн сандарды гана камтышы керек.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 ÷ 0.8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0.3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 ÷ 0.1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 ÷ 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 ÷ 0.2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2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 ÷ 1.5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2.7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2.4 ÷ 0.8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3.5 ÷ 1.4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0.6 ÷ 0.12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3.42 ÷ 2.7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 ÷ 15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24 ÷ 8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35 ÷ 14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600 ÷ 12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342 ÷ 270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3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 ÷  0.15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  ÷  0.7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0.6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0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866AF-2819-FA28-AA8F-6C2E34063B71}"/>
              </a:ext>
            </a:extLst>
          </p:cNvPr>
          <p:cNvSpPr txBox="1"/>
          <p:nvPr/>
        </p:nvSpPr>
        <p:spPr>
          <a:xfrm>
            <a:off x="2092037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369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38371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30687" y="461422"/>
            <a:ext cx="1448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4791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80576-A5AD-25D2-E5B4-AA11928BAE9A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76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C29A3-8D8E-1179-9E3B-43E04BB8E53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2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752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15C0DA-8133-C517-2304-5C719D5E97E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7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6415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923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  ÷  0.5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60A963-DEA2-3A7C-D28B-9FAFC73B1EDB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3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  ÷  0.2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89751-750F-266D-30CE-6509FBBDB68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 ÷  0.6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FBAA71-EC6E-6035-6A79-124D4F5088BC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3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734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10141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</p:spTree>
    <p:extLst>
      <p:ext uri="{BB962C8B-B14F-4D97-AF65-F5344CB8AC3E}">
        <p14:creationId xmlns:p14="http://schemas.microsoft.com/office/powerpoint/2010/main" val="17976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</p:spTree>
    <p:extLst>
      <p:ext uri="{BB962C8B-B14F-4D97-AF65-F5344CB8AC3E}">
        <p14:creationId xmlns:p14="http://schemas.microsoft.com/office/powerpoint/2010/main" val="341778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/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 ÷  2.5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1C5C2D-2DA1-B73A-8BFF-E6181EE140C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/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 ÷  1.4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9CB586-5A2E-A457-EBE2-4BFE0795E255}"/>
              </a:ext>
            </a:extLst>
          </p:cNvPr>
          <p:cNvSpPr txBox="1"/>
          <p:nvPr/>
        </p:nvSpPr>
        <p:spPr>
          <a:xfrm>
            <a:off x="5761888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D2760-476A-ECC0-E1BE-FA5B4AA6CFA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36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CDCBE7-A37A-FDC3-B8CB-FCD5C801C3A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AB7FB5-6CF9-BABF-43C3-4A697C56D2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  ÷  1.2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421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3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AA3277-3576-B0A5-5470-C6C6F112F66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7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  ÷  1.6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77AA48-629A-ECFB-6533-CC5C177822C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8.4  ÷  2.1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4F299-BE87-5EAB-B59A-391D9378C23D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15.6  ÷  1.3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156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B65AF-E88A-0CB5-63B5-25F41A7A96F9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E70F-1BB9-2AB7-236D-0078C2857C35}"/>
              </a:ext>
            </a:extLst>
          </p:cNvPr>
          <p:cNvSpPr txBox="1"/>
          <p:nvPr/>
        </p:nvSpPr>
        <p:spPr>
          <a:xfrm>
            <a:off x="7800989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F8478-A324-0272-E083-4120D5CB165E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511131-8920-7DE1-E962-9A7FFCF125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" grpId="0"/>
      <p:bldP spid="3" grpId="0"/>
      <p:bldP spid="2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7455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48C246-54D8-930A-B10D-E04E4862B571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5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EFCC9-B297-783E-2BFB-381C993378F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63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2BC3E-17DB-7BEB-4F02-0D791968526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9" grpId="0"/>
      <p:bldP spid="30" grpId="0"/>
      <p:bldP spid="32" grpId="0"/>
      <p:bldP spid="3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8088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530BB3-95CB-BB9C-6AFA-7A2F8368DF0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06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5.6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5206BD-28AC-FE18-8294-CEF97070530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2.1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43756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280E-F4E6-1836-3237-FBBFA306AC99}"/>
              </a:ext>
            </a:extLst>
          </p:cNvPr>
          <p:cNvSpPr txBox="1"/>
          <p:nvPr/>
        </p:nvSpPr>
        <p:spPr>
          <a:xfrm>
            <a:off x="5662134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D2B9D8-638A-0045-73F8-930D3DA187E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0.15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22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50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8.4  ÷  0.12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3.3  ÷  0.15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2.8  ÷  0.35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552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7.5  ÷  1.25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3.6  ÷  0.12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99E5EF-5E51-FDCC-88A7-C94492FF7F7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менен бөлүү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Көрсөтмө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Эсептеңиз: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  ÷  0.2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2.4  ÷  1.2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 ÷  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 ÷  0.5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 ÷  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31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 ÷  0.4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3.6  ÷  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5.6  ÷  0.8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78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  ÷  1.5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 ÷  0.25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18  ÷  1.2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137FA8-2CD1-344E-4761-AF6842FADBF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СЕНИН КЕЗЕГИҢ 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06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10503</TotalTime>
  <Words>3335</Words>
  <Application>Microsoft Office PowerPoint</Application>
  <PresentationFormat>A4 Paper (210x297 mm)</PresentationFormat>
  <Paragraphs>1632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Stencil</vt:lpstr>
      <vt:lpstr>Calibri Light</vt:lpstr>
      <vt:lpstr>Arial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2024-05-11T05:38:56Z</dcterms:modified>
</cp:coreProperties>
</file>