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5"/>
  </p:notesMasterIdLst>
  <p:sldIdLst>
    <p:sldId id="1059" r:id="rId2"/>
    <p:sldId id="1060" r:id="rId3"/>
    <p:sldId id="951" r:id="rId4"/>
    <p:sldId id="955" r:id="rId5"/>
    <p:sldId id="961" r:id="rId6"/>
    <p:sldId id="958" r:id="rId7"/>
    <p:sldId id="959" r:id="rId8"/>
    <p:sldId id="965" r:id="rId9"/>
    <p:sldId id="960" r:id="rId10"/>
    <p:sldId id="964" r:id="rId11"/>
    <p:sldId id="962" r:id="rId12"/>
    <p:sldId id="953" r:id="rId13"/>
    <p:sldId id="963" r:id="rId14"/>
    <p:sldId id="950" r:id="rId15"/>
    <p:sldId id="952" r:id="rId16"/>
    <p:sldId id="954" r:id="rId17"/>
    <p:sldId id="957" r:id="rId18"/>
    <p:sldId id="956" r:id="rId19"/>
    <p:sldId id="1063" r:id="rId20"/>
    <p:sldId id="889" r:id="rId21"/>
    <p:sldId id="1061" r:id="rId22"/>
    <p:sldId id="1062" r:id="rId23"/>
    <p:sldId id="967" r:id="rId24"/>
  </p:sldIdLst>
  <p:sldSz cx="9906000" cy="6858000" type="A4"/>
  <p:notesSz cx="7104063" cy="10234613"/>
  <p:embeddedFontLst>
    <p:embeddedFont>
      <p:font typeface="Algerian" panose="04020705040A02060702" pitchFamily="82" charset="0"/>
      <p:regular r:id="rId26"/>
    </p:embeddedFont>
    <p:embeddedFont>
      <p:font typeface="Cambria Math" panose="02040503050406030204" pitchFamily="18" charset="0"/>
      <p:regular r:id="rId2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7BC8FAF0-C320-415E-87E9-1C6F0587BAEF}">
          <p14:sldIdLst>
            <p14:sldId id="1059"/>
          </p14:sldIdLst>
        </p14:section>
        <p14:section name="Титулдук слайд" id="{BD3F2AD0-4D3E-4999-8D3C-DC4D710531BD}">
          <p14:sldIdLst>
            <p14:sldId id="1060"/>
          </p14:sldIdLst>
        </p14:section>
        <p14:section name="А4 форматындагы плакаттар" id="{03DD8F7C-D35F-4E4B-9282-6A82783B2D88}">
          <p14:sldIdLst>
            <p14:sldId id="951"/>
            <p14:sldId id="955"/>
            <p14:sldId id="961"/>
            <p14:sldId id="958"/>
            <p14:sldId id="959"/>
            <p14:sldId id="965"/>
            <p14:sldId id="960"/>
            <p14:sldId id="964"/>
            <p14:sldId id="962"/>
            <p14:sldId id="953"/>
            <p14:sldId id="963"/>
            <p14:sldId id="950"/>
            <p14:sldId id="952"/>
            <p14:sldId id="954"/>
            <p14:sldId id="957"/>
            <p14:sldId id="956"/>
          </p14:sldIdLst>
        </p14:section>
        <p14:section name="Мугалимдин жооп баракчасы" id="{E2D7BDB3-F176-4040-BFF6-DC0F47462F39}">
          <p14:sldIdLst>
            <p14:sldId id="1063"/>
          </p14:sldIdLst>
        </p14:section>
        <p14:section name="Жооптор" id="{4DCA0740-8998-4120-8F8E-E137F33F62AA}">
          <p14:sldIdLst>
            <p14:sldId id="889"/>
          </p14:sldIdLst>
        </p14:section>
        <p14:section name="Окуучулардын жооп баракчасы" id="{3A740BE4-45AA-4B49-A62A-26F002944D9D}">
          <p14:sldIdLst>
            <p14:sldId id="1061"/>
            <p14:sldId id="1062"/>
          </p14:sldIdLst>
        </p14:section>
        <p14:section name="Кайтарым байланыш" id="{42C022F1-9868-458C-8D47-B0F178A496EE}">
          <p14:sldIdLst>
            <p14:sldId id="9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27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12" y="3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275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8" tIns="47319" rIns="94638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8" tIns="47319" rIns="94638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5.jpe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196A19-4AB1-E647-240D-F68B9B60A45B}"/>
              </a:ext>
            </a:extLst>
          </p:cNvPr>
          <p:cNvSpPr txBox="1"/>
          <p:nvPr/>
        </p:nvSpPr>
        <p:spPr>
          <a:xfrm>
            <a:off x="314960" y="856357"/>
            <a:ext cx="959104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ky-KG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ky-KG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b="1" dirty="0"/>
              <a:t>Эквиваленттүүлүк – Бөлчөктөр, Ондуктар жана Пайыздар </a:t>
            </a:r>
            <a:r>
              <a:rPr lang="en-US" sz="2400" dirty="0"/>
              <a:t>– </a:t>
            </a:r>
            <a:r>
              <a:rPr lang="ky-KG" sz="2400" b="1" dirty="0"/>
              <a:t>Казына Издөө көндүмү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dirty="0"/>
              <a:t>Окуучулар ж</a:t>
            </a:r>
            <a:r>
              <a:rPr lang="en-US" sz="2400" dirty="0" err="1"/>
              <a:t>еке</a:t>
            </a:r>
            <a:r>
              <a:rPr lang="en-US" sz="2400" dirty="0"/>
              <a:t>  (</a:t>
            </a:r>
            <a:r>
              <a:rPr lang="en-US" sz="2400" dirty="0" err="1"/>
              <a:t>же</a:t>
            </a:r>
            <a:r>
              <a:rPr lang="en-US" sz="2400" dirty="0"/>
              <a:t> </a:t>
            </a:r>
            <a:r>
              <a:rPr lang="en-US" sz="2400" dirty="0" err="1"/>
              <a:t>жуп</a:t>
            </a:r>
            <a:r>
              <a:rPr lang="ky-KG" sz="2400" dirty="0"/>
              <a:t> болуп</a:t>
            </a:r>
            <a:r>
              <a:rPr lang="en-US" sz="2400" dirty="0"/>
              <a:t>) </a:t>
            </a:r>
            <a:r>
              <a:rPr lang="en-US" sz="2400" dirty="0" err="1"/>
              <a:t>каалаган</a:t>
            </a:r>
            <a:r>
              <a:rPr lang="en-US" sz="2400" dirty="0"/>
              <a:t> </a:t>
            </a:r>
            <a:r>
              <a:rPr lang="en-US" sz="2400" dirty="0" err="1"/>
              <a:t>суроо</a:t>
            </a:r>
            <a:r>
              <a:rPr lang="en-US" sz="2400" dirty="0"/>
              <a:t> </a:t>
            </a:r>
            <a:r>
              <a:rPr lang="en-US" sz="2400" dirty="0" err="1"/>
              <a:t>плакатта</a:t>
            </a:r>
            <a:r>
              <a:rPr lang="ky-KG" sz="2400" dirty="0"/>
              <a:t>н</a:t>
            </a:r>
            <a:r>
              <a:rPr lang="en-US" sz="2400" dirty="0"/>
              <a:t> </a:t>
            </a:r>
            <a:r>
              <a:rPr lang="en-US" sz="2400" dirty="0" err="1"/>
              <a:t>баштай</a:t>
            </a:r>
            <a:r>
              <a:rPr lang="en-US" sz="2400" dirty="0"/>
              <a:t> </a:t>
            </a:r>
            <a:r>
              <a:rPr lang="en-US" sz="2400" dirty="0" err="1"/>
              <a:t>алышат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Алар</a:t>
            </a:r>
            <a:r>
              <a:rPr lang="en-US" sz="2400" dirty="0"/>
              <a:t> </a:t>
            </a:r>
            <a:r>
              <a:rPr lang="en-US" sz="2400" dirty="0" err="1"/>
              <a:t>жоопту</a:t>
            </a:r>
            <a:r>
              <a:rPr lang="en-US" sz="2400" dirty="0"/>
              <a:t> </a:t>
            </a:r>
            <a:r>
              <a:rPr lang="en-US" sz="2400" dirty="0" err="1"/>
              <a:t>эсептеп</a:t>
            </a:r>
            <a:r>
              <a:rPr lang="en-US" sz="2400" dirty="0"/>
              <a:t> </a:t>
            </a:r>
            <a:r>
              <a:rPr lang="en-US" sz="2400" dirty="0" err="1"/>
              <a:t>чыккандан</a:t>
            </a:r>
            <a:r>
              <a:rPr lang="en-US" sz="2400" dirty="0"/>
              <a:t> </a:t>
            </a:r>
            <a:r>
              <a:rPr lang="en-US" sz="2400" dirty="0" err="1"/>
              <a:t>кийин</a:t>
            </a:r>
            <a:r>
              <a:rPr lang="en-US" sz="2400" dirty="0"/>
              <a:t>,  </a:t>
            </a:r>
            <a:r>
              <a:rPr lang="en-US" sz="2400" dirty="0" err="1"/>
              <a:t>ошол</a:t>
            </a:r>
            <a:r>
              <a:rPr lang="en-US" sz="2400" dirty="0"/>
              <a:t> </a:t>
            </a:r>
            <a:r>
              <a:rPr lang="en-US" sz="2400" dirty="0" err="1"/>
              <a:t>жооп</a:t>
            </a:r>
            <a:r>
              <a:rPr lang="en-US" sz="2400" dirty="0"/>
              <a:t> </a:t>
            </a:r>
            <a:r>
              <a:rPr lang="en-US" sz="2400" dirty="0" err="1"/>
              <a:t>бар</a:t>
            </a:r>
            <a:r>
              <a:rPr lang="en-US" sz="2400" dirty="0"/>
              <a:t> </a:t>
            </a:r>
            <a:r>
              <a:rPr lang="en-US" sz="2400" dirty="0" err="1"/>
              <a:t>плакатты</a:t>
            </a:r>
            <a:r>
              <a:rPr lang="en-US" sz="2400" dirty="0"/>
              <a:t> </a:t>
            </a:r>
            <a:r>
              <a:rPr lang="en-US" sz="2400" dirty="0" err="1"/>
              <a:t>табышы</a:t>
            </a:r>
            <a:r>
              <a:rPr lang="en-US" sz="2400" dirty="0"/>
              <a:t> </a:t>
            </a:r>
            <a:r>
              <a:rPr lang="en-US" sz="2400" dirty="0" err="1"/>
              <a:t>керек</a:t>
            </a:r>
            <a:r>
              <a:rPr lang="en-US" sz="2400" dirty="0"/>
              <a:t>. </a:t>
            </a:r>
            <a:r>
              <a:rPr lang="ky-KG" sz="2400" dirty="0"/>
              <a:t>Окуучулар</a:t>
            </a:r>
            <a:r>
              <a:rPr lang="en-US" sz="2400" dirty="0"/>
              <a:t> </a:t>
            </a:r>
            <a:r>
              <a:rPr lang="en-US" sz="2400" dirty="0" err="1"/>
              <a:t>бир</a:t>
            </a:r>
            <a:r>
              <a:rPr lang="en-US" sz="2400" dirty="0"/>
              <a:t> </a:t>
            </a:r>
            <a:r>
              <a:rPr lang="en-US" sz="2400" dirty="0" err="1"/>
              <a:t>суроодон</a:t>
            </a:r>
            <a:r>
              <a:rPr lang="en-US" sz="2400" dirty="0"/>
              <a:t> </a:t>
            </a:r>
            <a:r>
              <a:rPr lang="en-US" sz="2400" dirty="0" err="1"/>
              <a:t>экинчи</a:t>
            </a:r>
            <a:r>
              <a:rPr lang="en-US" sz="2400" dirty="0"/>
              <a:t> </a:t>
            </a:r>
            <a:r>
              <a:rPr lang="en-US" sz="2400" dirty="0" err="1"/>
              <a:t>суроого</a:t>
            </a:r>
            <a:r>
              <a:rPr lang="en-US" sz="2400" dirty="0"/>
              <a:t> </a:t>
            </a:r>
            <a:r>
              <a:rPr lang="en-US" sz="2400" dirty="0" err="1"/>
              <a:t>толук</a:t>
            </a:r>
            <a:r>
              <a:rPr lang="en-US" sz="2400" dirty="0"/>
              <a:t> </a:t>
            </a:r>
            <a:r>
              <a:rPr lang="en-US" sz="2400" dirty="0" err="1"/>
              <a:t>тегере</a:t>
            </a:r>
            <a:r>
              <a:rPr lang="ky-KG" sz="2400" dirty="0"/>
              <a:t>нип</a:t>
            </a:r>
            <a:r>
              <a:rPr lang="en-US" sz="2400" dirty="0"/>
              <a:t> </a:t>
            </a:r>
            <a:r>
              <a:rPr lang="en-US" sz="2400" dirty="0" err="1"/>
              <a:t>жолду</a:t>
            </a:r>
            <a:r>
              <a:rPr lang="en-US" sz="2400" dirty="0"/>
              <a:t> </a:t>
            </a:r>
            <a:r>
              <a:rPr lang="en-US" sz="2400" dirty="0" err="1"/>
              <a:t>бүтүргөнгө</a:t>
            </a:r>
            <a:r>
              <a:rPr lang="en-US" sz="2400" dirty="0"/>
              <a:t> </a:t>
            </a:r>
            <a:r>
              <a:rPr lang="en-US" sz="2400" dirty="0" err="1"/>
              <a:t>чейин</a:t>
            </a:r>
            <a:r>
              <a:rPr lang="en-US" sz="2400" dirty="0"/>
              <a:t> </a:t>
            </a:r>
            <a:r>
              <a:rPr lang="ky-KG" sz="2400" dirty="0"/>
              <a:t>улантышат</a:t>
            </a:r>
            <a:r>
              <a:rPr lang="en-US" sz="2400" dirty="0"/>
              <a:t>.</a:t>
            </a:r>
            <a:endParaRPr lang="ky-KG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dirty="0"/>
              <a:t>Окуучулар</a:t>
            </a:r>
            <a:r>
              <a:rPr lang="en-US" sz="2400" dirty="0"/>
              <a:t> </a:t>
            </a:r>
            <a:r>
              <a:rPr lang="ky-KG" sz="2400" dirty="0"/>
              <a:t>чыгарган </a:t>
            </a:r>
            <a:r>
              <a:rPr lang="en-US" sz="2400" dirty="0" err="1"/>
              <a:t>суроолорунун</a:t>
            </a:r>
            <a:r>
              <a:rPr lang="en-US" sz="2400" dirty="0"/>
              <a:t> </a:t>
            </a:r>
            <a:r>
              <a:rPr lang="en-US" sz="2400" dirty="0" err="1"/>
              <a:t>тамгаларын</a:t>
            </a:r>
            <a:r>
              <a:rPr lang="en-US" sz="2400" dirty="0"/>
              <a:t> </a:t>
            </a:r>
            <a:r>
              <a:rPr lang="en-US" sz="2400" dirty="0" err="1"/>
              <a:t>жазып</a:t>
            </a:r>
            <a:r>
              <a:rPr lang="en-US" sz="2400" dirty="0"/>
              <a:t> </a:t>
            </a:r>
            <a:r>
              <a:rPr lang="en-US" sz="2400" dirty="0" err="1"/>
              <a:t>алышы</a:t>
            </a:r>
            <a:r>
              <a:rPr lang="en-US" sz="2400" dirty="0"/>
              <a:t> </a:t>
            </a:r>
            <a:r>
              <a:rPr lang="en-US" sz="2400" dirty="0" err="1"/>
              <a:t>керек</a:t>
            </a:r>
            <a:r>
              <a:rPr lang="en-US" sz="2400" dirty="0"/>
              <a:t>.</a:t>
            </a:r>
            <a:r>
              <a:rPr lang="ky-KG" sz="2400" dirty="0"/>
              <a:t>Унутуп калбаш үчүн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(</a:t>
            </a:r>
            <a:r>
              <a:rPr lang="ru-RU" sz="2400" dirty="0"/>
              <a:t>ачык пластик файл </a:t>
            </a:r>
            <a:r>
              <a:rPr lang="en-US" sz="2400" dirty="0" err="1"/>
              <a:t>капчыктар</a:t>
            </a:r>
            <a:r>
              <a:rPr lang="ky-KG" sz="2400" dirty="0"/>
              <a:t>га</a:t>
            </a:r>
            <a:r>
              <a:rPr lang="en-US" sz="2400" dirty="0"/>
              <a:t> </a:t>
            </a:r>
            <a:r>
              <a:rPr lang="en-US" sz="2400" dirty="0" err="1"/>
              <a:t>плакаттарды</a:t>
            </a:r>
            <a:r>
              <a:rPr lang="ky-KG" sz="2400" dirty="0"/>
              <a:t> салып кою</a:t>
            </a:r>
            <a:r>
              <a:rPr lang="en-US" sz="2400" dirty="0"/>
              <a:t>ң</a:t>
            </a:r>
            <a:r>
              <a:rPr lang="ky-KG" sz="2400" dirty="0"/>
              <a:t>уз алар сизге</a:t>
            </a:r>
            <a:r>
              <a:rPr lang="en-US" sz="2400" dirty="0"/>
              <a:t> </a:t>
            </a:r>
            <a:r>
              <a:rPr lang="en-US" sz="2400" dirty="0" err="1"/>
              <a:t>тез</a:t>
            </a:r>
            <a:r>
              <a:rPr lang="en-US" sz="2400" dirty="0"/>
              <a:t> </a:t>
            </a:r>
            <a:r>
              <a:rPr lang="en-US" sz="2400" dirty="0" err="1"/>
              <a:t>жана</a:t>
            </a:r>
            <a:r>
              <a:rPr lang="en-US" sz="2400" dirty="0"/>
              <a:t> </a:t>
            </a:r>
            <a:r>
              <a:rPr lang="en-US" sz="2400" dirty="0" err="1"/>
              <a:t>оңой</a:t>
            </a:r>
            <a:r>
              <a:rPr lang="en-US" sz="2400" dirty="0"/>
              <a:t> </a:t>
            </a:r>
            <a:r>
              <a:rPr lang="en-US" sz="2400" dirty="0" err="1"/>
              <a:t>көрсөтүүгө</a:t>
            </a:r>
            <a:r>
              <a:rPr lang="en-US" sz="2400" dirty="0"/>
              <a:t> </a:t>
            </a:r>
            <a:r>
              <a:rPr lang="en-US" sz="2400" dirty="0" err="1"/>
              <a:t>жардам</a:t>
            </a:r>
            <a:r>
              <a:rPr lang="en-US" sz="2400" dirty="0"/>
              <a:t> </a:t>
            </a:r>
            <a:r>
              <a:rPr lang="en-US" sz="2400" dirty="0" err="1"/>
              <a:t>берет</a:t>
            </a:r>
            <a:r>
              <a:rPr lang="en-US" sz="2400" dirty="0"/>
              <a:t>.)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D99591-3D8C-E2DD-A4E5-9EA7F9F029AB}"/>
              </a:ext>
            </a:extLst>
          </p:cNvPr>
          <p:cNvSpPr txBox="1">
            <a:spLocks/>
          </p:cNvSpPr>
          <p:nvPr/>
        </p:nvSpPr>
        <p:spPr>
          <a:xfrm>
            <a:off x="314960" y="31019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899463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929F260A-33A7-44B1-B56C-F2E27011A8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8" r="13437" b="13507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FE86785-CDEF-406A-A298-F25D70370A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73352"/>
            <a:ext cx="4361156" cy="414309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720089-C4D2-45A2-90BB-F14332D2BA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386" y="412577"/>
            <a:ext cx="3764281" cy="5379158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34F97C9-029A-46C3-9ABE-0D249844CA89}"/>
              </a:ext>
            </a:extLst>
          </p:cNvPr>
          <p:cNvSpPr/>
          <p:nvPr/>
        </p:nvSpPr>
        <p:spPr>
          <a:xfrm>
            <a:off x="257175" y="4236720"/>
            <a:ext cx="9648825" cy="2454181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b="1" cap="none" spc="0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Бөлчөктөр,</a:t>
            </a:r>
          </a:p>
          <a:p>
            <a:pPr algn="ctr"/>
            <a:r>
              <a:rPr lang="ky-KG" sz="6000" b="1" cap="none" spc="0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Ондуктар</a:t>
            </a:r>
          </a:p>
          <a:p>
            <a:pPr algn="ctr"/>
            <a:r>
              <a:rPr lang="ky-KG" sz="6000" b="1" cap="none" spc="0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&amp;Пайыздар</a:t>
            </a:r>
            <a:endParaRPr lang="en-US" sz="6000" b="1" cap="none" spc="0" dirty="0">
              <a:ln w="28575">
                <a:solidFill>
                  <a:schemeClr val="tx1">
                    <a:lumMod val="85000"/>
                    <a:lumOff val="15000"/>
                  </a:schemeClr>
                </a:solidFill>
                <a:prstDash val="solid"/>
              </a:ln>
              <a:solidFill>
                <a:srgbClr val="FFC0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lgerian" panose="04020705040A02060702" pitchFamily="8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268791-4F03-2200-21A7-04930DF426F3}"/>
              </a:ext>
            </a:extLst>
          </p:cNvPr>
          <p:cNvSpPr/>
          <p:nvPr/>
        </p:nvSpPr>
        <p:spPr>
          <a:xfrm>
            <a:off x="712443" y="199870"/>
            <a:ext cx="7931980" cy="1446550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8800" b="0" i="0" dirty="0">
                <a:solidFill>
                  <a:srgbClr val="FFDE59"/>
                </a:solidFill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</a:effectLst>
              </a:rPr>
              <a:t>КАЗЫНА ИЗДӨӨ</a:t>
            </a:r>
            <a:endParaRPr lang="en-US" sz="88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56097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i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64F69F-767E-4026-AC26-34B1ECC83017}"/>
              </a:ext>
            </a:extLst>
          </p:cNvPr>
          <p:cNvSpPr txBox="1"/>
          <p:nvPr/>
        </p:nvSpPr>
        <p:spPr>
          <a:xfrm>
            <a:off x="155856" y="2555375"/>
            <a:ext cx="7088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ондукту, бөлчөккө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57F14F5-FB03-4881-9BFA-93D4B91A0D66}"/>
                  </a:ext>
                </a:extLst>
              </p:cNvPr>
              <p:cNvSpPr txBox="1"/>
              <p:nvPr/>
            </p:nvSpPr>
            <p:spPr>
              <a:xfrm>
                <a:off x="2972326" y="3543970"/>
                <a:ext cx="2906565" cy="22159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3800" b="0" i="1" dirty="0" smtClean="0">
                          <a:latin typeface="Cambria Math" panose="02040503050406030204" pitchFamily="18" charset="0"/>
                        </a:rPr>
                        <m:t>0.8</m:t>
                      </m:r>
                    </m:oMath>
                  </m:oMathPara>
                </a14:m>
                <a:endParaRPr lang="en-GB" sz="13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57F14F5-FB03-4881-9BFA-93D4B91A0D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2326" y="3543970"/>
                <a:ext cx="2906565" cy="22159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968808-5AFA-41ED-81DE-C9A4C8F4FC9F}"/>
                  </a:ext>
                </a:extLst>
              </p:cNvPr>
              <p:cNvSpPr txBox="1"/>
              <p:nvPr/>
            </p:nvSpPr>
            <p:spPr>
              <a:xfrm>
                <a:off x="2755450" y="136076"/>
                <a:ext cx="2760691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0.65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968808-5AFA-41ED-81DE-C9A4C8F4F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5450" y="136076"/>
                <a:ext cx="2760691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90146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w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51FDB3-DCE0-4262-8215-D6FAACBE39A0}"/>
              </a:ext>
            </a:extLst>
          </p:cNvPr>
          <p:cNvSpPr txBox="1"/>
          <p:nvPr/>
        </p:nvSpPr>
        <p:spPr>
          <a:xfrm>
            <a:off x="155856" y="2555375"/>
            <a:ext cx="70719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бөлчөктү, пайызга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EDA70C4-2C27-4E32-BD3C-E7FF61AA4807}"/>
                  </a:ext>
                </a:extLst>
              </p:cNvPr>
              <p:cNvSpPr txBox="1"/>
              <p:nvPr/>
            </p:nvSpPr>
            <p:spPr>
              <a:xfrm>
                <a:off x="3737256" y="3209863"/>
                <a:ext cx="2079415" cy="30910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sz="13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11</m:t>
                        </m:r>
                      </m:num>
                      <m:den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20</m:t>
                        </m:r>
                      </m:den>
                    </m:f>
                  </m:oMath>
                </a14:m>
                <a:r>
                  <a:rPr lang="en-GB" sz="13800" dirty="0"/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EDA70C4-2C27-4E32-BD3C-E7FF61AA4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7256" y="3209863"/>
                <a:ext cx="2079415" cy="309103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7865738-36AC-40E3-81BA-B964EDDF5D5C}"/>
                  </a:ext>
                </a:extLst>
              </p:cNvPr>
              <p:cNvSpPr txBox="1"/>
              <p:nvPr/>
            </p:nvSpPr>
            <p:spPr>
              <a:xfrm>
                <a:off x="3203858" y="109699"/>
                <a:ext cx="2239716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5%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7865738-36AC-40E3-81BA-B964EDDF5D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3858" y="109699"/>
                <a:ext cx="2239716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19004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A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CDA9B9-B4A7-4CD0-9AE2-B9564BE40E16}"/>
              </a:ext>
            </a:extLst>
          </p:cNvPr>
          <p:cNvSpPr txBox="1"/>
          <p:nvPr/>
        </p:nvSpPr>
        <p:spPr>
          <a:xfrm>
            <a:off x="155856" y="2555375"/>
            <a:ext cx="70685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пайызды, ондукка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C73347-EFCA-41DA-BB79-8921D20A3339}"/>
                  </a:ext>
                </a:extLst>
              </p:cNvPr>
              <p:cNvSpPr txBox="1"/>
              <p:nvPr/>
            </p:nvSpPr>
            <p:spPr>
              <a:xfrm>
                <a:off x="2937157" y="3587932"/>
                <a:ext cx="3139000" cy="22159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3800" b="0" i="1" dirty="0" smtClean="0">
                          <a:latin typeface="Cambria Math" panose="02040503050406030204" pitchFamily="18" charset="0"/>
                        </a:rPr>
                        <m:t>1%</m:t>
                      </m:r>
                    </m:oMath>
                  </m:oMathPara>
                </a14:m>
                <a:endParaRPr lang="en-GB" sz="13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C73347-EFCA-41DA-BB79-8921D20A33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7157" y="3587932"/>
                <a:ext cx="3139000" cy="22159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7ACF1E6-EC3B-4E59-AD65-550FE08B2026}"/>
                  </a:ext>
                </a:extLst>
              </p:cNvPr>
              <p:cNvSpPr txBox="1"/>
              <p:nvPr/>
            </p:nvSpPr>
            <p:spPr>
              <a:xfrm>
                <a:off x="3413133" y="1649"/>
                <a:ext cx="1638590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83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7ACF1E6-EC3B-4E59-AD65-550FE08B20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3133" y="1649"/>
                <a:ext cx="1638590" cy="1826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23805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f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A812A1-8176-48E6-B04A-5273BDBED83E}"/>
              </a:ext>
            </a:extLst>
          </p:cNvPr>
          <p:cNvSpPr txBox="1"/>
          <p:nvPr/>
        </p:nvSpPr>
        <p:spPr>
          <a:xfrm>
            <a:off x="155856" y="2555375"/>
            <a:ext cx="709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ондукту ,бөлчөккө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810D9E9-C14B-45AE-97BD-C0816FD815CC}"/>
                  </a:ext>
                </a:extLst>
              </p:cNvPr>
              <p:cNvSpPr txBox="1"/>
              <p:nvPr/>
            </p:nvSpPr>
            <p:spPr>
              <a:xfrm>
                <a:off x="2734933" y="3596724"/>
                <a:ext cx="3886000" cy="22159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3800" b="0" i="1" dirty="0" smtClean="0">
                          <a:latin typeface="Cambria Math" panose="02040503050406030204" pitchFamily="18" charset="0"/>
                        </a:rPr>
                        <m:t>0.24</m:t>
                      </m:r>
                    </m:oMath>
                  </m:oMathPara>
                </a14:m>
                <a:endParaRPr lang="en-GB" sz="13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810D9E9-C14B-45AE-97BD-C0816FD815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933" y="3596724"/>
                <a:ext cx="3886000" cy="22159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F00C2AA-44D5-4833-B0EE-330F91E29D94}"/>
                  </a:ext>
                </a:extLst>
              </p:cNvPr>
              <p:cNvSpPr txBox="1"/>
              <p:nvPr/>
            </p:nvSpPr>
            <p:spPr>
              <a:xfrm>
                <a:off x="3641733" y="-15936"/>
                <a:ext cx="1212191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F00C2AA-44D5-4833-B0EE-330F91E29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1733" y="-15936"/>
                <a:ext cx="1212191" cy="1826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76784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o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B84F4F-7326-433C-8E54-62B0AD310CB2}"/>
              </a:ext>
            </a:extLst>
          </p:cNvPr>
          <p:cNvSpPr txBox="1"/>
          <p:nvPr/>
        </p:nvSpPr>
        <p:spPr>
          <a:xfrm>
            <a:off x="155856" y="2555375"/>
            <a:ext cx="70685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пайызды, ондукка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AEE9B29-7881-43EE-9570-BE64A38BEFA9}"/>
                  </a:ext>
                </a:extLst>
              </p:cNvPr>
              <p:cNvSpPr txBox="1"/>
              <p:nvPr/>
            </p:nvSpPr>
            <p:spPr>
              <a:xfrm>
                <a:off x="2488749" y="3526386"/>
                <a:ext cx="4118435" cy="22159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3800" b="0" i="1" dirty="0" smtClean="0">
                          <a:latin typeface="Cambria Math" panose="02040503050406030204" pitchFamily="18" charset="0"/>
                        </a:rPr>
                        <m:t>15%</m:t>
                      </m:r>
                    </m:oMath>
                  </m:oMathPara>
                </a14:m>
                <a:endParaRPr lang="en-GB" sz="13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AEE9B29-7881-43EE-9570-BE64A38BE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749" y="3526386"/>
                <a:ext cx="4118435" cy="22159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5D98A1-021C-44C7-872B-2E72678EA48F}"/>
                  </a:ext>
                </a:extLst>
              </p:cNvPr>
              <p:cNvSpPr txBox="1"/>
              <p:nvPr/>
            </p:nvSpPr>
            <p:spPr>
              <a:xfrm>
                <a:off x="3580187" y="-7143"/>
                <a:ext cx="1212191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5D98A1-021C-44C7-872B-2E72678EA4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0187" y="-7143"/>
                <a:ext cx="1212191" cy="1826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24446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q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ED35AA-8AEF-45A8-9CAA-2F94B323CC03}"/>
              </a:ext>
            </a:extLst>
          </p:cNvPr>
          <p:cNvSpPr txBox="1"/>
          <p:nvPr/>
        </p:nvSpPr>
        <p:spPr>
          <a:xfrm>
            <a:off x="155856" y="2555375"/>
            <a:ext cx="68591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ондукту, пайызга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9BD5A0-5547-43C6-B462-9B5948D9DE4D}"/>
                  </a:ext>
                </a:extLst>
              </p:cNvPr>
              <p:cNvSpPr txBox="1"/>
              <p:nvPr/>
            </p:nvSpPr>
            <p:spPr>
              <a:xfrm>
                <a:off x="2673388" y="3570347"/>
                <a:ext cx="3886000" cy="22159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3800" b="0" i="1" dirty="0" smtClean="0">
                          <a:latin typeface="Cambria Math" panose="02040503050406030204" pitchFamily="18" charset="0"/>
                        </a:rPr>
                        <m:t>0.99</m:t>
                      </m:r>
                    </m:oMath>
                  </m:oMathPara>
                </a14:m>
                <a:endParaRPr lang="en-GB" sz="13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9BD5A0-5547-43C6-B462-9B5948D9DE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3388" y="3570347"/>
                <a:ext cx="3886000" cy="22159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A6A6EAB-D3E4-444C-91C3-185263CEE6BD}"/>
                  </a:ext>
                </a:extLst>
              </p:cNvPr>
              <p:cNvSpPr txBox="1"/>
              <p:nvPr/>
            </p:nvSpPr>
            <p:spPr>
              <a:xfrm>
                <a:off x="2984052" y="171245"/>
                <a:ext cx="2920992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30%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A6A6EAB-D3E4-444C-91C3-185263CEE6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052" y="171245"/>
                <a:ext cx="2920992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6509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x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88DE2F-67F1-4F4B-B100-BB1808E4CB5B}"/>
              </a:ext>
            </a:extLst>
          </p:cNvPr>
          <p:cNvSpPr txBox="1"/>
          <p:nvPr/>
        </p:nvSpPr>
        <p:spPr>
          <a:xfrm>
            <a:off x="155856" y="2555375"/>
            <a:ext cx="7088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ондукту, бөлчөккө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E6FDB9F-30E5-4135-9150-0838E521A406}"/>
                  </a:ext>
                </a:extLst>
              </p:cNvPr>
              <p:cNvSpPr txBox="1"/>
              <p:nvPr/>
            </p:nvSpPr>
            <p:spPr>
              <a:xfrm>
                <a:off x="2734934" y="3535178"/>
                <a:ext cx="3886000" cy="22159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3800" b="0" i="1" dirty="0" smtClean="0">
                          <a:latin typeface="Cambria Math" panose="02040503050406030204" pitchFamily="18" charset="0"/>
                        </a:rPr>
                        <m:t>0.83</m:t>
                      </m:r>
                    </m:oMath>
                  </m:oMathPara>
                </a14:m>
                <a:endParaRPr lang="en-GB" sz="13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E6FDB9F-30E5-4135-9150-0838E521A4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934" y="3535178"/>
                <a:ext cx="3886000" cy="22159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9056287-9285-49B6-9775-04166F790888}"/>
                  </a:ext>
                </a:extLst>
              </p:cNvPr>
              <p:cNvSpPr txBox="1"/>
              <p:nvPr/>
            </p:nvSpPr>
            <p:spPr>
              <a:xfrm>
                <a:off x="2984052" y="171245"/>
                <a:ext cx="2760691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0.15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9056287-9285-49B6-9775-04166F7908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052" y="171245"/>
                <a:ext cx="2760691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40004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e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97CB9D-8A05-49A1-98FB-DD538EF65AEA}"/>
              </a:ext>
            </a:extLst>
          </p:cNvPr>
          <p:cNvSpPr txBox="1"/>
          <p:nvPr/>
        </p:nvSpPr>
        <p:spPr>
          <a:xfrm>
            <a:off x="155856" y="2555375"/>
            <a:ext cx="70719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бөлчөктү ,пайызга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59A5548-4C2D-4A87-85FE-9F01E4B434F1}"/>
                  </a:ext>
                </a:extLst>
              </p:cNvPr>
              <p:cNvSpPr txBox="1"/>
              <p:nvPr/>
            </p:nvSpPr>
            <p:spPr>
              <a:xfrm>
                <a:off x="3746049" y="3148317"/>
                <a:ext cx="2079415" cy="31087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sz="13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en-GB" sz="13800" dirty="0"/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59A5548-4C2D-4A87-85FE-9F01E4B434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6049" y="3148317"/>
                <a:ext cx="2079415" cy="31087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2B09A4A-7932-4B7E-AC92-E5403EBA4E9D}"/>
                  </a:ext>
                </a:extLst>
              </p:cNvPr>
              <p:cNvSpPr txBox="1"/>
              <p:nvPr/>
            </p:nvSpPr>
            <p:spPr>
              <a:xfrm>
                <a:off x="3545018" y="1649"/>
                <a:ext cx="1212191" cy="18209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2B09A4A-7932-4B7E-AC92-E5403EBA4E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018" y="1649"/>
                <a:ext cx="1212191" cy="18209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09623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l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801B59-0E57-4DD4-A8E9-783D8380E640}"/>
              </a:ext>
            </a:extLst>
          </p:cNvPr>
          <p:cNvSpPr txBox="1"/>
          <p:nvPr/>
        </p:nvSpPr>
        <p:spPr>
          <a:xfrm>
            <a:off x="155856" y="2555375"/>
            <a:ext cx="7075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бөлчөктү ,ондукка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6523910-2771-47CB-9B5D-17BD0E8AF701}"/>
                  </a:ext>
                </a:extLst>
              </p:cNvPr>
              <p:cNvSpPr txBox="1"/>
              <p:nvPr/>
            </p:nvSpPr>
            <p:spPr>
              <a:xfrm>
                <a:off x="3825179" y="3209863"/>
                <a:ext cx="1332416" cy="30910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sz="13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GB" sz="13800" dirty="0"/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6523910-2771-47CB-9B5D-17BD0E8AF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5179" y="3209863"/>
                <a:ext cx="1332416" cy="309103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C153525-60C2-4F15-B14E-79F01C7B6BA0}"/>
                  </a:ext>
                </a:extLst>
              </p:cNvPr>
              <p:cNvSpPr txBox="1"/>
              <p:nvPr/>
            </p:nvSpPr>
            <p:spPr>
              <a:xfrm>
                <a:off x="2984052" y="171245"/>
                <a:ext cx="2760691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0.01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C153525-60C2-4F15-B14E-79F01C7B6B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052" y="171245"/>
                <a:ext cx="2760691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59679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b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6300BC-2079-4C1A-9753-A3CECD261D75}"/>
              </a:ext>
            </a:extLst>
          </p:cNvPr>
          <p:cNvSpPr txBox="1"/>
          <p:nvPr/>
        </p:nvSpPr>
        <p:spPr>
          <a:xfrm>
            <a:off x="155856" y="2555375"/>
            <a:ext cx="70719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бөлчөктү, пайызга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6358472-7D5F-4418-901E-51D89B303060}"/>
                  </a:ext>
                </a:extLst>
              </p:cNvPr>
              <p:cNvSpPr txBox="1"/>
              <p:nvPr/>
            </p:nvSpPr>
            <p:spPr>
              <a:xfrm>
                <a:off x="3737256" y="3209863"/>
                <a:ext cx="2079415" cy="30967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sz="13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25</m:t>
                        </m:r>
                      </m:den>
                    </m:f>
                  </m:oMath>
                </a14:m>
                <a:r>
                  <a:rPr lang="en-GB" sz="13800" dirty="0"/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6358472-7D5F-4418-901E-51D89B303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7256" y="3209863"/>
                <a:ext cx="2079415" cy="309674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F7993E-E775-454B-9E9B-E7C8B942597F}"/>
                  </a:ext>
                </a:extLst>
              </p:cNvPr>
              <p:cNvSpPr txBox="1"/>
              <p:nvPr/>
            </p:nvSpPr>
            <p:spPr>
              <a:xfrm>
                <a:off x="3764826" y="19233"/>
                <a:ext cx="785792" cy="18235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F7993E-E775-454B-9E9B-E7C8B9425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4826" y="19233"/>
                <a:ext cx="785792" cy="18235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4020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p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632F2C-1F03-47CC-B2B0-FB2252A8A40D}"/>
              </a:ext>
            </a:extLst>
          </p:cNvPr>
          <p:cNvSpPr txBox="1"/>
          <p:nvPr/>
        </p:nvSpPr>
        <p:spPr>
          <a:xfrm>
            <a:off x="155856" y="2555375"/>
            <a:ext cx="7303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пайызды,бөлчөккө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BA570F2-D789-4369-AC03-EDC7A6C0ADBB}"/>
                  </a:ext>
                </a:extLst>
              </p:cNvPr>
              <p:cNvSpPr txBox="1"/>
              <p:nvPr/>
            </p:nvSpPr>
            <p:spPr>
              <a:xfrm>
                <a:off x="2488749" y="3526386"/>
                <a:ext cx="4118435" cy="22159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3800" b="0" i="1" dirty="0" smtClean="0">
                          <a:latin typeface="Cambria Math" panose="02040503050406030204" pitchFamily="18" charset="0"/>
                        </a:rPr>
                        <m:t>35%</m:t>
                      </m:r>
                    </m:oMath>
                  </m:oMathPara>
                </a14:m>
                <a:endParaRPr lang="en-GB" sz="13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BA570F2-D789-4369-AC03-EDC7A6C0A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749" y="3526386"/>
                <a:ext cx="4118435" cy="22159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DDA7D4C-7AE7-4AAF-92FB-383AA78636B6}"/>
                  </a:ext>
                </a:extLst>
              </p:cNvPr>
              <p:cNvSpPr txBox="1"/>
              <p:nvPr/>
            </p:nvSpPr>
            <p:spPr>
              <a:xfrm>
                <a:off x="2984052" y="171245"/>
                <a:ext cx="2760691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0.75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DDA7D4C-7AE7-4AAF-92FB-383AA7863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052" y="171245"/>
                <a:ext cx="2760691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143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t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0CEE3E-C509-47F9-94D5-194AAE29B888}"/>
              </a:ext>
            </a:extLst>
          </p:cNvPr>
          <p:cNvSpPr txBox="1"/>
          <p:nvPr/>
        </p:nvSpPr>
        <p:spPr>
          <a:xfrm>
            <a:off x="155856" y="2555375"/>
            <a:ext cx="7075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бөлчөктү, ондукка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EE64F2-EC4D-4D74-AADF-5CB55BD38FE0}"/>
                  </a:ext>
                </a:extLst>
              </p:cNvPr>
              <p:cNvSpPr txBox="1"/>
              <p:nvPr/>
            </p:nvSpPr>
            <p:spPr>
              <a:xfrm>
                <a:off x="3737256" y="3209863"/>
                <a:ext cx="2079415" cy="31087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sz="13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13</m:t>
                        </m:r>
                      </m:num>
                      <m:den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20</m:t>
                        </m:r>
                      </m:den>
                    </m:f>
                  </m:oMath>
                </a14:m>
                <a:r>
                  <a:rPr lang="en-GB" sz="13800" dirty="0"/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EE64F2-EC4D-4D74-AADF-5CB55BD38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7256" y="3209863"/>
                <a:ext cx="2079415" cy="31087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6F37D85-2D7B-4064-8266-1C23200FACC3}"/>
                  </a:ext>
                </a:extLst>
              </p:cNvPr>
              <p:cNvSpPr txBox="1"/>
              <p:nvPr/>
            </p:nvSpPr>
            <p:spPr>
              <a:xfrm>
                <a:off x="2984052" y="171245"/>
                <a:ext cx="2920992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99%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6F37D85-2D7B-4064-8266-1C23200FAC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052" y="171245"/>
                <a:ext cx="2920992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27743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d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9AFF9E-37A1-44FC-A6B7-FF2EA6686D0D}"/>
              </a:ext>
            </a:extLst>
          </p:cNvPr>
          <p:cNvSpPr txBox="1"/>
          <p:nvPr/>
        </p:nvSpPr>
        <p:spPr>
          <a:xfrm>
            <a:off x="155856" y="2555375"/>
            <a:ext cx="72013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пайызды,бөлчөккө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4B87752-D700-4F4C-98C4-650111E03923}"/>
                  </a:ext>
                </a:extLst>
              </p:cNvPr>
              <p:cNvSpPr txBox="1"/>
              <p:nvPr/>
            </p:nvSpPr>
            <p:spPr>
              <a:xfrm>
                <a:off x="2488749" y="3526386"/>
                <a:ext cx="4118435" cy="22159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3800" b="0" i="1" dirty="0" smtClean="0">
                          <a:latin typeface="Cambria Math" panose="02040503050406030204" pitchFamily="18" charset="0"/>
                        </a:rPr>
                        <m:t>60%</m:t>
                      </m:r>
                    </m:oMath>
                  </m:oMathPara>
                </a14:m>
                <a:endParaRPr lang="en-GB" sz="13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4B87752-D700-4F4C-98C4-650111E039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749" y="3526386"/>
                <a:ext cx="4118435" cy="22159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CE9249B-BD1F-45EB-8003-482F6C4C57C0}"/>
                  </a:ext>
                </a:extLst>
              </p:cNvPr>
              <p:cNvSpPr txBox="1"/>
              <p:nvPr/>
            </p:nvSpPr>
            <p:spPr>
              <a:xfrm>
                <a:off x="3764826" y="19233"/>
                <a:ext cx="785792" cy="18235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CE9249B-BD1F-45EB-8003-482F6C4C5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4826" y="19233"/>
                <a:ext cx="785792" cy="18235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03960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z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4DB600-35DE-40F3-B6F8-D647D9625C01}"/>
              </a:ext>
            </a:extLst>
          </p:cNvPr>
          <p:cNvSpPr txBox="1"/>
          <p:nvPr/>
        </p:nvSpPr>
        <p:spPr>
          <a:xfrm>
            <a:off x="155856" y="2555375"/>
            <a:ext cx="68591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ондукту, пайызга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4428E6A-D700-47F7-B521-89DF9CE7076B}"/>
                  </a:ext>
                </a:extLst>
              </p:cNvPr>
              <p:cNvSpPr txBox="1"/>
              <p:nvPr/>
            </p:nvSpPr>
            <p:spPr>
              <a:xfrm>
                <a:off x="2620633" y="3535178"/>
                <a:ext cx="3886000" cy="22159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3800" b="0" i="1" dirty="0" smtClean="0">
                          <a:latin typeface="Cambria Math" panose="02040503050406030204" pitchFamily="18" charset="0"/>
                        </a:rPr>
                        <m:t>0.05</m:t>
                      </m:r>
                    </m:oMath>
                  </m:oMathPara>
                </a14:m>
                <a:endParaRPr lang="en-GB" sz="13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4428E6A-D700-47F7-B521-89DF9CE70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633" y="3535178"/>
                <a:ext cx="3886000" cy="22159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DF19A87-1A55-4491-8D7E-999065DCFBCA}"/>
                  </a:ext>
                </a:extLst>
              </p:cNvPr>
              <p:cNvSpPr txBox="1"/>
              <p:nvPr/>
            </p:nvSpPr>
            <p:spPr>
              <a:xfrm>
                <a:off x="2755450" y="136076"/>
                <a:ext cx="2920992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28%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DF19A87-1A55-4491-8D7E-999065DCFB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5450" y="136076"/>
                <a:ext cx="2920992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3481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u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9EDC59-5F5B-476E-BB49-053D8F238FE2}"/>
              </a:ext>
            </a:extLst>
          </p:cNvPr>
          <p:cNvSpPr txBox="1"/>
          <p:nvPr/>
        </p:nvSpPr>
        <p:spPr>
          <a:xfrm>
            <a:off x="155856" y="2555375"/>
            <a:ext cx="72013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пайызды,бөлчөккө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0BA27F8-954A-427C-9DFC-48E491B34F0C}"/>
                  </a:ext>
                </a:extLst>
              </p:cNvPr>
              <p:cNvSpPr txBox="1"/>
              <p:nvPr/>
            </p:nvSpPr>
            <p:spPr>
              <a:xfrm>
                <a:off x="2488749" y="3526386"/>
                <a:ext cx="4118435" cy="22159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3800" b="0" i="1" dirty="0" smtClean="0">
                          <a:latin typeface="Cambria Math" panose="02040503050406030204" pitchFamily="18" charset="0"/>
                        </a:rPr>
                        <m:t>22%</m:t>
                      </m:r>
                    </m:oMath>
                  </m:oMathPara>
                </a14:m>
                <a:endParaRPr lang="en-GB" sz="13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0BA27F8-954A-427C-9DFC-48E491B34F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749" y="3526386"/>
                <a:ext cx="4118435" cy="22159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E7A8220-E290-42A9-8C28-29218F157738}"/>
                  </a:ext>
                </a:extLst>
              </p:cNvPr>
              <p:cNvSpPr txBox="1"/>
              <p:nvPr/>
            </p:nvSpPr>
            <p:spPr>
              <a:xfrm>
                <a:off x="3071975" y="100907"/>
                <a:ext cx="2079415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0.8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E7A8220-E290-42A9-8C28-29218F1577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1975" y="100907"/>
                <a:ext cx="2079415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93175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j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EBBD60-23EC-480B-B60D-E8873CA15003}"/>
              </a:ext>
            </a:extLst>
          </p:cNvPr>
          <p:cNvSpPr txBox="1"/>
          <p:nvPr/>
        </p:nvSpPr>
        <p:spPr>
          <a:xfrm>
            <a:off x="155856" y="2555375"/>
            <a:ext cx="7075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бөлчөктү ,ондукка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F1ABADF-01C8-41B4-906C-E91EB6934D90}"/>
                  </a:ext>
                </a:extLst>
              </p:cNvPr>
              <p:cNvSpPr txBox="1"/>
              <p:nvPr/>
            </p:nvSpPr>
            <p:spPr>
              <a:xfrm>
                <a:off x="3737256" y="3209863"/>
                <a:ext cx="1332416" cy="30910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sz="13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</m:oMath>
                </a14:m>
                <a:r>
                  <a:rPr lang="en-GB" sz="13800" dirty="0"/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F1ABADF-01C8-41B4-906C-E91EB6934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7256" y="3209863"/>
                <a:ext cx="1332416" cy="309103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63CA3E0-07E3-4F73-9228-A574702B7F5A}"/>
                  </a:ext>
                </a:extLst>
              </p:cNvPr>
              <p:cNvSpPr txBox="1"/>
              <p:nvPr/>
            </p:nvSpPr>
            <p:spPr>
              <a:xfrm>
                <a:off x="2781828" y="127284"/>
                <a:ext cx="2920992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55%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63CA3E0-07E3-4F73-9228-A574702B7F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1828" y="127284"/>
                <a:ext cx="2920992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77210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04D95A3-C619-4B98-A2F7-AC88B07141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00175334"/>
                  </p:ext>
                </p:extLst>
              </p:nvPr>
            </p:nvGraphicFramePr>
            <p:xfrm>
              <a:off x="87087" y="391887"/>
              <a:ext cx="9649090" cy="63340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95498">
                      <a:extLst>
                        <a:ext uri="{9D8B030D-6E8A-4147-A177-3AD203B41FA5}">
                          <a16:colId xmlns:a16="http://schemas.microsoft.com/office/drawing/2014/main" val="4241353267"/>
                        </a:ext>
                      </a:extLst>
                    </a:gridCol>
                    <a:gridCol w="1517973">
                      <a:extLst>
                        <a:ext uri="{9D8B030D-6E8A-4147-A177-3AD203B41FA5}">
                          <a16:colId xmlns:a16="http://schemas.microsoft.com/office/drawing/2014/main" val="2660725730"/>
                        </a:ext>
                      </a:extLst>
                    </a:gridCol>
                    <a:gridCol w="895498">
                      <a:extLst>
                        <a:ext uri="{9D8B030D-6E8A-4147-A177-3AD203B41FA5}">
                          <a16:colId xmlns:a16="http://schemas.microsoft.com/office/drawing/2014/main" val="151696040"/>
                        </a:ext>
                      </a:extLst>
                    </a:gridCol>
                    <a:gridCol w="1516375">
                      <a:extLst>
                        <a:ext uri="{9D8B030D-6E8A-4147-A177-3AD203B41FA5}">
                          <a16:colId xmlns:a16="http://schemas.microsoft.com/office/drawing/2014/main" val="2268253823"/>
                        </a:ext>
                      </a:extLst>
                    </a:gridCol>
                    <a:gridCol w="895498">
                      <a:extLst>
                        <a:ext uri="{9D8B030D-6E8A-4147-A177-3AD203B41FA5}">
                          <a16:colId xmlns:a16="http://schemas.microsoft.com/office/drawing/2014/main" val="2903375927"/>
                        </a:ext>
                      </a:extLst>
                    </a:gridCol>
                    <a:gridCol w="1516375">
                      <a:extLst>
                        <a:ext uri="{9D8B030D-6E8A-4147-A177-3AD203B41FA5}">
                          <a16:colId xmlns:a16="http://schemas.microsoft.com/office/drawing/2014/main" val="581000434"/>
                        </a:ext>
                      </a:extLst>
                    </a:gridCol>
                    <a:gridCol w="895498">
                      <a:extLst>
                        <a:ext uri="{9D8B030D-6E8A-4147-A177-3AD203B41FA5}">
                          <a16:colId xmlns:a16="http://schemas.microsoft.com/office/drawing/2014/main" val="358275657"/>
                        </a:ext>
                      </a:extLst>
                    </a:gridCol>
                    <a:gridCol w="1516375">
                      <a:extLst>
                        <a:ext uri="{9D8B030D-6E8A-4147-A177-3AD203B41FA5}">
                          <a16:colId xmlns:a16="http://schemas.microsoft.com/office/drawing/2014/main" val="2756706607"/>
                        </a:ext>
                      </a:extLst>
                    </a:gridCol>
                  </a:tblGrid>
                  <a:tr h="44678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9351622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T</a:t>
                          </a:r>
                        </a:p>
                        <a:p>
                          <a:pPr algn="ctr"/>
                          <a:endParaRPr lang="en-GB" sz="3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0.65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/>
                            <a:t>Z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5%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F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6</m:t>
                                    </m:r>
                                  </m:num>
                                  <m:den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28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0.75</m:t>
                                </m:r>
                              </m:oMath>
                            </m:oMathPara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080002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>
                              <a:solidFill>
                                <a:sysClr val="windowText" lastClr="000000"/>
                              </a:solidFill>
                            </a:rPr>
                            <a:t>I</a:t>
                          </a:r>
                          <a:endParaRPr lang="en-GB" sz="3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/>
                            <a:t>W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55%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0.15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P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  <m:r>
                                      <a:rPr kumimoji="0" lang="en-GB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84699499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D</a:t>
                          </a:r>
                        </a:p>
                        <a:p>
                          <a:pPr algn="ctr"/>
                          <a:endParaRPr lang="en-GB" sz="3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J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0.8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X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8</m:t>
                                    </m:r>
                                    <m:r>
                                      <a:rPr kumimoji="0" lang="en-GB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  <m:r>
                                      <a:rPr kumimoji="0" lang="en-GB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28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30%</m:t>
                                </m:r>
                              </m:oMath>
                            </m:oMathPara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32976582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28%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U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A</a:t>
                          </a:r>
                          <a:r>
                            <a:rPr lang="ky-KG" sz="3200" b="1" dirty="0">
                              <a:solidFill>
                                <a:sysClr val="windowText" lastClr="000000"/>
                              </a:solidFill>
                            </a:rPr>
                            <a:t> </a:t>
                          </a:r>
                          <a:endParaRPr lang="en-GB" sz="3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28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0.01</m:t>
                                </m:r>
                              </m:oMath>
                            </m:oMathPara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Q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28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99%</m:t>
                                </m:r>
                              </m:oMath>
                            </m:oMathPara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0858856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04D95A3-C619-4B98-A2F7-AC88B07141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00175334"/>
                  </p:ext>
                </p:extLst>
              </p:nvPr>
            </p:nvGraphicFramePr>
            <p:xfrm>
              <a:off x="87087" y="391887"/>
              <a:ext cx="9649090" cy="63340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95498">
                      <a:extLst>
                        <a:ext uri="{9D8B030D-6E8A-4147-A177-3AD203B41FA5}">
                          <a16:colId xmlns:a16="http://schemas.microsoft.com/office/drawing/2014/main" val="4241353267"/>
                        </a:ext>
                      </a:extLst>
                    </a:gridCol>
                    <a:gridCol w="1517973">
                      <a:extLst>
                        <a:ext uri="{9D8B030D-6E8A-4147-A177-3AD203B41FA5}">
                          <a16:colId xmlns:a16="http://schemas.microsoft.com/office/drawing/2014/main" val="2660725730"/>
                        </a:ext>
                      </a:extLst>
                    </a:gridCol>
                    <a:gridCol w="895498">
                      <a:extLst>
                        <a:ext uri="{9D8B030D-6E8A-4147-A177-3AD203B41FA5}">
                          <a16:colId xmlns:a16="http://schemas.microsoft.com/office/drawing/2014/main" val="151696040"/>
                        </a:ext>
                      </a:extLst>
                    </a:gridCol>
                    <a:gridCol w="1516375">
                      <a:extLst>
                        <a:ext uri="{9D8B030D-6E8A-4147-A177-3AD203B41FA5}">
                          <a16:colId xmlns:a16="http://schemas.microsoft.com/office/drawing/2014/main" val="2268253823"/>
                        </a:ext>
                      </a:extLst>
                    </a:gridCol>
                    <a:gridCol w="895498">
                      <a:extLst>
                        <a:ext uri="{9D8B030D-6E8A-4147-A177-3AD203B41FA5}">
                          <a16:colId xmlns:a16="http://schemas.microsoft.com/office/drawing/2014/main" val="2903375927"/>
                        </a:ext>
                      </a:extLst>
                    </a:gridCol>
                    <a:gridCol w="1516375">
                      <a:extLst>
                        <a:ext uri="{9D8B030D-6E8A-4147-A177-3AD203B41FA5}">
                          <a16:colId xmlns:a16="http://schemas.microsoft.com/office/drawing/2014/main" val="581000434"/>
                        </a:ext>
                      </a:extLst>
                    </a:gridCol>
                    <a:gridCol w="895498">
                      <a:extLst>
                        <a:ext uri="{9D8B030D-6E8A-4147-A177-3AD203B41FA5}">
                          <a16:colId xmlns:a16="http://schemas.microsoft.com/office/drawing/2014/main" val="358275657"/>
                        </a:ext>
                      </a:extLst>
                    </a:gridCol>
                    <a:gridCol w="1516375">
                      <a:extLst>
                        <a:ext uri="{9D8B030D-6E8A-4147-A177-3AD203B41FA5}">
                          <a16:colId xmlns:a16="http://schemas.microsoft.com/office/drawing/2014/main" val="2756706607"/>
                        </a:ext>
                      </a:extLst>
                    </a:gridCol>
                  </a:tblGrid>
                  <a:tr h="44678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9351622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T</a:t>
                          </a:r>
                        </a:p>
                        <a:p>
                          <a:pPr algn="ctr"/>
                          <a:endParaRPr lang="en-GB" sz="3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0.65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/>
                            <a:t>Z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5%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F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77510" t="-30579" r="-159839" b="-3004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6546" t="-30579" r="-803" b="-3004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080002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>
                              <a:solidFill>
                                <a:sysClr val="windowText" lastClr="000000"/>
                              </a:solidFill>
                            </a:rPr>
                            <a:t>I</a:t>
                          </a:r>
                          <a:endParaRPr lang="en-GB" sz="3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438" t="-130579" r="-477912" b="-2004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/>
                            <a:t>W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55%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0.15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P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6546" t="-130579" r="-803" b="-2004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84699499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D</a:t>
                          </a:r>
                        </a:p>
                        <a:p>
                          <a:pPr algn="ctr"/>
                          <a:endParaRPr lang="en-GB" sz="3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438" t="-231535" r="-477912" b="-1012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J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0.8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X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77510" t="-231535" r="-159839" b="-1012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6546" t="-231535" r="-803" b="-1012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32976582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28%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U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18474" t="-330165" r="-318876" b="-8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A</a:t>
                          </a:r>
                          <a:r>
                            <a:rPr lang="ky-KG" sz="3200" b="1" dirty="0">
                              <a:solidFill>
                                <a:sysClr val="windowText" lastClr="000000"/>
                              </a:solidFill>
                            </a:rPr>
                            <a:t> </a:t>
                          </a:r>
                          <a:endParaRPr lang="en-GB" sz="3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77510" t="-330165" r="-159839" b="-8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Q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6546" t="-330165" r="-803" b="-8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08588563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761BAE-9412-451C-8B90-09E585CA2ACA}"/>
              </a:ext>
            </a:extLst>
          </p:cNvPr>
          <p:cNvCxnSpPr>
            <a:cxnSpLocks/>
          </p:cNvCxnSpPr>
          <p:nvPr/>
        </p:nvCxnSpPr>
        <p:spPr>
          <a:xfrm>
            <a:off x="174174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5C25F2F-F81E-4959-B866-200B280E8311}"/>
              </a:ext>
            </a:extLst>
          </p:cNvPr>
          <p:cNvCxnSpPr>
            <a:cxnSpLocks/>
          </p:cNvCxnSpPr>
          <p:nvPr/>
        </p:nvCxnSpPr>
        <p:spPr>
          <a:xfrm>
            <a:off x="5004528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E41258-949A-45B5-B9DA-CEAC5643E0FE}"/>
              </a:ext>
            </a:extLst>
          </p:cNvPr>
          <p:cNvCxnSpPr>
            <a:cxnSpLocks/>
          </p:cNvCxnSpPr>
          <p:nvPr/>
        </p:nvCxnSpPr>
        <p:spPr>
          <a:xfrm>
            <a:off x="2589351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84486A-82F5-4658-8436-AD4CAEBBC1CE}"/>
              </a:ext>
            </a:extLst>
          </p:cNvPr>
          <p:cNvCxnSpPr>
            <a:cxnSpLocks/>
          </p:cNvCxnSpPr>
          <p:nvPr/>
        </p:nvCxnSpPr>
        <p:spPr>
          <a:xfrm>
            <a:off x="7419706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2543F6E-4978-46E1-B062-F1D3A5125429}"/>
              </a:ext>
            </a:extLst>
          </p:cNvPr>
          <p:cNvSpPr txBox="1"/>
          <p:nvPr/>
        </p:nvSpPr>
        <p:spPr>
          <a:xfrm>
            <a:off x="-31342" y="-26118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</p:spTree>
    <p:extLst>
      <p:ext uri="{BB962C8B-B14F-4D97-AF65-F5344CB8AC3E}">
        <p14:creationId xmlns:p14="http://schemas.microsoft.com/office/powerpoint/2010/main" val="20422787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929F260A-33A7-44B1-B56C-F2E27011A8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8" r="13437" b="13507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720089-C4D2-45A2-90BB-F14332D2BA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386" y="412577"/>
            <a:ext cx="3764281" cy="5379158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305EF85-5BA6-4C13-B25F-C8137E5277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9103602"/>
              </p:ext>
            </p:extLst>
          </p:nvPr>
        </p:nvGraphicFramePr>
        <p:xfrm>
          <a:off x="1524440" y="1162106"/>
          <a:ext cx="6857120" cy="5497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424">
                  <a:extLst>
                    <a:ext uri="{9D8B030D-6E8A-4147-A177-3AD203B41FA5}">
                      <a16:colId xmlns:a16="http://schemas.microsoft.com/office/drawing/2014/main" val="3761786079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281624370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3424541694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2437265853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4059675182"/>
                    </a:ext>
                  </a:extLst>
                </a:gridCol>
              </a:tblGrid>
              <a:tr h="916268"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t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 err="1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i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d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b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z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329932699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w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75412377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j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12306246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q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u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180976631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e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f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6795287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p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l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c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x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o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644428158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42D475E4-94A0-49DA-8DB9-89357D0DB676}"/>
              </a:ext>
            </a:extLst>
          </p:cNvPr>
          <p:cNvSpPr/>
          <p:nvPr/>
        </p:nvSpPr>
        <p:spPr>
          <a:xfrm>
            <a:off x="2878169" y="54354"/>
            <a:ext cx="4149662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6600" cap="none" spc="0" dirty="0"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ЖООПТОР</a:t>
            </a:r>
            <a:endParaRPr lang="en-US" sz="6600" cap="none" spc="0" dirty="0">
              <a:ln w="19050">
                <a:solidFill>
                  <a:schemeClr val="tx1">
                    <a:lumMod val="85000"/>
                    <a:lumOff val="15000"/>
                  </a:schemeClr>
                </a:solidFill>
                <a:prstDash val="solid"/>
              </a:ln>
              <a:solidFill>
                <a:srgbClr val="FFC0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lgerian" panose="04020705040A02060702" pitchFamily="82" charset="0"/>
            </a:endParaRPr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74A553F8-1667-4FA5-AB72-4BA850A300ED}"/>
              </a:ext>
            </a:extLst>
          </p:cNvPr>
          <p:cNvSpPr/>
          <p:nvPr/>
        </p:nvSpPr>
        <p:spPr>
          <a:xfrm>
            <a:off x="1780645" y="2299063"/>
            <a:ext cx="910304" cy="1448672"/>
          </a:xfrm>
          <a:prstGeom prst="upArrow">
            <a:avLst/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F6F3053-918E-491C-ABAD-C495771EBD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7544" y="2804160"/>
            <a:ext cx="2850912" cy="2708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9275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04D95A3-C619-4B98-A2F7-AC88B0714106}"/>
              </a:ext>
            </a:extLst>
          </p:cNvPr>
          <p:cNvGraphicFramePr>
            <a:graphicFrameLocks noGrp="1"/>
          </p:cNvGraphicFramePr>
          <p:nvPr/>
        </p:nvGraphicFramePr>
        <p:xfrm>
          <a:off x="87087" y="391887"/>
          <a:ext cx="9649090" cy="6334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498">
                  <a:extLst>
                    <a:ext uri="{9D8B030D-6E8A-4147-A177-3AD203B41FA5}">
                      <a16:colId xmlns:a16="http://schemas.microsoft.com/office/drawing/2014/main" val="4241353267"/>
                    </a:ext>
                  </a:extLst>
                </a:gridCol>
                <a:gridCol w="1517973">
                  <a:extLst>
                    <a:ext uri="{9D8B030D-6E8A-4147-A177-3AD203B41FA5}">
                      <a16:colId xmlns:a16="http://schemas.microsoft.com/office/drawing/2014/main" val="2660725730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151696040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268253823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290337592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581000434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35827565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756706607"/>
                    </a:ext>
                  </a:extLst>
                </a:gridCol>
              </a:tblGrid>
              <a:tr h="446784"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35162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08000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699499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97658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58856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9BF481E-DFCA-4BA6-9DBD-F16F6705123C}"/>
              </a:ext>
            </a:extLst>
          </p:cNvPr>
          <p:cNvSpPr txBox="1"/>
          <p:nvPr/>
        </p:nvSpPr>
        <p:spPr>
          <a:xfrm>
            <a:off x="-31342" y="-26118"/>
            <a:ext cx="15757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u="sng" dirty="0"/>
              <a:t>Жооп кагазы</a:t>
            </a:r>
            <a:endParaRPr lang="en-GB" sz="2000" u="sng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761BAE-9412-451C-8B90-09E585CA2ACA}"/>
              </a:ext>
            </a:extLst>
          </p:cNvPr>
          <p:cNvCxnSpPr>
            <a:cxnSpLocks/>
          </p:cNvCxnSpPr>
          <p:nvPr/>
        </p:nvCxnSpPr>
        <p:spPr>
          <a:xfrm>
            <a:off x="174174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5C25F2F-F81E-4959-B866-200B280E8311}"/>
              </a:ext>
            </a:extLst>
          </p:cNvPr>
          <p:cNvCxnSpPr>
            <a:cxnSpLocks/>
          </p:cNvCxnSpPr>
          <p:nvPr/>
        </p:nvCxnSpPr>
        <p:spPr>
          <a:xfrm>
            <a:off x="5004528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E41258-949A-45B5-B9DA-CEAC5643E0FE}"/>
              </a:ext>
            </a:extLst>
          </p:cNvPr>
          <p:cNvCxnSpPr>
            <a:cxnSpLocks/>
          </p:cNvCxnSpPr>
          <p:nvPr/>
        </p:nvCxnSpPr>
        <p:spPr>
          <a:xfrm>
            <a:off x="2589351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84486A-82F5-4658-8436-AD4CAEBBC1CE}"/>
              </a:ext>
            </a:extLst>
          </p:cNvPr>
          <p:cNvCxnSpPr>
            <a:cxnSpLocks/>
          </p:cNvCxnSpPr>
          <p:nvPr/>
        </p:nvCxnSpPr>
        <p:spPr>
          <a:xfrm>
            <a:off x="7419706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2474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CFBF105-B54A-9D9D-8DA2-DA815EC9E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5680" cy="3429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A3111D-B603-120F-393E-38B9E63BE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80" y="33045"/>
            <a:ext cx="5011616" cy="33959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12CB95-5463-1993-8693-ED09E4F2B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29000"/>
            <a:ext cx="4805680" cy="3429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7296664-37F6-D67F-E2D4-695CBBED33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80" y="3462045"/>
            <a:ext cx="5011616" cy="3395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1337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27800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1992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8371</TotalTime>
  <Words>350</Words>
  <Application>Microsoft Office PowerPoint</Application>
  <PresentationFormat>A4 Paper (210x297 mm)</PresentationFormat>
  <Paragraphs>157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Cambria Math</vt:lpstr>
      <vt:lpstr>Calibri Light</vt:lpstr>
      <vt:lpstr>Arial</vt:lpstr>
      <vt:lpstr>Algerian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367</cp:revision>
  <cp:lastPrinted>2019-03-15T08:21:48Z</cp:lastPrinted>
  <dcterms:created xsi:type="dcterms:W3CDTF">2017-01-17T16:57:04Z</dcterms:created>
  <dcterms:modified xsi:type="dcterms:W3CDTF">2024-09-03T15:58:31Z</dcterms:modified>
</cp:coreProperties>
</file>