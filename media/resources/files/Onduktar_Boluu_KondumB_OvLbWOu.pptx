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944" r:id="rId3"/>
    <p:sldId id="952" r:id="rId4"/>
    <p:sldId id="948" r:id="rId5"/>
    <p:sldId id="953" r:id="rId6"/>
    <p:sldId id="949" r:id="rId7"/>
    <p:sldId id="956" r:id="rId8"/>
    <p:sldId id="957" r:id="rId9"/>
    <p:sldId id="274" r:id="rId10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62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48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867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73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0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84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09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14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5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00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065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679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68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65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3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9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0" y="1673225"/>
            <a:ext cx="10490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Иш барагы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16708" y="24246"/>
            <a:ext cx="1729740" cy="1422169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55629" y="338472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1,2 ÷ 0,6 =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44F2F8-D139-25C9-E882-0EE7C6C39B6E}"/>
              </a:ext>
            </a:extLst>
          </p:cNvPr>
          <p:cNvSpPr txBox="1"/>
          <p:nvPr/>
        </p:nvSpPr>
        <p:spPr>
          <a:xfrm>
            <a:off x="38880" y="40659"/>
            <a:ext cx="1685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solidFill>
                  <a:schemeClr val="bg1">
                    <a:lumMod val="65000"/>
                  </a:schemeClr>
                </a:solidFill>
                <a:latin typeface="Berlin Sans FB Demi" panose="020E0802020502020306" pitchFamily="34" charset="0"/>
              </a:rPr>
              <a:t>Ондуктар менен бөлүү</a:t>
            </a:r>
            <a:endParaRPr lang="en-GB" sz="1200" dirty="0">
              <a:solidFill>
                <a:schemeClr val="bg1">
                  <a:lumMod val="6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729DD-E477-3713-B830-04FABD32FF86}"/>
              </a:ext>
            </a:extLst>
          </p:cNvPr>
          <p:cNvSpPr txBox="1"/>
          <p:nvPr/>
        </p:nvSpPr>
        <p:spPr>
          <a:xfrm>
            <a:off x="2172797" y="24033"/>
            <a:ext cx="75174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Бул эсептөөлөрдү жеңилдетүү үчүн, бөлүүнүүчүнү жана бөлүүчүнү 10го көбөйтүңүз.</a:t>
            </a:r>
            <a:endParaRPr lang="en-GB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1070F-1AE0-1CBD-1361-ED28AA42D280}"/>
              </a:ext>
            </a:extLst>
          </p:cNvPr>
          <p:cNvSpPr txBox="1"/>
          <p:nvPr/>
        </p:nvSpPr>
        <p:spPr>
          <a:xfrm>
            <a:off x="407111" y="941722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12 ÷ 6 =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283AC63-5B93-3A3C-F37D-89193EAA5974}"/>
              </a:ext>
            </a:extLst>
          </p:cNvPr>
          <p:cNvSpPr/>
          <p:nvPr/>
        </p:nvSpPr>
        <p:spPr>
          <a:xfrm>
            <a:off x="645319" y="641586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29D72D-21EB-B446-A677-3B84600FAF1A}"/>
              </a:ext>
            </a:extLst>
          </p:cNvPr>
          <p:cNvSpPr txBox="1"/>
          <p:nvPr/>
        </p:nvSpPr>
        <p:spPr>
          <a:xfrm>
            <a:off x="2302885" y="2014425"/>
            <a:ext cx="116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е</a:t>
            </a:r>
            <a:r>
              <a:rPr lang="en-GB" sz="1400" dirty="0"/>
              <a:t>)  6,5 ÷ 0,5 =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5FF696B9-D6FF-0ADA-9ED5-7EF371F86E10}"/>
              </a:ext>
            </a:extLst>
          </p:cNvPr>
          <p:cNvSpPr/>
          <p:nvPr/>
        </p:nvSpPr>
        <p:spPr>
          <a:xfrm>
            <a:off x="2800393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91887E-D9F1-2EDF-88A7-DB759D3E88B4}"/>
              </a:ext>
            </a:extLst>
          </p:cNvPr>
          <p:cNvSpPr txBox="1"/>
          <p:nvPr/>
        </p:nvSpPr>
        <p:spPr>
          <a:xfrm>
            <a:off x="4316643" y="2014425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ж</a:t>
            </a:r>
            <a:r>
              <a:rPr lang="en-GB" sz="1400" dirty="0"/>
              <a:t>)  6,4 ÷ 0,4 =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08380CDC-CFC6-F0F7-4741-46518A8ED5CB}"/>
              </a:ext>
            </a:extLst>
          </p:cNvPr>
          <p:cNvSpPr/>
          <p:nvPr/>
        </p:nvSpPr>
        <p:spPr>
          <a:xfrm>
            <a:off x="4814151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6AA465-0EC0-244A-24A5-2D903B364A18}"/>
              </a:ext>
            </a:extLst>
          </p:cNvPr>
          <p:cNvSpPr txBox="1"/>
          <p:nvPr/>
        </p:nvSpPr>
        <p:spPr>
          <a:xfrm>
            <a:off x="6330401" y="2014425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з</a:t>
            </a:r>
            <a:r>
              <a:rPr lang="en-GB" sz="1400" dirty="0"/>
              <a:t>)  9,6 ÷ 0,3 =</a:t>
            </a:r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5AEBF000-037A-B4F3-2FBE-706EF7B51F77}"/>
              </a:ext>
            </a:extLst>
          </p:cNvPr>
          <p:cNvSpPr/>
          <p:nvPr/>
        </p:nvSpPr>
        <p:spPr>
          <a:xfrm>
            <a:off x="6827909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EDB503-84F1-C3F4-098C-FEE6BC4D3177}"/>
              </a:ext>
            </a:extLst>
          </p:cNvPr>
          <p:cNvSpPr txBox="1"/>
          <p:nvPr/>
        </p:nvSpPr>
        <p:spPr>
          <a:xfrm>
            <a:off x="8344158" y="2014425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и</a:t>
            </a:r>
            <a:r>
              <a:rPr lang="en-GB" sz="1400" dirty="0"/>
              <a:t>)  9,6 ÷ 0,4 =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F145FA-413C-70C9-CF23-5BACA0E8A8D3}"/>
              </a:ext>
            </a:extLst>
          </p:cNvPr>
          <p:cNvSpPr txBox="1"/>
          <p:nvPr/>
        </p:nvSpPr>
        <p:spPr>
          <a:xfrm>
            <a:off x="289127" y="2014425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д</a:t>
            </a:r>
            <a:r>
              <a:rPr lang="en-GB" sz="1400" dirty="0"/>
              <a:t>)  2,7 ÷ 0,3 =</a:t>
            </a: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B20F01ED-E2B8-62C5-F64C-7B33192A11C6}"/>
              </a:ext>
            </a:extLst>
          </p:cNvPr>
          <p:cNvSpPr/>
          <p:nvPr/>
        </p:nvSpPr>
        <p:spPr>
          <a:xfrm>
            <a:off x="786635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3FA5D68-EEA5-C7F3-BA14-FE65C84608AE}"/>
              </a:ext>
            </a:extLst>
          </p:cNvPr>
          <p:cNvSpPr txBox="1"/>
          <p:nvPr/>
        </p:nvSpPr>
        <p:spPr>
          <a:xfrm>
            <a:off x="2302885" y="3607250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</a:t>
            </a:r>
            <a:r>
              <a:rPr lang="en-GB" sz="1400" dirty="0"/>
              <a:t>)  8,4 ÷ 1,2 =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F457D5F-8460-D3FE-0C8F-0E1DD6BCB75A}"/>
              </a:ext>
            </a:extLst>
          </p:cNvPr>
          <p:cNvSpPr txBox="1"/>
          <p:nvPr/>
        </p:nvSpPr>
        <p:spPr>
          <a:xfrm>
            <a:off x="4316643" y="3607250"/>
            <a:ext cx="1165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л</a:t>
            </a:r>
            <a:r>
              <a:rPr lang="en-GB" sz="1400" dirty="0"/>
              <a:t>)  6,5 ÷ 1,3 =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AB9B6F3-BB09-DC6C-CE63-58626518684D}"/>
              </a:ext>
            </a:extLst>
          </p:cNvPr>
          <p:cNvSpPr txBox="1"/>
          <p:nvPr/>
        </p:nvSpPr>
        <p:spPr>
          <a:xfrm>
            <a:off x="6330401" y="3607250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м</a:t>
            </a:r>
            <a:r>
              <a:rPr lang="en-GB" sz="1400" dirty="0"/>
              <a:t>)  6,8 ÷ 1,7 =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88E8A77-870D-B035-B4FE-1C4D848B311D}"/>
              </a:ext>
            </a:extLst>
          </p:cNvPr>
          <p:cNvSpPr txBox="1"/>
          <p:nvPr/>
        </p:nvSpPr>
        <p:spPr>
          <a:xfrm>
            <a:off x="8344158" y="3607250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н</a:t>
            </a:r>
            <a:r>
              <a:rPr lang="en-GB" sz="1400" dirty="0"/>
              <a:t>)  9,6 ÷ 3,2 =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16ED29E-8AA8-67EA-7D2C-A05312505CD1}"/>
              </a:ext>
            </a:extLst>
          </p:cNvPr>
          <p:cNvSpPr txBox="1"/>
          <p:nvPr/>
        </p:nvSpPr>
        <p:spPr>
          <a:xfrm>
            <a:off x="289127" y="3607250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й</a:t>
            </a:r>
            <a:r>
              <a:rPr lang="en-GB" sz="1400" dirty="0"/>
              <a:t>)  3,6 ÷ 1,2 =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D39B12-5012-87E1-D7E6-37B8337525A9}"/>
              </a:ext>
            </a:extLst>
          </p:cNvPr>
          <p:cNvSpPr txBox="1"/>
          <p:nvPr/>
        </p:nvSpPr>
        <p:spPr>
          <a:xfrm>
            <a:off x="834909" y="62660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4DB80E6-6A12-8F9D-D22C-199F99109751}"/>
              </a:ext>
            </a:extLst>
          </p:cNvPr>
          <p:cNvSpPr txBox="1"/>
          <p:nvPr/>
        </p:nvSpPr>
        <p:spPr>
          <a:xfrm>
            <a:off x="201496" y="62660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E17D2A-82F1-26FB-8EFD-6CED086E70D3}"/>
              </a:ext>
            </a:extLst>
          </p:cNvPr>
          <p:cNvSpPr txBox="1"/>
          <p:nvPr/>
        </p:nvSpPr>
        <p:spPr>
          <a:xfrm>
            <a:off x="2302885" y="42159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а</a:t>
            </a:r>
            <a:r>
              <a:rPr lang="en-GB" sz="1400" dirty="0"/>
              <a:t>)  1,4 ÷ 0,7 =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BEB99B-9E53-C50A-E200-4A7E09F5CCA2}"/>
              </a:ext>
            </a:extLst>
          </p:cNvPr>
          <p:cNvSpPr txBox="1"/>
          <p:nvPr/>
        </p:nvSpPr>
        <p:spPr>
          <a:xfrm>
            <a:off x="4316643" y="421599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б</a:t>
            </a:r>
            <a:r>
              <a:rPr lang="en-GB" sz="1400" dirty="0"/>
              <a:t>)  1,8 ÷ 0,3 =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7B756E0-A600-D9E6-CE61-49137BEA0EE3}"/>
              </a:ext>
            </a:extLst>
          </p:cNvPr>
          <p:cNvSpPr txBox="1"/>
          <p:nvPr/>
        </p:nvSpPr>
        <p:spPr>
          <a:xfrm>
            <a:off x="6330401" y="42159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в</a:t>
            </a:r>
            <a:r>
              <a:rPr lang="en-GB" sz="1400" dirty="0"/>
              <a:t>)  1,5 ÷ 0,1 =</a:t>
            </a:r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0B24D7B3-FB8C-0D96-0726-005EFCB4702D}"/>
              </a:ext>
            </a:extLst>
          </p:cNvPr>
          <p:cNvSpPr/>
          <p:nvPr/>
        </p:nvSpPr>
        <p:spPr>
          <a:xfrm>
            <a:off x="6827909" y="741338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E6B796-BFA2-36BC-D85E-4002543E88CC}"/>
              </a:ext>
            </a:extLst>
          </p:cNvPr>
          <p:cNvSpPr txBox="1"/>
          <p:nvPr/>
        </p:nvSpPr>
        <p:spPr>
          <a:xfrm>
            <a:off x="8344158" y="421599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г</a:t>
            </a:r>
            <a:r>
              <a:rPr lang="en-GB" sz="1400" dirty="0"/>
              <a:t>)  4 ÷ 0,8 =</a:t>
            </a: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635D47C6-BA8A-B245-C74F-492A31C4ABAA}"/>
              </a:ext>
            </a:extLst>
          </p:cNvPr>
          <p:cNvSpPr/>
          <p:nvPr/>
        </p:nvSpPr>
        <p:spPr>
          <a:xfrm>
            <a:off x="8724191" y="741338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4" name="Arrow: Down 173">
            <a:extLst>
              <a:ext uri="{FF2B5EF4-FFF2-40B4-BE49-F238E27FC236}">
                <a16:creationId xmlns:a16="http://schemas.microsoft.com/office/drawing/2014/main" id="{38660D53-1D7B-7919-2915-69709B2EEECA}"/>
              </a:ext>
            </a:extLst>
          </p:cNvPr>
          <p:cNvSpPr/>
          <p:nvPr/>
        </p:nvSpPr>
        <p:spPr>
          <a:xfrm>
            <a:off x="2801937" y="741440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3210F70-9D42-9E59-ECEF-E53CC9C1AD85}"/>
              </a:ext>
            </a:extLst>
          </p:cNvPr>
          <p:cNvSpPr txBox="1"/>
          <p:nvPr/>
        </p:nvSpPr>
        <p:spPr>
          <a:xfrm>
            <a:off x="2991527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5DDF0A8-4514-C48E-C888-3E768501BA25}"/>
              </a:ext>
            </a:extLst>
          </p:cNvPr>
          <p:cNvSpPr txBox="1"/>
          <p:nvPr/>
        </p:nvSpPr>
        <p:spPr>
          <a:xfrm>
            <a:off x="2358114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0" name="Arrow: Down 179">
            <a:extLst>
              <a:ext uri="{FF2B5EF4-FFF2-40B4-BE49-F238E27FC236}">
                <a16:creationId xmlns:a16="http://schemas.microsoft.com/office/drawing/2014/main" id="{E8A794AD-251E-A994-B61D-A8F87B2767E7}"/>
              </a:ext>
            </a:extLst>
          </p:cNvPr>
          <p:cNvSpPr/>
          <p:nvPr/>
        </p:nvSpPr>
        <p:spPr>
          <a:xfrm>
            <a:off x="4816474" y="741440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A209DF6-FA24-772D-5514-144330496D0C}"/>
              </a:ext>
            </a:extLst>
          </p:cNvPr>
          <p:cNvSpPr txBox="1"/>
          <p:nvPr/>
        </p:nvSpPr>
        <p:spPr>
          <a:xfrm>
            <a:off x="5006064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06F7C11-F251-D857-8443-66F6DC5E298B}"/>
              </a:ext>
            </a:extLst>
          </p:cNvPr>
          <p:cNvSpPr txBox="1"/>
          <p:nvPr/>
        </p:nvSpPr>
        <p:spPr>
          <a:xfrm>
            <a:off x="4372651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9C1BA7D-2B6E-85C4-3754-7D4E19677DAD}"/>
              </a:ext>
            </a:extLst>
          </p:cNvPr>
          <p:cNvSpPr txBox="1"/>
          <p:nvPr/>
        </p:nvSpPr>
        <p:spPr>
          <a:xfrm>
            <a:off x="2302885" y="5526479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п</a:t>
            </a:r>
            <a:r>
              <a:rPr lang="en-GB" sz="1400" dirty="0"/>
              <a:t>)  0,98 ÷ 0,07 =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03FEDFEC-662F-1568-EBE2-56C0A73B112E}"/>
              </a:ext>
            </a:extLst>
          </p:cNvPr>
          <p:cNvSpPr txBox="1"/>
          <p:nvPr/>
        </p:nvSpPr>
        <p:spPr>
          <a:xfrm>
            <a:off x="4316643" y="5526479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р</a:t>
            </a:r>
            <a:r>
              <a:rPr lang="en-GB" sz="1400" dirty="0"/>
              <a:t>)  7,8 ÷ 0,06 =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AFF202F-E370-BB45-737E-4F24F2C221C9}"/>
              </a:ext>
            </a:extLst>
          </p:cNvPr>
          <p:cNvSpPr txBox="1"/>
          <p:nvPr/>
        </p:nvSpPr>
        <p:spPr>
          <a:xfrm>
            <a:off x="6330401" y="5526479"/>
            <a:ext cx="1098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т</a:t>
            </a:r>
            <a:r>
              <a:rPr lang="en-GB" sz="1400" dirty="0"/>
              <a:t>)  3 ÷ 0,12 =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512C593-72D0-8AAD-E63C-84DDF1EAA0E5}"/>
              </a:ext>
            </a:extLst>
          </p:cNvPr>
          <p:cNvSpPr txBox="1"/>
          <p:nvPr/>
        </p:nvSpPr>
        <p:spPr>
          <a:xfrm>
            <a:off x="8344158" y="5526479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у</a:t>
            </a:r>
            <a:r>
              <a:rPr lang="en-GB" sz="1400" dirty="0"/>
              <a:t>)  6,48 ÷ 0,27 =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C76596C-3091-84E1-203A-505C4F7DD548}"/>
              </a:ext>
            </a:extLst>
          </p:cNvPr>
          <p:cNvSpPr txBox="1"/>
          <p:nvPr/>
        </p:nvSpPr>
        <p:spPr>
          <a:xfrm>
            <a:off x="289127" y="5526479"/>
            <a:ext cx="1124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4 ÷ 0,02 =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96EEF6C-34BD-BD21-715F-E925F45170CE}"/>
              </a:ext>
            </a:extLst>
          </p:cNvPr>
          <p:cNvSpPr txBox="1"/>
          <p:nvPr/>
        </p:nvSpPr>
        <p:spPr>
          <a:xfrm>
            <a:off x="36012" y="4842628"/>
            <a:ext cx="7340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Амалдарды аткаргыла</a:t>
            </a:r>
          </a:p>
          <a:p>
            <a:r>
              <a:rPr lang="ru-RU" sz="1600" dirty="0"/>
              <a:t>Эсепти жеңилдетүү үчүн бөлүнүүчүменен бөлүүчүнү кайсы санга көбөйтсө болот?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634693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16708" y="24246"/>
            <a:ext cx="1729740" cy="1422169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355629" y="338472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1,2 ÷ 0,6 =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44F2F8-D139-25C9-E882-0EE7C6C39B6E}"/>
              </a:ext>
            </a:extLst>
          </p:cNvPr>
          <p:cNvSpPr txBox="1"/>
          <p:nvPr/>
        </p:nvSpPr>
        <p:spPr>
          <a:xfrm>
            <a:off x="19324" y="40659"/>
            <a:ext cx="172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1">
                    <a:lumMod val="65000"/>
                  </a:schemeClr>
                </a:solidFill>
                <a:latin typeface="Berlin Sans FB Demi" panose="020E0802020502020306" pitchFamily="34" charset="0"/>
              </a:rPr>
              <a:t>Ондуктар менен бөлүү</a:t>
            </a:r>
            <a:endParaRPr lang="en-GB" sz="1200" b="1" dirty="0">
              <a:solidFill>
                <a:schemeClr val="bg1">
                  <a:lumMod val="6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729DD-E477-3713-B830-04FABD32FF86}"/>
              </a:ext>
            </a:extLst>
          </p:cNvPr>
          <p:cNvSpPr txBox="1"/>
          <p:nvPr/>
        </p:nvSpPr>
        <p:spPr>
          <a:xfrm>
            <a:off x="2621733" y="24033"/>
            <a:ext cx="6619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Бул эсептөөлөрдү жеңилдетүү үчүн, бөлүүнүүчүнү жана бөлүүчүнү 10го көбөйтүңүз.</a:t>
            </a: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1070F-1AE0-1CBD-1361-ED28AA42D280}"/>
              </a:ext>
            </a:extLst>
          </p:cNvPr>
          <p:cNvSpPr txBox="1"/>
          <p:nvPr/>
        </p:nvSpPr>
        <p:spPr>
          <a:xfrm>
            <a:off x="407111" y="941722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12 ÷ 6 =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283AC63-5B93-3A3C-F37D-89193EAA5974}"/>
              </a:ext>
            </a:extLst>
          </p:cNvPr>
          <p:cNvSpPr/>
          <p:nvPr/>
        </p:nvSpPr>
        <p:spPr>
          <a:xfrm>
            <a:off x="645319" y="641586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C2A781-6DB1-E2A7-9B7B-57B56CA875E8}"/>
              </a:ext>
            </a:extLst>
          </p:cNvPr>
          <p:cNvSpPr txBox="1"/>
          <p:nvPr/>
        </p:nvSpPr>
        <p:spPr>
          <a:xfrm>
            <a:off x="1227251" y="956183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29D72D-21EB-B446-A677-3B84600FAF1A}"/>
              </a:ext>
            </a:extLst>
          </p:cNvPr>
          <p:cNvSpPr txBox="1"/>
          <p:nvPr/>
        </p:nvSpPr>
        <p:spPr>
          <a:xfrm>
            <a:off x="2302885" y="2014425"/>
            <a:ext cx="116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е</a:t>
            </a:r>
            <a:r>
              <a:rPr lang="en-GB" sz="1400" dirty="0"/>
              <a:t>)  6,5 ÷ 0,5 =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E89DDB-77BD-B420-143F-652BC0A6797E}"/>
              </a:ext>
            </a:extLst>
          </p:cNvPr>
          <p:cNvSpPr txBox="1"/>
          <p:nvPr/>
        </p:nvSpPr>
        <p:spPr>
          <a:xfrm>
            <a:off x="2562185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65 ÷ 5 = 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5FF696B9-D6FF-0ADA-9ED5-7EF371F86E10}"/>
              </a:ext>
            </a:extLst>
          </p:cNvPr>
          <p:cNvSpPr/>
          <p:nvPr/>
        </p:nvSpPr>
        <p:spPr>
          <a:xfrm>
            <a:off x="2800393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666FDB-92BD-D7EC-EE50-FC1CDA343F0E}"/>
              </a:ext>
            </a:extLst>
          </p:cNvPr>
          <p:cNvSpPr txBox="1"/>
          <p:nvPr/>
        </p:nvSpPr>
        <p:spPr>
          <a:xfrm>
            <a:off x="3258050" y="2612306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91887E-D9F1-2EDF-88A7-DB759D3E88B4}"/>
              </a:ext>
            </a:extLst>
          </p:cNvPr>
          <p:cNvSpPr txBox="1"/>
          <p:nvPr/>
        </p:nvSpPr>
        <p:spPr>
          <a:xfrm>
            <a:off x="4316643" y="2014425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ж</a:t>
            </a:r>
            <a:r>
              <a:rPr lang="en-GB" sz="1400" dirty="0"/>
              <a:t>)  6,4 ÷ 0,4 =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F8A0EB-A1D2-E10A-5926-D75998A1A518}"/>
              </a:ext>
            </a:extLst>
          </p:cNvPr>
          <p:cNvSpPr txBox="1"/>
          <p:nvPr/>
        </p:nvSpPr>
        <p:spPr>
          <a:xfrm>
            <a:off x="4575943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64 ÷ 4 = 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08380CDC-CFC6-F0F7-4741-46518A8ED5CB}"/>
              </a:ext>
            </a:extLst>
          </p:cNvPr>
          <p:cNvSpPr/>
          <p:nvPr/>
        </p:nvSpPr>
        <p:spPr>
          <a:xfrm>
            <a:off x="4814151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AD9135-7CC4-9683-B877-D8E17D45A712}"/>
              </a:ext>
            </a:extLst>
          </p:cNvPr>
          <p:cNvSpPr txBox="1"/>
          <p:nvPr/>
        </p:nvSpPr>
        <p:spPr>
          <a:xfrm>
            <a:off x="5271808" y="2612306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6AA465-0EC0-244A-24A5-2D903B364A18}"/>
              </a:ext>
            </a:extLst>
          </p:cNvPr>
          <p:cNvSpPr txBox="1"/>
          <p:nvPr/>
        </p:nvSpPr>
        <p:spPr>
          <a:xfrm>
            <a:off x="6330401" y="2014425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з</a:t>
            </a:r>
            <a:r>
              <a:rPr lang="en-GB" sz="1400" dirty="0"/>
              <a:t>)  9,6 ÷ 0,3 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87C4AA-8207-1599-C4F5-225C18BFD57B}"/>
              </a:ext>
            </a:extLst>
          </p:cNvPr>
          <p:cNvSpPr txBox="1"/>
          <p:nvPr/>
        </p:nvSpPr>
        <p:spPr>
          <a:xfrm>
            <a:off x="6589701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96 ÷ 3 = </a:t>
            </a:r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5AEBF000-037A-B4F3-2FBE-706EF7B51F77}"/>
              </a:ext>
            </a:extLst>
          </p:cNvPr>
          <p:cNvSpPr/>
          <p:nvPr/>
        </p:nvSpPr>
        <p:spPr>
          <a:xfrm>
            <a:off x="6827909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A732AE-DCC7-255F-10F0-7416BD38C845}"/>
              </a:ext>
            </a:extLst>
          </p:cNvPr>
          <p:cNvSpPr txBox="1"/>
          <p:nvPr/>
        </p:nvSpPr>
        <p:spPr>
          <a:xfrm>
            <a:off x="7285566" y="2612306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EDB503-84F1-C3F4-098C-FEE6BC4D3177}"/>
              </a:ext>
            </a:extLst>
          </p:cNvPr>
          <p:cNvSpPr txBox="1"/>
          <p:nvPr/>
        </p:nvSpPr>
        <p:spPr>
          <a:xfrm>
            <a:off x="8344158" y="2014425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и</a:t>
            </a:r>
            <a:r>
              <a:rPr lang="en-GB" sz="1400" dirty="0"/>
              <a:t>)  9,6 ÷ 0,4 =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621F23-3FD0-2F70-B55D-417E26D2606C}"/>
              </a:ext>
            </a:extLst>
          </p:cNvPr>
          <p:cNvSpPr txBox="1"/>
          <p:nvPr/>
        </p:nvSpPr>
        <p:spPr>
          <a:xfrm>
            <a:off x="8603458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96 ÷ 4 = </a:t>
            </a:r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64B45E6B-4EE7-8D91-68A7-62B3F0F1A55D}"/>
              </a:ext>
            </a:extLst>
          </p:cNvPr>
          <p:cNvSpPr/>
          <p:nvPr/>
        </p:nvSpPr>
        <p:spPr>
          <a:xfrm>
            <a:off x="8841666" y="2334164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2AEC44-D9C5-FD58-E027-1C3BB28D7B1A}"/>
              </a:ext>
            </a:extLst>
          </p:cNvPr>
          <p:cNvSpPr txBox="1"/>
          <p:nvPr/>
        </p:nvSpPr>
        <p:spPr>
          <a:xfrm>
            <a:off x="9299323" y="2612306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F145FA-413C-70C9-CF23-5BACA0E8A8D3}"/>
              </a:ext>
            </a:extLst>
          </p:cNvPr>
          <p:cNvSpPr txBox="1"/>
          <p:nvPr/>
        </p:nvSpPr>
        <p:spPr>
          <a:xfrm>
            <a:off x="289127" y="2014425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д</a:t>
            </a:r>
            <a:r>
              <a:rPr lang="en-GB" sz="1400" dirty="0"/>
              <a:t>)  2,7 ÷ 0,3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0DAE53-2D99-D8A6-B5E9-A2D3AF226519}"/>
              </a:ext>
            </a:extLst>
          </p:cNvPr>
          <p:cNvSpPr txBox="1"/>
          <p:nvPr/>
        </p:nvSpPr>
        <p:spPr>
          <a:xfrm>
            <a:off x="548427" y="2634300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27 ÷ 3 = </a:t>
            </a: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B20F01ED-E2B8-62C5-F64C-7B33192A11C6}"/>
              </a:ext>
            </a:extLst>
          </p:cNvPr>
          <p:cNvSpPr/>
          <p:nvPr/>
        </p:nvSpPr>
        <p:spPr>
          <a:xfrm>
            <a:off x="786635" y="233416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306436-7F07-BA41-8641-851247B0D141}"/>
              </a:ext>
            </a:extLst>
          </p:cNvPr>
          <p:cNvSpPr txBox="1"/>
          <p:nvPr/>
        </p:nvSpPr>
        <p:spPr>
          <a:xfrm>
            <a:off x="1302802" y="2612306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3FA5D68-EEA5-C7F3-BA14-FE65C84608AE}"/>
              </a:ext>
            </a:extLst>
          </p:cNvPr>
          <p:cNvSpPr txBox="1"/>
          <p:nvPr/>
        </p:nvSpPr>
        <p:spPr>
          <a:xfrm>
            <a:off x="2302885" y="3607250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</a:t>
            </a:r>
            <a:r>
              <a:rPr lang="en-GB" sz="1400" dirty="0"/>
              <a:t>)  8,4 ÷ 1,2 =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5C6C48E-DCF6-8923-ACAF-08BEC17B57BF}"/>
              </a:ext>
            </a:extLst>
          </p:cNvPr>
          <p:cNvSpPr txBox="1"/>
          <p:nvPr/>
        </p:nvSpPr>
        <p:spPr>
          <a:xfrm>
            <a:off x="2562185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84 ÷ 12 = </a:t>
            </a:r>
          </a:p>
        </p:txBody>
      </p: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AA022518-5398-54D7-1C75-F57376719201}"/>
              </a:ext>
            </a:extLst>
          </p:cNvPr>
          <p:cNvSpPr/>
          <p:nvPr/>
        </p:nvSpPr>
        <p:spPr>
          <a:xfrm>
            <a:off x="2800393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6AD8A0E-E841-DA46-4290-2C6B4DD6F32F}"/>
              </a:ext>
            </a:extLst>
          </p:cNvPr>
          <p:cNvSpPr txBox="1"/>
          <p:nvPr/>
        </p:nvSpPr>
        <p:spPr>
          <a:xfrm>
            <a:off x="3449910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F457D5F-8460-D3FE-0C8F-0E1DD6BCB75A}"/>
              </a:ext>
            </a:extLst>
          </p:cNvPr>
          <p:cNvSpPr txBox="1"/>
          <p:nvPr/>
        </p:nvSpPr>
        <p:spPr>
          <a:xfrm>
            <a:off x="4316643" y="3607250"/>
            <a:ext cx="1165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л</a:t>
            </a:r>
            <a:r>
              <a:rPr lang="en-GB" sz="1400" dirty="0"/>
              <a:t>)  6,5 ÷ 1,3 =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C09015A-4FD2-7A3C-7EDF-A9FD22BB3407}"/>
              </a:ext>
            </a:extLst>
          </p:cNvPr>
          <p:cNvSpPr txBox="1"/>
          <p:nvPr/>
        </p:nvSpPr>
        <p:spPr>
          <a:xfrm>
            <a:off x="4575943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65 ÷ 13 = </a:t>
            </a:r>
          </a:p>
        </p:txBody>
      </p:sp>
      <p:sp>
        <p:nvSpPr>
          <p:cNvPr id="152" name="Arrow: Down 151">
            <a:extLst>
              <a:ext uri="{FF2B5EF4-FFF2-40B4-BE49-F238E27FC236}">
                <a16:creationId xmlns:a16="http://schemas.microsoft.com/office/drawing/2014/main" id="{C30F76E7-C5D3-0797-1F3E-CFE6F53EF68E}"/>
              </a:ext>
            </a:extLst>
          </p:cNvPr>
          <p:cNvSpPr/>
          <p:nvPr/>
        </p:nvSpPr>
        <p:spPr>
          <a:xfrm>
            <a:off x="4814151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CADDD63-A399-D1B3-1655-0EC9CD59F68F}"/>
              </a:ext>
            </a:extLst>
          </p:cNvPr>
          <p:cNvSpPr txBox="1"/>
          <p:nvPr/>
        </p:nvSpPr>
        <p:spPr>
          <a:xfrm>
            <a:off x="5363655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AB9B6F3-BB09-DC6C-CE63-58626518684D}"/>
              </a:ext>
            </a:extLst>
          </p:cNvPr>
          <p:cNvSpPr txBox="1"/>
          <p:nvPr/>
        </p:nvSpPr>
        <p:spPr>
          <a:xfrm>
            <a:off x="6330401" y="3607250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м</a:t>
            </a:r>
            <a:r>
              <a:rPr lang="en-GB" sz="1400" dirty="0"/>
              <a:t>)  6,8 ÷ 1,7 =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F8FBA67-5FF1-F506-2205-89DCE38CF2A3}"/>
              </a:ext>
            </a:extLst>
          </p:cNvPr>
          <p:cNvSpPr txBox="1"/>
          <p:nvPr/>
        </p:nvSpPr>
        <p:spPr>
          <a:xfrm>
            <a:off x="6589701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68 ÷ 17 = </a:t>
            </a:r>
          </a:p>
        </p:txBody>
      </p:sp>
      <p:sp>
        <p:nvSpPr>
          <p:cNvPr id="157" name="Arrow: Down 156">
            <a:extLst>
              <a:ext uri="{FF2B5EF4-FFF2-40B4-BE49-F238E27FC236}">
                <a16:creationId xmlns:a16="http://schemas.microsoft.com/office/drawing/2014/main" id="{CFBF5581-6ACA-66FA-D70A-18A87A1CE900}"/>
              </a:ext>
            </a:extLst>
          </p:cNvPr>
          <p:cNvSpPr/>
          <p:nvPr/>
        </p:nvSpPr>
        <p:spPr>
          <a:xfrm>
            <a:off x="6827909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AE6621A-897B-75D1-2302-A8D80E8B621F}"/>
              </a:ext>
            </a:extLst>
          </p:cNvPr>
          <p:cNvSpPr txBox="1"/>
          <p:nvPr/>
        </p:nvSpPr>
        <p:spPr>
          <a:xfrm>
            <a:off x="7394876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88E8A77-870D-B035-B4FE-1C4D848B311D}"/>
              </a:ext>
            </a:extLst>
          </p:cNvPr>
          <p:cNvSpPr txBox="1"/>
          <p:nvPr/>
        </p:nvSpPr>
        <p:spPr>
          <a:xfrm>
            <a:off x="8344158" y="3607250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н</a:t>
            </a:r>
            <a:r>
              <a:rPr lang="en-GB" sz="1400" dirty="0"/>
              <a:t>)  9,6 ÷ 3,2 =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7E6CE17-F01A-A30D-B3A5-78055E587E35}"/>
              </a:ext>
            </a:extLst>
          </p:cNvPr>
          <p:cNvSpPr txBox="1"/>
          <p:nvPr/>
        </p:nvSpPr>
        <p:spPr>
          <a:xfrm>
            <a:off x="8603458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96 ÷ 32 = </a:t>
            </a:r>
          </a:p>
        </p:txBody>
      </p: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68828257-96C5-7AD8-8C8F-31A974E37E8F}"/>
              </a:ext>
            </a:extLst>
          </p:cNvPr>
          <p:cNvSpPr/>
          <p:nvPr/>
        </p:nvSpPr>
        <p:spPr>
          <a:xfrm>
            <a:off x="8841666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A8A4D2C-5B59-D593-E866-04680EF7E57A}"/>
              </a:ext>
            </a:extLst>
          </p:cNvPr>
          <p:cNvSpPr txBox="1"/>
          <p:nvPr/>
        </p:nvSpPr>
        <p:spPr>
          <a:xfrm>
            <a:off x="9472133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16ED29E-8AA8-67EA-7D2C-A05312505CD1}"/>
              </a:ext>
            </a:extLst>
          </p:cNvPr>
          <p:cNvSpPr txBox="1"/>
          <p:nvPr/>
        </p:nvSpPr>
        <p:spPr>
          <a:xfrm>
            <a:off x="289127" y="3607250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й</a:t>
            </a:r>
            <a:r>
              <a:rPr lang="en-GB" sz="1400" dirty="0"/>
              <a:t>)  3,6 ÷ 1,2 =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DEE8E19-F6E7-E618-0F48-BF2E4940C426}"/>
              </a:ext>
            </a:extLst>
          </p:cNvPr>
          <p:cNvSpPr txBox="1"/>
          <p:nvPr/>
        </p:nvSpPr>
        <p:spPr>
          <a:xfrm>
            <a:off x="548427" y="422712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36 ÷ 12 = </a:t>
            </a:r>
          </a:p>
        </p:txBody>
      </p:sp>
      <p:sp>
        <p:nvSpPr>
          <p:cNvPr id="167" name="Arrow: Down 166">
            <a:extLst>
              <a:ext uri="{FF2B5EF4-FFF2-40B4-BE49-F238E27FC236}">
                <a16:creationId xmlns:a16="http://schemas.microsoft.com/office/drawing/2014/main" id="{2C3319C8-88B6-5E7F-A5D6-BA1557EC76A3}"/>
              </a:ext>
            </a:extLst>
          </p:cNvPr>
          <p:cNvSpPr/>
          <p:nvPr/>
        </p:nvSpPr>
        <p:spPr>
          <a:xfrm>
            <a:off x="786635" y="3926989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F53C5FB-F846-26BF-175D-DCFFFFAA80FC}"/>
              </a:ext>
            </a:extLst>
          </p:cNvPr>
          <p:cNvSpPr txBox="1"/>
          <p:nvPr/>
        </p:nvSpPr>
        <p:spPr>
          <a:xfrm>
            <a:off x="1383765" y="420513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D39B12-5012-87E1-D7E6-37B8337525A9}"/>
              </a:ext>
            </a:extLst>
          </p:cNvPr>
          <p:cNvSpPr txBox="1"/>
          <p:nvPr/>
        </p:nvSpPr>
        <p:spPr>
          <a:xfrm>
            <a:off x="834909" y="62660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4DB80E6-6A12-8F9D-D22C-199F99109751}"/>
              </a:ext>
            </a:extLst>
          </p:cNvPr>
          <p:cNvSpPr txBox="1"/>
          <p:nvPr/>
        </p:nvSpPr>
        <p:spPr>
          <a:xfrm>
            <a:off x="201496" y="62660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E17D2A-82F1-26FB-8EFD-6CED086E70D3}"/>
              </a:ext>
            </a:extLst>
          </p:cNvPr>
          <p:cNvSpPr txBox="1"/>
          <p:nvPr/>
        </p:nvSpPr>
        <p:spPr>
          <a:xfrm>
            <a:off x="2302885" y="42159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а</a:t>
            </a:r>
            <a:r>
              <a:rPr lang="en-GB" sz="1400" dirty="0"/>
              <a:t>)  1,4 ÷ 0,7 =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C7D481-0069-F089-C221-4190FF170CB7}"/>
              </a:ext>
            </a:extLst>
          </p:cNvPr>
          <p:cNvSpPr txBox="1"/>
          <p:nvPr/>
        </p:nvSpPr>
        <p:spPr>
          <a:xfrm>
            <a:off x="2562185" y="104147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14 ÷ 7 =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3DAAE5-5204-5972-48E8-14A6D99E2EBE}"/>
              </a:ext>
            </a:extLst>
          </p:cNvPr>
          <p:cNvSpPr txBox="1"/>
          <p:nvPr/>
        </p:nvSpPr>
        <p:spPr>
          <a:xfrm>
            <a:off x="3316560" y="1019480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BEB99B-9E53-C50A-E200-4A7E09F5CCA2}"/>
              </a:ext>
            </a:extLst>
          </p:cNvPr>
          <p:cNvSpPr txBox="1"/>
          <p:nvPr/>
        </p:nvSpPr>
        <p:spPr>
          <a:xfrm>
            <a:off x="4316643" y="421599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б</a:t>
            </a:r>
            <a:r>
              <a:rPr lang="en-GB" sz="1400" dirty="0"/>
              <a:t>)  1,8 ÷ 0,3 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2F024D-35E4-D65B-E5E9-C6F6F621B07F}"/>
              </a:ext>
            </a:extLst>
          </p:cNvPr>
          <p:cNvSpPr txBox="1"/>
          <p:nvPr/>
        </p:nvSpPr>
        <p:spPr>
          <a:xfrm>
            <a:off x="4575943" y="104147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18 ÷ 3 =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AD4121-E92A-9299-204C-2B9764466B79}"/>
              </a:ext>
            </a:extLst>
          </p:cNvPr>
          <p:cNvSpPr txBox="1"/>
          <p:nvPr/>
        </p:nvSpPr>
        <p:spPr>
          <a:xfrm>
            <a:off x="5330318" y="1019480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7B756E0-A600-D9E6-CE61-49137BEA0EE3}"/>
              </a:ext>
            </a:extLst>
          </p:cNvPr>
          <p:cNvSpPr txBox="1"/>
          <p:nvPr/>
        </p:nvSpPr>
        <p:spPr>
          <a:xfrm>
            <a:off x="6330401" y="42159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в</a:t>
            </a:r>
            <a:r>
              <a:rPr lang="en-GB" sz="1400" dirty="0"/>
              <a:t>)  1,5 ÷ 0,1 =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EECB13-8254-534F-560E-6ACC5FC02485}"/>
              </a:ext>
            </a:extLst>
          </p:cNvPr>
          <p:cNvSpPr txBox="1"/>
          <p:nvPr/>
        </p:nvSpPr>
        <p:spPr>
          <a:xfrm>
            <a:off x="6589701" y="104147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15 ÷ 1 = </a:t>
            </a:r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0B24D7B3-FB8C-0D96-0726-005EFCB4702D}"/>
              </a:ext>
            </a:extLst>
          </p:cNvPr>
          <p:cNvSpPr/>
          <p:nvPr/>
        </p:nvSpPr>
        <p:spPr>
          <a:xfrm>
            <a:off x="6827909" y="741338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2A9373-F701-EBA4-C8B4-D0E9205EFF85}"/>
              </a:ext>
            </a:extLst>
          </p:cNvPr>
          <p:cNvSpPr txBox="1"/>
          <p:nvPr/>
        </p:nvSpPr>
        <p:spPr>
          <a:xfrm>
            <a:off x="7285566" y="1019480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E6B796-BFA2-36BC-D85E-4002543E88CC}"/>
              </a:ext>
            </a:extLst>
          </p:cNvPr>
          <p:cNvSpPr txBox="1"/>
          <p:nvPr/>
        </p:nvSpPr>
        <p:spPr>
          <a:xfrm>
            <a:off x="8344158" y="421599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г</a:t>
            </a:r>
            <a:r>
              <a:rPr lang="en-GB" sz="1400" dirty="0"/>
              <a:t>)  4 ÷ 0,8 =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FB133AA-A8E6-0679-84EC-7853542B0D62}"/>
              </a:ext>
            </a:extLst>
          </p:cNvPr>
          <p:cNvSpPr txBox="1"/>
          <p:nvPr/>
        </p:nvSpPr>
        <p:spPr>
          <a:xfrm>
            <a:off x="8485983" y="104147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40 ÷ 8 = </a:t>
            </a: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635D47C6-BA8A-B245-C74F-492A31C4ABAA}"/>
              </a:ext>
            </a:extLst>
          </p:cNvPr>
          <p:cNvSpPr/>
          <p:nvPr/>
        </p:nvSpPr>
        <p:spPr>
          <a:xfrm>
            <a:off x="8724191" y="741338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4555CE3-6BD3-92AE-0A85-092549F4BDD5}"/>
              </a:ext>
            </a:extLst>
          </p:cNvPr>
          <p:cNvSpPr txBox="1"/>
          <p:nvPr/>
        </p:nvSpPr>
        <p:spPr>
          <a:xfrm>
            <a:off x="9240358" y="1019480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74" name="Arrow: Down 173">
            <a:extLst>
              <a:ext uri="{FF2B5EF4-FFF2-40B4-BE49-F238E27FC236}">
                <a16:creationId xmlns:a16="http://schemas.microsoft.com/office/drawing/2014/main" id="{38660D53-1D7B-7919-2915-69709B2EEECA}"/>
              </a:ext>
            </a:extLst>
          </p:cNvPr>
          <p:cNvSpPr/>
          <p:nvPr/>
        </p:nvSpPr>
        <p:spPr>
          <a:xfrm>
            <a:off x="2801937" y="741440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3210F70-9D42-9E59-ECEF-E53CC9C1AD85}"/>
              </a:ext>
            </a:extLst>
          </p:cNvPr>
          <p:cNvSpPr txBox="1"/>
          <p:nvPr/>
        </p:nvSpPr>
        <p:spPr>
          <a:xfrm>
            <a:off x="2991527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5DDF0A8-4514-C48E-C888-3E768501BA25}"/>
              </a:ext>
            </a:extLst>
          </p:cNvPr>
          <p:cNvSpPr txBox="1"/>
          <p:nvPr/>
        </p:nvSpPr>
        <p:spPr>
          <a:xfrm>
            <a:off x="2358114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0" name="Arrow: Down 179">
            <a:extLst>
              <a:ext uri="{FF2B5EF4-FFF2-40B4-BE49-F238E27FC236}">
                <a16:creationId xmlns:a16="http://schemas.microsoft.com/office/drawing/2014/main" id="{E8A794AD-251E-A994-B61D-A8F87B2767E7}"/>
              </a:ext>
            </a:extLst>
          </p:cNvPr>
          <p:cNvSpPr/>
          <p:nvPr/>
        </p:nvSpPr>
        <p:spPr>
          <a:xfrm>
            <a:off x="4816474" y="741440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A209DF6-FA24-772D-5514-144330496D0C}"/>
              </a:ext>
            </a:extLst>
          </p:cNvPr>
          <p:cNvSpPr txBox="1"/>
          <p:nvPr/>
        </p:nvSpPr>
        <p:spPr>
          <a:xfrm>
            <a:off x="5006064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06F7C11-F251-D857-8443-66F6DC5E298B}"/>
              </a:ext>
            </a:extLst>
          </p:cNvPr>
          <p:cNvSpPr txBox="1"/>
          <p:nvPr/>
        </p:nvSpPr>
        <p:spPr>
          <a:xfrm>
            <a:off x="4372651" y="726457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9C1BA7D-2B6E-85C4-3754-7D4E19677DAD}"/>
              </a:ext>
            </a:extLst>
          </p:cNvPr>
          <p:cNvSpPr txBox="1"/>
          <p:nvPr/>
        </p:nvSpPr>
        <p:spPr>
          <a:xfrm>
            <a:off x="2302885" y="5526479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п</a:t>
            </a:r>
            <a:r>
              <a:rPr lang="en-GB" sz="1400" dirty="0"/>
              <a:t>)  0,98 ÷ 0,07 =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ED3D306-C46A-2612-E736-DDB21A41F712}"/>
              </a:ext>
            </a:extLst>
          </p:cNvPr>
          <p:cNvSpPr txBox="1"/>
          <p:nvPr/>
        </p:nvSpPr>
        <p:spPr>
          <a:xfrm>
            <a:off x="2562185" y="6146354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98 ÷ 7 = </a:t>
            </a:r>
          </a:p>
        </p:txBody>
      </p:sp>
      <p:sp>
        <p:nvSpPr>
          <p:cNvPr id="259" name="Arrow: Down 258">
            <a:extLst>
              <a:ext uri="{FF2B5EF4-FFF2-40B4-BE49-F238E27FC236}">
                <a16:creationId xmlns:a16="http://schemas.microsoft.com/office/drawing/2014/main" id="{5A2AB19D-5B62-E355-6D83-36E20FF8ED15}"/>
              </a:ext>
            </a:extLst>
          </p:cNvPr>
          <p:cNvSpPr/>
          <p:nvPr/>
        </p:nvSpPr>
        <p:spPr>
          <a:xfrm>
            <a:off x="2800393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67CC481-24AB-5D8E-EDC6-5C71FC56F3BF}"/>
              </a:ext>
            </a:extLst>
          </p:cNvPr>
          <p:cNvSpPr txBox="1"/>
          <p:nvPr/>
        </p:nvSpPr>
        <p:spPr>
          <a:xfrm>
            <a:off x="3391400" y="6124360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03FEDFEC-662F-1568-EBE2-56C0A73B112E}"/>
              </a:ext>
            </a:extLst>
          </p:cNvPr>
          <p:cNvSpPr txBox="1"/>
          <p:nvPr/>
        </p:nvSpPr>
        <p:spPr>
          <a:xfrm>
            <a:off x="4316643" y="5526479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р</a:t>
            </a:r>
            <a:r>
              <a:rPr lang="en-GB" sz="1400" dirty="0"/>
              <a:t>)  7,8 ÷ 0,06 =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EBECCF4-F400-31CB-6EE0-129ECB996291}"/>
              </a:ext>
            </a:extLst>
          </p:cNvPr>
          <p:cNvSpPr txBox="1"/>
          <p:nvPr/>
        </p:nvSpPr>
        <p:spPr>
          <a:xfrm>
            <a:off x="4575943" y="6146354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780 ÷ 6 = </a:t>
            </a:r>
          </a:p>
        </p:txBody>
      </p:sp>
      <p:sp>
        <p:nvSpPr>
          <p:cNvPr id="255" name="Arrow: Down 254">
            <a:extLst>
              <a:ext uri="{FF2B5EF4-FFF2-40B4-BE49-F238E27FC236}">
                <a16:creationId xmlns:a16="http://schemas.microsoft.com/office/drawing/2014/main" id="{CC14AEBF-0266-FA4B-033F-50E7CDDD9E92}"/>
              </a:ext>
            </a:extLst>
          </p:cNvPr>
          <p:cNvSpPr/>
          <p:nvPr/>
        </p:nvSpPr>
        <p:spPr>
          <a:xfrm>
            <a:off x="4814151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3FEF93CB-FF77-3EE0-D2B4-946B9D5A9231}"/>
              </a:ext>
            </a:extLst>
          </p:cNvPr>
          <p:cNvSpPr txBox="1"/>
          <p:nvPr/>
        </p:nvSpPr>
        <p:spPr>
          <a:xfrm>
            <a:off x="5396265" y="6124360"/>
            <a:ext cx="423761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130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AFF202F-E370-BB45-737E-4F24F2C221C9}"/>
              </a:ext>
            </a:extLst>
          </p:cNvPr>
          <p:cNvSpPr txBox="1"/>
          <p:nvPr/>
        </p:nvSpPr>
        <p:spPr>
          <a:xfrm>
            <a:off x="6330401" y="5526479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с</a:t>
            </a:r>
            <a:r>
              <a:rPr lang="en-GB" sz="1400" dirty="0"/>
              <a:t>)  3 ÷ 0,12 =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A1FEC0D-B8E8-6907-197C-BA263A5FFF4F}"/>
              </a:ext>
            </a:extLst>
          </p:cNvPr>
          <p:cNvSpPr txBox="1"/>
          <p:nvPr/>
        </p:nvSpPr>
        <p:spPr>
          <a:xfrm>
            <a:off x="6589701" y="6146354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300 ÷ 12 = </a:t>
            </a:r>
          </a:p>
        </p:txBody>
      </p:sp>
      <p:sp>
        <p:nvSpPr>
          <p:cNvPr id="251" name="Arrow: Down 250">
            <a:extLst>
              <a:ext uri="{FF2B5EF4-FFF2-40B4-BE49-F238E27FC236}">
                <a16:creationId xmlns:a16="http://schemas.microsoft.com/office/drawing/2014/main" id="{3A6EB254-3082-62B0-F804-20D13EC5A6A0}"/>
              </a:ext>
            </a:extLst>
          </p:cNvPr>
          <p:cNvSpPr/>
          <p:nvPr/>
        </p:nvSpPr>
        <p:spPr>
          <a:xfrm>
            <a:off x="6827909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98228066-49B7-B613-87E8-E0B8230CBC85}"/>
              </a:ext>
            </a:extLst>
          </p:cNvPr>
          <p:cNvSpPr txBox="1"/>
          <p:nvPr/>
        </p:nvSpPr>
        <p:spPr>
          <a:xfrm>
            <a:off x="7504006" y="6124360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512C593-72D0-8AAD-E63C-84DDF1EAA0E5}"/>
              </a:ext>
            </a:extLst>
          </p:cNvPr>
          <p:cNvSpPr txBox="1"/>
          <p:nvPr/>
        </p:nvSpPr>
        <p:spPr>
          <a:xfrm>
            <a:off x="8344158" y="5526479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т</a:t>
            </a:r>
            <a:r>
              <a:rPr lang="en-GB" sz="1400" dirty="0"/>
              <a:t>)  6,48 ÷ 0,27 =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ED8D346-3B09-38CB-5AAC-7DA7C2CED556}"/>
              </a:ext>
            </a:extLst>
          </p:cNvPr>
          <p:cNvSpPr txBox="1"/>
          <p:nvPr/>
        </p:nvSpPr>
        <p:spPr>
          <a:xfrm>
            <a:off x="8603458" y="6146354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648 ÷ 27 = </a:t>
            </a:r>
          </a:p>
        </p:txBody>
      </p:sp>
      <p:sp>
        <p:nvSpPr>
          <p:cNvPr id="247" name="Arrow: Down 246">
            <a:extLst>
              <a:ext uri="{FF2B5EF4-FFF2-40B4-BE49-F238E27FC236}">
                <a16:creationId xmlns:a16="http://schemas.microsoft.com/office/drawing/2014/main" id="{FD030D5D-B241-224C-8935-2299D7254FAC}"/>
              </a:ext>
            </a:extLst>
          </p:cNvPr>
          <p:cNvSpPr/>
          <p:nvPr/>
        </p:nvSpPr>
        <p:spPr>
          <a:xfrm>
            <a:off x="8841666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61701CBF-0B40-5043-53CC-F4C5FB724C97}"/>
              </a:ext>
            </a:extLst>
          </p:cNvPr>
          <p:cNvSpPr txBox="1"/>
          <p:nvPr/>
        </p:nvSpPr>
        <p:spPr>
          <a:xfrm>
            <a:off x="9470774" y="6124360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C76596C-3091-84E1-203A-505C4F7DD548}"/>
              </a:ext>
            </a:extLst>
          </p:cNvPr>
          <p:cNvSpPr txBox="1"/>
          <p:nvPr/>
        </p:nvSpPr>
        <p:spPr>
          <a:xfrm>
            <a:off x="289127" y="5526479"/>
            <a:ext cx="1124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4 ÷ 0,02 =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7489C874-2B83-2933-510B-58C99F385CDB}"/>
              </a:ext>
            </a:extLst>
          </p:cNvPr>
          <p:cNvSpPr txBox="1"/>
          <p:nvPr/>
        </p:nvSpPr>
        <p:spPr>
          <a:xfrm>
            <a:off x="548427" y="6146354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400 ÷ 2 = </a:t>
            </a:r>
          </a:p>
        </p:txBody>
      </p:sp>
      <p:sp>
        <p:nvSpPr>
          <p:cNvPr id="243" name="Arrow: Down 242">
            <a:extLst>
              <a:ext uri="{FF2B5EF4-FFF2-40B4-BE49-F238E27FC236}">
                <a16:creationId xmlns:a16="http://schemas.microsoft.com/office/drawing/2014/main" id="{379FDA74-A68A-0897-FF52-2C8F23AF5F5B}"/>
              </a:ext>
            </a:extLst>
          </p:cNvPr>
          <p:cNvSpPr/>
          <p:nvPr/>
        </p:nvSpPr>
        <p:spPr>
          <a:xfrm>
            <a:off x="786635" y="5846218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C85068B-423C-61CB-381C-BDE832D9B71B}"/>
              </a:ext>
            </a:extLst>
          </p:cNvPr>
          <p:cNvSpPr txBox="1"/>
          <p:nvPr/>
        </p:nvSpPr>
        <p:spPr>
          <a:xfrm>
            <a:off x="1352471" y="6124360"/>
            <a:ext cx="423761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200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96EEF6C-34BD-BD21-715F-E925F45170CE}"/>
              </a:ext>
            </a:extLst>
          </p:cNvPr>
          <p:cNvSpPr txBox="1"/>
          <p:nvPr/>
        </p:nvSpPr>
        <p:spPr>
          <a:xfrm>
            <a:off x="36012" y="4842628"/>
            <a:ext cx="64623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Амалдарды аткаргыла</a:t>
            </a:r>
          </a:p>
          <a:p>
            <a:endParaRPr lang="ru-RU" sz="1400" dirty="0"/>
          </a:p>
          <a:p>
            <a:r>
              <a:rPr lang="ru-RU" sz="1400" dirty="0"/>
              <a:t>Эсепти жеңилдетүү үчүн бөлүнүүчүменен бөлүүчүнү кайсы санга көбөйтсө болот?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01850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8344F2F8-D139-25C9-E882-0EE7C6C39B6E}"/>
              </a:ext>
            </a:extLst>
          </p:cNvPr>
          <p:cNvSpPr txBox="1"/>
          <p:nvPr/>
        </p:nvSpPr>
        <p:spPr>
          <a:xfrm>
            <a:off x="832647" y="7321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solidFill>
                  <a:schemeClr val="bg1">
                    <a:lumMod val="65000"/>
                  </a:schemeClr>
                </a:solidFill>
                <a:latin typeface="Berlin Sans FB Demi" panose="020E0802020502020306" pitchFamily="34" charset="0"/>
              </a:rPr>
              <a:t>Ондуктар менен бөлүү</a:t>
            </a:r>
            <a:endParaRPr lang="en-GB" sz="1400" b="1" dirty="0">
              <a:solidFill>
                <a:schemeClr val="bg1">
                  <a:lumMod val="6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729DD-E477-3713-B830-04FABD32FF86}"/>
              </a:ext>
            </a:extLst>
          </p:cNvPr>
          <p:cNvSpPr txBox="1"/>
          <p:nvPr/>
        </p:nvSpPr>
        <p:spPr>
          <a:xfrm>
            <a:off x="2915520" y="14267"/>
            <a:ext cx="7141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Бул эсептөөлөрдү жеңилдетүү үчүн бөлүнүүчү менен бөлүүчүнү 10го же 100гө көбөйтүңүз.</a:t>
            </a:r>
            <a:endParaRPr lang="en-GB" sz="1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BEB99B-9E53-C50A-E200-4A7E09F5CCA2}"/>
              </a:ext>
            </a:extLst>
          </p:cNvPr>
          <p:cNvSpPr txBox="1"/>
          <p:nvPr/>
        </p:nvSpPr>
        <p:spPr>
          <a:xfrm>
            <a:off x="4147826" y="413113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а</a:t>
            </a:r>
            <a:r>
              <a:rPr lang="en-GB" sz="1400" dirty="0"/>
              <a:t>)  2,1 ÷ 0,3 =</a:t>
            </a:r>
          </a:p>
        </p:txBody>
      </p:sp>
      <p:sp>
        <p:nvSpPr>
          <p:cNvPr id="180" name="Arrow: Down 179">
            <a:extLst>
              <a:ext uri="{FF2B5EF4-FFF2-40B4-BE49-F238E27FC236}">
                <a16:creationId xmlns:a16="http://schemas.microsoft.com/office/drawing/2014/main" id="{E8A794AD-251E-A994-B61D-A8F87B2767E7}"/>
              </a:ext>
            </a:extLst>
          </p:cNvPr>
          <p:cNvSpPr/>
          <p:nvPr/>
        </p:nvSpPr>
        <p:spPr>
          <a:xfrm>
            <a:off x="464765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A209DF6-FA24-772D-5514-144330496D0C}"/>
              </a:ext>
            </a:extLst>
          </p:cNvPr>
          <p:cNvSpPr txBox="1"/>
          <p:nvPr/>
        </p:nvSpPr>
        <p:spPr>
          <a:xfrm>
            <a:off x="4837247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06F7C11-F251-D857-8443-66F6DC5E298B}"/>
              </a:ext>
            </a:extLst>
          </p:cNvPr>
          <p:cNvSpPr txBox="1"/>
          <p:nvPr/>
        </p:nvSpPr>
        <p:spPr>
          <a:xfrm>
            <a:off x="4203834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45283" y="315884"/>
            <a:ext cx="1729740" cy="1130531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427293" y="397443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2,7 ÷ 0,9 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1070F-1AE0-1CBD-1361-ED28AA42D280}"/>
              </a:ext>
            </a:extLst>
          </p:cNvPr>
          <p:cNvSpPr txBox="1"/>
          <p:nvPr/>
        </p:nvSpPr>
        <p:spPr>
          <a:xfrm>
            <a:off x="478775" y="1000693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27 ÷ 9 =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283AC63-5B93-3A3C-F37D-89193EAA5974}"/>
              </a:ext>
            </a:extLst>
          </p:cNvPr>
          <p:cNvSpPr/>
          <p:nvPr/>
        </p:nvSpPr>
        <p:spPr>
          <a:xfrm>
            <a:off x="716983" y="700557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D39B12-5012-87E1-D7E6-37B8337525A9}"/>
              </a:ext>
            </a:extLst>
          </p:cNvPr>
          <p:cNvSpPr txBox="1"/>
          <p:nvPr/>
        </p:nvSpPr>
        <p:spPr>
          <a:xfrm>
            <a:off x="906573" y="68557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4DB80E6-6A12-8F9D-D22C-199F99109751}"/>
              </a:ext>
            </a:extLst>
          </p:cNvPr>
          <p:cNvSpPr txBox="1"/>
          <p:nvPr/>
        </p:nvSpPr>
        <p:spPr>
          <a:xfrm>
            <a:off x="273160" y="68557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9D7444-F3E8-A573-A0F5-52213C7C0D2C}"/>
              </a:ext>
            </a:extLst>
          </p:cNvPr>
          <p:cNvSpPr/>
          <p:nvPr/>
        </p:nvSpPr>
        <p:spPr>
          <a:xfrm>
            <a:off x="1874083" y="315884"/>
            <a:ext cx="1729740" cy="1130531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CC7DE-7E62-0B53-7665-FA4DFA1D96D0}"/>
              </a:ext>
            </a:extLst>
          </p:cNvPr>
          <p:cNvSpPr txBox="1"/>
          <p:nvPr/>
        </p:nvSpPr>
        <p:spPr>
          <a:xfrm>
            <a:off x="2175130" y="397443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0,84 ÷ 0,12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B069D-4680-2094-CB41-FDC006B1BE57}"/>
              </a:ext>
            </a:extLst>
          </p:cNvPr>
          <p:cNvSpPr txBox="1"/>
          <p:nvPr/>
        </p:nvSpPr>
        <p:spPr>
          <a:xfrm>
            <a:off x="2307575" y="100069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84 ÷ 12 = 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EEBE83-5682-D0C3-EB95-5A92AD6123E5}"/>
              </a:ext>
            </a:extLst>
          </p:cNvPr>
          <p:cNvSpPr/>
          <p:nvPr/>
        </p:nvSpPr>
        <p:spPr>
          <a:xfrm>
            <a:off x="2545783" y="700557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2829D-6E0A-2E82-B08F-717E2B4E5566}"/>
              </a:ext>
            </a:extLst>
          </p:cNvPr>
          <p:cNvSpPr txBox="1"/>
          <p:nvPr/>
        </p:nvSpPr>
        <p:spPr>
          <a:xfrm>
            <a:off x="2735373" y="685574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96F54-4FEF-4806-10E0-330370EC9CAB}"/>
              </a:ext>
            </a:extLst>
          </p:cNvPr>
          <p:cNvSpPr txBox="1"/>
          <p:nvPr/>
        </p:nvSpPr>
        <p:spPr>
          <a:xfrm>
            <a:off x="2044810" y="685574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847BA5-35E2-60C2-9ED2-BF54614B6C01}"/>
              </a:ext>
            </a:extLst>
          </p:cNvPr>
          <p:cNvSpPr txBox="1"/>
          <p:nvPr/>
        </p:nvSpPr>
        <p:spPr>
          <a:xfrm>
            <a:off x="6257336" y="413113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б</a:t>
            </a:r>
            <a:r>
              <a:rPr lang="en-GB" sz="1400" dirty="0"/>
              <a:t>)  3,6 ÷ 0,4 =</a:t>
            </a:r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B205134F-73D5-10C0-8466-F005ECAEDDEF}"/>
              </a:ext>
            </a:extLst>
          </p:cNvPr>
          <p:cNvSpPr/>
          <p:nvPr/>
        </p:nvSpPr>
        <p:spPr>
          <a:xfrm>
            <a:off x="675716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25AEA6-286D-79DB-32C1-3633DA4B0F42}"/>
              </a:ext>
            </a:extLst>
          </p:cNvPr>
          <p:cNvSpPr txBox="1"/>
          <p:nvPr/>
        </p:nvSpPr>
        <p:spPr>
          <a:xfrm>
            <a:off x="6946757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89BAA2-9197-D74D-3EFA-ADB3E06EEEEC}"/>
              </a:ext>
            </a:extLst>
          </p:cNvPr>
          <p:cNvSpPr txBox="1"/>
          <p:nvPr/>
        </p:nvSpPr>
        <p:spPr>
          <a:xfrm>
            <a:off x="6313344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610BD88-70A4-1675-4265-BF4E14026C67}"/>
              </a:ext>
            </a:extLst>
          </p:cNvPr>
          <p:cNvSpPr txBox="1"/>
          <p:nvPr/>
        </p:nvSpPr>
        <p:spPr>
          <a:xfrm>
            <a:off x="8366846" y="413113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в</a:t>
            </a:r>
            <a:r>
              <a:rPr lang="en-GB" sz="1400" dirty="0"/>
              <a:t>)  7,8 ÷ 0,6 =</a:t>
            </a:r>
          </a:p>
        </p:txBody>
      </p:sp>
      <p:sp>
        <p:nvSpPr>
          <p:cNvPr id="87" name="Arrow: Down 86">
            <a:extLst>
              <a:ext uri="{FF2B5EF4-FFF2-40B4-BE49-F238E27FC236}">
                <a16:creationId xmlns:a16="http://schemas.microsoft.com/office/drawing/2014/main" id="{9928D340-CFB5-8F6C-1F32-66FD41694E07}"/>
              </a:ext>
            </a:extLst>
          </p:cNvPr>
          <p:cNvSpPr/>
          <p:nvPr/>
        </p:nvSpPr>
        <p:spPr>
          <a:xfrm>
            <a:off x="886667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72C1A9-1002-001D-C503-E614233F3338}"/>
              </a:ext>
            </a:extLst>
          </p:cNvPr>
          <p:cNvSpPr txBox="1"/>
          <p:nvPr/>
        </p:nvSpPr>
        <p:spPr>
          <a:xfrm>
            <a:off x="57236" y="1764710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г</a:t>
            </a:r>
            <a:r>
              <a:rPr lang="en-GB" sz="1400" dirty="0"/>
              <a:t>)  0,36 ÷ 0,09 =</a:t>
            </a:r>
          </a:p>
        </p:txBody>
      </p:sp>
      <p:sp>
        <p:nvSpPr>
          <p:cNvPr id="96" name="Arrow: Down 95">
            <a:extLst>
              <a:ext uri="{FF2B5EF4-FFF2-40B4-BE49-F238E27FC236}">
                <a16:creationId xmlns:a16="http://schemas.microsoft.com/office/drawing/2014/main" id="{9C1EAE17-04EB-9A13-9063-AA653CAC415E}"/>
              </a:ext>
            </a:extLst>
          </p:cNvPr>
          <p:cNvSpPr/>
          <p:nvPr/>
        </p:nvSpPr>
        <p:spPr>
          <a:xfrm>
            <a:off x="658667" y="2084551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9CB0942-E9B2-7F25-D382-1FC635372325}"/>
              </a:ext>
            </a:extLst>
          </p:cNvPr>
          <p:cNvSpPr txBox="1"/>
          <p:nvPr/>
        </p:nvSpPr>
        <p:spPr>
          <a:xfrm>
            <a:off x="848257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894258-7B0C-5807-3879-04C57B435213}"/>
              </a:ext>
            </a:extLst>
          </p:cNvPr>
          <p:cNvSpPr txBox="1"/>
          <p:nvPr/>
        </p:nvSpPr>
        <p:spPr>
          <a:xfrm>
            <a:off x="214844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2E48FAD-2A99-2F56-5950-8CDF276CD557}"/>
              </a:ext>
            </a:extLst>
          </p:cNvPr>
          <p:cNvSpPr txBox="1"/>
          <p:nvPr/>
        </p:nvSpPr>
        <p:spPr>
          <a:xfrm>
            <a:off x="2102531" y="1764710"/>
            <a:ext cx="1358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д</a:t>
            </a:r>
            <a:r>
              <a:rPr lang="en-GB" sz="1400" dirty="0"/>
              <a:t>)  0,56 ÷ 0,07 =</a:t>
            </a:r>
          </a:p>
        </p:txBody>
      </p:sp>
      <p:sp>
        <p:nvSpPr>
          <p:cNvPr id="104" name="Arrow: Down 103">
            <a:extLst>
              <a:ext uri="{FF2B5EF4-FFF2-40B4-BE49-F238E27FC236}">
                <a16:creationId xmlns:a16="http://schemas.microsoft.com/office/drawing/2014/main" id="{FE9F58DC-F13E-7F91-011A-DEC8001F790A}"/>
              </a:ext>
            </a:extLst>
          </p:cNvPr>
          <p:cNvSpPr/>
          <p:nvPr/>
        </p:nvSpPr>
        <p:spPr>
          <a:xfrm>
            <a:off x="2697612" y="2084551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8C9673E-4CDC-E53F-BD11-FA5B591BAF0B}"/>
              </a:ext>
            </a:extLst>
          </p:cNvPr>
          <p:cNvSpPr txBox="1"/>
          <p:nvPr/>
        </p:nvSpPr>
        <p:spPr>
          <a:xfrm>
            <a:off x="2887202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262FA77-EB9B-397D-11AB-3D6BCCA4AB7E}"/>
              </a:ext>
            </a:extLst>
          </p:cNvPr>
          <p:cNvSpPr txBox="1"/>
          <p:nvPr/>
        </p:nvSpPr>
        <p:spPr>
          <a:xfrm>
            <a:off x="2253789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4A663C1-8D58-2B94-9DA0-6A2EC84D4D3F}"/>
              </a:ext>
            </a:extLst>
          </p:cNvPr>
          <p:cNvSpPr txBox="1"/>
          <p:nvPr/>
        </p:nvSpPr>
        <p:spPr>
          <a:xfrm>
            <a:off x="4147826" y="1764710"/>
            <a:ext cx="1346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е</a:t>
            </a:r>
            <a:r>
              <a:rPr lang="en-GB" sz="1400" dirty="0"/>
              <a:t>)  0,48 ÷ 0,08 =</a:t>
            </a:r>
          </a:p>
        </p:txBody>
      </p: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978E2FA0-7737-EF92-0BF2-18F88D51F540}"/>
              </a:ext>
            </a:extLst>
          </p:cNvPr>
          <p:cNvSpPr/>
          <p:nvPr/>
        </p:nvSpPr>
        <p:spPr>
          <a:xfrm>
            <a:off x="4645334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397D35C-CF3D-254F-ABF0-DB978375E116}"/>
              </a:ext>
            </a:extLst>
          </p:cNvPr>
          <p:cNvSpPr txBox="1"/>
          <p:nvPr/>
        </p:nvSpPr>
        <p:spPr>
          <a:xfrm>
            <a:off x="6233090" y="1764710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ж</a:t>
            </a:r>
            <a:r>
              <a:rPr lang="en-GB" sz="1400" dirty="0"/>
              <a:t>)  3,6 ÷ 1,2 =</a:t>
            </a:r>
          </a:p>
        </p:txBody>
      </p:sp>
      <p:sp>
        <p:nvSpPr>
          <p:cNvPr id="118" name="Arrow: Down 117">
            <a:extLst>
              <a:ext uri="{FF2B5EF4-FFF2-40B4-BE49-F238E27FC236}">
                <a16:creationId xmlns:a16="http://schemas.microsoft.com/office/drawing/2014/main" id="{C9C211F2-47EF-B4A2-AA43-92BFE6547A40}"/>
              </a:ext>
            </a:extLst>
          </p:cNvPr>
          <p:cNvSpPr/>
          <p:nvPr/>
        </p:nvSpPr>
        <p:spPr>
          <a:xfrm>
            <a:off x="6730598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A260E54-EB1A-6835-8445-A5A8271ED3A3}"/>
              </a:ext>
            </a:extLst>
          </p:cNvPr>
          <p:cNvSpPr txBox="1"/>
          <p:nvPr/>
        </p:nvSpPr>
        <p:spPr>
          <a:xfrm>
            <a:off x="8318354" y="1764710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з</a:t>
            </a:r>
            <a:r>
              <a:rPr lang="en-GB" sz="1400" dirty="0"/>
              <a:t>)  12,1 ÷ 1,1 =</a:t>
            </a:r>
          </a:p>
        </p:txBody>
      </p:sp>
      <p:sp>
        <p:nvSpPr>
          <p:cNvPr id="123" name="Arrow: Down 122">
            <a:extLst>
              <a:ext uri="{FF2B5EF4-FFF2-40B4-BE49-F238E27FC236}">
                <a16:creationId xmlns:a16="http://schemas.microsoft.com/office/drawing/2014/main" id="{545402CA-8C44-6B92-7B93-15324F7A60F2}"/>
              </a:ext>
            </a:extLst>
          </p:cNvPr>
          <p:cNvSpPr/>
          <p:nvPr/>
        </p:nvSpPr>
        <p:spPr>
          <a:xfrm>
            <a:off x="8934925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0359B72-1744-581C-A1C8-E1E478BEE7BC}"/>
              </a:ext>
            </a:extLst>
          </p:cNvPr>
          <p:cNvSpPr txBox="1"/>
          <p:nvPr/>
        </p:nvSpPr>
        <p:spPr>
          <a:xfrm>
            <a:off x="57236" y="3116308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и</a:t>
            </a:r>
            <a:r>
              <a:rPr lang="en-GB" sz="1400" dirty="0"/>
              <a:t>)  0,54 ÷ 0,06 =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B1699AC-7786-0ABB-A3AD-1C23195D629F}"/>
              </a:ext>
            </a:extLst>
          </p:cNvPr>
          <p:cNvSpPr txBox="1"/>
          <p:nvPr/>
        </p:nvSpPr>
        <p:spPr>
          <a:xfrm>
            <a:off x="2102531" y="3116308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й</a:t>
            </a:r>
            <a:r>
              <a:rPr lang="en-GB" sz="1400" dirty="0"/>
              <a:t>)  0,72 ÷ 0,12 =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BD76B44-7DEE-3B24-3BDE-4ED65218EFE5}"/>
              </a:ext>
            </a:extLst>
          </p:cNvPr>
          <p:cNvSpPr txBox="1"/>
          <p:nvPr/>
        </p:nvSpPr>
        <p:spPr>
          <a:xfrm>
            <a:off x="4147826" y="3116308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</a:t>
            </a:r>
            <a:r>
              <a:rPr lang="en-GB" sz="1400" dirty="0"/>
              <a:t>)  27,3 ÷ 1,3 =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A193778-156D-751F-EB35-61686EE90411}"/>
              </a:ext>
            </a:extLst>
          </p:cNvPr>
          <p:cNvSpPr txBox="1"/>
          <p:nvPr/>
        </p:nvSpPr>
        <p:spPr>
          <a:xfrm>
            <a:off x="6233090" y="3116308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л</a:t>
            </a:r>
            <a:r>
              <a:rPr lang="en-GB" sz="1400" dirty="0"/>
              <a:t>)  24,6 ÷ 0,6 =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91A066C-7D48-E9CA-1332-14165D774216}"/>
              </a:ext>
            </a:extLst>
          </p:cNvPr>
          <p:cNvSpPr txBox="1"/>
          <p:nvPr/>
        </p:nvSpPr>
        <p:spPr>
          <a:xfrm>
            <a:off x="8318354" y="3116308"/>
            <a:ext cx="1378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м</a:t>
            </a:r>
            <a:r>
              <a:rPr lang="en-GB" sz="1400" dirty="0"/>
              <a:t>)  4,48 ÷ 0,14 =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2B05993-DF6C-7B49-D0A7-7A735C46C2F1}"/>
              </a:ext>
            </a:extLst>
          </p:cNvPr>
          <p:cNvSpPr txBox="1"/>
          <p:nvPr/>
        </p:nvSpPr>
        <p:spPr>
          <a:xfrm>
            <a:off x="57236" y="446790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н</a:t>
            </a:r>
            <a:r>
              <a:rPr lang="en-GB" sz="1400" dirty="0"/>
              <a:t>)  48,6 ÷ 0,9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89DB3F5-94E9-C527-ED56-31CD4903F1AC}"/>
              </a:ext>
            </a:extLst>
          </p:cNvPr>
          <p:cNvSpPr txBox="1"/>
          <p:nvPr/>
        </p:nvSpPr>
        <p:spPr>
          <a:xfrm>
            <a:off x="2102531" y="4467906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67,2 ÷ 2,8 =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D76CB27-FE83-5386-BA09-58EF14B1ADB1}"/>
              </a:ext>
            </a:extLst>
          </p:cNvPr>
          <p:cNvSpPr txBox="1"/>
          <p:nvPr/>
        </p:nvSpPr>
        <p:spPr>
          <a:xfrm>
            <a:off x="4147826" y="4467906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п</a:t>
            </a:r>
            <a:r>
              <a:rPr lang="en-GB" sz="1400" dirty="0"/>
              <a:t>)  1,47 ÷ 0,21 =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B2A83DC-8F4D-8A22-C4B5-8ED47D70DCE7}"/>
              </a:ext>
            </a:extLst>
          </p:cNvPr>
          <p:cNvSpPr txBox="1"/>
          <p:nvPr/>
        </p:nvSpPr>
        <p:spPr>
          <a:xfrm>
            <a:off x="6233090" y="4467906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р</a:t>
            </a:r>
            <a:r>
              <a:rPr lang="en-GB" sz="1400" dirty="0"/>
              <a:t>)  6 ÷ 4 =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09A4450-0866-C53B-1C20-D52788344D22}"/>
              </a:ext>
            </a:extLst>
          </p:cNvPr>
          <p:cNvSpPr txBox="1"/>
          <p:nvPr/>
        </p:nvSpPr>
        <p:spPr>
          <a:xfrm>
            <a:off x="8318354" y="4467906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с</a:t>
            </a:r>
            <a:r>
              <a:rPr lang="en-GB" sz="1400" dirty="0"/>
              <a:t>)  2 ÷ 0,8 =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69534A67-4F41-CCB0-9574-1DFF59DEA27C}"/>
              </a:ext>
            </a:extLst>
          </p:cNvPr>
          <p:cNvSpPr txBox="1"/>
          <p:nvPr/>
        </p:nvSpPr>
        <p:spPr>
          <a:xfrm>
            <a:off x="57236" y="5819503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т</a:t>
            </a:r>
            <a:r>
              <a:rPr lang="en-GB" sz="1400" dirty="0"/>
              <a:t>)  0,54 ÷ 0,12 =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A60885E1-BB6E-A155-5C48-05B1F4F2BFD4}"/>
              </a:ext>
            </a:extLst>
          </p:cNvPr>
          <p:cNvSpPr txBox="1"/>
          <p:nvPr/>
        </p:nvSpPr>
        <p:spPr>
          <a:xfrm>
            <a:off x="2102531" y="5819503"/>
            <a:ext cx="1247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у</a:t>
            </a:r>
            <a:r>
              <a:rPr lang="en-GB" sz="1400" dirty="0"/>
              <a:t>)  11,9 ÷ 1,4 =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20E1E07-8DA8-7101-B5F3-4A6EC278A718}"/>
              </a:ext>
            </a:extLst>
          </p:cNvPr>
          <p:cNvSpPr txBox="1"/>
          <p:nvPr/>
        </p:nvSpPr>
        <p:spPr>
          <a:xfrm>
            <a:off x="4147826" y="5819503"/>
            <a:ext cx="136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ф</a:t>
            </a:r>
            <a:r>
              <a:rPr lang="en-GB" sz="1400" dirty="0"/>
              <a:t>)  1,95 ÷ 0,06 =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79BA6A4-C62C-D034-E105-2D355B409793}"/>
              </a:ext>
            </a:extLst>
          </p:cNvPr>
          <p:cNvSpPr txBox="1"/>
          <p:nvPr/>
        </p:nvSpPr>
        <p:spPr>
          <a:xfrm>
            <a:off x="6233090" y="5819503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х</a:t>
            </a:r>
            <a:r>
              <a:rPr lang="en-GB" sz="1400" dirty="0"/>
              <a:t>)  61,2 ÷ 2,4 =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2817F6A-EF8F-C13F-B3C5-900DC8A68DBD}"/>
              </a:ext>
            </a:extLst>
          </p:cNvPr>
          <p:cNvSpPr txBox="1"/>
          <p:nvPr/>
        </p:nvSpPr>
        <p:spPr>
          <a:xfrm>
            <a:off x="8318354" y="5819503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ц</a:t>
            </a:r>
            <a:r>
              <a:rPr lang="en-GB" sz="1400" dirty="0"/>
              <a:t>)  4,27 ÷ 0,35 =</a:t>
            </a:r>
          </a:p>
        </p:txBody>
      </p:sp>
    </p:spTree>
    <p:extLst>
      <p:ext uri="{BB962C8B-B14F-4D97-AF65-F5344CB8AC3E}">
        <p14:creationId xmlns:p14="http://schemas.microsoft.com/office/powerpoint/2010/main" val="19026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8344F2F8-D139-25C9-E882-0EE7C6C39B6E}"/>
              </a:ext>
            </a:extLst>
          </p:cNvPr>
          <p:cNvSpPr txBox="1"/>
          <p:nvPr/>
        </p:nvSpPr>
        <p:spPr>
          <a:xfrm>
            <a:off x="832647" y="7321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>
                <a:solidFill>
                  <a:schemeClr val="bg1">
                    <a:lumMod val="65000"/>
                  </a:schemeClr>
                </a:solidFill>
                <a:latin typeface="Berlin Sans FB Demi" panose="020E0802020502020306" pitchFamily="34" charset="0"/>
              </a:rPr>
              <a:t>Ондуктар менен бөлүү</a:t>
            </a:r>
            <a:endParaRPr lang="en-GB" sz="1400" b="1" dirty="0">
              <a:solidFill>
                <a:schemeClr val="bg1">
                  <a:lumMod val="6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729DD-E477-3713-B830-04FABD32FF86}"/>
              </a:ext>
            </a:extLst>
          </p:cNvPr>
          <p:cNvSpPr txBox="1"/>
          <p:nvPr/>
        </p:nvSpPr>
        <p:spPr>
          <a:xfrm>
            <a:off x="3725735" y="24033"/>
            <a:ext cx="612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Бул эсептөөлөрдү жеңилдетүү үчүн бөлүнүүчү менен бөлүүчүнү 10го же 100гө көбөйтүңүз.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BEB99B-9E53-C50A-E200-4A7E09F5CCA2}"/>
              </a:ext>
            </a:extLst>
          </p:cNvPr>
          <p:cNvSpPr txBox="1"/>
          <p:nvPr/>
        </p:nvSpPr>
        <p:spPr>
          <a:xfrm>
            <a:off x="4147826" y="413113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а</a:t>
            </a:r>
            <a:r>
              <a:rPr lang="en-GB" sz="1400" dirty="0"/>
              <a:t>)  2,1 ÷ 0,3 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2F024D-35E4-D65B-E5E9-C6F6F621B07F}"/>
              </a:ext>
            </a:extLst>
          </p:cNvPr>
          <p:cNvSpPr txBox="1"/>
          <p:nvPr/>
        </p:nvSpPr>
        <p:spPr>
          <a:xfrm>
            <a:off x="4407126" y="1032988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21 ÷ 3 =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AD4121-E92A-9299-204C-2B9764466B79}"/>
              </a:ext>
            </a:extLst>
          </p:cNvPr>
          <p:cNvSpPr txBox="1"/>
          <p:nvPr/>
        </p:nvSpPr>
        <p:spPr>
          <a:xfrm>
            <a:off x="5161501" y="1010994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80" name="Arrow: Down 179">
            <a:extLst>
              <a:ext uri="{FF2B5EF4-FFF2-40B4-BE49-F238E27FC236}">
                <a16:creationId xmlns:a16="http://schemas.microsoft.com/office/drawing/2014/main" id="{E8A794AD-251E-A994-B61D-A8F87B2767E7}"/>
              </a:ext>
            </a:extLst>
          </p:cNvPr>
          <p:cNvSpPr/>
          <p:nvPr/>
        </p:nvSpPr>
        <p:spPr>
          <a:xfrm>
            <a:off x="464765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A209DF6-FA24-772D-5514-144330496D0C}"/>
              </a:ext>
            </a:extLst>
          </p:cNvPr>
          <p:cNvSpPr txBox="1"/>
          <p:nvPr/>
        </p:nvSpPr>
        <p:spPr>
          <a:xfrm>
            <a:off x="4837247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06F7C11-F251-D857-8443-66F6DC5E298B}"/>
              </a:ext>
            </a:extLst>
          </p:cNvPr>
          <p:cNvSpPr txBox="1"/>
          <p:nvPr/>
        </p:nvSpPr>
        <p:spPr>
          <a:xfrm>
            <a:off x="4203834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45283" y="315884"/>
            <a:ext cx="1729740" cy="1130531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427293" y="397443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2,7 ÷ 0,9 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1070F-1AE0-1CBD-1361-ED28AA42D280}"/>
              </a:ext>
            </a:extLst>
          </p:cNvPr>
          <p:cNvSpPr txBox="1"/>
          <p:nvPr/>
        </p:nvSpPr>
        <p:spPr>
          <a:xfrm>
            <a:off x="478775" y="1000693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27 ÷ 9 =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283AC63-5B93-3A3C-F37D-89193EAA5974}"/>
              </a:ext>
            </a:extLst>
          </p:cNvPr>
          <p:cNvSpPr/>
          <p:nvPr/>
        </p:nvSpPr>
        <p:spPr>
          <a:xfrm>
            <a:off x="716983" y="700557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C2A781-6DB1-E2A7-9B7B-57B56CA875E8}"/>
              </a:ext>
            </a:extLst>
          </p:cNvPr>
          <p:cNvSpPr txBox="1"/>
          <p:nvPr/>
        </p:nvSpPr>
        <p:spPr>
          <a:xfrm>
            <a:off x="1298914" y="1015154"/>
            <a:ext cx="189723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D39B12-5012-87E1-D7E6-37B8337525A9}"/>
              </a:ext>
            </a:extLst>
          </p:cNvPr>
          <p:cNvSpPr txBox="1"/>
          <p:nvPr/>
        </p:nvSpPr>
        <p:spPr>
          <a:xfrm>
            <a:off x="906573" y="68557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4DB80E6-6A12-8F9D-D22C-199F99109751}"/>
              </a:ext>
            </a:extLst>
          </p:cNvPr>
          <p:cNvSpPr txBox="1"/>
          <p:nvPr/>
        </p:nvSpPr>
        <p:spPr>
          <a:xfrm>
            <a:off x="273160" y="685574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9D7444-F3E8-A573-A0F5-52213C7C0D2C}"/>
              </a:ext>
            </a:extLst>
          </p:cNvPr>
          <p:cNvSpPr/>
          <p:nvPr/>
        </p:nvSpPr>
        <p:spPr>
          <a:xfrm>
            <a:off x="1874083" y="315884"/>
            <a:ext cx="1729740" cy="1130531"/>
          </a:xfrm>
          <a:prstGeom prst="roundRect">
            <a:avLst>
              <a:gd name="adj" fmla="val 207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CC7DE-7E62-0B53-7665-FA4DFA1D96D0}"/>
              </a:ext>
            </a:extLst>
          </p:cNvPr>
          <p:cNvSpPr txBox="1"/>
          <p:nvPr/>
        </p:nvSpPr>
        <p:spPr>
          <a:xfrm>
            <a:off x="2175130" y="397443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0,84 ÷ 0,12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B069D-4680-2094-CB41-FDC006B1BE57}"/>
              </a:ext>
            </a:extLst>
          </p:cNvPr>
          <p:cNvSpPr txBox="1"/>
          <p:nvPr/>
        </p:nvSpPr>
        <p:spPr>
          <a:xfrm>
            <a:off x="2307575" y="100069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84 ÷ 12 = 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EEBE83-5682-D0C3-EB95-5A92AD6123E5}"/>
              </a:ext>
            </a:extLst>
          </p:cNvPr>
          <p:cNvSpPr/>
          <p:nvPr/>
        </p:nvSpPr>
        <p:spPr>
          <a:xfrm>
            <a:off x="2545783" y="700557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E4DFD-262C-7870-0FE8-8C4AA0154EE9}"/>
              </a:ext>
            </a:extLst>
          </p:cNvPr>
          <p:cNvSpPr txBox="1"/>
          <p:nvPr/>
        </p:nvSpPr>
        <p:spPr>
          <a:xfrm>
            <a:off x="3127715" y="1015154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2829D-6E0A-2E82-B08F-717E2B4E5566}"/>
              </a:ext>
            </a:extLst>
          </p:cNvPr>
          <p:cNvSpPr txBox="1"/>
          <p:nvPr/>
        </p:nvSpPr>
        <p:spPr>
          <a:xfrm>
            <a:off x="2735373" y="685574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96F54-4FEF-4806-10E0-330370EC9CAB}"/>
              </a:ext>
            </a:extLst>
          </p:cNvPr>
          <p:cNvSpPr txBox="1"/>
          <p:nvPr/>
        </p:nvSpPr>
        <p:spPr>
          <a:xfrm>
            <a:off x="2044810" y="685574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847BA5-35E2-60C2-9ED2-BF54614B6C01}"/>
              </a:ext>
            </a:extLst>
          </p:cNvPr>
          <p:cNvSpPr txBox="1"/>
          <p:nvPr/>
        </p:nvSpPr>
        <p:spPr>
          <a:xfrm>
            <a:off x="6257336" y="413113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б</a:t>
            </a:r>
            <a:r>
              <a:rPr lang="en-GB" sz="1400" dirty="0"/>
              <a:t>)  3,6 ÷ 0,4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62F510-1C45-1C57-BDAA-66B1194863A2}"/>
              </a:ext>
            </a:extLst>
          </p:cNvPr>
          <p:cNvSpPr txBox="1"/>
          <p:nvPr/>
        </p:nvSpPr>
        <p:spPr>
          <a:xfrm>
            <a:off x="6516636" y="1032988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36 ÷ 4 =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028646-7A93-42C4-FD25-A6EEC750230E}"/>
              </a:ext>
            </a:extLst>
          </p:cNvPr>
          <p:cNvSpPr txBox="1"/>
          <p:nvPr/>
        </p:nvSpPr>
        <p:spPr>
          <a:xfrm>
            <a:off x="7271011" y="1010994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B205134F-73D5-10C0-8466-F005ECAEDDEF}"/>
              </a:ext>
            </a:extLst>
          </p:cNvPr>
          <p:cNvSpPr/>
          <p:nvPr/>
        </p:nvSpPr>
        <p:spPr>
          <a:xfrm>
            <a:off x="675716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25AEA6-286D-79DB-32C1-3633DA4B0F42}"/>
              </a:ext>
            </a:extLst>
          </p:cNvPr>
          <p:cNvSpPr txBox="1"/>
          <p:nvPr/>
        </p:nvSpPr>
        <p:spPr>
          <a:xfrm>
            <a:off x="6946757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89BAA2-9197-D74D-3EFA-ADB3E06EEEEC}"/>
              </a:ext>
            </a:extLst>
          </p:cNvPr>
          <p:cNvSpPr txBox="1"/>
          <p:nvPr/>
        </p:nvSpPr>
        <p:spPr>
          <a:xfrm>
            <a:off x="6313344" y="717971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610BD88-70A4-1675-4265-BF4E14026C67}"/>
              </a:ext>
            </a:extLst>
          </p:cNvPr>
          <p:cNvSpPr txBox="1"/>
          <p:nvPr/>
        </p:nvSpPr>
        <p:spPr>
          <a:xfrm>
            <a:off x="8366846" y="413113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в</a:t>
            </a:r>
            <a:r>
              <a:rPr lang="en-GB" sz="1400" dirty="0"/>
              <a:t>)  7,8 ÷ 0,6 =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10F22F-3BAF-D40F-5C47-234DB61BAD27}"/>
              </a:ext>
            </a:extLst>
          </p:cNvPr>
          <p:cNvSpPr txBox="1"/>
          <p:nvPr/>
        </p:nvSpPr>
        <p:spPr>
          <a:xfrm>
            <a:off x="8626146" y="1032988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78 ÷ 6 =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813B89-9C4B-A25D-E7DC-FAF6105D6335}"/>
              </a:ext>
            </a:extLst>
          </p:cNvPr>
          <p:cNvSpPr txBox="1"/>
          <p:nvPr/>
        </p:nvSpPr>
        <p:spPr>
          <a:xfrm>
            <a:off x="9322011" y="1010994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87" name="Arrow: Down 86">
            <a:extLst>
              <a:ext uri="{FF2B5EF4-FFF2-40B4-BE49-F238E27FC236}">
                <a16:creationId xmlns:a16="http://schemas.microsoft.com/office/drawing/2014/main" id="{9928D340-CFB5-8F6C-1F32-66FD41694E07}"/>
              </a:ext>
            </a:extLst>
          </p:cNvPr>
          <p:cNvSpPr/>
          <p:nvPr/>
        </p:nvSpPr>
        <p:spPr>
          <a:xfrm>
            <a:off x="8866677" y="732954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72C1A9-1002-001D-C503-E614233F3338}"/>
              </a:ext>
            </a:extLst>
          </p:cNvPr>
          <p:cNvSpPr txBox="1"/>
          <p:nvPr/>
        </p:nvSpPr>
        <p:spPr>
          <a:xfrm>
            <a:off x="57236" y="1764710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г</a:t>
            </a:r>
            <a:r>
              <a:rPr lang="en-GB" sz="1400" dirty="0"/>
              <a:t>)  0,36 ÷ 0,09 =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75477C2-C437-9354-36A5-48A9A890EE7F}"/>
              </a:ext>
            </a:extLst>
          </p:cNvPr>
          <p:cNvSpPr txBox="1"/>
          <p:nvPr/>
        </p:nvSpPr>
        <p:spPr>
          <a:xfrm>
            <a:off x="418136" y="2384585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36 ÷ 9 =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26094A3-EE8C-B051-5C1A-D7ABA2EFC21D}"/>
              </a:ext>
            </a:extLst>
          </p:cNvPr>
          <p:cNvSpPr txBox="1"/>
          <p:nvPr/>
        </p:nvSpPr>
        <p:spPr>
          <a:xfrm>
            <a:off x="1172511" y="236259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96" name="Arrow: Down 95">
            <a:extLst>
              <a:ext uri="{FF2B5EF4-FFF2-40B4-BE49-F238E27FC236}">
                <a16:creationId xmlns:a16="http://schemas.microsoft.com/office/drawing/2014/main" id="{9C1EAE17-04EB-9A13-9063-AA653CAC415E}"/>
              </a:ext>
            </a:extLst>
          </p:cNvPr>
          <p:cNvSpPr/>
          <p:nvPr/>
        </p:nvSpPr>
        <p:spPr>
          <a:xfrm>
            <a:off x="658667" y="2084551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9CB0942-E9B2-7F25-D382-1FC635372325}"/>
              </a:ext>
            </a:extLst>
          </p:cNvPr>
          <p:cNvSpPr txBox="1"/>
          <p:nvPr/>
        </p:nvSpPr>
        <p:spPr>
          <a:xfrm>
            <a:off x="848257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894258-7B0C-5807-3879-04C57B435213}"/>
              </a:ext>
            </a:extLst>
          </p:cNvPr>
          <p:cNvSpPr txBox="1"/>
          <p:nvPr/>
        </p:nvSpPr>
        <p:spPr>
          <a:xfrm>
            <a:off x="214844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2E48FAD-2A99-2F56-5950-8CDF276CD557}"/>
              </a:ext>
            </a:extLst>
          </p:cNvPr>
          <p:cNvSpPr txBox="1"/>
          <p:nvPr/>
        </p:nvSpPr>
        <p:spPr>
          <a:xfrm>
            <a:off x="2102531" y="1764710"/>
            <a:ext cx="1358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д</a:t>
            </a:r>
            <a:r>
              <a:rPr lang="en-GB" sz="1400" dirty="0"/>
              <a:t>)  0,56 ÷ 0,07 =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53C8914-8ED1-1E00-A993-88ED7115D344}"/>
              </a:ext>
            </a:extLst>
          </p:cNvPr>
          <p:cNvSpPr txBox="1"/>
          <p:nvPr/>
        </p:nvSpPr>
        <p:spPr>
          <a:xfrm>
            <a:off x="2457081" y="2384585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56 ÷ 7 = 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569B9C7-72E5-600E-EAAD-ACACA887AA09}"/>
              </a:ext>
            </a:extLst>
          </p:cNvPr>
          <p:cNvSpPr txBox="1"/>
          <p:nvPr/>
        </p:nvSpPr>
        <p:spPr>
          <a:xfrm>
            <a:off x="3211456" y="236259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104" name="Arrow: Down 103">
            <a:extLst>
              <a:ext uri="{FF2B5EF4-FFF2-40B4-BE49-F238E27FC236}">
                <a16:creationId xmlns:a16="http://schemas.microsoft.com/office/drawing/2014/main" id="{FE9F58DC-F13E-7F91-011A-DEC8001F790A}"/>
              </a:ext>
            </a:extLst>
          </p:cNvPr>
          <p:cNvSpPr/>
          <p:nvPr/>
        </p:nvSpPr>
        <p:spPr>
          <a:xfrm>
            <a:off x="2697612" y="2084551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8C9673E-4CDC-E53F-BD11-FA5B591BAF0B}"/>
              </a:ext>
            </a:extLst>
          </p:cNvPr>
          <p:cNvSpPr txBox="1"/>
          <p:nvPr/>
        </p:nvSpPr>
        <p:spPr>
          <a:xfrm>
            <a:off x="2887202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262FA77-EB9B-397D-11AB-3D6BCCA4AB7E}"/>
              </a:ext>
            </a:extLst>
          </p:cNvPr>
          <p:cNvSpPr txBox="1"/>
          <p:nvPr/>
        </p:nvSpPr>
        <p:spPr>
          <a:xfrm>
            <a:off x="2253789" y="2069568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 100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4A663C1-8D58-2B94-9DA0-6A2EC84D4D3F}"/>
              </a:ext>
            </a:extLst>
          </p:cNvPr>
          <p:cNvSpPr txBox="1"/>
          <p:nvPr/>
        </p:nvSpPr>
        <p:spPr>
          <a:xfrm>
            <a:off x="4147826" y="1764710"/>
            <a:ext cx="1346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е</a:t>
            </a:r>
            <a:r>
              <a:rPr lang="en-GB" sz="1400" dirty="0"/>
              <a:t>)  0,48 ÷ 0,08 =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4E81BE1-5BD2-29E0-E769-F258C859241A}"/>
              </a:ext>
            </a:extLst>
          </p:cNvPr>
          <p:cNvSpPr txBox="1"/>
          <p:nvPr/>
        </p:nvSpPr>
        <p:spPr>
          <a:xfrm>
            <a:off x="4407126" y="2384585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48 ÷ 8 = </a:t>
            </a:r>
          </a:p>
        </p:txBody>
      </p: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978E2FA0-7737-EF92-0BF2-18F88D51F540}"/>
              </a:ext>
            </a:extLst>
          </p:cNvPr>
          <p:cNvSpPr/>
          <p:nvPr/>
        </p:nvSpPr>
        <p:spPr>
          <a:xfrm>
            <a:off x="4645334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090E08D-D0FF-9392-6D8E-FBA5BB605E8D}"/>
              </a:ext>
            </a:extLst>
          </p:cNvPr>
          <p:cNvSpPr txBox="1"/>
          <p:nvPr/>
        </p:nvSpPr>
        <p:spPr>
          <a:xfrm>
            <a:off x="5161501" y="236259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397D35C-CF3D-254F-ABF0-DB978375E116}"/>
              </a:ext>
            </a:extLst>
          </p:cNvPr>
          <p:cNvSpPr txBox="1"/>
          <p:nvPr/>
        </p:nvSpPr>
        <p:spPr>
          <a:xfrm>
            <a:off x="6233090" y="1764710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ж</a:t>
            </a:r>
            <a:r>
              <a:rPr lang="en-GB" sz="1400" dirty="0"/>
              <a:t>)  3,6 ÷ 1,2 =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90B139B-6D89-4F16-10DD-0FC48ADD293C}"/>
              </a:ext>
            </a:extLst>
          </p:cNvPr>
          <p:cNvSpPr txBox="1"/>
          <p:nvPr/>
        </p:nvSpPr>
        <p:spPr>
          <a:xfrm>
            <a:off x="6492390" y="2384585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36 ÷ 12 = </a:t>
            </a:r>
          </a:p>
        </p:txBody>
      </p:sp>
      <p:sp>
        <p:nvSpPr>
          <p:cNvPr id="118" name="Arrow: Down 117">
            <a:extLst>
              <a:ext uri="{FF2B5EF4-FFF2-40B4-BE49-F238E27FC236}">
                <a16:creationId xmlns:a16="http://schemas.microsoft.com/office/drawing/2014/main" id="{C9C211F2-47EF-B4A2-AA43-92BFE6547A40}"/>
              </a:ext>
            </a:extLst>
          </p:cNvPr>
          <p:cNvSpPr/>
          <p:nvPr/>
        </p:nvSpPr>
        <p:spPr>
          <a:xfrm>
            <a:off x="6730598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A7668B8-9170-2763-67C6-D2EAD5D86D22}"/>
              </a:ext>
            </a:extLst>
          </p:cNvPr>
          <p:cNvSpPr txBox="1"/>
          <p:nvPr/>
        </p:nvSpPr>
        <p:spPr>
          <a:xfrm>
            <a:off x="7322965" y="2362591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A260E54-EB1A-6835-8445-A5A8271ED3A3}"/>
              </a:ext>
            </a:extLst>
          </p:cNvPr>
          <p:cNvSpPr txBox="1"/>
          <p:nvPr/>
        </p:nvSpPr>
        <p:spPr>
          <a:xfrm>
            <a:off x="8318354" y="1764710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з</a:t>
            </a:r>
            <a:r>
              <a:rPr lang="en-GB" sz="1400" dirty="0"/>
              <a:t>)  12,1 ÷ 1,1 =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A5C58AE-9BB3-D795-12EE-F842C03699F7}"/>
              </a:ext>
            </a:extLst>
          </p:cNvPr>
          <p:cNvSpPr txBox="1"/>
          <p:nvPr/>
        </p:nvSpPr>
        <p:spPr>
          <a:xfrm>
            <a:off x="8696717" y="2384585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121 ÷ 11 = </a:t>
            </a:r>
          </a:p>
        </p:txBody>
      </p:sp>
      <p:sp>
        <p:nvSpPr>
          <p:cNvPr id="123" name="Arrow: Down 122">
            <a:extLst>
              <a:ext uri="{FF2B5EF4-FFF2-40B4-BE49-F238E27FC236}">
                <a16:creationId xmlns:a16="http://schemas.microsoft.com/office/drawing/2014/main" id="{545402CA-8C44-6B92-7B93-15324F7A60F2}"/>
              </a:ext>
            </a:extLst>
          </p:cNvPr>
          <p:cNvSpPr/>
          <p:nvPr/>
        </p:nvSpPr>
        <p:spPr>
          <a:xfrm>
            <a:off x="8934925" y="2084449"/>
            <a:ext cx="234950" cy="304800"/>
          </a:xfrm>
          <a:prstGeom prst="downArrow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2CA0E71-52A2-0D9B-FFD9-BCD8F18BA886}"/>
              </a:ext>
            </a:extLst>
          </p:cNvPr>
          <p:cNvSpPr txBox="1"/>
          <p:nvPr/>
        </p:nvSpPr>
        <p:spPr>
          <a:xfrm>
            <a:off x="9554204" y="2362591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0359B72-1744-581C-A1C8-E1E478BEE7BC}"/>
              </a:ext>
            </a:extLst>
          </p:cNvPr>
          <p:cNvSpPr txBox="1"/>
          <p:nvPr/>
        </p:nvSpPr>
        <p:spPr>
          <a:xfrm>
            <a:off x="57236" y="3116308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и</a:t>
            </a:r>
            <a:r>
              <a:rPr lang="en-GB" sz="1400" dirty="0"/>
              <a:t>)  0,54 ÷ 0,06 =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5FBF9B2-517B-2F3C-7E1E-E12B89DB7A1C}"/>
              </a:ext>
            </a:extLst>
          </p:cNvPr>
          <p:cNvSpPr txBox="1"/>
          <p:nvPr/>
        </p:nvSpPr>
        <p:spPr>
          <a:xfrm>
            <a:off x="364161" y="3736183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54 ÷ 6 =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636817A-BD9E-183A-ADC5-C13AC92C0A82}"/>
              </a:ext>
            </a:extLst>
          </p:cNvPr>
          <p:cNvSpPr txBox="1"/>
          <p:nvPr/>
        </p:nvSpPr>
        <p:spPr>
          <a:xfrm>
            <a:off x="1118536" y="3714189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185" name="Arrow: Down 184">
            <a:extLst>
              <a:ext uri="{FF2B5EF4-FFF2-40B4-BE49-F238E27FC236}">
                <a16:creationId xmlns:a16="http://schemas.microsoft.com/office/drawing/2014/main" id="{6DBF8893-56B7-1776-1676-FCB6B768663C}"/>
              </a:ext>
            </a:extLst>
          </p:cNvPr>
          <p:cNvSpPr/>
          <p:nvPr/>
        </p:nvSpPr>
        <p:spPr>
          <a:xfrm>
            <a:off x="604692" y="3436149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B1699AC-7786-0ABB-A3AD-1C23195D629F}"/>
              </a:ext>
            </a:extLst>
          </p:cNvPr>
          <p:cNvSpPr txBox="1"/>
          <p:nvPr/>
        </p:nvSpPr>
        <p:spPr>
          <a:xfrm>
            <a:off x="2102531" y="3116308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й</a:t>
            </a:r>
            <a:r>
              <a:rPr lang="en-GB" sz="1400" dirty="0"/>
              <a:t>)  0,72 ÷ 0,12 =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9F86D53-EC2D-CB9A-9CD8-EB8AB4F58E3B}"/>
              </a:ext>
            </a:extLst>
          </p:cNvPr>
          <p:cNvSpPr txBox="1"/>
          <p:nvPr/>
        </p:nvSpPr>
        <p:spPr>
          <a:xfrm>
            <a:off x="2361831" y="373618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72 ÷ 12 = 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8A64DE0-0B66-D58B-6615-FE11D1E9C21D}"/>
              </a:ext>
            </a:extLst>
          </p:cNvPr>
          <p:cNvSpPr txBox="1"/>
          <p:nvPr/>
        </p:nvSpPr>
        <p:spPr>
          <a:xfrm>
            <a:off x="3265836" y="3714189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72" name="Arrow: Down 171">
            <a:extLst>
              <a:ext uri="{FF2B5EF4-FFF2-40B4-BE49-F238E27FC236}">
                <a16:creationId xmlns:a16="http://schemas.microsoft.com/office/drawing/2014/main" id="{70BAD488-8693-FCE6-C600-6F233D73BB27}"/>
              </a:ext>
            </a:extLst>
          </p:cNvPr>
          <p:cNvSpPr/>
          <p:nvPr/>
        </p:nvSpPr>
        <p:spPr>
          <a:xfrm>
            <a:off x="2602362" y="3436149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BD76B44-7DEE-3B24-3BDE-4ED65218EFE5}"/>
              </a:ext>
            </a:extLst>
          </p:cNvPr>
          <p:cNvSpPr txBox="1"/>
          <p:nvPr/>
        </p:nvSpPr>
        <p:spPr>
          <a:xfrm>
            <a:off x="4147826" y="3116308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</a:t>
            </a:r>
            <a:r>
              <a:rPr lang="en-GB" sz="1400" dirty="0"/>
              <a:t>)  27,3 ÷ 1,3 =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BFFA104-F6F0-4425-49F0-E428C43C94A3}"/>
              </a:ext>
            </a:extLst>
          </p:cNvPr>
          <p:cNvSpPr txBox="1"/>
          <p:nvPr/>
        </p:nvSpPr>
        <p:spPr>
          <a:xfrm>
            <a:off x="4419826" y="3736183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273 ÷ 13 = </a:t>
            </a:r>
          </a:p>
        </p:txBody>
      </p:sp>
      <p:sp>
        <p:nvSpPr>
          <p:cNvPr id="142" name="Arrow: Down 141">
            <a:extLst>
              <a:ext uri="{FF2B5EF4-FFF2-40B4-BE49-F238E27FC236}">
                <a16:creationId xmlns:a16="http://schemas.microsoft.com/office/drawing/2014/main" id="{7A9581BD-1980-9F04-4A27-510E7AAF383A}"/>
              </a:ext>
            </a:extLst>
          </p:cNvPr>
          <p:cNvSpPr/>
          <p:nvPr/>
        </p:nvSpPr>
        <p:spPr>
          <a:xfrm>
            <a:off x="4746934" y="3436047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82D8D9E-E7C9-4261-CF11-8289DADC0317}"/>
              </a:ext>
            </a:extLst>
          </p:cNvPr>
          <p:cNvSpPr txBox="1"/>
          <p:nvPr/>
        </p:nvSpPr>
        <p:spPr>
          <a:xfrm>
            <a:off x="5341116" y="3714189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A193778-156D-751F-EB35-61686EE90411}"/>
              </a:ext>
            </a:extLst>
          </p:cNvPr>
          <p:cNvSpPr txBox="1"/>
          <p:nvPr/>
        </p:nvSpPr>
        <p:spPr>
          <a:xfrm>
            <a:off x="6233090" y="3116308"/>
            <a:ext cx="1257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л</a:t>
            </a:r>
            <a:r>
              <a:rPr lang="en-GB" sz="1400" dirty="0"/>
              <a:t>)  24,6 ÷ 0,6 =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C04D44F-A061-5547-F0B9-22AC62A813E1}"/>
              </a:ext>
            </a:extLst>
          </p:cNvPr>
          <p:cNvSpPr txBox="1"/>
          <p:nvPr/>
        </p:nvSpPr>
        <p:spPr>
          <a:xfrm>
            <a:off x="6559065" y="373618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246 ÷ 6 = </a:t>
            </a:r>
          </a:p>
        </p:txBody>
      </p:sp>
      <p:sp>
        <p:nvSpPr>
          <p:cNvPr id="138" name="Arrow: Down 137">
            <a:extLst>
              <a:ext uri="{FF2B5EF4-FFF2-40B4-BE49-F238E27FC236}">
                <a16:creationId xmlns:a16="http://schemas.microsoft.com/office/drawing/2014/main" id="{A3F9679D-32F7-9FF6-3AC2-6E694203B9CB}"/>
              </a:ext>
            </a:extLst>
          </p:cNvPr>
          <p:cNvSpPr/>
          <p:nvPr/>
        </p:nvSpPr>
        <p:spPr>
          <a:xfrm>
            <a:off x="6797273" y="3436047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D3A2831-A2D6-2863-01B3-FCF9CDDAA3EC}"/>
              </a:ext>
            </a:extLst>
          </p:cNvPr>
          <p:cNvSpPr txBox="1"/>
          <p:nvPr/>
        </p:nvSpPr>
        <p:spPr>
          <a:xfrm>
            <a:off x="7366055" y="3714189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41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91A066C-7D48-E9CA-1332-14165D774216}"/>
              </a:ext>
            </a:extLst>
          </p:cNvPr>
          <p:cNvSpPr txBox="1"/>
          <p:nvPr/>
        </p:nvSpPr>
        <p:spPr>
          <a:xfrm>
            <a:off x="8318354" y="3116308"/>
            <a:ext cx="1378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м</a:t>
            </a:r>
            <a:r>
              <a:rPr lang="en-GB" sz="1400" dirty="0"/>
              <a:t>)  4,48 ÷ 0,14 =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1E5A65D-FD70-5282-A19D-7AB18C4BF4C9}"/>
              </a:ext>
            </a:extLst>
          </p:cNvPr>
          <p:cNvSpPr txBox="1"/>
          <p:nvPr/>
        </p:nvSpPr>
        <p:spPr>
          <a:xfrm>
            <a:off x="8739579" y="3736183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448 ÷ 14 = </a:t>
            </a:r>
          </a:p>
        </p:txBody>
      </p:sp>
      <p:sp>
        <p:nvSpPr>
          <p:cNvPr id="134" name="Arrow: Down 133">
            <a:extLst>
              <a:ext uri="{FF2B5EF4-FFF2-40B4-BE49-F238E27FC236}">
                <a16:creationId xmlns:a16="http://schemas.microsoft.com/office/drawing/2014/main" id="{83399802-CD37-1026-2F3B-858E525DB49D}"/>
              </a:ext>
            </a:extLst>
          </p:cNvPr>
          <p:cNvSpPr/>
          <p:nvPr/>
        </p:nvSpPr>
        <p:spPr>
          <a:xfrm>
            <a:off x="8977787" y="3436047"/>
            <a:ext cx="234950" cy="304800"/>
          </a:xfrm>
          <a:prstGeom prst="downArrow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A0B4EA4-1192-7D9B-B9B0-D8B39B1FF6D1}"/>
              </a:ext>
            </a:extLst>
          </p:cNvPr>
          <p:cNvSpPr txBox="1"/>
          <p:nvPr/>
        </p:nvSpPr>
        <p:spPr>
          <a:xfrm>
            <a:off x="9584669" y="3714189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2B05993-DF6C-7B49-D0A7-7A735C46C2F1}"/>
              </a:ext>
            </a:extLst>
          </p:cNvPr>
          <p:cNvSpPr txBox="1"/>
          <p:nvPr/>
        </p:nvSpPr>
        <p:spPr>
          <a:xfrm>
            <a:off x="57236" y="446790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н</a:t>
            </a:r>
            <a:r>
              <a:rPr lang="en-GB" sz="1400" dirty="0"/>
              <a:t>)  48,6 ÷ 0,9 =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96E2F1E9-F0B1-C7C2-B174-593D16CB3DA4}"/>
              </a:ext>
            </a:extLst>
          </p:cNvPr>
          <p:cNvSpPr txBox="1"/>
          <p:nvPr/>
        </p:nvSpPr>
        <p:spPr>
          <a:xfrm>
            <a:off x="316536" y="5087781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486 ÷ 9 = 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FFBC372-94FE-EFEE-0A5C-84EAF1942BD5}"/>
              </a:ext>
            </a:extLst>
          </p:cNvPr>
          <p:cNvSpPr txBox="1"/>
          <p:nvPr/>
        </p:nvSpPr>
        <p:spPr>
          <a:xfrm>
            <a:off x="1128780" y="5065787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54</a:t>
            </a:r>
          </a:p>
        </p:txBody>
      </p:sp>
      <p:sp>
        <p:nvSpPr>
          <p:cNvPr id="217" name="Arrow: Down 216">
            <a:extLst>
              <a:ext uri="{FF2B5EF4-FFF2-40B4-BE49-F238E27FC236}">
                <a16:creationId xmlns:a16="http://schemas.microsoft.com/office/drawing/2014/main" id="{F219FF90-2C5D-A4C0-706A-F0F4D9E497BE}"/>
              </a:ext>
            </a:extLst>
          </p:cNvPr>
          <p:cNvSpPr/>
          <p:nvPr/>
        </p:nvSpPr>
        <p:spPr>
          <a:xfrm>
            <a:off x="557067" y="4787747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89DB3F5-94E9-C527-ED56-31CD4903F1AC}"/>
              </a:ext>
            </a:extLst>
          </p:cNvPr>
          <p:cNvSpPr txBox="1"/>
          <p:nvPr/>
        </p:nvSpPr>
        <p:spPr>
          <a:xfrm>
            <a:off x="2102531" y="4467906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67,2 ÷ 2,8 =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222EAD7-98FF-7EF0-3FDA-1AF691AEC1FE}"/>
              </a:ext>
            </a:extLst>
          </p:cNvPr>
          <p:cNvSpPr txBox="1"/>
          <p:nvPr/>
        </p:nvSpPr>
        <p:spPr>
          <a:xfrm>
            <a:off x="2479306" y="5087781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672 ÷ 28 =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0A9FA5D-54A8-BC8B-669B-C11C0FE5DF4B}"/>
              </a:ext>
            </a:extLst>
          </p:cNvPr>
          <p:cNvSpPr txBox="1"/>
          <p:nvPr/>
        </p:nvSpPr>
        <p:spPr>
          <a:xfrm>
            <a:off x="3384721" y="5065787"/>
            <a:ext cx="30674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210" name="Arrow: Down 209">
            <a:extLst>
              <a:ext uri="{FF2B5EF4-FFF2-40B4-BE49-F238E27FC236}">
                <a16:creationId xmlns:a16="http://schemas.microsoft.com/office/drawing/2014/main" id="{5CF637B7-9853-2224-4834-F9850CBB76D3}"/>
              </a:ext>
            </a:extLst>
          </p:cNvPr>
          <p:cNvSpPr/>
          <p:nvPr/>
        </p:nvSpPr>
        <p:spPr>
          <a:xfrm>
            <a:off x="2719837" y="4787747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D76CB27-FE83-5386-BA09-58EF14B1ADB1}"/>
              </a:ext>
            </a:extLst>
          </p:cNvPr>
          <p:cNvSpPr txBox="1"/>
          <p:nvPr/>
        </p:nvSpPr>
        <p:spPr>
          <a:xfrm>
            <a:off x="4147826" y="4467906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п</a:t>
            </a:r>
            <a:r>
              <a:rPr lang="en-GB" sz="1400" dirty="0"/>
              <a:t>)  1,47 ÷ 0,21 =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C450BFF-293F-A049-E7F9-39EF438581B5}"/>
              </a:ext>
            </a:extLst>
          </p:cNvPr>
          <p:cNvSpPr txBox="1"/>
          <p:nvPr/>
        </p:nvSpPr>
        <p:spPr>
          <a:xfrm>
            <a:off x="4407126" y="5087781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147 ÷ 21 = </a:t>
            </a:r>
          </a:p>
        </p:txBody>
      </p: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55A493E4-A27D-AE3C-8800-1B7C730DF61E}"/>
              </a:ext>
            </a:extLst>
          </p:cNvPr>
          <p:cNvSpPr/>
          <p:nvPr/>
        </p:nvSpPr>
        <p:spPr>
          <a:xfrm>
            <a:off x="4645334" y="4787645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2C1D9A8-C90A-6440-5268-6CCCA8CA6659}"/>
              </a:ext>
            </a:extLst>
          </p:cNvPr>
          <p:cNvSpPr txBox="1"/>
          <p:nvPr/>
        </p:nvSpPr>
        <p:spPr>
          <a:xfrm>
            <a:off x="5250401" y="5065787"/>
            <a:ext cx="189722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B2A83DC-8F4D-8A22-C4B5-8ED47D70DCE7}"/>
              </a:ext>
            </a:extLst>
          </p:cNvPr>
          <p:cNvSpPr txBox="1"/>
          <p:nvPr/>
        </p:nvSpPr>
        <p:spPr>
          <a:xfrm>
            <a:off x="6233090" y="4467906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р</a:t>
            </a:r>
            <a:r>
              <a:rPr lang="en-GB" sz="1400" dirty="0"/>
              <a:t>)  6 ÷ 4 =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1799CD1-A50D-06E0-3223-87063A47E661}"/>
              </a:ext>
            </a:extLst>
          </p:cNvPr>
          <p:cNvSpPr txBox="1"/>
          <p:nvPr/>
        </p:nvSpPr>
        <p:spPr>
          <a:xfrm>
            <a:off x="7235601" y="4446662"/>
            <a:ext cx="364450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1,5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09A4450-0866-C53B-1C20-D52788344D22}"/>
              </a:ext>
            </a:extLst>
          </p:cNvPr>
          <p:cNvSpPr txBox="1"/>
          <p:nvPr/>
        </p:nvSpPr>
        <p:spPr>
          <a:xfrm>
            <a:off x="8318354" y="4467906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с</a:t>
            </a:r>
            <a:r>
              <a:rPr lang="en-GB" sz="1400" dirty="0"/>
              <a:t>)  2 ÷ 0,8 =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01DA28D-D536-B2A7-DC8C-94BD2D803EEC}"/>
              </a:ext>
            </a:extLst>
          </p:cNvPr>
          <p:cNvSpPr txBox="1"/>
          <p:nvPr/>
        </p:nvSpPr>
        <p:spPr>
          <a:xfrm>
            <a:off x="8434779" y="5087781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20 ÷ 8 = </a:t>
            </a:r>
          </a:p>
        </p:txBody>
      </p:sp>
      <p:sp>
        <p:nvSpPr>
          <p:cNvPr id="199" name="Arrow: Down 198">
            <a:extLst>
              <a:ext uri="{FF2B5EF4-FFF2-40B4-BE49-F238E27FC236}">
                <a16:creationId xmlns:a16="http://schemas.microsoft.com/office/drawing/2014/main" id="{151D8CEE-61A0-EE91-5784-06C65BCDEFD7}"/>
              </a:ext>
            </a:extLst>
          </p:cNvPr>
          <p:cNvSpPr/>
          <p:nvPr/>
        </p:nvSpPr>
        <p:spPr>
          <a:xfrm>
            <a:off x="8672987" y="4787645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440C019-6FAB-E4E9-F2C1-69652D82826D}"/>
              </a:ext>
            </a:extLst>
          </p:cNvPr>
          <p:cNvSpPr txBox="1"/>
          <p:nvPr/>
        </p:nvSpPr>
        <p:spPr>
          <a:xfrm>
            <a:off x="9149416" y="5065787"/>
            <a:ext cx="364450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2,5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69534A67-4F41-CCB0-9574-1DFF59DEA27C}"/>
              </a:ext>
            </a:extLst>
          </p:cNvPr>
          <p:cNvSpPr txBox="1"/>
          <p:nvPr/>
        </p:nvSpPr>
        <p:spPr>
          <a:xfrm>
            <a:off x="57236" y="5819503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т</a:t>
            </a:r>
            <a:r>
              <a:rPr lang="en-GB" sz="1400" dirty="0"/>
              <a:t>)  0,54 ÷ 0,12 =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7F29B97E-B449-39CC-92D7-111B18098308}"/>
              </a:ext>
            </a:extLst>
          </p:cNvPr>
          <p:cNvSpPr txBox="1"/>
          <p:nvPr/>
        </p:nvSpPr>
        <p:spPr>
          <a:xfrm>
            <a:off x="395117" y="6439378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54 ÷ 12 = 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DF0B887C-792A-F645-2BB6-75EAA750EC17}"/>
              </a:ext>
            </a:extLst>
          </p:cNvPr>
          <p:cNvSpPr txBox="1"/>
          <p:nvPr/>
        </p:nvSpPr>
        <p:spPr>
          <a:xfrm>
            <a:off x="1185954" y="6417384"/>
            <a:ext cx="364450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4,5</a:t>
            </a:r>
          </a:p>
        </p:txBody>
      </p:sp>
      <p:sp>
        <p:nvSpPr>
          <p:cNvPr id="274" name="Arrow: Down 273">
            <a:extLst>
              <a:ext uri="{FF2B5EF4-FFF2-40B4-BE49-F238E27FC236}">
                <a16:creationId xmlns:a16="http://schemas.microsoft.com/office/drawing/2014/main" id="{1EAB9342-0D07-4606-BC70-B19BF9F3E784}"/>
              </a:ext>
            </a:extLst>
          </p:cNvPr>
          <p:cNvSpPr/>
          <p:nvPr/>
        </p:nvSpPr>
        <p:spPr>
          <a:xfrm>
            <a:off x="635648" y="6139344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A60885E1-BB6E-A155-5C48-05B1F4F2BFD4}"/>
              </a:ext>
            </a:extLst>
          </p:cNvPr>
          <p:cNvSpPr txBox="1"/>
          <p:nvPr/>
        </p:nvSpPr>
        <p:spPr>
          <a:xfrm>
            <a:off x="2102531" y="5819503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о</a:t>
            </a:r>
            <a:r>
              <a:rPr lang="en-GB" sz="1400" dirty="0"/>
              <a:t>)  11,9 ÷ 1,4 =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A63A191F-AF61-FCEA-6D5F-EDA07A79E65C}"/>
              </a:ext>
            </a:extLst>
          </p:cNvPr>
          <p:cNvSpPr txBox="1"/>
          <p:nvPr/>
        </p:nvSpPr>
        <p:spPr>
          <a:xfrm>
            <a:off x="2345163" y="6439378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119 ÷ 14 = 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D258FFF8-D409-97F5-7CE1-91F9E022769C}"/>
              </a:ext>
            </a:extLst>
          </p:cNvPr>
          <p:cNvSpPr txBox="1"/>
          <p:nvPr/>
        </p:nvSpPr>
        <p:spPr>
          <a:xfrm>
            <a:off x="3245538" y="6417384"/>
            <a:ext cx="364450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8,5</a:t>
            </a:r>
          </a:p>
        </p:txBody>
      </p:sp>
      <p:sp>
        <p:nvSpPr>
          <p:cNvPr id="267" name="Arrow: Down 266">
            <a:extLst>
              <a:ext uri="{FF2B5EF4-FFF2-40B4-BE49-F238E27FC236}">
                <a16:creationId xmlns:a16="http://schemas.microsoft.com/office/drawing/2014/main" id="{1103250D-E84B-A588-2472-9546F7E17AD5}"/>
              </a:ext>
            </a:extLst>
          </p:cNvPr>
          <p:cNvSpPr/>
          <p:nvPr/>
        </p:nvSpPr>
        <p:spPr>
          <a:xfrm>
            <a:off x="2683325" y="6139344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20E1E07-8DA8-7101-B5F3-4A6EC278A718}"/>
              </a:ext>
            </a:extLst>
          </p:cNvPr>
          <p:cNvSpPr txBox="1"/>
          <p:nvPr/>
        </p:nvSpPr>
        <p:spPr>
          <a:xfrm>
            <a:off x="4147826" y="5819503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у</a:t>
            </a:r>
            <a:r>
              <a:rPr lang="en-GB" sz="1400" dirty="0"/>
              <a:t>)  1,95 ÷ 0,06 =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70A528E-D319-2401-0B93-DF4492EBE7E1}"/>
              </a:ext>
            </a:extLst>
          </p:cNvPr>
          <p:cNvSpPr txBox="1"/>
          <p:nvPr/>
        </p:nvSpPr>
        <p:spPr>
          <a:xfrm>
            <a:off x="4407126" y="6439378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195 ÷ 6 = </a:t>
            </a:r>
          </a:p>
        </p:txBody>
      </p:sp>
      <p:sp>
        <p:nvSpPr>
          <p:cNvPr id="264" name="Arrow: Down 263">
            <a:extLst>
              <a:ext uri="{FF2B5EF4-FFF2-40B4-BE49-F238E27FC236}">
                <a16:creationId xmlns:a16="http://schemas.microsoft.com/office/drawing/2014/main" id="{60318D9A-68F7-F220-5476-7F7187A6AB28}"/>
              </a:ext>
            </a:extLst>
          </p:cNvPr>
          <p:cNvSpPr/>
          <p:nvPr/>
        </p:nvSpPr>
        <p:spPr>
          <a:xfrm>
            <a:off x="4645334" y="6139242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804DAE47-E717-5E8D-6952-13323DAF2224}"/>
              </a:ext>
            </a:extLst>
          </p:cNvPr>
          <p:cNvSpPr txBox="1"/>
          <p:nvPr/>
        </p:nvSpPr>
        <p:spPr>
          <a:xfrm>
            <a:off x="5134691" y="6417384"/>
            <a:ext cx="481469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32,5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79BA6A4-C62C-D034-E105-2D355B409793}"/>
              </a:ext>
            </a:extLst>
          </p:cNvPr>
          <p:cNvSpPr txBox="1"/>
          <p:nvPr/>
        </p:nvSpPr>
        <p:spPr>
          <a:xfrm>
            <a:off x="6233090" y="5819503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ф</a:t>
            </a:r>
            <a:r>
              <a:rPr lang="en-GB" sz="1400" dirty="0"/>
              <a:t>)  61,2 ÷ 2,4 =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907B183-2B2A-A14F-AEB3-8C8D58A7D1F0}"/>
              </a:ext>
            </a:extLst>
          </p:cNvPr>
          <p:cNvSpPr txBox="1"/>
          <p:nvPr/>
        </p:nvSpPr>
        <p:spPr>
          <a:xfrm>
            <a:off x="6406665" y="6439378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612 ÷ 24 = </a:t>
            </a:r>
          </a:p>
        </p:txBody>
      </p: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C36E0FEA-E30E-A9D4-309F-1CFF0DB34D78}"/>
              </a:ext>
            </a:extLst>
          </p:cNvPr>
          <p:cNvSpPr/>
          <p:nvPr/>
        </p:nvSpPr>
        <p:spPr>
          <a:xfrm>
            <a:off x="6730598" y="6139242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9C5B546-B772-7A4D-937D-E08F4ED244E3}"/>
              </a:ext>
            </a:extLst>
          </p:cNvPr>
          <p:cNvSpPr txBox="1"/>
          <p:nvPr/>
        </p:nvSpPr>
        <p:spPr>
          <a:xfrm>
            <a:off x="7291392" y="6417384"/>
            <a:ext cx="481469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25,5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2817F6A-EF8F-C13F-B3C5-900DC8A68DBD}"/>
              </a:ext>
            </a:extLst>
          </p:cNvPr>
          <p:cNvSpPr txBox="1"/>
          <p:nvPr/>
        </p:nvSpPr>
        <p:spPr>
          <a:xfrm>
            <a:off x="8318354" y="5819503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х</a:t>
            </a:r>
            <a:r>
              <a:rPr lang="en-GB" sz="1400" dirty="0"/>
              <a:t>)  4,27 ÷ 0,35 =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0105808E-06E9-F0EC-5F29-A26A5F1BD361}"/>
              </a:ext>
            </a:extLst>
          </p:cNvPr>
          <p:cNvSpPr txBox="1"/>
          <p:nvPr/>
        </p:nvSpPr>
        <p:spPr>
          <a:xfrm>
            <a:off x="8603847" y="6439378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427 ÷ 35 = </a:t>
            </a: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DEC30FE2-7338-F5CE-1886-B48DFF1F924B}"/>
              </a:ext>
            </a:extLst>
          </p:cNvPr>
          <p:cNvSpPr/>
          <p:nvPr/>
        </p:nvSpPr>
        <p:spPr>
          <a:xfrm>
            <a:off x="8968262" y="6139242"/>
            <a:ext cx="234950" cy="304800"/>
          </a:xfrm>
          <a:prstGeom prst="downArrow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95E1807-4EC3-AA44-9EDA-7AC0B4E88F97}"/>
              </a:ext>
            </a:extLst>
          </p:cNvPr>
          <p:cNvSpPr txBox="1"/>
          <p:nvPr/>
        </p:nvSpPr>
        <p:spPr>
          <a:xfrm>
            <a:off x="9405231" y="6417384"/>
            <a:ext cx="481469" cy="34970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GB" dirty="0"/>
              <a:t>12,2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9980D3-20FB-2AB5-494F-42CA3E8C961F}"/>
              </a:ext>
            </a:extLst>
          </p:cNvPr>
          <p:cNvSpPr txBox="1"/>
          <p:nvPr/>
        </p:nvSpPr>
        <p:spPr>
          <a:xfrm>
            <a:off x="4868402" y="2039088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B6E7C-A597-5D69-B9F9-5F435EECFF91}"/>
              </a:ext>
            </a:extLst>
          </p:cNvPr>
          <p:cNvSpPr txBox="1"/>
          <p:nvPr/>
        </p:nvSpPr>
        <p:spPr>
          <a:xfrm>
            <a:off x="9074642" y="66748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73930-5B70-3F16-CA31-A0344FB7C755}"/>
              </a:ext>
            </a:extLst>
          </p:cNvPr>
          <p:cNvSpPr txBox="1"/>
          <p:nvPr/>
        </p:nvSpPr>
        <p:spPr>
          <a:xfrm>
            <a:off x="6971522" y="206194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1D7F3-EC5F-4E26-263E-1B82C2CAF8CF}"/>
              </a:ext>
            </a:extLst>
          </p:cNvPr>
          <p:cNvSpPr txBox="1"/>
          <p:nvPr/>
        </p:nvSpPr>
        <p:spPr>
          <a:xfrm>
            <a:off x="9125125" y="206194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AC02A4-D8B1-E05C-E334-05ABF2AAE32D}"/>
              </a:ext>
            </a:extLst>
          </p:cNvPr>
          <p:cNvSpPr txBox="1"/>
          <p:nvPr/>
        </p:nvSpPr>
        <p:spPr>
          <a:xfrm>
            <a:off x="801227" y="336912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A4F7C-05AC-701B-1962-5C71BEA66071}"/>
              </a:ext>
            </a:extLst>
          </p:cNvPr>
          <p:cNvSpPr txBox="1"/>
          <p:nvPr/>
        </p:nvSpPr>
        <p:spPr>
          <a:xfrm>
            <a:off x="2962536" y="336912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CA0FFD-262B-B231-671D-1D9AB276D341}"/>
              </a:ext>
            </a:extLst>
          </p:cNvPr>
          <p:cNvSpPr txBox="1"/>
          <p:nvPr/>
        </p:nvSpPr>
        <p:spPr>
          <a:xfrm>
            <a:off x="5019878" y="337536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39956D-E1A5-46A1-FD82-B2B4CEDAD172}"/>
              </a:ext>
            </a:extLst>
          </p:cNvPr>
          <p:cNvSpPr txBox="1"/>
          <p:nvPr/>
        </p:nvSpPr>
        <p:spPr>
          <a:xfrm>
            <a:off x="7031731" y="337536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2F6573-63FD-20E7-1A75-EE19B713BAA2}"/>
              </a:ext>
            </a:extLst>
          </p:cNvPr>
          <p:cNvSpPr txBox="1"/>
          <p:nvPr/>
        </p:nvSpPr>
        <p:spPr>
          <a:xfrm>
            <a:off x="9281421" y="336912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9D35D8-A4C6-4E56-0A8E-06C049751F7A}"/>
              </a:ext>
            </a:extLst>
          </p:cNvPr>
          <p:cNvSpPr txBox="1"/>
          <p:nvPr/>
        </p:nvSpPr>
        <p:spPr>
          <a:xfrm>
            <a:off x="841520" y="474141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B23948-4004-9437-7210-5536B00F9639}"/>
              </a:ext>
            </a:extLst>
          </p:cNvPr>
          <p:cNvSpPr txBox="1"/>
          <p:nvPr/>
        </p:nvSpPr>
        <p:spPr>
          <a:xfrm>
            <a:off x="2943428" y="474141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7088C0-6C82-FF87-D4D3-39E0E34157F3}"/>
              </a:ext>
            </a:extLst>
          </p:cNvPr>
          <p:cNvSpPr txBox="1"/>
          <p:nvPr/>
        </p:nvSpPr>
        <p:spPr>
          <a:xfrm>
            <a:off x="4899921" y="477882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8ABA88-460A-3988-2700-A2E05441CCB3}"/>
              </a:ext>
            </a:extLst>
          </p:cNvPr>
          <p:cNvSpPr txBox="1"/>
          <p:nvPr/>
        </p:nvSpPr>
        <p:spPr>
          <a:xfrm>
            <a:off x="8896553" y="474141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3ED5D3-7FB5-B349-20E0-73DE8E827638}"/>
              </a:ext>
            </a:extLst>
          </p:cNvPr>
          <p:cNvSpPr txBox="1"/>
          <p:nvPr/>
        </p:nvSpPr>
        <p:spPr>
          <a:xfrm>
            <a:off x="890892" y="6106783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EBFF83-FCE5-F9ED-9AC4-AD385C5E8A44}"/>
              </a:ext>
            </a:extLst>
          </p:cNvPr>
          <p:cNvSpPr txBox="1"/>
          <p:nvPr/>
        </p:nvSpPr>
        <p:spPr>
          <a:xfrm>
            <a:off x="3024391" y="610825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2C4741-D549-53D0-66A3-133F8FEC54DD}"/>
              </a:ext>
            </a:extLst>
          </p:cNvPr>
          <p:cNvSpPr txBox="1"/>
          <p:nvPr/>
        </p:nvSpPr>
        <p:spPr>
          <a:xfrm>
            <a:off x="5122070" y="6106783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77DDE1-DAB3-4643-D54F-CE5C8564B5BA}"/>
              </a:ext>
            </a:extLst>
          </p:cNvPr>
          <p:cNvSpPr txBox="1"/>
          <p:nvPr/>
        </p:nvSpPr>
        <p:spPr>
          <a:xfrm>
            <a:off x="7101091" y="610825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45C61F-964A-903C-623A-6DA1EF027569}"/>
              </a:ext>
            </a:extLst>
          </p:cNvPr>
          <p:cNvSpPr txBox="1"/>
          <p:nvPr/>
        </p:nvSpPr>
        <p:spPr>
          <a:xfrm>
            <a:off x="9223015" y="6106783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× 100</a:t>
            </a:r>
          </a:p>
        </p:txBody>
      </p:sp>
    </p:spTree>
    <p:extLst>
      <p:ext uri="{BB962C8B-B14F-4D97-AF65-F5344CB8AC3E}">
        <p14:creationId xmlns:p14="http://schemas.microsoft.com/office/powerpoint/2010/main" val="381733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0FAAE6-A7AF-88F3-E3B0-25FAC7173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34082" y="928059"/>
            <a:ext cx="6715144" cy="4859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F0F311-8153-296C-8161-EA3AF950F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9240" y="1077921"/>
            <a:ext cx="6715144" cy="463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3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C75D86-2517-C6D0-3F83-DBB02C61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5079" y="967912"/>
            <a:ext cx="6616914" cy="4866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88BFD0-FFEB-72A6-FD14-4E16AD9A9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71738" y="1133178"/>
            <a:ext cx="6639032" cy="455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16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97" y="1097280"/>
            <a:ext cx="9210862" cy="446118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10955</TotalTime>
  <Words>1011</Words>
  <Application>Microsoft Office PowerPoint</Application>
  <PresentationFormat>A4 Paper (210x297 mm)</PresentationFormat>
  <Paragraphs>268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Berlin Sans FB Demi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558</cp:revision>
  <cp:lastPrinted>2022-11-16T11:56:57Z</cp:lastPrinted>
  <dcterms:created xsi:type="dcterms:W3CDTF">2017-01-17T16:57:04Z</dcterms:created>
  <dcterms:modified xsi:type="dcterms:W3CDTF">2024-05-11T04:43:06Z</dcterms:modified>
</cp:coreProperties>
</file>