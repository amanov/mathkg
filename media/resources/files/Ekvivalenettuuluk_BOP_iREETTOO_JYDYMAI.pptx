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39"/>
  </p:notesMasterIdLst>
  <p:sldIdLst>
    <p:sldId id="1002" r:id="rId2"/>
    <p:sldId id="1003" r:id="rId3"/>
    <p:sldId id="1004" r:id="rId4"/>
    <p:sldId id="1005" r:id="rId5"/>
    <p:sldId id="942" r:id="rId6"/>
    <p:sldId id="1006" r:id="rId7"/>
    <p:sldId id="944" r:id="rId8"/>
    <p:sldId id="1007" r:id="rId9"/>
    <p:sldId id="952" r:id="rId10"/>
    <p:sldId id="1008" r:id="rId11"/>
    <p:sldId id="943" r:id="rId12"/>
    <p:sldId id="1009" r:id="rId13"/>
    <p:sldId id="945" r:id="rId14"/>
    <p:sldId id="1010" r:id="rId15"/>
    <p:sldId id="953" r:id="rId16"/>
    <p:sldId id="1011" r:id="rId17"/>
    <p:sldId id="946" r:id="rId18"/>
    <p:sldId id="1012" r:id="rId19"/>
    <p:sldId id="947" r:id="rId20"/>
    <p:sldId id="1013" r:id="rId21"/>
    <p:sldId id="956" r:id="rId22"/>
    <p:sldId id="1014" r:id="rId23"/>
    <p:sldId id="957" r:id="rId24"/>
    <p:sldId id="1015" r:id="rId25"/>
    <p:sldId id="948" r:id="rId26"/>
    <p:sldId id="1016" r:id="rId27"/>
    <p:sldId id="949" r:id="rId28"/>
    <p:sldId id="1017" r:id="rId29"/>
    <p:sldId id="950" r:id="rId30"/>
    <p:sldId id="1018" r:id="rId31"/>
    <p:sldId id="954" r:id="rId32"/>
    <p:sldId id="1019" r:id="rId33"/>
    <p:sldId id="951" r:id="rId34"/>
    <p:sldId id="1020" r:id="rId35"/>
    <p:sldId id="955" r:id="rId36"/>
    <p:sldId id="833" r:id="rId37"/>
    <p:sldId id="993" r:id="rId38"/>
  </p:sldIdLst>
  <p:sldSz cx="9906000" cy="6858000" type="A4"/>
  <p:notesSz cx="6669088" cy="9926638"/>
  <p:embeddedFontLst>
    <p:embeddedFont>
      <p:font typeface="Berlin Sans FB Demi" panose="020E0802020502020306" pitchFamily="34" charset="0"/>
      <p:bold r:id="rId40"/>
    </p:embeddedFont>
    <p:embeddedFont>
      <p:font typeface="Bernard MT Condensed" panose="02050806060905020404" pitchFamily="18" charset="0"/>
      <p:regular r:id="rId41"/>
    </p:embeddedFont>
    <p:embeddedFont>
      <p:font typeface="Cambria Math" panose="02040503050406030204" pitchFamily="18" charset="0"/>
      <p:regular r:id="rId4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814BEC4A-4531-40C4-A5E6-AFA10A4A0E61}">
          <p14:sldIdLst>
            <p14:sldId id="1002"/>
          </p14:sldIdLst>
        </p14:section>
        <p14:section name="Титулдук слайд" id="{942499A6-327B-410B-9EF0-9C14FB66AB89}">
          <p14:sldIdLst>
            <p14:sldId id="1003"/>
            <p14:sldId id="1004"/>
          </p14:sldIdLst>
        </p14:section>
        <p14:section name="Оюн" id="{267FD0E9-36B9-4F9E-842D-CBFE57676936}">
          <p14:sldIdLst>
            <p14:sldId id="1005"/>
            <p14:sldId id="942"/>
            <p14:sldId id="1006"/>
            <p14:sldId id="944"/>
            <p14:sldId id="1007"/>
            <p14:sldId id="952"/>
            <p14:sldId id="1008"/>
            <p14:sldId id="943"/>
            <p14:sldId id="1009"/>
            <p14:sldId id="945"/>
            <p14:sldId id="1010"/>
            <p14:sldId id="953"/>
            <p14:sldId id="1011"/>
            <p14:sldId id="946"/>
            <p14:sldId id="1012"/>
            <p14:sldId id="947"/>
            <p14:sldId id="1013"/>
            <p14:sldId id="956"/>
            <p14:sldId id="1014"/>
            <p14:sldId id="957"/>
            <p14:sldId id="1015"/>
            <p14:sldId id="948"/>
            <p14:sldId id="1016"/>
            <p14:sldId id="949"/>
            <p14:sldId id="1017"/>
            <p14:sldId id="950"/>
            <p14:sldId id="1018"/>
            <p14:sldId id="954"/>
            <p14:sldId id="1019"/>
            <p14:sldId id="951"/>
            <p14:sldId id="1020"/>
            <p14:sldId id="955"/>
            <p14:sldId id="833"/>
          </p14:sldIdLst>
        </p14:section>
        <p14:section name="Кайтарым байланыш" id="{03B37114-DCDE-48DC-B038-E57F20627236}">
          <p14:sldIdLst>
            <p14:sldId id="9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D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jpeg"/><Relationship Id="rId7" Type="http://schemas.openxmlformats.org/officeDocument/2006/relationships/image" Target="../media/image8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jpg"/><Relationship Id="rId9" Type="http://schemas.openxmlformats.org/officeDocument/2006/relationships/audio" Target="../media/audio2.wav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jpeg"/><Relationship Id="rId7" Type="http://schemas.openxmlformats.org/officeDocument/2006/relationships/image" Target="../media/image12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4.jpg"/><Relationship Id="rId9" Type="http://schemas.openxmlformats.org/officeDocument/2006/relationships/audio" Target="../media/audio2.wav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3.jpeg"/><Relationship Id="rId7" Type="http://schemas.openxmlformats.org/officeDocument/2006/relationships/image" Target="../media/image17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11" Type="http://schemas.openxmlformats.org/officeDocument/2006/relationships/audio" Target="../media/audio2.wav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4.jpg"/><Relationship Id="rId9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jpeg"/><Relationship Id="rId7" Type="http://schemas.openxmlformats.org/officeDocument/2006/relationships/image" Target="../media/image23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10" Type="http://schemas.openxmlformats.org/officeDocument/2006/relationships/audio" Target="../media/audio2.wav"/><Relationship Id="rId4" Type="http://schemas.openxmlformats.org/officeDocument/2006/relationships/image" Target="../media/image4.jpg"/><Relationship Id="rId9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audio" Target="../media/audio2.wav"/><Relationship Id="rId3" Type="http://schemas.openxmlformats.org/officeDocument/2006/relationships/image" Target="../media/image3.jpeg"/><Relationship Id="rId7" Type="http://schemas.openxmlformats.org/officeDocument/2006/relationships/image" Target="../media/image27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3.jpeg"/><Relationship Id="rId7" Type="http://schemas.openxmlformats.org/officeDocument/2006/relationships/image" Target="../media/image30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10" Type="http://schemas.openxmlformats.org/officeDocument/2006/relationships/audio" Target="../media/audio2.wav"/><Relationship Id="rId4" Type="http://schemas.openxmlformats.org/officeDocument/2006/relationships/image" Target="../media/image4.jpg"/><Relationship Id="rId9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.jpeg"/><Relationship Id="rId7" Type="http://schemas.openxmlformats.org/officeDocument/2006/relationships/image" Target="../media/image34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3.png"/><Relationship Id="rId11" Type="http://schemas.openxmlformats.org/officeDocument/2006/relationships/audio" Target="../media/audio2.wav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4.jpg"/><Relationship Id="rId9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audio" Target="../media/audio2.wav"/><Relationship Id="rId3" Type="http://schemas.openxmlformats.org/officeDocument/2006/relationships/image" Target="../media/image3.jpe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4.jpg"/><Relationship Id="rId9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audio" Target="../media/audio2.wav"/><Relationship Id="rId3" Type="http://schemas.openxmlformats.org/officeDocument/2006/relationships/image" Target="../media/image3.jpe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0" Type="http://schemas.openxmlformats.org/officeDocument/2006/relationships/image" Target="../media/image51.png"/><Relationship Id="rId4" Type="http://schemas.openxmlformats.org/officeDocument/2006/relationships/image" Target="../media/image4.jpg"/><Relationship Id="rId9" Type="http://schemas.openxmlformats.org/officeDocument/2006/relationships/image" Target="../media/image5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audio" Target="../media/audio2.wav"/><Relationship Id="rId3" Type="http://schemas.openxmlformats.org/officeDocument/2006/relationships/image" Target="../media/image3.jpe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5.png"/><Relationship Id="rId11" Type="http://schemas.openxmlformats.org/officeDocument/2006/relationships/image" Target="../media/image60.png"/><Relationship Id="rId5" Type="http://schemas.openxmlformats.org/officeDocument/2006/relationships/image" Target="../media/image54.png"/><Relationship Id="rId10" Type="http://schemas.openxmlformats.org/officeDocument/2006/relationships/image" Target="../media/image59.png"/><Relationship Id="rId4" Type="http://schemas.openxmlformats.org/officeDocument/2006/relationships/image" Target="../media/image4.jpg"/><Relationship Id="rId9" Type="http://schemas.openxmlformats.org/officeDocument/2006/relationships/image" Target="../media/image5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3" Type="http://schemas.openxmlformats.org/officeDocument/2006/relationships/image" Target="../media/image3.jpe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5" Type="http://schemas.openxmlformats.org/officeDocument/2006/relationships/audio" Target="../media/audio2.wav"/><Relationship Id="rId10" Type="http://schemas.openxmlformats.org/officeDocument/2006/relationships/image" Target="../media/image67.png"/><Relationship Id="rId4" Type="http://schemas.openxmlformats.org/officeDocument/2006/relationships/image" Target="../media/image4.jpg"/><Relationship Id="rId9" Type="http://schemas.openxmlformats.org/officeDocument/2006/relationships/image" Target="../media/image66.png"/><Relationship Id="rId14" Type="http://schemas.openxmlformats.org/officeDocument/2006/relationships/image" Target="../media/image7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audio" Target="../media/audio2.wav"/><Relationship Id="rId3" Type="http://schemas.openxmlformats.org/officeDocument/2006/relationships/image" Target="../media/image3.jpe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72.png"/><Relationship Id="rId10" Type="http://schemas.openxmlformats.org/officeDocument/2006/relationships/image" Target="../media/image77.png"/><Relationship Id="rId4" Type="http://schemas.openxmlformats.org/officeDocument/2006/relationships/image" Target="../media/image4.jpg"/><Relationship Id="rId9" Type="http://schemas.openxmlformats.org/officeDocument/2006/relationships/image" Target="../media/image7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audio" Target="../media/audio2.wav"/><Relationship Id="rId3" Type="http://schemas.openxmlformats.org/officeDocument/2006/relationships/image" Target="../media/image3.jpeg"/><Relationship Id="rId7" Type="http://schemas.openxmlformats.org/officeDocument/2006/relationships/image" Target="../media/image82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4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audio" Target="../media/audio2.wav"/><Relationship Id="rId3" Type="http://schemas.openxmlformats.org/officeDocument/2006/relationships/image" Target="../media/image3.jpeg"/><Relationship Id="rId7" Type="http://schemas.openxmlformats.org/officeDocument/2006/relationships/image" Target="../media/image85.png"/><Relationship Id="rId12" Type="http://schemas.openxmlformats.org/officeDocument/2006/relationships/image" Target="../media/image90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0" Type="http://schemas.openxmlformats.org/officeDocument/2006/relationships/image" Target="../media/image88.png"/><Relationship Id="rId4" Type="http://schemas.openxmlformats.org/officeDocument/2006/relationships/image" Target="../media/image4.jpg"/><Relationship Id="rId9" Type="http://schemas.openxmlformats.org/officeDocument/2006/relationships/image" Target="../media/image8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audio" Target="../media/audio2.wav"/><Relationship Id="rId3" Type="http://schemas.openxmlformats.org/officeDocument/2006/relationships/image" Target="../media/image3.jpeg"/><Relationship Id="rId7" Type="http://schemas.openxmlformats.org/officeDocument/2006/relationships/image" Target="../media/image93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4.jp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BBAE90-348B-F954-5F83-E34404E0F721}"/>
              </a:ext>
            </a:extLst>
          </p:cNvPr>
          <p:cNvSpPr/>
          <p:nvPr/>
        </p:nvSpPr>
        <p:spPr>
          <a:xfrm>
            <a:off x="0" y="1564384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Бөлчөктөрдү, ондуктарды жана пайыздарды иреттөө – Жыдымай!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дептерге жазып корсото алышат.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Музыканы баштоо үчүн каалаган жерди чыкылдатыңыз, андан кийин суроону көрсөтүү үчүн "Өттү" чыкылдатыңыз, анан жоопту көрсөтүү үчүн кайра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D6D007-2658-71C9-451F-09B96DEB381C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AC6184A-7B4A-29DD-8B8A-FFD814C5111D}"/>
              </a:ext>
            </a:extLst>
          </p:cNvPr>
          <p:cNvSpPr/>
          <p:nvPr/>
        </p:nvSpPr>
        <p:spPr>
          <a:xfrm>
            <a:off x="3024659" y="5856140"/>
            <a:ext cx="38566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7BA8C5A9-39D8-298D-7734-40A472A940DD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570850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466080" y="554123"/>
            <a:ext cx="9268884" cy="2254888"/>
            <a:chOff x="318558" y="2301556"/>
            <a:chExt cx="9268884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318558" y="2345631"/>
              <a:ext cx="9268884" cy="186204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y-KG" sz="115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Жыдымай</a:t>
              </a:r>
              <a:r>
                <a:rPr kumimoji="0" lang="en-US" sz="115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 !</a:t>
              </a:r>
              <a:endParaRPr kumimoji="0" lang="en-US" sz="199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4327812" y="1912050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1020005" y="354693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775041" y="432831"/>
            <a:ext cx="948538" cy="1096391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761127" y="3052516"/>
            <a:ext cx="8973837" cy="3588208"/>
          </a:xfrm>
          <a:prstGeom prst="roundRect">
            <a:avLst/>
          </a:prstGeom>
          <a:blipFill>
            <a:blip r:embed="rId4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5400" b="1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Бөлчөктөрдү, ондуктарды жана пайыздарды иреттөө</a:t>
            </a:r>
            <a:endParaRPr lang="en-US" sz="2800" b="1" dirty="0">
              <a:ln w="38100">
                <a:solidFill>
                  <a:schemeClr val="tx1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7652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3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94574" y="2209772"/>
            <a:ext cx="8716852" cy="2554545"/>
          </a:xfrm>
          <a:prstGeom prst="roundRect">
            <a:avLst/>
          </a:prstGeom>
          <a:blipFill>
            <a:blip r:embed="rId2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349876" y="2151727"/>
            <a:ext cx="9206248" cy="221599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Туура жооп = 1 упай</a:t>
            </a:r>
            <a:endParaRPr kumimoji="0" lang="en-US" sz="66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nard MT Condensed" panose="02050806060905020404" pitchFamily="18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Эң тез!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1911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1712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557954" y="4964404"/>
            <a:ext cx="2790092" cy="110186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800" dirty="0">
                <a:solidFill>
                  <a:schemeClr val="tx1"/>
                </a:solidFill>
              </a:rPr>
              <a:t>Туура</a:t>
            </a:r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3"/>
            <a:ext cx="6957647" cy="456320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658500" y="314240"/>
            <a:ext cx="4589012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 кичинеден </a:t>
            </a:r>
          </a:p>
          <a:p>
            <a:pPr algn="ctr"/>
            <a:r>
              <a:rPr lang="ru-RU" sz="2800" dirty="0"/>
              <a:t>чоңго карай ирээттелген.</a:t>
            </a:r>
          </a:p>
          <a:p>
            <a:pPr algn="ctr"/>
            <a:endParaRPr lang="ru-RU" sz="2800" dirty="0"/>
          </a:p>
          <a:p>
            <a:pPr algn="ctr"/>
            <a:r>
              <a:rPr lang="ru-RU" sz="2800" dirty="0"/>
              <a:t>Туурабы же Катабы?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2128239" y="1799671"/>
                <a:ext cx="843500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8239" y="1799671"/>
                <a:ext cx="843500" cy="20004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3868572" y="2245882"/>
                <a:ext cx="2064989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30%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8572" y="2245882"/>
                <a:ext cx="206498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6830393" y="2245882"/>
                <a:ext cx="1484702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0393" y="2245882"/>
                <a:ext cx="1484702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228B6C71-ECF8-4842-83C7-569466E9EBD8}"/>
              </a:ext>
            </a:extLst>
          </p:cNvPr>
          <p:cNvGrpSpPr/>
          <p:nvPr/>
        </p:nvGrpSpPr>
        <p:grpSpPr>
          <a:xfrm>
            <a:off x="3884290" y="4197946"/>
            <a:ext cx="2137420" cy="629887"/>
            <a:chOff x="3211826" y="805305"/>
            <a:chExt cx="2909102" cy="857298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6BA7206-FDE2-487B-8375-4400B65023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/>
            <a:stretch/>
          </p:blipFill>
          <p:spPr>
            <a:xfrm>
              <a:off x="3211826" y="805305"/>
              <a:ext cx="857298" cy="857298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F6432FF-E730-4CC5-B90B-041007C923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0"/>
            <a:stretch/>
          </p:blipFill>
          <p:spPr>
            <a:xfrm>
              <a:off x="5263630" y="805305"/>
              <a:ext cx="857298" cy="85729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32217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9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1680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557954" y="4964404"/>
            <a:ext cx="2790092" cy="110186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800" dirty="0">
                <a:solidFill>
                  <a:schemeClr val="tx1"/>
                </a:solidFill>
              </a:rPr>
              <a:t>Ката</a:t>
            </a:r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3"/>
            <a:ext cx="6957647" cy="45632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643851" y="314240"/>
            <a:ext cx="461831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 чоңдон</a:t>
            </a:r>
          </a:p>
          <a:p>
            <a:pPr algn="ctr"/>
            <a:r>
              <a:rPr lang="ru-RU" sz="2800" dirty="0"/>
              <a:t> кичинеге карай ирээттелген.</a:t>
            </a:r>
          </a:p>
          <a:p>
            <a:pPr algn="ctr"/>
            <a:endParaRPr lang="ru-RU" sz="2800" dirty="0"/>
          </a:p>
          <a:p>
            <a:pPr algn="ctr"/>
            <a:r>
              <a:rPr lang="ru-RU" sz="2800" dirty="0"/>
              <a:t>Туурабы же Катабы?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1884399" y="1799671"/>
                <a:ext cx="843500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4399" y="1799671"/>
                <a:ext cx="843500" cy="20004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3395056" y="2245882"/>
                <a:ext cx="2064989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22%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5056" y="2245882"/>
                <a:ext cx="206498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6127203" y="2245882"/>
                <a:ext cx="2420856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0.2</m:t>
                      </m:r>
                      <m:r>
                        <a:rPr lang="en-GB" sz="6600" b="0" i="0" dirty="0" smtClean="0">
                          <a:latin typeface="Cambria Math" panose="02040503050406030204" pitchFamily="18" charset="0"/>
                        </a:rPr>
                        <m:t>01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7203" y="2245882"/>
                <a:ext cx="2420856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228B6C71-ECF8-4842-83C7-569466E9EBD8}"/>
              </a:ext>
            </a:extLst>
          </p:cNvPr>
          <p:cNvGrpSpPr/>
          <p:nvPr/>
        </p:nvGrpSpPr>
        <p:grpSpPr>
          <a:xfrm>
            <a:off x="3884290" y="4197946"/>
            <a:ext cx="2137420" cy="629887"/>
            <a:chOff x="3211826" y="805305"/>
            <a:chExt cx="2909102" cy="857298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6BA7206-FDE2-487B-8375-4400B65023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/>
            <a:stretch/>
          </p:blipFill>
          <p:spPr>
            <a:xfrm>
              <a:off x="3211826" y="805305"/>
              <a:ext cx="857298" cy="857298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F6432FF-E730-4CC5-B90B-041007C923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0"/>
            <a:stretch/>
          </p:blipFill>
          <p:spPr>
            <a:xfrm>
              <a:off x="5263630" y="805305"/>
              <a:ext cx="857298" cy="85729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04054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9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9304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800" dirty="0">
                <a:solidFill>
                  <a:schemeClr val="tx1"/>
                </a:solidFill>
              </a:rPr>
              <a:t>0,75 жана 0,77 ортосундагы сандарды</a:t>
            </a:r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431323" y="314240"/>
            <a:ext cx="704340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Ирээт туура бойдон калуусу үчүн </a:t>
            </a:r>
          </a:p>
          <a:p>
            <a:pPr algn="ctr"/>
            <a:r>
              <a:rPr lang="ru-RU" sz="2800" dirty="0"/>
              <a:t>кутуга кайсы ондук сандарды койсок болот?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2517835" y="1535902"/>
                <a:ext cx="843500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835" y="1535902"/>
                <a:ext cx="843500" cy="20004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6139681" y="1982113"/>
                <a:ext cx="2064989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77%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9681" y="1982113"/>
                <a:ext cx="206498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9D4A355-C82D-4211-97B1-CF73752B813A}"/>
              </a:ext>
            </a:extLst>
          </p:cNvPr>
          <p:cNvSpPr/>
          <p:nvPr/>
        </p:nvSpPr>
        <p:spPr>
          <a:xfrm>
            <a:off x="4192952" y="1826503"/>
            <a:ext cx="1247192" cy="141921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113599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88075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223672" y="314240"/>
            <a:ext cx="545867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сандарды эң кичинеден </a:t>
            </a:r>
          </a:p>
          <a:p>
            <a:pPr algn="ctr"/>
            <a:r>
              <a:rPr lang="ru-RU" sz="2800" dirty="0"/>
              <a:t>чоңго карай ирээтте.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6950527" y="1535902"/>
                <a:ext cx="843500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0527" y="1535902"/>
                <a:ext cx="843500" cy="20004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4067668" y="1982113"/>
                <a:ext cx="2064989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83%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668" y="1982113"/>
                <a:ext cx="206498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1972741" y="1982113"/>
                <a:ext cx="1484702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0.9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2741" y="1982113"/>
                <a:ext cx="1484702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7320486-AD8B-4328-8511-AC4DA4887694}"/>
                  </a:ext>
                </a:extLst>
              </p:cNvPr>
              <p:cNvSpPr txBox="1"/>
              <p:nvPr/>
            </p:nvSpPr>
            <p:spPr>
              <a:xfrm>
                <a:off x="2984547" y="4597970"/>
                <a:ext cx="785792" cy="18235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7320486-AD8B-4328-8511-AC4DA48876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4547" y="4597970"/>
                <a:ext cx="785792" cy="182357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083836F-BB52-437A-B687-4A40419CF8B8}"/>
                  </a:ext>
                </a:extLst>
              </p:cNvPr>
              <p:cNvSpPr txBox="1"/>
              <p:nvPr/>
            </p:nvSpPr>
            <p:spPr>
              <a:xfrm>
                <a:off x="4137172" y="5044181"/>
                <a:ext cx="1896673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83%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083836F-BB52-437A-B687-4A40419CF8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7172" y="5044181"/>
                <a:ext cx="1896673" cy="101566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195E3DB-D664-4B3E-B24F-2950D1FCA9FF}"/>
                  </a:ext>
                </a:extLst>
              </p:cNvPr>
              <p:cNvSpPr txBox="1"/>
              <p:nvPr/>
            </p:nvSpPr>
            <p:spPr>
              <a:xfrm>
                <a:off x="6385572" y="5044181"/>
                <a:ext cx="136928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0.9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195E3DB-D664-4B3E-B24F-2950D1FCA9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5572" y="5044181"/>
                <a:ext cx="1369285" cy="101566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5058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1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1178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557954" y="4964404"/>
            <a:ext cx="2790092" cy="110186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800" dirty="0">
                <a:solidFill>
                  <a:schemeClr val="tx1"/>
                </a:solidFill>
              </a:rPr>
              <a:t>Ката</a:t>
            </a:r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3"/>
            <a:ext cx="6957647" cy="456320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261695" y="314240"/>
            <a:ext cx="5382627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 өсүү тартибинде</a:t>
            </a:r>
          </a:p>
          <a:p>
            <a:pPr algn="ctr"/>
            <a:r>
              <a:rPr lang="ru-RU" sz="2800" dirty="0"/>
              <a:t> жайгашкан.</a:t>
            </a:r>
          </a:p>
          <a:p>
            <a:pPr algn="ctr"/>
            <a:r>
              <a:rPr lang="ru-RU" sz="2800" dirty="0"/>
              <a:t>Туурабы же Катабы?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3988706" y="1799671"/>
                <a:ext cx="1311578" cy="19938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8706" y="1799671"/>
                <a:ext cx="1311578" cy="199381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1554430" y="2245882"/>
                <a:ext cx="2238112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3.7%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4430" y="2245882"/>
                <a:ext cx="2238112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5496448" y="2245882"/>
                <a:ext cx="1484702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0.4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6448" y="2245882"/>
                <a:ext cx="1484702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228B6C71-ECF8-4842-83C7-569466E9EBD8}"/>
              </a:ext>
            </a:extLst>
          </p:cNvPr>
          <p:cNvGrpSpPr/>
          <p:nvPr/>
        </p:nvGrpSpPr>
        <p:grpSpPr>
          <a:xfrm>
            <a:off x="3884290" y="4197946"/>
            <a:ext cx="2137420" cy="629887"/>
            <a:chOff x="3211826" y="805305"/>
            <a:chExt cx="2909102" cy="857298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6BA7206-FDE2-487B-8375-4400B65023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/>
            <a:stretch/>
          </p:blipFill>
          <p:spPr>
            <a:xfrm>
              <a:off x="3211826" y="805305"/>
              <a:ext cx="857298" cy="857298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F6432FF-E730-4CC5-B90B-041007C923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0"/>
            <a:stretch/>
          </p:blipFill>
          <p:spPr>
            <a:xfrm>
              <a:off x="5263630" y="805305"/>
              <a:ext cx="857298" cy="85729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49868B-6198-4162-9C19-FFD8CCD3360F}"/>
                  </a:ext>
                </a:extLst>
              </p:cNvPr>
              <p:cNvSpPr txBox="1"/>
              <p:nvPr/>
            </p:nvSpPr>
            <p:spPr>
              <a:xfrm>
                <a:off x="7177314" y="1799671"/>
                <a:ext cx="1311578" cy="19938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49868B-6198-4162-9C19-FFD8CCD336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7314" y="1799671"/>
                <a:ext cx="1311578" cy="199381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9981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0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25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0.45  </a:t>
            </a:r>
            <a:r>
              <a:rPr lang="ky-KG" sz="4800" dirty="0">
                <a:solidFill>
                  <a:schemeClr val="tx1"/>
                </a:solidFill>
              </a:rPr>
              <a:t>жана</a:t>
            </a:r>
            <a:r>
              <a:rPr lang="en-GB" sz="4800" dirty="0">
                <a:solidFill>
                  <a:schemeClr val="tx1"/>
                </a:solidFill>
              </a:rPr>
              <a:t>  0.5</a:t>
            </a:r>
            <a:endParaRPr lang="ky-KG" sz="4800" dirty="0">
              <a:solidFill>
                <a:schemeClr val="tx1"/>
              </a:solidFill>
            </a:endParaRPr>
          </a:p>
          <a:p>
            <a:pPr algn="ctr"/>
            <a:r>
              <a:rPr lang="ky-KG" sz="4800" dirty="0">
                <a:solidFill>
                  <a:schemeClr val="tx1"/>
                </a:solidFill>
              </a:rPr>
              <a:t>ортосундагы сандарды</a:t>
            </a:r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477007" y="314240"/>
            <a:ext cx="695203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Ирээт туура бойдон калуусу үчүн </a:t>
            </a:r>
          </a:p>
          <a:p>
            <a:pPr algn="ctr"/>
            <a:r>
              <a:rPr lang="ru-RU" sz="2800" dirty="0"/>
              <a:t>кутуга кайсы </a:t>
            </a:r>
            <a:r>
              <a:rPr lang="ru-RU" sz="2800" b="1" dirty="0"/>
              <a:t>ондук</a:t>
            </a:r>
            <a:r>
              <a:rPr lang="ru-RU" sz="2800" dirty="0"/>
              <a:t> сандарды койсок болот?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3878441" y="1491941"/>
                <a:ext cx="1311578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8441" y="1491941"/>
                <a:ext cx="1311578" cy="20004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1526691" y="1938152"/>
                <a:ext cx="2064989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42%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6691" y="1938152"/>
                <a:ext cx="206498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7010733" y="1938152"/>
                <a:ext cx="1484702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733" y="1938152"/>
                <a:ext cx="1484702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9D4A355-C82D-4211-97B1-CF73752B813A}"/>
              </a:ext>
            </a:extLst>
          </p:cNvPr>
          <p:cNvSpPr/>
          <p:nvPr/>
        </p:nvSpPr>
        <p:spPr>
          <a:xfrm>
            <a:off x="5476780" y="1782542"/>
            <a:ext cx="1247192" cy="141921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25597545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8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32659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557954" y="4964404"/>
            <a:ext cx="2790092" cy="1101860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4800" dirty="0">
                <a:solidFill>
                  <a:schemeClr val="tx1"/>
                </a:solidFill>
              </a:rPr>
              <a:t>Туура</a:t>
            </a:r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3"/>
            <a:ext cx="6957647" cy="4563207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3034235" y="231849"/>
            <a:ext cx="383752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/>
              <a:t>Берилген сандар кемүү </a:t>
            </a:r>
          </a:p>
          <a:p>
            <a:pPr algn="ctr"/>
            <a:r>
              <a:rPr lang="ru-RU" sz="2800" dirty="0"/>
              <a:t>тартибинде жайгашкан.</a:t>
            </a:r>
          </a:p>
          <a:p>
            <a:pPr algn="ctr"/>
            <a:r>
              <a:rPr lang="ru-RU" sz="2800" dirty="0"/>
              <a:t>Туурабы же Катабы?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7295327" y="1799671"/>
                <a:ext cx="1212190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327" y="1799671"/>
                <a:ext cx="1212190" cy="18269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1442197" y="2245882"/>
                <a:ext cx="2480166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62.5%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2197" y="2245882"/>
                <a:ext cx="2480166" cy="10156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5680647" y="2157959"/>
                <a:ext cx="136928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0.6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0647" y="2157959"/>
                <a:ext cx="1369285" cy="101566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228B6C71-ECF8-4842-83C7-569466E9EBD8}"/>
              </a:ext>
            </a:extLst>
          </p:cNvPr>
          <p:cNvGrpSpPr/>
          <p:nvPr/>
        </p:nvGrpSpPr>
        <p:grpSpPr>
          <a:xfrm>
            <a:off x="3884290" y="4197946"/>
            <a:ext cx="2137420" cy="629887"/>
            <a:chOff x="3211826" y="805305"/>
            <a:chExt cx="2909102" cy="857298"/>
          </a:xfrm>
        </p:grpSpPr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6BA7206-FDE2-487B-8375-4400B65023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/>
            <a:stretch/>
          </p:blipFill>
          <p:spPr>
            <a:xfrm>
              <a:off x="3211826" y="805305"/>
              <a:ext cx="857298" cy="857298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8F6432FF-E730-4CC5-B90B-041007C923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0"/>
            <a:stretch/>
          </p:blipFill>
          <p:spPr>
            <a:xfrm>
              <a:off x="5263630" y="805305"/>
              <a:ext cx="857298" cy="857298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AFBF004-2E41-49D9-B53D-D3EEEE474EB4}"/>
                  </a:ext>
                </a:extLst>
              </p:cNvPr>
              <p:cNvSpPr txBox="1"/>
              <p:nvPr/>
            </p:nvSpPr>
            <p:spPr>
              <a:xfrm>
                <a:off x="4223062" y="1799671"/>
                <a:ext cx="1212190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31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AFBF004-2E41-49D9-B53D-D3EEEE474E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3062" y="1799671"/>
                <a:ext cx="1212190" cy="18269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743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0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61900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585885" y="314240"/>
            <a:ext cx="47342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сандарды чоңунан </a:t>
            </a:r>
          </a:p>
          <a:p>
            <a:pPr algn="ctr"/>
            <a:r>
              <a:rPr lang="ru-RU" sz="2800" dirty="0"/>
              <a:t>кичинесине карай ирээтте.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2586838" y="1615033"/>
                <a:ext cx="1311578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6838" y="1615033"/>
                <a:ext cx="1311578" cy="20004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4138006" y="2061244"/>
                <a:ext cx="2064989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66%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8006" y="2061244"/>
                <a:ext cx="206498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6395271" y="2061244"/>
                <a:ext cx="1484702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0.7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5271" y="2061244"/>
                <a:ext cx="1484702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0322B1E-7319-469B-9649-FDF7785415F9}"/>
                  </a:ext>
                </a:extLst>
              </p:cNvPr>
              <p:cNvSpPr txBox="1"/>
              <p:nvPr/>
            </p:nvSpPr>
            <p:spPr>
              <a:xfrm>
                <a:off x="6323440" y="4607346"/>
                <a:ext cx="1212190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0322B1E-7319-469B-9649-FDF7785415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3440" y="4607346"/>
                <a:ext cx="1212190" cy="18269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C09D6A-6F61-4AF1-AC71-B532515FAB00}"/>
                  </a:ext>
                </a:extLst>
              </p:cNvPr>
              <p:cNvSpPr txBox="1"/>
              <p:nvPr/>
            </p:nvSpPr>
            <p:spPr>
              <a:xfrm>
                <a:off x="4075627" y="5013002"/>
                <a:ext cx="1896673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66%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C09D6A-6F61-4AF1-AC71-B532515FAB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5627" y="5013002"/>
                <a:ext cx="1896673" cy="101566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CD0E0B0-092F-4E1E-9011-95E8784EEC6E}"/>
                  </a:ext>
                </a:extLst>
              </p:cNvPr>
              <p:cNvSpPr txBox="1"/>
              <p:nvPr/>
            </p:nvSpPr>
            <p:spPr>
              <a:xfrm>
                <a:off x="2481788" y="5013002"/>
                <a:ext cx="136928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0.7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CD0E0B0-092F-4E1E-9011-95E8784EEC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1788" y="5013002"/>
                <a:ext cx="1369285" cy="101566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0751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1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5354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223672" y="314240"/>
            <a:ext cx="545867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сандарды эң кичинеден </a:t>
            </a:r>
          </a:p>
          <a:p>
            <a:pPr algn="ctr"/>
            <a:r>
              <a:rPr lang="ru-RU" sz="2800" dirty="0"/>
              <a:t>чоңго карай ирээтте.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7270080" y="1607940"/>
                <a:ext cx="1212190" cy="18235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0080" y="1607940"/>
                <a:ext cx="1212190" cy="182357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4717191" y="2011897"/>
                <a:ext cx="2480166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12.5%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7191" y="2011897"/>
                <a:ext cx="2480166" cy="10156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2848785" y="2011897"/>
                <a:ext cx="1795683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0.21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8785" y="2011897"/>
                <a:ext cx="1795683" cy="101566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6CD107E-7C4D-4C13-8C5C-05DC1F519073}"/>
                  </a:ext>
                </a:extLst>
              </p:cNvPr>
              <p:cNvSpPr txBox="1"/>
              <p:nvPr/>
            </p:nvSpPr>
            <p:spPr>
              <a:xfrm>
                <a:off x="1563872" y="1606241"/>
                <a:ext cx="1212190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6CD107E-7C4D-4C13-8C5C-05DC1F519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3872" y="1606241"/>
                <a:ext cx="1212190" cy="18269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3FC9F01-3C04-485A-8BE2-647101789FB4}"/>
                  </a:ext>
                </a:extLst>
              </p:cNvPr>
              <p:cNvSpPr txBox="1"/>
              <p:nvPr/>
            </p:nvSpPr>
            <p:spPr>
              <a:xfrm>
                <a:off x="5562894" y="4535778"/>
                <a:ext cx="1212190" cy="18235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3FC9F01-3C04-485A-8BE2-647101789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2894" y="4535778"/>
                <a:ext cx="1212190" cy="182357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347B6B8-F884-4476-AFD8-9A243B503696}"/>
                  </a:ext>
                </a:extLst>
              </p:cNvPr>
              <p:cNvSpPr txBox="1"/>
              <p:nvPr/>
            </p:nvSpPr>
            <p:spPr>
              <a:xfrm>
                <a:off x="2929395" y="4939735"/>
                <a:ext cx="2480166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12.5%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347B6B8-F884-4476-AFD8-9A243B5036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9395" y="4939735"/>
                <a:ext cx="2480166" cy="101566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DA0F64F-FE27-461A-8911-D43DEF037A70}"/>
                  </a:ext>
                </a:extLst>
              </p:cNvPr>
              <p:cNvSpPr txBox="1"/>
              <p:nvPr/>
            </p:nvSpPr>
            <p:spPr>
              <a:xfrm>
                <a:off x="6928416" y="4939735"/>
                <a:ext cx="1795683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0.21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DA0F64F-FE27-461A-8911-D43DEF037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8416" y="4939735"/>
                <a:ext cx="1795683" cy="101566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017072-B38D-4898-BA44-DFBB88E087D5}"/>
                  </a:ext>
                </a:extLst>
              </p:cNvPr>
              <p:cNvSpPr txBox="1"/>
              <p:nvPr/>
            </p:nvSpPr>
            <p:spPr>
              <a:xfrm>
                <a:off x="1563872" y="4534079"/>
                <a:ext cx="1212190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017072-B38D-4898-BA44-DFBB88E087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3872" y="4534079"/>
                <a:ext cx="1212190" cy="18269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4054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3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26" grpId="0"/>
      <p:bldP spid="2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6100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97804"/>
            <a:ext cx="6957647" cy="394774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223670" y="314240"/>
            <a:ext cx="545867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сандарды эң кичинеден </a:t>
            </a:r>
          </a:p>
          <a:p>
            <a:pPr algn="ctr"/>
            <a:r>
              <a:rPr lang="ru-RU" sz="2800" dirty="0"/>
              <a:t>чоңго карай ирээтте.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1645186" y="1617182"/>
                <a:ext cx="785792" cy="18397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5186" y="1617182"/>
                <a:ext cx="785792" cy="183973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2832940" y="2073717"/>
                <a:ext cx="2323072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112%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2940" y="2073717"/>
                <a:ext cx="2323072" cy="10156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5586827" y="2073717"/>
                <a:ext cx="136928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0.9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6827" y="2073717"/>
                <a:ext cx="1369285" cy="101566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FF6B700-5A53-47BF-82B1-B568A5918267}"/>
                  </a:ext>
                </a:extLst>
              </p:cNvPr>
              <p:cNvSpPr txBox="1"/>
              <p:nvPr/>
            </p:nvSpPr>
            <p:spPr>
              <a:xfrm>
                <a:off x="7331625" y="1629365"/>
                <a:ext cx="1212190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FF6B700-5A53-47BF-82B1-B568A59182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1625" y="1629365"/>
                <a:ext cx="1212190" cy="18269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CF90968-4823-4745-A213-7A2359CCB21B}"/>
                  </a:ext>
                </a:extLst>
              </p:cNvPr>
              <p:cNvSpPr txBox="1"/>
              <p:nvPr/>
            </p:nvSpPr>
            <p:spPr>
              <a:xfrm>
                <a:off x="7568466" y="4576087"/>
                <a:ext cx="785792" cy="18397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CF90968-4823-4745-A213-7A2359CCB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466" y="4576087"/>
                <a:ext cx="785792" cy="183973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2452EC9-7EA8-4BE6-B172-00FEEA1CEE5B}"/>
                  </a:ext>
                </a:extLst>
              </p:cNvPr>
              <p:cNvSpPr txBox="1"/>
              <p:nvPr/>
            </p:nvSpPr>
            <p:spPr>
              <a:xfrm>
                <a:off x="4880094" y="5032622"/>
                <a:ext cx="2323072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112%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2452EC9-7EA8-4BE6-B172-00FEEA1CEE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0094" y="5032622"/>
                <a:ext cx="2323072" cy="101566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54C594B-99E5-48F5-A35D-9689254A89C8}"/>
                  </a:ext>
                </a:extLst>
              </p:cNvPr>
              <p:cNvSpPr txBox="1"/>
              <p:nvPr/>
            </p:nvSpPr>
            <p:spPr>
              <a:xfrm>
                <a:off x="1573627" y="5032622"/>
                <a:ext cx="136928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0.9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54C594B-99E5-48F5-A35D-9689254A8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3627" y="5032622"/>
                <a:ext cx="1369285" cy="101566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1BFE98B-7BC3-40A7-BD95-C207BD1B8190}"/>
                  </a:ext>
                </a:extLst>
              </p:cNvPr>
              <p:cNvSpPr txBox="1"/>
              <p:nvPr/>
            </p:nvSpPr>
            <p:spPr>
              <a:xfrm>
                <a:off x="3281764" y="4588270"/>
                <a:ext cx="1212190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91BFE98B-7BC3-40A7-BD95-C207BD1B8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1764" y="4588270"/>
                <a:ext cx="1212190" cy="18269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0205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3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  <p:bldP spid="24" grpId="0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6271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264548" y="314240"/>
            <a:ext cx="537692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сандарды эң кичинеден</a:t>
            </a:r>
          </a:p>
          <a:p>
            <a:pPr algn="ctr"/>
            <a:r>
              <a:rPr lang="ru-RU" sz="2800" dirty="0"/>
              <a:t> чоңго карай ирээтте.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1517695" y="1455673"/>
                <a:ext cx="843500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7695" y="1455673"/>
                <a:ext cx="843500" cy="20004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2556413" y="1901884"/>
                <a:ext cx="2706190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30.3%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6413" y="1901884"/>
                <a:ext cx="2706190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5473490" y="1901884"/>
                <a:ext cx="1484702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3490" y="1901884"/>
                <a:ext cx="1484702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EA322BA-F1B1-42BA-8835-66B15B7E4F00}"/>
                  </a:ext>
                </a:extLst>
              </p:cNvPr>
              <p:cNvSpPr txBox="1"/>
              <p:nvPr/>
            </p:nvSpPr>
            <p:spPr>
              <a:xfrm>
                <a:off x="7361061" y="1455673"/>
                <a:ext cx="1311578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EA322BA-F1B1-42BA-8835-66B15B7E4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061" y="1455673"/>
                <a:ext cx="1311578" cy="200041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A8819F1-5F68-4BA0-8A55-D6F6D52211A5}"/>
                  </a:ext>
                </a:extLst>
              </p:cNvPr>
              <p:cNvSpPr txBox="1"/>
              <p:nvPr/>
            </p:nvSpPr>
            <p:spPr>
              <a:xfrm>
                <a:off x="7668926" y="4580972"/>
                <a:ext cx="785792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A8819F1-5F68-4BA0-8A55-D6F6D52211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8926" y="4580972"/>
                <a:ext cx="785792" cy="18269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384583-0F93-4AFF-9851-3D1804211CF8}"/>
                  </a:ext>
                </a:extLst>
              </p:cNvPr>
              <p:cNvSpPr txBox="1"/>
              <p:nvPr/>
            </p:nvSpPr>
            <p:spPr>
              <a:xfrm>
                <a:off x="4882962" y="4986628"/>
                <a:ext cx="2480166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30.3%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C384583-0F93-4AFF-9851-3D1804211C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2962" y="4986628"/>
                <a:ext cx="2480166" cy="101566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90BCCF7-6D2C-43AB-BFF5-7F42C015FEDD}"/>
                  </a:ext>
                </a:extLst>
              </p:cNvPr>
              <p:cNvSpPr txBox="1"/>
              <p:nvPr/>
            </p:nvSpPr>
            <p:spPr>
              <a:xfrm>
                <a:off x="3207880" y="4986628"/>
                <a:ext cx="136928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0.3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90BCCF7-6D2C-43AB-BFF5-7F42C015FE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7880" y="4986628"/>
                <a:ext cx="1369285" cy="101566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D34A81C-A28A-4DC7-BEB1-2DEB2B425AB8}"/>
                  </a:ext>
                </a:extLst>
              </p:cNvPr>
              <p:cNvSpPr txBox="1"/>
              <p:nvPr/>
            </p:nvSpPr>
            <p:spPr>
              <a:xfrm>
                <a:off x="1689893" y="4583985"/>
                <a:ext cx="1212190" cy="18209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D34A81C-A28A-4DC7-BEB1-2DEB2B425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9893" y="4583985"/>
                <a:ext cx="1212190" cy="1820948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4564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3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9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0069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484193" y="314240"/>
            <a:ext cx="493763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Берилген сандарды эң чоңдон </a:t>
            </a:r>
          </a:p>
          <a:p>
            <a:pPr algn="ctr"/>
            <a:r>
              <a:rPr lang="ky-KG" sz="2800" dirty="0"/>
              <a:t>эң кичинесине карай ирээтте.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2581000" y="1538596"/>
                <a:ext cx="1007007" cy="14752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1000" y="1538596"/>
                <a:ext cx="1007007" cy="147521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3725109" y="1901002"/>
                <a:ext cx="202331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latin typeface="Cambria Math" panose="02040503050406030204" pitchFamily="18" charset="0"/>
                        </a:rPr>
                        <m:t>10.4%</m:t>
                      </m:r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5109" y="1901002"/>
                <a:ext cx="2023311" cy="8309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5893537" y="1901002"/>
                <a:ext cx="1133644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latin typeface="Cambria Math" panose="02040503050406030204" pitchFamily="18" charset="0"/>
                        </a:rPr>
                        <m:t>1.5</m:t>
                      </m:r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3537" y="1901002"/>
                <a:ext cx="1133644" cy="8309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1A8384E-DE92-4666-BD6B-9CE2A63E6380}"/>
                  </a:ext>
                </a:extLst>
              </p:cNvPr>
              <p:cNvSpPr txBox="1"/>
              <p:nvPr/>
            </p:nvSpPr>
            <p:spPr>
              <a:xfrm>
                <a:off x="7138635" y="1901002"/>
                <a:ext cx="1475083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latin typeface="Cambria Math" panose="02040503050406030204" pitchFamily="18" charset="0"/>
                        </a:rPr>
                        <m:t>0.13</m:t>
                      </m:r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1A8384E-DE92-4666-BD6B-9CE2A63E63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8635" y="1901002"/>
                <a:ext cx="1475083" cy="8309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B25549B-5D41-4DF0-841C-5FE5239E6806}"/>
                  </a:ext>
                </a:extLst>
              </p:cNvPr>
              <p:cNvSpPr txBox="1"/>
              <p:nvPr/>
            </p:nvSpPr>
            <p:spPr>
              <a:xfrm>
                <a:off x="1499408" y="1535902"/>
                <a:ext cx="1007007" cy="14800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  <m:t>40</m:t>
                          </m:r>
                        </m:den>
                      </m:f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B25549B-5D41-4DF0-841C-5FE5239E68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9408" y="1535902"/>
                <a:ext cx="1007007" cy="148002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9620F6B-698D-4BDA-AF1F-19FD176813B8}"/>
                  </a:ext>
                </a:extLst>
              </p:cNvPr>
              <p:cNvSpPr txBox="1"/>
              <p:nvPr/>
            </p:nvSpPr>
            <p:spPr>
              <a:xfrm>
                <a:off x="3798517" y="4680380"/>
                <a:ext cx="1007007" cy="14752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9620F6B-698D-4BDA-AF1F-19FD17681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8517" y="4680380"/>
                <a:ext cx="1007007" cy="147521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087D26-5349-449E-935F-E4E37F034A7C}"/>
                  </a:ext>
                </a:extLst>
              </p:cNvPr>
              <p:cNvSpPr txBox="1"/>
              <p:nvPr/>
            </p:nvSpPr>
            <p:spPr>
              <a:xfrm>
                <a:off x="6523994" y="5042786"/>
                <a:ext cx="202331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latin typeface="Cambria Math" panose="02040503050406030204" pitchFamily="18" charset="0"/>
                        </a:rPr>
                        <m:t>10.4%</m:t>
                      </m:r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087D26-5349-449E-935F-E4E37F034A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3994" y="5042786"/>
                <a:ext cx="2023311" cy="83099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B6AE4F2-33B2-48D2-B69B-7D8B975D4947}"/>
                  </a:ext>
                </a:extLst>
              </p:cNvPr>
              <p:cNvSpPr txBox="1"/>
              <p:nvPr/>
            </p:nvSpPr>
            <p:spPr>
              <a:xfrm>
                <a:off x="1526691" y="5042786"/>
                <a:ext cx="1133644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latin typeface="Cambria Math" panose="02040503050406030204" pitchFamily="18" charset="0"/>
                        </a:rPr>
                        <m:t>1.5</m:t>
                      </m:r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B6AE4F2-33B2-48D2-B69B-7D8B975D49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6691" y="5042786"/>
                <a:ext cx="1133644" cy="83099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C0ECD53-ECBE-4254-917C-A65C62B01672}"/>
                  </a:ext>
                </a:extLst>
              </p:cNvPr>
              <p:cNvSpPr txBox="1"/>
              <p:nvPr/>
            </p:nvSpPr>
            <p:spPr>
              <a:xfrm>
                <a:off x="4895959" y="5042786"/>
                <a:ext cx="1475083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b="0" i="1" dirty="0" smtClean="0">
                          <a:latin typeface="Cambria Math" panose="02040503050406030204" pitchFamily="18" charset="0"/>
                        </a:rPr>
                        <m:t>0.13</m:t>
                      </m:r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C0ECD53-ECBE-4254-917C-A65C62B01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5959" y="5042786"/>
                <a:ext cx="1475083" cy="83099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3E8A693-80F6-422E-94FC-B08F0CFAEE2A}"/>
                  </a:ext>
                </a:extLst>
              </p:cNvPr>
              <p:cNvSpPr txBox="1"/>
              <p:nvPr/>
            </p:nvSpPr>
            <p:spPr>
              <a:xfrm>
                <a:off x="2729930" y="4677686"/>
                <a:ext cx="1007007" cy="14800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GB" sz="4800" b="0" i="1" dirty="0" smtClean="0">
                              <a:latin typeface="Cambria Math" panose="02040503050406030204" pitchFamily="18" charset="0"/>
                            </a:rPr>
                            <m:t>40</m:t>
                          </m:r>
                        </m:den>
                      </m:f>
                    </m:oMath>
                  </m:oMathPara>
                </a14:m>
                <a:endParaRPr lang="en-GB" sz="12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3E8A693-80F6-422E-94FC-B08F0CFAEE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9930" y="4677686"/>
                <a:ext cx="1007007" cy="1480021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0646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5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9" grpId="0"/>
      <p:bldP spid="20" grpId="0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0993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2119358" y="314240"/>
            <a:ext cx="566732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сандарды </a:t>
            </a:r>
            <a:r>
              <a:rPr lang="ru-RU" sz="2800" b="1" dirty="0"/>
              <a:t>өсүү тартибине</a:t>
            </a:r>
          </a:p>
          <a:p>
            <a:pPr algn="ctr"/>
            <a:r>
              <a:rPr lang="ru-RU" sz="2800" b="1" dirty="0"/>
              <a:t> </a:t>
            </a:r>
            <a:r>
              <a:rPr lang="ru-RU" sz="2800" dirty="0"/>
              <a:t>ирээтте.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1567892" y="1535902"/>
                <a:ext cx="1638589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134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200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7892" y="1535902"/>
                <a:ext cx="1638589" cy="18269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3401683" y="1941558"/>
                <a:ext cx="2480166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66.7%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1683" y="1941558"/>
                <a:ext cx="2480166" cy="10156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6077051" y="1941558"/>
                <a:ext cx="136928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0.7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051" y="1941558"/>
                <a:ext cx="1369285" cy="101566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7568A78-34E2-49AE-A654-77DB5C9B8CC9}"/>
                  </a:ext>
                </a:extLst>
              </p:cNvPr>
              <p:cNvSpPr txBox="1"/>
              <p:nvPr/>
            </p:nvSpPr>
            <p:spPr>
              <a:xfrm>
                <a:off x="7641539" y="1535902"/>
                <a:ext cx="785792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7568A78-34E2-49AE-A654-77DB5C9B8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1539" y="1535902"/>
                <a:ext cx="785792" cy="18269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5018091-A695-472F-B751-45DB21D0C49B}"/>
                  </a:ext>
                </a:extLst>
              </p:cNvPr>
              <p:cNvSpPr txBox="1"/>
              <p:nvPr/>
            </p:nvSpPr>
            <p:spPr>
              <a:xfrm>
                <a:off x="5344832" y="4557287"/>
                <a:ext cx="1638589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134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200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5018091-A695-472F-B751-45DB21D0C4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4832" y="4557287"/>
                <a:ext cx="1638589" cy="182697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76809C6-E884-4CE2-BBB0-94BCEC14B635}"/>
                  </a:ext>
                </a:extLst>
              </p:cNvPr>
              <p:cNvSpPr txBox="1"/>
              <p:nvPr/>
            </p:nvSpPr>
            <p:spPr>
              <a:xfrm>
                <a:off x="2715169" y="4962943"/>
                <a:ext cx="2480166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66.7%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76809C6-E884-4CE2-BBB0-94BCEC14B6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5169" y="4962943"/>
                <a:ext cx="2480166" cy="101566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29407AE-DA14-460C-8E53-36F32F09B765}"/>
                  </a:ext>
                </a:extLst>
              </p:cNvPr>
              <p:cNvSpPr txBox="1"/>
              <p:nvPr/>
            </p:nvSpPr>
            <p:spPr>
              <a:xfrm>
                <a:off x="7132918" y="4962943"/>
                <a:ext cx="1369285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0.7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29407AE-DA14-460C-8E53-36F32F09B7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2918" y="4962943"/>
                <a:ext cx="1369285" cy="101566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5746150-F0FB-4B36-AE71-9BA6F53CDF66}"/>
                  </a:ext>
                </a:extLst>
              </p:cNvPr>
              <p:cNvSpPr txBox="1"/>
              <p:nvPr/>
            </p:nvSpPr>
            <p:spPr>
              <a:xfrm>
                <a:off x="1779880" y="4557287"/>
                <a:ext cx="785792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5746150-F0FB-4B36-AE71-9BA6F53CD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9880" y="4557287"/>
                <a:ext cx="785792" cy="182697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361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3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26304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65% жана 66,6% ортосундагы</a:t>
            </a:r>
            <a:endParaRPr lang="en-GB" sz="60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85165" y="314240"/>
            <a:ext cx="613571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Тартип туура бойдон калышы үчүн,</a:t>
            </a:r>
          </a:p>
          <a:p>
            <a:pPr algn="ctr"/>
            <a:r>
              <a:rPr lang="ky-KG" sz="2800" dirty="0"/>
              <a:t> кутуга кайсы пайыздык санды коебуз?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1577504" y="1605334"/>
                <a:ext cx="1311578" cy="19938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7504" y="1605334"/>
                <a:ext cx="1311578" cy="199381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7010733" y="2048244"/>
                <a:ext cx="1484702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0.6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733" y="2048244"/>
                <a:ext cx="1484702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9D4A355-C82D-4211-97B1-CF73752B813A}"/>
              </a:ext>
            </a:extLst>
          </p:cNvPr>
          <p:cNvSpPr/>
          <p:nvPr/>
        </p:nvSpPr>
        <p:spPr>
          <a:xfrm>
            <a:off x="3566068" y="1892634"/>
            <a:ext cx="1247192" cy="141921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22EDEF-379C-4BC0-BB07-B9B7FA462E06}"/>
                  </a:ext>
                </a:extLst>
              </p:cNvPr>
              <p:cNvSpPr txBox="1"/>
              <p:nvPr/>
            </p:nvSpPr>
            <p:spPr>
              <a:xfrm>
                <a:off x="5490246" y="1602033"/>
                <a:ext cx="843500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22EDEF-379C-4BC0-BB07-B9B7FA462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0246" y="1602033"/>
                <a:ext cx="843500" cy="200041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3668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8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18620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689530" y="314240"/>
            <a:ext cx="65269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800" dirty="0"/>
              <a:t>Берилген сандарды </a:t>
            </a:r>
            <a:r>
              <a:rPr lang="ru-RU" sz="2800" b="1" dirty="0"/>
              <a:t>кемүү иретинде </a:t>
            </a:r>
            <a:r>
              <a:rPr lang="ru-RU" sz="2800" dirty="0"/>
              <a:t>кой.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1618809" y="1583674"/>
                <a:ext cx="785792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8809" y="1583674"/>
                <a:ext cx="785792" cy="18269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2606705" y="2029885"/>
                <a:ext cx="2480166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12.8%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6705" y="2029885"/>
                <a:ext cx="2480166" cy="10156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5338669" y="2029885"/>
                <a:ext cx="1795683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0.09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69" y="2029885"/>
                <a:ext cx="1795683" cy="101566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82829E4-00AE-4160-9EA5-7E15EFA9BADE}"/>
                  </a:ext>
                </a:extLst>
              </p:cNvPr>
              <p:cNvSpPr txBox="1"/>
              <p:nvPr/>
            </p:nvSpPr>
            <p:spPr>
              <a:xfrm>
                <a:off x="7322833" y="1583674"/>
                <a:ext cx="1212190" cy="18269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6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82829E4-00AE-4160-9EA5-7E15EFA9B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833" y="1583674"/>
                <a:ext cx="1212190" cy="18269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A00489F-2D3D-45CD-A870-74597966BF26}"/>
                  </a:ext>
                </a:extLst>
              </p:cNvPr>
              <p:cNvSpPr txBox="1"/>
              <p:nvPr/>
            </p:nvSpPr>
            <p:spPr>
              <a:xfrm>
                <a:off x="5621398" y="4672704"/>
                <a:ext cx="724878" cy="16535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A00489F-2D3D-45CD-A870-74597966B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1398" y="4672704"/>
                <a:ext cx="724878" cy="165353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784603D-6578-4793-8EF6-542075AE75D6}"/>
                  </a:ext>
                </a:extLst>
              </p:cNvPr>
              <p:cNvSpPr txBox="1"/>
              <p:nvPr/>
            </p:nvSpPr>
            <p:spPr>
              <a:xfrm>
                <a:off x="2940935" y="5078360"/>
                <a:ext cx="2249334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12.8%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784603D-6578-4793-8EF6-542075AE75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0935" y="5078360"/>
                <a:ext cx="2249334" cy="92333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1C2D7FD-C16F-42C4-B444-6F22A21F11B6}"/>
                  </a:ext>
                </a:extLst>
              </p:cNvPr>
              <p:cNvSpPr txBox="1"/>
              <p:nvPr/>
            </p:nvSpPr>
            <p:spPr>
              <a:xfrm>
                <a:off x="6868787" y="5078360"/>
                <a:ext cx="1633781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0.09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1C2D7FD-C16F-42C4-B444-6F22A21F11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8787" y="5078360"/>
                <a:ext cx="1633781" cy="92333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E332C5C-4D78-4575-84CA-CE30E35FA05E}"/>
                  </a:ext>
                </a:extLst>
              </p:cNvPr>
              <p:cNvSpPr txBox="1"/>
              <p:nvPr/>
            </p:nvSpPr>
            <p:spPr>
              <a:xfrm>
                <a:off x="1715366" y="4672704"/>
                <a:ext cx="1107996" cy="16535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E332C5C-4D78-4575-84CA-CE30E35FA0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5366" y="4672704"/>
                <a:ext cx="1107996" cy="16535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8756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13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1632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1474177" y="4536831"/>
            <a:ext cx="6957646" cy="1957006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dirty="0">
                <a:solidFill>
                  <a:schemeClr val="tx1"/>
                </a:solidFill>
              </a:rPr>
              <a:t>86,8% жана 87,5% ортосундагы</a:t>
            </a:r>
            <a:endParaRPr lang="en-GB" sz="6000" dirty="0">
              <a:solidFill>
                <a:schemeClr val="tx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316524"/>
            <a:ext cx="6957647" cy="394774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DC7207-345A-4B4D-97D4-A526D0F408B9}"/>
              </a:ext>
            </a:extLst>
          </p:cNvPr>
          <p:cNvSpPr txBox="1"/>
          <p:nvPr/>
        </p:nvSpPr>
        <p:spPr>
          <a:xfrm>
            <a:off x="1839478" y="314240"/>
            <a:ext cx="622709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Тартип туура бойдон калышы үчүн,</a:t>
            </a:r>
          </a:p>
          <a:p>
            <a:pPr algn="ctr"/>
            <a:r>
              <a:rPr lang="ky-KG" sz="2800" dirty="0"/>
              <a:t> кутуга кайсы пайыздык санды коебуз?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/>
              <p:nvPr/>
            </p:nvSpPr>
            <p:spPr>
              <a:xfrm>
                <a:off x="3704416" y="1527109"/>
                <a:ext cx="843500" cy="20004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66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412B77C-0718-4BF3-8A7B-6522BD2790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4416" y="1527109"/>
                <a:ext cx="843500" cy="20004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/>
              <p:nvPr/>
            </p:nvSpPr>
            <p:spPr>
              <a:xfrm>
                <a:off x="6181989" y="1973320"/>
                <a:ext cx="2420856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0.868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AC45E4E-9E87-4F9C-9B95-AFE3CE10A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1989" y="1973320"/>
                <a:ext cx="2420856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/>
              <p:nvPr/>
            </p:nvSpPr>
            <p:spPr>
              <a:xfrm>
                <a:off x="1445986" y="1973320"/>
                <a:ext cx="2064989" cy="11079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600" b="0" i="1" dirty="0" smtClean="0">
                          <a:latin typeface="Cambria Math" panose="02040503050406030204" pitchFamily="18" charset="0"/>
                        </a:rPr>
                        <m:t>88%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FA3D4F5-687B-4548-84F3-84EEF3F91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5986" y="1973320"/>
                <a:ext cx="2064989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9D4A355-C82D-4211-97B1-CF73752B813A}"/>
              </a:ext>
            </a:extLst>
          </p:cNvPr>
          <p:cNvSpPr/>
          <p:nvPr/>
        </p:nvSpPr>
        <p:spPr>
          <a:xfrm>
            <a:off x="4741357" y="1817710"/>
            <a:ext cx="1247192" cy="141921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371050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8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60000"/>
            <a:lumOff val="40000"/>
          </a:schemeClr>
        </a:solidFill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type="arrow"/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8410</TotalTime>
  <Words>469</Words>
  <Application>Microsoft Office PowerPoint</Application>
  <PresentationFormat>A4 Paper (210x297 mm)</PresentationFormat>
  <Paragraphs>192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4" baseType="lpstr">
      <vt:lpstr>Calibri Light</vt:lpstr>
      <vt:lpstr>Cambria Math</vt:lpstr>
      <vt:lpstr>Arial</vt:lpstr>
      <vt:lpstr>Berlin Sans FB Demi</vt:lpstr>
      <vt:lpstr>Calibri</vt:lpstr>
      <vt:lpstr>Bernard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374</cp:revision>
  <cp:lastPrinted>2017-12-31T22:38:51Z</cp:lastPrinted>
  <dcterms:created xsi:type="dcterms:W3CDTF">2017-01-17T16:57:04Z</dcterms:created>
  <dcterms:modified xsi:type="dcterms:W3CDTF">2024-09-03T16:24:07Z</dcterms:modified>
</cp:coreProperties>
</file>