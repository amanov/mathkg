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23"/>
  </p:notesMasterIdLst>
  <p:sldIdLst>
    <p:sldId id="973" r:id="rId2"/>
    <p:sldId id="974" r:id="rId3"/>
    <p:sldId id="851" r:id="rId4"/>
    <p:sldId id="948" r:id="rId5"/>
    <p:sldId id="956" r:id="rId6"/>
    <p:sldId id="962" r:id="rId7"/>
    <p:sldId id="951" r:id="rId8"/>
    <p:sldId id="949" r:id="rId9"/>
    <p:sldId id="963" r:id="rId10"/>
    <p:sldId id="953" r:id="rId11"/>
    <p:sldId id="964" r:id="rId12"/>
    <p:sldId id="950" r:id="rId13"/>
    <p:sldId id="967" r:id="rId14"/>
    <p:sldId id="954" r:id="rId15"/>
    <p:sldId id="955" r:id="rId16"/>
    <p:sldId id="965" r:id="rId17"/>
    <p:sldId id="968" r:id="rId18"/>
    <p:sldId id="961" r:id="rId19"/>
    <p:sldId id="966" r:id="rId20"/>
    <p:sldId id="940" r:id="rId21"/>
    <p:sldId id="274" r:id="rId22"/>
  </p:sldIdLst>
  <p:sldSz cx="9906000" cy="6858000" type="A4"/>
  <p:notesSz cx="6669088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73"/>
          </p14:sldIdLst>
        </p14:section>
        <p14:section name="Титулдук слайд" id="{195A40EB-42C5-4819-BF1F-D64913D96EEB}">
          <p14:sldIdLst>
            <p14:sldId id="974"/>
          </p14:sldIdLst>
        </p14:section>
        <p14:section name="Сандарды тандаңыз…" id="{C9905531-21F4-4739-9781-312E283928B4}">
          <p14:sldIdLst>
            <p14:sldId id="851"/>
          </p14:sldIdLst>
        </p14:section>
        <p14:section name="Суроолор" id="{27E8BDD4-AEF9-42D7-8653-0FA4B14A353C}">
          <p14:sldIdLst>
            <p14:sldId id="948"/>
            <p14:sldId id="956"/>
            <p14:sldId id="962"/>
            <p14:sldId id="951"/>
            <p14:sldId id="949"/>
            <p14:sldId id="963"/>
            <p14:sldId id="953"/>
            <p14:sldId id="964"/>
            <p14:sldId id="950"/>
            <p14:sldId id="967"/>
            <p14:sldId id="954"/>
            <p14:sldId id="955"/>
            <p14:sldId id="965"/>
            <p14:sldId id="968"/>
            <p14:sldId id="961"/>
            <p14:sldId id="966"/>
          </p14:sldIdLst>
        </p14:section>
        <p14:section name="Бош торчолор" id="{6E755883-6069-420B-9780-208DEDF6E016}">
          <p14:sldIdLst>
            <p14:sldId id="940"/>
          </p14:sldIdLst>
        </p14:section>
        <p14:section name="Кайтарым байланыш" id="{F3D720CF-F566-46A6-9361-125255B68FA6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5A11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75" d="100"/>
        <a:sy n="75" d="100"/>
      </p:scale>
      <p:origin x="0" y="-366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17/09/2024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9/17/2024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9/17/2024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9/17/2024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9/17/2024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8869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9/17/2024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025EA81-A56A-F313-A57E-1902D826223E}"/>
              </a:ext>
            </a:extLst>
          </p:cNvPr>
          <p:cNvSpPr txBox="1"/>
          <p:nvPr/>
        </p:nvSpPr>
        <p:spPr>
          <a:xfrm>
            <a:off x="538480" y="1361441"/>
            <a:ext cx="8605520" cy="4431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И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жарага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атып алуу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/ 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Бөлүп төлөө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– Бинго</a:t>
            </a:r>
            <a:r>
              <a:rPr lang="ru-RU" dirty="0">
                <a:solidFill>
                  <a:prstClr val="black"/>
                </a:solidFill>
                <a:latin typeface="Calibri" panose="020F0502020204030204"/>
              </a:rPr>
              <a:t>,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жооптору менен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 тордон тогуз жоопту тандап, дептердеги 3х3 чакмакка каалагандай коюшат.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Мугалим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оюн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учурундагы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кыйынчылыкка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жараша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суроолорду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тандаса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болот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Убакыттын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өтүшүнө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жараша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сызык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X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(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бардыгы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менен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жеңе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алышат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A5549679-E227-A24B-8160-3267950C6BC5}"/>
              </a:ext>
            </a:extLst>
          </p:cNvPr>
          <p:cNvSpPr txBox="1">
            <a:spLocks/>
          </p:cNvSpPr>
          <p:nvPr/>
        </p:nvSpPr>
        <p:spPr>
          <a:xfrm>
            <a:off x="71120" y="27971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7856292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34A0ED1-3629-4CDD-A58D-B95B3284C69E}"/>
              </a:ext>
            </a:extLst>
          </p:cNvPr>
          <p:cNvGraphicFramePr>
            <a:graphicFrameLocks noGrp="1"/>
          </p:cNvGraphicFramePr>
          <p:nvPr/>
        </p:nvGraphicFramePr>
        <p:xfrm>
          <a:off x="5400040" y="495497"/>
          <a:ext cx="3896361" cy="38963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787">
                  <a:extLst>
                    <a:ext uri="{9D8B030D-6E8A-4147-A177-3AD203B41FA5}">
                      <a16:colId xmlns:a16="http://schemas.microsoft.com/office/drawing/2014/main" val="115635351"/>
                    </a:ext>
                  </a:extLst>
                </a:gridCol>
                <a:gridCol w="1298787">
                  <a:extLst>
                    <a:ext uri="{9D8B030D-6E8A-4147-A177-3AD203B41FA5}">
                      <a16:colId xmlns:a16="http://schemas.microsoft.com/office/drawing/2014/main" val="2834483198"/>
                    </a:ext>
                  </a:extLst>
                </a:gridCol>
                <a:gridCol w="1298787">
                  <a:extLst>
                    <a:ext uri="{9D8B030D-6E8A-4147-A177-3AD203B41FA5}">
                      <a16:colId xmlns:a16="http://schemas.microsoft.com/office/drawing/2014/main" val="3183003522"/>
                    </a:ext>
                  </a:extLst>
                </a:gridCol>
              </a:tblGrid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45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54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23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2735878"/>
                  </a:ext>
                </a:extLst>
              </a:tr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82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37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12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7044118"/>
                  </a:ext>
                </a:extLst>
              </a:tr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76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91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27153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A7B2AA45-FF2C-4A34-9A81-5A8EBE133E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40" y="495497"/>
            <a:ext cx="1328420" cy="13284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5FCF7CF-6A6C-4477-AEEE-930530D464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446367">
            <a:off x="6721372" y="1804985"/>
            <a:ext cx="1189215" cy="11892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A51917A-7ABA-4CF9-9A1E-DE9D9BF533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17761">
            <a:off x="8065365" y="3076658"/>
            <a:ext cx="1328420" cy="13284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58D772-7203-4047-B730-8A75F50264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17761" flipH="1" flipV="1">
            <a:off x="5322490" y="2932737"/>
            <a:ext cx="1526948" cy="15269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D5FBB59-7545-4187-BFB5-71AAC1644F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70123">
            <a:off x="6753612" y="523758"/>
            <a:ext cx="1189215" cy="118921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BF76227-595D-492B-8E21-FFB692418519}"/>
              </a:ext>
            </a:extLst>
          </p:cNvPr>
          <p:cNvSpPr/>
          <p:nvPr/>
        </p:nvSpPr>
        <p:spPr>
          <a:xfrm>
            <a:off x="0" y="297064"/>
            <a:ext cx="7221249" cy="264687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600" b="1" i="0" u="none" strike="noStrike" kern="1200" cap="none" spc="0" normalizeH="0" baseline="0" noProof="0" dirty="0">
                <a:ln w="5715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Бинго</a:t>
            </a:r>
            <a:r>
              <a:rPr kumimoji="0" lang="en-US" sz="16600" b="1" i="0" u="none" strike="noStrike" kern="1200" cap="none" spc="0" normalizeH="0" baseline="0" noProof="0" dirty="0">
                <a:ln w="5715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!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E67413-2406-441B-89DC-A1394BD34636}"/>
              </a:ext>
            </a:extLst>
          </p:cNvPr>
          <p:cNvSpPr/>
          <p:nvPr/>
        </p:nvSpPr>
        <p:spPr>
          <a:xfrm>
            <a:off x="-285453" y="4443803"/>
            <a:ext cx="9811954" cy="156966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9600" b="1" i="0" u="none" strike="noStrike" kern="1200" cap="none" spc="0" normalizeH="0" baseline="0" noProof="0" dirty="0">
                <a:ln w="3810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Бөлүп төлөө</a:t>
            </a:r>
          </a:p>
        </p:txBody>
      </p:sp>
    </p:spTree>
    <p:extLst>
      <p:ext uri="{BB962C8B-B14F-4D97-AF65-F5344CB8AC3E}">
        <p14:creationId xmlns:p14="http://schemas.microsoft.com/office/powerpoint/2010/main" val="1810214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343347"/>
              </p:ext>
            </p:extLst>
          </p:nvPr>
        </p:nvGraphicFramePr>
        <p:xfrm>
          <a:off x="292100" y="1544873"/>
          <a:ext cx="9321800" cy="358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0450">
                  <a:extLst>
                    <a:ext uri="{9D8B030D-6E8A-4147-A177-3AD203B41FA5}">
                      <a16:colId xmlns:a16="http://schemas.microsoft.com/office/drawing/2014/main" val="62045395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161216684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924408573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772295460"/>
                    </a:ext>
                  </a:extLst>
                </a:gridCol>
              </a:tblGrid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b="0" dirty="0">
                          <a:solidFill>
                            <a:schemeClr val="tx1"/>
                          </a:solidFill>
                        </a:rPr>
                        <a:t>68</a:t>
                      </a:r>
                      <a:r>
                        <a:rPr lang="en-US" sz="40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y-KG" sz="4000" b="0" dirty="0">
                          <a:solidFill>
                            <a:schemeClr val="tx1"/>
                          </a:solidFill>
                        </a:rPr>
                        <a:t>758</a:t>
                      </a:r>
                      <a:r>
                        <a:rPr lang="en-US" sz="40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b="0" dirty="0">
                          <a:solidFill>
                            <a:schemeClr val="tx1"/>
                          </a:solidFill>
                        </a:rPr>
                        <a:t>24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b="0" dirty="0">
                          <a:solidFill>
                            <a:schemeClr val="tx1"/>
                          </a:solidFill>
                        </a:rPr>
                        <a:t>6708,94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b="0" dirty="0">
                          <a:solidFill>
                            <a:schemeClr val="tx1"/>
                          </a:solidFill>
                        </a:rPr>
                        <a:t>60 827,73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58278"/>
                  </a:ext>
                </a:extLst>
              </a:tr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dirty="0"/>
                        <a:t>41 483,68</a:t>
                      </a:r>
                      <a:endParaRPr lang="en-GB" sz="4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dirty="0"/>
                        <a:t>13 976,97</a:t>
                      </a:r>
                      <a:endParaRPr lang="en-GB" sz="4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dirty="0"/>
                        <a:t>8 945,25</a:t>
                      </a:r>
                      <a:endParaRPr lang="en-GB" sz="4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dirty="0"/>
                        <a:t>2571,76</a:t>
                      </a:r>
                      <a:endParaRPr lang="en-GB" sz="4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58257"/>
                  </a:ext>
                </a:extLst>
              </a:tr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dirty="0"/>
                        <a:t>36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dirty="0"/>
                        <a:t>10 063,42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040813"/>
                  </a:ext>
                </a:extLst>
              </a:tr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dirty="0"/>
                        <a:t>1677,24</a:t>
                      </a:r>
                      <a:endParaRPr lang="en-GB" sz="4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dirty="0"/>
                        <a:t>2012,68</a:t>
                      </a:r>
                      <a:endParaRPr lang="en-GB" sz="4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dirty="0"/>
                        <a:t>36 675,59</a:t>
                      </a:r>
                      <a:endParaRPr lang="en-GB" sz="4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dirty="0"/>
                        <a:t>1341,79</a:t>
                      </a:r>
                      <a:endParaRPr lang="en-GB" sz="4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8986472"/>
                  </a:ext>
                </a:extLst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726618" y="19616"/>
            <a:ext cx="8452763" cy="110799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6600" b="1" cap="none" spc="0" dirty="0">
                <a:ln w="9525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</a:rPr>
              <a:t>Сандарды тандаңыз…</a:t>
            </a:r>
            <a:endParaRPr lang="en-US" sz="6600" b="1" cap="none" spc="0" dirty="0">
              <a:ln w="9525">
                <a:solidFill>
                  <a:sysClr val="windowText" lastClr="000000"/>
                </a:solidFill>
              </a:ln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5F6707C-594E-4BE7-9A2A-69EC69C30D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8246953"/>
              </p:ext>
            </p:extLst>
          </p:nvPr>
        </p:nvGraphicFramePr>
        <p:xfrm>
          <a:off x="5530918" y="5786675"/>
          <a:ext cx="879027" cy="8790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009">
                  <a:extLst>
                    <a:ext uri="{9D8B030D-6E8A-4147-A177-3AD203B41FA5}">
                      <a16:colId xmlns:a16="http://schemas.microsoft.com/office/drawing/2014/main" val="62045395"/>
                    </a:ext>
                  </a:extLst>
                </a:gridCol>
                <a:gridCol w="293009">
                  <a:extLst>
                    <a:ext uri="{9D8B030D-6E8A-4147-A177-3AD203B41FA5}">
                      <a16:colId xmlns:a16="http://schemas.microsoft.com/office/drawing/2014/main" val="2161216684"/>
                    </a:ext>
                  </a:extLst>
                </a:gridCol>
                <a:gridCol w="293009">
                  <a:extLst>
                    <a:ext uri="{9D8B030D-6E8A-4147-A177-3AD203B41FA5}">
                      <a16:colId xmlns:a16="http://schemas.microsoft.com/office/drawing/2014/main" val="2924408573"/>
                    </a:ext>
                  </a:extLst>
                </a:gridCol>
              </a:tblGrid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58278"/>
                  </a:ext>
                </a:extLst>
              </a:tr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58257"/>
                  </a:ext>
                </a:extLst>
              </a:tr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04081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EDEA543-F1EE-4312-B1A0-843C76004B58}"/>
              </a:ext>
            </a:extLst>
          </p:cNvPr>
          <p:cNvSpPr txBox="1"/>
          <p:nvPr/>
        </p:nvSpPr>
        <p:spPr>
          <a:xfrm>
            <a:off x="1444752" y="6041522"/>
            <a:ext cx="40051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Китепке/дептерге 3х3 торчо тартыңыз.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436885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52645" y="3619360"/>
            <a:ext cx="6200736" cy="26108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sz="2800" dirty="0"/>
              <a:t>Жалпы наркы = 68</a:t>
            </a:r>
            <a:r>
              <a:rPr lang="en-US" sz="2800" dirty="0"/>
              <a:t> </a:t>
            </a:r>
            <a:r>
              <a:rPr lang="ky-KG" sz="2800" dirty="0"/>
              <a:t>758</a:t>
            </a:r>
            <a:r>
              <a:rPr lang="en-US" sz="2800" dirty="0"/>
              <a:t> </a:t>
            </a:r>
            <a:r>
              <a:rPr lang="ky-KG" sz="2800" dirty="0"/>
              <a:t>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Депозит = 8386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жана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12 айлык бөлүп төлөө, айына 5031</a:t>
            </a:r>
            <a:r>
              <a:rPr lang="en-US" sz="2800" dirty="0"/>
              <a:t> </a:t>
            </a:r>
            <a:r>
              <a:rPr lang="ky-KG" sz="2800" dirty="0"/>
              <a:t>сом</a:t>
            </a:r>
            <a:endParaRPr lang="en-GB" sz="28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E6EAD8A-836E-469C-9B39-29F5D964F0FB}"/>
              </a:ext>
            </a:extLst>
          </p:cNvPr>
          <p:cNvSpPr/>
          <p:nvPr/>
        </p:nvSpPr>
        <p:spPr>
          <a:xfrm>
            <a:off x="5298279" y="3759096"/>
            <a:ext cx="1088263" cy="53320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?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F734ABF-2C33-4C75-BB8D-C51A5F98FF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3161" y="196770"/>
            <a:ext cx="5149128" cy="3435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6439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313395" y="3619360"/>
            <a:ext cx="7279237" cy="26108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sz="2800" dirty="0"/>
              <a:t>Жалпы наркы = 34 664,8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Депозит = 7827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жана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20 айлык бөлүп төлөө, айына 1341,79 сомдон</a:t>
            </a:r>
            <a:endParaRPr lang="en-GB" sz="28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E6EAD8A-836E-469C-9B39-29F5D964F0FB}"/>
              </a:ext>
            </a:extLst>
          </p:cNvPr>
          <p:cNvSpPr/>
          <p:nvPr/>
        </p:nvSpPr>
        <p:spPr>
          <a:xfrm>
            <a:off x="6083242" y="5684019"/>
            <a:ext cx="1150677" cy="53320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994F4E5-DC4A-4FF6-990D-EADDA5B9F18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208" b="6424"/>
          <a:stretch/>
        </p:blipFill>
        <p:spPr>
          <a:xfrm>
            <a:off x="3390565" y="194086"/>
            <a:ext cx="3124869" cy="3648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7770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738834" y="3619360"/>
            <a:ext cx="6428363" cy="26108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sz="2800" dirty="0"/>
              <a:t>Жалпы наркы = 16 772,38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Депозит = 6708,94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жана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18 айлык бөлүп төлөө 559,08 сом  айына</a:t>
            </a:r>
            <a:endParaRPr lang="en-GB" sz="28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E6EAD8A-836E-469C-9B39-29F5D964F0FB}"/>
              </a:ext>
            </a:extLst>
          </p:cNvPr>
          <p:cNvSpPr/>
          <p:nvPr/>
        </p:nvSpPr>
        <p:spPr>
          <a:xfrm>
            <a:off x="4824526" y="4391576"/>
            <a:ext cx="1198880" cy="53320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2144C5D-8185-49FC-BECE-9482D76C4A0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488" b="9872"/>
          <a:stretch/>
        </p:blipFill>
        <p:spPr>
          <a:xfrm>
            <a:off x="2761493" y="149469"/>
            <a:ext cx="4383014" cy="3534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183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AA883E1-4C75-43C3-B4C9-B5EC15C38E1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953" r="21129"/>
          <a:stretch/>
        </p:blipFill>
        <p:spPr>
          <a:xfrm>
            <a:off x="2372811" y="171088"/>
            <a:ext cx="5021102" cy="3428638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606585" y="3619360"/>
            <a:ext cx="6692859" cy="26108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sz="2800" dirty="0"/>
              <a:t>Жалпы наркы = 39 135,58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Депозит = 8945,26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жана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18 айлык бөлүп төлөө 1677,24  сом айына </a:t>
            </a:r>
            <a:endParaRPr lang="en-GB" sz="28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E6EAD8A-836E-469C-9B39-29F5D964F0FB}"/>
              </a:ext>
            </a:extLst>
          </p:cNvPr>
          <p:cNvSpPr/>
          <p:nvPr/>
        </p:nvSpPr>
        <p:spPr>
          <a:xfrm>
            <a:off x="5169376" y="5696998"/>
            <a:ext cx="1200944" cy="53320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183107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647463" y="3619360"/>
            <a:ext cx="6611105" cy="26108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sz="2800" dirty="0"/>
              <a:t>Жалпы наркы = 47 521,67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Депозит = 13 976,97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жана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10 айлык бөлүп төлөө 3354,47 сом айына</a:t>
            </a:r>
            <a:endParaRPr lang="en-GB" sz="28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E6EAD8A-836E-469C-9B39-29F5D964F0FB}"/>
              </a:ext>
            </a:extLst>
          </p:cNvPr>
          <p:cNvSpPr/>
          <p:nvPr/>
        </p:nvSpPr>
        <p:spPr>
          <a:xfrm>
            <a:off x="4766437" y="4425417"/>
            <a:ext cx="1383712" cy="53320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708722-53F3-49ED-A701-92BF542FE3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8999" y="164915"/>
            <a:ext cx="4035285" cy="3522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9057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688340" y="3619360"/>
            <a:ext cx="6529352" cy="26108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sz="2800" dirty="0"/>
              <a:t>Жалпы наркы = 76 929,11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Депозит = 4472,63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Жана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36 айлык бөлүп төлөө 2012,68 сом айына</a:t>
            </a:r>
            <a:endParaRPr lang="en-GB" sz="28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E6EAD8A-836E-469C-9B39-29F5D964F0FB}"/>
              </a:ext>
            </a:extLst>
          </p:cNvPr>
          <p:cNvSpPr/>
          <p:nvPr/>
        </p:nvSpPr>
        <p:spPr>
          <a:xfrm>
            <a:off x="1381089" y="5696998"/>
            <a:ext cx="844062" cy="53320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C6E935-B724-4A69-B02A-85C5C419A1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1092" y="254976"/>
            <a:ext cx="3563815" cy="356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264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C69C39-91F8-4318-BFCD-51D387119E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6098" y="69669"/>
            <a:ext cx="5393803" cy="3594762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628227" y="3619360"/>
            <a:ext cx="6649577" cy="26108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sz="2800" dirty="0"/>
              <a:t>Жалпы наркы = 60 827,73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Депозит = 11 181,57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жана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12 Айлык Бөлүп төлөө 4137,18  сом айына</a:t>
            </a:r>
            <a:endParaRPr lang="en-GB" sz="28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E6EAD8A-836E-469C-9B39-29F5D964F0FB}"/>
              </a:ext>
            </a:extLst>
          </p:cNvPr>
          <p:cNvSpPr/>
          <p:nvPr/>
        </p:nvSpPr>
        <p:spPr>
          <a:xfrm>
            <a:off x="5138818" y="3769025"/>
            <a:ext cx="1414382" cy="53320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727080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688338" y="3619360"/>
            <a:ext cx="6529352" cy="26108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sz="2800" dirty="0"/>
              <a:t>Жалпы наркы = 102 758,51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Депозит = 6149,87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жана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48 айлык бөлүп төлөө 2012,68 сом айына</a:t>
            </a:r>
            <a:endParaRPr lang="en-GB" sz="28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E6EAD8A-836E-469C-9B39-29F5D964F0FB}"/>
              </a:ext>
            </a:extLst>
          </p:cNvPr>
          <p:cNvSpPr/>
          <p:nvPr/>
        </p:nvSpPr>
        <p:spPr>
          <a:xfrm>
            <a:off x="5174416" y="5716648"/>
            <a:ext cx="1246704" cy="53320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C28CEB6-F3BE-49BB-B9EC-AC6D7EA1B9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8757" y="210875"/>
            <a:ext cx="3408485" cy="3408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2705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F73C6F7-7700-4910-954D-03F33DFB1C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4831" y="29186"/>
            <a:ext cx="4256337" cy="3775370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606581" y="3619360"/>
            <a:ext cx="6692859" cy="26108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sz="2800" dirty="0"/>
              <a:t>Жалпы наркы = 72 680,15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Депозит = 5590,79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Жана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24 айлык бөлүп төлөө 2795,39  сом айына </a:t>
            </a:r>
            <a:endParaRPr lang="en-GB" sz="28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E6EAD8A-836E-469C-9B39-29F5D964F0FB}"/>
              </a:ext>
            </a:extLst>
          </p:cNvPr>
          <p:cNvSpPr/>
          <p:nvPr/>
        </p:nvSpPr>
        <p:spPr>
          <a:xfrm>
            <a:off x="1267485" y="5696998"/>
            <a:ext cx="844062" cy="53320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595745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602579" y="3619360"/>
            <a:ext cx="6700873" cy="26108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sz="2800" dirty="0"/>
              <a:t>Жалпы наркы = 90 570,73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Депозит = 12 299,73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жана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20 айлык бөлүп төлөө, 3913,55  сом айына</a:t>
            </a:r>
            <a:endParaRPr lang="en-GB" sz="28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E6EAD8A-836E-469C-9B39-29F5D964F0FB}"/>
              </a:ext>
            </a:extLst>
          </p:cNvPr>
          <p:cNvSpPr/>
          <p:nvPr/>
        </p:nvSpPr>
        <p:spPr>
          <a:xfrm>
            <a:off x="1275203" y="5696998"/>
            <a:ext cx="844062" cy="53320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B7F1645-01DE-4FDC-AF52-C08E68DA7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7622" y="198729"/>
            <a:ext cx="3590756" cy="3590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4077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6BBDA65-7D31-4D63-B6C6-A0A3265EDE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4972" y="69669"/>
            <a:ext cx="5674819" cy="3763540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779710" y="3619360"/>
            <a:ext cx="6346609" cy="26108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sz="2800" dirty="0"/>
              <a:t>Жалпы наркы = 26 388,51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Депозит = 8 945,25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жана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6 айлык бөлүп төлөө 2907,21 сом айына</a:t>
            </a:r>
            <a:endParaRPr lang="en-GB" sz="28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E6EAD8A-836E-469C-9B39-29F5D964F0FB}"/>
              </a:ext>
            </a:extLst>
          </p:cNvPr>
          <p:cNvSpPr/>
          <p:nvPr/>
        </p:nvSpPr>
        <p:spPr>
          <a:xfrm>
            <a:off x="4786208" y="4391576"/>
            <a:ext cx="1287762" cy="53320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283185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653073" y="3619360"/>
            <a:ext cx="6599884" cy="26108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sz="2800" dirty="0"/>
              <a:t>Жалпы наркы = 40 253,79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Депозит = 13 417,89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жана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30 айлык бөлүп төлөө, 894,53 сом  айына</a:t>
            </a:r>
            <a:endParaRPr lang="en-GB" sz="28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E6EAD8A-836E-469C-9B39-29F5D964F0FB}"/>
              </a:ext>
            </a:extLst>
          </p:cNvPr>
          <p:cNvSpPr/>
          <p:nvPr/>
        </p:nvSpPr>
        <p:spPr>
          <a:xfrm>
            <a:off x="1312292" y="5696998"/>
            <a:ext cx="844062" cy="53320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AFB298-9ECE-43B9-A0B0-2947EC2785C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4349" r="33787"/>
          <a:stretch/>
        </p:blipFill>
        <p:spPr>
          <a:xfrm>
            <a:off x="4060518" y="140208"/>
            <a:ext cx="1784963" cy="3719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028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643453" y="3619360"/>
            <a:ext cx="6619120" cy="26108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sz="2800" dirty="0"/>
              <a:t>Жалпы наркы = 41 483,68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Депозит = 7268,02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жана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18 айлык бөлүп төлөө, 1900,87 сом айына</a:t>
            </a:r>
            <a:endParaRPr lang="en-GB" sz="2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F81FA7-E8E9-4D0A-BDA3-C9C3B6B29FB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139" r="37569"/>
          <a:stretch/>
        </p:blipFill>
        <p:spPr>
          <a:xfrm>
            <a:off x="4163095" y="186593"/>
            <a:ext cx="1579809" cy="3664438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E6EAD8A-836E-469C-9B39-29F5D964F0FB}"/>
              </a:ext>
            </a:extLst>
          </p:cNvPr>
          <p:cNvSpPr/>
          <p:nvPr/>
        </p:nvSpPr>
        <p:spPr>
          <a:xfrm>
            <a:off x="5111679" y="3779715"/>
            <a:ext cx="1407219" cy="53320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983878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E75F9A6-B889-472C-AB1F-FD90CB0E063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5832" r="29239"/>
          <a:stretch/>
        </p:blipFill>
        <p:spPr>
          <a:xfrm>
            <a:off x="3991708" y="105508"/>
            <a:ext cx="1661746" cy="3698631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629026" y="3619360"/>
            <a:ext cx="6647975" cy="26108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sz="2800" dirty="0"/>
              <a:t>Жалпы наркы = 97 615,07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Депозит = 5031,71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жана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36 айлык бөлүп төлөө, 2571,76 сом айына</a:t>
            </a:r>
            <a:endParaRPr lang="en-GB" sz="28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E6EAD8A-836E-469C-9B39-29F5D964F0FB}"/>
              </a:ext>
            </a:extLst>
          </p:cNvPr>
          <p:cNvSpPr/>
          <p:nvPr/>
        </p:nvSpPr>
        <p:spPr>
          <a:xfrm>
            <a:off x="5221262" y="5696998"/>
            <a:ext cx="1250657" cy="53320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0619453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2409BFF-8A8D-4660-8157-64112BC066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8600" y="260526"/>
            <a:ext cx="3508800" cy="3508800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602578" y="3619360"/>
            <a:ext cx="6700873" cy="26108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sz="2800" dirty="0"/>
              <a:t>Жалпы наркы = 36 675,59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Депозит = 4472,63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плюс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12 айлык бөлүп төлөө, 2683,58  сом айына</a:t>
            </a:r>
            <a:endParaRPr lang="en-GB" sz="28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E6EAD8A-836E-469C-9B39-29F5D964F0FB}"/>
              </a:ext>
            </a:extLst>
          </p:cNvPr>
          <p:cNvSpPr/>
          <p:nvPr/>
        </p:nvSpPr>
        <p:spPr>
          <a:xfrm>
            <a:off x="5132600" y="3769326"/>
            <a:ext cx="1366792" cy="53320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280705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88C8F25-9940-415E-BB69-B5157F377B0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6846" t="11282" r="27131" b="12051"/>
          <a:stretch/>
        </p:blipFill>
        <p:spPr>
          <a:xfrm>
            <a:off x="4136278" y="87923"/>
            <a:ext cx="1633443" cy="3631223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602578" y="3619360"/>
            <a:ext cx="6700873" cy="26108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sz="2800" dirty="0"/>
              <a:t>Жалпы наркы = 44 949,93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Депозит = 10 063,42 сом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жана</a:t>
            </a:r>
          </a:p>
          <a:p>
            <a:pPr algn="ctr">
              <a:lnSpc>
                <a:spcPct val="150000"/>
              </a:lnSpc>
            </a:pPr>
            <a:r>
              <a:rPr lang="ky-KG" sz="2800" dirty="0"/>
              <a:t>12 айлык бөлүп төлөө, 2907,21  сом айына</a:t>
            </a:r>
            <a:endParaRPr lang="en-GB" sz="28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E6EAD8A-836E-469C-9B39-29F5D964F0FB}"/>
              </a:ext>
            </a:extLst>
          </p:cNvPr>
          <p:cNvSpPr/>
          <p:nvPr/>
        </p:nvSpPr>
        <p:spPr>
          <a:xfrm>
            <a:off x="4695859" y="4391576"/>
            <a:ext cx="1443483" cy="53320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57880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455F9FF-A775-44DB-99DD-42DDB47487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2929352"/>
              </p:ext>
            </p:extLst>
          </p:nvPr>
        </p:nvGraphicFramePr>
        <p:xfrm>
          <a:off x="59945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AD8C36C-2AB2-44CF-BF97-992F65F82F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1891624"/>
              </p:ext>
            </p:extLst>
          </p:nvPr>
        </p:nvGraphicFramePr>
        <p:xfrm>
          <a:off x="2042419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2773A22-7D82-4A6C-9386-8C73822F86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8005975"/>
              </p:ext>
            </p:extLst>
          </p:nvPr>
        </p:nvGraphicFramePr>
        <p:xfrm>
          <a:off x="4024893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ACA04EB-1AF0-4BA4-B56C-D92E4B8FC6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737508"/>
              </p:ext>
            </p:extLst>
          </p:nvPr>
        </p:nvGraphicFramePr>
        <p:xfrm>
          <a:off x="6007367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DD0CEA2-BF13-4F1F-BDF8-723774394B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2065140"/>
              </p:ext>
            </p:extLst>
          </p:nvPr>
        </p:nvGraphicFramePr>
        <p:xfrm>
          <a:off x="7989841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217ECC1-187E-45C6-AAD9-69FCF451F4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9819278"/>
              </p:ext>
            </p:extLst>
          </p:nvPr>
        </p:nvGraphicFramePr>
        <p:xfrm>
          <a:off x="59945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8F2A369-4849-4D8C-9C48-42AC19EAC6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3002619"/>
              </p:ext>
            </p:extLst>
          </p:nvPr>
        </p:nvGraphicFramePr>
        <p:xfrm>
          <a:off x="2042419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CC34FD8-28B7-4290-89FF-C844EE6A1A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619173"/>
              </p:ext>
            </p:extLst>
          </p:nvPr>
        </p:nvGraphicFramePr>
        <p:xfrm>
          <a:off x="4024893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EE0B481-E5E6-4A56-A167-F7909231AE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741186"/>
              </p:ext>
            </p:extLst>
          </p:nvPr>
        </p:nvGraphicFramePr>
        <p:xfrm>
          <a:off x="6007367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04524C6-1AA7-41E4-A1BD-52B735BCF1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8690728"/>
              </p:ext>
            </p:extLst>
          </p:nvPr>
        </p:nvGraphicFramePr>
        <p:xfrm>
          <a:off x="7989841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D378E7F-888B-451D-A437-1143E900F4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2700732"/>
              </p:ext>
            </p:extLst>
          </p:nvPr>
        </p:nvGraphicFramePr>
        <p:xfrm>
          <a:off x="59945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D9438F2-5F7B-453A-9852-A5D953E267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7154783"/>
              </p:ext>
            </p:extLst>
          </p:nvPr>
        </p:nvGraphicFramePr>
        <p:xfrm>
          <a:off x="2042419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8E97513C-7184-48FD-B483-FD49969CA2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9329546"/>
              </p:ext>
            </p:extLst>
          </p:nvPr>
        </p:nvGraphicFramePr>
        <p:xfrm>
          <a:off x="4024893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4FE2DA72-78F4-437E-AA8B-E7D5DF47D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355289"/>
              </p:ext>
            </p:extLst>
          </p:nvPr>
        </p:nvGraphicFramePr>
        <p:xfrm>
          <a:off x="6007367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6BB7F846-3757-45E8-B86C-628E47A78F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4402805"/>
              </p:ext>
            </p:extLst>
          </p:nvPr>
        </p:nvGraphicFramePr>
        <p:xfrm>
          <a:off x="7989841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88449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838" y="975360"/>
            <a:ext cx="9052242" cy="4754563"/>
          </a:xfrm>
        </p:spPr>
        <p:txBody>
          <a:bodyPr>
            <a:normAutofit fontScale="92500" lnSpcReduction="20000"/>
          </a:bodyPr>
          <a:lstStyle/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en-US" dirty="0">
                <a:solidFill>
                  <a:srgbClr val="FF0000"/>
                </a:solidFill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8842</TotalTime>
  <Words>437</Words>
  <Application>Microsoft Office PowerPoint</Application>
  <PresentationFormat>A4 Paper (210x297 mm)</PresentationFormat>
  <Paragraphs>131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 Light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403</cp:revision>
  <cp:lastPrinted>2017-12-31T22:38:51Z</cp:lastPrinted>
  <dcterms:created xsi:type="dcterms:W3CDTF">2017-01-17T16:57:04Z</dcterms:created>
  <dcterms:modified xsi:type="dcterms:W3CDTF">2024-09-17T04:27:59Z</dcterms:modified>
</cp:coreProperties>
</file>