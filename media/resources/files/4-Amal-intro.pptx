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56" r:id="rId3"/>
    <p:sldId id="258" r:id="rId4"/>
    <p:sldId id="259" r:id="rId5"/>
    <p:sldId id="260" r:id="rId6"/>
    <p:sldId id="268" r:id="rId7"/>
    <p:sldId id="262" r:id="rId8"/>
    <p:sldId id="261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56"/>
            <p14:sldId id="258"/>
            <p14:sldId id="259"/>
            <p14:sldId id="260"/>
            <p14:sldId id="268"/>
            <p14:sldId id="262"/>
            <p14:sldId id="261"/>
            <p14:sldId id="263"/>
            <p14:sldId id="264"/>
            <p14:sldId id="265"/>
            <p14:sldId id="266"/>
            <p14:sldId id="269"/>
            <p14:sldId id="270"/>
            <p14:sldId id="271"/>
            <p14:sldId id="272"/>
          </p14:sldIdLst>
        </p14:section>
        <p14:section name="Үйрөнүү үчүн баалоо" id="{0B64BAAD-0206-4895-981B-4525EFB713B8}">
          <p14:sldIdLst>
            <p14:sldId id="273"/>
          </p14:sldIdLst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12/12/2023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12/12/2023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12/12/2023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12/12/2023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12/12/2023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03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667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822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23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8999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981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56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9442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12/12/2023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12/12/2023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  <p:sldLayoutId id="2147484052" r:id="rId19"/>
    <p:sldLayoutId id="2147484053" r:id="rId20"/>
    <p:sldLayoutId id="2147484054" r:id="rId21"/>
    <p:sldLayoutId id="2147484018" r:id="rId2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3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2.png"/><Relationship Id="rId7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6.png"/><Relationship Id="rId5" Type="http://schemas.openxmlformats.org/officeDocument/2006/relationships/image" Target="../media/image14.png"/><Relationship Id="rId10" Type="http://schemas.openxmlformats.org/officeDocument/2006/relationships/image" Target="../media/image49.png"/><Relationship Id="rId4" Type="http://schemas.openxmlformats.org/officeDocument/2006/relationships/image" Target="../media/image13.pn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2.png"/><Relationship Id="rId7" Type="http://schemas.openxmlformats.org/officeDocument/2006/relationships/image" Target="../media/image38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2.png"/><Relationship Id="rId4" Type="http://schemas.openxmlformats.org/officeDocument/2006/relationships/image" Target="../media/image13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8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55.png"/><Relationship Id="rId4" Type="http://schemas.openxmlformats.org/officeDocument/2006/relationships/image" Target="../media/image13.png"/><Relationship Id="rId9" Type="http://schemas.openxmlformats.org/officeDocument/2006/relationships/image" Target="../media/image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2.png"/><Relationship Id="rId7" Type="http://schemas.openxmlformats.org/officeDocument/2006/relationships/image" Target="../media/image4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48.png"/><Relationship Id="rId5" Type="http://schemas.openxmlformats.org/officeDocument/2006/relationships/image" Target="../media/image38.png"/><Relationship Id="rId10" Type="http://schemas.openxmlformats.org/officeDocument/2006/relationships/image" Target="../media/image47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2.png"/><Relationship Id="rId7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1.png"/><Relationship Id="rId5" Type="http://schemas.openxmlformats.org/officeDocument/2006/relationships/image" Target="../media/image3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2.png"/><Relationship Id="rId7" Type="http://schemas.openxmlformats.org/officeDocument/2006/relationships/image" Target="../media/image57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5" Type="http://schemas.openxmlformats.org/officeDocument/2006/relationships/image" Target="../media/image38.png"/><Relationship Id="rId10" Type="http://schemas.openxmlformats.org/officeDocument/2006/relationships/image" Target="../media/image60.png"/><Relationship Id="rId4" Type="http://schemas.openxmlformats.org/officeDocument/2006/relationships/image" Target="../media/image13.pn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12" Type="http://schemas.openxmlformats.org/officeDocument/2006/relationships/image" Target="../media/image64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11" Type="http://schemas.openxmlformats.org/officeDocument/2006/relationships/image" Target="../media/image63.png"/><Relationship Id="rId5" Type="http://schemas.openxmlformats.org/officeDocument/2006/relationships/image" Target="../media/image38.png"/><Relationship Id="rId10" Type="http://schemas.openxmlformats.org/officeDocument/2006/relationships/image" Target="../media/image60.png"/><Relationship Id="rId4" Type="http://schemas.openxmlformats.org/officeDocument/2006/relationships/image" Target="../media/image13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2.png"/><Relationship Id="rId7" Type="http://schemas.openxmlformats.org/officeDocument/2006/relationships/image" Target="../media/image6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6.png"/><Relationship Id="rId5" Type="http://schemas.openxmlformats.org/officeDocument/2006/relationships/image" Target="../media/image38.png"/><Relationship Id="rId10" Type="http://schemas.openxmlformats.org/officeDocument/2006/relationships/image" Target="../media/image67.png"/><Relationship Id="rId4" Type="http://schemas.openxmlformats.org/officeDocument/2006/relationships/image" Target="../media/image13.png"/><Relationship Id="rId9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12.png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13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 </a:t>
            </a:r>
            <a:r>
              <a:rPr lang="ru-RU" dirty="0"/>
              <a:t>Сабак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ыкманы жандуу көрсөтөт.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sz="2800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i="0" dirty="0">
                <a:solidFill>
                  <a:srgbClr val="FF0000"/>
                </a:solidFill>
                <a:effectLst/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Picture 146" descr="A cartoon character holding a phone&#10;&#10;Description automatically generated with medium confidence">
            <a:extLst>
              <a:ext uri="{FF2B5EF4-FFF2-40B4-BE49-F238E27FC236}">
                <a16:creationId xmlns:a16="http://schemas.microsoft.com/office/drawing/2014/main" id="{07C6BA0E-FA73-4FB4-EB38-0231EB6C1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518789"/>
            <a:ext cx="3420004" cy="3002930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CF1D30B1-6D17-EC5A-B76B-40DE25460C47}"/>
              </a:ext>
            </a:extLst>
          </p:cNvPr>
          <p:cNvSpPr txBox="1"/>
          <p:nvPr/>
        </p:nvSpPr>
        <p:spPr>
          <a:xfrm>
            <a:off x="1023400" y="2369157"/>
            <a:ext cx="1663076" cy="747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61223">
              <a:spcAft>
                <a:spcPts val="582"/>
              </a:spcAft>
            </a:pPr>
            <a:r>
              <a:rPr lang="ky-KG" sz="4268" b="1" kern="1200"/>
              <a:t>=25</a:t>
            </a:r>
            <a:endParaRPr lang="en-US" sz="4000" b="1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7B4C52C-9A99-32A6-7CCC-654939072AEA}"/>
              </a:ext>
            </a:extLst>
          </p:cNvPr>
          <p:cNvSpPr txBox="1"/>
          <p:nvPr/>
        </p:nvSpPr>
        <p:spPr>
          <a:xfrm>
            <a:off x="4890509" y="1430567"/>
            <a:ext cx="2406070" cy="129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61223">
              <a:lnSpc>
                <a:spcPct val="150000"/>
              </a:lnSpc>
              <a:spcAft>
                <a:spcPts val="582"/>
              </a:spcAft>
            </a:pPr>
            <a:r>
              <a:rPr lang="en-US" sz="5820" b="1" kern="1200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2+3*5</a:t>
            </a:r>
            <a:endParaRPr lang="en-US" sz="6000" b="1" dirty="0">
              <a:solidFill>
                <a:srgbClr val="FF0000"/>
              </a:solidFill>
              <a:effectLst>
                <a:glow rad="1282700">
                  <a:srgbClr val="FFFF00">
                    <a:alpha val="95000"/>
                  </a:srgbClr>
                </a:glow>
                <a:outerShdw blurRad="1270000" dist="38100" dir="18420000" sx="200000" sy="200000" algn="tl">
                  <a:srgbClr val="000000">
                    <a:alpha val="0"/>
                  </a:srgbClr>
                </a:outerShdw>
                <a:reflection endPos="0" dist="50800" dir="5400000" sy="-100000" algn="bl" rotWithShape="0"/>
              </a:effectLst>
            </a:endParaRPr>
          </a:p>
        </p:txBody>
      </p:sp>
      <p:pic>
        <p:nvPicPr>
          <p:cNvPr id="153" name="Picture 152" descr="A cartoon of a child raising his hand&#10;&#10;Description automatically generated with medium confidence">
            <a:extLst>
              <a:ext uri="{FF2B5EF4-FFF2-40B4-BE49-F238E27FC236}">
                <a16:creationId xmlns:a16="http://schemas.microsoft.com/office/drawing/2014/main" id="{04B07E5F-DF0E-CB00-6A50-81E7648B3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797" y="1156907"/>
            <a:ext cx="4008736" cy="4459057"/>
          </a:xfrm>
          <a:prstGeom prst="rect">
            <a:avLst/>
          </a:prstGeom>
        </p:spPr>
      </p:pic>
      <p:sp>
        <p:nvSpPr>
          <p:cNvPr id="154" name="TextBox 153">
            <a:extLst>
              <a:ext uri="{FF2B5EF4-FFF2-40B4-BE49-F238E27FC236}">
                <a16:creationId xmlns:a16="http://schemas.microsoft.com/office/drawing/2014/main" id="{B042EA8D-F642-0F75-D815-546D11632C73}"/>
              </a:ext>
            </a:extLst>
          </p:cNvPr>
          <p:cNvSpPr txBox="1"/>
          <p:nvPr/>
        </p:nvSpPr>
        <p:spPr>
          <a:xfrm>
            <a:off x="8870317" y="1518789"/>
            <a:ext cx="997389" cy="7491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61223">
              <a:spcAft>
                <a:spcPts val="582"/>
              </a:spcAft>
            </a:pPr>
            <a:r>
              <a:rPr lang="en-US" sz="4035" b="1" kern="1200">
                <a:latin typeface="+mn-lt"/>
                <a:ea typeface="+mn-ea"/>
                <a:cs typeface="+mn-cs"/>
              </a:rPr>
              <a:t>=</a:t>
            </a:r>
            <a:r>
              <a:rPr lang="en-US" sz="4268" b="1" kern="1200"/>
              <a:t>17</a:t>
            </a:r>
            <a:endParaRPr lang="en-US" sz="4000" b="1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5D65A5A2-1476-916A-41C9-0BB0D7A93CF8}"/>
              </a:ext>
            </a:extLst>
          </p:cNvPr>
          <p:cNvSpPr txBox="1"/>
          <p:nvPr/>
        </p:nvSpPr>
        <p:spPr>
          <a:xfrm>
            <a:off x="643467" y="4893757"/>
            <a:ext cx="6945716" cy="8073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defTabSz="443484">
              <a:spcAft>
                <a:spcPts val="600"/>
              </a:spcAft>
            </a:pPr>
            <a:r>
              <a:rPr lang="ru-RU" sz="3492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ким туура деп </a:t>
            </a:r>
            <a:r>
              <a:rPr lang="ru-RU" sz="4656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ойлойсуз</a:t>
            </a:r>
            <a:r>
              <a:rPr lang="ru-RU" sz="3492" b="1" kern="1200" dirty="0">
                <a:ln>
                  <a:solidFill>
                    <a:schemeClr val="tx1">
                      <a:lumMod val="65000"/>
                    </a:schemeClr>
                  </a:solidFill>
                </a:ln>
                <a:solidFill>
                  <a:schemeClr val="tx1"/>
                </a:solidFill>
              </a:rPr>
              <a:t>?</a:t>
            </a:r>
            <a:endParaRPr lang="en-US" sz="3600" b="1" dirty="0">
              <a:ln>
                <a:solidFill>
                  <a:schemeClr val="tx1">
                    <a:lumMod val="65000"/>
                  </a:schemeClr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356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6EAF5-F260-A839-C5BA-10FFA5FC7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8869"/>
            <a:ext cx="8946541" cy="3630332"/>
          </a:xfrm>
        </p:spPr>
        <p:txBody>
          <a:bodyPr/>
          <a:lstStyle/>
          <a:p>
            <a:r>
              <a:rPr lang="ru-RU" dirty="0"/>
              <a:t>Бул эсептөөдө бизде эки операция бар.</a:t>
            </a:r>
          </a:p>
          <a:p>
            <a:pPr lvl="1"/>
            <a:r>
              <a:rPr lang="ru-RU" sz="2800" b="1" dirty="0">
                <a:solidFill>
                  <a:srgbClr val="FF0000"/>
                </a:solidFill>
              </a:rPr>
              <a:t>кошуу</a:t>
            </a:r>
          </a:p>
          <a:p>
            <a:pPr lvl="1"/>
            <a:r>
              <a:rPr lang="ru-RU" sz="2800" b="1" dirty="0">
                <a:solidFill>
                  <a:srgbClr val="FF0000"/>
                </a:solidFill>
              </a:rPr>
              <a:t>көбөйтүү</a:t>
            </a:r>
          </a:p>
          <a:p>
            <a:r>
              <a:rPr lang="ru-RU" dirty="0"/>
              <a:t>Математикалык эрежелерибизге ылайык, </a:t>
            </a:r>
            <a:endParaRPr lang="en-US" dirty="0"/>
          </a:p>
          <a:p>
            <a:pPr marL="0" indent="0">
              <a:buNone/>
            </a:pPr>
            <a:r>
              <a:rPr lang="ru-RU" sz="3600" b="1" dirty="0">
                <a:solidFill>
                  <a:srgbClr val="FF0000"/>
                </a:solidFill>
              </a:rPr>
              <a:t>кошуудан мурун</a:t>
            </a:r>
            <a:r>
              <a:rPr lang="en-US" sz="3600" b="1" dirty="0">
                <a:solidFill>
                  <a:srgbClr val="FF0000"/>
                </a:solidFill>
                <a:latin typeface="Abadi" panose="020B0604020104020204" pitchFamily="34" charset="0"/>
              </a:rPr>
              <a:t>,</a:t>
            </a:r>
          </a:p>
          <a:p>
            <a:pPr marL="0" indent="0">
              <a:buNone/>
            </a:pPr>
            <a:r>
              <a:rPr lang="ru-RU" sz="3600" b="1" dirty="0">
                <a:solidFill>
                  <a:srgbClr val="FF0000"/>
                </a:solidFill>
              </a:rPr>
              <a:t> көбөйтүү керек</a:t>
            </a:r>
            <a:r>
              <a:rPr lang="ru-RU" sz="3600" dirty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7D548-2CF2-A98A-6CFF-6446AD9D7894}"/>
              </a:ext>
            </a:extLst>
          </p:cNvPr>
          <p:cNvSpPr txBox="1"/>
          <p:nvPr/>
        </p:nvSpPr>
        <p:spPr>
          <a:xfrm>
            <a:off x="3759053" y="3367108"/>
            <a:ext cx="1788307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2+3*5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35442A-2733-DF05-23C2-9B773FC4AA76}"/>
              </a:ext>
            </a:extLst>
          </p:cNvPr>
          <p:cNvSpPr txBox="1"/>
          <p:nvPr/>
        </p:nvSpPr>
        <p:spPr>
          <a:xfrm>
            <a:off x="3830320" y="4537282"/>
            <a:ext cx="6096000" cy="75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2+15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07715-08C8-D6EC-3953-E6F8B0E17F28}"/>
              </a:ext>
            </a:extLst>
          </p:cNvPr>
          <p:cNvSpPr txBox="1"/>
          <p:nvPr/>
        </p:nvSpPr>
        <p:spPr>
          <a:xfrm>
            <a:off x="4103685" y="5527179"/>
            <a:ext cx="6096000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75488">
              <a:lnSpc>
                <a:spcPct val="150000"/>
              </a:lnSpc>
              <a:spcAft>
                <a:spcPts val="600"/>
              </a:spcAft>
            </a:pPr>
            <a:r>
              <a:rPr lang="en-US" sz="3600" b="1" dirty="0">
                <a:solidFill>
                  <a:srgbClr val="FF0000"/>
                </a:solidFill>
                <a:effectLst>
                  <a:glow rad="1282700">
                    <a:srgbClr val="FFFF00">
                      <a:alpha val="95000"/>
                    </a:srgbClr>
                  </a:glow>
                  <a:outerShdw blurRad="1270000" dist="38100" dir="18420000" sx="200000" sy="200000" algn="tl">
                    <a:srgbClr val="000000">
                      <a:alpha val="0"/>
                    </a:srgbClr>
                  </a:outerShdw>
                  <a:reflection endPos="0" dist="50800" dir="5400000" sy="-100000" algn="bl" rotWithShape="0"/>
                </a:effectLst>
              </a:rPr>
              <a:t>17</a:t>
            </a:r>
            <a:endParaRPr lang="en-US" sz="3200" b="1" dirty="0">
              <a:solidFill>
                <a:srgbClr val="FF0000"/>
              </a:solidFill>
              <a:effectLst>
                <a:glow rad="1282700">
                  <a:srgbClr val="FFFF00">
                    <a:alpha val="95000"/>
                  </a:srgbClr>
                </a:glow>
                <a:outerShdw blurRad="1270000" dist="38100" dir="18420000" sx="200000" sy="200000" algn="tl">
                  <a:srgbClr val="000000">
                    <a:alpha val="0"/>
                  </a:srgbClr>
                </a:outerShdw>
                <a:reflection endPos="0" dist="50800" dir="5400000" sy="-100000" algn="bl" rotWithShape="0"/>
              </a:effectLst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61B157A-F212-3205-3D2F-B822C7943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256" y="3038804"/>
            <a:ext cx="4126228" cy="458974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DBCDCA-1A36-36E2-64FF-E6D351D2D7AC}"/>
              </a:ext>
            </a:extLst>
          </p:cNvPr>
          <p:cNvSpPr txBox="1"/>
          <p:nvPr/>
        </p:nvSpPr>
        <p:spPr>
          <a:xfrm>
            <a:off x="9306560" y="3528978"/>
            <a:ext cx="15343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400" b="1" i="1" dirty="0">
                <a:solidFill>
                  <a:srgbClr val="FF0000"/>
                </a:solidFill>
              </a:rPr>
              <a:t>Айттым </a:t>
            </a:r>
            <a:endParaRPr lang="en-US" sz="2400" b="1" i="1" dirty="0">
              <a:solidFill>
                <a:srgbClr val="FF0000"/>
              </a:solidFill>
            </a:endParaRPr>
          </a:p>
          <a:p>
            <a:r>
              <a:rPr lang="ky-KG" sz="2400" b="1" i="1" dirty="0">
                <a:solidFill>
                  <a:srgbClr val="FF0000"/>
                </a:solidFill>
              </a:rPr>
              <a:t>беле!</a:t>
            </a:r>
            <a:endParaRPr lang="en-US" sz="2400" b="1" i="1" dirty="0">
              <a:solidFill>
                <a:srgbClr val="FF0000"/>
              </a:solidFill>
              <a:latin typeface="Abadi" panose="020B0604020104020204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40FE6A66-E66B-081C-05EB-FF3B99D2197F}"/>
              </a:ext>
            </a:extLst>
          </p:cNvPr>
          <p:cNvSpPr/>
          <p:nvPr/>
        </p:nvSpPr>
        <p:spPr>
          <a:xfrm>
            <a:off x="7496815" y="-32344"/>
            <a:ext cx="4859009" cy="2904797"/>
          </a:xfrm>
          <a:prstGeom prst="wedgeEllipseCallout">
            <a:avLst>
              <a:gd name="adj1" fmla="val 22032"/>
              <a:gd name="adj2" fmla="val 88033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400" b="1" dirty="0">
                <a:solidFill>
                  <a:schemeClr val="tx1"/>
                </a:solidFill>
              </a:rPr>
              <a:t>Жүздөгөн жылдар бою математика бардыгына түшүнүктүү болушу үчүн эрежелер иштелип чыккан</a:t>
            </a:r>
            <a:endParaRPr lang="en-US" sz="2400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3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CF6A-505A-0B51-B96C-F561AB4E61F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900" b="1" dirty="0">
                <a:highlight>
                  <a:srgbClr val="FF0000"/>
                </a:highlight>
              </a:rPr>
              <a:t>Келгиндин эрежесин </a:t>
            </a:r>
            <a:r>
              <a:rPr lang="ru-RU" sz="2900" dirty="0"/>
              <a:t>жана </a:t>
            </a:r>
            <a:r>
              <a:rPr lang="ru-RU" sz="3200" b="1" dirty="0">
                <a:solidFill>
                  <a:srgbClr val="FF0000"/>
                </a:solidFill>
                <a:highlight>
                  <a:srgbClr val="00FF00"/>
                </a:highlight>
              </a:rPr>
              <a:t>биздин</a:t>
            </a:r>
            <a:r>
              <a:rPr lang="ru-RU" sz="2900" b="1" dirty="0">
                <a:solidFill>
                  <a:srgbClr val="FF0000"/>
                </a:solidFill>
                <a:highlight>
                  <a:srgbClr val="00FF00"/>
                </a:highlight>
              </a:rPr>
              <a:t> эрежени </a:t>
            </a:r>
            <a:r>
              <a:rPr lang="ru-RU" sz="2900" dirty="0"/>
              <a:t>колдонуу менен ар бир эсептөөнүн жообун табыңыз.</a:t>
            </a:r>
            <a:endParaRPr lang="en-US" sz="2900" dirty="0">
              <a:latin typeface="Abadi" panose="020B0604020104020204" pitchFamily="34" charset="0"/>
            </a:endParaRPr>
          </a:p>
        </p:txBody>
      </p:sp>
      <p:pic>
        <p:nvPicPr>
          <p:cNvPr id="9" name="Picture 8" descr="A cartoon of a green monster holding a yellow device&#10;&#10;Description automatically generated with low confidence">
            <a:extLst>
              <a:ext uri="{FF2B5EF4-FFF2-40B4-BE49-F238E27FC236}">
                <a16:creationId xmlns:a16="http://schemas.microsoft.com/office/drawing/2014/main" id="{AB56D9DE-A5A8-062D-8AFC-9ECDD0A71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6942" y="3430723"/>
            <a:ext cx="798648" cy="13832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65019-52A6-58F2-28D8-C8E1A7DFEB98}"/>
              </a:ext>
            </a:extLst>
          </p:cNvPr>
          <p:cNvSpPr txBox="1"/>
          <p:nvPr/>
        </p:nvSpPr>
        <p:spPr>
          <a:xfrm>
            <a:off x="55704" y="1754299"/>
            <a:ext cx="5578963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33756">
              <a:spcAft>
                <a:spcPts val="600"/>
              </a:spcAft>
            </a:pPr>
            <a:r>
              <a:rPr lang="ru-RU" sz="2400" b="1" kern="1200" dirty="0">
                <a:highlight>
                  <a:srgbClr val="FF0000"/>
                </a:highlight>
                <a:latin typeface="+mn-lt"/>
                <a:ea typeface="+mn-ea"/>
                <a:cs typeface="+mn-cs"/>
              </a:rPr>
              <a:t>Келгиндин эрежеси: </a:t>
            </a:r>
            <a:endParaRPr lang="en-US" sz="2400" b="1" kern="1200" dirty="0">
              <a:highlight>
                <a:srgbClr val="FF0000"/>
              </a:highlight>
              <a:latin typeface="+mn-lt"/>
              <a:ea typeface="+mn-ea"/>
              <a:cs typeface="+mn-cs"/>
            </a:endParaRPr>
          </a:p>
          <a:p>
            <a:pPr defTabSz="333756">
              <a:spcAft>
                <a:spcPts val="600"/>
              </a:spcAft>
            </a:pPr>
            <a:r>
              <a:rPr lang="ru-RU" sz="2400" b="1" kern="1200" dirty="0">
                <a:latin typeface="+mn-lt"/>
                <a:ea typeface="+mn-ea"/>
                <a:cs typeface="+mn-cs"/>
              </a:rPr>
              <a:t>Биринчиден кошуңуз, </a:t>
            </a:r>
            <a:r>
              <a:rPr lang="ru-RU" sz="2400" kern="1200" dirty="0">
                <a:latin typeface="+mn-lt"/>
                <a:ea typeface="+mn-ea"/>
                <a:cs typeface="+mn-cs"/>
              </a:rPr>
              <a:t>анан 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көбөйтүңүз</a:t>
            </a:r>
            <a:r>
              <a:rPr lang="ru-RU" sz="2000" kern="1200" dirty="0"/>
              <a:t>.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7FBC9-49BC-6FF0-5AF2-32E171FC9847}"/>
              </a:ext>
            </a:extLst>
          </p:cNvPr>
          <p:cNvSpPr txBox="1"/>
          <p:nvPr/>
        </p:nvSpPr>
        <p:spPr>
          <a:xfrm>
            <a:off x="6557335" y="1733562"/>
            <a:ext cx="5057090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33756">
              <a:spcAft>
                <a:spcPts val="600"/>
              </a:spcAft>
            </a:pPr>
            <a:r>
              <a:rPr lang="ru-RU" sz="2400" b="1" dirty="0">
                <a:highlight>
                  <a:srgbClr val="00FF00"/>
                </a:highlight>
              </a:rPr>
              <a:t>Биздин</a:t>
            </a:r>
            <a:r>
              <a:rPr lang="ru-RU" sz="2400" b="1" kern="1200" dirty="0">
                <a:highlight>
                  <a:srgbClr val="00FF00"/>
                </a:highlight>
              </a:rPr>
              <a:t> эрежеси: </a:t>
            </a:r>
            <a:endParaRPr lang="en-US" sz="2400" b="1" kern="1200" dirty="0">
              <a:highlight>
                <a:srgbClr val="00FF00"/>
              </a:highlight>
              <a:latin typeface="Abadi" panose="020B0604020104020204" pitchFamily="34" charset="0"/>
            </a:endParaRPr>
          </a:p>
          <a:p>
            <a:pPr defTabSz="333756">
              <a:spcAft>
                <a:spcPts val="600"/>
              </a:spcAft>
            </a:pPr>
            <a:r>
              <a:rPr lang="ru-RU" sz="2400" b="1" kern="1200" dirty="0"/>
              <a:t>адегенде көбөйтүңүз,анан кошуңуз.</a:t>
            </a:r>
            <a:endParaRPr lang="en-US" sz="3600" b="1" dirty="0">
              <a:latin typeface="Abadi" panose="020B0604020104020204" pitchFamily="34" charset="0"/>
            </a:endParaRPr>
          </a:p>
        </p:txBody>
      </p:sp>
      <p:pic>
        <p:nvPicPr>
          <p:cNvPr id="11" name="Picture 10" descr="A cartoon of a child raising his hand&#10;&#10;Description automatically generated with medium confidence">
            <a:extLst>
              <a:ext uri="{FF2B5EF4-FFF2-40B4-BE49-F238E27FC236}">
                <a16:creationId xmlns:a16="http://schemas.microsoft.com/office/drawing/2014/main" id="{1A66018C-02D3-2199-2893-B1FC430F3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859" y="3476170"/>
            <a:ext cx="1476858" cy="14881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CC104CC-5390-8B1C-92C1-025B5E746A33}"/>
                  </a:ext>
                </a:extLst>
              </p:cNvPr>
              <p:cNvSpPr/>
              <p:nvPr/>
            </p:nvSpPr>
            <p:spPr>
              <a:xfrm>
                <a:off x="3896172" y="3040007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𝟒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𝟑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×</m:t>
                      </m:r>
                      <m:r>
                        <a:rPr lang="en-GB" sz="2628" b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𝟐</m:t>
                      </m:r>
                    </m:oMath>
                  </m:oMathPara>
                </a14:m>
                <a:endParaRPr lang="en-GB" sz="3600" b="1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6CC104CC-5390-8B1C-92C1-025B5E746A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3040007"/>
                <a:ext cx="1925793" cy="507228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2E8913-5FEF-C9C9-9EE7-93629EAF0EF4}"/>
                  </a:ext>
                </a:extLst>
              </p:cNvPr>
              <p:cNvSpPr/>
              <p:nvPr/>
            </p:nvSpPr>
            <p:spPr>
              <a:xfrm>
                <a:off x="2105885" y="3036025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14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72E8913-5FEF-C9C9-9EE7-93629EAF0E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3036025"/>
                <a:ext cx="1198163" cy="507228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accent1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DC33325-EC02-9DDD-0EC9-F3F84AADD266}"/>
                  </a:ext>
                </a:extLst>
              </p:cNvPr>
              <p:cNvSpPr/>
              <p:nvPr/>
            </p:nvSpPr>
            <p:spPr>
              <a:xfrm>
                <a:off x="6434157" y="3093540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10</m:t>
                      </m:r>
                    </m:oMath>
                  </m:oMathPara>
                </a14:m>
                <a:endParaRPr lang="en-GB" sz="360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BDC33325-EC02-9DDD-0EC9-F3F84AADD2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3093540"/>
                <a:ext cx="1198163" cy="507228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9DE19BAF-A350-4490-7682-62005E1AF332}"/>
                  </a:ext>
                </a:extLst>
              </p:cNvPr>
              <p:cNvSpPr/>
              <p:nvPr/>
            </p:nvSpPr>
            <p:spPr>
              <a:xfrm>
                <a:off x="3906206" y="5722049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8−4÷2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9DE19BAF-A350-4490-7682-62005E1AF3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06" y="5722049"/>
                <a:ext cx="1925793" cy="507228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4119E0-0B6B-A3BF-6F74-A262BFC058D3}"/>
                  </a:ext>
                </a:extLst>
              </p:cNvPr>
              <p:cNvSpPr/>
              <p:nvPr/>
            </p:nvSpPr>
            <p:spPr>
              <a:xfrm>
                <a:off x="2105885" y="5730401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4D4119E0-0B6B-A3BF-6F74-A262BFC058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5730401"/>
                <a:ext cx="1198163" cy="507228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4B0C967-4F13-2280-B280-E237FAD6E113}"/>
                  </a:ext>
                </a:extLst>
              </p:cNvPr>
              <p:cNvSpPr/>
              <p:nvPr/>
            </p:nvSpPr>
            <p:spPr>
              <a:xfrm>
                <a:off x="3896172" y="3700875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5×5+2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54B0C967-4F13-2280-B280-E237FAD6E1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3700875"/>
                <a:ext cx="1925793" cy="507228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0742205-0C81-39C2-B369-A1888CF6E881}"/>
                  </a:ext>
                </a:extLst>
              </p:cNvPr>
              <p:cNvSpPr/>
              <p:nvPr/>
            </p:nvSpPr>
            <p:spPr>
              <a:xfrm>
                <a:off x="6434157" y="3718632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27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0742205-0C81-39C2-B369-A1888CF6E8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3718632"/>
                <a:ext cx="1198163" cy="507228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BC336A-7829-6AB3-BC67-F29A6859B6CC}"/>
                  </a:ext>
                </a:extLst>
              </p:cNvPr>
              <p:cNvSpPr/>
              <p:nvPr/>
            </p:nvSpPr>
            <p:spPr>
              <a:xfrm>
                <a:off x="2105885" y="3718632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35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03BC336A-7829-6AB3-BC67-F29A6859B6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3718632"/>
                <a:ext cx="1198163" cy="507228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C55F063-A367-4A59-5C2B-B775935C4DA5}"/>
                  </a:ext>
                </a:extLst>
              </p:cNvPr>
              <p:cNvSpPr/>
              <p:nvPr/>
            </p:nvSpPr>
            <p:spPr>
              <a:xfrm>
                <a:off x="3896172" y="4338335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3+2×4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C55F063-A367-4A59-5C2B-B775935C4D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6172" y="4338335"/>
                <a:ext cx="1925793" cy="507228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9668DEE-8642-0164-B8D8-9DD0942D68EF}"/>
                  </a:ext>
                </a:extLst>
              </p:cNvPr>
              <p:cNvSpPr/>
              <p:nvPr/>
            </p:nvSpPr>
            <p:spPr>
              <a:xfrm>
                <a:off x="6434157" y="4358641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11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F9668DEE-8642-0164-B8D8-9DD0942D6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4358641"/>
                <a:ext cx="1198163" cy="507228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F492379-8F10-67F1-7E2F-EDA2783193FC}"/>
                  </a:ext>
                </a:extLst>
              </p:cNvPr>
              <p:cNvSpPr/>
              <p:nvPr/>
            </p:nvSpPr>
            <p:spPr>
              <a:xfrm>
                <a:off x="2105885" y="4401239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20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8F492379-8F10-67F1-7E2F-EDA2783193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4401239"/>
                <a:ext cx="1198163" cy="507228"/>
              </a:xfrm>
              <a:prstGeom prst="roundRect">
                <a:avLst/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F290498-9101-67D9-13CC-87D86861ED29}"/>
                  </a:ext>
                </a:extLst>
              </p:cNvPr>
              <p:cNvSpPr/>
              <p:nvPr/>
            </p:nvSpPr>
            <p:spPr>
              <a:xfrm>
                <a:off x="3906206" y="5065820"/>
                <a:ext cx="1925793" cy="507228"/>
              </a:xfrm>
              <a:prstGeom prst="roundRect">
                <a:avLst/>
              </a:prstGeom>
              <a:solidFill>
                <a:srgbClr val="FFFF0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2×6−5</m:t>
                      </m:r>
                    </m:oMath>
                  </m:oMathPara>
                </a14:m>
                <a:endParaRPr lang="en-GB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EF290498-9101-67D9-13CC-87D86861ED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6206" y="5065820"/>
                <a:ext cx="1925793" cy="507228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2535AE3-E8E3-7A9A-C851-FA06B075025F}"/>
                  </a:ext>
                </a:extLst>
              </p:cNvPr>
              <p:cNvSpPr/>
              <p:nvPr/>
            </p:nvSpPr>
            <p:spPr>
              <a:xfrm>
                <a:off x="6434157" y="5054972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7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D2535AE3-E8E3-7A9A-C851-FA06B0750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5054972"/>
                <a:ext cx="1198163" cy="507228"/>
              </a:xfrm>
              <a:prstGeom prst="roundRect">
                <a:avLst/>
              </a:prstGeom>
              <a:blipFill>
                <a:blip r:embed="rId17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8DA981E-8750-5737-2F84-A7880D331067}"/>
                  </a:ext>
                </a:extLst>
              </p:cNvPr>
              <p:cNvSpPr/>
              <p:nvPr/>
            </p:nvSpPr>
            <p:spPr>
              <a:xfrm>
                <a:off x="2105885" y="5065820"/>
                <a:ext cx="1198163" cy="507228"/>
              </a:xfrm>
              <a:prstGeom prst="roundRect">
                <a:avLst/>
              </a:prstGeom>
              <a:solidFill>
                <a:srgbClr val="FF0000"/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78DA981E-8750-5737-2F84-A7880D3310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885" y="5065820"/>
                <a:ext cx="1198163" cy="507228"/>
              </a:xfrm>
              <a:prstGeom prst="round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92D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5DB6963-80A5-FF37-8586-C6B924118E09}"/>
                  </a:ext>
                </a:extLst>
              </p:cNvPr>
              <p:cNvSpPr/>
              <p:nvPr/>
            </p:nvSpPr>
            <p:spPr>
              <a:xfrm>
                <a:off x="6434157" y="5776840"/>
                <a:ext cx="1198163" cy="507228"/>
              </a:xfrm>
              <a:prstGeom prst="roundRect">
                <a:avLst/>
              </a:prstGeom>
              <a:solidFill>
                <a:srgbClr val="92D050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33756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628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5DB6963-80A5-FF37-8586-C6B924118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4157" y="5776840"/>
                <a:ext cx="1198163" cy="50722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696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13" grpId="0" animBg="1"/>
      <p:bldP spid="14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E4B2-A501-772D-C856-3CB9555D429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28650"/>
            <a:ext cx="9251950" cy="10175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sz="2300" b="1" dirty="0"/>
              <a:t>Бул эсептөөлөр үчүн </a:t>
            </a:r>
            <a:r>
              <a:rPr lang="ky-KG" sz="2300" b="1" spc="300" dirty="0">
                <a:solidFill>
                  <a:srgbClr val="FF0000"/>
                </a:solidFill>
              </a:rPr>
              <a:t>АМАЛДАРДЫН</a:t>
            </a:r>
            <a:r>
              <a:rPr lang="ru-RU" sz="2300" b="1" spc="300" dirty="0">
                <a:solidFill>
                  <a:srgbClr val="FF0000"/>
                </a:solidFill>
              </a:rPr>
              <a:t> ТАРТИБИН ӨЗГӨРТҮП,</a:t>
            </a:r>
            <a:br>
              <a:rPr lang="ru-RU" sz="2300" b="1" spc="300" dirty="0">
                <a:solidFill>
                  <a:srgbClr val="FF0000"/>
                </a:solidFill>
              </a:rPr>
            </a:br>
            <a:r>
              <a:rPr lang="ru-RU" sz="2300" b="1" dirty="0"/>
              <a:t>канча </a:t>
            </a:r>
            <a:r>
              <a:rPr lang="ru-RU" sz="2300" b="1" spc="300" dirty="0">
                <a:solidFill>
                  <a:srgbClr val="FF0000"/>
                </a:solidFill>
              </a:rPr>
              <a:t>ТҮРДҮҮ НАТЫЙЖАЛАРДЫ</a:t>
            </a:r>
            <a:r>
              <a:rPr lang="ru-RU" sz="2300" b="1" dirty="0"/>
              <a:t> таба аласыз?</a:t>
            </a:r>
            <a:endParaRPr lang="en-US" sz="2300" b="1" dirty="0">
              <a:latin typeface="Abadi" panose="020B06040201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11F63C4-D3B2-D9DD-F5C7-7FC3E2C1C43A}"/>
                  </a:ext>
                </a:extLst>
              </p:cNvPr>
              <p:cNvSpPr/>
              <p:nvPr/>
            </p:nvSpPr>
            <p:spPr>
              <a:xfrm>
                <a:off x="2541790" y="2918607"/>
                <a:ext cx="2160705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8−3+2−1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111F63C4-D3B2-D9DD-F5C7-7FC3E2C1C4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1790" y="2918607"/>
                <a:ext cx="2160705" cy="42541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B874DF3-7B65-CEDB-1112-920404260BCE}"/>
                  </a:ext>
                </a:extLst>
              </p:cNvPr>
              <p:cNvSpPr/>
              <p:nvPr/>
            </p:nvSpPr>
            <p:spPr>
              <a:xfrm>
                <a:off x="6993264" y="2810256"/>
                <a:ext cx="1848185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4×8÷2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9B874DF3-7B65-CEDB-1112-920404260B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264" y="2810256"/>
                <a:ext cx="1848185" cy="42541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033FE58-CFC7-4CD7-441B-537D5ED171CB}"/>
                  </a:ext>
                </a:extLst>
              </p:cNvPr>
              <p:cNvSpPr/>
              <p:nvPr/>
            </p:nvSpPr>
            <p:spPr>
              <a:xfrm>
                <a:off x="5025787" y="3494690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5+2×3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B033FE58-CFC7-4CD7-441B-537D5ED171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787" y="3494690"/>
                <a:ext cx="1783323" cy="42541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AD3609E-BF0E-5CF2-3AA7-E122864A849C}"/>
                  </a:ext>
                </a:extLst>
              </p:cNvPr>
              <p:cNvSpPr/>
              <p:nvPr/>
            </p:nvSpPr>
            <p:spPr>
              <a:xfrm>
                <a:off x="2919172" y="4203051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4×3−2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8AD3609E-BF0E-5CF2-3AA7-E122864A84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172" y="4203051"/>
                <a:ext cx="1783323" cy="42541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CB845BE-D5F3-0600-0DA8-270E29F896C3}"/>
                  </a:ext>
                </a:extLst>
              </p:cNvPr>
              <p:cNvSpPr/>
              <p:nvPr/>
            </p:nvSpPr>
            <p:spPr>
              <a:xfrm>
                <a:off x="4210980" y="5146506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6+8−4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CB845BE-D5F3-0600-0DA8-270E29F896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980" y="5146506"/>
                <a:ext cx="1783323" cy="42541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1A95D8-82A1-2FF4-7A3D-BCE6F1F7E84E}"/>
                  </a:ext>
                </a:extLst>
              </p:cNvPr>
              <p:cNvSpPr/>
              <p:nvPr/>
            </p:nvSpPr>
            <p:spPr>
              <a:xfrm>
                <a:off x="6809110" y="4551403"/>
                <a:ext cx="1783323" cy="425413"/>
              </a:xfrm>
              <a:prstGeom prst="roundRect">
                <a:avLst/>
              </a:prstGeom>
              <a:solidFill>
                <a:srgbClr val="FFC000"/>
              </a:solid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just" defTabSz="324612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2556" i="1" kern="1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24÷8−2</m:t>
                      </m:r>
                    </m:oMath>
                  </m:oMathPara>
                </a14:m>
                <a:endParaRPr lang="en-GB" sz="36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C21A95D8-82A1-2FF4-7A3D-BCE6F1F7E8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110" y="4551403"/>
                <a:ext cx="1783323" cy="42541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4CEDBD6F-E381-4F98-CB6C-73A10FA4E062}"/>
              </a:ext>
            </a:extLst>
          </p:cNvPr>
          <p:cNvSpPr txBox="1"/>
          <p:nvPr/>
        </p:nvSpPr>
        <p:spPr>
          <a:xfrm>
            <a:off x="8612723" y="4440756"/>
            <a:ext cx="556563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=4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</a:t>
            </a:r>
            <a:endParaRPr lang="en-US" sz="3200" b="1">
              <a:solidFill>
                <a:schemeClr val="bg1"/>
              </a:solidFill>
              <a:highlight>
                <a:srgbClr val="00FF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4F1EB2-7F31-C7BE-F0CE-54D4E350A12A}"/>
              </a:ext>
            </a:extLst>
          </p:cNvPr>
          <p:cNvSpPr txBox="1"/>
          <p:nvPr/>
        </p:nvSpPr>
        <p:spPr>
          <a:xfrm>
            <a:off x="8985945" y="2810256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=16</a:t>
            </a:r>
            <a:endParaRPr lang="en-US" sz="4000" b="1" dirty="0"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6EE950-1895-9859-1938-D9D845E51F65}"/>
              </a:ext>
            </a:extLst>
          </p:cNvPr>
          <p:cNvSpPr txBox="1"/>
          <p:nvPr/>
        </p:nvSpPr>
        <p:spPr>
          <a:xfrm>
            <a:off x="6872186" y="3325001"/>
            <a:ext cx="715260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 dirty="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=11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 dirty="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=21</a:t>
            </a:r>
            <a:endParaRPr lang="en-US" sz="3200" b="1" dirty="0">
              <a:solidFill>
                <a:schemeClr val="bg1"/>
              </a:solidFill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99E991-1123-73E3-32B4-27B3F3A3A441}"/>
              </a:ext>
            </a:extLst>
          </p:cNvPr>
          <p:cNvSpPr txBox="1"/>
          <p:nvPr/>
        </p:nvSpPr>
        <p:spPr>
          <a:xfrm>
            <a:off x="4789100" y="3994647"/>
            <a:ext cx="715260" cy="8685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=4</a:t>
            </a:r>
          </a:p>
          <a:p>
            <a:pPr defTabSz="324612">
              <a:spcAft>
                <a:spcPts val="600"/>
              </a:spcAft>
            </a:pPr>
            <a:r>
              <a:rPr lang="en-US" sz="2272" b="1" kern="1200">
                <a:solidFill>
                  <a:schemeClr val="bg1"/>
                </a:solidFill>
                <a:highlight>
                  <a:srgbClr val="00FF00"/>
                </a:highlight>
                <a:latin typeface="Cambria Math" panose="02040503050406030204" pitchFamily="18" charset="0"/>
                <a:ea typeface="Cambria Math" panose="02040503050406030204" pitchFamily="18" charset="0"/>
                <a:cs typeface="+mn-cs"/>
              </a:rPr>
              <a:t>=10</a:t>
            </a:r>
            <a:endParaRPr lang="en-US" sz="3200" b="1">
              <a:solidFill>
                <a:schemeClr val="bg1"/>
              </a:solidFill>
              <a:highlight>
                <a:srgbClr val="00FF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0089FF-6D00-94C3-076A-22E1D8CDBEE7}"/>
              </a:ext>
            </a:extLst>
          </p:cNvPr>
          <p:cNvSpPr txBox="1"/>
          <p:nvPr/>
        </p:nvSpPr>
        <p:spPr>
          <a:xfrm>
            <a:off x="4702495" y="2882355"/>
            <a:ext cx="6431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highlight>
                  <a:srgbClr val="FF0000"/>
                </a:highlight>
                <a:latin typeface="Cambria Math" panose="02040503050406030204" pitchFamily="18" charset="0"/>
                <a:ea typeface="Cambria Math" panose="02040503050406030204" pitchFamily="18" charset="0"/>
              </a:rPr>
              <a:t>=6</a:t>
            </a:r>
            <a:endParaRPr lang="en-US" sz="4000" b="1" dirty="0">
              <a:highlight>
                <a:srgbClr val="FF0000"/>
              </a:highlight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F449A2-25C7-8E39-4289-78165773E148}"/>
              </a:ext>
            </a:extLst>
          </p:cNvPr>
          <p:cNvSpPr txBox="1"/>
          <p:nvPr/>
        </p:nvSpPr>
        <p:spPr>
          <a:xfrm>
            <a:off x="6009657" y="5149447"/>
            <a:ext cx="838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324612">
              <a:spcAft>
                <a:spcPts val="600"/>
              </a:spcAft>
            </a:pPr>
            <a:r>
              <a:rPr lang="en-US" sz="2800" b="1" kern="1200" dirty="0">
                <a:latin typeface="Cambria Math" panose="02040503050406030204" pitchFamily="18" charset="0"/>
                <a:ea typeface="Cambria Math" panose="02040503050406030204" pitchFamily="18" charset="0"/>
              </a:rPr>
              <a:t>=10</a:t>
            </a:r>
            <a:endParaRPr lang="en-US" sz="40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68A0AA94-1C0F-9326-E4F1-81CD03F16BE8}"/>
              </a:ext>
            </a:extLst>
          </p:cNvPr>
          <p:cNvSpPr/>
          <p:nvPr/>
        </p:nvSpPr>
        <p:spPr>
          <a:xfrm>
            <a:off x="4854204" y="3438346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8CB02ABB-CC57-3542-C0AF-0CEADCBDEAFC}"/>
              </a:ext>
            </a:extLst>
          </p:cNvPr>
          <p:cNvSpPr/>
          <p:nvPr/>
        </p:nvSpPr>
        <p:spPr>
          <a:xfrm>
            <a:off x="2677369" y="4168651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6F19BEE5-4816-C7D5-F272-CE9B9ADAD36C}"/>
              </a:ext>
            </a:extLst>
          </p:cNvPr>
          <p:cNvSpPr/>
          <p:nvPr/>
        </p:nvSpPr>
        <p:spPr>
          <a:xfrm>
            <a:off x="6617237" y="4487703"/>
            <a:ext cx="343165" cy="251739"/>
          </a:xfrm>
          <a:prstGeom prst="star5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89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2FE04-F0F6-4D08-DFD1-8CC542B2423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defTabSz="324612">
              <a:spcAft>
                <a:spcPts val="600"/>
              </a:spcAft>
              <a:buNone/>
            </a:pPr>
            <a:r>
              <a:rPr lang="ru-RU" sz="2400" b="1" kern="1200" dirty="0">
                <a:latin typeface="+mn-lt"/>
                <a:ea typeface="+mn-ea"/>
                <a:cs typeface="+mn-cs"/>
              </a:rPr>
              <a:t>Амалдардын </a:t>
            </a:r>
            <a:r>
              <a:rPr lang="ru-RU" sz="4400" b="1" kern="12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тартиби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 эмне үчүн  маанилүү?</a:t>
            </a:r>
            <a:endParaRPr lang="en-US" sz="3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7078D-3FFE-1934-15FF-9FA2375D7FEA}"/>
              </a:ext>
            </a:extLst>
          </p:cNvPr>
          <p:cNvSpPr txBox="1"/>
          <p:nvPr/>
        </p:nvSpPr>
        <p:spPr>
          <a:xfrm>
            <a:off x="924560" y="3206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24612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Баарыбыз бирдей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жыйынтык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алуубуз </a:t>
            </a:r>
            <a:r>
              <a:rPr lang="ru-RU" sz="2400" b="1" kern="1200" dirty="0">
                <a:latin typeface="+mn-lt"/>
                <a:ea typeface="+mn-ea"/>
                <a:cs typeface="+mn-cs"/>
              </a:rPr>
              <a:t>үчүн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98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67 0.04 C 0.081 0.049 0.102 0.054 0.124 0.054 C 0.149 0.054 0.169 0.049 0.183 0.04 L 0.25 0 E" pathEditMode="relative" ptsTypes=""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3433-B794-DE84-C958-442ADAE4AC4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073" y="201614"/>
            <a:ext cx="4159250" cy="231567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 err="1"/>
              <a:t>Амалдардын</a:t>
            </a:r>
            <a:r>
              <a:rPr lang="en-US" sz="3400" dirty="0"/>
              <a:t> </a:t>
            </a:r>
            <a:r>
              <a:rPr lang="en-US" sz="3400" dirty="0" err="1"/>
              <a:t>тартиби</a:t>
            </a:r>
            <a:r>
              <a:rPr lang="en-US" sz="3400" dirty="0"/>
              <a:t> </a:t>
            </a:r>
            <a:r>
              <a:rPr lang="en-US" sz="3400" dirty="0" err="1"/>
              <a:t>бизге</a:t>
            </a:r>
            <a:r>
              <a:rPr lang="en-US" sz="3400" dirty="0"/>
              <a:t> </a:t>
            </a:r>
            <a:r>
              <a:rPr lang="en-US" sz="3400" dirty="0" err="1"/>
              <a:t>алардын</a:t>
            </a:r>
            <a:r>
              <a:rPr lang="en-US" sz="3400" dirty="0"/>
              <a:t> </a:t>
            </a:r>
            <a:r>
              <a:rPr lang="en-US" sz="3400" dirty="0" err="1">
                <a:solidFill>
                  <a:srgbClr val="FF0000"/>
                </a:solidFill>
              </a:rPr>
              <a:t>артыкчылыктарын</a:t>
            </a:r>
            <a:r>
              <a:rPr lang="en-US" sz="3400" dirty="0"/>
              <a:t> </a:t>
            </a:r>
            <a:r>
              <a:rPr lang="en-US" sz="3400" dirty="0" err="1"/>
              <a:t>айтып</a:t>
            </a:r>
            <a:r>
              <a:rPr lang="en-US" sz="3400" dirty="0"/>
              <a:t> </a:t>
            </a:r>
            <a:r>
              <a:rPr lang="en-US" sz="3400" dirty="0" err="1"/>
              <a:t>берет</a:t>
            </a:r>
            <a:r>
              <a:rPr lang="en-US" sz="3400" dirty="0"/>
              <a:t>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E7DA84-1AD6-7E3F-5557-FEC5A5CCB5CA}"/>
              </a:ext>
            </a:extLst>
          </p:cNvPr>
          <p:cNvSpPr/>
          <p:nvPr/>
        </p:nvSpPr>
        <p:spPr>
          <a:xfrm>
            <a:off x="130677" y="968329"/>
            <a:ext cx="6927083" cy="5410997"/>
          </a:xfrm>
          <a:prstGeom prst="roundRect">
            <a:avLst/>
          </a:prstGeom>
          <a:solidFill>
            <a:srgbClr val="FFC000"/>
          </a:solidFill>
          <a:ln>
            <a:solidFill>
              <a:schemeClr val="bg1">
                <a:lumMod val="95000"/>
                <a:lumOff val="5000"/>
              </a:schemeClr>
            </a:solidFill>
          </a:ln>
          <a:scene3d>
            <a:camera prst="perspective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31A98E-86F5-2D42-11FC-5F7A7ADC0AC0}"/>
              </a:ext>
            </a:extLst>
          </p:cNvPr>
          <p:cNvSpPr txBox="1"/>
          <p:nvPr/>
        </p:nvSpPr>
        <p:spPr>
          <a:xfrm>
            <a:off x="161926" y="1325880"/>
            <a:ext cx="62745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sz="3200" b="1" dirty="0">
                <a:solidFill>
                  <a:srgbClr val="FF0000"/>
                </a:solidFill>
              </a:rPr>
              <a:t>1</a:t>
            </a:r>
            <a:r>
              <a:rPr lang="en-US" sz="3200" b="1" dirty="0">
                <a:solidFill>
                  <a:srgbClr val="FF0000"/>
                </a:solidFill>
              </a:rPr>
              <a:t>-</a:t>
            </a:r>
            <a:r>
              <a:rPr lang="ky-KG" sz="3200" b="1" dirty="0">
                <a:solidFill>
                  <a:srgbClr val="FF0000"/>
                </a:solidFill>
              </a:rPr>
              <a:t>   (</a:t>
            </a:r>
            <a:r>
              <a:rPr lang="en-US" sz="3200" b="1" dirty="0">
                <a:solidFill>
                  <a:srgbClr val="FF0000"/>
                </a:solidFill>
              </a:rPr>
              <a:t>  </a:t>
            </a:r>
            <a:r>
              <a:rPr lang="ky-KG" sz="3200" b="1" dirty="0">
                <a:solidFill>
                  <a:srgbClr val="FF0000"/>
                </a:solidFill>
              </a:rPr>
              <a:t>) Кашаанын ичиндеги амалдар </a:t>
            </a:r>
            <a:endParaRPr lang="en-US" sz="32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F7D686-8AB5-7569-9C85-033BEFBCB625}"/>
                  </a:ext>
                </a:extLst>
              </p:cNvPr>
              <p:cNvSpPr txBox="1"/>
              <p:nvPr/>
            </p:nvSpPr>
            <p:spPr>
              <a:xfrm>
                <a:off x="243840" y="2488498"/>
                <a:ext cx="6274522" cy="595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y-KG" sz="3200" b="1" dirty="0">
                    <a:solidFill>
                      <a:srgbClr val="FF0000"/>
                    </a:solidFill>
                  </a:rPr>
                  <a:t>2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-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y-KG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ky-KG" sz="3200" b="1" dirty="0">
                    <a:solidFill>
                      <a:srgbClr val="FF0000"/>
                    </a:solidFill>
                  </a:rPr>
                  <a:t>  даража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6F7D686-8AB5-7569-9C85-033BEFBCB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" y="2488498"/>
                <a:ext cx="6274522" cy="595932"/>
              </a:xfrm>
              <a:prstGeom prst="rect">
                <a:avLst/>
              </a:prstGeom>
              <a:blipFill>
                <a:blip r:embed="rId2"/>
                <a:stretch>
                  <a:fillRect l="-2430" t="-10204" b="-33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004B15B-D269-49F2-742F-7E53FCDA3CBA}"/>
              </a:ext>
            </a:extLst>
          </p:cNvPr>
          <p:cNvGrpSpPr/>
          <p:nvPr/>
        </p:nvGrpSpPr>
        <p:grpSpPr>
          <a:xfrm>
            <a:off x="78165" y="3267753"/>
            <a:ext cx="6274522" cy="859993"/>
            <a:chOff x="78165" y="3267753"/>
            <a:chExt cx="6274522" cy="859993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910305C-2519-8778-1306-15AD39E43CF0}"/>
                </a:ext>
              </a:extLst>
            </p:cNvPr>
            <p:cNvGrpSpPr/>
            <p:nvPr/>
          </p:nvGrpSpPr>
          <p:grpSpPr>
            <a:xfrm>
              <a:off x="78165" y="3267753"/>
              <a:ext cx="6274522" cy="859993"/>
              <a:chOff x="78165" y="3267753"/>
              <a:chExt cx="6274522" cy="859993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8096C7-A703-FC81-8E01-DC17078295EF}"/>
                  </a:ext>
                </a:extLst>
              </p:cNvPr>
              <p:cNvSpPr txBox="1"/>
              <p:nvPr/>
            </p:nvSpPr>
            <p:spPr>
              <a:xfrm>
                <a:off x="78165" y="3405363"/>
                <a:ext cx="627452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y-KG" sz="3200" b="1" dirty="0">
                    <a:solidFill>
                      <a:srgbClr val="FF0000"/>
                    </a:solidFill>
                  </a:rPr>
                  <a:t>3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-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 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       </a:t>
                </a:r>
                <a:r>
                  <a:rPr lang="ky-KG" sz="3200" b="1" dirty="0">
                    <a:solidFill>
                      <a:srgbClr val="FF0000"/>
                    </a:solidFill>
                  </a:rPr>
                  <a:t>  </a:t>
                </a:r>
                <a:r>
                  <a:rPr lang="en-US" sz="3200" b="1" dirty="0">
                    <a:solidFill>
                      <a:srgbClr val="FF0000"/>
                    </a:solidFill>
                  </a:rPr>
                  <a:t>        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бөлүү</a:t>
                </a:r>
                <a:r>
                  <a:rPr lang="en-US" sz="3200" b="0" i="0" dirty="0">
                    <a:solidFill>
                      <a:srgbClr val="FF0000"/>
                    </a:solidFill>
                    <a:effectLst/>
                  </a:rPr>
                  <a:t>,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көбөйтүү</a:t>
                </a:r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" name="Division Sign 2">
                <a:extLst>
                  <a:ext uri="{FF2B5EF4-FFF2-40B4-BE49-F238E27FC236}">
                    <a16:creationId xmlns:a16="http://schemas.microsoft.com/office/drawing/2014/main" id="{3BD3A6A1-2914-3352-B751-A4B8693BBF6A}"/>
                  </a:ext>
                </a:extLst>
              </p:cNvPr>
              <p:cNvSpPr/>
              <p:nvPr/>
            </p:nvSpPr>
            <p:spPr>
              <a:xfrm>
                <a:off x="675724" y="3267753"/>
                <a:ext cx="587515" cy="859993"/>
              </a:xfrm>
              <a:prstGeom prst="mathDivide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Multiplication Sign 6">
              <a:extLst>
                <a:ext uri="{FF2B5EF4-FFF2-40B4-BE49-F238E27FC236}">
                  <a16:creationId xmlns:a16="http://schemas.microsoft.com/office/drawing/2014/main" id="{2733441C-9F9D-88E4-D208-DB1E9D313927}"/>
                </a:ext>
              </a:extLst>
            </p:cNvPr>
            <p:cNvSpPr/>
            <p:nvPr/>
          </p:nvSpPr>
          <p:spPr>
            <a:xfrm>
              <a:off x="1532456" y="3369690"/>
              <a:ext cx="587515" cy="722383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EDCF0D-A6A2-DFB4-E8E5-E013D433CA52}"/>
              </a:ext>
            </a:extLst>
          </p:cNvPr>
          <p:cNvGrpSpPr/>
          <p:nvPr/>
        </p:nvGrpSpPr>
        <p:grpSpPr>
          <a:xfrm>
            <a:off x="243840" y="4330991"/>
            <a:ext cx="5669280" cy="1107996"/>
            <a:chOff x="243840" y="4330991"/>
            <a:chExt cx="5669280" cy="110799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602DA43-798F-1742-54AF-7620A1C3D283}"/>
                </a:ext>
              </a:extLst>
            </p:cNvPr>
            <p:cNvGrpSpPr/>
            <p:nvPr/>
          </p:nvGrpSpPr>
          <p:grpSpPr>
            <a:xfrm>
              <a:off x="243840" y="4330991"/>
              <a:ext cx="5669280" cy="1107996"/>
              <a:chOff x="243840" y="4330991"/>
              <a:chExt cx="5669280" cy="110799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81D631-CF1E-274A-729E-A6CAA81A026A}"/>
                  </a:ext>
                </a:extLst>
              </p:cNvPr>
              <p:cNvSpPr txBox="1"/>
              <p:nvPr/>
            </p:nvSpPr>
            <p:spPr>
              <a:xfrm>
                <a:off x="243840" y="4330991"/>
                <a:ext cx="566928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>
                    <a:solidFill>
                      <a:srgbClr val="FF0000"/>
                    </a:solidFill>
                  </a:rPr>
                  <a:t>4</a:t>
                </a:r>
                <a:r>
                  <a:rPr lang="en-US" b="1" dirty="0">
                    <a:solidFill>
                      <a:srgbClr val="FF0000"/>
                    </a:solidFill>
                  </a:rPr>
                  <a:t>. </a:t>
                </a:r>
                <a:r>
                  <a:rPr lang="en-US" sz="6600" dirty="0">
                    <a:solidFill>
                      <a:srgbClr val="FF0000"/>
                    </a:solidFill>
                  </a:rPr>
                  <a:t>-          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кошуу</a:t>
                </a:r>
                <a:r>
                  <a:rPr lang="en-US" sz="3200" b="1" i="0" dirty="0">
                    <a:solidFill>
                      <a:srgbClr val="FF0000"/>
                    </a:solidFill>
                    <a:effectLst/>
                  </a:rPr>
                  <a:t>, </a:t>
                </a:r>
                <a:r>
                  <a:rPr lang="ru-RU" sz="3200" b="1" i="0" dirty="0">
                    <a:solidFill>
                      <a:srgbClr val="FF0000"/>
                    </a:solidFill>
                    <a:effectLst/>
                  </a:rPr>
                  <a:t>кемитүү</a:t>
                </a:r>
                <a:r>
                  <a:rPr lang="en-US" sz="3200" b="1" i="0" dirty="0"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  <p:sp>
            <p:nvSpPr>
              <p:cNvPr id="10" name="Plus Sign 9">
                <a:extLst>
                  <a:ext uri="{FF2B5EF4-FFF2-40B4-BE49-F238E27FC236}">
                    <a16:creationId xmlns:a16="http://schemas.microsoft.com/office/drawing/2014/main" id="{09937672-DC9E-82E1-233A-49FD79BEBC58}"/>
                  </a:ext>
                </a:extLst>
              </p:cNvPr>
              <p:cNvSpPr/>
              <p:nvPr/>
            </p:nvSpPr>
            <p:spPr>
              <a:xfrm>
                <a:off x="1107973" y="4708698"/>
                <a:ext cx="809037" cy="584775"/>
              </a:xfrm>
              <a:prstGeom prst="mathPlus">
                <a:avLst/>
              </a:prstGeom>
              <a:solidFill>
                <a:srgbClr val="FF0000"/>
              </a:solidFill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11" name="Minus Sign 10">
              <a:extLst>
                <a:ext uri="{FF2B5EF4-FFF2-40B4-BE49-F238E27FC236}">
                  <a16:creationId xmlns:a16="http://schemas.microsoft.com/office/drawing/2014/main" id="{BE8E67EC-49C6-3D41-CE3B-A2A706EDD189}"/>
                </a:ext>
              </a:extLst>
            </p:cNvPr>
            <p:cNvSpPr/>
            <p:nvPr/>
          </p:nvSpPr>
          <p:spPr>
            <a:xfrm>
              <a:off x="1826213" y="4763842"/>
              <a:ext cx="937083" cy="513016"/>
            </a:xfrm>
            <a:prstGeom prst="mathMinus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2714EE6-45A3-A128-3893-640C0E14DA51}"/>
              </a:ext>
            </a:extLst>
          </p:cNvPr>
          <p:cNvSpPr txBox="1"/>
          <p:nvPr/>
        </p:nvSpPr>
        <p:spPr>
          <a:xfrm>
            <a:off x="6995919" y="3709641"/>
            <a:ext cx="45684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Кыскача эстеп калуу үчүн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sz="5400" b="1" dirty="0">
                <a:solidFill>
                  <a:schemeClr val="accent3">
                    <a:lumMod val="75000"/>
                  </a:schemeClr>
                </a:solidFill>
              </a:rPr>
              <a:t>КДБККК</a:t>
            </a:r>
            <a:endParaRPr lang="en-US" sz="540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720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3693DC6-D640-591A-2BBB-07120D5C07BB}"/>
              </a:ext>
            </a:extLst>
          </p:cNvPr>
          <p:cNvGrpSpPr/>
          <p:nvPr/>
        </p:nvGrpSpPr>
        <p:grpSpPr>
          <a:xfrm>
            <a:off x="1814671" y="1139824"/>
            <a:ext cx="914400" cy="914400"/>
            <a:chOff x="1853565" y="1153160"/>
            <a:chExt cx="914400" cy="91440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DF460E7-C935-2D81-6581-5994476A7055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Graphic 5" descr="Smiling face outline with solid fill">
              <a:extLst>
                <a:ext uri="{FF2B5EF4-FFF2-40B4-BE49-F238E27FC236}">
                  <a16:creationId xmlns:a16="http://schemas.microsoft.com/office/drawing/2014/main" id="{53301368-3B6F-07EA-9EAE-D42B2F0F2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6FAD77-5F72-BC2F-D2E0-CA61F60661DA}"/>
              </a:ext>
            </a:extLst>
          </p:cNvPr>
          <p:cNvGrpSpPr/>
          <p:nvPr/>
        </p:nvGrpSpPr>
        <p:grpSpPr>
          <a:xfrm>
            <a:off x="2959061" y="1156334"/>
            <a:ext cx="914400" cy="914400"/>
            <a:chOff x="1853565" y="1153160"/>
            <a:chExt cx="914400" cy="9144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F664AD-0866-CAA7-78C1-9FE49CDA4190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 descr="Smiling face outline with solid fill">
              <a:extLst>
                <a:ext uri="{FF2B5EF4-FFF2-40B4-BE49-F238E27FC236}">
                  <a16:creationId xmlns:a16="http://schemas.microsoft.com/office/drawing/2014/main" id="{B81B782C-F016-D53D-1E12-8C3F40BEDA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127FB8-359F-240B-CCE4-F94A53A7126F}"/>
              </a:ext>
            </a:extLst>
          </p:cNvPr>
          <p:cNvGrpSpPr/>
          <p:nvPr/>
        </p:nvGrpSpPr>
        <p:grpSpPr>
          <a:xfrm>
            <a:off x="4059950" y="1107440"/>
            <a:ext cx="914400" cy="914400"/>
            <a:chOff x="1853565" y="1153160"/>
            <a:chExt cx="914400" cy="9144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EAC573-2DD6-8E6E-D94A-F1B21E3940F3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Graphic 12" descr="Smiling face outline with solid fill">
              <a:extLst>
                <a:ext uri="{FF2B5EF4-FFF2-40B4-BE49-F238E27FC236}">
                  <a16:creationId xmlns:a16="http://schemas.microsoft.com/office/drawing/2014/main" id="{E93E053B-3D20-0E98-7375-A502FD121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A24B704-ABE6-59E0-6B02-D73C05A3AD63}"/>
              </a:ext>
            </a:extLst>
          </p:cNvPr>
          <p:cNvGrpSpPr/>
          <p:nvPr/>
        </p:nvGrpSpPr>
        <p:grpSpPr>
          <a:xfrm>
            <a:off x="1883410" y="2148278"/>
            <a:ext cx="914400" cy="914400"/>
            <a:chOff x="1853565" y="1153160"/>
            <a:chExt cx="914400" cy="9144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E6CAAC7-633F-BC03-651D-F3CF0251FDD2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Smiling face outline with solid fill">
              <a:extLst>
                <a:ext uri="{FF2B5EF4-FFF2-40B4-BE49-F238E27FC236}">
                  <a16:creationId xmlns:a16="http://schemas.microsoft.com/office/drawing/2014/main" id="{4A978BE3-42FA-D8F7-FB52-5F3AAD2D9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2F1C01A-83B9-A292-FF70-4124663B3A4B}"/>
              </a:ext>
            </a:extLst>
          </p:cNvPr>
          <p:cNvGrpSpPr/>
          <p:nvPr/>
        </p:nvGrpSpPr>
        <p:grpSpPr>
          <a:xfrm>
            <a:off x="4104005" y="2181860"/>
            <a:ext cx="914400" cy="914400"/>
            <a:chOff x="1853565" y="1153160"/>
            <a:chExt cx="914400" cy="9144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32176C3-53FD-30C7-5BDB-89F3C9DF9645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 descr="Smiling face outline with solid fill">
              <a:extLst>
                <a:ext uri="{FF2B5EF4-FFF2-40B4-BE49-F238E27FC236}">
                  <a16:creationId xmlns:a16="http://schemas.microsoft.com/office/drawing/2014/main" id="{8C006DBF-56E8-BFCB-4FAB-56155DC77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D340F96-0C83-F548-0BE8-F9A4519DB217}"/>
              </a:ext>
            </a:extLst>
          </p:cNvPr>
          <p:cNvGrpSpPr/>
          <p:nvPr/>
        </p:nvGrpSpPr>
        <p:grpSpPr>
          <a:xfrm>
            <a:off x="2967990" y="2172970"/>
            <a:ext cx="914400" cy="914400"/>
            <a:chOff x="1853565" y="1153160"/>
            <a:chExt cx="914400" cy="9144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B71CA7-AB08-8471-2A0E-0420E09B9C9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 descr="Smiling face outline with solid fill">
              <a:extLst>
                <a:ext uri="{FF2B5EF4-FFF2-40B4-BE49-F238E27FC236}">
                  <a16:creationId xmlns:a16="http://schemas.microsoft.com/office/drawing/2014/main" id="{FDDE39E3-BB5A-E355-0033-6439C0939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1E0F9EB-E5D1-5889-1387-193E98A45117}"/>
              </a:ext>
            </a:extLst>
          </p:cNvPr>
          <p:cNvGrpSpPr/>
          <p:nvPr/>
        </p:nvGrpSpPr>
        <p:grpSpPr>
          <a:xfrm>
            <a:off x="1878965" y="3264535"/>
            <a:ext cx="914400" cy="914400"/>
            <a:chOff x="1853565" y="1153160"/>
            <a:chExt cx="914400" cy="9144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19F6445-23A0-65EF-2BF9-40DC36C8BD2C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Graphic 41" descr="Smiling face outline with solid fill">
              <a:extLst>
                <a:ext uri="{FF2B5EF4-FFF2-40B4-BE49-F238E27FC236}">
                  <a16:creationId xmlns:a16="http://schemas.microsoft.com/office/drawing/2014/main" id="{06E1BACD-8FEB-8324-9CC3-9F6E5F95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C7D8A4F-1712-10A4-BC13-7A9CC2677B09}"/>
              </a:ext>
            </a:extLst>
          </p:cNvPr>
          <p:cNvGrpSpPr/>
          <p:nvPr/>
        </p:nvGrpSpPr>
        <p:grpSpPr>
          <a:xfrm>
            <a:off x="2993390" y="3218815"/>
            <a:ext cx="914400" cy="914400"/>
            <a:chOff x="1853565" y="1153160"/>
            <a:chExt cx="914400" cy="9144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EECB69-6CCB-ECDE-C5AD-B4E9707EA51A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0" name="Graphic 39" descr="Smiling face outline with solid fill">
              <a:extLst>
                <a:ext uri="{FF2B5EF4-FFF2-40B4-BE49-F238E27FC236}">
                  <a16:creationId xmlns:a16="http://schemas.microsoft.com/office/drawing/2014/main" id="{54DB3B6C-FF39-248F-035F-852FCC3E9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9153D49-FFD7-75FD-A9EE-8994FF6DA971}"/>
              </a:ext>
            </a:extLst>
          </p:cNvPr>
          <p:cNvGrpSpPr/>
          <p:nvPr/>
        </p:nvGrpSpPr>
        <p:grpSpPr>
          <a:xfrm>
            <a:off x="4104005" y="3218815"/>
            <a:ext cx="914400" cy="914400"/>
            <a:chOff x="1853565" y="1153160"/>
            <a:chExt cx="914400" cy="9144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8F54169-DB3E-9946-A895-A2FF46BE15FF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8" name="Graphic 37" descr="Smiling face outline with solid fill">
              <a:extLst>
                <a:ext uri="{FF2B5EF4-FFF2-40B4-BE49-F238E27FC236}">
                  <a16:creationId xmlns:a16="http://schemas.microsoft.com/office/drawing/2014/main" id="{624AE3C2-14AC-3A91-AA0C-6B8CB307E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E1E3C6C-8C33-7AEF-BB93-BE03B78D3552}"/>
              </a:ext>
            </a:extLst>
          </p:cNvPr>
          <p:cNvGrpSpPr/>
          <p:nvPr/>
        </p:nvGrpSpPr>
        <p:grpSpPr>
          <a:xfrm>
            <a:off x="1878965" y="4284345"/>
            <a:ext cx="914400" cy="914400"/>
            <a:chOff x="1853565" y="1153160"/>
            <a:chExt cx="914400" cy="9144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7BC89A6-51FA-C668-9DCA-B65C2F99FC8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6" name="Graphic 35" descr="Smiling face outline with solid fill">
              <a:extLst>
                <a:ext uri="{FF2B5EF4-FFF2-40B4-BE49-F238E27FC236}">
                  <a16:creationId xmlns:a16="http://schemas.microsoft.com/office/drawing/2014/main" id="{4A6573CE-AE1E-ED04-ABB8-6630E1371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8CB3CC-DEFE-09FB-3B8C-B54A1538C7F9}"/>
              </a:ext>
            </a:extLst>
          </p:cNvPr>
          <p:cNvGrpSpPr/>
          <p:nvPr/>
        </p:nvGrpSpPr>
        <p:grpSpPr>
          <a:xfrm>
            <a:off x="4129405" y="4293235"/>
            <a:ext cx="914400" cy="914400"/>
            <a:chOff x="1853565" y="1153160"/>
            <a:chExt cx="914400" cy="914400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DE8F882-74E7-287E-B85B-813EB98095F4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4" name="Graphic 33" descr="Smiling face outline with solid fill">
              <a:extLst>
                <a:ext uri="{FF2B5EF4-FFF2-40B4-BE49-F238E27FC236}">
                  <a16:creationId xmlns:a16="http://schemas.microsoft.com/office/drawing/2014/main" id="{F0FF00C4-B80D-7D4D-84FD-3DB83E1F0C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A268F85-F492-169F-ECFE-41421696CFA5}"/>
              </a:ext>
            </a:extLst>
          </p:cNvPr>
          <p:cNvGrpSpPr/>
          <p:nvPr/>
        </p:nvGrpSpPr>
        <p:grpSpPr>
          <a:xfrm>
            <a:off x="2967990" y="4330065"/>
            <a:ext cx="914400" cy="914400"/>
            <a:chOff x="1853565" y="1153160"/>
            <a:chExt cx="914400" cy="9144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C4A986-708F-B272-AF71-AF3FF1E0D339}"/>
                </a:ext>
              </a:extLst>
            </p:cNvPr>
            <p:cNvSpPr/>
            <p:nvPr/>
          </p:nvSpPr>
          <p:spPr>
            <a:xfrm>
              <a:off x="1878965" y="1198880"/>
              <a:ext cx="863600" cy="82296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2" name="Graphic 31" descr="Smiling face outline with solid fill">
              <a:extLst>
                <a:ext uri="{FF2B5EF4-FFF2-40B4-BE49-F238E27FC236}">
                  <a16:creationId xmlns:a16="http://schemas.microsoft.com/office/drawing/2014/main" id="{1290BE36-8B77-F29F-764A-55D7D981D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53565" y="1153160"/>
              <a:ext cx="914400" cy="9144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9CCBF17-AD43-CB00-8AA1-B9F62C443EDD}"/>
              </a:ext>
            </a:extLst>
          </p:cNvPr>
          <p:cNvGrpSpPr/>
          <p:nvPr/>
        </p:nvGrpSpPr>
        <p:grpSpPr>
          <a:xfrm>
            <a:off x="5781675" y="1153160"/>
            <a:ext cx="4343400" cy="956945"/>
            <a:chOff x="5781675" y="1153160"/>
            <a:chExt cx="4343400" cy="956945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8CCB58F-39CC-E081-A3D5-C52803470ED2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6AA244A-3849-DFC4-2B5A-BF1E5B4E13A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Smiling face outline with solid fill">
                <a:extLst>
                  <a:ext uri="{FF2B5EF4-FFF2-40B4-BE49-F238E27FC236}">
                    <a16:creationId xmlns:a16="http://schemas.microsoft.com/office/drawing/2014/main" id="{8A6822BD-6475-B822-7E24-4BE3D4915F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E9D02F6-A57F-C4D6-C194-9E5298001994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43962D2-8FB9-5664-CCD7-CD7A16B59677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4" name="Graphic 53" descr="Smiling face outline with solid fill">
                <a:extLst>
                  <a:ext uri="{FF2B5EF4-FFF2-40B4-BE49-F238E27FC236}">
                    <a16:creationId xmlns:a16="http://schemas.microsoft.com/office/drawing/2014/main" id="{D4B3B780-A695-295D-7B63-3EFACE8A1E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5CE403E-BBA3-59E0-1534-C7FACAE8AC7A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F0BD504-84AE-9356-F2D6-F26A8EE1FCE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57" name="Graphic 56" descr="Smiling face outline with solid fill">
                <a:extLst>
                  <a:ext uri="{FF2B5EF4-FFF2-40B4-BE49-F238E27FC236}">
                    <a16:creationId xmlns:a16="http://schemas.microsoft.com/office/drawing/2014/main" id="{C6337ADA-5AEC-33B3-B2CC-0C41C0766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535EC32-6850-6C9E-227D-F4473D204FA1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98366DB5-6C2F-6208-DC23-2144FE6406D2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Smiling face outline with solid fill">
                <a:extLst>
                  <a:ext uri="{FF2B5EF4-FFF2-40B4-BE49-F238E27FC236}">
                    <a16:creationId xmlns:a16="http://schemas.microsoft.com/office/drawing/2014/main" id="{923D5578-9E43-4809-5EE9-49B4D9831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261202B-993B-EF7D-A8B4-6DCD9A149B53}"/>
              </a:ext>
            </a:extLst>
          </p:cNvPr>
          <p:cNvGrpSpPr/>
          <p:nvPr/>
        </p:nvGrpSpPr>
        <p:grpSpPr>
          <a:xfrm>
            <a:off x="5756275" y="2181860"/>
            <a:ext cx="4343400" cy="956945"/>
            <a:chOff x="5781675" y="1153160"/>
            <a:chExt cx="4343400" cy="956945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8723AF09-DD84-5722-7352-0ED008FAEFD0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771783D-1AD9-C696-7364-12CCCB346CD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4" name="Graphic 73" descr="Smiling face outline with solid fill">
                <a:extLst>
                  <a:ext uri="{FF2B5EF4-FFF2-40B4-BE49-F238E27FC236}">
                    <a16:creationId xmlns:a16="http://schemas.microsoft.com/office/drawing/2014/main" id="{58C7B7BF-42D8-687A-0E22-B40F64861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56462E0D-9AD5-3EAC-1CC1-15E48EE48391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FF3E8BD6-BFBA-DB9A-AFC2-64D417CCCCDF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2" name="Graphic 71" descr="Smiling face outline with solid fill">
                <a:extLst>
                  <a:ext uri="{FF2B5EF4-FFF2-40B4-BE49-F238E27FC236}">
                    <a16:creationId xmlns:a16="http://schemas.microsoft.com/office/drawing/2014/main" id="{6D8FACB0-77AE-8A75-E133-7C73EE7644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3B15832-9090-8005-5780-F4F5BB31232C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659ECBD-9CD6-9DF5-DB0D-2E275B683204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0" name="Graphic 69" descr="Smiling face outline with solid fill">
                <a:extLst>
                  <a:ext uri="{FF2B5EF4-FFF2-40B4-BE49-F238E27FC236}">
                    <a16:creationId xmlns:a16="http://schemas.microsoft.com/office/drawing/2014/main" id="{E517293B-4346-0208-9C1E-DA7E94C16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DBB0F997-5DB7-0D0E-0914-31FF2D96C599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BE74EC0-96ED-5431-28F2-6F8D7CFC3DFC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8" name="Graphic 67" descr="Smiling face outline with solid fill">
                <a:extLst>
                  <a:ext uri="{FF2B5EF4-FFF2-40B4-BE49-F238E27FC236}">
                    <a16:creationId xmlns:a16="http://schemas.microsoft.com/office/drawing/2014/main" id="{9E09A30F-5C3B-FC33-AFC9-45D392CB5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3E1242C-C7FB-4E86-AC7C-655588E23055}"/>
              </a:ext>
            </a:extLst>
          </p:cNvPr>
          <p:cNvGrpSpPr/>
          <p:nvPr/>
        </p:nvGrpSpPr>
        <p:grpSpPr>
          <a:xfrm>
            <a:off x="5781675" y="3283268"/>
            <a:ext cx="4343400" cy="956945"/>
            <a:chOff x="5781675" y="1153160"/>
            <a:chExt cx="4343400" cy="956945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4DB7C66-9ABE-2F33-215A-8342CCBCFB63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2BE91838-C7E1-9296-8A3E-9C4A7C8756E3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7" name="Graphic 86" descr="Smiling face outline with solid fill">
                <a:extLst>
                  <a:ext uri="{FF2B5EF4-FFF2-40B4-BE49-F238E27FC236}">
                    <a16:creationId xmlns:a16="http://schemas.microsoft.com/office/drawing/2014/main" id="{539F4A0C-D036-35C0-C99C-918990A907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EA9089D9-CD33-E0B3-A051-6C286572A92E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38A5C4C-AB0D-5ED2-BA9C-BBADC3BA1FB6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Smiling face outline with solid fill">
                <a:extLst>
                  <a:ext uri="{FF2B5EF4-FFF2-40B4-BE49-F238E27FC236}">
                    <a16:creationId xmlns:a16="http://schemas.microsoft.com/office/drawing/2014/main" id="{120AC60D-9624-F94B-DDC2-02063F4D01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DBC8A8A-19E5-1505-BCCF-8624774A3B7B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13406592-F264-EDD6-9AD5-3E7F544C0C4C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3" name="Graphic 82" descr="Smiling face outline with solid fill">
                <a:extLst>
                  <a:ext uri="{FF2B5EF4-FFF2-40B4-BE49-F238E27FC236}">
                    <a16:creationId xmlns:a16="http://schemas.microsoft.com/office/drawing/2014/main" id="{41D9C4AE-4CE8-E4F2-6C5F-8A23BC5EC6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BF4DF8F-40EA-3889-812B-7376D64E5E4F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C040B0D5-1560-C899-2C0B-544A00597A7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1" name="Graphic 80" descr="Smiling face outline with solid fill">
                <a:extLst>
                  <a:ext uri="{FF2B5EF4-FFF2-40B4-BE49-F238E27FC236}">
                    <a16:creationId xmlns:a16="http://schemas.microsoft.com/office/drawing/2014/main" id="{1A3212D3-4FC7-2DBD-A081-405E487F8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144E57B-465A-78FB-66C8-DA38F005D74B}"/>
              </a:ext>
            </a:extLst>
          </p:cNvPr>
          <p:cNvGrpSpPr/>
          <p:nvPr/>
        </p:nvGrpSpPr>
        <p:grpSpPr>
          <a:xfrm>
            <a:off x="5831205" y="4338955"/>
            <a:ext cx="4343400" cy="956945"/>
            <a:chOff x="5781675" y="1153160"/>
            <a:chExt cx="4343400" cy="956945"/>
          </a:xfrm>
        </p:grpSpPr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0B73F413-2964-97DB-C993-6C39FE5FB8A9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CA8A5769-676A-032D-4482-ED6F47AECC5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00" name="Graphic 99" descr="Smiling face outline with solid fill">
                <a:extLst>
                  <a:ext uri="{FF2B5EF4-FFF2-40B4-BE49-F238E27FC236}">
                    <a16:creationId xmlns:a16="http://schemas.microsoft.com/office/drawing/2014/main" id="{78835E98-BF73-51FB-8150-D66B22A2E5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8F41BFC-6685-BD7D-1B57-EA5EED5A9916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8B278C37-6C11-48BD-1089-2E0713DC5453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8" name="Graphic 97" descr="Smiling face outline with solid fill">
                <a:extLst>
                  <a:ext uri="{FF2B5EF4-FFF2-40B4-BE49-F238E27FC236}">
                    <a16:creationId xmlns:a16="http://schemas.microsoft.com/office/drawing/2014/main" id="{C3B66670-3A89-0F51-3717-8167A9764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E9B283F-3F33-1EAB-D51D-98D832DE0D09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F4CAD227-3864-8D34-FB60-BEC1CAE8B27B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6" name="Graphic 95" descr="Smiling face outline with solid fill">
                <a:extLst>
                  <a:ext uri="{FF2B5EF4-FFF2-40B4-BE49-F238E27FC236}">
                    <a16:creationId xmlns:a16="http://schemas.microsoft.com/office/drawing/2014/main" id="{AA12CA68-B8A5-3437-9A68-3492226C5E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420EACE8-D511-D137-2605-B2BF1FD7941E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732D5E5-1D0E-BDAF-9537-A0370816716E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94" name="Graphic 93" descr="Smiling face outline with solid fill">
                <a:extLst>
                  <a:ext uri="{FF2B5EF4-FFF2-40B4-BE49-F238E27FC236}">
                    <a16:creationId xmlns:a16="http://schemas.microsoft.com/office/drawing/2014/main" id="{2C1AC98C-BA49-F132-CC60-2AF8A316D0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01" name="Left Brace 100">
            <a:extLst>
              <a:ext uri="{FF2B5EF4-FFF2-40B4-BE49-F238E27FC236}">
                <a16:creationId xmlns:a16="http://schemas.microsoft.com/office/drawing/2014/main" id="{E2DC5E9E-4D35-7627-A451-4271B9B2097D}"/>
              </a:ext>
            </a:extLst>
          </p:cNvPr>
          <p:cNvSpPr/>
          <p:nvPr/>
        </p:nvSpPr>
        <p:spPr>
          <a:xfrm>
            <a:off x="1093153" y="1325880"/>
            <a:ext cx="457200" cy="3836035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sp>
        <p:nvSpPr>
          <p:cNvPr id="102" name="Left Brace 101">
            <a:extLst>
              <a:ext uri="{FF2B5EF4-FFF2-40B4-BE49-F238E27FC236}">
                <a16:creationId xmlns:a16="http://schemas.microsoft.com/office/drawing/2014/main" id="{1757B1E0-819F-CB7E-617C-B8D5AE502C90}"/>
              </a:ext>
            </a:extLst>
          </p:cNvPr>
          <p:cNvSpPr/>
          <p:nvPr/>
        </p:nvSpPr>
        <p:spPr>
          <a:xfrm rot="5400000">
            <a:off x="3058675" y="-925830"/>
            <a:ext cx="548640" cy="3472180"/>
          </a:xfrm>
          <a:prstGeom prst="leftBrac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8800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3F04187A-5E95-EB0C-9A70-FC0EF8E9528B}"/>
              </a:ext>
            </a:extLst>
          </p:cNvPr>
          <p:cNvSpPr/>
          <p:nvPr/>
        </p:nvSpPr>
        <p:spPr>
          <a:xfrm rot="5400000">
            <a:off x="8243253" y="-1991360"/>
            <a:ext cx="548640" cy="5471795"/>
          </a:xfrm>
          <a:prstGeom prst="leftBrace">
            <a:avLst>
              <a:gd name="adj1" fmla="val 0"/>
              <a:gd name="adj2" fmla="val 50000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9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74A3AF1-01C3-6BA3-EC46-0B441FAE8D94}"/>
              </a:ext>
            </a:extLst>
          </p:cNvPr>
          <p:cNvGrpSpPr/>
          <p:nvPr/>
        </p:nvGrpSpPr>
        <p:grpSpPr>
          <a:xfrm rot="5400000">
            <a:off x="8787130" y="2741297"/>
            <a:ext cx="3975735" cy="956945"/>
            <a:chOff x="5781675" y="1153160"/>
            <a:chExt cx="4343400" cy="956945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23849BE0-534A-E4E2-A47B-348114B18B54}"/>
                </a:ext>
              </a:extLst>
            </p:cNvPr>
            <p:cNvGrpSpPr/>
            <p:nvPr/>
          </p:nvGrpSpPr>
          <p:grpSpPr>
            <a:xfrm>
              <a:off x="5781675" y="1153160"/>
              <a:ext cx="914400" cy="914400"/>
              <a:chOff x="5638800" y="1061720"/>
              <a:chExt cx="914400" cy="914400"/>
            </a:xfrm>
          </p:grpSpPr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F90F2A30-1732-BC31-D17E-39A139FF93AF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6" name="Graphic 115" descr="Smiling face outline with solid fill">
                <a:extLst>
                  <a:ext uri="{FF2B5EF4-FFF2-40B4-BE49-F238E27FC236}">
                    <a16:creationId xmlns:a16="http://schemas.microsoft.com/office/drawing/2014/main" id="{C7B024E7-8812-CF96-83E2-46E69E0067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285F2D7B-43DD-460E-F6C3-1356E66922A2}"/>
                </a:ext>
              </a:extLst>
            </p:cNvPr>
            <p:cNvGrpSpPr/>
            <p:nvPr/>
          </p:nvGrpSpPr>
          <p:grpSpPr>
            <a:xfrm>
              <a:off x="6892290" y="1153160"/>
              <a:ext cx="914400" cy="914400"/>
              <a:chOff x="5638800" y="1061720"/>
              <a:chExt cx="914400" cy="914400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18F98BE4-195E-03DC-C0A0-A25A040FB7F2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4" name="Graphic 113" descr="Smiling face outline with solid fill">
                <a:extLst>
                  <a:ext uri="{FF2B5EF4-FFF2-40B4-BE49-F238E27FC236}">
                    <a16:creationId xmlns:a16="http://schemas.microsoft.com/office/drawing/2014/main" id="{387F6C1C-F025-F069-85A0-CDC90327DC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0A977476-72A2-6BC6-6F72-213A651C4C6D}"/>
                </a:ext>
              </a:extLst>
            </p:cNvPr>
            <p:cNvGrpSpPr/>
            <p:nvPr/>
          </p:nvGrpSpPr>
          <p:grpSpPr>
            <a:xfrm>
              <a:off x="8002905" y="1186180"/>
              <a:ext cx="914400" cy="914400"/>
              <a:chOff x="5638800" y="1061720"/>
              <a:chExt cx="914400" cy="914400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826A7B6E-3D6D-1430-9324-D089825588D0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2" name="Graphic 111" descr="Smiling face outline with solid fill">
                <a:extLst>
                  <a:ext uri="{FF2B5EF4-FFF2-40B4-BE49-F238E27FC236}">
                    <a16:creationId xmlns:a16="http://schemas.microsoft.com/office/drawing/2014/main" id="{5DF8FEFA-887A-636C-1620-91C2800636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A395E5B-537C-BDF9-E5BC-6E16136E0AA6}"/>
                </a:ext>
              </a:extLst>
            </p:cNvPr>
            <p:cNvGrpSpPr/>
            <p:nvPr/>
          </p:nvGrpSpPr>
          <p:grpSpPr>
            <a:xfrm>
              <a:off x="9210675" y="1195705"/>
              <a:ext cx="914400" cy="914400"/>
              <a:chOff x="5638800" y="1061720"/>
              <a:chExt cx="914400" cy="914400"/>
            </a:xfrm>
          </p:grpSpPr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0DB3B1D-6DCF-FFC5-A4ED-334CD0FEA499}"/>
                  </a:ext>
                </a:extLst>
              </p:cNvPr>
              <p:cNvSpPr/>
              <p:nvPr/>
            </p:nvSpPr>
            <p:spPr>
              <a:xfrm>
                <a:off x="5664200" y="1107440"/>
                <a:ext cx="863600" cy="82296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10" name="Graphic 109" descr="Smiling face outline with solid fill">
                <a:extLst>
                  <a:ext uri="{FF2B5EF4-FFF2-40B4-BE49-F238E27FC236}">
                    <a16:creationId xmlns:a16="http://schemas.microsoft.com/office/drawing/2014/main" id="{5FEFA4C6-E203-7A3E-55FF-4B9042F313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638800" y="1061720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2965EA32-2B13-FDC2-2374-8E2DDE169BCC}"/>
              </a:ext>
            </a:extLst>
          </p:cNvPr>
          <p:cNvSpPr txBox="1"/>
          <p:nvPr/>
        </p:nvSpPr>
        <p:spPr>
          <a:xfrm>
            <a:off x="3115348" y="-114558"/>
            <a:ext cx="435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8C536F7-7705-09B5-D105-530AFF7DB586}"/>
              </a:ext>
            </a:extLst>
          </p:cNvPr>
          <p:cNvSpPr txBox="1"/>
          <p:nvPr/>
        </p:nvSpPr>
        <p:spPr>
          <a:xfrm>
            <a:off x="8299926" y="-114558"/>
            <a:ext cx="4352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5</a:t>
            </a:r>
            <a:endParaRPr lang="en-US" sz="1800" b="1" dirty="0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59F2A59-666A-92F7-8AF6-7CCC1CAE0C3A}"/>
              </a:ext>
            </a:extLst>
          </p:cNvPr>
          <p:cNvSpPr txBox="1"/>
          <p:nvPr/>
        </p:nvSpPr>
        <p:spPr>
          <a:xfrm>
            <a:off x="521215" y="2723306"/>
            <a:ext cx="4352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4</a:t>
            </a:r>
            <a:endParaRPr lang="en-US" sz="3200" b="1" dirty="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1D44C41E-9893-015C-5FC4-0E9844922668}"/>
              </a:ext>
            </a:extLst>
          </p:cNvPr>
          <p:cNvSpPr txBox="1"/>
          <p:nvPr/>
        </p:nvSpPr>
        <p:spPr>
          <a:xfrm>
            <a:off x="521214" y="5715000"/>
            <a:ext cx="2594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3 + 5 * 4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1C34D48-06F8-83EF-9EE0-288CEBC65C6C}"/>
              </a:ext>
            </a:extLst>
          </p:cNvPr>
          <p:cNvSpPr txBox="1"/>
          <p:nvPr/>
        </p:nvSpPr>
        <p:spPr>
          <a:xfrm>
            <a:off x="4586605" y="5455385"/>
            <a:ext cx="28940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4 * 3 + </a:t>
            </a:r>
            <a:r>
              <a:rPr lang="ky-KG" sz="3600" b="1" dirty="0"/>
              <a:t>4</a:t>
            </a:r>
            <a:r>
              <a:rPr lang="en-US" sz="3600" b="1" dirty="0"/>
              <a:t> * 5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4D818ABB-A7BA-11E9-1A7B-076EBCBFFEA6}"/>
              </a:ext>
            </a:extLst>
          </p:cNvPr>
          <p:cNvSpPr txBox="1"/>
          <p:nvPr/>
        </p:nvSpPr>
        <p:spPr>
          <a:xfrm>
            <a:off x="8299926" y="5376907"/>
            <a:ext cx="2594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(3 + 5) * 4</a:t>
            </a:r>
          </a:p>
        </p:txBody>
      </p:sp>
      <p:pic>
        <p:nvPicPr>
          <p:cNvPr id="138" name="Graphic 137" descr="Close with solid fill">
            <a:extLst>
              <a:ext uri="{FF2B5EF4-FFF2-40B4-BE49-F238E27FC236}">
                <a16:creationId xmlns:a16="http://schemas.microsoft.com/office/drawing/2014/main" id="{7E849F3A-276F-19AE-5D17-FFE111E088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5678" y="5644516"/>
            <a:ext cx="914400" cy="914400"/>
          </a:xfrm>
          <a:prstGeom prst="rect">
            <a:avLst/>
          </a:prstGeom>
        </p:spPr>
      </p:pic>
      <p:pic>
        <p:nvPicPr>
          <p:cNvPr id="140" name="Graphic 139" descr="Checkmark with solid fill">
            <a:extLst>
              <a:ext uri="{FF2B5EF4-FFF2-40B4-BE49-F238E27FC236}">
                <a16:creationId xmlns:a16="http://schemas.microsoft.com/office/drawing/2014/main" id="{77A903D5-E1EF-9F21-5E7E-6DEB279082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16750" y="5198745"/>
            <a:ext cx="914400" cy="914400"/>
          </a:xfrm>
          <a:prstGeom prst="rect">
            <a:avLst/>
          </a:prstGeom>
        </p:spPr>
      </p:pic>
      <p:pic>
        <p:nvPicPr>
          <p:cNvPr id="141" name="Graphic 140" descr="Checkmark with solid fill">
            <a:extLst>
              <a:ext uri="{FF2B5EF4-FFF2-40B4-BE49-F238E27FC236}">
                <a16:creationId xmlns:a16="http://schemas.microsoft.com/office/drawing/2014/main" id="{9F74582B-22AA-3A0F-B1B2-A4A4C94130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92740" y="5161915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1B6A52-EA09-C320-D6CB-02BC99A46DA7}"/>
              </a:ext>
            </a:extLst>
          </p:cNvPr>
          <p:cNvSpPr txBox="1"/>
          <p:nvPr/>
        </p:nvSpPr>
        <p:spPr>
          <a:xfrm>
            <a:off x="3873461" y="6096218"/>
            <a:ext cx="6816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Бул эсептөөлөрдүн экөө гана туура жооп берет.</a:t>
            </a:r>
          </a:p>
          <a:p>
            <a:r>
              <a:rPr lang="ru-RU" sz="2400" dirty="0"/>
              <a:t>Амалдардын тартибин иштеп чыга аласызбы?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824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  <p:bldP spid="102" grpId="0" animBg="1"/>
      <p:bldP spid="103" grpId="0" animBg="1"/>
      <p:bldP spid="1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1C27-0DE6-B6A2-ADFE-6745E4FFAB0C}"/>
                  </a:ext>
                </a:extLst>
              </p:cNvPr>
              <p:cNvSpPr txBox="1"/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6+5×3=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A541C27-0DE6-B6A2-ADFE-6745E4FFA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/>
              <p:nvPr/>
            </p:nvSpPr>
            <p:spPr>
              <a:xfrm>
                <a:off x="3432682" y="4139764"/>
                <a:ext cx="3101297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6+15=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2" y="4139764"/>
                <a:ext cx="3101297" cy="902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/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54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/>
              <p:nvPr/>
            </p:nvSpPr>
            <p:spPr>
              <a:xfrm>
                <a:off x="3354424" y="4139764"/>
                <a:ext cx="3257815" cy="1517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4+12=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  <a:p>
                <a:pPr algn="just"/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C68BF5C-487F-A67E-0797-CD8067197A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424" y="4139764"/>
                <a:ext cx="3257815" cy="1517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/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369DACE-3A7C-5302-B0F0-F77CEF370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559" y="4129604"/>
                <a:ext cx="995465" cy="9020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CC4173-A9D8-964C-8CCC-2568ACE66AD3}"/>
                  </a:ext>
                </a:extLst>
              </p:cNvPr>
              <p:cNvSpPr txBox="1"/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4+2×6=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3CC4173-A9D8-964C-8CCC-2568ACE66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759" y="2839284"/>
                <a:ext cx="3993144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603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0EC0CB-108F-67A7-864B-9E4857466C14}"/>
                  </a:ext>
                </a:extLst>
              </p:cNvPr>
              <p:cNvSpPr txBox="1"/>
              <p:nvPr/>
            </p:nvSpPr>
            <p:spPr>
              <a:xfrm>
                <a:off x="4238810" y="2953169"/>
                <a:ext cx="3993144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6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3−7=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80EC0CB-108F-67A7-864B-9E4857466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810" y="2953169"/>
                <a:ext cx="3993144" cy="9020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179063-4901-FD90-CF72-3068012BB130}"/>
                  </a:ext>
                </a:extLst>
              </p:cNvPr>
              <p:cNvSpPr txBox="1"/>
              <p:nvPr/>
            </p:nvSpPr>
            <p:spPr>
              <a:xfrm>
                <a:off x="3750060" y="4083931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12−7=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8179063-4901-FD90-CF72-3068012BB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060" y="4083931"/>
                <a:ext cx="3101298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F3AC9-C869-B1C0-EC95-77B1A4C1666B}"/>
                  </a:ext>
                </a:extLst>
              </p:cNvPr>
              <p:cNvSpPr txBox="1"/>
              <p:nvPr/>
            </p:nvSpPr>
            <p:spPr>
              <a:xfrm>
                <a:off x="3408253" y="4189935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12−7=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99F3AC9-C869-B1C0-EC95-77B1A4C16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53" y="4189935"/>
                <a:ext cx="3101298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7AADC7-FCE7-B614-415E-A3B40220AC10}"/>
                  </a:ext>
                </a:extLst>
              </p:cNvPr>
              <p:cNvSpPr txBox="1"/>
              <p:nvPr/>
            </p:nvSpPr>
            <p:spPr>
              <a:xfrm>
                <a:off x="7105305" y="4115351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GB" sz="6000" baseline="30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87AADC7-FCE7-B614-415E-A3B40220A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305" y="4115351"/>
                <a:ext cx="541815" cy="90204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63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3" grpId="0"/>
      <p:bldP spid="28" grpId="0"/>
      <p:bldP spid="2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3172468" y="2941339"/>
                <a:ext cx="3577839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6+15÷5=</m:t>
                      </m:r>
                    </m:oMath>
                  </m:oMathPara>
                </a14:m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2468" y="2941339"/>
                <a:ext cx="3577839" cy="7216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32257" y="4139764"/>
                <a:ext cx="2702150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6+3=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57" y="4139764"/>
                <a:ext cx="2702150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795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3432683" y="2861681"/>
                <a:ext cx="3725315" cy="7216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(8+6)÷2=</m:t>
                      </m:r>
                    </m:oMath>
                  </m:oMathPara>
                </a14:m>
                <a:endParaRPr lang="en-GB" sz="4800" baseline="30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3" y="2861681"/>
                <a:ext cx="3725315" cy="7216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432683" y="4139764"/>
                <a:ext cx="3101298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14</m:t>
                      </m:r>
                      <m:r>
                        <a:rPr lang="en-GB" sz="60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2683" y="4139764"/>
                <a:ext cx="3101298" cy="9020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29343" y="4129604"/>
                <a:ext cx="601896" cy="15175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6000" baseline="30000" dirty="0"/>
              </a:p>
              <a:p>
                <a:pPr algn="just"/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343" y="4129604"/>
                <a:ext cx="601896" cy="1517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7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416" y="2676724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4323560" y="2965660"/>
                <a:ext cx="3633944" cy="12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2−2=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560" y="2965660"/>
                <a:ext cx="3633944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5−2=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564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8195217" y="4179775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4110039" y="2954961"/>
                <a:ext cx="4894417" cy="12141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4×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3−5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039" y="2954961"/>
                <a:ext cx="4894417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5−2=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5882" y="4139764"/>
                <a:ext cx="2674899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/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6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B279BBF-FF3D-3768-1BA2-2CE57E382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383" y="4129604"/>
                <a:ext cx="541815" cy="90204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6E0D25-06F7-1BC9-65B4-B9FFBA0C25B8}"/>
                  </a:ext>
                </a:extLst>
              </p:cNvPr>
              <p:cNvSpPr txBox="1"/>
              <p:nvPr/>
            </p:nvSpPr>
            <p:spPr>
              <a:xfrm>
                <a:off x="6287895" y="2728678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A6E0D25-06F7-1BC9-65B4-B9FFBA0C2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895" y="2728678"/>
                <a:ext cx="591509" cy="110799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BA921-9805-C38A-172F-3D75995FDF90}"/>
                  </a:ext>
                </a:extLst>
              </p:cNvPr>
              <p:cNvSpPr txBox="1"/>
              <p:nvPr/>
            </p:nvSpPr>
            <p:spPr>
              <a:xfrm>
                <a:off x="7780851" y="2693777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4BA921-9805-C38A-172F-3D75995FD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0851" y="2693777"/>
                <a:ext cx="591509" cy="110799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59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  <p:bldP spid="23" grpId="0"/>
      <p:bldP spid="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3" y="1744980"/>
            <a:ext cx="5763984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06374A1C-6E24-3134-BBD1-2BD3E675FE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756"/>
          <a:stretch/>
        </p:blipFill>
        <p:spPr>
          <a:xfrm>
            <a:off x="9979641" y="4245701"/>
            <a:ext cx="638317" cy="69016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85445" y="2773988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332137" y="4457753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/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F266612-4287-354C-F0AF-186AA9D38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296" y="2697044"/>
                <a:ext cx="591509" cy="11079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/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7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7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B5B6FED-444B-C0FF-C894-2D922763F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198" y="2708646"/>
                <a:ext cx="591509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/>
              <p:nvPr/>
            </p:nvSpPr>
            <p:spPr>
              <a:xfrm>
                <a:off x="1870841" y="2968748"/>
                <a:ext cx="7123997" cy="12141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48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48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4800" b="0" i="1" smtClean="0">
                          <a:latin typeface="Cambria Math" panose="02040503050406030204" pitchFamily="18" charset="0"/>
                        </a:rPr>
                        <m:t>2−6=</m:t>
                      </m:r>
                    </m:oMath>
                  </m:oMathPara>
                </a14:m>
                <a:endParaRPr lang="en-GB" sz="4800" baseline="30000" dirty="0"/>
              </a:p>
              <a:p>
                <a:pPr algn="just"/>
                <a:endParaRPr lang="en-GB" sz="48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D3E183F-11AB-1063-7812-6065B2DC0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0841" y="2968748"/>
                <a:ext cx="7123997" cy="121411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/>
              <p:nvPr/>
            </p:nvSpPr>
            <p:spPr>
              <a:xfrm>
                <a:off x="2760736" y="4139764"/>
                <a:ext cx="4445191" cy="9020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8+14−6=</m:t>
                      </m:r>
                    </m:oMath>
                  </m:oMathPara>
                </a14:m>
                <a:endParaRPr lang="en-GB" sz="6000" baseline="300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FE9243B-F3F4-525F-2357-817730D22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736" y="4139764"/>
                <a:ext cx="4445191" cy="9020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CE1D5-DAE9-9502-6616-14FB6B467F5C}"/>
                  </a:ext>
                </a:extLst>
              </p:cNvPr>
              <p:cNvSpPr txBox="1"/>
              <p:nvPr/>
            </p:nvSpPr>
            <p:spPr>
              <a:xfrm>
                <a:off x="6966341" y="4104503"/>
                <a:ext cx="202849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60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8BCE1D5-DAE9-9502-6616-14FB6B467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41" y="4104503"/>
                <a:ext cx="2028497" cy="10156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6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E290E4-B57B-D0F6-5140-FA2E20B62651}"/>
              </a:ext>
            </a:extLst>
          </p:cNvPr>
          <p:cNvSpPr/>
          <p:nvPr/>
        </p:nvSpPr>
        <p:spPr>
          <a:xfrm>
            <a:off x="2431233" y="12954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02737-8AE3-E88B-33EA-CBABC993AE48}"/>
              </a:ext>
            </a:extLst>
          </p:cNvPr>
          <p:cNvSpPr txBox="1"/>
          <p:nvPr/>
        </p:nvSpPr>
        <p:spPr>
          <a:xfrm>
            <a:off x="3903000" y="244148"/>
            <a:ext cx="361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Ичиндеги эсептөөлөр.</a:t>
            </a:r>
            <a:endParaRPr lang="en-GB" sz="24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/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GB" sz="4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0C11E2-8E75-847C-D075-AAAB54C7A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296" y="146884"/>
                <a:ext cx="90569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731FED-B1E2-F1E0-6488-752C67BD86A8}"/>
              </a:ext>
            </a:extLst>
          </p:cNvPr>
          <p:cNvSpPr/>
          <p:nvPr/>
        </p:nvSpPr>
        <p:spPr>
          <a:xfrm>
            <a:off x="2431233" y="95250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013C6-E698-3EB1-D688-02386CA5F000}"/>
              </a:ext>
            </a:extLst>
          </p:cNvPr>
          <p:cNvSpPr txBox="1"/>
          <p:nvPr/>
        </p:nvSpPr>
        <p:spPr>
          <a:xfrm>
            <a:off x="4635577" y="1067108"/>
            <a:ext cx="23443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/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950D1F-D27A-0524-24CF-1ED60863A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5696" y="969844"/>
                <a:ext cx="1069202" cy="6013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EF4F83-E06D-FB67-59BF-545D785046A7}"/>
              </a:ext>
            </a:extLst>
          </p:cNvPr>
          <p:cNvSpPr/>
          <p:nvPr/>
        </p:nvSpPr>
        <p:spPr>
          <a:xfrm>
            <a:off x="2431232" y="1744980"/>
            <a:ext cx="5879647" cy="690880"/>
          </a:xfrm>
          <a:prstGeom prst="roundRect">
            <a:avLst>
              <a:gd name="adj" fmla="val 8538"/>
            </a:avLst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17D495-AE3C-F817-C016-29A47CF2D910}"/>
              </a:ext>
            </a:extLst>
          </p:cNvPr>
          <p:cNvSpPr txBox="1"/>
          <p:nvPr/>
        </p:nvSpPr>
        <p:spPr>
          <a:xfrm>
            <a:off x="4635572" y="1859588"/>
            <a:ext cx="2456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/>
              <a:t>Солдон оңго</a:t>
            </a:r>
            <a:endParaRPr lang="en-GB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/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4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4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GB" sz="4000" baseline="30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80234B-CE29-D3A1-5D10-66E83162A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6" y="1762324"/>
                <a:ext cx="1199239" cy="6013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CE6506EF-48FD-983E-F497-E7CAD726306D}"/>
              </a:ext>
            </a:extLst>
          </p:cNvPr>
          <p:cNvSpPr txBox="1"/>
          <p:nvPr/>
        </p:nvSpPr>
        <p:spPr>
          <a:xfrm>
            <a:off x="-116239" y="129540"/>
            <a:ext cx="26597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Кашаанын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ичиндеги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амал биринчи .</a:t>
            </a:r>
            <a:r>
              <a:rPr lang="en-GB" sz="2400" b="1" dirty="0">
                <a:solidFill>
                  <a:srgbClr val="0070C0"/>
                </a:solidFill>
              </a:rPr>
              <a:t>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FB3FCE-D6C1-7A58-43AD-E08B4AE864BB}"/>
              </a:ext>
            </a:extLst>
          </p:cNvPr>
          <p:cNvSpPr txBox="1"/>
          <p:nvPr/>
        </p:nvSpPr>
        <p:spPr>
          <a:xfrm>
            <a:off x="-591229" y="1647516"/>
            <a:ext cx="34948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rgbClr val="0070C0"/>
                </a:solidFill>
              </a:rPr>
              <a:t>   кашааны эсептеп, </a:t>
            </a:r>
          </a:p>
          <a:p>
            <a:pPr algn="ctr"/>
            <a:r>
              <a:rPr lang="ru-RU" sz="2400" b="1" dirty="0">
                <a:solidFill>
                  <a:srgbClr val="0070C0"/>
                </a:solidFill>
              </a:rPr>
              <a:t>кайра жаз.</a:t>
            </a:r>
            <a:endParaRPr lang="en-GB" sz="2400" b="1" dirty="0">
              <a:solidFill>
                <a:srgbClr val="0070C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137AC-79B4-960D-E4FE-8D91E67E69C8}"/>
              </a:ext>
            </a:extLst>
          </p:cNvPr>
          <p:cNvSpPr txBox="1"/>
          <p:nvPr/>
        </p:nvSpPr>
        <p:spPr>
          <a:xfrm>
            <a:off x="2655696" y="2478315"/>
            <a:ext cx="568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Көчүрүп, бул амалдарды аткаргыла.</a:t>
            </a:r>
            <a:endParaRPr lang="en-US" sz="2800" dirty="0"/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0F70C22-5ABC-7B83-7AF6-10C4358D5E6C}"/>
              </a:ext>
            </a:extLst>
          </p:cNvPr>
          <p:cNvSpPr/>
          <p:nvPr/>
        </p:nvSpPr>
        <p:spPr>
          <a:xfrm>
            <a:off x="6351876" y="3043990"/>
            <a:ext cx="4751887" cy="3761740"/>
          </a:xfrm>
          <a:prstGeom prst="roundRect">
            <a:avLst>
              <a:gd name="adj" fmla="val 853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7904FADF-DAFF-9D98-0114-4E6FB5FBB386}"/>
              </a:ext>
            </a:extLst>
          </p:cNvPr>
          <p:cNvSpPr/>
          <p:nvPr/>
        </p:nvSpPr>
        <p:spPr>
          <a:xfrm>
            <a:off x="1164336" y="3072158"/>
            <a:ext cx="4751887" cy="3761740"/>
          </a:xfrm>
          <a:prstGeom prst="roundRect">
            <a:avLst>
              <a:gd name="adj" fmla="val 8538"/>
            </a:avLst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just"/>
            <a:endParaRPr lang="en-GB" sz="4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54F5F19-00F4-B352-92EA-2025B81F9984}"/>
                  </a:ext>
                </a:extLst>
              </p:cNvPr>
              <p:cNvSpPr txBox="1"/>
              <p:nvPr/>
            </p:nvSpPr>
            <p:spPr>
              <a:xfrm>
                <a:off x="3210144" y="3198642"/>
                <a:ext cx="212981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2×4+3=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654F5F19-00F4-B352-92EA-2025B81F99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144" y="3198642"/>
                <a:ext cx="2129814" cy="481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A741DF9-BABD-7FC0-68C3-E914391549D8}"/>
                  </a:ext>
                </a:extLst>
              </p:cNvPr>
              <p:cNvSpPr txBox="1"/>
              <p:nvPr/>
            </p:nvSpPr>
            <p:spPr>
              <a:xfrm>
                <a:off x="3190297" y="3940990"/>
                <a:ext cx="212981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6+5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A741DF9-BABD-7FC0-68C3-E914391549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297" y="3940990"/>
                <a:ext cx="2129814" cy="48109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E1B4342-BACD-DA2E-1D33-FE0B9F9F6060}"/>
                  </a:ext>
                </a:extLst>
              </p:cNvPr>
              <p:cNvSpPr txBox="1"/>
              <p:nvPr/>
            </p:nvSpPr>
            <p:spPr>
              <a:xfrm>
                <a:off x="2850461" y="4726534"/>
                <a:ext cx="2469650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(5+2)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E1B4342-BACD-DA2E-1D33-FE0B9F9F6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0461" y="4726534"/>
                <a:ext cx="2469650" cy="48109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900318-AD0C-9690-6DD2-1799CC3079B4}"/>
                  </a:ext>
                </a:extLst>
              </p:cNvPr>
              <p:cNvSpPr txBox="1"/>
              <p:nvPr/>
            </p:nvSpPr>
            <p:spPr>
              <a:xfrm>
                <a:off x="1844027" y="5483973"/>
                <a:ext cx="352564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(3+2)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(8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4)=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B900318-AD0C-9690-6DD2-1799CC307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4027" y="5483973"/>
                <a:ext cx="3525644" cy="4810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9B98330-80D5-6F93-C8EE-E072E4E4881B}"/>
                  </a:ext>
                </a:extLst>
              </p:cNvPr>
              <p:cNvSpPr txBox="1"/>
              <p:nvPr/>
            </p:nvSpPr>
            <p:spPr>
              <a:xfrm>
                <a:off x="2474139" y="6214716"/>
                <a:ext cx="2845972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4−2=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09B98330-80D5-6F93-C8EE-E072E4E48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139" y="6214716"/>
                <a:ext cx="2845972" cy="48109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BD0F98D4-6AA7-A1F6-440C-F628A24DD038}"/>
              </a:ext>
            </a:extLst>
          </p:cNvPr>
          <p:cNvSpPr txBox="1"/>
          <p:nvPr/>
        </p:nvSpPr>
        <p:spPr>
          <a:xfrm>
            <a:off x="1266323" y="3198642"/>
            <a:ext cx="370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722AA1-F987-D6DC-2C54-8CA25B993230}"/>
              </a:ext>
            </a:extLst>
          </p:cNvPr>
          <p:cNvSpPr txBox="1"/>
          <p:nvPr/>
        </p:nvSpPr>
        <p:spPr>
          <a:xfrm>
            <a:off x="1266323" y="3960419"/>
            <a:ext cx="370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11747-9EF4-DC09-8FE3-3AF2A5B86A84}"/>
              </a:ext>
            </a:extLst>
          </p:cNvPr>
          <p:cNvSpPr txBox="1"/>
          <p:nvPr/>
        </p:nvSpPr>
        <p:spPr>
          <a:xfrm>
            <a:off x="1277544" y="4722196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C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2591B42-513A-C1C4-89A2-797ACED3D289}"/>
              </a:ext>
            </a:extLst>
          </p:cNvPr>
          <p:cNvSpPr txBox="1"/>
          <p:nvPr/>
        </p:nvSpPr>
        <p:spPr>
          <a:xfrm>
            <a:off x="1262316" y="5483973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D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02E1DDB-F486-AA34-355E-021BC4706B30}"/>
              </a:ext>
            </a:extLst>
          </p:cNvPr>
          <p:cNvSpPr txBox="1"/>
          <p:nvPr/>
        </p:nvSpPr>
        <p:spPr>
          <a:xfrm>
            <a:off x="1283956" y="6245751"/>
            <a:ext cx="3353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88BAB0-16B8-AAC3-9939-A04F22484B28}"/>
              </a:ext>
            </a:extLst>
          </p:cNvPr>
          <p:cNvSpPr txBox="1"/>
          <p:nvPr/>
        </p:nvSpPr>
        <p:spPr>
          <a:xfrm>
            <a:off x="5242321" y="3146801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11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86C176-DDAD-0195-F531-E4B6C19DB13F}"/>
              </a:ext>
            </a:extLst>
          </p:cNvPr>
          <p:cNvSpPr txBox="1"/>
          <p:nvPr/>
        </p:nvSpPr>
        <p:spPr>
          <a:xfrm>
            <a:off x="5242320" y="3895869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4ACC6ED1-98F2-F012-86DA-E069E2CED226}"/>
              </a:ext>
            </a:extLst>
          </p:cNvPr>
          <p:cNvSpPr txBox="1"/>
          <p:nvPr/>
        </p:nvSpPr>
        <p:spPr>
          <a:xfrm>
            <a:off x="5253542" y="4683065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28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CC03078-2B84-2F07-62AF-2EE6B81D548A}"/>
              </a:ext>
            </a:extLst>
          </p:cNvPr>
          <p:cNvSpPr txBox="1"/>
          <p:nvPr/>
        </p:nvSpPr>
        <p:spPr>
          <a:xfrm>
            <a:off x="5262652" y="5453518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CF9009B-E5B9-5CC1-38B3-687E711DDCC0}"/>
              </a:ext>
            </a:extLst>
          </p:cNvPr>
          <p:cNvSpPr txBox="1"/>
          <p:nvPr/>
        </p:nvSpPr>
        <p:spPr>
          <a:xfrm>
            <a:off x="5262652" y="6138254"/>
            <a:ext cx="7758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20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0AD15DE-80C2-B524-A6D1-1431AAA2B714}"/>
                  </a:ext>
                </a:extLst>
              </p:cNvPr>
              <p:cNvSpPr txBox="1"/>
              <p:nvPr/>
            </p:nvSpPr>
            <p:spPr>
              <a:xfrm>
                <a:off x="7320736" y="3109161"/>
                <a:ext cx="3086421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7+12</m:t>
                      </m:r>
                      <m:r>
                        <a:rPr lang="en-GB" sz="320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3+5=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B0AD15DE-80C2-B524-A6D1-1431AAA2B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0736" y="3109161"/>
                <a:ext cx="3086421" cy="4810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4DD3F5-B8C8-2DAA-6885-AD27EA6D99D1}"/>
                  </a:ext>
                </a:extLst>
              </p:cNvPr>
              <p:cNvSpPr txBox="1"/>
              <p:nvPr/>
            </p:nvSpPr>
            <p:spPr>
              <a:xfrm>
                <a:off x="7539272" y="3876501"/>
                <a:ext cx="2845972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DE4DD3F5-B8C8-2DAA-6885-AD27EA6D9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9272" y="3876501"/>
                <a:ext cx="2845972" cy="4810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DE0FEED-B803-349B-E996-E82B8A79982B}"/>
                  </a:ext>
                </a:extLst>
              </p:cNvPr>
              <p:cNvSpPr txBox="1"/>
              <p:nvPr/>
            </p:nvSpPr>
            <p:spPr>
              <a:xfrm>
                <a:off x="7333560" y="4682350"/>
                <a:ext cx="3073597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2+8=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ADE0FEED-B803-349B-E996-E82B8A799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560" y="4682350"/>
                <a:ext cx="3073597" cy="4810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04D25F4-E148-477C-5EA5-1170C80050B8}"/>
                  </a:ext>
                </a:extLst>
              </p:cNvPr>
              <p:cNvSpPr txBox="1"/>
              <p:nvPr/>
            </p:nvSpPr>
            <p:spPr>
              <a:xfrm>
                <a:off x="6993584" y="5434118"/>
                <a:ext cx="3606564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12−2</m:t>
                          </m:r>
                        </m:e>
                      </m:d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5−1=  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C04D25F4-E148-477C-5EA5-1170C80050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3584" y="5434118"/>
                <a:ext cx="3606564" cy="4810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0D94A8C-DE43-070A-9EF9-A4D7A6E76C16}"/>
                  </a:ext>
                </a:extLst>
              </p:cNvPr>
              <p:cNvSpPr txBox="1"/>
              <p:nvPr/>
            </p:nvSpPr>
            <p:spPr>
              <a:xfrm>
                <a:off x="6923671" y="6142282"/>
                <a:ext cx="3562129" cy="4810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6+2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3+9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3=</m:t>
                      </m:r>
                    </m:oMath>
                  </m:oMathPara>
                </a14:m>
                <a:endParaRPr lang="en-GB" sz="3200" baseline="30000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B0D94A8C-DE43-070A-9EF9-A4D7A6E76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3671" y="6142282"/>
                <a:ext cx="3562129" cy="4810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TextBox 152">
            <a:extLst>
              <a:ext uri="{FF2B5EF4-FFF2-40B4-BE49-F238E27FC236}">
                <a16:creationId xmlns:a16="http://schemas.microsoft.com/office/drawing/2014/main" id="{15340DC2-0854-9469-1192-C98497782582}"/>
              </a:ext>
            </a:extLst>
          </p:cNvPr>
          <p:cNvSpPr txBox="1"/>
          <p:nvPr/>
        </p:nvSpPr>
        <p:spPr>
          <a:xfrm>
            <a:off x="6363843" y="313651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F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9DEF88C-D092-BA86-7195-E05E06CB12B8}"/>
              </a:ext>
            </a:extLst>
          </p:cNvPr>
          <p:cNvSpPr txBox="1"/>
          <p:nvPr/>
        </p:nvSpPr>
        <p:spPr>
          <a:xfrm>
            <a:off x="6336593" y="3898293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G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5ED88E1-85BB-C594-A1D0-26777B0D47AE}"/>
              </a:ext>
            </a:extLst>
          </p:cNvPr>
          <p:cNvSpPr txBox="1"/>
          <p:nvPr/>
        </p:nvSpPr>
        <p:spPr>
          <a:xfrm>
            <a:off x="6337394" y="4660070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H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7E83263-F012-8C11-66DF-B4E6F3B155BC}"/>
              </a:ext>
            </a:extLst>
          </p:cNvPr>
          <p:cNvSpPr txBox="1"/>
          <p:nvPr/>
        </p:nvSpPr>
        <p:spPr>
          <a:xfrm>
            <a:off x="6393499" y="5421847"/>
            <a:ext cx="266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I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67F42F-0796-EE35-CDDB-E169C7FBD2C3}"/>
              </a:ext>
            </a:extLst>
          </p:cNvPr>
          <p:cNvSpPr txBox="1"/>
          <p:nvPr/>
        </p:nvSpPr>
        <p:spPr>
          <a:xfrm>
            <a:off x="6383079" y="6183625"/>
            <a:ext cx="2872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/>
              <a:t>J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EE51174-1725-8C5C-BDF6-2783BB95A3AC}"/>
              </a:ext>
            </a:extLst>
          </p:cNvPr>
          <p:cNvSpPr txBox="1"/>
          <p:nvPr/>
        </p:nvSpPr>
        <p:spPr>
          <a:xfrm>
            <a:off x="10319801" y="3071694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16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8920D61-86C9-6BAE-BA8C-A6212008B087}"/>
              </a:ext>
            </a:extLst>
          </p:cNvPr>
          <p:cNvSpPr txBox="1"/>
          <p:nvPr/>
        </p:nvSpPr>
        <p:spPr>
          <a:xfrm>
            <a:off x="10319801" y="3829789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12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A0A0B09-24E3-324F-9759-FAB91FF7953E}"/>
              </a:ext>
            </a:extLst>
          </p:cNvPr>
          <p:cNvSpPr txBox="1"/>
          <p:nvPr/>
        </p:nvSpPr>
        <p:spPr>
          <a:xfrm>
            <a:off x="10319801" y="4599086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18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32CE1970-941C-16C9-EE8B-D824FE6679CE}"/>
              </a:ext>
            </a:extLst>
          </p:cNvPr>
          <p:cNvSpPr txBox="1"/>
          <p:nvPr/>
        </p:nvSpPr>
        <p:spPr>
          <a:xfrm>
            <a:off x="10319878" y="5390514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DB2A81B0-0C9F-5CFC-4254-58B38A94D5F6}"/>
              </a:ext>
            </a:extLst>
          </p:cNvPr>
          <p:cNvSpPr txBox="1"/>
          <p:nvPr/>
        </p:nvSpPr>
        <p:spPr>
          <a:xfrm>
            <a:off x="10374588" y="6077021"/>
            <a:ext cx="6530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ambria Math" panose="02040503050406030204" pitchFamily="18" charset="0"/>
                <a:ea typeface="Cambria Math" panose="02040503050406030204" pitchFamily="18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5400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901064"/>
            <a:ext cx="10515600" cy="55911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mathematicskgz@gmail.com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528</TotalTime>
  <Words>656</Words>
  <Application>Microsoft Office PowerPoint</Application>
  <PresentationFormat>Widescreen</PresentationFormat>
  <Paragraphs>256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Abadi</vt:lpstr>
      <vt:lpstr>Arial</vt:lpstr>
      <vt:lpstr>Calibri</vt:lpstr>
      <vt:lpstr>Calibri Light</vt:lpstr>
      <vt:lpstr>Cambria Math</vt:lpstr>
      <vt:lpstr>Google Sans</vt:lpstr>
      <vt:lpstr>Office Theme</vt:lpstr>
      <vt:lpstr>MathKGZ  -- </vt:lpstr>
      <vt:lpstr>PowerPoint Presentation</vt:lpstr>
      <vt:lpstr>PowerPoint Presentation</vt:lpstr>
      <vt:lpstr>Келгиндин эрежесин жана биздин эрежени колдонуу менен ар бир эсептөөнүн жообун табыңыз.</vt:lpstr>
      <vt:lpstr>Бул эсептөөлөр үчүн АМАЛДАРДЫН ТАРТИБИН ӨЗГӨРТҮП, канча ТҮРДҮҮ НАТЫЙЖАЛАРДЫ таба аласыз?</vt:lpstr>
      <vt:lpstr>PowerPoint Presentation</vt:lpstr>
      <vt:lpstr>Амалдардын тартиби бизге алардын артыкчылыктарын айтып берет.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 </dc:title>
  <dc:creator>Isa Amanov</dc:creator>
  <cp:lastModifiedBy>Isa Amanov</cp:lastModifiedBy>
  <cp:revision>11</cp:revision>
  <dcterms:created xsi:type="dcterms:W3CDTF">2023-06-07T11:18:56Z</dcterms:created>
  <dcterms:modified xsi:type="dcterms:W3CDTF">2023-12-12T03:55:47Z</dcterms:modified>
</cp:coreProperties>
</file>