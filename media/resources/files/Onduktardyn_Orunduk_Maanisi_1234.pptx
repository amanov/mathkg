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1" r:id="rId2"/>
    <p:sldId id="944" r:id="rId3"/>
    <p:sldId id="943" r:id="rId4"/>
    <p:sldId id="945" r:id="rId5"/>
    <p:sldId id="952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C4659DC0-7484-41CA-9778-EE130BF135E2}">
          <p14:sldIdLst>
            <p14:sldId id="951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птор" id="{1FEDB314-42DC-4694-9B04-D4A4AAE625F7}">
          <p14:sldIdLst>
            <p14:sldId id="943"/>
          </p14:sldIdLst>
        </p14:section>
        <p14:section name="Таркатма иш кагаздар" id="{A78D9305-6AAE-4715-A210-52F6908F30F7}">
          <p14:sldIdLst>
            <p14:sldId id="945"/>
          </p14:sldIdLst>
        </p14:section>
        <p14:section name="Кайтарым байланыш" id="{C660F4E5-1F80-478D-84B1-DBCAC0451415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y-KG" sz="2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Ондуктардын орундук мааниси 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</a:t>
            </a:r>
            <a:r>
              <a:rPr kumimoji="0" lang="ru-RU" sz="28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1 2 3 4</a:t>
            </a:r>
            <a:endParaRPr kumimoji="0" lang="en-US" sz="3600" b="1" i="0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ky-KG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9CD8D5-EC9F-B31E-DE86-595E1D035F4D}"/>
              </a:ext>
            </a:extLst>
          </p:cNvPr>
          <p:cNvSpPr txBox="1"/>
          <p:nvPr/>
        </p:nvSpPr>
        <p:spPr>
          <a:xfrm>
            <a:off x="1821352" y="229918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83,257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46E8ED-8527-1265-1862-2CBAD40921BF}"/>
              </a:ext>
            </a:extLst>
          </p:cNvPr>
          <p:cNvSpPr txBox="1"/>
          <p:nvPr/>
        </p:nvSpPr>
        <p:spPr>
          <a:xfrm>
            <a:off x="53172" y="781403"/>
            <a:ext cx="49423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ондуктун…</a:t>
            </a:r>
          </a:p>
          <a:p>
            <a:endParaRPr lang="ky-KG" dirty="0"/>
          </a:p>
          <a:p>
            <a:r>
              <a:rPr lang="ky-KG" dirty="0"/>
              <a:t>...ондук тилкесинде кайсы сан жайгашкан?</a:t>
            </a:r>
          </a:p>
          <a:p>
            <a:endParaRPr lang="ky-KG" dirty="0"/>
          </a:p>
          <a:p>
            <a:r>
              <a:rPr lang="ky-KG" dirty="0"/>
              <a:t>…ондук үлүш тилкесинде кайсы сан жайгашкан?</a:t>
            </a:r>
          </a:p>
          <a:p>
            <a:endParaRPr lang="ky-KG" dirty="0"/>
          </a:p>
          <a:p>
            <a:r>
              <a:rPr lang="ky-KG" dirty="0"/>
              <a:t>... жүздүк үлүш тилкесинде кайсы сан</a:t>
            </a:r>
          </a:p>
          <a:p>
            <a:r>
              <a:rPr lang="ky-KG" dirty="0"/>
              <a:t>                                                 жайгашкан?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2A667-C3CC-0A4E-DDC1-648BCFAA5584}"/>
              </a:ext>
            </a:extLst>
          </p:cNvPr>
          <p:cNvSpPr txBox="1"/>
          <p:nvPr/>
        </p:nvSpPr>
        <p:spPr>
          <a:xfrm>
            <a:off x="5507167" y="912185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0,79 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6E9DF4-3DCC-764F-B7D5-E62BF9FB082D}"/>
                  </a:ext>
                </a:extLst>
              </p:cNvPr>
              <p:cNvSpPr txBox="1"/>
              <p:nvPr/>
            </p:nvSpPr>
            <p:spPr>
              <a:xfrm>
                <a:off x="6548289" y="778559"/>
                <a:ext cx="49404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6E9DF4-3DCC-764F-B7D5-E62BF9FB0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289" y="778559"/>
                <a:ext cx="494046" cy="6365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ABADF3-5C86-FDE4-89E7-B7557FF25766}"/>
                  </a:ext>
                </a:extLst>
              </p:cNvPr>
              <p:cNvSpPr txBox="1"/>
              <p:nvPr/>
            </p:nvSpPr>
            <p:spPr>
              <a:xfrm>
                <a:off x="7090098" y="912185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ABADF3-5C86-FDE4-89E7-B7557FF25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098" y="912185"/>
                <a:ext cx="41068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3AFA16-C192-B845-3DF5-14475B0FB677}"/>
                  </a:ext>
                </a:extLst>
              </p:cNvPr>
              <p:cNvSpPr txBox="1"/>
              <p:nvPr/>
            </p:nvSpPr>
            <p:spPr>
              <a:xfrm>
                <a:off x="7548549" y="778559"/>
                <a:ext cx="62228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3AFA16-C192-B845-3DF5-14475B0FB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549" y="778559"/>
                <a:ext cx="622286" cy="6365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9722272-CDF8-31E6-5D0B-8D31B86B9D3F}"/>
              </a:ext>
            </a:extLst>
          </p:cNvPr>
          <p:cNvSpPr txBox="1"/>
          <p:nvPr/>
        </p:nvSpPr>
        <p:spPr>
          <a:xfrm>
            <a:off x="5507167" y="2175719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0,836 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0E79E7-E100-6F0A-57A3-1A5E518FEDDF}"/>
                  </a:ext>
                </a:extLst>
              </p:cNvPr>
              <p:cNvSpPr txBox="1"/>
              <p:nvPr/>
            </p:nvSpPr>
            <p:spPr>
              <a:xfrm>
                <a:off x="6548289" y="2042093"/>
                <a:ext cx="49404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0E79E7-E100-6F0A-57A3-1A5E518FE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289" y="2042093"/>
                <a:ext cx="494046" cy="6365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CF8C7C-D812-F7E6-44F4-B1EF3986EACE}"/>
                  </a:ext>
                </a:extLst>
              </p:cNvPr>
              <p:cNvSpPr txBox="1"/>
              <p:nvPr/>
            </p:nvSpPr>
            <p:spPr>
              <a:xfrm>
                <a:off x="7090098" y="2175719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CF8C7C-D812-F7E6-44F4-B1EF3986E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098" y="2175719"/>
                <a:ext cx="4106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D8FF97-030E-5189-F192-C45F3F21ECE7}"/>
                  </a:ext>
                </a:extLst>
              </p:cNvPr>
              <p:cNvSpPr txBox="1"/>
              <p:nvPr/>
            </p:nvSpPr>
            <p:spPr>
              <a:xfrm>
                <a:off x="7548549" y="2042093"/>
                <a:ext cx="62228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D8FF97-030E-5189-F192-C45F3F21E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549" y="2042093"/>
                <a:ext cx="622286" cy="6365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1444EF9-E0B8-73CF-4029-4F0858D4A9AE}"/>
                  </a:ext>
                </a:extLst>
              </p:cNvPr>
              <p:cNvSpPr txBox="1"/>
              <p:nvPr/>
            </p:nvSpPr>
            <p:spPr>
              <a:xfrm>
                <a:off x="8137502" y="2175719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1444EF9-E0B8-73CF-4029-4F0858D4A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502" y="2175719"/>
                <a:ext cx="4106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9EDF96A-97B5-72B5-8444-C7DCB253B55E}"/>
                  </a:ext>
                </a:extLst>
              </p:cNvPr>
              <p:cNvSpPr txBox="1"/>
              <p:nvPr/>
            </p:nvSpPr>
            <p:spPr>
              <a:xfrm>
                <a:off x="8682515" y="2042093"/>
                <a:ext cx="449162" cy="634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9EDF96A-97B5-72B5-8444-C7DCB253B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515" y="2042093"/>
                <a:ext cx="449162" cy="6347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4262D3EC-DC49-EA35-B3C1-762E56CCAE16}"/>
              </a:ext>
            </a:extLst>
          </p:cNvPr>
          <p:cNvSpPr txBox="1"/>
          <p:nvPr/>
        </p:nvSpPr>
        <p:spPr>
          <a:xfrm>
            <a:off x="5587307" y="31044"/>
            <a:ext cx="3922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санды туюндуруу үчүн бөлчөк </a:t>
            </a:r>
          </a:p>
          <a:p>
            <a:pPr algn="ctr"/>
            <a:r>
              <a:rPr lang="ky-KG" dirty="0"/>
              <a:t> суммасы катары жаз.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44CE75D-B328-09FE-D29E-C70BAD8A552D}"/>
              </a:ext>
            </a:extLst>
          </p:cNvPr>
          <p:cNvSpPr txBox="1"/>
          <p:nvPr/>
        </p:nvSpPr>
        <p:spPr>
          <a:xfrm>
            <a:off x="0" y="4777697"/>
            <a:ext cx="4894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...граммдын канча толук ондон бир бөлүгү бар?</a:t>
            </a:r>
            <a:endParaRPr lang="en-GB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C49E06-A229-3645-7176-6FAE88A7183B}"/>
              </a:ext>
            </a:extLst>
          </p:cNvPr>
          <p:cNvSpPr txBox="1"/>
          <p:nvPr/>
        </p:nvSpPr>
        <p:spPr>
          <a:xfrm>
            <a:off x="441" y="3453311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1,125 граммда…</a:t>
            </a:r>
            <a:endParaRPr lang="en-GB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BCF6DA-DCEF-8CBD-86BB-6FBBA566311E}"/>
              </a:ext>
            </a:extLst>
          </p:cNvPr>
          <p:cNvSpPr txBox="1"/>
          <p:nvPr/>
        </p:nvSpPr>
        <p:spPr>
          <a:xfrm>
            <a:off x="441" y="5566413"/>
            <a:ext cx="4266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...бир граммдын канча толук жүздөн бир </a:t>
            </a:r>
          </a:p>
          <a:p>
            <a:pPr algn="ctr"/>
            <a:r>
              <a:rPr lang="ky-KG" dirty="0"/>
              <a:t>бөлүгү бар?</a:t>
            </a:r>
            <a:endParaRPr lang="en-GB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A26FC8F-7362-1AD6-97C1-F0584A0BED11}"/>
              </a:ext>
            </a:extLst>
          </p:cNvPr>
          <p:cNvSpPr txBox="1"/>
          <p:nvPr/>
        </p:nvSpPr>
        <p:spPr>
          <a:xfrm>
            <a:off x="150034" y="3958738"/>
            <a:ext cx="3785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…5 саны кандай маанини билдирет?</a:t>
            </a:r>
            <a:endParaRPr lang="en-GB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8FA2086-D6E0-395C-1001-89053949E993}"/>
              </a:ext>
            </a:extLst>
          </p:cNvPr>
          <p:cNvSpPr txBox="1"/>
          <p:nvPr/>
        </p:nvSpPr>
        <p:spPr>
          <a:xfrm>
            <a:off x="6249116" y="3569689"/>
            <a:ext cx="2049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6,181</a:t>
            </a:r>
            <a:r>
              <a:rPr lang="en-GB" dirty="0"/>
              <a:t> </a:t>
            </a:r>
            <a:r>
              <a:rPr lang="ky-KG" sz="1800" dirty="0"/>
              <a:t>километр</a:t>
            </a:r>
            <a:endParaRPr lang="en-GB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A2CB893-7C89-7996-686B-06C151E77FEB}"/>
              </a:ext>
            </a:extLst>
          </p:cNvPr>
          <p:cNvSpPr txBox="1"/>
          <p:nvPr/>
        </p:nvSpPr>
        <p:spPr>
          <a:xfrm>
            <a:off x="5153257" y="4092909"/>
            <a:ext cx="3867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Асты сызылган сандардын маанисин </a:t>
            </a:r>
          </a:p>
          <a:p>
            <a:pPr algn="ctr"/>
            <a:r>
              <a:rPr lang="ky-KG" dirty="0"/>
              <a:t>километрдин жөнөкөйлөштүрүлгөн</a:t>
            </a:r>
          </a:p>
          <a:p>
            <a:pPr algn="ctr"/>
            <a:r>
              <a:rPr lang="ky-KG" dirty="0"/>
              <a:t> бөлчөк катары көрсөт.</a:t>
            </a:r>
            <a:endParaRPr lang="en-GB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684F760-DCE4-8884-C331-042D0DA8E29E}"/>
              </a:ext>
            </a:extLst>
          </p:cNvPr>
          <p:cNvCxnSpPr>
            <a:cxnSpLocks/>
          </p:cNvCxnSpPr>
          <p:nvPr/>
        </p:nvCxnSpPr>
        <p:spPr>
          <a:xfrm>
            <a:off x="6641220" y="4039308"/>
            <a:ext cx="328699" cy="0"/>
          </a:xfrm>
          <a:prstGeom prst="line">
            <a:avLst/>
          </a:prstGeom>
          <a:ln w="2857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56CBCD1-3D4D-06B7-DBC5-ED7B8D587926}"/>
              </a:ext>
            </a:extLst>
          </p:cNvPr>
          <p:cNvSpPr txBox="1"/>
          <p:nvPr/>
        </p:nvSpPr>
        <p:spPr>
          <a:xfrm>
            <a:off x="6484279" y="5043193"/>
            <a:ext cx="1524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2,108</a:t>
            </a:r>
            <a:r>
              <a:rPr lang="en-GB" dirty="0"/>
              <a:t> </a:t>
            </a:r>
            <a:r>
              <a:rPr lang="ky-KG" dirty="0"/>
              <a:t>литр</a:t>
            </a:r>
            <a:endParaRPr lang="en-GB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C064C57-4C7A-B696-35AD-5CF9830BE858}"/>
              </a:ext>
            </a:extLst>
          </p:cNvPr>
          <p:cNvSpPr txBox="1"/>
          <p:nvPr/>
        </p:nvSpPr>
        <p:spPr>
          <a:xfrm>
            <a:off x="5152749" y="5613513"/>
            <a:ext cx="46562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Асты сызылган сандардын маанисин кмдин </a:t>
            </a:r>
          </a:p>
          <a:p>
            <a:r>
              <a:rPr lang="ky-KG" dirty="0"/>
              <a:t>жөнөкөйлөштүрүлгөн бөлчөгү катары көрсөт.</a:t>
            </a:r>
            <a:endParaRPr lang="en-GB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A401276-7EF1-416C-E6DA-43F6F8B6D7D4}"/>
              </a:ext>
            </a:extLst>
          </p:cNvPr>
          <p:cNvCxnSpPr>
            <a:cxnSpLocks/>
          </p:cNvCxnSpPr>
          <p:nvPr/>
        </p:nvCxnSpPr>
        <p:spPr>
          <a:xfrm>
            <a:off x="6854606" y="5512812"/>
            <a:ext cx="523962" cy="0"/>
          </a:xfrm>
          <a:prstGeom prst="line">
            <a:avLst/>
          </a:prstGeom>
          <a:ln w="2857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66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9CD8D5-EC9F-B31E-DE86-595E1D035F4D}"/>
              </a:ext>
            </a:extLst>
          </p:cNvPr>
          <p:cNvSpPr txBox="1"/>
          <p:nvPr/>
        </p:nvSpPr>
        <p:spPr>
          <a:xfrm>
            <a:off x="1821352" y="229918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83,257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0B5476-07CE-6B6D-C293-06080532DC87}"/>
              </a:ext>
            </a:extLst>
          </p:cNvPr>
          <p:cNvSpPr txBox="1"/>
          <p:nvPr/>
        </p:nvSpPr>
        <p:spPr>
          <a:xfrm>
            <a:off x="4537140" y="1270972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ky-KG" sz="2000" b="1" dirty="0"/>
              <a:t>3</a:t>
            </a:r>
            <a:endParaRPr lang="en-GB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B20307-2690-33E4-C563-752EA39E3E5A}"/>
              </a:ext>
            </a:extLst>
          </p:cNvPr>
          <p:cNvSpPr txBox="1"/>
          <p:nvPr/>
        </p:nvSpPr>
        <p:spPr>
          <a:xfrm>
            <a:off x="3913180" y="285303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b="1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2A667-C3CC-0A4E-DDC1-648BCFAA5584}"/>
              </a:ext>
            </a:extLst>
          </p:cNvPr>
          <p:cNvSpPr txBox="1"/>
          <p:nvPr/>
        </p:nvSpPr>
        <p:spPr>
          <a:xfrm>
            <a:off x="5507167" y="912185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0,79 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6E9DF4-3DCC-764F-B7D5-E62BF9FB082D}"/>
                  </a:ext>
                </a:extLst>
              </p:cNvPr>
              <p:cNvSpPr txBox="1"/>
              <p:nvPr/>
            </p:nvSpPr>
            <p:spPr>
              <a:xfrm>
                <a:off x="6548289" y="778559"/>
                <a:ext cx="49404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6E9DF4-3DCC-764F-B7D5-E62BF9FB0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289" y="778559"/>
                <a:ext cx="494046" cy="6365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ABADF3-5C86-FDE4-89E7-B7557FF25766}"/>
                  </a:ext>
                </a:extLst>
              </p:cNvPr>
              <p:cNvSpPr txBox="1"/>
              <p:nvPr/>
            </p:nvSpPr>
            <p:spPr>
              <a:xfrm>
                <a:off x="7090098" y="912185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ABADF3-5C86-FDE4-89E7-B7557FF25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098" y="912185"/>
                <a:ext cx="41068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3AFA16-C192-B845-3DF5-14475B0FB677}"/>
                  </a:ext>
                </a:extLst>
              </p:cNvPr>
              <p:cNvSpPr txBox="1"/>
              <p:nvPr/>
            </p:nvSpPr>
            <p:spPr>
              <a:xfrm>
                <a:off x="7548549" y="778559"/>
                <a:ext cx="62228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3AFA16-C192-B845-3DF5-14475B0FB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549" y="778559"/>
                <a:ext cx="622286" cy="6365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F9D9A592-6BC1-880F-CC68-8A6FA6BFB4A7}"/>
              </a:ext>
            </a:extLst>
          </p:cNvPr>
          <p:cNvSpPr txBox="1"/>
          <p:nvPr/>
        </p:nvSpPr>
        <p:spPr>
          <a:xfrm>
            <a:off x="6638953" y="665420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BD358B-00F6-942A-148A-D6C0683F7A2C}"/>
              </a:ext>
            </a:extLst>
          </p:cNvPr>
          <p:cNvSpPr txBox="1"/>
          <p:nvPr/>
        </p:nvSpPr>
        <p:spPr>
          <a:xfrm>
            <a:off x="7694669" y="665420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722272-CDF8-31E6-5D0B-8D31B86B9D3F}"/>
              </a:ext>
            </a:extLst>
          </p:cNvPr>
          <p:cNvSpPr txBox="1"/>
          <p:nvPr/>
        </p:nvSpPr>
        <p:spPr>
          <a:xfrm>
            <a:off x="5507167" y="2175719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0,836 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0E79E7-E100-6F0A-57A3-1A5E518FEDDF}"/>
                  </a:ext>
                </a:extLst>
              </p:cNvPr>
              <p:cNvSpPr txBox="1"/>
              <p:nvPr/>
            </p:nvSpPr>
            <p:spPr>
              <a:xfrm>
                <a:off x="6548289" y="2042093"/>
                <a:ext cx="49404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0E79E7-E100-6F0A-57A3-1A5E518FE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289" y="2042093"/>
                <a:ext cx="494046" cy="6365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CF8C7C-D812-F7E6-44F4-B1EF3986EACE}"/>
                  </a:ext>
                </a:extLst>
              </p:cNvPr>
              <p:cNvSpPr txBox="1"/>
              <p:nvPr/>
            </p:nvSpPr>
            <p:spPr>
              <a:xfrm>
                <a:off x="7090098" y="2175719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ACF8C7C-D812-F7E6-44F4-B1EF3986EA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098" y="2175719"/>
                <a:ext cx="4106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D8FF97-030E-5189-F192-C45F3F21ECE7}"/>
                  </a:ext>
                </a:extLst>
              </p:cNvPr>
              <p:cNvSpPr txBox="1"/>
              <p:nvPr/>
            </p:nvSpPr>
            <p:spPr>
              <a:xfrm>
                <a:off x="7548549" y="2042093"/>
                <a:ext cx="622286" cy="63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FD8FF97-030E-5189-F192-C45F3F21E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549" y="2042093"/>
                <a:ext cx="622286" cy="6365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8F0C80D8-4F30-C098-677B-637A634E7A61}"/>
              </a:ext>
            </a:extLst>
          </p:cNvPr>
          <p:cNvSpPr txBox="1"/>
          <p:nvPr/>
        </p:nvSpPr>
        <p:spPr>
          <a:xfrm>
            <a:off x="6638953" y="192895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33553E-E136-2415-C552-98026240CDBE}"/>
              </a:ext>
            </a:extLst>
          </p:cNvPr>
          <p:cNvSpPr txBox="1"/>
          <p:nvPr/>
        </p:nvSpPr>
        <p:spPr>
          <a:xfrm>
            <a:off x="7694669" y="192895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1444EF9-E0B8-73CF-4029-4F0858D4A9AE}"/>
                  </a:ext>
                </a:extLst>
              </p:cNvPr>
              <p:cNvSpPr txBox="1"/>
              <p:nvPr/>
            </p:nvSpPr>
            <p:spPr>
              <a:xfrm>
                <a:off x="8137502" y="2175719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1444EF9-E0B8-73CF-4029-4F0858D4A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502" y="2175719"/>
                <a:ext cx="41068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9EDF96A-97B5-72B5-8444-C7DCB253B55E}"/>
                  </a:ext>
                </a:extLst>
              </p:cNvPr>
              <p:cNvSpPr txBox="1"/>
              <p:nvPr/>
            </p:nvSpPr>
            <p:spPr>
              <a:xfrm>
                <a:off x="8682515" y="2042093"/>
                <a:ext cx="449162" cy="634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9EDF96A-97B5-72B5-8444-C7DCB253B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515" y="2042093"/>
                <a:ext cx="449162" cy="6347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848FF5F0-0915-84C7-EA4F-05C92F02CDBA}"/>
              </a:ext>
            </a:extLst>
          </p:cNvPr>
          <p:cNvSpPr txBox="1"/>
          <p:nvPr/>
        </p:nvSpPr>
        <p:spPr>
          <a:xfrm>
            <a:off x="8742073" y="1928954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870017-E27B-536C-79EA-55CECF0D2DC4}"/>
              </a:ext>
            </a:extLst>
          </p:cNvPr>
          <p:cNvSpPr txBox="1"/>
          <p:nvPr/>
        </p:nvSpPr>
        <p:spPr>
          <a:xfrm>
            <a:off x="4365983" y="2159432"/>
            <a:ext cx="314510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b="1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06331E9-D2B6-CF4E-E582-F75395296D97}"/>
              </a:ext>
            </a:extLst>
          </p:cNvPr>
          <p:cNvSpPr txBox="1"/>
          <p:nvPr/>
        </p:nvSpPr>
        <p:spPr>
          <a:xfrm>
            <a:off x="8547309" y="2436031"/>
            <a:ext cx="70403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1000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E24CD2-B54C-2F4E-CA3D-441C06952FC9}"/>
              </a:ext>
            </a:extLst>
          </p:cNvPr>
          <p:cNvSpPr txBox="1"/>
          <p:nvPr/>
        </p:nvSpPr>
        <p:spPr>
          <a:xfrm>
            <a:off x="4283967" y="5091907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GB" sz="2000" dirty="0"/>
              <a:t>11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DEB054A-A553-F380-7105-937B75C6E032}"/>
              </a:ext>
            </a:extLst>
          </p:cNvPr>
          <p:cNvSpPr txBox="1"/>
          <p:nvPr/>
        </p:nvSpPr>
        <p:spPr>
          <a:xfrm>
            <a:off x="4127643" y="6076597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112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2233823-1C09-18C8-50A7-E7AACC427EC6}"/>
                  </a:ext>
                </a:extLst>
              </p:cNvPr>
              <p:cNvSpPr txBox="1"/>
              <p:nvPr/>
            </p:nvSpPr>
            <p:spPr>
              <a:xfrm>
                <a:off x="8393817" y="4758216"/>
                <a:ext cx="1412374" cy="52950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y-KG" sz="2000" dirty="0"/>
                  <a:t>км</a:t>
                </a:r>
                <a:endParaRPr lang="en-GB" sz="2000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2233823-1C09-18C8-50A7-E7AACC427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817" y="4758216"/>
                <a:ext cx="1412374" cy="529504"/>
              </a:xfrm>
              <a:prstGeom prst="rect">
                <a:avLst/>
              </a:prstGeom>
              <a:blipFill>
                <a:blip r:embed="rId10"/>
                <a:stretch>
                  <a:fillRect r="-1688" b="-5495"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D171550-8C30-1EF4-6F6C-3EC6C2F06BFD}"/>
                  </a:ext>
                </a:extLst>
              </p:cNvPr>
              <p:cNvSpPr txBox="1"/>
              <p:nvPr/>
            </p:nvSpPr>
            <p:spPr>
              <a:xfrm>
                <a:off x="7912138" y="6178252"/>
                <a:ext cx="1847878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108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sz="2000" b="0" i="0" smtClean="0">
                          <a:latin typeface="Cambria Math" panose="02040503050406030204" pitchFamily="18" charset="0"/>
                        </a:rPr>
                        <m:t>Л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D171550-8C30-1EF4-6F6C-3EC6C2F06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138" y="6178252"/>
                <a:ext cx="1847878" cy="6705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14BCCDC-1DE2-F30D-1BF4-E631CF3A730F}"/>
                  </a:ext>
                </a:extLst>
              </p:cNvPr>
              <p:cNvSpPr txBox="1"/>
              <p:nvPr/>
            </p:nvSpPr>
            <p:spPr>
              <a:xfrm>
                <a:off x="4070435" y="3824256"/>
                <a:ext cx="813043" cy="67685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14BCCDC-1DE2-F30D-1BF4-E631CF3A7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435" y="3824256"/>
                <a:ext cx="813043" cy="6768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C7E6B1AC-DFED-7C01-3CBD-9AC485A2C85D}"/>
              </a:ext>
            </a:extLst>
          </p:cNvPr>
          <p:cNvSpPr txBox="1"/>
          <p:nvPr/>
        </p:nvSpPr>
        <p:spPr>
          <a:xfrm>
            <a:off x="899923" y="4407223"/>
            <a:ext cx="3206327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ru-RU" sz="2000" dirty="0"/>
              <a:t>граммдын миңден 5 бөлүгү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7FB2D1-B717-1404-116F-7B5F12E62490}"/>
              </a:ext>
            </a:extLst>
          </p:cNvPr>
          <p:cNvSpPr txBox="1"/>
          <p:nvPr/>
        </p:nvSpPr>
        <p:spPr>
          <a:xfrm>
            <a:off x="53172" y="781403"/>
            <a:ext cx="49423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ондуктун…</a:t>
            </a:r>
          </a:p>
          <a:p>
            <a:endParaRPr lang="ky-KG" dirty="0"/>
          </a:p>
          <a:p>
            <a:r>
              <a:rPr lang="ky-KG" dirty="0"/>
              <a:t>...ондук тилкесинде кайсы сан жайгашкан?</a:t>
            </a:r>
          </a:p>
          <a:p>
            <a:endParaRPr lang="ky-KG" dirty="0"/>
          </a:p>
          <a:p>
            <a:r>
              <a:rPr lang="ky-KG" dirty="0"/>
              <a:t>…ондук үлүш тилкесинде кайсы сан жайгашкан?</a:t>
            </a:r>
          </a:p>
          <a:p>
            <a:endParaRPr lang="ky-KG" dirty="0"/>
          </a:p>
          <a:p>
            <a:r>
              <a:rPr lang="ky-KG" dirty="0"/>
              <a:t>... жүздүк үлүш тилкесинде кайсы сан</a:t>
            </a:r>
          </a:p>
          <a:p>
            <a:r>
              <a:rPr lang="ky-KG" dirty="0"/>
              <a:t>                                                 жайгашкан?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4DC8C-D4C9-8413-6E81-D6932DAF8A51}"/>
              </a:ext>
            </a:extLst>
          </p:cNvPr>
          <p:cNvSpPr txBox="1"/>
          <p:nvPr/>
        </p:nvSpPr>
        <p:spPr>
          <a:xfrm>
            <a:off x="5587307" y="31044"/>
            <a:ext cx="3922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Ар бир санды туюндуруу үчүн бөлчөк </a:t>
            </a:r>
          </a:p>
          <a:p>
            <a:pPr algn="ctr"/>
            <a:r>
              <a:rPr lang="ky-KG" dirty="0"/>
              <a:t> суммасы катары жаз.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DACBC7-054D-E514-9235-B036DE973BCD}"/>
              </a:ext>
            </a:extLst>
          </p:cNvPr>
          <p:cNvSpPr txBox="1"/>
          <p:nvPr/>
        </p:nvSpPr>
        <p:spPr>
          <a:xfrm>
            <a:off x="0" y="4777697"/>
            <a:ext cx="4894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...граммдын канча толук ондон бир бөлүгү бар?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1AF19-25DA-1703-FE72-8B943B780E7D}"/>
              </a:ext>
            </a:extLst>
          </p:cNvPr>
          <p:cNvSpPr txBox="1"/>
          <p:nvPr/>
        </p:nvSpPr>
        <p:spPr>
          <a:xfrm>
            <a:off x="441" y="3453311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1,125 граммда…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3CFFE7-99CD-1984-C29C-C81889F2F072}"/>
              </a:ext>
            </a:extLst>
          </p:cNvPr>
          <p:cNvSpPr txBox="1"/>
          <p:nvPr/>
        </p:nvSpPr>
        <p:spPr>
          <a:xfrm>
            <a:off x="441" y="5566413"/>
            <a:ext cx="4266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...бир граммдын канча толук жүздөн бир </a:t>
            </a:r>
          </a:p>
          <a:p>
            <a:pPr algn="ctr"/>
            <a:r>
              <a:rPr lang="ky-KG" dirty="0"/>
              <a:t>бөлүгү бар?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C4F67D-BC66-587F-6DCA-477CCC0B17F5}"/>
              </a:ext>
            </a:extLst>
          </p:cNvPr>
          <p:cNvSpPr txBox="1"/>
          <p:nvPr/>
        </p:nvSpPr>
        <p:spPr>
          <a:xfrm>
            <a:off x="150034" y="3958738"/>
            <a:ext cx="3785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…5 саны кандай маанини билдирет?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9E9715-CABA-9EBC-7473-FABE16BB0582}"/>
              </a:ext>
            </a:extLst>
          </p:cNvPr>
          <p:cNvSpPr txBox="1"/>
          <p:nvPr/>
        </p:nvSpPr>
        <p:spPr>
          <a:xfrm>
            <a:off x="6249116" y="3569689"/>
            <a:ext cx="2049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6,181</a:t>
            </a:r>
            <a:r>
              <a:rPr lang="en-GB" dirty="0"/>
              <a:t> </a:t>
            </a:r>
            <a:r>
              <a:rPr lang="ky-KG" sz="1800" dirty="0"/>
              <a:t>километр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6752A3-50B3-8F6E-BF3E-7251A5BFDDCE}"/>
              </a:ext>
            </a:extLst>
          </p:cNvPr>
          <p:cNvSpPr txBox="1"/>
          <p:nvPr/>
        </p:nvSpPr>
        <p:spPr>
          <a:xfrm>
            <a:off x="5153257" y="4092909"/>
            <a:ext cx="3867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Асты сызылган сандардын маанисин </a:t>
            </a:r>
          </a:p>
          <a:p>
            <a:pPr algn="ctr"/>
            <a:r>
              <a:rPr lang="ky-KG" dirty="0"/>
              <a:t>километрдин жөнөкөйлөштүрүлгөн</a:t>
            </a:r>
          </a:p>
          <a:p>
            <a:pPr algn="ctr"/>
            <a:r>
              <a:rPr lang="ky-KG" dirty="0"/>
              <a:t> бөлчөк катары көрсөт.</a:t>
            </a:r>
            <a:endParaRPr lang="en-GB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9E1C8B8-EC2D-6032-EEE6-B62C5B512162}"/>
              </a:ext>
            </a:extLst>
          </p:cNvPr>
          <p:cNvCxnSpPr>
            <a:cxnSpLocks/>
          </p:cNvCxnSpPr>
          <p:nvPr/>
        </p:nvCxnSpPr>
        <p:spPr>
          <a:xfrm>
            <a:off x="6641220" y="4039308"/>
            <a:ext cx="328699" cy="0"/>
          </a:xfrm>
          <a:prstGeom prst="line">
            <a:avLst/>
          </a:prstGeom>
          <a:ln w="2857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EE34972-B4F7-1F2E-5AC1-05BEB5D226F6}"/>
              </a:ext>
            </a:extLst>
          </p:cNvPr>
          <p:cNvSpPr txBox="1"/>
          <p:nvPr/>
        </p:nvSpPr>
        <p:spPr>
          <a:xfrm>
            <a:off x="6511399" y="5147029"/>
            <a:ext cx="1524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2,108</a:t>
            </a:r>
            <a:r>
              <a:rPr lang="en-GB" dirty="0"/>
              <a:t> </a:t>
            </a:r>
            <a:r>
              <a:rPr lang="ky-KG" dirty="0"/>
              <a:t>литр</a:t>
            </a:r>
            <a:endParaRPr lang="en-GB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D1898DA-A61D-4B5C-D801-3898E28DD84D}"/>
              </a:ext>
            </a:extLst>
          </p:cNvPr>
          <p:cNvCxnSpPr>
            <a:cxnSpLocks/>
          </p:cNvCxnSpPr>
          <p:nvPr/>
        </p:nvCxnSpPr>
        <p:spPr>
          <a:xfrm>
            <a:off x="6881726" y="5616648"/>
            <a:ext cx="523962" cy="0"/>
          </a:xfrm>
          <a:prstGeom prst="line">
            <a:avLst/>
          </a:prstGeom>
          <a:ln w="28575"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F30A404-9A3C-2815-1675-B9C88065B59C}"/>
              </a:ext>
            </a:extLst>
          </p:cNvPr>
          <p:cNvSpPr txBox="1"/>
          <p:nvPr/>
        </p:nvSpPr>
        <p:spPr>
          <a:xfrm>
            <a:off x="5152749" y="5613513"/>
            <a:ext cx="46562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Асты сызылган сандардын маанисин кмдин </a:t>
            </a:r>
          </a:p>
          <a:p>
            <a:r>
              <a:rPr lang="ky-KG" dirty="0"/>
              <a:t>жөнөкөйлөштүрүлгөн бөлчөгү катары көрсөт.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21" grpId="0" animBg="1"/>
      <p:bldP spid="22" grpId="0" animBg="1"/>
      <p:bldP spid="27" grpId="0" animBg="1"/>
      <p:bldP spid="29" grpId="0" animBg="1"/>
      <p:bldP spid="36" grpId="0" animBg="1"/>
      <p:bldP spid="58" grpId="0" animBg="1"/>
      <p:bldP spid="59" grpId="0" animBg="1"/>
      <p:bldP spid="65" grpId="0" animBg="1"/>
      <p:bldP spid="66" grpId="0" animBg="1"/>
      <p:bldP spid="74" grpId="0" animBg="1"/>
      <p:bldP spid="78" grpId="0" animBg="1"/>
      <p:bldP spid="2" grpId="0" animBg="1"/>
      <p:bldP spid="6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A11BEF-9044-21C4-C5FF-B2951FAF2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20946" y="977984"/>
            <a:ext cx="6731170" cy="47752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9E3208-D904-5A1B-761F-E27AD3EE5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52815" y="977985"/>
            <a:ext cx="6731170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32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10607</TotalTime>
  <Words>292</Words>
  <Application>Microsoft Office PowerPoint</Application>
  <PresentationFormat>A4 Paper (210x297 mm)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538</cp:revision>
  <cp:lastPrinted>2017-12-31T22:38:51Z</cp:lastPrinted>
  <dcterms:created xsi:type="dcterms:W3CDTF">2017-01-17T16:57:04Z</dcterms:created>
  <dcterms:modified xsi:type="dcterms:W3CDTF">2024-09-22T17:38:06Z</dcterms:modified>
</cp:coreProperties>
</file>