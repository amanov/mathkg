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9"/>
  </p:notesMasterIdLst>
  <p:handoutMasterIdLst>
    <p:handoutMasterId r:id="rId20"/>
  </p:handoutMasterIdLst>
  <p:sldIdLst>
    <p:sldId id="257" r:id="rId3"/>
    <p:sldId id="962" r:id="rId4"/>
    <p:sldId id="1013" r:id="rId5"/>
    <p:sldId id="1014" r:id="rId6"/>
    <p:sldId id="1015" r:id="rId7"/>
    <p:sldId id="1018" r:id="rId8"/>
    <p:sldId id="1023" r:id="rId9"/>
    <p:sldId id="1025" r:id="rId10"/>
    <p:sldId id="1026" r:id="rId11"/>
    <p:sldId id="1027" r:id="rId12"/>
    <p:sldId id="1024" r:id="rId13"/>
    <p:sldId id="1019" r:id="rId14"/>
    <p:sldId id="1020" r:id="rId15"/>
    <p:sldId id="1021" r:id="rId16"/>
    <p:sldId id="1022" r:id="rId17"/>
    <p:sldId id="274" r:id="rId18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-түшүндүрмө" id="{059544AC-2C27-45B1-9F95-F87DF8854DD6}">
          <p14:sldIdLst>
            <p14:sldId id="962"/>
            <p14:sldId id="1013"/>
            <p14:sldId id="1014"/>
            <p14:sldId id="1015"/>
          </p14:sldIdLst>
        </p14:section>
        <p14:section name="Текшерүү үчун суроолор" id="{383121A3-9552-441B-82DD-9A579F1001A3}">
          <p14:sldIdLst>
            <p14:sldId id="1018"/>
          </p14:sldIdLst>
        </p14:section>
        <p14:section name="Сабак- Түшүндүрмөлөр" id="{F295AE36-FD68-4AD3-B194-C53E7C948E8A}">
          <p14:sldIdLst>
            <p14:sldId id="1023"/>
            <p14:sldId id="1025"/>
            <p14:sldId id="1026"/>
            <p14:sldId id="1027"/>
          </p14:sldIdLst>
        </p14:section>
        <p14:section name="Текшерүү үчун суроолор" id="{77A49ED9-6E4F-4B48-89E2-6B74A5598FF1}">
          <p14:sldIdLst>
            <p14:sldId id="1024"/>
          </p14:sldIdLst>
        </p14:section>
        <p14:section name="Сабак- Түшүндүрмөлөр" id="{3B645718-AC4A-4B58-83AA-116945A706A3}">
          <p14:sldIdLst>
            <p14:sldId id="1019"/>
            <p14:sldId id="1020"/>
            <p14:sldId id="1021"/>
          </p14:sldIdLst>
        </p14:section>
        <p14:section name="Текшерүү үчун суроолор" id="{CC874A6B-C4EB-40CE-9A24-81E118B152C8}">
          <p14:sldIdLst>
            <p14:sldId id="1022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e" initials="k" lastIdx="1" clrIdx="0">
    <p:extLst>
      <p:ext uri="{19B8F6BF-5375-455C-9EA6-DF929625EA0E}">
        <p15:presenceInfo xmlns:p15="http://schemas.microsoft.com/office/powerpoint/2012/main" userId="ki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1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566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53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7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3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9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5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30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5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47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dirty="0"/>
              <a:t>Сатып алуу</a:t>
            </a:r>
            <a:r>
              <a:rPr lang="ru-RU" dirty="0"/>
              <a:t> – Бөлүп төлөө менен сатып алуу -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295879" y="0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Бердибек жаңы телефон алгысы келет.</a:t>
            </a:r>
          </a:p>
          <a:p>
            <a:pPr algn="ctr"/>
            <a:r>
              <a:rPr lang="ru-RU" sz="2000" dirty="0"/>
              <a:t>Ал каалаган телефонго төлөөнүн эки жолу бар.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C920C-C0C7-4260-BAA3-718D64EBAD0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21" y="784697"/>
            <a:ext cx="1086645" cy="110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44622-191C-4DD4-9E3A-AA9DE2809F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841028" y="754918"/>
            <a:ext cx="671701" cy="1131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23714" y="2373969"/>
            <a:ext cx="3295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22 080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6449915" y="2066193"/>
            <a:ext cx="28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эч нерсе төлөбөй, </a:t>
            </a:r>
          </a:p>
          <a:p>
            <a:pPr algn="ctr"/>
            <a:r>
              <a:rPr lang="ky-KG" sz="2000" dirty="0"/>
              <a:t>2441 сомдон </a:t>
            </a:r>
          </a:p>
          <a:p>
            <a:pPr algn="ctr"/>
            <a:r>
              <a:rPr lang="ky-KG" sz="2000" dirty="0"/>
              <a:t>10 айлык төлөм!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282003" y="2066193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07018" y="3354307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69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22 080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098515" y="3059724"/>
            <a:ext cx="3616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× </a:t>
            </a:r>
            <a:r>
              <a:rPr lang="ky-KG" sz="2400" dirty="0"/>
              <a:t>2441 сом</a:t>
            </a:r>
            <a:r>
              <a:rPr lang="en-GB" sz="2400" dirty="0"/>
              <a:t>= 24</a:t>
            </a:r>
            <a:r>
              <a:rPr lang="ky-KG" sz="2400" dirty="0"/>
              <a:t> </a:t>
            </a:r>
            <a:r>
              <a:rPr lang="en-GB" sz="2400" dirty="0"/>
              <a:t>410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7864" y="4370642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Бердибекке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6820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121761" y="0"/>
            <a:ext cx="5662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Жаркынай жаңы велосипед сатып алгысы келет.</a:t>
            </a:r>
          </a:p>
          <a:p>
            <a:pPr algn="ctr"/>
            <a:r>
              <a:rPr lang="ky-KG" sz="2000" dirty="0"/>
              <a:t>Ал каалаган велосипедди төлөөнүн эки жолу бар.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55773" y="2373969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38 835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5974429" y="2066193"/>
            <a:ext cx="37757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5550 сом төлөңүз, </a:t>
            </a:r>
          </a:p>
          <a:p>
            <a:pPr algn="ctr"/>
            <a:r>
              <a:rPr lang="ky-KG" sz="2000" dirty="0"/>
              <a:t>андан кийин 8 айда</a:t>
            </a:r>
          </a:p>
          <a:p>
            <a:pPr algn="ctr"/>
            <a:r>
              <a:rPr lang="ky-KG" sz="2000" dirty="0"/>
              <a:t>4999сомдон гана төлөйсүз!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415051" y="2190408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60472" y="3316495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70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38 835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127076" y="3070832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5550</a:t>
            </a:r>
            <a:r>
              <a:rPr lang="en-GB" sz="2400" dirty="0"/>
              <a:t> + 8 × </a:t>
            </a:r>
            <a:r>
              <a:rPr lang="ky-KG" sz="2400" dirty="0"/>
              <a:t>4999</a:t>
            </a:r>
            <a:r>
              <a:rPr lang="en-GB" sz="2400" dirty="0"/>
              <a:t>= 45 542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4270" y="4451689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Жаркынайга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773E09-C375-4A68-95AD-38AA8ED823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4892" y="739037"/>
            <a:ext cx="1667986" cy="10660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88920A-F513-45E9-AB9D-19ECFCEA41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64" y="810624"/>
            <a:ext cx="1337737" cy="10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1747726" y="0"/>
            <a:ext cx="6410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Канат менен Азиза бир окшош телефонду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451278" y="2725615"/>
            <a:ext cx="702108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 дароо чыгымды төлөө үчүн чогулткан акчасын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Азизанын телефону 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64565" y="1881600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24 965 сом 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100239" y="1573824"/>
            <a:ext cx="35417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4450 сом төлөп, </a:t>
            </a:r>
          </a:p>
          <a:p>
            <a:pPr algn="ctr"/>
            <a:r>
              <a:rPr lang="ky-KG" sz="2000" dirty="0"/>
              <a:t>андан кийин болгону 2777</a:t>
            </a:r>
          </a:p>
          <a:p>
            <a:pPr algn="ctr"/>
            <a:r>
              <a:rPr lang="ky-KG" sz="2000" dirty="0"/>
              <a:t> сомдон 9 ай 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FE59C4-16F9-4B3E-A7C6-330A0F6E19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428" y="449755"/>
            <a:ext cx="839895" cy="96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8BDAF3-9237-4327-8BDB-D12ED1214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604" y="477813"/>
            <a:ext cx="905006" cy="928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D291EC-6A88-4578-A95C-B93FA65201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975311" y="376756"/>
            <a:ext cx="671701" cy="11310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5B8513-99C7-49EF-A40D-33E652930F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6736096" y="376756"/>
            <a:ext cx="671701" cy="11310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393026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136538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828492-E46B-4C38-AD12-5EB8D6AF918F}"/>
              </a:ext>
            </a:extLst>
          </p:cNvPr>
          <p:cNvSpPr/>
          <p:nvPr/>
        </p:nvSpPr>
        <p:spPr>
          <a:xfrm>
            <a:off x="2202314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F5DDE-9D20-4F35-81E1-3D925E3F4CD6}"/>
              </a:ext>
            </a:extLst>
          </p:cNvPr>
          <p:cNvSpPr/>
          <p:nvPr/>
        </p:nvSpPr>
        <p:spPr>
          <a:xfrm>
            <a:off x="290407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6BC22-D4A8-4992-8C7F-74CF8E0BE725}"/>
              </a:ext>
            </a:extLst>
          </p:cNvPr>
          <p:cNvSpPr/>
          <p:nvPr/>
        </p:nvSpPr>
        <p:spPr>
          <a:xfrm>
            <a:off x="3614415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398C7A-0725-4E22-8D86-CA91EAB65DF0}"/>
              </a:ext>
            </a:extLst>
          </p:cNvPr>
          <p:cNvSpPr/>
          <p:nvPr/>
        </p:nvSpPr>
        <p:spPr>
          <a:xfrm>
            <a:off x="432475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007B58-F0AE-4397-A9F9-AA57F85D0061}"/>
              </a:ext>
            </a:extLst>
          </p:cNvPr>
          <p:cNvSpPr/>
          <p:nvPr/>
        </p:nvSpPr>
        <p:spPr>
          <a:xfrm>
            <a:off x="5035088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2E3FC7-47D8-47AA-81DC-8B155AEF78D4}"/>
              </a:ext>
            </a:extLst>
          </p:cNvPr>
          <p:cNvSpPr/>
          <p:nvPr/>
        </p:nvSpPr>
        <p:spPr>
          <a:xfrm>
            <a:off x="5736853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98D27D-0F3D-4D3D-B1D0-CDDBEB4EEFED}"/>
              </a:ext>
            </a:extLst>
          </p:cNvPr>
          <p:cNvSpPr/>
          <p:nvPr/>
        </p:nvSpPr>
        <p:spPr>
          <a:xfrm>
            <a:off x="644718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CD0E2-20C9-41AD-B4C9-2F613781B4EB}"/>
              </a:ext>
            </a:extLst>
          </p:cNvPr>
          <p:cNvSpPr/>
          <p:nvPr/>
        </p:nvSpPr>
        <p:spPr>
          <a:xfrm>
            <a:off x="7157526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D84CD-BD65-42B8-BD91-38D221FB2D28}"/>
              </a:ext>
            </a:extLst>
          </p:cNvPr>
          <p:cNvSpPr/>
          <p:nvPr/>
        </p:nvSpPr>
        <p:spPr>
          <a:xfrm>
            <a:off x="786786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18374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52467" y="4547305"/>
            <a:ext cx="806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49163" y="5591907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Азиза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277516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  <a:r>
              <a:rPr lang="ky-KG" sz="2000" dirty="0"/>
              <a:t>450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C60474-8D50-4B14-8B47-3274F53029C1}"/>
              </a:ext>
            </a:extLst>
          </p:cNvPr>
          <p:cNvSpPr txBox="1"/>
          <p:nvPr/>
        </p:nvSpPr>
        <p:spPr>
          <a:xfrm>
            <a:off x="2183124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7C75DF-8C05-4F62-80B2-00967431E134}"/>
              </a:ext>
            </a:extLst>
          </p:cNvPr>
          <p:cNvSpPr txBox="1"/>
          <p:nvPr/>
        </p:nvSpPr>
        <p:spPr>
          <a:xfrm>
            <a:off x="28953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62AA2E-35E8-42FE-8261-3B252BA3742A}"/>
              </a:ext>
            </a:extLst>
          </p:cNvPr>
          <p:cNvSpPr txBox="1"/>
          <p:nvPr/>
        </p:nvSpPr>
        <p:spPr>
          <a:xfrm>
            <a:off x="3607479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B80E56-27BF-48B3-AA11-33147F82E03F}"/>
              </a:ext>
            </a:extLst>
          </p:cNvPr>
          <p:cNvSpPr txBox="1"/>
          <p:nvPr/>
        </p:nvSpPr>
        <p:spPr>
          <a:xfrm>
            <a:off x="4310863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8EBAA-3459-45B0-A7C3-76CC6D2338B9}"/>
              </a:ext>
            </a:extLst>
          </p:cNvPr>
          <p:cNvSpPr txBox="1"/>
          <p:nvPr/>
        </p:nvSpPr>
        <p:spPr>
          <a:xfrm>
            <a:off x="5014248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059E4-520F-4A83-84D7-2E2514D273AD}"/>
              </a:ext>
            </a:extLst>
          </p:cNvPr>
          <p:cNvSpPr txBox="1"/>
          <p:nvPr/>
        </p:nvSpPr>
        <p:spPr>
          <a:xfrm>
            <a:off x="57528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5AF2F5-6AB5-4BF4-8F02-243B1F91F8D1}"/>
              </a:ext>
            </a:extLst>
          </p:cNvPr>
          <p:cNvSpPr txBox="1"/>
          <p:nvPr/>
        </p:nvSpPr>
        <p:spPr>
          <a:xfrm>
            <a:off x="6456186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0AB679-E883-466C-B4CB-4C7791260867}"/>
              </a:ext>
            </a:extLst>
          </p:cNvPr>
          <p:cNvSpPr txBox="1"/>
          <p:nvPr/>
        </p:nvSpPr>
        <p:spPr>
          <a:xfrm>
            <a:off x="7159571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E493DB-9DBF-4EFF-83E3-CA64C6DFD229}"/>
              </a:ext>
            </a:extLst>
          </p:cNvPr>
          <p:cNvSpPr txBox="1"/>
          <p:nvPr/>
        </p:nvSpPr>
        <p:spPr>
          <a:xfrm>
            <a:off x="7880540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3786521" y="4532506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24 965 сом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651708" y="5591907"/>
            <a:ext cx="101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</a:t>
            </a:r>
            <a:r>
              <a:rPr lang="ky-KG" sz="2000" dirty="0"/>
              <a:t>29 443</a:t>
            </a:r>
            <a:endParaRPr lang="en-GB" sz="2000" dirty="0"/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7913781" y="4317727"/>
            <a:ext cx="290146" cy="1027292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7462976" y="4283537"/>
            <a:ext cx="1178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4478 сом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4478</m:t>
                          </m:r>
                        </m:num>
                        <m:den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24965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=18%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0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6" grpId="0"/>
      <p:bldP spid="47" grpId="0" animBg="1"/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3F396B1-0ECC-4846-AAF1-8C7018F09B36}"/>
              </a:ext>
            </a:extLst>
          </p:cNvPr>
          <p:cNvGrpSpPr/>
          <p:nvPr/>
        </p:nvGrpSpPr>
        <p:grpSpPr>
          <a:xfrm>
            <a:off x="2468685" y="5578145"/>
            <a:ext cx="704040" cy="506133"/>
            <a:chOff x="4748429" y="5578145"/>
            <a:chExt cx="1690749" cy="5061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828492-E46B-4C38-AD12-5EB8D6AF918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C60474-8D50-4B14-8B47-3274F53029C1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2022003" y="0"/>
            <a:ext cx="586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Айдай &amp; Тимур окшош компьютерди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378629" y="2725615"/>
            <a:ext cx="71663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 дароо чыгымды төлөө үчүн үнөмдөгөн акчсын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en-GB" sz="2000" dirty="0"/>
              <a:t>Т</a:t>
            </a:r>
            <a:r>
              <a:rPr lang="ky-KG" sz="2000" dirty="0"/>
              <a:t>имур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Тимурдун компьютери</a:t>
            </a:r>
            <a:r>
              <a:rPr lang="en-GB" sz="2000" dirty="0"/>
              <a:t> </a:t>
            </a:r>
            <a:r>
              <a:rPr lang="ky-KG" sz="2000" dirty="0"/>
              <a:t>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93419" y="1881600"/>
            <a:ext cx="3173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50 930 сомбир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272565" y="1573824"/>
            <a:ext cx="31970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10 999 төлөп, </a:t>
            </a:r>
          </a:p>
          <a:p>
            <a:pPr algn="ctr"/>
            <a:r>
              <a:rPr lang="ky-KG" sz="2000" dirty="0"/>
              <a:t>андан кийин 3888 сомдон  </a:t>
            </a:r>
          </a:p>
          <a:p>
            <a:pPr algn="ctr"/>
            <a:r>
              <a:rPr lang="ky-KG" sz="2000" dirty="0"/>
              <a:t>12 ай сайын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39710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17905" y="4547305"/>
            <a:ext cx="875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30247" y="5591907"/>
            <a:ext cx="85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Тимур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843550" y="5627077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57 655</a:t>
            </a:r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8305507" y="4419893"/>
            <a:ext cx="290146" cy="822960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8119318" y="4283537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6725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6725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ky-KG" sz="2000" dirty="0"/>
                            <m:t>50930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>
            <a:extLst>
              <a:ext uri="{FF2B5EF4-FFF2-40B4-BE49-F238E27FC236}">
                <a16:creationId xmlns:a16="http://schemas.microsoft.com/office/drawing/2014/main" id="{35C242CD-9A5E-408C-9768-5C7FC1520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7353" y="345692"/>
            <a:ext cx="2277207" cy="118462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20B1D4D1-F6FE-4E72-8FCA-F12E5E052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9446" y="345692"/>
            <a:ext cx="2277207" cy="11846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6CC738B-38EC-4A0C-BBA8-02E3C04C528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2" y="446421"/>
            <a:ext cx="1189744" cy="95551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EBFC-A585-44BD-9B35-54C6D9B75F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058" y="425279"/>
            <a:ext cx="857572" cy="9809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880707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484074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8B3A01-5A08-4972-9458-9BCCE3727CDA}"/>
              </a:ext>
            </a:extLst>
          </p:cNvPr>
          <p:cNvGrpSpPr/>
          <p:nvPr/>
        </p:nvGrpSpPr>
        <p:grpSpPr>
          <a:xfrm>
            <a:off x="2993358" y="5578145"/>
            <a:ext cx="704040" cy="506133"/>
            <a:chOff x="4748429" y="5578145"/>
            <a:chExt cx="1690749" cy="5061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43C019-69ED-473A-B7E5-CDCE32CB5F9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93DB87D-8CB4-4551-8AEC-9E6CE68A6E4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EC57932-26D0-4E43-AB3A-88C5E405325D}"/>
              </a:ext>
            </a:extLst>
          </p:cNvPr>
          <p:cNvGrpSpPr/>
          <p:nvPr/>
        </p:nvGrpSpPr>
        <p:grpSpPr>
          <a:xfrm>
            <a:off x="3518030" y="5578145"/>
            <a:ext cx="704040" cy="506133"/>
            <a:chOff x="4748429" y="5578145"/>
            <a:chExt cx="1690749" cy="506133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2F774CC-C3CF-4432-8D84-F3C4B9277F4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8B93CB-07DA-4D5F-A29D-3D79F70C6E1B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8E3D3A8-785E-45D1-BFEA-0F8B3F8EB63D}"/>
              </a:ext>
            </a:extLst>
          </p:cNvPr>
          <p:cNvGrpSpPr/>
          <p:nvPr/>
        </p:nvGrpSpPr>
        <p:grpSpPr>
          <a:xfrm>
            <a:off x="4042703" y="5578145"/>
            <a:ext cx="704040" cy="506133"/>
            <a:chOff x="4748429" y="5578145"/>
            <a:chExt cx="1690749" cy="50613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3815F65-A74C-4396-9728-238E024C6FE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9575FA-445A-43E6-B021-BC4C814D01DF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85AB56E-6F94-4189-BB82-3B5AD7FD9D0E}"/>
              </a:ext>
            </a:extLst>
          </p:cNvPr>
          <p:cNvGrpSpPr/>
          <p:nvPr/>
        </p:nvGrpSpPr>
        <p:grpSpPr>
          <a:xfrm>
            <a:off x="4567376" y="5578145"/>
            <a:ext cx="704040" cy="506133"/>
            <a:chOff x="4748429" y="5578145"/>
            <a:chExt cx="1690749" cy="50613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27726FB-F559-4EE9-A18B-EF84B395B1B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433BB11-EACC-4079-AE04-8B55D5A915C8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EC2673D-DB35-4BCE-9DE7-4F502DA2C8F5}"/>
              </a:ext>
            </a:extLst>
          </p:cNvPr>
          <p:cNvGrpSpPr/>
          <p:nvPr/>
        </p:nvGrpSpPr>
        <p:grpSpPr>
          <a:xfrm>
            <a:off x="5092048" y="5578145"/>
            <a:ext cx="704040" cy="506133"/>
            <a:chOff x="4748429" y="5578145"/>
            <a:chExt cx="1690749" cy="50613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2551D24-7E41-4DD5-8C3F-93DA1CB09F9B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189182-454D-4BB2-BD44-CE7D509B95B7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83E1479-7B8B-45EC-A8DE-06DCE03020B9}"/>
              </a:ext>
            </a:extLst>
          </p:cNvPr>
          <p:cNvGrpSpPr/>
          <p:nvPr/>
        </p:nvGrpSpPr>
        <p:grpSpPr>
          <a:xfrm>
            <a:off x="5616721" y="5578145"/>
            <a:ext cx="704040" cy="506133"/>
            <a:chOff x="4748429" y="5578145"/>
            <a:chExt cx="1690749" cy="50613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4BA1D0-7B26-43CB-9F52-1EE350BAC557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86826D-2D1A-4AAA-B9CA-26B554B7607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BCDEC6C-1000-44C6-B469-0223FFD7D069}"/>
              </a:ext>
            </a:extLst>
          </p:cNvPr>
          <p:cNvGrpSpPr/>
          <p:nvPr/>
        </p:nvGrpSpPr>
        <p:grpSpPr>
          <a:xfrm>
            <a:off x="6141394" y="5578145"/>
            <a:ext cx="704040" cy="506133"/>
            <a:chOff x="4748429" y="5578145"/>
            <a:chExt cx="1690749" cy="50613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DECC238-A78D-4534-84E3-A03C482163B0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2FDFA1D-F657-46F8-A61B-0C15452C644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6B379CA-A015-45DE-8C47-3185EC31AAE8}"/>
              </a:ext>
            </a:extLst>
          </p:cNvPr>
          <p:cNvGrpSpPr/>
          <p:nvPr/>
        </p:nvGrpSpPr>
        <p:grpSpPr>
          <a:xfrm>
            <a:off x="6666066" y="5578145"/>
            <a:ext cx="704040" cy="506133"/>
            <a:chOff x="4748429" y="5578145"/>
            <a:chExt cx="1690749" cy="506133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2994AAD-1823-4881-9656-4D86AE84A5CA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640C34-CACF-406A-818A-C7AC6F6C8CC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D9B07AD-DE80-41C0-BF4E-F2CFBB1813A1}"/>
              </a:ext>
            </a:extLst>
          </p:cNvPr>
          <p:cNvGrpSpPr/>
          <p:nvPr/>
        </p:nvGrpSpPr>
        <p:grpSpPr>
          <a:xfrm>
            <a:off x="7190739" y="5578145"/>
            <a:ext cx="704040" cy="506133"/>
            <a:chOff x="4748429" y="5578145"/>
            <a:chExt cx="1690749" cy="506133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3B5F0C5-3C54-41A3-9DE2-29E171079DE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F3B857-4C9E-4837-9EDF-026FF15C7140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66B9C1-2B32-45A9-B008-4752896F335F}"/>
              </a:ext>
            </a:extLst>
          </p:cNvPr>
          <p:cNvGrpSpPr/>
          <p:nvPr/>
        </p:nvGrpSpPr>
        <p:grpSpPr>
          <a:xfrm>
            <a:off x="7715412" y="5578145"/>
            <a:ext cx="704040" cy="506133"/>
            <a:chOff x="4748429" y="5578145"/>
            <a:chExt cx="1690749" cy="506133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1FD5E6D-61AC-47CC-A2DE-4276F5938C5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C4CEA4-7D70-45B9-A911-363D71671AA6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122FE43-4234-4A1F-82DA-DC03DEFB3BF0}"/>
              </a:ext>
            </a:extLst>
          </p:cNvPr>
          <p:cNvGrpSpPr/>
          <p:nvPr/>
        </p:nvGrpSpPr>
        <p:grpSpPr>
          <a:xfrm>
            <a:off x="8240084" y="5578145"/>
            <a:ext cx="704040" cy="506133"/>
            <a:chOff x="4748429" y="5578145"/>
            <a:chExt cx="1690749" cy="5061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180845A-708C-4B7D-B86C-A2A780E89D2C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3A6592A-2AFD-45C8-9643-506E91E268B3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4023765" y="4555366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50 930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465451" y="5635870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10 999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2745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46" grpId="0"/>
      <p:bldP spid="47" grpId="0" animBg="1"/>
      <p:bldP spid="48" grpId="0"/>
      <p:bldP spid="49" grpId="0"/>
      <p:bldP spid="16" grpId="0" animBg="1"/>
      <p:bldP spid="17" grpId="0" animBg="1"/>
      <p:bldP spid="43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A4DF2DF-6A48-47BE-97C7-D39E6E79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252" y="3674666"/>
            <a:ext cx="2095882" cy="167848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 flipH="1">
            <a:off x="4950940" y="23755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42900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4442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4442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67F8F-9590-4F60-A16E-ECC288B46E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46" y="-37540"/>
            <a:ext cx="1134820" cy="11348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1C4811-68D5-4E0F-965D-535F23343657}"/>
              </a:ext>
            </a:extLst>
          </p:cNvPr>
          <p:cNvSpPr txBox="1"/>
          <p:nvPr/>
        </p:nvSpPr>
        <p:spPr>
          <a:xfrm>
            <a:off x="-36554" y="966410"/>
            <a:ext cx="4688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Азамат велосипедди бөлүп төлөө менен </a:t>
            </a:r>
          </a:p>
          <a:p>
            <a:pPr algn="ctr"/>
            <a:r>
              <a:rPr lang="ky-KG" sz="2000" dirty="0"/>
              <a:t>сатып алат: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C7FEB-EB00-4ABE-A7E2-03B340518295}"/>
              </a:ext>
            </a:extLst>
          </p:cNvPr>
          <p:cNvSpPr txBox="1"/>
          <p:nvPr/>
        </p:nvSpPr>
        <p:spPr>
          <a:xfrm>
            <a:off x="225800" y="1594842"/>
            <a:ext cx="4293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 сом депозит жана андан </a:t>
            </a:r>
          </a:p>
          <a:p>
            <a:pPr algn="ctr"/>
            <a:r>
              <a:rPr lang="ru-RU" sz="2000" dirty="0"/>
              <a:t>кийин 9 ай сайын 4440 сомдон төлөм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E2830-5C7A-44D4-95D0-F043351CCD93}"/>
              </a:ext>
            </a:extLst>
          </p:cNvPr>
          <p:cNvSpPr txBox="1"/>
          <p:nvPr/>
        </p:nvSpPr>
        <p:spPr>
          <a:xfrm>
            <a:off x="548137" y="2378650"/>
            <a:ext cx="351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AB1DC-8EF3-4117-8828-FEFCC192BF5A}"/>
              </a:ext>
            </a:extLst>
          </p:cNvPr>
          <p:cNvSpPr txBox="1"/>
          <p:nvPr/>
        </p:nvSpPr>
        <p:spPr>
          <a:xfrm>
            <a:off x="671477" y="2937450"/>
            <a:ext cx="3272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</a:t>
            </a:r>
            <a:r>
              <a:rPr lang="en-GB" sz="2000" dirty="0"/>
              <a:t> + 9 × </a:t>
            </a:r>
            <a:r>
              <a:rPr lang="ru-RU" sz="2000" dirty="0"/>
              <a:t>4440 </a:t>
            </a:r>
            <a:r>
              <a:rPr lang="en-GB" sz="2000" dirty="0"/>
              <a:t>= 48 285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1026" name="Picture 2" descr="Open Black Laptop PNG Clipart | Gallery Yopriceville - High-Quality Images  and Transparent PNG Free Clipart">
            <a:extLst>
              <a:ext uri="{FF2B5EF4-FFF2-40B4-BE49-F238E27FC236}">
                <a16:creationId xmlns:a16="http://schemas.microsoft.com/office/drawing/2014/main" id="{02566645-FF38-4E21-89C4-FEE571873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861" y="64453"/>
            <a:ext cx="1460818" cy="84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C8ED27-E7CD-4C27-AAB2-B1DEF9187026}"/>
              </a:ext>
            </a:extLst>
          </p:cNvPr>
          <p:cNvSpPr txBox="1"/>
          <p:nvPr/>
        </p:nvSpPr>
        <p:spPr>
          <a:xfrm>
            <a:off x="5729520" y="966410"/>
            <a:ext cx="31736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Сайкал бөлүп төлөө менен </a:t>
            </a:r>
            <a:endParaRPr lang="en-US" sz="2000" dirty="0"/>
          </a:p>
          <a:p>
            <a:pPr algn="ctr"/>
            <a:r>
              <a:rPr lang="ky-KG" sz="2000" dirty="0"/>
              <a:t>ноутбук сатып алат.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C4FA9-E6DF-4405-984C-85AFAAAA7C69}"/>
              </a:ext>
            </a:extLst>
          </p:cNvPr>
          <p:cNvSpPr txBox="1"/>
          <p:nvPr/>
        </p:nvSpPr>
        <p:spPr>
          <a:xfrm>
            <a:off x="5238105" y="1579324"/>
            <a:ext cx="4156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ай сайын 3</a:t>
            </a:r>
            <a:r>
              <a:rPr lang="en-US" sz="2000" dirty="0"/>
              <a:t>999</a:t>
            </a:r>
            <a:r>
              <a:rPr lang="ky-KG" sz="2000" dirty="0"/>
              <a:t> сомдон 14 төлөм </a:t>
            </a:r>
            <a:endParaRPr lang="en-US" sz="2000" dirty="0"/>
          </a:p>
          <a:p>
            <a:pPr algn="ctr"/>
            <a:r>
              <a:rPr lang="ky-KG" sz="2000" dirty="0"/>
              <a:t>жана 8888 сом депозит төлөйт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E2633-D5FE-4E6F-89BA-8C84194BE0D8}"/>
              </a:ext>
            </a:extLst>
          </p:cNvPr>
          <p:cNvSpPr txBox="1"/>
          <p:nvPr/>
        </p:nvSpPr>
        <p:spPr>
          <a:xfrm>
            <a:off x="5506522" y="2378650"/>
            <a:ext cx="361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17F6B-56CE-4183-AD76-5C4C63539414}"/>
              </a:ext>
            </a:extLst>
          </p:cNvPr>
          <p:cNvSpPr txBox="1"/>
          <p:nvPr/>
        </p:nvSpPr>
        <p:spPr>
          <a:xfrm>
            <a:off x="5618642" y="2937450"/>
            <a:ext cx="3395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8888</a:t>
            </a:r>
            <a:r>
              <a:rPr lang="en-GB" sz="2000" dirty="0"/>
              <a:t> + 14 × </a:t>
            </a:r>
            <a:r>
              <a:rPr lang="ky-KG" sz="2000" dirty="0"/>
              <a:t>3999</a:t>
            </a:r>
            <a:r>
              <a:rPr lang="en-GB" sz="2000" dirty="0"/>
              <a:t> = </a:t>
            </a:r>
            <a:r>
              <a:rPr lang="ky-KG" sz="2000" dirty="0"/>
              <a:t>64 874 сом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7B244-2FC4-47E3-B6A5-33BEEF20AA89}"/>
              </a:ext>
            </a:extLst>
          </p:cNvPr>
          <p:cNvSpPr txBox="1"/>
          <p:nvPr/>
        </p:nvSpPr>
        <p:spPr>
          <a:xfrm>
            <a:off x="1572835" y="3633857"/>
            <a:ext cx="3472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Духовканын баасы 61 000 сом </a:t>
            </a:r>
          </a:p>
          <a:p>
            <a:pPr algn="ctr"/>
            <a:r>
              <a:rPr lang="ru-RU" sz="2000" dirty="0"/>
              <a:t>(алдын ала турган наркы).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17B92-8D53-4933-A854-2CA6DADDBBDF}"/>
              </a:ext>
            </a:extLst>
          </p:cNvPr>
          <p:cNvSpPr txBox="1"/>
          <p:nvPr/>
        </p:nvSpPr>
        <p:spPr>
          <a:xfrm>
            <a:off x="-171375" y="4490442"/>
            <a:ext cx="5274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Бирок, Хүррем аны 13 315 сом депозит жана </a:t>
            </a:r>
          </a:p>
          <a:p>
            <a:pPr algn="ctr"/>
            <a:r>
              <a:rPr lang="ru-RU" sz="2000" dirty="0"/>
              <a:t>18 ай сайын 3330 сом төлөм менен сатып алат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E91F2-0135-407B-9B1C-57741DBEEBD1}"/>
              </a:ext>
            </a:extLst>
          </p:cNvPr>
          <p:cNvSpPr txBox="1"/>
          <p:nvPr/>
        </p:nvSpPr>
        <p:spPr>
          <a:xfrm>
            <a:off x="941943" y="5274250"/>
            <a:ext cx="3047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Бөлүп төлөө планы менен</a:t>
            </a:r>
          </a:p>
          <a:p>
            <a:pPr algn="ctr"/>
            <a:r>
              <a:rPr lang="ru-RU" sz="2000" dirty="0"/>
              <a:t>канча кошумча төлөнөт?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7CE83F-DAC2-4A6B-925F-D7134A8D955B}"/>
              </a:ext>
            </a:extLst>
          </p:cNvPr>
          <p:cNvSpPr txBox="1"/>
          <p:nvPr/>
        </p:nvSpPr>
        <p:spPr>
          <a:xfrm>
            <a:off x="699891" y="6005770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13 315</a:t>
            </a:r>
            <a:r>
              <a:rPr lang="en-GB" sz="2000" dirty="0"/>
              <a:t> + 18 × </a:t>
            </a:r>
            <a:r>
              <a:rPr lang="ru-RU" sz="2000" dirty="0"/>
              <a:t>3330</a:t>
            </a:r>
            <a:r>
              <a:rPr lang="en-GB" sz="2000" dirty="0"/>
              <a:t> = 73 255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5715E0-4AA3-4BFF-BC88-7B52791493B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1768" y="3544958"/>
            <a:ext cx="1009357" cy="9454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38304B-B5B1-4636-A36B-0DD513DBDF0E}"/>
              </a:ext>
            </a:extLst>
          </p:cNvPr>
          <p:cNvSpPr txBox="1"/>
          <p:nvPr/>
        </p:nvSpPr>
        <p:spPr>
          <a:xfrm>
            <a:off x="6216669" y="3891002"/>
            <a:ext cx="38859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Депозитти жана ай сайын </a:t>
            </a:r>
          </a:p>
          <a:p>
            <a:pPr algn="ctr"/>
            <a:r>
              <a:rPr lang="ky-KG" sz="2000" dirty="0"/>
              <a:t>7000 сомду кошкондо, Даниар</a:t>
            </a:r>
          </a:p>
          <a:p>
            <a:pPr algn="ctr"/>
            <a:r>
              <a:rPr lang="ky-KG" sz="2000" dirty="0"/>
              <a:t> электр скутер  үчүн </a:t>
            </a:r>
          </a:p>
          <a:p>
            <a:pPr algn="ctr"/>
            <a:r>
              <a:rPr lang="ky-KG" sz="2000" dirty="0"/>
              <a:t>жалпысынан 216 400 сом төлөйт.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025C2-69BE-470D-86C6-D20914EB027A}"/>
              </a:ext>
            </a:extLst>
          </p:cNvPr>
          <p:cNvSpPr txBox="1"/>
          <p:nvPr/>
        </p:nvSpPr>
        <p:spPr>
          <a:xfrm>
            <a:off x="6159936" y="5375850"/>
            <a:ext cx="2577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 канча болчу?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32658-B154-4F6E-A1C6-946175578561}"/>
              </a:ext>
            </a:extLst>
          </p:cNvPr>
          <p:cNvSpPr txBox="1"/>
          <p:nvPr/>
        </p:nvSpPr>
        <p:spPr>
          <a:xfrm>
            <a:off x="6331475" y="5883850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24 × </a:t>
            </a:r>
            <a:r>
              <a:rPr lang="ky-KG" sz="2000" dirty="0"/>
              <a:t>7000</a:t>
            </a:r>
            <a:r>
              <a:rPr lang="en-GB" sz="2000" dirty="0"/>
              <a:t> = </a:t>
            </a:r>
            <a:r>
              <a:rPr lang="ky-KG" sz="2000" dirty="0"/>
              <a:t>168 000 сом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B19E2-D527-4C61-91F0-6B71B9CFDC9D}"/>
              </a:ext>
            </a:extLst>
          </p:cNvPr>
          <p:cNvSpPr txBox="1"/>
          <p:nvPr/>
        </p:nvSpPr>
        <p:spPr>
          <a:xfrm>
            <a:off x="578654" y="6391850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73 255 </a:t>
            </a:r>
            <a:r>
              <a:rPr lang="ky-KG" sz="2000" dirty="0"/>
              <a:t>сом </a:t>
            </a:r>
            <a:r>
              <a:rPr lang="en-GB" sz="2000" dirty="0"/>
              <a:t>− </a:t>
            </a:r>
            <a:r>
              <a:rPr lang="ru-RU" sz="2000" dirty="0"/>
              <a:t>61 000 сом </a:t>
            </a:r>
            <a:r>
              <a:rPr lang="en-GB" sz="2000" dirty="0"/>
              <a:t>= </a:t>
            </a:r>
            <a:r>
              <a:rPr lang="ky-KG" sz="2000" dirty="0"/>
              <a:t>12 255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1E7BF0-EAED-4F3C-8E9F-835F893A024F}"/>
              </a:ext>
            </a:extLst>
          </p:cNvPr>
          <p:cNvSpPr txBox="1"/>
          <p:nvPr/>
        </p:nvSpPr>
        <p:spPr>
          <a:xfrm>
            <a:off x="5053278" y="6330890"/>
            <a:ext cx="4424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216 400 сом </a:t>
            </a:r>
            <a:r>
              <a:rPr lang="en-GB" sz="2000" dirty="0"/>
              <a:t>− </a:t>
            </a:r>
            <a:r>
              <a:rPr lang="ky-KG" sz="2000" dirty="0"/>
              <a:t>168 000 сом </a:t>
            </a:r>
            <a:r>
              <a:rPr lang="en-GB" sz="2000" dirty="0"/>
              <a:t>= 48 400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6A9C5-6115-412F-9DEF-940907D10A21}"/>
              </a:ext>
            </a:extLst>
          </p:cNvPr>
          <p:cNvSpPr txBox="1"/>
          <p:nvPr/>
        </p:nvSpPr>
        <p:spPr>
          <a:xfrm>
            <a:off x="4117172" y="639185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(+20%)</a:t>
            </a:r>
          </a:p>
        </p:txBody>
      </p:sp>
    </p:spTree>
    <p:extLst>
      <p:ext uri="{BB962C8B-B14F-4D97-AF65-F5344CB8AC3E}">
        <p14:creationId xmlns:p14="http://schemas.microsoft.com/office/powerpoint/2010/main" val="21192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4" grpId="0"/>
      <p:bldP spid="32" grpId="0"/>
      <p:bldP spid="33" grpId="0"/>
      <p:bldP spid="34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0B233-6849-49E1-80E5-1B887DAB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808355"/>
            <a:ext cx="2429828" cy="1878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276006" y="346689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T-482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586480" y="1615440"/>
            <a:ext cx="6096000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78213" y="7030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77426" y="703079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40 000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4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41" y="1760528"/>
            <a:ext cx="2504532" cy="1447185"/>
            <a:chOff x="6521041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41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7000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29" y="2278688"/>
              <a:ext cx="2260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12 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546048" y="2771448"/>
              <a:ext cx="245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278526" y="4498242"/>
            <a:ext cx="5348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40 000</a:t>
            </a:r>
            <a:r>
              <a:rPr lang="en-GB" sz="2000" dirty="0"/>
              <a:t> – </a:t>
            </a:r>
            <a:r>
              <a:rPr lang="ky-KG" sz="2000" dirty="0"/>
              <a:t>7000 депозит </a:t>
            </a:r>
            <a:r>
              <a:rPr lang="en-GB" sz="2000" dirty="0"/>
              <a:t> = 33 000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67906" y="5128162"/>
            <a:ext cx="3570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33 000</a:t>
            </a:r>
            <a:r>
              <a:rPr lang="en-GB" sz="2000" dirty="0"/>
              <a:t> ÷ 12 = 2 750 </a:t>
            </a:r>
            <a:r>
              <a:rPr lang="ky-KG" sz="2000" dirty="0"/>
              <a:t> сом,айына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BE39B-C4DC-43DC-BB51-E03828BDA903}"/>
              </a:ext>
            </a:extLst>
          </p:cNvPr>
          <p:cNvSpPr txBox="1"/>
          <p:nvPr/>
        </p:nvSpPr>
        <p:spPr>
          <a:xfrm>
            <a:off x="3581840" y="2220950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023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26502" y="346689"/>
            <a:ext cx="856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D-4x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54213" y="1615440"/>
            <a:ext cx="6228267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59667" y="6966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52128" y="69667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48 821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3872-95D0-47A7-A2A6-D9902C9793E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5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39" y="1760528"/>
            <a:ext cx="2504532" cy="1447185"/>
            <a:chOff x="6521039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99</a:t>
              </a:r>
              <a:r>
                <a:rPr lang="ky-KG" sz="2400" dirty="0"/>
                <a:t>99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7003705" y="2771448"/>
              <a:ext cx="15392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070141" y="4498242"/>
            <a:ext cx="5765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48 821 – 99</a:t>
            </a:r>
            <a:r>
              <a:rPr lang="ky-KG" sz="2000" dirty="0"/>
              <a:t>99 депозит</a:t>
            </a:r>
            <a:r>
              <a:rPr lang="en-GB" sz="2000" dirty="0"/>
              <a:t> = 38 822 </a:t>
            </a:r>
            <a:r>
              <a:rPr lang="ky-KG" sz="2000" dirty="0"/>
              <a:t>сом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06990" y="5128162"/>
            <a:ext cx="3692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38 822 ÷ 24 = </a:t>
            </a:r>
            <a:r>
              <a:rPr lang="ky-KG" sz="2000" dirty="0"/>
              <a:t>1618 сом, айсайын</a:t>
            </a:r>
            <a:endParaRPr lang="en-GB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04A791-038C-4D04-A26B-6D0F7ECE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18" y="888059"/>
            <a:ext cx="2305050" cy="1857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BFA523-6EB3-445C-80D7-CB3F73833D57}"/>
              </a:ext>
            </a:extLst>
          </p:cNvPr>
          <p:cNvSpPr txBox="1"/>
          <p:nvPr/>
        </p:nvSpPr>
        <p:spPr>
          <a:xfrm>
            <a:off x="4067670" y="5807378"/>
            <a:ext cx="58383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Эмне үчүн жалпы </a:t>
            </a:r>
            <a:r>
              <a:rPr lang="en-GB" sz="2000" dirty="0"/>
              <a:t>48 821</a:t>
            </a:r>
            <a:r>
              <a:rPr lang="ky-KG" sz="2000" dirty="0"/>
              <a:t> сом эмес?</a:t>
            </a:r>
          </a:p>
          <a:p>
            <a:pPr algn="ctr"/>
            <a:r>
              <a:rPr lang="ru-RU" sz="2000" dirty="0"/>
              <a:t>Анын ордуна дүкөн кандай бааны талап кыла алат?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56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67380" y="34668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</a:t>
            </a:r>
            <a:r>
              <a:rPr lang="en-US" sz="2400" dirty="0">
                <a:latin typeface="Berlin Sans FB Demi" panose="020E0802020502020306" pitchFamily="34" charset="0"/>
              </a:rPr>
              <a:t>B</a:t>
            </a:r>
            <a:r>
              <a:rPr lang="en-GB" sz="2400" dirty="0">
                <a:latin typeface="Berlin Sans FB Demi" panose="020E0802020502020306" pitchFamily="34" charset="0"/>
              </a:rPr>
              <a:t>-1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458867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422740" y="714048"/>
            <a:ext cx="153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56 589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198726" y="4021300"/>
            <a:ext cx="4293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5987980" y="1760528"/>
            <a:ext cx="3570657" cy="1447185"/>
            <a:chOff x="5987980" y="1785928"/>
            <a:chExt cx="3570657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8876</a:t>
              </a:r>
              <a:r>
                <a:rPr lang="ky-KG" sz="2400" dirty="0"/>
                <a:t>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5987980" y="2771448"/>
              <a:ext cx="35706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7%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1940975" y="4798545"/>
            <a:ext cx="6024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56 589 – 8876</a:t>
            </a:r>
            <a:r>
              <a:rPr lang="ky-KG" sz="2000" dirty="0"/>
              <a:t> сом депозит </a:t>
            </a:r>
            <a:r>
              <a:rPr lang="en-GB" sz="2000" dirty="0"/>
              <a:t>= £430 loan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248379" y="5981602"/>
            <a:ext cx="426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51 052,91 ÷ 24 = 2 127 </a:t>
            </a:r>
            <a:r>
              <a:rPr lang="ky-KG" sz="2000" dirty="0"/>
              <a:t> сом, айсайын 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202776" y="3475507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E5CEFD-61ED-4092-AFB8-A138D499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67" y="981392"/>
            <a:ext cx="2617965" cy="16805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2349480" y="5402482"/>
            <a:ext cx="5207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47 713 + 7% </a:t>
            </a:r>
            <a:r>
              <a:rPr lang="ky-KG" sz="2000" dirty="0"/>
              <a:t>пайыз</a:t>
            </a:r>
            <a:r>
              <a:rPr lang="en-GB" sz="2000" dirty="0"/>
              <a:t>= 51 052,91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86573-9116-4177-92A8-9BC262F4DD41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927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95433" y="346689"/>
            <a:ext cx="718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A-X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90197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694526" y="70434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70 125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430033" y="3989626"/>
            <a:ext cx="440889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  <a:p>
            <a:pPr algn="ctr"/>
            <a:endParaRPr lang="en-GB" sz="1200" dirty="0"/>
          </a:p>
          <a:p>
            <a:pPr algn="ctr"/>
            <a:r>
              <a:rPr lang="ru-RU" sz="2000" dirty="0"/>
              <a:t>Бөлүп төлөө планы канча акча кошот 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251674" y="1760528"/>
            <a:ext cx="3043270" cy="1447185"/>
            <a:chOff x="6251674" y="1785928"/>
            <a:chExt cx="3043270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976</a:t>
              </a:r>
              <a:r>
                <a:rPr lang="ky-KG" sz="2400" dirty="0"/>
                <a:t>5 сом</a:t>
              </a:r>
              <a:r>
                <a:rPr lang="en-GB" sz="2400" dirty="0"/>
                <a:t> </a:t>
              </a:r>
              <a:r>
                <a:rPr lang="ky-KG" sz="2400" dirty="0"/>
                <a:t>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18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251674" y="2771448"/>
              <a:ext cx="304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17,5%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441369" y="5128162"/>
            <a:ext cx="567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70 125 – 976</a:t>
            </a:r>
            <a:r>
              <a:rPr lang="ky-KG" sz="2000" dirty="0"/>
              <a:t>5 сом</a:t>
            </a:r>
            <a:r>
              <a:rPr lang="en-GB" sz="2000" dirty="0"/>
              <a:t> </a:t>
            </a:r>
            <a:r>
              <a:rPr lang="ky-KG" sz="2000" dirty="0"/>
              <a:t>депозит </a:t>
            </a:r>
            <a:r>
              <a:rPr lang="en-GB" sz="2000" dirty="0"/>
              <a:t>= 60 360</a:t>
            </a:r>
            <a:r>
              <a:rPr lang="ky-KG" sz="2000" dirty="0"/>
              <a:t> насыя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2423677" y="6327042"/>
            <a:ext cx="3900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70 923</a:t>
            </a:r>
            <a:r>
              <a:rPr lang="en-GB" sz="2000" dirty="0"/>
              <a:t> ÷ 18 = 3 940 </a:t>
            </a:r>
            <a:r>
              <a:rPr lang="ky-KG" sz="2000" dirty="0"/>
              <a:t> сом, айсайын!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335593" y="3479691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805256" y="5727602"/>
            <a:ext cx="5732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60 360 + 17,5% </a:t>
            </a:r>
            <a:r>
              <a:rPr lang="ky-KG" sz="2000" dirty="0"/>
              <a:t>пайыз </a:t>
            </a:r>
            <a:r>
              <a:rPr lang="en-GB" sz="2000" dirty="0"/>
              <a:t> =</a:t>
            </a:r>
            <a:r>
              <a:rPr lang="ky-KG" sz="2000" dirty="0"/>
              <a:t> 70 923 сом төлөнүшү керек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9D63CE-738A-4913-9849-80BA45C4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914399"/>
            <a:ext cx="2733040" cy="20042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FB12CF-D596-4F58-B5EF-1E283B21127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6FCD90-9304-4BEF-A8B9-A85C22F4DAB9}"/>
              </a:ext>
            </a:extLst>
          </p:cNvPr>
          <p:cNvSpPr txBox="1"/>
          <p:nvPr/>
        </p:nvSpPr>
        <p:spPr>
          <a:xfrm>
            <a:off x="6133762" y="6007632"/>
            <a:ext cx="3314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10 563</a:t>
            </a:r>
            <a:r>
              <a:rPr lang="ky-KG" sz="2000" dirty="0"/>
              <a:t> сом кошумча төлөм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3259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18387539-106D-4E21-923D-3CAC8F21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900748"/>
            <a:ext cx="1462261" cy="126033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C80E47F-10C6-4472-A650-05C7851F0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4121468"/>
            <a:ext cx="1726861" cy="126033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C31BDA9-88EA-42B9-BDA7-2DCF9897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836295"/>
            <a:ext cx="1705972" cy="12951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5AE9DF-10FD-4267-B535-5B10D2EE8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3" y="4095115"/>
            <a:ext cx="1719898" cy="123944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77952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36547" y="1740505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31 057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243733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688F2-21FB-44C4-9321-141D429F4B43}"/>
              </a:ext>
            </a:extLst>
          </p:cNvPr>
          <p:cNvSpPr txBox="1"/>
          <p:nvPr/>
        </p:nvSpPr>
        <p:spPr>
          <a:xfrm>
            <a:off x="2254641" y="2545926"/>
            <a:ext cx="20762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77</a:t>
            </a:r>
            <a:r>
              <a:rPr lang="ky-KG" sz="2000" dirty="0"/>
              <a:t>77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12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ky-KG" sz="2000" dirty="0"/>
              <a:t>0% пайыз менен!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150911" y="35561"/>
            <a:ext cx="9616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төлөнүүчү сумманы </a:t>
            </a:r>
            <a:r>
              <a:rPr lang="en-US" sz="2000" dirty="0"/>
              <a:t>&amp;</a:t>
            </a:r>
            <a:r>
              <a:rPr lang="ky-KG" sz="2000" dirty="0"/>
              <a:t> бөлүп төлөө планынын жалпы суммасын табыңыз.</a:t>
            </a:r>
            <a:endParaRPr lang="en-GB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680397" y="684773"/>
            <a:ext cx="30013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GB" sz="2800" dirty="0"/>
          </a:p>
          <a:p>
            <a:pPr algn="ctr"/>
            <a:r>
              <a:rPr lang="ky-KG" sz="2800" dirty="0"/>
              <a:t>Жалпы </a:t>
            </a:r>
            <a:r>
              <a:rPr lang="en-GB" sz="2800" dirty="0"/>
              <a:t>31 057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0C47BC-7DCD-46DD-A43D-0A96A844CF01}"/>
              </a:ext>
            </a:extLst>
          </p:cNvPr>
          <p:cNvSpPr/>
          <p:nvPr/>
        </p:nvSpPr>
        <p:spPr>
          <a:xfrm>
            <a:off x="69900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4512850-49F4-4178-B674-B12085E21981}"/>
              </a:ext>
            </a:extLst>
          </p:cNvPr>
          <p:cNvSpPr/>
          <p:nvPr/>
        </p:nvSpPr>
        <p:spPr>
          <a:xfrm>
            <a:off x="51003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47853D-4229-408B-86AC-394A451151A4}"/>
              </a:ext>
            </a:extLst>
          </p:cNvPr>
          <p:cNvSpPr txBox="1"/>
          <p:nvPr/>
        </p:nvSpPr>
        <p:spPr>
          <a:xfrm>
            <a:off x="70525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63912B-83E1-48B1-99A6-D4BB314A1539}"/>
              </a:ext>
            </a:extLst>
          </p:cNvPr>
          <p:cNvSpPr txBox="1"/>
          <p:nvPr/>
        </p:nvSpPr>
        <p:spPr>
          <a:xfrm>
            <a:off x="8445229" y="175226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 50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06CC3D-670E-463B-B020-F26EB36B076C}"/>
              </a:ext>
            </a:extLst>
          </p:cNvPr>
          <p:cNvSpPr txBox="1"/>
          <p:nvPr/>
        </p:nvSpPr>
        <p:spPr>
          <a:xfrm>
            <a:off x="5085194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9E68CE-C7FC-4385-A720-CDE1B018D107}"/>
              </a:ext>
            </a:extLst>
          </p:cNvPr>
          <p:cNvSpPr txBox="1"/>
          <p:nvPr/>
        </p:nvSpPr>
        <p:spPr>
          <a:xfrm>
            <a:off x="7137663" y="2545926"/>
            <a:ext cx="2266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</a:t>
            </a:r>
            <a:r>
              <a:rPr lang="ky-KG" sz="2000" dirty="0"/>
              <a:t>50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18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10% </a:t>
            </a:r>
            <a:r>
              <a:rPr lang="ky-KG" sz="2000" dirty="0"/>
              <a:t>пайыз менен </a:t>
            </a:r>
            <a:r>
              <a:rPr lang="en-GB" sz="2000" dirty="0"/>
              <a:t>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2B98-B560-467E-9525-BEA038C71B19}"/>
              </a:ext>
            </a:extLst>
          </p:cNvPr>
          <p:cNvSpPr/>
          <p:nvPr/>
        </p:nvSpPr>
        <p:spPr>
          <a:xfrm>
            <a:off x="20116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962A03-BBA9-49D4-B310-B41C4307194E}"/>
              </a:ext>
            </a:extLst>
          </p:cNvPr>
          <p:cNvSpPr/>
          <p:nvPr/>
        </p:nvSpPr>
        <p:spPr>
          <a:xfrm>
            <a:off x="1219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C165BC-1E14-478E-9769-B122050590C5}"/>
              </a:ext>
            </a:extLst>
          </p:cNvPr>
          <p:cNvSpPr txBox="1"/>
          <p:nvPr/>
        </p:nvSpPr>
        <p:spPr>
          <a:xfrm>
            <a:off x="20741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9BFA0E-28B1-4183-852A-A0612242FCDD}"/>
              </a:ext>
            </a:extLst>
          </p:cNvPr>
          <p:cNvSpPr txBox="1"/>
          <p:nvPr/>
        </p:nvSpPr>
        <p:spPr>
          <a:xfrm>
            <a:off x="3431827" y="4819493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60 000 сом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5D589F5-B7DC-4BE3-AE6C-E73730A0ED28}"/>
              </a:ext>
            </a:extLst>
          </p:cNvPr>
          <p:cNvSpPr txBox="1"/>
          <p:nvPr/>
        </p:nvSpPr>
        <p:spPr>
          <a:xfrm>
            <a:off x="1067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F41DC6-9FEC-4400-9AC3-37CD95E3A695}"/>
              </a:ext>
            </a:extLst>
          </p:cNvPr>
          <p:cNvSpPr txBox="1"/>
          <p:nvPr/>
        </p:nvSpPr>
        <p:spPr>
          <a:xfrm>
            <a:off x="2168464" y="5634566"/>
            <a:ext cx="22485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 0</a:t>
            </a:r>
            <a:r>
              <a:rPr lang="ky-KG" sz="2000" dirty="0"/>
              <a:t>00 сом депозит</a:t>
            </a:r>
            <a:endParaRPr lang="en-GB" sz="2000" dirty="0"/>
          </a:p>
          <a:p>
            <a:pPr algn="ctr"/>
            <a:r>
              <a:rPr lang="en-GB" sz="2000" dirty="0"/>
              <a:t>24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00DEFAB-C4CF-4CB9-BB57-099BE0CA079C}"/>
              </a:ext>
            </a:extLst>
          </p:cNvPr>
          <p:cNvSpPr/>
          <p:nvPr/>
        </p:nvSpPr>
        <p:spPr>
          <a:xfrm>
            <a:off x="69900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0854B0E-DEBC-4142-A71C-E50F779BEAFC}"/>
              </a:ext>
            </a:extLst>
          </p:cNvPr>
          <p:cNvSpPr/>
          <p:nvPr/>
        </p:nvSpPr>
        <p:spPr>
          <a:xfrm>
            <a:off x="51003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5C330C-BCED-49B0-9324-F5806085F058}"/>
              </a:ext>
            </a:extLst>
          </p:cNvPr>
          <p:cNvSpPr txBox="1"/>
          <p:nvPr/>
        </p:nvSpPr>
        <p:spPr>
          <a:xfrm>
            <a:off x="70525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6392DE-158E-4900-8EC7-EF89EF7FF027}"/>
              </a:ext>
            </a:extLst>
          </p:cNvPr>
          <p:cNvSpPr txBox="1"/>
          <p:nvPr/>
        </p:nvSpPr>
        <p:spPr>
          <a:xfrm>
            <a:off x="8417606" y="4819493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55 599 сом</a:t>
            </a:r>
            <a:r>
              <a:rPr lang="ky-KG" sz="2000" dirty="0"/>
              <a:t/>
            </a:r>
            <a:endParaRPr lang="en-GB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A88366-CE4C-4F70-959E-64D635EA4B36}"/>
              </a:ext>
            </a:extLst>
          </p:cNvPr>
          <p:cNvSpPr txBox="1"/>
          <p:nvPr/>
        </p:nvSpPr>
        <p:spPr>
          <a:xfrm>
            <a:off x="50851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C4500F-FFD2-4ADE-836D-1F01BBF63B3D}"/>
              </a:ext>
            </a:extLst>
          </p:cNvPr>
          <p:cNvSpPr txBox="1"/>
          <p:nvPr/>
        </p:nvSpPr>
        <p:spPr>
          <a:xfrm>
            <a:off x="7112815" y="5634566"/>
            <a:ext cx="23166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</a:t>
            </a:r>
            <a:r>
              <a:rPr lang="ky-KG" sz="2000" dirty="0"/>
              <a:t>99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30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12,5%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76D680E-AA30-41DD-AC79-B7A82D6758CC}"/>
              </a:ext>
            </a:extLst>
          </p:cNvPr>
          <p:cNvSpPr txBox="1"/>
          <p:nvPr/>
        </p:nvSpPr>
        <p:spPr>
          <a:xfrm>
            <a:off x="1699724" y="623449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194</a:t>
            </a:r>
            <a:r>
              <a:rPr lang="en-US" sz="2800" dirty="0"/>
              <a:t>0 </a:t>
            </a:r>
            <a:r>
              <a:rPr lang="ky-KG" sz="2800" dirty="0"/>
              <a:t>сом</a:t>
            </a:r>
            <a:endParaRPr lang="en-GB" sz="2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D0173B-8FA2-4B64-B816-EAF20FD4E842}"/>
              </a:ext>
            </a:extLst>
          </p:cNvPr>
          <p:cNvSpPr txBox="1"/>
          <p:nvPr/>
        </p:nvSpPr>
        <p:spPr>
          <a:xfrm>
            <a:off x="6734804" y="105302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 Жалпы 38 495сом</a:t>
            </a:r>
            <a:endParaRPr lang="en-GB" sz="28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97C000B-75E8-44E1-9BCF-8E0637329F62}"/>
              </a:ext>
            </a:extLst>
          </p:cNvPr>
          <p:cNvSpPr txBox="1"/>
          <p:nvPr/>
        </p:nvSpPr>
        <p:spPr>
          <a:xfrm>
            <a:off x="6891743" y="57875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</a:t>
            </a:r>
            <a:r>
              <a:rPr lang="en-GB" sz="2800" dirty="0"/>
              <a:t>1830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C2F3A8-20EB-4645-BD6F-6889C0F8A8B1}"/>
              </a:ext>
            </a:extLst>
          </p:cNvPr>
          <p:cNvSpPr txBox="1"/>
          <p:nvPr/>
        </p:nvSpPr>
        <p:spPr>
          <a:xfrm>
            <a:off x="1959836" y="416871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62 144 сом</a:t>
            </a:r>
            <a:endParaRPr lang="en-GB" sz="2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FAA3D7B-7F36-431E-A96B-FE01AA9E8268}"/>
              </a:ext>
            </a:extLst>
          </p:cNvPr>
          <p:cNvSpPr txBox="1"/>
          <p:nvPr/>
        </p:nvSpPr>
        <p:spPr>
          <a:xfrm>
            <a:off x="1976438" y="3789173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 2144 сом</a:t>
            </a:r>
            <a:endParaRPr lang="en-GB" sz="28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6804B8A-6BC1-43DD-B939-3526375B528C}"/>
              </a:ext>
            </a:extLst>
          </p:cNvPr>
          <p:cNvSpPr txBox="1"/>
          <p:nvPr/>
        </p:nvSpPr>
        <p:spPr>
          <a:xfrm>
            <a:off x="6734803" y="417647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61 400 сом</a:t>
            </a:r>
            <a:endParaRPr lang="en-GB" sz="28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0DE1EE-C7BC-478E-BA11-87B71D792844}"/>
              </a:ext>
            </a:extLst>
          </p:cNvPr>
          <p:cNvSpPr txBox="1"/>
          <p:nvPr/>
        </p:nvSpPr>
        <p:spPr>
          <a:xfrm>
            <a:off x="6734803" y="378704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1770</a:t>
            </a:r>
            <a:r>
              <a:rPr lang="en-GB" sz="2800" dirty="0"/>
              <a:t> </a:t>
            </a:r>
            <a:r>
              <a:rPr lang="ky-KG" sz="2800" dirty="0"/>
              <a:t>сом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75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10" grpId="0"/>
      <p:bldP spid="111" grpId="0"/>
      <p:bldP spid="112" grpId="0"/>
      <p:bldP spid="113" grpId="0"/>
      <p:bldP spid="114" grpId="0"/>
      <p:bldP spid="115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946400" y="375920"/>
            <a:ext cx="60960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946400" y="1503680"/>
            <a:ext cx="6096000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390479" y="61591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11 095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953595" y="1923088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5169384" y="1674168"/>
            <a:ext cx="3927678" cy="959505"/>
            <a:chOff x="5169384" y="1892743"/>
            <a:chExt cx="3927678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5169384" y="1892743"/>
              <a:ext cx="39276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166</a:t>
              </a:r>
              <a:r>
                <a:rPr lang="ky-KG" sz="2400" dirty="0"/>
                <a:t>5 сом азыр</a:t>
              </a:r>
              <a:r>
                <a:rPr lang="en-GB" sz="2400" dirty="0"/>
                <a:t> + 88</a:t>
              </a:r>
              <a:r>
                <a:rPr lang="ky-KG" sz="2400" dirty="0"/>
                <a:t>9с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(12 айлык мөөнөттө)</a:t>
              </a:r>
              <a:endParaRPr lang="en-GB"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8E7EE3B-D474-4043-B6B9-2A28952357A6}"/>
              </a:ext>
            </a:extLst>
          </p:cNvPr>
          <p:cNvSpPr txBox="1"/>
          <p:nvPr/>
        </p:nvSpPr>
        <p:spPr>
          <a:xfrm>
            <a:off x="4351949" y="2953475"/>
            <a:ext cx="3347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708245" y="84128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STAR X8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70537-D718-477D-A577-B81989830B0E}"/>
              </a:ext>
            </a:extLst>
          </p:cNvPr>
          <p:cNvSpPr txBox="1"/>
          <p:nvPr/>
        </p:nvSpPr>
        <p:spPr>
          <a:xfrm>
            <a:off x="3042062" y="4097328"/>
            <a:ext cx="3821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 </a:t>
            </a:r>
            <a:r>
              <a:rPr lang="en-GB" sz="2000" dirty="0"/>
              <a:t> = 11 095 – 166</a:t>
            </a:r>
            <a:r>
              <a:rPr lang="ky-KG" sz="2000" dirty="0"/>
              <a:t>5</a:t>
            </a:r>
            <a:r>
              <a:rPr lang="en-GB" sz="2000" dirty="0"/>
              <a:t> = </a:t>
            </a:r>
            <a:r>
              <a:rPr lang="ky-KG" sz="2000" dirty="0"/>
              <a:t>9430 сом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97F6A-191F-45A7-90D6-D398A9FD8A3A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136C5-F701-4852-8962-C41088116E39}"/>
              </a:ext>
            </a:extLst>
          </p:cNvPr>
          <p:cNvSpPr txBox="1"/>
          <p:nvPr/>
        </p:nvSpPr>
        <p:spPr>
          <a:xfrm>
            <a:off x="4073751" y="5458768"/>
            <a:ext cx="4129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 </a:t>
            </a:r>
            <a:r>
              <a:rPr lang="en-GB" sz="2000" dirty="0"/>
              <a:t> = 10 668</a:t>
            </a:r>
            <a:r>
              <a:rPr lang="ky-KG" sz="2000" dirty="0"/>
              <a:t> </a:t>
            </a:r>
            <a:r>
              <a:rPr lang="en-GB" sz="2000" dirty="0"/>
              <a:t> – </a:t>
            </a:r>
            <a:r>
              <a:rPr lang="ky-KG" sz="2000" dirty="0"/>
              <a:t>9430</a:t>
            </a:r>
            <a:r>
              <a:rPr lang="en-GB" sz="2000" dirty="0"/>
              <a:t> = </a:t>
            </a:r>
            <a:r>
              <a:rPr lang="ky-KG" sz="2000" dirty="0"/>
              <a:t>1 238  сом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/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y-KG" sz="2800" dirty="0"/>
                          <m:t>1,238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9430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=13%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blipFill>
                <a:blip r:embed="rId2"/>
                <a:stretch>
                  <a:fillRect r="-1778" b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5011C21-E082-4EA1-8F41-010A964E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" y="501015"/>
            <a:ext cx="1713340" cy="35934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03C5B-E041-4C8F-B6B0-94E459A317BE}"/>
              </a:ext>
            </a:extLst>
          </p:cNvPr>
          <p:cNvSpPr txBox="1"/>
          <p:nvPr/>
        </p:nvSpPr>
        <p:spPr>
          <a:xfrm>
            <a:off x="3460286" y="5004954"/>
            <a:ext cx="383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 = 12 × 8</a:t>
            </a:r>
            <a:r>
              <a:rPr lang="ky-KG" sz="2000" dirty="0"/>
              <a:t>89</a:t>
            </a:r>
            <a:r>
              <a:rPr lang="en-GB" sz="2000" dirty="0"/>
              <a:t> = 10 668</a:t>
            </a:r>
          </a:p>
        </p:txBody>
      </p:sp>
    </p:spTree>
    <p:extLst>
      <p:ext uri="{BB962C8B-B14F-4D97-AF65-F5344CB8AC3E}">
        <p14:creationId xmlns:p14="http://schemas.microsoft.com/office/powerpoint/2010/main" val="194514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661486" y="375920"/>
            <a:ext cx="6380914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661486" y="1503680"/>
            <a:ext cx="6380914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E6CF5-FE75-4E01-84C3-54449351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76" y="469900"/>
            <a:ext cx="1819970" cy="3624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602034" y="59843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35 50</a:t>
            </a:r>
            <a:r>
              <a:rPr lang="ky-KG" sz="2400" dirty="0"/>
              <a:t>0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677076" y="1860045"/>
            <a:ext cx="2242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855183" y="1585576"/>
            <a:ext cx="4221027" cy="1048097"/>
            <a:chOff x="4855183" y="1804151"/>
            <a:chExt cx="4221027" cy="10480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855183" y="1804151"/>
              <a:ext cx="42210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2219</a:t>
              </a:r>
              <a:r>
                <a:rPr lang="ky-KG" sz="2400" dirty="0"/>
                <a:t> сом бүгүн</a:t>
              </a:r>
              <a:r>
                <a:rPr lang="en-GB" sz="2400" dirty="0"/>
                <a:t> + 1664</a:t>
              </a:r>
              <a:r>
                <a:rPr lang="ky-KG" sz="2400" dirty="0"/>
                <a:t> 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591226" y="84128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LUNER S4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FC23E6-0C78-4C12-A81E-0B5C5CF7A61D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8D7232-2B3C-492A-BCD0-A96A2A475FB4}"/>
              </a:ext>
            </a:extLst>
          </p:cNvPr>
          <p:cNvSpPr txBox="1"/>
          <p:nvPr/>
        </p:nvSpPr>
        <p:spPr>
          <a:xfrm>
            <a:off x="2945080" y="4097328"/>
            <a:ext cx="4015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</a:t>
            </a:r>
            <a:r>
              <a:rPr lang="en-GB" sz="2000" dirty="0"/>
              <a:t> = 35 50</a:t>
            </a:r>
            <a:r>
              <a:rPr lang="ky-KG" sz="2000" dirty="0"/>
              <a:t>0 </a:t>
            </a:r>
            <a:r>
              <a:rPr lang="en-GB" sz="2000" dirty="0"/>
              <a:t> – 2219 =</a:t>
            </a:r>
            <a:r>
              <a:rPr lang="ky-KG" sz="2000" dirty="0"/>
              <a:t> 33 281 сом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F9759-0CB8-41EA-AE7A-58C3933377FB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94CF0-E222-4BAF-BE9A-68013611E662}"/>
              </a:ext>
            </a:extLst>
          </p:cNvPr>
          <p:cNvSpPr txBox="1"/>
          <p:nvPr/>
        </p:nvSpPr>
        <p:spPr>
          <a:xfrm>
            <a:off x="4073751" y="5458768"/>
            <a:ext cx="3848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</a:t>
            </a:r>
            <a:r>
              <a:rPr lang="ky-KG" sz="2000" dirty="0"/>
              <a:t>39 936 </a:t>
            </a:r>
            <a:r>
              <a:rPr lang="en-GB" sz="2000" dirty="0"/>
              <a:t> – </a:t>
            </a:r>
            <a:r>
              <a:rPr lang="ky-KG" sz="2000" dirty="0"/>
              <a:t>33 281 </a:t>
            </a:r>
            <a:r>
              <a:rPr lang="en-GB" sz="2000" dirty="0"/>
              <a:t> = 6 655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/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 dirty="0"/>
                          <m:t>6,655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33,281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=20%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CC2E5AF-F828-4B29-8E41-02836826590E}"/>
              </a:ext>
            </a:extLst>
          </p:cNvPr>
          <p:cNvSpPr txBox="1"/>
          <p:nvPr/>
        </p:nvSpPr>
        <p:spPr>
          <a:xfrm>
            <a:off x="3460286" y="5004954"/>
            <a:ext cx="3960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24 × 1664</a:t>
            </a:r>
            <a:r>
              <a:rPr lang="ky-KG" sz="2000" dirty="0"/>
              <a:t> </a:t>
            </a:r>
            <a:r>
              <a:rPr lang="en-GB" sz="2000" dirty="0"/>
              <a:t> =</a:t>
            </a:r>
            <a:r>
              <a:rPr lang="ky-KG" sz="2000" dirty="0"/>
              <a:t> 39 936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6341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587933" y="375920"/>
            <a:ext cx="677785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570479" y="1503680"/>
            <a:ext cx="6795309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225714" y="602288"/>
            <a:ext cx="1600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95 500 сом </a:t>
            </a:r>
            <a:r>
              <a:rPr lang="ky-KG" sz="2400" dirty="0"/>
              <a:t/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587934" y="1944023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768634" y="1674168"/>
            <a:ext cx="4729180" cy="959505"/>
            <a:chOff x="4768634" y="1892743"/>
            <a:chExt cx="4729180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768634" y="1892743"/>
              <a:ext cx="47291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55</a:t>
              </a:r>
              <a:r>
                <a:rPr lang="ky-KG" sz="2400" dirty="0"/>
                <a:t>50 сом бүгүн</a:t>
              </a:r>
              <a:r>
                <a:rPr lang="en-GB" sz="2400" dirty="0"/>
                <a:t> + 277</a:t>
              </a:r>
              <a:r>
                <a:rPr lang="ky-KG" sz="2400" dirty="0"/>
                <a:t>5 сом 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643370" y="84128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X-Tend S4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48CC65-B34B-4236-A501-F27876BF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11" y="479713"/>
            <a:ext cx="1697055" cy="36500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04596D-8579-43B1-94C4-E0A14427D4D5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2048F-E9F6-4B49-9711-9304F938E2F8}"/>
              </a:ext>
            </a:extLst>
          </p:cNvPr>
          <p:cNvSpPr txBox="1"/>
          <p:nvPr/>
        </p:nvSpPr>
        <p:spPr>
          <a:xfrm>
            <a:off x="3095761" y="4097328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 = 95 500  – 5550  = 89 950  </a:t>
            </a:r>
            <a:r>
              <a:rPr lang="en-GB" sz="2000" dirty="0"/>
              <a:t/>
            </a:r>
            <a:r>
              <a:rPr lang="ky-KG" sz="2000" dirty="0"/>
              <a:t/>
            </a:r>
            <a:r>
              <a:rPr lang="en-GB" sz="2000" dirty="0"/>
              <a:t/>
            </a:r>
            <a:r>
              <a:rPr lang="ky-KG" sz="2000" dirty="0"/>
              <a:t/>
            </a:r>
            <a:r>
              <a:rPr lang="en-GB" sz="2000" dirty="0"/>
              <a:t/>
            </a:r>
            <a:r>
              <a:rPr lang="ky-KG" sz="2000" dirty="0"/>
              <a:t/>
            </a:r>
            <a:endParaRPr lang="en-GB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9073A-4407-4F3F-BDBB-0D21D7DAA3A4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EDB39-7521-4292-888F-EA476D1F6000}"/>
              </a:ext>
            </a:extLst>
          </p:cNvPr>
          <p:cNvSpPr txBox="1"/>
          <p:nvPr/>
        </p:nvSpPr>
        <p:spPr>
          <a:xfrm>
            <a:off x="4073751" y="5458768"/>
            <a:ext cx="3741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99 900 – 89 950</a:t>
            </a:r>
            <a:r>
              <a:rPr lang="ky-KG" sz="2000" dirty="0"/>
              <a:t> </a:t>
            </a:r>
            <a:r>
              <a:rPr lang="en-GB" sz="2000" dirty="0"/>
              <a:t>= 9 950 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/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 dirty="0">
                            <a:latin typeface="Cambria Math" panose="02040503050406030204" pitchFamily="18" charset="0"/>
                          </a:rPr>
                          <m:t>9,950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2800" dirty="0"/>
                          <m:t>89,950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=11%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7DD44E9-A609-4867-BAAE-1366F6E0D6AE}"/>
              </a:ext>
            </a:extLst>
          </p:cNvPr>
          <p:cNvSpPr txBox="1"/>
          <p:nvPr/>
        </p:nvSpPr>
        <p:spPr>
          <a:xfrm>
            <a:off x="3460286" y="5004954"/>
            <a:ext cx="413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36 × 277</a:t>
            </a:r>
            <a:r>
              <a:rPr lang="ky-KG" sz="2000" dirty="0"/>
              <a:t>5 </a:t>
            </a:r>
            <a:r>
              <a:rPr lang="en-GB" sz="2000" dirty="0"/>
              <a:t> = 99 900 </a:t>
            </a:r>
            <a:r>
              <a:rPr lang="ky-KG" sz="2000" dirty="0"/>
              <a:t>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202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827B8B27-51A9-4987-8218-0FF338CF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884" y="673100"/>
            <a:ext cx="1276350" cy="2476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B55D484-0600-469B-9D34-C720DD06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7" y="558800"/>
            <a:ext cx="1266825" cy="25908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439745" y="379984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53254" y="161828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 20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83809" y="2451874"/>
            <a:ext cx="1208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</a:t>
            </a:r>
          </a:p>
          <a:p>
            <a:pPr algn="ctr"/>
            <a:r>
              <a:rPr lang="ky-KG" sz="2000" dirty="0"/>
              <a:t> төлөө</a:t>
            </a:r>
            <a:endParaRPr lang="en-GB" sz="2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E5C396-6FF3-4893-A8B3-6D06226F1278}"/>
              </a:ext>
            </a:extLst>
          </p:cNvPr>
          <p:cNvGrpSpPr/>
          <p:nvPr/>
        </p:nvGrpSpPr>
        <p:grpSpPr>
          <a:xfrm>
            <a:off x="1419454" y="2395315"/>
            <a:ext cx="3403497" cy="827043"/>
            <a:chOff x="5320894" y="1963650"/>
            <a:chExt cx="3403497" cy="82704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E1BB07-63BA-40F0-90B3-770D02EE3104}"/>
                </a:ext>
              </a:extLst>
            </p:cNvPr>
            <p:cNvSpPr txBox="1"/>
            <p:nvPr/>
          </p:nvSpPr>
          <p:spPr>
            <a:xfrm>
              <a:off x="5320894" y="1963650"/>
              <a:ext cx="34034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2220 сом + айына 1050 </a:t>
              </a:r>
              <a:endParaRPr lang="en-GB" sz="2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0688F2-21FB-44C4-9321-141D429F4B43}"/>
                </a:ext>
              </a:extLst>
            </p:cNvPr>
            <p:cNvSpPr txBox="1"/>
            <p:nvPr/>
          </p:nvSpPr>
          <p:spPr>
            <a:xfrm>
              <a:off x="5909170" y="2390583"/>
              <a:ext cx="2448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(12 айлык мөөнөттө)</a:t>
              </a:r>
              <a:endParaRPr lang="en-GB" sz="2000" dirty="0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179970E-2776-496C-BE35-346F18FE9A59}"/>
              </a:ext>
            </a:extLst>
          </p:cNvPr>
          <p:cNvSpPr/>
          <p:nvPr/>
        </p:nvSpPr>
        <p:spPr>
          <a:xfrm>
            <a:off x="695960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D90563-904F-41FE-9532-D3A34322BC44}"/>
              </a:ext>
            </a:extLst>
          </p:cNvPr>
          <p:cNvSpPr/>
          <p:nvPr/>
        </p:nvSpPr>
        <p:spPr>
          <a:xfrm>
            <a:off x="506984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429E6-4464-4F91-8CAB-5C34FA670D7B}"/>
              </a:ext>
            </a:extLst>
          </p:cNvPr>
          <p:cNvSpPr txBox="1"/>
          <p:nvPr/>
        </p:nvSpPr>
        <p:spPr>
          <a:xfrm>
            <a:off x="702210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C5D450-7A6D-49C0-8579-AB75A3043148}"/>
              </a:ext>
            </a:extLst>
          </p:cNvPr>
          <p:cNvSpPr txBox="1"/>
          <p:nvPr/>
        </p:nvSpPr>
        <p:spPr>
          <a:xfrm>
            <a:off x="8458763" y="160812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64 356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D041E2-5B2E-45AB-BC40-D45A21781E8F}"/>
              </a:ext>
            </a:extLst>
          </p:cNvPr>
          <p:cNvSpPr txBox="1"/>
          <p:nvPr/>
        </p:nvSpPr>
        <p:spPr>
          <a:xfrm>
            <a:off x="4993951" y="2466769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E4D69D7-1FF0-4BD1-8C02-678E81544955}"/>
              </a:ext>
            </a:extLst>
          </p:cNvPr>
          <p:cNvGrpSpPr/>
          <p:nvPr/>
        </p:nvGrpSpPr>
        <p:grpSpPr>
          <a:xfrm>
            <a:off x="6046314" y="2365879"/>
            <a:ext cx="3762569" cy="856479"/>
            <a:chOff x="4999834" y="1934214"/>
            <a:chExt cx="3762569" cy="85647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FE523E-C637-42FF-BA17-BBAFF148BAE9}"/>
                </a:ext>
              </a:extLst>
            </p:cNvPr>
            <p:cNvSpPr txBox="1"/>
            <p:nvPr/>
          </p:nvSpPr>
          <p:spPr>
            <a:xfrm>
              <a:off x="4999834" y="1934214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сом+ айына 2773 сом</a:t>
              </a:r>
              <a:endParaRPr lang="en-GB" sz="2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22C425-5428-4812-B577-44060AC93500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638702" y="35561"/>
            <a:ext cx="8640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бөлүп төлөө пландарынын ар бири үчүн пайыздык ченди табыңыз.</a:t>
            </a:r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ECFA3A-8BF1-4C2D-BDD3-04E5CFB7C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29" y="4161472"/>
            <a:ext cx="1228725" cy="2619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F5BC00-6DC1-45C6-BC65-CD84CF660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94" y="4092513"/>
            <a:ext cx="1209675" cy="254317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3A47949-A6F9-4E09-9A52-632E4F315603}"/>
              </a:ext>
            </a:extLst>
          </p:cNvPr>
          <p:cNvSpPr/>
          <p:nvPr/>
        </p:nvSpPr>
        <p:spPr>
          <a:xfrm>
            <a:off x="201168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773F04-EB8A-4D8F-83E6-A3B63290FC38}"/>
              </a:ext>
            </a:extLst>
          </p:cNvPr>
          <p:cNvSpPr/>
          <p:nvPr/>
        </p:nvSpPr>
        <p:spPr>
          <a:xfrm>
            <a:off x="12192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80B19D-7BA8-4D6D-A6D0-8A259B0DCD85}"/>
              </a:ext>
            </a:extLst>
          </p:cNvPr>
          <p:cNvSpPr txBox="1"/>
          <p:nvPr/>
        </p:nvSpPr>
        <p:spPr>
          <a:xfrm>
            <a:off x="207418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28DCE0-7ED8-46E1-A71A-491A851500A7}"/>
              </a:ext>
            </a:extLst>
          </p:cNvPr>
          <p:cNvSpPr txBox="1"/>
          <p:nvPr/>
        </p:nvSpPr>
        <p:spPr>
          <a:xfrm>
            <a:off x="3485750" y="467644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44 272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92A6D4-8466-40F7-AA77-22E555BA21A4}"/>
              </a:ext>
            </a:extLst>
          </p:cNvPr>
          <p:cNvSpPr txBox="1"/>
          <p:nvPr/>
        </p:nvSpPr>
        <p:spPr>
          <a:xfrm>
            <a:off x="73153" y="5516901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D71031C-257E-44EA-80EA-F8015396D74C}"/>
              </a:ext>
            </a:extLst>
          </p:cNvPr>
          <p:cNvGrpSpPr/>
          <p:nvPr/>
        </p:nvGrpSpPr>
        <p:grpSpPr>
          <a:xfrm>
            <a:off x="1117265" y="5437981"/>
            <a:ext cx="3762569" cy="852697"/>
            <a:chOff x="5018705" y="1937996"/>
            <a:chExt cx="3762569" cy="85269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3B0381-F183-4378-9E58-14343997D80B}"/>
                </a:ext>
              </a:extLst>
            </p:cNvPr>
            <p:cNvSpPr txBox="1"/>
            <p:nvPr/>
          </p:nvSpPr>
          <p:spPr>
            <a:xfrm>
              <a:off x="5018705" y="1937996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3883 сом+ айына 1886 сом</a:t>
              </a:r>
              <a:endParaRPr lang="en-GB" sz="20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0DF758-0868-4176-B887-91EB658DD337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39619FAA-38C0-4253-B79D-770AD4B1B4CB}"/>
              </a:ext>
            </a:extLst>
          </p:cNvPr>
          <p:cNvSpPr/>
          <p:nvPr/>
        </p:nvSpPr>
        <p:spPr>
          <a:xfrm>
            <a:off x="695960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3179515-392B-420E-9D18-8F2ECF63CC32}"/>
              </a:ext>
            </a:extLst>
          </p:cNvPr>
          <p:cNvSpPr/>
          <p:nvPr/>
        </p:nvSpPr>
        <p:spPr>
          <a:xfrm>
            <a:off x="506984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1A819-BBDA-40AB-97A6-7AF251AE59D2}"/>
              </a:ext>
            </a:extLst>
          </p:cNvPr>
          <p:cNvSpPr txBox="1"/>
          <p:nvPr/>
        </p:nvSpPr>
        <p:spPr>
          <a:xfrm>
            <a:off x="702210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7321A1-DA24-44F8-AD64-741DE82513AC}"/>
              </a:ext>
            </a:extLst>
          </p:cNvPr>
          <p:cNvSpPr txBox="1"/>
          <p:nvPr/>
        </p:nvSpPr>
        <p:spPr>
          <a:xfrm>
            <a:off x="8418244" y="4686737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60 916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D50536B-DB89-4021-BD03-12221D0798AF}"/>
              </a:ext>
            </a:extLst>
          </p:cNvPr>
          <p:cNvSpPr txBox="1"/>
          <p:nvPr/>
        </p:nvSpPr>
        <p:spPr>
          <a:xfrm>
            <a:off x="5029926" y="5549613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957B1B2-57B6-4A95-9279-609107542CD6}"/>
              </a:ext>
            </a:extLst>
          </p:cNvPr>
          <p:cNvGrpSpPr/>
          <p:nvPr/>
        </p:nvGrpSpPr>
        <p:grpSpPr>
          <a:xfrm>
            <a:off x="6017459" y="5403421"/>
            <a:ext cx="3820278" cy="887257"/>
            <a:chOff x="4970979" y="1903436"/>
            <a:chExt cx="3820278" cy="887257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8E8940-973D-4CC1-9804-217D648505B8}"/>
                </a:ext>
              </a:extLst>
            </p:cNvPr>
            <p:cNvSpPr txBox="1"/>
            <p:nvPr/>
          </p:nvSpPr>
          <p:spPr>
            <a:xfrm>
              <a:off x="4970979" y="1903436"/>
              <a:ext cx="3820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 + айына 1775 сом</a:t>
              </a:r>
              <a:endParaRPr lang="en-GB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EB82FCB-6604-48CD-BAE9-6CFAF8585DE1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(36 айлык мөөнөттө)</a:t>
              </a:r>
              <a:endParaRPr lang="en-GB" sz="2000" dirty="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786484" y="692842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99</a:t>
            </a:r>
            <a:r>
              <a:rPr lang="ky-KG" sz="2000" dirty="0"/>
              <a:t>80 сом насыя</a:t>
            </a:r>
          </a:p>
          <a:p>
            <a:pPr algn="ctr"/>
            <a:r>
              <a:rPr lang="ky-KG" sz="2000" dirty="0"/>
              <a:t>2620 сом пайыздык чен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87BF99-2353-4069-97F5-74EDB7AA9F9E}"/>
              </a:ext>
            </a:extLst>
          </p:cNvPr>
          <p:cNvSpPr txBox="1"/>
          <p:nvPr/>
        </p:nvSpPr>
        <p:spPr>
          <a:xfrm>
            <a:off x="4417483" y="99971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  <a:r>
              <a:rPr lang="ky-KG" sz="2000" dirty="0"/>
              <a:t>6</a:t>
            </a:r>
            <a:r>
              <a:rPr lang="en-GB" sz="2000" dirty="0"/>
              <a:t>%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BA0A73-699E-481D-BA97-65C6DD948D8C}"/>
              </a:ext>
            </a:extLst>
          </p:cNvPr>
          <p:cNvSpPr txBox="1"/>
          <p:nvPr/>
        </p:nvSpPr>
        <p:spPr>
          <a:xfrm>
            <a:off x="6661252" y="682682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59 917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  <a:endParaRPr lang="en-GB" sz="2000" dirty="0"/>
          </a:p>
          <a:p>
            <a:pPr algn="ctr"/>
            <a:r>
              <a:rPr lang="en-GB" sz="2000" dirty="0"/>
              <a:t>6657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98A231-6B15-4F5B-8FE6-118D256BAEA1}"/>
              </a:ext>
            </a:extLst>
          </p:cNvPr>
          <p:cNvSpPr txBox="1"/>
          <p:nvPr/>
        </p:nvSpPr>
        <p:spPr>
          <a:xfrm>
            <a:off x="9188793" y="764326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AD2C01-388A-4EBF-BD18-165BBC1599A2}"/>
              </a:ext>
            </a:extLst>
          </p:cNvPr>
          <p:cNvSpPr txBox="1"/>
          <p:nvPr/>
        </p:nvSpPr>
        <p:spPr>
          <a:xfrm>
            <a:off x="1626905" y="3872830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40 389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</a:p>
          <a:p>
            <a:pPr algn="ctr"/>
            <a:r>
              <a:rPr lang="en-GB" sz="2000" dirty="0"/>
              <a:t>4882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пайыздык чен</a:t>
            </a:r>
            <a:endParaRPr lang="en-GB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0CC1E5-5ADA-40C7-B2D9-27E441980008}"/>
              </a:ext>
            </a:extLst>
          </p:cNvPr>
          <p:cNvSpPr txBox="1"/>
          <p:nvPr/>
        </p:nvSpPr>
        <p:spPr>
          <a:xfrm>
            <a:off x="4161245" y="3945922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466139-D79E-4936-B2F7-71ED84C6CD9A}"/>
              </a:ext>
            </a:extLst>
          </p:cNvPr>
          <p:cNvSpPr txBox="1"/>
          <p:nvPr/>
        </p:nvSpPr>
        <p:spPr>
          <a:xfrm>
            <a:off x="6584481" y="3872830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56 478</a:t>
            </a:r>
            <a:r>
              <a:rPr lang="ky-KG" sz="2000" dirty="0"/>
              <a:t> сом насыя</a:t>
            </a:r>
          </a:p>
          <a:p>
            <a:pPr algn="ctr"/>
            <a:r>
              <a:rPr lang="en-GB" sz="2000" dirty="0"/>
              <a:t>7434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769D53-A6E1-4028-B81E-809AB51AD003}"/>
              </a:ext>
            </a:extLst>
          </p:cNvPr>
          <p:cNvSpPr txBox="1"/>
          <p:nvPr/>
        </p:nvSpPr>
        <p:spPr>
          <a:xfrm>
            <a:off x="9104858" y="398352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30343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10714</TotalTime>
  <Words>1297</Words>
  <Application>Microsoft Office PowerPoint</Application>
  <PresentationFormat>A4 Paper (210x297 mm)</PresentationFormat>
  <Paragraphs>312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Berlin Sans FB Demi</vt:lpstr>
      <vt:lpstr>Calibri</vt:lpstr>
      <vt:lpstr>Cambria Math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513</cp:revision>
  <cp:lastPrinted>2017-12-31T22:38:51Z</cp:lastPrinted>
  <dcterms:created xsi:type="dcterms:W3CDTF">2017-01-17T16:57:04Z</dcterms:created>
  <dcterms:modified xsi:type="dcterms:W3CDTF">2024-09-15T16:13:59Z</dcterms:modified>
</cp:coreProperties>
</file>