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8" r:id="rId2"/>
  </p:sldMasterIdLst>
  <p:notesMasterIdLst>
    <p:notesMasterId r:id="rId19"/>
  </p:notesMasterIdLst>
  <p:handoutMasterIdLst>
    <p:handoutMasterId r:id="rId20"/>
  </p:handoutMasterIdLst>
  <p:sldIdLst>
    <p:sldId id="257" r:id="rId3"/>
    <p:sldId id="962" r:id="rId4"/>
    <p:sldId id="1013" r:id="rId5"/>
    <p:sldId id="1014" r:id="rId6"/>
    <p:sldId id="1015" r:id="rId7"/>
    <p:sldId id="1018" r:id="rId8"/>
    <p:sldId id="1023" r:id="rId9"/>
    <p:sldId id="1025" r:id="rId10"/>
    <p:sldId id="1026" r:id="rId11"/>
    <p:sldId id="1027" r:id="rId12"/>
    <p:sldId id="1024" r:id="rId13"/>
    <p:sldId id="1019" r:id="rId14"/>
    <p:sldId id="1020" r:id="rId15"/>
    <p:sldId id="1021" r:id="rId16"/>
    <p:sldId id="1022" r:id="rId17"/>
    <p:sldId id="274" r:id="rId18"/>
  </p:sldIdLst>
  <p:sldSz cx="9906000" cy="6858000" type="A4"/>
  <p:notesSz cx="7104063" cy="10234613"/>
  <p:embeddedFontLst>
    <p:embeddedFont>
      <p:font typeface="Berlin Sans FB Demi" panose="020E0802020502020306" pitchFamily="34" charset="0"/>
      <p:bold r:id="rId21"/>
    </p:embeddedFont>
    <p:embeddedFont>
      <p:font typeface="Cambria Math" panose="02040503050406030204" pitchFamily="18" charset="0"/>
      <p:regular r:id="rId2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257"/>
          </p14:sldIdLst>
        </p14:section>
        <p14:section name="Сабак-түшүндүрмө" id="{059544AC-2C27-45B1-9F95-F87DF8854DD6}">
          <p14:sldIdLst>
            <p14:sldId id="962"/>
            <p14:sldId id="1013"/>
            <p14:sldId id="1014"/>
            <p14:sldId id="1015"/>
          </p14:sldIdLst>
        </p14:section>
        <p14:section name="Текшерүү үчун суроолор" id="{383121A3-9552-441B-82DD-9A579F1001A3}">
          <p14:sldIdLst>
            <p14:sldId id="1018"/>
          </p14:sldIdLst>
        </p14:section>
        <p14:section name="Сабак- Түшүндүрмөлөр" id="{F295AE36-FD68-4AD3-B194-C53E7C948E8A}">
          <p14:sldIdLst>
            <p14:sldId id="1023"/>
            <p14:sldId id="1025"/>
            <p14:sldId id="1026"/>
            <p14:sldId id="1027"/>
          </p14:sldIdLst>
        </p14:section>
        <p14:section name="Текшерүү үчун суроолор" id="{77A49ED9-6E4F-4B48-89E2-6B74A5598FF1}">
          <p14:sldIdLst>
            <p14:sldId id="1024"/>
          </p14:sldIdLst>
        </p14:section>
        <p14:section name="Сабак- Түшүндүрмөлөр" id="{3B645718-AC4A-4B58-83AA-116945A706A3}">
          <p14:sldIdLst>
            <p14:sldId id="1019"/>
            <p14:sldId id="1020"/>
            <p14:sldId id="1021"/>
          </p14:sldIdLst>
        </p14:section>
        <p14:section name="Текшерүү үчун суроолор" id="{CC874A6B-C4EB-40CE-9A24-81E118B152C8}">
          <p14:sldIdLst>
            <p14:sldId id="1022"/>
          </p14:sldIdLst>
        </p14:section>
        <p14:section name="Кайтарым байланыш" id="{F3D720CF-F566-46A6-9361-125255B68FA6}">
          <p14:sldIdLst>
            <p14:sldId id="27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ite" initials="k" lastIdx="1" clrIdx="0">
    <p:extLst>
      <p:ext uri="{19B8F6BF-5375-455C-9EA6-DF929625EA0E}">
        <p15:presenceInfo xmlns:p15="http://schemas.microsoft.com/office/powerpoint/2012/main" userId="kite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notesViewPr>
    <p:cSldViewPr snapToGrid="0" showGuides="1">
      <p:cViewPr varScale="1">
        <p:scale>
          <a:sx n="59" d="100"/>
          <a:sy n="59" d="100"/>
        </p:scale>
        <p:origin x="3254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font" Target="fonts/font1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commentAuthors" Target="commentAuthor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2.fntdata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F95EEC0-BA2F-4C89-A04C-7A4A655E278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920E98-7CDF-4021-8551-1596F15CE78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B831BB-79C8-47D7-927B-A4A057B48BB9}" type="datetimeFigureOut">
              <a:rPr lang="en-GB" smtClean="0"/>
              <a:t>15/09/2024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172B7C-7F8E-4E82-8E98-82025082911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E038D9-98AA-4E2F-BECD-0B5701A0753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A3C3B0-A9E3-44D3-89EF-A392F668C0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18304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15/09/2024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1649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9/15/2024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167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9/15/2024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2103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9/15/2024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165660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9/15/2024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59530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9/15/2024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492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9/15/2024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1541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9/15/2024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468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9/15/2024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179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9/15/2024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532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9/15/2024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990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9/15/2024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859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9/15/2024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945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9/15/2024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3304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9/15/2024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6056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87477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33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9/15/2024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433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  <p:sldLayoutId id="2147483730" r:id="rId12"/>
    <p:sldLayoutId id="2147483731" r:id="rId13"/>
    <p:sldLayoutId id="2147483732" r:id="rId14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884C22-E567-2E46-13CA-C26DA13A2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y-KG" dirty="0"/>
              <a:t>Сатып алуу</a:t>
            </a:r>
            <a:r>
              <a:rPr lang="ru-RU" dirty="0"/>
              <a:t> – Бөлүп төлөө менен сатып алуу - Сабак</a:t>
            </a:r>
          </a:p>
          <a:p>
            <a:endParaRPr lang="ru-RU" dirty="0"/>
          </a:p>
          <a:p>
            <a:r>
              <a:rPr lang="ru-RU" dirty="0"/>
              <a:t>Бул ресурс ыкманы жандуу көрсөтөт.</a:t>
            </a:r>
          </a:p>
          <a:p>
            <a:endParaRPr lang="ru-RU" dirty="0"/>
          </a:p>
          <a:p>
            <a:r>
              <a:rPr lang="ru-RU" dirty="0"/>
              <a:t>Анимацияларды текшерип, </a:t>
            </a:r>
            <a:r>
              <a:rPr lang="ky-KG" dirty="0"/>
              <a:t>сабагы</a:t>
            </a:r>
            <a:r>
              <a:rPr lang="ru-RU" dirty="0"/>
              <a:t>ң</a:t>
            </a:r>
            <a:r>
              <a:rPr lang="ky-KG" dirty="0"/>
              <a:t>ызга </a:t>
            </a:r>
            <a:r>
              <a:rPr lang="ru-RU" b="1" dirty="0">
                <a:solidFill>
                  <a:srgbClr val="FF0000"/>
                </a:solidFill>
              </a:rPr>
              <a:t>КЕРЕГИ ЖОК </a:t>
            </a:r>
            <a:r>
              <a:rPr lang="ru-RU" dirty="0"/>
              <a:t>слайддарды </a:t>
            </a:r>
            <a:r>
              <a:rPr lang="ru-RU" sz="2600" b="1" dirty="0">
                <a:solidFill>
                  <a:srgbClr val="FF0000"/>
                </a:solidFill>
              </a:rPr>
              <a:t>ӨЧҮРҮ</a:t>
            </a:r>
            <a:r>
              <a:rPr lang="ky-KG" sz="2600" b="1" dirty="0">
                <a:solidFill>
                  <a:srgbClr val="FF0000"/>
                </a:solidFill>
              </a:rPr>
              <a:t>П САЛЫ</a:t>
            </a:r>
            <a:r>
              <a:rPr lang="ru-RU" sz="2600" b="1" dirty="0">
                <a:solidFill>
                  <a:srgbClr val="FF0000"/>
                </a:solidFill>
              </a:rPr>
              <a:t>ҢЫЗ.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112216"/>
            <a:ext cx="7641034" cy="1137642"/>
          </a:xfrm>
        </p:spPr>
        <p:txBody>
          <a:bodyPr>
            <a:normAutofit/>
          </a:bodyPr>
          <a:lstStyle/>
          <a:p>
            <a:r>
              <a:rPr lang="en-US" sz="5363" dirty="0" err="1">
                <a:solidFill>
                  <a:srgbClr val="00B0F0"/>
                </a:solidFill>
              </a:rPr>
              <a:t>MathKGZ</a:t>
            </a:r>
            <a:r>
              <a:rPr lang="en-US" sz="4225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4075688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03ECF38B-6737-406E-B7AC-C61D251B7711}"/>
              </a:ext>
            </a:extLst>
          </p:cNvPr>
          <p:cNvGrpSpPr/>
          <p:nvPr/>
        </p:nvGrpSpPr>
        <p:grpSpPr>
          <a:xfrm>
            <a:off x="237392" y="2035440"/>
            <a:ext cx="9425354" cy="1050659"/>
            <a:chOff x="219808" y="2519017"/>
            <a:chExt cx="9425354" cy="1050659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4196E6DC-A1F0-4CDB-82E0-0466A6B4FF1B}"/>
                </a:ext>
              </a:extLst>
            </p:cNvPr>
            <p:cNvSpPr/>
            <p:nvPr/>
          </p:nvSpPr>
          <p:spPr>
            <a:xfrm>
              <a:off x="219808" y="2519017"/>
              <a:ext cx="4466492" cy="1050659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D305B32A-1CB0-406E-BD60-FC09366DA070}"/>
                </a:ext>
              </a:extLst>
            </p:cNvPr>
            <p:cNvSpPr/>
            <p:nvPr/>
          </p:nvSpPr>
          <p:spPr>
            <a:xfrm>
              <a:off x="5178670" y="2519017"/>
              <a:ext cx="4466492" cy="1050659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A749EBB3-7EF2-419B-ADB1-1C21A6842F4C}"/>
              </a:ext>
            </a:extLst>
          </p:cNvPr>
          <p:cNvSpPr txBox="1"/>
          <p:nvPr/>
        </p:nvSpPr>
        <p:spPr>
          <a:xfrm>
            <a:off x="2295879" y="0"/>
            <a:ext cx="531427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Бердибек жаңы телефон алгысы келет.</a:t>
            </a:r>
          </a:p>
          <a:p>
            <a:pPr algn="ctr"/>
            <a:r>
              <a:rPr lang="ru-RU" sz="2000" dirty="0"/>
              <a:t>Ал каалаган телефонго төлөөнүн эки жолу бар.</a:t>
            </a:r>
            <a:endParaRPr lang="en-GB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01C920C-C0C7-4260-BAA3-718D64EBAD0A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1421" y="784697"/>
            <a:ext cx="1086645" cy="11056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FB44622-191C-4DD4-9E3A-AA9DE2809F7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83" r="10115"/>
          <a:stretch/>
        </p:blipFill>
        <p:spPr>
          <a:xfrm>
            <a:off x="3841028" y="754918"/>
            <a:ext cx="671701" cy="113107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6D39994-A012-4637-8D7C-0982832012A6}"/>
              </a:ext>
            </a:extLst>
          </p:cNvPr>
          <p:cNvSpPr txBox="1"/>
          <p:nvPr/>
        </p:nvSpPr>
        <p:spPr>
          <a:xfrm>
            <a:off x="1123714" y="2373969"/>
            <a:ext cx="32957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22080 сом бир жолку төлөм</a:t>
            </a:r>
            <a:endParaRPr lang="en-GB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3720A4-581D-458F-8D47-3A7BEC77B59C}"/>
              </a:ext>
            </a:extLst>
          </p:cNvPr>
          <p:cNvSpPr txBox="1"/>
          <p:nvPr/>
        </p:nvSpPr>
        <p:spPr>
          <a:xfrm>
            <a:off x="6449915" y="2066193"/>
            <a:ext cx="282481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Азыр эч нерсе төлөбөй, </a:t>
            </a:r>
          </a:p>
          <a:p>
            <a:pPr algn="ctr"/>
            <a:r>
              <a:rPr lang="ky-KG" sz="2000" dirty="0"/>
              <a:t>2441 сомдон </a:t>
            </a:r>
          </a:p>
          <a:p>
            <a:pPr algn="ctr"/>
            <a:r>
              <a:rPr lang="ky-KG" sz="2000" dirty="0"/>
              <a:t>10 айлык төлөм!</a:t>
            </a:r>
            <a:endParaRPr lang="en-GB" sz="2000" dirty="0"/>
          </a:p>
        </p:txBody>
      </p:sp>
      <p:sp>
        <p:nvSpPr>
          <p:cNvPr id="12" name="Star: 5 Points 11">
            <a:extLst>
              <a:ext uri="{FF2B5EF4-FFF2-40B4-BE49-F238E27FC236}">
                <a16:creationId xmlns:a16="http://schemas.microsoft.com/office/drawing/2014/main" id="{9EA16B76-3FC4-4AD5-B1B4-4B68D5665823}"/>
              </a:ext>
            </a:extLst>
          </p:cNvPr>
          <p:cNvSpPr/>
          <p:nvPr/>
        </p:nvSpPr>
        <p:spPr>
          <a:xfrm>
            <a:off x="282003" y="2066193"/>
            <a:ext cx="740722" cy="740722"/>
          </a:xfrm>
          <a:prstGeom prst="star5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Star: 5 Points 12">
            <a:extLst>
              <a:ext uri="{FF2B5EF4-FFF2-40B4-BE49-F238E27FC236}">
                <a16:creationId xmlns:a16="http://schemas.microsoft.com/office/drawing/2014/main" id="{14FC25F2-3B77-4C67-8A0F-C6D5B6E166F4}"/>
              </a:ext>
            </a:extLst>
          </p:cNvPr>
          <p:cNvSpPr/>
          <p:nvPr/>
        </p:nvSpPr>
        <p:spPr>
          <a:xfrm>
            <a:off x="5328137" y="2195910"/>
            <a:ext cx="740722" cy="740722"/>
          </a:xfrm>
          <a:prstGeom prst="star5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7404B46-1AF1-4DC7-A02C-4C1D1EFFD167}"/>
              </a:ext>
            </a:extLst>
          </p:cNvPr>
          <p:cNvSpPr txBox="1"/>
          <p:nvPr/>
        </p:nvSpPr>
        <p:spPr>
          <a:xfrm>
            <a:off x="2307018" y="3354307"/>
            <a:ext cx="422481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Эмне үчүн эки вариант бар?</a:t>
            </a:r>
          </a:p>
          <a:p>
            <a:pPr algn="ctr"/>
            <a:endParaRPr lang="ru-RU" sz="2000" dirty="0"/>
          </a:p>
          <a:p>
            <a:pPr algn="ctr"/>
            <a:r>
              <a:rPr lang="ru-RU" sz="2000" dirty="0"/>
              <a:t>Кайсы вариант эң арзан? Эмне үчүн?</a:t>
            </a:r>
            <a:endParaRPr lang="en-GB" sz="2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520E34C-AA8F-4ADA-98DA-DC8ED55E8BEC}"/>
              </a:ext>
            </a:extLst>
          </p:cNvPr>
          <p:cNvSpPr txBox="1"/>
          <p:nvPr/>
        </p:nvSpPr>
        <p:spPr>
          <a:xfrm>
            <a:off x="934269" y="3059724"/>
            <a:ext cx="1531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22080 сом</a:t>
            </a:r>
            <a:endParaRPr lang="en-GB" sz="2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6A2B30E-6437-4967-9B1F-B02B51753F77}"/>
              </a:ext>
            </a:extLst>
          </p:cNvPr>
          <p:cNvSpPr txBox="1"/>
          <p:nvPr/>
        </p:nvSpPr>
        <p:spPr>
          <a:xfrm>
            <a:off x="6098515" y="3059724"/>
            <a:ext cx="36166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10 × </a:t>
            </a:r>
            <a:r>
              <a:rPr lang="ky-KG" sz="2400" dirty="0"/>
              <a:t>2441 сом</a:t>
            </a:r>
            <a:r>
              <a:rPr lang="en-GB" sz="2400" dirty="0"/>
              <a:t>= 24</a:t>
            </a:r>
            <a:r>
              <a:rPr lang="ky-KG" sz="2400" dirty="0"/>
              <a:t> </a:t>
            </a:r>
            <a:r>
              <a:rPr lang="en-GB" sz="2400" dirty="0"/>
              <a:t>410</a:t>
            </a:r>
            <a:r>
              <a:rPr lang="ky-KG" sz="2400" dirty="0"/>
              <a:t> сом</a:t>
            </a:r>
            <a:endParaRPr lang="en-GB" sz="2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762DA56-63F5-4AB7-96D2-E8F76B54A08F}"/>
              </a:ext>
            </a:extLst>
          </p:cNvPr>
          <p:cNvSpPr txBox="1"/>
          <p:nvPr/>
        </p:nvSpPr>
        <p:spPr>
          <a:xfrm>
            <a:off x="937864" y="4370642"/>
            <a:ext cx="8030275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Дүкөн акчаны Бердибекке карызга берип, ал аз-аздан төлөй алат.</a:t>
            </a:r>
          </a:p>
          <a:p>
            <a:pPr algn="ctr"/>
            <a:endParaRPr lang="ky-KG" sz="2000" dirty="0"/>
          </a:p>
          <a:p>
            <a:pPr algn="ctr"/>
            <a:r>
              <a:rPr lang="ky-KG" sz="2000" dirty="0"/>
              <a:t>Бул кирешеси бар, бирок топтогон акчасы жок кардар</a:t>
            </a:r>
          </a:p>
          <a:p>
            <a:pPr algn="ctr"/>
            <a:r>
              <a:rPr lang="ky-KG" sz="2000" dirty="0"/>
              <a:t> үчүн продуктуну жеткиликтүү кылат.</a:t>
            </a:r>
          </a:p>
          <a:p>
            <a:pPr algn="ctr"/>
            <a:r>
              <a:rPr lang="ky-KG" sz="2000" dirty="0"/>
              <a:t>Бөлүп төлөө  менен сатып алуу кымбатыраак, </a:t>
            </a:r>
          </a:p>
          <a:p>
            <a:pPr algn="ctr"/>
            <a:r>
              <a:rPr lang="ky-KG" sz="2000" dirty="0"/>
              <a:t>анткени убакыт үчүн акча талап кылынат жана </a:t>
            </a:r>
          </a:p>
          <a:p>
            <a:pPr algn="ctr"/>
            <a:r>
              <a:rPr lang="ky-KG" sz="2000" dirty="0"/>
              <a:t>дүкөн ал акчаны өздөрү акча табуу үчүн колдоно алат (инвестициялоо).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968208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03ECF38B-6737-406E-B7AC-C61D251B7711}"/>
              </a:ext>
            </a:extLst>
          </p:cNvPr>
          <p:cNvGrpSpPr/>
          <p:nvPr/>
        </p:nvGrpSpPr>
        <p:grpSpPr>
          <a:xfrm>
            <a:off x="237392" y="2035440"/>
            <a:ext cx="9425354" cy="1050659"/>
            <a:chOff x="219808" y="2519017"/>
            <a:chExt cx="9425354" cy="1050659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4196E6DC-A1F0-4CDB-82E0-0466A6B4FF1B}"/>
                </a:ext>
              </a:extLst>
            </p:cNvPr>
            <p:cNvSpPr/>
            <p:nvPr/>
          </p:nvSpPr>
          <p:spPr>
            <a:xfrm>
              <a:off x="219808" y="2519017"/>
              <a:ext cx="4466492" cy="1050659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D305B32A-1CB0-406E-BD60-FC09366DA070}"/>
                </a:ext>
              </a:extLst>
            </p:cNvPr>
            <p:cNvSpPr/>
            <p:nvPr/>
          </p:nvSpPr>
          <p:spPr>
            <a:xfrm>
              <a:off x="5178670" y="2519017"/>
              <a:ext cx="4466492" cy="1050659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A749EBB3-7EF2-419B-ADB1-1C21A6842F4C}"/>
              </a:ext>
            </a:extLst>
          </p:cNvPr>
          <p:cNvSpPr txBox="1"/>
          <p:nvPr/>
        </p:nvSpPr>
        <p:spPr>
          <a:xfrm>
            <a:off x="2121761" y="0"/>
            <a:ext cx="566251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Жаркынай жаңы велосипед сатып алгысы келет.</a:t>
            </a:r>
          </a:p>
          <a:p>
            <a:pPr algn="ctr"/>
            <a:r>
              <a:rPr lang="ky-KG" sz="2000" dirty="0"/>
              <a:t>Ал каалаган велосипедди төлөөнүн эки жолу бар.</a:t>
            </a:r>
            <a:endParaRPr lang="en-GB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D39994-A012-4637-8D7C-0982832012A6}"/>
              </a:ext>
            </a:extLst>
          </p:cNvPr>
          <p:cNvSpPr txBox="1"/>
          <p:nvPr/>
        </p:nvSpPr>
        <p:spPr>
          <a:xfrm>
            <a:off x="1155773" y="2373969"/>
            <a:ext cx="32315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38835 сом бир жолку төлөм</a:t>
            </a:r>
            <a:endParaRPr lang="en-GB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3720A4-581D-458F-8D47-3A7BEC77B59C}"/>
              </a:ext>
            </a:extLst>
          </p:cNvPr>
          <p:cNvSpPr txBox="1"/>
          <p:nvPr/>
        </p:nvSpPr>
        <p:spPr>
          <a:xfrm>
            <a:off x="5974429" y="2066193"/>
            <a:ext cx="377577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Азыр болгону 5550 сом төлөңүз, </a:t>
            </a:r>
          </a:p>
          <a:p>
            <a:pPr algn="ctr"/>
            <a:r>
              <a:rPr lang="ky-KG" sz="2000" dirty="0"/>
              <a:t>андан кийин 8 айда</a:t>
            </a:r>
          </a:p>
          <a:p>
            <a:pPr algn="ctr"/>
            <a:r>
              <a:rPr lang="ky-KG" sz="2000" dirty="0"/>
              <a:t>4999сомдон гана төлөйсүз!</a:t>
            </a:r>
            <a:endParaRPr lang="en-GB" sz="2000" dirty="0"/>
          </a:p>
        </p:txBody>
      </p:sp>
      <p:sp>
        <p:nvSpPr>
          <p:cNvPr id="12" name="Star: 5 Points 11">
            <a:extLst>
              <a:ext uri="{FF2B5EF4-FFF2-40B4-BE49-F238E27FC236}">
                <a16:creationId xmlns:a16="http://schemas.microsoft.com/office/drawing/2014/main" id="{9EA16B76-3FC4-4AD5-B1B4-4B68D5665823}"/>
              </a:ext>
            </a:extLst>
          </p:cNvPr>
          <p:cNvSpPr/>
          <p:nvPr/>
        </p:nvSpPr>
        <p:spPr>
          <a:xfrm>
            <a:off x="415051" y="2190408"/>
            <a:ext cx="740722" cy="740722"/>
          </a:xfrm>
          <a:prstGeom prst="star5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Star: 5 Points 12">
            <a:extLst>
              <a:ext uri="{FF2B5EF4-FFF2-40B4-BE49-F238E27FC236}">
                <a16:creationId xmlns:a16="http://schemas.microsoft.com/office/drawing/2014/main" id="{14FC25F2-3B77-4C67-8A0F-C6D5B6E166F4}"/>
              </a:ext>
            </a:extLst>
          </p:cNvPr>
          <p:cNvSpPr/>
          <p:nvPr/>
        </p:nvSpPr>
        <p:spPr>
          <a:xfrm>
            <a:off x="5328137" y="2195910"/>
            <a:ext cx="740722" cy="740722"/>
          </a:xfrm>
          <a:prstGeom prst="star5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7404B46-1AF1-4DC7-A02C-4C1D1EFFD167}"/>
              </a:ext>
            </a:extLst>
          </p:cNvPr>
          <p:cNvSpPr txBox="1"/>
          <p:nvPr/>
        </p:nvSpPr>
        <p:spPr>
          <a:xfrm>
            <a:off x="2360472" y="3316495"/>
            <a:ext cx="422481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Эмне үчүн эки вариант бар?</a:t>
            </a:r>
          </a:p>
          <a:p>
            <a:pPr algn="ctr"/>
            <a:endParaRPr lang="ru-RU" sz="2000" dirty="0"/>
          </a:p>
          <a:p>
            <a:pPr algn="ctr"/>
            <a:r>
              <a:rPr lang="ru-RU" sz="2000" dirty="0"/>
              <a:t>Кайсы вариант эң арзан? Эмне үчүн?</a:t>
            </a:r>
            <a:endParaRPr lang="en-GB" sz="2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520E34C-AA8F-4ADA-98DA-DC8ED55E8BEC}"/>
              </a:ext>
            </a:extLst>
          </p:cNvPr>
          <p:cNvSpPr txBox="1"/>
          <p:nvPr/>
        </p:nvSpPr>
        <p:spPr>
          <a:xfrm>
            <a:off x="934270" y="3059724"/>
            <a:ext cx="1531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38835 сом</a:t>
            </a:r>
            <a:endParaRPr lang="en-GB" sz="2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6A2B30E-6437-4967-9B1F-B02B51753F77}"/>
              </a:ext>
            </a:extLst>
          </p:cNvPr>
          <p:cNvSpPr txBox="1"/>
          <p:nvPr/>
        </p:nvSpPr>
        <p:spPr>
          <a:xfrm>
            <a:off x="6127076" y="3070832"/>
            <a:ext cx="38138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5550</a:t>
            </a:r>
            <a:r>
              <a:rPr lang="en-GB" sz="2400" dirty="0"/>
              <a:t> + 8 × </a:t>
            </a:r>
            <a:r>
              <a:rPr lang="ky-KG" sz="2400" dirty="0"/>
              <a:t>4999</a:t>
            </a:r>
            <a:r>
              <a:rPr lang="en-GB" sz="2400" dirty="0"/>
              <a:t>= 45 542</a:t>
            </a:r>
            <a:r>
              <a:rPr lang="ky-KG" sz="2400" dirty="0"/>
              <a:t> сом</a:t>
            </a:r>
            <a:endParaRPr lang="en-GB" sz="2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762DA56-63F5-4AB7-96D2-E8F76B54A08F}"/>
              </a:ext>
            </a:extLst>
          </p:cNvPr>
          <p:cNvSpPr txBox="1"/>
          <p:nvPr/>
        </p:nvSpPr>
        <p:spPr>
          <a:xfrm>
            <a:off x="934270" y="4451689"/>
            <a:ext cx="8030275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Дүкөн акчаны Жаркынайга карызга берип, ал аз-аздан төлөй алат.</a:t>
            </a:r>
          </a:p>
          <a:p>
            <a:pPr algn="ctr"/>
            <a:endParaRPr lang="ky-KG" sz="2000" dirty="0"/>
          </a:p>
          <a:p>
            <a:pPr algn="ctr"/>
            <a:r>
              <a:rPr lang="ky-KG" sz="2000" dirty="0"/>
              <a:t>Бул кирешеси бар, бирок топтогон акчасы жок кардар</a:t>
            </a:r>
          </a:p>
          <a:p>
            <a:pPr algn="ctr"/>
            <a:r>
              <a:rPr lang="ky-KG" sz="2000" dirty="0"/>
              <a:t> үчүн продуктуну жеткиликтүү кылат.</a:t>
            </a:r>
          </a:p>
          <a:p>
            <a:pPr algn="ctr"/>
            <a:r>
              <a:rPr lang="ky-KG" sz="2000" dirty="0"/>
              <a:t>Бөлүп төлөө  менен сатып алуу кымбатыраак, </a:t>
            </a:r>
          </a:p>
          <a:p>
            <a:pPr algn="ctr"/>
            <a:r>
              <a:rPr lang="ky-KG" sz="2000" dirty="0"/>
              <a:t>анткени убакыт үчүн акча талап кылынат жана </a:t>
            </a:r>
          </a:p>
          <a:p>
            <a:pPr algn="ctr"/>
            <a:r>
              <a:rPr lang="ky-KG" sz="2000" dirty="0"/>
              <a:t>дүкөн ал акчаны өздөрү акча табуу үчүн колдоно алат (инвестициялоо).</a:t>
            </a:r>
            <a:endParaRPr lang="en-GB" sz="20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B773E09-C375-4A68-95AD-38AA8ED823BF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094892" y="739037"/>
            <a:ext cx="1667986" cy="106600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4388920A-F513-45E9-AB9D-19ECFCEA413A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3064" y="810624"/>
            <a:ext cx="1337737" cy="1060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021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56D63E0-7E1F-4721-ABC2-596BDDFD2E36}"/>
              </a:ext>
            </a:extLst>
          </p:cNvPr>
          <p:cNvSpPr txBox="1"/>
          <p:nvPr/>
        </p:nvSpPr>
        <p:spPr>
          <a:xfrm>
            <a:off x="1747726" y="0"/>
            <a:ext cx="64106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Канат менен Азиза бир окшош телефонду сатып алышат.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B8F27C-5469-452B-8444-127B3DB2C621}"/>
              </a:ext>
            </a:extLst>
          </p:cNvPr>
          <p:cNvSpPr txBox="1"/>
          <p:nvPr/>
        </p:nvSpPr>
        <p:spPr>
          <a:xfrm>
            <a:off x="1451278" y="2725615"/>
            <a:ext cx="7021089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Канат дароо чыгымды төлөө үчүн чогулткан акчасын колдонот.</a:t>
            </a:r>
          </a:p>
          <a:p>
            <a:pPr algn="ctr"/>
            <a:endParaRPr lang="ky-KG" sz="2000" dirty="0"/>
          </a:p>
          <a:p>
            <a:pPr algn="ctr"/>
            <a:r>
              <a:rPr lang="ky-KG" sz="2000" dirty="0"/>
              <a:t>Азиза депозитти жана ай сайын төлөп берүүнү чечет.</a:t>
            </a:r>
          </a:p>
          <a:p>
            <a:pPr algn="ctr"/>
            <a:endParaRPr lang="ky-KG" sz="2000" dirty="0"/>
          </a:p>
          <a:p>
            <a:pPr algn="ctr"/>
            <a:r>
              <a:rPr lang="ky-KG" sz="2000" dirty="0"/>
              <a:t>Азизанын телефону канча турат?</a:t>
            </a:r>
            <a:endParaRPr lang="en-GB" sz="200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6D11C2C-3980-4FB3-B8F9-E6F8FF07E9A3}"/>
              </a:ext>
            </a:extLst>
          </p:cNvPr>
          <p:cNvGrpSpPr/>
          <p:nvPr/>
        </p:nvGrpSpPr>
        <p:grpSpPr>
          <a:xfrm>
            <a:off x="246184" y="1543071"/>
            <a:ext cx="9425354" cy="1050659"/>
            <a:chOff x="219808" y="2519017"/>
            <a:chExt cx="9425354" cy="1050659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ACACC37A-DB18-4DD6-B2C2-8D1F6F78DE6E}"/>
                </a:ext>
              </a:extLst>
            </p:cNvPr>
            <p:cNvSpPr/>
            <p:nvPr/>
          </p:nvSpPr>
          <p:spPr>
            <a:xfrm>
              <a:off x="219808" y="2519017"/>
              <a:ext cx="4466492" cy="1050659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2E4FA2FC-0D78-4F2C-B6AA-8827C5EFAA0D}"/>
                </a:ext>
              </a:extLst>
            </p:cNvPr>
            <p:cNvSpPr/>
            <p:nvPr/>
          </p:nvSpPr>
          <p:spPr>
            <a:xfrm>
              <a:off x="5178670" y="2519017"/>
              <a:ext cx="4466492" cy="1050659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6433AB2-DEA5-425D-809C-994493732C7F}"/>
              </a:ext>
            </a:extLst>
          </p:cNvPr>
          <p:cNvSpPr txBox="1"/>
          <p:nvPr/>
        </p:nvSpPr>
        <p:spPr>
          <a:xfrm>
            <a:off x="1164565" y="1881600"/>
            <a:ext cx="32315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24965 сом бир жолку төлөм</a:t>
            </a:r>
            <a:endParaRPr lang="en-GB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D51304-82C2-48CF-8FCB-68CE45D1293C}"/>
              </a:ext>
            </a:extLst>
          </p:cNvPr>
          <p:cNvSpPr txBox="1"/>
          <p:nvPr/>
        </p:nvSpPr>
        <p:spPr>
          <a:xfrm>
            <a:off x="6100239" y="1573824"/>
            <a:ext cx="354174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Азыр болгону 4450 сом төлөп, </a:t>
            </a:r>
          </a:p>
          <a:p>
            <a:pPr algn="ctr"/>
            <a:r>
              <a:rPr lang="ky-KG" sz="2000" dirty="0"/>
              <a:t>андан кийин болгону 2777</a:t>
            </a:r>
          </a:p>
          <a:p>
            <a:pPr algn="ctr"/>
            <a:r>
              <a:rPr lang="ky-KG" sz="2000" dirty="0"/>
              <a:t> сомдон 9 ай  төлөңүз!</a:t>
            </a:r>
            <a:endParaRPr lang="en-GB" sz="2000" dirty="0"/>
          </a:p>
        </p:txBody>
      </p:sp>
      <p:sp>
        <p:nvSpPr>
          <p:cNvPr id="9" name="Star: 5 Points 8">
            <a:extLst>
              <a:ext uri="{FF2B5EF4-FFF2-40B4-BE49-F238E27FC236}">
                <a16:creationId xmlns:a16="http://schemas.microsoft.com/office/drawing/2014/main" id="{C6B96839-5958-4D24-A1EF-119F6FF759F1}"/>
              </a:ext>
            </a:extLst>
          </p:cNvPr>
          <p:cNvSpPr/>
          <p:nvPr/>
        </p:nvSpPr>
        <p:spPr>
          <a:xfrm>
            <a:off x="501161" y="1703541"/>
            <a:ext cx="740722" cy="740722"/>
          </a:xfrm>
          <a:prstGeom prst="star5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Star: 5 Points 9">
            <a:extLst>
              <a:ext uri="{FF2B5EF4-FFF2-40B4-BE49-F238E27FC236}">
                <a16:creationId xmlns:a16="http://schemas.microsoft.com/office/drawing/2014/main" id="{AB86E1B4-DF12-4BC8-BA7F-CF24CADC128E}"/>
              </a:ext>
            </a:extLst>
          </p:cNvPr>
          <p:cNvSpPr/>
          <p:nvPr/>
        </p:nvSpPr>
        <p:spPr>
          <a:xfrm>
            <a:off x="5336929" y="1703541"/>
            <a:ext cx="740722" cy="740722"/>
          </a:xfrm>
          <a:prstGeom prst="star5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3FE59C4-16F9-4B3E-A7C6-330A0F6E19C8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3428" y="449755"/>
            <a:ext cx="839895" cy="96073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C8BDAF3-9237-4327-8BDB-D12ED1214F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8604" y="477813"/>
            <a:ext cx="905006" cy="92895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9D291EC-6A88-4578-A95C-B93FA652012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83" r="10115"/>
          <a:stretch/>
        </p:blipFill>
        <p:spPr>
          <a:xfrm>
            <a:off x="3975311" y="376756"/>
            <a:ext cx="671701" cy="113107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F5B8513-99C7-49EF-A40D-33E652930F6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83" r="10115"/>
          <a:stretch/>
        </p:blipFill>
        <p:spPr>
          <a:xfrm>
            <a:off x="6736096" y="376756"/>
            <a:ext cx="671701" cy="113107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0EE507B5-C12F-4714-B31F-39EE002B2955}"/>
              </a:ext>
            </a:extLst>
          </p:cNvPr>
          <p:cNvSpPr/>
          <p:nvPr/>
        </p:nvSpPr>
        <p:spPr>
          <a:xfrm>
            <a:off x="1075752" y="4501661"/>
            <a:ext cx="6393026" cy="50613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AE23273-478F-4C0D-98C1-1F0B5D300B45}"/>
              </a:ext>
            </a:extLst>
          </p:cNvPr>
          <p:cNvSpPr/>
          <p:nvPr/>
        </p:nvSpPr>
        <p:spPr>
          <a:xfrm>
            <a:off x="1075752" y="5578145"/>
            <a:ext cx="1136538" cy="506133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2828492-E46B-4C38-AD12-5EB8D6AF918F}"/>
              </a:ext>
            </a:extLst>
          </p:cNvPr>
          <p:cNvSpPr/>
          <p:nvPr/>
        </p:nvSpPr>
        <p:spPr>
          <a:xfrm>
            <a:off x="2202314" y="5578145"/>
            <a:ext cx="710336" cy="50613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04F5DDE-9D20-4F35-81E1-3D925E3F4CD6}"/>
              </a:ext>
            </a:extLst>
          </p:cNvPr>
          <p:cNvSpPr/>
          <p:nvPr/>
        </p:nvSpPr>
        <p:spPr>
          <a:xfrm>
            <a:off x="2904079" y="5578145"/>
            <a:ext cx="710336" cy="50613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CC6BC22-D4A8-4992-8C7F-74CF8E0BE725}"/>
              </a:ext>
            </a:extLst>
          </p:cNvPr>
          <p:cNvSpPr/>
          <p:nvPr/>
        </p:nvSpPr>
        <p:spPr>
          <a:xfrm>
            <a:off x="3614415" y="5578145"/>
            <a:ext cx="710336" cy="50613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1398C7A-0725-4E22-8D86-CA91EAB65DF0}"/>
              </a:ext>
            </a:extLst>
          </p:cNvPr>
          <p:cNvSpPr/>
          <p:nvPr/>
        </p:nvSpPr>
        <p:spPr>
          <a:xfrm>
            <a:off x="4324752" y="5578145"/>
            <a:ext cx="710336" cy="50613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B007B58-F0AE-4397-A9F9-AA57F85D0061}"/>
              </a:ext>
            </a:extLst>
          </p:cNvPr>
          <p:cNvSpPr/>
          <p:nvPr/>
        </p:nvSpPr>
        <p:spPr>
          <a:xfrm>
            <a:off x="5035088" y="5578145"/>
            <a:ext cx="710336" cy="50613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22E3FC7-47D8-47AA-81DC-8B155AEF78D4}"/>
              </a:ext>
            </a:extLst>
          </p:cNvPr>
          <p:cNvSpPr/>
          <p:nvPr/>
        </p:nvSpPr>
        <p:spPr>
          <a:xfrm>
            <a:off x="5736853" y="5578145"/>
            <a:ext cx="710336" cy="50613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498D27D-0F3D-4D3D-B1D0-CDDBEB4EEFED}"/>
              </a:ext>
            </a:extLst>
          </p:cNvPr>
          <p:cNvSpPr/>
          <p:nvPr/>
        </p:nvSpPr>
        <p:spPr>
          <a:xfrm>
            <a:off x="6447189" y="5578145"/>
            <a:ext cx="710336" cy="50613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ECCD0E2-20C9-41AD-B4C9-2F613781B4EB}"/>
              </a:ext>
            </a:extLst>
          </p:cNvPr>
          <p:cNvSpPr/>
          <p:nvPr/>
        </p:nvSpPr>
        <p:spPr>
          <a:xfrm>
            <a:off x="7157526" y="5578145"/>
            <a:ext cx="710336" cy="50613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2AD84CD-BD65-42B8-BD91-38D221FB2D28}"/>
              </a:ext>
            </a:extLst>
          </p:cNvPr>
          <p:cNvSpPr/>
          <p:nvPr/>
        </p:nvSpPr>
        <p:spPr>
          <a:xfrm>
            <a:off x="7867862" y="5578145"/>
            <a:ext cx="710336" cy="50613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56092F0-5D44-4771-8B8B-C556410A9C04}"/>
              </a:ext>
            </a:extLst>
          </p:cNvPr>
          <p:cNvSpPr txBox="1"/>
          <p:nvPr/>
        </p:nvSpPr>
        <p:spPr>
          <a:xfrm>
            <a:off x="1183742" y="6101862"/>
            <a:ext cx="8915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/>
              <a:t>Насыя</a:t>
            </a:r>
            <a:endParaRPr lang="en-GB" sz="20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CFFDFB6-99CB-49DB-86DD-F0CD91B3DC59}"/>
              </a:ext>
            </a:extLst>
          </p:cNvPr>
          <p:cNvSpPr txBox="1"/>
          <p:nvPr/>
        </p:nvSpPr>
        <p:spPr>
          <a:xfrm>
            <a:off x="52467" y="4547305"/>
            <a:ext cx="8064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Канат</a:t>
            </a:r>
            <a:endParaRPr lang="en-GB" sz="20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3B209FA-35E1-49A8-8F89-93B87C3FF5BD}"/>
              </a:ext>
            </a:extLst>
          </p:cNvPr>
          <p:cNvSpPr txBox="1"/>
          <p:nvPr/>
        </p:nvSpPr>
        <p:spPr>
          <a:xfrm>
            <a:off x="49163" y="5591907"/>
            <a:ext cx="8130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Азиза</a:t>
            </a:r>
            <a:endParaRPr lang="en-GB" sz="20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39A2AC6-4BB3-4A42-8FC0-C20EA39C7038}"/>
              </a:ext>
            </a:extLst>
          </p:cNvPr>
          <p:cNvSpPr txBox="1"/>
          <p:nvPr/>
        </p:nvSpPr>
        <p:spPr>
          <a:xfrm>
            <a:off x="1277516" y="5635870"/>
            <a:ext cx="7040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4</a:t>
            </a:r>
            <a:r>
              <a:rPr lang="ky-KG" sz="2000" dirty="0"/>
              <a:t>450</a:t>
            </a:r>
            <a:endParaRPr lang="en-GB" sz="2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2C60474-8D50-4B14-8B47-3274F53029C1}"/>
              </a:ext>
            </a:extLst>
          </p:cNvPr>
          <p:cNvSpPr txBox="1"/>
          <p:nvPr/>
        </p:nvSpPr>
        <p:spPr>
          <a:xfrm>
            <a:off x="2183124" y="5635870"/>
            <a:ext cx="7040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2777</a:t>
            </a:r>
            <a:endParaRPr lang="en-GB" sz="20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47C75DF-8C05-4F62-80B2-00967431E134}"/>
              </a:ext>
            </a:extLst>
          </p:cNvPr>
          <p:cNvSpPr txBox="1"/>
          <p:nvPr/>
        </p:nvSpPr>
        <p:spPr>
          <a:xfrm>
            <a:off x="2895302" y="5635870"/>
            <a:ext cx="7040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2777</a:t>
            </a:r>
            <a:endParaRPr lang="en-GB" sz="20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462AA2E-35E8-42FE-8261-3B252BA3742A}"/>
              </a:ext>
            </a:extLst>
          </p:cNvPr>
          <p:cNvSpPr txBox="1"/>
          <p:nvPr/>
        </p:nvSpPr>
        <p:spPr>
          <a:xfrm>
            <a:off x="3607479" y="5635870"/>
            <a:ext cx="704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2777</a:t>
            </a:r>
            <a:endParaRPr lang="en-GB" sz="2000" dirty="0"/>
          </a:p>
          <a:p>
            <a:pPr algn="ctr"/>
            <a:endParaRPr lang="en-GB" sz="2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EB80E56-27BF-48B3-AA11-33147F82E03F}"/>
              </a:ext>
            </a:extLst>
          </p:cNvPr>
          <p:cNvSpPr txBox="1"/>
          <p:nvPr/>
        </p:nvSpPr>
        <p:spPr>
          <a:xfrm>
            <a:off x="4310863" y="5635870"/>
            <a:ext cx="7040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2777</a:t>
            </a:r>
            <a:endParaRPr lang="en-GB" sz="20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AF8EBAA-3459-45B0-A7C3-76CC6D2338B9}"/>
              </a:ext>
            </a:extLst>
          </p:cNvPr>
          <p:cNvSpPr txBox="1"/>
          <p:nvPr/>
        </p:nvSpPr>
        <p:spPr>
          <a:xfrm>
            <a:off x="5014248" y="5635870"/>
            <a:ext cx="7040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2777</a:t>
            </a:r>
            <a:endParaRPr lang="en-GB" sz="20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1C059E4-520F-4A83-84D7-2E2514D273AD}"/>
              </a:ext>
            </a:extLst>
          </p:cNvPr>
          <p:cNvSpPr txBox="1"/>
          <p:nvPr/>
        </p:nvSpPr>
        <p:spPr>
          <a:xfrm>
            <a:off x="5752802" y="5635870"/>
            <a:ext cx="7040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2777</a:t>
            </a:r>
            <a:endParaRPr lang="en-GB" sz="20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65AF2F5-6AB5-4BF4-8F02-243B1F91F8D1}"/>
              </a:ext>
            </a:extLst>
          </p:cNvPr>
          <p:cNvSpPr txBox="1"/>
          <p:nvPr/>
        </p:nvSpPr>
        <p:spPr>
          <a:xfrm>
            <a:off x="6456186" y="5635870"/>
            <a:ext cx="7040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2777</a:t>
            </a:r>
            <a:endParaRPr lang="en-GB" sz="20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E0AB679-E883-466C-B4CB-4C7791260867}"/>
              </a:ext>
            </a:extLst>
          </p:cNvPr>
          <p:cNvSpPr txBox="1"/>
          <p:nvPr/>
        </p:nvSpPr>
        <p:spPr>
          <a:xfrm>
            <a:off x="7159571" y="5635870"/>
            <a:ext cx="7040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2777</a:t>
            </a:r>
            <a:endParaRPr lang="en-GB" sz="20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9E493DB-9DBF-4EFF-83E3-CA64C6DFD229}"/>
              </a:ext>
            </a:extLst>
          </p:cNvPr>
          <p:cNvSpPr txBox="1"/>
          <p:nvPr/>
        </p:nvSpPr>
        <p:spPr>
          <a:xfrm>
            <a:off x="7880540" y="5635870"/>
            <a:ext cx="704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2777</a:t>
            </a:r>
            <a:endParaRPr lang="en-GB" sz="2000" dirty="0"/>
          </a:p>
          <a:p>
            <a:pPr algn="ctr"/>
            <a:endParaRPr lang="en-GB" sz="20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49FCA06-05D9-4D80-998C-8F7647ADCA2A}"/>
              </a:ext>
            </a:extLst>
          </p:cNvPr>
          <p:cNvSpPr txBox="1"/>
          <p:nvPr/>
        </p:nvSpPr>
        <p:spPr>
          <a:xfrm>
            <a:off x="3786521" y="4532506"/>
            <a:ext cx="13083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24965 сом</a:t>
            </a:r>
            <a:endParaRPr lang="en-GB" sz="20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96976EA-EFC7-4FBF-98F2-5DC4208B402D}"/>
              </a:ext>
            </a:extLst>
          </p:cNvPr>
          <p:cNvSpPr txBox="1"/>
          <p:nvPr/>
        </p:nvSpPr>
        <p:spPr>
          <a:xfrm>
            <a:off x="8651708" y="5591907"/>
            <a:ext cx="10198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= </a:t>
            </a:r>
            <a:r>
              <a:rPr lang="ky-KG" sz="2000" dirty="0"/>
              <a:t>29443</a:t>
            </a:r>
            <a:endParaRPr lang="en-GB" sz="2000" dirty="0"/>
          </a:p>
        </p:txBody>
      </p:sp>
      <p:sp>
        <p:nvSpPr>
          <p:cNvPr id="47" name="Right Bracket 46">
            <a:extLst>
              <a:ext uri="{FF2B5EF4-FFF2-40B4-BE49-F238E27FC236}">
                <a16:creationId xmlns:a16="http://schemas.microsoft.com/office/drawing/2014/main" id="{1C4DA2F6-3DDA-486F-92DF-D7244F6B1DA6}"/>
              </a:ext>
            </a:extLst>
          </p:cNvPr>
          <p:cNvSpPr/>
          <p:nvPr/>
        </p:nvSpPr>
        <p:spPr>
          <a:xfrm rot="16200000">
            <a:off x="7913781" y="4317727"/>
            <a:ext cx="290146" cy="1027292"/>
          </a:xfrm>
          <a:prstGeom prst="rightBracket">
            <a:avLst/>
          </a:prstGeom>
          <a:ln w="38100">
            <a:solidFill>
              <a:srgbClr val="00FF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EE52954-C316-4371-911D-03B73EFBFEC7}"/>
              </a:ext>
            </a:extLst>
          </p:cNvPr>
          <p:cNvSpPr txBox="1"/>
          <p:nvPr/>
        </p:nvSpPr>
        <p:spPr>
          <a:xfrm>
            <a:off x="7462976" y="4283537"/>
            <a:ext cx="11785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4478 сом</a:t>
            </a:r>
            <a:endParaRPr lang="en-GB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23BD8A92-53B3-4626-A305-B18C613C7E12}"/>
                  </a:ext>
                </a:extLst>
              </p:cNvPr>
              <p:cNvSpPr txBox="1"/>
              <p:nvPr/>
            </p:nvSpPr>
            <p:spPr>
              <a:xfrm>
                <a:off x="8126434" y="3562568"/>
                <a:ext cx="1803507" cy="6705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y-KG" sz="2000" b="0" i="1" dirty="0" smtClean="0">
                              <a:latin typeface="Cambria Math" panose="02040503050406030204" pitchFamily="18" charset="0"/>
                            </a:rPr>
                            <m:t>4478</m:t>
                          </m:r>
                        </m:num>
                        <m:den>
                          <m:r>
                            <a:rPr lang="ky-KG" sz="2000" b="0" i="1" dirty="0" smtClean="0">
                              <a:latin typeface="Cambria Math" panose="02040503050406030204" pitchFamily="18" charset="0"/>
                            </a:rPr>
                            <m:t>24965</m:t>
                          </m:r>
                        </m:den>
                      </m:f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=18%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23BD8A92-53B3-4626-A305-B18C613C7E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6434" y="3562568"/>
                <a:ext cx="1803507" cy="67056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9206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6" grpId="0"/>
      <p:bldP spid="47" grpId="0" animBg="1"/>
      <p:bldP spid="48" grpId="0"/>
      <p:bldP spid="4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83F396B1-0ECC-4846-AAF1-8C7018F09B36}"/>
              </a:ext>
            </a:extLst>
          </p:cNvPr>
          <p:cNvGrpSpPr/>
          <p:nvPr/>
        </p:nvGrpSpPr>
        <p:grpSpPr>
          <a:xfrm>
            <a:off x="2468685" y="5578145"/>
            <a:ext cx="704040" cy="506133"/>
            <a:chOff x="4748429" y="5578145"/>
            <a:chExt cx="1690749" cy="506133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2828492-E46B-4C38-AD12-5EB8D6AF918F}"/>
                </a:ext>
              </a:extLst>
            </p:cNvPr>
            <p:cNvSpPr/>
            <p:nvPr/>
          </p:nvSpPr>
          <p:spPr>
            <a:xfrm>
              <a:off x="4963802" y="5578145"/>
              <a:ext cx="1260000" cy="506133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D2C60474-8D50-4B14-8B47-3274F53029C1}"/>
                </a:ext>
              </a:extLst>
            </p:cNvPr>
            <p:cNvSpPr txBox="1"/>
            <p:nvPr/>
          </p:nvSpPr>
          <p:spPr>
            <a:xfrm>
              <a:off x="4748429" y="5631156"/>
              <a:ext cx="16907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2000" dirty="0"/>
                <a:t>3888</a:t>
              </a:r>
              <a:endParaRPr lang="en-GB" sz="2000" dirty="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56D63E0-7E1F-4721-ABC2-596BDDFD2E36}"/>
              </a:ext>
            </a:extLst>
          </p:cNvPr>
          <p:cNvSpPr txBox="1"/>
          <p:nvPr/>
        </p:nvSpPr>
        <p:spPr>
          <a:xfrm>
            <a:off x="2022003" y="0"/>
            <a:ext cx="58620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Айдай &amp; Тимур окшош компьютерди сатып алышат.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B8F27C-5469-452B-8444-127B3DB2C621}"/>
              </a:ext>
            </a:extLst>
          </p:cNvPr>
          <p:cNvSpPr txBox="1"/>
          <p:nvPr/>
        </p:nvSpPr>
        <p:spPr>
          <a:xfrm>
            <a:off x="1378629" y="2725615"/>
            <a:ext cx="7166385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Айдай дароо чыгымды төлөө үчүн үнөмдөгөн акчсын колдонот.</a:t>
            </a:r>
          </a:p>
          <a:p>
            <a:pPr algn="ctr"/>
            <a:endParaRPr lang="ky-KG" sz="2000" dirty="0"/>
          </a:p>
          <a:p>
            <a:pPr algn="ctr"/>
            <a:r>
              <a:rPr lang="en-GB" sz="2000" dirty="0"/>
              <a:t>Т</a:t>
            </a:r>
            <a:r>
              <a:rPr lang="ky-KG" sz="2000" dirty="0"/>
              <a:t>имур депозитти жана ай сайын төлөп берүүнү чечет.</a:t>
            </a:r>
          </a:p>
          <a:p>
            <a:pPr algn="ctr"/>
            <a:endParaRPr lang="ky-KG" sz="2000" dirty="0"/>
          </a:p>
          <a:p>
            <a:pPr algn="ctr"/>
            <a:r>
              <a:rPr lang="ky-KG" sz="2000" dirty="0"/>
              <a:t>Тимурдун компьютери</a:t>
            </a:r>
            <a:r>
              <a:rPr lang="en-GB" sz="2000" dirty="0"/>
              <a:t> </a:t>
            </a:r>
            <a:r>
              <a:rPr lang="ky-KG" sz="2000" dirty="0"/>
              <a:t>канча турат?</a:t>
            </a:r>
            <a:endParaRPr lang="en-GB" sz="200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6D11C2C-3980-4FB3-B8F9-E6F8FF07E9A3}"/>
              </a:ext>
            </a:extLst>
          </p:cNvPr>
          <p:cNvGrpSpPr/>
          <p:nvPr/>
        </p:nvGrpSpPr>
        <p:grpSpPr>
          <a:xfrm>
            <a:off x="246184" y="1543071"/>
            <a:ext cx="9425354" cy="1050659"/>
            <a:chOff x="219808" y="2519017"/>
            <a:chExt cx="9425354" cy="1050659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ACACC37A-DB18-4DD6-B2C2-8D1F6F78DE6E}"/>
                </a:ext>
              </a:extLst>
            </p:cNvPr>
            <p:cNvSpPr/>
            <p:nvPr/>
          </p:nvSpPr>
          <p:spPr>
            <a:xfrm>
              <a:off x="219808" y="2519017"/>
              <a:ext cx="4466492" cy="1050659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2E4FA2FC-0D78-4F2C-B6AA-8827C5EFAA0D}"/>
                </a:ext>
              </a:extLst>
            </p:cNvPr>
            <p:cNvSpPr/>
            <p:nvPr/>
          </p:nvSpPr>
          <p:spPr>
            <a:xfrm>
              <a:off x="5178670" y="2519017"/>
              <a:ext cx="4466492" cy="1050659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6433AB2-DEA5-425D-809C-994493732C7F}"/>
              </a:ext>
            </a:extLst>
          </p:cNvPr>
          <p:cNvSpPr txBox="1"/>
          <p:nvPr/>
        </p:nvSpPr>
        <p:spPr>
          <a:xfrm>
            <a:off x="1193419" y="1881600"/>
            <a:ext cx="31738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50930 сомбир жолку төлөм</a:t>
            </a:r>
            <a:endParaRPr lang="en-GB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D51304-82C2-48CF-8FCB-68CE45D1293C}"/>
              </a:ext>
            </a:extLst>
          </p:cNvPr>
          <p:cNvSpPr txBox="1"/>
          <p:nvPr/>
        </p:nvSpPr>
        <p:spPr>
          <a:xfrm>
            <a:off x="6272565" y="1573824"/>
            <a:ext cx="319709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Азыр болгону 10999 төлөп, </a:t>
            </a:r>
          </a:p>
          <a:p>
            <a:pPr algn="ctr"/>
            <a:r>
              <a:rPr lang="ky-KG" sz="2000" dirty="0"/>
              <a:t>андан кийин 3888 сомдон  </a:t>
            </a:r>
          </a:p>
          <a:p>
            <a:pPr algn="ctr"/>
            <a:r>
              <a:rPr lang="ky-KG" sz="2000" dirty="0"/>
              <a:t>12 ай сайын төлөңүз!</a:t>
            </a:r>
            <a:endParaRPr lang="en-GB" sz="2000" dirty="0"/>
          </a:p>
        </p:txBody>
      </p:sp>
      <p:sp>
        <p:nvSpPr>
          <p:cNvPr id="9" name="Star: 5 Points 8">
            <a:extLst>
              <a:ext uri="{FF2B5EF4-FFF2-40B4-BE49-F238E27FC236}">
                <a16:creationId xmlns:a16="http://schemas.microsoft.com/office/drawing/2014/main" id="{C6B96839-5958-4D24-A1EF-119F6FF759F1}"/>
              </a:ext>
            </a:extLst>
          </p:cNvPr>
          <p:cNvSpPr/>
          <p:nvPr/>
        </p:nvSpPr>
        <p:spPr>
          <a:xfrm>
            <a:off x="501161" y="1703541"/>
            <a:ext cx="740722" cy="740722"/>
          </a:xfrm>
          <a:prstGeom prst="star5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Star: 5 Points 9">
            <a:extLst>
              <a:ext uri="{FF2B5EF4-FFF2-40B4-BE49-F238E27FC236}">
                <a16:creationId xmlns:a16="http://schemas.microsoft.com/office/drawing/2014/main" id="{AB86E1B4-DF12-4BC8-BA7F-CF24CADC128E}"/>
              </a:ext>
            </a:extLst>
          </p:cNvPr>
          <p:cNvSpPr/>
          <p:nvPr/>
        </p:nvSpPr>
        <p:spPr>
          <a:xfrm>
            <a:off x="5336929" y="1703541"/>
            <a:ext cx="740722" cy="740722"/>
          </a:xfrm>
          <a:prstGeom prst="star5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56092F0-5D44-4771-8B8B-C556410A9C04}"/>
              </a:ext>
            </a:extLst>
          </p:cNvPr>
          <p:cNvSpPr txBox="1"/>
          <p:nvPr/>
        </p:nvSpPr>
        <p:spPr>
          <a:xfrm>
            <a:off x="1397102" y="6101862"/>
            <a:ext cx="8915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/>
              <a:t>Насыя</a:t>
            </a:r>
            <a:endParaRPr lang="en-GB" sz="20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CFFDFB6-99CB-49DB-86DD-F0CD91B3DC59}"/>
              </a:ext>
            </a:extLst>
          </p:cNvPr>
          <p:cNvSpPr txBox="1"/>
          <p:nvPr/>
        </p:nvSpPr>
        <p:spPr>
          <a:xfrm>
            <a:off x="17905" y="4547305"/>
            <a:ext cx="8755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Айдай</a:t>
            </a:r>
            <a:endParaRPr lang="en-GB" sz="20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3B209FA-35E1-49A8-8F89-93B87C3FF5BD}"/>
              </a:ext>
            </a:extLst>
          </p:cNvPr>
          <p:cNvSpPr txBox="1"/>
          <p:nvPr/>
        </p:nvSpPr>
        <p:spPr>
          <a:xfrm>
            <a:off x="30247" y="5591907"/>
            <a:ext cx="8508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Тимур</a:t>
            </a:r>
            <a:endParaRPr lang="en-GB" sz="20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96976EA-EFC7-4FBF-98F2-5DC4208B402D}"/>
              </a:ext>
            </a:extLst>
          </p:cNvPr>
          <p:cNvSpPr txBox="1"/>
          <p:nvPr/>
        </p:nvSpPr>
        <p:spPr>
          <a:xfrm>
            <a:off x="8843550" y="5627077"/>
            <a:ext cx="10839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= 57 655</a:t>
            </a:r>
          </a:p>
        </p:txBody>
      </p:sp>
      <p:sp>
        <p:nvSpPr>
          <p:cNvPr id="47" name="Right Bracket 46">
            <a:extLst>
              <a:ext uri="{FF2B5EF4-FFF2-40B4-BE49-F238E27FC236}">
                <a16:creationId xmlns:a16="http://schemas.microsoft.com/office/drawing/2014/main" id="{1C4DA2F6-3DDA-486F-92DF-D7244F6B1DA6}"/>
              </a:ext>
            </a:extLst>
          </p:cNvPr>
          <p:cNvSpPr/>
          <p:nvPr/>
        </p:nvSpPr>
        <p:spPr>
          <a:xfrm rot="16200000">
            <a:off x="8305507" y="4419893"/>
            <a:ext cx="290146" cy="822960"/>
          </a:xfrm>
          <a:prstGeom prst="rightBracket">
            <a:avLst/>
          </a:prstGeom>
          <a:ln w="38100">
            <a:solidFill>
              <a:srgbClr val="00FF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EE52954-C316-4371-911D-03B73EFBFEC7}"/>
              </a:ext>
            </a:extLst>
          </p:cNvPr>
          <p:cNvSpPr txBox="1"/>
          <p:nvPr/>
        </p:nvSpPr>
        <p:spPr>
          <a:xfrm>
            <a:off x="8119318" y="4283537"/>
            <a:ext cx="7040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6725</a:t>
            </a:r>
            <a:endParaRPr lang="en-GB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23BD8A92-53B3-4626-A305-B18C613C7E12}"/>
                  </a:ext>
                </a:extLst>
              </p:cNvPr>
              <p:cNvSpPr txBox="1"/>
              <p:nvPr/>
            </p:nvSpPr>
            <p:spPr>
              <a:xfrm>
                <a:off x="8201740" y="3440105"/>
                <a:ext cx="1739387" cy="6772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y-KG" sz="2000" b="0" i="1" dirty="0" smtClean="0">
                              <a:latin typeface="Cambria Math" panose="02040503050406030204" pitchFamily="18" charset="0"/>
                            </a:rPr>
                            <m:t>6725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ky-KG" sz="2000" dirty="0"/>
                            <m:t>50930</m:t>
                          </m:r>
                        </m:den>
                      </m:f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=13%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23BD8A92-53B3-4626-A305-B18C613C7E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1740" y="3440105"/>
                <a:ext cx="1739387" cy="67723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5" name="Graphic 44">
            <a:extLst>
              <a:ext uri="{FF2B5EF4-FFF2-40B4-BE49-F238E27FC236}">
                <a16:creationId xmlns:a16="http://schemas.microsoft.com/office/drawing/2014/main" id="{35C242CD-9A5E-408C-9768-5C7FC1520D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7353" y="345692"/>
            <a:ext cx="2277207" cy="1184628"/>
          </a:xfrm>
          <a:prstGeom prst="rect">
            <a:avLst/>
          </a:prstGeom>
        </p:spPr>
      </p:pic>
      <p:pic>
        <p:nvPicPr>
          <p:cNvPr id="52" name="Graphic 51">
            <a:extLst>
              <a:ext uri="{FF2B5EF4-FFF2-40B4-BE49-F238E27FC236}">
                <a16:creationId xmlns:a16="http://schemas.microsoft.com/office/drawing/2014/main" id="{20B1D4D1-F6FE-4E72-8FCA-F12E5E0524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19446" y="345692"/>
            <a:ext cx="2277207" cy="1184628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D6CC738B-38EC-4A0C-BBA8-02E3C04C5288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3122" y="446421"/>
            <a:ext cx="1189744" cy="955514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9FF1EBFC-A585-44BD-9B35-54C6D9B75F9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8058" y="425279"/>
            <a:ext cx="857572" cy="980958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0EE507B5-C12F-4714-B31F-39EE002B2955}"/>
              </a:ext>
            </a:extLst>
          </p:cNvPr>
          <p:cNvSpPr/>
          <p:nvPr/>
        </p:nvSpPr>
        <p:spPr>
          <a:xfrm>
            <a:off x="1075752" y="4501661"/>
            <a:ext cx="6880707" cy="50613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AE23273-478F-4C0D-98C1-1F0B5D300B45}"/>
              </a:ext>
            </a:extLst>
          </p:cNvPr>
          <p:cNvSpPr/>
          <p:nvPr/>
        </p:nvSpPr>
        <p:spPr>
          <a:xfrm>
            <a:off x="1075752" y="5578145"/>
            <a:ext cx="1484074" cy="506133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E28B3A01-5A08-4972-9458-9BCCE3727CDA}"/>
              </a:ext>
            </a:extLst>
          </p:cNvPr>
          <p:cNvGrpSpPr/>
          <p:nvPr/>
        </p:nvGrpSpPr>
        <p:grpSpPr>
          <a:xfrm>
            <a:off x="2993358" y="5578145"/>
            <a:ext cx="704040" cy="506133"/>
            <a:chOff x="4748429" y="5578145"/>
            <a:chExt cx="1690749" cy="506133"/>
          </a:xfrm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4843C019-69ED-473A-B7E5-CDCE32CB5F91}"/>
                </a:ext>
              </a:extLst>
            </p:cNvPr>
            <p:cNvSpPr/>
            <p:nvPr/>
          </p:nvSpPr>
          <p:spPr>
            <a:xfrm>
              <a:off x="4963802" y="5578145"/>
              <a:ext cx="1260000" cy="506133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793DB87D-8CB4-4551-8AEC-9E6CE68A6E44}"/>
                </a:ext>
              </a:extLst>
            </p:cNvPr>
            <p:cNvSpPr txBox="1"/>
            <p:nvPr/>
          </p:nvSpPr>
          <p:spPr>
            <a:xfrm>
              <a:off x="4748429" y="5631156"/>
              <a:ext cx="16907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2000" dirty="0"/>
                <a:t>3888</a:t>
              </a:r>
              <a:endParaRPr lang="en-GB" sz="2000" dirty="0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6EC57932-26D0-4E43-AB3A-88C5E405325D}"/>
              </a:ext>
            </a:extLst>
          </p:cNvPr>
          <p:cNvGrpSpPr/>
          <p:nvPr/>
        </p:nvGrpSpPr>
        <p:grpSpPr>
          <a:xfrm>
            <a:off x="3518030" y="5578145"/>
            <a:ext cx="704040" cy="506133"/>
            <a:chOff x="4748429" y="5578145"/>
            <a:chExt cx="1690749" cy="506133"/>
          </a:xfrm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D2F774CC-C3CF-4432-8D84-F3C4B9277F4D}"/>
                </a:ext>
              </a:extLst>
            </p:cNvPr>
            <p:cNvSpPr/>
            <p:nvPr/>
          </p:nvSpPr>
          <p:spPr>
            <a:xfrm>
              <a:off x="4963802" y="5578145"/>
              <a:ext cx="1260000" cy="506133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EB8B93CB-07DA-4D5F-A29D-3D79F70C6E1B}"/>
                </a:ext>
              </a:extLst>
            </p:cNvPr>
            <p:cNvSpPr txBox="1"/>
            <p:nvPr/>
          </p:nvSpPr>
          <p:spPr>
            <a:xfrm>
              <a:off x="4748429" y="5631156"/>
              <a:ext cx="16907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2000" dirty="0"/>
                <a:t>3888</a:t>
              </a:r>
              <a:endParaRPr lang="en-GB" sz="2000" dirty="0"/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F8E3D3A8-785E-45D1-BFEA-0F8B3F8EB63D}"/>
              </a:ext>
            </a:extLst>
          </p:cNvPr>
          <p:cNvGrpSpPr/>
          <p:nvPr/>
        </p:nvGrpSpPr>
        <p:grpSpPr>
          <a:xfrm>
            <a:off x="4042703" y="5578145"/>
            <a:ext cx="704040" cy="506133"/>
            <a:chOff x="4748429" y="5578145"/>
            <a:chExt cx="1690749" cy="506133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93815F65-A74C-4396-9728-238E024C6FED}"/>
                </a:ext>
              </a:extLst>
            </p:cNvPr>
            <p:cNvSpPr/>
            <p:nvPr/>
          </p:nvSpPr>
          <p:spPr>
            <a:xfrm>
              <a:off x="4963802" y="5578145"/>
              <a:ext cx="1260000" cy="506133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939575FA-445A-43E6-B021-BC4C814D01DF}"/>
                </a:ext>
              </a:extLst>
            </p:cNvPr>
            <p:cNvSpPr txBox="1"/>
            <p:nvPr/>
          </p:nvSpPr>
          <p:spPr>
            <a:xfrm>
              <a:off x="4748429" y="5631156"/>
              <a:ext cx="16907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2000" dirty="0"/>
                <a:t>3888</a:t>
              </a:r>
              <a:endParaRPr lang="en-GB" sz="2000" dirty="0"/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C85AB56E-6F94-4189-BB82-3B5AD7FD9D0E}"/>
              </a:ext>
            </a:extLst>
          </p:cNvPr>
          <p:cNvGrpSpPr/>
          <p:nvPr/>
        </p:nvGrpSpPr>
        <p:grpSpPr>
          <a:xfrm>
            <a:off x="4567376" y="5578145"/>
            <a:ext cx="704040" cy="506133"/>
            <a:chOff x="4748429" y="5578145"/>
            <a:chExt cx="1690749" cy="506133"/>
          </a:xfrm>
        </p:grpSpPr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327726FB-F559-4EE9-A18B-EF84B395B1BF}"/>
                </a:ext>
              </a:extLst>
            </p:cNvPr>
            <p:cNvSpPr/>
            <p:nvPr/>
          </p:nvSpPr>
          <p:spPr>
            <a:xfrm>
              <a:off x="4963802" y="5578145"/>
              <a:ext cx="1260000" cy="506133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4433BB11-EACC-4079-AE04-8B55D5A915C8}"/>
                </a:ext>
              </a:extLst>
            </p:cNvPr>
            <p:cNvSpPr txBox="1"/>
            <p:nvPr/>
          </p:nvSpPr>
          <p:spPr>
            <a:xfrm>
              <a:off x="4748429" y="5631156"/>
              <a:ext cx="16907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2000" dirty="0"/>
                <a:t>3888</a:t>
              </a:r>
              <a:endParaRPr lang="en-GB" sz="2000" dirty="0"/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CEC2673D-DB35-4BCE-9DE7-4F502DA2C8F5}"/>
              </a:ext>
            </a:extLst>
          </p:cNvPr>
          <p:cNvGrpSpPr/>
          <p:nvPr/>
        </p:nvGrpSpPr>
        <p:grpSpPr>
          <a:xfrm>
            <a:off x="5092048" y="5578145"/>
            <a:ext cx="704040" cy="506133"/>
            <a:chOff x="4748429" y="5578145"/>
            <a:chExt cx="1690749" cy="506133"/>
          </a:xfrm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02551D24-7E41-4DD5-8C3F-93DA1CB09F9B}"/>
                </a:ext>
              </a:extLst>
            </p:cNvPr>
            <p:cNvSpPr/>
            <p:nvPr/>
          </p:nvSpPr>
          <p:spPr>
            <a:xfrm>
              <a:off x="4963802" y="5578145"/>
              <a:ext cx="1260000" cy="506133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E1189182-454D-4BB2-BD44-CE7D509B95B7}"/>
                </a:ext>
              </a:extLst>
            </p:cNvPr>
            <p:cNvSpPr txBox="1"/>
            <p:nvPr/>
          </p:nvSpPr>
          <p:spPr>
            <a:xfrm>
              <a:off x="4748429" y="5631156"/>
              <a:ext cx="16907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2000" dirty="0"/>
                <a:t>3888</a:t>
              </a:r>
              <a:endParaRPr lang="en-GB" sz="2000" dirty="0"/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783E1479-7B8B-45EC-A8DE-06DCE03020B9}"/>
              </a:ext>
            </a:extLst>
          </p:cNvPr>
          <p:cNvGrpSpPr/>
          <p:nvPr/>
        </p:nvGrpSpPr>
        <p:grpSpPr>
          <a:xfrm>
            <a:off x="5616721" y="5578145"/>
            <a:ext cx="704040" cy="506133"/>
            <a:chOff x="4748429" y="5578145"/>
            <a:chExt cx="1690749" cy="506133"/>
          </a:xfrm>
        </p:grpSpPr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394BA1D0-7B26-43CB-9F52-1EE350BAC557}"/>
                </a:ext>
              </a:extLst>
            </p:cNvPr>
            <p:cNvSpPr/>
            <p:nvPr/>
          </p:nvSpPr>
          <p:spPr>
            <a:xfrm>
              <a:off x="4963802" y="5578145"/>
              <a:ext cx="1260000" cy="506133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8B86826D-2D1A-4AAA-B9CA-26B554B76079}"/>
                </a:ext>
              </a:extLst>
            </p:cNvPr>
            <p:cNvSpPr txBox="1"/>
            <p:nvPr/>
          </p:nvSpPr>
          <p:spPr>
            <a:xfrm>
              <a:off x="4748429" y="5631156"/>
              <a:ext cx="16907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2000" dirty="0"/>
                <a:t>3888</a:t>
              </a:r>
              <a:endParaRPr lang="en-GB" sz="2000" dirty="0"/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4BCDEC6C-1000-44C6-B469-0223FFD7D069}"/>
              </a:ext>
            </a:extLst>
          </p:cNvPr>
          <p:cNvGrpSpPr/>
          <p:nvPr/>
        </p:nvGrpSpPr>
        <p:grpSpPr>
          <a:xfrm>
            <a:off x="6141394" y="5578145"/>
            <a:ext cx="704040" cy="506133"/>
            <a:chOff x="4748429" y="5578145"/>
            <a:chExt cx="1690749" cy="506133"/>
          </a:xfrm>
        </p:grpSpPr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DDECC238-A78D-4534-84E3-A03C482163B0}"/>
                </a:ext>
              </a:extLst>
            </p:cNvPr>
            <p:cNvSpPr/>
            <p:nvPr/>
          </p:nvSpPr>
          <p:spPr>
            <a:xfrm>
              <a:off x="4963802" y="5578145"/>
              <a:ext cx="1260000" cy="506133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12FDFA1D-F657-46F8-A61B-0C15452C6449}"/>
                </a:ext>
              </a:extLst>
            </p:cNvPr>
            <p:cNvSpPr txBox="1"/>
            <p:nvPr/>
          </p:nvSpPr>
          <p:spPr>
            <a:xfrm>
              <a:off x="4748429" y="5631156"/>
              <a:ext cx="16907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2000" dirty="0"/>
                <a:t>3888</a:t>
              </a:r>
              <a:endParaRPr lang="en-GB" sz="2000" dirty="0"/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56B379CA-A015-45DE-8C47-3185EC31AAE8}"/>
              </a:ext>
            </a:extLst>
          </p:cNvPr>
          <p:cNvGrpSpPr/>
          <p:nvPr/>
        </p:nvGrpSpPr>
        <p:grpSpPr>
          <a:xfrm>
            <a:off x="6666066" y="5578145"/>
            <a:ext cx="704040" cy="506133"/>
            <a:chOff x="4748429" y="5578145"/>
            <a:chExt cx="1690749" cy="506133"/>
          </a:xfrm>
        </p:grpSpPr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E2994AAD-1823-4881-9656-4D86AE84A5CA}"/>
                </a:ext>
              </a:extLst>
            </p:cNvPr>
            <p:cNvSpPr/>
            <p:nvPr/>
          </p:nvSpPr>
          <p:spPr>
            <a:xfrm>
              <a:off x="4963802" y="5578145"/>
              <a:ext cx="1260000" cy="506133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87640C34-CACF-406A-818A-C7AC6F6C8CC4}"/>
                </a:ext>
              </a:extLst>
            </p:cNvPr>
            <p:cNvSpPr txBox="1"/>
            <p:nvPr/>
          </p:nvSpPr>
          <p:spPr>
            <a:xfrm>
              <a:off x="4748429" y="5631156"/>
              <a:ext cx="16907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2000" dirty="0"/>
                <a:t>3888</a:t>
              </a:r>
              <a:endParaRPr lang="en-GB" sz="2000" dirty="0"/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5D9B07AD-DE80-41C0-BF4E-F2CFBB1813A1}"/>
              </a:ext>
            </a:extLst>
          </p:cNvPr>
          <p:cNvGrpSpPr/>
          <p:nvPr/>
        </p:nvGrpSpPr>
        <p:grpSpPr>
          <a:xfrm>
            <a:off x="7190739" y="5578145"/>
            <a:ext cx="704040" cy="506133"/>
            <a:chOff x="4748429" y="5578145"/>
            <a:chExt cx="1690749" cy="506133"/>
          </a:xfrm>
        </p:grpSpPr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D3B5F0C5-3C54-41A3-9DE2-29E171079DE1}"/>
                </a:ext>
              </a:extLst>
            </p:cNvPr>
            <p:cNvSpPr/>
            <p:nvPr/>
          </p:nvSpPr>
          <p:spPr>
            <a:xfrm>
              <a:off x="4963802" y="5578145"/>
              <a:ext cx="1260000" cy="506133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79F3B857-4C9E-4837-9EDF-026FF15C7140}"/>
                </a:ext>
              </a:extLst>
            </p:cNvPr>
            <p:cNvSpPr txBox="1"/>
            <p:nvPr/>
          </p:nvSpPr>
          <p:spPr>
            <a:xfrm>
              <a:off x="4748429" y="5631156"/>
              <a:ext cx="16907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2000" dirty="0"/>
                <a:t>3888</a:t>
              </a:r>
              <a:endParaRPr lang="en-GB" sz="2000" dirty="0"/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1E66B9C1-2B32-45A9-B008-4752896F335F}"/>
              </a:ext>
            </a:extLst>
          </p:cNvPr>
          <p:cNvGrpSpPr/>
          <p:nvPr/>
        </p:nvGrpSpPr>
        <p:grpSpPr>
          <a:xfrm>
            <a:off x="7715412" y="5578145"/>
            <a:ext cx="704040" cy="506133"/>
            <a:chOff x="4748429" y="5578145"/>
            <a:chExt cx="1690749" cy="506133"/>
          </a:xfrm>
        </p:grpSpPr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11FD5E6D-61AC-47CC-A2DE-4276F5938C51}"/>
                </a:ext>
              </a:extLst>
            </p:cNvPr>
            <p:cNvSpPr/>
            <p:nvPr/>
          </p:nvSpPr>
          <p:spPr>
            <a:xfrm>
              <a:off x="4963802" y="5578145"/>
              <a:ext cx="1260000" cy="506133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BDC4CEA4-7D70-45B9-A911-363D71671AA6}"/>
                </a:ext>
              </a:extLst>
            </p:cNvPr>
            <p:cNvSpPr txBox="1"/>
            <p:nvPr/>
          </p:nvSpPr>
          <p:spPr>
            <a:xfrm>
              <a:off x="4748429" y="5631156"/>
              <a:ext cx="16907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2000" dirty="0"/>
                <a:t>3888</a:t>
              </a:r>
              <a:endParaRPr lang="en-GB" sz="2000" dirty="0"/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F122FE43-4234-4A1F-82DA-DC03DEFB3BF0}"/>
              </a:ext>
            </a:extLst>
          </p:cNvPr>
          <p:cNvGrpSpPr/>
          <p:nvPr/>
        </p:nvGrpSpPr>
        <p:grpSpPr>
          <a:xfrm>
            <a:off x="8240084" y="5578145"/>
            <a:ext cx="704040" cy="506133"/>
            <a:chOff x="4748429" y="5578145"/>
            <a:chExt cx="1690749" cy="506133"/>
          </a:xfrm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1180845A-708C-4B7D-B86C-A2A780E89D2C}"/>
                </a:ext>
              </a:extLst>
            </p:cNvPr>
            <p:cNvSpPr/>
            <p:nvPr/>
          </p:nvSpPr>
          <p:spPr>
            <a:xfrm>
              <a:off x="4963802" y="5578145"/>
              <a:ext cx="1260000" cy="506133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83A6592A-2AFD-45C8-9643-506E91E268B3}"/>
                </a:ext>
              </a:extLst>
            </p:cNvPr>
            <p:cNvSpPr txBox="1"/>
            <p:nvPr/>
          </p:nvSpPr>
          <p:spPr>
            <a:xfrm>
              <a:off x="4748429" y="5631156"/>
              <a:ext cx="16907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2000" dirty="0"/>
                <a:t>3888</a:t>
              </a:r>
              <a:endParaRPr lang="en-GB" sz="2000" dirty="0"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49FCA06-05D9-4D80-998C-8F7647ADCA2A}"/>
              </a:ext>
            </a:extLst>
          </p:cNvPr>
          <p:cNvSpPr txBox="1"/>
          <p:nvPr/>
        </p:nvSpPr>
        <p:spPr>
          <a:xfrm>
            <a:off x="4023765" y="4555366"/>
            <a:ext cx="8338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50930</a:t>
            </a:r>
            <a:endParaRPr lang="en-GB" sz="20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39A2AC6-4BB3-4A42-8FC0-C20EA39C7038}"/>
              </a:ext>
            </a:extLst>
          </p:cNvPr>
          <p:cNvSpPr txBox="1"/>
          <p:nvPr/>
        </p:nvSpPr>
        <p:spPr>
          <a:xfrm>
            <a:off x="1465451" y="5635870"/>
            <a:ext cx="8338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10999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927459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  <p:bldP spid="32" grpId="0"/>
      <p:bldP spid="46" grpId="0"/>
      <p:bldP spid="47" grpId="0" animBg="1"/>
      <p:bldP spid="48" grpId="0"/>
      <p:bldP spid="49" grpId="0"/>
      <p:bldP spid="16" grpId="0" animBg="1"/>
      <p:bldP spid="17" grpId="0" animBg="1"/>
      <p:bldP spid="43" grpId="0"/>
      <p:bldP spid="3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8A4DF2DF-6A48-47BE-97C7-D39E6E7997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2252" y="3674666"/>
            <a:ext cx="2095882" cy="1678482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E0C3F08-BB0A-42EE-8753-A840B062D573}"/>
              </a:ext>
            </a:extLst>
          </p:cNvPr>
          <p:cNvCxnSpPr>
            <a:cxnSpLocks/>
          </p:cNvCxnSpPr>
          <p:nvPr/>
        </p:nvCxnSpPr>
        <p:spPr>
          <a:xfrm flipH="1">
            <a:off x="4950940" y="23755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E50EF73-2688-40FF-9D13-613E34F454A7}"/>
              </a:ext>
            </a:extLst>
          </p:cNvPr>
          <p:cNvCxnSpPr>
            <a:cxnSpLocks/>
          </p:cNvCxnSpPr>
          <p:nvPr/>
        </p:nvCxnSpPr>
        <p:spPr>
          <a:xfrm flipH="1">
            <a:off x="255510" y="3429000"/>
            <a:ext cx="9394980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49B2B49-DB30-45BA-9091-55632EB8D3FD}"/>
              </a:ext>
            </a:extLst>
          </p:cNvPr>
          <p:cNvSpPr txBox="1"/>
          <p:nvPr/>
        </p:nvSpPr>
        <p:spPr>
          <a:xfrm>
            <a:off x="20320" y="0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b="1" dirty="0"/>
              <a:t>А</a:t>
            </a:r>
            <a:endParaRPr lang="en-GB" sz="2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075CC9-D4C0-492F-973A-BDEBA93C4D3E}"/>
              </a:ext>
            </a:extLst>
          </p:cNvPr>
          <p:cNvSpPr txBox="1"/>
          <p:nvPr/>
        </p:nvSpPr>
        <p:spPr>
          <a:xfrm>
            <a:off x="4947920" y="0"/>
            <a:ext cx="3577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b="1" dirty="0"/>
              <a:t>Б</a:t>
            </a:r>
            <a:endParaRPr lang="en-GB" sz="2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5E80DE-B15B-4656-BE66-0F47CF0E0FED}"/>
              </a:ext>
            </a:extLst>
          </p:cNvPr>
          <p:cNvSpPr txBox="1"/>
          <p:nvPr/>
        </p:nvSpPr>
        <p:spPr>
          <a:xfrm>
            <a:off x="20320" y="3444240"/>
            <a:ext cx="3577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b="1" dirty="0"/>
              <a:t>В</a:t>
            </a:r>
            <a:endParaRPr lang="en-GB" sz="2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80A8F5-1EF5-4F50-9F24-DA209FDCCE59}"/>
              </a:ext>
            </a:extLst>
          </p:cNvPr>
          <p:cNvSpPr txBox="1"/>
          <p:nvPr/>
        </p:nvSpPr>
        <p:spPr>
          <a:xfrm>
            <a:off x="4947920" y="3444240"/>
            <a:ext cx="3177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b="1" dirty="0"/>
              <a:t>Г</a:t>
            </a:r>
            <a:endParaRPr lang="en-GB" sz="2400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F667F8F-9590-4F60-A16E-ECC288B46EE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0046" y="-37540"/>
            <a:ext cx="1134820" cy="113482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91C4811-68D5-4E0F-965D-535F23343657}"/>
              </a:ext>
            </a:extLst>
          </p:cNvPr>
          <p:cNvSpPr txBox="1"/>
          <p:nvPr/>
        </p:nvSpPr>
        <p:spPr>
          <a:xfrm>
            <a:off x="-36554" y="966410"/>
            <a:ext cx="468807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Азамат велосипедди бөлүп төлөө менен </a:t>
            </a:r>
          </a:p>
          <a:p>
            <a:pPr algn="ctr"/>
            <a:r>
              <a:rPr lang="ky-KG" sz="2000" dirty="0"/>
              <a:t>сатып алат:</a:t>
            </a:r>
            <a:endParaRPr lang="en-GB" sz="2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7C7FEB-EB00-4ABE-A7E2-03B340518295}"/>
              </a:ext>
            </a:extLst>
          </p:cNvPr>
          <p:cNvSpPr txBox="1"/>
          <p:nvPr/>
        </p:nvSpPr>
        <p:spPr>
          <a:xfrm>
            <a:off x="225800" y="1594842"/>
            <a:ext cx="429386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8325 сом депозит жана андан </a:t>
            </a:r>
          </a:p>
          <a:p>
            <a:pPr algn="ctr"/>
            <a:r>
              <a:rPr lang="ru-RU" sz="2000" dirty="0"/>
              <a:t>кийин 9 ай сайын 4440 сомдон төлөм</a:t>
            </a:r>
            <a:endParaRPr lang="en-GB" sz="2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13E2830-5C7A-44D4-95D0-F043351CCD93}"/>
              </a:ext>
            </a:extLst>
          </p:cNvPr>
          <p:cNvSpPr txBox="1"/>
          <p:nvPr/>
        </p:nvSpPr>
        <p:spPr>
          <a:xfrm>
            <a:off x="548137" y="2378650"/>
            <a:ext cx="35187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Ал жалпысынан канча төлөйт?</a:t>
            </a:r>
            <a:endParaRPr lang="en-GB" sz="2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C8AB1DC-8EF3-4117-8828-FEFCC192BF5A}"/>
              </a:ext>
            </a:extLst>
          </p:cNvPr>
          <p:cNvSpPr txBox="1"/>
          <p:nvPr/>
        </p:nvSpPr>
        <p:spPr>
          <a:xfrm>
            <a:off x="671477" y="2937450"/>
            <a:ext cx="32720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8325</a:t>
            </a:r>
            <a:r>
              <a:rPr lang="en-GB" sz="2000" dirty="0"/>
              <a:t> + 9 × </a:t>
            </a:r>
            <a:r>
              <a:rPr lang="ru-RU" sz="2000" dirty="0"/>
              <a:t>4440 </a:t>
            </a:r>
            <a:r>
              <a:rPr lang="en-GB" sz="2000" dirty="0"/>
              <a:t>= 48 285</a:t>
            </a:r>
            <a:r>
              <a:rPr lang="ky-KG" sz="2000" dirty="0"/>
              <a:t> сом</a:t>
            </a:r>
            <a:endParaRPr lang="en-GB" sz="2000" dirty="0"/>
          </a:p>
        </p:txBody>
      </p:sp>
      <p:pic>
        <p:nvPicPr>
          <p:cNvPr id="1026" name="Picture 2" descr="Open Black Laptop PNG Clipart | Gallery Yopriceville - High-Quality Images  and Transparent PNG Free Clipart">
            <a:extLst>
              <a:ext uri="{FF2B5EF4-FFF2-40B4-BE49-F238E27FC236}">
                <a16:creationId xmlns:a16="http://schemas.microsoft.com/office/drawing/2014/main" id="{02566645-FF38-4E21-89C4-FEE571873D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4861" y="64453"/>
            <a:ext cx="1460818" cy="846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DC8ED27-E7CD-4C27-AAB2-B1DEF9187026}"/>
              </a:ext>
            </a:extLst>
          </p:cNvPr>
          <p:cNvSpPr txBox="1"/>
          <p:nvPr/>
        </p:nvSpPr>
        <p:spPr>
          <a:xfrm>
            <a:off x="5729520" y="966410"/>
            <a:ext cx="317369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Сайкал бөлүп төлөө менен </a:t>
            </a:r>
            <a:endParaRPr lang="en-US" sz="2000" dirty="0"/>
          </a:p>
          <a:p>
            <a:pPr algn="ctr"/>
            <a:r>
              <a:rPr lang="ky-KG" sz="2000" dirty="0"/>
              <a:t>ноутбук сатып алат.</a:t>
            </a:r>
            <a:endParaRPr lang="en-GB" sz="2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70C4FA9-E6DF-4405-984C-85AFAAAA7C69}"/>
              </a:ext>
            </a:extLst>
          </p:cNvPr>
          <p:cNvSpPr txBox="1"/>
          <p:nvPr/>
        </p:nvSpPr>
        <p:spPr>
          <a:xfrm>
            <a:off x="5238105" y="1579324"/>
            <a:ext cx="41565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Ал ай сайын 3</a:t>
            </a:r>
            <a:r>
              <a:rPr lang="en-US" sz="2000" dirty="0"/>
              <a:t>999</a:t>
            </a:r>
            <a:r>
              <a:rPr lang="ky-KG" sz="2000" dirty="0"/>
              <a:t> сомдон 14 төлөм </a:t>
            </a:r>
            <a:endParaRPr lang="en-US" sz="2000" dirty="0"/>
          </a:p>
          <a:p>
            <a:pPr algn="ctr"/>
            <a:r>
              <a:rPr lang="ky-KG" sz="2000" dirty="0"/>
              <a:t>жана 8888 сом депозит төлөйт</a:t>
            </a:r>
            <a:endParaRPr lang="en-GB" sz="2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BE2633-D5FE-4E6F-89BA-8C84194BE0D8}"/>
              </a:ext>
            </a:extLst>
          </p:cNvPr>
          <p:cNvSpPr txBox="1"/>
          <p:nvPr/>
        </p:nvSpPr>
        <p:spPr>
          <a:xfrm>
            <a:off x="5506522" y="2378650"/>
            <a:ext cx="36197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Ал жалпысынан канча төлөйт?</a:t>
            </a:r>
            <a:endParaRPr lang="en-GB" sz="2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FD17F6B-56CE-4183-AD76-5C4C63539414}"/>
              </a:ext>
            </a:extLst>
          </p:cNvPr>
          <p:cNvSpPr txBox="1"/>
          <p:nvPr/>
        </p:nvSpPr>
        <p:spPr>
          <a:xfrm>
            <a:off x="5618642" y="2937450"/>
            <a:ext cx="33954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8888</a:t>
            </a:r>
            <a:r>
              <a:rPr lang="en-GB" sz="2000" dirty="0"/>
              <a:t> + 14 × </a:t>
            </a:r>
            <a:r>
              <a:rPr lang="ky-KG" sz="2000" dirty="0"/>
              <a:t>3999</a:t>
            </a:r>
            <a:r>
              <a:rPr lang="en-GB" sz="2000" dirty="0"/>
              <a:t> = </a:t>
            </a:r>
            <a:r>
              <a:rPr lang="ky-KG" sz="2000" dirty="0"/>
              <a:t>64 874 сом</a:t>
            </a:r>
            <a:endParaRPr lang="en-GB" sz="2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BC7B244-2FC4-47E3-B6A5-33BEEF20AA89}"/>
              </a:ext>
            </a:extLst>
          </p:cNvPr>
          <p:cNvSpPr txBox="1"/>
          <p:nvPr/>
        </p:nvSpPr>
        <p:spPr>
          <a:xfrm>
            <a:off x="1572835" y="3633857"/>
            <a:ext cx="347216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Духовканын баасы 61000 сом </a:t>
            </a:r>
          </a:p>
          <a:p>
            <a:pPr algn="ctr"/>
            <a:r>
              <a:rPr lang="ru-RU" sz="2000" dirty="0"/>
              <a:t>(алдын ала турган наркы).</a:t>
            </a:r>
            <a:endParaRPr lang="en-GB" sz="20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6017B92-8D53-4933-A854-2CA6DADDBBDF}"/>
              </a:ext>
            </a:extLst>
          </p:cNvPr>
          <p:cNvSpPr txBox="1"/>
          <p:nvPr/>
        </p:nvSpPr>
        <p:spPr>
          <a:xfrm>
            <a:off x="-171375" y="4490442"/>
            <a:ext cx="527426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Бирок, Хүррем аны 13315 сом депозит жана </a:t>
            </a:r>
          </a:p>
          <a:p>
            <a:pPr algn="ctr"/>
            <a:r>
              <a:rPr lang="ru-RU" sz="2000" dirty="0"/>
              <a:t>18 ай сайын 3330 сом төлөм менен сатып алат</a:t>
            </a:r>
            <a:endParaRPr lang="en-GB" sz="20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D0E91F2-0135-407B-9B1C-57741DBEEBD1}"/>
              </a:ext>
            </a:extLst>
          </p:cNvPr>
          <p:cNvSpPr txBox="1"/>
          <p:nvPr/>
        </p:nvSpPr>
        <p:spPr>
          <a:xfrm>
            <a:off x="941943" y="5274250"/>
            <a:ext cx="304762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Бөлүп төлөө планы менен</a:t>
            </a:r>
          </a:p>
          <a:p>
            <a:pPr algn="ctr"/>
            <a:r>
              <a:rPr lang="ru-RU" sz="2000" dirty="0"/>
              <a:t>канча кошумча төлөнөт?</a:t>
            </a:r>
            <a:endParaRPr lang="en-GB" sz="20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27CE83F-DAC2-4A6B-925F-D7134A8D955B}"/>
              </a:ext>
            </a:extLst>
          </p:cNvPr>
          <p:cNvSpPr txBox="1"/>
          <p:nvPr/>
        </p:nvSpPr>
        <p:spPr>
          <a:xfrm>
            <a:off x="699891" y="6005770"/>
            <a:ext cx="35317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13315</a:t>
            </a:r>
            <a:r>
              <a:rPr lang="en-GB" sz="2000" dirty="0"/>
              <a:t> + 18 × </a:t>
            </a:r>
            <a:r>
              <a:rPr lang="ru-RU" sz="2000" dirty="0"/>
              <a:t>3330</a:t>
            </a:r>
            <a:r>
              <a:rPr lang="en-GB" sz="2000" dirty="0"/>
              <a:t> = 73 255</a:t>
            </a:r>
            <a:r>
              <a:rPr lang="ky-KG" sz="2000" dirty="0"/>
              <a:t> сом</a:t>
            </a:r>
            <a:endParaRPr lang="en-GB" sz="20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F75715E0-4AA3-4BFF-BC88-7B52791493BE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EFEFEF"/>
              </a:clrFrom>
              <a:clrTo>
                <a:srgbClr val="EFEFE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41768" y="3544958"/>
            <a:ext cx="1009357" cy="945484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CB38304B-B5B1-4636-A36B-0DD513DBDF0E}"/>
              </a:ext>
            </a:extLst>
          </p:cNvPr>
          <p:cNvSpPr txBox="1"/>
          <p:nvPr/>
        </p:nvSpPr>
        <p:spPr>
          <a:xfrm>
            <a:off x="6216669" y="3891002"/>
            <a:ext cx="388599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Депозитти жана ай сайын </a:t>
            </a:r>
          </a:p>
          <a:p>
            <a:pPr algn="ctr"/>
            <a:r>
              <a:rPr lang="ky-KG" sz="2000" dirty="0"/>
              <a:t>7000 сомду кошкондо, Даниар</a:t>
            </a:r>
          </a:p>
          <a:p>
            <a:pPr algn="ctr"/>
            <a:r>
              <a:rPr lang="ky-KG" sz="2000" dirty="0"/>
              <a:t> электр скутер  үчүн </a:t>
            </a:r>
          </a:p>
          <a:p>
            <a:pPr algn="ctr"/>
            <a:r>
              <a:rPr lang="ky-KG" sz="2000" dirty="0"/>
              <a:t>жалпысынан 216400 сом төлөйт.</a:t>
            </a:r>
            <a:endParaRPr lang="en-GB" sz="20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AD025C2-69BE-470D-86C6-D20914EB027A}"/>
              </a:ext>
            </a:extLst>
          </p:cNvPr>
          <p:cNvSpPr txBox="1"/>
          <p:nvPr/>
        </p:nvSpPr>
        <p:spPr>
          <a:xfrm>
            <a:off x="6159936" y="5375850"/>
            <a:ext cx="25770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Депозит канча болчу?</a:t>
            </a:r>
            <a:endParaRPr lang="en-GB" sz="20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7F32658-B154-4F6E-A1C6-946175578561}"/>
              </a:ext>
            </a:extLst>
          </p:cNvPr>
          <p:cNvSpPr txBox="1"/>
          <p:nvPr/>
        </p:nvSpPr>
        <p:spPr>
          <a:xfrm>
            <a:off x="6331475" y="5883850"/>
            <a:ext cx="27622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24 × </a:t>
            </a:r>
            <a:r>
              <a:rPr lang="ky-KG" sz="2000" dirty="0"/>
              <a:t>7000</a:t>
            </a:r>
            <a:r>
              <a:rPr lang="en-GB" sz="2000" dirty="0"/>
              <a:t> = </a:t>
            </a:r>
            <a:r>
              <a:rPr lang="ky-KG" sz="2000" dirty="0"/>
              <a:t>168 000 сом</a:t>
            </a:r>
            <a:endParaRPr lang="en-GB" sz="20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48B19E2-D527-4C61-91F0-6B71B9CFDC9D}"/>
              </a:ext>
            </a:extLst>
          </p:cNvPr>
          <p:cNvSpPr txBox="1"/>
          <p:nvPr/>
        </p:nvSpPr>
        <p:spPr>
          <a:xfrm>
            <a:off x="578654" y="6391850"/>
            <a:ext cx="36904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73 255 </a:t>
            </a:r>
            <a:r>
              <a:rPr lang="ky-KG" sz="2000" dirty="0"/>
              <a:t>сом </a:t>
            </a:r>
            <a:r>
              <a:rPr lang="en-GB" sz="2000" dirty="0"/>
              <a:t>− </a:t>
            </a:r>
            <a:r>
              <a:rPr lang="ru-RU" sz="2000" dirty="0"/>
              <a:t>61000 сом </a:t>
            </a:r>
            <a:r>
              <a:rPr lang="en-GB" sz="2000" dirty="0"/>
              <a:t>= </a:t>
            </a:r>
            <a:r>
              <a:rPr lang="ky-KG" sz="2000" dirty="0"/>
              <a:t>12 255</a:t>
            </a:r>
            <a:endParaRPr lang="en-GB" sz="2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21E7BF0-EAED-4F3C-8E9F-835F893A024F}"/>
              </a:ext>
            </a:extLst>
          </p:cNvPr>
          <p:cNvSpPr txBox="1"/>
          <p:nvPr/>
        </p:nvSpPr>
        <p:spPr>
          <a:xfrm>
            <a:off x="5053278" y="6330890"/>
            <a:ext cx="44246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216400 сом </a:t>
            </a:r>
            <a:r>
              <a:rPr lang="en-GB" sz="2000" dirty="0"/>
              <a:t>− </a:t>
            </a:r>
            <a:r>
              <a:rPr lang="ky-KG" sz="2000" dirty="0"/>
              <a:t>168 000 сом </a:t>
            </a:r>
            <a:r>
              <a:rPr lang="en-GB" sz="2000" dirty="0"/>
              <a:t>= 48 400</a:t>
            </a:r>
            <a:r>
              <a:rPr lang="ky-KG" sz="2000" dirty="0"/>
              <a:t> сом</a:t>
            </a:r>
            <a:endParaRPr lang="en-GB" sz="20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F96A9C5-6115-412F-9DEF-940907D10A21}"/>
              </a:ext>
            </a:extLst>
          </p:cNvPr>
          <p:cNvSpPr txBox="1"/>
          <p:nvPr/>
        </p:nvSpPr>
        <p:spPr>
          <a:xfrm>
            <a:off x="4117172" y="6391850"/>
            <a:ext cx="9124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(+20%)</a:t>
            </a:r>
          </a:p>
        </p:txBody>
      </p:sp>
    </p:spTree>
    <p:extLst>
      <p:ext uri="{BB962C8B-B14F-4D97-AF65-F5344CB8AC3E}">
        <p14:creationId xmlns:p14="http://schemas.microsoft.com/office/powerpoint/2010/main" val="2119209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9" grpId="0"/>
      <p:bldP spid="24" grpId="0"/>
      <p:bldP spid="32" grpId="0"/>
      <p:bldP spid="33" grpId="0"/>
      <p:bldP spid="34" grpId="0"/>
      <p:bldP spid="2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C90B233-6849-49E1-80E5-1B887DAB00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321" y="808355"/>
            <a:ext cx="2429828" cy="187803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2408DDA-DC02-47DC-9915-D4E9D4F7D066}"/>
              </a:ext>
            </a:extLst>
          </p:cNvPr>
          <p:cNvSpPr txBox="1"/>
          <p:nvPr/>
        </p:nvSpPr>
        <p:spPr>
          <a:xfrm>
            <a:off x="1276006" y="346689"/>
            <a:ext cx="9573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>
                <a:latin typeface="Berlin Sans FB Demi" panose="020E0802020502020306" pitchFamily="34" charset="0"/>
              </a:rPr>
              <a:t>T-482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BFEE5D-EC2E-4969-9CBB-DB1C0E2AD1F4}"/>
              </a:ext>
            </a:extLst>
          </p:cNvPr>
          <p:cNvSpPr/>
          <p:nvPr/>
        </p:nvSpPr>
        <p:spPr>
          <a:xfrm>
            <a:off x="3586480" y="487680"/>
            <a:ext cx="3261360" cy="9144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  <a:tailEnd type="none"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A5B653-F2E8-4CC9-930C-BF04CAEE7918}"/>
              </a:ext>
            </a:extLst>
          </p:cNvPr>
          <p:cNvSpPr/>
          <p:nvPr/>
        </p:nvSpPr>
        <p:spPr>
          <a:xfrm>
            <a:off x="3586480" y="1615440"/>
            <a:ext cx="6096000" cy="17373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  <a:tailEnd type="none"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8CE822-3665-4DF6-B6FD-3E8BD5891DE7}"/>
              </a:ext>
            </a:extLst>
          </p:cNvPr>
          <p:cNvSpPr txBox="1"/>
          <p:nvPr/>
        </p:nvSpPr>
        <p:spPr>
          <a:xfrm>
            <a:off x="3678213" y="703079"/>
            <a:ext cx="16898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Азыр төлөө</a:t>
            </a:r>
            <a:endParaRPr lang="en-GB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B2690C-8D86-4E33-86B3-E711416C7D17}"/>
              </a:ext>
            </a:extLst>
          </p:cNvPr>
          <p:cNvSpPr txBox="1"/>
          <p:nvPr/>
        </p:nvSpPr>
        <p:spPr>
          <a:xfrm>
            <a:off x="5377426" y="703079"/>
            <a:ext cx="1531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40000 сом</a:t>
            </a:r>
            <a:endParaRPr lang="en-GB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F4AC53-D20E-4DE4-987C-E184020A30BF}"/>
              </a:ext>
            </a:extLst>
          </p:cNvPr>
          <p:cNvSpPr txBox="1"/>
          <p:nvPr/>
        </p:nvSpPr>
        <p:spPr>
          <a:xfrm>
            <a:off x="5266444" y="3603546"/>
            <a:ext cx="27360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Айсайын </a:t>
            </a:r>
            <a:r>
              <a:rPr lang="ru-RU" sz="2000" dirty="0"/>
              <a:t> төлөм канча?</a:t>
            </a:r>
            <a:endParaRPr lang="en-GB" sz="200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2B736BE-92E7-4BE4-8F12-90DD3CC70CA9}"/>
              </a:ext>
            </a:extLst>
          </p:cNvPr>
          <p:cNvGrpSpPr/>
          <p:nvPr/>
        </p:nvGrpSpPr>
        <p:grpSpPr>
          <a:xfrm>
            <a:off x="6521041" y="1760528"/>
            <a:ext cx="2504532" cy="1447185"/>
            <a:chOff x="6521041" y="1785928"/>
            <a:chExt cx="2504532" cy="1447185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9C66F24-E279-4E6C-82DD-7A094EE85BAC}"/>
                </a:ext>
              </a:extLst>
            </p:cNvPr>
            <p:cNvSpPr txBox="1"/>
            <p:nvPr/>
          </p:nvSpPr>
          <p:spPr>
            <a:xfrm>
              <a:off x="6521041" y="1785928"/>
              <a:ext cx="250453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2400" dirty="0"/>
                <a:t>7000 сом депозит</a:t>
              </a:r>
              <a:endParaRPr lang="en-GB" sz="2400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2084D36-8CB6-47CE-87E7-33680C661212}"/>
                </a:ext>
              </a:extLst>
            </p:cNvPr>
            <p:cNvSpPr txBox="1"/>
            <p:nvPr/>
          </p:nvSpPr>
          <p:spPr>
            <a:xfrm>
              <a:off x="6643029" y="2278688"/>
              <a:ext cx="226055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2400" dirty="0"/>
                <a:t>12 айлык төлөм</a:t>
              </a:r>
              <a:endParaRPr lang="en-GB" sz="2400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2C14D44-A8FD-4618-951E-CB1F5EEAC7B6}"/>
                </a:ext>
              </a:extLst>
            </p:cNvPr>
            <p:cNvSpPr txBox="1"/>
            <p:nvPr/>
          </p:nvSpPr>
          <p:spPr>
            <a:xfrm>
              <a:off x="6546048" y="2771448"/>
              <a:ext cx="245451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2400" dirty="0"/>
                <a:t>0% пайыз менен!</a:t>
              </a:r>
              <a:endParaRPr lang="en-GB" sz="2400" dirty="0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CA12C7D7-659F-40D0-9F40-329A2DEF2BAC}"/>
              </a:ext>
            </a:extLst>
          </p:cNvPr>
          <p:cNvSpPr txBox="1"/>
          <p:nvPr/>
        </p:nvSpPr>
        <p:spPr>
          <a:xfrm>
            <a:off x="2278526" y="4498242"/>
            <a:ext cx="53489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40000</a:t>
            </a:r>
            <a:r>
              <a:rPr lang="en-GB" sz="2000" dirty="0"/>
              <a:t> – </a:t>
            </a:r>
            <a:r>
              <a:rPr lang="ky-KG" sz="2000" dirty="0"/>
              <a:t>7000 депозит </a:t>
            </a:r>
            <a:r>
              <a:rPr lang="en-GB" sz="2000" dirty="0"/>
              <a:t> = 33 000</a:t>
            </a:r>
            <a:r>
              <a:rPr lang="ky-KG" sz="2000" dirty="0"/>
              <a:t> төлөнүшү керек</a:t>
            </a:r>
            <a:endParaRPr lang="en-GB" sz="2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2BD6F28-B0CE-4A30-9E5C-81A2D76EEAAE}"/>
              </a:ext>
            </a:extLst>
          </p:cNvPr>
          <p:cNvSpPr txBox="1"/>
          <p:nvPr/>
        </p:nvSpPr>
        <p:spPr>
          <a:xfrm>
            <a:off x="3167906" y="5128162"/>
            <a:ext cx="35702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33 000</a:t>
            </a:r>
            <a:r>
              <a:rPr lang="en-GB" sz="2000" dirty="0"/>
              <a:t> ÷ 12 = 2 750 </a:t>
            </a:r>
            <a:r>
              <a:rPr lang="ky-KG" sz="2000" dirty="0"/>
              <a:t> сом,айына</a:t>
            </a:r>
            <a:endParaRPr lang="en-GB" sz="2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84BE39B-C4DC-43DC-BB51-E03828BDA903}"/>
              </a:ext>
            </a:extLst>
          </p:cNvPr>
          <p:cNvSpPr txBox="1"/>
          <p:nvPr/>
        </p:nvSpPr>
        <p:spPr>
          <a:xfrm>
            <a:off x="3581840" y="2220950"/>
            <a:ext cx="25218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Ай сайын төлөңүз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840230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2408DDA-DC02-47DC-9915-D4E9D4F7D066}"/>
              </a:ext>
            </a:extLst>
          </p:cNvPr>
          <p:cNvSpPr txBox="1"/>
          <p:nvPr/>
        </p:nvSpPr>
        <p:spPr>
          <a:xfrm>
            <a:off x="1326502" y="346689"/>
            <a:ext cx="8563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>
                <a:latin typeface="Berlin Sans FB Demi" panose="020E0802020502020306" pitchFamily="34" charset="0"/>
              </a:rPr>
              <a:t>D-4x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BFEE5D-EC2E-4969-9CBB-DB1C0E2AD1F4}"/>
              </a:ext>
            </a:extLst>
          </p:cNvPr>
          <p:cNvSpPr/>
          <p:nvPr/>
        </p:nvSpPr>
        <p:spPr>
          <a:xfrm>
            <a:off x="3586480" y="487680"/>
            <a:ext cx="3261360" cy="9144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  <a:tailEnd type="none"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A5B653-F2E8-4CC9-930C-BF04CAEE7918}"/>
              </a:ext>
            </a:extLst>
          </p:cNvPr>
          <p:cNvSpPr/>
          <p:nvPr/>
        </p:nvSpPr>
        <p:spPr>
          <a:xfrm>
            <a:off x="3454213" y="1615440"/>
            <a:ext cx="6228267" cy="17373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  <a:tailEnd type="none"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8CE822-3665-4DF6-B6FD-3E8BD5891DE7}"/>
              </a:ext>
            </a:extLst>
          </p:cNvPr>
          <p:cNvSpPr txBox="1"/>
          <p:nvPr/>
        </p:nvSpPr>
        <p:spPr>
          <a:xfrm>
            <a:off x="3659667" y="696679"/>
            <a:ext cx="16898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Азыр төлөө</a:t>
            </a:r>
            <a:endParaRPr lang="en-GB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B2690C-8D86-4E33-86B3-E711416C7D17}"/>
              </a:ext>
            </a:extLst>
          </p:cNvPr>
          <p:cNvSpPr txBox="1"/>
          <p:nvPr/>
        </p:nvSpPr>
        <p:spPr>
          <a:xfrm>
            <a:off x="5352128" y="696678"/>
            <a:ext cx="1531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48821</a:t>
            </a:r>
            <a:r>
              <a:rPr lang="ky-KG" sz="2400" dirty="0"/>
              <a:t> сом</a:t>
            </a:r>
            <a:endParaRPr lang="en-GB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BA3872-95D0-47A7-A2A6-D9902C9793EB}"/>
              </a:ext>
            </a:extLst>
          </p:cNvPr>
          <p:cNvSpPr txBox="1"/>
          <p:nvPr/>
        </p:nvSpPr>
        <p:spPr>
          <a:xfrm>
            <a:off x="3454213" y="2253288"/>
            <a:ext cx="25218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Ай сайын төлөңүз</a:t>
            </a:r>
            <a:endParaRPr lang="en-GB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F4AC53-D20E-4DE4-987C-E184020A30BF}"/>
              </a:ext>
            </a:extLst>
          </p:cNvPr>
          <p:cNvSpPr txBox="1"/>
          <p:nvPr/>
        </p:nvSpPr>
        <p:spPr>
          <a:xfrm>
            <a:off x="5266445" y="3603546"/>
            <a:ext cx="27360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Айсайын </a:t>
            </a:r>
            <a:r>
              <a:rPr lang="ru-RU" sz="2000" dirty="0"/>
              <a:t> төлөм канча?</a:t>
            </a:r>
            <a:endParaRPr lang="en-GB" sz="200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2B736BE-92E7-4BE4-8F12-90DD3CC70CA9}"/>
              </a:ext>
            </a:extLst>
          </p:cNvPr>
          <p:cNvGrpSpPr/>
          <p:nvPr/>
        </p:nvGrpSpPr>
        <p:grpSpPr>
          <a:xfrm>
            <a:off x="6521039" y="1760528"/>
            <a:ext cx="2504532" cy="1447185"/>
            <a:chOff x="6521039" y="1785928"/>
            <a:chExt cx="2504532" cy="1447185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9C66F24-E279-4E6C-82DD-7A094EE85BAC}"/>
                </a:ext>
              </a:extLst>
            </p:cNvPr>
            <p:cNvSpPr txBox="1"/>
            <p:nvPr/>
          </p:nvSpPr>
          <p:spPr>
            <a:xfrm>
              <a:off x="6521039" y="1785928"/>
              <a:ext cx="250453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400" dirty="0"/>
                <a:t>99</a:t>
              </a:r>
              <a:r>
                <a:rPr lang="ky-KG" sz="2400" dirty="0"/>
                <a:t>99 сом депозит</a:t>
              </a:r>
              <a:endParaRPr lang="en-GB" sz="2400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2084D36-8CB6-47CE-87E7-33680C661212}"/>
                </a:ext>
              </a:extLst>
            </p:cNvPr>
            <p:cNvSpPr txBox="1"/>
            <p:nvPr/>
          </p:nvSpPr>
          <p:spPr>
            <a:xfrm>
              <a:off x="6643031" y="2278688"/>
              <a:ext cx="2260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400" dirty="0"/>
                <a:t>24 </a:t>
              </a:r>
              <a:r>
                <a:rPr lang="ky-KG" sz="2400" dirty="0"/>
                <a:t>айлык төлөм</a:t>
              </a:r>
              <a:endParaRPr lang="en-GB" sz="2400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2C14D44-A8FD-4618-951E-CB1F5EEAC7B6}"/>
                </a:ext>
              </a:extLst>
            </p:cNvPr>
            <p:cNvSpPr txBox="1"/>
            <p:nvPr/>
          </p:nvSpPr>
          <p:spPr>
            <a:xfrm>
              <a:off x="7003705" y="2771448"/>
              <a:ext cx="153920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2400" dirty="0"/>
                <a:t>0% пайыз!</a:t>
              </a:r>
              <a:endParaRPr lang="en-GB" sz="2400" dirty="0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CA12C7D7-659F-40D0-9F40-329A2DEF2BAC}"/>
              </a:ext>
            </a:extLst>
          </p:cNvPr>
          <p:cNvSpPr txBox="1"/>
          <p:nvPr/>
        </p:nvSpPr>
        <p:spPr>
          <a:xfrm>
            <a:off x="2070141" y="4498242"/>
            <a:ext cx="57657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48821 – 99</a:t>
            </a:r>
            <a:r>
              <a:rPr lang="ky-KG" sz="2000" dirty="0"/>
              <a:t>99 депозит</a:t>
            </a:r>
            <a:r>
              <a:rPr lang="en-GB" sz="2000" dirty="0"/>
              <a:t> = 38 822 </a:t>
            </a:r>
            <a:r>
              <a:rPr lang="ky-KG" sz="2000" dirty="0"/>
              <a:t>сом төлөнүшү керек</a:t>
            </a:r>
            <a:endParaRPr lang="en-GB" sz="2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2BD6F28-B0CE-4A30-9E5C-81A2D76EEAAE}"/>
              </a:ext>
            </a:extLst>
          </p:cNvPr>
          <p:cNvSpPr txBox="1"/>
          <p:nvPr/>
        </p:nvSpPr>
        <p:spPr>
          <a:xfrm>
            <a:off x="3106990" y="5128162"/>
            <a:ext cx="36920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38 822 ÷ 24 = </a:t>
            </a:r>
            <a:r>
              <a:rPr lang="ky-KG" sz="2000" dirty="0"/>
              <a:t>1618 сом, айсайын</a:t>
            </a:r>
            <a:endParaRPr lang="en-GB" sz="20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C04A791-038C-4D04-A26B-6D0F7ECE44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718" y="888059"/>
            <a:ext cx="2305050" cy="185737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9ABFA523-6EB3-445C-80D7-CB3F73833D57}"/>
              </a:ext>
            </a:extLst>
          </p:cNvPr>
          <p:cNvSpPr txBox="1"/>
          <p:nvPr/>
        </p:nvSpPr>
        <p:spPr>
          <a:xfrm>
            <a:off x="4067670" y="5807378"/>
            <a:ext cx="583833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Эмне үчүн жалпы </a:t>
            </a:r>
            <a:r>
              <a:rPr lang="en-GB" sz="2000" dirty="0"/>
              <a:t>48821</a:t>
            </a:r>
            <a:r>
              <a:rPr lang="ky-KG" sz="2000" dirty="0"/>
              <a:t> сом эмес?</a:t>
            </a:r>
          </a:p>
          <a:p>
            <a:pPr algn="ctr"/>
            <a:r>
              <a:rPr lang="ru-RU" sz="2000" dirty="0"/>
              <a:t>Анын ордуна дүкөн кандай бааны талап кыла алат?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385600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2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2408DDA-DC02-47DC-9915-D4E9D4F7D066}"/>
              </a:ext>
            </a:extLst>
          </p:cNvPr>
          <p:cNvSpPr txBox="1"/>
          <p:nvPr/>
        </p:nvSpPr>
        <p:spPr>
          <a:xfrm>
            <a:off x="1367380" y="346689"/>
            <a:ext cx="7745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>
                <a:latin typeface="Berlin Sans FB Demi" panose="020E0802020502020306" pitchFamily="34" charset="0"/>
              </a:rPr>
              <a:t>T</a:t>
            </a:r>
            <a:r>
              <a:rPr lang="en-US" sz="2400" dirty="0">
                <a:latin typeface="Berlin Sans FB Demi" panose="020E0802020502020306" pitchFamily="34" charset="0"/>
              </a:rPr>
              <a:t>B</a:t>
            </a:r>
            <a:r>
              <a:rPr lang="en-GB" sz="2400" dirty="0">
                <a:latin typeface="Berlin Sans FB Demi" panose="020E0802020502020306" pitchFamily="34" charset="0"/>
              </a:rPr>
              <a:t>-1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BFEE5D-EC2E-4969-9CBB-DB1C0E2AD1F4}"/>
              </a:ext>
            </a:extLst>
          </p:cNvPr>
          <p:cNvSpPr/>
          <p:nvPr/>
        </p:nvSpPr>
        <p:spPr>
          <a:xfrm>
            <a:off x="3586479" y="487680"/>
            <a:ext cx="3458867" cy="9144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  <a:tailEnd type="none"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A5B653-F2E8-4CC9-930C-BF04CAEE7918}"/>
              </a:ext>
            </a:extLst>
          </p:cNvPr>
          <p:cNvSpPr/>
          <p:nvPr/>
        </p:nvSpPr>
        <p:spPr>
          <a:xfrm>
            <a:off x="3464074" y="1615440"/>
            <a:ext cx="6218406" cy="17373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  <a:tailEnd type="none"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8CE822-3665-4DF6-B6FD-3E8BD5891DE7}"/>
              </a:ext>
            </a:extLst>
          </p:cNvPr>
          <p:cNvSpPr txBox="1"/>
          <p:nvPr/>
        </p:nvSpPr>
        <p:spPr>
          <a:xfrm>
            <a:off x="3870192" y="714048"/>
            <a:ext cx="16898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Азыр төлөө</a:t>
            </a:r>
            <a:endParaRPr lang="en-GB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B2690C-8D86-4E33-86B3-E711416C7D17}"/>
              </a:ext>
            </a:extLst>
          </p:cNvPr>
          <p:cNvSpPr txBox="1"/>
          <p:nvPr/>
        </p:nvSpPr>
        <p:spPr>
          <a:xfrm>
            <a:off x="5422740" y="714048"/>
            <a:ext cx="15311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56589</a:t>
            </a:r>
            <a:r>
              <a:rPr lang="ky-KG" sz="2400" dirty="0"/>
              <a:t> сом</a:t>
            </a:r>
            <a:endParaRPr lang="en-GB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F4AC53-D20E-4DE4-987C-E184020A30BF}"/>
              </a:ext>
            </a:extLst>
          </p:cNvPr>
          <p:cNvSpPr txBox="1"/>
          <p:nvPr/>
        </p:nvSpPr>
        <p:spPr>
          <a:xfrm>
            <a:off x="4198726" y="4021300"/>
            <a:ext cx="42939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Ар бир айлык төлөм канчадан болот?</a:t>
            </a:r>
            <a:endParaRPr lang="en-GB" sz="200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2B736BE-92E7-4BE4-8F12-90DD3CC70CA9}"/>
              </a:ext>
            </a:extLst>
          </p:cNvPr>
          <p:cNvGrpSpPr/>
          <p:nvPr/>
        </p:nvGrpSpPr>
        <p:grpSpPr>
          <a:xfrm>
            <a:off x="5987980" y="1760528"/>
            <a:ext cx="3570657" cy="1447185"/>
            <a:chOff x="5987980" y="1785928"/>
            <a:chExt cx="3570657" cy="1447185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9C66F24-E279-4E6C-82DD-7A094EE85BAC}"/>
                </a:ext>
              </a:extLst>
            </p:cNvPr>
            <p:cNvSpPr txBox="1"/>
            <p:nvPr/>
          </p:nvSpPr>
          <p:spPr>
            <a:xfrm>
              <a:off x="6521039" y="1785928"/>
              <a:ext cx="250453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400" dirty="0"/>
                <a:t>8876</a:t>
              </a:r>
              <a:r>
                <a:rPr lang="ky-KG" sz="2400" dirty="0"/>
                <a:t> сом депозит</a:t>
              </a:r>
              <a:endParaRPr lang="en-GB" sz="2400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2084D36-8CB6-47CE-87E7-33680C661212}"/>
                </a:ext>
              </a:extLst>
            </p:cNvPr>
            <p:cNvSpPr txBox="1"/>
            <p:nvPr/>
          </p:nvSpPr>
          <p:spPr>
            <a:xfrm>
              <a:off x="6643031" y="2278688"/>
              <a:ext cx="2260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400" dirty="0"/>
                <a:t>24 </a:t>
              </a:r>
              <a:r>
                <a:rPr lang="ky-KG" sz="2400" dirty="0"/>
                <a:t>айлык төлөм</a:t>
              </a:r>
              <a:endParaRPr lang="en-GB" sz="2400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2C14D44-A8FD-4618-951E-CB1F5EEAC7B6}"/>
                </a:ext>
              </a:extLst>
            </p:cNvPr>
            <p:cNvSpPr txBox="1"/>
            <p:nvPr/>
          </p:nvSpPr>
          <p:spPr>
            <a:xfrm>
              <a:off x="5987980" y="2771448"/>
              <a:ext cx="357065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2400" dirty="0"/>
                <a:t>Болгону 7% пайыз менен!</a:t>
              </a:r>
              <a:endParaRPr lang="en-GB" sz="2400" dirty="0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CA12C7D7-659F-40D0-9F40-329A2DEF2BAC}"/>
              </a:ext>
            </a:extLst>
          </p:cNvPr>
          <p:cNvSpPr txBox="1"/>
          <p:nvPr/>
        </p:nvSpPr>
        <p:spPr>
          <a:xfrm>
            <a:off x="1940975" y="4798545"/>
            <a:ext cx="60240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/>
              <a:t>56589 – 8876</a:t>
            </a:r>
            <a:r>
              <a:rPr lang="ky-KG" sz="2000" dirty="0"/>
              <a:t> сом депозит </a:t>
            </a:r>
            <a:r>
              <a:rPr lang="en-GB" sz="2000" dirty="0"/>
              <a:t>= £430 loan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2BD6F28-B0CE-4A30-9E5C-81A2D76EEAAE}"/>
              </a:ext>
            </a:extLst>
          </p:cNvPr>
          <p:cNvSpPr txBox="1"/>
          <p:nvPr/>
        </p:nvSpPr>
        <p:spPr>
          <a:xfrm>
            <a:off x="3248379" y="5981602"/>
            <a:ext cx="42627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51 052,91 ÷ 24 = 2 127 </a:t>
            </a:r>
            <a:r>
              <a:rPr lang="ky-KG" sz="2000" dirty="0"/>
              <a:t> сом, айсайын </a:t>
            </a:r>
            <a:endParaRPr lang="en-GB" sz="20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9C3FDA4-4633-41D9-9C80-2B1BF6AD0C19}"/>
              </a:ext>
            </a:extLst>
          </p:cNvPr>
          <p:cNvSpPr txBox="1"/>
          <p:nvPr/>
        </p:nvSpPr>
        <p:spPr>
          <a:xfrm>
            <a:off x="2202776" y="3475507"/>
            <a:ext cx="75704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(Пайыздык чен кредиттин жалпы суммасына </a:t>
            </a:r>
            <a:r>
              <a:rPr lang="ru-RU" sz="2000" u="sng" dirty="0"/>
              <a:t>бир</a:t>
            </a:r>
            <a:r>
              <a:rPr lang="ru-RU" sz="2000" dirty="0"/>
              <a:t> жолу колдонулат)</a:t>
            </a:r>
            <a:endParaRPr lang="en-GB" sz="20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6E5CEFD-61ED-4092-AFB8-A138D4999C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67" y="981392"/>
            <a:ext cx="2617965" cy="1680528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1DB6419-7AAE-4031-A99B-3C1C7D9BD136}"/>
              </a:ext>
            </a:extLst>
          </p:cNvPr>
          <p:cNvSpPr txBox="1"/>
          <p:nvPr/>
        </p:nvSpPr>
        <p:spPr>
          <a:xfrm>
            <a:off x="2349480" y="5402482"/>
            <a:ext cx="52070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47 713 + 7% </a:t>
            </a:r>
            <a:r>
              <a:rPr lang="ky-KG" sz="2000" dirty="0"/>
              <a:t>пайыз</a:t>
            </a:r>
            <a:r>
              <a:rPr lang="en-GB" sz="2000" dirty="0"/>
              <a:t>= 51 052,91</a:t>
            </a:r>
            <a:r>
              <a:rPr lang="ky-KG" sz="2000" dirty="0"/>
              <a:t> төлөнүшү керек</a:t>
            </a:r>
            <a:endParaRPr lang="en-GB" sz="20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6086573-9116-4177-92A8-9BC262F4DD41}"/>
              </a:ext>
            </a:extLst>
          </p:cNvPr>
          <p:cNvSpPr txBox="1"/>
          <p:nvPr/>
        </p:nvSpPr>
        <p:spPr>
          <a:xfrm>
            <a:off x="3454213" y="2253288"/>
            <a:ext cx="25218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Ай сайын төлөңүз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299274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2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2408DDA-DC02-47DC-9915-D4E9D4F7D066}"/>
              </a:ext>
            </a:extLst>
          </p:cNvPr>
          <p:cNvSpPr txBox="1"/>
          <p:nvPr/>
        </p:nvSpPr>
        <p:spPr>
          <a:xfrm>
            <a:off x="1395433" y="346689"/>
            <a:ext cx="7184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>
                <a:latin typeface="Berlin Sans FB Demi" panose="020E0802020502020306" pitchFamily="34" charset="0"/>
              </a:rPr>
              <a:t>A-X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BFEE5D-EC2E-4969-9CBB-DB1C0E2AD1F4}"/>
              </a:ext>
            </a:extLst>
          </p:cNvPr>
          <p:cNvSpPr/>
          <p:nvPr/>
        </p:nvSpPr>
        <p:spPr>
          <a:xfrm>
            <a:off x="3586479" y="487680"/>
            <a:ext cx="3901975" cy="9144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  <a:tailEnd type="none"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A5B653-F2E8-4CC9-930C-BF04CAEE7918}"/>
              </a:ext>
            </a:extLst>
          </p:cNvPr>
          <p:cNvSpPr/>
          <p:nvPr/>
        </p:nvSpPr>
        <p:spPr>
          <a:xfrm>
            <a:off x="3464074" y="1615440"/>
            <a:ext cx="6218406" cy="17373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  <a:tailEnd type="none"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8CE822-3665-4DF6-B6FD-3E8BD5891DE7}"/>
              </a:ext>
            </a:extLst>
          </p:cNvPr>
          <p:cNvSpPr txBox="1"/>
          <p:nvPr/>
        </p:nvSpPr>
        <p:spPr>
          <a:xfrm>
            <a:off x="3870192" y="714048"/>
            <a:ext cx="16898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Азыр төлөө</a:t>
            </a:r>
            <a:endParaRPr lang="en-GB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B2690C-8D86-4E33-86B3-E711416C7D17}"/>
              </a:ext>
            </a:extLst>
          </p:cNvPr>
          <p:cNvSpPr txBox="1"/>
          <p:nvPr/>
        </p:nvSpPr>
        <p:spPr>
          <a:xfrm>
            <a:off x="5694526" y="704340"/>
            <a:ext cx="1531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70125</a:t>
            </a:r>
            <a:r>
              <a:rPr lang="ky-KG" sz="2400" dirty="0"/>
              <a:t> сом</a:t>
            </a:r>
            <a:endParaRPr lang="en-GB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F4AC53-D20E-4DE4-987C-E184020A30BF}"/>
              </a:ext>
            </a:extLst>
          </p:cNvPr>
          <p:cNvSpPr txBox="1"/>
          <p:nvPr/>
        </p:nvSpPr>
        <p:spPr>
          <a:xfrm>
            <a:off x="4430033" y="3989626"/>
            <a:ext cx="4408899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Ар бир айлык төлөм канчадан болот?</a:t>
            </a:r>
            <a:endParaRPr lang="en-GB" sz="2000" dirty="0"/>
          </a:p>
          <a:p>
            <a:pPr algn="ctr"/>
            <a:endParaRPr lang="en-GB" sz="1200" dirty="0"/>
          </a:p>
          <a:p>
            <a:pPr algn="ctr"/>
            <a:r>
              <a:rPr lang="ru-RU" sz="2000" dirty="0"/>
              <a:t>Бөлүп төлөө планы канча акча кошот ?</a:t>
            </a:r>
            <a:endParaRPr lang="en-GB" sz="200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2B736BE-92E7-4BE4-8F12-90DD3CC70CA9}"/>
              </a:ext>
            </a:extLst>
          </p:cNvPr>
          <p:cNvGrpSpPr/>
          <p:nvPr/>
        </p:nvGrpSpPr>
        <p:grpSpPr>
          <a:xfrm>
            <a:off x="6251674" y="1760528"/>
            <a:ext cx="3043270" cy="1447185"/>
            <a:chOff x="6251674" y="1785928"/>
            <a:chExt cx="3043270" cy="1447185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9C66F24-E279-4E6C-82DD-7A094EE85BAC}"/>
                </a:ext>
              </a:extLst>
            </p:cNvPr>
            <p:cNvSpPr txBox="1"/>
            <p:nvPr/>
          </p:nvSpPr>
          <p:spPr>
            <a:xfrm>
              <a:off x="6521039" y="1785928"/>
              <a:ext cx="250453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400" dirty="0"/>
                <a:t>976</a:t>
              </a:r>
              <a:r>
                <a:rPr lang="ky-KG" sz="2400" dirty="0"/>
                <a:t>5 сом</a:t>
              </a:r>
              <a:r>
                <a:rPr lang="en-GB" sz="2400" dirty="0"/>
                <a:t> </a:t>
              </a:r>
              <a:r>
                <a:rPr lang="ky-KG" sz="2400" dirty="0"/>
                <a:t>депозит</a:t>
              </a:r>
              <a:endParaRPr lang="en-GB" sz="2400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2084D36-8CB6-47CE-87E7-33680C661212}"/>
                </a:ext>
              </a:extLst>
            </p:cNvPr>
            <p:cNvSpPr txBox="1"/>
            <p:nvPr/>
          </p:nvSpPr>
          <p:spPr>
            <a:xfrm>
              <a:off x="6643031" y="2278688"/>
              <a:ext cx="2260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400" dirty="0"/>
                <a:t>18 </a:t>
              </a:r>
              <a:r>
                <a:rPr lang="ky-KG" sz="2400" dirty="0"/>
                <a:t>айлык төлөм</a:t>
              </a:r>
              <a:endParaRPr lang="en-GB" sz="2400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2C14D44-A8FD-4618-951E-CB1F5EEAC7B6}"/>
                </a:ext>
              </a:extLst>
            </p:cNvPr>
            <p:cNvSpPr txBox="1"/>
            <p:nvPr/>
          </p:nvSpPr>
          <p:spPr>
            <a:xfrm>
              <a:off x="6251674" y="2771448"/>
              <a:ext cx="304327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2400" dirty="0"/>
                <a:t>Болгону 17,5% пайыз!</a:t>
              </a:r>
              <a:endParaRPr lang="en-GB" sz="2400" dirty="0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CA12C7D7-659F-40D0-9F40-329A2DEF2BAC}"/>
              </a:ext>
            </a:extLst>
          </p:cNvPr>
          <p:cNvSpPr txBox="1"/>
          <p:nvPr/>
        </p:nvSpPr>
        <p:spPr>
          <a:xfrm>
            <a:off x="2441369" y="5128162"/>
            <a:ext cx="56727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/>
              <a:t>70125 – 976</a:t>
            </a:r>
            <a:r>
              <a:rPr lang="ky-KG" sz="2000" dirty="0"/>
              <a:t>5 сом</a:t>
            </a:r>
            <a:r>
              <a:rPr lang="en-GB" sz="2000" dirty="0"/>
              <a:t> </a:t>
            </a:r>
            <a:r>
              <a:rPr lang="ky-KG" sz="2000" dirty="0"/>
              <a:t>депозит </a:t>
            </a:r>
            <a:r>
              <a:rPr lang="en-GB" sz="2000" dirty="0"/>
              <a:t>= 60 360</a:t>
            </a:r>
            <a:r>
              <a:rPr lang="ky-KG" sz="2000" dirty="0"/>
              <a:t> насыя</a:t>
            </a:r>
            <a:endParaRPr lang="en-GB" sz="2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2BD6F28-B0CE-4A30-9E5C-81A2D76EEAAE}"/>
              </a:ext>
            </a:extLst>
          </p:cNvPr>
          <p:cNvSpPr txBox="1"/>
          <p:nvPr/>
        </p:nvSpPr>
        <p:spPr>
          <a:xfrm>
            <a:off x="2423677" y="6327042"/>
            <a:ext cx="3900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70923</a:t>
            </a:r>
            <a:r>
              <a:rPr lang="en-GB" sz="2000" dirty="0"/>
              <a:t> ÷ 18 = 3 940 </a:t>
            </a:r>
            <a:r>
              <a:rPr lang="ky-KG" sz="2000" dirty="0"/>
              <a:t> сом, айсайын!</a:t>
            </a:r>
            <a:endParaRPr lang="en-GB" sz="20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9C3FDA4-4633-41D9-9C80-2B1BF6AD0C19}"/>
              </a:ext>
            </a:extLst>
          </p:cNvPr>
          <p:cNvSpPr txBox="1"/>
          <p:nvPr/>
        </p:nvSpPr>
        <p:spPr>
          <a:xfrm>
            <a:off x="2335593" y="3479691"/>
            <a:ext cx="75704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(Пайыздык чен кредиттин жалпы суммасына </a:t>
            </a:r>
            <a:r>
              <a:rPr lang="ru-RU" sz="2000" u="sng" dirty="0"/>
              <a:t>бир</a:t>
            </a:r>
            <a:r>
              <a:rPr lang="ru-RU" sz="2000" dirty="0"/>
              <a:t> жолу колдонулат)</a:t>
            </a:r>
            <a:endParaRPr lang="en-GB" sz="20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1DB6419-7AAE-4031-A99B-3C1C7D9BD136}"/>
              </a:ext>
            </a:extLst>
          </p:cNvPr>
          <p:cNvSpPr txBox="1"/>
          <p:nvPr/>
        </p:nvSpPr>
        <p:spPr>
          <a:xfrm>
            <a:off x="805256" y="5727602"/>
            <a:ext cx="57328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60 360 + 17,5% </a:t>
            </a:r>
            <a:r>
              <a:rPr lang="ky-KG" sz="2000" dirty="0"/>
              <a:t>пайыз </a:t>
            </a:r>
            <a:r>
              <a:rPr lang="en-GB" sz="2000" dirty="0"/>
              <a:t> =</a:t>
            </a:r>
            <a:r>
              <a:rPr lang="ky-KG" sz="2000" dirty="0"/>
              <a:t> 70923 сом төлөнүшү керек</a:t>
            </a:r>
            <a:endParaRPr lang="en-GB" sz="20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1B9D63CE-738A-4913-9849-80BA45C489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880" y="914399"/>
            <a:ext cx="2733040" cy="2004229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2FB12CF-D596-4F58-B5EF-1E283B21127B}"/>
              </a:ext>
            </a:extLst>
          </p:cNvPr>
          <p:cNvSpPr txBox="1"/>
          <p:nvPr/>
        </p:nvSpPr>
        <p:spPr>
          <a:xfrm>
            <a:off x="3454213" y="2253288"/>
            <a:ext cx="25218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Ай сайын төлөңүз</a:t>
            </a:r>
            <a:endParaRPr lang="en-GB" sz="24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66FCD90-9304-4BEF-A8B9-A85C22F4DAB9}"/>
              </a:ext>
            </a:extLst>
          </p:cNvPr>
          <p:cNvSpPr txBox="1"/>
          <p:nvPr/>
        </p:nvSpPr>
        <p:spPr>
          <a:xfrm>
            <a:off x="6133762" y="6007632"/>
            <a:ext cx="33148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= 10 563</a:t>
            </a:r>
            <a:r>
              <a:rPr lang="ky-KG" sz="2000" dirty="0"/>
              <a:t> сом кошумча төлөм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832591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22" grpId="0"/>
      <p:bldP spid="2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Picture 60">
            <a:extLst>
              <a:ext uri="{FF2B5EF4-FFF2-40B4-BE49-F238E27FC236}">
                <a16:creationId xmlns:a16="http://schemas.microsoft.com/office/drawing/2014/main" id="{18387539-106D-4E21-923D-3CAC8F216E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035" y="900748"/>
            <a:ext cx="1462261" cy="1260330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3C80E47F-10C6-4472-A650-05C7851F0F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4940" y="4121468"/>
            <a:ext cx="1726861" cy="1260330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6C31BDA9-88EA-42B9-BDA7-2DCF9897A4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7788" y="836295"/>
            <a:ext cx="1705972" cy="1295146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755AE9DF-10FD-4267-B535-5B10D2EE82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023" y="4095115"/>
            <a:ext cx="1719898" cy="1239441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E0C3F08-BB0A-42EE-8753-A840B062D573}"/>
              </a:ext>
            </a:extLst>
          </p:cNvPr>
          <p:cNvCxnSpPr>
            <a:cxnSpLocks/>
          </p:cNvCxnSpPr>
          <p:nvPr/>
        </p:nvCxnSpPr>
        <p:spPr>
          <a:xfrm>
            <a:off x="4950940" y="721360"/>
            <a:ext cx="0" cy="597408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E50EF73-2688-40FF-9D13-613E34F454A7}"/>
              </a:ext>
            </a:extLst>
          </p:cNvPr>
          <p:cNvCxnSpPr>
            <a:cxnSpLocks/>
          </p:cNvCxnSpPr>
          <p:nvPr/>
        </p:nvCxnSpPr>
        <p:spPr>
          <a:xfrm flipH="1">
            <a:off x="255510" y="3779520"/>
            <a:ext cx="9394980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49B2B49-DB30-45BA-9091-55632EB8D3FD}"/>
              </a:ext>
            </a:extLst>
          </p:cNvPr>
          <p:cNvSpPr txBox="1"/>
          <p:nvPr/>
        </p:nvSpPr>
        <p:spPr>
          <a:xfrm>
            <a:off x="20320" y="741680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b="1" dirty="0"/>
              <a:t>А</a:t>
            </a:r>
            <a:endParaRPr lang="en-GB" sz="2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075CC9-D4C0-492F-973A-BDEBA93C4D3E}"/>
              </a:ext>
            </a:extLst>
          </p:cNvPr>
          <p:cNvSpPr txBox="1"/>
          <p:nvPr/>
        </p:nvSpPr>
        <p:spPr>
          <a:xfrm>
            <a:off x="4947920" y="741680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b="1" dirty="0"/>
              <a:t>Б</a:t>
            </a:r>
            <a:endParaRPr lang="en-GB" sz="2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5E80DE-B15B-4656-BE66-0F47CF0E0FED}"/>
              </a:ext>
            </a:extLst>
          </p:cNvPr>
          <p:cNvSpPr txBox="1"/>
          <p:nvPr/>
        </p:nvSpPr>
        <p:spPr>
          <a:xfrm>
            <a:off x="20320" y="3799840"/>
            <a:ext cx="3577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b="1" dirty="0"/>
              <a:t>В</a:t>
            </a:r>
            <a:endParaRPr lang="en-GB" sz="2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80A8F5-1EF5-4F50-9F24-DA209FDCCE59}"/>
              </a:ext>
            </a:extLst>
          </p:cNvPr>
          <p:cNvSpPr txBox="1"/>
          <p:nvPr/>
        </p:nvSpPr>
        <p:spPr>
          <a:xfrm>
            <a:off x="4947920" y="3799840"/>
            <a:ext cx="3177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b="1" dirty="0"/>
              <a:t>Г</a:t>
            </a:r>
            <a:endParaRPr lang="en-GB" sz="2400" b="1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0025C99-4B3B-47B1-9937-21DF8EAE7EF9}"/>
              </a:ext>
            </a:extLst>
          </p:cNvPr>
          <p:cNvSpPr/>
          <p:nvPr/>
        </p:nvSpPr>
        <p:spPr>
          <a:xfrm>
            <a:off x="2011680" y="1605280"/>
            <a:ext cx="2763520" cy="67056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  <a:tailEnd type="none"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FD05C86-97CE-48C6-9836-74BA7D17E44E}"/>
              </a:ext>
            </a:extLst>
          </p:cNvPr>
          <p:cNvSpPr/>
          <p:nvPr/>
        </p:nvSpPr>
        <p:spPr>
          <a:xfrm>
            <a:off x="121920" y="2449914"/>
            <a:ext cx="4653280" cy="120768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  <a:tailEnd type="none"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35F3209-DC3C-4AF3-AB03-AD4939A1B2D5}"/>
              </a:ext>
            </a:extLst>
          </p:cNvPr>
          <p:cNvSpPr txBox="1"/>
          <p:nvPr/>
        </p:nvSpPr>
        <p:spPr>
          <a:xfrm>
            <a:off x="2074185" y="1740505"/>
            <a:ext cx="14414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Азыр төлөө</a:t>
            </a:r>
            <a:endParaRPr lang="en-GB" sz="2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DF3198C-CC6D-4E37-8318-2BE6313F6783}"/>
              </a:ext>
            </a:extLst>
          </p:cNvPr>
          <p:cNvSpPr txBox="1"/>
          <p:nvPr/>
        </p:nvSpPr>
        <p:spPr>
          <a:xfrm>
            <a:off x="3436547" y="1740505"/>
            <a:ext cx="13724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31 057</a:t>
            </a:r>
            <a:r>
              <a:rPr lang="ky-KG" sz="2000" dirty="0"/>
              <a:t> сом</a:t>
            </a:r>
            <a:endParaRPr lang="en-GB" sz="20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BE7A5DB-7E40-461C-BC4C-E008CC086F3C}"/>
              </a:ext>
            </a:extLst>
          </p:cNvPr>
          <p:cNvSpPr txBox="1"/>
          <p:nvPr/>
        </p:nvSpPr>
        <p:spPr>
          <a:xfrm>
            <a:off x="243733" y="2853702"/>
            <a:ext cx="19014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Ай сайын төлөө</a:t>
            </a:r>
            <a:endParaRPr lang="en-GB" sz="20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A0688F2-21FB-44C4-9321-141D429F4B43}"/>
              </a:ext>
            </a:extLst>
          </p:cNvPr>
          <p:cNvSpPr txBox="1"/>
          <p:nvPr/>
        </p:nvSpPr>
        <p:spPr>
          <a:xfrm>
            <a:off x="2254641" y="2545926"/>
            <a:ext cx="207620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77</a:t>
            </a:r>
            <a:r>
              <a:rPr lang="ky-KG" sz="2000" dirty="0"/>
              <a:t>77</a:t>
            </a:r>
            <a:r>
              <a:rPr lang="en-GB" sz="2000" dirty="0"/>
              <a:t> </a:t>
            </a:r>
            <a:r>
              <a:rPr lang="ky-KG" sz="2000" dirty="0"/>
              <a:t>депозит</a:t>
            </a:r>
            <a:endParaRPr lang="en-GB" sz="2000" dirty="0"/>
          </a:p>
          <a:p>
            <a:pPr algn="ctr"/>
            <a:r>
              <a:rPr lang="en-GB" sz="2000" dirty="0"/>
              <a:t>12 </a:t>
            </a:r>
            <a:r>
              <a:rPr lang="ky-KG" sz="2000" dirty="0"/>
              <a:t>айлык төлөм</a:t>
            </a:r>
            <a:endParaRPr lang="en-GB" sz="2000" dirty="0"/>
          </a:p>
          <a:p>
            <a:pPr algn="ctr"/>
            <a:r>
              <a:rPr lang="ky-KG" sz="2000" dirty="0"/>
              <a:t>0% пайыз менен!</a:t>
            </a:r>
            <a:endParaRPr lang="en-GB" sz="20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C57FC7D-B7EE-4A7E-BFB9-57227D917DC1}"/>
              </a:ext>
            </a:extLst>
          </p:cNvPr>
          <p:cNvSpPr txBox="1"/>
          <p:nvPr/>
        </p:nvSpPr>
        <p:spPr>
          <a:xfrm>
            <a:off x="150911" y="35561"/>
            <a:ext cx="96161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Ай сайын төлөнүүчү сумманы </a:t>
            </a:r>
            <a:r>
              <a:rPr lang="en-US" sz="2000" dirty="0"/>
              <a:t>&amp;</a:t>
            </a:r>
            <a:r>
              <a:rPr lang="ky-KG" sz="2000" dirty="0"/>
              <a:t> бөлүп төлөө планынын жалпы суммасын табыңыз.</a:t>
            </a:r>
            <a:endParaRPr lang="en-GB" sz="2000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4D2ED264-282D-4E81-88C5-32E5C67286C2}"/>
              </a:ext>
            </a:extLst>
          </p:cNvPr>
          <p:cNvSpPr txBox="1"/>
          <p:nvPr/>
        </p:nvSpPr>
        <p:spPr>
          <a:xfrm>
            <a:off x="1680397" y="684773"/>
            <a:ext cx="300133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GB" sz="2800" dirty="0"/>
          </a:p>
          <a:p>
            <a:pPr algn="ctr"/>
            <a:r>
              <a:rPr lang="ky-KG" sz="2800" dirty="0"/>
              <a:t>Жалпы </a:t>
            </a:r>
            <a:r>
              <a:rPr lang="en-GB" sz="2800" dirty="0"/>
              <a:t>31 057</a:t>
            </a:r>
            <a:r>
              <a:rPr lang="ky-KG" sz="2800" dirty="0"/>
              <a:t> сом</a:t>
            </a:r>
            <a:endParaRPr lang="en-GB" sz="2800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4B0C47BC-7DCD-46DD-A43D-0A96A844CF01}"/>
              </a:ext>
            </a:extLst>
          </p:cNvPr>
          <p:cNvSpPr/>
          <p:nvPr/>
        </p:nvSpPr>
        <p:spPr>
          <a:xfrm>
            <a:off x="6990080" y="1605280"/>
            <a:ext cx="2763520" cy="67056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  <a:tailEnd type="none"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54512850-49F4-4178-B674-B12085E21981}"/>
              </a:ext>
            </a:extLst>
          </p:cNvPr>
          <p:cNvSpPr/>
          <p:nvPr/>
        </p:nvSpPr>
        <p:spPr>
          <a:xfrm>
            <a:off x="5100320" y="2449914"/>
            <a:ext cx="4653280" cy="120768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  <a:tailEnd type="none"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847853D-4229-408B-86AC-394A451151A4}"/>
              </a:ext>
            </a:extLst>
          </p:cNvPr>
          <p:cNvSpPr txBox="1"/>
          <p:nvPr/>
        </p:nvSpPr>
        <p:spPr>
          <a:xfrm>
            <a:off x="7052585" y="1740505"/>
            <a:ext cx="14414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Азыр төлөө</a:t>
            </a:r>
            <a:endParaRPr lang="en-GB" sz="2000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A63912B-83E1-48B1-99A6-D4BB314A1539}"/>
              </a:ext>
            </a:extLst>
          </p:cNvPr>
          <p:cNvSpPr txBox="1"/>
          <p:nvPr/>
        </p:nvSpPr>
        <p:spPr>
          <a:xfrm>
            <a:off x="8445229" y="1752268"/>
            <a:ext cx="13083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3550</a:t>
            </a:r>
            <a:r>
              <a:rPr lang="ky-KG" sz="2000" dirty="0"/>
              <a:t>0 сом</a:t>
            </a:r>
            <a:endParaRPr lang="en-GB" sz="2000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E06CC3D-670E-463B-B020-F26EB36B076C}"/>
              </a:ext>
            </a:extLst>
          </p:cNvPr>
          <p:cNvSpPr txBox="1"/>
          <p:nvPr/>
        </p:nvSpPr>
        <p:spPr>
          <a:xfrm>
            <a:off x="5085194" y="2853702"/>
            <a:ext cx="19014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Ай сайын төлөө</a:t>
            </a:r>
            <a:endParaRPr lang="en-GB" sz="2000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59E68CE-C7FC-4385-A720-CDE1B018D107}"/>
              </a:ext>
            </a:extLst>
          </p:cNvPr>
          <p:cNvSpPr txBox="1"/>
          <p:nvPr/>
        </p:nvSpPr>
        <p:spPr>
          <a:xfrm>
            <a:off x="7137663" y="2545926"/>
            <a:ext cx="226696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55</a:t>
            </a:r>
            <a:r>
              <a:rPr lang="ky-KG" sz="2000" dirty="0"/>
              <a:t>50 сом</a:t>
            </a:r>
            <a:r>
              <a:rPr lang="en-GB" sz="2000" dirty="0"/>
              <a:t> </a:t>
            </a:r>
            <a:r>
              <a:rPr lang="ky-KG" sz="2000" dirty="0"/>
              <a:t>депозит</a:t>
            </a:r>
            <a:endParaRPr lang="en-GB" sz="2000" dirty="0"/>
          </a:p>
          <a:p>
            <a:pPr algn="ctr"/>
            <a:r>
              <a:rPr lang="en-GB" sz="2000" dirty="0"/>
              <a:t>18 </a:t>
            </a:r>
            <a:r>
              <a:rPr lang="ky-KG" sz="2000" dirty="0"/>
              <a:t>айлык төлөм</a:t>
            </a:r>
            <a:endParaRPr lang="en-GB" sz="2000" dirty="0"/>
          </a:p>
          <a:p>
            <a:pPr algn="ctr"/>
            <a:r>
              <a:rPr lang="en-GB" sz="2000" dirty="0"/>
              <a:t>10% </a:t>
            </a:r>
            <a:r>
              <a:rPr lang="ky-KG" sz="2000" dirty="0"/>
              <a:t>пайыз менен </a:t>
            </a:r>
            <a:r>
              <a:rPr lang="en-GB" sz="2000" dirty="0"/>
              <a:t>t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8C92B98-B560-467E-9525-BEA038C71B19}"/>
              </a:ext>
            </a:extLst>
          </p:cNvPr>
          <p:cNvSpPr/>
          <p:nvPr/>
        </p:nvSpPr>
        <p:spPr>
          <a:xfrm>
            <a:off x="2011680" y="4693920"/>
            <a:ext cx="2763520" cy="67056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  <a:tailEnd type="none"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55962A03-BBA9-49D4-B310-B41C4307194E}"/>
              </a:ext>
            </a:extLst>
          </p:cNvPr>
          <p:cNvSpPr/>
          <p:nvPr/>
        </p:nvSpPr>
        <p:spPr>
          <a:xfrm>
            <a:off x="121920" y="5538554"/>
            <a:ext cx="4653280" cy="120768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  <a:tailEnd type="none"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28C165BC-1E14-478E-9769-B122050590C5}"/>
              </a:ext>
            </a:extLst>
          </p:cNvPr>
          <p:cNvSpPr txBox="1"/>
          <p:nvPr/>
        </p:nvSpPr>
        <p:spPr>
          <a:xfrm>
            <a:off x="2074185" y="4829145"/>
            <a:ext cx="14414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Азыр төлөө</a:t>
            </a:r>
            <a:endParaRPr lang="en-GB" sz="2000" dirty="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709BFA0E-28B1-4183-852A-A0612242FCDD}"/>
              </a:ext>
            </a:extLst>
          </p:cNvPr>
          <p:cNvSpPr txBox="1"/>
          <p:nvPr/>
        </p:nvSpPr>
        <p:spPr>
          <a:xfrm>
            <a:off x="3431827" y="4819493"/>
            <a:ext cx="13660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60 000 сом</a:t>
            </a:r>
            <a:endParaRPr lang="en-GB" sz="2000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45D589F5-B7DC-4BE3-AE6C-E73730A0ED28}"/>
              </a:ext>
            </a:extLst>
          </p:cNvPr>
          <p:cNvSpPr txBox="1"/>
          <p:nvPr/>
        </p:nvSpPr>
        <p:spPr>
          <a:xfrm>
            <a:off x="106794" y="5942342"/>
            <a:ext cx="19014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Ай сайын төлөө</a:t>
            </a:r>
            <a:endParaRPr lang="en-GB" sz="2000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EF41DC6-9FEC-4400-9AC3-37CD95E3A695}"/>
              </a:ext>
            </a:extLst>
          </p:cNvPr>
          <p:cNvSpPr txBox="1"/>
          <p:nvPr/>
        </p:nvSpPr>
        <p:spPr>
          <a:xfrm>
            <a:off x="2168464" y="5634566"/>
            <a:ext cx="224856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110</a:t>
            </a:r>
            <a:r>
              <a:rPr lang="ky-KG" sz="2000" dirty="0"/>
              <a:t>00 сом депозит</a:t>
            </a:r>
            <a:endParaRPr lang="en-GB" sz="2000" dirty="0"/>
          </a:p>
          <a:p>
            <a:pPr algn="ctr"/>
            <a:r>
              <a:rPr lang="en-GB" sz="2000" dirty="0"/>
              <a:t>24 </a:t>
            </a:r>
            <a:r>
              <a:rPr lang="ky-KG" sz="2000" dirty="0"/>
              <a:t>айлык төлөм</a:t>
            </a:r>
            <a:endParaRPr lang="en-GB" sz="2000" dirty="0"/>
          </a:p>
          <a:p>
            <a:pPr algn="ctr"/>
            <a:r>
              <a:rPr lang="en-GB" sz="2000" dirty="0"/>
              <a:t>5% </a:t>
            </a:r>
            <a:r>
              <a:rPr lang="ky-KG" sz="2000" dirty="0"/>
              <a:t>пайыз менен</a:t>
            </a:r>
            <a:endParaRPr lang="en-GB" sz="2000" dirty="0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800DEFAB-C4CF-4CB9-BB57-099BE0CA079C}"/>
              </a:ext>
            </a:extLst>
          </p:cNvPr>
          <p:cNvSpPr/>
          <p:nvPr/>
        </p:nvSpPr>
        <p:spPr>
          <a:xfrm>
            <a:off x="6990080" y="4693920"/>
            <a:ext cx="2763520" cy="67056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  <a:tailEnd type="none"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B0854B0E-DEBC-4142-A71C-E50F779BEAFC}"/>
              </a:ext>
            </a:extLst>
          </p:cNvPr>
          <p:cNvSpPr/>
          <p:nvPr/>
        </p:nvSpPr>
        <p:spPr>
          <a:xfrm>
            <a:off x="5100320" y="5538554"/>
            <a:ext cx="4653280" cy="120768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  <a:tailEnd type="none"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415C330C-BCED-49B0-9324-F5806085F058}"/>
              </a:ext>
            </a:extLst>
          </p:cNvPr>
          <p:cNvSpPr txBox="1"/>
          <p:nvPr/>
        </p:nvSpPr>
        <p:spPr>
          <a:xfrm>
            <a:off x="7052585" y="4829145"/>
            <a:ext cx="14414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Азыр төлөө</a:t>
            </a:r>
            <a:endParaRPr lang="en-GB" sz="2000" dirty="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7D6392DE-158E-4900-8EC7-EF89EF7FF027}"/>
              </a:ext>
            </a:extLst>
          </p:cNvPr>
          <p:cNvSpPr txBox="1"/>
          <p:nvPr/>
        </p:nvSpPr>
        <p:spPr>
          <a:xfrm>
            <a:off x="8417606" y="4819493"/>
            <a:ext cx="13083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55</a:t>
            </a:r>
            <a:r>
              <a:rPr lang="ky-KG" sz="2000" dirty="0"/>
              <a:t>599 сом</a:t>
            </a:r>
            <a:endParaRPr lang="en-GB" sz="2000" dirty="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5EA88366-CE4C-4F70-959E-64D635EA4B36}"/>
              </a:ext>
            </a:extLst>
          </p:cNvPr>
          <p:cNvSpPr txBox="1"/>
          <p:nvPr/>
        </p:nvSpPr>
        <p:spPr>
          <a:xfrm>
            <a:off x="5085194" y="5942342"/>
            <a:ext cx="19014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Ай сайын төлөө</a:t>
            </a:r>
            <a:endParaRPr lang="en-GB" sz="2000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8CC4500F-FFD2-4ADE-836D-1F01BBF63B3D}"/>
              </a:ext>
            </a:extLst>
          </p:cNvPr>
          <p:cNvSpPr txBox="1"/>
          <p:nvPr/>
        </p:nvSpPr>
        <p:spPr>
          <a:xfrm>
            <a:off x="7112815" y="5634566"/>
            <a:ext cx="231666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83</a:t>
            </a:r>
            <a:r>
              <a:rPr lang="ky-KG" sz="2000" dirty="0"/>
              <a:t>99 сом</a:t>
            </a:r>
            <a:r>
              <a:rPr lang="en-GB" sz="2000" dirty="0"/>
              <a:t> </a:t>
            </a:r>
            <a:r>
              <a:rPr lang="ky-KG" sz="2000" dirty="0"/>
              <a:t>депозит</a:t>
            </a:r>
            <a:endParaRPr lang="en-GB" sz="2000" dirty="0"/>
          </a:p>
          <a:p>
            <a:pPr algn="ctr"/>
            <a:r>
              <a:rPr lang="en-GB" sz="2000" dirty="0"/>
              <a:t>30 </a:t>
            </a:r>
            <a:r>
              <a:rPr lang="ky-KG" sz="2000" dirty="0"/>
              <a:t>айлык төлөм</a:t>
            </a:r>
            <a:endParaRPr lang="en-GB" sz="2000" dirty="0"/>
          </a:p>
          <a:p>
            <a:pPr algn="ctr"/>
            <a:r>
              <a:rPr lang="en-GB" sz="2000" dirty="0"/>
              <a:t>12,5% </a:t>
            </a:r>
            <a:r>
              <a:rPr lang="ky-KG" sz="2000" dirty="0"/>
              <a:t>пайыз менен</a:t>
            </a:r>
            <a:endParaRPr lang="en-GB" sz="2000" dirty="0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776D680E-AA30-41DD-AC79-B7A82D6758CC}"/>
              </a:ext>
            </a:extLst>
          </p:cNvPr>
          <p:cNvSpPr txBox="1"/>
          <p:nvPr/>
        </p:nvSpPr>
        <p:spPr>
          <a:xfrm>
            <a:off x="1699724" y="623449"/>
            <a:ext cx="26677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Айына 194</a:t>
            </a:r>
            <a:r>
              <a:rPr lang="en-US" sz="2800" dirty="0"/>
              <a:t>0 </a:t>
            </a:r>
            <a:r>
              <a:rPr lang="ky-KG" sz="2800" dirty="0"/>
              <a:t>сом</a:t>
            </a:r>
            <a:endParaRPr lang="en-GB" sz="2800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4AD0173B-8FA2-4B64-B816-EAF20FD4E842}"/>
              </a:ext>
            </a:extLst>
          </p:cNvPr>
          <p:cNvSpPr txBox="1"/>
          <p:nvPr/>
        </p:nvSpPr>
        <p:spPr>
          <a:xfrm>
            <a:off x="6734804" y="1053029"/>
            <a:ext cx="29115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 Жалпы 38495сом</a:t>
            </a:r>
            <a:endParaRPr lang="en-GB" sz="2800" dirty="0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197C000B-75E8-44E1-9BCF-8E0637329F62}"/>
              </a:ext>
            </a:extLst>
          </p:cNvPr>
          <p:cNvSpPr txBox="1"/>
          <p:nvPr/>
        </p:nvSpPr>
        <p:spPr>
          <a:xfrm>
            <a:off x="6891743" y="578756"/>
            <a:ext cx="26677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Айына </a:t>
            </a:r>
            <a:r>
              <a:rPr lang="en-GB" sz="2800" dirty="0"/>
              <a:t>1830</a:t>
            </a:r>
            <a:r>
              <a:rPr lang="ky-KG" sz="2800" dirty="0"/>
              <a:t> сом</a:t>
            </a:r>
            <a:endParaRPr lang="en-GB" sz="2800" dirty="0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A7C2F3A8-20EB-4645-BD6F-6889C0F8A8B1}"/>
              </a:ext>
            </a:extLst>
          </p:cNvPr>
          <p:cNvSpPr txBox="1"/>
          <p:nvPr/>
        </p:nvSpPr>
        <p:spPr>
          <a:xfrm>
            <a:off x="1959836" y="4168719"/>
            <a:ext cx="29115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Жалпы 62144 сом</a:t>
            </a:r>
            <a:endParaRPr lang="en-GB" sz="2800" dirty="0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4FAA3D7B-7F36-431E-A96B-FE01AA9E8268}"/>
              </a:ext>
            </a:extLst>
          </p:cNvPr>
          <p:cNvSpPr txBox="1"/>
          <p:nvPr/>
        </p:nvSpPr>
        <p:spPr>
          <a:xfrm>
            <a:off x="1976438" y="3789173"/>
            <a:ext cx="27494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Айына  2144 сом</a:t>
            </a:r>
            <a:endParaRPr lang="en-GB" sz="2800" dirty="0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16804B8A-6BC1-43DD-B939-3526375B528C}"/>
              </a:ext>
            </a:extLst>
          </p:cNvPr>
          <p:cNvSpPr txBox="1"/>
          <p:nvPr/>
        </p:nvSpPr>
        <p:spPr>
          <a:xfrm>
            <a:off x="6734803" y="4176479"/>
            <a:ext cx="29115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Жалпы 61400 сом</a:t>
            </a:r>
            <a:endParaRPr lang="en-GB" sz="2800" dirty="0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0F0DE1EE-C7BC-478E-BA11-87B71D792844}"/>
              </a:ext>
            </a:extLst>
          </p:cNvPr>
          <p:cNvSpPr txBox="1"/>
          <p:nvPr/>
        </p:nvSpPr>
        <p:spPr>
          <a:xfrm>
            <a:off x="6734803" y="3787046"/>
            <a:ext cx="26677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Айына 1770</a:t>
            </a:r>
            <a:r>
              <a:rPr lang="en-GB" sz="2800" dirty="0"/>
              <a:t> </a:t>
            </a:r>
            <a:r>
              <a:rPr lang="ky-KG" sz="2800" dirty="0"/>
              <a:t>сом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627584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" grpId="0"/>
      <p:bldP spid="110" grpId="0"/>
      <p:bldP spid="111" grpId="0"/>
      <p:bldP spid="112" grpId="0"/>
      <p:bldP spid="113" grpId="0"/>
      <p:bldP spid="114" grpId="0"/>
      <p:bldP spid="115" grpId="0"/>
      <p:bldP spid="11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0DFEAFE-3632-4625-A3C4-181823260B77}"/>
              </a:ext>
            </a:extLst>
          </p:cNvPr>
          <p:cNvSpPr/>
          <p:nvPr/>
        </p:nvSpPr>
        <p:spPr>
          <a:xfrm>
            <a:off x="2946400" y="375920"/>
            <a:ext cx="6096000" cy="9144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  <a:tailEnd type="none"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146FBF-539A-4A98-91AD-DDB05BC50E86}"/>
              </a:ext>
            </a:extLst>
          </p:cNvPr>
          <p:cNvSpPr/>
          <p:nvPr/>
        </p:nvSpPr>
        <p:spPr>
          <a:xfrm>
            <a:off x="2946400" y="1503680"/>
            <a:ext cx="6096000" cy="130048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  <a:tailEnd type="none"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534451-EFD4-44A7-BC6E-2AC93C7D9D64}"/>
              </a:ext>
            </a:extLst>
          </p:cNvPr>
          <p:cNvSpPr txBox="1"/>
          <p:nvPr/>
        </p:nvSpPr>
        <p:spPr>
          <a:xfrm>
            <a:off x="3230112" y="602288"/>
            <a:ext cx="16898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Азыр төлөө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FBE8D5-9E28-4E5F-8834-F2196E50D8C7}"/>
              </a:ext>
            </a:extLst>
          </p:cNvPr>
          <p:cNvSpPr txBox="1"/>
          <p:nvPr/>
        </p:nvSpPr>
        <p:spPr>
          <a:xfrm>
            <a:off x="5390479" y="615910"/>
            <a:ext cx="1531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11095</a:t>
            </a:r>
            <a:r>
              <a:rPr lang="ky-KG" sz="2400" dirty="0"/>
              <a:t> сом</a:t>
            </a:r>
            <a:endParaRPr lang="en-GB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B8CC03-5265-4B53-91FD-1283F034B14C}"/>
              </a:ext>
            </a:extLst>
          </p:cNvPr>
          <p:cNvSpPr txBox="1"/>
          <p:nvPr/>
        </p:nvSpPr>
        <p:spPr>
          <a:xfrm>
            <a:off x="2953595" y="1923088"/>
            <a:ext cx="22429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Ай сайын төлөө</a:t>
            </a:r>
            <a:endParaRPr lang="en-GB" sz="2400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C7E6D38-3BF4-46E1-B3DF-6DE2E8981039}"/>
              </a:ext>
            </a:extLst>
          </p:cNvPr>
          <p:cNvGrpSpPr/>
          <p:nvPr/>
        </p:nvGrpSpPr>
        <p:grpSpPr>
          <a:xfrm>
            <a:off x="5169384" y="1674168"/>
            <a:ext cx="3927678" cy="959505"/>
            <a:chOff x="5169384" y="1892743"/>
            <a:chExt cx="3927678" cy="959505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0E913C6-8711-4D63-9E8B-3BC9799E896B}"/>
                </a:ext>
              </a:extLst>
            </p:cNvPr>
            <p:cNvSpPr txBox="1"/>
            <p:nvPr/>
          </p:nvSpPr>
          <p:spPr>
            <a:xfrm>
              <a:off x="5169384" y="1892743"/>
              <a:ext cx="392767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400" dirty="0"/>
                <a:t>166</a:t>
              </a:r>
              <a:r>
                <a:rPr lang="ky-KG" sz="2400" dirty="0"/>
                <a:t>5 сом азыр</a:t>
              </a:r>
              <a:r>
                <a:rPr lang="en-GB" sz="2400" dirty="0"/>
                <a:t> + 88</a:t>
              </a:r>
              <a:r>
                <a:rPr lang="ky-KG" sz="2400" dirty="0"/>
                <a:t>9с</a:t>
              </a:r>
              <a:r>
                <a:rPr lang="en-GB" sz="2400" dirty="0"/>
                <a:t>/</a:t>
              </a:r>
              <a:r>
                <a:rPr lang="ky-KG" sz="2400" dirty="0"/>
                <a:t>айына</a:t>
              </a:r>
              <a:endParaRPr lang="en-GB" sz="2400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B15857D-72C9-4BBF-903C-48883A891F6D}"/>
                </a:ext>
              </a:extLst>
            </p:cNvPr>
            <p:cNvSpPr txBox="1"/>
            <p:nvPr/>
          </p:nvSpPr>
          <p:spPr>
            <a:xfrm>
              <a:off x="5684750" y="2390583"/>
              <a:ext cx="289694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2400" dirty="0"/>
                <a:t>(12 айлык мөөнөттө)</a:t>
              </a:r>
              <a:endParaRPr lang="en-GB" sz="2400" dirty="0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68E7EE3B-D474-4043-B6B9-2A28952357A6}"/>
              </a:ext>
            </a:extLst>
          </p:cNvPr>
          <p:cNvSpPr txBox="1"/>
          <p:nvPr/>
        </p:nvSpPr>
        <p:spPr>
          <a:xfrm>
            <a:off x="4351949" y="2953475"/>
            <a:ext cx="334764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Кайсы вариант арзаныраак?</a:t>
            </a:r>
          </a:p>
          <a:p>
            <a:pPr algn="ctr"/>
            <a:endParaRPr lang="ru-RU" sz="2000" dirty="0"/>
          </a:p>
          <a:p>
            <a:pPr algn="ctr"/>
            <a:r>
              <a:rPr lang="ru-RU" sz="2000" dirty="0"/>
              <a:t>Дүкөн канча пайыз кошкон?</a:t>
            </a:r>
            <a:endParaRPr lang="en-GB" sz="2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D5E4717-F675-4F0A-9701-AC3E25E1E661}"/>
              </a:ext>
            </a:extLst>
          </p:cNvPr>
          <p:cNvSpPr txBox="1"/>
          <p:nvPr/>
        </p:nvSpPr>
        <p:spPr>
          <a:xfrm>
            <a:off x="708245" y="84128"/>
            <a:ext cx="13003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>
                <a:latin typeface="Berlin Sans FB Demi" panose="020E0802020502020306" pitchFamily="34" charset="0"/>
              </a:rPr>
              <a:t>STAR X8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B70537-D718-477D-A577-B81989830B0E}"/>
              </a:ext>
            </a:extLst>
          </p:cNvPr>
          <p:cNvSpPr txBox="1"/>
          <p:nvPr/>
        </p:nvSpPr>
        <p:spPr>
          <a:xfrm>
            <a:off x="3042062" y="4097328"/>
            <a:ext cx="38218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Насыя </a:t>
            </a:r>
            <a:r>
              <a:rPr lang="en-GB" sz="2000" dirty="0"/>
              <a:t> = 11095 – 166</a:t>
            </a:r>
            <a:r>
              <a:rPr lang="ky-KG" sz="2000" dirty="0"/>
              <a:t>5</a:t>
            </a:r>
            <a:r>
              <a:rPr lang="en-GB" sz="2000" dirty="0"/>
              <a:t> = </a:t>
            </a:r>
            <a:r>
              <a:rPr lang="ky-KG" sz="2000" dirty="0"/>
              <a:t>9430 сом</a:t>
            </a:r>
            <a:endParaRPr lang="en-GB" sz="2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5997F6A-191F-45A7-90D6-D398A9FD8A3A}"/>
              </a:ext>
            </a:extLst>
          </p:cNvPr>
          <p:cNvSpPr txBox="1"/>
          <p:nvPr/>
        </p:nvSpPr>
        <p:spPr>
          <a:xfrm>
            <a:off x="1382831" y="4551141"/>
            <a:ext cx="71403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Пайыздык чен толук кредиттин суммасына </a:t>
            </a:r>
            <a:r>
              <a:rPr lang="ru-RU" sz="2000" u="sng" dirty="0"/>
              <a:t>бир</a:t>
            </a:r>
            <a:r>
              <a:rPr lang="ru-RU" sz="2000" dirty="0"/>
              <a:t> жолу эсептелет.</a:t>
            </a:r>
            <a:endParaRPr lang="en-GB" sz="2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78136C5-F701-4852-8962-C41088116E39}"/>
              </a:ext>
            </a:extLst>
          </p:cNvPr>
          <p:cNvSpPr txBox="1"/>
          <p:nvPr/>
        </p:nvSpPr>
        <p:spPr>
          <a:xfrm>
            <a:off x="4073751" y="5458768"/>
            <a:ext cx="41294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000" dirty="0"/>
              <a:t>Пайыз </a:t>
            </a:r>
            <a:r>
              <a:rPr lang="en-GB" sz="2000" dirty="0"/>
              <a:t> = 10 668</a:t>
            </a:r>
            <a:r>
              <a:rPr lang="ky-KG" sz="2000" dirty="0"/>
              <a:t> </a:t>
            </a:r>
            <a:r>
              <a:rPr lang="en-GB" sz="2000" dirty="0"/>
              <a:t> – </a:t>
            </a:r>
            <a:r>
              <a:rPr lang="ky-KG" sz="2000" dirty="0"/>
              <a:t>9430</a:t>
            </a:r>
            <a:r>
              <a:rPr lang="en-GB" sz="2000" dirty="0"/>
              <a:t> = </a:t>
            </a:r>
            <a:r>
              <a:rPr lang="ky-KG" sz="2000" dirty="0"/>
              <a:t>1 238  сом</a:t>
            </a:r>
            <a:endParaRPr lang="en-GB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F513564-F6A9-40AF-842B-0E324EFBF486}"/>
                  </a:ext>
                </a:extLst>
              </p:cNvPr>
              <p:cNvSpPr txBox="1"/>
              <p:nvPr/>
            </p:nvSpPr>
            <p:spPr>
              <a:xfrm>
                <a:off x="3138547" y="5971792"/>
                <a:ext cx="4116640" cy="76937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GB" sz="28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ky-KG" sz="2800" dirty="0"/>
                          <m:t>1,238</m:t>
                        </m:r>
                      </m:num>
                      <m:den>
                        <m:r>
                          <m:rPr>
                            <m:nor/>
                          </m:rPr>
                          <a:rPr lang="ky-KG" sz="2800" dirty="0"/>
                          <m:t>9430</m:t>
                        </m:r>
                      </m:den>
                    </m:f>
                    <m:r>
                      <a:rPr lang="en-GB" sz="2800" b="0" i="1" dirty="0" smtClean="0">
                        <a:latin typeface="Cambria Math" panose="02040503050406030204" pitchFamily="18" charset="0"/>
                      </a:rPr>
                      <m:t>=13%</m:t>
                    </m:r>
                  </m:oMath>
                </a14:m>
                <a:r>
                  <a:rPr lang="en-GB" sz="2400" dirty="0"/>
                  <a:t> </a:t>
                </a:r>
                <a:r>
                  <a:rPr lang="ky-KG" sz="2400" dirty="0"/>
                  <a:t>пайыздык чен</a:t>
                </a:r>
                <a:endParaRPr lang="en-GB" sz="2400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F513564-F6A9-40AF-842B-0E324EFBF4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8547" y="5971792"/>
                <a:ext cx="4116640" cy="769378"/>
              </a:xfrm>
              <a:prstGeom prst="rect">
                <a:avLst/>
              </a:prstGeom>
              <a:blipFill>
                <a:blip r:embed="rId2"/>
                <a:stretch>
                  <a:fillRect r="-1778" b="-39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Picture 21">
            <a:extLst>
              <a:ext uri="{FF2B5EF4-FFF2-40B4-BE49-F238E27FC236}">
                <a16:creationId xmlns:a16="http://schemas.microsoft.com/office/drawing/2014/main" id="{D5011C21-E082-4EA1-8F41-010A964EEE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515" y="501015"/>
            <a:ext cx="1713340" cy="3593465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93B03C5B-E041-4C8F-B6B0-94E459A317BE}"/>
              </a:ext>
            </a:extLst>
          </p:cNvPr>
          <p:cNvSpPr txBox="1"/>
          <p:nvPr/>
        </p:nvSpPr>
        <p:spPr>
          <a:xfrm>
            <a:off x="3460286" y="5004954"/>
            <a:ext cx="38304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000" dirty="0"/>
              <a:t>Жалпы төлөм </a:t>
            </a:r>
            <a:r>
              <a:rPr lang="en-GB" sz="2000" dirty="0"/>
              <a:t> = 12 × 8</a:t>
            </a:r>
            <a:r>
              <a:rPr lang="ky-KG" sz="2000" dirty="0"/>
              <a:t>89</a:t>
            </a:r>
            <a:r>
              <a:rPr lang="en-GB" sz="2000" dirty="0"/>
              <a:t> = 10 668</a:t>
            </a:r>
          </a:p>
        </p:txBody>
      </p:sp>
    </p:spTree>
    <p:extLst>
      <p:ext uri="{BB962C8B-B14F-4D97-AF65-F5344CB8AC3E}">
        <p14:creationId xmlns:p14="http://schemas.microsoft.com/office/powerpoint/2010/main" val="1945140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9" grpId="0"/>
      <p:bldP spid="2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0DFEAFE-3632-4625-A3C4-181823260B77}"/>
              </a:ext>
            </a:extLst>
          </p:cNvPr>
          <p:cNvSpPr/>
          <p:nvPr/>
        </p:nvSpPr>
        <p:spPr>
          <a:xfrm>
            <a:off x="2661486" y="375920"/>
            <a:ext cx="6380914" cy="9144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  <a:tailEnd type="none"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146FBF-539A-4A98-91AD-DDB05BC50E86}"/>
              </a:ext>
            </a:extLst>
          </p:cNvPr>
          <p:cNvSpPr/>
          <p:nvPr/>
        </p:nvSpPr>
        <p:spPr>
          <a:xfrm>
            <a:off x="2661486" y="1503680"/>
            <a:ext cx="6380914" cy="130048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  <a:tailEnd type="none"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A5E6CF5-FE75-4E01-84C3-544493517E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476" y="469900"/>
            <a:ext cx="1819970" cy="362458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A534451-EFD4-44A7-BC6E-2AC93C7D9D64}"/>
              </a:ext>
            </a:extLst>
          </p:cNvPr>
          <p:cNvSpPr txBox="1"/>
          <p:nvPr/>
        </p:nvSpPr>
        <p:spPr>
          <a:xfrm>
            <a:off x="3230112" y="602288"/>
            <a:ext cx="16898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Азыр төлөө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FBE8D5-9E28-4E5F-8834-F2196E50D8C7}"/>
              </a:ext>
            </a:extLst>
          </p:cNvPr>
          <p:cNvSpPr txBox="1"/>
          <p:nvPr/>
        </p:nvSpPr>
        <p:spPr>
          <a:xfrm>
            <a:off x="5602034" y="598438"/>
            <a:ext cx="1531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3550</a:t>
            </a:r>
            <a:r>
              <a:rPr lang="ky-KG" sz="2400" dirty="0"/>
              <a:t>0 сом</a:t>
            </a:r>
            <a:endParaRPr lang="en-GB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B8CC03-5265-4B53-91FD-1283F034B14C}"/>
              </a:ext>
            </a:extLst>
          </p:cNvPr>
          <p:cNvSpPr txBox="1"/>
          <p:nvPr/>
        </p:nvSpPr>
        <p:spPr>
          <a:xfrm>
            <a:off x="2677076" y="1860045"/>
            <a:ext cx="22429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y-KG" sz="2400" dirty="0"/>
              <a:t>Ай сайын төлөө</a:t>
            </a:r>
            <a:endParaRPr lang="en-GB" sz="2400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C7E6D38-3BF4-46E1-B3DF-6DE2E8981039}"/>
              </a:ext>
            </a:extLst>
          </p:cNvPr>
          <p:cNvGrpSpPr/>
          <p:nvPr/>
        </p:nvGrpSpPr>
        <p:grpSpPr>
          <a:xfrm>
            <a:off x="4855183" y="1585576"/>
            <a:ext cx="4221027" cy="1048097"/>
            <a:chOff x="4855183" y="1804151"/>
            <a:chExt cx="4221027" cy="1048097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0E913C6-8711-4D63-9E8B-3BC9799E896B}"/>
                </a:ext>
              </a:extLst>
            </p:cNvPr>
            <p:cNvSpPr txBox="1"/>
            <p:nvPr/>
          </p:nvSpPr>
          <p:spPr>
            <a:xfrm>
              <a:off x="4855183" y="1804151"/>
              <a:ext cx="422102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400" dirty="0"/>
                <a:t>2219</a:t>
              </a:r>
              <a:r>
                <a:rPr lang="ky-KG" sz="2400" dirty="0"/>
                <a:t> сом бүгүн</a:t>
              </a:r>
              <a:r>
                <a:rPr lang="en-GB" sz="2400" dirty="0"/>
                <a:t> + 1664</a:t>
              </a:r>
              <a:r>
                <a:rPr lang="ky-KG" sz="2400" dirty="0"/>
                <a:t> с</a:t>
              </a:r>
              <a:r>
                <a:rPr lang="en-GB" sz="2400" dirty="0"/>
                <a:t>/</a:t>
              </a:r>
              <a:r>
                <a:rPr lang="ky-KG" sz="2400" dirty="0"/>
                <a:t>айына</a:t>
              </a:r>
              <a:endParaRPr lang="en-GB" sz="2400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B15857D-72C9-4BBF-903C-48883A891F6D}"/>
                </a:ext>
              </a:extLst>
            </p:cNvPr>
            <p:cNvSpPr txBox="1"/>
            <p:nvPr/>
          </p:nvSpPr>
          <p:spPr>
            <a:xfrm>
              <a:off x="5684750" y="2390583"/>
              <a:ext cx="289694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2400" dirty="0"/>
                <a:t>(24 айлык мөөнөттө)</a:t>
              </a:r>
              <a:endParaRPr lang="en-GB" sz="2400" dirty="0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BD5E4717-F675-4F0A-9701-AC3E25E1E661}"/>
              </a:ext>
            </a:extLst>
          </p:cNvPr>
          <p:cNvSpPr txBox="1"/>
          <p:nvPr/>
        </p:nvSpPr>
        <p:spPr>
          <a:xfrm>
            <a:off x="591226" y="84128"/>
            <a:ext cx="15343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>
                <a:latin typeface="Berlin Sans FB Demi" panose="020E0802020502020306" pitchFamily="34" charset="0"/>
              </a:rPr>
              <a:t>LUNER S4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7FC23E6-0C78-4C12-A81E-0B5C5CF7A61D}"/>
              </a:ext>
            </a:extLst>
          </p:cNvPr>
          <p:cNvSpPr txBox="1"/>
          <p:nvPr/>
        </p:nvSpPr>
        <p:spPr>
          <a:xfrm>
            <a:off x="4386254" y="2953475"/>
            <a:ext cx="327903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Кайсы вариант арзаныраак?</a:t>
            </a:r>
          </a:p>
          <a:p>
            <a:pPr algn="ctr"/>
            <a:endParaRPr lang="ru-RU" sz="2000" dirty="0"/>
          </a:p>
          <a:p>
            <a:pPr algn="ctr"/>
            <a:r>
              <a:rPr lang="ru-RU" sz="2000" dirty="0"/>
              <a:t>Дүкөн канча пайыз кошкон?</a:t>
            </a:r>
            <a:endParaRPr lang="en-GB" sz="2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18D7232-2B3C-492A-BCD0-A96A2A475FB4}"/>
              </a:ext>
            </a:extLst>
          </p:cNvPr>
          <p:cNvSpPr txBox="1"/>
          <p:nvPr/>
        </p:nvSpPr>
        <p:spPr>
          <a:xfrm>
            <a:off x="2945080" y="4097328"/>
            <a:ext cx="40158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Насыя</a:t>
            </a:r>
            <a:r>
              <a:rPr lang="en-GB" sz="2000" dirty="0"/>
              <a:t> = 3550</a:t>
            </a:r>
            <a:r>
              <a:rPr lang="ky-KG" sz="2000" dirty="0"/>
              <a:t>0 </a:t>
            </a:r>
            <a:r>
              <a:rPr lang="en-GB" sz="2000" dirty="0"/>
              <a:t> – 2219 =</a:t>
            </a:r>
            <a:r>
              <a:rPr lang="ky-KG" sz="2000" dirty="0"/>
              <a:t> 33 281 сом</a:t>
            </a:r>
            <a:endParaRPr lang="en-GB" sz="20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E7F9759-0CB8-41EA-AE7A-58C3933377FB}"/>
              </a:ext>
            </a:extLst>
          </p:cNvPr>
          <p:cNvSpPr txBox="1"/>
          <p:nvPr/>
        </p:nvSpPr>
        <p:spPr>
          <a:xfrm>
            <a:off x="1382831" y="4551141"/>
            <a:ext cx="71403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Пайыздык чен толук кредиттин суммасына </a:t>
            </a:r>
            <a:r>
              <a:rPr lang="ru-RU" sz="2000" u="sng" dirty="0"/>
              <a:t>бир</a:t>
            </a:r>
            <a:r>
              <a:rPr lang="ru-RU" sz="2000" dirty="0"/>
              <a:t> жолу эсептелет.</a:t>
            </a:r>
            <a:endParaRPr lang="en-GB" sz="20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3494CF0-E222-4BAF-BE9A-68013611E662}"/>
              </a:ext>
            </a:extLst>
          </p:cNvPr>
          <p:cNvSpPr txBox="1"/>
          <p:nvPr/>
        </p:nvSpPr>
        <p:spPr>
          <a:xfrm>
            <a:off x="4073751" y="5458768"/>
            <a:ext cx="38489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000" dirty="0"/>
              <a:t>Пайыз</a:t>
            </a:r>
            <a:r>
              <a:rPr lang="en-GB" sz="2000" dirty="0"/>
              <a:t> = </a:t>
            </a:r>
            <a:r>
              <a:rPr lang="ky-KG" sz="2000" dirty="0"/>
              <a:t>39 936 </a:t>
            </a:r>
            <a:r>
              <a:rPr lang="en-GB" sz="2000" dirty="0"/>
              <a:t> – </a:t>
            </a:r>
            <a:r>
              <a:rPr lang="ky-KG" sz="2000" dirty="0"/>
              <a:t>33 281 </a:t>
            </a:r>
            <a:r>
              <a:rPr lang="en-GB" sz="2000" dirty="0"/>
              <a:t> = 6 655</a:t>
            </a:r>
            <a:r>
              <a:rPr lang="ky-KG" sz="2000" dirty="0"/>
              <a:t> </a:t>
            </a:r>
            <a:endParaRPr lang="en-GB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BCAF6E8-2560-47F1-8258-03FAEA6F5F16}"/>
                  </a:ext>
                </a:extLst>
              </p:cNvPr>
              <p:cNvSpPr txBox="1"/>
              <p:nvPr/>
            </p:nvSpPr>
            <p:spPr>
              <a:xfrm>
                <a:off x="3047176" y="5971792"/>
                <a:ext cx="4299382" cy="8166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GB" sz="28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GB" sz="2800" dirty="0"/>
                          <m:t>6,655</m:t>
                        </m:r>
                      </m:num>
                      <m:den>
                        <m:r>
                          <m:rPr>
                            <m:nor/>
                          </m:rPr>
                          <a:rPr lang="ky-KG" sz="2800" dirty="0"/>
                          <m:t>33,281</m:t>
                        </m:r>
                      </m:den>
                    </m:f>
                    <m:r>
                      <a:rPr lang="en-GB" sz="2800" b="0" i="1" dirty="0" smtClean="0">
                        <a:latin typeface="Cambria Math" panose="02040503050406030204" pitchFamily="18" charset="0"/>
                      </a:rPr>
                      <m:t>=20%</m:t>
                    </m:r>
                  </m:oMath>
                </a14:m>
                <a:r>
                  <a:rPr lang="en-GB" sz="2400" dirty="0"/>
                  <a:t> </a:t>
                </a:r>
                <a:r>
                  <a:rPr lang="ky-KG" sz="2400" dirty="0"/>
                  <a:t>пайыздык чен</a:t>
                </a:r>
                <a:endParaRPr lang="en-GB" sz="2400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BCAF6E8-2560-47F1-8258-03FAEA6F5F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7176" y="5971792"/>
                <a:ext cx="4299382" cy="816698"/>
              </a:xfrm>
              <a:prstGeom prst="rect">
                <a:avLst/>
              </a:prstGeom>
              <a:blipFill>
                <a:blip r:embed="rId3"/>
                <a:stretch>
                  <a:fillRect r="-15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ACC2E5AF-F828-4B29-8E41-02836826590E}"/>
              </a:ext>
            </a:extLst>
          </p:cNvPr>
          <p:cNvSpPr txBox="1"/>
          <p:nvPr/>
        </p:nvSpPr>
        <p:spPr>
          <a:xfrm>
            <a:off x="3460286" y="5004954"/>
            <a:ext cx="39603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000" dirty="0"/>
              <a:t>Жалпы төлөм </a:t>
            </a:r>
            <a:r>
              <a:rPr lang="en-GB" sz="2000" dirty="0"/>
              <a:t>= 24 × 1664</a:t>
            </a:r>
            <a:r>
              <a:rPr lang="ky-KG" sz="2000" dirty="0"/>
              <a:t> </a:t>
            </a:r>
            <a:r>
              <a:rPr lang="en-GB" sz="2000" dirty="0"/>
              <a:t> =</a:t>
            </a:r>
            <a:r>
              <a:rPr lang="ky-KG" sz="2000" dirty="0"/>
              <a:t> 39 936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463413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3" grpId="0"/>
      <p:bldP spid="24" grpId="0"/>
      <p:bldP spid="2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0DFEAFE-3632-4625-A3C4-181823260B77}"/>
              </a:ext>
            </a:extLst>
          </p:cNvPr>
          <p:cNvSpPr/>
          <p:nvPr/>
        </p:nvSpPr>
        <p:spPr>
          <a:xfrm>
            <a:off x="2587933" y="375920"/>
            <a:ext cx="6777855" cy="9144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  <a:tailEnd type="none"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146FBF-539A-4A98-91AD-DDB05BC50E86}"/>
              </a:ext>
            </a:extLst>
          </p:cNvPr>
          <p:cNvSpPr/>
          <p:nvPr/>
        </p:nvSpPr>
        <p:spPr>
          <a:xfrm>
            <a:off x="2570479" y="1503680"/>
            <a:ext cx="6795309" cy="130048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  <a:tailEnd type="none"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534451-EFD4-44A7-BC6E-2AC93C7D9D64}"/>
              </a:ext>
            </a:extLst>
          </p:cNvPr>
          <p:cNvSpPr txBox="1"/>
          <p:nvPr/>
        </p:nvSpPr>
        <p:spPr>
          <a:xfrm>
            <a:off x="3230112" y="602288"/>
            <a:ext cx="16898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Азыр төлөө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FBE8D5-9E28-4E5F-8834-F2196E50D8C7}"/>
              </a:ext>
            </a:extLst>
          </p:cNvPr>
          <p:cNvSpPr txBox="1"/>
          <p:nvPr/>
        </p:nvSpPr>
        <p:spPr>
          <a:xfrm>
            <a:off x="5225714" y="602288"/>
            <a:ext cx="16001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95</a:t>
            </a:r>
            <a:r>
              <a:rPr lang="ky-KG" sz="2400" dirty="0"/>
              <a:t>500 сом </a:t>
            </a:r>
            <a:endParaRPr lang="en-GB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B8CC03-5265-4B53-91FD-1283F034B14C}"/>
              </a:ext>
            </a:extLst>
          </p:cNvPr>
          <p:cNvSpPr txBox="1"/>
          <p:nvPr/>
        </p:nvSpPr>
        <p:spPr>
          <a:xfrm>
            <a:off x="2587934" y="1944023"/>
            <a:ext cx="22429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Ай сайын төлөө</a:t>
            </a:r>
            <a:endParaRPr lang="en-GB" sz="2400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C7E6D38-3BF4-46E1-B3DF-6DE2E8981039}"/>
              </a:ext>
            </a:extLst>
          </p:cNvPr>
          <p:cNvGrpSpPr/>
          <p:nvPr/>
        </p:nvGrpSpPr>
        <p:grpSpPr>
          <a:xfrm>
            <a:off x="4768634" y="1674168"/>
            <a:ext cx="4729180" cy="959505"/>
            <a:chOff x="4768634" y="1892743"/>
            <a:chExt cx="4729180" cy="959505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0E913C6-8711-4D63-9E8B-3BC9799E896B}"/>
                </a:ext>
              </a:extLst>
            </p:cNvPr>
            <p:cNvSpPr txBox="1"/>
            <p:nvPr/>
          </p:nvSpPr>
          <p:spPr>
            <a:xfrm>
              <a:off x="4768634" y="1892743"/>
              <a:ext cx="472918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400" dirty="0"/>
                <a:t>55</a:t>
              </a:r>
              <a:r>
                <a:rPr lang="ky-KG" sz="2400" dirty="0"/>
                <a:t>50 сом бүгүн</a:t>
              </a:r>
              <a:r>
                <a:rPr lang="en-GB" sz="2400" dirty="0"/>
                <a:t> + 277</a:t>
              </a:r>
              <a:r>
                <a:rPr lang="ky-KG" sz="2400" dirty="0"/>
                <a:t>5 сом </a:t>
              </a:r>
              <a:r>
                <a:rPr lang="en-GB" sz="2400" dirty="0"/>
                <a:t>/</a:t>
              </a:r>
              <a:r>
                <a:rPr lang="ky-KG" sz="2400" dirty="0"/>
                <a:t>айына</a:t>
              </a:r>
              <a:endParaRPr lang="en-GB" sz="2400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B15857D-72C9-4BBF-903C-48883A891F6D}"/>
                </a:ext>
              </a:extLst>
            </p:cNvPr>
            <p:cNvSpPr txBox="1"/>
            <p:nvPr/>
          </p:nvSpPr>
          <p:spPr>
            <a:xfrm>
              <a:off x="5684750" y="2390583"/>
              <a:ext cx="289694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2400" dirty="0"/>
                <a:t>(24 айлык мөөнөттө)</a:t>
              </a:r>
              <a:endParaRPr lang="en-GB" sz="2400" dirty="0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BD5E4717-F675-4F0A-9701-AC3E25E1E661}"/>
              </a:ext>
            </a:extLst>
          </p:cNvPr>
          <p:cNvSpPr txBox="1"/>
          <p:nvPr/>
        </p:nvSpPr>
        <p:spPr>
          <a:xfrm>
            <a:off x="643370" y="84128"/>
            <a:ext cx="15520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>
                <a:latin typeface="Berlin Sans FB Demi" panose="020E0802020502020306" pitchFamily="34" charset="0"/>
              </a:rPr>
              <a:t>X-Tend S4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248CC65-B34B-4236-A501-F27876BFBD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211" y="479713"/>
            <a:ext cx="1697055" cy="3650015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C904596D-8579-43B1-94C4-E0A14427D4D5}"/>
              </a:ext>
            </a:extLst>
          </p:cNvPr>
          <p:cNvSpPr txBox="1"/>
          <p:nvPr/>
        </p:nvSpPr>
        <p:spPr>
          <a:xfrm>
            <a:off x="4386254" y="2953475"/>
            <a:ext cx="327903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Кайсы вариант арзаныраак?</a:t>
            </a:r>
          </a:p>
          <a:p>
            <a:pPr algn="ctr"/>
            <a:endParaRPr lang="ru-RU" sz="2000" dirty="0"/>
          </a:p>
          <a:p>
            <a:pPr algn="ctr"/>
            <a:r>
              <a:rPr lang="ru-RU" sz="2000" dirty="0"/>
              <a:t>Дүкөн канча пайыз кошкон?</a:t>
            </a:r>
            <a:endParaRPr lang="en-GB" sz="20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442048F-E9F6-4B49-9711-9304F938E2F8}"/>
              </a:ext>
            </a:extLst>
          </p:cNvPr>
          <p:cNvSpPr txBox="1"/>
          <p:nvPr/>
        </p:nvSpPr>
        <p:spPr>
          <a:xfrm>
            <a:off x="3095761" y="4097328"/>
            <a:ext cx="37144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Насыя</a:t>
            </a:r>
            <a:r>
              <a:rPr lang="en-GB" sz="2000" dirty="0"/>
              <a:t> = 95</a:t>
            </a:r>
            <a:r>
              <a:rPr lang="ky-KG" sz="2000" dirty="0"/>
              <a:t>500 </a:t>
            </a:r>
            <a:r>
              <a:rPr lang="en-GB" sz="2000" dirty="0"/>
              <a:t> – 55</a:t>
            </a:r>
            <a:r>
              <a:rPr lang="ky-KG" sz="2000" dirty="0"/>
              <a:t>50 </a:t>
            </a:r>
            <a:r>
              <a:rPr lang="en-GB" sz="2000" dirty="0"/>
              <a:t> = 89 950 </a:t>
            </a:r>
            <a:r>
              <a:rPr lang="ky-KG" sz="2000" dirty="0"/>
              <a:t> </a:t>
            </a:r>
            <a:endParaRPr lang="en-GB" sz="20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469073A-4407-4F3F-BDBB-0D21D7DAA3A4}"/>
              </a:ext>
            </a:extLst>
          </p:cNvPr>
          <p:cNvSpPr txBox="1"/>
          <p:nvPr/>
        </p:nvSpPr>
        <p:spPr>
          <a:xfrm>
            <a:off x="1382831" y="4551141"/>
            <a:ext cx="71403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Пайыздык чен толук кредиттин суммасына </a:t>
            </a:r>
            <a:r>
              <a:rPr lang="ru-RU" sz="2000" u="sng" dirty="0"/>
              <a:t>бир</a:t>
            </a:r>
            <a:r>
              <a:rPr lang="ru-RU" sz="2000" dirty="0"/>
              <a:t> жолу эсептелет.</a:t>
            </a:r>
            <a:endParaRPr lang="en-GB" sz="2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24EDB39-7521-4292-888F-EA476D1F6000}"/>
              </a:ext>
            </a:extLst>
          </p:cNvPr>
          <p:cNvSpPr txBox="1"/>
          <p:nvPr/>
        </p:nvSpPr>
        <p:spPr>
          <a:xfrm>
            <a:off x="4073751" y="5458768"/>
            <a:ext cx="3741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000" dirty="0"/>
              <a:t>Пайыз</a:t>
            </a:r>
            <a:r>
              <a:rPr lang="en-GB" sz="2000" dirty="0"/>
              <a:t> = 99 900 – 89 950</a:t>
            </a:r>
            <a:r>
              <a:rPr lang="ky-KG" sz="2000" dirty="0"/>
              <a:t> </a:t>
            </a:r>
            <a:r>
              <a:rPr lang="en-GB" sz="2000" dirty="0"/>
              <a:t>= 9 950 </a:t>
            </a:r>
            <a:r>
              <a:rPr lang="ky-KG" sz="2000" dirty="0"/>
              <a:t> </a:t>
            </a:r>
            <a:endParaRPr lang="en-GB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451FC24-E19A-4479-8057-8721AAC0B549}"/>
                  </a:ext>
                </a:extLst>
              </p:cNvPr>
              <p:cNvSpPr txBox="1"/>
              <p:nvPr/>
            </p:nvSpPr>
            <p:spPr>
              <a:xfrm>
                <a:off x="3047179" y="5971792"/>
                <a:ext cx="4299382" cy="7585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GB" sz="28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800" i="1" dirty="0">
                            <a:latin typeface="Cambria Math" panose="02040503050406030204" pitchFamily="18" charset="0"/>
                          </a:rPr>
                          <m:t>9,950</m:t>
                        </m:r>
                      </m:num>
                      <m:den>
                        <m:r>
                          <m:rPr>
                            <m:nor/>
                          </m:rPr>
                          <a:rPr lang="en-GB" sz="2800" dirty="0"/>
                          <m:t>89,950</m:t>
                        </m:r>
                      </m:den>
                    </m:f>
                    <m:r>
                      <a:rPr lang="en-GB" sz="2800" b="0" i="1" dirty="0" smtClean="0">
                        <a:latin typeface="Cambria Math" panose="02040503050406030204" pitchFamily="18" charset="0"/>
                      </a:rPr>
                      <m:t>=11%</m:t>
                    </m:r>
                  </m:oMath>
                </a14:m>
                <a:r>
                  <a:rPr lang="en-GB" sz="2400" dirty="0"/>
                  <a:t> </a:t>
                </a:r>
                <a:r>
                  <a:rPr lang="ky-KG" sz="2400" dirty="0"/>
                  <a:t>пайыздык чен</a:t>
                </a:r>
                <a:endParaRPr lang="en-GB" sz="2400" dirty="0"/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451FC24-E19A-4479-8057-8721AAC0B5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7179" y="5971792"/>
                <a:ext cx="4299382" cy="758541"/>
              </a:xfrm>
              <a:prstGeom prst="rect">
                <a:avLst/>
              </a:prstGeom>
              <a:blipFill>
                <a:blip r:embed="rId3"/>
                <a:stretch>
                  <a:fillRect r="-15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57DD44E9-A609-4867-BAAE-1366F6E0D6AE}"/>
              </a:ext>
            </a:extLst>
          </p:cNvPr>
          <p:cNvSpPr txBox="1"/>
          <p:nvPr/>
        </p:nvSpPr>
        <p:spPr>
          <a:xfrm>
            <a:off x="3460286" y="5004954"/>
            <a:ext cx="41315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000" dirty="0"/>
              <a:t>Жалпы төлөм </a:t>
            </a:r>
            <a:r>
              <a:rPr lang="en-GB" sz="2000" dirty="0"/>
              <a:t>= 36 × 277</a:t>
            </a:r>
            <a:r>
              <a:rPr lang="ky-KG" sz="2000" dirty="0"/>
              <a:t>5 </a:t>
            </a:r>
            <a:r>
              <a:rPr lang="en-GB" sz="2000" dirty="0"/>
              <a:t> = 99 900 </a:t>
            </a:r>
            <a:r>
              <a:rPr lang="ky-KG" sz="2000" dirty="0"/>
              <a:t> 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692027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28" grpId="0"/>
      <p:bldP spid="29" grpId="0"/>
      <p:bldP spid="3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52">
            <a:extLst>
              <a:ext uri="{FF2B5EF4-FFF2-40B4-BE49-F238E27FC236}">
                <a16:creationId xmlns:a16="http://schemas.microsoft.com/office/drawing/2014/main" id="{827B8B27-51A9-4987-8218-0FF338CFAE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5884" y="673100"/>
            <a:ext cx="1276350" cy="247650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FB55D484-0600-469B-9D34-C720DD06D7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387" y="558800"/>
            <a:ext cx="1266825" cy="2590800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E0C3F08-BB0A-42EE-8753-A840B062D573}"/>
              </a:ext>
            </a:extLst>
          </p:cNvPr>
          <p:cNvCxnSpPr>
            <a:cxnSpLocks/>
          </p:cNvCxnSpPr>
          <p:nvPr/>
        </p:nvCxnSpPr>
        <p:spPr>
          <a:xfrm>
            <a:off x="4950940" y="721360"/>
            <a:ext cx="0" cy="597408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E50EF73-2688-40FF-9D13-613E34F454A7}"/>
              </a:ext>
            </a:extLst>
          </p:cNvPr>
          <p:cNvCxnSpPr>
            <a:cxnSpLocks/>
          </p:cNvCxnSpPr>
          <p:nvPr/>
        </p:nvCxnSpPr>
        <p:spPr>
          <a:xfrm flipH="1">
            <a:off x="439745" y="3799840"/>
            <a:ext cx="9394980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49B2B49-DB30-45BA-9091-55632EB8D3FD}"/>
              </a:ext>
            </a:extLst>
          </p:cNvPr>
          <p:cNvSpPr txBox="1"/>
          <p:nvPr/>
        </p:nvSpPr>
        <p:spPr>
          <a:xfrm>
            <a:off x="20320" y="741680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/>
              <a:t>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075CC9-D4C0-492F-973A-BDEBA93C4D3E}"/>
              </a:ext>
            </a:extLst>
          </p:cNvPr>
          <p:cNvSpPr txBox="1"/>
          <p:nvPr/>
        </p:nvSpPr>
        <p:spPr>
          <a:xfrm>
            <a:off x="4947920" y="741680"/>
            <a:ext cx="3577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/>
              <a:t>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5E80DE-B15B-4656-BE66-0F47CF0E0FED}"/>
              </a:ext>
            </a:extLst>
          </p:cNvPr>
          <p:cNvSpPr txBox="1"/>
          <p:nvPr/>
        </p:nvSpPr>
        <p:spPr>
          <a:xfrm>
            <a:off x="20320" y="3799840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/>
              <a:t>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80A8F5-1EF5-4F50-9F24-DA209FDCCE59}"/>
              </a:ext>
            </a:extLst>
          </p:cNvPr>
          <p:cNvSpPr txBox="1"/>
          <p:nvPr/>
        </p:nvSpPr>
        <p:spPr>
          <a:xfrm>
            <a:off x="4947920" y="3799840"/>
            <a:ext cx="3786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/>
              <a:t>D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0025C99-4B3B-47B1-9937-21DF8EAE7EF9}"/>
              </a:ext>
            </a:extLst>
          </p:cNvPr>
          <p:cNvSpPr/>
          <p:nvPr/>
        </p:nvSpPr>
        <p:spPr>
          <a:xfrm>
            <a:off x="2011680" y="1493520"/>
            <a:ext cx="2763520" cy="67056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  <a:tailEnd type="none"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FD05C86-97CE-48C6-9836-74BA7D17E44E}"/>
              </a:ext>
            </a:extLst>
          </p:cNvPr>
          <p:cNvSpPr/>
          <p:nvPr/>
        </p:nvSpPr>
        <p:spPr>
          <a:xfrm>
            <a:off x="121920" y="2338154"/>
            <a:ext cx="4653280" cy="95368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  <a:tailEnd type="none"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35F3209-DC3C-4AF3-AB03-AD4939A1B2D5}"/>
              </a:ext>
            </a:extLst>
          </p:cNvPr>
          <p:cNvSpPr txBox="1"/>
          <p:nvPr/>
        </p:nvSpPr>
        <p:spPr>
          <a:xfrm>
            <a:off x="2074185" y="1608128"/>
            <a:ext cx="14414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Азыр төлөө</a:t>
            </a:r>
            <a:endParaRPr lang="en-GB" sz="2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DF3198C-CC6D-4E37-8318-2BE6313F6783}"/>
              </a:ext>
            </a:extLst>
          </p:cNvPr>
          <p:cNvSpPr txBox="1"/>
          <p:nvPr/>
        </p:nvSpPr>
        <p:spPr>
          <a:xfrm>
            <a:off x="3453254" y="1618288"/>
            <a:ext cx="13083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1220</a:t>
            </a:r>
            <a:r>
              <a:rPr lang="ky-KG" sz="2000" dirty="0"/>
              <a:t>0 сом</a:t>
            </a:r>
            <a:endParaRPr lang="en-GB" sz="20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BE7A5DB-7E40-461C-BC4C-E008CC086F3C}"/>
              </a:ext>
            </a:extLst>
          </p:cNvPr>
          <p:cNvSpPr txBox="1"/>
          <p:nvPr/>
        </p:nvSpPr>
        <p:spPr>
          <a:xfrm>
            <a:off x="83809" y="2451874"/>
            <a:ext cx="120898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Ай сайын</a:t>
            </a:r>
          </a:p>
          <a:p>
            <a:pPr algn="ctr"/>
            <a:r>
              <a:rPr lang="ky-KG" sz="2000" dirty="0"/>
              <a:t> төлөө</a:t>
            </a:r>
            <a:endParaRPr lang="en-GB" sz="2000" dirty="0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5AE5C396-6FF3-4893-A8B3-6D06226F1278}"/>
              </a:ext>
            </a:extLst>
          </p:cNvPr>
          <p:cNvGrpSpPr/>
          <p:nvPr/>
        </p:nvGrpSpPr>
        <p:grpSpPr>
          <a:xfrm>
            <a:off x="1419454" y="2395315"/>
            <a:ext cx="3403497" cy="827043"/>
            <a:chOff x="5320894" y="1963650"/>
            <a:chExt cx="3403497" cy="827043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93E1BB07-63BA-40F0-90B3-770D02EE3104}"/>
                </a:ext>
              </a:extLst>
            </p:cNvPr>
            <p:cNvSpPr txBox="1"/>
            <p:nvPr/>
          </p:nvSpPr>
          <p:spPr>
            <a:xfrm>
              <a:off x="5320894" y="1963650"/>
              <a:ext cx="340349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2000" dirty="0"/>
                <a:t>Бүгүн 2220 сом + айына 1050 </a:t>
              </a:r>
              <a:endParaRPr lang="en-GB" sz="2000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0A0688F2-21FB-44C4-9321-141D429F4B43}"/>
                </a:ext>
              </a:extLst>
            </p:cNvPr>
            <p:cNvSpPr txBox="1"/>
            <p:nvPr/>
          </p:nvSpPr>
          <p:spPr>
            <a:xfrm>
              <a:off x="5909170" y="2390583"/>
              <a:ext cx="24481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2000" dirty="0"/>
                <a:t>(12 айлык мөөнөттө)</a:t>
              </a:r>
              <a:endParaRPr lang="en-GB" sz="2000" dirty="0"/>
            </a:p>
          </p:txBody>
        </p:sp>
      </p:grpSp>
      <p:sp>
        <p:nvSpPr>
          <p:cNvPr id="44" name="Rectangle 43">
            <a:extLst>
              <a:ext uri="{FF2B5EF4-FFF2-40B4-BE49-F238E27FC236}">
                <a16:creationId xmlns:a16="http://schemas.microsoft.com/office/drawing/2014/main" id="{0179970E-2776-496C-BE35-346F18FE9A59}"/>
              </a:ext>
            </a:extLst>
          </p:cNvPr>
          <p:cNvSpPr/>
          <p:nvPr/>
        </p:nvSpPr>
        <p:spPr>
          <a:xfrm>
            <a:off x="6959600" y="1493520"/>
            <a:ext cx="2763520" cy="67056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  <a:tailEnd type="none"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3D90563-904F-41FE-9532-D3A34322BC44}"/>
              </a:ext>
            </a:extLst>
          </p:cNvPr>
          <p:cNvSpPr/>
          <p:nvPr/>
        </p:nvSpPr>
        <p:spPr>
          <a:xfrm>
            <a:off x="5069840" y="2338154"/>
            <a:ext cx="4653280" cy="95368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  <a:tailEnd type="none"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FD429E6-4464-4F91-8CAB-5C34FA670D7B}"/>
              </a:ext>
            </a:extLst>
          </p:cNvPr>
          <p:cNvSpPr txBox="1"/>
          <p:nvPr/>
        </p:nvSpPr>
        <p:spPr>
          <a:xfrm>
            <a:off x="7022105" y="1608128"/>
            <a:ext cx="14414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Азыр төлөө</a:t>
            </a:r>
            <a:endParaRPr lang="en-GB" sz="20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7C5D450-7A6D-49C0-8579-AB75A3043148}"/>
              </a:ext>
            </a:extLst>
          </p:cNvPr>
          <p:cNvSpPr txBox="1"/>
          <p:nvPr/>
        </p:nvSpPr>
        <p:spPr>
          <a:xfrm>
            <a:off x="8458763" y="1608128"/>
            <a:ext cx="13083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64356</a:t>
            </a:r>
            <a:r>
              <a:rPr lang="ky-KG" sz="2000" dirty="0"/>
              <a:t> сом</a:t>
            </a:r>
            <a:endParaRPr lang="en-GB" sz="20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1D041E2-5B2E-45AB-BC40-D45A21781E8F}"/>
              </a:ext>
            </a:extLst>
          </p:cNvPr>
          <p:cNvSpPr txBox="1"/>
          <p:nvPr/>
        </p:nvSpPr>
        <p:spPr>
          <a:xfrm>
            <a:off x="4993951" y="2466769"/>
            <a:ext cx="126669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Ай сайын </a:t>
            </a:r>
          </a:p>
          <a:p>
            <a:pPr algn="ctr"/>
            <a:r>
              <a:rPr lang="ky-KG" sz="2000" dirty="0"/>
              <a:t>төлөө</a:t>
            </a:r>
            <a:endParaRPr lang="en-GB" sz="2000" dirty="0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AE4D69D7-1FF0-4BD1-8C02-678E81544955}"/>
              </a:ext>
            </a:extLst>
          </p:cNvPr>
          <p:cNvGrpSpPr/>
          <p:nvPr/>
        </p:nvGrpSpPr>
        <p:grpSpPr>
          <a:xfrm>
            <a:off x="6046314" y="2365879"/>
            <a:ext cx="3762569" cy="856479"/>
            <a:chOff x="4999834" y="1934214"/>
            <a:chExt cx="3762569" cy="856479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61FE523E-C637-42FF-BA17-BBAFF148BAE9}"/>
                </a:ext>
              </a:extLst>
            </p:cNvPr>
            <p:cNvSpPr txBox="1"/>
            <p:nvPr/>
          </p:nvSpPr>
          <p:spPr>
            <a:xfrm>
              <a:off x="4999834" y="1934214"/>
              <a:ext cx="376256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2000" dirty="0"/>
                <a:t>Бүгүн 4438 сом+ айына 2773 сом</a:t>
              </a:r>
              <a:endParaRPr lang="en-GB" sz="2000" dirty="0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6E22C425-5428-4812-B577-44060AC93500}"/>
                </a:ext>
              </a:extLst>
            </p:cNvPr>
            <p:cNvSpPr txBox="1"/>
            <p:nvPr/>
          </p:nvSpPr>
          <p:spPr>
            <a:xfrm>
              <a:off x="5909170" y="2390583"/>
              <a:ext cx="244810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2000" dirty="0"/>
                <a:t>(24 айлык мөөнөттө)</a:t>
              </a:r>
              <a:endParaRPr lang="en-GB" sz="2000" dirty="0"/>
            </a:p>
          </p:txBody>
        </p: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FC57FC7D-B7EE-4A7E-BFB9-57227D917DC1}"/>
              </a:ext>
            </a:extLst>
          </p:cNvPr>
          <p:cNvSpPr txBox="1"/>
          <p:nvPr/>
        </p:nvSpPr>
        <p:spPr>
          <a:xfrm>
            <a:off x="638702" y="35561"/>
            <a:ext cx="86405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Берилген бөлүп төлөө пландарынын ар бири үчүн пайыздык ченди табыңыз.</a:t>
            </a:r>
            <a:endParaRPr lang="en-GB" sz="20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1ECFA3A-8BF1-4C2D-BDD3-04E5CFB7CC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129" y="4161472"/>
            <a:ext cx="1228725" cy="261937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96F5BC00-6DC1-45C6-BC65-CD84CF6606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594" y="4092513"/>
            <a:ext cx="1209675" cy="2543175"/>
          </a:xfrm>
          <a:prstGeom prst="rect">
            <a:avLst/>
          </a:prstGeom>
        </p:spPr>
      </p:pic>
      <p:sp>
        <p:nvSpPr>
          <p:cNvPr id="73" name="Rectangle 72">
            <a:extLst>
              <a:ext uri="{FF2B5EF4-FFF2-40B4-BE49-F238E27FC236}">
                <a16:creationId xmlns:a16="http://schemas.microsoft.com/office/drawing/2014/main" id="{53A47949-A6F9-4E09-9A52-632E4F315603}"/>
              </a:ext>
            </a:extLst>
          </p:cNvPr>
          <p:cNvSpPr/>
          <p:nvPr/>
        </p:nvSpPr>
        <p:spPr>
          <a:xfrm>
            <a:off x="2011680" y="4561840"/>
            <a:ext cx="2763520" cy="67056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  <a:tailEnd type="none"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CD773F04-EB8A-4D8F-83E6-A3B63290FC38}"/>
              </a:ext>
            </a:extLst>
          </p:cNvPr>
          <p:cNvSpPr/>
          <p:nvPr/>
        </p:nvSpPr>
        <p:spPr>
          <a:xfrm>
            <a:off x="121920" y="5406474"/>
            <a:ext cx="4653280" cy="95368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  <a:tailEnd type="none"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F80B19D-7BA8-4D6D-A6D0-8A259B0DCD85}"/>
              </a:ext>
            </a:extLst>
          </p:cNvPr>
          <p:cNvSpPr txBox="1"/>
          <p:nvPr/>
        </p:nvSpPr>
        <p:spPr>
          <a:xfrm>
            <a:off x="2074185" y="4676448"/>
            <a:ext cx="14414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Азыр төлөө</a:t>
            </a:r>
            <a:endParaRPr lang="en-GB" sz="2000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C28DCE0-7ED8-46E1-A71A-491A851500A7}"/>
              </a:ext>
            </a:extLst>
          </p:cNvPr>
          <p:cNvSpPr txBox="1"/>
          <p:nvPr/>
        </p:nvSpPr>
        <p:spPr>
          <a:xfrm>
            <a:off x="3485750" y="4676448"/>
            <a:ext cx="13083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44272</a:t>
            </a:r>
            <a:r>
              <a:rPr lang="ky-KG" sz="2000" dirty="0"/>
              <a:t> сом</a:t>
            </a:r>
            <a:endParaRPr lang="en-GB" sz="2000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A92A6D4-8466-40F7-AA77-22E555BA21A4}"/>
              </a:ext>
            </a:extLst>
          </p:cNvPr>
          <p:cNvSpPr txBox="1"/>
          <p:nvPr/>
        </p:nvSpPr>
        <p:spPr>
          <a:xfrm>
            <a:off x="73153" y="5516901"/>
            <a:ext cx="126669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Ай сайын </a:t>
            </a:r>
          </a:p>
          <a:p>
            <a:pPr algn="ctr"/>
            <a:r>
              <a:rPr lang="ky-KG" sz="2000" dirty="0"/>
              <a:t>төлөө</a:t>
            </a:r>
            <a:endParaRPr lang="en-GB" sz="2000" dirty="0"/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0D71031C-257E-44EA-80EA-F8015396D74C}"/>
              </a:ext>
            </a:extLst>
          </p:cNvPr>
          <p:cNvGrpSpPr/>
          <p:nvPr/>
        </p:nvGrpSpPr>
        <p:grpSpPr>
          <a:xfrm>
            <a:off x="1117265" y="5437981"/>
            <a:ext cx="3762569" cy="852697"/>
            <a:chOff x="5018705" y="1937996"/>
            <a:chExt cx="3762569" cy="852697"/>
          </a:xfrm>
        </p:grpSpPr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033B0381-F183-4378-9E58-14343997D80B}"/>
                </a:ext>
              </a:extLst>
            </p:cNvPr>
            <p:cNvSpPr txBox="1"/>
            <p:nvPr/>
          </p:nvSpPr>
          <p:spPr>
            <a:xfrm>
              <a:off x="5018705" y="1937996"/>
              <a:ext cx="376256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2000" dirty="0"/>
                <a:t>Бүгүн 3883 сом+ айына 1886 сом</a:t>
              </a:r>
              <a:endParaRPr lang="en-GB" sz="2000" dirty="0"/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410DF758-0868-4176-B887-91EB658DD337}"/>
                </a:ext>
              </a:extLst>
            </p:cNvPr>
            <p:cNvSpPr txBox="1"/>
            <p:nvPr/>
          </p:nvSpPr>
          <p:spPr>
            <a:xfrm>
              <a:off x="5909170" y="2390583"/>
              <a:ext cx="244810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2000" dirty="0"/>
                <a:t>(24 айлык мөөнөттө)</a:t>
              </a:r>
              <a:endParaRPr lang="en-GB" sz="2000" dirty="0"/>
            </a:p>
          </p:txBody>
        </p:sp>
      </p:grpSp>
      <p:sp>
        <p:nvSpPr>
          <p:cNvPr id="81" name="Rectangle 80">
            <a:extLst>
              <a:ext uri="{FF2B5EF4-FFF2-40B4-BE49-F238E27FC236}">
                <a16:creationId xmlns:a16="http://schemas.microsoft.com/office/drawing/2014/main" id="{39619FAA-38C0-4253-B79D-770AD4B1B4CB}"/>
              </a:ext>
            </a:extLst>
          </p:cNvPr>
          <p:cNvSpPr/>
          <p:nvPr/>
        </p:nvSpPr>
        <p:spPr>
          <a:xfrm>
            <a:off x="6959600" y="4561840"/>
            <a:ext cx="2763520" cy="67056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  <a:tailEnd type="none"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93179515-392B-420E-9D18-8F2ECF63CC32}"/>
              </a:ext>
            </a:extLst>
          </p:cNvPr>
          <p:cNvSpPr/>
          <p:nvPr/>
        </p:nvSpPr>
        <p:spPr>
          <a:xfrm>
            <a:off x="5069840" y="5406474"/>
            <a:ext cx="4653280" cy="95368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  <a:tailEnd type="none"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ACC1A819-BBDA-40AB-97A6-7AF251AE59D2}"/>
              </a:ext>
            </a:extLst>
          </p:cNvPr>
          <p:cNvSpPr txBox="1"/>
          <p:nvPr/>
        </p:nvSpPr>
        <p:spPr>
          <a:xfrm>
            <a:off x="7022105" y="4676448"/>
            <a:ext cx="14414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Азыр төлөө</a:t>
            </a:r>
            <a:endParaRPr lang="en-GB" sz="2000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F7321A1-DA24-44F8-AD64-741DE82513AC}"/>
              </a:ext>
            </a:extLst>
          </p:cNvPr>
          <p:cNvSpPr txBox="1"/>
          <p:nvPr/>
        </p:nvSpPr>
        <p:spPr>
          <a:xfrm>
            <a:off x="8418244" y="4686737"/>
            <a:ext cx="13083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60916</a:t>
            </a:r>
            <a:r>
              <a:rPr lang="ky-KG" sz="2000" dirty="0"/>
              <a:t> сом</a:t>
            </a:r>
            <a:endParaRPr lang="en-GB" sz="2000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D50536B-DB89-4021-BD03-12221D0798AF}"/>
              </a:ext>
            </a:extLst>
          </p:cNvPr>
          <p:cNvSpPr txBox="1"/>
          <p:nvPr/>
        </p:nvSpPr>
        <p:spPr>
          <a:xfrm>
            <a:off x="5029926" y="5549613"/>
            <a:ext cx="126669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Ай сайын </a:t>
            </a:r>
          </a:p>
          <a:p>
            <a:pPr algn="ctr"/>
            <a:r>
              <a:rPr lang="ky-KG" sz="2000" dirty="0"/>
              <a:t>төлөө</a:t>
            </a:r>
            <a:endParaRPr lang="en-GB" sz="2000" dirty="0"/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7957B1B2-57B6-4A95-9279-609107542CD6}"/>
              </a:ext>
            </a:extLst>
          </p:cNvPr>
          <p:cNvGrpSpPr/>
          <p:nvPr/>
        </p:nvGrpSpPr>
        <p:grpSpPr>
          <a:xfrm>
            <a:off x="6017459" y="5403421"/>
            <a:ext cx="3820278" cy="887257"/>
            <a:chOff x="4970979" y="1903436"/>
            <a:chExt cx="3820278" cy="887257"/>
          </a:xfrm>
        </p:grpSpPr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428E8940-973D-4CC1-9804-217D648505B8}"/>
                </a:ext>
              </a:extLst>
            </p:cNvPr>
            <p:cNvSpPr txBox="1"/>
            <p:nvPr/>
          </p:nvSpPr>
          <p:spPr>
            <a:xfrm>
              <a:off x="4970979" y="1903436"/>
              <a:ext cx="382027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2000" dirty="0"/>
                <a:t>Бүгүн 4438 сом + айына 1775 сом</a:t>
              </a:r>
              <a:endParaRPr lang="en-GB" sz="2000" dirty="0"/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2EB82FCB-6604-48CD-BAE9-6CFAF8585DE1}"/>
                </a:ext>
              </a:extLst>
            </p:cNvPr>
            <p:cNvSpPr txBox="1"/>
            <p:nvPr/>
          </p:nvSpPr>
          <p:spPr>
            <a:xfrm>
              <a:off x="5909170" y="2390583"/>
              <a:ext cx="244810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2000" dirty="0"/>
                <a:t>(36 айлык мөөнөттө)</a:t>
              </a:r>
              <a:endParaRPr lang="en-GB" sz="2000" dirty="0"/>
            </a:p>
          </p:txBody>
        </p:sp>
      </p:grpSp>
      <p:sp>
        <p:nvSpPr>
          <p:cNvPr id="89" name="TextBox 88">
            <a:extLst>
              <a:ext uri="{FF2B5EF4-FFF2-40B4-BE49-F238E27FC236}">
                <a16:creationId xmlns:a16="http://schemas.microsoft.com/office/drawing/2014/main" id="{4D2ED264-282D-4E81-88C5-32E5C67286C2}"/>
              </a:ext>
            </a:extLst>
          </p:cNvPr>
          <p:cNvSpPr txBox="1"/>
          <p:nvPr/>
        </p:nvSpPr>
        <p:spPr>
          <a:xfrm>
            <a:off x="1786484" y="692842"/>
            <a:ext cx="27858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99</a:t>
            </a:r>
            <a:r>
              <a:rPr lang="ky-KG" sz="2000" dirty="0"/>
              <a:t>80 сом насыя</a:t>
            </a:r>
          </a:p>
          <a:p>
            <a:pPr algn="ctr"/>
            <a:r>
              <a:rPr lang="ky-KG" sz="2000" dirty="0"/>
              <a:t>2620 сом пайыздык чен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2187BF99-2353-4069-97F5-74EDB7AA9F9E}"/>
              </a:ext>
            </a:extLst>
          </p:cNvPr>
          <p:cNvSpPr txBox="1"/>
          <p:nvPr/>
        </p:nvSpPr>
        <p:spPr>
          <a:xfrm>
            <a:off x="4417483" y="999717"/>
            <a:ext cx="6270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2</a:t>
            </a:r>
            <a:r>
              <a:rPr lang="ky-KG" sz="2000" dirty="0"/>
              <a:t>6</a:t>
            </a:r>
            <a:r>
              <a:rPr lang="en-GB" sz="2000" dirty="0"/>
              <a:t>%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0BA0A73-699E-481D-BA97-65C6DD948D8C}"/>
              </a:ext>
            </a:extLst>
          </p:cNvPr>
          <p:cNvSpPr txBox="1"/>
          <p:nvPr/>
        </p:nvSpPr>
        <p:spPr>
          <a:xfrm>
            <a:off x="6661252" y="682682"/>
            <a:ext cx="272811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59917</a:t>
            </a:r>
            <a:r>
              <a:rPr lang="ky-KG" sz="2000" dirty="0"/>
              <a:t> сом</a:t>
            </a:r>
            <a:r>
              <a:rPr lang="en-GB" sz="2000" dirty="0"/>
              <a:t> </a:t>
            </a:r>
            <a:r>
              <a:rPr lang="ky-KG" sz="2000" dirty="0"/>
              <a:t>насыя</a:t>
            </a:r>
            <a:endParaRPr lang="en-GB" sz="2000" dirty="0"/>
          </a:p>
          <a:p>
            <a:pPr algn="ctr"/>
            <a:r>
              <a:rPr lang="en-GB" sz="2000" dirty="0"/>
              <a:t>6657</a:t>
            </a:r>
            <a:r>
              <a:rPr lang="ky-KG" sz="2000" dirty="0"/>
              <a:t> сомпайыздык чен</a:t>
            </a:r>
            <a:endParaRPr lang="en-GB" sz="2000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6098A231-6B15-4F5B-8FE6-118D256BAEA1}"/>
              </a:ext>
            </a:extLst>
          </p:cNvPr>
          <p:cNvSpPr txBox="1"/>
          <p:nvPr/>
        </p:nvSpPr>
        <p:spPr>
          <a:xfrm>
            <a:off x="9188793" y="764326"/>
            <a:ext cx="6270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11%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EFAD2C01-388A-4EBF-BD18-165BBC1599A2}"/>
              </a:ext>
            </a:extLst>
          </p:cNvPr>
          <p:cNvSpPr txBox="1"/>
          <p:nvPr/>
        </p:nvSpPr>
        <p:spPr>
          <a:xfrm>
            <a:off x="1626905" y="3872830"/>
            <a:ext cx="27858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40389</a:t>
            </a:r>
            <a:r>
              <a:rPr lang="ky-KG" sz="2000" dirty="0"/>
              <a:t> сом</a:t>
            </a:r>
            <a:r>
              <a:rPr lang="en-GB" sz="2000" dirty="0"/>
              <a:t> </a:t>
            </a:r>
            <a:r>
              <a:rPr lang="ky-KG" sz="2000" dirty="0"/>
              <a:t>насыя</a:t>
            </a:r>
          </a:p>
          <a:p>
            <a:pPr algn="ctr"/>
            <a:r>
              <a:rPr lang="en-GB" sz="2000" dirty="0"/>
              <a:t>4882</a:t>
            </a:r>
            <a:r>
              <a:rPr lang="ky-KG" sz="2000" dirty="0"/>
              <a:t> сом</a:t>
            </a:r>
            <a:r>
              <a:rPr lang="en-GB" sz="2000" dirty="0"/>
              <a:t> </a:t>
            </a:r>
            <a:r>
              <a:rPr lang="ky-KG" sz="2000" dirty="0"/>
              <a:t>пайыздык чен</a:t>
            </a:r>
            <a:endParaRPr lang="en-GB" sz="2000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660CC1E5-5ADA-40C7-B2D9-27E441980008}"/>
              </a:ext>
            </a:extLst>
          </p:cNvPr>
          <p:cNvSpPr txBox="1"/>
          <p:nvPr/>
        </p:nvSpPr>
        <p:spPr>
          <a:xfrm>
            <a:off x="4161245" y="3945922"/>
            <a:ext cx="6270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12%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1C466139-D79E-4936-B2F7-71ED84C6CD9A}"/>
              </a:ext>
            </a:extLst>
          </p:cNvPr>
          <p:cNvSpPr txBox="1"/>
          <p:nvPr/>
        </p:nvSpPr>
        <p:spPr>
          <a:xfrm>
            <a:off x="6584481" y="3872830"/>
            <a:ext cx="272811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56478</a:t>
            </a:r>
            <a:r>
              <a:rPr lang="ky-KG" sz="2000" dirty="0"/>
              <a:t> сом насыя</a:t>
            </a:r>
          </a:p>
          <a:p>
            <a:pPr algn="ctr"/>
            <a:r>
              <a:rPr lang="en-GB" sz="2000" dirty="0"/>
              <a:t>7434</a:t>
            </a:r>
            <a:r>
              <a:rPr lang="ky-KG" sz="2000" dirty="0"/>
              <a:t> сомпайыздык чен</a:t>
            </a:r>
            <a:endParaRPr lang="en-GB" sz="2000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EE769D53-A6E1-4028-B81E-809AB51AD003}"/>
              </a:ext>
            </a:extLst>
          </p:cNvPr>
          <p:cNvSpPr txBox="1"/>
          <p:nvPr/>
        </p:nvSpPr>
        <p:spPr>
          <a:xfrm>
            <a:off x="9104858" y="3983527"/>
            <a:ext cx="6270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13%</a:t>
            </a:r>
          </a:p>
        </p:txBody>
      </p:sp>
    </p:spTree>
    <p:extLst>
      <p:ext uri="{BB962C8B-B14F-4D97-AF65-F5344CB8AC3E}">
        <p14:creationId xmlns:p14="http://schemas.microsoft.com/office/powerpoint/2010/main" val="3034342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" grpId="0"/>
      <p:bldP spid="90" grpId="0"/>
      <p:bldP spid="91" grpId="0"/>
      <p:bldP spid="92" grpId="0"/>
      <p:bldP spid="93" grpId="0"/>
      <p:bldP spid="94" grpId="0"/>
      <p:bldP spid="95" grpId="0"/>
      <p:bldP spid="9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271" y="807544"/>
            <a:ext cx="8543925" cy="5400215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None/>
            </a:pPr>
            <a:r>
              <a:rPr lang="ru-RU" dirty="0"/>
              <a:t>Сунуштар?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None/>
            </a:pPr>
            <a:endParaRPr lang="ru-RU" dirty="0"/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en-US" dirty="0"/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28575">
          <a:solidFill>
            <a:schemeClr val="tx1"/>
          </a:solidFill>
          <a:tailEnd type="none"/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28575">
          <a:solidFill>
            <a:schemeClr val="tx1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10714</TotalTime>
  <Words>1297</Words>
  <Application>Microsoft Office PowerPoint</Application>
  <PresentationFormat>A4 Paper (210x297 mm)</PresentationFormat>
  <Paragraphs>312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Berlin Sans FB Demi</vt:lpstr>
      <vt:lpstr>Calibri</vt:lpstr>
      <vt:lpstr>Cambria Math</vt:lpstr>
      <vt:lpstr>Calibri Light</vt:lpstr>
      <vt:lpstr>Arial</vt:lpstr>
      <vt:lpstr>Office Theme</vt:lpstr>
      <vt:lpstr>1_Office Theme</vt:lpstr>
      <vt:lpstr>MathKGZ  --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513</cp:revision>
  <cp:lastPrinted>2017-12-31T22:38:51Z</cp:lastPrinted>
  <dcterms:created xsi:type="dcterms:W3CDTF">2017-01-17T16:57:04Z</dcterms:created>
  <dcterms:modified xsi:type="dcterms:W3CDTF">2024-09-15T16:13:59Z</dcterms:modified>
</cp:coreProperties>
</file>