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40" r:id="rId3"/>
    <p:sldId id="949" r:id="rId4"/>
    <p:sldId id="939" r:id="rId5"/>
    <p:sldId id="948" r:id="rId6"/>
    <p:sldId id="952" r:id="rId7"/>
    <p:sldId id="951" r:id="rId8"/>
    <p:sldId id="942" r:id="rId9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0"/>
          </p14:sldIdLst>
        </p14:section>
        <p14:section name="Көрсөтүү үчүн" id="{059544AC-2C27-45B1-9F95-F87DF8854DD6}">
          <p14:sldIdLst>
            <p14:sldId id="949"/>
          </p14:sldIdLst>
        </p14:section>
        <p14:section name="Жооп" id="{1FEDB314-42DC-4694-9B04-D4A4AAE625F7}">
          <p14:sldIdLst>
            <p14:sldId id="939"/>
            <p14:sldId id="948"/>
          </p14:sldIdLst>
        </p14:section>
        <p14:section name="Принтерге" id="{A78D9305-6AAE-4715-A210-52F6908F30F7}">
          <p14:sldIdLst>
            <p14:sldId id="952"/>
            <p14:sldId id="951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75" d="100"/>
          <a:sy n="75" d="100"/>
        </p:scale>
        <p:origin x="1212" y="5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77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23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9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87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1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2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9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62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538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80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309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6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06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Бөлүү – Иш барагы 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200" b="1" dirty="0"/>
              <a:t>Ондуктарды бөлүү</a:t>
            </a:r>
            <a:endParaRPr lang="en-US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D7BA0-863F-481D-88CD-DAC18E674723}"/>
              </a:ext>
            </a:extLst>
          </p:cNvPr>
          <p:cNvSpPr txBox="1"/>
          <p:nvPr/>
        </p:nvSpPr>
        <p:spPr>
          <a:xfrm>
            <a:off x="12365" y="222308"/>
            <a:ext cx="4712732" cy="66633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400" dirty="0"/>
              <a:t>Амалдарды аткаргыла: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ky-KG" sz="1400" dirty="0"/>
              <a:t>1</a:t>
            </a:r>
            <a:r>
              <a:rPr lang="en-US" sz="1400" dirty="0"/>
              <a:t>) 8 ÷ 0,2      			</a:t>
            </a:r>
            <a:r>
              <a:rPr lang="ky-KG" sz="1400" dirty="0">
                <a:ea typeface="+mn-lt"/>
                <a:cs typeface="+mn-lt"/>
              </a:rPr>
              <a:t>2</a:t>
            </a:r>
            <a:r>
              <a:rPr lang="en-US" sz="1400" dirty="0">
                <a:ea typeface="+mn-lt"/>
                <a:cs typeface="+mn-lt"/>
              </a:rPr>
              <a:t>) 15 ÷ 0,3		     </a:t>
            </a:r>
            <a:r>
              <a:rPr lang="ky-KG" sz="1400" dirty="0">
                <a:ea typeface="+mn-lt"/>
                <a:cs typeface="+mn-lt"/>
              </a:rPr>
              <a:t>3</a:t>
            </a:r>
            <a:r>
              <a:rPr lang="en-US" sz="1400" dirty="0">
                <a:ea typeface="+mn-lt"/>
                <a:cs typeface="+mn-lt"/>
              </a:rPr>
              <a:t>) 28 ÷ 0,4  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4</a:t>
            </a:r>
            <a:r>
              <a:rPr lang="en-US" sz="1400" dirty="0">
                <a:ea typeface="+mn-lt"/>
                <a:cs typeface="+mn-lt"/>
              </a:rPr>
              <a:t>) 32 ÷ 0,2       			</a:t>
            </a:r>
            <a:r>
              <a:rPr lang="ky-KG" sz="1400" dirty="0">
                <a:ea typeface="+mn-lt"/>
                <a:cs typeface="+mn-lt"/>
              </a:rPr>
              <a:t>5</a:t>
            </a:r>
            <a:r>
              <a:rPr lang="en-US" sz="1400" dirty="0">
                <a:ea typeface="+mn-lt"/>
                <a:cs typeface="+mn-lt"/>
              </a:rPr>
              <a:t>) 18 ÷ 0,3      		     </a:t>
            </a:r>
            <a:r>
              <a:rPr lang="ky-KG" sz="1400" dirty="0">
                <a:ea typeface="+mn-lt"/>
                <a:cs typeface="+mn-lt"/>
              </a:rPr>
              <a:t>6</a:t>
            </a:r>
            <a:r>
              <a:rPr lang="en-US" sz="1400" dirty="0">
                <a:ea typeface="+mn-lt"/>
                <a:cs typeface="+mn-lt"/>
              </a:rPr>
              <a:t>) 42 ÷ 0,6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7</a:t>
            </a:r>
            <a:r>
              <a:rPr lang="en-US" sz="1400" dirty="0">
                <a:ea typeface="+mn-lt"/>
                <a:cs typeface="+mn-lt"/>
              </a:rPr>
              <a:t>) 124 ÷ 0,2    			</a:t>
            </a:r>
            <a:r>
              <a:rPr lang="ky-KG" sz="1400" dirty="0">
                <a:ea typeface="+mn-lt"/>
                <a:cs typeface="+mn-lt"/>
              </a:rPr>
              <a:t>8</a:t>
            </a:r>
            <a:r>
              <a:rPr lang="en-US" sz="1400" dirty="0">
                <a:ea typeface="+mn-lt"/>
                <a:cs typeface="+mn-lt"/>
              </a:rPr>
              <a:t>) 64 ÷ 0,4       		     </a:t>
            </a:r>
            <a:r>
              <a:rPr lang="ky-KG" sz="1400" dirty="0">
                <a:ea typeface="+mn-lt"/>
                <a:cs typeface="+mn-lt"/>
              </a:rPr>
              <a:t>9</a:t>
            </a:r>
            <a:r>
              <a:rPr lang="en-US" sz="1400" dirty="0">
                <a:ea typeface="+mn-lt"/>
                <a:cs typeface="+mn-lt"/>
              </a:rPr>
              <a:t>) 91 ÷ 0,7       </a:t>
            </a:r>
            <a:endParaRPr lang="en-US" sz="1400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14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10</a:t>
            </a:r>
            <a:r>
              <a:rPr lang="en-US" sz="1400" dirty="0">
                <a:ea typeface="+mn-lt"/>
                <a:cs typeface="+mn-lt"/>
              </a:rPr>
              <a:t>) 8,4 ÷ 2       			</a:t>
            </a:r>
            <a:r>
              <a:rPr lang="ky-KG" sz="1400" dirty="0">
                <a:ea typeface="+mn-lt"/>
                <a:cs typeface="+mn-lt"/>
              </a:rPr>
              <a:t>11</a:t>
            </a:r>
            <a:r>
              <a:rPr lang="en-US" sz="1400" dirty="0">
                <a:ea typeface="+mn-lt"/>
                <a:cs typeface="+mn-lt"/>
              </a:rPr>
              <a:t>) 2,4 ÷ 3       		     </a:t>
            </a:r>
            <a:r>
              <a:rPr lang="ky-KG" sz="1400" dirty="0">
                <a:ea typeface="+mn-lt"/>
                <a:cs typeface="+mn-lt"/>
              </a:rPr>
              <a:t>12</a:t>
            </a:r>
            <a:r>
              <a:rPr lang="en-US" sz="1400" dirty="0">
                <a:ea typeface="+mn-lt"/>
                <a:cs typeface="+mn-lt"/>
              </a:rPr>
              <a:t>) 8,1 ÷ 3  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13</a:t>
            </a:r>
            <a:r>
              <a:rPr lang="en-US" sz="1400" dirty="0">
                <a:ea typeface="+mn-lt"/>
                <a:cs typeface="+mn-lt"/>
              </a:rPr>
              <a:t>) 3,6 ÷ 6       			</a:t>
            </a:r>
            <a:r>
              <a:rPr lang="ky-KG" sz="1400" dirty="0">
                <a:ea typeface="+mn-lt"/>
                <a:cs typeface="+mn-lt"/>
              </a:rPr>
              <a:t>14</a:t>
            </a:r>
            <a:r>
              <a:rPr lang="en-US" sz="1400" dirty="0">
                <a:ea typeface="+mn-lt"/>
                <a:cs typeface="+mn-lt"/>
              </a:rPr>
              <a:t>) 12,8 ÷ 4		    </a:t>
            </a:r>
            <a:r>
              <a:rPr lang="ky-KG" sz="1400" dirty="0">
                <a:ea typeface="+mn-lt"/>
                <a:cs typeface="+mn-lt"/>
              </a:rPr>
              <a:t>15</a:t>
            </a:r>
            <a:r>
              <a:rPr lang="en-US" sz="1400" dirty="0">
                <a:ea typeface="+mn-lt"/>
                <a:cs typeface="+mn-lt"/>
              </a:rPr>
              <a:t>) 10,2 ÷ 6    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16</a:t>
            </a:r>
            <a:r>
              <a:rPr lang="en-US" sz="1400" dirty="0">
                <a:ea typeface="+mn-lt"/>
                <a:cs typeface="+mn-lt"/>
              </a:rPr>
              <a:t>) 9,5 ÷ 5       			</a:t>
            </a:r>
            <a:r>
              <a:rPr lang="ky-KG" sz="1400" dirty="0">
                <a:ea typeface="+mn-lt"/>
                <a:cs typeface="+mn-lt"/>
              </a:rPr>
              <a:t>17</a:t>
            </a:r>
            <a:r>
              <a:rPr lang="en-US" sz="1400" dirty="0">
                <a:ea typeface="+mn-lt"/>
                <a:cs typeface="+mn-lt"/>
              </a:rPr>
              <a:t>) 7,2 ÷ 4       		     </a:t>
            </a:r>
            <a:r>
              <a:rPr lang="ky-KG" sz="1400" dirty="0">
                <a:ea typeface="+mn-lt"/>
                <a:cs typeface="+mn-lt"/>
              </a:rPr>
              <a:t>18</a:t>
            </a:r>
            <a:r>
              <a:rPr lang="en-US" sz="1400" dirty="0">
                <a:ea typeface="+mn-lt"/>
                <a:cs typeface="+mn-lt"/>
              </a:rPr>
              <a:t>) 9,8 ÷ 7         </a:t>
            </a:r>
          </a:p>
          <a:p>
            <a:pPr>
              <a:lnSpc>
                <a:spcPct val="150000"/>
              </a:lnSpc>
            </a:pPr>
            <a:endParaRPr lang="en-US" sz="14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19</a:t>
            </a:r>
            <a:r>
              <a:rPr lang="en-US" sz="1400" dirty="0">
                <a:ea typeface="+mn-lt"/>
                <a:cs typeface="+mn-lt"/>
              </a:rPr>
              <a:t>) 1,02 ÷ 0,6       			</a:t>
            </a:r>
            <a:r>
              <a:rPr lang="ky-KG" sz="1400" dirty="0">
                <a:ea typeface="+mn-lt"/>
                <a:cs typeface="+mn-lt"/>
              </a:rPr>
              <a:t>20</a:t>
            </a:r>
            <a:r>
              <a:rPr lang="en-US" sz="1400" dirty="0">
                <a:ea typeface="+mn-lt"/>
                <a:cs typeface="+mn-lt"/>
              </a:rPr>
              <a:t>) 0,64 ÷ 0,04       </a:t>
            </a:r>
          </a:p>
          <a:p>
            <a:pPr>
              <a:lnSpc>
                <a:spcPct val="150000"/>
              </a:lnSpc>
            </a:pPr>
            <a:r>
              <a:rPr lang="ky-KG" sz="1400" dirty="0">
                <a:ea typeface="+mn-lt"/>
                <a:cs typeface="+mn-lt"/>
              </a:rPr>
              <a:t>21</a:t>
            </a:r>
            <a:r>
              <a:rPr lang="en-US" sz="1400" dirty="0">
                <a:ea typeface="+mn-lt"/>
                <a:cs typeface="+mn-lt"/>
              </a:rPr>
              <a:t>) 1,6 ÷ 0,05       			</a:t>
            </a:r>
            <a:r>
              <a:rPr lang="ky-KG" sz="1400" dirty="0">
                <a:ea typeface="+mn-lt"/>
                <a:cs typeface="+mn-lt"/>
              </a:rPr>
              <a:t>22</a:t>
            </a:r>
            <a:r>
              <a:rPr lang="en-US" sz="1400" dirty="0">
                <a:ea typeface="+mn-lt"/>
                <a:cs typeface="+mn-lt"/>
              </a:rPr>
              <a:t>) 0,135 ÷ 0,5</a:t>
            </a:r>
          </a:p>
          <a:p>
            <a:endParaRPr lang="en-US" sz="1400" dirty="0">
              <a:ea typeface="+mn-lt"/>
              <a:cs typeface="+mn-lt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.          </a:t>
            </a:r>
            <a:endParaRPr lang="en-US" sz="1400" dirty="0">
              <a:cs typeface="Calibri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       </a:t>
            </a:r>
            <a:endParaRPr lang="en-US" sz="1400" dirty="0"/>
          </a:p>
          <a:p>
            <a:endParaRPr lang="en-US" sz="1400" dirty="0"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1719A-FF31-4203-B2B8-22C2072175E9}"/>
              </a:ext>
            </a:extLst>
          </p:cNvPr>
          <p:cNvSpPr/>
          <p:nvPr/>
        </p:nvSpPr>
        <p:spPr>
          <a:xfrm>
            <a:off x="6394034" y="4849102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cs typeface="Calibri"/>
              </a:rPr>
              <a:t>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24B255-DB78-42E0-B59A-35DC1DF5B599}"/>
              </a:ext>
            </a:extLst>
          </p:cNvPr>
          <p:cNvSpPr/>
          <p:nvPr/>
        </p:nvSpPr>
        <p:spPr>
          <a:xfrm>
            <a:off x="6133270" y="3358916"/>
            <a:ext cx="521529" cy="55569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097F2C-E8A0-4A6E-ABA8-7C782D25928C}"/>
              </a:ext>
            </a:extLst>
          </p:cNvPr>
          <p:cNvCxnSpPr>
            <a:cxnSpLocks/>
          </p:cNvCxnSpPr>
          <p:nvPr/>
        </p:nvCxnSpPr>
        <p:spPr>
          <a:xfrm>
            <a:off x="6894332" y="3358916"/>
            <a:ext cx="0" cy="55569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A51CEB3-794A-4E79-BAA0-35D2C072696C}"/>
              </a:ext>
            </a:extLst>
          </p:cNvPr>
          <p:cNvSpPr txBox="1"/>
          <p:nvPr/>
        </p:nvSpPr>
        <p:spPr>
          <a:xfrm>
            <a:off x="6894332" y="352383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F8A8A9-207C-1D99-0F8A-5D4C205CDE59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8132C-EA43-89D5-E637-CCA7DCE9052A}"/>
              </a:ext>
            </a:extLst>
          </p:cNvPr>
          <p:cNvSpPr txBox="1"/>
          <p:nvPr/>
        </p:nvSpPr>
        <p:spPr>
          <a:xfrm>
            <a:off x="5104080" y="264536"/>
            <a:ext cx="4953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              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21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/>
              <a:t>Dividing Decimals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621FF-4689-4F2B-9B21-DB0C2E9538A7}"/>
              </a:ext>
            </a:extLst>
          </p:cNvPr>
          <p:cNvSpPr txBox="1"/>
          <p:nvPr/>
        </p:nvSpPr>
        <p:spPr>
          <a:xfrm>
            <a:off x="862702" y="52013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B7595-86BF-4844-A9A2-555C677246E3}"/>
              </a:ext>
            </a:extLst>
          </p:cNvPr>
          <p:cNvSpPr txBox="1"/>
          <p:nvPr/>
        </p:nvSpPr>
        <p:spPr>
          <a:xfrm>
            <a:off x="1020182" y="8706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FEE990-3668-4764-A31B-CF2905AC5CA7}"/>
              </a:ext>
            </a:extLst>
          </p:cNvPr>
          <p:cNvSpPr txBox="1"/>
          <p:nvPr/>
        </p:nvSpPr>
        <p:spPr>
          <a:xfrm>
            <a:off x="923662" y="120339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A89F96-CEC2-4F98-AA9F-9A8801695DC9}"/>
              </a:ext>
            </a:extLst>
          </p:cNvPr>
          <p:cNvSpPr txBox="1"/>
          <p:nvPr/>
        </p:nvSpPr>
        <p:spPr>
          <a:xfrm>
            <a:off x="2727062" y="48965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1A50E1-0458-4965-B57C-89FC9F0A55E2}"/>
              </a:ext>
            </a:extLst>
          </p:cNvPr>
          <p:cNvSpPr txBox="1"/>
          <p:nvPr/>
        </p:nvSpPr>
        <p:spPr>
          <a:xfrm>
            <a:off x="2930262" y="83509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492E59-82BA-48EC-96B2-AA108162DF39}"/>
              </a:ext>
            </a:extLst>
          </p:cNvPr>
          <p:cNvSpPr txBox="1"/>
          <p:nvPr/>
        </p:nvSpPr>
        <p:spPr>
          <a:xfrm>
            <a:off x="2737222" y="11881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32F4CF-73C6-4A27-A7F9-5BBBC5D6C0C6}"/>
              </a:ext>
            </a:extLst>
          </p:cNvPr>
          <p:cNvSpPr txBox="1"/>
          <p:nvPr/>
        </p:nvSpPr>
        <p:spPr>
          <a:xfrm>
            <a:off x="4235822" y="53537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BA1FA0-B3BB-405C-A19D-A28C632E5C5A}"/>
              </a:ext>
            </a:extLst>
          </p:cNvPr>
          <p:cNvSpPr txBox="1"/>
          <p:nvPr/>
        </p:nvSpPr>
        <p:spPr>
          <a:xfrm>
            <a:off x="4444102" y="880819"/>
            <a:ext cx="40509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A5808C-180C-405E-AC9B-20F1A4D49638}"/>
              </a:ext>
            </a:extLst>
          </p:cNvPr>
          <p:cNvSpPr txBox="1"/>
          <p:nvPr/>
        </p:nvSpPr>
        <p:spPr>
          <a:xfrm>
            <a:off x="4184416" y="1221130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130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28AA9-93AF-4814-BB14-D7BB1E982845}"/>
              </a:ext>
            </a:extLst>
          </p:cNvPr>
          <p:cNvSpPr txBox="1"/>
          <p:nvPr/>
        </p:nvSpPr>
        <p:spPr>
          <a:xfrm>
            <a:off x="763642" y="164281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4,2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C9D00E-EBD9-4078-AE25-FDACA4D75E65}"/>
              </a:ext>
            </a:extLst>
          </p:cNvPr>
          <p:cNvSpPr txBox="1"/>
          <p:nvPr/>
        </p:nvSpPr>
        <p:spPr>
          <a:xfrm>
            <a:off x="2640702" y="1626944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0,8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E3B79-852B-4AD7-B08C-BA6BD2DAD195}"/>
              </a:ext>
            </a:extLst>
          </p:cNvPr>
          <p:cNvSpPr txBox="1"/>
          <p:nvPr/>
        </p:nvSpPr>
        <p:spPr>
          <a:xfrm>
            <a:off x="4110092" y="16478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2,7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CC5F68-573A-4B64-B1EA-A56F16373CBC}"/>
              </a:ext>
            </a:extLst>
          </p:cNvPr>
          <p:cNvSpPr/>
          <p:nvPr/>
        </p:nvSpPr>
        <p:spPr>
          <a:xfrm>
            <a:off x="4570177" y="5244543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2AFF9-9B7C-CE33-C2A6-0001DC708685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200" b="1" dirty="0"/>
              <a:t>Ондуктарды бөлүү</a:t>
            </a:r>
            <a:endParaRPr 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6B2EF-8C2E-4951-1183-4E050B91A6AE}"/>
              </a:ext>
            </a:extLst>
          </p:cNvPr>
          <p:cNvSpPr txBox="1"/>
          <p:nvPr/>
        </p:nvSpPr>
        <p:spPr>
          <a:xfrm>
            <a:off x="-31326" y="284068"/>
            <a:ext cx="471273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200" dirty="0"/>
              <a:t>Амалдарды аткаргыла: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ky-KG" sz="1200" dirty="0"/>
              <a:t>1</a:t>
            </a:r>
            <a:r>
              <a:rPr lang="en-US" sz="1200" dirty="0"/>
              <a:t>) 8 ÷ 0,2      			</a:t>
            </a:r>
            <a:r>
              <a:rPr lang="ky-KG" sz="1200" dirty="0">
                <a:ea typeface="+mn-lt"/>
                <a:cs typeface="+mn-lt"/>
              </a:rPr>
              <a:t>2</a:t>
            </a:r>
            <a:r>
              <a:rPr lang="en-US" sz="1200" dirty="0">
                <a:ea typeface="+mn-lt"/>
                <a:cs typeface="+mn-lt"/>
              </a:rPr>
              <a:t>) 15 ÷ 0,3		     </a:t>
            </a:r>
            <a:r>
              <a:rPr lang="ky-KG" sz="1200" dirty="0">
                <a:ea typeface="+mn-lt"/>
                <a:cs typeface="+mn-lt"/>
              </a:rPr>
              <a:t>3</a:t>
            </a:r>
            <a:r>
              <a:rPr lang="en-US" sz="1200" dirty="0">
                <a:ea typeface="+mn-lt"/>
                <a:cs typeface="+mn-lt"/>
              </a:rPr>
              <a:t>) 28 ÷ 0,4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4</a:t>
            </a:r>
            <a:r>
              <a:rPr lang="en-US" sz="1200" dirty="0">
                <a:ea typeface="+mn-lt"/>
                <a:cs typeface="+mn-lt"/>
              </a:rPr>
              <a:t>) 32 ÷ 0,2       			</a:t>
            </a:r>
            <a:r>
              <a:rPr lang="ky-KG" sz="1200" dirty="0">
                <a:ea typeface="+mn-lt"/>
                <a:cs typeface="+mn-lt"/>
              </a:rPr>
              <a:t>5</a:t>
            </a:r>
            <a:r>
              <a:rPr lang="en-US" sz="1200" dirty="0">
                <a:ea typeface="+mn-lt"/>
                <a:cs typeface="+mn-lt"/>
              </a:rPr>
              <a:t>) 18 ÷ 0,3      		     </a:t>
            </a:r>
            <a:r>
              <a:rPr lang="ky-KG" sz="1200" dirty="0">
                <a:ea typeface="+mn-lt"/>
                <a:cs typeface="+mn-lt"/>
              </a:rPr>
              <a:t>6</a:t>
            </a:r>
            <a:r>
              <a:rPr lang="en-US" sz="1200" dirty="0">
                <a:ea typeface="+mn-lt"/>
                <a:cs typeface="+mn-lt"/>
              </a:rPr>
              <a:t>) 42 ÷ 0,6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7</a:t>
            </a:r>
            <a:r>
              <a:rPr lang="en-US" sz="1200" dirty="0">
                <a:ea typeface="+mn-lt"/>
                <a:cs typeface="+mn-lt"/>
              </a:rPr>
              <a:t>) 124 ÷ 0,2    			</a:t>
            </a:r>
            <a:r>
              <a:rPr lang="ky-KG" sz="1200" dirty="0">
                <a:ea typeface="+mn-lt"/>
                <a:cs typeface="+mn-lt"/>
              </a:rPr>
              <a:t>8</a:t>
            </a:r>
            <a:r>
              <a:rPr lang="en-US" sz="1200" dirty="0">
                <a:ea typeface="+mn-lt"/>
                <a:cs typeface="+mn-lt"/>
              </a:rPr>
              <a:t>) 64 ÷ 0,4       		     </a:t>
            </a:r>
            <a:r>
              <a:rPr lang="ky-KG" sz="1200" dirty="0">
                <a:ea typeface="+mn-lt"/>
                <a:cs typeface="+mn-lt"/>
              </a:rPr>
              <a:t>9</a:t>
            </a:r>
            <a:r>
              <a:rPr lang="en-US" sz="1200" dirty="0">
                <a:ea typeface="+mn-lt"/>
                <a:cs typeface="+mn-lt"/>
              </a:rPr>
              <a:t>) 91 ÷ 0,7       </a:t>
            </a:r>
            <a:endParaRPr lang="en-US" sz="1200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10</a:t>
            </a:r>
            <a:r>
              <a:rPr lang="en-US" sz="1200" dirty="0">
                <a:ea typeface="+mn-lt"/>
                <a:cs typeface="+mn-lt"/>
              </a:rPr>
              <a:t>) 8,4 ÷ 2       			</a:t>
            </a:r>
            <a:r>
              <a:rPr lang="ky-KG" sz="1200" dirty="0">
                <a:ea typeface="+mn-lt"/>
                <a:cs typeface="+mn-lt"/>
              </a:rPr>
              <a:t>11</a:t>
            </a:r>
            <a:r>
              <a:rPr lang="en-US" sz="1200" dirty="0">
                <a:ea typeface="+mn-lt"/>
                <a:cs typeface="+mn-lt"/>
              </a:rPr>
              <a:t>) 2,4 ÷ 3       		     </a:t>
            </a:r>
            <a:r>
              <a:rPr lang="ky-KG" sz="1200" dirty="0">
                <a:ea typeface="+mn-lt"/>
                <a:cs typeface="+mn-lt"/>
              </a:rPr>
              <a:t>12</a:t>
            </a:r>
            <a:r>
              <a:rPr lang="en-US" sz="1200" dirty="0">
                <a:ea typeface="+mn-lt"/>
                <a:cs typeface="+mn-lt"/>
              </a:rPr>
              <a:t>) 8,1 ÷ 3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13</a:t>
            </a:r>
            <a:r>
              <a:rPr lang="en-US" sz="1200" dirty="0">
                <a:ea typeface="+mn-lt"/>
                <a:cs typeface="+mn-lt"/>
              </a:rPr>
              <a:t>) 3,6 ÷ 6       			</a:t>
            </a:r>
            <a:r>
              <a:rPr lang="ky-KG" sz="1200" dirty="0">
                <a:ea typeface="+mn-lt"/>
                <a:cs typeface="+mn-lt"/>
              </a:rPr>
              <a:t>14</a:t>
            </a:r>
            <a:r>
              <a:rPr lang="en-US" sz="1200" dirty="0">
                <a:ea typeface="+mn-lt"/>
                <a:cs typeface="+mn-lt"/>
              </a:rPr>
              <a:t>) 12,8 ÷ 4		    </a:t>
            </a:r>
            <a:r>
              <a:rPr lang="ky-KG" sz="1200" dirty="0">
                <a:ea typeface="+mn-lt"/>
                <a:cs typeface="+mn-lt"/>
              </a:rPr>
              <a:t>15</a:t>
            </a:r>
            <a:r>
              <a:rPr lang="en-US" sz="1200" dirty="0">
                <a:ea typeface="+mn-lt"/>
                <a:cs typeface="+mn-lt"/>
              </a:rPr>
              <a:t>) 10,2 ÷ 6    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16</a:t>
            </a:r>
            <a:r>
              <a:rPr lang="en-US" sz="1200" dirty="0">
                <a:ea typeface="+mn-lt"/>
                <a:cs typeface="+mn-lt"/>
              </a:rPr>
              <a:t>) 9,5 ÷ 5       			</a:t>
            </a:r>
            <a:r>
              <a:rPr lang="ky-KG" sz="1200" dirty="0">
                <a:ea typeface="+mn-lt"/>
                <a:cs typeface="+mn-lt"/>
              </a:rPr>
              <a:t>17</a:t>
            </a:r>
            <a:r>
              <a:rPr lang="en-US" sz="1200" dirty="0">
                <a:ea typeface="+mn-lt"/>
                <a:cs typeface="+mn-lt"/>
              </a:rPr>
              <a:t>) 7,2 ÷ 4       		     </a:t>
            </a:r>
            <a:r>
              <a:rPr lang="ky-KG" sz="1200" dirty="0">
                <a:ea typeface="+mn-lt"/>
                <a:cs typeface="+mn-lt"/>
              </a:rPr>
              <a:t>18</a:t>
            </a:r>
            <a:r>
              <a:rPr lang="en-US" sz="1200" dirty="0">
                <a:ea typeface="+mn-lt"/>
                <a:cs typeface="+mn-lt"/>
              </a:rPr>
              <a:t>) 9,8 ÷ 7         </a:t>
            </a: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19</a:t>
            </a:r>
            <a:r>
              <a:rPr lang="en-US" sz="1200" dirty="0">
                <a:ea typeface="+mn-lt"/>
                <a:cs typeface="+mn-lt"/>
              </a:rPr>
              <a:t>) 1,02 ÷ 0,6       			</a:t>
            </a:r>
            <a:r>
              <a:rPr lang="ky-KG" sz="1200" dirty="0">
                <a:ea typeface="+mn-lt"/>
                <a:cs typeface="+mn-lt"/>
              </a:rPr>
              <a:t>20</a:t>
            </a:r>
            <a:r>
              <a:rPr lang="en-US" sz="1200" dirty="0">
                <a:ea typeface="+mn-lt"/>
                <a:cs typeface="+mn-lt"/>
              </a:rPr>
              <a:t>) 0,64 ÷ 0,04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21</a:t>
            </a:r>
            <a:r>
              <a:rPr lang="en-US" sz="1200" dirty="0">
                <a:ea typeface="+mn-lt"/>
                <a:cs typeface="+mn-lt"/>
              </a:rPr>
              <a:t>) 1,6 ÷ 0,05       			</a:t>
            </a:r>
            <a:r>
              <a:rPr lang="ky-KG" sz="1200" dirty="0">
                <a:ea typeface="+mn-lt"/>
                <a:cs typeface="+mn-lt"/>
              </a:rPr>
              <a:t>22</a:t>
            </a:r>
            <a:r>
              <a:rPr lang="en-US" sz="1200" dirty="0">
                <a:ea typeface="+mn-lt"/>
                <a:cs typeface="+mn-lt"/>
              </a:rPr>
              <a:t>) 0,135 ÷ 0,5</a:t>
            </a: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.          </a:t>
            </a:r>
            <a:endParaRPr lang="en-US" sz="1200" dirty="0">
              <a:cs typeface="Calibri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       </a:t>
            </a:r>
            <a:endParaRPr lang="en-US" sz="1200" dirty="0"/>
          </a:p>
          <a:p>
            <a:endParaRPr lang="en-US" sz="1200" dirty="0"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26DE0-3E25-0D1E-BC6E-BA9F724FE3F8}"/>
              </a:ext>
            </a:extLst>
          </p:cNvPr>
          <p:cNvSpPr/>
          <p:nvPr/>
        </p:nvSpPr>
        <p:spPr>
          <a:xfrm>
            <a:off x="8583352" y="3974001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cs typeface="Calibri"/>
              </a:rPr>
              <a:t>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3BDC82-3959-D47C-5FE8-A49FF3D9879F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24B729-CD68-401D-F928-CD9C0DCBF7C4}"/>
              </a:ext>
            </a:extLst>
          </p:cNvPr>
          <p:cNvSpPr/>
          <p:nvPr/>
        </p:nvSpPr>
        <p:spPr>
          <a:xfrm>
            <a:off x="5938199" y="2787926"/>
            <a:ext cx="390144" cy="3901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5FB8E3-2B6A-F1D6-8C7D-9D7810231C5F}"/>
              </a:ext>
            </a:extLst>
          </p:cNvPr>
          <p:cNvCxnSpPr>
            <a:cxnSpLocks/>
          </p:cNvCxnSpPr>
          <p:nvPr/>
        </p:nvCxnSpPr>
        <p:spPr>
          <a:xfrm>
            <a:off x="6455592" y="2787926"/>
            <a:ext cx="0" cy="3829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8D3537-5448-ADDF-8697-FA44F3DD487E}"/>
              </a:ext>
            </a:extLst>
          </p:cNvPr>
          <p:cNvSpPr txBox="1"/>
          <p:nvPr/>
        </p:nvSpPr>
        <p:spPr>
          <a:xfrm>
            <a:off x="6375812" y="284087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C10F6F-483F-7F3A-7CA8-D0430C5B54AF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58EC87-588A-8B04-E2AC-81A0948A9108}"/>
              </a:ext>
            </a:extLst>
          </p:cNvPr>
          <p:cNvSpPr txBox="1"/>
          <p:nvPr/>
        </p:nvSpPr>
        <p:spPr>
          <a:xfrm>
            <a:off x="5000469" y="499307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/>
              <a:t>Dividing Decimals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621FF-4689-4F2B-9B21-DB0C2E9538A7}"/>
              </a:ext>
            </a:extLst>
          </p:cNvPr>
          <p:cNvSpPr txBox="1"/>
          <p:nvPr/>
        </p:nvSpPr>
        <p:spPr>
          <a:xfrm>
            <a:off x="862702" y="52013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B7595-86BF-4844-A9A2-555C677246E3}"/>
              </a:ext>
            </a:extLst>
          </p:cNvPr>
          <p:cNvSpPr txBox="1"/>
          <p:nvPr/>
        </p:nvSpPr>
        <p:spPr>
          <a:xfrm>
            <a:off x="1020182" y="8706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FEE990-3668-4764-A31B-CF2905AC5CA7}"/>
              </a:ext>
            </a:extLst>
          </p:cNvPr>
          <p:cNvSpPr txBox="1"/>
          <p:nvPr/>
        </p:nvSpPr>
        <p:spPr>
          <a:xfrm>
            <a:off x="923662" y="120339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620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A89F96-CEC2-4F98-AA9F-9A8801695DC9}"/>
              </a:ext>
            </a:extLst>
          </p:cNvPr>
          <p:cNvSpPr txBox="1"/>
          <p:nvPr/>
        </p:nvSpPr>
        <p:spPr>
          <a:xfrm>
            <a:off x="2727062" y="48965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50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1A50E1-0458-4965-B57C-89FC9F0A55E2}"/>
              </a:ext>
            </a:extLst>
          </p:cNvPr>
          <p:cNvSpPr txBox="1"/>
          <p:nvPr/>
        </p:nvSpPr>
        <p:spPr>
          <a:xfrm>
            <a:off x="2930262" y="83509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60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492E59-82BA-48EC-96B2-AA108162DF39}"/>
              </a:ext>
            </a:extLst>
          </p:cNvPr>
          <p:cNvSpPr txBox="1"/>
          <p:nvPr/>
        </p:nvSpPr>
        <p:spPr>
          <a:xfrm>
            <a:off x="2737222" y="1188159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32F4CF-73C6-4A27-A7F9-5BBBC5D6C0C6}"/>
              </a:ext>
            </a:extLst>
          </p:cNvPr>
          <p:cNvSpPr txBox="1"/>
          <p:nvPr/>
        </p:nvSpPr>
        <p:spPr>
          <a:xfrm>
            <a:off x="4235822" y="53537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BA1FA0-B3BB-405C-A19D-A28C632E5C5A}"/>
              </a:ext>
            </a:extLst>
          </p:cNvPr>
          <p:cNvSpPr txBox="1"/>
          <p:nvPr/>
        </p:nvSpPr>
        <p:spPr>
          <a:xfrm>
            <a:off x="4444102" y="880819"/>
            <a:ext cx="40509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A5808C-180C-405E-AC9B-20F1A4D49638}"/>
              </a:ext>
            </a:extLst>
          </p:cNvPr>
          <p:cNvSpPr txBox="1"/>
          <p:nvPr/>
        </p:nvSpPr>
        <p:spPr>
          <a:xfrm>
            <a:off x="4184416" y="1221130"/>
            <a:ext cx="534936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130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28AA9-93AF-4814-BB14-D7BB1E982845}"/>
              </a:ext>
            </a:extLst>
          </p:cNvPr>
          <p:cNvSpPr txBox="1"/>
          <p:nvPr/>
        </p:nvSpPr>
        <p:spPr>
          <a:xfrm>
            <a:off x="763642" y="164281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4,2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C1F056-1133-457A-8750-29283BA4E2C2}"/>
              </a:ext>
            </a:extLst>
          </p:cNvPr>
          <p:cNvSpPr txBox="1"/>
          <p:nvPr/>
        </p:nvSpPr>
        <p:spPr>
          <a:xfrm>
            <a:off x="908422" y="198317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0,6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4514AA-91AF-4043-B385-44A70A46AB7A}"/>
              </a:ext>
            </a:extLst>
          </p:cNvPr>
          <p:cNvSpPr txBox="1"/>
          <p:nvPr/>
        </p:nvSpPr>
        <p:spPr>
          <a:xfrm>
            <a:off x="761102" y="234385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1,9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C9D00E-EBD9-4078-AE25-FDACA4D75E65}"/>
              </a:ext>
            </a:extLst>
          </p:cNvPr>
          <p:cNvSpPr txBox="1"/>
          <p:nvPr/>
        </p:nvSpPr>
        <p:spPr>
          <a:xfrm>
            <a:off x="2640702" y="1626944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0,8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1C3098-F764-4F82-B720-638C439BED1D}"/>
              </a:ext>
            </a:extLst>
          </p:cNvPr>
          <p:cNvSpPr txBox="1"/>
          <p:nvPr/>
        </p:nvSpPr>
        <p:spPr>
          <a:xfrm>
            <a:off x="2727062" y="1988894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3,2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11B2E4-8861-4FA4-97BD-18413873295C}"/>
              </a:ext>
            </a:extLst>
          </p:cNvPr>
          <p:cNvSpPr txBox="1"/>
          <p:nvPr/>
        </p:nvSpPr>
        <p:spPr>
          <a:xfrm>
            <a:off x="2651497" y="23209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1,8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CE3B79-852B-4AD7-B08C-BA6BD2DAD195}"/>
              </a:ext>
            </a:extLst>
          </p:cNvPr>
          <p:cNvSpPr txBox="1"/>
          <p:nvPr/>
        </p:nvSpPr>
        <p:spPr>
          <a:xfrm>
            <a:off x="4110092" y="16478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2,7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742366-FFC0-4BC4-B3BE-7DB74BF137A3}"/>
              </a:ext>
            </a:extLst>
          </p:cNvPr>
          <p:cNvSpPr txBox="1"/>
          <p:nvPr/>
        </p:nvSpPr>
        <p:spPr>
          <a:xfrm>
            <a:off x="4314562" y="1999689"/>
            <a:ext cx="46921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1,7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7D9575-F664-4CBC-8BB7-1933440822C0}"/>
              </a:ext>
            </a:extLst>
          </p:cNvPr>
          <p:cNvSpPr txBox="1"/>
          <p:nvPr/>
        </p:nvSpPr>
        <p:spPr>
          <a:xfrm>
            <a:off x="4171052" y="234639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1,4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E51F1C-73CB-4289-8185-8411B96C90DF}"/>
              </a:ext>
            </a:extLst>
          </p:cNvPr>
          <p:cNvSpPr txBox="1"/>
          <p:nvPr/>
        </p:nvSpPr>
        <p:spPr>
          <a:xfrm>
            <a:off x="954142" y="2785819"/>
            <a:ext cx="46921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1,7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09F635-9FC6-44EC-9AF0-4807B9DA893B}"/>
              </a:ext>
            </a:extLst>
          </p:cNvPr>
          <p:cNvSpPr txBox="1"/>
          <p:nvPr/>
        </p:nvSpPr>
        <p:spPr>
          <a:xfrm>
            <a:off x="1311535" y="3139178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32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C3FF49-4901-49C0-BCFA-727558EF72B7}"/>
              </a:ext>
            </a:extLst>
          </p:cNvPr>
          <p:cNvSpPr txBox="1"/>
          <p:nvPr/>
        </p:nvSpPr>
        <p:spPr>
          <a:xfrm>
            <a:off x="3331582" y="2775659"/>
            <a:ext cx="405093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DE2EFA-B7DF-4332-BD51-340C48A7DD80}"/>
              </a:ext>
            </a:extLst>
          </p:cNvPr>
          <p:cNvSpPr txBox="1"/>
          <p:nvPr/>
        </p:nvSpPr>
        <p:spPr>
          <a:xfrm>
            <a:off x="3363257" y="3126329"/>
            <a:ext cx="599057" cy="30777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0,27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6C5839-4B9F-4ABE-8EF4-6BD798106FB8}"/>
              </a:ext>
            </a:extLst>
          </p:cNvPr>
          <p:cNvSpPr txBox="1"/>
          <p:nvPr/>
        </p:nvSpPr>
        <p:spPr>
          <a:xfrm>
            <a:off x="5976693" y="843156"/>
            <a:ext cx="534936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6E195A-0559-40E8-A7DB-570FE3DFB503}"/>
              </a:ext>
            </a:extLst>
          </p:cNvPr>
          <p:cNvSpPr txBox="1"/>
          <p:nvPr/>
        </p:nvSpPr>
        <p:spPr>
          <a:xfrm>
            <a:off x="8842829" y="1511176"/>
            <a:ext cx="599057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1,52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F5B0D7-00B1-4145-94B5-6E3D7C0BAD7A}"/>
              </a:ext>
            </a:extLst>
          </p:cNvPr>
          <p:cNvSpPr txBox="1"/>
          <p:nvPr/>
        </p:nvSpPr>
        <p:spPr>
          <a:xfrm>
            <a:off x="6727165" y="2055991"/>
            <a:ext cx="664779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1000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245CBB-EB2D-4857-B7C8-41A2A67D3AF1}"/>
              </a:ext>
            </a:extLst>
          </p:cNvPr>
          <p:cNvSpPr txBox="1"/>
          <p:nvPr/>
        </p:nvSpPr>
        <p:spPr>
          <a:xfrm>
            <a:off x="6727165" y="2939707"/>
            <a:ext cx="97095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2,35 cm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609C69-FA92-410C-B161-7558586BFB07}"/>
              </a:ext>
            </a:extLst>
          </p:cNvPr>
          <p:cNvSpPr txBox="1"/>
          <p:nvPr/>
        </p:nvSpPr>
        <p:spPr>
          <a:xfrm>
            <a:off x="7945837" y="5139758"/>
            <a:ext cx="97095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3,25 cm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15AC20-5EF3-4F3B-A5A3-2A4EF6C1A48D}"/>
              </a:ext>
            </a:extLst>
          </p:cNvPr>
          <p:cNvSpPr/>
          <p:nvPr/>
        </p:nvSpPr>
        <p:spPr>
          <a:xfrm>
            <a:off x="6827718" y="5244543"/>
            <a:ext cx="28104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FF3D7-6A4D-4E2C-2047-28398921FD65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200" b="1" dirty="0"/>
              <a:t>Ондуктарды бөлүү</a:t>
            </a:r>
            <a:endParaRPr lang="en-US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14404-1873-4661-2EE2-C28F0D2762B3}"/>
              </a:ext>
            </a:extLst>
          </p:cNvPr>
          <p:cNvSpPr txBox="1"/>
          <p:nvPr/>
        </p:nvSpPr>
        <p:spPr>
          <a:xfrm>
            <a:off x="-55141" y="284068"/>
            <a:ext cx="471273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200" dirty="0"/>
              <a:t>Амалдарды аткаргыла: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ky-KG" sz="1200" dirty="0"/>
              <a:t>1</a:t>
            </a:r>
            <a:r>
              <a:rPr lang="en-US" sz="1200" dirty="0"/>
              <a:t>) 8 ÷ 0,2      			</a:t>
            </a:r>
            <a:r>
              <a:rPr lang="ky-KG" sz="1200" dirty="0">
                <a:ea typeface="+mn-lt"/>
                <a:cs typeface="+mn-lt"/>
              </a:rPr>
              <a:t>2</a:t>
            </a:r>
            <a:r>
              <a:rPr lang="en-US" sz="1200" dirty="0">
                <a:ea typeface="+mn-lt"/>
                <a:cs typeface="+mn-lt"/>
              </a:rPr>
              <a:t>) 15 ÷ 0,3		     </a:t>
            </a:r>
            <a:r>
              <a:rPr lang="ky-KG" sz="1200" dirty="0">
                <a:ea typeface="+mn-lt"/>
                <a:cs typeface="+mn-lt"/>
              </a:rPr>
              <a:t>3</a:t>
            </a:r>
            <a:r>
              <a:rPr lang="en-US" sz="1200" dirty="0">
                <a:ea typeface="+mn-lt"/>
                <a:cs typeface="+mn-lt"/>
              </a:rPr>
              <a:t>) 28 ÷ 0,4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4</a:t>
            </a:r>
            <a:r>
              <a:rPr lang="en-US" sz="1200" dirty="0">
                <a:ea typeface="+mn-lt"/>
                <a:cs typeface="+mn-lt"/>
              </a:rPr>
              <a:t>) 32 ÷ 0,2       			</a:t>
            </a:r>
            <a:r>
              <a:rPr lang="ky-KG" sz="1200" dirty="0">
                <a:ea typeface="+mn-lt"/>
                <a:cs typeface="+mn-lt"/>
              </a:rPr>
              <a:t>5</a:t>
            </a:r>
            <a:r>
              <a:rPr lang="en-US" sz="1200" dirty="0">
                <a:ea typeface="+mn-lt"/>
                <a:cs typeface="+mn-lt"/>
              </a:rPr>
              <a:t>) 18 ÷ 0,3      		     </a:t>
            </a:r>
            <a:r>
              <a:rPr lang="ky-KG" sz="1200" dirty="0">
                <a:ea typeface="+mn-lt"/>
                <a:cs typeface="+mn-lt"/>
              </a:rPr>
              <a:t>6</a:t>
            </a:r>
            <a:r>
              <a:rPr lang="en-US" sz="1200" dirty="0">
                <a:ea typeface="+mn-lt"/>
                <a:cs typeface="+mn-lt"/>
              </a:rPr>
              <a:t>) 42 ÷ 0,6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7</a:t>
            </a:r>
            <a:r>
              <a:rPr lang="en-US" sz="1200" dirty="0">
                <a:ea typeface="+mn-lt"/>
                <a:cs typeface="+mn-lt"/>
              </a:rPr>
              <a:t>) 124 ÷ 0,2    			</a:t>
            </a:r>
            <a:r>
              <a:rPr lang="ky-KG" sz="1200" dirty="0">
                <a:ea typeface="+mn-lt"/>
                <a:cs typeface="+mn-lt"/>
              </a:rPr>
              <a:t>8</a:t>
            </a:r>
            <a:r>
              <a:rPr lang="en-US" sz="1200" dirty="0">
                <a:ea typeface="+mn-lt"/>
                <a:cs typeface="+mn-lt"/>
              </a:rPr>
              <a:t>) 64 ÷ 0,4       		     </a:t>
            </a:r>
            <a:r>
              <a:rPr lang="ky-KG" sz="1200" dirty="0">
                <a:ea typeface="+mn-lt"/>
                <a:cs typeface="+mn-lt"/>
              </a:rPr>
              <a:t>9</a:t>
            </a:r>
            <a:r>
              <a:rPr lang="en-US" sz="1200" dirty="0">
                <a:ea typeface="+mn-lt"/>
                <a:cs typeface="+mn-lt"/>
              </a:rPr>
              <a:t>) 91 ÷ 0,7       </a:t>
            </a:r>
            <a:endParaRPr lang="en-US" sz="1200" dirty="0"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10</a:t>
            </a:r>
            <a:r>
              <a:rPr lang="en-US" sz="1200" dirty="0">
                <a:ea typeface="+mn-lt"/>
                <a:cs typeface="+mn-lt"/>
              </a:rPr>
              <a:t>) 8,4 ÷ 2       			</a:t>
            </a:r>
            <a:r>
              <a:rPr lang="ky-KG" sz="1200" dirty="0">
                <a:ea typeface="+mn-lt"/>
                <a:cs typeface="+mn-lt"/>
              </a:rPr>
              <a:t>11</a:t>
            </a:r>
            <a:r>
              <a:rPr lang="en-US" sz="1200" dirty="0">
                <a:ea typeface="+mn-lt"/>
                <a:cs typeface="+mn-lt"/>
              </a:rPr>
              <a:t>) 2,4 ÷ 3       		     </a:t>
            </a:r>
            <a:r>
              <a:rPr lang="ky-KG" sz="1200" dirty="0">
                <a:ea typeface="+mn-lt"/>
                <a:cs typeface="+mn-lt"/>
              </a:rPr>
              <a:t>12</a:t>
            </a:r>
            <a:r>
              <a:rPr lang="en-US" sz="1200" dirty="0">
                <a:ea typeface="+mn-lt"/>
                <a:cs typeface="+mn-lt"/>
              </a:rPr>
              <a:t>) 8,1 ÷ 3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13</a:t>
            </a:r>
            <a:r>
              <a:rPr lang="en-US" sz="1200" dirty="0">
                <a:ea typeface="+mn-lt"/>
                <a:cs typeface="+mn-lt"/>
              </a:rPr>
              <a:t>) 3,6 ÷ 6       			</a:t>
            </a:r>
            <a:r>
              <a:rPr lang="ky-KG" sz="1200" dirty="0">
                <a:ea typeface="+mn-lt"/>
                <a:cs typeface="+mn-lt"/>
              </a:rPr>
              <a:t>14</a:t>
            </a:r>
            <a:r>
              <a:rPr lang="en-US" sz="1200" dirty="0">
                <a:ea typeface="+mn-lt"/>
                <a:cs typeface="+mn-lt"/>
              </a:rPr>
              <a:t>) 12,8 ÷ 4		    </a:t>
            </a:r>
            <a:r>
              <a:rPr lang="ky-KG" sz="1200" dirty="0">
                <a:ea typeface="+mn-lt"/>
                <a:cs typeface="+mn-lt"/>
              </a:rPr>
              <a:t>15</a:t>
            </a:r>
            <a:r>
              <a:rPr lang="en-US" sz="1200" dirty="0">
                <a:ea typeface="+mn-lt"/>
                <a:cs typeface="+mn-lt"/>
              </a:rPr>
              <a:t>) 10,2 ÷ 6    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16</a:t>
            </a:r>
            <a:r>
              <a:rPr lang="en-US" sz="1200" dirty="0">
                <a:ea typeface="+mn-lt"/>
                <a:cs typeface="+mn-lt"/>
              </a:rPr>
              <a:t>) 9,5 ÷ 5       			</a:t>
            </a:r>
            <a:r>
              <a:rPr lang="ky-KG" sz="1200" dirty="0">
                <a:ea typeface="+mn-lt"/>
                <a:cs typeface="+mn-lt"/>
              </a:rPr>
              <a:t>17</a:t>
            </a:r>
            <a:r>
              <a:rPr lang="en-US" sz="1200" dirty="0">
                <a:ea typeface="+mn-lt"/>
                <a:cs typeface="+mn-lt"/>
              </a:rPr>
              <a:t>) 7,2 ÷ 4       		     </a:t>
            </a:r>
            <a:r>
              <a:rPr lang="ky-KG" sz="1200" dirty="0">
                <a:ea typeface="+mn-lt"/>
                <a:cs typeface="+mn-lt"/>
              </a:rPr>
              <a:t>18</a:t>
            </a:r>
            <a:r>
              <a:rPr lang="en-US" sz="1200" dirty="0">
                <a:ea typeface="+mn-lt"/>
                <a:cs typeface="+mn-lt"/>
              </a:rPr>
              <a:t>) 9,8 ÷ 7         </a:t>
            </a:r>
          </a:p>
          <a:p>
            <a:pPr>
              <a:lnSpc>
                <a:spcPct val="150000"/>
              </a:lnSpc>
            </a:pPr>
            <a:endParaRPr lang="en-US" sz="1200" dirty="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19</a:t>
            </a:r>
            <a:r>
              <a:rPr lang="en-US" sz="1200" dirty="0">
                <a:ea typeface="+mn-lt"/>
                <a:cs typeface="+mn-lt"/>
              </a:rPr>
              <a:t>) 1,02 ÷ 0,6       			</a:t>
            </a:r>
            <a:r>
              <a:rPr lang="ky-KG" sz="1200" dirty="0">
                <a:ea typeface="+mn-lt"/>
                <a:cs typeface="+mn-lt"/>
              </a:rPr>
              <a:t>20</a:t>
            </a:r>
            <a:r>
              <a:rPr lang="en-US" sz="1200" dirty="0">
                <a:ea typeface="+mn-lt"/>
                <a:cs typeface="+mn-lt"/>
              </a:rPr>
              <a:t>) 0,64 ÷ 0,04       </a:t>
            </a:r>
          </a:p>
          <a:p>
            <a:pPr>
              <a:lnSpc>
                <a:spcPct val="150000"/>
              </a:lnSpc>
            </a:pPr>
            <a:r>
              <a:rPr lang="ky-KG" sz="1200" dirty="0">
                <a:ea typeface="+mn-lt"/>
                <a:cs typeface="+mn-lt"/>
              </a:rPr>
              <a:t>21</a:t>
            </a:r>
            <a:r>
              <a:rPr lang="en-US" sz="1200" dirty="0">
                <a:ea typeface="+mn-lt"/>
                <a:cs typeface="+mn-lt"/>
              </a:rPr>
              <a:t>) 1,6 ÷ 0,05       			</a:t>
            </a:r>
            <a:r>
              <a:rPr lang="ky-KG" sz="1200" dirty="0">
                <a:ea typeface="+mn-lt"/>
                <a:cs typeface="+mn-lt"/>
              </a:rPr>
              <a:t>22</a:t>
            </a:r>
            <a:r>
              <a:rPr lang="en-US" sz="1200" dirty="0">
                <a:ea typeface="+mn-lt"/>
                <a:cs typeface="+mn-lt"/>
              </a:rPr>
              <a:t>) 0,135 ÷ 0,5</a:t>
            </a: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.          </a:t>
            </a:r>
            <a:endParaRPr lang="en-US" sz="1200" dirty="0">
              <a:cs typeface="Calibri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       </a:t>
            </a:r>
            <a:endParaRPr lang="en-US" sz="1200" dirty="0"/>
          </a:p>
          <a:p>
            <a:endParaRPr lang="en-US" sz="1200" dirty="0"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89BFA5-C508-1A5E-A7E8-7A0A7E7D6E82}"/>
              </a:ext>
            </a:extLst>
          </p:cNvPr>
          <p:cNvSpPr/>
          <p:nvPr/>
        </p:nvSpPr>
        <p:spPr>
          <a:xfrm>
            <a:off x="8583352" y="3974001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cs typeface="Calibri"/>
              </a:rPr>
              <a:t>?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EA26339-520E-D5B5-80DA-4E2D9A4F7435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19960D-60B7-83CD-BD02-4E3CE3CF78B2}"/>
              </a:ext>
            </a:extLst>
          </p:cNvPr>
          <p:cNvSpPr/>
          <p:nvPr/>
        </p:nvSpPr>
        <p:spPr>
          <a:xfrm>
            <a:off x="5938199" y="2787926"/>
            <a:ext cx="390144" cy="3901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7344BB-0461-9EC4-59DB-052CCD00A9FF}"/>
              </a:ext>
            </a:extLst>
          </p:cNvPr>
          <p:cNvCxnSpPr>
            <a:cxnSpLocks/>
          </p:cNvCxnSpPr>
          <p:nvPr/>
        </p:nvCxnSpPr>
        <p:spPr>
          <a:xfrm>
            <a:off x="6455592" y="2787926"/>
            <a:ext cx="0" cy="3829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69EB7C-7E42-30B6-7D3B-F76B14BD5048}"/>
              </a:ext>
            </a:extLst>
          </p:cNvPr>
          <p:cNvSpPr txBox="1"/>
          <p:nvPr/>
        </p:nvSpPr>
        <p:spPr>
          <a:xfrm>
            <a:off x="6375812" y="284087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?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CCA0B12-9430-0FE1-3539-E46201570F1E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169C54-D940-137E-E998-29787176B62B}"/>
              </a:ext>
            </a:extLst>
          </p:cNvPr>
          <p:cNvSpPr txBox="1"/>
          <p:nvPr/>
        </p:nvSpPr>
        <p:spPr>
          <a:xfrm>
            <a:off x="5000469" y="499307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>
              <a:solidFill>
                <a:prstClr val="black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7BF1F3-F362-4041-8517-8118F3803D8E}"/>
              </a:ext>
            </a:extLst>
          </p:cNvPr>
          <p:cNvSpPr txBox="1"/>
          <p:nvPr/>
        </p:nvSpPr>
        <p:spPr>
          <a:xfrm>
            <a:off x="8509114" y="3978492"/>
            <a:ext cx="469213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lIns="72000" tIns="0" rIns="72000" bIns="0" rtlCol="0">
            <a:spAutoFit/>
          </a:bodyPr>
          <a:lstStyle/>
          <a:p>
            <a:r>
              <a:rPr lang="en-GB" sz="2000" dirty="0"/>
              <a:t>0,3</a:t>
            </a:r>
          </a:p>
        </p:txBody>
      </p:sp>
    </p:spTree>
    <p:extLst>
      <p:ext uri="{BB962C8B-B14F-4D97-AF65-F5344CB8AC3E}">
        <p14:creationId xmlns:p14="http://schemas.microsoft.com/office/powerpoint/2010/main" val="67457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6EE19-B5BC-4360-B300-610A0B642743}"/>
              </a:ext>
            </a:extLst>
          </p:cNvPr>
          <p:cNvSpPr txBox="1"/>
          <p:nvPr/>
        </p:nvSpPr>
        <p:spPr>
          <a:xfrm>
            <a:off x="1543374" y="7069"/>
            <a:ext cx="18063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бөлүү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D7BA0-863F-481D-88CD-DAC18E674723}"/>
              </a:ext>
            </a:extLst>
          </p:cNvPr>
          <p:cNvSpPr txBox="1"/>
          <p:nvPr/>
        </p:nvSpPr>
        <p:spPr>
          <a:xfrm>
            <a:off x="12365" y="222308"/>
            <a:ext cx="471273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аткаргыла: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8 ÷ 0,2      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15 ÷ 0,3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28 ÷ 0,4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32 ÷ 0,2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18 ÷ 0,3     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42 ÷ 0,6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124 ÷ 0,2    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64 ÷ 0,4      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91 ÷ 0,7      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8,4 ÷ 2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2,4 ÷ 3      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8,1 ÷ 3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3,6 ÷ 6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14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12,8 ÷ 4		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 10,2 ÷ 6    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9,5 ÷ 5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7,2 ÷ 4       		     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9,8 ÷ 7  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 1,02 ÷ 0,6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20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0,64 ÷ 0,04      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1,6 ÷ 0,05       			</a:t>
            </a: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) 0,135 ÷ 0,5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.         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      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1719A-FF31-4203-B2B8-22C2072175E9}"/>
              </a:ext>
            </a:extLst>
          </p:cNvPr>
          <p:cNvSpPr/>
          <p:nvPr/>
        </p:nvSpPr>
        <p:spPr>
          <a:xfrm>
            <a:off x="8583352" y="3974001"/>
            <a:ext cx="320738" cy="3028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  <a:t>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F1251-42EC-4048-8813-78D3CB794F80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24B255-DB78-42E0-B59A-35DC1DF5B599}"/>
              </a:ext>
            </a:extLst>
          </p:cNvPr>
          <p:cNvSpPr/>
          <p:nvPr/>
        </p:nvSpPr>
        <p:spPr>
          <a:xfrm>
            <a:off x="5938199" y="2787926"/>
            <a:ext cx="390144" cy="39014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097F2C-E8A0-4A6E-ABA8-7C782D25928C}"/>
              </a:ext>
            </a:extLst>
          </p:cNvPr>
          <p:cNvCxnSpPr>
            <a:cxnSpLocks/>
          </p:cNvCxnSpPr>
          <p:nvPr/>
        </p:nvCxnSpPr>
        <p:spPr>
          <a:xfrm>
            <a:off x="6455592" y="2787926"/>
            <a:ext cx="0" cy="3829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A51CEB3-794A-4E79-BAA0-35D2C072696C}"/>
              </a:ext>
            </a:extLst>
          </p:cNvPr>
          <p:cNvSpPr txBox="1"/>
          <p:nvPr/>
        </p:nvSpPr>
        <p:spPr>
          <a:xfrm>
            <a:off x="6375812" y="2840877"/>
            <a:ext cx="37519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F8A8A9-207C-1D99-0F8A-5D4C205CDE59}"/>
              </a:ext>
            </a:extLst>
          </p:cNvPr>
          <p:cNvSpPr/>
          <p:nvPr/>
        </p:nvSpPr>
        <p:spPr>
          <a:xfrm>
            <a:off x="4953000" y="7069"/>
            <a:ext cx="4877888" cy="683188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8132C-EA43-89D5-E637-CCA7DCE9052A}"/>
              </a:ext>
            </a:extLst>
          </p:cNvPr>
          <p:cNvSpPr txBox="1"/>
          <p:nvPr/>
        </p:nvSpPr>
        <p:spPr>
          <a:xfrm>
            <a:off x="5000469" y="499307"/>
            <a:ext cx="4953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Бир карандашт 0,04 с турат. 5 сомго  канча карандаш сатып алса болот?</a:t>
            </a: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2) 5 дос 7,60 сомду бөлүшөт. Алардын ар бири канчадан тийет?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3) Азаматтын 2 тыйындан турган 20 сому бар, анын канча 2тыйындыктары  бар?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4) Бул квадраттын периметри 9,4 см.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Ар бир тараптын узундугу канча?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5) Бул эсептөөдө жетишпеген санды табыңыз 2,56 ×                = 0,768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6)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Беш бурчтуктун (пентагон) периметри 16,25 см.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 Ар бир тараптын узундугу канча? Жоопту сантиметр менен бериңиз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1593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7C8EB8-F9D7-D050-93B4-8E5D256D1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73780" y="969162"/>
            <a:ext cx="6700720" cy="47975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8690A2-DCDD-2089-E3AF-61DF645D3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56862" y="951582"/>
            <a:ext cx="6700720" cy="479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622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10408</TotalTime>
  <Words>1140</Words>
  <Application>Microsoft Office PowerPoint</Application>
  <PresentationFormat>A4 Paper (210x297 mm)</PresentationFormat>
  <Paragraphs>238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777</cp:revision>
  <cp:lastPrinted>2020-10-11T10:24:25Z</cp:lastPrinted>
  <dcterms:created xsi:type="dcterms:W3CDTF">2017-01-17T16:57:04Z</dcterms:created>
  <dcterms:modified xsi:type="dcterms:W3CDTF">2024-05-28T11:55:54Z</dcterms:modified>
</cp:coreProperties>
</file>