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3"/>
  </p:notesMasterIdLst>
  <p:sldIdLst>
    <p:sldId id="939" r:id="rId2"/>
    <p:sldId id="941" r:id="rId3"/>
    <p:sldId id="851" r:id="rId4"/>
    <p:sldId id="977" r:id="rId5"/>
    <p:sldId id="980" r:id="rId6"/>
    <p:sldId id="983" r:id="rId7"/>
    <p:sldId id="986" r:id="rId8"/>
    <p:sldId id="996" r:id="rId9"/>
    <p:sldId id="993" r:id="rId10"/>
    <p:sldId id="990" r:id="rId11"/>
    <p:sldId id="987" r:id="rId12"/>
    <p:sldId id="997" r:id="rId13"/>
    <p:sldId id="994" r:id="rId14"/>
    <p:sldId id="991" r:id="rId15"/>
    <p:sldId id="988" r:id="rId16"/>
    <p:sldId id="998" r:id="rId17"/>
    <p:sldId id="995" r:id="rId18"/>
    <p:sldId id="992" r:id="rId19"/>
    <p:sldId id="989" r:id="rId20"/>
    <p:sldId id="940" r:id="rId21"/>
    <p:sldId id="938" r:id="rId22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C55A11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91" autoAdjust="0"/>
    <p:restoredTop sz="93447" autoAdjust="0"/>
  </p:normalViewPr>
  <p:slideViewPr>
    <p:cSldViewPr snapToGrid="0" showGuides="1">
      <p:cViewPr varScale="1">
        <p:scale>
          <a:sx n="64" d="100"/>
          <a:sy n="64" d="100"/>
        </p:scale>
        <p:origin x="1572" y="9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22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29/04/2024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22"/>
            <a:ext cx="9906000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Амалдардын тартиби</a:t>
            </a:r>
            <a:r>
              <a:rPr lang="en-US" sz="2000" dirty="0"/>
              <a:t> – </a:t>
            </a:r>
            <a:r>
              <a:rPr lang="ru-RU" sz="2000" dirty="0"/>
              <a:t>Багыттарган  сандар – Терс сандар - </a:t>
            </a:r>
            <a:r>
              <a:rPr lang="en-US" sz="2000" dirty="0" err="1"/>
              <a:t>Бинго</a:t>
            </a:r>
            <a:r>
              <a:rPr lang="en-US" sz="2000" dirty="0"/>
              <a:t> </a:t>
            </a:r>
            <a:r>
              <a:rPr lang="en-US" sz="2000" dirty="0" err="1"/>
              <a:t>жооптору</a:t>
            </a:r>
            <a:r>
              <a:rPr lang="en-US" sz="2000" dirty="0"/>
              <a:t> </a:t>
            </a:r>
            <a:r>
              <a:rPr lang="en-US" sz="2000" dirty="0" err="1"/>
              <a:t>гана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Окуучулар </a:t>
            </a:r>
            <a:r>
              <a:rPr lang="ru-RU" sz="2400" dirty="0">
                <a:solidFill>
                  <a:srgbClr val="FF0000"/>
                </a:solidFill>
              </a:rPr>
              <a:t>суроо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тордон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000" dirty="0" err="1"/>
              <a:t>тогуз</a:t>
            </a:r>
            <a:r>
              <a:rPr lang="en-US" sz="2000" dirty="0"/>
              <a:t> </a:t>
            </a:r>
            <a:r>
              <a:rPr lang="en-US" sz="2000" dirty="0" err="1"/>
              <a:t>жоопту</a:t>
            </a:r>
            <a:r>
              <a:rPr lang="en-US" sz="2000" dirty="0"/>
              <a:t> </a:t>
            </a:r>
            <a:r>
              <a:rPr lang="en-US" sz="2000" dirty="0" err="1"/>
              <a:t>тандап</a:t>
            </a:r>
            <a:r>
              <a:rPr lang="en-US" sz="2000" dirty="0"/>
              <a:t>, </a:t>
            </a:r>
            <a:r>
              <a:rPr lang="en-US" sz="2000" dirty="0" err="1"/>
              <a:t>аларды</a:t>
            </a:r>
            <a:r>
              <a:rPr lang="en-US" sz="2000" dirty="0"/>
              <a:t> </a:t>
            </a:r>
            <a:r>
              <a:rPr lang="ru-RU" sz="2000" dirty="0"/>
              <a:t>дептериндеги</a:t>
            </a:r>
            <a:r>
              <a:rPr lang="en-US" sz="2000" dirty="0"/>
              <a:t> 3х3 </a:t>
            </a:r>
            <a:r>
              <a:rPr lang="en-US" sz="2000" dirty="0" err="1"/>
              <a:t>квадратка</a:t>
            </a:r>
            <a:r>
              <a:rPr lang="en-US" sz="2000" dirty="0"/>
              <a:t> </a:t>
            </a:r>
            <a:r>
              <a:rPr lang="en-US" sz="2000" dirty="0" err="1"/>
              <a:t>туш</a:t>
            </a:r>
            <a:r>
              <a:rPr lang="en-US" sz="2000" dirty="0"/>
              <a:t> </a:t>
            </a:r>
            <a:r>
              <a:rPr lang="en-US" sz="2000" dirty="0" err="1"/>
              <a:t>келди</a:t>
            </a:r>
            <a:r>
              <a:rPr lang="en-US" sz="2000" dirty="0"/>
              <a:t> </a:t>
            </a:r>
            <a:r>
              <a:rPr lang="en-US" sz="2000" dirty="0" err="1"/>
              <a:t>жайгаштырышы</a:t>
            </a:r>
            <a:r>
              <a:rPr lang="en-US" sz="2000" dirty="0"/>
              <a:t> </a:t>
            </a:r>
            <a:r>
              <a:rPr lang="en-US" sz="2000" dirty="0" err="1"/>
              <a:t>керек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Мугалим</a:t>
            </a:r>
            <a:r>
              <a:rPr lang="en-US" sz="2000" dirty="0"/>
              <a:t> </a:t>
            </a:r>
            <a:r>
              <a:rPr lang="en-US" sz="2000" dirty="0" err="1"/>
              <a:t>оюн</a:t>
            </a:r>
            <a:r>
              <a:rPr lang="en-US" sz="2000" dirty="0"/>
              <a:t> </a:t>
            </a:r>
            <a:r>
              <a:rPr lang="en-US" sz="2000" dirty="0" err="1"/>
              <a:t>учурундагы</a:t>
            </a:r>
            <a:r>
              <a:rPr lang="en-US" sz="2000" dirty="0"/>
              <a:t> </a:t>
            </a:r>
            <a:r>
              <a:rPr lang="en-US" sz="2000" dirty="0" err="1"/>
              <a:t>кыйынчылыкка</a:t>
            </a:r>
            <a:r>
              <a:rPr lang="en-US" sz="2000" dirty="0"/>
              <a:t> </a:t>
            </a:r>
            <a:r>
              <a:rPr lang="en-US" sz="2000" dirty="0" err="1"/>
              <a:t>жараша</a:t>
            </a:r>
            <a:r>
              <a:rPr lang="en-US" sz="2000" dirty="0"/>
              <a:t> </a:t>
            </a:r>
            <a:r>
              <a:rPr lang="en-US" sz="2000" dirty="0" err="1"/>
              <a:t>суроолорду</a:t>
            </a:r>
            <a:r>
              <a:rPr lang="en-US" sz="2000" dirty="0"/>
              <a:t> </a:t>
            </a:r>
            <a:r>
              <a:rPr lang="en-US" sz="2000" dirty="0" err="1"/>
              <a:t>тандаса</a:t>
            </a:r>
            <a:r>
              <a:rPr lang="en-US" sz="2000" dirty="0"/>
              <a:t> </a:t>
            </a:r>
            <a:r>
              <a:rPr lang="en-US" sz="2000" dirty="0" err="1"/>
              <a:t>болот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Убакыттын</a:t>
            </a:r>
            <a:r>
              <a:rPr lang="en-US" sz="2000" dirty="0"/>
              <a:t> </a:t>
            </a:r>
            <a:r>
              <a:rPr lang="en-US" sz="2000" dirty="0" err="1"/>
              <a:t>өтүшүнө</a:t>
            </a:r>
            <a:r>
              <a:rPr lang="en-US" sz="2000" dirty="0"/>
              <a:t> </a:t>
            </a:r>
            <a:r>
              <a:rPr lang="en-US" sz="2000" dirty="0" err="1"/>
              <a:t>жараша</a:t>
            </a:r>
            <a:r>
              <a:rPr lang="en-US" sz="2000" dirty="0"/>
              <a:t>, </a:t>
            </a:r>
            <a:r>
              <a:rPr lang="ru-RU" sz="2000" dirty="0"/>
              <a:t>окуучулар</a:t>
            </a:r>
            <a:r>
              <a:rPr lang="en-US" sz="2000" dirty="0"/>
              <a:t> </a:t>
            </a:r>
            <a:r>
              <a:rPr lang="en-US" sz="2000" dirty="0" err="1"/>
              <a:t>сызык</a:t>
            </a:r>
            <a:r>
              <a:rPr lang="en-US" sz="2000" dirty="0"/>
              <a:t>, X </a:t>
            </a:r>
            <a:r>
              <a:rPr lang="en-US" sz="2000" dirty="0" err="1"/>
              <a:t>же</a:t>
            </a:r>
            <a:r>
              <a:rPr lang="en-US" sz="2000" dirty="0"/>
              <a:t> </a:t>
            </a:r>
            <a:r>
              <a:rPr lang="ru-RU" sz="2000" dirty="0"/>
              <a:t>О </a:t>
            </a:r>
            <a:r>
              <a:rPr lang="en-US" sz="2000" dirty="0"/>
              <a:t>  </a:t>
            </a:r>
            <a:r>
              <a:rPr lang="en-US" sz="2000" dirty="0" err="1"/>
              <a:t>менен</a:t>
            </a:r>
            <a:r>
              <a:rPr lang="en-US" sz="2000" dirty="0"/>
              <a:t> </a:t>
            </a:r>
            <a:r>
              <a:rPr lang="en-US" sz="2000" dirty="0" err="1"/>
              <a:t>жеңе</a:t>
            </a:r>
            <a:r>
              <a:rPr lang="en-US" sz="2000" dirty="0"/>
              <a:t> </a:t>
            </a:r>
            <a:r>
              <a:rPr lang="en-US" sz="2000" dirty="0" err="1"/>
              <a:t>алышат</a:t>
            </a:r>
            <a:r>
              <a:rPr lang="en-US" sz="2000" dirty="0"/>
              <a:t>.</a:t>
            </a:r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Анимацияларды текшерип, </a:t>
            </a:r>
            <a:r>
              <a:rPr lang="ky-KG" sz="2000" dirty="0"/>
              <a:t>сабагы</a:t>
            </a:r>
            <a:r>
              <a:rPr lang="ru-RU" sz="2000" dirty="0"/>
              <a:t>ң</a:t>
            </a:r>
            <a:r>
              <a:rPr lang="ky-KG" sz="2000" dirty="0"/>
              <a:t>ызга </a:t>
            </a:r>
            <a:r>
              <a:rPr lang="ru-RU" sz="2000" b="1" dirty="0">
                <a:solidFill>
                  <a:srgbClr val="FF0000"/>
                </a:solidFill>
              </a:rPr>
              <a:t>КЕРЕГИ ЖОК </a:t>
            </a:r>
            <a:r>
              <a:rPr lang="ru-RU" sz="2000" dirty="0"/>
              <a:t>слайддарды </a:t>
            </a:r>
            <a:r>
              <a:rPr lang="ru-RU" sz="3600" b="1" dirty="0">
                <a:solidFill>
                  <a:srgbClr val="FF0000"/>
                </a:solidFill>
              </a:rPr>
              <a:t>ӨЧҮРҮ</a:t>
            </a:r>
            <a:r>
              <a:rPr lang="ky-KG" sz="3600" b="1" dirty="0">
                <a:solidFill>
                  <a:srgbClr val="FF0000"/>
                </a:solidFill>
              </a:rPr>
              <a:t>П САЛЫ</a:t>
            </a:r>
            <a:r>
              <a:rPr lang="ru-RU" sz="3600" b="1" dirty="0">
                <a:solidFill>
                  <a:srgbClr val="FF0000"/>
                </a:solidFill>
              </a:rPr>
              <a:t>ҢЫЗ.</a:t>
            </a:r>
            <a:endParaRPr lang="en-US" sz="2000" b="1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4796DCC9-7296-83D1-96A8-4127C71B8D1A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73566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531378"/>
              </p:ext>
            </p:extLst>
          </p:nvPr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16600" b="1" cap="none" spc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Бинго</a:t>
            </a:r>
            <a:r>
              <a:rPr lang="en-US" sz="16600" b="1" cap="none" spc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94046" y="2426612"/>
            <a:ext cx="9811954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ru-RU" sz="8000" b="1" dirty="0">
                <a:ln w="38100">
                  <a:solidFill>
                    <a:sysClr val="windowText" lastClr="000000"/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highlight>
                  <a:srgbClr val="FF3300"/>
                </a:highlight>
              </a:rPr>
              <a:t>Терс сандар</a:t>
            </a:r>
          </a:p>
          <a:p>
            <a:r>
              <a:rPr lang="ru-RU" sz="8000" b="1" dirty="0">
                <a:ln w="38100">
                  <a:solidFill>
                    <a:sysClr val="windowText" lastClr="000000"/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highlight>
                  <a:srgbClr val="FF3300"/>
                </a:highlight>
              </a:rPr>
              <a:t> менен</a:t>
            </a:r>
            <a:endParaRPr lang="en-US" sz="8000" b="1" dirty="0">
              <a:ln w="38100">
                <a:solidFill>
                  <a:sysClr val="windowText" lastClr="000000"/>
                </a:solidFill>
              </a:ln>
              <a:solidFill>
                <a:schemeClr val="accent1">
                  <a:lumMod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  <a:highlight>
                <a:srgbClr val="FF3300"/>
              </a:highlight>
            </a:endParaRPr>
          </a:p>
          <a:p>
            <a:pPr algn="ctr"/>
            <a:r>
              <a:rPr lang="ru-RU" sz="8000" b="1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Амалдардын тартиби</a:t>
            </a:r>
          </a:p>
          <a:p>
            <a:pPr algn="ctr"/>
            <a:r>
              <a:rPr lang="ru-RU" sz="4800" b="1" cap="none" spc="0" dirty="0">
                <a:ln w="38100">
                  <a:solidFill>
                    <a:sysClr val="windowText" lastClr="000000"/>
                  </a:solidFill>
                </a:ln>
                <a:solidFill>
                  <a:srgbClr val="FFC000"/>
                </a:solidFill>
                <a:effectLst>
                  <a:reflection blurRad="6350" stA="53000" endA="300" endPos="35500" dir="5400000" sy="-90000" algn="bl" rotWithShape="0"/>
                </a:effectLst>
              </a:rPr>
              <a:t>кошуу, кемитүү, көбөйтүү, бөлүү</a:t>
            </a:r>
          </a:p>
        </p:txBody>
      </p:sp>
    </p:spTree>
    <p:extLst>
      <p:ext uri="{BB962C8B-B14F-4D97-AF65-F5344CB8AC3E}">
        <p14:creationId xmlns:p14="http://schemas.microsoft.com/office/powerpoint/2010/main" val="2383214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92100" y="1197032"/>
          <a:ext cx="9321800" cy="4430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13</a:t>
                      </a:r>
                      <a:endParaRPr kumimoji="0" lang="en-GB" sz="4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−17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658112" y="6041522"/>
            <a:ext cx="3487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Китебиңизге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00B0F0"/>
                </a:solidFill>
              </a:rPr>
              <a:t>Эсептеңиз:</a:t>
            </a:r>
            <a:endParaRPr lang="en-GB" sz="3600" b="1" dirty="0">
              <a:solidFill>
                <a:srgbClr val="00B0F0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−20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3 × −4 − 8</a:t>
            </a:r>
          </a:p>
        </p:txBody>
      </p:sp>
    </p:spTree>
    <p:extLst>
      <p:ext uri="{BB962C8B-B14F-4D97-AF65-F5344CB8AC3E}">
        <p14:creationId xmlns:p14="http://schemas.microsoft.com/office/powerpoint/2010/main" val="2734949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5812" y="220210"/>
            <a:ext cx="24868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92D050"/>
                </a:solidFill>
              </a:rPr>
              <a:t>Эсептеңиз:</a:t>
            </a:r>
            <a:r>
              <a:rPr lang="en-GB" sz="3600" b="1" dirty="0">
                <a:solidFill>
                  <a:srgbClr val="92D050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−1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(6 + −8) ÷ 2</a:t>
            </a:r>
          </a:p>
        </p:txBody>
      </p:sp>
    </p:spTree>
    <p:extLst>
      <p:ext uri="{BB962C8B-B14F-4D97-AF65-F5344CB8AC3E}">
        <p14:creationId xmlns:p14="http://schemas.microsoft.com/office/powerpoint/2010/main" val="1386152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FF0066"/>
                </a:solidFill>
              </a:rPr>
              <a:t>Эсептеңиз</a:t>
            </a:r>
            <a:r>
              <a:rPr lang="en-GB" sz="3600" b="1" dirty="0">
                <a:solidFill>
                  <a:srgbClr val="FF0066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−10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−6 × 3 − −8</a:t>
            </a:r>
          </a:p>
        </p:txBody>
      </p:sp>
    </p:spTree>
    <p:extLst>
      <p:ext uri="{BB962C8B-B14F-4D97-AF65-F5344CB8AC3E}">
        <p14:creationId xmlns:p14="http://schemas.microsoft.com/office/powerpoint/2010/main" val="939340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328976" y="325141"/>
            <a:ext cx="2360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FFC000"/>
                </a:solidFill>
              </a:rPr>
              <a:t>Эсептеңиз</a:t>
            </a:r>
            <a:r>
              <a:rPr lang="en-GB" sz="3600" b="1" dirty="0">
                <a:solidFill>
                  <a:srgbClr val="FFC000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−8 × 0 − −6</a:t>
            </a:r>
          </a:p>
        </p:txBody>
      </p:sp>
    </p:spTree>
    <p:extLst>
      <p:ext uri="{BB962C8B-B14F-4D97-AF65-F5344CB8AC3E}">
        <p14:creationId xmlns:p14="http://schemas.microsoft.com/office/powerpoint/2010/main" val="1226767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00B0F0"/>
                </a:solidFill>
              </a:rPr>
              <a:t>Эсептеңиз</a:t>
            </a:r>
            <a:r>
              <a:rPr lang="en-GB" sz="3600" b="1" dirty="0">
                <a:solidFill>
                  <a:srgbClr val="00B0F0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28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7 × (−2 + 6)</a:t>
            </a:r>
          </a:p>
        </p:txBody>
      </p:sp>
    </p:spTree>
    <p:extLst>
      <p:ext uri="{BB962C8B-B14F-4D97-AF65-F5344CB8AC3E}">
        <p14:creationId xmlns:p14="http://schemas.microsoft.com/office/powerpoint/2010/main" val="2119132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75517" y="117435"/>
            <a:ext cx="24868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chemeClr val="accent6"/>
                </a:solidFill>
              </a:rPr>
              <a:t>Эсептеңиз:</a:t>
            </a:r>
            <a:r>
              <a:rPr lang="en-GB" sz="3600" b="1" dirty="0">
                <a:solidFill>
                  <a:schemeClr val="accent6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(−6 − −15) ÷ 3</a:t>
            </a:r>
          </a:p>
        </p:txBody>
      </p:sp>
    </p:spTree>
    <p:extLst>
      <p:ext uri="{BB962C8B-B14F-4D97-AF65-F5344CB8AC3E}">
        <p14:creationId xmlns:p14="http://schemas.microsoft.com/office/powerpoint/2010/main" val="627958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FF0066"/>
                </a:solidFill>
              </a:rPr>
              <a:t>Эсептеңиз</a:t>
            </a:r>
            <a:r>
              <a:rPr lang="en-GB" sz="3600" b="1" dirty="0">
                <a:solidFill>
                  <a:srgbClr val="FF0066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(−5 + −13) ÷ −2</a:t>
            </a:r>
          </a:p>
        </p:txBody>
      </p:sp>
    </p:spTree>
    <p:extLst>
      <p:ext uri="{BB962C8B-B14F-4D97-AF65-F5344CB8AC3E}">
        <p14:creationId xmlns:p14="http://schemas.microsoft.com/office/powerpoint/2010/main" val="808156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FFC000"/>
                </a:solidFill>
              </a:rPr>
              <a:t>Эсептеңиз</a:t>
            </a:r>
            <a:r>
              <a:rPr lang="en-GB" sz="3600" b="1" dirty="0">
                <a:solidFill>
                  <a:srgbClr val="FFC000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−2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(−5 − −9) ÷ −2</a:t>
            </a:r>
          </a:p>
        </p:txBody>
      </p:sp>
    </p:spTree>
    <p:extLst>
      <p:ext uri="{BB962C8B-B14F-4D97-AF65-F5344CB8AC3E}">
        <p14:creationId xmlns:p14="http://schemas.microsoft.com/office/powerpoint/2010/main" val="2404376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239035" y="310151"/>
            <a:ext cx="2360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600" b="1" dirty="0">
                <a:solidFill>
                  <a:srgbClr val="00B0F0"/>
                </a:solidFill>
              </a:rPr>
              <a:t>Эсептеңиз</a:t>
            </a:r>
            <a:r>
              <a:rPr lang="en-GB" sz="3600" b="1" dirty="0">
                <a:solidFill>
                  <a:srgbClr val="00B0F0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26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6 − −4 × 5</a:t>
            </a:r>
          </a:p>
        </p:txBody>
      </p:sp>
    </p:spTree>
    <p:extLst>
      <p:ext uri="{BB962C8B-B14F-4D97-AF65-F5344CB8AC3E}">
        <p14:creationId xmlns:p14="http://schemas.microsoft.com/office/powerpoint/2010/main" val="2453794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92D050"/>
                </a:solidFill>
              </a:rPr>
              <a:t>Эсептеңиз</a:t>
            </a:r>
            <a:r>
              <a:rPr lang="en-GB" sz="3600" b="1" dirty="0">
                <a:solidFill>
                  <a:srgbClr val="92D050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25 ÷ −5 + 9</a:t>
            </a:r>
          </a:p>
        </p:txBody>
      </p:sp>
    </p:spTree>
    <p:extLst>
      <p:ext uri="{BB962C8B-B14F-4D97-AF65-F5344CB8AC3E}">
        <p14:creationId xmlns:p14="http://schemas.microsoft.com/office/powerpoint/2010/main" val="4171644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FF0066"/>
                </a:solidFill>
              </a:rPr>
              <a:t>Эсептеңиз:</a:t>
            </a:r>
            <a:endParaRPr lang="en-GB" sz="3600" b="1" dirty="0">
              <a:solidFill>
                <a:srgbClr val="FF0066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−34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6 × −5 + −4</a:t>
            </a:r>
          </a:p>
        </p:txBody>
      </p:sp>
    </p:spTree>
    <p:extLst>
      <p:ext uri="{BB962C8B-B14F-4D97-AF65-F5344CB8AC3E}">
        <p14:creationId xmlns:p14="http://schemas.microsoft.com/office/powerpoint/2010/main" val="3152185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FFC000"/>
                </a:solidFill>
              </a:rPr>
              <a:t>Эсептеңиз</a:t>
            </a:r>
            <a:r>
              <a:rPr lang="en-GB" sz="3600" b="1" dirty="0">
                <a:solidFill>
                  <a:srgbClr val="FFC000"/>
                </a:solidFill>
              </a:rPr>
              <a:t>: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−26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4 − −5 × −6</a:t>
            </a:r>
          </a:p>
        </p:txBody>
      </p:sp>
    </p:spTree>
    <p:extLst>
      <p:ext uri="{BB962C8B-B14F-4D97-AF65-F5344CB8AC3E}">
        <p14:creationId xmlns:p14="http://schemas.microsoft.com/office/powerpoint/2010/main" val="392473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00B0F0"/>
                </a:solidFill>
              </a:rPr>
              <a:t>Эсептеңиз:</a:t>
            </a:r>
            <a:endParaRPr lang="en-GB" sz="3600" b="1" dirty="0">
              <a:solidFill>
                <a:srgbClr val="00B0F0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−17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7 + −3 × 8</a:t>
            </a:r>
          </a:p>
        </p:txBody>
      </p:sp>
    </p:spTree>
    <p:extLst>
      <p:ext uri="{BB962C8B-B14F-4D97-AF65-F5344CB8AC3E}">
        <p14:creationId xmlns:p14="http://schemas.microsoft.com/office/powerpoint/2010/main" val="83447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92D050"/>
                </a:solidFill>
              </a:rPr>
              <a:t>Эсептеңиз:</a:t>
            </a:r>
            <a:endParaRPr lang="en-GB" sz="3600" b="1" dirty="0">
              <a:solidFill>
                <a:srgbClr val="92D050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−5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25 ÷ (−3 − 2)</a:t>
            </a:r>
          </a:p>
        </p:txBody>
      </p:sp>
    </p:spTree>
    <p:extLst>
      <p:ext uri="{BB962C8B-B14F-4D97-AF65-F5344CB8AC3E}">
        <p14:creationId xmlns:p14="http://schemas.microsoft.com/office/powerpoint/2010/main" val="19689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FF0066"/>
                </a:solidFill>
              </a:rPr>
              <a:t>Эсептеңиз:</a:t>
            </a:r>
            <a:endParaRPr lang="en-GB" sz="3600" b="1" dirty="0">
              <a:solidFill>
                <a:srgbClr val="FF0066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−8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6 ÷ −6 − 7</a:t>
            </a:r>
          </a:p>
        </p:txBody>
      </p:sp>
    </p:spTree>
    <p:extLst>
      <p:ext uri="{BB962C8B-B14F-4D97-AF65-F5344CB8AC3E}">
        <p14:creationId xmlns:p14="http://schemas.microsoft.com/office/powerpoint/2010/main" val="294089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89131" y="220210"/>
            <a:ext cx="23601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b="1" dirty="0">
                <a:solidFill>
                  <a:srgbClr val="FFC000"/>
                </a:solidFill>
              </a:rPr>
              <a:t>Эсептеңиз:</a:t>
            </a:r>
            <a:endParaRPr lang="en-GB" sz="3600" b="1" dirty="0">
              <a:solidFill>
                <a:srgbClr val="FFC000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290663" y="4839419"/>
            <a:ext cx="3324673" cy="159118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DEA001-FDAB-DD8D-6C1E-95470771BA11}"/>
              </a:ext>
            </a:extLst>
          </p:cNvPr>
          <p:cNvSpPr/>
          <p:nvPr/>
        </p:nvSpPr>
        <p:spPr>
          <a:xfrm>
            <a:off x="1156938" y="1457863"/>
            <a:ext cx="7592122" cy="1871933"/>
          </a:xfrm>
          <a:prstGeom prst="roundRect">
            <a:avLst/>
          </a:prstGeom>
          <a:solidFill>
            <a:schemeClr val="bg1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</a:rPr>
              <a:t>−26 ÷ (−7 + 5)</a:t>
            </a:r>
          </a:p>
        </p:txBody>
      </p:sp>
    </p:spTree>
    <p:extLst>
      <p:ext uri="{BB962C8B-B14F-4D97-AF65-F5344CB8AC3E}">
        <p14:creationId xmlns:p14="http://schemas.microsoft.com/office/powerpoint/2010/main" val="3709975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44318" y="71764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8803</TotalTime>
  <Words>332</Words>
  <Application>Microsoft Office PowerPoint</Application>
  <PresentationFormat>A4 Paper (210x297 mm)</PresentationFormat>
  <Paragraphs>102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Calibri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406</cp:revision>
  <cp:lastPrinted>2017-12-31T22:38:51Z</cp:lastPrinted>
  <dcterms:created xsi:type="dcterms:W3CDTF">2017-01-17T16:57:04Z</dcterms:created>
  <dcterms:modified xsi:type="dcterms:W3CDTF">2024-04-29T09:24:02Z</dcterms:modified>
</cp:coreProperties>
</file>