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941" r:id="rId2"/>
    <p:sldId id="939" r:id="rId3"/>
    <p:sldId id="831" r:id="rId4"/>
    <p:sldId id="940" r:id="rId5"/>
    <p:sldId id="938" r:id="rId6"/>
  </p:sldIdLst>
  <p:sldSz cx="9906000" cy="6858000" type="A4"/>
  <p:notesSz cx="6669088" cy="9926638"/>
  <p:embeddedFontLst>
    <p:embeddedFont>
      <p:font typeface="Matura MT Script Capitals" panose="03020802060602070202" pitchFamily="66" charset="0"/>
      <p:regular r:id="rId8"/>
    </p:embeddedFont>
    <p:embeddedFont>
      <p:font typeface="Ravie" panose="04040805050809020602" pitchFamily="82" charset="0"/>
      <p:regular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41"/>
          </p14:sldIdLst>
        </p14:section>
        <p14:section name="Чвгылдыруу учун" id="{05C36403-E8B4-468F-A140-90D75B14B710}">
          <p14:sldIdLst>
            <p14:sldId id="939"/>
          </p14:sldIdLst>
        </p14:section>
        <p14:section name="Кагаздар" id="{C9917BAB-E32A-4A78-98A8-75E884F996CE}">
          <p14:sldIdLst>
            <p14:sldId id="831"/>
            <p14:sldId id="940"/>
          </p14:sldIdLst>
        </p14:section>
        <p14:section name="mathkgz" id="{F3D720CF-F566-46A6-9361-125255B68FA6}">
          <p14:sldIdLst>
            <p14:sldId id="93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7C7C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19/08/2024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446EB53F-C8E3-C609-08AC-A0D4E6921DE6}"/>
              </a:ext>
            </a:extLst>
          </p:cNvPr>
          <p:cNvSpPr txBox="1">
            <a:spLocks/>
          </p:cNvSpPr>
          <p:nvPr/>
        </p:nvSpPr>
        <p:spPr>
          <a:xfrm>
            <a:off x="187960" y="1774825"/>
            <a:ext cx="10515600" cy="4351338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Амалдарды аткаруу тартиби</a:t>
            </a:r>
            <a:r>
              <a:rPr lang="en-US" dirty="0"/>
              <a:t>  –</a:t>
            </a:r>
            <a:r>
              <a:rPr lang="ky-KG" dirty="0"/>
              <a:t>  Багытталган сандвр – катары менен төрт</a:t>
            </a:r>
          </a:p>
          <a:p>
            <a:endParaRPr lang="ky-KG" dirty="0"/>
          </a:p>
          <a:p>
            <a:r>
              <a:rPr lang="ky-KG" dirty="0"/>
              <a:t>Эки-экиден жарышып, окуучулар сол жактагы суроону тандашы керек жана </a:t>
            </a:r>
          </a:p>
          <a:p>
            <a:pPr marL="0" indent="0">
              <a:buNone/>
            </a:pPr>
            <a:r>
              <a:rPr lang="ky-KG" dirty="0"/>
              <a:t>жоопту эсептөөсу керек.</a:t>
            </a:r>
          </a:p>
          <a:p>
            <a:endParaRPr lang="ky-KG" dirty="0"/>
          </a:p>
          <a:p>
            <a:r>
              <a:rPr lang="ky-KG" dirty="0"/>
              <a:t>Алар жооп торчосунда катары менен төрт жооп алууга аракет кылышы керек</a:t>
            </a:r>
          </a:p>
          <a:p>
            <a:pPr marL="0" indent="0">
              <a:buNone/>
            </a:pPr>
            <a:r>
              <a:rPr lang="ky-KG" dirty="0"/>
              <a:t>(</a:t>
            </a:r>
            <a:r>
              <a:rPr lang="en-US" dirty="0" err="1"/>
              <a:t>Xs</a:t>
            </a:r>
            <a:r>
              <a:rPr lang="en-US" dirty="0"/>
              <a:t> </a:t>
            </a:r>
            <a:r>
              <a:rPr lang="ky-KG" dirty="0"/>
              <a:t>же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ky-KG" dirty="0"/>
              <a:t>колдонуу менен).</a:t>
            </a:r>
          </a:p>
          <a:p>
            <a:endParaRPr lang="ky-KG" dirty="0"/>
          </a:p>
          <a:p>
            <a:r>
              <a:rPr lang="ky-KG" dirty="0"/>
              <a:t>Окуучуларга суроолорду тандоо үчүн убакыт чегин белгилөө зарыл болушу мүмкүн!</a:t>
            </a:r>
          </a:p>
          <a:p>
            <a:endParaRPr lang="ky-KG" dirty="0"/>
          </a:p>
          <a:p>
            <a:r>
              <a:rPr lang="ky-KG" dirty="0"/>
              <a:t>Иш баракчалары 3 өлчөмдө.</a:t>
            </a:r>
            <a:endParaRPr lang="ru-RU" dirty="0"/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D0CBE51D-6645-F4AE-8F17-E3876F6C01BF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>
                <a:solidFill>
                  <a:srgbClr val="00B0F0"/>
                </a:solidFill>
              </a:rPr>
              <a:t>MathKGZ</a:t>
            </a:r>
            <a:r>
              <a:rPr lang="en-US" sz="5200">
                <a:solidFill>
                  <a:srgbClr val="00B0F0"/>
                </a:solidFill>
              </a:rPr>
              <a:t>  -- </a:t>
            </a:r>
            <a:endParaRPr lang="en-US" sz="5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3972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04F6338-9A32-4A54-8297-A41704B220A9}"/>
              </a:ext>
            </a:extLst>
          </p:cNvPr>
          <p:cNvGraphicFramePr>
            <a:graphicFrameLocks noGrp="1"/>
          </p:cNvGraphicFramePr>
          <p:nvPr/>
        </p:nvGraphicFramePr>
        <p:xfrm>
          <a:off x="5214438" y="2342248"/>
          <a:ext cx="4477056" cy="4477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176">
                  <a:extLst>
                    <a:ext uri="{9D8B030D-6E8A-4147-A177-3AD203B41FA5}">
                      <a16:colId xmlns:a16="http://schemas.microsoft.com/office/drawing/2014/main" val="4186202697"/>
                    </a:ext>
                  </a:extLst>
                </a:gridCol>
                <a:gridCol w="746176">
                  <a:extLst>
                    <a:ext uri="{9D8B030D-6E8A-4147-A177-3AD203B41FA5}">
                      <a16:colId xmlns:a16="http://schemas.microsoft.com/office/drawing/2014/main" val="963617051"/>
                    </a:ext>
                  </a:extLst>
                </a:gridCol>
                <a:gridCol w="746176">
                  <a:extLst>
                    <a:ext uri="{9D8B030D-6E8A-4147-A177-3AD203B41FA5}">
                      <a16:colId xmlns:a16="http://schemas.microsoft.com/office/drawing/2014/main" val="823350154"/>
                    </a:ext>
                  </a:extLst>
                </a:gridCol>
                <a:gridCol w="746176">
                  <a:extLst>
                    <a:ext uri="{9D8B030D-6E8A-4147-A177-3AD203B41FA5}">
                      <a16:colId xmlns:a16="http://schemas.microsoft.com/office/drawing/2014/main" val="310387196"/>
                    </a:ext>
                  </a:extLst>
                </a:gridCol>
                <a:gridCol w="746176">
                  <a:extLst>
                    <a:ext uri="{9D8B030D-6E8A-4147-A177-3AD203B41FA5}">
                      <a16:colId xmlns:a16="http://schemas.microsoft.com/office/drawing/2014/main" val="930399332"/>
                    </a:ext>
                  </a:extLst>
                </a:gridCol>
                <a:gridCol w="746176">
                  <a:extLst>
                    <a:ext uri="{9D8B030D-6E8A-4147-A177-3AD203B41FA5}">
                      <a16:colId xmlns:a16="http://schemas.microsoft.com/office/drawing/2014/main" val="2890655127"/>
                    </a:ext>
                  </a:extLst>
                </a:gridCol>
              </a:tblGrid>
              <a:tr h="7461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632324"/>
                  </a:ext>
                </a:extLst>
              </a:tr>
              <a:tr h="7461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010047"/>
                  </a:ext>
                </a:extLst>
              </a:tr>
              <a:tr h="7461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−29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002653"/>
                  </a:ext>
                </a:extLst>
              </a:tr>
              <a:tr h="7461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−38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5090426"/>
                  </a:ext>
                </a:extLst>
              </a:tr>
              <a:tr h="7461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579389"/>
                  </a:ext>
                </a:extLst>
              </a:tr>
              <a:tr h="7461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043861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6E4B9A-CCC4-408A-92D6-AF0A7B46DF69}"/>
              </a:ext>
            </a:extLst>
          </p:cNvPr>
          <p:cNvGraphicFramePr>
            <a:graphicFrameLocks noGrp="1"/>
          </p:cNvGraphicFramePr>
          <p:nvPr/>
        </p:nvGraphicFramePr>
        <p:xfrm>
          <a:off x="328807" y="43962"/>
          <a:ext cx="4426432" cy="6775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3216">
                  <a:extLst>
                    <a:ext uri="{9D8B030D-6E8A-4147-A177-3AD203B41FA5}">
                      <a16:colId xmlns:a16="http://schemas.microsoft.com/office/drawing/2014/main" val="1783487117"/>
                    </a:ext>
                  </a:extLst>
                </a:gridCol>
                <a:gridCol w="2213216">
                  <a:extLst>
                    <a:ext uri="{9D8B030D-6E8A-4147-A177-3AD203B41FA5}">
                      <a16:colId xmlns:a16="http://schemas.microsoft.com/office/drawing/2014/main" val="287481676"/>
                    </a:ext>
                  </a:extLst>
                </a:gridCol>
              </a:tblGrid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–3 </a:t>
                      </a: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+ –2 × –3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(–4 + 1) × 3 + 3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666071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(–5) – 4 ÷ 2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–4 × –5 – 2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825991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–6 × –3 + –2 × –8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 ÷ –5 – 7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722879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(–4 – –6) × 7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–2 × 5 – 3 × (–6)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696694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–20 ÷ 5 – 3 × –1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–7 × (–6 + 8)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597803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36 ÷ –6 + 8 × –4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–4 + –9 × 4 ÷ 6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679166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(2 + 5) × (–3) + 8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(–5 + 9) × –7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86815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–2 × 10 – 6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–7 + 25 ÷ 5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798909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(–7 – –7) ÷ –7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–24 ÷ –6 – –12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669354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 × (4 – –4) × 2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 – (–3) × 3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416711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–7 × –3 + –8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–5 × 4 + 1 × –11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940436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(–3) + (–26) ÷ (–2)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30 ÷ –6 + –3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032271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–6 + 7 × 3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(–5 – 3) ÷ –8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409496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–5 × (2 + 2) × –4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–2 × 8 – –4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445549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–35 ÷ 7 – –9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 × 0 – (–3) × 2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244069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(–8) × 4 + 3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(–13) + 14 ÷ (–7)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824915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–40 ÷ 4 × (–2 + 5)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11 – –2 × –11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601311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(–50) ÷ (–5) + (–5)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(–9 + 3) × (–6 + 9)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930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3F9E95B-D71B-4C19-BEF1-A48C15169383}"/>
              </a:ext>
            </a:extLst>
          </p:cNvPr>
          <p:cNvSpPr txBox="1"/>
          <p:nvPr/>
        </p:nvSpPr>
        <p:spPr>
          <a:xfrm>
            <a:off x="5528401" y="-459"/>
            <a:ext cx="328397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b="1" dirty="0">
                <a:latin typeface="Ravie" panose="04040805050809020602" pitchFamily="82" charset="0"/>
              </a:rPr>
              <a:t>Төрт катар</a:t>
            </a:r>
            <a:endParaRPr lang="en-GB" sz="4400" b="1" dirty="0">
              <a:latin typeface="Matura MT Script Capitals" panose="03020802060602070202" pitchFamily="66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FAEF3E-B1F7-4278-B548-B64BCC3BB988}"/>
              </a:ext>
            </a:extLst>
          </p:cNvPr>
          <p:cNvSpPr txBox="1"/>
          <p:nvPr/>
        </p:nvSpPr>
        <p:spPr>
          <a:xfrm>
            <a:off x="5035798" y="596978"/>
            <a:ext cx="483433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Сол жактан суроо тандаңыз.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Төмөнкү жоопту таап, (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X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же О) белгилеңиз.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Биринчи катары менен 4 жооп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туура келсген оюнчу жеңет!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592CEB-523F-4E96-9CEA-4010DA944B37}"/>
              </a:ext>
            </a:extLst>
          </p:cNvPr>
          <p:cNvSpPr txBox="1"/>
          <p:nvPr/>
        </p:nvSpPr>
        <p:spPr>
          <a:xfrm>
            <a:off x="6116126" y="1797307"/>
            <a:ext cx="26736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b="1" i="1" dirty="0">
                <a:latin typeface="Ravie" panose="04040805050809020602" pitchFamily="82" charset="0"/>
              </a:rPr>
              <a:t>Жооп торчосу</a:t>
            </a:r>
            <a:endParaRPr lang="en-GB" sz="2800" b="1" i="1" dirty="0">
              <a:latin typeface="Ravie" panose="04040805050809020602" pitchFamily="8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7EBA41-CFFA-4051-B751-7D7F4C55D333}"/>
              </a:ext>
            </a:extLst>
          </p:cNvPr>
          <p:cNvSpPr txBox="1"/>
          <p:nvPr/>
        </p:nvSpPr>
        <p:spPr>
          <a:xfrm rot="16200000">
            <a:off x="-1349101" y="3136614"/>
            <a:ext cx="2999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i="1" dirty="0">
                <a:latin typeface="Ravie" panose="04040805050809020602" pitchFamily="82" charset="0"/>
              </a:rPr>
              <a:t>Суроолор</a:t>
            </a:r>
            <a:endParaRPr lang="en-GB" sz="2800" b="1" i="1" dirty="0">
              <a:latin typeface="Ravie" panose="040408050508090206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217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Picture 85">
            <a:extLst>
              <a:ext uri="{FF2B5EF4-FFF2-40B4-BE49-F238E27FC236}">
                <a16:creationId xmlns:a16="http://schemas.microsoft.com/office/drawing/2014/main" id="{C756DEC6-8234-B384-23B0-66F3D0D58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97767" y="997766"/>
            <a:ext cx="6924675" cy="4929141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921501AA-2565-74A6-23D9-0B8C38818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12383" y="997766"/>
            <a:ext cx="6924675" cy="4929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496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Picture 85">
            <a:extLst>
              <a:ext uri="{FF2B5EF4-FFF2-40B4-BE49-F238E27FC236}">
                <a16:creationId xmlns:a16="http://schemas.microsoft.com/office/drawing/2014/main" id="{C756DEC6-8234-B384-23B0-66F3D0D58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4800600" cy="341717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AD970B5-4811-8211-BE03-226CE3C28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4926" y="1"/>
            <a:ext cx="4800600" cy="341717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1D11EB9-A0C7-3BBB-059D-4D9EA0152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3457576"/>
            <a:ext cx="4800600" cy="34171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BDE91B7-4C7C-66EA-3BEA-EA4FCDC78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4926" y="3457576"/>
            <a:ext cx="4800600" cy="3417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864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54478" y="59572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8999</TotalTime>
  <Words>493</Words>
  <Application>Microsoft Office PowerPoint</Application>
  <PresentationFormat>A4 Paper (210x297 mm)</PresentationFormat>
  <Paragraphs>104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Matura MT Script Capitals</vt:lpstr>
      <vt:lpstr>Arial</vt:lpstr>
      <vt:lpstr>Calibri</vt:lpstr>
      <vt:lpstr>Calibri Light</vt:lpstr>
      <vt:lpstr>Ravie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400</cp:revision>
  <cp:lastPrinted>2023-05-15T06:31:22Z</cp:lastPrinted>
  <dcterms:created xsi:type="dcterms:W3CDTF">2017-01-17T16:57:04Z</dcterms:created>
  <dcterms:modified xsi:type="dcterms:W3CDTF">2024-08-19T08:36:02Z</dcterms:modified>
</cp:coreProperties>
</file>