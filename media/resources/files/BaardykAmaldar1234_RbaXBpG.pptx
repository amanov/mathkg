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  <p:sldMasterId id="2147483717" r:id="rId2"/>
  </p:sldMasterIdLst>
  <p:notesMasterIdLst>
    <p:notesMasterId r:id="rId8"/>
  </p:notesMasterIdLst>
  <p:sldIdLst>
    <p:sldId id="947" r:id="rId3"/>
    <p:sldId id="944" r:id="rId4"/>
    <p:sldId id="943" r:id="rId5"/>
    <p:sldId id="945" r:id="rId6"/>
    <p:sldId id="938" r:id="rId7"/>
  </p:sldIdLst>
  <p:sldSz cx="9906000" cy="6858000" type="A4"/>
  <p:notesSz cx="7104063" cy="10234613"/>
  <p:embeddedFontLst>
    <p:embeddedFont>
      <p:font typeface="Calibri" panose="020F0502020204030204" pitchFamily="34" charset="0"/>
      <p:regular r:id="rId9"/>
      <p:bold r:id="rId10"/>
      <p:italic r:id="rId11"/>
      <p:boldItalic r:id="rId12"/>
    </p:embeddedFont>
    <p:embeddedFont>
      <p:font typeface="Calibri Light" panose="020F0302020204030204" pitchFamily="34" charset="0"/>
      <p:regular r:id="rId13"/>
      <p:italic r:id="rId14"/>
    </p:embeddedFont>
    <p:embeddedFont>
      <p:font typeface="Cambria Math" panose="02040503050406030204" pitchFamily="18" charset="0"/>
      <p:regular r:id="rId15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D4999"/>
    <a:srgbClr val="00FF00"/>
    <a:srgbClr val="FF33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691" autoAdjust="0"/>
    <p:restoredTop sz="92935" autoAdjust="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-424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font" Target="fonts/font5.fntdata"/><Relationship Id="rId18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font" Target="fonts/font4.fntdata"/><Relationship Id="rId17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font" Target="fonts/font3.fntdata"/><Relationship Id="rId5" Type="http://schemas.openxmlformats.org/officeDocument/2006/relationships/slide" Target="slides/slide3.xml"/><Relationship Id="rId15" Type="http://schemas.openxmlformats.org/officeDocument/2006/relationships/font" Target="fonts/font7.fntdata"/><Relationship Id="rId10" Type="http://schemas.openxmlformats.org/officeDocument/2006/relationships/font" Target="fonts/font2.fntdata"/><Relationship Id="rId19" Type="http://schemas.openxmlformats.org/officeDocument/2006/relationships/tableStyles" Target="tableStyles.xml"/><Relationship Id="rId4" Type="http://schemas.openxmlformats.org/officeDocument/2006/relationships/slide" Target="slides/slide2.xml"/><Relationship Id="rId9" Type="http://schemas.openxmlformats.org/officeDocument/2006/relationships/font" Target="fonts/font1.fntdata"/><Relationship Id="rId14" Type="http://schemas.openxmlformats.org/officeDocument/2006/relationships/font" Target="fonts/font6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3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01/10/2023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7275" y="1279525"/>
            <a:ext cx="498951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7" tIns="47319" rIns="94637" bIns="47319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0"/>
            <a:ext cx="5683250" cy="4029878"/>
          </a:xfrm>
          <a:prstGeom prst="rect">
            <a:avLst/>
          </a:prstGeom>
        </p:spPr>
        <p:txBody>
          <a:bodyPr vert="horz" lIns="94637" tIns="47319" rIns="94637" bIns="4731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3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125143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468773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8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423AB513-652E-C3BF-2C4E-383119CB0C3B}"/>
              </a:ext>
            </a:extLst>
          </p:cNvPr>
          <p:cNvSpPr txBox="1">
            <a:spLocks/>
          </p:cNvSpPr>
          <p:nvPr/>
        </p:nvSpPr>
        <p:spPr>
          <a:xfrm>
            <a:off x="74930" y="1767839"/>
            <a:ext cx="9292590" cy="4043363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ky-KG" dirty="0">
                <a:solidFill>
                  <a:prstClr val="black"/>
                </a:solidFill>
                <a:latin typeface="Calibri" panose="020F0502020204030204"/>
              </a:rPr>
              <a:t>Баардык </a:t>
            </a:r>
            <a:r>
              <a:rPr lang="ru-RU" dirty="0">
                <a:solidFill>
                  <a:prstClr val="black"/>
                </a:solidFill>
                <a:latin typeface="Calibri" panose="020F0502020204030204"/>
              </a:rPr>
              <a:t>а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малдарды</a:t>
            </a:r>
            <a:r>
              <a:rPr lang="ru-RU" dirty="0">
                <a:solidFill>
                  <a:prstClr val="black"/>
                </a:solidFill>
                <a:latin typeface="Calibri" panose="020F0502020204030204"/>
              </a:rPr>
              <a:t>н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аткаруу тартиби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–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ky-KG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1234</a:t>
            </a:r>
            <a:endParaRPr kumimoji="0" lang="ru-RU" sz="2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Проектордо чагылдырып койсо болот же принтерден чыгарып 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таркатып койсо болот</a:t>
            </a: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Анимацияларды текшерип, 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сабагы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ызга </a:t>
            </a: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КЕРЕГИ ЖОК 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слайддарды 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ӨЧҮРҮ</a:t>
            </a:r>
            <a:r>
              <a:rPr kumimoji="0" lang="ky-KG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П САЛЫ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ҢЫЗ.</a:t>
            </a: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02B12FE2-8A2D-1F09-EA87-1A4639F06177}"/>
              </a:ext>
            </a:extLst>
          </p:cNvPr>
          <p:cNvSpPr txBox="1">
            <a:spLocks/>
          </p:cNvSpPr>
          <p:nvPr/>
        </p:nvSpPr>
        <p:spPr>
          <a:xfrm>
            <a:off x="426720" y="269558"/>
            <a:ext cx="9404350" cy="1400175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19581825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6BAA9CE-D193-47DD-BE65-1AF84E30DE53}"/>
              </a:ext>
            </a:extLst>
          </p:cNvPr>
          <p:cNvCxnSpPr>
            <a:cxnSpLocks/>
          </p:cNvCxnSpPr>
          <p:nvPr/>
        </p:nvCxnSpPr>
        <p:spPr>
          <a:xfrm>
            <a:off x="4953000" y="-8791"/>
            <a:ext cx="0" cy="6866791"/>
          </a:xfrm>
          <a:prstGeom prst="line">
            <a:avLst/>
          </a:prstGeom>
          <a:ln w="38100">
            <a:solidFill>
              <a:schemeClr val="accent5">
                <a:lumMod val="75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72236D4-0054-4ED5-8FBC-824B234FEBA0}"/>
              </a:ext>
            </a:extLst>
          </p:cNvPr>
          <p:cNvCxnSpPr>
            <a:cxnSpLocks/>
          </p:cNvCxnSpPr>
          <p:nvPr/>
        </p:nvCxnSpPr>
        <p:spPr>
          <a:xfrm flipH="1">
            <a:off x="0" y="3429000"/>
            <a:ext cx="9906000" cy="0"/>
          </a:xfrm>
          <a:prstGeom prst="line">
            <a:avLst/>
          </a:prstGeom>
          <a:ln w="38100">
            <a:solidFill>
              <a:schemeClr val="accent5">
                <a:lumMod val="75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FECB9742-88CC-40B3-B3DD-9DCD4BC07A47}"/>
                  </a:ext>
                </a:extLst>
              </p:cNvPr>
              <p:cNvSpPr txBox="1"/>
              <p:nvPr/>
            </p:nvSpPr>
            <p:spPr>
              <a:xfrm>
                <a:off x="1633864" y="371345"/>
                <a:ext cx="154542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b="0" i="1" dirty="0" smtClean="0">
                          <a:latin typeface="Cambria Math" panose="02040503050406030204" pitchFamily="18" charset="0"/>
                        </a:rPr>
                        <m:t>20−2</m:t>
                      </m:r>
                      <m:r>
                        <a:rPr lang="en-GB" sz="20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  <m:sup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FECB9742-88CC-40B3-B3DD-9DCD4BC07A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3864" y="371345"/>
                <a:ext cx="1545423" cy="40011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TextBox 31">
            <a:extLst>
              <a:ext uri="{FF2B5EF4-FFF2-40B4-BE49-F238E27FC236}">
                <a16:creationId xmlns:a16="http://schemas.microsoft.com/office/drawing/2014/main" id="{A25D0E11-A039-4717-B475-46A31B5D1EAC}"/>
              </a:ext>
            </a:extLst>
          </p:cNvPr>
          <p:cNvSpPr txBox="1"/>
          <p:nvPr/>
        </p:nvSpPr>
        <p:spPr>
          <a:xfrm>
            <a:off x="11178" y="6707"/>
            <a:ext cx="1314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Эсептеңиз </a:t>
            </a:r>
            <a:r>
              <a:rPr lang="en-GB" dirty="0"/>
              <a:t>: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4B59711-1E13-476D-8D5A-656CA39EAB0B}"/>
              </a:ext>
            </a:extLst>
          </p:cNvPr>
          <p:cNvSpPr txBox="1"/>
          <p:nvPr/>
        </p:nvSpPr>
        <p:spPr>
          <a:xfrm>
            <a:off x="-8341" y="3042133"/>
            <a:ext cx="593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①</a:t>
            </a:r>
            <a:endParaRPr lang="en-GB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4755514-76BC-403D-A0F3-6171806C9378}"/>
              </a:ext>
            </a:extLst>
          </p:cNvPr>
          <p:cNvSpPr txBox="1"/>
          <p:nvPr/>
        </p:nvSpPr>
        <p:spPr>
          <a:xfrm>
            <a:off x="4924142" y="3042133"/>
            <a:ext cx="490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②</a:t>
            </a:r>
            <a:endParaRPr lang="en-GB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270C037-0EE2-4F4C-9F28-A0677567F837}"/>
              </a:ext>
            </a:extLst>
          </p:cNvPr>
          <p:cNvSpPr txBox="1"/>
          <p:nvPr/>
        </p:nvSpPr>
        <p:spPr>
          <a:xfrm>
            <a:off x="-8341" y="6479927"/>
            <a:ext cx="490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③</a:t>
            </a:r>
            <a:endParaRPr lang="en-GB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AC3B5B4-D0B7-49F2-ABBE-D42CC1F94024}"/>
              </a:ext>
            </a:extLst>
          </p:cNvPr>
          <p:cNvSpPr txBox="1"/>
          <p:nvPr/>
        </p:nvSpPr>
        <p:spPr>
          <a:xfrm>
            <a:off x="4924142" y="6479927"/>
            <a:ext cx="490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④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4CFF194-8A1E-4EB2-8A26-86C45EA53E66}"/>
                  </a:ext>
                </a:extLst>
              </p:cNvPr>
              <p:cNvSpPr txBox="1"/>
              <p:nvPr/>
            </p:nvSpPr>
            <p:spPr>
              <a:xfrm>
                <a:off x="6368539" y="371345"/>
                <a:ext cx="198483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20</m:t>
                      </m:r>
                      <m:r>
                        <a:rPr lang="en-GB" sz="20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÷</m:t>
                      </m:r>
                      <m:r>
                        <a:rPr lang="en-GB" sz="2000" b="0" i="1" dirty="0" smtClean="0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GB" sz="20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GB" sz="20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4</m:t>
                          </m:r>
                        </m:e>
                        <m:sup>
                          <m:r>
                            <a:rPr lang="en-GB" sz="20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GB" sz="20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GB" sz="20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4CFF194-8A1E-4EB2-8A26-86C45EA53E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68539" y="371345"/>
                <a:ext cx="1984839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3343ED0E-1049-492F-BDDC-582C4E5517BD}"/>
              </a:ext>
            </a:extLst>
          </p:cNvPr>
          <p:cNvSpPr txBox="1"/>
          <p:nvPr/>
        </p:nvSpPr>
        <p:spPr>
          <a:xfrm>
            <a:off x="4965563" y="6707"/>
            <a:ext cx="1314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Эсептеңиз </a:t>
            </a:r>
            <a:r>
              <a:rPr lang="en-GB" dirty="0"/>
              <a:t>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2D658B1-A1FB-4FDC-8BA5-43178C976934}"/>
                  </a:ext>
                </a:extLst>
              </p:cNvPr>
              <p:cNvSpPr txBox="1"/>
              <p:nvPr/>
            </p:nvSpPr>
            <p:spPr>
              <a:xfrm>
                <a:off x="856953" y="3812814"/>
                <a:ext cx="3099245" cy="44268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4</m:t>
                      </m:r>
                      <m:r>
                        <a:rPr lang="en-GB" sz="20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0÷</m:t>
                      </m:r>
                      <m:rad>
                        <m:radPr>
                          <m:degHide m:val="on"/>
                          <m:ctrlPr>
                            <a:rPr lang="en-GB" sz="20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25</m:t>
                          </m:r>
                        </m:e>
                      </m:rad>
                      <m:r>
                        <a:rPr lang="en-GB" sz="20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GB" sz="20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  <m:r>
                            <a:rPr lang="en-GB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GB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×2)</m:t>
                          </m:r>
                        </m:e>
                        <m:sup>
                          <m:r>
                            <a:rPr lang="en-GB" sz="20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2D658B1-A1FB-4FDC-8BA5-43178C9769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6953" y="3812814"/>
                <a:ext cx="3099245" cy="442685"/>
              </a:xfrm>
              <a:prstGeom prst="rect">
                <a:avLst/>
              </a:prstGeom>
              <a:blipFill>
                <a:blip r:embed="rId6"/>
                <a:stretch>
                  <a:fillRect b="-1369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E5E24E8E-0EBD-4E4E-A691-95B2EE8A14B2}"/>
              </a:ext>
            </a:extLst>
          </p:cNvPr>
          <p:cNvSpPr txBox="1"/>
          <p:nvPr/>
        </p:nvSpPr>
        <p:spPr>
          <a:xfrm>
            <a:off x="11178" y="3448176"/>
            <a:ext cx="1314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Эсептеңиз </a:t>
            </a:r>
            <a:r>
              <a:rPr lang="en-GB" dirty="0"/>
              <a:t>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DA8C7EA-DFE4-429A-9097-DBC958D1CDFB}"/>
                  </a:ext>
                </a:extLst>
              </p:cNvPr>
              <p:cNvSpPr txBox="1"/>
              <p:nvPr/>
            </p:nvSpPr>
            <p:spPr>
              <a:xfrm>
                <a:off x="5303281" y="3812814"/>
                <a:ext cx="4115357" cy="9680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ad>
                            <m:radPr>
                              <m:degHide m:val="on"/>
                              <m:ctrlPr>
                                <a:rPr lang="en-GB" sz="20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en-GB" sz="20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GB" sz="2000" b="0" i="1" dirty="0" smtClean="0">
                                      <a:latin typeface="Cambria Math" panose="02040503050406030204" pitchFamily="18" charset="0"/>
                                    </a:rPr>
                                    <m:t>6</m:t>
                                  </m:r>
                                </m:e>
                                <m:sup>
                                  <m:r>
                                    <a:rPr lang="en-GB" sz="20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GB" sz="20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×</m:t>
                              </m:r>
                              <m:r>
                                <a:rPr lang="en-GB" sz="20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4</m:t>
                              </m:r>
                            </m:e>
                          </m:rad>
                        </m:num>
                        <m:den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GB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d>
                            <m:dPr>
                              <m:ctrlPr>
                                <a:rPr lang="en-GB" sz="200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en-GB" sz="20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ad>
                                    <m:radPr>
                                      <m:degHide m:val="on"/>
                                      <m:ctrlPr>
                                        <a:rPr lang="en-GB" sz="20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en-GB" sz="20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25</m:t>
                                      </m:r>
                                    </m:e>
                                  </m:rad>
                                  <m:r>
                                    <a:rPr lang="en-GB" sz="2000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+5</m:t>
                                  </m:r>
                                </m:e>
                              </m:d>
                              <m:r>
                                <a:rPr lang="en-GB" sz="20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÷</m:t>
                              </m:r>
                              <m:r>
                                <a:rPr lang="en-GB" sz="20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den>
                      </m:f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000" b="0" i="1" dirty="0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sz="20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GB" sz="20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000" i="1" dirty="0">
                              <a:latin typeface="Cambria Math" panose="02040503050406030204" pitchFamily="18" charset="0"/>
                            </a:rPr>
                            <m:t>4</m:t>
                          </m:r>
                        </m:e>
                        <m:sup>
                          <m:r>
                            <a:rPr lang="en-GB" sz="20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GB" sz="20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÷</m:t>
                      </m:r>
                      <m:r>
                        <a:rPr lang="en-GB" sz="20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8</m:t>
                      </m:r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DA8C7EA-DFE4-429A-9097-DBC958D1CD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3281" y="3812814"/>
                <a:ext cx="4115357" cy="968086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TextBox 17">
            <a:extLst>
              <a:ext uri="{FF2B5EF4-FFF2-40B4-BE49-F238E27FC236}">
                <a16:creationId xmlns:a16="http://schemas.microsoft.com/office/drawing/2014/main" id="{EF4CB900-C6A5-45BD-AF34-518D0A5FF0B0}"/>
              </a:ext>
            </a:extLst>
          </p:cNvPr>
          <p:cNvSpPr txBox="1"/>
          <p:nvPr/>
        </p:nvSpPr>
        <p:spPr>
          <a:xfrm>
            <a:off x="4965563" y="3448176"/>
            <a:ext cx="1314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Эсептеңиз </a:t>
            </a:r>
            <a:r>
              <a:rPr lang="en-GB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7149874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6BAA9CE-D193-47DD-BE65-1AF84E30DE53}"/>
              </a:ext>
            </a:extLst>
          </p:cNvPr>
          <p:cNvCxnSpPr>
            <a:cxnSpLocks/>
          </p:cNvCxnSpPr>
          <p:nvPr/>
        </p:nvCxnSpPr>
        <p:spPr>
          <a:xfrm>
            <a:off x="4953000" y="-8791"/>
            <a:ext cx="0" cy="6866791"/>
          </a:xfrm>
          <a:prstGeom prst="line">
            <a:avLst/>
          </a:prstGeom>
          <a:ln w="38100">
            <a:solidFill>
              <a:schemeClr val="accent5">
                <a:lumMod val="75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72236D4-0054-4ED5-8FBC-824B234FEBA0}"/>
              </a:ext>
            </a:extLst>
          </p:cNvPr>
          <p:cNvCxnSpPr>
            <a:cxnSpLocks/>
          </p:cNvCxnSpPr>
          <p:nvPr/>
        </p:nvCxnSpPr>
        <p:spPr>
          <a:xfrm flipH="1">
            <a:off x="0" y="3429000"/>
            <a:ext cx="9906000" cy="0"/>
          </a:xfrm>
          <a:prstGeom prst="line">
            <a:avLst/>
          </a:prstGeom>
          <a:ln w="38100">
            <a:solidFill>
              <a:schemeClr val="accent5">
                <a:lumMod val="75000"/>
              </a:schemeClr>
            </a:solidFill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FECB9742-88CC-40B3-B3DD-9DCD4BC07A47}"/>
                  </a:ext>
                </a:extLst>
              </p:cNvPr>
              <p:cNvSpPr txBox="1"/>
              <p:nvPr/>
            </p:nvSpPr>
            <p:spPr>
              <a:xfrm>
                <a:off x="1633864" y="371345"/>
                <a:ext cx="1545423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b="0" i="1" dirty="0" smtClean="0">
                          <a:latin typeface="Cambria Math" panose="02040503050406030204" pitchFamily="18" charset="0"/>
                        </a:rPr>
                        <m:t>20−2</m:t>
                      </m:r>
                      <m:r>
                        <a:rPr lang="en-GB" sz="20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</m:e>
                        <m:sup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FECB9742-88CC-40B3-B3DD-9DCD4BC07A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33864" y="371345"/>
                <a:ext cx="1545423" cy="40011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TextBox 31">
            <a:extLst>
              <a:ext uri="{FF2B5EF4-FFF2-40B4-BE49-F238E27FC236}">
                <a16:creationId xmlns:a16="http://schemas.microsoft.com/office/drawing/2014/main" id="{A25D0E11-A039-4717-B475-46A31B5D1EAC}"/>
              </a:ext>
            </a:extLst>
          </p:cNvPr>
          <p:cNvSpPr txBox="1"/>
          <p:nvPr/>
        </p:nvSpPr>
        <p:spPr>
          <a:xfrm>
            <a:off x="11178" y="6707"/>
            <a:ext cx="1314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Эсептеңиз </a:t>
            </a:r>
            <a:r>
              <a:rPr lang="en-GB" dirty="0"/>
              <a:t>: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4B59711-1E13-476D-8D5A-656CA39EAB0B}"/>
              </a:ext>
            </a:extLst>
          </p:cNvPr>
          <p:cNvSpPr txBox="1"/>
          <p:nvPr/>
        </p:nvSpPr>
        <p:spPr>
          <a:xfrm>
            <a:off x="-8341" y="3042133"/>
            <a:ext cx="593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①</a:t>
            </a:r>
            <a:endParaRPr lang="en-GB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4755514-76BC-403D-A0F3-6171806C9378}"/>
              </a:ext>
            </a:extLst>
          </p:cNvPr>
          <p:cNvSpPr txBox="1"/>
          <p:nvPr/>
        </p:nvSpPr>
        <p:spPr>
          <a:xfrm>
            <a:off x="4924142" y="3042133"/>
            <a:ext cx="490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②</a:t>
            </a:r>
            <a:endParaRPr lang="en-GB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270C037-0EE2-4F4C-9F28-A0677567F837}"/>
              </a:ext>
            </a:extLst>
          </p:cNvPr>
          <p:cNvSpPr txBox="1"/>
          <p:nvPr/>
        </p:nvSpPr>
        <p:spPr>
          <a:xfrm>
            <a:off x="-8341" y="6479927"/>
            <a:ext cx="490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③</a:t>
            </a:r>
            <a:endParaRPr lang="en-GB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AC3B5B4-D0B7-49F2-ABBE-D42CC1F94024}"/>
              </a:ext>
            </a:extLst>
          </p:cNvPr>
          <p:cNvSpPr txBox="1"/>
          <p:nvPr/>
        </p:nvSpPr>
        <p:spPr>
          <a:xfrm>
            <a:off x="4924142" y="6479927"/>
            <a:ext cx="490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Calibri" panose="020F0502020204030204" pitchFamily="34" charset="0"/>
                <a:cs typeface="Calibri" panose="020F0502020204030204" pitchFamily="34" charset="0"/>
              </a:rPr>
              <a:t>④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B12BB8E9-F020-4BDB-BE08-EC24F9534C91}"/>
                  </a:ext>
                </a:extLst>
              </p:cNvPr>
              <p:cNvSpPr txBox="1"/>
              <p:nvPr/>
            </p:nvSpPr>
            <p:spPr>
              <a:xfrm>
                <a:off x="3426205" y="324599"/>
                <a:ext cx="738214" cy="461665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chemeClr val="accent5">
                    <a:lumMod val="75000"/>
                  </a:schemeClr>
                </a:solidFill>
              </a:ln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400" b="0" i="1" dirty="0" smtClean="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B12BB8E9-F020-4BDB-BE08-EC24F9534C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26205" y="324599"/>
                <a:ext cx="738214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28575">
                <a:solidFill>
                  <a:schemeClr val="accent5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4CFF194-8A1E-4EB2-8A26-86C45EA53E66}"/>
                  </a:ext>
                </a:extLst>
              </p:cNvPr>
              <p:cNvSpPr txBox="1"/>
              <p:nvPr/>
            </p:nvSpPr>
            <p:spPr>
              <a:xfrm>
                <a:off x="6368539" y="371345"/>
                <a:ext cx="1984839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20</m:t>
                      </m:r>
                      <m:r>
                        <a:rPr lang="en-GB" sz="20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÷</m:t>
                      </m:r>
                      <m:r>
                        <a:rPr lang="en-GB" sz="2000" b="0" i="1" dirty="0" smtClean="0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GB" sz="20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GB" sz="20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4</m:t>
                          </m:r>
                        </m:e>
                        <m:sup>
                          <m:r>
                            <a:rPr lang="en-GB" sz="20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GB" sz="20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GB" sz="20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4CFF194-8A1E-4EB2-8A26-86C45EA53E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68539" y="371345"/>
                <a:ext cx="1984839" cy="4001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3343ED0E-1049-492F-BDDC-582C4E5517BD}"/>
              </a:ext>
            </a:extLst>
          </p:cNvPr>
          <p:cNvSpPr txBox="1"/>
          <p:nvPr/>
        </p:nvSpPr>
        <p:spPr>
          <a:xfrm>
            <a:off x="4965563" y="6707"/>
            <a:ext cx="1314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Эсептеңиз </a:t>
            </a:r>
            <a:r>
              <a:rPr lang="en-GB" dirty="0"/>
              <a:t>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462DB20B-95D6-4754-945B-ACB49185F3D9}"/>
                  </a:ext>
                </a:extLst>
              </p:cNvPr>
              <p:cNvSpPr txBox="1"/>
              <p:nvPr/>
            </p:nvSpPr>
            <p:spPr>
              <a:xfrm>
                <a:off x="8428634" y="324599"/>
                <a:ext cx="908134" cy="461665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chemeClr val="accent5">
                    <a:lumMod val="75000"/>
                  </a:schemeClr>
                </a:solidFill>
              </a:ln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400" b="0" i="1" dirty="0" smtClean="0">
                          <a:latin typeface="Cambria Math" panose="02040503050406030204" pitchFamily="18" charset="0"/>
                        </a:rPr>
                        <m:t>37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462DB20B-95D6-4754-945B-ACB49185F3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28634" y="324599"/>
                <a:ext cx="908134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28575">
                <a:solidFill>
                  <a:schemeClr val="accent5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2D658B1-A1FB-4FDC-8BA5-43178C976934}"/>
                  </a:ext>
                </a:extLst>
              </p:cNvPr>
              <p:cNvSpPr txBox="1"/>
              <p:nvPr/>
            </p:nvSpPr>
            <p:spPr>
              <a:xfrm>
                <a:off x="856953" y="3812814"/>
                <a:ext cx="3099245" cy="44268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4</m:t>
                      </m:r>
                      <m:r>
                        <a:rPr lang="en-GB" sz="200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0÷</m:t>
                      </m:r>
                      <m:rad>
                        <m:radPr>
                          <m:degHide m:val="on"/>
                          <m:ctrlPr>
                            <a:rPr lang="en-GB" sz="20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25</m:t>
                          </m:r>
                        </m:e>
                      </m:rad>
                      <m:r>
                        <a:rPr lang="en-GB" sz="20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GB" sz="20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  <m:r>
                            <a:rPr lang="en-GB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GB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×2)</m:t>
                          </m:r>
                        </m:e>
                        <m:sup>
                          <m:r>
                            <a:rPr lang="en-GB" sz="20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02D658B1-A1FB-4FDC-8BA5-43178C9769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6953" y="3812814"/>
                <a:ext cx="3099245" cy="442685"/>
              </a:xfrm>
              <a:prstGeom prst="rect">
                <a:avLst/>
              </a:prstGeom>
              <a:blipFill>
                <a:blip r:embed="rId6"/>
                <a:stretch>
                  <a:fillRect b="-1369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E5E24E8E-0EBD-4E4E-A691-95B2EE8A14B2}"/>
              </a:ext>
            </a:extLst>
          </p:cNvPr>
          <p:cNvSpPr txBox="1"/>
          <p:nvPr/>
        </p:nvSpPr>
        <p:spPr>
          <a:xfrm>
            <a:off x="11178" y="3448176"/>
            <a:ext cx="1314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Эсептеңиз </a:t>
            </a:r>
            <a:r>
              <a:rPr lang="en-GB" dirty="0"/>
              <a:t>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2F2A8B6-CA0A-47BA-884A-946AD86C52A4}"/>
                  </a:ext>
                </a:extLst>
              </p:cNvPr>
              <p:cNvSpPr txBox="1"/>
              <p:nvPr/>
            </p:nvSpPr>
            <p:spPr>
              <a:xfrm>
                <a:off x="3914823" y="4206643"/>
                <a:ext cx="908134" cy="461665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chemeClr val="accent5">
                    <a:lumMod val="75000"/>
                  </a:schemeClr>
                </a:solidFill>
              </a:ln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400" b="0" i="1" dirty="0" smtClean="0">
                          <a:latin typeface="Cambria Math" panose="02040503050406030204" pitchFamily="18" charset="0"/>
                        </a:rPr>
                        <m:t>24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2F2A8B6-CA0A-47BA-884A-946AD86C52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14823" y="4206643"/>
                <a:ext cx="908134" cy="46166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28575">
                <a:solidFill>
                  <a:schemeClr val="accent5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DA8C7EA-DFE4-429A-9097-DBC958D1CDFB}"/>
                  </a:ext>
                </a:extLst>
              </p:cNvPr>
              <p:cNvSpPr txBox="1"/>
              <p:nvPr/>
            </p:nvSpPr>
            <p:spPr>
              <a:xfrm>
                <a:off x="5303281" y="3812814"/>
                <a:ext cx="4115357" cy="9680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ad>
                            <m:radPr>
                              <m:degHide m:val="on"/>
                              <m:ctrlPr>
                                <a:rPr lang="en-GB" sz="20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en-GB" sz="20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GB" sz="2000" b="0" i="1" dirty="0" smtClean="0">
                                      <a:latin typeface="Cambria Math" panose="02040503050406030204" pitchFamily="18" charset="0"/>
                                    </a:rPr>
                                    <m:t>6</m:t>
                                  </m:r>
                                </m:e>
                                <m:sup>
                                  <m:r>
                                    <a:rPr lang="en-GB" sz="2000" i="1" dirty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GB" sz="20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×</m:t>
                              </m:r>
                              <m:r>
                                <a:rPr lang="en-GB" sz="20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4</m:t>
                              </m:r>
                            </m:e>
                          </m:rad>
                        </m:num>
                        <m:den>
                          <m:r>
                            <a:rPr lang="en-GB" sz="2000" b="0" i="1" dirty="0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GB" sz="20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d>
                            <m:dPr>
                              <m:ctrlPr>
                                <a:rPr lang="en-GB" sz="200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d>
                                <m:dPr>
                                  <m:ctrlPr>
                                    <a:rPr lang="en-GB" sz="20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ad>
                                    <m:radPr>
                                      <m:degHide m:val="on"/>
                                      <m:ctrlPr>
                                        <a:rPr lang="en-GB" sz="20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en-GB" sz="2000" i="1" dirty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25</m:t>
                                      </m:r>
                                    </m:e>
                                  </m:rad>
                                  <m:r>
                                    <a:rPr lang="en-GB" sz="2000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+5</m:t>
                                  </m:r>
                                </m:e>
                              </m:d>
                              <m:r>
                                <a:rPr lang="en-GB" sz="20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÷</m:t>
                              </m:r>
                              <m:r>
                                <a:rPr lang="en-GB" sz="20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den>
                      </m:f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000" b="0" i="1" dirty="0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sz="20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en-GB" sz="20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000" i="1" dirty="0">
                              <a:latin typeface="Cambria Math" panose="02040503050406030204" pitchFamily="18" charset="0"/>
                            </a:rPr>
                            <m:t>4</m:t>
                          </m:r>
                        </m:e>
                        <m:sup>
                          <m:r>
                            <a:rPr lang="en-GB" sz="2000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GB" sz="2000" i="1" dirty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÷</m:t>
                      </m:r>
                      <m:r>
                        <a:rPr lang="en-GB" sz="20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8</m:t>
                      </m:r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DA8C7EA-DFE4-429A-9097-DBC958D1CD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03281" y="3812814"/>
                <a:ext cx="4115357" cy="968086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TextBox 17">
            <a:extLst>
              <a:ext uri="{FF2B5EF4-FFF2-40B4-BE49-F238E27FC236}">
                <a16:creationId xmlns:a16="http://schemas.microsoft.com/office/drawing/2014/main" id="{EF4CB900-C6A5-45BD-AF34-518D0A5FF0B0}"/>
              </a:ext>
            </a:extLst>
          </p:cNvPr>
          <p:cNvSpPr txBox="1"/>
          <p:nvPr/>
        </p:nvSpPr>
        <p:spPr>
          <a:xfrm>
            <a:off x="4965563" y="3448176"/>
            <a:ext cx="13143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Эсептеңиз </a:t>
            </a:r>
            <a:r>
              <a:rPr lang="en-GB" dirty="0"/>
              <a:t>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04339C4-064F-44E9-B404-CEB09820FCD6}"/>
                  </a:ext>
                </a:extLst>
              </p:cNvPr>
              <p:cNvSpPr txBox="1"/>
              <p:nvPr/>
            </p:nvSpPr>
            <p:spPr>
              <a:xfrm>
                <a:off x="8770764" y="4938162"/>
                <a:ext cx="967444" cy="461665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chemeClr val="accent5">
                    <a:lumMod val="75000"/>
                  </a:schemeClr>
                </a:solidFill>
              </a:ln>
            </p:spPr>
            <p:txBody>
              <a:bodyPr wrap="none" rtlCol="0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−3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04339C4-064F-44E9-B404-CEB09820FC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70764" y="4938162"/>
                <a:ext cx="967444" cy="46166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 w="28575">
                <a:solidFill>
                  <a:schemeClr val="accent5">
                    <a:lumMod val="75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366923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" grpId="0" animBg="1"/>
      <p:bldP spid="13" grpId="0" animBg="1"/>
      <p:bldP spid="16" grpId="0" animBg="1"/>
      <p:bldP spid="20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C5760D4-487D-0907-EEFA-80AE5352F7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983580" y="1247741"/>
            <a:ext cx="6505732" cy="453857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100FF5A-DA9E-F9AA-F905-11E33D92A4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3969419" y="1247738"/>
            <a:ext cx="6505736" cy="4538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77571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332558" y="524600"/>
            <a:ext cx="9240883" cy="52014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ru-RU" sz="2800" dirty="0"/>
              <a:t>Суроолор барбы?</a:t>
            </a:r>
          </a:p>
          <a:p>
            <a:pPr marL="0" indent="0" algn="ctr">
              <a:buNone/>
            </a:pPr>
            <a:r>
              <a:rPr lang="ru-RU" sz="2800" dirty="0"/>
              <a:t>Комментарийлер?</a:t>
            </a:r>
          </a:p>
          <a:p>
            <a:pPr marL="0" indent="0" algn="ctr">
              <a:buNone/>
            </a:pPr>
            <a:r>
              <a:rPr lang="ru-RU" sz="2800" dirty="0"/>
              <a:t>Сунуштар?</a:t>
            </a:r>
          </a:p>
          <a:p>
            <a:pPr marL="0" indent="0" algn="ctr">
              <a:buNone/>
            </a:pPr>
            <a:endParaRPr lang="ru-RU" sz="2800" dirty="0"/>
          </a:p>
          <a:p>
            <a:pPr marL="0" indent="0" algn="ctr">
              <a:buNone/>
            </a:pPr>
            <a:r>
              <a:rPr lang="ru-RU" sz="2800" dirty="0"/>
              <a:t>…же ката таптыңызбы!?</a:t>
            </a:r>
          </a:p>
          <a:p>
            <a:pPr marL="0" indent="0" algn="ctr">
              <a:buNone/>
            </a:pPr>
            <a:endParaRPr lang="ru-RU" sz="2800" dirty="0"/>
          </a:p>
          <a:p>
            <a:pPr marL="0" indent="0" algn="ctr">
              <a:buNone/>
            </a:pPr>
            <a:r>
              <a:rPr lang="ru-RU" sz="2800" dirty="0"/>
              <a:t>Түрдүү пикирлер үчүн ыраазычылык билдиребиз.</a:t>
            </a:r>
          </a:p>
          <a:p>
            <a:pPr marL="0" indent="0" algn="ctr">
              <a:buNone/>
            </a:pPr>
            <a:endParaRPr lang="ru-RU" sz="2800" dirty="0"/>
          </a:p>
          <a:p>
            <a:pPr marL="0" indent="0" algn="ctr">
              <a:buNone/>
            </a:pPr>
            <a:r>
              <a:rPr lang="ru-RU" sz="2800" dirty="0"/>
              <a:t>Сураныч, электрондук кат жөнөтүңүз:</a:t>
            </a:r>
          </a:p>
          <a:p>
            <a:pPr marL="0" indent="0" algn="ctr">
              <a:buNone/>
            </a:pPr>
            <a:endParaRPr lang="ru-RU" sz="2800" dirty="0"/>
          </a:p>
          <a:p>
            <a:pPr marL="0" indent="0" algn="ctr">
              <a:buNone/>
            </a:pPr>
            <a:r>
              <a:rPr lang="en-US" sz="2800" dirty="0"/>
              <a:t>mathematicskgz@gmail.com</a:t>
            </a:r>
          </a:p>
          <a:p>
            <a:pPr algn="ctr" defTabSz="478226">
              <a:defRPr/>
            </a:pPr>
            <a:endParaRPr lang="en-GB" sz="2400" dirty="0">
              <a:solidFill>
                <a:prstClr val="black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82971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2700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bg1">
              <a:lumMod val="50000"/>
            </a:schemeClr>
          </a:solidFill>
          <a:headEnd type="arrow" w="sm" len="sm"/>
          <a:tailEnd type="arrow" w="sm" len="sm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lumMod val="95000"/>
          </a:schemeClr>
        </a:solidFill>
        <a:ln w="12700">
          <a:solidFill>
            <a:schemeClr val="tx1"/>
          </a:solidFill>
        </a:ln>
      </a:spPr>
      <a:bodyPr rot="0" spcFirstLastPara="0" vertOverflow="overflow" horzOverflow="overflow" vert="horz" wrap="square" lIns="0" tIns="0" rIns="0" bIns="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 dirty="0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tx1"/>
          </a:solidFill>
          <a:headEnd type="none" w="sm" len="sm"/>
          <a:tailEnd type="none" w="sm" len="sm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10538</TotalTime>
  <Words>138</Words>
  <Application>Microsoft Office PowerPoint</Application>
  <PresentationFormat>A4 Paper (210x297 mm)</PresentationFormat>
  <Paragraphs>46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5</vt:i4>
      </vt:variant>
    </vt:vector>
  </HeadingPairs>
  <TitlesOfParts>
    <vt:vector size="11" baseType="lpstr">
      <vt:lpstr>Arial</vt:lpstr>
      <vt:lpstr>Cambria Math</vt:lpstr>
      <vt:lpstr>Calibri Light</vt:lpstr>
      <vt:lpstr>Calibri</vt:lpstr>
      <vt:lpstr>Office Theme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517</cp:revision>
  <cp:lastPrinted>2017-12-31T22:38:51Z</cp:lastPrinted>
  <dcterms:created xsi:type="dcterms:W3CDTF">2017-01-17T16:57:04Z</dcterms:created>
  <dcterms:modified xsi:type="dcterms:W3CDTF">2023-09-30T20:30:58Z</dcterms:modified>
</cp:coreProperties>
</file>