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257" r:id="rId3"/>
    <p:sldId id="918" r:id="rId4"/>
    <p:sldId id="912" r:id="rId5"/>
    <p:sldId id="838" r:id="rId6"/>
    <p:sldId id="916" r:id="rId7"/>
    <p:sldId id="917" r:id="rId8"/>
    <p:sldId id="274" r:id="rId9"/>
  </p:sldIdLst>
  <p:sldSz cx="9906000" cy="6858000" type="A4"/>
  <p:notesSz cx="6889750" cy="10021888"/>
  <p:embeddedFontLst>
    <p:embeddedFont>
      <p:font typeface="Aharoni" panose="02010803020104030203" pitchFamily="2" charset="-79"/>
      <p:bold r:id="rId11"/>
    </p:embeddedFont>
    <p:embeddedFont>
      <p:font typeface="Bahnschrift" panose="020B0502040204020203" pitchFamily="34" charset="0"/>
      <p:regular r:id="rId12"/>
      <p:bold r:id="rId13"/>
    </p:embeddedFont>
    <p:embeddedFont>
      <p:font typeface="Script MT Bold" panose="03040602040607080904" pitchFamily="66" charset="0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632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10" tIns="46155" rIns="92310" bIns="46155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10" tIns="46155" rIns="92310" bIns="46155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06/05/2024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3300" y="1254125"/>
            <a:ext cx="4883150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10" tIns="46155" rIns="92310" bIns="46155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5"/>
            <a:ext cx="5511800" cy="3946118"/>
          </a:xfrm>
          <a:prstGeom prst="rect">
            <a:avLst/>
          </a:prstGeom>
        </p:spPr>
        <p:txBody>
          <a:bodyPr vert="horz" lIns="92310" tIns="46155" rIns="92310" bIns="4615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10" tIns="46155" rIns="92310" bIns="46155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10" tIns="46155" rIns="92310" bIns="46155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0299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2514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12449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9988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222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6738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4957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5607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333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340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357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9488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0278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762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14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510665"/>
            <a:ext cx="8543925" cy="4351338"/>
          </a:xfrm>
        </p:spPr>
        <p:txBody>
          <a:bodyPr>
            <a:normAutofit/>
          </a:bodyPr>
          <a:lstStyle/>
          <a:p>
            <a:r>
              <a:rPr lang="ru-RU" sz="2400" dirty="0"/>
              <a:t>1 орундуу ондуктар – кошуу жана кемитүү – жооптор торчосу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ru-RU" sz="2400" dirty="0"/>
              <a:t>Окуучулар жооптор торчосунда жоопторду сызып, калган беш сандардын суммасын чыгарышы керек.</a:t>
            </a:r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2400" y="244157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1547067" y="2084252"/>
            <a:ext cx="7179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 жоопту ТОРЧОдон табыңыз!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8152C6-FA9B-CCEA-65A2-D9050ECC73CD}"/>
              </a:ext>
            </a:extLst>
          </p:cNvPr>
          <p:cNvSpPr txBox="1"/>
          <p:nvPr/>
        </p:nvSpPr>
        <p:spPr>
          <a:xfrm>
            <a:off x="1270000" y="412596"/>
            <a:ext cx="73558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haroni" panose="02010803020104030203" pitchFamily="2" charset="-79"/>
              </a:rPr>
              <a:t>Жооп ТОРЧОсу</a:t>
            </a:r>
            <a:endParaRPr kumimoji="0" lang="en-US" sz="8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cript MT Bold" panose="03040602040607080904" pitchFamily="66" charset="0"/>
              <a:ea typeface="+mn-ea"/>
              <a:cs typeface="Aharoni" panose="02010803020104030203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79104F-92BB-7AEB-E9EF-40B6DEB0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68" y="3151655"/>
            <a:ext cx="8178102" cy="283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18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4F7A382-855B-472D-B2EB-B5D74EDF3F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13999"/>
              </p:ext>
            </p:extLst>
          </p:nvPr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5.8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96CDC37-9FD7-4492-AF90-6BCEF0FDFD23}"/>
              </a:ext>
            </a:extLst>
          </p:cNvPr>
          <p:cNvGraphicFramePr>
            <a:graphicFrameLocks noGrp="1"/>
          </p:cNvGraphicFramePr>
          <p:nvPr/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 + 2.5</a:t>
                      </a:r>
                      <a:endParaRPr lang="en-GB" sz="2400" b="0" dirty="0">
                        <a:solidFill>
                          <a:sysClr val="windowText" lastClr="000000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 + 1.6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5.6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3.0 + 0.7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3.7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+ 3.6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4.0 + 1.8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+ 0.7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2.3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 + 2.9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11.4 + 5.8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 + 6.6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4.1 + 0.6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</a:t>
                      </a:r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2.8</a:t>
                      </a:r>
                      <a:endParaRPr lang="en-GB" sz="2400" b="0" dirty="0">
                        <a:solidFill>
                          <a:sysClr val="windowText" lastClr="000000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E62FF1-275E-4D47-971A-B8EAFCADD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808265"/>
              </p:ext>
            </p:extLst>
          </p:nvPr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7FCB71-9441-41BD-A556-9768FFBE1C56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83B75-2595-404D-8896-6E97E6604418}"/>
              </a:ext>
            </a:extLst>
          </p:cNvPr>
          <p:cNvSpPr/>
          <p:nvPr/>
        </p:nvSpPr>
        <p:spPr>
          <a:xfrm>
            <a:off x="2116170" y="0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C6A90E-0D2F-29F0-EF93-961540F6C742}"/>
              </a:ext>
            </a:extLst>
          </p:cNvPr>
          <p:cNvSpPr txBox="1"/>
          <p:nvPr/>
        </p:nvSpPr>
        <p:spPr>
          <a:xfrm>
            <a:off x="222505" y="123026"/>
            <a:ext cx="4227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783404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ECEF9F-434E-4379-BE8F-FC57D6668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68427"/>
              </p:ext>
            </p:extLst>
          </p:nvPr>
        </p:nvGraphicFramePr>
        <p:xfrm>
          <a:off x="6668870" y="51516"/>
          <a:ext cx="3177185" cy="2281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437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635437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9.9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7.8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  <a:tr h="456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3.2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5.8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8990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4CACCE-EE06-4252-A99D-23B469013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761836"/>
              </p:ext>
            </p:extLst>
          </p:nvPr>
        </p:nvGraphicFramePr>
        <p:xfrm>
          <a:off x="61545" y="617195"/>
          <a:ext cx="6506680" cy="274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36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272731682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4094935927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1717181824"/>
                    </a:ext>
                  </a:extLst>
                </a:gridCol>
                <a:gridCol w="1301336">
                  <a:extLst>
                    <a:ext uri="{9D8B030D-6E8A-4147-A177-3AD203B41FA5}">
                      <a16:colId xmlns:a16="http://schemas.microsoft.com/office/drawing/2014/main" val="2866367759"/>
                    </a:ext>
                  </a:extLst>
                </a:gridCol>
              </a:tblGrid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1.1 + 2.5</a:t>
                      </a:r>
                      <a:endParaRPr lang="en-GB" sz="2400" b="0" dirty="0">
                        <a:solidFill>
                          <a:sysClr val="windowText" lastClr="000000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3.9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7.3 + 1.6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5.6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3.0 + 0.7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7.2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3.7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4.2 + 3.6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4.0 + 1.8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2.2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032225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0.7 + 0.7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2.3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0.9 + 2.9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4.5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11.4 + 5.8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340403"/>
                  </a:ext>
                </a:extLst>
              </a:tr>
              <a:tr h="686388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6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1.7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3.3 + 6.6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3.8 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4.1 + 0.6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5 </a:t>
                      </a:r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−</a:t>
                      </a:r>
                      <a:r>
                        <a:rPr lang="en-GB" sz="2400" b="0">
                          <a:solidFill>
                            <a:sysClr val="windowText" lastClr="000000"/>
                          </a:solidFill>
                          <a:latin typeface="Bahnschrift" panose="020B0502040204020203" pitchFamily="34" charset="0"/>
                        </a:rPr>
                        <a:t> 2.8</a:t>
                      </a:r>
                      <a:endParaRPr lang="en-GB" sz="2400" b="0" dirty="0">
                        <a:solidFill>
                          <a:sysClr val="windowText" lastClr="000000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74186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AD24C9A-01A7-4E5D-A407-60D5180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440662"/>
              </p:ext>
            </p:extLst>
          </p:nvPr>
        </p:nvGraphicFramePr>
        <p:xfrm>
          <a:off x="6696583" y="2878058"/>
          <a:ext cx="312175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1758">
                  <a:extLst>
                    <a:ext uri="{9D8B030D-6E8A-4147-A177-3AD203B41FA5}">
                      <a16:colId xmlns:a16="http://schemas.microsoft.com/office/drawing/2014/main" val="2514106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ysClr val="windowText" lastClr="000000"/>
                          </a:solidFill>
                        </a:rPr>
                        <a:t>11.1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44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E2957F7-99F0-4B3A-B72D-884CCB8B23AD}"/>
              </a:ext>
            </a:extLst>
          </p:cNvPr>
          <p:cNvSpPr/>
          <p:nvPr/>
        </p:nvSpPr>
        <p:spPr>
          <a:xfrm>
            <a:off x="6739812" y="2497580"/>
            <a:ext cx="30353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Бардыгы:</a:t>
            </a:r>
            <a:endParaRPr lang="en-GB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9F3885-40A0-4971-85BC-67C02F8382C4}"/>
              </a:ext>
            </a:extLst>
          </p:cNvPr>
          <p:cNvSpPr/>
          <p:nvPr/>
        </p:nvSpPr>
        <p:spPr>
          <a:xfrm>
            <a:off x="2116170" y="51516"/>
            <a:ext cx="462364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Ар бир жоопту сызып, анан калган </a:t>
            </a:r>
            <a:r>
              <a:rPr lang="ky-KG" sz="1600" b="1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беш</a:t>
            </a:r>
            <a:r>
              <a:rPr lang="ky-KG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 сандын суммасын тап</a:t>
            </a:r>
            <a:r>
              <a:rPr lang="ru-RU" sz="1600" dirty="0">
                <a:solidFill>
                  <a:sysClr val="windowText" lastClr="000000"/>
                </a:solidFill>
                <a:latin typeface="Bahnschrift" panose="020B0502040204020203" pitchFamily="34" charset="0"/>
              </a:rPr>
              <a:t>.</a:t>
            </a:r>
            <a:endParaRPr lang="en-GB" sz="1600" dirty="0">
              <a:solidFill>
                <a:sysClr val="windowText" lastClr="000000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EAF8E-31F8-7964-956C-F50705E4B7D3}"/>
              </a:ext>
            </a:extLst>
          </p:cNvPr>
          <p:cNvSpPr txBox="1"/>
          <p:nvPr/>
        </p:nvSpPr>
        <p:spPr>
          <a:xfrm>
            <a:off x="5697220" y="3230357"/>
            <a:ext cx="4953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Жооптор</a:t>
            </a:r>
            <a:endParaRPr lang="en-GB" sz="4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C9C036-2E6E-7344-8BE8-5F2C3A520019}"/>
              </a:ext>
            </a:extLst>
          </p:cNvPr>
          <p:cNvSpPr txBox="1"/>
          <p:nvPr/>
        </p:nvSpPr>
        <p:spPr>
          <a:xfrm>
            <a:off x="59945" y="107637"/>
            <a:ext cx="5323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cs typeface="Aharoni" panose="02010803020104030203" pitchFamily="2" charset="-79"/>
              </a:rPr>
              <a:t>Жооп </a:t>
            </a:r>
            <a:r>
              <a:rPr lang="ru-RU" sz="2400" b="1" dirty="0">
                <a:latin typeface="Bahnschrift" panose="020B0502040204020203" pitchFamily="34" charset="0"/>
                <a:cs typeface="Aharoni" panose="02010803020104030203" pitchFamily="2" charset="-79"/>
              </a:rPr>
              <a:t>ТОРЧОсу</a:t>
            </a:r>
            <a:endParaRPr lang="en-US" sz="2400" b="1" dirty="0">
              <a:latin typeface="Bahnschrift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28983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520637-BE92-9274-7C66-D61B1A468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" y="71700"/>
            <a:ext cx="9716294" cy="33189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BF07E5-91D8-816F-DAD3-0782319AC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53" y="3536729"/>
            <a:ext cx="9513093" cy="324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289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59919C-EC39-F2BE-BBF2-BBDF67952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2584" y="1080437"/>
            <a:ext cx="6849821" cy="4688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1476F0-FF58-4C5F-CC3C-AEB1CA06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2043" y="1076904"/>
            <a:ext cx="6738505" cy="470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2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51" y="848185"/>
            <a:ext cx="8543925" cy="3535462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400" dirty="0"/>
              <a:t>Суроолор барбы?</a:t>
            </a:r>
          </a:p>
          <a:p>
            <a:pPr marL="0" indent="0" algn="ctr">
              <a:buNone/>
            </a:pPr>
            <a:r>
              <a:rPr lang="ru-RU" sz="2400" dirty="0"/>
              <a:t>Комментарийлер?</a:t>
            </a:r>
          </a:p>
          <a:p>
            <a:pPr marL="0" indent="0" algn="ctr">
              <a:buNone/>
            </a:pPr>
            <a:r>
              <a:rPr lang="ru-RU" sz="2400" dirty="0"/>
              <a:t>Сунуштар?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…же ката таптыңызбы!?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ru-RU" sz="24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400" dirty="0"/>
          </a:p>
          <a:p>
            <a:pPr marL="0" indent="0" algn="ctr">
              <a:buNone/>
            </a:pPr>
            <a:r>
              <a:rPr lang="en-US" sz="24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8454</TotalTime>
  <Words>289</Words>
  <Application>Microsoft Office PowerPoint</Application>
  <PresentationFormat>A4 Paper (210x297 mm)</PresentationFormat>
  <Paragraphs>119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Script MT Bold</vt:lpstr>
      <vt:lpstr>Aharoni</vt:lpstr>
      <vt:lpstr>Calibri</vt:lpstr>
      <vt:lpstr>Bahnschrift</vt:lpstr>
      <vt:lpstr>Calibri Light</vt:lpstr>
      <vt:lpstr>Arial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378</cp:revision>
  <cp:lastPrinted>2019-01-12T14:07:10Z</cp:lastPrinted>
  <dcterms:created xsi:type="dcterms:W3CDTF">2017-01-17T16:57:04Z</dcterms:created>
  <dcterms:modified xsi:type="dcterms:W3CDTF">2024-05-06T04:56:58Z</dcterms:modified>
</cp:coreProperties>
</file>