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31"/>
  </p:notesMasterIdLst>
  <p:sldIdLst>
    <p:sldId id="972" r:id="rId2"/>
    <p:sldId id="962" r:id="rId3"/>
    <p:sldId id="963" r:id="rId4"/>
    <p:sldId id="964" r:id="rId5"/>
    <p:sldId id="939" r:id="rId6"/>
    <p:sldId id="953" r:id="rId7"/>
    <p:sldId id="952" r:id="rId8"/>
    <p:sldId id="942" r:id="rId9"/>
    <p:sldId id="943" r:id="rId10"/>
    <p:sldId id="961" r:id="rId11"/>
    <p:sldId id="944" r:id="rId12"/>
    <p:sldId id="968" r:id="rId13"/>
    <p:sldId id="960" r:id="rId14"/>
    <p:sldId id="945" r:id="rId15"/>
    <p:sldId id="954" r:id="rId16"/>
    <p:sldId id="955" r:id="rId17"/>
    <p:sldId id="956" r:id="rId18"/>
    <p:sldId id="946" r:id="rId19"/>
    <p:sldId id="947" r:id="rId20"/>
    <p:sldId id="948" r:id="rId21"/>
    <p:sldId id="949" r:id="rId22"/>
    <p:sldId id="950" r:id="rId23"/>
    <p:sldId id="951" r:id="rId24"/>
    <p:sldId id="971" r:id="rId25"/>
    <p:sldId id="970" r:id="rId26"/>
    <p:sldId id="959" r:id="rId27"/>
    <p:sldId id="967" r:id="rId28"/>
    <p:sldId id="969" r:id="rId29"/>
    <p:sldId id="938" r:id="rId30"/>
  </p:sldIdLst>
  <p:sldSz cx="9906000" cy="6858000" type="A4"/>
  <p:notesSz cx="7104063" cy="10234613"/>
  <p:embeddedFontLs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Calibri Light" panose="020F0302020204030204" pitchFamily="34" charset="0"/>
      <p:regular r:id="rId36"/>
      <p:italic r:id="rId37"/>
    </p:embeddedFont>
    <p:embeddedFont>
      <p:font typeface="Cambria Math" panose="02040503050406030204" pitchFamily="18" charset="0"/>
      <p:regular r:id="rId3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28/09/2023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E8DA03BD-0D10-881F-68DF-55A084B44400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600" dirty="0" err="1">
                <a:solidFill>
                  <a:srgbClr val="00B0F0"/>
                </a:solidFill>
              </a:rPr>
              <a:t>MathKGZ</a:t>
            </a:r>
            <a:r>
              <a:rPr lang="en-US" sz="5200" dirty="0">
                <a:solidFill>
                  <a:srgbClr val="00B0F0"/>
                </a:solidFill>
              </a:rPr>
              <a:t>  --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6736DD-D2AD-61E3-58E2-BEBBEB44F31C}"/>
              </a:ext>
            </a:extLst>
          </p:cNvPr>
          <p:cNvSpPr txBox="1"/>
          <p:nvPr/>
        </p:nvSpPr>
        <p:spPr>
          <a:xfrm>
            <a:off x="162560" y="1778000"/>
            <a:ext cx="9743440" cy="4555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Амалдарды аткаруу тартиби</a:t>
            </a:r>
            <a:r>
              <a:rPr lang="en-US" sz="2400" dirty="0"/>
              <a:t>  - </a:t>
            </a:r>
            <a:r>
              <a:rPr lang="ky-KG" sz="2400" b="1" dirty="0">
                <a:solidFill>
                  <a:srgbClr val="FF0000"/>
                </a:solidFill>
              </a:rPr>
              <a:t>Мисал көрсөт</a:t>
            </a:r>
            <a:r>
              <a:rPr lang="ru-RU" sz="2400" b="1" dirty="0">
                <a:solidFill>
                  <a:srgbClr val="FF0000"/>
                </a:solidFill>
              </a:rPr>
              <a:t>...</a:t>
            </a:r>
            <a:endParaRPr lang="ru-RU" sz="2000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Бул көнүгүү</a:t>
            </a:r>
            <a:r>
              <a:rPr lang="en-US" sz="2400" dirty="0"/>
              <a:t> </a:t>
            </a:r>
            <a:r>
              <a:rPr lang="ru-RU" sz="2400" dirty="0"/>
              <a:t>окуучуну ойлондуруу үчүн иштелип чыккан, эч кандай жооп жок.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Окуучулар жообун жупташып же мугалимге көрсөтүп текшерет.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Окуучулар мини-тактага же дептерге жооп жаза алышат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Анимацияларды текшерип, </a:t>
            </a:r>
            <a:r>
              <a:rPr lang="ky-KG" sz="2400" dirty="0"/>
              <a:t>сабагы</a:t>
            </a:r>
            <a:r>
              <a:rPr lang="ru-RU" sz="2400" dirty="0"/>
              <a:t>ң</a:t>
            </a:r>
            <a:r>
              <a:rPr lang="ky-KG" sz="2400" dirty="0"/>
              <a:t>ызга </a:t>
            </a:r>
            <a:r>
              <a:rPr lang="ru-RU" sz="2400" b="1" dirty="0">
                <a:solidFill>
                  <a:srgbClr val="FF0000"/>
                </a:solidFill>
              </a:rPr>
              <a:t>КЕРЕГИ ЖОК </a:t>
            </a:r>
            <a:r>
              <a:rPr lang="ru-RU" sz="24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70965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010571" y="3044279"/>
            <a:ext cx="788491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тартиби</a:t>
            </a:r>
            <a:r>
              <a:rPr lang="en-US" sz="4400" dirty="0"/>
              <a:t> </a:t>
            </a:r>
            <a:endParaRPr lang="ru-RU" sz="4400" dirty="0"/>
          </a:p>
          <a:p>
            <a:pPr algn="ctr"/>
            <a:r>
              <a:rPr lang="ru-RU" sz="4400" dirty="0"/>
              <a:t>сакталган бир мисал </a:t>
            </a:r>
            <a:r>
              <a:rPr lang="en-GB" sz="44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0C0123-583F-38CC-D0A3-8A7351ED7533}"/>
              </a:ext>
            </a:extLst>
          </p:cNvPr>
          <p:cNvSpPr txBox="1"/>
          <p:nvPr/>
        </p:nvSpPr>
        <p:spPr>
          <a:xfrm>
            <a:off x="1005840" y="467360"/>
            <a:ext cx="6898640" cy="1107996"/>
          </a:xfrm>
          <a:prstGeom prst="rect">
            <a:avLst/>
          </a:prstGeom>
          <a:noFill/>
          <a:effectLst>
            <a:glow rad="63500">
              <a:schemeClr val="accent3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33206688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010564" y="3044279"/>
            <a:ext cx="788491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тартиби</a:t>
            </a:r>
            <a:r>
              <a:rPr lang="en-US" sz="4400" dirty="0"/>
              <a:t> </a:t>
            </a:r>
            <a:endParaRPr lang="ru-RU" sz="4400" dirty="0"/>
          </a:p>
          <a:p>
            <a:pPr algn="ctr"/>
            <a:r>
              <a:rPr lang="ru-RU" sz="4400" dirty="0"/>
              <a:t>сактал</a:t>
            </a:r>
            <a:r>
              <a:rPr lang="ru-RU" sz="4400" dirty="0">
                <a:solidFill>
                  <a:srgbClr val="FF0000"/>
                </a:solidFill>
              </a:rPr>
              <a:t>БА</a:t>
            </a:r>
            <a:r>
              <a:rPr lang="ru-RU" sz="4400" dirty="0"/>
              <a:t>ган бир мисал </a:t>
            </a:r>
            <a:r>
              <a:rPr lang="en-GB" sz="44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57ED588-5CD2-674C-0722-74F3B71DCE97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7690165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612513" y="3044279"/>
            <a:ext cx="868103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эрежесин </a:t>
            </a:r>
            <a:endParaRPr lang="en-US" sz="4400" dirty="0"/>
          </a:p>
          <a:p>
            <a:pPr algn="ctr"/>
            <a:r>
              <a:rPr lang="ru-RU" sz="4400" dirty="0"/>
              <a:t>сактоодо кетирилген </a:t>
            </a:r>
          </a:p>
          <a:p>
            <a:pPr algn="ctr"/>
            <a:r>
              <a:rPr lang="ru-RU" sz="4400" dirty="0"/>
              <a:t>кеңири таралган каталардан бирди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37DCCA-C59A-8036-002B-779139B1736A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4138711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362956" y="2367171"/>
            <a:ext cx="9180142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тартиби</a:t>
            </a:r>
            <a:r>
              <a:rPr lang="en-US" sz="4400" dirty="0"/>
              <a:t> </a:t>
            </a:r>
            <a:r>
              <a:rPr lang="ky-KG" sz="4400" dirty="0"/>
              <a:t>туура</a:t>
            </a:r>
            <a:endParaRPr lang="ru-RU" sz="4400" dirty="0"/>
          </a:p>
          <a:p>
            <a:pPr algn="ctr"/>
            <a:r>
              <a:rPr lang="ru-RU" sz="4400" dirty="0"/>
              <a:t> колдонулган эсептин жыйынтыгы.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C50B89-E8AC-F257-1C7E-2EE1040BDF62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707245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684487" y="2367171"/>
            <a:ext cx="8537081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амалдардын аткаруу тартиби</a:t>
            </a:r>
            <a:r>
              <a:rPr lang="en-US" sz="4400" dirty="0"/>
              <a:t> </a:t>
            </a:r>
            <a:endParaRPr lang="ky-KG" sz="4400" dirty="0"/>
          </a:p>
          <a:p>
            <a:pPr algn="ctr"/>
            <a:r>
              <a:rPr lang="ky-KG" sz="4400" dirty="0">
                <a:solidFill>
                  <a:srgbClr val="FF0000"/>
                </a:solidFill>
              </a:rPr>
              <a:t>туура эмес</a:t>
            </a:r>
            <a:endParaRPr lang="ru-RU" sz="4400" dirty="0">
              <a:solidFill>
                <a:srgbClr val="FF0000"/>
              </a:solidFill>
            </a:endParaRPr>
          </a:p>
          <a:p>
            <a:pPr algn="ctr"/>
            <a:r>
              <a:rPr lang="ru-RU" sz="4400" dirty="0"/>
              <a:t> колдонулган эсептин жыйынтыгы.</a:t>
            </a:r>
            <a:endParaRPr lang="en-GB" sz="4400" dirty="0"/>
          </a:p>
          <a:p>
            <a:pPr algn="ctr"/>
            <a:r>
              <a:rPr lang="en-GB" sz="44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740A8D-85A8-73DE-EAEC-16C9BBA8D35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3209199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034270" y="2705725"/>
            <a:ext cx="58374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2 түрдүү амал менен </a:t>
            </a:r>
          </a:p>
          <a:p>
            <a:pPr algn="ctr"/>
            <a:r>
              <a:rPr lang="ru-RU" sz="4400" dirty="0"/>
              <a:t>бир мисал.</a:t>
            </a:r>
            <a:endParaRPr lang="en-GB" sz="4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9D3EC-ABE6-944B-672E-B3D149A81233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55781250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034267" y="2705725"/>
            <a:ext cx="583749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3 түрдүү амал менен </a:t>
            </a:r>
          </a:p>
          <a:p>
            <a:pPr algn="ctr"/>
            <a:r>
              <a:rPr lang="ru-RU" sz="4400" dirty="0"/>
              <a:t>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2A2BC9-48FD-C30F-2219-FC134049FF9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2524456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162506" y="2705725"/>
            <a:ext cx="558101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4 түрдүү амал менен</a:t>
            </a:r>
          </a:p>
          <a:p>
            <a:pPr algn="ctr"/>
            <a:r>
              <a:rPr lang="ru-RU" sz="4400" dirty="0"/>
              <a:t>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F527B4-2116-BE8E-4DFD-12AF9943665A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2511977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263178" y="2705725"/>
            <a:ext cx="537967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сен билген бардык </a:t>
            </a:r>
          </a:p>
          <a:p>
            <a:pPr algn="ctr"/>
            <a:r>
              <a:rPr lang="ru-RU" sz="4400" dirty="0"/>
              <a:t>амал менен</a:t>
            </a:r>
          </a:p>
          <a:p>
            <a:pPr algn="ctr"/>
            <a:r>
              <a:rPr lang="ru-RU" sz="4400" dirty="0"/>
              <a:t>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B5CC44-98BC-04D7-9EA8-D92F0C5F98EC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987116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217543" y="3044279"/>
            <a:ext cx="7470956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ky-KG" sz="4400" dirty="0"/>
              <a:t>амалдар менен </a:t>
            </a:r>
          </a:p>
          <a:p>
            <a:pPr algn="ctr"/>
            <a:r>
              <a:rPr lang="ru-RU" sz="4400" dirty="0"/>
              <a:t>кашааны камтыган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BA081C-0808-2677-9697-3803467D96AB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4886988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043217" y="2705725"/>
            <a:ext cx="581960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ашыкча кашааларды </a:t>
            </a:r>
          </a:p>
          <a:p>
            <a:pPr algn="ctr"/>
            <a:r>
              <a:rPr lang="ru-RU" sz="4400" dirty="0"/>
              <a:t>камтыган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C97E90-5C4A-5FE9-E5EB-0B15A1FC1BE5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2208683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69985" y="2705725"/>
            <a:ext cx="836607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кашаалардын ичинде</a:t>
            </a:r>
          </a:p>
          <a:p>
            <a:pPr algn="ctr"/>
            <a:r>
              <a:rPr lang="ru-RU" sz="4400" dirty="0"/>
              <a:t>кашааларды камтыган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2642D4-BF5E-EA79-6AB6-4E19AC154294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6522086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203717" y="3044279"/>
            <a:ext cx="549862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амалдар тартиби </a:t>
            </a:r>
          </a:p>
          <a:p>
            <a:pPr algn="ctr"/>
            <a:r>
              <a:rPr lang="ru-RU" sz="4400" dirty="0"/>
              <a:t>менен </a:t>
            </a:r>
            <a:r>
              <a:rPr lang="ru-RU" sz="4400" dirty="0">
                <a:solidFill>
                  <a:srgbClr val="FF0000"/>
                </a:solidFill>
              </a:rPr>
              <a:t>нөлгө</a:t>
            </a:r>
            <a:r>
              <a:rPr lang="ru-RU" sz="4400" dirty="0"/>
              <a:t> барабар </a:t>
            </a:r>
          </a:p>
          <a:p>
            <a:pPr algn="ctr"/>
            <a:r>
              <a:rPr lang="ru-RU" sz="4400" dirty="0"/>
              <a:t>болгон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9D20A5-3381-2386-E456-A6421802BA0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4649194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024970" y="2705725"/>
            <a:ext cx="5856091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15ке барабар </a:t>
            </a:r>
          </a:p>
          <a:p>
            <a:pPr algn="ctr"/>
            <a:r>
              <a:rPr lang="ru-RU" sz="4400" dirty="0"/>
              <a:t>болгон 2 түрдүү </a:t>
            </a:r>
          </a:p>
          <a:p>
            <a:pPr algn="ctr"/>
            <a:r>
              <a:rPr lang="ru-RU" sz="4400" dirty="0"/>
              <a:t>амал менен бир мисал</a:t>
            </a:r>
            <a:r>
              <a:rPr lang="en-GB" sz="4400" dirty="0"/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4E2854-8ABE-FE40-4F91-556CC9DCF342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18374289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2194153" y="2705725"/>
            <a:ext cx="5517728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400" dirty="0"/>
              <a:t>… </a:t>
            </a:r>
            <a:r>
              <a:rPr lang="ru-RU" sz="4400" dirty="0"/>
              <a:t>8ге барабар болгон </a:t>
            </a:r>
            <a:endParaRPr lang="en-US" sz="4400" dirty="0"/>
          </a:p>
          <a:p>
            <a:pPr algn="ctr"/>
            <a:r>
              <a:rPr lang="ru-RU" sz="4400" dirty="0"/>
              <a:t>3 түрдүү амал менен </a:t>
            </a:r>
          </a:p>
          <a:p>
            <a:pPr algn="ctr"/>
            <a:r>
              <a:rPr lang="ru-RU" sz="4400" dirty="0"/>
              <a:t>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616912-DC79-7C0C-4123-01EA13D7BD1F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25381222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286401" y="2604125"/>
            <a:ext cx="7333198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12ге барабар болгон </a:t>
            </a:r>
            <a:endParaRPr lang="en-US" sz="4400" dirty="0"/>
          </a:p>
          <a:p>
            <a:pPr algn="ctr"/>
            <a:r>
              <a:rPr lang="ru-RU" sz="4400" dirty="0"/>
              <a:t>4 түрдүү амал менен </a:t>
            </a:r>
          </a:p>
          <a:p>
            <a:pPr algn="ctr"/>
            <a:r>
              <a:rPr lang="ru-RU" sz="4400" dirty="0"/>
              <a:t>бир мисал.</a:t>
            </a:r>
            <a:endParaRPr lang="en-GB" sz="4400" dirty="0"/>
          </a:p>
          <a:p>
            <a:pPr algn="ctr"/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C60148-D45F-2DDD-A55A-7091E05B1881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7438483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752180" y="2628643"/>
            <a:ext cx="8401659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1102201-D505-5E0B-04D4-36D989B6185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9695183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DD0B5C15-CAAA-58DF-7BE8-B0E8099E11FF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17206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39C40B0E-53EA-92B0-59AE-1726DFB5F3CB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8531415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1343" y="4033494"/>
                <a:ext cx="310335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2493AB8-713C-18B9-1D05-2CE0369F37A9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15633260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777199" y="4033494"/>
                <a:ext cx="435164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7199" y="4033494"/>
                <a:ext cx="4351640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5182E91-929A-923C-6E66-E640F0447C7E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160993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490261" y="4033494"/>
                <a:ext cx="4925516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×(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0261" y="4033494"/>
                <a:ext cx="4925516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8B06004E-4D2D-F463-80E5-860242646619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3386445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402898" y="4033494"/>
                <a:ext cx="5100242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2898" y="4033494"/>
                <a:ext cx="5100242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7A4A23EF-C6D0-3CE8-8E84-F373FB639114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247042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823521" y="2628643"/>
            <a:ext cx="825899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төмөнкү формадагы бир мисал:</a:t>
            </a:r>
            <a:endParaRPr lang="en-GB" sz="4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/>
              <p:nvPr/>
            </p:nvSpPr>
            <p:spPr>
              <a:xfrm>
                <a:off x="2777198" y="3917115"/>
                <a:ext cx="4351640" cy="15155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5400" i="1" dirty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en-GB" sz="5400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den>
                      </m:f>
                      <m:r>
                        <a:rPr lang="en-GB" sz="5400" i="1" dirty="0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GB" sz="5400" i="1" dirty="0">
                          <a:latin typeface="Cambria Math" panose="02040503050406030204" pitchFamily="18" charset="0"/>
                        </a:rPr>
                        <m:t>÷</m:t>
                      </m:r>
                      <m:r>
                        <a:rPr lang="en-GB" sz="5400" b="0" i="1" dirty="0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en-GB" sz="5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E9DEB42-DFA7-9C34-FB13-DBC37BA3E6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7198" y="3917115"/>
                <a:ext cx="4351640" cy="15155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BAA48FDE-D256-E0B0-F71F-39D801087EF6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8339727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1661989" y="2367171"/>
            <a:ext cx="6582059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a calculation that </a:t>
            </a:r>
          </a:p>
          <a:p>
            <a:pPr algn="ctr"/>
            <a:r>
              <a:rPr lang="en-GB" sz="4400" dirty="0"/>
              <a:t>includes an operation as </a:t>
            </a:r>
          </a:p>
          <a:p>
            <a:pPr algn="ctr"/>
            <a:r>
              <a:rPr lang="en-GB" sz="4400" dirty="0"/>
              <a:t>the numerator of a fraction.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0A7127-F9FB-EB9A-441D-5DB75E2B0E3B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39451765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64271" y="2367171"/>
            <a:ext cx="797750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 </a:t>
            </a:r>
            <a:r>
              <a:rPr lang="ru-RU" sz="4400" dirty="0"/>
              <a:t>терс натыйжасы берген </a:t>
            </a:r>
          </a:p>
          <a:p>
            <a:pPr algn="ctr"/>
            <a:r>
              <a:rPr lang="ru-RU" sz="4400" dirty="0"/>
              <a:t>4 түрдүү амал менен бир мисал.</a:t>
            </a:r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9461A1-90C0-3650-66A6-FDA5BC8F211D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04665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5A15C2-F349-472E-9EB0-C9A9F11939B1}"/>
              </a:ext>
            </a:extLst>
          </p:cNvPr>
          <p:cNvSpPr txBox="1"/>
          <p:nvPr/>
        </p:nvSpPr>
        <p:spPr>
          <a:xfrm>
            <a:off x="964269" y="2367171"/>
            <a:ext cx="7977504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4400" dirty="0"/>
              <a:t>…</a:t>
            </a:r>
            <a:r>
              <a:rPr lang="ru-RU" sz="4400" dirty="0"/>
              <a:t>ондук натыйжасы берген </a:t>
            </a:r>
          </a:p>
          <a:p>
            <a:pPr algn="ctr"/>
            <a:r>
              <a:rPr lang="ru-RU" sz="4400" dirty="0"/>
              <a:t>4 түрдүү амал менен бир мисал.</a:t>
            </a:r>
            <a:endParaRPr lang="en-GB" sz="4400" dirty="0"/>
          </a:p>
          <a:p>
            <a:pPr algn="ctr"/>
            <a:endParaRPr lang="en-GB" sz="4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D27B72B-7EC9-6BDD-452D-2FF864A3A4FA}"/>
              </a:ext>
            </a:extLst>
          </p:cNvPr>
          <p:cNvSpPr txBox="1"/>
          <p:nvPr/>
        </p:nvSpPr>
        <p:spPr>
          <a:xfrm>
            <a:off x="769620" y="399534"/>
            <a:ext cx="64135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6600" b="1" dirty="0">
                <a:solidFill>
                  <a:srgbClr val="00B0F0"/>
                </a:solidFill>
              </a:rPr>
              <a:t> </a:t>
            </a:r>
            <a:r>
              <a:rPr lang="ky-KG" sz="6600" b="1" dirty="0">
                <a:solidFill>
                  <a:srgbClr val="00B0F0"/>
                </a:solidFill>
              </a:rPr>
              <a:t>Мисал көрсөт</a:t>
            </a:r>
            <a:r>
              <a:rPr lang="ru-RU" sz="6600" b="1" dirty="0">
                <a:solidFill>
                  <a:srgbClr val="00B0F0"/>
                </a:solidFill>
              </a:rPr>
              <a:t>...</a:t>
            </a:r>
            <a:endParaRPr lang="en-US" sz="66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4913802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23095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200" dirty="0"/>
              <a:t>Суроолор барбы?</a:t>
            </a:r>
          </a:p>
          <a:p>
            <a:pPr marL="0" indent="0" algn="ctr">
              <a:buNone/>
            </a:pPr>
            <a:r>
              <a:rPr lang="ru-RU" sz="3200" dirty="0"/>
              <a:t>Комментарийлер?</a:t>
            </a:r>
          </a:p>
          <a:p>
            <a:pPr marL="0" indent="0" algn="ctr">
              <a:buNone/>
            </a:pPr>
            <a:r>
              <a:rPr lang="ru-RU" sz="3200" dirty="0"/>
              <a:t>Сунуштар?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…же ката таптыңызбы!?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ru-RU" sz="32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3200" dirty="0"/>
          </a:p>
          <a:p>
            <a:pPr marL="0" indent="0" algn="ctr">
              <a:buNone/>
            </a:pPr>
            <a:r>
              <a:rPr lang="en-US" sz="3200" dirty="0">
                <a:solidFill>
                  <a:srgbClr val="FF0000"/>
                </a:solidFill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10499</TotalTime>
  <Words>475</Words>
  <Application>Microsoft Office PowerPoint</Application>
  <PresentationFormat>A4 Paper (210x297 mm)</PresentationFormat>
  <Paragraphs>112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Calibri</vt:lpstr>
      <vt:lpstr>Calibri Light</vt:lpstr>
      <vt:lpstr>Cambria Math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498</cp:revision>
  <cp:lastPrinted>2017-12-31T22:38:51Z</cp:lastPrinted>
  <dcterms:created xsi:type="dcterms:W3CDTF">2017-01-17T16:57:04Z</dcterms:created>
  <dcterms:modified xsi:type="dcterms:W3CDTF">2023-09-28T08:20:26Z</dcterms:modified>
</cp:coreProperties>
</file>