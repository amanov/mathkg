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7"/>
  </p:notesMasterIdLst>
  <p:sldIdLst>
    <p:sldId id="951" r:id="rId2"/>
    <p:sldId id="945" r:id="rId3"/>
    <p:sldId id="944" r:id="rId4"/>
    <p:sldId id="946" r:id="rId5"/>
    <p:sldId id="952" r:id="rId6"/>
  </p:sldIdLst>
  <p:sldSz cx="9906000" cy="6858000" type="A4"/>
  <p:notesSz cx="7104063" cy="10234613"/>
  <p:embeddedFontLst>
    <p:embeddedFont>
      <p:font typeface="Cambria Math" panose="02040503050406030204" pitchFamily="18" charset="0"/>
      <p:regular r:id="rId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DE5AE1A8-6660-48CC-AD73-ACE7D99C79C6}">
          <p14:sldIdLst>
            <p14:sldId id="951"/>
          </p14:sldIdLst>
        </p14:section>
        <p14:section name="Көрсөтүүгө" id="{059544AC-2C27-45B1-9F95-F87DF8854DD6}">
          <p14:sldIdLst>
            <p14:sldId id="945"/>
          </p14:sldIdLst>
        </p14:section>
        <p14:section name="Жооптор" id="{1FEDB314-42DC-4694-9B04-D4A4AAE625F7}">
          <p14:sldIdLst>
            <p14:sldId id="944"/>
          </p14:sldIdLst>
        </p14:section>
        <p14:section name="Таркатма иш кагаздары" id="{A78D9305-6AAE-4715-A210-52F6908F30F7}">
          <p14:sldIdLst>
            <p14:sldId id="946"/>
          </p14:sldIdLst>
        </p14:section>
        <p14:section name="Кайтарым байланыш" id="{8356E4A5-7CCE-4860-921E-86777E43F799}">
          <p14:sldIdLst>
            <p14:sldId id="95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FFFFFF"/>
    <a:srgbClr val="00B050"/>
    <a:srgbClr val="2E75B6"/>
    <a:srgbClr val="1D4999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64"/>
      </p:cViewPr>
      <p:guideLst>
        <p:guide orient="horz" pos="2183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notesViewPr>
    <p:cSldViewPr snapToGrid="0">
      <p:cViewPr varScale="1">
        <p:scale>
          <a:sx n="43" d="100"/>
          <a:sy n="43" d="100"/>
        </p:scale>
        <p:origin x="2840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22/09/2024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98325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896211"/>
            <a:ext cx="9906000" cy="30777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y-KG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cs typeface="Arial" panose="020B0604020202020204" pitchFamily="34" charset="0"/>
              </a:rPr>
              <a:t>Ондуктар – орундук мааниси  </a:t>
            </a:r>
            <a:r>
              <a:rPr kumimoji="0" lang="en-US" sz="2800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cs typeface="Arial" panose="020B0604020202020204" pitchFamily="34" charset="0"/>
              </a:rPr>
              <a:t> </a:t>
            </a:r>
            <a:r>
              <a:rPr kumimoji="0" lang="ru-RU" sz="2800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cs typeface="Arial" panose="020B0604020202020204" pitchFamily="34" charset="0"/>
              </a:rPr>
              <a:t>- </a:t>
            </a: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 "/>
              </a:rPr>
              <a:t>ЖЕҢИЛ, </a:t>
            </a: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 "/>
              </a:rPr>
              <a:t>ОРТО,</a:t>
            </a: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Calibri "/>
              </a:rPr>
              <a:t> ООР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 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 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ky-KG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GB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GB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cs typeface="Arial" panose="020B0604020202020204" pitchFamily="34" charset="0"/>
              </a:rPr>
              <a:t>Бул суроолорду экранда көрсөтсө болот же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cs typeface="Arial" panose="020B0604020202020204" pitchFamily="34" charset="0"/>
              </a:rPr>
              <a:t>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cs typeface="Arial" panose="020B0604020202020204" pitchFamily="34" charset="0"/>
              </a:rPr>
              <a:t>көнүгүү катары берсе болот. 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217DE689-7B0D-751A-6FAB-87EE07C85818}"/>
              </a:ext>
            </a:extLst>
          </p:cNvPr>
          <p:cNvSpPr txBox="1">
            <a:spLocks/>
          </p:cNvSpPr>
          <p:nvPr/>
        </p:nvSpPr>
        <p:spPr>
          <a:xfrm>
            <a:off x="162560" y="496036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450627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DD7CAADB-B5C2-4443-12FD-878B37F3968B}"/>
                  </a:ext>
                </a:extLst>
              </p:cNvPr>
              <p:cNvSpPr txBox="1"/>
              <p:nvPr/>
            </p:nvSpPr>
            <p:spPr>
              <a:xfrm>
                <a:off x="8357078" y="1703393"/>
                <a:ext cx="1072408" cy="52597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DD7CAADB-B5C2-4443-12FD-878B37F396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7078" y="1703393"/>
                <a:ext cx="1072408" cy="52597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Rectangle 67">
            <a:extLst>
              <a:ext uri="{FF2B5EF4-FFF2-40B4-BE49-F238E27FC236}">
                <a16:creationId xmlns:a16="http://schemas.microsoft.com/office/drawing/2014/main" id="{1E49C482-3D4C-FFC9-2286-51E642764ADE}"/>
              </a:ext>
            </a:extLst>
          </p:cNvPr>
          <p:cNvSpPr/>
          <p:nvPr/>
        </p:nvSpPr>
        <p:spPr>
          <a:xfrm>
            <a:off x="8991599" y="2040729"/>
            <a:ext cx="385763" cy="2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B2A4F46-86E0-5F34-E030-0222AE15062A}"/>
              </a:ext>
            </a:extLst>
          </p:cNvPr>
          <p:cNvSpPr/>
          <p:nvPr/>
        </p:nvSpPr>
        <p:spPr>
          <a:xfrm>
            <a:off x="8341518" y="2040729"/>
            <a:ext cx="385763" cy="2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9FB36BD-EF64-4791-B47D-392E7491C6EF}"/>
              </a:ext>
            </a:extLst>
          </p:cNvPr>
          <p:cNvSpPr/>
          <p:nvPr/>
        </p:nvSpPr>
        <p:spPr>
          <a:xfrm>
            <a:off x="8991599" y="1678779"/>
            <a:ext cx="385763" cy="2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9AF78B4-CA94-1EFE-0A94-4639165AC4CF}"/>
              </a:ext>
            </a:extLst>
          </p:cNvPr>
          <p:cNvSpPr/>
          <p:nvPr/>
        </p:nvSpPr>
        <p:spPr>
          <a:xfrm>
            <a:off x="8338087" y="1678779"/>
            <a:ext cx="385763" cy="2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16200B-9B10-E02F-506B-7BE555FE8F7C}"/>
              </a:ext>
            </a:extLst>
          </p:cNvPr>
          <p:cNvSpPr txBox="1"/>
          <p:nvPr/>
        </p:nvSpPr>
        <p:spPr>
          <a:xfrm>
            <a:off x="576539" y="679172"/>
            <a:ext cx="2136419" cy="6155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y-KG" sz="2000" dirty="0"/>
              <a:t>Ондук бөлчөктөрдү</a:t>
            </a:r>
          </a:p>
          <a:p>
            <a:pPr algn="ctr"/>
            <a:r>
              <a:rPr lang="ky-KG" sz="2000" dirty="0"/>
              <a:t>жазгыла…</a:t>
            </a:r>
            <a:endParaRPr lang="en-GB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716C354-2983-4C6F-978E-B4228CD9C6DC}"/>
              </a:ext>
            </a:extLst>
          </p:cNvPr>
          <p:cNvSpPr txBox="1"/>
          <p:nvPr/>
        </p:nvSpPr>
        <p:spPr>
          <a:xfrm>
            <a:off x="232766" y="1663097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EC7BB6-A281-9164-FCF1-C41562A35A78}"/>
              </a:ext>
            </a:extLst>
          </p:cNvPr>
          <p:cNvSpPr txBox="1"/>
          <p:nvPr/>
        </p:nvSpPr>
        <p:spPr>
          <a:xfrm>
            <a:off x="434429" y="1663097"/>
            <a:ext cx="2611164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000" dirty="0"/>
              <a:t>…</a:t>
            </a:r>
            <a:r>
              <a:rPr lang="ky-KG" sz="2000" dirty="0"/>
              <a:t>ондук үлүшү 3 болгон</a:t>
            </a:r>
            <a:r>
              <a:rPr lang="en-GB" sz="2000" dirty="0"/>
              <a:t>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1797DB-9147-F6D2-295F-63F1BDFE997A}"/>
              </a:ext>
            </a:extLst>
          </p:cNvPr>
          <p:cNvSpPr txBox="1"/>
          <p:nvPr/>
        </p:nvSpPr>
        <p:spPr>
          <a:xfrm>
            <a:off x="232766" y="2855931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3BD0EC2-E601-6869-6984-D8615DD143E3}"/>
              </a:ext>
            </a:extLst>
          </p:cNvPr>
          <p:cNvSpPr txBox="1"/>
          <p:nvPr/>
        </p:nvSpPr>
        <p:spPr>
          <a:xfrm>
            <a:off x="438496" y="2873493"/>
            <a:ext cx="2603020" cy="6155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000" dirty="0"/>
              <a:t>…2</a:t>
            </a:r>
            <a:r>
              <a:rPr lang="ky-KG" sz="2000" dirty="0"/>
              <a:t>ден чоң жана ондук </a:t>
            </a:r>
          </a:p>
          <a:p>
            <a:pPr algn="ctr"/>
            <a:r>
              <a:rPr lang="ky-KG" sz="2000" dirty="0"/>
              <a:t>улүшү  </a:t>
            </a:r>
            <a:r>
              <a:rPr lang="en-GB" sz="2000" dirty="0"/>
              <a:t>7 </a:t>
            </a:r>
            <a:r>
              <a:rPr lang="ky-KG" sz="2000" dirty="0"/>
              <a:t>болгон</a:t>
            </a:r>
            <a:r>
              <a:rPr lang="en-GB" sz="2000" dirty="0"/>
              <a:t>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E2C6586-8D9D-23F7-A776-3A60789529B8}"/>
              </a:ext>
            </a:extLst>
          </p:cNvPr>
          <p:cNvSpPr txBox="1"/>
          <p:nvPr/>
        </p:nvSpPr>
        <p:spPr>
          <a:xfrm>
            <a:off x="232766" y="4374103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95115BC-B10F-9EF7-6615-560E1124FED3}"/>
              </a:ext>
            </a:extLst>
          </p:cNvPr>
          <p:cNvSpPr txBox="1"/>
          <p:nvPr/>
        </p:nvSpPr>
        <p:spPr>
          <a:xfrm>
            <a:off x="735365" y="4391259"/>
            <a:ext cx="1977593" cy="6155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000" dirty="0"/>
              <a:t>… </a:t>
            </a:r>
            <a:r>
              <a:rPr lang="ky-KG" sz="2000" dirty="0"/>
              <a:t>жүздүк үлүшү 6</a:t>
            </a:r>
            <a:r>
              <a:rPr lang="en-GB" sz="2000" dirty="0"/>
              <a:t> </a:t>
            </a:r>
            <a:endParaRPr lang="ky-KG" sz="2000" dirty="0"/>
          </a:p>
          <a:p>
            <a:pPr algn="ctr"/>
            <a:r>
              <a:rPr lang="ky-KG" sz="2000" dirty="0"/>
              <a:t>болгон</a:t>
            </a:r>
            <a:r>
              <a:rPr lang="en-GB" sz="2000" dirty="0"/>
              <a:t>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049BB01-85B9-009F-6D11-C3CA262E2B7A}"/>
              </a:ext>
            </a:extLst>
          </p:cNvPr>
          <p:cNvSpPr txBox="1"/>
          <p:nvPr/>
        </p:nvSpPr>
        <p:spPr>
          <a:xfrm>
            <a:off x="232766" y="5566937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064063-9694-7099-5CEA-530BB7A6C4BA}"/>
              </a:ext>
            </a:extLst>
          </p:cNvPr>
          <p:cNvSpPr txBox="1"/>
          <p:nvPr/>
        </p:nvSpPr>
        <p:spPr>
          <a:xfrm>
            <a:off x="349659" y="5584499"/>
            <a:ext cx="2780698" cy="6155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000" dirty="0"/>
              <a:t>…</a:t>
            </a:r>
            <a:r>
              <a:rPr lang="ky-KG" sz="2000" dirty="0"/>
              <a:t> </a:t>
            </a:r>
            <a:r>
              <a:rPr lang="en-GB" sz="2000" dirty="0"/>
              <a:t>0.3</a:t>
            </a:r>
            <a:r>
              <a:rPr lang="ky-KG" sz="2000" dirty="0"/>
              <a:t> төн кичине, жүздүк </a:t>
            </a:r>
          </a:p>
          <a:p>
            <a:pPr algn="ctr"/>
            <a:r>
              <a:rPr lang="ky-KG" sz="2000" dirty="0"/>
              <a:t>үлушү </a:t>
            </a:r>
            <a:r>
              <a:rPr lang="en-GB" sz="2000" dirty="0"/>
              <a:t>8</a:t>
            </a:r>
            <a:r>
              <a:rPr lang="ky-KG" sz="2000" dirty="0"/>
              <a:t> болгон</a:t>
            </a:r>
            <a:r>
              <a:rPr lang="en-GB" sz="2000" dirty="0"/>
              <a:t>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E6D93-42CB-5FA7-75FA-75B8A45BC625}"/>
              </a:ext>
            </a:extLst>
          </p:cNvPr>
          <p:cNvSpPr txBox="1"/>
          <p:nvPr/>
        </p:nvSpPr>
        <p:spPr>
          <a:xfrm>
            <a:off x="3891240" y="679172"/>
            <a:ext cx="2136419" cy="6155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y-KG" sz="2000" dirty="0"/>
              <a:t>Ондук бөлчөктөрдү</a:t>
            </a:r>
          </a:p>
          <a:p>
            <a:pPr algn="ctr"/>
            <a:r>
              <a:rPr lang="ky-KG" sz="2000" dirty="0"/>
              <a:t>жазгыла…</a:t>
            </a:r>
            <a:endParaRPr lang="en-GB" sz="14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EAD6945-C2CE-954E-3710-81C7F8B7E22E}"/>
              </a:ext>
            </a:extLst>
          </p:cNvPr>
          <p:cNvSpPr txBox="1"/>
          <p:nvPr/>
        </p:nvSpPr>
        <p:spPr>
          <a:xfrm>
            <a:off x="3547466" y="1663097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1B7ACCA-9E32-4366-7450-70352D1407E1}"/>
              </a:ext>
            </a:extLst>
          </p:cNvPr>
          <p:cNvSpPr txBox="1"/>
          <p:nvPr/>
        </p:nvSpPr>
        <p:spPr>
          <a:xfrm>
            <a:off x="4082486" y="1516923"/>
            <a:ext cx="2136418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GB" sz="2000" dirty="0"/>
              <a:t>… </a:t>
            </a:r>
            <a:r>
              <a:rPr lang="ky-KG" sz="2000" dirty="0"/>
              <a:t>миңдик  үлушү </a:t>
            </a:r>
            <a:r>
              <a:rPr lang="en-GB" sz="2000" dirty="0"/>
              <a:t>8</a:t>
            </a:r>
            <a:r>
              <a:rPr lang="ky-KG" sz="2000" dirty="0"/>
              <a:t> болгон</a:t>
            </a:r>
            <a:r>
              <a:rPr lang="en-GB" sz="2000" dirty="0"/>
              <a:t>.</a:t>
            </a:r>
          </a:p>
          <a:p>
            <a:pPr algn="ctr"/>
            <a:endParaRPr lang="en-GB" sz="20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31F277-34F2-CAB7-3887-92E13DEE7E1E}"/>
              </a:ext>
            </a:extLst>
          </p:cNvPr>
          <p:cNvSpPr txBox="1"/>
          <p:nvPr/>
        </p:nvSpPr>
        <p:spPr>
          <a:xfrm>
            <a:off x="3547466" y="2954096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6FD986-859C-5650-D788-86C85CB9EF3B}"/>
              </a:ext>
            </a:extLst>
          </p:cNvPr>
          <p:cNvSpPr txBox="1"/>
          <p:nvPr/>
        </p:nvSpPr>
        <p:spPr>
          <a:xfrm>
            <a:off x="4006596" y="2971658"/>
            <a:ext cx="2096216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000" dirty="0"/>
              <a:t>… 13 </a:t>
            </a:r>
            <a:r>
              <a:rPr lang="ky-KG" sz="2000" dirty="0"/>
              <a:t>ондук бөлчөк</a:t>
            </a:r>
            <a:r>
              <a:rPr lang="en-GB" sz="2000" dirty="0"/>
              <a:t>.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92E10D0-35AF-0CE8-D35D-6D2BAC1E1973}"/>
              </a:ext>
            </a:extLst>
          </p:cNvPr>
          <p:cNvSpPr txBox="1"/>
          <p:nvPr/>
        </p:nvSpPr>
        <p:spPr>
          <a:xfrm>
            <a:off x="3547466" y="4275938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EBCC812-C8FF-F18E-876F-433B03A6259B}"/>
              </a:ext>
            </a:extLst>
          </p:cNvPr>
          <p:cNvSpPr txBox="1"/>
          <p:nvPr/>
        </p:nvSpPr>
        <p:spPr>
          <a:xfrm>
            <a:off x="3942481" y="4275938"/>
            <a:ext cx="2224456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000" dirty="0"/>
              <a:t>… 29 </a:t>
            </a:r>
            <a:r>
              <a:rPr lang="ky-KG" sz="2000" dirty="0"/>
              <a:t>жүздүк бөлчөк</a:t>
            </a:r>
            <a:r>
              <a:rPr lang="en-GB" sz="2000" dirty="0"/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E961E00-BFD8-6561-8AC9-B73A8E2374B0}"/>
              </a:ext>
            </a:extLst>
          </p:cNvPr>
          <p:cNvSpPr txBox="1"/>
          <p:nvPr/>
        </p:nvSpPr>
        <p:spPr>
          <a:xfrm>
            <a:off x="3547466" y="5566937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9032AC-4AB2-901E-9265-C326E3F88559}"/>
              </a:ext>
            </a:extLst>
          </p:cNvPr>
          <p:cNvSpPr txBox="1"/>
          <p:nvPr/>
        </p:nvSpPr>
        <p:spPr>
          <a:xfrm>
            <a:off x="3838830" y="5584499"/>
            <a:ext cx="2431756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000" dirty="0"/>
              <a:t>… 307</a:t>
            </a:r>
            <a:r>
              <a:rPr lang="ky-KG" sz="2000" dirty="0"/>
              <a:t> миңдик бөлчөк</a:t>
            </a:r>
            <a:r>
              <a:rPr lang="en-GB" sz="2000" dirty="0"/>
              <a:t>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F6DBFF2-CF50-9ABE-106E-C926B0D98EB6}"/>
              </a:ext>
            </a:extLst>
          </p:cNvPr>
          <p:cNvSpPr txBox="1"/>
          <p:nvPr/>
        </p:nvSpPr>
        <p:spPr>
          <a:xfrm>
            <a:off x="6890741" y="679172"/>
            <a:ext cx="2907976" cy="92333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y-KG" sz="2000" dirty="0"/>
              <a:t>Ар бир сан үчүн ондук </a:t>
            </a:r>
          </a:p>
          <a:p>
            <a:pPr algn="ctr"/>
            <a:r>
              <a:rPr lang="ky-KG" sz="2000" dirty="0"/>
              <a:t>бөлүкчөлөрдүн суммасын </a:t>
            </a:r>
          </a:p>
          <a:p>
            <a:pPr algn="ctr"/>
            <a:r>
              <a:rPr lang="ky-KG" sz="2000" dirty="0"/>
              <a:t>толукта.</a:t>
            </a:r>
            <a:endParaRPr lang="en-GB" sz="14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871C4BF-5E51-7C6C-5454-85DF79699C0C}"/>
              </a:ext>
            </a:extLst>
          </p:cNvPr>
          <p:cNvSpPr txBox="1"/>
          <p:nvPr/>
        </p:nvSpPr>
        <p:spPr>
          <a:xfrm>
            <a:off x="6890741" y="1838622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101895C-D786-46C0-E165-F48B153E12EB}"/>
              </a:ext>
            </a:extLst>
          </p:cNvPr>
          <p:cNvSpPr txBox="1"/>
          <p:nvPr/>
        </p:nvSpPr>
        <p:spPr>
          <a:xfrm>
            <a:off x="7288078" y="1810047"/>
            <a:ext cx="54341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400" dirty="0"/>
              <a:t>0.56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1EA8CC6-9EED-64E0-A0C8-F74075B9BCD8}"/>
              </a:ext>
            </a:extLst>
          </p:cNvPr>
          <p:cNvSpPr txBox="1"/>
          <p:nvPr/>
        </p:nvSpPr>
        <p:spPr>
          <a:xfrm>
            <a:off x="6890741" y="2829222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90A68F1-E3E3-CCE1-FEF4-DFF7FBBE3CEB}"/>
              </a:ext>
            </a:extLst>
          </p:cNvPr>
          <p:cNvSpPr txBox="1"/>
          <p:nvPr/>
        </p:nvSpPr>
        <p:spPr>
          <a:xfrm>
            <a:off x="7210331" y="2800647"/>
            <a:ext cx="698910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400" dirty="0"/>
              <a:t>0.287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8B0D7E-3EB6-98BA-5DCB-8941BD30D4EB}"/>
              </a:ext>
            </a:extLst>
          </p:cNvPr>
          <p:cNvSpPr txBox="1"/>
          <p:nvPr/>
        </p:nvSpPr>
        <p:spPr>
          <a:xfrm>
            <a:off x="6878478" y="3574772"/>
            <a:ext cx="2848536" cy="92333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y-KG" sz="2000" dirty="0"/>
              <a:t>Асты сызылган сандарды </a:t>
            </a:r>
          </a:p>
          <a:p>
            <a:pPr algn="ctr"/>
            <a:r>
              <a:rPr lang="ky-KG" sz="2000" dirty="0"/>
              <a:t>жөнөкөйлөштүрүлгөн</a:t>
            </a:r>
          </a:p>
          <a:p>
            <a:pPr algn="ctr"/>
            <a:r>
              <a:rPr lang="ky-KG" sz="2000" dirty="0"/>
              <a:t> бөлчөк түрүндө көрсөт.</a:t>
            </a:r>
            <a:endParaRPr lang="en-GB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59F0F7C-319D-6852-A446-8A608AB0A22D}"/>
              </a:ext>
            </a:extLst>
          </p:cNvPr>
          <p:cNvSpPr txBox="1"/>
          <p:nvPr/>
        </p:nvSpPr>
        <p:spPr>
          <a:xfrm>
            <a:off x="6890741" y="4991397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D0905BB-F296-6EF0-AE65-70B3A69F2BB7}"/>
              </a:ext>
            </a:extLst>
          </p:cNvPr>
          <p:cNvSpPr txBox="1"/>
          <p:nvPr/>
        </p:nvSpPr>
        <p:spPr>
          <a:xfrm>
            <a:off x="7288078" y="4962822"/>
            <a:ext cx="54341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400" dirty="0"/>
              <a:t>4</a:t>
            </a:r>
            <a:r>
              <a:rPr lang="en-GB" sz="2400" u="sng" dirty="0"/>
              <a:t>2.2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6869689-00AF-C29A-CA24-13B9AAE296FA}"/>
              </a:ext>
            </a:extLst>
          </p:cNvPr>
          <p:cNvSpPr txBox="1"/>
          <p:nvPr/>
        </p:nvSpPr>
        <p:spPr>
          <a:xfrm>
            <a:off x="6890741" y="6048672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7D79B38-7740-E17C-7318-C2CD645AC5E0}"/>
              </a:ext>
            </a:extLst>
          </p:cNvPr>
          <p:cNvSpPr txBox="1"/>
          <p:nvPr/>
        </p:nvSpPr>
        <p:spPr>
          <a:xfrm>
            <a:off x="7288077" y="6020097"/>
            <a:ext cx="543418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400" dirty="0"/>
              <a:t>2.</a:t>
            </a:r>
            <a:r>
              <a:rPr lang="en-GB" sz="2400" u="sng" dirty="0"/>
              <a:t>52</a:t>
            </a:r>
          </a:p>
        </p:txBody>
      </p: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BB8EB3AB-8B23-3A85-6D3D-9E7DFB58C727}"/>
              </a:ext>
            </a:extLst>
          </p:cNvPr>
          <p:cNvSpPr/>
          <p:nvPr/>
        </p:nvSpPr>
        <p:spPr>
          <a:xfrm>
            <a:off x="139504" y="320039"/>
            <a:ext cx="3020256" cy="6416041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364223D7-5EB9-DFAC-2048-ACC32E3DC224}"/>
              </a:ext>
            </a:extLst>
          </p:cNvPr>
          <p:cNvSpPr/>
          <p:nvPr/>
        </p:nvSpPr>
        <p:spPr>
          <a:xfrm>
            <a:off x="3456744" y="320039"/>
            <a:ext cx="3020256" cy="6416041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46419072-B11C-F0AC-6F92-71DCD2D9D9E0}"/>
              </a:ext>
            </a:extLst>
          </p:cNvPr>
          <p:cNvSpPr/>
          <p:nvPr/>
        </p:nvSpPr>
        <p:spPr>
          <a:xfrm>
            <a:off x="6773984" y="320039"/>
            <a:ext cx="3020256" cy="6416041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0C9B446-8F40-BEC8-4E40-E24C990FDADA}"/>
              </a:ext>
            </a:extLst>
          </p:cNvPr>
          <p:cNvSpPr/>
          <p:nvPr/>
        </p:nvSpPr>
        <p:spPr>
          <a:xfrm>
            <a:off x="843280" y="119380"/>
            <a:ext cx="1568384" cy="456974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4954398-72C4-DF39-EE7B-8D6EC1C51E63}"/>
              </a:ext>
            </a:extLst>
          </p:cNvPr>
          <p:cNvSpPr/>
          <p:nvPr/>
        </p:nvSpPr>
        <p:spPr>
          <a:xfrm>
            <a:off x="4460362" y="147344"/>
            <a:ext cx="1217514" cy="30963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BFDB6E4-AC9C-71D3-D133-0562F8C53B86}"/>
              </a:ext>
            </a:extLst>
          </p:cNvPr>
          <p:cNvSpPr/>
          <p:nvPr/>
        </p:nvSpPr>
        <p:spPr>
          <a:xfrm>
            <a:off x="7671433" y="152823"/>
            <a:ext cx="1391287" cy="423531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26D89FE-070E-37E1-9668-8EEDE52E8F66}"/>
              </a:ext>
            </a:extLst>
          </p:cNvPr>
          <p:cNvSpPr txBox="1"/>
          <p:nvPr/>
        </p:nvSpPr>
        <p:spPr>
          <a:xfrm>
            <a:off x="7731786" y="12035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ООР</a:t>
            </a: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37491F7-18ED-E86F-1AC6-C66D8D16940B}"/>
              </a:ext>
            </a:extLst>
          </p:cNvPr>
          <p:cNvSpPr txBox="1"/>
          <p:nvPr/>
        </p:nvSpPr>
        <p:spPr>
          <a:xfrm>
            <a:off x="654020" y="43099"/>
            <a:ext cx="1931578" cy="58477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accent4"/>
                </a:solidFill>
              </a:rPr>
              <a:t>ЖЕҢИЛ</a:t>
            </a:r>
            <a:endParaRPr lang="en-US" sz="3200" b="1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255867-D2D8-CE82-7D1D-A5BD7562B1B5}"/>
              </a:ext>
            </a:extLst>
          </p:cNvPr>
          <p:cNvSpPr txBox="1"/>
          <p:nvPr/>
        </p:nvSpPr>
        <p:spPr>
          <a:xfrm>
            <a:off x="4472318" y="43099"/>
            <a:ext cx="12175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rgbClr val="00B050"/>
                </a:solidFill>
              </a:rPr>
              <a:t>ОРТО</a:t>
            </a:r>
            <a:endParaRPr lang="en-US" sz="2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313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B1D818-0124-4249-A022-EC89CA27E32E}"/>
              </a:ext>
            </a:extLst>
          </p:cNvPr>
          <p:cNvSpPr/>
          <p:nvPr/>
        </p:nvSpPr>
        <p:spPr>
          <a:xfrm>
            <a:off x="139504" y="320039"/>
            <a:ext cx="3020256" cy="6416041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08AA5B6-BDAA-4273-BD45-4FCBFD97AECC}"/>
              </a:ext>
            </a:extLst>
          </p:cNvPr>
          <p:cNvSpPr/>
          <p:nvPr/>
        </p:nvSpPr>
        <p:spPr>
          <a:xfrm>
            <a:off x="3456744" y="320039"/>
            <a:ext cx="3020256" cy="6416041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91793-1A1E-41D5-B627-ECE63AC2F12C}"/>
              </a:ext>
            </a:extLst>
          </p:cNvPr>
          <p:cNvSpPr/>
          <p:nvPr/>
        </p:nvSpPr>
        <p:spPr>
          <a:xfrm>
            <a:off x="6773984" y="320039"/>
            <a:ext cx="3020256" cy="6416041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4D98E1C-37EB-42FE-85B3-A4EB60295B1D}"/>
              </a:ext>
            </a:extLst>
          </p:cNvPr>
          <p:cNvSpPr/>
          <p:nvPr/>
        </p:nvSpPr>
        <p:spPr>
          <a:xfrm>
            <a:off x="843280" y="119380"/>
            <a:ext cx="1568384" cy="423467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46C6CC5-9261-4A4B-94C3-CA77BA378538}"/>
              </a:ext>
            </a:extLst>
          </p:cNvPr>
          <p:cNvSpPr/>
          <p:nvPr/>
        </p:nvSpPr>
        <p:spPr>
          <a:xfrm>
            <a:off x="4561840" y="119380"/>
            <a:ext cx="1087120" cy="423467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0C45660-C8BE-42D6-90F7-F1BD99073914}"/>
              </a:ext>
            </a:extLst>
          </p:cNvPr>
          <p:cNvSpPr/>
          <p:nvPr/>
        </p:nvSpPr>
        <p:spPr>
          <a:xfrm>
            <a:off x="7671433" y="119380"/>
            <a:ext cx="1391287" cy="423467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D0A964-A68D-4A00-B9C8-5AA9F99842DE}"/>
              </a:ext>
            </a:extLst>
          </p:cNvPr>
          <p:cNvSpPr txBox="1"/>
          <p:nvPr/>
        </p:nvSpPr>
        <p:spPr>
          <a:xfrm>
            <a:off x="576539" y="679172"/>
            <a:ext cx="2136419" cy="6155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y-KG" sz="2000" dirty="0"/>
              <a:t>Ондук бөлчөктөрдү</a:t>
            </a:r>
          </a:p>
          <a:p>
            <a:pPr algn="ctr"/>
            <a:r>
              <a:rPr lang="ky-KG" sz="2000" dirty="0"/>
              <a:t>жазгыла…</a:t>
            </a:r>
            <a:endParaRPr lang="en-GB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A93A89-3BC2-4DBF-BB8D-F66993783F1D}"/>
              </a:ext>
            </a:extLst>
          </p:cNvPr>
          <p:cNvSpPr txBox="1"/>
          <p:nvPr/>
        </p:nvSpPr>
        <p:spPr>
          <a:xfrm>
            <a:off x="232766" y="1663097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E160833-C96F-44B8-BD51-C9B11D8512B8}"/>
              </a:ext>
            </a:extLst>
          </p:cNvPr>
          <p:cNvSpPr txBox="1"/>
          <p:nvPr/>
        </p:nvSpPr>
        <p:spPr>
          <a:xfrm>
            <a:off x="434429" y="1663097"/>
            <a:ext cx="2611164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000" dirty="0"/>
              <a:t>…</a:t>
            </a:r>
            <a:r>
              <a:rPr lang="ky-KG" sz="2000" dirty="0"/>
              <a:t>ондук үлүшү 3 болгон</a:t>
            </a:r>
            <a:r>
              <a:rPr lang="en-GB" sz="2000" dirty="0"/>
              <a:t>.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07EDBB3-432C-4793-8763-CDF752C13DF6}"/>
              </a:ext>
            </a:extLst>
          </p:cNvPr>
          <p:cNvSpPr txBox="1"/>
          <p:nvPr/>
        </p:nvSpPr>
        <p:spPr>
          <a:xfrm>
            <a:off x="1068347" y="2093918"/>
            <a:ext cx="1343317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y-KG" sz="2000" dirty="0"/>
              <a:t>Мисалы: 0.3</a:t>
            </a:r>
            <a:endParaRPr lang="en-GB" sz="20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01E3364-BE52-4541-906F-FA9E2F9BBAF3}"/>
              </a:ext>
            </a:extLst>
          </p:cNvPr>
          <p:cNvSpPr txBox="1"/>
          <p:nvPr/>
        </p:nvSpPr>
        <p:spPr>
          <a:xfrm>
            <a:off x="232766" y="2855931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9DE9EFC-A3EB-4129-B878-2D34B29071F1}"/>
              </a:ext>
            </a:extLst>
          </p:cNvPr>
          <p:cNvSpPr txBox="1"/>
          <p:nvPr/>
        </p:nvSpPr>
        <p:spPr>
          <a:xfrm>
            <a:off x="438496" y="2873493"/>
            <a:ext cx="2603020" cy="6155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000" dirty="0"/>
              <a:t>…2</a:t>
            </a:r>
            <a:r>
              <a:rPr lang="ky-KG" sz="2000" dirty="0"/>
              <a:t>ден чоң жана ондук </a:t>
            </a:r>
          </a:p>
          <a:p>
            <a:pPr algn="ctr"/>
            <a:r>
              <a:rPr lang="ky-KG" sz="2000" dirty="0"/>
              <a:t>улүшү  </a:t>
            </a:r>
            <a:r>
              <a:rPr lang="en-GB" sz="2000" dirty="0"/>
              <a:t>7 </a:t>
            </a:r>
            <a:r>
              <a:rPr lang="ky-KG" sz="2000" dirty="0"/>
              <a:t>болгон</a:t>
            </a:r>
            <a:r>
              <a:rPr lang="en-GB" sz="2000" dirty="0"/>
              <a:t>.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A0D9FE3-87BC-48A4-8F6A-6CBC19FED15D}"/>
              </a:ext>
            </a:extLst>
          </p:cNvPr>
          <p:cNvSpPr txBox="1"/>
          <p:nvPr/>
        </p:nvSpPr>
        <p:spPr>
          <a:xfrm>
            <a:off x="1068347" y="3612090"/>
            <a:ext cx="1343317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y-KG" sz="2000" dirty="0"/>
              <a:t>Мисалы: 3.7</a:t>
            </a:r>
            <a:endParaRPr lang="en-GB" sz="20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4C54795-C149-4DB7-A841-0A4369CBC76F}"/>
              </a:ext>
            </a:extLst>
          </p:cNvPr>
          <p:cNvSpPr txBox="1"/>
          <p:nvPr/>
        </p:nvSpPr>
        <p:spPr>
          <a:xfrm>
            <a:off x="232766" y="4374103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3F803A1-0255-45AC-99FF-AEFE67855DC7}"/>
              </a:ext>
            </a:extLst>
          </p:cNvPr>
          <p:cNvSpPr txBox="1"/>
          <p:nvPr/>
        </p:nvSpPr>
        <p:spPr>
          <a:xfrm>
            <a:off x="735365" y="4391259"/>
            <a:ext cx="1977593" cy="6155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000" dirty="0"/>
              <a:t>… </a:t>
            </a:r>
            <a:r>
              <a:rPr lang="ky-KG" sz="2000" dirty="0"/>
              <a:t>жүздүк үлүшү 6</a:t>
            </a:r>
            <a:r>
              <a:rPr lang="en-GB" sz="2000" dirty="0"/>
              <a:t> </a:t>
            </a:r>
            <a:endParaRPr lang="ky-KG" sz="2000" dirty="0"/>
          </a:p>
          <a:p>
            <a:pPr algn="ctr"/>
            <a:r>
              <a:rPr lang="ky-KG" sz="2000" dirty="0"/>
              <a:t>болгон</a:t>
            </a:r>
            <a:r>
              <a:rPr lang="en-GB" sz="2000" dirty="0"/>
              <a:t>.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19FD7D5-AC57-400B-A7A1-857211A5F2C7}"/>
              </a:ext>
            </a:extLst>
          </p:cNvPr>
          <p:cNvSpPr txBox="1"/>
          <p:nvPr/>
        </p:nvSpPr>
        <p:spPr>
          <a:xfrm>
            <a:off x="983509" y="4974683"/>
            <a:ext cx="1530868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y-KG" sz="2000" dirty="0"/>
              <a:t>Мисалы : </a:t>
            </a:r>
            <a:r>
              <a:rPr lang="en-GB" sz="2000" dirty="0"/>
              <a:t>0.06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90DE196A-4B71-4193-A5EE-40C0EAAE7B4E}"/>
              </a:ext>
            </a:extLst>
          </p:cNvPr>
          <p:cNvSpPr txBox="1"/>
          <p:nvPr/>
        </p:nvSpPr>
        <p:spPr>
          <a:xfrm>
            <a:off x="232766" y="5566937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B910F1A-39E2-419C-B22F-BB8F7648FD9B}"/>
              </a:ext>
            </a:extLst>
          </p:cNvPr>
          <p:cNvSpPr txBox="1"/>
          <p:nvPr/>
        </p:nvSpPr>
        <p:spPr>
          <a:xfrm>
            <a:off x="349659" y="5584499"/>
            <a:ext cx="2780698" cy="6155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000" dirty="0"/>
              <a:t>…</a:t>
            </a:r>
            <a:r>
              <a:rPr lang="ky-KG" sz="2000" dirty="0"/>
              <a:t> </a:t>
            </a:r>
            <a:r>
              <a:rPr lang="en-GB" sz="2000" dirty="0"/>
              <a:t>0.3</a:t>
            </a:r>
            <a:r>
              <a:rPr lang="ky-KG" sz="2000" dirty="0"/>
              <a:t> төн кичине, жүздүк </a:t>
            </a:r>
          </a:p>
          <a:p>
            <a:pPr algn="ctr"/>
            <a:r>
              <a:rPr lang="ky-KG" sz="2000" dirty="0"/>
              <a:t>үлушү </a:t>
            </a:r>
            <a:r>
              <a:rPr lang="en-GB" sz="2000" dirty="0"/>
              <a:t>8</a:t>
            </a:r>
            <a:r>
              <a:rPr lang="ky-KG" sz="2000" dirty="0"/>
              <a:t> болгон</a:t>
            </a:r>
            <a:r>
              <a:rPr lang="en-GB" sz="2000" dirty="0"/>
              <a:t>.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329E8B55-90AE-4FD1-9057-D0DB7CB05E43}"/>
              </a:ext>
            </a:extLst>
          </p:cNvPr>
          <p:cNvSpPr txBox="1"/>
          <p:nvPr/>
        </p:nvSpPr>
        <p:spPr>
          <a:xfrm>
            <a:off x="1003427" y="6323098"/>
            <a:ext cx="147316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y-KG" sz="2000" dirty="0"/>
              <a:t>Мисалы:</a:t>
            </a:r>
            <a:r>
              <a:rPr lang="en-GB" sz="2000" dirty="0"/>
              <a:t> 0.28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5F97AD7-0D82-48A9-A966-D6C92C0411FE}"/>
              </a:ext>
            </a:extLst>
          </p:cNvPr>
          <p:cNvSpPr txBox="1"/>
          <p:nvPr/>
        </p:nvSpPr>
        <p:spPr>
          <a:xfrm>
            <a:off x="3891240" y="679172"/>
            <a:ext cx="2136419" cy="6155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y-KG" sz="2000" dirty="0"/>
              <a:t>Ондук бөлчөктөрдү</a:t>
            </a:r>
          </a:p>
          <a:p>
            <a:pPr algn="ctr"/>
            <a:r>
              <a:rPr lang="ky-KG" sz="2000" dirty="0"/>
              <a:t>жазгыла…</a:t>
            </a:r>
            <a:endParaRPr lang="en-GB" sz="14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0776A12-0F1C-4730-8CD9-7CA33C074356}"/>
              </a:ext>
            </a:extLst>
          </p:cNvPr>
          <p:cNvSpPr txBox="1"/>
          <p:nvPr/>
        </p:nvSpPr>
        <p:spPr>
          <a:xfrm>
            <a:off x="3547466" y="1663097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E2E2887B-EEDB-4B07-A289-EBB9CA4811CC}"/>
              </a:ext>
            </a:extLst>
          </p:cNvPr>
          <p:cNvSpPr txBox="1"/>
          <p:nvPr/>
        </p:nvSpPr>
        <p:spPr>
          <a:xfrm>
            <a:off x="4082486" y="1516923"/>
            <a:ext cx="2136418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GB" sz="2000" dirty="0"/>
              <a:t>… </a:t>
            </a:r>
            <a:r>
              <a:rPr lang="ky-KG" sz="2000" dirty="0"/>
              <a:t>миңдик  үлушү </a:t>
            </a:r>
            <a:r>
              <a:rPr lang="en-GB" sz="2000" dirty="0"/>
              <a:t>8</a:t>
            </a:r>
            <a:r>
              <a:rPr lang="ky-KG" sz="2000" dirty="0"/>
              <a:t> болгон</a:t>
            </a:r>
            <a:r>
              <a:rPr lang="en-GB" sz="2000" dirty="0"/>
              <a:t>.</a:t>
            </a:r>
          </a:p>
          <a:p>
            <a:pPr algn="ctr"/>
            <a:endParaRPr lang="en-GB" sz="20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14229C37-D5AB-4C19-87A1-BFDD69B32F22}"/>
              </a:ext>
            </a:extLst>
          </p:cNvPr>
          <p:cNvSpPr txBox="1"/>
          <p:nvPr/>
        </p:nvSpPr>
        <p:spPr>
          <a:xfrm>
            <a:off x="4267704" y="2160017"/>
            <a:ext cx="1660712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y-KG" sz="2000" dirty="0"/>
              <a:t>Мисалы : </a:t>
            </a:r>
            <a:r>
              <a:rPr lang="en-GB" sz="2000" dirty="0"/>
              <a:t>0.0</a:t>
            </a:r>
            <a:r>
              <a:rPr lang="ky-KG" sz="2000" dirty="0"/>
              <a:t>0</a:t>
            </a:r>
            <a:r>
              <a:rPr lang="en-GB" sz="2000" dirty="0"/>
              <a:t>8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34E581E4-63A2-47BA-A526-51CA8D26CDC9}"/>
              </a:ext>
            </a:extLst>
          </p:cNvPr>
          <p:cNvSpPr txBox="1"/>
          <p:nvPr/>
        </p:nvSpPr>
        <p:spPr>
          <a:xfrm>
            <a:off x="3547466" y="2954096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03E56F2-C10D-48A9-9324-A311D7E50A6C}"/>
              </a:ext>
            </a:extLst>
          </p:cNvPr>
          <p:cNvSpPr txBox="1"/>
          <p:nvPr/>
        </p:nvSpPr>
        <p:spPr>
          <a:xfrm>
            <a:off x="4006596" y="2971658"/>
            <a:ext cx="2096216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000" dirty="0"/>
              <a:t>… 13 </a:t>
            </a:r>
            <a:r>
              <a:rPr lang="ky-KG" sz="2000" dirty="0"/>
              <a:t>ондук бөлчөк</a:t>
            </a:r>
            <a:r>
              <a:rPr lang="en-GB" sz="2000" dirty="0"/>
              <a:t>.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B9C40CF-2964-4296-99FC-76DCD06EF636}"/>
              </a:ext>
            </a:extLst>
          </p:cNvPr>
          <p:cNvSpPr txBox="1"/>
          <p:nvPr/>
        </p:nvSpPr>
        <p:spPr>
          <a:xfrm>
            <a:off x="4354193" y="3415760"/>
            <a:ext cx="1401025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y-KG" sz="2000" dirty="0"/>
              <a:t>Мисалы : </a:t>
            </a:r>
            <a:r>
              <a:rPr lang="en-GB" sz="2000" dirty="0"/>
              <a:t>1.3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787A565-017C-4B90-9A22-C3C68A3C175F}"/>
              </a:ext>
            </a:extLst>
          </p:cNvPr>
          <p:cNvSpPr txBox="1"/>
          <p:nvPr/>
        </p:nvSpPr>
        <p:spPr>
          <a:xfrm>
            <a:off x="3547466" y="4275938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8C0C4A5E-E200-45E8-B559-743A4C5AB4E9}"/>
              </a:ext>
            </a:extLst>
          </p:cNvPr>
          <p:cNvSpPr txBox="1"/>
          <p:nvPr/>
        </p:nvSpPr>
        <p:spPr>
          <a:xfrm>
            <a:off x="3942481" y="4275938"/>
            <a:ext cx="2224456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000" dirty="0"/>
              <a:t>… 29 </a:t>
            </a:r>
            <a:r>
              <a:rPr lang="ky-KG" sz="2000" dirty="0"/>
              <a:t>жүздүк бөлчөк</a:t>
            </a:r>
            <a:r>
              <a:rPr lang="en-GB" sz="2000" dirty="0"/>
              <a:t>.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E0CE6C52-03BF-44E4-9B46-09C1CDFFEA86}"/>
              </a:ext>
            </a:extLst>
          </p:cNvPr>
          <p:cNvSpPr txBox="1"/>
          <p:nvPr/>
        </p:nvSpPr>
        <p:spPr>
          <a:xfrm>
            <a:off x="4289271" y="4706759"/>
            <a:ext cx="1530868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y-KG" sz="2000" dirty="0"/>
              <a:t>Мисалы :</a:t>
            </a:r>
            <a:r>
              <a:rPr lang="en-GB" sz="2000" dirty="0"/>
              <a:t> 0.29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6E5F3B8-7329-4C58-B69D-5476CEAB7861}"/>
              </a:ext>
            </a:extLst>
          </p:cNvPr>
          <p:cNvSpPr txBox="1"/>
          <p:nvPr/>
        </p:nvSpPr>
        <p:spPr>
          <a:xfrm>
            <a:off x="3547466" y="5566937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13C57678-6F3F-4384-BD27-CB07D11E6E87}"/>
              </a:ext>
            </a:extLst>
          </p:cNvPr>
          <p:cNvSpPr txBox="1"/>
          <p:nvPr/>
        </p:nvSpPr>
        <p:spPr>
          <a:xfrm>
            <a:off x="3838830" y="5584499"/>
            <a:ext cx="2431756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000" dirty="0"/>
              <a:t>… 307</a:t>
            </a:r>
            <a:r>
              <a:rPr lang="ky-KG" sz="2000" dirty="0"/>
              <a:t> миңдик бөлчөк</a:t>
            </a:r>
            <a:r>
              <a:rPr lang="en-GB" sz="2000" dirty="0"/>
              <a:t>.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B2F4C13-ED42-4A40-BE94-6012EB5B656C}"/>
              </a:ext>
            </a:extLst>
          </p:cNvPr>
          <p:cNvSpPr txBox="1"/>
          <p:nvPr/>
        </p:nvSpPr>
        <p:spPr>
          <a:xfrm>
            <a:off x="4253203" y="6006400"/>
            <a:ext cx="1603004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y-KG" sz="2000" dirty="0"/>
              <a:t>Мисалы :</a:t>
            </a:r>
            <a:r>
              <a:rPr lang="en-GB" sz="2000" dirty="0"/>
              <a:t>0.307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EDCA7CF8-F041-45AB-843D-3B48D6C91079}"/>
              </a:ext>
            </a:extLst>
          </p:cNvPr>
          <p:cNvSpPr txBox="1"/>
          <p:nvPr/>
        </p:nvSpPr>
        <p:spPr>
          <a:xfrm>
            <a:off x="6890741" y="679172"/>
            <a:ext cx="2907976" cy="92333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y-KG" sz="2000" dirty="0"/>
              <a:t>Ар бир сан үчүн ондук </a:t>
            </a:r>
          </a:p>
          <a:p>
            <a:pPr algn="ctr"/>
            <a:r>
              <a:rPr lang="ky-KG" sz="2000" dirty="0"/>
              <a:t>бөлүкчөлөрдүн суммасын </a:t>
            </a:r>
          </a:p>
          <a:p>
            <a:pPr algn="ctr"/>
            <a:r>
              <a:rPr lang="ky-KG" sz="2000" dirty="0"/>
              <a:t>толукта.</a:t>
            </a:r>
            <a:endParaRPr lang="en-GB" sz="1400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66CC19AE-C2B1-48D1-A053-8B1EBB7FB590}"/>
              </a:ext>
            </a:extLst>
          </p:cNvPr>
          <p:cNvSpPr txBox="1"/>
          <p:nvPr/>
        </p:nvSpPr>
        <p:spPr>
          <a:xfrm>
            <a:off x="6890741" y="1838622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F4C45CC-B74F-4664-A43A-F45282A26FA7}"/>
              </a:ext>
            </a:extLst>
          </p:cNvPr>
          <p:cNvSpPr txBox="1"/>
          <p:nvPr/>
        </p:nvSpPr>
        <p:spPr>
          <a:xfrm>
            <a:off x="7288078" y="1810047"/>
            <a:ext cx="54341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400" dirty="0"/>
              <a:t>0.56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241E0F3D-BB8B-4FF4-BE35-AD0FE6C6746A}"/>
                  </a:ext>
                </a:extLst>
              </p:cNvPr>
              <p:cNvSpPr txBox="1"/>
              <p:nvPr/>
            </p:nvSpPr>
            <p:spPr>
              <a:xfrm>
                <a:off x="8357078" y="1703393"/>
                <a:ext cx="1072408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10 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241E0F3D-BB8B-4FF4-BE35-AD0FE6C67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7078" y="1703393"/>
                <a:ext cx="1072408" cy="52597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TextBox 165">
            <a:extLst>
              <a:ext uri="{FF2B5EF4-FFF2-40B4-BE49-F238E27FC236}">
                <a16:creationId xmlns:a16="http://schemas.microsoft.com/office/drawing/2014/main" id="{B4E645C2-3992-48A1-B779-542C349E9494}"/>
              </a:ext>
            </a:extLst>
          </p:cNvPr>
          <p:cNvSpPr txBox="1"/>
          <p:nvPr/>
        </p:nvSpPr>
        <p:spPr>
          <a:xfrm>
            <a:off x="6890741" y="2829222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6C1548CF-B415-44EA-9F09-0B8297A64797}"/>
              </a:ext>
            </a:extLst>
          </p:cNvPr>
          <p:cNvSpPr txBox="1"/>
          <p:nvPr/>
        </p:nvSpPr>
        <p:spPr>
          <a:xfrm>
            <a:off x="7210331" y="2800647"/>
            <a:ext cx="698910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400" dirty="0"/>
              <a:t>0.287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E72D5A73-3C2E-4054-9D4C-03F3E15711CD}"/>
                  </a:ext>
                </a:extLst>
              </p:cNvPr>
              <p:cNvSpPr txBox="1"/>
              <p:nvPr/>
            </p:nvSpPr>
            <p:spPr>
              <a:xfrm>
                <a:off x="8004511" y="2693993"/>
                <a:ext cx="1758494" cy="5203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E72D5A73-3C2E-4054-9D4C-03F3E15711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4511" y="2693993"/>
                <a:ext cx="1758494" cy="5203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9" name="TextBox 168">
            <a:extLst>
              <a:ext uri="{FF2B5EF4-FFF2-40B4-BE49-F238E27FC236}">
                <a16:creationId xmlns:a16="http://schemas.microsoft.com/office/drawing/2014/main" id="{44D61062-6268-4AD0-B125-F3A65919D6BE}"/>
              </a:ext>
            </a:extLst>
          </p:cNvPr>
          <p:cNvSpPr txBox="1"/>
          <p:nvPr/>
        </p:nvSpPr>
        <p:spPr>
          <a:xfrm>
            <a:off x="6878478" y="3574772"/>
            <a:ext cx="2848536" cy="92333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y-KG" sz="2000" dirty="0"/>
              <a:t>Асты сызылган сандарды </a:t>
            </a:r>
          </a:p>
          <a:p>
            <a:pPr algn="ctr"/>
            <a:r>
              <a:rPr lang="ky-KG" sz="2000" dirty="0"/>
              <a:t>жөнөкөйлөштүрүлгөн</a:t>
            </a:r>
          </a:p>
          <a:p>
            <a:pPr algn="ctr"/>
            <a:r>
              <a:rPr lang="ky-KG" sz="2000" dirty="0"/>
              <a:t> бөлчөк түрүндө көрсөт.</a:t>
            </a:r>
            <a:endParaRPr lang="en-GB" sz="1400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CB7E42BA-D445-4383-9FC6-3E97FB185CFF}"/>
              </a:ext>
            </a:extLst>
          </p:cNvPr>
          <p:cNvSpPr txBox="1"/>
          <p:nvPr/>
        </p:nvSpPr>
        <p:spPr>
          <a:xfrm>
            <a:off x="6890741" y="4991397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A96FA202-14A5-4106-B118-E1713A4EB1F3}"/>
              </a:ext>
            </a:extLst>
          </p:cNvPr>
          <p:cNvSpPr txBox="1"/>
          <p:nvPr/>
        </p:nvSpPr>
        <p:spPr>
          <a:xfrm>
            <a:off x="7288078" y="4962822"/>
            <a:ext cx="54341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400" dirty="0"/>
              <a:t>4</a:t>
            </a:r>
            <a:r>
              <a:rPr lang="en-GB" sz="2400" u="sng" dirty="0"/>
              <a:t>2.2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0797F457-052A-40AB-9D71-9846B8263EE2}"/>
                  </a:ext>
                </a:extLst>
              </p:cNvPr>
              <p:cNvSpPr txBox="1"/>
              <p:nvPr/>
            </p:nvSpPr>
            <p:spPr>
              <a:xfrm>
                <a:off x="8411676" y="4856168"/>
                <a:ext cx="963212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0797F457-052A-40AB-9D71-9846B8263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1676" y="4856168"/>
                <a:ext cx="963212" cy="57823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6" name="TextBox 175">
            <a:extLst>
              <a:ext uri="{FF2B5EF4-FFF2-40B4-BE49-F238E27FC236}">
                <a16:creationId xmlns:a16="http://schemas.microsoft.com/office/drawing/2014/main" id="{70B332DE-954F-4F07-95AB-9DC5F21EE760}"/>
              </a:ext>
            </a:extLst>
          </p:cNvPr>
          <p:cNvSpPr txBox="1"/>
          <p:nvPr/>
        </p:nvSpPr>
        <p:spPr>
          <a:xfrm>
            <a:off x="6890741" y="6048672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8A72A3D0-3D72-4C96-84DF-E4AC689A106F}"/>
              </a:ext>
            </a:extLst>
          </p:cNvPr>
          <p:cNvSpPr txBox="1"/>
          <p:nvPr/>
        </p:nvSpPr>
        <p:spPr>
          <a:xfrm>
            <a:off x="7288077" y="6020097"/>
            <a:ext cx="543418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400" dirty="0"/>
              <a:t>2.</a:t>
            </a:r>
            <a:r>
              <a:rPr lang="en-GB" sz="2400" u="sng" dirty="0"/>
              <a:t>52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39EEC0BC-31CF-47BC-AF5F-F95F4F5A4612}"/>
                  </a:ext>
                </a:extLst>
              </p:cNvPr>
              <p:cNvSpPr txBox="1"/>
              <p:nvPr/>
            </p:nvSpPr>
            <p:spPr>
              <a:xfrm>
                <a:off x="8340343" y="5913443"/>
                <a:ext cx="1105879" cy="584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52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39EEC0BC-31CF-47BC-AF5F-F95F4F5A4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0343" y="5913443"/>
                <a:ext cx="1105879" cy="58451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2" name="Rectangle 181">
            <a:extLst>
              <a:ext uri="{FF2B5EF4-FFF2-40B4-BE49-F238E27FC236}">
                <a16:creationId xmlns:a16="http://schemas.microsoft.com/office/drawing/2014/main" id="{66830EC0-0B6B-4F04-8D9A-B89EBB5E2C02}"/>
              </a:ext>
            </a:extLst>
          </p:cNvPr>
          <p:cNvSpPr/>
          <p:nvPr/>
        </p:nvSpPr>
        <p:spPr>
          <a:xfrm>
            <a:off x="8991599" y="2040729"/>
            <a:ext cx="385763" cy="2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FE719E22-886D-402C-9D7A-AA0E5B571D19}"/>
              </a:ext>
            </a:extLst>
          </p:cNvPr>
          <p:cNvSpPr/>
          <p:nvPr/>
        </p:nvSpPr>
        <p:spPr>
          <a:xfrm>
            <a:off x="8341518" y="2040729"/>
            <a:ext cx="385763" cy="2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33764B70-1E6E-4819-BA73-096DC06575F3}"/>
              </a:ext>
            </a:extLst>
          </p:cNvPr>
          <p:cNvSpPr/>
          <p:nvPr/>
        </p:nvSpPr>
        <p:spPr>
          <a:xfrm>
            <a:off x="8991599" y="1678779"/>
            <a:ext cx="385763" cy="2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0238DAA0-90BA-4872-A9CC-0F608E63E187}"/>
              </a:ext>
            </a:extLst>
          </p:cNvPr>
          <p:cNvSpPr/>
          <p:nvPr/>
        </p:nvSpPr>
        <p:spPr>
          <a:xfrm>
            <a:off x="8341518" y="1678779"/>
            <a:ext cx="385763" cy="2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78D554-F7CF-23DC-5E30-96F010E0DA4B}"/>
              </a:ext>
            </a:extLst>
          </p:cNvPr>
          <p:cNvSpPr txBox="1"/>
          <p:nvPr/>
        </p:nvSpPr>
        <p:spPr>
          <a:xfrm>
            <a:off x="678959" y="32874"/>
            <a:ext cx="19315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accent4"/>
                </a:solidFill>
              </a:rPr>
              <a:t>ЖЕҢИЛ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A5C5B8-479B-1481-9F73-2EF9BC791C55}"/>
              </a:ext>
            </a:extLst>
          </p:cNvPr>
          <p:cNvSpPr txBox="1"/>
          <p:nvPr/>
        </p:nvSpPr>
        <p:spPr>
          <a:xfrm>
            <a:off x="4489303" y="41319"/>
            <a:ext cx="12175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rgbClr val="00B050"/>
                </a:solidFill>
              </a:rPr>
              <a:t>ОРТО</a:t>
            </a: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A454CD-9223-DD8E-8DEA-C8916909FA4A}"/>
              </a:ext>
            </a:extLst>
          </p:cNvPr>
          <p:cNvSpPr txBox="1"/>
          <p:nvPr/>
        </p:nvSpPr>
        <p:spPr>
          <a:xfrm>
            <a:off x="7702254" y="-9165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ООР</a:t>
            </a: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0685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/>
      <p:bldP spid="110" grpId="0"/>
      <p:bldP spid="114" grpId="0"/>
      <p:bldP spid="118" grpId="0"/>
      <p:bldP spid="129" grpId="0"/>
      <p:bldP spid="133" grpId="0"/>
      <p:bldP spid="137" grpId="0"/>
      <p:bldP spid="141" grpId="0"/>
      <p:bldP spid="168" grpId="0"/>
      <p:bldP spid="174" grpId="0"/>
      <p:bldP spid="178" grpId="0"/>
      <p:bldP spid="182" grpId="0" animBg="1"/>
      <p:bldP spid="184" grpId="0" animBg="1"/>
      <p:bldP spid="185" grpId="0" animBg="1"/>
      <p:bldP spid="18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C92620D-6D6D-37EB-D458-27F1D901F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4" y="19051"/>
            <a:ext cx="4872835" cy="332422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8A6BCCE-50F6-DEB3-1073-0D0E0DE63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1101" y="19051"/>
            <a:ext cx="4872835" cy="33242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4C92CE6-412C-DB4F-0DAE-E01C410D55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4" y="3514726"/>
            <a:ext cx="4872835" cy="33242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25C2914-12E0-8996-AD0D-21BECD83AB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1101" y="3514726"/>
            <a:ext cx="4872835" cy="3324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1262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1383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4672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50000"/>
            </a:schemeClr>
          </a:solidFill>
          <a:headEnd type="arrow" w="sm" len="sm"/>
          <a:tailEnd type="arrow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10636</TotalTime>
  <Words>316</Words>
  <Application>Microsoft Office PowerPoint</Application>
  <PresentationFormat>A4 Paper (210x297 mm)</PresentationFormat>
  <Paragraphs>112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Calibri </vt:lpstr>
      <vt:lpstr>Calibri Light</vt:lpstr>
      <vt:lpstr>Arial</vt:lpstr>
      <vt:lpstr>Cambria Math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527</cp:revision>
  <cp:lastPrinted>2017-12-31T22:38:51Z</cp:lastPrinted>
  <dcterms:created xsi:type="dcterms:W3CDTF">2017-01-17T16:57:04Z</dcterms:created>
  <dcterms:modified xsi:type="dcterms:W3CDTF">2024-09-22T17:13:29Z</dcterms:modified>
</cp:coreProperties>
</file>