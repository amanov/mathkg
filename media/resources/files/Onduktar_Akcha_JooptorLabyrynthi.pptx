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915" r:id="rId3"/>
    <p:sldId id="951" r:id="rId4"/>
    <p:sldId id="955" r:id="rId5"/>
    <p:sldId id="956" r:id="rId6"/>
    <p:sldId id="953" r:id="rId7"/>
    <p:sldId id="946" r:id="rId8"/>
  </p:sldIdLst>
  <p:sldSz cx="9906000" cy="6858000" type="A4"/>
  <p:notesSz cx="7104063" cy="10234613"/>
  <p:embeddedFontLst>
    <p:embeddedFont>
      <p:font typeface="Agency FB" panose="020B0503020202020204" pitchFamily="34" charset="0"/>
      <p:regular r:id="rId10"/>
      <p:bold r:id="rId11"/>
    </p:embeddedFont>
    <p:embeddedFont>
      <p:font typeface="Segoe UI Historic" panose="020B0502040204020203" pitchFamily="34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Башкы слайд" id="{FB592D55-1207-4A56-B587-CE877D79D7E8}">
          <p14:sldIdLst>
            <p14:sldId id="915"/>
          </p14:sldIdLst>
        </p14:section>
        <p14:section name="Көрсөтүү үчүн" id="{7C0E3A1B-500A-4602-B3A4-61EC1D99102D}">
          <p14:sldIdLst>
            <p14:sldId id="951"/>
          </p14:sldIdLst>
        </p14:section>
        <p14:section name="Жообу" id="{22D38B5C-BAA3-45B6-8360-EC82D2065FF3}">
          <p14:sldIdLst>
            <p14:sldId id="955"/>
            <p14:sldId id="956"/>
          </p14:sldIdLst>
        </p14:section>
        <p14:section name="Таркатма иш кагаздар" id="{1D8C0968-4B11-474F-92AE-4DDCBDF03728}">
          <p14:sldIdLst>
            <p14:sldId id="953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–Турсуштагы эсептер– Калькулятор менен иштөө – Жооптор лабиринти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СТАРТтан ФИНИШке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чейин жолду табышы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Ар бир суроого жоопту суроо кутучасынан горизонталдуу, вертикалдуу же диагоналдуу боюнча кутучалардын биринен тапса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баракчасы ар кандай өлчөмдөрдө берилген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256D963-84F7-4149-B061-2C99226395A8}"/>
              </a:ext>
            </a:extLst>
          </p:cNvPr>
          <p:cNvSpPr txBox="1"/>
          <p:nvPr/>
        </p:nvSpPr>
        <p:spPr>
          <a:xfrm>
            <a:off x="0" y="-229"/>
            <a:ext cx="990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ky-KG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Жооптор лабиринти</a:t>
            </a:r>
            <a:endParaRPr lang="en-GB" sz="8800" b="1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402630" y="1323210"/>
            <a:ext cx="93916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6000" b="1" dirty="0">
                <a:ln w="28575">
                  <a:solidFill>
                    <a:schemeClr val="tx1"/>
                  </a:solidFill>
                </a:ln>
                <a:solidFill>
                  <a:srgbClr val="FFFF00"/>
                </a:solidFill>
              </a:rPr>
              <a:t>СТАРТтан ФИНИШке </a:t>
            </a:r>
          </a:p>
          <a:p>
            <a:r>
              <a:rPr lang="ky-KG" sz="6000" b="1" dirty="0">
                <a:ln w="28575">
                  <a:solidFill>
                    <a:schemeClr val="tx1"/>
                  </a:solidFill>
                </a:ln>
                <a:solidFill>
                  <a:srgbClr val="FFFF00"/>
                </a:solidFill>
              </a:rPr>
              <a:t>                   чейин жолду тап!</a:t>
            </a:r>
            <a:endParaRPr lang="en-GB" sz="6000" b="1" dirty="0">
              <a:ln w="28575">
                <a:solidFill>
                  <a:schemeClr val="tx1"/>
                </a:solidFill>
              </a:ln>
              <a:solidFill>
                <a:srgbClr val="FFFF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C6BFC-312B-76F3-034B-1978278A8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520" y="3262202"/>
            <a:ext cx="5024914" cy="347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05EB913-597D-4BBB-98D7-4EEF3B193D86}"/>
              </a:ext>
            </a:extLst>
          </p:cNvPr>
          <p:cNvCxnSpPr>
            <a:cxnSpLocks/>
          </p:cNvCxnSpPr>
          <p:nvPr/>
        </p:nvCxnSpPr>
        <p:spPr>
          <a:xfrm>
            <a:off x="948120" y="4232366"/>
            <a:ext cx="1998641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7A19B03E-2A7B-43F0-89A1-D3B348DE7A10}"/>
              </a:ext>
            </a:extLst>
          </p:cNvPr>
          <p:cNvCxnSpPr>
            <a:cxnSpLocks/>
          </p:cNvCxnSpPr>
          <p:nvPr/>
        </p:nvCxnSpPr>
        <p:spPr>
          <a:xfrm>
            <a:off x="940524" y="2542903"/>
            <a:ext cx="4035625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DDEFBC4-BC3D-4C81-AA73-2585AFF7F839}"/>
              </a:ext>
            </a:extLst>
          </p:cNvPr>
          <p:cNvCxnSpPr>
            <a:cxnSpLocks/>
          </p:cNvCxnSpPr>
          <p:nvPr/>
        </p:nvCxnSpPr>
        <p:spPr>
          <a:xfrm>
            <a:off x="928948" y="804091"/>
            <a:ext cx="6065385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8E0348AD-750F-4EEC-AFBA-3AACA387FF0D}"/>
              </a:ext>
            </a:extLst>
          </p:cNvPr>
          <p:cNvCxnSpPr>
            <a:cxnSpLocks/>
          </p:cNvCxnSpPr>
          <p:nvPr/>
        </p:nvCxnSpPr>
        <p:spPr>
          <a:xfrm>
            <a:off x="2946761" y="818605"/>
            <a:ext cx="6065385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3DA7179C-7597-489B-9F2D-0156E11444E2}"/>
              </a:ext>
            </a:extLst>
          </p:cNvPr>
          <p:cNvCxnSpPr>
            <a:cxnSpLocks/>
          </p:cNvCxnSpPr>
          <p:nvPr/>
        </p:nvCxnSpPr>
        <p:spPr>
          <a:xfrm>
            <a:off x="4941427" y="787401"/>
            <a:ext cx="4035625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85A46C2-B1E5-4413-AE47-57D17265980B}"/>
              </a:ext>
            </a:extLst>
          </p:cNvPr>
          <p:cNvCxnSpPr>
            <a:cxnSpLocks/>
          </p:cNvCxnSpPr>
          <p:nvPr/>
        </p:nvCxnSpPr>
        <p:spPr>
          <a:xfrm>
            <a:off x="6995814" y="769970"/>
            <a:ext cx="1998641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81C3F24-E75D-48F6-AFC4-E49A7B27E715}"/>
              </a:ext>
            </a:extLst>
          </p:cNvPr>
          <p:cNvCxnSpPr>
            <a:cxnSpLocks/>
          </p:cNvCxnSpPr>
          <p:nvPr/>
        </p:nvCxnSpPr>
        <p:spPr>
          <a:xfrm flipH="1">
            <a:off x="6926033" y="4252332"/>
            <a:ext cx="1988645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97A89F03-5304-4B9A-8EF0-C4382221A351}"/>
              </a:ext>
            </a:extLst>
          </p:cNvPr>
          <p:cNvCxnSpPr>
            <a:cxnSpLocks/>
          </p:cNvCxnSpPr>
          <p:nvPr/>
        </p:nvCxnSpPr>
        <p:spPr>
          <a:xfrm flipH="1">
            <a:off x="4906796" y="2562869"/>
            <a:ext cx="4015440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1FE59B4D-4848-405D-8D93-9ED36166FD8D}"/>
              </a:ext>
            </a:extLst>
          </p:cNvPr>
          <p:cNvCxnSpPr>
            <a:cxnSpLocks/>
          </p:cNvCxnSpPr>
          <p:nvPr/>
        </p:nvCxnSpPr>
        <p:spPr>
          <a:xfrm flipH="1">
            <a:off x="2898706" y="824057"/>
            <a:ext cx="6035048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6F0413A-C52A-4A16-AC17-2EAFB2D190BB}"/>
              </a:ext>
            </a:extLst>
          </p:cNvPr>
          <p:cNvCxnSpPr>
            <a:cxnSpLocks/>
          </p:cNvCxnSpPr>
          <p:nvPr/>
        </p:nvCxnSpPr>
        <p:spPr>
          <a:xfrm flipH="1">
            <a:off x="890985" y="838571"/>
            <a:ext cx="6035048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48469A14-45CB-4B0E-8662-0074FA6B3DCB}"/>
              </a:ext>
            </a:extLst>
          </p:cNvPr>
          <p:cNvCxnSpPr>
            <a:cxnSpLocks/>
          </p:cNvCxnSpPr>
          <p:nvPr/>
        </p:nvCxnSpPr>
        <p:spPr>
          <a:xfrm flipH="1">
            <a:off x="925903" y="807367"/>
            <a:ext cx="4015440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3EE01051-EFF1-4648-AEF3-8366735460F0}"/>
              </a:ext>
            </a:extLst>
          </p:cNvPr>
          <p:cNvCxnSpPr>
            <a:cxnSpLocks/>
          </p:cNvCxnSpPr>
          <p:nvPr/>
        </p:nvCxnSpPr>
        <p:spPr>
          <a:xfrm flipH="1">
            <a:off x="908588" y="789936"/>
            <a:ext cx="1988645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AFAE01E-94C9-41C1-8B70-E5C27F99035F}"/>
              </a:ext>
            </a:extLst>
          </p:cNvPr>
          <p:cNvCxnSpPr>
            <a:cxnSpLocks/>
          </p:cNvCxnSpPr>
          <p:nvPr/>
        </p:nvCxnSpPr>
        <p:spPr>
          <a:xfrm flipH="1">
            <a:off x="940524" y="80989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1F624B46-1454-4371-8A7C-0CB8F987FAEB}"/>
              </a:ext>
            </a:extLst>
          </p:cNvPr>
          <p:cNvCxnSpPr>
            <a:cxnSpLocks/>
          </p:cNvCxnSpPr>
          <p:nvPr/>
        </p:nvCxnSpPr>
        <p:spPr>
          <a:xfrm flipH="1">
            <a:off x="2950559" y="79973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D54075D-1A7B-4B66-AF6E-D0CCC21714EA}"/>
              </a:ext>
            </a:extLst>
          </p:cNvPr>
          <p:cNvCxnSpPr>
            <a:cxnSpLocks/>
          </p:cNvCxnSpPr>
          <p:nvPr/>
        </p:nvCxnSpPr>
        <p:spPr>
          <a:xfrm flipH="1">
            <a:off x="4960593" y="79973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416B11E-4651-4676-9CDD-E57DFB8EF615}"/>
              </a:ext>
            </a:extLst>
          </p:cNvPr>
          <p:cNvCxnSpPr>
            <a:cxnSpLocks/>
          </p:cNvCxnSpPr>
          <p:nvPr/>
        </p:nvCxnSpPr>
        <p:spPr>
          <a:xfrm flipH="1">
            <a:off x="6967337" y="80989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B2BE7CB4-E220-4A2D-B8A4-10D3CF00C53D}"/>
              </a:ext>
            </a:extLst>
          </p:cNvPr>
          <p:cNvCxnSpPr>
            <a:cxnSpLocks/>
          </p:cNvCxnSpPr>
          <p:nvPr/>
        </p:nvCxnSpPr>
        <p:spPr>
          <a:xfrm flipH="1">
            <a:off x="8985522" y="799736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EE4A482-7D66-404B-B60E-F9248EA54683}"/>
              </a:ext>
            </a:extLst>
          </p:cNvPr>
          <p:cNvCxnSpPr>
            <a:cxnSpLocks/>
          </p:cNvCxnSpPr>
          <p:nvPr/>
        </p:nvCxnSpPr>
        <p:spPr>
          <a:xfrm flipH="1">
            <a:off x="1415141" y="818605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546A1ED-6E0D-47E0-9615-D3FC648D385E}"/>
              </a:ext>
            </a:extLst>
          </p:cNvPr>
          <p:cNvCxnSpPr>
            <a:cxnSpLocks/>
          </p:cNvCxnSpPr>
          <p:nvPr/>
        </p:nvCxnSpPr>
        <p:spPr>
          <a:xfrm flipH="1">
            <a:off x="1415141" y="2561771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A7C3A25-1AFE-4703-8D64-8836A03D2DF9}"/>
              </a:ext>
            </a:extLst>
          </p:cNvPr>
          <p:cNvCxnSpPr>
            <a:cxnSpLocks/>
          </p:cNvCxnSpPr>
          <p:nvPr/>
        </p:nvCxnSpPr>
        <p:spPr>
          <a:xfrm flipH="1">
            <a:off x="1415141" y="4304937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E3E56153-16BE-4E07-8FA7-29C7356663A9}"/>
              </a:ext>
            </a:extLst>
          </p:cNvPr>
          <p:cNvCxnSpPr>
            <a:cxnSpLocks/>
          </p:cNvCxnSpPr>
          <p:nvPr/>
        </p:nvCxnSpPr>
        <p:spPr>
          <a:xfrm flipH="1">
            <a:off x="1415141" y="6048103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2D2134-4D3B-4162-B1B8-2E5AA9ED715F}"/>
              </a:ext>
            </a:extLst>
          </p:cNvPr>
          <p:cNvSpPr/>
          <p:nvPr/>
        </p:nvSpPr>
        <p:spPr>
          <a:xfrm>
            <a:off x="68432" y="0"/>
            <a:ext cx="1846728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B205FF26-B62F-4159-B48C-78F420D5BA10}"/>
              </a:ext>
            </a:extLst>
          </p:cNvPr>
          <p:cNvSpPr/>
          <p:nvPr/>
        </p:nvSpPr>
        <p:spPr>
          <a:xfrm>
            <a:off x="1996335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038C0465-C3A7-4C84-BB1A-4AB08AD7264D}"/>
              </a:ext>
            </a:extLst>
          </p:cNvPr>
          <p:cNvSpPr/>
          <p:nvPr/>
        </p:nvSpPr>
        <p:spPr>
          <a:xfrm>
            <a:off x="3992670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01F3C8E-1F14-4CC4-8CC6-C560F7B58DF8}"/>
              </a:ext>
            </a:extLst>
          </p:cNvPr>
          <p:cNvSpPr/>
          <p:nvPr/>
        </p:nvSpPr>
        <p:spPr>
          <a:xfrm>
            <a:off x="5989005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3613BB4F-2D92-47FF-BD5C-CF9BA0E0B2D6}"/>
              </a:ext>
            </a:extLst>
          </p:cNvPr>
          <p:cNvSpPr/>
          <p:nvPr/>
        </p:nvSpPr>
        <p:spPr>
          <a:xfrm>
            <a:off x="7985340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827443-883D-4F40-B53D-8B8569105279}"/>
              </a:ext>
            </a:extLst>
          </p:cNvPr>
          <p:cNvSpPr/>
          <p:nvPr/>
        </p:nvSpPr>
        <p:spPr>
          <a:xfrm>
            <a:off x="2293618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11,54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483706-662B-436F-913E-52DEA3E8DE78}"/>
              </a:ext>
            </a:extLst>
          </p:cNvPr>
          <p:cNvSpPr/>
          <p:nvPr/>
        </p:nvSpPr>
        <p:spPr>
          <a:xfrm>
            <a:off x="4299855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£7,94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D548634-9B7E-43A0-82BF-C496A9F2E264}"/>
              </a:ext>
            </a:extLst>
          </p:cNvPr>
          <p:cNvSpPr/>
          <p:nvPr/>
        </p:nvSpPr>
        <p:spPr>
          <a:xfrm>
            <a:off x="6306092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19,61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C8B2A7D-618C-4CB6-AC4F-270E6635881C}"/>
              </a:ext>
            </a:extLst>
          </p:cNvPr>
          <p:cNvSpPr/>
          <p:nvPr/>
        </p:nvSpPr>
        <p:spPr>
          <a:xfrm>
            <a:off x="8312330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4,67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30A8E6EA-A179-47C7-A3FB-F6110386B497}"/>
              </a:ext>
            </a:extLst>
          </p:cNvPr>
          <p:cNvSpPr/>
          <p:nvPr/>
        </p:nvSpPr>
        <p:spPr>
          <a:xfrm>
            <a:off x="22904" y="1732280"/>
            <a:ext cx="1892256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54117941-7582-4686-B586-2A09AC325F46}"/>
              </a:ext>
            </a:extLst>
          </p:cNvPr>
          <p:cNvSpPr/>
          <p:nvPr/>
        </p:nvSpPr>
        <p:spPr>
          <a:xfrm>
            <a:off x="1996335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618F4FF0-5731-4925-9BE3-66E063207FAB}"/>
              </a:ext>
            </a:extLst>
          </p:cNvPr>
          <p:cNvSpPr/>
          <p:nvPr/>
        </p:nvSpPr>
        <p:spPr>
          <a:xfrm>
            <a:off x="3992670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813EA0C4-1A5B-4E80-B66E-8F991674EB8F}"/>
              </a:ext>
            </a:extLst>
          </p:cNvPr>
          <p:cNvSpPr/>
          <p:nvPr/>
        </p:nvSpPr>
        <p:spPr>
          <a:xfrm>
            <a:off x="5989005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31525108-02EE-4EEF-9A26-BE85926E14D7}"/>
              </a:ext>
            </a:extLst>
          </p:cNvPr>
          <p:cNvSpPr/>
          <p:nvPr/>
        </p:nvSpPr>
        <p:spPr>
          <a:xfrm>
            <a:off x="7985340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D07A8AC2-86E3-49EB-B33A-B8E0D89423A8}"/>
              </a:ext>
            </a:extLst>
          </p:cNvPr>
          <p:cNvSpPr/>
          <p:nvPr/>
        </p:nvSpPr>
        <p:spPr>
          <a:xfrm>
            <a:off x="0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D0E7B3D0-D96E-4462-B7CB-E05382F55E9F}"/>
              </a:ext>
            </a:extLst>
          </p:cNvPr>
          <p:cNvSpPr/>
          <p:nvPr/>
        </p:nvSpPr>
        <p:spPr>
          <a:xfrm>
            <a:off x="1996335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9705571F-9CE9-4157-A4BC-BBE2EE032FBF}"/>
              </a:ext>
            </a:extLst>
          </p:cNvPr>
          <p:cNvSpPr/>
          <p:nvPr/>
        </p:nvSpPr>
        <p:spPr>
          <a:xfrm>
            <a:off x="3992670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DE83FEC6-C722-454C-93CE-532FF689B748}"/>
              </a:ext>
            </a:extLst>
          </p:cNvPr>
          <p:cNvSpPr/>
          <p:nvPr/>
        </p:nvSpPr>
        <p:spPr>
          <a:xfrm>
            <a:off x="5989005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C26A6890-4BEC-42F2-B106-299C04D1F16B}"/>
              </a:ext>
            </a:extLst>
          </p:cNvPr>
          <p:cNvSpPr/>
          <p:nvPr/>
        </p:nvSpPr>
        <p:spPr>
          <a:xfrm>
            <a:off x="7985340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012F50B3-A39E-4868-B8C3-83A9F37EC57B}"/>
              </a:ext>
            </a:extLst>
          </p:cNvPr>
          <p:cNvSpPr/>
          <p:nvPr/>
        </p:nvSpPr>
        <p:spPr>
          <a:xfrm>
            <a:off x="0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BE78EF6C-28FA-4762-8CF3-4608F006B6F4}"/>
              </a:ext>
            </a:extLst>
          </p:cNvPr>
          <p:cNvSpPr/>
          <p:nvPr/>
        </p:nvSpPr>
        <p:spPr>
          <a:xfrm>
            <a:off x="1996335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19096006-57B3-4270-8DC7-DCF9B0D4301D}"/>
              </a:ext>
            </a:extLst>
          </p:cNvPr>
          <p:cNvSpPr/>
          <p:nvPr/>
        </p:nvSpPr>
        <p:spPr>
          <a:xfrm>
            <a:off x="3992670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060F6138-8A10-4D48-B27A-CC9F644DE9E4}"/>
              </a:ext>
            </a:extLst>
          </p:cNvPr>
          <p:cNvSpPr/>
          <p:nvPr/>
        </p:nvSpPr>
        <p:spPr>
          <a:xfrm>
            <a:off x="5989005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59615A30-70DE-499A-AB62-D6A742E7533C}"/>
              </a:ext>
            </a:extLst>
          </p:cNvPr>
          <p:cNvSpPr/>
          <p:nvPr/>
        </p:nvSpPr>
        <p:spPr>
          <a:xfrm>
            <a:off x="7985340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CD5F08DF-0C6D-4167-9C4C-0609928B58A4}"/>
              </a:ext>
            </a:extLst>
          </p:cNvPr>
          <p:cNvSpPr/>
          <p:nvPr/>
        </p:nvSpPr>
        <p:spPr>
          <a:xfrm>
            <a:off x="287381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10,59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303B89FF-A761-4772-8282-14C602ACCEA9}"/>
              </a:ext>
            </a:extLst>
          </p:cNvPr>
          <p:cNvSpPr/>
          <p:nvPr/>
        </p:nvSpPr>
        <p:spPr>
          <a:xfrm>
            <a:off x="2293618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11</a:t>
            </a:r>
            <a:r>
              <a:rPr lang="ky-KG" sz="1950" dirty="0">
                <a:solidFill>
                  <a:schemeClr val="tx1"/>
                </a:solidFill>
              </a:rPr>
              <a:t>,</a:t>
            </a:r>
            <a:r>
              <a:rPr lang="en-GB" sz="1950" dirty="0">
                <a:solidFill>
                  <a:schemeClr val="tx1"/>
                </a:solidFill>
              </a:rPr>
              <a:t>04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F46575FF-5E35-4B89-BDA5-9E90F148FA86}"/>
              </a:ext>
            </a:extLst>
          </p:cNvPr>
          <p:cNvSpPr/>
          <p:nvPr/>
        </p:nvSpPr>
        <p:spPr>
          <a:xfrm>
            <a:off x="4315095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5,24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2267BFC-C74E-44F0-B2C3-8267AE033ABE}"/>
              </a:ext>
            </a:extLst>
          </p:cNvPr>
          <p:cNvSpPr/>
          <p:nvPr/>
        </p:nvSpPr>
        <p:spPr>
          <a:xfrm>
            <a:off x="6306092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4,55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F207576D-C692-4165-A79D-810AB0A80133}"/>
              </a:ext>
            </a:extLst>
          </p:cNvPr>
          <p:cNvSpPr/>
          <p:nvPr/>
        </p:nvSpPr>
        <p:spPr>
          <a:xfrm>
            <a:off x="8327570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5,35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8259ED8C-8DFE-4890-A359-E7A9A0810893}"/>
              </a:ext>
            </a:extLst>
          </p:cNvPr>
          <p:cNvSpPr/>
          <p:nvPr/>
        </p:nvSpPr>
        <p:spPr>
          <a:xfrm>
            <a:off x="287381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7,93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AE0CA0FC-D1FD-427F-9C34-495A08E025DA}"/>
              </a:ext>
            </a:extLst>
          </p:cNvPr>
          <p:cNvSpPr/>
          <p:nvPr/>
        </p:nvSpPr>
        <p:spPr>
          <a:xfrm>
            <a:off x="2293618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7,99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81738BC5-81F0-49AB-88C0-87710A2DE386}"/>
              </a:ext>
            </a:extLst>
          </p:cNvPr>
          <p:cNvSpPr/>
          <p:nvPr/>
        </p:nvSpPr>
        <p:spPr>
          <a:xfrm>
            <a:off x="4315095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8,85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3260B640-E569-47D3-BDDC-824941F461B0}"/>
              </a:ext>
            </a:extLst>
          </p:cNvPr>
          <p:cNvSpPr/>
          <p:nvPr/>
        </p:nvSpPr>
        <p:spPr>
          <a:xfrm>
            <a:off x="6313712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14,20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3EEAEE14-5F7B-4BC7-8DE3-A4509D06146A}"/>
              </a:ext>
            </a:extLst>
          </p:cNvPr>
          <p:cNvSpPr/>
          <p:nvPr/>
        </p:nvSpPr>
        <p:spPr>
          <a:xfrm>
            <a:off x="8335190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25,44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AB6A4CC4-F8CD-4389-A59D-354284C246F9}"/>
              </a:ext>
            </a:extLst>
          </p:cNvPr>
          <p:cNvSpPr/>
          <p:nvPr/>
        </p:nvSpPr>
        <p:spPr>
          <a:xfrm>
            <a:off x="287381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6,87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10118A3E-8E5C-40C1-A8FC-E968793A6791}"/>
              </a:ext>
            </a:extLst>
          </p:cNvPr>
          <p:cNvSpPr/>
          <p:nvPr/>
        </p:nvSpPr>
        <p:spPr>
          <a:xfrm>
            <a:off x="2299333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16,58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51F98E73-9FFE-40CB-847E-DED009966E2A}"/>
              </a:ext>
            </a:extLst>
          </p:cNvPr>
          <p:cNvSpPr/>
          <p:nvPr/>
        </p:nvSpPr>
        <p:spPr>
          <a:xfrm>
            <a:off x="4311285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17,04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DD64E3B9-EC2A-4298-9FD7-D2E7A3BFB633}"/>
              </a:ext>
            </a:extLst>
          </p:cNvPr>
          <p:cNvSpPr/>
          <p:nvPr/>
        </p:nvSpPr>
        <p:spPr>
          <a:xfrm>
            <a:off x="6323237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95,53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60C3EDC4-CEA0-4FB0-A89F-E5A43A6E67FC}"/>
              </a:ext>
            </a:extLst>
          </p:cNvPr>
          <p:cNvSpPr/>
          <p:nvPr/>
        </p:nvSpPr>
        <p:spPr>
          <a:xfrm>
            <a:off x="8335190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96,25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DFED45D-E847-4841-B65E-1ADDDE5DF5BD}"/>
              </a:ext>
            </a:extLst>
          </p:cNvPr>
          <p:cNvSpPr txBox="1"/>
          <p:nvPr/>
        </p:nvSpPr>
        <p:spPr>
          <a:xfrm>
            <a:off x="8132902" y="5860028"/>
            <a:ext cx="16450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b="1" dirty="0">
                <a:ln w="28575">
                  <a:solidFill>
                    <a:schemeClr val="tx1"/>
                  </a:solidFill>
                </a:ln>
              </a:rPr>
              <a:t>ФИНИШ</a:t>
            </a:r>
            <a:endParaRPr lang="en-GB" sz="3600" b="1" dirty="0">
              <a:latin typeface="Agency FB" panose="020B0503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D4A9BB8-58E2-4036-8D72-B48325994584}"/>
              </a:ext>
            </a:extLst>
          </p:cNvPr>
          <p:cNvSpPr txBox="1"/>
          <p:nvPr/>
        </p:nvSpPr>
        <p:spPr>
          <a:xfrm>
            <a:off x="470747" y="-52526"/>
            <a:ext cx="901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ln w="28575">
                  <a:solidFill>
                    <a:schemeClr val="tx1"/>
                  </a:solidFill>
                </a:ln>
              </a:rPr>
              <a:t>СТАРТ</a:t>
            </a:r>
            <a:r>
              <a:rPr lang="en-GB" sz="2000" b="1" dirty="0">
                <a:latin typeface="Agency FB" panose="020B0503020202020204" pitchFamily="34" charset="0"/>
              </a:rPr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FC009-523C-4D92-8EDD-AB1655977BAE}"/>
              </a:ext>
            </a:extLst>
          </p:cNvPr>
          <p:cNvSpPr txBox="1"/>
          <p:nvPr/>
        </p:nvSpPr>
        <p:spPr>
          <a:xfrm>
            <a:off x="38254" y="240291"/>
            <a:ext cx="18838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400" dirty="0"/>
              <a:t>Аку</a:t>
            </a:r>
            <a:r>
              <a:rPr lang="ru-RU" sz="1400" dirty="0"/>
              <a:t> ар бири 48тыйын болгон 23 батончик шоколад сатып алды</a:t>
            </a:r>
          </a:p>
          <a:p>
            <a:pPr algn="ctr"/>
            <a:r>
              <a:rPr lang="ru-RU" sz="1400" dirty="0"/>
              <a:t>Баарынын баасы канча болот?</a:t>
            </a:r>
            <a:endParaRPr lang="en-GB" sz="1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0FAC54-EE29-423D-A6C1-D487CB955187}"/>
              </a:ext>
            </a:extLst>
          </p:cNvPr>
          <p:cNvSpPr txBox="1"/>
          <p:nvPr/>
        </p:nvSpPr>
        <p:spPr>
          <a:xfrm>
            <a:off x="1955773" y="2051605"/>
            <a:ext cx="20260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Аза ар бири 34т болгон </a:t>
            </a:r>
          </a:p>
          <a:p>
            <a:pPr algn="ctr"/>
            <a:r>
              <a:rPr lang="ru-RU" sz="1400" dirty="0"/>
              <a:t>13 калем жана ар бири </a:t>
            </a:r>
          </a:p>
          <a:p>
            <a:pPr algn="ctr"/>
            <a:r>
              <a:rPr lang="ru-RU" sz="1400" dirty="0"/>
              <a:t>16т болгон 22 </a:t>
            </a:r>
          </a:p>
          <a:p>
            <a:pPr algn="ctr"/>
            <a:r>
              <a:rPr lang="ru-RU" sz="1400" dirty="0"/>
              <a:t>сызгыч сатып алат.</a:t>
            </a:r>
            <a:endParaRPr lang="en-GB" sz="1100" dirty="0"/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0524B2-3D0B-4ED1-9CD7-D806B25F7707}"/>
              </a:ext>
            </a:extLst>
          </p:cNvPr>
          <p:cNvSpPr txBox="1"/>
          <p:nvPr/>
        </p:nvSpPr>
        <p:spPr>
          <a:xfrm>
            <a:off x="3854446" y="279857"/>
            <a:ext cx="22030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400" dirty="0"/>
              <a:t>Таку ар бири 34т </a:t>
            </a:r>
            <a:r>
              <a:rPr lang="ru-RU" sz="1400" dirty="0"/>
              <a:t>болгон</a:t>
            </a:r>
            <a:r>
              <a:rPr lang="ky-KG" sz="1400" dirty="0"/>
              <a:t> </a:t>
            </a:r>
          </a:p>
          <a:p>
            <a:pPr algn="ctr"/>
            <a:r>
              <a:rPr lang="ky-KG" sz="1400" dirty="0"/>
              <a:t>42 чаптама жана ар бири </a:t>
            </a:r>
          </a:p>
          <a:p>
            <a:pPr algn="ctr"/>
            <a:r>
              <a:rPr lang="ky-KG" sz="1400" dirty="0"/>
              <a:t>41т </a:t>
            </a:r>
            <a:r>
              <a:rPr lang="ru-RU" sz="1400" dirty="0"/>
              <a:t>болгон</a:t>
            </a:r>
            <a:r>
              <a:rPr lang="ky-KG" sz="1400" dirty="0"/>
              <a:t> 13 бейджик</a:t>
            </a:r>
          </a:p>
          <a:p>
            <a:pPr algn="ctr"/>
            <a:r>
              <a:rPr lang="ky-KG" sz="1400" dirty="0"/>
              <a:t> сатып алат.</a:t>
            </a:r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4DF780-9479-4BBD-AE46-E9E41AA8C6B3}"/>
              </a:ext>
            </a:extLst>
          </p:cNvPr>
          <p:cNvSpPr txBox="1"/>
          <p:nvPr/>
        </p:nvSpPr>
        <p:spPr>
          <a:xfrm>
            <a:off x="5865033" y="336893"/>
            <a:ext cx="23155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Улан 7 банандын ар </a:t>
            </a:r>
          </a:p>
          <a:p>
            <a:pPr algn="ctr"/>
            <a:r>
              <a:rPr lang="ru-RU" sz="1400" dirty="0"/>
              <a:t>бирин 68 тыйындан</a:t>
            </a:r>
          </a:p>
          <a:p>
            <a:pPr algn="ctr"/>
            <a:r>
              <a:rPr lang="ru-RU" sz="1400" dirty="0"/>
              <a:t>сатып алат.</a:t>
            </a:r>
          </a:p>
          <a:p>
            <a:pPr algn="ctr"/>
            <a:r>
              <a:rPr lang="ru-RU" sz="1400" dirty="0"/>
              <a:t>Ал 10 сомдон канча </a:t>
            </a:r>
          </a:p>
          <a:p>
            <a:pPr algn="ctr"/>
            <a:r>
              <a:rPr lang="ky-KG" sz="1400" dirty="0">
                <a:solidFill>
                  <a:srgbClr val="050505"/>
                </a:solidFill>
                <a:highlight>
                  <a:srgbClr val="FFFFFF"/>
                </a:highlight>
                <a:latin typeface="Segoe UI Historic" panose="020B0502040204020203" pitchFamily="34" charset="0"/>
              </a:rPr>
              <a:t>к</a:t>
            </a:r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айтарым</a:t>
            </a:r>
            <a:r>
              <a:rPr lang="ru-RU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 </a:t>
            </a:r>
            <a:r>
              <a:rPr lang="ru-RU" sz="1400" dirty="0"/>
              <a:t>акча алат?</a:t>
            </a:r>
            <a:endParaRPr lang="en-GB" sz="1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5A5512A-7F6C-4714-A44D-AF19DDE27656}"/>
              </a:ext>
            </a:extLst>
          </p:cNvPr>
          <p:cNvSpPr txBox="1"/>
          <p:nvPr/>
        </p:nvSpPr>
        <p:spPr>
          <a:xfrm>
            <a:off x="4018936" y="2105963"/>
            <a:ext cx="187545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3,75сомго 10 калем</a:t>
            </a:r>
          </a:p>
          <a:p>
            <a:pPr algn="ctr"/>
            <a:r>
              <a:rPr lang="ru-RU" sz="1400" dirty="0"/>
              <a:t>45т үчүн 1 калем</a:t>
            </a:r>
          </a:p>
          <a:p>
            <a:pPr algn="ctr"/>
            <a:r>
              <a:rPr lang="ru-RU" sz="1400" dirty="0"/>
              <a:t>алса болот.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23 калем канча турат?</a:t>
            </a:r>
            <a:endParaRPr lang="en-GB" sz="1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8752170-75E5-4D7D-80CD-0D1F4ECDB23E}"/>
              </a:ext>
            </a:extLst>
          </p:cNvPr>
          <p:cNvSpPr txBox="1"/>
          <p:nvPr/>
        </p:nvSpPr>
        <p:spPr>
          <a:xfrm>
            <a:off x="4010698" y="3840978"/>
            <a:ext cx="186262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4,50сомго 8 бургер</a:t>
            </a:r>
          </a:p>
          <a:p>
            <a:pPr algn="ctr"/>
            <a:r>
              <a:rPr lang="ru-RU" sz="1400" dirty="0"/>
              <a:t>3,54сомго 24 булочка </a:t>
            </a:r>
          </a:p>
          <a:p>
            <a:pPr algn="ctr"/>
            <a:r>
              <a:rPr lang="ru-RU" sz="1400" dirty="0"/>
              <a:t>алса болот.</a:t>
            </a:r>
          </a:p>
          <a:p>
            <a:pPr algn="ctr"/>
            <a:r>
              <a:rPr lang="ru-RU" sz="1400" dirty="0"/>
              <a:t>24 толук гамбургер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A9AB747-72F7-4A64-BABF-CE4E36F6CC5D}"/>
              </a:ext>
            </a:extLst>
          </p:cNvPr>
          <p:cNvSpPr txBox="1"/>
          <p:nvPr/>
        </p:nvSpPr>
        <p:spPr>
          <a:xfrm>
            <a:off x="3923975" y="5470488"/>
            <a:ext cx="20595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7,55с-го 20 транспортир</a:t>
            </a:r>
          </a:p>
          <a:p>
            <a:pPr algn="ctr"/>
            <a:r>
              <a:rPr lang="ru-RU" sz="1400" dirty="0"/>
              <a:t>,95с-го 10 транспортир</a:t>
            </a:r>
          </a:p>
          <a:p>
            <a:pPr algn="ctr"/>
            <a:r>
              <a:rPr lang="ru-RU" sz="1400" dirty="0"/>
              <a:t>45т-га 1 транспортир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36 транспортир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073505B-B89E-433C-815D-BE20AF45718E}"/>
              </a:ext>
            </a:extLst>
          </p:cNvPr>
          <p:cNvSpPr txBox="1"/>
          <p:nvPr/>
        </p:nvSpPr>
        <p:spPr>
          <a:xfrm>
            <a:off x="5868598" y="3682414"/>
            <a:ext cx="21276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4,24 с-го 20 карандаш,</a:t>
            </a:r>
          </a:p>
          <a:p>
            <a:pPr algn="ctr"/>
            <a:r>
              <a:rPr lang="ky-KG" sz="1400" dirty="0"/>
              <a:t>ЖЕ 3,20с-го 10 карандаш </a:t>
            </a:r>
          </a:p>
          <a:p>
            <a:pPr algn="ctr"/>
            <a:r>
              <a:rPr lang="ky-KG" sz="1400" dirty="0"/>
              <a:t>2 таңгак сатып алсаңыз, </a:t>
            </a:r>
          </a:p>
          <a:p>
            <a:pPr algn="ctr"/>
            <a:r>
              <a:rPr lang="ky-KG" sz="1400" dirty="0"/>
              <a:t>1 таңгак бекер!</a:t>
            </a:r>
          </a:p>
          <a:p>
            <a:pPr algn="ctr"/>
            <a:r>
              <a:rPr lang="ky-KG" sz="1400" dirty="0"/>
              <a:t>120 калемдин эң арзан </a:t>
            </a:r>
          </a:p>
          <a:p>
            <a:pPr algn="ctr"/>
            <a:r>
              <a:rPr lang="ky-KG" sz="1400" dirty="0"/>
              <a:t>баасы канча?</a:t>
            </a:r>
            <a:endParaRPr lang="en-GB" sz="14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A9D14C9-704D-4912-B553-1B762FCBF4E9}"/>
              </a:ext>
            </a:extLst>
          </p:cNvPr>
          <p:cNvSpPr txBox="1"/>
          <p:nvPr/>
        </p:nvSpPr>
        <p:spPr>
          <a:xfrm>
            <a:off x="8029235" y="3743527"/>
            <a:ext cx="188744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Чоңдорго билет: 7,65с</a:t>
            </a:r>
          </a:p>
          <a:p>
            <a:pPr algn="ctr"/>
            <a:r>
              <a:rPr lang="ru-RU" sz="1400" dirty="0"/>
              <a:t>Балдар билети: 5,45с</a:t>
            </a:r>
          </a:p>
          <a:p>
            <a:pPr algn="ctr"/>
            <a:r>
              <a:rPr lang="ru-RU" sz="1400" dirty="0"/>
              <a:t>1 Чоң жана 3 Бала </a:t>
            </a:r>
          </a:p>
          <a:p>
            <a:pPr algn="ctr"/>
            <a:r>
              <a:rPr lang="ru-RU" sz="1400" dirty="0"/>
              <a:t>билет =  23с</a:t>
            </a:r>
          </a:p>
          <a:p>
            <a:pPr algn="ctr"/>
            <a:r>
              <a:rPr lang="ru-RU" sz="1400" dirty="0"/>
              <a:t>3 чоң киши жана 14 </a:t>
            </a:r>
          </a:p>
          <a:p>
            <a:pPr algn="ctr"/>
            <a:r>
              <a:rPr lang="ru-RU" sz="1400" dirty="0"/>
              <a:t>бала канча турат?</a:t>
            </a:r>
            <a:endParaRPr lang="en-GB" sz="1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E61C039-D736-46A3-A94F-57426C0BEDC2}"/>
              </a:ext>
            </a:extLst>
          </p:cNvPr>
          <p:cNvSpPr txBox="1"/>
          <p:nvPr/>
        </p:nvSpPr>
        <p:spPr>
          <a:xfrm>
            <a:off x="2003954" y="397191"/>
            <a:ext cx="19698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Даку ар бири 7т болгон</a:t>
            </a:r>
          </a:p>
          <a:p>
            <a:pPr algn="ctr"/>
            <a:r>
              <a:rPr lang="ru-RU" sz="1400" dirty="0"/>
              <a:t> 43 таттуу сатып алат.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Баарынын баасы</a:t>
            </a:r>
          </a:p>
          <a:p>
            <a:pPr algn="ctr"/>
            <a:r>
              <a:rPr lang="ru-RU" sz="1400" dirty="0"/>
              <a:t> канча болот?</a:t>
            </a:r>
            <a:endParaRPr lang="en-GB" sz="14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86CAE7C-32EC-4B5F-9698-6E0B705F3A0A}"/>
              </a:ext>
            </a:extLst>
          </p:cNvPr>
          <p:cNvSpPr txBox="1"/>
          <p:nvPr/>
        </p:nvSpPr>
        <p:spPr>
          <a:xfrm>
            <a:off x="-97845" y="2021125"/>
            <a:ext cx="21505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Маку ар бири 21т </a:t>
            </a:r>
            <a:r>
              <a:rPr lang="ru-RU" sz="1400" dirty="0"/>
              <a:t>болгон</a:t>
            </a:r>
            <a:endParaRPr lang="ky-KG" sz="1400" dirty="0"/>
          </a:p>
          <a:p>
            <a:pPr algn="ctr"/>
            <a:r>
              <a:rPr lang="ky-KG" sz="1400" dirty="0"/>
              <a:t> 32 өчүргүч жана ар бири </a:t>
            </a:r>
          </a:p>
          <a:p>
            <a:pPr algn="ctr"/>
            <a:r>
              <a:rPr lang="ky-KG" sz="1400" dirty="0"/>
              <a:t>13т </a:t>
            </a:r>
            <a:r>
              <a:rPr lang="ru-RU" sz="1400" dirty="0"/>
              <a:t>болгон</a:t>
            </a:r>
            <a:r>
              <a:rPr lang="ky-KG" sz="1400" dirty="0"/>
              <a:t> 8 сызгыч</a:t>
            </a:r>
          </a:p>
          <a:p>
            <a:pPr algn="ctr"/>
            <a:r>
              <a:rPr lang="ky-KG" sz="1400" dirty="0"/>
              <a:t> сатып алат.</a:t>
            </a:r>
            <a:endParaRPr lang="en-GB" sz="1100" dirty="0"/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4FA9272-6A47-419D-B845-B709943892B4}"/>
              </a:ext>
            </a:extLst>
          </p:cNvPr>
          <p:cNvSpPr txBox="1"/>
          <p:nvPr/>
        </p:nvSpPr>
        <p:spPr>
          <a:xfrm>
            <a:off x="7928179" y="269697"/>
            <a:ext cx="208210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Саку ар бири 34т </a:t>
            </a:r>
            <a:r>
              <a:rPr lang="ru-RU" sz="1400" dirty="0"/>
              <a:t>болгон</a:t>
            </a:r>
            <a:r>
              <a:rPr lang="ky-KG" sz="1400" dirty="0"/>
              <a:t> </a:t>
            </a:r>
          </a:p>
          <a:p>
            <a:pPr algn="ctr"/>
            <a:r>
              <a:rPr lang="ky-KG" sz="1400" dirty="0"/>
              <a:t>56 магнит жана ар бири </a:t>
            </a:r>
          </a:p>
          <a:p>
            <a:pPr algn="ctr"/>
            <a:r>
              <a:rPr lang="ky-KG" sz="1400" dirty="0"/>
              <a:t>23т </a:t>
            </a:r>
            <a:r>
              <a:rPr lang="ru-RU" sz="1400" dirty="0"/>
              <a:t>болгон</a:t>
            </a:r>
            <a:r>
              <a:rPr lang="ky-KG" sz="1400" dirty="0"/>
              <a:t> 17 </a:t>
            </a:r>
          </a:p>
          <a:p>
            <a:pPr algn="ctr"/>
            <a:r>
              <a:rPr lang="ky-KG" sz="1400" dirty="0"/>
              <a:t>бейджик сатып алат.</a:t>
            </a:r>
          </a:p>
          <a:p>
            <a:pPr algn="ctr"/>
            <a:r>
              <a:rPr lang="ky-KG" sz="1400" dirty="0"/>
              <a:t>Ал жалпысына канча </a:t>
            </a:r>
          </a:p>
          <a:p>
            <a:pPr algn="ctr"/>
            <a:r>
              <a:rPr lang="ky-KG" sz="1400" dirty="0"/>
              <a:t>акча коротот?</a:t>
            </a:r>
            <a:endParaRPr lang="en-GB" sz="14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307D0DA-3548-46BF-854E-BD463FC3AD83}"/>
              </a:ext>
            </a:extLst>
          </p:cNvPr>
          <p:cNvSpPr txBox="1"/>
          <p:nvPr/>
        </p:nvSpPr>
        <p:spPr>
          <a:xfrm>
            <a:off x="6083495" y="2022883"/>
            <a:ext cx="182941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Маке 13 алманын ар</a:t>
            </a:r>
          </a:p>
          <a:p>
            <a:pPr algn="ctr"/>
            <a:r>
              <a:rPr lang="ky-KG" sz="1400" dirty="0"/>
              <a:t> бирин 56 тыйындан </a:t>
            </a:r>
          </a:p>
          <a:p>
            <a:pPr algn="ctr"/>
            <a:r>
              <a:rPr lang="ky-KG" sz="1400" dirty="0"/>
              <a:t>сатып алат.</a:t>
            </a:r>
          </a:p>
          <a:p>
            <a:pPr algn="ctr"/>
            <a:r>
              <a:rPr lang="ky-KG" sz="1400" dirty="0"/>
              <a:t>Ал 20 соидон канча</a:t>
            </a:r>
          </a:p>
          <a:p>
            <a:pPr algn="ctr"/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кайтарым</a:t>
            </a:r>
            <a:r>
              <a:rPr lang="ky-KG" sz="1400" dirty="0"/>
              <a:t> акча алат?</a:t>
            </a:r>
            <a:endParaRPr lang="en-GB" sz="1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48C6DED-D88E-404B-837A-57FBABF90439}"/>
              </a:ext>
            </a:extLst>
          </p:cNvPr>
          <p:cNvSpPr txBox="1"/>
          <p:nvPr/>
        </p:nvSpPr>
        <p:spPr>
          <a:xfrm>
            <a:off x="5832990" y="5437434"/>
            <a:ext cx="220695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5,43 с-го 30 карандаш</a:t>
            </a:r>
          </a:p>
          <a:p>
            <a:pPr algn="ctr"/>
            <a:r>
              <a:rPr lang="ky-KG" sz="1400" dirty="0"/>
              <a:t>ЖЕ,4,62 с-го  10 карандаш</a:t>
            </a:r>
          </a:p>
          <a:p>
            <a:pPr algn="ctr"/>
            <a:r>
              <a:rPr lang="ky-KG" sz="1400" dirty="0"/>
              <a:t>5 таңгак сатып алсаңыз,</a:t>
            </a:r>
          </a:p>
          <a:p>
            <a:pPr algn="ctr"/>
            <a:r>
              <a:rPr lang="ky-KG" sz="1400" dirty="0"/>
              <a:t> 1 таңгак бекер аласыз!</a:t>
            </a:r>
          </a:p>
          <a:p>
            <a:pPr algn="ctr"/>
            <a:r>
              <a:rPr lang="ky-KG" sz="1400" dirty="0"/>
              <a:t>180 карандаштын эң</a:t>
            </a:r>
          </a:p>
          <a:p>
            <a:pPr algn="ctr"/>
            <a:r>
              <a:rPr lang="ky-KG" sz="1400" dirty="0"/>
              <a:t> арзаны  баасы канчв?</a:t>
            </a:r>
            <a:endParaRPr lang="en-GB" sz="14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E38063-1545-42D0-AE35-558CFE4D98F8}"/>
              </a:ext>
            </a:extLst>
          </p:cNvPr>
          <p:cNvSpPr txBox="1"/>
          <p:nvPr/>
        </p:nvSpPr>
        <p:spPr>
          <a:xfrm>
            <a:off x="7954033" y="2006167"/>
            <a:ext cx="19565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Чоңдорго билет: 5,23</a:t>
            </a:r>
            <a:r>
              <a:rPr lang="en-US" sz="1400" dirty="0"/>
              <a:t>c</a:t>
            </a:r>
            <a:endParaRPr lang="ru-RU" sz="1400" dirty="0"/>
          </a:p>
          <a:p>
            <a:pPr algn="ctr"/>
            <a:r>
              <a:rPr lang="ru-RU" sz="1400" dirty="0"/>
              <a:t>Балдар билети: 4,13</a:t>
            </a:r>
            <a:r>
              <a:rPr lang="en-US" sz="1400" dirty="0"/>
              <a:t>c</a:t>
            </a:r>
            <a:endParaRPr lang="ru-RU" sz="1400" dirty="0"/>
          </a:p>
          <a:p>
            <a:pPr algn="ctr"/>
            <a:r>
              <a:rPr lang="ru-RU" sz="1400" dirty="0"/>
              <a:t>2 Чоң жана 4 Бал</a:t>
            </a:r>
            <a:r>
              <a:rPr lang="ky-KG" sz="1400" dirty="0"/>
              <a:t>а үчүн</a:t>
            </a:r>
            <a:endParaRPr lang="en-US" sz="1400" dirty="0"/>
          </a:p>
          <a:p>
            <a:pPr algn="ctr"/>
            <a:r>
              <a:rPr lang="ru-RU" sz="1400" dirty="0"/>
              <a:t>билет</a:t>
            </a:r>
            <a:r>
              <a:rPr lang="en-US" sz="1400" dirty="0"/>
              <a:t> </a:t>
            </a:r>
            <a:r>
              <a:rPr lang="ru-RU" sz="1400" dirty="0"/>
              <a:t> = 29</a:t>
            </a:r>
            <a:r>
              <a:rPr lang="en-US" sz="1400" dirty="0"/>
              <a:t> c</a:t>
            </a:r>
            <a:endParaRPr lang="ru-RU" sz="1400" dirty="0"/>
          </a:p>
          <a:p>
            <a:pPr algn="ctr"/>
            <a:r>
              <a:rPr lang="ru-RU" sz="1400" dirty="0"/>
              <a:t>4 чоң киши жана 16 </a:t>
            </a:r>
            <a:endParaRPr lang="en-US" sz="1400" dirty="0"/>
          </a:p>
          <a:p>
            <a:pPr algn="ctr"/>
            <a:r>
              <a:rPr lang="ru-RU" sz="1400" dirty="0"/>
              <a:t>бала канча турат?</a:t>
            </a:r>
            <a:endParaRPr lang="en-GB" sz="14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080116F-279C-4D92-9D83-7B665C8353F7}"/>
              </a:ext>
            </a:extLst>
          </p:cNvPr>
          <p:cNvSpPr txBox="1"/>
          <p:nvPr/>
        </p:nvSpPr>
        <p:spPr>
          <a:xfrm>
            <a:off x="2080604" y="3853483"/>
            <a:ext cx="176939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4,56сомго 20 сызгыч</a:t>
            </a:r>
          </a:p>
          <a:p>
            <a:pPr algn="ctr"/>
            <a:r>
              <a:rPr lang="ky-KG" sz="1400" dirty="0"/>
              <a:t>18тыйынга 1 сызгыч </a:t>
            </a:r>
          </a:p>
          <a:p>
            <a:pPr algn="ctr"/>
            <a:r>
              <a:rPr lang="ky-KG" sz="1400" dirty="0"/>
              <a:t>алса болот.</a:t>
            </a:r>
          </a:p>
          <a:p>
            <a:pPr algn="ctr"/>
            <a:r>
              <a:rPr lang="ky-KG" sz="1400" dirty="0"/>
              <a:t>32 сызгыч </a:t>
            </a:r>
          </a:p>
          <a:p>
            <a:pPr algn="ctr"/>
            <a:r>
              <a:rPr lang="ky-KG" sz="1400" dirty="0"/>
              <a:t>канча турат?</a:t>
            </a:r>
            <a:endParaRPr lang="en-GB" sz="14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112E665-BECB-4FB0-AEF3-6523696AC3C3}"/>
              </a:ext>
            </a:extLst>
          </p:cNvPr>
          <p:cNvSpPr txBox="1"/>
          <p:nvPr/>
        </p:nvSpPr>
        <p:spPr>
          <a:xfrm>
            <a:off x="2047103" y="5507218"/>
            <a:ext cx="18070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3,40сомго  6 шаурма</a:t>
            </a:r>
          </a:p>
          <a:p>
            <a:pPr algn="ctr"/>
            <a:r>
              <a:rPr lang="ru-RU" sz="1400" dirty="0"/>
              <a:t>4,64 сомго 18 калама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32 толук шаурма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4EDB025-F8BD-4A94-AB8E-C8992D3845AC}"/>
              </a:ext>
            </a:extLst>
          </p:cNvPr>
          <p:cNvSpPr txBox="1"/>
          <p:nvPr/>
        </p:nvSpPr>
        <p:spPr>
          <a:xfrm>
            <a:off x="101304" y="3753448"/>
            <a:ext cx="16987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7,55сомго  20 пакет</a:t>
            </a:r>
          </a:p>
          <a:p>
            <a:pPr algn="ctr"/>
            <a:r>
              <a:rPr lang="ru-RU" sz="1400" dirty="0"/>
              <a:t>3,95сотмго 10 пакет</a:t>
            </a:r>
          </a:p>
          <a:p>
            <a:pPr algn="ctr"/>
            <a:r>
              <a:rPr lang="ru-RU" sz="1400" dirty="0"/>
              <a:t>45т-га 1 пакет</a:t>
            </a:r>
          </a:p>
          <a:p>
            <a:pPr algn="ctr"/>
            <a:r>
              <a:rPr lang="ru-RU" sz="1400" dirty="0"/>
              <a:t> алса болот.</a:t>
            </a:r>
          </a:p>
          <a:p>
            <a:pPr algn="ctr"/>
            <a:r>
              <a:rPr lang="ru-RU" sz="1400" dirty="0"/>
              <a:t>42 пакет бадырак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387BB38-A45F-4535-99B8-44C372FC9109}"/>
              </a:ext>
            </a:extLst>
          </p:cNvPr>
          <p:cNvSpPr txBox="1"/>
          <p:nvPr/>
        </p:nvSpPr>
        <p:spPr>
          <a:xfrm>
            <a:off x="109415" y="5528083"/>
            <a:ext cx="182941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Тику</a:t>
            </a:r>
            <a:r>
              <a:rPr lang="ru-RU" sz="1400" dirty="0"/>
              <a:t> ар бирин 72 </a:t>
            </a:r>
          </a:p>
          <a:p>
            <a:pPr algn="ctr"/>
            <a:r>
              <a:rPr lang="ru-RU" sz="1400" dirty="0"/>
              <a:t>тыйындан 13 пияз </a:t>
            </a:r>
          </a:p>
          <a:p>
            <a:pPr algn="ctr"/>
            <a:r>
              <a:rPr lang="ru-RU" sz="1400" dirty="0"/>
              <a:t>сатып алат.</a:t>
            </a:r>
          </a:p>
          <a:p>
            <a:pPr algn="ctr"/>
            <a:r>
              <a:rPr lang="ru-RU" sz="1400" dirty="0"/>
              <a:t>Ал 10 сомдон канча</a:t>
            </a:r>
          </a:p>
          <a:p>
            <a:pPr algn="ctr"/>
            <a:r>
              <a:rPr lang="ru-RU" sz="1400" dirty="0"/>
              <a:t> </a:t>
            </a:r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кайтарым </a:t>
            </a:r>
            <a:r>
              <a:rPr lang="ru-RU" sz="1400" dirty="0"/>
              <a:t>акча алат?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67325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05EB913-597D-4BBB-98D7-4EEF3B193D86}"/>
              </a:ext>
            </a:extLst>
          </p:cNvPr>
          <p:cNvCxnSpPr>
            <a:cxnSpLocks/>
          </p:cNvCxnSpPr>
          <p:nvPr/>
        </p:nvCxnSpPr>
        <p:spPr>
          <a:xfrm>
            <a:off x="948120" y="4232366"/>
            <a:ext cx="1998641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7A19B03E-2A7B-43F0-89A1-D3B348DE7A10}"/>
              </a:ext>
            </a:extLst>
          </p:cNvPr>
          <p:cNvCxnSpPr>
            <a:cxnSpLocks/>
          </p:cNvCxnSpPr>
          <p:nvPr/>
        </p:nvCxnSpPr>
        <p:spPr>
          <a:xfrm>
            <a:off x="940524" y="2542903"/>
            <a:ext cx="4035625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DDEFBC4-BC3D-4C81-AA73-2585AFF7F839}"/>
              </a:ext>
            </a:extLst>
          </p:cNvPr>
          <p:cNvCxnSpPr>
            <a:cxnSpLocks/>
          </p:cNvCxnSpPr>
          <p:nvPr/>
        </p:nvCxnSpPr>
        <p:spPr>
          <a:xfrm>
            <a:off x="928948" y="804091"/>
            <a:ext cx="6065385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8E0348AD-750F-4EEC-AFBA-3AACA387FF0D}"/>
              </a:ext>
            </a:extLst>
          </p:cNvPr>
          <p:cNvCxnSpPr>
            <a:cxnSpLocks/>
          </p:cNvCxnSpPr>
          <p:nvPr/>
        </p:nvCxnSpPr>
        <p:spPr>
          <a:xfrm>
            <a:off x="2946761" y="818605"/>
            <a:ext cx="6065385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3DA7179C-7597-489B-9F2D-0156E11444E2}"/>
              </a:ext>
            </a:extLst>
          </p:cNvPr>
          <p:cNvCxnSpPr>
            <a:cxnSpLocks/>
          </p:cNvCxnSpPr>
          <p:nvPr/>
        </p:nvCxnSpPr>
        <p:spPr>
          <a:xfrm>
            <a:off x="4941427" y="787401"/>
            <a:ext cx="4035625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85A46C2-B1E5-4413-AE47-57D17265980B}"/>
              </a:ext>
            </a:extLst>
          </p:cNvPr>
          <p:cNvCxnSpPr>
            <a:cxnSpLocks/>
          </p:cNvCxnSpPr>
          <p:nvPr/>
        </p:nvCxnSpPr>
        <p:spPr>
          <a:xfrm>
            <a:off x="6995814" y="769970"/>
            <a:ext cx="1998641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81C3F24-E75D-48F6-AFC4-E49A7B27E715}"/>
              </a:ext>
            </a:extLst>
          </p:cNvPr>
          <p:cNvCxnSpPr>
            <a:cxnSpLocks/>
          </p:cNvCxnSpPr>
          <p:nvPr/>
        </p:nvCxnSpPr>
        <p:spPr>
          <a:xfrm flipH="1">
            <a:off x="6926033" y="4252332"/>
            <a:ext cx="1988645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97A89F03-5304-4B9A-8EF0-C4382221A351}"/>
              </a:ext>
            </a:extLst>
          </p:cNvPr>
          <p:cNvCxnSpPr>
            <a:cxnSpLocks/>
          </p:cNvCxnSpPr>
          <p:nvPr/>
        </p:nvCxnSpPr>
        <p:spPr>
          <a:xfrm flipH="1">
            <a:off x="4906796" y="2562869"/>
            <a:ext cx="4015440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1FE59B4D-4848-405D-8D93-9ED36166FD8D}"/>
              </a:ext>
            </a:extLst>
          </p:cNvPr>
          <p:cNvCxnSpPr>
            <a:cxnSpLocks/>
          </p:cNvCxnSpPr>
          <p:nvPr/>
        </p:nvCxnSpPr>
        <p:spPr>
          <a:xfrm flipH="1">
            <a:off x="2898706" y="824057"/>
            <a:ext cx="6035048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6F0413A-C52A-4A16-AC17-2EAFB2D190BB}"/>
              </a:ext>
            </a:extLst>
          </p:cNvPr>
          <p:cNvCxnSpPr>
            <a:cxnSpLocks/>
          </p:cNvCxnSpPr>
          <p:nvPr/>
        </p:nvCxnSpPr>
        <p:spPr>
          <a:xfrm flipH="1">
            <a:off x="890985" y="838571"/>
            <a:ext cx="6035048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48469A14-45CB-4B0E-8662-0074FA6B3DCB}"/>
              </a:ext>
            </a:extLst>
          </p:cNvPr>
          <p:cNvCxnSpPr>
            <a:cxnSpLocks/>
          </p:cNvCxnSpPr>
          <p:nvPr/>
        </p:nvCxnSpPr>
        <p:spPr>
          <a:xfrm flipH="1">
            <a:off x="925903" y="807367"/>
            <a:ext cx="4015440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3EE01051-EFF1-4648-AEF3-8366735460F0}"/>
              </a:ext>
            </a:extLst>
          </p:cNvPr>
          <p:cNvCxnSpPr>
            <a:cxnSpLocks/>
          </p:cNvCxnSpPr>
          <p:nvPr/>
        </p:nvCxnSpPr>
        <p:spPr>
          <a:xfrm flipH="1">
            <a:off x="908588" y="789936"/>
            <a:ext cx="1988645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AFAE01E-94C9-41C1-8B70-E5C27F99035F}"/>
              </a:ext>
            </a:extLst>
          </p:cNvPr>
          <p:cNvCxnSpPr>
            <a:cxnSpLocks/>
          </p:cNvCxnSpPr>
          <p:nvPr/>
        </p:nvCxnSpPr>
        <p:spPr>
          <a:xfrm flipH="1">
            <a:off x="940524" y="80989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1F624B46-1454-4371-8A7C-0CB8F987FAEB}"/>
              </a:ext>
            </a:extLst>
          </p:cNvPr>
          <p:cNvCxnSpPr>
            <a:cxnSpLocks/>
          </p:cNvCxnSpPr>
          <p:nvPr/>
        </p:nvCxnSpPr>
        <p:spPr>
          <a:xfrm flipH="1">
            <a:off x="2950559" y="79973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D54075D-1A7B-4B66-AF6E-D0CCC21714EA}"/>
              </a:ext>
            </a:extLst>
          </p:cNvPr>
          <p:cNvCxnSpPr>
            <a:cxnSpLocks/>
          </p:cNvCxnSpPr>
          <p:nvPr/>
        </p:nvCxnSpPr>
        <p:spPr>
          <a:xfrm flipH="1">
            <a:off x="4960593" y="79973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416B11E-4651-4676-9CDD-E57DFB8EF615}"/>
              </a:ext>
            </a:extLst>
          </p:cNvPr>
          <p:cNvCxnSpPr>
            <a:cxnSpLocks/>
          </p:cNvCxnSpPr>
          <p:nvPr/>
        </p:nvCxnSpPr>
        <p:spPr>
          <a:xfrm flipH="1">
            <a:off x="6967337" y="80989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B2BE7CB4-E220-4A2D-B8A4-10D3CF00C53D}"/>
              </a:ext>
            </a:extLst>
          </p:cNvPr>
          <p:cNvCxnSpPr>
            <a:cxnSpLocks/>
          </p:cNvCxnSpPr>
          <p:nvPr/>
        </p:nvCxnSpPr>
        <p:spPr>
          <a:xfrm flipH="1">
            <a:off x="8985522" y="799736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EE4A482-7D66-404B-B60E-F9248EA54683}"/>
              </a:ext>
            </a:extLst>
          </p:cNvPr>
          <p:cNvCxnSpPr>
            <a:cxnSpLocks/>
          </p:cNvCxnSpPr>
          <p:nvPr/>
        </p:nvCxnSpPr>
        <p:spPr>
          <a:xfrm flipH="1">
            <a:off x="1415141" y="818605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546A1ED-6E0D-47E0-9615-D3FC648D385E}"/>
              </a:ext>
            </a:extLst>
          </p:cNvPr>
          <p:cNvCxnSpPr>
            <a:cxnSpLocks/>
          </p:cNvCxnSpPr>
          <p:nvPr/>
        </p:nvCxnSpPr>
        <p:spPr>
          <a:xfrm flipH="1">
            <a:off x="1415141" y="2561771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A7C3A25-1AFE-4703-8D64-8836A03D2DF9}"/>
              </a:ext>
            </a:extLst>
          </p:cNvPr>
          <p:cNvCxnSpPr>
            <a:cxnSpLocks/>
          </p:cNvCxnSpPr>
          <p:nvPr/>
        </p:nvCxnSpPr>
        <p:spPr>
          <a:xfrm flipH="1">
            <a:off x="1415141" y="4304937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E3E56153-16BE-4E07-8FA7-29C7356663A9}"/>
              </a:ext>
            </a:extLst>
          </p:cNvPr>
          <p:cNvCxnSpPr>
            <a:cxnSpLocks/>
          </p:cNvCxnSpPr>
          <p:nvPr/>
        </p:nvCxnSpPr>
        <p:spPr>
          <a:xfrm flipH="1">
            <a:off x="1415141" y="6048103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2D2134-4D3B-4162-B1B8-2E5AA9ED715F}"/>
              </a:ext>
            </a:extLst>
          </p:cNvPr>
          <p:cNvSpPr/>
          <p:nvPr/>
        </p:nvSpPr>
        <p:spPr>
          <a:xfrm>
            <a:off x="0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B205FF26-B62F-4159-B48C-78F420D5BA10}"/>
              </a:ext>
            </a:extLst>
          </p:cNvPr>
          <p:cNvSpPr/>
          <p:nvPr/>
        </p:nvSpPr>
        <p:spPr>
          <a:xfrm>
            <a:off x="1996335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038C0465-C3A7-4C84-BB1A-4AB08AD7264D}"/>
              </a:ext>
            </a:extLst>
          </p:cNvPr>
          <p:cNvSpPr/>
          <p:nvPr/>
        </p:nvSpPr>
        <p:spPr>
          <a:xfrm>
            <a:off x="3992670" y="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01F3C8E-1F14-4CC4-8CC6-C560F7B58DF8}"/>
              </a:ext>
            </a:extLst>
          </p:cNvPr>
          <p:cNvSpPr/>
          <p:nvPr/>
        </p:nvSpPr>
        <p:spPr>
          <a:xfrm>
            <a:off x="5989005" y="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3613BB4F-2D92-47FF-BD5C-CF9BA0E0B2D6}"/>
              </a:ext>
            </a:extLst>
          </p:cNvPr>
          <p:cNvSpPr/>
          <p:nvPr/>
        </p:nvSpPr>
        <p:spPr>
          <a:xfrm>
            <a:off x="7985340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827443-883D-4F40-B53D-8B8569105279}"/>
              </a:ext>
            </a:extLst>
          </p:cNvPr>
          <p:cNvSpPr/>
          <p:nvPr/>
        </p:nvSpPr>
        <p:spPr>
          <a:xfrm>
            <a:off x="2293618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11,54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483706-662B-436F-913E-52DEA3E8DE78}"/>
              </a:ext>
            </a:extLst>
          </p:cNvPr>
          <p:cNvSpPr/>
          <p:nvPr/>
        </p:nvSpPr>
        <p:spPr>
          <a:xfrm>
            <a:off x="4299855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£7,94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D548634-9B7E-43A0-82BF-C496A9F2E264}"/>
              </a:ext>
            </a:extLst>
          </p:cNvPr>
          <p:cNvSpPr/>
          <p:nvPr/>
        </p:nvSpPr>
        <p:spPr>
          <a:xfrm>
            <a:off x="6306092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19,61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C8B2A7D-618C-4CB6-AC4F-270E6635881C}"/>
              </a:ext>
            </a:extLst>
          </p:cNvPr>
          <p:cNvSpPr/>
          <p:nvPr/>
        </p:nvSpPr>
        <p:spPr>
          <a:xfrm>
            <a:off x="8312330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4,67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30A8E6EA-A179-47C7-A3FB-F6110386B497}"/>
              </a:ext>
            </a:extLst>
          </p:cNvPr>
          <p:cNvSpPr/>
          <p:nvPr/>
        </p:nvSpPr>
        <p:spPr>
          <a:xfrm>
            <a:off x="0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54117941-7582-4686-B586-2A09AC325F46}"/>
              </a:ext>
            </a:extLst>
          </p:cNvPr>
          <p:cNvSpPr/>
          <p:nvPr/>
        </p:nvSpPr>
        <p:spPr>
          <a:xfrm>
            <a:off x="1996335" y="173228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618F4FF0-5731-4925-9BE3-66E063207FAB}"/>
              </a:ext>
            </a:extLst>
          </p:cNvPr>
          <p:cNvSpPr/>
          <p:nvPr/>
        </p:nvSpPr>
        <p:spPr>
          <a:xfrm>
            <a:off x="3992670" y="173228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813EA0C4-1A5B-4E80-B66E-8F991674EB8F}"/>
              </a:ext>
            </a:extLst>
          </p:cNvPr>
          <p:cNvSpPr/>
          <p:nvPr/>
        </p:nvSpPr>
        <p:spPr>
          <a:xfrm>
            <a:off x="5989005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31525108-02EE-4EEF-9A26-BE85926E14D7}"/>
              </a:ext>
            </a:extLst>
          </p:cNvPr>
          <p:cNvSpPr/>
          <p:nvPr/>
        </p:nvSpPr>
        <p:spPr>
          <a:xfrm>
            <a:off x="7985340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D07A8AC2-86E3-49EB-B33A-B8E0D89423A8}"/>
              </a:ext>
            </a:extLst>
          </p:cNvPr>
          <p:cNvSpPr/>
          <p:nvPr/>
        </p:nvSpPr>
        <p:spPr>
          <a:xfrm>
            <a:off x="0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D0E7B3D0-D96E-4462-B7CB-E05382F55E9F}"/>
              </a:ext>
            </a:extLst>
          </p:cNvPr>
          <p:cNvSpPr/>
          <p:nvPr/>
        </p:nvSpPr>
        <p:spPr>
          <a:xfrm>
            <a:off x="1996335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9705571F-9CE9-4157-A4BC-BBE2EE032FBF}"/>
              </a:ext>
            </a:extLst>
          </p:cNvPr>
          <p:cNvSpPr/>
          <p:nvPr/>
        </p:nvSpPr>
        <p:spPr>
          <a:xfrm>
            <a:off x="3992670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DE83FEC6-C722-454C-93CE-532FF689B748}"/>
              </a:ext>
            </a:extLst>
          </p:cNvPr>
          <p:cNvSpPr/>
          <p:nvPr/>
        </p:nvSpPr>
        <p:spPr>
          <a:xfrm>
            <a:off x="5989005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C26A6890-4BEC-42F2-B106-299C04D1F16B}"/>
              </a:ext>
            </a:extLst>
          </p:cNvPr>
          <p:cNvSpPr/>
          <p:nvPr/>
        </p:nvSpPr>
        <p:spPr>
          <a:xfrm>
            <a:off x="7985340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012F50B3-A39E-4868-B8C3-83A9F37EC57B}"/>
              </a:ext>
            </a:extLst>
          </p:cNvPr>
          <p:cNvSpPr/>
          <p:nvPr/>
        </p:nvSpPr>
        <p:spPr>
          <a:xfrm>
            <a:off x="0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BE78EF6C-28FA-4762-8CF3-4608F006B6F4}"/>
              </a:ext>
            </a:extLst>
          </p:cNvPr>
          <p:cNvSpPr/>
          <p:nvPr/>
        </p:nvSpPr>
        <p:spPr>
          <a:xfrm>
            <a:off x="1996335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19096006-57B3-4270-8DC7-DCF9B0D4301D}"/>
              </a:ext>
            </a:extLst>
          </p:cNvPr>
          <p:cNvSpPr/>
          <p:nvPr/>
        </p:nvSpPr>
        <p:spPr>
          <a:xfrm>
            <a:off x="3992670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060F6138-8A10-4D48-B27A-CC9F644DE9E4}"/>
              </a:ext>
            </a:extLst>
          </p:cNvPr>
          <p:cNvSpPr/>
          <p:nvPr/>
        </p:nvSpPr>
        <p:spPr>
          <a:xfrm>
            <a:off x="5989005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59615A30-70DE-499A-AB62-D6A742E7533C}"/>
              </a:ext>
            </a:extLst>
          </p:cNvPr>
          <p:cNvSpPr/>
          <p:nvPr/>
        </p:nvSpPr>
        <p:spPr>
          <a:xfrm>
            <a:off x="7985340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CD5F08DF-0C6D-4167-9C4C-0609928B58A4}"/>
              </a:ext>
            </a:extLst>
          </p:cNvPr>
          <p:cNvSpPr/>
          <p:nvPr/>
        </p:nvSpPr>
        <p:spPr>
          <a:xfrm>
            <a:off x="287381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10,59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303B89FF-A761-4772-8282-14C602ACCEA9}"/>
              </a:ext>
            </a:extLst>
          </p:cNvPr>
          <p:cNvSpPr/>
          <p:nvPr/>
        </p:nvSpPr>
        <p:spPr>
          <a:xfrm>
            <a:off x="2293618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11</a:t>
            </a:r>
            <a:r>
              <a:rPr lang="ky-KG" sz="1950" dirty="0">
                <a:solidFill>
                  <a:schemeClr val="tx1"/>
                </a:solidFill>
              </a:rPr>
              <a:t>,</a:t>
            </a:r>
            <a:r>
              <a:rPr lang="en-GB" sz="1950" dirty="0">
                <a:solidFill>
                  <a:schemeClr val="tx1"/>
                </a:solidFill>
              </a:rPr>
              <a:t>04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F46575FF-5E35-4B89-BDA5-9E90F148FA86}"/>
              </a:ext>
            </a:extLst>
          </p:cNvPr>
          <p:cNvSpPr/>
          <p:nvPr/>
        </p:nvSpPr>
        <p:spPr>
          <a:xfrm>
            <a:off x="4315095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5,24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2267BFC-C74E-44F0-B2C3-8267AE033ABE}"/>
              </a:ext>
            </a:extLst>
          </p:cNvPr>
          <p:cNvSpPr/>
          <p:nvPr/>
        </p:nvSpPr>
        <p:spPr>
          <a:xfrm>
            <a:off x="6306092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4,55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F207576D-C692-4165-A79D-810AB0A80133}"/>
              </a:ext>
            </a:extLst>
          </p:cNvPr>
          <p:cNvSpPr/>
          <p:nvPr/>
        </p:nvSpPr>
        <p:spPr>
          <a:xfrm>
            <a:off x="8327570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5,35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8259ED8C-8DFE-4890-A359-E7A9A0810893}"/>
              </a:ext>
            </a:extLst>
          </p:cNvPr>
          <p:cNvSpPr/>
          <p:nvPr/>
        </p:nvSpPr>
        <p:spPr>
          <a:xfrm>
            <a:off x="287381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7,93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AE0CA0FC-D1FD-427F-9C34-495A08E025DA}"/>
              </a:ext>
            </a:extLst>
          </p:cNvPr>
          <p:cNvSpPr/>
          <p:nvPr/>
        </p:nvSpPr>
        <p:spPr>
          <a:xfrm>
            <a:off x="2293618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7,99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81738BC5-81F0-49AB-88C0-87710A2DE386}"/>
              </a:ext>
            </a:extLst>
          </p:cNvPr>
          <p:cNvSpPr/>
          <p:nvPr/>
        </p:nvSpPr>
        <p:spPr>
          <a:xfrm>
            <a:off x="4315095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8,85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3260B640-E569-47D3-BDDC-824941F461B0}"/>
              </a:ext>
            </a:extLst>
          </p:cNvPr>
          <p:cNvSpPr/>
          <p:nvPr/>
        </p:nvSpPr>
        <p:spPr>
          <a:xfrm>
            <a:off x="6313712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14,20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3EEAEE14-5F7B-4BC7-8DE3-A4509D06146A}"/>
              </a:ext>
            </a:extLst>
          </p:cNvPr>
          <p:cNvSpPr/>
          <p:nvPr/>
        </p:nvSpPr>
        <p:spPr>
          <a:xfrm>
            <a:off x="8335190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25,44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AB6A4CC4-F8CD-4389-A59D-354284C246F9}"/>
              </a:ext>
            </a:extLst>
          </p:cNvPr>
          <p:cNvSpPr/>
          <p:nvPr/>
        </p:nvSpPr>
        <p:spPr>
          <a:xfrm>
            <a:off x="287381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6,87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10118A3E-8E5C-40C1-A8FC-E968793A6791}"/>
              </a:ext>
            </a:extLst>
          </p:cNvPr>
          <p:cNvSpPr/>
          <p:nvPr/>
        </p:nvSpPr>
        <p:spPr>
          <a:xfrm>
            <a:off x="2299333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16,58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51F98E73-9FFE-40CB-847E-DED009966E2A}"/>
              </a:ext>
            </a:extLst>
          </p:cNvPr>
          <p:cNvSpPr/>
          <p:nvPr/>
        </p:nvSpPr>
        <p:spPr>
          <a:xfrm>
            <a:off x="4311285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17,04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DD64E3B9-EC2A-4298-9FD7-D2E7A3BFB633}"/>
              </a:ext>
            </a:extLst>
          </p:cNvPr>
          <p:cNvSpPr/>
          <p:nvPr/>
        </p:nvSpPr>
        <p:spPr>
          <a:xfrm>
            <a:off x="6323237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95,53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60C3EDC4-CEA0-4FB0-A89F-E5A43A6E67FC}"/>
              </a:ext>
            </a:extLst>
          </p:cNvPr>
          <p:cNvSpPr/>
          <p:nvPr/>
        </p:nvSpPr>
        <p:spPr>
          <a:xfrm>
            <a:off x="8335190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96,25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DFED45D-E847-4841-B65E-1ADDDE5DF5BD}"/>
              </a:ext>
            </a:extLst>
          </p:cNvPr>
          <p:cNvSpPr txBox="1"/>
          <p:nvPr/>
        </p:nvSpPr>
        <p:spPr>
          <a:xfrm>
            <a:off x="8132902" y="5860028"/>
            <a:ext cx="16450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b="1" dirty="0">
                <a:ln w="28575">
                  <a:solidFill>
                    <a:schemeClr val="tx1"/>
                  </a:solidFill>
                </a:ln>
              </a:rPr>
              <a:t>ФИНИШ</a:t>
            </a:r>
            <a:endParaRPr lang="en-GB" sz="3600" b="1" dirty="0">
              <a:latin typeface="Agency FB" panose="020B0503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D4A9BB8-58E2-4036-8D72-B48325994584}"/>
              </a:ext>
            </a:extLst>
          </p:cNvPr>
          <p:cNvSpPr txBox="1"/>
          <p:nvPr/>
        </p:nvSpPr>
        <p:spPr>
          <a:xfrm>
            <a:off x="470747" y="-52526"/>
            <a:ext cx="901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ln w="28575">
                  <a:solidFill>
                    <a:schemeClr val="tx1"/>
                  </a:solidFill>
                </a:ln>
              </a:rPr>
              <a:t>СТАРТ</a:t>
            </a:r>
            <a:r>
              <a:rPr lang="en-GB" sz="2000" b="1" dirty="0">
                <a:latin typeface="Agency FB" panose="020B0503020202020204" pitchFamily="34" charset="0"/>
              </a:rPr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FC009-523C-4D92-8EDD-AB1655977BAE}"/>
              </a:ext>
            </a:extLst>
          </p:cNvPr>
          <p:cNvSpPr txBox="1"/>
          <p:nvPr/>
        </p:nvSpPr>
        <p:spPr>
          <a:xfrm>
            <a:off x="38254" y="240291"/>
            <a:ext cx="18838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400" dirty="0"/>
              <a:t>Аку</a:t>
            </a:r>
            <a:r>
              <a:rPr lang="ru-RU" sz="1400" dirty="0"/>
              <a:t> ар бири 48тыйын болгон 23 батончик шоколад сатып алды</a:t>
            </a:r>
          </a:p>
          <a:p>
            <a:pPr algn="ctr"/>
            <a:r>
              <a:rPr lang="ru-RU" sz="1400" dirty="0"/>
              <a:t>Баарынын баасы канча болот?</a:t>
            </a:r>
            <a:endParaRPr lang="en-GB" sz="1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0FAC54-EE29-423D-A6C1-D487CB955187}"/>
              </a:ext>
            </a:extLst>
          </p:cNvPr>
          <p:cNvSpPr txBox="1"/>
          <p:nvPr/>
        </p:nvSpPr>
        <p:spPr>
          <a:xfrm>
            <a:off x="1955773" y="2051605"/>
            <a:ext cx="20260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Аза ар бири 34т болгон </a:t>
            </a:r>
          </a:p>
          <a:p>
            <a:pPr algn="ctr"/>
            <a:r>
              <a:rPr lang="ru-RU" sz="1400" dirty="0"/>
              <a:t>13 калем жана ар бири </a:t>
            </a:r>
          </a:p>
          <a:p>
            <a:pPr algn="ctr"/>
            <a:r>
              <a:rPr lang="ru-RU" sz="1400" dirty="0"/>
              <a:t>16т болгон 22 </a:t>
            </a:r>
          </a:p>
          <a:p>
            <a:pPr algn="ctr"/>
            <a:r>
              <a:rPr lang="ru-RU" sz="1400" dirty="0"/>
              <a:t>сызгыч сатып алат.</a:t>
            </a:r>
            <a:endParaRPr lang="en-GB" sz="1100" dirty="0"/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0524B2-3D0B-4ED1-9CD7-D806B25F7707}"/>
              </a:ext>
            </a:extLst>
          </p:cNvPr>
          <p:cNvSpPr txBox="1"/>
          <p:nvPr/>
        </p:nvSpPr>
        <p:spPr>
          <a:xfrm>
            <a:off x="3854446" y="279857"/>
            <a:ext cx="22030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400" dirty="0"/>
              <a:t>Таку ар бири 34т </a:t>
            </a:r>
            <a:r>
              <a:rPr lang="ru-RU" sz="1400" dirty="0"/>
              <a:t>болгон</a:t>
            </a:r>
            <a:r>
              <a:rPr lang="ky-KG" sz="1400" dirty="0"/>
              <a:t> </a:t>
            </a:r>
          </a:p>
          <a:p>
            <a:pPr algn="ctr"/>
            <a:r>
              <a:rPr lang="ky-KG" sz="1400" dirty="0"/>
              <a:t>42 чаптама жана ар бири </a:t>
            </a:r>
          </a:p>
          <a:p>
            <a:pPr algn="ctr"/>
            <a:r>
              <a:rPr lang="ky-KG" sz="1400" dirty="0"/>
              <a:t>41т </a:t>
            </a:r>
            <a:r>
              <a:rPr lang="ru-RU" sz="1400" dirty="0"/>
              <a:t>болгон</a:t>
            </a:r>
            <a:r>
              <a:rPr lang="ky-KG" sz="1400" dirty="0"/>
              <a:t> 13 бейджик</a:t>
            </a:r>
          </a:p>
          <a:p>
            <a:pPr algn="ctr"/>
            <a:r>
              <a:rPr lang="ky-KG" sz="1400" dirty="0"/>
              <a:t> сатып алат.</a:t>
            </a:r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4DF780-9479-4BBD-AE46-E9E41AA8C6B3}"/>
              </a:ext>
            </a:extLst>
          </p:cNvPr>
          <p:cNvSpPr txBox="1"/>
          <p:nvPr/>
        </p:nvSpPr>
        <p:spPr>
          <a:xfrm>
            <a:off x="5865033" y="336893"/>
            <a:ext cx="23155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Улан 7 банандын ар </a:t>
            </a:r>
          </a:p>
          <a:p>
            <a:pPr algn="ctr"/>
            <a:r>
              <a:rPr lang="ru-RU" sz="1400" dirty="0"/>
              <a:t>бирин 68 тыйындан</a:t>
            </a:r>
          </a:p>
          <a:p>
            <a:pPr algn="ctr"/>
            <a:r>
              <a:rPr lang="ru-RU" sz="1400" dirty="0"/>
              <a:t>сатып алат.</a:t>
            </a:r>
          </a:p>
          <a:p>
            <a:pPr algn="ctr"/>
            <a:r>
              <a:rPr lang="ru-RU" sz="1400" dirty="0"/>
              <a:t>Ал 10 сомдон канча </a:t>
            </a:r>
          </a:p>
          <a:p>
            <a:pPr algn="ctr"/>
            <a:r>
              <a:rPr lang="ky-KG" sz="1400" dirty="0">
                <a:solidFill>
                  <a:srgbClr val="050505"/>
                </a:solidFill>
                <a:highlight>
                  <a:srgbClr val="FFFFFF"/>
                </a:highlight>
                <a:latin typeface="Segoe UI Historic" panose="020B0502040204020203" pitchFamily="34" charset="0"/>
              </a:rPr>
              <a:t>к</a:t>
            </a:r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айтарым</a:t>
            </a:r>
            <a:r>
              <a:rPr lang="ru-RU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 </a:t>
            </a:r>
            <a:r>
              <a:rPr lang="ru-RU" sz="1400" dirty="0"/>
              <a:t>акча алат?</a:t>
            </a:r>
            <a:endParaRPr lang="en-GB" sz="1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5A5512A-7F6C-4714-A44D-AF19DDE27656}"/>
              </a:ext>
            </a:extLst>
          </p:cNvPr>
          <p:cNvSpPr txBox="1"/>
          <p:nvPr/>
        </p:nvSpPr>
        <p:spPr>
          <a:xfrm>
            <a:off x="4018936" y="2105963"/>
            <a:ext cx="187545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3,75сомго 10 калем</a:t>
            </a:r>
          </a:p>
          <a:p>
            <a:pPr algn="ctr"/>
            <a:r>
              <a:rPr lang="ru-RU" sz="1400" dirty="0"/>
              <a:t>45т үчүн 1 калем</a:t>
            </a:r>
          </a:p>
          <a:p>
            <a:pPr algn="ctr"/>
            <a:r>
              <a:rPr lang="ru-RU" sz="1400" dirty="0"/>
              <a:t>алса болот.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23 калем канча турат?</a:t>
            </a:r>
            <a:endParaRPr lang="en-GB" sz="1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8752170-75E5-4D7D-80CD-0D1F4ECDB23E}"/>
              </a:ext>
            </a:extLst>
          </p:cNvPr>
          <p:cNvSpPr txBox="1"/>
          <p:nvPr/>
        </p:nvSpPr>
        <p:spPr>
          <a:xfrm>
            <a:off x="4010698" y="3840978"/>
            <a:ext cx="186262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4,50сомго 8 бургер</a:t>
            </a:r>
          </a:p>
          <a:p>
            <a:pPr algn="ctr"/>
            <a:r>
              <a:rPr lang="ru-RU" sz="1400" dirty="0"/>
              <a:t>3,54сомго 24 булочка </a:t>
            </a:r>
          </a:p>
          <a:p>
            <a:pPr algn="ctr"/>
            <a:r>
              <a:rPr lang="ru-RU" sz="1400" dirty="0"/>
              <a:t>алса болот.</a:t>
            </a:r>
          </a:p>
          <a:p>
            <a:pPr algn="ctr"/>
            <a:r>
              <a:rPr lang="ru-RU" sz="1400" dirty="0"/>
              <a:t>24 толук гамбургер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A9AB747-72F7-4A64-BABF-CE4E36F6CC5D}"/>
              </a:ext>
            </a:extLst>
          </p:cNvPr>
          <p:cNvSpPr txBox="1"/>
          <p:nvPr/>
        </p:nvSpPr>
        <p:spPr>
          <a:xfrm>
            <a:off x="3923975" y="5470488"/>
            <a:ext cx="20595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7,55с-го 20 транспортир</a:t>
            </a:r>
          </a:p>
          <a:p>
            <a:pPr algn="ctr"/>
            <a:r>
              <a:rPr lang="ru-RU" sz="1400" dirty="0"/>
              <a:t>,95с-го 10 транспортир</a:t>
            </a:r>
          </a:p>
          <a:p>
            <a:pPr algn="ctr"/>
            <a:r>
              <a:rPr lang="ru-RU" sz="1400" dirty="0"/>
              <a:t>45т-га 1 транспортир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36 транспортир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073505B-B89E-433C-815D-BE20AF45718E}"/>
              </a:ext>
            </a:extLst>
          </p:cNvPr>
          <p:cNvSpPr txBox="1"/>
          <p:nvPr/>
        </p:nvSpPr>
        <p:spPr>
          <a:xfrm>
            <a:off x="5868598" y="3682414"/>
            <a:ext cx="21276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4,24 с-го 20 карандаш,</a:t>
            </a:r>
          </a:p>
          <a:p>
            <a:pPr algn="ctr"/>
            <a:r>
              <a:rPr lang="ky-KG" sz="1400" dirty="0"/>
              <a:t>ЖЕ 3,20с-го 10 карандаш </a:t>
            </a:r>
          </a:p>
          <a:p>
            <a:pPr algn="ctr"/>
            <a:r>
              <a:rPr lang="ky-KG" sz="1400" dirty="0"/>
              <a:t>2 таңгак сатып алсаңыз, </a:t>
            </a:r>
          </a:p>
          <a:p>
            <a:pPr algn="ctr"/>
            <a:r>
              <a:rPr lang="ky-KG" sz="1400" dirty="0"/>
              <a:t>1 таңгак бекер!</a:t>
            </a:r>
          </a:p>
          <a:p>
            <a:pPr algn="ctr"/>
            <a:r>
              <a:rPr lang="ky-KG" sz="1400" dirty="0"/>
              <a:t>120 калемдин эң арзан </a:t>
            </a:r>
          </a:p>
          <a:p>
            <a:pPr algn="ctr"/>
            <a:r>
              <a:rPr lang="ky-KG" sz="1400" dirty="0"/>
              <a:t>баасы канча?</a:t>
            </a:r>
            <a:endParaRPr lang="en-GB" sz="14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A9D14C9-704D-4912-B553-1B762FCBF4E9}"/>
              </a:ext>
            </a:extLst>
          </p:cNvPr>
          <p:cNvSpPr txBox="1"/>
          <p:nvPr/>
        </p:nvSpPr>
        <p:spPr>
          <a:xfrm>
            <a:off x="8029235" y="3743527"/>
            <a:ext cx="188744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Чоңдорго билет: 7,65с</a:t>
            </a:r>
          </a:p>
          <a:p>
            <a:pPr algn="ctr"/>
            <a:r>
              <a:rPr lang="ru-RU" sz="1400" dirty="0"/>
              <a:t>Балдар билети: 5,45с</a:t>
            </a:r>
          </a:p>
          <a:p>
            <a:pPr algn="ctr"/>
            <a:r>
              <a:rPr lang="ru-RU" sz="1400" dirty="0"/>
              <a:t>1 Чоң жана 3 Бала </a:t>
            </a:r>
          </a:p>
          <a:p>
            <a:pPr algn="ctr"/>
            <a:r>
              <a:rPr lang="ru-RU" sz="1400" dirty="0"/>
              <a:t>билет =  23с</a:t>
            </a:r>
          </a:p>
          <a:p>
            <a:pPr algn="ctr"/>
            <a:r>
              <a:rPr lang="ru-RU" sz="1400" dirty="0"/>
              <a:t>3 чоң киши жана 14 </a:t>
            </a:r>
          </a:p>
          <a:p>
            <a:pPr algn="ctr"/>
            <a:r>
              <a:rPr lang="ru-RU" sz="1400" dirty="0"/>
              <a:t>бала канча турат?</a:t>
            </a:r>
            <a:endParaRPr lang="en-GB" sz="1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E61C039-D736-46A3-A94F-57426C0BEDC2}"/>
              </a:ext>
            </a:extLst>
          </p:cNvPr>
          <p:cNvSpPr txBox="1"/>
          <p:nvPr/>
        </p:nvSpPr>
        <p:spPr>
          <a:xfrm>
            <a:off x="2003954" y="397191"/>
            <a:ext cx="19698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Даку ар бири 7т болгон</a:t>
            </a:r>
          </a:p>
          <a:p>
            <a:pPr algn="ctr"/>
            <a:r>
              <a:rPr lang="ru-RU" sz="1400" dirty="0"/>
              <a:t> 43 таттуу сатып алат.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Баарынын баасы</a:t>
            </a:r>
          </a:p>
          <a:p>
            <a:pPr algn="ctr"/>
            <a:r>
              <a:rPr lang="ru-RU" sz="1400" dirty="0"/>
              <a:t> канча болот?</a:t>
            </a:r>
            <a:endParaRPr lang="en-GB" sz="14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86CAE7C-32EC-4B5F-9698-6E0B705F3A0A}"/>
              </a:ext>
            </a:extLst>
          </p:cNvPr>
          <p:cNvSpPr txBox="1"/>
          <p:nvPr/>
        </p:nvSpPr>
        <p:spPr>
          <a:xfrm>
            <a:off x="-97845" y="2021125"/>
            <a:ext cx="21505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Маку ар бири 21т </a:t>
            </a:r>
            <a:r>
              <a:rPr lang="ru-RU" sz="1400" dirty="0"/>
              <a:t>болгон</a:t>
            </a:r>
            <a:endParaRPr lang="ky-KG" sz="1400" dirty="0"/>
          </a:p>
          <a:p>
            <a:pPr algn="ctr"/>
            <a:r>
              <a:rPr lang="ky-KG" sz="1400" dirty="0"/>
              <a:t> 32 өчүргүч жана ар бири </a:t>
            </a:r>
          </a:p>
          <a:p>
            <a:pPr algn="ctr"/>
            <a:r>
              <a:rPr lang="ky-KG" sz="1400" dirty="0"/>
              <a:t>13т </a:t>
            </a:r>
            <a:r>
              <a:rPr lang="ru-RU" sz="1400" dirty="0"/>
              <a:t>болгон</a:t>
            </a:r>
            <a:r>
              <a:rPr lang="ky-KG" sz="1400" dirty="0"/>
              <a:t> 8 сызгыч</a:t>
            </a:r>
          </a:p>
          <a:p>
            <a:pPr algn="ctr"/>
            <a:r>
              <a:rPr lang="ky-KG" sz="1400" dirty="0"/>
              <a:t> сатып алат.</a:t>
            </a:r>
            <a:endParaRPr lang="en-GB" sz="1100" dirty="0"/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4FA9272-6A47-419D-B845-B709943892B4}"/>
              </a:ext>
            </a:extLst>
          </p:cNvPr>
          <p:cNvSpPr txBox="1"/>
          <p:nvPr/>
        </p:nvSpPr>
        <p:spPr>
          <a:xfrm>
            <a:off x="7928179" y="269697"/>
            <a:ext cx="208210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Саку ар бири 34т </a:t>
            </a:r>
            <a:r>
              <a:rPr lang="ru-RU" sz="1400" dirty="0"/>
              <a:t>болгон</a:t>
            </a:r>
            <a:r>
              <a:rPr lang="ky-KG" sz="1400" dirty="0"/>
              <a:t> </a:t>
            </a:r>
          </a:p>
          <a:p>
            <a:pPr algn="ctr"/>
            <a:r>
              <a:rPr lang="ky-KG" sz="1400" dirty="0"/>
              <a:t>56 магнит жана ар бири </a:t>
            </a:r>
          </a:p>
          <a:p>
            <a:pPr algn="ctr"/>
            <a:r>
              <a:rPr lang="ky-KG" sz="1400" dirty="0"/>
              <a:t>23т </a:t>
            </a:r>
            <a:r>
              <a:rPr lang="ru-RU" sz="1400" dirty="0"/>
              <a:t>болгон</a:t>
            </a:r>
            <a:r>
              <a:rPr lang="ky-KG" sz="1400" dirty="0"/>
              <a:t> 17 </a:t>
            </a:r>
          </a:p>
          <a:p>
            <a:pPr algn="ctr"/>
            <a:r>
              <a:rPr lang="ky-KG" sz="1400" dirty="0"/>
              <a:t>бейджик сатып алат.</a:t>
            </a:r>
          </a:p>
          <a:p>
            <a:pPr algn="ctr"/>
            <a:r>
              <a:rPr lang="ky-KG" sz="1400" dirty="0"/>
              <a:t>Ал жалпысына канча </a:t>
            </a:r>
          </a:p>
          <a:p>
            <a:pPr algn="ctr"/>
            <a:r>
              <a:rPr lang="ky-KG" sz="1400" dirty="0"/>
              <a:t>акча коротот?</a:t>
            </a:r>
            <a:endParaRPr lang="en-GB" sz="14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307D0DA-3548-46BF-854E-BD463FC3AD83}"/>
              </a:ext>
            </a:extLst>
          </p:cNvPr>
          <p:cNvSpPr txBox="1"/>
          <p:nvPr/>
        </p:nvSpPr>
        <p:spPr>
          <a:xfrm>
            <a:off x="6083495" y="2022883"/>
            <a:ext cx="182941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Маке 13 алманын ар</a:t>
            </a:r>
          </a:p>
          <a:p>
            <a:pPr algn="ctr"/>
            <a:r>
              <a:rPr lang="ky-KG" sz="1400" dirty="0"/>
              <a:t> бирин 56 тыйындан </a:t>
            </a:r>
          </a:p>
          <a:p>
            <a:pPr algn="ctr"/>
            <a:r>
              <a:rPr lang="ky-KG" sz="1400" dirty="0"/>
              <a:t>сатып алат.</a:t>
            </a:r>
          </a:p>
          <a:p>
            <a:pPr algn="ctr"/>
            <a:r>
              <a:rPr lang="ky-KG" sz="1400" dirty="0"/>
              <a:t>Ал 20 соидон канча</a:t>
            </a:r>
          </a:p>
          <a:p>
            <a:pPr algn="ctr"/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кайтарым</a:t>
            </a:r>
            <a:r>
              <a:rPr lang="ky-KG" sz="1400" dirty="0"/>
              <a:t> акча алат?</a:t>
            </a:r>
            <a:endParaRPr lang="en-GB" sz="1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48C6DED-D88E-404B-837A-57FBABF90439}"/>
              </a:ext>
            </a:extLst>
          </p:cNvPr>
          <p:cNvSpPr txBox="1"/>
          <p:nvPr/>
        </p:nvSpPr>
        <p:spPr>
          <a:xfrm>
            <a:off x="5832990" y="5437434"/>
            <a:ext cx="220695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5,43 с-го 30 карандаш</a:t>
            </a:r>
          </a:p>
          <a:p>
            <a:pPr algn="ctr"/>
            <a:r>
              <a:rPr lang="ky-KG" sz="1400" dirty="0"/>
              <a:t>ЖЕ,4,62 с-го  10 карандаш</a:t>
            </a:r>
          </a:p>
          <a:p>
            <a:pPr algn="ctr"/>
            <a:r>
              <a:rPr lang="ky-KG" sz="1400" dirty="0"/>
              <a:t>5 таңгак сатып алсаңыз,</a:t>
            </a:r>
          </a:p>
          <a:p>
            <a:pPr algn="ctr"/>
            <a:r>
              <a:rPr lang="ky-KG" sz="1400" dirty="0"/>
              <a:t> 1 таңгак бекер аласыз!</a:t>
            </a:r>
          </a:p>
          <a:p>
            <a:pPr algn="ctr"/>
            <a:r>
              <a:rPr lang="ky-KG" sz="1400" dirty="0"/>
              <a:t>180 карандаштын эң</a:t>
            </a:r>
          </a:p>
          <a:p>
            <a:pPr algn="ctr"/>
            <a:r>
              <a:rPr lang="ky-KG" sz="1400" dirty="0"/>
              <a:t> арзаны  баасы канчв?</a:t>
            </a:r>
            <a:endParaRPr lang="en-GB" sz="14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E38063-1545-42D0-AE35-558CFE4D98F8}"/>
              </a:ext>
            </a:extLst>
          </p:cNvPr>
          <p:cNvSpPr txBox="1"/>
          <p:nvPr/>
        </p:nvSpPr>
        <p:spPr>
          <a:xfrm>
            <a:off x="7954033" y="2006167"/>
            <a:ext cx="19565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Чоңдорго билет: 5,23</a:t>
            </a:r>
            <a:r>
              <a:rPr lang="en-US" sz="1400" dirty="0"/>
              <a:t>c</a:t>
            </a:r>
            <a:endParaRPr lang="ru-RU" sz="1400" dirty="0"/>
          </a:p>
          <a:p>
            <a:pPr algn="ctr"/>
            <a:r>
              <a:rPr lang="ru-RU" sz="1400" dirty="0"/>
              <a:t>Балдар билети: 4,13</a:t>
            </a:r>
            <a:r>
              <a:rPr lang="en-US" sz="1400" dirty="0"/>
              <a:t>c</a:t>
            </a:r>
            <a:endParaRPr lang="ru-RU" sz="1400" dirty="0"/>
          </a:p>
          <a:p>
            <a:pPr algn="ctr"/>
            <a:r>
              <a:rPr lang="ru-RU" sz="1400" dirty="0"/>
              <a:t>2 Чоң жана 4 Бал</a:t>
            </a:r>
            <a:r>
              <a:rPr lang="ky-KG" sz="1400" dirty="0"/>
              <a:t>а үчүн</a:t>
            </a:r>
            <a:endParaRPr lang="en-US" sz="1400" dirty="0"/>
          </a:p>
          <a:p>
            <a:pPr algn="ctr"/>
            <a:r>
              <a:rPr lang="ru-RU" sz="1400" dirty="0"/>
              <a:t>билет</a:t>
            </a:r>
            <a:r>
              <a:rPr lang="en-US" sz="1400" dirty="0"/>
              <a:t> </a:t>
            </a:r>
            <a:r>
              <a:rPr lang="ru-RU" sz="1400" dirty="0"/>
              <a:t> = 29</a:t>
            </a:r>
            <a:r>
              <a:rPr lang="en-US" sz="1400" dirty="0"/>
              <a:t> c</a:t>
            </a:r>
            <a:endParaRPr lang="ru-RU" sz="1400" dirty="0"/>
          </a:p>
          <a:p>
            <a:pPr algn="ctr"/>
            <a:r>
              <a:rPr lang="ru-RU" sz="1400" dirty="0"/>
              <a:t>4 чоң киши жана 16 </a:t>
            </a:r>
            <a:endParaRPr lang="en-US" sz="1400" dirty="0"/>
          </a:p>
          <a:p>
            <a:pPr algn="ctr"/>
            <a:r>
              <a:rPr lang="ru-RU" sz="1400" dirty="0"/>
              <a:t>бала канча турат?</a:t>
            </a:r>
            <a:endParaRPr lang="en-GB" sz="14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080116F-279C-4D92-9D83-7B665C8353F7}"/>
              </a:ext>
            </a:extLst>
          </p:cNvPr>
          <p:cNvSpPr txBox="1"/>
          <p:nvPr/>
        </p:nvSpPr>
        <p:spPr>
          <a:xfrm>
            <a:off x="2080604" y="3853483"/>
            <a:ext cx="176939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4,56сомго 20 сызгыч</a:t>
            </a:r>
          </a:p>
          <a:p>
            <a:pPr algn="ctr"/>
            <a:r>
              <a:rPr lang="ky-KG" sz="1400" dirty="0"/>
              <a:t>18тыйынга 1 сызгыч </a:t>
            </a:r>
          </a:p>
          <a:p>
            <a:pPr algn="ctr"/>
            <a:r>
              <a:rPr lang="ky-KG" sz="1400" dirty="0"/>
              <a:t>алса болот.</a:t>
            </a:r>
          </a:p>
          <a:p>
            <a:pPr algn="ctr"/>
            <a:r>
              <a:rPr lang="ky-KG" sz="1400" dirty="0"/>
              <a:t>32 сызгыч </a:t>
            </a:r>
          </a:p>
          <a:p>
            <a:pPr algn="ctr"/>
            <a:r>
              <a:rPr lang="ky-KG" sz="1400" dirty="0"/>
              <a:t>канча турат?</a:t>
            </a:r>
            <a:endParaRPr lang="en-GB" sz="14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112E665-BECB-4FB0-AEF3-6523696AC3C3}"/>
              </a:ext>
            </a:extLst>
          </p:cNvPr>
          <p:cNvSpPr txBox="1"/>
          <p:nvPr/>
        </p:nvSpPr>
        <p:spPr>
          <a:xfrm>
            <a:off x="2047103" y="5507218"/>
            <a:ext cx="18070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3,40сомго  6 шаурма</a:t>
            </a:r>
          </a:p>
          <a:p>
            <a:pPr algn="ctr"/>
            <a:r>
              <a:rPr lang="ru-RU" sz="1400" dirty="0"/>
              <a:t>4,64 сомго 18 калама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32 толук шаурма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4EDB025-F8BD-4A94-AB8E-C8992D3845AC}"/>
              </a:ext>
            </a:extLst>
          </p:cNvPr>
          <p:cNvSpPr txBox="1"/>
          <p:nvPr/>
        </p:nvSpPr>
        <p:spPr>
          <a:xfrm>
            <a:off x="101304" y="3753448"/>
            <a:ext cx="16987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7,55сомго  20 пакет</a:t>
            </a:r>
          </a:p>
          <a:p>
            <a:pPr algn="ctr"/>
            <a:r>
              <a:rPr lang="ru-RU" sz="1400" dirty="0"/>
              <a:t>3,95сотмго 10 пакет</a:t>
            </a:r>
          </a:p>
          <a:p>
            <a:pPr algn="ctr"/>
            <a:r>
              <a:rPr lang="ru-RU" sz="1400" dirty="0"/>
              <a:t>45т-га 1 пакет</a:t>
            </a:r>
          </a:p>
          <a:p>
            <a:pPr algn="ctr"/>
            <a:r>
              <a:rPr lang="ru-RU" sz="1400" dirty="0"/>
              <a:t> алса болот.</a:t>
            </a:r>
          </a:p>
          <a:p>
            <a:pPr algn="ctr"/>
            <a:r>
              <a:rPr lang="ru-RU" sz="1400" dirty="0"/>
              <a:t>42 пакет бадырак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387BB38-A45F-4535-99B8-44C372FC9109}"/>
              </a:ext>
            </a:extLst>
          </p:cNvPr>
          <p:cNvSpPr txBox="1"/>
          <p:nvPr/>
        </p:nvSpPr>
        <p:spPr>
          <a:xfrm>
            <a:off x="109415" y="5528083"/>
            <a:ext cx="182941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Тику</a:t>
            </a:r>
            <a:r>
              <a:rPr lang="ru-RU" sz="1400" dirty="0"/>
              <a:t> ар бирин 72 </a:t>
            </a:r>
          </a:p>
          <a:p>
            <a:pPr algn="ctr"/>
            <a:r>
              <a:rPr lang="ru-RU" sz="1400" dirty="0"/>
              <a:t>тыйындан 13 пияз </a:t>
            </a:r>
          </a:p>
          <a:p>
            <a:pPr algn="ctr"/>
            <a:r>
              <a:rPr lang="ru-RU" sz="1400" dirty="0"/>
              <a:t>сатып алат.</a:t>
            </a:r>
          </a:p>
          <a:p>
            <a:pPr algn="ctr"/>
            <a:r>
              <a:rPr lang="ru-RU" sz="1400" dirty="0"/>
              <a:t>Ал 10 сомдон канча</a:t>
            </a:r>
          </a:p>
          <a:p>
            <a:pPr algn="ctr"/>
            <a:r>
              <a:rPr lang="ru-RU" sz="1400" dirty="0"/>
              <a:t> </a:t>
            </a:r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кайтарым </a:t>
            </a:r>
            <a:r>
              <a:rPr lang="ru-RU" sz="1400" dirty="0"/>
              <a:t>акча алат?</a:t>
            </a:r>
            <a:endParaRPr lang="en-GB" sz="1400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F07871D-86E0-8C20-5798-3D17FA502C00}"/>
              </a:ext>
            </a:extLst>
          </p:cNvPr>
          <p:cNvSpPr/>
          <p:nvPr/>
        </p:nvSpPr>
        <p:spPr>
          <a:xfrm rot="2871813">
            <a:off x="1679148" y="1514077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CC59952-F353-9146-F8F7-399130087D55}"/>
              </a:ext>
            </a:extLst>
          </p:cNvPr>
          <p:cNvSpPr/>
          <p:nvPr/>
        </p:nvSpPr>
        <p:spPr>
          <a:xfrm rot="18870226">
            <a:off x="3616386" y="1481838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9CB1C53-6C39-AA03-864E-39AFC7D43F1D}"/>
              </a:ext>
            </a:extLst>
          </p:cNvPr>
          <p:cNvSpPr/>
          <p:nvPr/>
        </p:nvSpPr>
        <p:spPr>
          <a:xfrm rot="8273143">
            <a:off x="5621264" y="1507827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B66D623-65A1-2D16-F170-CC6D9B7D41DE}"/>
              </a:ext>
            </a:extLst>
          </p:cNvPr>
          <p:cNvSpPr/>
          <p:nvPr/>
        </p:nvSpPr>
        <p:spPr>
          <a:xfrm>
            <a:off x="5831963" y="558391"/>
            <a:ext cx="33890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544491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05EB913-597D-4BBB-98D7-4EEF3B193D86}"/>
              </a:ext>
            </a:extLst>
          </p:cNvPr>
          <p:cNvCxnSpPr>
            <a:cxnSpLocks/>
          </p:cNvCxnSpPr>
          <p:nvPr/>
        </p:nvCxnSpPr>
        <p:spPr>
          <a:xfrm>
            <a:off x="948120" y="4232366"/>
            <a:ext cx="1998641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7A19B03E-2A7B-43F0-89A1-D3B348DE7A10}"/>
              </a:ext>
            </a:extLst>
          </p:cNvPr>
          <p:cNvCxnSpPr>
            <a:cxnSpLocks/>
          </p:cNvCxnSpPr>
          <p:nvPr/>
        </p:nvCxnSpPr>
        <p:spPr>
          <a:xfrm>
            <a:off x="940524" y="2542903"/>
            <a:ext cx="4035625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DDEFBC4-BC3D-4C81-AA73-2585AFF7F839}"/>
              </a:ext>
            </a:extLst>
          </p:cNvPr>
          <p:cNvCxnSpPr>
            <a:cxnSpLocks/>
          </p:cNvCxnSpPr>
          <p:nvPr/>
        </p:nvCxnSpPr>
        <p:spPr>
          <a:xfrm>
            <a:off x="928948" y="804091"/>
            <a:ext cx="6065385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8E0348AD-750F-4EEC-AFBA-3AACA387FF0D}"/>
              </a:ext>
            </a:extLst>
          </p:cNvPr>
          <p:cNvCxnSpPr>
            <a:cxnSpLocks/>
          </p:cNvCxnSpPr>
          <p:nvPr/>
        </p:nvCxnSpPr>
        <p:spPr>
          <a:xfrm>
            <a:off x="2946761" y="818605"/>
            <a:ext cx="6065385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3DA7179C-7597-489B-9F2D-0156E11444E2}"/>
              </a:ext>
            </a:extLst>
          </p:cNvPr>
          <p:cNvCxnSpPr>
            <a:cxnSpLocks/>
          </p:cNvCxnSpPr>
          <p:nvPr/>
        </p:nvCxnSpPr>
        <p:spPr>
          <a:xfrm>
            <a:off x="4941427" y="787401"/>
            <a:ext cx="4035625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85A46C2-B1E5-4413-AE47-57D17265980B}"/>
              </a:ext>
            </a:extLst>
          </p:cNvPr>
          <p:cNvCxnSpPr>
            <a:cxnSpLocks/>
          </p:cNvCxnSpPr>
          <p:nvPr/>
        </p:nvCxnSpPr>
        <p:spPr>
          <a:xfrm>
            <a:off x="6995814" y="769970"/>
            <a:ext cx="1998641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81C3F24-E75D-48F6-AFC4-E49A7B27E715}"/>
              </a:ext>
            </a:extLst>
          </p:cNvPr>
          <p:cNvCxnSpPr>
            <a:cxnSpLocks/>
          </p:cNvCxnSpPr>
          <p:nvPr/>
        </p:nvCxnSpPr>
        <p:spPr>
          <a:xfrm flipH="1">
            <a:off x="6926033" y="4252332"/>
            <a:ext cx="1988645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97A89F03-5304-4B9A-8EF0-C4382221A351}"/>
              </a:ext>
            </a:extLst>
          </p:cNvPr>
          <p:cNvCxnSpPr>
            <a:cxnSpLocks/>
          </p:cNvCxnSpPr>
          <p:nvPr/>
        </p:nvCxnSpPr>
        <p:spPr>
          <a:xfrm flipH="1">
            <a:off x="4906796" y="2562869"/>
            <a:ext cx="4015440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1FE59B4D-4848-405D-8D93-9ED36166FD8D}"/>
              </a:ext>
            </a:extLst>
          </p:cNvPr>
          <p:cNvCxnSpPr>
            <a:cxnSpLocks/>
          </p:cNvCxnSpPr>
          <p:nvPr/>
        </p:nvCxnSpPr>
        <p:spPr>
          <a:xfrm flipH="1">
            <a:off x="2898706" y="824057"/>
            <a:ext cx="6035048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6F0413A-C52A-4A16-AC17-2EAFB2D190BB}"/>
              </a:ext>
            </a:extLst>
          </p:cNvPr>
          <p:cNvCxnSpPr>
            <a:cxnSpLocks/>
          </p:cNvCxnSpPr>
          <p:nvPr/>
        </p:nvCxnSpPr>
        <p:spPr>
          <a:xfrm flipH="1">
            <a:off x="890985" y="838571"/>
            <a:ext cx="6035048" cy="525417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48469A14-45CB-4B0E-8662-0074FA6B3DCB}"/>
              </a:ext>
            </a:extLst>
          </p:cNvPr>
          <p:cNvCxnSpPr>
            <a:cxnSpLocks/>
          </p:cNvCxnSpPr>
          <p:nvPr/>
        </p:nvCxnSpPr>
        <p:spPr>
          <a:xfrm flipH="1">
            <a:off x="925903" y="807367"/>
            <a:ext cx="4015440" cy="351536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3EE01051-EFF1-4648-AEF3-8366735460F0}"/>
              </a:ext>
            </a:extLst>
          </p:cNvPr>
          <p:cNvCxnSpPr>
            <a:cxnSpLocks/>
          </p:cNvCxnSpPr>
          <p:nvPr/>
        </p:nvCxnSpPr>
        <p:spPr>
          <a:xfrm flipH="1">
            <a:off x="908588" y="789936"/>
            <a:ext cx="1988645" cy="182589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AFAE01E-94C9-41C1-8B70-E5C27F99035F}"/>
              </a:ext>
            </a:extLst>
          </p:cNvPr>
          <p:cNvCxnSpPr>
            <a:cxnSpLocks/>
          </p:cNvCxnSpPr>
          <p:nvPr/>
        </p:nvCxnSpPr>
        <p:spPr>
          <a:xfrm flipH="1">
            <a:off x="940524" y="80989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1F624B46-1454-4371-8A7C-0CB8F987FAEB}"/>
              </a:ext>
            </a:extLst>
          </p:cNvPr>
          <p:cNvCxnSpPr>
            <a:cxnSpLocks/>
          </p:cNvCxnSpPr>
          <p:nvPr/>
        </p:nvCxnSpPr>
        <p:spPr>
          <a:xfrm flipH="1">
            <a:off x="2950559" y="79973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D54075D-1A7B-4B66-AF6E-D0CCC21714EA}"/>
              </a:ext>
            </a:extLst>
          </p:cNvPr>
          <p:cNvCxnSpPr>
            <a:cxnSpLocks/>
          </p:cNvCxnSpPr>
          <p:nvPr/>
        </p:nvCxnSpPr>
        <p:spPr>
          <a:xfrm flipH="1">
            <a:off x="4960593" y="79973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416B11E-4651-4676-9CDD-E57DFB8EF615}"/>
              </a:ext>
            </a:extLst>
          </p:cNvPr>
          <p:cNvCxnSpPr>
            <a:cxnSpLocks/>
          </p:cNvCxnSpPr>
          <p:nvPr/>
        </p:nvCxnSpPr>
        <p:spPr>
          <a:xfrm flipH="1">
            <a:off x="6967337" y="809897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B2BE7CB4-E220-4A2D-B8A4-10D3CF00C53D}"/>
              </a:ext>
            </a:extLst>
          </p:cNvPr>
          <p:cNvCxnSpPr>
            <a:cxnSpLocks/>
          </p:cNvCxnSpPr>
          <p:nvPr/>
        </p:nvCxnSpPr>
        <p:spPr>
          <a:xfrm flipH="1">
            <a:off x="8985522" y="799736"/>
            <a:ext cx="1" cy="537318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EE4A482-7D66-404B-B60E-F9248EA54683}"/>
              </a:ext>
            </a:extLst>
          </p:cNvPr>
          <p:cNvCxnSpPr>
            <a:cxnSpLocks/>
          </p:cNvCxnSpPr>
          <p:nvPr/>
        </p:nvCxnSpPr>
        <p:spPr>
          <a:xfrm flipH="1">
            <a:off x="1415141" y="818605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546A1ED-6E0D-47E0-9615-D3FC648D385E}"/>
              </a:ext>
            </a:extLst>
          </p:cNvPr>
          <p:cNvCxnSpPr>
            <a:cxnSpLocks/>
          </p:cNvCxnSpPr>
          <p:nvPr/>
        </p:nvCxnSpPr>
        <p:spPr>
          <a:xfrm flipH="1">
            <a:off x="1415141" y="2561771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A7C3A25-1AFE-4703-8D64-8836A03D2DF9}"/>
              </a:ext>
            </a:extLst>
          </p:cNvPr>
          <p:cNvCxnSpPr>
            <a:cxnSpLocks/>
          </p:cNvCxnSpPr>
          <p:nvPr/>
        </p:nvCxnSpPr>
        <p:spPr>
          <a:xfrm flipH="1">
            <a:off x="1415141" y="4304937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E3E56153-16BE-4E07-8FA7-29C7356663A9}"/>
              </a:ext>
            </a:extLst>
          </p:cNvPr>
          <p:cNvCxnSpPr>
            <a:cxnSpLocks/>
          </p:cNvCxnSpPr>
          <p:nvPr/>
        </p:nvCxnSpPr>
        <p:spPr>
          <a:xfrm flipH="1">
            <a:off x="1415141" y="6048103"/>
            <a:ext cx="6897189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2D2134-4D3B-4162-B1B8-2E5AA9ED715F}"/>
              </a:ext>
            </a:extLst>
          </p:cNvPr>
          <p:cNvSpPr/>
          <p:nvPr/>
        </p:nvSpPr>
        <p:spPr>
          <a:xfrm>
            <a:off x="0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B205FF26-B62F-4159-B48C-78F420D5BA10}"/>
              </a:ext>
            </a:extLst>
          </p:cNvPr>
          <p:cNvSpPr/>
          <p:nvPr/>
        </p:nvSpPr>
        <p:spPr>
          <a:xfrm>
            <a:off x="1996335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038C0465-C3A7-4C84-BB1A-4AB08AD7264D}"/>
              </a:ext>
            </a:extLst>
          </p:cNvPr>
          <p:cNvSpPr/>
          <p:nvPr/>
        </p:nvSpPr>
        <p:spPr>
          <a:xfrm>
            <a:off x="3992670" y="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01F3C8E-1F14-4CC4-8CC6-C560F7B58DF8}"/>
              </a:ext>
            </a:extLst>
          </p:cNvPr>
          <p:cNvSpPr/>
          <p:nvPr/>
        </p:nvSpPr>
        <p:spPr>
          <a:xfrm>
            <a:off x="5989005" y="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3613BB4F-2D92-47FF-BD5C-CF9BA0E0B2D6}"/>
              </a:ext>
            </a:extLst>
          </p:cNvPr>
          <p:cNvSpPr/>
          <p:nvPr/>
        </p:nvSpPr>
        <p:spPr>
          <a:xfrm>
            <a:off x="7985340" y="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827443-883D-4F40-B53D-8B8569105279}"/>
              </a:ext>
            </a:extLst>
          </p:cNvPr>
          <p:cNvSpPr/>
          <p:nvPr/>
        </p:nvSpPr>
        <p:spPr>
          <a:xfrm>
            <a:off x="2293618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11,54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483706-662B-436F-913E-52DEA3E8DE78}"/>
              </a:ext>
            </a:extLst>
          </p:cNvPr>
          <p:cNvSpPr/>
          <p:nvPr/>
        </p:nvSpPr>
        <p:spPr>
          <a:xfrm>
            <a:off x="4299855" y="60960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£7,94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D548634-9B7E-43A0-82BF-C496A9F2E264}"/>
              </a:ext>
            </a:extLst>
          </p:cNvPr>
          <p:cNvSpPr/>
          <p:nvPr/>
        </p:nvSpPr>
        <p:spPr>
          <a:xfrm>
            <a:off x="6306092" y="60960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19,61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C8B2A7D-618C-4CB6-AC4F-270E6635881C}"/>
              </a:ext>
            </a:extLst>
          </p:cNvPr>
          <p:cNvSpPr/>
          <p:nvPr/>
        </p:nvSpPr>
        <p:spPr>
          <a:xfrm>
            <a:off x="8312330" y="60960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4,67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30A8E6EA-A179-47C7-A3FB-F6110386B497}"/>
              </a:ext>
            </a:extLst>
          </p:cNvPr>
          <p:cNvSpPr/>
          <p:nvPr/>
        </p:nvSpPr>
        <p:spPr>
          <a:xfrm>
            <a:off x="0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54117941-7582-4686-B586-2A09AC325F46}"/>
              </a:ext>
            </a:extLst>
          </p:cNvPr>
          <p:cNvSpPr/>
          <p:nvPr/>
        </p:nvSpPr>
        <p:spPr>
          <a:xfrm>
            <a:off x="1996335" y="173228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618F4FF0-5731-4925-9BE3-66E063207FAB}"/>
              </a:ext>
            </a:extLst>
          </p:cNvPr>
          <p:cNvSpPr/>
          <p:nvPr/>
        </p:nvSpPr>
        <p:spPr>
          <a:xfrm>
            <a:off x="3992670" y="173228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813EA0C4-1A5B-4E80-B66E-8F991674EB8F}"/>
              </a:ext>
            </a:extLst>
          </p:cNvPr>
          <p:cNvSpPr/>
          <p:nvPr/>
        </p:nvSpPr>
        <p:spPr>
          <a:xfrm>
            <a:off x="5989005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31525108-02EE-4EEF-9A26-BE85926E14D7}"/>
              </a:ext>
            </a:extLst>
          </p:cNvPr>
          <p:cNvSpPr/>
          <p:nvPr/>
        </p:nvSpPr>
        <p:spPr>
          <a:xfrm>
            <a:off x="7985340" y="173228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D07A8AC2-86E3-49EB-B33A-B8E0D89423A8}"/>
              </a:ext>
            </a:extLst>
          </p:cNvPr>
          <p:cNvSpPr/>
          <p:nvPr/>
        </p:nvSpPr>
        <p:spPr>
          <a:xfrm>
            <a:off x="0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D0E7B3D0-D96E-4462-B7CB-E05382F55E9F}"/>
              </a:ext>
            </a:extLst>
          </p:cNvPr>
          <p:cNvSpPr/>
          <p:nvPr/>
        </p:nvSpPr>
        <p:spPr>
          <a:xfrm>
            <a:off x="1996335" y="346456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9705571F-9CE9-4157-A4BC-BBE2EE032FBF}"/>
              </a:ext>
            </a:extLst>
          </p:cNvPr>
          <p:cNvSpPr/>
          <p:nvPr/>
        </p:nvSpPr>
        <p:spPr>
          <a:xfrm>
            <a:off x="3992670" y="346456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DE83FEC6-C722-454C-93CE-532FF689B748}"/>
              </a:ext>
            </a:extLst>
          </p:cNvPr>
          <p:cNvSpPr/>
          <p:nvPr/>
        </p:nvSpPr>
        <p:spPr>
          <a:xfrm>
            <a:off x="5989005" y="346456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C26A6890-4BEC-42F2-B106-299C04D1F16B}"/>
              </a:ext>
            </a:extLst>
          </p:cNvPr>
          <p:cNvSpPr/>
          <p:nvPr/>
        </p:nvSpPr>
        <p:spPr>
          <a:xfrm>
            <a:off x="7985340" y="346456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012F50B3-A39E-4868-B8C3-83A9F37EC57B}"/>
              </a:ext>
            </a:extLst>
          </p:cNvPr>
          <p:cNvSpPr/>
          <p:nvPr/>
        </p:nvSpPr>
        <p:spPr>
          <a:xfrm>
            <a:off x="0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BE78EF6C-28FA-4762-8CF3-4608F006B6F4}"/>
              </a:ext>
            </a:extLst>
          </p:cNvPr>
          <p:cNvSpPr/>
          <p:nvPr/>
        </p:nvSpPr>
        <p:spPr>
          <a:xfrm>
            <a:off x="1996335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19096006-57B3-4270-8DC7-DCF9B0D4301D}"/>
              </a:ext>
            </a:extLst>
          </p:cNvPr>
          <p:cNvSpPr/>
          <p:nvPr/>
        </p:nvSpPr>
        <p:spPr>
          <a:xfrm>
            <a:off x="3992670" y="519684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060F6138-8A10-4D48-B27A-CC9F644DE9E4}"/>
              </a:ext>
            </a:extLst>
          </p:cNvPr>
          <p:cNvSpPr/>
          <p:nvPr/>
        </p:nvSpPr>
        <p:spPr>
          <a:xfrm>
            <a:off x="5989005" y="5196840"/>
            <a:ext cx="1915160" cy="1645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59615A30-70DE-499A-AB62-D6A742E7533C}"/>
              </a:ext>
            </a:extLst>
          </p:cNvPr>
          <p:cNvSpPr/>
          <p:nvPr/>
        </p:nvSpPr>
        <p:spPr>
          <a:xfrm>
            <a:off x="7985340" y="5196840"/>
            <a:ext cx="1915160" cy="16459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CD5F08DF-0C6D-4167-9C4C-0609928B58A4}"/>
              </a:ext>
            </a:extLst>
          </p:cNvPr>
          <p:cNvSpPr/>
          <p:nvPr/>
        </p:nvSpPr>
        <p:spPr>
          <a:xfrm>
            <a:off x="287381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10,59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303B89FF-A761-4772-8282-14C602ACCEA9}"/>
              </a:ext>
            </a:extLst>
          </p:cNvPr>
          <p:cNvSpPr/>
          <p:nvPr/>
        </p:nvSpPr>
        <p:spPr>
          <a:xfrm>
            <a:off x="2293618" y="1788886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11</a:t>
            </a:r>
            <a:r>
              <a:rPr lang="ky-KG" sz="1950" dirty="0">
                <a:solidFill>
                  <a:schemeClr val="tx1"/>
                </a:solidFill>
              </a:rPr>
              <a:t>,</a:t>
            </a:r>
            <a:r>
              <a:rPr lang="en-GB" sz="1950" dirty="0">
                <a:solidFill>
                  <a:schemeClr val="tx1"/>
                </a:solidFill>
              </a:rPr>
              <a:t>04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F46575FF-5E35-4B89-BDA5-9E90F148FA86}"/>
              </a:ext>
            </a:extLst>
          </p:cNvPr>
          <p:cNvSpPr/>
          <p:nvPr/>
        </p:nvSpPr>
        <p:spPr>
          <a:xfrm>
            <a:off x="4315095" y="1788886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5,24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2267BFC-C74E-44F0-B2C3-8267AE033ABE}"/>
              </a:ext>
            </a:extLst>
          </p:cNvPr>
          <p:cNvSpPr/>
          <p:nvPr/>
        </p:nvSpPr>
        <p:spPr>
          <a:xfrm>
            <a:off x="6306092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4,55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F207576D-C692-4165-A79D-810AB0A80133}"/>
              </a:ext>
            </a:extLst>
          </p:cNvPr>
          <p:cNvSpPr/>
          <p:nvPr/>
        </p:nvSpPr>
        <p:spPr>
          <a:xfrm>
            <a:off x="8327570" y="1788886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5,35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8259ED8C-8DFE-4890-A359-E7A9A0810893}"/>
              </a:ext>
            </a:extLst>
          </p:cNvPr>
          <p:cNvSpPr/>
          <p:nvPr/>
        </p:nvSpPr>
        <p:spPr>
          <a:xfrm>
            <a:off x="287381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7,93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AE0CA0FC-D1FD-427F-9C34-495A08E025DA}"/>
              </a:ext>
            </a:extLst>
          </p:cNvPr>
          <p:cNvSpPr/>
          <p:nvPr/>
        </p:nvSpPr>
        <p:spPr>
          <a:xfrm>
            <a:off x="2293618" y="3524432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7,99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81738BC5-81F0-49AB-88C0-87710A2DE386}"/>
              </a:ext>
            </a:extLst>
          </p:cNvPr>
          <p:cNvSpPr/>
          <p:nvPr/>
        </p:nvSpPr>
        <p:spPr>
          <a:xfrm>
            <a:off x="4315095" y="3524432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8,85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3260B640-E569-47D3-BDDC-824941F461B0}"/>
              </a:ext>
            </a:extLst>
          </p:cNvPr>
          <p:cNvSpPr/>
          <p:nvPr/>
        </p:nvSpPr>
        <p:spPr>
          <a:xfrm>
            <a:off x="6313712" y="3524432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14,20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3EEAEE14-5F7B-4BC7-8DE3-A4509D06146A}"/>
              </a:ext>
            </a:extLst>
          </p:cNvPr>
          <p:cNvSpPr/>
          <p:nvPr/>
        </p:nvSpPr>
        <p:spPr>
          <a:xfrm>
            <a:off x="8335190" y="3524432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25,44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AB6A4CC4-F8CD-4389-A59D-354284C246F9}"/>
              </a:ext>
            </a:extLst>
          </p:cNvPr>
          <p:cNvSpPr/>
          <p:nvPr/>
        </p:nvSpPr>
        <p:spPr>
          <a:xfrm>
            <a:off x="287381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6,87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10118A3E-8E5C-40C1-A8FC-E968793A6791}"/>
              </a:ext>
            </a:extLst>
          </p:cNvPr>
          <p:cNvSpPr/>
          <p:nvPr/>
        </p:nvSpPr>
        <p:spPr>
          <a:xfrm>
            <a:off x="2299333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16,58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51F98E73-9FFE-40CB-847E-DED009966E2A}"/>
              </a:ext>
            </a:extLst>
          </p:cNvPr>
          <p:cNvSpPr/>
          <p:nvPr/>
        </p:nvSpPr>
        <p:spPr>
          <a:xfrm>
            <a:off x="4311285" y="5259978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17,04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DD64E3B9-EC2A-4298-9FD7-D2E7A3BFB633}"/>
              </a:ext>
            </a:extLst>
          </p:cNvPr>
          <p:cNvSpPr/>
          <p:nvPr/>
        </p:nvSpPr>
        <p:spPr>
          <a:xfrm>
            <a:off x="6323237" y="5259978"/>
            <a:ext cx="1306288" cy="2302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95,53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60C3EDC4-CEA0-4FB0-A89F-E5A43A6E67FC}"/>
              </a:ext>
            </a:extLst>
          </p:cNvPr>
          <p:cNvSpPr/>
          <p:nvPr/>
        </p:nvSpPr>
        <p:spPr>
          <a:xfrm>
            <a:off x="8335190" y="5259978"/>
            <a:ext cx="1306288" cy="23022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96,25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DFED45D-E847-4841-B65E-1ADDDE5DF5BD}"/>
              </a:ext>
            </a:extLst>
          </p:cNvPr>
          <p:cNvSpPr txBox="1"/>
          <p:nvPr/>
        </p:nvSpPr>
        <p:spPr>
          <a:xfrm>
            <a:off x="8132902" y="5860028"/>
            <a:ext cx="16450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b="1" dirty="0">
                <a:ln w="28575">
                  <a:solidFill>
                    <a:schemeClr val="tx1"/>
                  </a:solidFill>
                </a:ln>
              </a:rPr>
              <a:t>ФИНИШ</a:t>
            </a:r>
            <a:endParaRPr lang="en-GB" sz="3600" b="1" dirty="0">
              <a:latin typeface="Agency FB" panose="020B0503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D4A9BB8-58E2-4036-8D72-B48325994584}"/>
              </a:ext>
            </a:extLst>
          </p:cNvPr>
          <p:cNvSpPr txBox="1"/>
          <p:nvPr/>
        </p:nvSpPr>
        <p:spPr>
          <a:xfrm>
            <a:off x="470747" y="-52526"/>
            <a:ext cx="901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ln w="28575">
                  <a:solidFill>
                    <a:schemeClr val="tx1"/>
                  </a:solidFill>
                </a:ln>
              </a:rPr>
              <a:t>СТАРТ</a:t>
            </a:r>
            <a:r>
              <a:rPr lang="en-GB" sz="2000" b="1" dirty="0">
                <a:latin typeface="Agency FB" panose="020B0503020202020204" pitchFamily="34" charset="0"/>
              </a:rPr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FC009-523C-4D92-8EDD-AB1655977BAE}"/>
              </a:ext>
            </a:extLst>
          </p:cNvPr>
          <p:cNvSpPr txBox="1"/>
          <p:nvPr/>
        </p:nvSpPr>
        <p:spPr>
          <a:xfrm>
            <a:off x="38254" y="240291"/>
            <a:ext cx="18838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400" dirty="0"/>
              <a:t>Аку</a:t>
            </a:r>
            <a:r>
              <a:rPr lang="ru-RU" sz="1400" dirty="0"/>
              <a:t> ар бири 48тыйын болгон 23 батончик шоколад сатып алды</a:t>
            </a:r>
          </a:p>
          <a:p>
            <a:pPr algn="ctr"/>
            <a:r>
              <a:rPr lang="ru-RU" sz="1400" dirty="0"/>
              <a:t>Баарынын баасы канча болот?</a:t>
            </a:r>
            <a:endParaRPr lang="en-GB" sz="1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0FAC54-EE29-423D-A6C1-D487CB955187}"/>
              </a:ext>
            </a:extLst>
          </p:cNvPr>
          <p:cNvSpPr txBox="1"/>
          <p:nvPr/>
        </p:nvSpPr>
        <p:spPr>
          <a:xfrm>
            <a:off x="1955773" y="2051605"/>
            <a:ext cx="20260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Аза ар бири 34т болгон </a:t>
            </a:r>
          </a:p>
          <a:p>
            <a:pPr algn="ctr"/>
            <a:r>
              <a:rPr lang="ru-RU" sz="1400" dirty="0"/>
              <a:t>13 калем жана ар бири </a:t>
            </a:r>
          </a:p>
          <a:p>
            <a:pPr algn="ctr"/>
            <a:r>
              <a:rPr lang="ru-RU" sz="1400" dirty="0"/>
              <a:t>16т болгон 22 </a:t>
            </a:r>
          </a:p>
          <a:p>
            <a:pPr algn="ctr"/>
            <a:r>
              <a:rPr lang="ru-RU" sz="1400" dirty="0"/>
              <a:t>сызгыч сатып алат.</a:t>
            </a:r>
            <a:endParaRPr lang="en-GB" sz="1100" dirty="0"/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0524B2-3D0B-4ED1-9CD7-D806B25F7707}"/>
              </a:ext>
            </a:extLst>
          </p:cNvPr>
          <p:cNvSpPr txBox="1"/>
          <p:nvPr/>
        </p:nvSpPr>
        <p:spPr>
          <a:xfrm>
            <a:off x="3854446" y="279857"/>
            <a:ext cx="22030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400" dirty="0"/>
              <a:t>Таку ар бири 34т </a:t>
            </a:r>
            <a:r>
              <a:rPr lang="ru-RU" sz="1400" dirty="0"/>
              <a:t>болгон</a:t>
            </a:r>
            <a:r>
              <a:rPr lang="ky-KG" sz="1400" dirty="0"/>
              <a:t> </a:t>
            </a:r>
          </a:p>
          <a:p>
            <a:pPr algn="ctr"/>
            <a:r>
              <a:rPr lang="ky-KG" sz="1400" dirty="0"/>
              <a:t>42 чаптама жана ар бири </a:t>
            </a:r>
          </a:p>
          <a:p>
            <a:pPr algn="ctr"/>
            <a:r>
              <a:rPr lang="ky-KG" sz="1400" dirty="0"/>
              <a:t>41т </a:t>
            </a:r>
            <a:r>
              <a:rPr lang="ru-RU" sz="1400" dirty="0"/>
              <a:t>болгон</a:t>
            </a:r>
            <a:r>
              <a:rPr lang="ky-KG" sz="1400" dirty="0"/>
              <a:t> 13 бейджик</a:t>
            </a:r>
          </a:p>
          <a:p>
            <a:pPr algn="ctr"/>
            <a:r>
              <a:rPr lang="ky-KG" sz="1400" dirty="0"/>
              <a:t> сатып алат.</a:t>
            </a:r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4DF780-9479-4BBD-AE46-E9E41AA8C6B3}"/>
              </a:ext>
            </a:extLst>
          </p:cNvPr>
          <p:cNvSpPr txBox="1"/>
          <p:nvPr/>
        </p:nvSpPr>
        <p:spPr>
          <a:xfrm>
            <a:off x="5865033" y="336893"/>
            <a:ext cx="23155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Улан 7 банандын ар </a:t>
            </a:r>
          </a:p>
          <a:p>
            <a:pPr algn="ctr"/>
            <a:r>
              <a:rPr lang="ru-RU" sz="1400" dirty="0"/>
              <a:t>бирин 68 тыйындан</a:t>
            </a:r>
          </a:p>
          <a:p>
            <a:pPr algn="ctr"/>
            <a:r>
              <a:rPr lang="ru-RU" sz="1400" dirty="0"/>
              <a:t>сатып алат.</a:t>
            </a:r>
          </a:p>
          <a:p>
            <a:pPr algn="ctr"/>
            <a:r>
              <a:rPr lang="ru-RU" sz="1400" dirty="0"/>
              <a:t>Ал 10 сомдон канча </a:t>
            </a:r>
          </a:p>
          <a:p>
            <a:pPr algn="ctr"/>
            <a:r>
              <a:rPr lang="ky-KG" sz="1400" dirty="0">
                <a:solidFill>
                  <a:srgbClr val="050505"/>
                </a:solidFill>
                <a:highlight>
                  <a:srgbClr val="FFFFFF"/>
                </a:highlight>
                <a:latin typeface="Segoe UI Historic" panose="020B0502040204020203" pitchFamily="34" charset="0"/>
              </a:rPr>
              <a:t>к</a:t>
            </a:r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айтарым</a:t>
            </a:r>
            <a:r>
              <a:rPr lang="ru-RU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 </a:t>
            </a:r>
            <a:r>
              <a:rPr lang="ru-RU" sz="1400" dirty="0"/>
              <a:t>акча алат?</a:t>
            </a:r>
            <a:endParaRPr lang="en-GB" sz="1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5A5512A-7F6C-4714-A44D-AF19DDE27656}"/>
              </a:ext>
            </a:extLst>
          </p:cNvPr>
          <p:cNvSpPr txBox="1"/>
          <p:nvPr/>
        </p:nvSpPr>
        <p:spPr>
          <a:xfrm>
            <a:off x="4018936" y="2105963"/>
            <a:ext cx="187545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3,75сомго 10 калем</a:t>
            </a:r>
          </a:p>
          <a:p>
            <a:pPr algn="ctr"/>
            <a:r>
              <a:rPr lang="ru-RU" sz="1400" dirty="0"/>
              <a:t>45т үчүн 1 калем</a:t>
            </a:r>
          </a:p>
          <a:p>
            <a:pPr algn="ctr"/>
            <a:r>
              <a:rPr lang="ru-RU" sz="1400" dirty="0"/>
              <a:t>алса болот.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23 калем канча турат?</a:t>
            </a:r>
            <a:endParaRPr lang="en-GB" sz="1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8752170-75E5-4D7D-80CD-0D1F4ECDB23E}"/>
              </a:ext>
            </a:extLst>
          </p:cNvPr>
          <p:cNvSpPr txBox="1"/>
          <p:nvPr/>
        </p:nvSpPr>
        <p:spPr>
          <a:xfrm>
            <a:off x="4010698" y="3840978"/>
            <a:ext cx="186262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4,50сомго 8 бургер</a:t>
            </a:r>
          </a:p>
          <a:p>
            <a:pPr algn="ctr"/>
            <a:r>
              <a:rPr lang="ru-RU" sz="1400" dirty="0"/>
              <a:t>3,54сомго 24 булочка </a:t>
            </a:r>
          </a:p>
          <a:p>
            <a:pPr algn="ctr"/>
            <a:r>
              <a:rPr lang="ru-RU" sz="1400" dirty="0"/>
              <a:t>алса болот.</a:t>
            </a:r>
          </a:p>
          <a:p>
            <a:pPr algn="ctr"/>
            <a:r>
              <a:rPr lang="ru-RU" sz="1400" dirty="0"/>
              <a:t>24 толук гамбургер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A9AB747-72F7-4A64-BABF-CE4E36F6CC5D}"/>
              </a:ext>
            </a:extLst>
          </p:cNvPr>
          <p:cNvSpPr txBox="1"/>
          <p:nvPr/>
        </p:nvSpPr>
        <p:spPr>
          <a:xfrm>
            <a:off x="3923975" y="5470488"/>
            <a:ext cx="20595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7,55с-го 20 транспортир</a:t>
            </a:r>
          </a:p>
          <a:p>
            <a:pPr algn="ctr"/>
            <a:r>
              <a:rPr lang="ru-RU" sz="1400" dirty="0"/>
              <a:t>,95с-го 10 транспортир</a:t>
            </a:r>
          </a:p>
          <a:p>
            <a:pPr algn="ctr"/>
            <a:r>
              <a:rPr lang="ru-RU" sz="1400" dirty="0"/>
              <a:t>45т-га 1 транспортир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36 транспортир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073505B-B89E-433C-815D-BE20AF45718E}"/>
              </a:ext>
            </a:extLst>
          </p:cNvPr>
          <p:cNvSpPr txBox="1"/>
          <p:nvPr/>
        </p:nvSpPr>
        <p:spPr>
          <a:xfrm>
            <a:off x="5868598" y="3682414"/>
            <a:ext cx="21276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4,24 с-го 20 карандаш,</a:t>
            </a:r>
          </a:p>
          <a:p>
            <a:pPr algn="ctr"/>
            <a:r>
              <a:rPr lang="ky-KG" sz="1400" dirty="0"/>
              <a:t>ЖЕ 3,20с-го 10 карандаш </a:t>
            </a:r>
          </a:p>
          <a:p>
            <a:pPr algn="ctr"/>
            <a:r>
              <a:rPr lang="ky-KG" sz="1400" dirty="0"/>
              <a:t>2 таңгак сатып алсаңыз, </a:t>
            </a:r>
          </a:p>
          <a:p>
            <a:pPr algn="ctr"/>
            <a:r>
              <a:rPr lang="ky-KG" sz="1400" dirty="0"/>
              <a:t>1 таңгак бекер!</a:t>
            </a:r>
          </a:p>
          <a:p>
            <a:pPr algn="ctr"/>
            <a:r>
              <a:rPr lang="ky-KG" sz="1400" dirty="0"/>
              <a:t>120 калемдин эң арзан </a:t>
            </a:r>
          </a:p>
          <a:p>
            <a:pPr algn="ctr"/>
            <a:r>
              <a:rPr lang="ky-KG" sz="1400" dirty="0"/>
              <a:t>баасы канча?</a:t>
            </a:r>
            <a:endParaRPr lang="en-GB" sz="14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A9D14C9-704D-4912-B553-1B762FCBF4E9}"/>
              </a:ext>
            </a:extLst>
          </p:cNvPr>
          <p:cNvSpPr txBox="1"/>
          <p:nvPr/>
        </p:nvSpPr>
        <p:spPr>
          <a:xfrm>
            <a:off x="8029235" y="3743527"/>
            <a:ext cx="188744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Чоңдорго билет: 7,65с</a:t>
            </a:r>
          </a:p>
          <a:p>
            <a:pPr algn="ctr"/>
            <a:r>
              <a:rPr lang="ru-RU" sz="1400" dirty="0"/>
              <a:t>Балдар билети: 5,45с</a:t>
            </a:r>
          </a:p>
          <a:p>
            <a:pPr algn="ctr"/>
            <a:r>
              <a:rPr lang="ru-RU" sz="1400" dirty="0"/>
              <a:t>1 Чоң жана 3 Бала </a:t>
            </a:r>
          </a:p>
          <a:p>
            <a:pPr algn="ctr"/>
            <a:r>
              <a:rPr lang="ru-RU" sz="1400" dirty="0"/>
              <a:t>билет =  23с</a:t>
            </a:r>
          </a:p>
          <a:p>
            <a:pPr algn="ctr"/>
            <a:r>
              <a:rPr lang="ru-RU" sz="1400" dirty="0"/>
              <a:t>3 чоң киши жана 14 </a:t>
            </a:r>
          </a:p>
          <a:p>
            <a:pPr algn="ctr"/>
            <a:r>
              <a:rPr lang="ru-RU" sz="1400" dirty="0"/>
              <a:t>бала канча турат?</a:t>
            </a:r>
            <a:endParaRPr lang="en-GB" sz="1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E61C039-D736-46A3-A94F-57426C0BEDC2}"/>
              </a:ext>
            </a:extLst>
          </p:cNvPr>
          <p:cNvSpPr txBox="1"/>
          <p:nvPr/>
        </p:nvSpPr>
        <p:spPr>
          <a:xfrm>
            <a:off x="2003954" y="397191"/>
            <a:ext cx="19698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Даку ар бири 7т болгон</a:t>
            </a:r>
          </a:p>
          <a:p>
            <a:pPr algn="ctr"/>
            <a:r>
              <a:rPr lang="ru-RU" sz="1400" dirty="0"/>
              <a:t> 43 таттуу сатып алат.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Баарынын баасы</a:t>
            </a:r>
          </a:p>
          <a:p>
            <a:pPr algn="ctr"/>
            <a:r>
              <a:rPr lang="ru-RU" sz="1400" dirty="0"/>
              <a:t> канча болот?</a:t>
            </a:r>
            <a:endParaRPr lang="en-GB" sz="14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86CAE7C-32EC-4B5F-9698-6E0B705F3A0A}"/>
              </a:ext>
            </a:extLst>
          </p:cNvPr>
          <p:cNvSpPr txBox="1"/>
          <p:nvPr/>
        </p:nvSpPr>
        <p:spPr>
          <a:xfrm>
            <a:off x="-97845" y="2021125"/>
            <a:ext cx="21505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Маку ар бири 21т </a:t>
            </a:r>
            <a:r>
              <a:rPr lang="ru-RU" sz="1400" dirty="0"/>
              <a:t>болгон</a:t>
            </a:r>
            <a:endParaRPr lang="ky-KG" sz="1400" dirty="0"/>
          </a:p>
          <a:p>
            <a:pPr algn="ctr"/>
            <a:r>
              <a:rPr lang="ky-KG" sz="1400" dirty="0"/>
              <a:t> 32 өчүргүч жана ар бири </a:t>
            </a:r>
          </a:p>
          <a:p>
            <a:pPr algn="ctr"/>
            <a:r>
              <a:rPr lang="ky-KG" sz="1400" dirty="0"/>
              <a:t>13т </a:t>
            </a:r>
            <a:r>
              <a:rPr lang="ru-RU" sz="1400" dirty="0"/>
              <a:t>болгон</a:t>
            </a:r>
            <a:r>
              <a:rPr lang="ky-KG" sz="1400" dirty="0"/>
              <a:t> 8 сызгыч</a:t>
            </a:r>
          </a:p>
          <a:p>
            <a:pPr algn="ctr"/>
            <a:r>
              <a:rPr lang="ky-KG" sz="1400" dirty="0"/>
              <a:t> сатып алат.</a:t>
            </a:r>
            <a:endParaRPr lang="en-GB" sz="1100" dirty="0"/>
          </a:p>
          <a:p>
            <a:pPr algn="ctr"/>
            <a:r>
              <a:rPr lang="ky-KG" sz="1400" dirty="0"/>
              <a:t>Ал жалпысына</a:t>
            </a:r>
          </a:p>
          <a:p>
            <a:pPr algn="ctr"/>
            <a:r>
              <a:rPr lang="ky-KG" sz="1400" dirty="0"/>
              <a:t> канча акча коротот?</a:t>
            </a:r>
            <a:endParaRPr lang="en-GB" sz="14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4FA9272-6A47-419D-B845-B709943892B4}"/>
              </a:ext>
            </a:extLst>
          </p:cNvPr>
          <p:cNvSpPr txBox="1"/>
          <p:nvPr/>
        </p:nvSpPr>
        <p:spPr>
          <a:xfrm>
            <a:off x="7928179" y="269697"/>
            <a:ext cx="208210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Саку ар бири 34т </a:t>
            </a:r>
            <a:r>
              <a:rPr lang="ru-RU" sz="1400" dirty="0"/>
              <a:t>болгон</a:t>
            </a:r>
            <a:r>
              <a:rPr lang="ky-KG" sz="1400" dirty="0"/>
              <a:t> </a:t>
            </a:r>
          </a:p>
          <a:p>
            <a:pPr algn="ctr"/>
            <a:r>
              <a:rPr lang="ky-KG" sz="1400" dirty="0"/>
              <a:t>56 магнит жана ар бири </a:t>
            </a:r>
          </a:p>
          <a:p>
            <a:pPr algn="ctr"/>
            <a:r>
              <a:rPr lang="ky-KG" sz="1400" dirty="0"/>
              <a:t>23т </a:t>
            </a:r>
            <a:r>
              <a:rPr lang="ru-RU" sz="1400" dirty="0"/>
              <a:t>болгон</a:t>
            </a:r>
            <a:r>
              <a:rPr lang="ky-KG" sz="1400" dirty="0"/>
              <a:t> 17 </a:t>
            </a:r>
          </a:p>
          <a:p>
            <a:pPr algn="ctr"/>
            <a:r>
              <a:rPr lang="ky-KG" sz="1400" dirty="0"/>
              <a:t>бейджик сатып алат.</a:t>
            </a:r>
          </a:p>
          <a:p>
            <a:pPr algn="ctr"/>
            <a:r>
              <a:rPr lang="ky-KG" sz="1400" dirty="0"/>
              <a:t>Ал жалпысына канча </a:t>
            </a:r>
          </a:p>
          <a:p>
            <a:pPr algn="ctr"/>
            <a:r>
              <a:rPr lang="ky-KG" sz="1400" dirty="0"/>
              <a:t>акча коротот?</a:t>
            </a:r>
            <a:endParaRPr lang="en-GB" sz="14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307D0DA-3548-46BF-854E-BD463FC3AD83}"/>
              </a:ext>
            </a:extLst>
          </p:cNvPr>
          <p:cNvSpPr txBox="1"/>
          <p:nvPr/>
        </p:nvSpPr>
        <p:spPr>
          <a:xfrm>
            <a:off x="6083495" y="2022883"/>
            <a:ext cx="182941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Маке 13 алманын ар</a:t>
            </a:r>
          </a:p>
          <a:p>
            <a:pPr algn="ctr"/>
            <a:r>
              <a:rPr lang="ky-KG" sz="1400" dirty="0"/>
              <a:t> бирин 56 тыйындан </a:t>
            </a:r>
          </a:p>
          <a:p>
            <a:pPr algn="ctr"/>
            <a:r>
              <a:rPr lang="ky-KG" sz="1400" dirty="0"/>
              <a:t>сатып алат.</a:t>
            </a:r>
          </a:p>
          <a:p>
            <a:pPr algn="ctr"/>
            <a:r>
              <a:rPr lang="ky-KG" sz="1400" dirty="0"/>
              <a:t>Ал 20 соидон канча</a:t>
            </a:r>
          </a:p>
          <a:p>
            <a:pPr algn="ctr"/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кайтарым</a:t>
            </a:r>
            <a:r>
              <a:rPr lang="ky-KG" sz="1400" dirty="0"/>
              <a:t> акча алат?</a:t>
            </a:r>
            <a:endParaRPr lang="en-GB" sz="1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48C6DED-D88E-404B-837A-57FBABF90439}"/>
              </a:ext>
            </a:extLst>
          </p:cNvPr>
          <p:cNvSpPr txBox="1"/>
          <p:nvPr/>
        </p:nvSpPr>
        <p:spPr>
          <a:xfrm>
            <a:off x="5832990" y="5437434"/>
            <a:ext cx="220695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5,43 с-го 30 карандаш</a:t>
            </a:r>
          </a:p>
          <a:p>
            <a:pPr algn="ctr"/>
            <a:r>
              <a:rPr lang="ky-KG" sz="1400" dirty="0"/>
              <a:t>ЖЕ,4,62 с-го  10 карандаш</a:t>
            </a:r>
          </a:p>
          <a:p>
            <a:pPr algn="ctr"/>
            <a:r>
              <a:rPr lang="ky-KG" sz="1400" dirty="0"/>
              <a:t>5 таңгак сатып алсаңыз,</a:t>
            </a:r>
          </a:p>
          <a:p>
            <a:pPr algn="ctr"/>
            <a:r>
              <a:rPr lang="ky-KG" sz="1400" dirty="0"/>
              <a:t> 1 таңгак бекер аласыз!</a:t>
            </a:r>
          </a:p>
          <a:p>
            <a:pPr algn="ctr"/>
            <a:r>
              <a:rPr lang="ky-KG" sz="1400" dirty="0"/>
              <a:t>180 карандаштын эң</a:t>
            </a:r>
          </a:p>
          <a:p>
            <a:pPr algn="ctr"/>
            <a:r>
              <a:rPr lang="ky-KG" sz="1400" dirty="0"/>
              <a:t> арзаны  баасы канчв?</a:t>
            </a:r>
            <a:endParaRPr lang="en-GB" sz="14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E38063-1545-42D0-AE35-558CFE4D98F8}"/>
              </a:ext>
            </a:extLst>
          </p:cNvPr>
          <p:cNvSpPr txBox="1"/>
          <p:nvPr/>
        </p:nvSpPr>
        <p:spPr>
          <a:xfrm>
            <a:off x="7954033" y="2006167"/>
            <a:ext cx="19565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Чоңдорго билет: 5,23</a:t>
            </a:r>
            <a:r>
              <a:rPr lang="en-US" sz="1400" dirty="0"/>
              <a:t>c</a:t>
            </a:r>
            <a:endParaRPr lang="ru-RU" sz="1400" dirty="0"/>
          </a:p>
          <a:p>
            <a:pPr algn="ctr"/>
            <a:r>
              <a:rPr lang="ru-RU" sz="1400" dirty="0"/>
              <a:t>Балдар билети: 4,13</a:t>
            </a:r>
            <a:r>
              <a:rPr lang="en-US" sz="1400" dirty="0"/>
              <a:t>c</a:t>
            </a:r>
            <a:endParaRPr lang="ru-RU" sz="1400" dirty="0"/>
          </a:p>
          <a:p>
            <a:pPr algn="ctr"/>
            <a:r>
              <a:rPr lang="ru-RU" sz="1400" dirty="0"/>
              <a:t>2 Чоң жана 4 Бал</a:t>
            </a:r>
            <a:r>
              <a:rPr lang="ky-KG" sz="1400" dirty="0"/>
              <a:t>а үчүн</a:t>
            </a:r>
            <a:endParaRPr lang="en-US" sz="1400" dirty="0"/>
          </a:p>
          <a:p>
            <a:pPr algn="ctr"/>
            <a:r>
              <a:rPr lang="ru-RU" sz="1400" dirty="0"/>
              <a:t>билет</a:t>
            </a:r>
            <a:r>
              <a:rPr lang="en-US" sz="1400" dirty="0"/>
              <a:t> </a:t>
            </a:r>
            <a:r>
              <a:rPr lang="ru-RU" sz="1400" dirty="0"/>
              <a:t> = 29</a:t>
            </a:r>
            <a:r>
              <a:rPr lang="en-US" sz="1400" dirty="0"/>
              <a:t> c</a:t>
            </a:r>
            <a:endParaRPr lang="ru-RU" sz="1400" dirty="0"/>
          </a:p>
          <a:p>
            <a:pPr algn="ctr"/>
            <a:r>
              <a:rPr lang="ru-RU" sz="1400" dirty="0"/>
              <a:t>4 чоң киши жана 16 </a:t>
            </a:r>
            <a:endParaRPr lang="en-US" sz="1400" dirty="0"/>
          </a:p>
          <a:p>
            <a:pPr algn="ctr"/>
            <a:r>
              <a:rPr lang="ru-RU" sz="1400" dirty="0"/>
              <a:t>бала канча турат?</a:t>
            </a:r>
            <a:endParaRPr lang="en-GB" sz="14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080116F-279C-4D92-9D83-7B665C8353F7}"/>
              </a:ext>
            </a:extLst>
          </p:cNvPr>
          <p:cNvSpPr txBox="1"/>
          <p:nvPr/>
        </p:nvSpPr>
        <p:spPr>
          <a:xfrm>
            <a:off x="2080604" y="3853483"/>
            <a:ext cx="176939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4,56сомго 20 сызгыч</a:t>
            </a:r>
          </a:p>
          <a:p>
            <a:pPr algn="ctr"/>
            <a:r>
              <a:rPr lang="ky-KG" sz="1400" dirty="0"/>
              <a:t>18тыйынга 1 сызгыч </a:t>
            </a:r>
          </a:p>
          <a:p>
            <a:pPr algn="ctr"/>
            <a:r>
              <a:rPr lang="ky-KG" sz="1400" dirty="0"/>
              <a:t>алса болот.</a:t>
            </a:r>
          </a:p>
          <a:p>
            <a:pPr algn="ctr"/>
            <a:r>
              <a:rPr lang="ky-KG" sz="1400" dirty="0"/>
              <a:t>32 сызгыч </a:t>
            </a:r>
          </a:p>
          <a:p>
            <a:pPr algn="ctr"/>
            <a:r>
              <a:rPr lang="ky-KG" sz="1400" dirty="0"/>
              <a:t>канча турат?</a:t>
            </a:r>
            <a:endParaRPr lang="en-GB" sz="14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112E665-BECB-4FB0-AEF3-6523696AC3C3}"/>
              </a:ext>
            </a:extLst>
          </p:cNvPr>
          <p:cNvSpPr txBox="1"/>
          <p:nvPr/>
        </p:nvSpPr>
        <p:spPr>
          <a:xfrm>
            <a:off x="2047103" y="5507218"/>
            <a:ext cx="18070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3,40сомго  6 шаурма</a:t>
            </a:r>
          </a:p>
          <a:p>
            <a:pPr algn="ctr"/>
            <a:r>
              <a:rPr lang="ru-RU" sz="1400" dirty="0"/>
              <a:t>4,64 сомго 18 калама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32 толук шаурма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4EDB025-F8BD-4A94-AB8E-C8992D3845AC}"/>
              </a:ext>
            </a:extLst>
          </p:cNvPr>
          <p:cNvSpPr txBox="1"/>
          <p:nvPr/>
        </p:nvSpPr>
        <p:spPr>
          <a:xfrm>
            <a:off x="101304" y="3753448"/>
            <a:ext cx="16987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7,55сомго  20 пакет</a:t>
            </a:r>
          </a:p>
          <a:p>
            <a:pPr algn="ctr"/>
            <a:r>
              <a:rPr lang="ru-RU" sz="1400" dirty="0"/>
              <a:t>3,95сотмго 10 пакет</a:t>
            </a:r>
          </a:p>
          <a:p>
            <a:pPr algn="ctr"/>
            <a:r>
              <a:rPr lang="ru-RU" sz="1400" dirty="0"/>
              <a:t>45т-га 1 пакет</a:t>
            </a:r>
          </a:p>
          <a:p>
            <a:pPr algn="ctr"/>
            <a:r>
              <a:rPr lang="ru-RU" sz="1400" dirty="0"/>
              <a:t> алса болот.</a:t>
            </a:r>
          </a:p>
          <a:p>
            <a:pPr algn="ctr"/>
            <a:r>
              <a:rPr lang="ru-RU" sz="1400" dirty="0"/>
              <a:t>42 пакет бадырак </a:t>
            </a:r>
          </a:p>
          <a:p>
            <a:pPr algn="ctr"/>
            <a:r>
              <a:rPr lang="ru-RU" sz="1400" dirty="0"/>
              <a:t>канча турат?</a:t>
            </a:r>
            <a:endParaRPr lang="en-GB" sz="1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387BB38-A45F-4535-99B8-44C372FC9109}"/>
              </a:ext>
            </a:extLst>
          </p:cNvPr>
          <p:cNvSpPr txBox="1"/>
          <p:nvPr/>
        </p:nvSpPr>
        <p:spPr>
          <a:xfrm>
            <a:off x="109415" y="5528083"/>
            <a:ext cx="182941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Тику</a:t>
            </a:r>
            <a:r>
              <a:rPr lang="ru-RU" sz="1400" dirty="0"/>
              <a:t> ар бирин 72 </a:t>
            </a:r>
          </a:p>
          <a:p>
            <a:pPr algn="ctr"/>
            <a:r>
              <a:rPr lang="ru-RU" sz="1400" dirty="0"/>
              <a:t>тыйындан 13 пияз </a:t>
            </a:r>
          </a:p>
          <a:p>
            <a:pPr algn="ctr"/>
            <a:r>
              <a:rPr lang="ru-RU" sz="1400" dirty="0"/>
              <a:t>сатып алат.</a:t>
            </a:r>
          </a:p>
          <a:p>
            <a:pPr algn="ctr"/>
            <a:r>
              <a:rPr lang="ru-RU" sz="1400" dirty="0"/>
              <a:t>Ал 10 сомдон канча</a:t>
            </a:r>
          </a:p>
          <a:p>
            <a:pPr algn="ctr"/>
            <a:r>
              <a:rPr lang="ru-RU" sz="1400" dirty="0"/>
              <a:t> </a:t>
            </a:r>
            <a:r>
              <a:rPr lang="ky-KG" sz="1400" b="0" i="0" dirty="0">
                <a:solidFill>
                  <a:srgbClr val="050505"/>
                </a:solidFill>
                <a:effectLst/>
                <a:highlight>
                  <a:srgbClr val="FFFFFF"/>
                </a:highlight>
                <a:latin typeface="Segoe UI Historic" panose="020B0502040204020203" pitchFamily="34" charset="0"/>
              </a:rPr>
              <a:t>кайтарым </a:t>
            </a:r>
            <a:r>
              <a:rPr lang="ru-RU" sz="1400" dirty="0"/>
              <a:t>акча алат?</a:t>
            </a:r>
            <a:endParaRPr lang="en-GB" sz="1400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F07871D-86E0-8C20-5798-3D17FA502C00}"/>
              </a:ext>
            </a:extLst>
          </p:cNvPr>
          <p:cNvSpPr/>
          <p:nvPr/>
        </p:nvSpPr>
        <p:spPr>
          <a:xfrm rot="2871813">
            <a:off x="1679148" y="1514077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CC59952-F353-9146-F8F7-399130087D55}"/>
              </a:ext>
            </a:extLst>
          </p:cNvPr>
          <p:cNvSpPr/>
          <p:nvPr/>
        </p:nvSpPr>
        <p:spPr>
          <a:xfrm rot="18870226">
            <a:off x="3616386" y="1481838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9CB1C53-6C39-AA03-864E-39AFC7D43F1D}"/>
              </a:ext>
            </a:extLst>
          </p:cNvPr>
          <p:cNvSpPr/>
          <p:nvPr/>
        </p:nvSpPr>
        <p:spPr>
          <a:xfrm rot="8273143">
            <a:off x="5621264" y="1507827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B66D623-65A1-2D16-F170-CC6D9B7D41DE}"/>
              </a:ext>
            </a:extLst>
          </p:cNvPr>
          <p:cNvSpPr/>
          <p:nvPr/>
        </p:nvSpPr>
        <p:spPr>
          <a:xfrm>
            <a:off x="5831963" y="558391"/>
            <a:ext cx="33890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824BDB0-DF16-6488-6805-6FD298D2BEBA}"/>
              </a:ext>
            </a:extLst>
          </p:cNvPr>
          <p:cNvSpPr/>
          <p:nvPr/>
        </p:nvSpPr>
        <p:spPr>
          <a:xfrm rot="5400000">
            <a:off x="4775925" y="3199578"/>
            <a:ext cx="334823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5469BCA-F480-0843-C4AD-FE0AC70385AF}"/>
              </a:ext>
            </a:extLst>
          </p:cNvPr>
          <p:cNvSpPr/>
          <p:nvPr/>
        </p:nvSpPr>
        <p:spPr>
          <a:xfrm rot="5400000">
            <a:off x="4805232" y="4934593"/>
            <a:ext cx="334823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8EE1E22-AB96-1C2C-294D-090EFBDC94B9}"/>
              </a:ext>
            </a:extLst>
          </p:cNvPr>
          <p:cNvSpPr/>
          <p:nvPr/>
        </p:nvSpPr>
        <p:spPr>
          <a:xfrm rot="18870226">
            <a:off x="5615840" y="4983873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AAD75E2-5F03-85F2-483E-6776694497D7}"/>
              </a:ext>
            </a:extLst>
          </p:cNvPr>
          <p:cNvSpPr/>
          <p:nvPr/>
        </p:nvSpPr>
        <p:spPr>
          <a:xfrm>
            <a:off x="7780159" y="4124333"/>
            <a:ext cx="334823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C25CB82-1EC0-3482-A9AF-3FC6183E47EC}"/>
              </a:ext>
            </a:extLst>
          </p:cNvPr>
          <p:cNvSpPr/>
          <p:nvPr/>
        </p:nvSpPr>
        <p:spPr>
          <a:xfrm rot="5400000">
            <a:off x="8809445" y="4977578"/>
            <a:ext cx="334823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80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C1978E-8695-B565-BFEA-F533BCC75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1208" y="1001724"/>
            <a:ext cx="6869058" cy="4866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EE04DD-325F-54AD-582F-6002C93BE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4875" y="1036319"/>
            <a:ext cx="6754333" cy="478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6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8600</TotalTime>
  <Words>1372</Words>
  <Application>Microsoft Office PowerPoint</Application>
  <PresentationFormat>A4 Paper (210x297 mm)</PresentationFormat>
  <Paragraphs>393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Agency FB</vt:lpstr>
      <vt:lpstr>Calibri</vt:lpstr>
      <vt:lpstr>Segoe UI Historic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395</cp:revision>
  <cp:lastPrinted>2024-09-04T17:28:47Z</cp:lastPrinted>
  <dcterms:created xsi:type="dcterms:W3CDTF">2017-01-17T16:57:04Z</dcterms:created>
  <dcterms:modified xsi:type="dcterms:W3CDTF">2024-09-04T17:40:43Z</dcterms:modified>
</cp:coreProperties>
</file>