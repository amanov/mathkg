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24"/>
  </p:notesMasterIdLst>
  <p:sldIdLst>
    <p:sldId id="973" r:id="rId2"/>
    <p:sldId id="974" r:id="rId3"/>
    <p:sldId id="851" r:id="rId4"/>
    <p:sldId id="968" r:id="rId5"/>
    <p:sldId id="952" r:id="rId6"/>
    <p:sldId id="955" r:id="rId7"/>
    <p:sldId id="963" r:id="rId8"/>
    <p:sldId id="948" r:id="rId9"/>
    <p:sldId id="958" r:id="rId10"/>
    <p:sldId id="966" r:id="rId11"/>
    <p:sldId id="949" r:id="rId12"/>
    <p:sldId id="953" r:id="rId13"/>
    <p:sldId id="957" r:id="rId14"/>
    <p:sldId id="967" r:id="rId15"/>
    <p:sldId id="950" r:id="rId16"/>
    <p:sldId id="956" r:id="rId17"/>
    <p:sldId id="951" r:id="rId18"/>
    <p:sldId id="964" r:id="rId19"/>
    <p:sldId id="959" r:id="rId20"/>
    <p:sldId id="965" r:id="rId21"/>
    <p:sldId id="940" r:id="rId22"/>
    <p:sldId id="274" r:id="rId23"/>
  </p:sldIdLst>
  <p:sldSz cx="9906000" cy="6858000" type="A4"/>
  <p:notesSz cx="6669088" cy="9926638"/>
  <p:embeddedFontLst>
    <p:embeddedFont>
      <p:font typeface="Cambria Math" panose="02040503050406030204" pitchFamily="18" charset="0"/>
      <p:regular r:id="rId25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EFF65C9D-388B-42ED-B2FA-402FDA1B6D8E}">
          <p14:sldIdLst>
            <p14:sldId id="973"/>
          </p14:sldIdLst>
        </p14:section>
        <p14:section name="Титулдук слайд" id="{2961A1B4-93AF-4F4E-AF30-C00A3309CCCD}">
          <p14:sldIdLst>
            <p14:sldId id="974"/>
          </p14:sldIdLst>
        </p14:section>
        <p14:section name="Сандарды тандаңыз…" id="{C9905531-21F4-4739-9781-312E283928B4}">
          <p14:sldIdLst>
            <p14:sldId id="851"/>
            <p14:sldId id="968"/>
          </p14:sldIdLst>
        </p14:section>
        <p14:section name="Суроолор" id="{27E8BDD4-AEF9-42D7-8653-0FA4B14A353C}">
          <p14:sldIdLst>
            <p14:sldId id="952"/>
            <p14:sldId id="955"/>
            <p14:sldId id="963"/>
            <p14:sldId id="948"/>
            <p14:sldId id="958"/>
            <p14:sldId id="966"/>
            <p14:sldId id="949"/>
            <p14:sldId id="953"/>
            <p14:sldId id="957"/>
            <p14:sldId id="967"/>
            <p14:sldId id="950"/>
            <p14:sldId id="956"/>
            <p14:sldId id="951"/>
            <p14:sldId id="964"/>
            <p14:sldId id="959"/>
            <p14:sldId id="965"/>
          </p14:sldIdLst>
        </p14:section>
        <p14:section name="Бош торчолор" id="{6E755883-6069-420B-9780-208DEDF6E016}">
          <p14:sldIdLst>
            <p14:sldId id="940"/>
          </p14:sldIdLst>
        </p14:section>
        <p14:section name="Кайтарым байланыш" id="{E81448C1-9E41-464C-A67D-B4FB990DBB5E}">
          <p14:sldIdLst>
            <p14:sldId id="27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FAADC"/>
    <a:srgbClr val="C55A11"/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75" d="100"/>
        <a:sy n="75" d="100"/>
      </p:scale>
      <p:origin x="0" y="-383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18/09/2024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9/18/2024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9/18/2024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9/18/2024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9/18/2024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85571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9/18/2024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  <p:sldLayoutId id="2147483717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6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025EA81-A56A-F313-A57E-1902D826223E}"/>
              </a:ext>
            </a:extLst>
          </p:cNvPr>
          <p:cNvSpPr txBox="1"/>
          <p:nvPr/>
        </p:nvSpPr>
        <p:spPr>
          <a:xfrm>
            <a:off x="430530" y="1361441"/>
            <a:ext cx="8713470" cy="5139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y-KG" sz="2000" dirty="0">
                <a:solidFill>
                  <a:prstClr val="black"/>
                </a:solidFill>
                <a:latin typeface="Calibri" panose="020F0502020204030204"/>
              </a:rPr>
              <a:t>Акы төлөмдөрү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– Бинго</a:t>
            </a:r>
            <a:r>
              <a:rPr lang="ru-RU" sz="2000" dirty="0">
                <a:solidFill>
                  <a:prstClr val="black"/>
                </a:solidFill>
                <a:latin typeface="Calibri" panose="020F0502020204030204"/>
              </a:rPr>
              <a:t>,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жооптору менен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 тордон тогуз жоопту тандап, дептердеги 3х3 чакмакка каалагандай коюшат.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Мугалим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оюн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учурундагы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кыйынчылыкка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жараша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суроолорду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тандаса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болот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Убакыттын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өтүшүнө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жараша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сызык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X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же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(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бардыгы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менен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жеңе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алышат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A5549679-E227-A24B-8160-3267950C6BC5}"/>
              </a:ext>
            </a:extLst>
          </p:cNvPr>
          <p:cNvSpPr txBox="1">
            <a:spLocks/>
          </p:cNvSpPr>
          <p:nvPr/>
        </p:nvSpPr>
        <p:spPr>
          <a:xfrm>
            <a:off x="71120" y="27971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17856292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34A0ED1-3629-4CDD-A58D-B95B3284C69E}"/>
              </a:ext>
            </a:extLst>
          </p:cNvPr>
          <p:cNvGraphicFramePr>
            <a:graphicFrameLocks noGrp="1"/>
          </p:cNvGraphicFramePr>
          <p:nvPr/>
        </p:nvGraphicFramePr>
        <p:xfrm>
          <a:off x="5400040" y="495497"/>
          <a:ext cx="3896361" cy="38963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8787">
                  <a:extLst>
                    <a:ext uri="{9D8B030D-6E8A-4147-A177-3AD203B41FA5}">
                      <a16:colId xmlns:a16="http://schemas.microsoft.com/office/drawing/2014/main" val="115635351"/>
                    </a:ext>
                  </a:extLst>
                </a:gridCol>
                <a:gridCol w="1298787">
                  <a:extLst>
                    <a:ext uri="{9D8B030D-6E8A-4147-A177-3AD203B41FA5}">
                      <a16:colId xmlns:a16="http://schemas.microsoft.com/office/drawing/2014/main" val="2834483198"/>
                    </a:ext>
                  </a:extLst>
                </a:gridCol>
                <a:gridCol w="1298787">
                  <a:extLst>
                    <a:ext uri="{9D8B030D-6E8A-4147-A177-3AD203B41FA5}">
                      <a16:colId xmlns:a16="http://schemas.microsoft.com/office/drawing/2014/main" val="3183003522"/>
                    </a:ext>
                  </a:extLst>
                </a:gridCol>
              </a:tblGrid>
              <a:tr h="1298787"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45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54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2735878"/>
                  </a:ext>
                </a:extLst>
              </a:tr>
              <a:tr h="1298787"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82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37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7044118"/>
                  </a:ext>
                </a:extLst>
              </a:tr>
              <a:tr h="1298787"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76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25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91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527153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A7B2AA45-FF2C-4A34-9A81-5A8EBE133E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0040" y="495497"/>
            <a:ext cx="1328420" cy="13284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5FCF7CF-6A6C-4477-AEEE-930530D464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446367">
            <a:off x="6721372" y="1804985"/>
            <a:ext cx="1189215" cy="118921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A51917A-7ABA-4CF9-9A1E-DE9D9BF533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17761">
            <a:off x="8065365" y="3076658"/>
            <a:ext cx="1328420" cy="13284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A58D772-7203-4047-B730-8A75F50264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17761" flipH="1" flipV="1">
            <a:off x="5322490" y="2932737"/>
            <a:ext cx="1526948" cy="152694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D5FBB59-7545-4187-BFB5-71AAC1644F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70123">
            <a:off x="6753612" y="523758"/>
            <a:ext cx="1189215" cy="1189215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BF76227-595D-492B-8E21-FFB692418519}"/>
              </a:ext>
            </a:extLst>
          </p:cNvPr>
          <p:cNvSpPr/>
          <p:nvPr/>
        </p:nvSpPr>
        <p:spPr>
          <a:xfrm>
            <a:off x="0" y="297064"/>
            <a:ext cx="7221249" cy="264687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600" b="1" i="0" u="none" strike="noStrike" kern="1200" cap="none" spc="0" normalizeH="0" baseline="0" noProof="0" dirty="0">
                <a:ln w="57150"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Бинго</a:t>
            </a:r>
            <a:r>
              <a:rPr kumimoji="0" lang="en-US" sz="16600" b="1" i="0" u="none" strike="noStrike" kern="1200" cap="none" spc="0" normalizeH="0" baseline="0" noProof="0" dirty="0">
                <a:ln w="57150"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!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EE67413-2406-441B-89DC-A1394BD34636}"/>
              </a:ext>
            </a:extLst>
          </p:cNvPr>
          <p:cNvSpPr/>
          <p:nvPr/>
        </p:nvSpPr>
        <p:spPr>
          <a:xfrm>
            <a:off x="-285453" y="4443803"/>
            <a:ext cx="9811954" cy="15696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9600" b="1" i="0" u="none" strike="noStrike" kern="1200" cap="none" spc="0" normalizeH="0" baseline="0" noProof="0" dirty="0">
                <a:ln w="38100"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Акы төлөмдөрү</a:t>
            </a:r>
          </a:p>
        </p:txBody>
      </p:sp>
    </p:spTree>
    <p:extLst>
      <p:ext uri="{BB962C8B-B14F-4D97-AF65-F5344CB8AC3E}">
        <p14:creationId xmlns:p14="http://schemas.microsoft.com/office/powerpoint/2010/main" val="18102149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2627720"/>
              </p:ext>
            </p:extLst>
          </p:nvPr>
        </p:nvGraphicFramePr>
        <p:xfrm>
          <a:off x="292100" y="1544873"/>
          <a:ext cx="9321800" cy="35890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0450">
                  <a:extLst>
                    <a:ext uri="{9D8B030D-6E8A-4147-A177-3AD203B41FA5}">
                      <a16:colId xmlns:a16="http://schemas.microsoft.com/office/drawing/2014/main" val="62045395"/>
                    </a:ext>
                  </a:extLst>
                </a:gridCol>
                <a:gridCol w="2330450">
                  <a:extLst>
                    <a:ext uri="{9D8B030D-6E8A-4147-A177-3AD203B41FA5}">
                      <a16:colId xmlns:a16="http://schemas.microsoft.com/office/drawing/2014/main" val="2161216684"/>
                    </a:ext>
                  </a:extLst>
                </a:gridCol>
                <a:gridCol w="2330450">
                  <a:extLst>
                    <a:ext uri="{9D8B030D-6E8A-4147-A177-3AD203B41FA5}">
                      <a16:colId xmlns:a16="http://schemas.microsoft.com/office/drawing/2014/main" val="2924408573"/>
                    </a:ext>
                  </a:extLst>
                </a:gridCol>
                <a:gridCol w="2330450">
                  <a:extLst>
                    <a:ext uri="{9D8B030D-6E8A-4147-A177-3AD203B41FA5}">
                      <a16:colId xmlns:a16="http://schemas.microsoft.com/office/drawing/2014/main" val="2772295460"/>
                    </a:ext>
                  </a:extLst>
                </a:gridCol>
              </a:tblGrid>
              <a:tr h="89725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7,5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158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9,20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4658278"/>
                  </a:ext>
                </a:extLst>
              </a:tr>
              <a:tr h="89725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400" dirty="0"/>
                        <a:t>344,80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400" dirty="0"/>
                        <a:t>34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400" dirty="0"/>
                        <a:t>50,70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400" dirty="0"/>
                        <a:t>595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0458257"/>
                  </a:ext>
                </a:extLst>
              </a:tr>
              <a:tr h="89725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9,50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456,50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11,56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59,16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2040813"/>
                  </a:ext>
                </a:extLst>
              </a:tr>
              <a:tr h="89725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400" dirty="0"/>
                        <a:t>525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400" dirty="0"/>
                        <a:t>10,80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400" dirty="0"/>
                        <a:t>38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400" dirty="0"/>
                        <a:t>14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8986472"/>
                  </a:ext>
                </a:extLst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726618" y="19616"/>
            <a:ext cx="8452763" cy="110799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6600" b="1" cap="none" spc="0" dirty="0">
                <a:ln w="9525"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</a:rPr>
              <a:t>Сандарды тандаңыз…</a:t>
            </a:r>
            <a:endParaRPr lang="en-US" sz="6600" b="1" cap="none" spc="0" dirty="0">
              <a:ln w="9525">
                <a:solidFill>
                  <a:sysClr val="windowText" lastClr="000000"/>
                </a:solidFill>
              </a:ln>
              <a:solidFill>
                <a:srgbClr val="00B050"/>
              </a:soli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5F6707C-594E-4BE7-9A2A-69EC69C30D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8246953"/>
              </p:ext>
            </p:extLst>
          </p:nvPr>
        </p:nvGraphicFramePr>
        <p:xfrm>
          <a:off x="5530918" y="5786675"/>
          <a:ext cx="879027" cy="879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009">
                  <a:extLst>
                    <a:ext uri="{9D8B030D-6E8A-4147-A177-3AD203B41FA5}">
                      <a16:colId xmlns:a16="http://schemas.microsoft.com/office/drawing/2014/main" val="62045395"/>
                    </a:ext>
                  </a:extLst>
                </a:gridCol>
                <a:gridCol w="293009">
                  <a:extLst>
                    <a:ext uri="{9D8B030D-6E8A-4147-A177-3AD203B41FA5}">
                      <a16:colId xmlns:a16="http://schemas.microsoft.com/office/drawing/2014/main" val="2161216684"/>
                    </a:ext>
                  </a:extLst>
                </a:gridCol>
                <a:gridCol w="293009">
                  <a:extLst>
                    <a:ext uri="{9D8B030D-6E8A-4147-A177-3AD203B41FA5}">
                      <a16:colId xmlns:a16="http://schemas.microsoft.com/office/drawing/2014/main" val="2924408573"/>
                    </a:ext>
                  </a:extLst>
                </a:gridCol>
              </a:tblGrid>
              <a:tr h="2930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4658278"/>
                  </a:ext>
                </a:extLst>
              </a:tr>
              <a:tr h="2930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100" dirty="0"/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100" dirty="0"/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100" dirty="0"/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0458257"/>
                  </a:ext>
                </a:extLst>
              </a:tr>
              <a:tr h="2930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204081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EDEA543-F1EE-4312-B1A0-843C76004B58}"/>
              </a:ext>
            </a:extLst>
          </p:cNvPr>
          <p:cNvSpPr txBox="1"/>
          <p:nvPr/>
        </p:nvSpPr>
        <p:spPr>
          <a:xfrm>
            <a:off x="1353312" y="6041522"/>
            <a:ext cx="40051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Китепке/дептерге 3х3 торчо тартыңыз.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436885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463192"/>
              </p:ext>
            </p:extLst>
          </p:nvPr>
        </p:nvGraphicFramePr>
        <p:xfrm>
          <a:off x="292100" y="1776367"/>
          <a:ext cx="9321800" cy="35890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0450">
                  <a:extLst>
                    <a:ext uri="{9D8B030D-6E8A-4147-A177-3AD203B41FA5}">
                      <a16:colId xmlns:a16="http://schemas.microsoft.com/office/drawing/2014/main" val="62045395"/>
                    </a:ext>
                  </a:extLst>
                </a:gridCol>
                <a:gridCol w="2330450">
                  <a:extLst>
                    <a:ext uri="{9D8B030D-6E8A-4147-A177-3AD203B41FA5}">
                      <a16:colId xmlns:a16="http://schemas.microsoft.com/office/drawing/2014/main" val="2161216684"/>
                    </a:ext>
                  </a:extLst>
                </a:gridCol>
                <a:gridCol w="2330450">
                  <a:extLst>
                    <a:ext uri="{9D8B030D-6E8A-4147-A177-3AD203B41FA5}">
                      <a16:colId xmlns:a16="http://schemas.microsoft.com/office/drawing/2014/main" val="2924408573"/>
                    </a:ext>
                  </a:extLst>
                </a:gridCol>
                <a:gridCol w="2330450">
                  <a:extLst>
                    <a:ext uri="{9D8B030D-6E8A-4147-A177-3AD203B41FA5}">
                      <a16:colId xmlns:a16="http://schemas.microsoft.com/office/drawing/2014/main" val="2772295460"/>
                    </a:ext>
                  </a:extLst>
                </a:gridCol>
              </a:tblGrid>
              <a:tr h="89725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158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4658278"/>
                  </a:ext>
                </a:extLst>
              </a:tr>
              <a:tr h="89725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400" dirty="0"/>
                        <a:t>345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400" dirty="0"/>
                        <a:t>34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400" dirty="0"/>
                        <a:t>51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400" dirty="0"/>
                        <a:t>595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0458257"/>
                  </a:ext>
                </a:extLst>
              </a:tr>
              <a:tr h="89725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457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59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2040813"/>
                  </a:ext>
                </a:extLst>
              </a:tr>
              <a:tr h="89725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400" dirty="0"/>
                        <a:t>525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400" dirty="0"/>
                        <a:t>11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400" dirty="0"/>
                        <a:t>38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400" dirty="0"/>
                        <a:t>14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8986472"/>
                  </a:ext>
                </a:extLst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726618" y="19616"/>
            <a:ext cx="8452763" cy="110799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6600" b="1" cap="none" spc="0" dirty="0">
                <a:ln w="9525"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</a:rPr>
              <a:t>Сандарды тандаңыз…</a:t>
            </a:r>
            <a:endParaRPr lang="en-US" sz="6600" b="1" cap="none" spc="0" dirty="0">
              <a:ln w="9525">
                <a:solidFill>
                  <a:sysClr val="windowText" lastClr="000000"/>
                </a:solidFill>
              </a:ln>
              <a:solidFill>
                <a:srgbClr val="00B050"/>
              </a:soli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5F6707C-594E-4BE7-9A2A-69EC69C30D43}"/>
              </a:ext>
            </a:extLst>
          </p:cNvPr>
          <p:cNvGraphicFramePr>
            <a:graphicFrameLocks noGrp="1"/>
          </p:cNvGraphicFramePr>
          <p:nvPr/>
        </p:nvGraphicFramePr>
        <p:xfrm>
          <a:off x="5530918" y="5786675"/>
          <a:ext cx="879027" cy="879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009">
                  <a:extLst>
                    <a:ext uri="{9D8B030D-6E8A-4147-A177-3AD203B41FA5}">
                      <a16:colId xmlns:a16="http://schemas.microsoft.com/office/drawing/2014/main" val="62045395"/>
                    </a:ext>
                  </a:extLst>
                </a:gridCol>
                <a:gridCol w="293009">
                  <a:extLst>
                    <a:ext uri="{9D8B030D-6E8A-4147-A177-3AD203B41FA5}">
                      <a16:colId xmlns:a16="http://schemas.microsoft.com/office/drawing/2014/main" val="2161216684"/>
                    </a:ext>
                  </a:extLst>
                </a:gridCol>
                <a:gridCol w="293009">
                  <a:extLst>
                    <a:ext uri="{9D8B030D-6E8A-4147-A177-3AD203B41FA5}">
                      <a16:colId xmlns:a16="http://schemas.microsoft.com/office/drawing/2014/main" val="2924408573"/>
                    </a:ext>
                  </a:extLst>
                </a:gridCol>
              </a:tblGrid>
              <a:tr h="2930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4658278"/>
                  </a:ext>
                </a:extLst>
              </a:tr>
              <a:tr h="2930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100" dirty="0"/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100" dirty="0"/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100" dirty="0"/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0458257"/>
                  </a:ext>
                </a:extLst>
              </a:tr>
              <a:tr h="2930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204081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EDEA543-F1EE-4312-B1A0-843C76004B58}"/>
              </a:ext>
            </a:extLst>
          </p:cNvPr>
          <p:cNvSpPr txBox="1"/>
          <p:nvPr/>
        </p:nvSpPr>
        <p:spPr>
          <a:xfrm>
            <a:off x="1525719" y="6014154"/>
            <a:ext cx="40051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Китепке/дептерге 3х3 торчо тартыңыз.</a:t>
            </a:r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34A61D-F151-4C40-B096-A5056758A90F}"/>
              </a:ext>
            </a:extLst>
          </p:cNvPr>
          <p:cNvSpPr txBox="1"/>
          <p:nvPr/>
        </p:nvSpPr>
        <p:spPr>
          <a:xfrm>
            <a:off x="1003553" y="1127612"/>
            <a:ext cx="789889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200" dirty="0"/>
              <a:t>(Эң жакын бүтүн санга чейин тегеректелген)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19572023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F209A2E-23C4-40E7-80AE-923FBD03B1D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solidFill>
            <a:schemeClr val="accent1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1853476" y="2566739"/>
            <a:ext cx="6199069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200" dirty="0"/>
              <a:t>Жаркынай саатына 8,45 </a:t>
            </a:r>
            <a:r>
              <a:rPr lang="en-US" sz="3200" dirty="0"/>
              <a:t>$ </a:t>
            </a:r>
            <a:r>
              <a:rPr lang="ky-KG" sz="3200" dirty="0"/>
              <a:t>табат.</a:t>
            </a:r>
          </a:p>
          <a:p>
            <a:pPr algn="ctr"/>
            <a:endParaRPr lang="ky-KG" sz="3200" dirty="0"/>
          </a:p>
          <a:p>
            <a:pPr algn="ctr"/>
            <a:r>
              <a:rPr lang="ky-KG" sz="3200" dirty="0"/>
              <a:t>Шейшемби күнү ал 6 саат иштеди.</a:t>
            </a:r>
          </a:p>
          <a:p>
            <a:pPr algn="ctr"/>
            <a:endParaRPr lang="ky-KG" sz="3200" dirty="0"/>
          </a:p>
          <a:p>
            <a:pPr algn="ctr"/>
            <a:r>
              <a:rPr lang="ky-KG" sz="3200" dirty="0"/>
              <a:t>Ал канча эмгек акы  алат?</a:t>
            </a:r>
            <a:endParaRPr lang="en-GB" sz="3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BA67B6-5253-4206-9A9A-FD56907077D9}"/>
              </a:ext>
            </a:extLst>
          </p:cNvPr>
          <p:cNvSpPr txBox="1"/>
          <p:nvPr/>
        </p:nvSpPr>
        <p:spPr>
          <a:xfrm>
            <a:off x="865204" y="5309266"/>
            <a:ext cx="588827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y-KG" sz="4800" dirty="0"/>
              <a:t>Эмгек акы = </a:t>
            </a:r>
            <a:r>
              <a:rPr lang="en-GB" sz="4800" dirty="0"/>
              <a:t>6 × 8,45 =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698DB7-0BB2-456B-8D17-B91BAFC2CAB3}"/>
              </a:ext>
            </a:extLst>
          </p:cNvPr>
          <p:cNvSpPr txBox="1"/>
          <p:nvPr/>
        </p:nvSpPr>
        <p:spPr>
          <a:xfrm>
            <a:off x="6668517" y="5309266"/>
            <a:ext cx="190308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/>
              <a:t>50,70</a:t>
            </a:r>
            <a:r>
              <a:rPr lang="en-US" sz="4800" dirty="0"/>
              <a:t>$</a:t>
            </a:r>
            <a:endParaRPr lang="en-GB" sz="48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9F6530AC-01CB-4F3C-8458-8408DD36AE58}"/>
                  </a:ext>
                </a:extLst>
              </p:cNvPr>
              <p:cNvSpPr txBox="1"/>
              <p:nvPr/>
            </p:nvSpPr>
            <p:spPr>
              <a:xfrm>
                <a:off x="4195950" y="203071"/>
                <a:ext cx="527785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ky-KG" sz="2800" dirty="0"/>
                  <a:t>Эмгек акы</a:t>
                </a:r>
                <a14:m>
                  <m:oMath xmlns:m="http://schemas.openxmlformats.org/officeDocument/2006/math"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ky-KG" sz="2800" b="0" i="1" smtClean="0">
                        <a:latin typeface="Cambria Math" panose="02040503050406030204" pitchFamily="18" charset="0"/>
                      </a:rPr>
                      <m:t>Сааты</m:t>
                    </m:r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 ×</m:t>
                    </m:r>
                    <m:r>
                      <a:rPr lang="ky-KG" sz="2800" b="0" i="1" smtClean="0">
                        <a:latin typeface="Cambria Math" panose="02040503050406030204" pitchFamily="18" charset="0"/>
                      </a:rPr>
                      <m:t>Т</m:t>
                    </m:r>
                    <m:r>
                      <a:rPr lang="ky-KG" sz="2800" i="1">
                        <a:latin typeface="Cambria Math" panose="02040503050406030204" pitchFamily="18" charset="0"/>
                      </a:rPr>
                      <m:t>өлөө </m:t>
                    </m:r>
                    <m:r>
                      <a:rPr lang="ky-KG" sz="2800" b="0" i="0" smtClean="0">
                        <a:latin typeface="Cambria Math" panose="02040503050406030204" pitchFamily="18" charset="0"/>
                      </a:rPr>
                      <m:t>Ч</m:t>
                    </m:r>
                    <m:r>
                      <a:rPr lang="ky-KG" sz="2800" b="0" i="0" smtClean="0">
                        <a:latin typeface="Cambria Math" panose="02040503050406030204" pitchFamily="18" charset="0"/>
                      </a:rPr>
                      <m:t>ени</m:t>
                    </m:r>
                  </m:oMath>
                </a14:m>
                <a:endParaRPr lang="en-GB" sz="2800" dirty="0"/>
              </a:p>
            </p:txBody>
          </p:sp>
        </mc:Choice>
        <mc:Fallback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9F6530AC-01CB-4F3C-8458-8408DD36AE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5950" y="203071"/>
                <a:ext cx="5277855" cy="430887"/>
              </a:xfrm>
              <a:prstGeom prst="rect">
                <a:avLst/>
              </a:prstGeom>
              <a:blipFill>
                <a:blip r:embed="rId2"/>
                <a:stretch>
                  <a:fillRect l="-4042" t="-23944" b="-507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2F1EAF23-713C-4D50-8D6B-9C6FA39323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14" y="5878"/>
            <a:ext cx="2543069" cy="222915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A974928-0D36-47D8-823A-DFB26B3AB85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7640" y="5908298"/>
            <a:ext cx="774623" cy="909650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AE0B7990-9E8E-7E7D-F8BF-9DF51510D6D2}"/>
              </a:ext>
            </a:extLst>
          </p:cNvPr>
          <p:cNvGrpSpPr/>
          <p:nvPr/>
        </p:nvGrpSpPr>
        <p:grpSpPr>
          <a:xfrm>
            <a:off x="2809068" y="580961"/>
            <a:ext cx="1869440" cy="1654076"/>
            <a:chOff x="4905278" y="651911"/>
            <a:chExt cx="1869440" cy="1654076"/>
          </a:xfrm>
        </p:grpSpPr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E47095CF-2DFA-22B1-4F1C-A354834E13CF}"/>
                </a:ext>
              </a:extLst>
            </p:cNvPr>
            <p:cNvSpPr/>
            <p:nvPr/>
          </p:nvSpPr>
          <p:spPr>
            <a:xfrm>
              <a:off x="4905278" y="651911"/>
              <a:ext cx="1869440" cy="1654076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950" dirty="0">
                <a:highlight>
                  <a:srgbClr val="000080"/>
                </a:highlight>
              </a:endParaRPr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A6612034-6DA6-CEE7-DF51-ECF842E153F0}"/>
                </a:ext>
              </a:extLst>
            </p:cNvPr>
            <p:cNvCxnSpPr>
              <a:cxnSpLocks/>
              <a:stCxn id="20" idx="1"/>
              <a:endCxn id="20" idx="5"/>
            </p:cNvCxnSpPr>
            <p:nvPr/>
          </p:nvCxnSpPr>
          <p:spPr>
            <a:xfrm>
              <a:off x="5372638" y="1478949"/>
              <a:ext cx="93472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B03F6B2F-9B09-CECA-A5D8-B6C4D3AE430E}"/>
                </a:ext>
              </a:extLst>
            </p:cNvPr>
            <p:cNvCxnSpPr/>
            <p:nvPr/>
          </p:nvCxnSpPr>
          <p:spPr>
            <a:xfrm>
              <a:off x="5839998" y="1478949"/>
              <a:ext cx="0" cy="82703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41B6A990-C919-3A40-6B11-765C656A642B}"/>
                </a:ext>
              </a:extLst>
            </p:cNvPr>
            <p:cNvSpPr txBox="1"/>
            <p:nvPr/>
          </p:nvSpPr>
          <p:spPr>
            <a:xfrm>
              <a:off x="5492018" y="914394"/>
              <a:ext cx="69596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y-KG" sz="2800" b="1" dirty="0"/>
                <a:t>ЭА</a:t>
              </a:r>
              <a:endParaRPr lang="en-US" sz="2400" b="1" dirty="0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AD3DBCA9-6D2C-851C-8C30-CFE2D7F1BDDE}"/>
                </a:ext>
              </a:extLst>
            </p:cNvPr>
            <p:cNvSpPr txBox="1"/>
            <p:nvPr/>
          </p:nvSpPr>
          <p:spPr>
            <a:xfrm>
              <a:off x="5209594" y="1625097"/>
              <a:ext cx="69596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y-KG" sz="2800" b="1" dirty="0"/>
                <a:t>С</a:t>
              </a:r>
              <a:endParaRPr lang="en-US" sz="2400" b="1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7A3560C-9F61-D3C7-245F-37B431CDEA56}"/>
                </a:ext>
              </a:extLst>
            </p:cNvPr>
            <p:cNvSpPr txBox="1"/>
            <p:nvPr/>
          </p:nvSpPr>
          <p:spPr>
            <a:xfrm>
              <a:off x="5839998" y="1632717"/>
              <a:ext cx="63040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y-KG" sz="2800" b="1" dirty="0"/>
                <a:t>ТЧ</a:t>
              </a:r>
              <a:endParaRPr lang="en-US" sz="24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36946498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2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AC71874C-E2AC-446F-BE1D-C757A9F2D10A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BA67B6-5253-4206-9A9A-FD56907077D9}"/>
              </a:ext>
            </a:extLst>
          </p:cNvPr>
          <p:cNvSpPr txBox="1"/>
          <p:nvPr/>
        </p:nvSpPr>
        <p:spPr>
          <a:xfrm>
            <a:off x="1476055" y="5252958"/>
            <a:ext cx="293381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4800" dirty="0"/>
              <a:t>46,80 ÷ 6 =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698DB7-0BB2-456B-8D17-B91BAFC2CAB3}"/>
              </a:ext>
            </a:extLst>
          </p:cNvPr>
          <p:cNvSpPr txBox="1"/>
          <p:nvPr/>
        </p:nvSpPr>
        <p:spPr>
          <a:xfrm>
            <a:off x="4409871" y="5253196"/>
            <a:ext cx="430258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/>
              <a:t>10,80 $ </a:t>
            </a:r>
            <a:r>
              <a:rPr lang="ky-KG" sz="4800" dirty="0"/>
              <a:t>саатына</a:t>
            </a:r>
            <a:endParaRPr lang="en-GB" sz="48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68BF5ABC-0B6D-42C3-A1B6-E13870CA1B12}"/>
                  </a:ext>
                </a:extLst>
              </p:cNvPr>
              <p:cNvSpPr txBox="1"/>
              <p:nvPr/>
            </p:nvSpPr>
            <p:spPr>
              <a:xfrm>
                <a:off x="5253945" y="381384"/>
                <a:ext cx="4075603" cy="79752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y-KG" sz="2800" i="1">
                          <a:latin typeface="Cambria Math" panose="02040503050406030204" pitchFamily="18" charset="0"/>
                        </a:rPr>
                        <m:t>Т</m:t>
                      </m:r>
                      <m:r>
                        <a:rPr lang="ky-KG" sz="2800" i="1">
                          <a:latin typeface="Cambria Math" panose="02040503050406030204" pitchFamily="18" charset="0"/>
                        </a:rPr>
                        <m:t>өлөө </m:t>
                      </m:r>
                      <m:r>
                        <a:rPr lang="ky-KG" sz="2800">
                          <a:latin typeface="Cambria Math" panose="02040503050406030204" pitchFamily="18" charset="0"/>
                        </a:rPr>
                        <m:t>Чени</m:t>
                      </m:r>
                      <m:r>
                        <a:rPr lang="ky-KG" sz="28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ky-KG" sz="2800" dirty="0"/>
                            <m:t>Эмгек акы</m:t>
                          </m:r>
                        </m:num>
                        <m:den>
                          <m:r>
                            <a:rPr lang="ky-KG" sz="2800" i="1">
                              <a:latin typeface="Cambria Math" panose="02040503050406030204" pitchFamily="18" charset="0"/>
                            </a:rPr>
                            <m:t>Сааты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68BF5ABC-0B6D-42C3-A1B6-E13870CA1B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3945" y="381384"/>
                <a:ext cx="4075603" cy="79752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5C310F02-89ED-48C9-8BEF-F23FC06692DF}"/>
              </a:ext>
            </a:extLst>
          </p:cNvPr>
          <p:cNvSpPr txBox="1"/>
          <p:nvPr/>
        </p:nvSpPr>
        <p:spPr>
          <a:xfrm>
            <a:off x="1512123" y="2816319"/>
            <a:ext cx="6881756" cy="2062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200" dirty="0"/>
              <a:t>Актан 6 саат иштегени үчүн күнүнө </a:t>
            </a:r>
            <a:endParaRPr lang="en-US" sz="3200" dirty="0"/>
          </a:p>
          <a:p>
            <a:pPr algn="ctr"/>
            <a:r>
              <a:rPr lang="ky-KG" sz="3200" dirty="0"/>
              <a:t>64,80 </a:t>
            </a:r>
            <a:r>
              <a:rPr lang="en-US" sz="3200" dirty="0"/>
              <a:t>$</a:t>
            </a:r>
            <a:r>
              <a:rPr lang="ky-KG" sz="3200" dirty="0"/>
              <a:t> алат.</a:t>
            </a:r>
          </a:p>
          <a:p>
            <a:pPr algn="ctr"/>
            <a:endParaRPr lang="ky-KG" sz="3200" dirty="0"/>
          </a:p>
          <a:p>
            <a:pPr algn="ctr"/>
            <a:r>
              <a:rPr lang="ky-KG" sz="3200" dirty="0"/>
              <a:t>Анын бир сааттык эмгек акысы канча?</a:t>
            </a:r>
            <a:endParaRPr lang="en-GB" sz="32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64D3445-CBBA-42FE-A52A-42B6E668D3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971" y="102967"/>
            <a:ext cx="2190845" cy="222915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CA45DFB-F11E-4233-B72C-A9C241DD01C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7640" y="5908298"/>
            <a:ext cx="774623" cy="909650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8900733A-4EB5-7A0B-BEA5-D887A9740B40}"/>
              </a:ext>
            </a:extLst>
          </p:cNvPr>
          <p:cNvGrpSpPr/>
          <p:nvPr/>
        </p:nvGrpSpPr>
        <p:grpSpPr>
          <a:xfrm>
            <a:off x="2828852" y="269907"/>
            <a:ext cx="1869440" cy="1654076"/>
            <a:chOff x="4905278" y="651911"/>
            <a:chExt cx="1869440" cy="1654076"/>
          </a:xfrm>
        </p:grpSpPr>
        <p:sp>
          <p:nvSpPr>
            <p:cNvPr id="15" name="Isosceles Triangle 14">
              <a:extLst>
                <a:ext uri="{FF2B5EF4-FFF2-40B4-BE49-F238E27FC236}">
                  <a16:creationId xmlns:a16="http://schemas.microsoft.com/office/drawing/2014/main" id="{67155216-FE89-89F3-7128-332D1635081D}"/>
                </a:ext>
              </a:extLst>
            </p:cNvPr>
            <p:cNvSpPr/>
            <p:nvPr/>
          </p:nvSpPr>
          <p:spPr>
            <a:xfrm>
              <a:off x="4905278" y="651911"/>
              <a:ext cx="1869440" cy="1654076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950" dirty="0">
                <a:highlight>
                  <a:srgbClr val="000080"/>
                </a:highlight>
              </a:endParaRPr>
            </a:p>
          </p:txBody>
        </p: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A8F7C929-E688-91FA-7673-E6079352EB19}"/>
                </a:ext>
              </a:extLst>
            </p:cNvPr>
            <p:cNvCxnSpPr>
              <a:cxnSpLocks/>
              <a:stCxn id="15" idx="1"/>
              <a:endCxn id="15" idx="5"/>
            </p:cNvCxnSpPr>
            <p:nvPr/>
          </p:nvCxnSpPr>
          <p:spPr>
            <a:xfrm>
              <a:off x="5372638" y="1478949"/>
              <a:ext cx="93472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5C39F2E8-637E-FDD6-0466-2C51C5933BF1}"/>
                </a:ext>
              </a:extLst>
            </p:cNvPr>
            <p:cNvCxnSpPr/>
            <p:nvPr/>
          </p:nvCxnSpPr>
          <p:spPr>
            <a:xfrm>
              <a:off x="5839998" y="1478949"/>
              <a:ext cx="0" cy="82703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1EDD7B0A-4710-89AD-FFA8-9867B918CCB6}"/>
                </a:ext>
              </a:extLst>
            </p:cNvPr>
            <p:cNvSpPr txBox="1"/>
            <p:nvPr/>
          </p:nvSpPr>
          <p:spPr>
            <a:xfrm>
              <a:off x="5492018" y="914394"/>
              <a:ext cx="69596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y-KG" sz="2800" b="1" dirty="0"/>
                <a:t>ЭА</a:t>
              </a:r>
              <a:endParaRPr lang="en-US" sz="2400" b="1" dirty="0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4752E807-1261-8687-CE9B-3061B2116496}"/>
                </a:ext>
              </a:extLst>
            </p:cNvPr>
            <p:cNvSpPr txBox="1"/>
            <p:nvPr/>
          </p:nvSpPr>
          <p:spPr>
            <a:xfrm>
              <a:off x="5209594" y="1625097"/>
              <a:ext cx="69596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y-KG" sz="2800" b="1" dirty="0"/>
                <a:t>С</a:t>
              </a:r>
              <a:endParaRPr lang="en-US" sz="2400" b="1" dirty="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C5352E17-0943-8122-1570-4B308C33A4E8}"/>
                </a:ext>
              </a:extLst>
            </p:cNvPr>
            <p:cNvSpPr txBox="1"/>
            <p:nvPr/>
          </p:nvSpPr>
          <p:spPr>
            <a:xfrm>
              <a:off x="5839998" y="1632717"/>
              <a:ext cx="63040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y-KG" sz="2800" b="1" dirty="0"/>
                <a:t>ТЧ</a:t>
              </a:r>
              <a:endParaRPr lang="en-US" sz="24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10466677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2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BEF428C-1F69-485C-A9FA-AA7EA1E027FB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988157" y="2566739"/>
            <a:ext cx="7929736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200" dirty="0"/>
              <a:t>Карабала айлык акысы саатына 6,50 </a:t>
            </a:r>
            <a:r>
              <a:rPr lang="en-US" sz="3200" dirty="0"/>
              <a:t>$</a:t>
            </a:r>
            <a:r>
              <a:rPr lang="ky-KG" sz="3200" dirty="0"/>
              <a:t> түзөт.</a:t>
            </a:r>
          </a:p>
          <a:p>
            <a:pPr algn="ctr"/>
            <a:endParaRPr lang="ky-KG" sz="3200" dirty="0"/>
          </a:p>
          <a:p>
            <a:pPr algn="ctr"/>
            <a:r>
              <a:rPr lang="ky-KG" sz="3200" dirty="0"/>
              <a:t>Карабала күнүнө 45,50 </a:t>
            </a:r>
            <a:r>
              <a:rPr lang="en-US" sz="3200" dirty="0"/>
              <a:t>$ </a:t>
            </a:r>
            <a:r>
              <a:rPr lang="ky-KG" sz="3200" dirty="0"/>
              <a:t> табат.</a:t>
            </a:r>
          </a:p>
          <a:p>
            <a:pPr algn="ctr"/>
            <a:endParaRPr lang="ky-KG" sz="3200" dirty="0"/>
          </a:p>
          <a:p>
            <a:pPr algn="ctr"/>
            <a:r>
              <a:rPr lang="ky-KG" sz="3200" dirty="0"/>
              <a:t>Ал бир күндө канча саат иштейт?</a:t>
            </a:r>
            <a:endParaRPr lang="en-GB" sz="3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BA67B6-5253-4206-9A9A-FD56907077D9}"/>
              </a:ext>
            </a:extLst>
          </p:cNvPr>
          <p:cNvSpPr txBox="1"/>
          <p:nvPr/>
        </p:nvSpPr>
        <p:spPr>
          <a:xfrm>
            <a:off x="2788206" y="5242679"/>
            <a:ext cx="246573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4800" dirty="0"/>
              <a:t>304 ÷ 8 =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698DB7-0BB2-456B-8D17-B91BAFC2CAB3}"/>
              </a:ext>
            </a:extLst>
          </p:cNvPr>
          <p:cNvSpPr txBox="1"/>
          <p:nvPr/>
        </p:nvSpPr>
        <p:spPr>
          <a:xfrm>
            <a:off x="5423263" y="5242679"/>
            <a:ext cx="172335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/>
              <a:t>7 </a:t>
            </a:r>
            <a:r>
              <a:rPr lang="ky-KG" sz="4800" dirty="0"/>
              <a:t>саат</a:t>
            </a:r>
            <a:endParaRPr lang="en-GB" sz="48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62DF8B1-D9CC-44AC-ABBC-CA4D99926B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954" y="148569"/>
            <a:ext cx="1772880" cy="222916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EFFBC59-A764-4A17-87DB-B57A886064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7640" y="5908298"/>
            <a:ext cx="774623" cy="909650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2E59E2E1-E739-A0AB-4DDC-BB8778037F89}"/>
              </a:ext>
            </a:extLst>
          </p:cNvPr>
          <p:cNvGrpSpPr/>
          <p:nvPr/>
        </p:nvGrpSpPr>
        <p:grpSpPr>
          <a:xfrm>
            <a:off x="2809068" y="580961"/>
            <a:ext cx="1869440" cy="1654076"/>
            <a:chOff x="4905278" y="651911"/>
            <a:chExt cx="1869440" cy="1654076"/>
          </a:xfrm>
        </p:grpSpPr>
        <p:sp>
          <p:nvSpPr>
            <p:cNvPr id="3" name="Isosceles Triangle 2">
              <a:extLst>
                <a:ext uri="{FF2B5EF4-FFF2-40B4-BE49-F238E27FC236}">
                  <a16:creationId xmlns:a16="http://schemas.microsoft.com/office/drawing/2014/main" id="{DD9B2871-BC10-3C8E-B7D0-AC966BCF57F5}"/>
                </a:ext>
              </a:extLst>
            </p:cNvPr>
            <p:cNvSpPr/>
            <p:nvPr/>
          </p:nvSpPr>
          <p:spPr>
            <a:xfrm>
              <a:off x="4905278" y="651911"/>
              <a:ext cx="1869440" cy="1654076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950" dirty="0">
                <a:highlight>
                  <a:srgbClr val="000080"/>
                </a:highlight>
              </a:endParaRPr>
            </a:p>
          </p:txBody>
        </p: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D9C4B518-BA0A-970F-B5F4-CA89341D3C00}"/>
                </a:ext>
              </a:extLst>
            </p:cNvPr>
            <p:cNvCxnSpPr>
              <a:cxnSpLocks/>
              <a:stCxn id="3" idx="1"/>
              <a:endCxn id="3" idx="5"/>
            </p:cNvCxnSpPr>
            <p:nvPr/>
          </p:nvCxnSpPr>
          <p:spPr>
            <a:xfrm>
              <a:off x="5372638" y="1478949"/>
              <a:ext cx="93472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4491E22B-8D12-197D-6DBC-C426BEBEF449}"/>
                </a:ext>
              </a:extLst>
            </p:cNvPr>
            <p:cNvCxnSpPr/>
            <p:nvPr/>
          </p:nvCxnSpPr>
          <p:spPr>
            <a:xfrm>
              <a:off x="5839998" y="1478949"/>
              <a:ext cx="0" cy="82703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4EBCF03-3F90-6DF1-9CB1-BF69D462437B}"/>
                </a:ext>
              </a:extLst>
            </p:cNvPr>
            <p:cNvSpPr txBox="1"/>
            <p:nvPr/>
          </p:nvSpPr>
          <p:spPr>
            <a:xfrm>
              <a:off x="5492018" y="914394"/>
              <a:ext cx="69596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y-KG" sz="2800" b="1" dirty="0"/>
                <a:t>ЭА</a:t>
              </a:r>
              <a:endParaRPr lang="en-US" sz="2400" b="1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B2CDF00-7049-EBCE-5040-A95DB08A39F8}"/>
                </a:ext>
              </a:extLst>
            </p:cNvPr>
            <p:cNvSpPr txBox="1"/>
            <p:nvPr/>
          </p:nvSpPr>
          <p:spPr>
            <a:xfrm>
              <a:off x="5209594" y="1625097"/>
              <a:ext cx="69596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y-KG" sz="2800" b="1" dirty="0"/>
                <a:t>С</a:t>
              </a:r>
              <a:endParaRPr lang="en-US" sz="2400" b="1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EEFD770-9477-CB66-3A33-AF391D5E8C94}"/>
                </a:ext>
              </a:extLst>
            </p:cNvPr>
            <p:cNvSpPr txBox="1"/>
            <p:nvPr/>
          </p:nvSpPr>
          <p:spPr>
            <a:xfrm>
              <a:off x="5839998" y="1632717"/>
              <a:ext cx="63040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y-KG" sz="2800" b="1" dirty="0"/>
                <a:t>ТЧ</a:t>
              </a:r>
              <a:endParaRPr lang="en-US" sz="2400" b="1" dirty="0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F2E4749-9E62-DFDA-2F43-ED5A9AA10ED0}"/>
                  </a:ext>
                </a:extLst>
              </p:cNvPr>
              <p:cNvSpPr txBox="1"/>
              <p:nvPr/>
            </p:nvSpPr>
            <p:spPr>
              <a:xfrm>
                <a:off x="4888905" y="784324"/>
                <a:ext cx="3514552" cy="7973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y-KG" sz="2800" i="1" smtClean="0">
                          <a:latin typeface="Cambria Math" panose="02040503050406030204" pitchFamily="18" charset="0"/>
                        </a:rPr>
                        <m:t>Сааты</m:t>
                      </m:r>
                      <m:r>
                        <a:rPr lang="ky-KG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ky-KG" sz="2800" dirty="0"/>
                            <m:t>Эмгек акы</m:t>
                          </m:r>
                        </m:num>
                        <m:den>
                          <m:r>
                            <a:rPr lang="ky-KG" sz="2800" i="1">
                              <a:latin typeface="Cambria Math" panose="02040503050406030204" pitchFamily="18" charset="0"/>
                            </a:rPr>
                            <m:t>Төлөө </m:t>
                          </m:r>
                          <m:r>
                            <a:rPr lang="ky-KG" sz="2800">
                              <a:latin typeface="Cambria Math" panose="02040503050406030204" pitchFamily="18" charset="0"/>
                            </a:rPr>
                            <m:t>Чени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F2E4749-9E62-DFDA-2F43-ED5A9AA10E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8905" y="784324"/>
                <a:ext cx="3514552" cy="79739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229157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F4E0F59-2ECE-4B48-A3CC-32498F20FD22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51083" y="2566739"/>
            <a:ext cx="9803839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200" dirty="0"/>
              <a:t>Бир жумада Гүлбайра 5 күн бою, күнүнө 8 саат иштейт.</a:t>
            </a:r>
          </a:p>
          <a:p>
            <a:pPr algn="ctr"/>
            <a:endParaRPr lang="ky-KG" sz="3200" dirty="0"/>
          </a:p>
          <a:p>
            <a:pPr algn="ctr"/>
            <a:r>
              <a:rPr lang="ky-KG" sz="3200" dirty="0"/>
              <a:t>Гүлбайра саатына 8,62 </a:t>
            </a:r>
            <a:r>
              <a:rPr lang="en-US" sz="3200" dirty="0"/>
              <a:t>$</a:t>
            </a:r>
            <a:r>
              <a:rPr lang="ky-KG" sz="3200" dirty="0"/>
              <a:t> табат.</a:t>
            </a:r>
          </a:p>
          <a:p>
            <a:pPr algn="ctr"/>
            <a:endParaRPr lang="ky-KG" sz="3200" dirty="0"/>
          </a:p>
          <a:p>
            <a:pPr algn="ctr"/>
            <a:r>
              <a:rPr lang="ky-KG" sz="3200" dirty="0"/>
              <a:t>Ал жумасына канча айлык алат?</a:t>
            </a:r>
            <a:endParaRPr lang="en-GB" sz="3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1AEFE84-AE51-46CF-884C-8CB9892AD5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" y="22860"/>
            <a:ext cx="2543069" cy="222915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EBA67B6-5253-4206-9A9A-FD56907077D9}"/>
              </a:ext>
            </a:extLst>
          </p:cNvPr>
          <p:cNvSpPr txBox="1"/>
          <p:nvPr/>
        </p:nvSpPr>
        <p:spPr>
          <a:xfrm>
            <a:off x="1363136" y="5242679"/>
            <a:ext cx="389080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4800" dirty="0"/>
              <a:t>(8 × 5) × 8,62 =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698DB7-0BB2-456B-8D17-B91BAFC2CAB3}"/>
              </a:ext>
            </a:extLst>
          </p:cNvPr>
          <p:cNvSpPr txBox="1"/>
          <p:nvPr/>
        </p:nvSpPr>
        <p:spPr>
          <a:xfrm>
            <a:off x="5423263" y="5242679"/>
            <a:ext cx="263405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/>
              <a:t>344,80 </a:t>
            </a:r>
            <a:r>
              <a:rPr lang="en-US" sz="4800" dirty="0"/>
              <a:t>$ </a:t>
            </a:r>
            <a:r>
              <a:rPr lang="en-GB" sz="4800" dirty="0"/>
              <a:t> 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53110DE-692B-4D3B-B111-830BF119D9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7640" y="5908298"/>
            <a:ext cx="774623" cy="909650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8DF7AAFE-657D-380D-AB77-34095F6B0247}"/>
              </a:ext>
            </a:extLst>
          </p:cNvPr>
          <p:cNvGrpSpPr/>
          <p:nvPr/>
        </p:nvGrpSpPr>
        <p:grpSpPr>
          <a:xfrm>
            <a:off x="2809068" y="580961"/>
            <a:ext cx="1869440" cy="1654076"/>
            <a:chOff x="4905278" y="651911"/>
            <a:chExt cx="1869440" cy="1654076"/>
          </a:xfrm>
        </p:grpSpPr>
        <p:sp>
          <p:nvSpPr>
            <p:cNvPr id="3" name="Isosceles Triangle 2">
              <a:extLst>
                <a:ext uri="{FF2B5EF4-FFF2-40B4-BE49-F238E27FC236}">
                  <a16:creationId xmlns:a16="http://schemas.microsoft.com/office/drawing/2014/main" id="{B0194806-1C99-99AA-0312-94F96C5ACBDF}"/>
                </a:ext>
              </a:extLst>
            </p:cNvPr>
            <p:cNvSpPr/>
            <p:nvPr/>
          </p:nvSpPr>
          <p:spPr>
            <a:xfrm>
              <a:off x="4905278" y="651911"/>
              <a:ext cx="1869440" cy="1654076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950" dirty="0">
                <a:highlight>
                  <a:srgbClr val="000080"/>
                </a:highlight>
              </a:endParaRPr>
            </a:p>
          </p:txBody>
        </p: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601F9CE2-2237-3F4B-92A2-BE0C0181EDD6}"/>
                </a:ext>
              </a:extLst>
            </p:cNvPr>
            <p:cNvCxnSpPr>
              <a:cxnSpLocks/>
              <a:stCxn id="3" idx="1"/>
              <a:endCxn id="3" idx="5"/>
            </p:cNvCxnSpPr>
            <p:nvPr/>
          </p:nvCxnSpPr>
          <p:spPr>
            <a:xfrm>
              <a:off x="5372638" y="1478949"/>
              <a:ext cx="93472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93D6BCF9-133A-C108-BE34-1488E2EB783A}"/>
                </a:ext>
              </a:extLst>
            </p:cNvPr>
            <p:cNvCxnSpPr/>
            <p:nvPr/>
          </p:nvCxnSpPr>
          <p:spPr>
            <a:xfrm>
              <a:off x="5839998" y="1478949"/>
              <a:ext cx="0" cy="82703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3E00254-E889-85D9-6553-0E5444D48492}"/>
                </a:ext>
              </a:extLst>
            </p:cNvPr>
            <p:cNvSpPr txBox="1"/>
            <p:nvPr/>
          </p:nvSpPr>
          <p:spPr>
            <a:xfrm>
              <a:off x="5492018" y="914394"/>
              <a:ext cx="69596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y-KG" sz="2800" b="1" dirty="0"/>
                <a:t>ЭА</a:t>
              </a:r>
              <a:endParaRPr lang="en-US" sz="2400" b="1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A14994A-9BA6-A898-B158-75F618EEED19}"/>
                </a:ext>
              </a:extLst>
            </p:cNvPr>
            <p:cNvSpPr txBox="1"/>
            <p:nvPr/>
          </p:nvSpPr>
          <p:spPr>
            <a:xfrm>
              <a:off x="5209594" y="1625097"/>
              <a:ext cx="69596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y-KG" sz="2800" b="1" dirty="0"/>
                <a:t>С</a:t>
              </a:r>
              <a:endParaRPr lang="en-US" sz="2400" b="1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29F670E-693D-8440-EE0F-C3AD44631318}"/>
                </a:ext>
              </a:extLst>
            </p:cNvPr>
            <p:cNvSpPr txBox="1"/>
            <p:nvPr/>
          </p:nvSpPr>
          <p:spPr>
            <a:xfrm>
              <a:off x="5839998" y="1632717"/>
              <a:ext cx="63040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y-KG" sz="2800" b="1" dirty="0"/>
                <a:t>ТЧ</a:t>
              </a:r>
              <a:endParaRPr lang="en-US" sz="2400" b="1" dirty="0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51EE4CF-1043-4A99-7D00-C1D2C628F20D}"/>
                  </a:ext>
                </a:extLst>
              </p:cNvPr>
              <p:cNvSpPr txBox="1"/>
              <p:nvPr/>
            </p:nvSpPr>
            <p:spPr>
              <a:xfrm>
                <a:off x="4305786" y="565721"/>
                <a:ext cx="527785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ky-KG" sz="2800" dirty="0"/>
                  <a:t>Эмгек акы</a:t>
                </a:r>
                <a14:m>
                  <m:oMath xmlns:m="http://schemas.openxmlformats.org/officeDocument/2006/math"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ky-KG" sz="2800" b="0" i="1" smtClean="0">
                        <a:latin typeface="Cambria Math" panose="02040503050406030204" pitchFamily="18" charset="0"/>
                      </a:rPr>
                      <m:t>Сааты</m:t>
                    </m:r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 ×</m:t>
                    </m:r>
                    <m:r>
                      <a:rPr lang="ky-KG" sz="2800" b="0" i="1" smtClean="0">
                        <a:latin typeface="Cambria Math" panose="02040503050406030204" pitchFamily="18" charset="0"/>
                      </a:rPr>
                      <m:t>Т</m:t>
                    </m:r>
                    <m:r>
                      <a:rPr lang="ky-KG" sz="2800" i="1">
                        <a:latin typeface="Cambria Math" panose="02040503050406030204" pitchFamily="18" charset="0"/>
                      </a:rPr>
                      <m:t>өлөө </m:t>
                    </m:r>
                    <m:r>
                      <a:rPr lang="ky-KG" sz="2800" b="0" i="0" smtClean="0">
                        <a:latin typeface="Cambria Math" panose="02040503050406030204" pitchFamily="18" charset="0"/>
                      </a:rPr>
                      <m:t>Ч</m:t>
                    </m:r>
                    <m:r>
                      <a:rPr lang="ky-KG" sz="2800" b="0" i="0" smtClean="0">
                        <a:latin typeface="Cambria Math" panose="02040503050406030204" pitchFamily="18" charset="0"/>
                      </a:rPr>
                      <m:t>ени</m:t>
                    </m:r>
                  </m:oMath>
                </a14:m>
                <a:endParaRPr lang="en-GB" sz="2800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51EE4CF-1043-4A99-7D00-C1D2C628F2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5786" y="565721"/>
                <a:ext cx="5277855" cy="430887"/>
              </a:xfrm>
              <a:prstGeom prst="rect">
                <a:avLst/>
              </a:prstGeom>
              <a:blipFill>
                <a:blip r:embed="rId4"/>
                <a:stretch>
                  <a:fillRect l="-4042" t="-24286" b="-5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807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3D7860E-2635-4981-8428-78E3BA99ACDE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solidFill>
            <a:schemeClr val="accent1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CE2DB48-AC2C-4B73-9A07-4417C1878F65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663" y="251137"/>
            <a:ext cx="2000367" cy="191754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EBA67B6-5253-4206-9A9A-FD56907077D9}"/>
              </a:ext>
            </a:extLst>
          </p:cNvPr>
          <p:cNvSpPr txBox="1"/>
          <p:nvPr/>
        </p:nvSpPr>
        <p:spPr>
          <a:xfrm>
            <a:off x="2475620" y="5242679"/>
            <a:ext cx="277832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4800" dirty="0"/>
              <a:t>532 ÷ 38 =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698DB7-0BB2-456B-8D17-B91BAFC2CAB3}"/>
              </a:ext>
            </a:extLst>
          </p:cNvPr>
          <p:cNvSpPr txBox="1"/>
          <p:nvPr/>
        </p:nvSpPr>
        <p:spPr>
          <a:xfrm>
            <a:off x="5423263" y="5242679"/>
            <a:ext cx="352192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/>
              <a:t>14</a:t>
            </a:r>
            <a:r>
              <a:rPr lang="ky-KG" sz="4800" dirty="0"/>
              <a:t> </a:t>
            </a:r>
            <a:r>
              <a:rPr lang="en-US" sz="4800" dirty="0"/>
              <a:t>$ </a:t>
            </a:r>
            <a:r>
              <a:rPr lang="ky-KG" sz="4800" dirty="0"/>
              <a:t>саатына</a:t>
            </a:r>
            <a:endParaRPr lang="en-GB" sz="4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C310F02-89ED-48C9-8BEF-F23FC06692DF}"/>
              </a:ext>
            </a:extLst>
          </p:cNvPr>
          <p:cNvSpPr txBox="1"/>
          <p:nvPr/>
        </p:nvSpPr>
        <p:spPr>
          <a:xfrm>
            <a:off x="1509716" y="2341769"/>
            <a:ext cx="6886565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200" dirty="0"/>
              <a:t>Дүйшөн жумасына 38 саат иштейт.</a:t>
            </a:r>
          </a:p>
          <a:p>
            <a:pPr algn="ctr"/>
            <a:endParaRPr lang="ky-KG" sz="3200" dirty="0"/>
          </a:p>
          <a:p>
            <a:pPr algn="ctr"/>
            <a:r>
              <a:rPr lang="ky-KG" sz="3200" dirty="0"/>
              <a:t>Ал жумасына 532 </a:t>
            </a:r>
            <a:r>
              <a:rPr lang="en-US" sz="3200" dirty="0"/>
              <a:t>$ </a:t>
            </a:r>
            <a:r>
              <a:rPr lang="ky-KG" sz="3200" dirty="0"/>
              <a:t>табат.</a:t>
            </a:r>
          </a:p>
          <a:p>
            <a:pPr algn="ctr"/>
            <a:endParaRPr lang="ky-KG" sz="3200" dirty="0"/>
          </a:p>
          <a:p>
            <a:pPr algn="ctr"/>
            <a:r>
              <a:rPr lang="ky-KG" sz="3200" dirty="0"/>
              <a:t>Анын бир сааттык эмгек акысы канча?</a:t>
            </a:r>
            <a:endParaRPr lang="en-GB" sz="32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F078D81-CEA3-4185-A4DB-03A89BB0ED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7640" y="5908298"/>
            <a:ext cx="774623" cy="90965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4EAF70E-1D0D-4285-8FDF-4855657F51BD}"/>
              </a:ext>
            </a:extLst>
          </p:cNvPr>
          <p:cNvSpPr/>
          <p:nvPr/>
        </p:nvSpPr>
        <p:spPr>
          <a:xfrm>
            <a:off x="2049780" y="1474470"/>
            <a:ext cx="396240" cy="396240"/>
          </a:xfrm>
          <a:prstGeom prst="rect">
            <a:avLst/>
          </a:prstGeom>
          <a:solidFill>
            <a:srgbClr val="8FAADC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5161DB2-B408-35D9-A06F-99ADEF8975C0}"/>
              </a:ext>
            </a:extLst>
          </p:cNvPr>
          <p:cNvGrpSpPr/>
          <p:nvPr/>
        </p:nvGrpSpPr>
        <p:grpSpPr>
          <a:xfrm>
            <a:off x="2656668" y="382869"/>
            <a:ext cx="1869440" cy="1654076"/>
            <a:chOff x="4905278" y="651911"/>
            <a:chExt cx="1869440" cy="1654076"/>
          </a:xfrm>
        </p:grpSpPr>
        <p:sp>
          <p:nvSpPr>
            <p:cNvPr id="4" name="Isosceles Triangle 3">
              <a:extLst>
                <a:ext uri="{FF2B5EF4-FFF2-40B4-BE49-F238E27FC236}">
                  <a16:creationId xmlns:a16="http://schemas.microsoft.com/office/drawing/2014/main" id="{62E01322-6097-DEE4-5231-C521C88A70CE}"/>
                </a:ext>
              </a:extLst>
            </p:cNvPr>
            <p:cNvSpPr/>
            <p:nvPr/>
          </p:nvSpPr>
          <p:spPr>
            <a:xfrm>
              <a:off x="4905278" y="651911"/>
              <a:ext cx="1869440" cy="1654076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950" dirty="0">
                <a:highlight>
                  <a:srgbClr val="000080"/>
                </a:highlight>
              </a:endParaRPr>
            </a:p>
          </p:txBody>
        </p: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0CC34650-98CC-2124-C8DE-A1F835F1B325}"/>
                </a:ext>
              </a:extLst>
            </p:cNvPr>
            <p:cNvCxnSpPr>
              <a:cxnSpLocks/>
              <a:stCxn id="4" idx="1"/>
              <a:endCxn id="4" idx="5"/>
            </p:cNvCxnSpPr>
            <p:nvPr/>
          </p:nvCxnSpPr>
          <p:spPr>
            <a:xfrm>
              <a:off x="5372638" y="1478949"/>
              <a:ext cx="93472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E3E40DF4-1530-75A0-E348-80206118F9CF}"/>
                </a:ext>
              </a:extLst>
            </p:cNvPr>
            <p:cNvCxnSpPr/>
            <p:nvPr/>
          </p:nvCxnSpPr>
          <p:spPr>
            <a:xfrm>
              <a:off x="5839998" y="1478949"/>
              <a:ext cx="0" cy="82703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E671732-0931-BB2B-0704-5B6F6FC5B7DD}"/>
                </a:ext>
              </a:extLst>
            </p:cNvPr>
            <p:cNvSpPr txBox="1"/>
            <p:nvPr/>
          </p:nvSpPr>
          <p:spPr>
            <a:xfrm>
              <a:off x="5492018" y="914394"/>
              <a:ext cx="69596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y-KG" sz="2800" b="1" dirty="0"/>
                <a:t>ЭА</a:t>
              </a:r>
              <a:endParaRPr lang="en-US" sz="2400" b="1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372054B-DBE0-B9DA-407E-A1AEB7676588}"/>
                </a:ext>
              </a:extLst>
            </p:cNvPr>
            <p:cNvSpPr txBox="1"/>
            <p:nvPr/>
          </p:nvSpPr>
          <p:spPr>
            <a:xfrm>
              <a:off x="5209594" y="1625097"/>
              <a:ext cx="69596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y-KG" sz="2800" b="1" dirty="0"/>
                <a:t>С</a:t>
              </a:r>
              <a:endParaRPr lang="en-US" sz="2400" b="1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41729ED-AE87-1DD3-37A9-427B6CF5DC5B}"/>
                </a:ext>
              </a:extLst>
            </p:cNvPr>
            <p:cNvSpPr txBox="1"/>
            <p:nvPr/>
          </p:nvSpPr>
          <p:spPr>
            <a:xfrm>
              <a:off x="5839998" y="1632717"/>
              <a:ext cx="63040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y-KG" sz="2800" b="1" dirty="0"/>
                <a:t>ТЧ</a:t>
              </a:r>
              <a:endParaRPr lang="en-US" sz="2400" b="1" dirty="0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6AF7223-2331-D86C-31C7-4804214ABEE5}"/>
                  </a:ext>
                </a:extLst>
              </p:cNvPr>
              <p:cNvSpPr txBox="1"/>
              <p:nvPr/>
            </p:nvSpPr>
            <p:spPr>
              <a:xfrm>
                <a:off x="4952999" y="683893"/>
                <a:ext cx="4075603" cy="79752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y-KG" sz="2800" i="1">
                          <a:latin typeface="Cambria Math" panose="02040503050406030204" pitchFamily="18" charset="0"/>
                        </a:rPr>
                        <m:t>Т</m:t>
                      </m:r>
                      <m:r>
                        <a:rPr lang="ky-KG" sz="2800" i="1">
                          <a:latin typeface="Cambria Math" panose="02040503050406030204" pitchFamily="18" charset="0"/>
                        </a:rPr>
                        <m:t>өлөө </m:t>
                      </m:r>
                      <m:r>
                        <a:rPr lang="ky-KG" sz="2800">
                          <a:latin typeface="Cambria Math" panose="02040503050406030204" pitchFamily="18" charset="0"/>
                        </a:rPr>
                        <m:t>Чени</m:t>
                      </m:r>
                      <m:r>
                        <a:rPr lang="ky-KG" sz="28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ky-KG" sz="2800" dirty="0"/>
                            <m:t>Эмгек акы</m:t>
                          </m:r>
                        </m:num>
                        <m:den>
                          <m:r>
                            <a:rPr lang="ky-KG" sz="2800" i="1">
                              <a:latin typeface="Cambria Math" panose="02040503050406030204" pitchFamily="18" charset="0"/>
                            </a:rPr>
                            <m:t>Сааты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6AF7223-2331-D86C-31C7-4804214ABE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2999" y="683893"/>
                <a:ext cx="4075603" cy="79752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126563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16BB694C-D24A-4147-B95F-CB5EBCA3C627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1176126" y="2566739"/>
            <a:ext cx="7553799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200" dirty="0"/>
              <a:t>Жумагүл айына 1501</a:t>
            </a:r>
            <a:r>
              <a:rPr lang="en-US" sz="3200" dirty="0"/>
              <a:t> $</a:t>
            </a:r>
            <a:r>
              <a:rPr lang="ky-KG" sz="3200" dirty="0"/>
              <a:t> табат.</a:t>
            </a:r>
          </a:p>
          <a:p>
            <a:pPr algn="ctr"/>
            <a:endParaRPr lang="ky-KG" sz="3200" dirty="0"/>
          </a:p>
          <a:p>
            <a:pPr algn="ctr"/>
            <a:r>
              <a:rPr lang="ky-KG" sz="3200" dirty="0"/>
              <a:t>Жумагүлдүн эмгек акысы, саатына </a:t>
            </a:r>
            <a:r>
              <a:rPr lang="en-US" sz="3200" dirty="0"/>
              <a:t> </a:t>
            </a:r>
            <a:r>
              <a:rPr lang="ky-KG" sz="3200" dirty="0"/>
              <a:t>9,50</a:t>
            </a:r>
            <a:r>
              <a:rPr lang="en-US" sz="3200" dirty="0"/>
              <a:t>$ </a:t>
            </a:r>
            <a:r>
              <a:rPr lang="ky-KG" sz="3200" dirty="0"/>
              <a:t>.</a:t>
            </a:r>
          </a:p>
          <a:p>
            <a:pPr algn="ctr"/>
            <a:endParaRPr lang="ky-KG" sz="3200" dirty="0"/>
          </a:p>
          <a:p>
            <a:pPr algn="ctr"/>
            <a:r>
              <a:rPr lang="ky-KG" sz="3200" dirty="0"/>
              <a:t>Ал ай сайын канча саат иштейт?</a:t>
            </a:r>
            <a:endParaRPr lang="en-GB" sz="3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BA67B6-5253-4206-9A9A-FD56907077D9}"/>
              </a:ext>
            </a:extLst>
          </p:cNvPr>
          <p:cNvSpPr txBox="1"/>
          <p:nvPr/>
        </p:nvSpPr>
        <p:spPr>
          <a:xfrm>
            <a:off x="2007543" y="5242679"/>
            <a:ext cx="324640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4800" dirty="0"/>
              <a:t>1501 ÷ 9,5 =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698DB7-0BB2-456B-8D17-B91BAFC2CAB3}"/>
              </a:ext>
            </a:extLst>
          </p:cNvPr>
          <p:cNvSpPr txBox="1"/>
          <p:nvPr/>
        </p:nvSpPr>
        <p:spPr>
          <a:xfrm>
            <a:off x="5423263" y="5242679"/>
            <a:ext cx="234852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/>
              <a:t>158 </a:t>
            </a:r>
            <a:r>
              <a:rPr lang="ky-KG" sz="4800" dirty="0"/>
              <a:t>саат</a:t>
            </a:r>
            <a:endParaRPr lang="en-GB" sz="48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3513F3F-11EC-49E7-8C86-5E2F7A5910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592" y="258777"/>
            <a:ext cx="1983604" cy="222915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DDB1714-83D3-45A5-93BA-A30E0EB903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7640" y="5908298"/>
            <a:ext cx="774623" cy="909650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1B28B6B8-9417-DED1-471F-EDB3B88A7BFD}"/>
              </a:ext>
            </a:extLst>
          </p:cNvPr>
          <p:cNvGrpSpPr/>
          <p:nvPr/>
        </p:nvGrpSpPr>
        <p:grpSpPr>
          <a:xfrm>
            <a:off x="2809068" y="580961"/>
            <a:ext cx="1869440" cy="1654076"/>
            <a:chOff x="4905278" y="651911"/>
            <a:chExt cx="1869440" cy="1654076"/>
          </a:xfrm>
        </p:grpSpPr>
        <p:sp>
          <p:nvSpPr>
            <p:cNvPr id="3" name="Isosceles Triangle 2">
              <a:extLst>
                <a:ext uri="{FF2B5EF4-FFF2-40B4-BE49-F238E27FC236}">
                  <a16:creationId xmlns:a16="http://schemas.microsoft.com/office/drawing/2014/main" id="{4FE0A667-A97D-7A6A-FCB6-C5D09A117A14}"/>
                </a:ext>
              </a:extLst>
            </p:cNvPr>
            <p:cNvSpPr/>
            <p:nvPr/>
          </p:nvSpPr>
          <p:spPr>
            <a:xfrm>
              <a:off x="4905278" y="651911"/>
              <a:ext cx="1869440" cy="1654076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950" dirty="0">
                <a:highlight>
                  <a:srgbClr val="000080"/>
                </a:highlight>
              </a:endParaRPr>
            </a:p>
          </p:txBody>
        </p: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5A045048-229A-5994-EC7E-B94F355EE71C}"/>
                </a:ext>
              </a:extLst>
            </p:cNvPr>
            <p:cNvCxnSpPr>
              <a:cxnSpLocks/>
              <a:stCxn id="3" idx="1"/>
              <a:endCxn id="3" idx="5"/>
            </p:cNvCxnSpPr>
            <p:nvPr/>
          </p:nvCxnSpPr>
          <p:spPr>
            <a:xfrm>
              <a:off x="5372638" y="1478949"/>
              <a:ext cx="93472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F8988E52-9783-5618-5EE5-91B4BE121BEC}"/>
                </a:ext>
              </a:extLst>
            </p:cNvPr>
            <p:cNvCxnSpPr/>
            <p:nvPr/>
          </p:nvCxnSpPr>
          <p:spPr>
            <a:xfrm>
              <a:off x="5839998" y="1478949"/>
              <a:ext cx="0" cy="82703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BF8AF10-0225-95BA-4871-73403414E5DC}"/>
                </a:ext>
              </a:extLst>
            </p:cNvPr>
            <p:cNvSpPr txBox="1"/>
            <p:nvPr/>
          </p:nvSpPr>
          <p:spPr>
            <a:xfrm>
              <a:off x="5492018" y="914394"/>
              <a:ext cx="69596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y-KG" sz="2800" b="1" dirty="0"/>
                <a:t>ЭА</a:t>
              </a:r>
              <a:endParaRPr lang="en-US" sz="2400" b="1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8683D1A-7590-240F-2516-2EC892B2795D}"/>
                </a:ext>
              </a:extLst>
            </p:cNvPr>
            <p:cNvSpPr txBox="1"/>
            <p:nvPr/>
          </p:nvSpPr>
          <p:spPr>
            <a:xfrm>
              <a:off x="5209594" y="1625097"/>
              <a:ext cx="69596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y-KG" sz="2800" b="1" dirty="0"/>
                <a:t>С</a:t>
              </a:r>
              <a:endParaRPr lang="en-US" sz="2400" b="1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D6ADBF4-E0EB-99DF-682E-BFFCFCF62A8D}"/>
                </a:ext>
              </a:extLst>
            </p:cNvPr>
            <p:cNvSpPr txBox="1"/>
            <p:nvPr/>
          </p:nvSpPr>
          <p:spPr>
            <a:xfrm>
              <a:off x="5839998" y="1632717"/>
              <a:ext cx="63040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y-KG" sz="2800" b="1" dirty="0"/>
                <a:t>ТЧ</a:t>
              </a:r>
              <a:endParaRPr lang="en-US" sz="2400" b="1" dirty="0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21320B9-E0D1-B4C0-7CCF-B4CC44685E79}"/>
                  </a:ext>
                </a:extLst>
              </p:cNvPr>
              <p:cNvSpPr txBox="1"/>
              <p:nvPr/>
            </p:nvSpPr>
            <p:spPr>
              <a:xfrm>
                <a:off x="5271531" y="784324"/>
                <a:ext cx="3514552" cy="7973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y-KG" sz="2800" i="1" smtClean="0">
                          <a:latin typeface="Cambria Math" panose="02040503050406030204" pitchFamily="18" charset="0"/>
                        </a:rPr>
                        <m:t>Сааты</m:t>
                      </m:r>
                      <m:r>
                        <a:rPr lang="ky-KG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ky-KG" sz="2800" dirty="0"/>
                            <m:t>Эмгек акы</m:t>
                          </m:r>
                        </m:num>
                        <m:den>
                          <m:r>
                            <a:rPr lang="ky-KG" sz="2800" i="1">
                              <a:latin typeface="Cambria Math" panose="02040503050406030204" pitchFamily="18" charset="0"/>
                            </a:rPr>
                            <m:t>Төлөө </m:t>
                          </m:r>
                          <m:r>
                            <a:rPr lang="ky-KG" sz="2800">
                              <a:latin typeface="Cambria Math" panose="02040503050406030204" pitchFamily="18" charset="0"/>
                            </a:rPr>
                            <m:t>Чени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21320B9-E0D1-B4C0-7CCF-B4CC44685E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1531" y="784324"/>
                <a:ext cx="3514552" cy="79739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618673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59F7E78-A0FD-4A85-81BE-1C477FC1CF6C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1486859" y="2540614"/>
            <a:ext cx="6932282" cy="2062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200" dirty="0"/>
              <a:t>Жыпара саатына 9,13 доллар табат.</a:t>
            </a:r>
          </a:p>
          <a:p>
            <a:pPr algn="ctr"/>
            <a:endParaRPr lang="ky-KG" sz="3200" dirty="0"/>
          </a:p>
          <a:p>
            <a:pPr algn="ctr"/>
            <a:r>
              <a:rPr lang="ky-KG" sz="3200" dirty="0"/>
              <a:t>Ал 5 күн бою күнүнө 10 саат иштегени </a:t>
            </a:r>
            <a:endParaRPr lang="en-US" sz="3200" dirty="0"/>
          </a:p>
          <a:p>
            <a:pPr algn="ctr"/>
            <a:r>
              <a:rPr lang="ky-KG" sz="3200" dirty="0"/>
              <a:t>үчүн бир жумада канча айлык алат?</a:t>
            </a:r>
            <a:endParaRPr lang="en-GB" sz="3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BA67B6-5253-4206-9A9A-FD56907077D9}"/>
              </a:ext>
            </a:extLst>
          </p:cNvPr>
          <p:cNvSpPr txBox="1"/>
          <p:nvPr/>
        </p:nvSpPr>
        <p:spPr>
          <a:xfrm>
            <a:off x="1050550" y="5242679"/>
            <a:ext cx="420339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4800" dirty="0"/>
              <a:t>(10 × 5) × 9,13 =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698DB7-0BB2-456B-8D17-B91BAFC2CAB3}"/>
              </a:ext>
            </a:extLst>
          </p:cNvPr>
          <p:cNvSpPr txBox="1"/>
          <p:nvPr/>
        </p:nvSpPr>
        <p:spPr>
          <a:xfrm>
            <a:off x="5423263" y="5242679"/>
            <a:ext cx="235513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/>
              <a:t>456,50 $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8B47C6D-BB37-4317-A1C4-06A5BBAE2C48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972" y="83164"/>
            <a:ext cx="2160261" cy="214675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5240761-F817-4A5D-87F4-55637504F1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7640" y="5908298"/>
            <a:ext cx="774623" cy="909650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CA0C3D80-86F4-0887-4AA7-993F811A3BCD}"/>
              </a:ext>
            </a:extLst>
          </p:cNvPr>
          <p:cNvGrpSpPr/>
          <p:nvPr/>
        </p:nvGrpSpPr>
        <p:grpSpPr>
          <a:xfrm>
            <a:off x="2809068" y="580961"/>
            <a:ext cx="1869440" cy="1654076"/>
            <a:chOff x="4905278" y="651911"/>
            <a:chExt cx="1869440" cy="1654076"/>
          </a:xfrm>
        </p:grpSpPr>
        <p:sp>
          <p:nvSpPr>
            <p:cNvPr id="3" name="Isosceles Triangle 2">
              <a:extLst>
                <a:ext uri="{FF2B5EF4-FFF2-40B4-BE49-F238E27FC236}">
                  <a16:creationId xmlns:a16="http://schemas.microsoft.com/office/drawing/2014/main" id="{8CD61CDD-5823-C977-F6E5-22E0899B1207}"/>
                </a:ext>
              </a:extLst>
            </p:cNvPr>
            <p:cNvSpPr/>
            <p:nvPr/>
          </p:nvSpPr>
          <p:spPr>
            <a:xfrm>
              <a:off x="4905278" y="651911"/>
              <a:ext cx="1869440" cy="1654076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950" dirty="0">
                <a:highlight>
                  <a:srgbClr val="000080"/>
                </a:highlight>
              </a:endParaRPr>
            </a:p>
          </p:txBody>
        </p: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BD88C27E-75E8-3C2A-04E8-57C7C8D828D1}"/>
                </a:ext>
              </a:extLst>
            </p:cNvPr>
            <p:cNvCxnSpPr>
              <a:cxnSpLocks/>
              <a:stCxn id="3" idx="1"/>
              <a:endCxn id="3" idx="5"/>
            </p:cNvCxnSpPr>
            <p:nvPr/>
          </p:nvCxnSpPr>
          <p:spPr>
            <a:xfrm>
              <a:off x="5372638" y="1478949"/>
              <a:ext cx="93472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54BA92C6-63FE-DEDB-25A9-60D34D707B94}"/>
                </a:ext>
              </a:extLst>
            </p:cNvPr>
            <p:cNvCxnSpPr/>
            <p:nvPr/>
          </p:nvCxnSpPr>
          <p:spPr>
            <a:xfrm>
              <a:off x="5839998" y="1478949"/>
              <a:ext cx="0" cy="82703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C8933DE-0E09-E06E-8F26-CC1AC7DB95B4}"/>
                </a:ext>
              </a:extLst>
            </p:cNvPr>
            <p:cNvSpPr txBox="1"/>
            <p:nvPr/>
          </p:nvSpPr>
          <p:spPr>
            <a:xfrm>
              <a:off x="5492018" y="914394"/>
              <a:ext cx="69596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y-KG" sz="2800" b="1" dirty="0"/>
                <a:t>ЭА</a:t>
              </a:r>
              <a:endParaRPr lang="en-US" sz="2400" b="1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8CED26C-0797-6C0B-BE60-E07CE0FA2813}"/>
                </a:ext>
              </a:extLst>
            </p:cNvPr>
            <p:cNvSpPr txBox="1"/>
            <p:nvPr/>
          </p:nvSpPr>
          <p:spPr>
            <a:xfrm>
              <a:off x="5209594" y="1625097"/>
              <a:ext cx="69596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y-KG" sz="2800" b="1" dirty="0"/>
                <a:t>С</a:t>
              </a:r>
              <a:endParaRPr lang="en-US" sz="2400" b="1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519F9AD-3C9D-ED91-C94D-27D05E83077A}"/>
                </a:ext>
              </a:extLst>
            </p:cNvPr>
            <p:cNvSpPr txBox="1"/>
            <p:nvPr/>
          </p:nvSpPr>
          <p:spPr>
            <a:xfrm>
              <a:off x="5839998" y="1632717"/>
              <a:ext cx="63040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y-KG" sz="2800" b="1" dirty="0"/>
                <a:t>ТЧ</a:t>
              </a:r>
              <a:endParaRPr lang="en-US" sz="2400" b="1" dirty="0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A11CECA-AA1A-1BB7-49CF-3364B223B0DD}"/>
                  </a:ext>
                </a:extLst>
              </p:cNvPr>
              <p:cNvSpPr txBox="1"/>
              <p:nvPr/>
            </p:nvSpPr>
            <p:spPr>
              <a:xfrm>
                <a:off x="4465808" y="941099"/>
                <a:ext cx="527785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ky-KG" sz="2800" dirty="0"/>
                  <a:t>Эмгек акы</a:t>
                </a:r>
                <a14:m>
                  <m:oMath xmlns:m="http://schemas.openxmlformats.org/officeDocument/2006/math"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ky-KG" sz="2800" b="0" i="1" smtClean="0">
                        <a:latin typeface="Cambria Math" panose="02040503050406030204" pitchFamily="18" charset="0"/>
                      </a:rPr>
                      <m:t>Сааты</m:t>
                    </m:r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 ×</m:t>
                    </m:r>
                    <m:r>
                      <a:rPr lang="ky-KG" sz="2800" b="0" i="1" smtClean="0">
                        <a:latin typeface="Cambria Math" panose="02040503050406030204" pitchFamily="18" charset="0"/>
                      </a:rPr>
                      <m:t>Т</m:t>
                    </m:r>
                    <m:r>
                      <a:rPr lang="ky-KG" sz="2800" i="1">
                        <a:latin typeface="Cambria Math" panose="02040503050406030204" pitchFamily="18" charset="0"/>
                      </a:rPr>
                      <m:t>өлөө </m:t>
                    </m:r>
                    <m:r>
                      <a:rPr lang="ky-KG" sz="2800" b="0" i="0" smtClean="0">
                        <a:latin typeface="Cambria Math" panose="02040503050406030204" pitchFamily="18" charset="0"/>
                      </a:rPr>
                      <m:t>Ч</m:t>
                    </m:r>
                    <m:r>
                      <a:rPr lang="ky-KG" sz="2800" b="0" i="0" smtClean="0">
                        <a:latin typeface="Cambria Math" panose="02040503050406030204" pitchFamily="18" charset="0"/>
                      </a:rPr>
                      <m:t>ени</m:t>
                    </m:r>
                  </m:oMath>
                </a14:m>
                <a:endParaRPr lang="en-GB" sz="2800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A11CECA-AA1A-1BB7-49CF-3364B223B0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5808" y="941099"/>
                <a:ext cx="5277855" cy="430887"/>
              </a:xfrm>
              <a:prstGeom prst="rect">
                <a:avLst/>
              </a:prstGeom>
              <a:blipFill>
                <a:blip r:embed="rId4"/>
                <a:stretch>
                  <a:fillRect l="-4162" t="-23944" b="-507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45985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43F518E-DA94-41EA-AA7A-DAEF2EE21844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350142" y="2355281"/>
            <a:ext cx="9205726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200" dirty="0"/>
              <a:t>Канат шаршемби күнү 8 саат иштейт, </a:t>
            </a:r>
            <a:endParaRPr lang="en-US" sz="3200" dirty="0"/>
          </a:p>
          <a:p>
            <a:pPr algn="ctr"/>
            <a:r>
              <a:rPr lang="ky-KG" sz="3200" dirty="0"/>
              <a:t>Түштө 45 мүнөттүк төлөнбөгөн убакыта тамактанат.</a:t>
            </a:r>
          </a:p>
          <a:p>
            <a:pPr algn="ctr"/>
            <a:endParaRPr lang="ky-KG" sz="3200" dirty="0"/>
          </a:p>
          <a:p>
            <a:pPr algn="ctr"/>
            <a:r>
              <a:rPr lang="ky-KG" sz="3200" dirty="0"/>
              <a:t>Канат саатына 8,15 </a:t>
            </a:r>
            <a:r>
              <a:rPr lang="en-US" sz="3200" dirty="0"/>
              <a:t>$ </a:t>
            </a:r>
            <a:r>
              <a:rPr lang="ky-KG" sz="3200" dirty="0"/>
              <a:t>табат.</a:t>
            </a:r>
          </a:p>
          <a:p>
            <a:pPr algn="ctr"/>
            <a:endParaRPr lang="ky-KG" sz="3200" dirty="0"/>
          </a:p>
          <a:p>
            <a:pPr algn="ctr"/>
            <a:r>
              <a:rPr lang="ky-KG" sz="3200" dirty="0"/>
              <a:t>Ал канча айлык алат?</a:t>
            </a:r>
            <a:endParaRPr lang="en-GB" sz="3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BA67B6-5253-4206-9A9A-FD56907077D9}"/>
              </a:ext>
            </a:extLst>
          </p:cNvPr>
          <p:cNvSpPr txBox="1"/>
          <p:nvPr/>
        </p:nvSpPr>
        <p:spPr>
          <a:xfrm>
            <a:off x="1852052" y="5242679"/>
            <a:ext cx="340189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4800" dirty="0"/>
              <a:t>7,25 × 8,15 =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698DB7-0BB2-456B-8D17-B91BAFC2CAB3}"/>
              </a:ext>
            </a:extLst>
          </p:cNvPr>
          <p:cNvSpPr txBox="1"/>
          <p:nvPr/>
        </p:nvSpPr>
        <p:spPr>
          <a:xfrm>
            <a:off x="5423263" y="5242679"/>
            <a:ext cx="204254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/>
              <a:t>59,16 $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51924D6-8EEB-4953-832E-2D005549D11D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602" y="181811"/>
            <a:ext cx="1804141" cy="206335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F070CB1-C457-4E9D-840A-7363F99128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7640" y="5908298"/>
            <a:ext cx="774623" cy="909650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9898E7C4-79F3-E2F5-773C-DBB00D9577BC}"/>
              </a:ext>
            </a:extLst>
          </p:cNvPr>
          <p:cNvGrpSpPr/>
          <p:nvPr/>
        </p:nvGrpSpPr>
        <p:grpSpPr>
          <a:xfrm>
            <a:off x="2509548" y="263640"/>
            <a:ext cx="1869440" cy="1654076"/>
            <a:chOff x="4905278" y="651911"/>
            <a:chExt cx="1869440" cy="1654076"/>
          </a:xfrm>
        </p:grpSpPr>
        <p:sp>
          <p:nvSpPr>
            <p:cNvPr id="3" name="Isosceles Triangle 2">
              <a:extLst>
                <a:ext uri="{FF2B5EF4-FFF2-40B4-BE49-F238E27FC236}">
                  <a16:creationId xmlns:a16="http://schemas.microsoft.com/office/drawing/2014/main" id="{65FB1A8E-8E85-8B0E-FAC5-E6B9112342CA}"/>
                </a:ext>
              </a:extLst>
            </p:cNvPr>
            <p:cNvSpPr/>
            <p:nvPr/>
          </p:nvSpPr>
          <p:spPr>
            <a:xfrm>
              <a:off x="4905278" y="651911"/>
              <a:ext cx="1869440" cy="1654076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950" dirty="0">
                <a:highlight>
                  <a:srgbClr val="000080"/>
                </a:highlight>
              </a:endParaRPr>
            </a:p>
          </p:txBody>
        </p: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5BA3351A-E814-1F2A-1564-3D4285E051D8}"/>
                </a:ext>
              </a:extLst>
            </p:cNvPr>
            <p:cNvCxnSpPr>
              <a:cxnSpLocks/>
              <a:stCxn id="3" idx="1"/>
              <a:endCxn id="3" idx="5"/>
            </p:cNvCxnSpPr>
            <p:nvPr/>
          </p:nvCxnSpPr>
          <p:spPr>
            <a:xfrm>
              <a:off x="5372638" y="1478949"/>
              <a:ext cx="93472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25E63C13-2351-CC3F-FF47-69961A0C978D}"/>
                </a:ext>
              </a:extLst>
            </p:cNvPr>
            <p:cNvCxnSpPr/>
            <p:nvPr/>
          </p:nvCxnSpPr>
          <p:spPr>
            <a:xfrm>
              <a:off x="5839998" y="1478949"/>
              <a:ext cx="0" cy="82703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688314F-8492-8B06-6426-0A6D326FB9A9}"/>
                </a:ext>
              </a:extLst>
            </p:cNvPr>
            <p:cNvSpPr txBox="1"/>
            <p:nvPr/>
          </p:nvSpPr>
          <p:spPr>
            <a:xfrm>
              <a:off x="5492018" y="914394"/>
              <a:ext cx="69596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y-KG" sz="2800" b="1" dirty="0"/>
                <a:t>ЭА</a:t>
              </a:r>
              <a:endParaRPr lang="en-US" sz="2400" b="1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CE34E7B6-0FF4-C3C0-DD9E-DF1DFF1EF425}"/>
                </a:ext>
              </a:extLst>
            </p:cNvPr>
            <p:cNvSpPr txBox="1"/>
            <p:nvPr/>
          </p:nvSpPr>
          <p:spPr>
            <a:xfrm>
              <a:off x="5209594" y="1625097"/>
              <a:ext cx="69596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y-KG" sz="2800" b="1" dirty="0"/>
                <a:t>С</a:t>
              </a:r>
              <a:endParaRPr lang="en-US" sz="2400" b="1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B76F7A66-431B-5BC1-8CCE-F41FD03AB7D5}"/>
                </a:ext>
              </a:extLst>
            </p:cNvPr>
            <p:cNvSpPr txBox="1"/>
            <p:nvPr/>
          </p:nvSpPr>
          <p:spPr>
            <a:xfrm>
              <a:off x="5839998" y="1632717"/>
              <a:ext cx="63040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y-KG" sz="2800" b="1" dirty="0"/>
                <a:t>ТЧ</a:t>
              </a:r>
              <a:endParaRPr lang="en-US" sz="2400" b="1" dirty="0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CC0DC29-FE13-E20A-B0D6-C0B62F1DD5E3}"/>
                  </a:ext>
                </a:extLst>
              </p:cNvPr>
              <p:cNvSpPr txBox="1"/>
              <p:nvPr/>
            </p:nvSpPr>
            <p:spPr>
              <a:xfrm>
                <a:off x="4374192" y="659791"/>
                <a:ext cx="527785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ky-KG" sz="2800" dirty="0"/>
                  <a:t>Эмгек акы</a:t>
                </a:r>
                <a14:m>
                  <m:oMath xmlns:m="http://schemas.openxmlformats.org/officeDocument/2006/math"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ky-KG" sz="2800" b="0" i="1" smtClean="0">
                        <a:latin typeface="Cambria Math" panose="02040503050406030204" pitchFamily="18" charset="0"/>
                      </a:rPr>
                      <m:t>Сааты</m:t>
                    </m:r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 ×</m:t>
                    </m:r>
                    <m:r>
                      <a:rPr lang="ky-KG" sz="2800" b="0" i="1" smtClean="0">
                        <a:latin typeface="Cambria Math" panose="02040503050406030204" pitchFamily="18" charset="0"/>
                      </a:rPr>
                      <m:t>Т</m:t>
                    </m:r>
                    <m:r>
                      <a:rPr lang="ky-KG" sz="2800" i="1">
                        <a:latin typeface="Cambria Math" panose="02040503050406030204" pitchFamily="18" charset="0"/>
                      </a:rPr>
                      <m:t>өлөө </m:t>
                    </m:r>
                    <m:r>
                      <a:rPr lang="ky-KG" sz="2800" b="0" i="0" smtClean="0">
                        <a:latin typeface="Cambria Math" panose="02040503050406030204" pitchFamily="18" charset="0"/>
                      </a:rPr>
                      <m:t>Ч</m:t>
                    </m:r>
                    <m:r>
                      <a:rPr lang="ky-KG" sz="2800" b="0" i="0" smtClean="0">
                        <a:latin typeface="Cambria Math" panose="02040503050406030204" pitchFamily="18" charset="0"/>
                      </a:rPr>
                      <m:t>ени</m:t>
                    </m:r>
                  </m:oMath>
                </a14:m>
                <a:endParaRPr lang="en-GB" sz="2800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CC0DC29-FE13-E20A-B0D6-C0B62F1DD5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4192" y="659791"/>
                <a:ext cx="5277855" cy="430887"/>
              </a:xfrm>
              <a:prstGeom prst="rect">
                <a:avLst/>
              </a:prstGeom>
              <a:blipFill>
                <a:blip r:embed="rId4"/>
                <a:stretch>
                  <a:fillRect l="-4162" t="-23944" b="-507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130734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718B54F0-8871-4ACE-9578-016288D4DF28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solidFill>
            <a:schemeClr val="accent1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BA67B6-5253-4206-9A9A-FD56907077D9}"/>
              </a:ext>
            </a:extLst>
          </p:cNvPr>
          <p:cNvSpPr txBox="1"/>
          <p:nvPr/>
        </p:nvSpPr>
        <p:spPr>
          <a:xfrm>
            <a:off x="1539466" y="5242679"/>
            <a:ext cx="371447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4800" dirty="0"/>
              <a:t>75,90 ÷ 8,25 =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698DB7-0BB2-456B-8D17-B91BAFC2CAB3}"/>
              </a:ext>
            </a:extLst>
          </p:cNvPr>
          <p:cNvSpPr txBox="1"/>
          <p:nvPr/>
        </p:nvSpPr>
        <p:spPr>
          <a:xfrm>
            <a:off x="5423263" y="5242679"/>
            <a:ext cx="399000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/>
              <a:t>9,20</a:t>
            </a:r>
            <a:r>
              <a:rPr lang="ky-KG" sz="4800" dirty="0"/>
              <a:t> </a:t>
            </a:r>
            <a:r>
              <a:rPr lang="en-US" sz="4800" dirty="0"/>
              <a:t>$ </a:t>
            </a:r>
            <a:r>
              <a:rPr lang="ky-KG" sz="4800" dirty="0"/>
              <a:t>саатына</a:t>
            </a:r>
            <a:endParaRPr lang="en-GB" sz="4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C310F02-89ED-48C9-8BEF-F23FC06692DF}"/>
              </a:ext>
            </a:extLst>
          </p:cNvPr>
          <p:cNvSpPr txBox="1"/>
          <p:nvPr/>
        </p:nvSpPr>
        <p:spPr>
          <a:xfrm>
            <a:off x="327899" y="2375156"/>
            <a:ext cx="9250226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200" dirty="0"/>
              <a:t>Жыпара күнүнө 75,90 доллар табат.</a:t>
            </a:r>
          </a:p>
          <a:p>
            <a:pPr algn="ctr"/>
            <a:endParaRPr lang="ky-KG" sz="3200" dirty="0"/>
          </a:p>
          <a:p>
            <a:pPr algn="ctr"/>
            <a:r>
              <a:rPr lang="ky-KG" sz="3200" dirty="0"/>
              <a:t>Ал 45 мүнөттүк түшкү тыныгуу менен 9 саат иштейт.</a:t>
            </a:r>
          </a:p>
          <a:p>
            <a:pPr algn="ctr"/>
            <a:endParaRPr lang="ky-KG" sz="3200" dirty="0"/>
          </a:p>
          <a:p>
            <a:pPr algn="ctr"/>
            <a:r>
              <a:rPr lang="ky-KG" sz="3200" dirty="0"/>
              <a:t>Анын бир саатына эмгек акысы канча?</a:t>
            </a:r>
            <a:endParaRPr lang="en-GB" sz="32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88B1D1B-E638-49A3-A83C-D1BE4FDE18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" y="22860"/>
            <a:ext cx="2543069" cy="222915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68EF51A-FB77-46AE-9C61-BD36A88E52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7640" y="5908298"/>
            <a:ext cx="774623" cy="909650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BCE76587-87D6-3BED-077E-1A90B81E669A}"/>
              </a:ext>
            </a:extLst>
          </p:cNvPr>
          <p:cNvGrpSpPr/>
          <p:nvPr/>
        </p:nvGrpSpPr>
        <p:grpSpPr>
          <a:xfrm>
            <a:off x="2809068" y="580961"/>
            <a:ext cx="1869440" cy="1654076"/>
            <a:chOff x="4905278" y="651911"/>
            <a:chExt cx="1869440" cy="1654076"/>
          </a:xfrm>
        </p:grpSpPr>
        <p:sp>
          <p:nvSpPr>
            <p:cNvPr id="3" name="Isosceles Triangle 2">
              <a:extLst>
                <a:ext uri="{FF2B5EF4-FFF2-40B4-BE49-F238E27FC236}">
                  <a16:creationId xmlns:a16="http://schemas.microsoft.com/office/drawing/2014/main" id="{3D1501CF-9D88-D2CE-3DAA-634A265EA472}"/>
                </a:ext>
              </a:extLst>
            </p:cNvPr>
            <p:cNvSpPr/>
            <p:nvPr/>
          </p:nvSpPr>
          <p:spPr>
            <a:xfrm>
              <a:off x="4905278" y="651911"/>
              <a:ext cx="1869440" cy="1654076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950" dirty="0">
                <a:highlight>
                  <a:srgbClr val="000080"/>
                </a:highlight>
              </a:endParaRP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D15EECB1-7F4F-A614-5BB6-AB78E4A35943}"/>
                </a:ext>
              </a:extLst>
            </p:cNvPr>
            <p:cNvCxnSpPr>
              <a:cxnSpLocks/>
              <a:stCxn id="3" idx="1"/>
              <a:endCxn id="3" idx="5"/>
            </p:cNvCxnSpPr>
            <p:nvPr/>
          </p:nvCxnSpPr>
          <p:spPr>
            <a:xfrm>
              <a:off x="5372638" y="1478949"/>
              <a:ext cx="93472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98D26191-D37E-9923-8C54-F63DAB4866AC}"/>
                </a:ext>
              </a:extLst>
            </p:cNvPr>
            <p:cNvCxnSpPr/>
            <p:nvPr/>
          </p:nvCxnSpPr>
          <p:spPr>
            <a:xfrm>
              <a:off x="5839998" y="1478949"/>
              <a:ext cx="0" cy="82703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23EBC3A-1390-C0BF-46AB-4B278B258701}"/>
                </a:ext>
              </a:extLst>
            </p:cNvPr>
            <p:cNvSpPr txBox="1"/>
            <p:nvPr/>
          </p:nvSpPr>
          <p:spPr>
            <a:xfrm>
              <a:off x="5492018" y="914394"/>
              <a:ext cx="69596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y-KG" sz="2800" b="1" dirty="0"/>
                <a:t>ЭА</a:t>
              </a:r>
              <a:endParaRPr lang="en-US" sz="2400" b="1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49C46A3-29DA-97C9-B359-3BCA895B5D20}"/>
                </a:ext>
              </a:extLst>
            </p:cNvPr>
            <p:cNvSpPr txBox="1"/>
            <p:nvPr/>
          </p:nvSpPr>
          <p:spPr>
            <a:xfrm>
              <a:off x="5209594" y="1625097"/>
              <a:ext cx="69596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y-KG" sz="2800" b="1" dirty="0"/>
                <a:t>С</a:t>
              </a:r>
              <a:endParaRPr lang="en-US" sz="2400" b="1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EBDD2DA-51E8-12B7-5907-83588DBBD207}"/>
                </a:ext>
              </a:extLst>
            </p:cNvPr>
            <p:cNvSpPr txBox="1"/>
            <p:nvPr/>
          </p:nvSpPr>
          <p:spPr>
            <a:xfrm>
              <a:off x="5839998" y="1632717"/>
              <a:ext cx="63040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y-KG" sz="2800" b="1" dirty="0"/>
                <a:t>ТЧ</a:t>
              </a:r>
              <a:endParaRPr lang="en-US" sz="2400" b="1" dirty="0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1579804-74EB-EB6C-7055-67574D0A1993}"/>
                  </a:ext>
                </a:extLst>
              </p:cNvPr>
              <p:cNvSpPr txBox="1"/>
              <p:nvPr/>
            </p:nvSpPr>
            <p:spPr>
              <a:xfrm>
                <a:off x="4841552" y="784324"/>
                <a:ext cx="4075603" cy="79752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y-KG" sz="2800" i="1">
                          <a:latin typeface="Cambria Math" panose="02040503050406030204" pitchFamily="18" charset="0"/>
                        </a:rPr>
                        <m:t>Т</m:t>
                      </m:r>
                      <m:r>
                        <a:rPr lang="ky-KG" sz="2800" i="1">
                          <a:latin typeface="Cambria Math" panose="02040503050406030204" pitchFamily="18" charset="0"/>
                        </a:rPr>
                        <m:t>өлөө </m:t>
                      </m:r>
                      <m:r>
                        <a:rPr lang="ky-KG" sz="2800">
                          <a:latin typeface="Cambria Math" panose="02040503050406030204" pitchFamily="18" charset="0"/>
                        </a:rPr>
                        <m:t>Чени</m:t>
                      </m:r>
                      <m:r>
                        <a:rPr lang="ky-KG" sz="28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ky-KG" sz="2800" dirty="0"/>
                            <m:t>Эмгек акы</m:t>
                          </m:r>
                        </m:num>
                        <m:den>
                          <m:r>
                            <a:rPr lang="ky-KG" sz="2800" i="1">
                              <a:latin typeface="Cambria Math" panose="02040503050406030204" pitchFamily="18" charset="0"/>
                            </a:rPr>
                            <m:t>Сааты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1579804-74EB-EB6C-7055-67574D0A19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1552" y="784324"/>
                <a:ext cx="4075603" cy="79752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941495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CE988E3-4948-4E80-B0AA-0F76E8A8A2F6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111730" y="2566739"/>
            <a:ext cx="9682587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200" dirty="0"/>
              <a:t>Жакып күнүнө 63,75 доллар табат.</a:t>
            </a:r>
          </a:p>
          <a:p>
            <a:pPr algn="ctr"/>
            <a:endParaRPr lang="ky-KG" sz="3200" dirty="0"/>
          </a:p>
          <a:p>
            <a:pPr algn="ctr"/>
            <a:r>
              <a:rPr lang="ky-KG" sz="3200" dirty="0"/>
              <a:t>Жакыптын айлык акысы саатына 8,50 долларды түзөт.</a:t>
            </a:r>
          </a:p>
          <a:p>
            <a:pPr algn="ctr"/>
            <a:endParaRPr lang="ky-KG" sz="3200" dirty="0"/>
          </a:p>
          <a:p>
            <a:pPr algn="ctr"/>
            <a:r>
              <a:rPr lang="ky-KG" sz="3200" dirty="0"/>
              <a:t>Ал бир күндө канча саат иштейт?</a:t>
            </a:r>
            <a:endParaRPr lang="en-GB" sz="3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BA67B6-5253-4206-9A9A-FD56907077D9}"/>
              </a:ext>
            </a:extLst>
          </p:cNvPr>
          <p:cNvSpPr txBox="1"/>
          <p:nvPr/>
        </p:nvSpPr>
        <p:spPr>
          <a:xfrm>
            <a:off x="1852053" y="5242679"/>
            <a:ext cx="340189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4800" dirty="0"/>
              <a:t>63,75 ÷ 8,5 =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698DB7-0BB2-456B-8D17-B91BAFC2CAB3}"/>
              </a:ext>
            </a:extLst>
          </p:cNvPr>
          <p:cNvSpPr txBox="1"/>
          <p:nvPr/>
        </p:nvSpPr>
        <p:spPr>
          <a:xfrm>
            <a:off x="5423263" y="5242679"/>
            <a:ext cx="219143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/>
              <a:t>7,5 </a:t>
            </a:r>
            <a:r>
              <a:rPr lang="ky-KG" sz="4800" dirty="0"/>
              <a:t>саат</a:t>
            </a:r>
            <a:endParaRPr lang="en-GB" sz="48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AFF7A15-0E31-48E1-9736-40B6FD606E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971" y="102967"/>
            <a:ext cx="2190845" cy="222915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0AD3FC2-35DA-498E-887A-0CF500A8DA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7640" y="5908298"/>
            <a:ext cx="774623" cy="909650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B67E0A6B-2B6E-81E0-5159-94AEB99EFD46}"/>
              </a:ext>
            </a:extLst>
          </p:cNvPr>
          <p:cNvGrpSpPr/>
          <p:nvPr/>
        </p:nvGrpSpPr>
        <p:grpSpPr>
          <a:xfrm>
            <a:off x="2809068" y="491166"/>
            <a:ext cx="1869440" cy="1654076"/>
            <a:chOff x="4905278" y="651911"/>
            <a:chExt cx="1869440" cy="1654076"/>
          </a:xfrm>
        </p:grpSpPr>
        <p:sp>
          <p:nvSpPr>
            <p:cNvPr id="3" name="Isosceles Triangle 2">
              <a:extLst>
                <a:ext uri="{FF2B5EF4-FFF2-40B4-BE49-F238E27FC236}">
                  <a16:creationId xmlns:a16="http://schemas.microsoft.com/office/drawing/2014/main" id="{303AEEBE-6CD5-B79E-B7C3-3F2C3FFE2074}"/>
                </a:ext>
              </a:extLst>
            </p:cNvPr>
            <p:cNvSpPr/>
            <p:nvPr/>
          </p:nvSpPr>
          <p:spPr>
            <a:xfrm>
              <a:off x="4905278" y="651911"/>
              <a:ext cx="1869440" cy="1654076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950" dirty="0">
                <a:highlight>
                  <a:srgbClr val="000080"/>
                </a:highlight>
              </a:endParaRPr>
            </a:p>
          </p:txBody>
        </p: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6F124C9B-0236-0BE0-DF53-631FDF8DC36D}"/>
                </a:ext>
              </a:extLst>
            </p:cNvPr>
            <p:cNvCxnSpPr>
              <a:cxnSpLocks/>
              <a:stCxn id="3" idx="1"/>
              <a:endCxn id="3" idx="5"/>
            </p:cNvCxnSpPr>
            <p:nvPr/>
          </p:nvCxnSpPr>
          <p:spPr>
            <a:xfrm>
              <a:off x="5372638" y="1478949"/>
              <a:ext cx="93472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A229DEEA-58F5-8EF8-87F8-CA8DB9F2C0B9}"/>
                </a:ext>
              </a:extLst>
            </p:cNvPr>
            <p:cNvCxnSpPr/>
            <p:nvPr/>
          </p:nvCxnSpPr>
          <p:spPr>
            <a:xfrm>
              <a:off x="5839998" y="1478949"/>
              <a:ext cx="0" cy="82703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8434D72-749B-DAF4-A44E-BA43A177607A}"/>
                </a:ext>
              </a:extLst>
            </p:cNvPr>
            <p:cNvSpPr txBox="1"/>
            <p:nvPr/>
          </p:nvSpPr>
          <p:spPr>
            <a:xfrm>
              <a:off x="5492018" y="914394"/>
              <a:ext cx="69596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y-KG" sz="2800" b="1" dirty="0"/>
                <a:t>ЭА</a:t>
              </a:r>
              <a:endParaRPr lang="en-US" sz="2400" b="1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462B33A0-AC4C-85C1-024A-830677B7746E}"/>
                </a:ext>
              </a:extLst>
            </p:cNvPr>
            <p:cNvSpPr txBox="1"/>
            <p:nvPr/>
          </p:nvSpPr>
          <p:spPr>
            <a:xfrm>
              <a:off x="5209594" y="1625097"/>
              <a:ext cx="69596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y-KG" sz="2800" b="1" dirty="0"/>
                <a:t>С</a:t>
              </a:r>
              <a:endParaRPr lang="en-US" sz="2400" b="1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71E2627A-D058-6B5F-A5AB-52303A4EDB44}"/>
                </a:ext>
              </a:extLst>
            </p:cNvPr>
            <p:cNvSpPr txBox="1"/>
            <p:nvPr/>
          </p:nvSpPr>
          <p:spPr>
            <a:xfrm>
              <a:off x="5839998" y="1632717"/>
              <a:ext cx="63040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y-KG" sz="2800" b="1" dirty="0"/>
                <a:t>ТЧ</a:t>
              </a:r>
              <a:endParaRPr lang="en-US" sz="2400" b="1" dirty="0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556F515-3EC2-4D4B-78DC-1C06AE6A5CD7}"/>
                  </a:ext>
                </a:extLst>
              </p:cNvPr>
              <p:cNvSpPr txBox="1"/>
              <p:nvPr/>
            </p:nvSpPr>
            <p:spPr>
              <a:xfrm>
                <a:off x="5097760" y="818847"/>
                <a:ext cx="3514552" cy="7973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y-KG" sz="2800" i="1" smtClean="0">
                          <a:latin typeface="Cambria Math" panose="02040503050406030204" pitchFamily="18" charset="0"/>
                        </a:rPr>
                        <m:t>Сааты</m:t>
                      </m:r>
                      <m:r>
                        <a:rPr lang="ky-KG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ky-KG" sz="2800" dirty="0"/>
                            <m:t>Эмгек акы</m:t>
                          </m:r>
                        </m:num>
                        <m:den>
                          <m:r>
                            <a:rPr lang="ky-KG" sz="2800" i="1">
                              <a:latin typeface="Cambria Math" panose="02040503050406030204" pitchFamily="18" charset="0"/>
                            </a:rPr>
                            <m:t>Төлөө </m:t>
                          </m:r>
                          <m:r>
                            <a:rPr lang="ky-KG" sz="2800">
                              <a:latin typeface="Cambria Math" panose="02040503050406030204" pitchFamily="18" charset="0"/>
                            </a:rPr>
                            <m:t>Чени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556F515-3EC2-4D4B-78DC-1C06AE6A5C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7760" y="818847"/>
                <a:ext cx="3514552" cy="79739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94478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0AE1E36-6B23-402C-973A-B46BE506A4C8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A063C6B-3D66-4055-8993-C14ED84632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954" y="148569"/>
            <a:ext cx="1772880" cy="222916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1789665" y="2549322"/>
            <a:ext cx="6326668" cy="2062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200" dirty="0"/>
              <a:t>Карабала</a:t>
            </a:r>
            <a:r>
              <a:rPr lang="ru-RU" sz="3200" dirty="0"/>
              <a:t> саатына 14 доллар табат.</a:t>
            </a:r>
          </a:p>
          <a:p>
            <a:pPr algn="ctr"/>
            <a:endParaRPr lang="ru-RU" sz="3200" dirty="0"/>
          </a:p>
          <a:p>
            <a:pPr algn="ctr"/>
            <a:r>
              <a:rPr lang="ru-RU" sz="3200" dirty="0"/>
              <a:t>Ал 37 жарым саат иштегени үчүн </a:t>
            </a:r>
          </a:p>
          <a:p>
            <a:pPr algn="ctr"/>
            <a:r>
              <a:rPr lang="ru-RU" sz="3200" dirty="0"/>
              <a:t>бир жумада канча айлык алат?</a:t>
            </a:r>
            <a:endParaRPr lang="en-GB" sz="3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BA67B6-5253-4206-9A9A-FD56907077D9}"/>
              </a:ext>
            </a:extLst>
          </p:cNvPr>
          <p:cNvSpPr txBox="1"/>
          <p:nvPr/>
        </p:nvSpPr>
        <p:spPr>
          <a:xfrm>
            <a:off x="2320129" y="5242679"/>
            <a:ext cx="293381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4800" dirty="0"/>
              <a:t>37,5 × 14 =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698DB7-0BB2-456B-8D17-B91BAFC2CAB3}"/>
              </a:ext>
            </a:extLst>
          </p:cNvPr>
          <p:cNvSpPr txBox="1"/>
          <p:nvPr/>
        </p:nvSpPr>
        <p:spPr>
          <a:xfrm>
            <a:off x="5423263" y="5242679"/>
            <a:ext cx="157447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/>
              <a:t>525</a:t>
            </a:r>
            <a:r>
              <a:rPr lang="ky-KG" sz="4800" dirty="0"/>
              <a:t> </a:t>
            </a:r>
            <a:r>
              <a:rPr lang="en-US" sz="4800" dirty="0"/>
              <a:t>$</a:t>
            </a:r>
            <a:endParaRPr lang="en-GB" sz="48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43BECB8-1D9C-4829-B6C4-596777791A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7640" y="5908298"/>
            <a:ext cx="774623" cy="909650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D58A891A-1FB7-CFF0-4E98-52F3B8F22F18}"/>
              </a:ext>
            </a:extLst>
          </p:cNvPr>
          <p:cNvGrpSpPr/>
          <p:nvPr/>
        </p:nvGrpSpPr>
        <p:grpSpPr>
          <a:xfrm>
            <a:off x="2809068" y="580961"/>
            <a:ext cx="1869440" cy="1654076"/>
            <a:chOff x="4905278" y="651911"/>
            <a:chExt cx="1869440" cy="1654076"/>
          </a:xfrm>
        </p:grpSpPr>
        <p:sp>
          <p:nvSpPr>
            <p:cNvPr id="3" name="Isosceles Triangle 2">
              <a:extLst>
                <a:ext uri="{FF2B5EF4-FFF2-40B4-BE49-F238E27FC236}">
                  <a16:creationId xmlns:a16="http://schemas.microsoft.com/office/drawing/2014/main" id="{D915BB4C-A263-87F1-3E70-DA81FB9A446D}"/>
                </a:ext>
              </a:extLst>
            </p:cNvPr>
            <p:cNvSpPr/>
            <p:nvPr/>
          </p:nvSpPr>
          <p:spPr>
            <a:xfrm>
              <a:off x="4905278" y="651911"/>
              <a:ext cx="1869440" cy="1654076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950" dirty="0">
                <a:highlight>
                  <a:srgbClr val="000080"/>
                </a:highlight>
              </a:endParaRPr>
            </a:p>
          </p:txBody>
        </p: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0B603047-B251-B1FF-EAAB-49667AB9FC0F}"/>
                </a:ext>
              </a:extLst>
            </p:cNvPr>
            <p:cNvCxnSpPr>
              <a:cxnSpLocks/>
              <a:stCxn id="3" idx="1"/>
              <a:endCxn id="3" idx="5"/>
            </p:cNvCxnSpPr>
            <p:nvPr/>
          </p:nvCxnSpPr>
          <p:spPr>
            <a:xfrm>
              <a:off x="5372638" y="1478949"/>
              <a:ext cx="93472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B49B49E8-8C0E-E8E9-B45C-46ACFAA48756}"/>
                </a:ext>
              </a:extLst>
            </p:cNvPr>
            <p:cNvCxnSpPr/>
            <p:nvPr/>
          </p:nvCxnSpPr>
          <p:spPr>
            <a:xfrm>
              <a:off x="5839998" y="1478949"/>
              <a:ext cx="0" cy="82703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04C2AD3-9A88-22F6-28B6-0EAE024BBEFC}"/>
                </a:ext>
              </a:extLst>
            </p:cNvPr>
            <p:cNvSpPr txBox="1"/>
            <p:nvPr/>
          </p:nvSpPr>
          <p:spPr>
            <a:xfrm>
              <a:off x="5492018" y="914394"/>
              <a:ext cx="69596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y-KG" sz="2800" b="1" dirty="0"/>
                <a:t>ЭА</a:t>
              </a:r>
              <a:endParaRPr lang="en-US" sz="2400" b="1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61EB94C5-C805-6581-9BD2-302B27328685}"/>
                </a:ext>
              </a:extLst>
            </p:cNvPr>
            <p:cNvSpPr txBox="1"/>
            <p:nvPr/>
          </p:nvSpPr>
          <p:spPr>
            <a:xfrm>
              <a:off x="5209594" y="1625097"/>
              <a:ext cx="69596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y-KG" sz="2800" b="1" dirty="0"/>
                <a:t>С</a:t>
              </a:r>
              <a:endParaRPr lang="en-US" sz="2400" b="1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40F1F54E-EE17-9FA4-3F19-89797827B1E6}"/>
                </a:ext>
              </a:extLst>
            </p:cNvPr>
            <p:cNvSpPr txBox="1"/>
            <p:nvPr/>
          </p:nvSpPr>
          <p:spPr>
            <a:xfrm>
              <a:off x="5839998" y="1632717"/>
              <a:ext cx="63040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y-KG" sz="2800" b="1" dirty="0"/>
                <a:t>ТЧ</a:t>
              </a:r>
              <a:endParaRPr lang="en-US" sz="2400" b="1" dirty="0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FDCE5C5-F7E4-7160-F83B-9C9DFF1A18B7}"/>
                  </a:ext>
                </a:extLst>
              </p:cNvPr>
              <p:cNvSpPr txBox="1"/>
              <p:nvPr/>
            </p:nvSpPr>
            <p:spPr>
              <a:xfrm>
                <a:off x="4374192" y="580961"/>
                <a:ext cx="527785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ky-KG" sz="2800" dirty="0"/>
                  <a:t>Эмгек акы</a:t>
                </a:r>
                <a14:m>
                  <m:oMath xmlns:m="http://schemas.openxmlformats.org/officeDocument/2006/math"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ky-KG" sz="2800" b="0" i="1" smtClean="0">
                        <a:latin typeface="Cambria Math" panose="02040503050406030204" pitchFamily="18" charset="0"/>
                      </a:rPr>
                      <m:t>Сааты</m:t>
                    </m:r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 ×</m:t>
                    </m:r>
                    <m:r>
                      <a:rPr lang="ky-KG" sz="2800" b="0" i="1" smtClean="0">
                        <a:latin typeface="Cambria Math" panose="02040503050406030204" pitchFamily="18" charset="0"/>
                      </a:rPr>
                      <m:t>Т</m:t>
                    </m:r>
                    <m:r>
                      <a:rPr lang="ky-KG" sz="2800" i="1">
                        <a:latin typeface="Cambria Math" panose="02040503050406030204" pitchFamily="18" charset="0"/>
                      </a:rPr>
                      <m:t>өлөө </m:t>
                    </m:r>
                    <m:r>
                      <a:rPr lang="ky-KG" sz="2800" b="0" i="0" smtClean="0">
                        <a:latin typeface="Cambria Math" panose="02040503050406030204" pitchFamily="18" charset="0"/>
                      </a:rPr>
                      <m:t>Ч</m:t>
                    </m:r>
                    <m:r>
                      <a:rPr lang="ky-KG" sz="2800" b="0" i="0" smtClean="0">
                        <a:latin typeface="Cambria Math" panose="02040503050406030204" pitchFamily="18" charset="0"/>
                      </a:rPr>
                      <m:t>ени</m:t>
                    </m:r>
                  </m:oMath>
                </a14:m>
                <a:endParaRPr lang="en-GB" sz="2800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FDCE5C5-F7E4-7160-F83B-9C9DFF1A18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4192" y="580961"/>
                <a:ext cx="5277855" cy="430887"/>
              </a:xfrm>
              <a:prstGeom prst="rect">
                <a:avLst/>
              </a:prstGeom>
              <a:blipFill>
                <a:blip r:embed="rId4"/>
                <a:stretch>
                  <a:fillRect l="-4162" t="-23944" b="-507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577272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542FCBB-FED6-4CD8-A05D-BE13C421DCFD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BA67B6-5253-4206-9A9A-FD56907077D9}"/>
              </a:ext>
            </a:extLst>
          </p:cNvPr>
          <p:cNvSpPr txBox="1"/>
          <p:nvPr/>
        </p:nvSpPr>
        <p:spPr>
          <a:xfrm>
            <a:off x="1045781" y="5252958"/>
            <a:ext cx="340189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4800" dirty="0"/>
              <a:t>86,70 ÷ 7,5 =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698DB7-0BB2-456B-8D17-B91BAFC2CAB3}"/>
              </a:ext>
            </a:extLst>
          </p:cNvPr>
          <p:cNvSpPr txBox="1"/>
          <p:nvPr/>
        </p:nvSpPr>
        <p:spPr>
          <a:xfrm>
            <a:off x="4529183" y="5252958"/>
            <a:ext cx="461517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/>
              <a:t>11,56</a:t>
            </a:r>
            <a:r>
              <a:rPr lang="ky-KG" sz="4800" dirty="0"/>
              <a:t> </a:t>
            </a:r>
            <a:r>
              <a:rPr lang="en-US" sz="4800" dirty="0"/>
              <a:t>4$ </a:t>
            </a:r>
            <a:r>
              <a:rPr lang="ky-KG" sz="4800" dirty="0"/>
              <a:t>саатына</a:t>
            </a:r>
            <a:endParaRPr lang="en-GB" sz="4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C310F02-89ED-48C9-8BEF-F23FC06692DF}"/>
              </a:ext>
            </a:extLst>
          </p:cNvPr>
          <p:cNvSpPr txBox="1"/>
          <p:nvPr/>
        </p:nvSpPr>
        <p:spPr>
          <a:xfrm>
            <a:off x="1577717" y="2128084"/>
            <a:ext cx="6750567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200" dirty="0"/>
              <a:t>Жаныбек 30 мүнөттүк түшкү тыныгуу </a:t>
            </a:r>
          </a:p>
          <a:p>
            <a:pPr algn="ctr"/>
            <a:r>
              <a:rPr lang="ky-KG" sz="3200" dirty="0"/>
              <a:t>менен 8 саат иштейт.</a:t>
            </a:r>
          </a:p>
          <a:p>
            <a:pPr algn="ctr"/>
            <a:endParaRPr lang="ky-KG" sz="3200" dirty="0"/>
          </a:p>
          <a:p>
            <a:pPr algn="ctr"/>
            <a:r>
              <a:rPr lang="ky-KG" sz="3200" dirty="0"/>
              <a:t>Ал күнүнө 86,70 доллар табат.</a:t>
            </a:r>
          </a:p>
          <a:p>
            <a:pPr algn="ctr"/>
            <a:endParaRPr lang="ky-KG" sz="3200" dirty="0"/>
          </a:p>
          <a:p>
            <a:pPr algn="ctr"/>
            <a:r>
              <a:rPr lang="ky-KG" sz="3200" dirty="0"/>
              <a:t>Анын бир саатка эмгек акысы канча?</a:t>
            </a:r>
            <a:endParaRPr lang="en-GB" sz="32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9438546-5680-41D0-B4F6-053F7BB7B3DF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602" y="181811"/>
            <a:ext cx="1804141" cy="206335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A4E193A-41AF-4283-8F08-97B6BD71C9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7640" y="5908298"/>
            <a:ext cx="774623" cy="909650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272C37A4-3C2A-C3A1-3797-EDD5AED09662}"/>
              </a:ext>
            </a:extLst>
          </p:cNvPr>
          <p:cNvGrpSpPr/>
          <p:nvPr/>
        </p:nvGrpSpPr>
        <p:grpSpPr>
          <a:xfrm>
            <a:off x="2882549" y="327861"/>
            <a:ext cx="1869440" cy="1654076"/>
            <a:chOff x="4905278" y="651911"/>
            <a:chExt cx="1869440" cy="1654076"/>
          </a:xfrm>
        </p:grpSpPr>
        <p:sp>
          <p:nvSpPr>
            <p:cNvPr id="3" name="Isosceles Triangle 2">
              <a:extLst>
                <a:ext uri="{FF2B5EF4-FFF2-40B4-BE49-F238E27FC236}">
                  <a16:creationId xmlns:a16="http://schemas.microsoft.com/office/drawing/2014/main" id="{A3C23EE6-F70F-34C1-B984-166B6C99CAF4}"/>
                </a:ext>
              </a:extLst>
            </p:cNvPr>
            <p:cNvSpPr/>
            <p:nvPr/>
          </p:nvSpPr>
          <p:spPr>
            <a:xfrm>
              <a:off x="4905278" y="651911"/>
              <a:ext cx="1869440" cy="1654076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950" dirty="0">
                <a:highlight>
                  <a:srgbClr val="000080"/>
                </a:highlight>
              </a:endParaRP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3E3DC3DE-60A8-1104-3E03-62DE8BD1A620}"/>
                </a:ext>
              </a:extLst>
            </p:cNvPr>
            <p:cNvCxnSpPr>
              <a:cxnSpLocks/>
              <a:stCxn id="3" idx="1"/>
              <a:endCxn id="3" idx="5"/>
            </p:cNvCxnSpPr>
            <p:nvPr/>
          </p:nvCxnSpPr>
          <p:spPr>
            <a:xfrm>
              <a:off x="5372638" y="1478949"/>
              <a:ext cx="93472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DBD995A7-9A43-F5AB-C07D-BEE80F8A665A}"/>
                </a:ext>
              </a:extLst>
            </p:cNvPr>
            <p:cNvCxnSpPr/>
            <p:nvPr/>
          </p:nvCxnSpPr>
          <p:spPr>
            <a:xfrm>
              <a:off x="5839998" y="1478949"/>
              <a:ext cx="0" cy="82703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2851C18-B4B8-CDA6-71E2-2E1AC730D092}"/>
                </a:ext>
              </a:extLst>
            </p:cNvPr>
            <p:cNvSpPr txBox="1"/>
            <p:nvPr/>
          </p:nvSpPr>
          <p:spPr>
            <a:xfrm>
              <a:off x="5492018" y="914394"/>
              <a:ext cx="69596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y-KG" sz="2800" b="1" dirty="0"/>
                <a:t>ЭА</a:t>
              </a:r>
              <a:endParaRPr lang="en-US" sz="2400" b="1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2789C643-2035-DCCA-42E0-EB1DCB0EC40E}"/>
                </a:ext>
              </a:extLst>
            </p:cNvPr>
            <p:cNvSpPr txBox="1"/>
            <p:nvPr/>
          </p:nvSpPr>
          <p:spPr>
            <a:xfrm>
              <a:off x="5209594" y="1625097"/>
              <a:ext cx="69596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y-KG" sz="2800" b="1" dirty="0"/>
                <a:t>С</a:t>
              </a:r>
              <a:endParaRPr lang="en-US" sz="2400" b="1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986C3B4-B674-78E5-28BA-8F124A57596B}"/>
                </a:ext>
              </a:extLst>
            </p:cNvPr>
            <p:cNvSpPr txBox="1"/>
            <p:nvPr/>
          </p:nvSpPr>
          <p:spPr>
            <a:xfrm>
              <a:off x="5839998" y="1632717"/>
              <a:ext cx="63040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y-KG" sz="2800" b="1" dirty="0"/>
                <a:t>ТЧ</a:t>
              </a:r>
              <a:endParaRPr lang="en-US" sz="2400" b="1" dirty="0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39ADE9F-D334-6510-31CE-8521920C2A26}"/>
                  </a:ext>
                </a:extLst>
              </p:cNvPr>
              <p:cNvSpPr txBox="1"/>
              <p:nvPr/>
            </p:nvSpPr>
            <p:spPr>
              <a:xfrm>
                <a:off x="5429795" y="843444"/>
                <a:ext cx="4075603" cy="79752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y-KG" sz="2800" i="1">
                          <a:latin typeface="Cambria Math" panose="02040503050406030204" pitchFamily="18" charset="0"/>
                        </a:rPr>
                        <m:t>Т</m:t>
                      </m:r>
                      <m:r>
                        <a:rPr lang="ky-KG" sz="2800" i="1">
                          <a:latin typeface="Cambria Math" panose="02040503050406030204" pitchFamily="18" charset="0"/>
                        </a:rPr>
                        <m:t>өлөө </m:t>
                      </m:r>
                      <m:r>
                        <a:rPr lang="ky-KG" sz="2800">
                          <a:latin typeface="Cambria Math" panose="02040503050406030204" pitchFamily="18" charset="0"/>
                        </a:rPr>
                        <m:t>Чени</m:t>
                      </m:r>
                      <m:r>
                        <a:rPr lang="ky-KG" sz="28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ky-KG" sz="2800" dirty="0"/>
                            <m:t>Эмгек акы</m:t>
                          </m:r>
                        </m:num>
                        <m:den>
                          <m:r>
                            <a:rPr lang="ky-KG" sz="2800" i="1">
                              <a:latin typeface="Cambria Math" panose="02040503050406030204" pitchFamily="18" charset="0"/>
                            </a:rPr>
                            <m:t>Сааты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39ADE9F-D334-6510-31CE-8521920C2A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9795" y="843444"/>
                <a:ext cx="4075603" cy="79752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537949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0DD31AF-1D92-44E1-8FD6-5FA5AA7573E2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solidFill>
            <a:schemeClr val="accent1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619538" y="2232227"/>
            <a:ext cx="8666923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200" dirty="0"/>
              <a:t>Карыбек күнүнө 9 саат иштейт, </a:t>
            </a:r>
            <a:endParaRPr lang="en-US" sz="3200" dirty="0"/>
          </a:p>
          <a:p>
            <a:pPr algn="ctr"/>
            <a:r>
              <a:rPr lang="ky-KG" sz="3200" dirty="0"/>
              <a:t>30 мүнөттүк түшкү тыныгуу менен.</a:t>
            </a:r>
          </a:p>
          <a:p>
            <a:pPr algn="ctr"/>
            <a:endParaRPr lang="ky-KG" sz="3200" dirty="0"/>
          </a:p>
          <a:p>
            <a:pPr algn="ctr"/>
            <a:r>
              <a:rPr lang="ky-KG" sz="3200" dirty="0"/>
              <a:t>Ал саатына 14 доллар табат.</a:t>
            </a:r>
          </a:p>
          <a:p>
            <a:pPr algn="ctr"/>
            <a:endParaRPr lang="ky-KG" sz="3200" dirty="0"/>
          </a:p>
          <a:p>
            <a:pPr algn="ctr"/>
            <a:r>
              <a:rPr lang="ky-KG" sz="3200" dirty="0"/>
              <a:t>Ал 5 күндүк жуманын ичинде канча айлык алат?</a:t>
            </a:r>
            <a:endParaRPr lang="en-GB" sz="3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BA67B6-5253-4206-9A9A-FD56907077D9}"/>
              </a:ext>
            </a:extLst>
          </p:cNvPr>
          <p:cNvSpPr txBox="1"/>
          <p:nvPr/>
        </p:nvSpPr>
        <p:spPr>
          <a:xfrm>
            <a:off x="1363136" y="5242679"/>
            <a:ext cx="389080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4800" dirty="0"/>
              <a:t>(8,5 × 5) × 14 =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698DB7-0BB2-456B-8D17-B91BAFC2CAB3}"/>
              </a:ext>
            </a:extLst>
          </p:cNvPr>
          <p:cNvSpPr txBox="1"/>
          <p:nvPr/>
        </p:nvSpPr>
        <p:spPr>
          <a:xfrm>
            <a:off x="5423263" y="5242679"/>
            <a:ext cx="157447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/>
              <a:t>595</a:t>
            </a:r>
            <a:r>
              <a:rPr lang="en-US" sz="4800" dirty="0"/>
              <a:t> $</a:t>
            </a:r>
            <a:endParaRPr lang="en-GB" sz="48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C799F1D-35A6-44F9-A1C2-86DA5641D334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663" y="251137"/>
            <a:ext cx="2000367" cy="191754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CA89C07-F24F-4E41-A4E9-1BCD08CB72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7640" y="5908298"/>
            <a:ext cx="774623" cy="90965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71745D5-406A-4DA6-B8E0-9780126AF4E8}"/>
              </a:ext>
            </a:extLst>
          </p:cNvPr>
          <p:cNvSpPr/>
          <p:nvPr/>
        </p:nvSpPr>
        <p:spPr>
          <a:xfrm>
            <a:off x="2070100" y="1494797"/>
            <a:ext cx="346930" cy="34693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E95231C-3EF8-1F46-E9B3-6C004A6C0B0B}"/>
              </a:ext>
            </a:extLst>
          </p:cNvPr>
          <p:cNvGrpSpPr/>
          <p:nvPr/>
        </p:nvGrpSpPr>
        <p:grpSpPr>
          <a:xfrm>
            <a:off x="2417030" y="459817"/>
            <a:ext cx="1869440" cy="1654076"/>
            <a:chOff x="4905278" y="651911"/>
            <a:chExt cx="1869440" cy="1654076"/>
          </a:xfrm>
        </p:grpSpPr>
        <p:sp>
          <p:nvSpPr>
            <p:cNvPr id="5" name="Isosceles Triangle 4">
              <a:extLst>
                <a:ext uri="{FF2B5EF4-FFF2-40B4-BE49-F238E27FC236}">
                  <a16:creationId xmlns:a16="http://schemas.microsoft.com/office/drawing/2014/main" id="{807F159E-DFD2-B5E3-96D0-0C2FA1DC3041}"/>
                </a:ext>
              </a:extLst>
            </p:cNvPr>
            <p:cNvSpPr/>
            <p:nvPr/>
          </p:nvSpPr>
          <p:spPr>
            <a:xfrm>
              <a:off x="4905278" y="651911"/>
              <a:ext cx="1869440" cy="1654076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950" dirty="0">
                <a:highlight>
                  <a:srgbClr val="000080"/>
                </a:highlight>
              </a:endParaRPr>
            </a:p>
          </p:txBody>
        </p: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DA577CC-FFE9-88A0-B169-E511A12EEF53}"/>
                </a:ext>
              </a:extLst>
            </p:cNvPr>
            <p:cNvCxnSpPr>
              <a:cxnSpLocks/>
              <a:stCxn id="5" idx="1"/>
              <a:endCxn id="5" idx="5"/>
            </p:cNvCxnSpPr>
            <p:nvPr/>
          </p:nvCxnSpPr>
          <p:spPr>
            <a:xfrm>
              <a:off x="5372638" y="1478949"/>
              <a:ext cx="93472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4248DB9-6606-548B-4C77-D61B830F24FC}"/>
                </a:ext>
              </a:extLst>
            </p:cNvPr>
            <p:cNvCxnSpPr/>
            <p:nvPr/>
          </p:nvCxnSpPr>
          <p:spPr>
            <a:xfrm>
              <a:off x="5839998" y="1478949"/>
              <a:ext cx="0" cy="82703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3C54873-0A2B-613A-69EE-B809C0064637}"/>
                </a:ext>
              </a:extLst>
            </p:cNvPr>
            <p:cNvSpPr txBox="1"/>
            <p:nvPr/>
          </p:nvSpPr>
          <p:spPr>
            <a:xfrm>
              <a:off x="5492018" y="914394"/>
              <a:ext cx="69596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y-KG" sz="2800" b="1" dirty="0"/>
                <a:t>ЭА</a:t>
              </a:r>
              <a:endParaRPr lang="en-US" sz="2400" b="1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033869F-D1EC-3208-A0C3-7F9B02D86A67}"/>
                </a:ext>
              </a:extLst>
            </p:cNvPr>
            <p:cNvSpPr txBox="1"/>
            <p:nvPr/>
          </p:nvSpPr>
          <p:spPr>
            <a:xfrm>
              <a:off x="5209594" y="1625097"/>
              <a:ext cx="69596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y-KG" sz="2800" b="1" dirty="0"/>
                <a:t>С</a:t>
              </a:r>
              <a:endParaRPr lang="en-US" sz="2400" b="1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B3FF6207-D8F6-8087-8793-9032D598E61A}"/>
                </a:ext>
              </a:extLst>
            </p:cNvPr>
            <p:cNvSpPr txBox="1"/>
            <p:nvPr/>
          </p:nvSpPr>
          <p:spPr>
            <a:xfrm>
              <a:off x="5839998" y="1632717"/>
              <a:ext cx="63040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y-KG" sz="2800" b="1" dirty="0"/>
                <a:t>ТЧ</a:t>
              </a:r>
              <a:endParaRPr lang="en-US" sz="2400" b="1" dirty="0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195AE65-6979-3B08-1DBC-8A26F0263209}"/>
                  </a:ext>
                </a:extLst>
              </p:cNvPr>
              <p:cNvSpPr txBox="1"/>
              <p:nvPr/>
            </p:nvSpPr>
            <p:spPr>
              <a:xfrm>
                <a:off x="4330134" y="855968"/>
                <a:ext cx="527785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ky-KG" sz="2800" dirty="0"/>
                  <a:t>Эмгек акы</a:t>
                </a:r>
                <a14:m>
                  <m:oMath xmlns:m="http://schemas.openxmlformats.org/officeDocument/2006/math"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ky-KG" sz="2800" b="0" i="1" smtClean="0">
                        <a:latin typeface="Cambria Math" panose="02040503050406030204" pitchFamily="18" charset="0"/>
                      </a:rPr>
                      <m:t>Сааты</m:t>
                    </m:r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 ×</m:t>
                    </m:r>
                    <m:r>
                      <a:rPr lang="ky-KG" sz="2800" b="0" i="1" smtClean="0">
                        <a:latin typeface="Cambria Math" panose="02040503050406030204" pitchFamily="18" charset="0"/>
                      </a:rPr>
                      <m:t>Т</m:t>
                    </m:r>
                    <m:r>
                      <a:rPr lang="ky-KG" sz="2800" i="1">
                        <a:latin typeface="Cambria Math" panose="02040503050406030204" pitchFamily="18" charset="0"/>
                      </a:rPr>
                      <m:t>өлөө </m:t>
                    </m:r>
                    <m:r>
                      <a:rPr lang="ky-KG" sz="2800" b="0" i="0" smtClean="0">
                        <a:latin typeface="Cambria Math" panose="02040503050406030204" pitchFamily="18" charset="0"/>
                      </a:rPr>
                      <m:t>Ч</m:t>
                    </m:r>
                    <m:r>
                      <a:rPr lang="ky-KG" sz="2800" b="0" i="0" smtClean="0">
                        <a:latin typeface="Cambria Math" panose="02040503050406030204" pitchFamily="18" charset="0"/>
                      </a:rPr>
                      <m:t>ени</m:t>
                    </m:r>
                  </m:oMath>
                </a14:m>
                <a:endParaRPr lang="en-GB" sz="2800" dirty="0"/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195AE65-6979-3B08-1DBC-8A26F02632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0134" y="855968"/>
                <a:ext cx="5277855" cy="430887"/>
              </a:xfrm>
              <a:prstGeom prst="rect">
                <a:avLst/>
              </a:prstGeom>
              <a:blipFill>
                <a:blip r:embed="rId4"/>
                <a:stretch>
                  <a:fillRect l="-4042" t="-23944" b="-507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643341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74B20BD-E9D5-47C0-9274-77DA26C631C8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12346" y="2566739"/>
            <a:ext cx="9881359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200" dirty="0"/>
              <a:t>Гүлсарынын айлык акысы саатына 8,72 долларды түзөт.</a:t>
            </a:r>
          </a:p>
          <a:p>
            <a:pPr algn="ctr"/>
            <a:endParaRPr lang="ky-KG" sz="3200" dirty="0"/>
          </a:p>
          <a:p>
            <a:pPr algn="ctr"/>
            <a:r>
              <a:rPr lang="ky-KG" sz="3200" dirty="0"/>
              <a:t>Гүлсары жумасына 296,48 доллар табат.</a:t>
            </a:r>
          </a:p>
          <a:p>
            <a:pPr algn="ctr"/>
            <a:endParaRPr lang="ky-KG" sz="3200" dirty="0"/>
          </a:p>
          <a:p>
            <a:pPr algn="ctr"/>
            <a:r>
              <a:rPr lang="ky-KG" sz="3200" dirty="0"/>
              <a:t>Ал жумасына канча саат иштейт?</a:t>
            </a:r>
            <a:endParaRPr lang="en-GB" sz="3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BA67B6-5253-4206-9A9A-FD56907077D9}"/>
              </a:ext>
            </a:extLst>
          </p:cNvPr>
          <p:cNvSpPr txBox="1"/>
          <p:nvPr/>
        </p:nvSpPr>
        <p:spPr>
          <a:xfrm>
            <a:off x="1226882" y="5242679"/>
            <a:ext cx="402706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4800" dirty="0"/>
              <a:t>296,48 ÷ 8,72 =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698DB7-0BB2-456B-8D17-B91BAFC2CAB3}"/>
              </a:ext>
            </a:extLst>
          </p:cNvPr>
          <p:cNvSpPr txBox="1"/>
          <p:nvPr/>
        </p:nvSpPr>
        <p:spPr>
          <a:xfrm>
            <a:off x="5423263" y="5242679"/>
            <a:ext cx="203594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/>
              <a:t>34 </a:t>
            </a:r>
            <a:r>
              <a:rPr lang="ky-KG" sz="4800" dirty="0"/>
              <a:t>саат</a:t>
            </a:r>
            <a:endParaRPr lang="en-GB" sz="48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F967C16-BA85-4CB8-B709-EF0F40E6F5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592" y="258777"/>
            <a:ext cx="1983604" cy="222915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5F77A5C-B3C0-4D2B-A5B9-DB42F8905A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7640" y="5908298"/>
            <a:ext cx="774623" cy="909650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187BEA3B-AA9E-0AE5-6494-6D0AC8071707}"/>
              </a:ext>
            </a:extLst>
          </p:cNvPr>
          <p:cNvGrpSpPr/>
          <p:nvPr/>
        </p:nvGrpSpPr>
        <p:grpSpPr>
          <a:xfrm>
            <a:off x="2809068" y="580961"/>
            <a:ext cx="1869440" cy="1654076"/>
            <a:chOff x="4905278" y="651911"/>
            <a:chExt cx="1869440" cy="1654076"/>
          </a:xfrm>
        </p:grpSpPr>
        <p:sp>
          <p:nvSpPr>
            <p:cNvPr id="3" name="Isosceles Triangle 2">
              <a:extLst>
                <a:ext uri="{FF2B5EF4-FFF2-40B4-BE49-F238E27FC236}">
                  <a16:creationId xmlns:a16="http://schemas.microsoft.com/office/drawing/2014/main" id="{C9F66D49-71BA-7C0C-BF1C-FF7C947DF494}"/>
                </a:ext>
              </a:extLst>
            </p:cNvPr>
            <p:cNvSpPr/>
            <p:nvPr/>
          </p:nvSpPr>
          <p:spPr>
            <a:xfrm>
              <a:off x="4905278" y="651911"/>
              <a:ext cx="1869440" cy="1654076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950" dirty="0">
                <a:highlight>
                  <a:srgbClr val="000080"/>
                </a:highlight>
              </a:endParaRPr>
            </a:p>
          </p:txBody>
        </p: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D60CFF62-EE48-ECE0-7BD8-39104F53115C}"/>
                </a:ext>
              </a:extLst>
            </p:cNvPr>
            <p:cNvCxnSpPr>
              <a:cxnSpLocks/>
              <a:stCxn id="3" idx="1"/>
              <a:endCxn id="3" idx="5"/>
            </p:cNvCxnSpPr>
            <p:nvPr/>
          </p:nvCxnSpPr>
          <p:spPr>
            <a:xfrm>
              <a:off x="5372638" y="1478949"/>
              <a:ext cx="93472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3E2629BA-43AC-A837-00EE-B89A25C51945}"/>
                </a:ext>
              </a:extLst>
            </p:cNvPr>
            <p:cNvCxnSpPr/>
            <p:nvPr/>
          </p:nvCxnSpPr>
          <p:spPr>
            <a:xfrm>
              <a:off x="5839998" y="1478949"/>
              <a:ext cx="0" cy="82703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8C48DA4-FDE5-0F41-A526-3D0348E6FAA2}"/>
                </a:ext>
              </a:extLst>
            </p:cNvPr>
            <p:cNvSpPr txBox="1"/>
            <p:nvPr/>
          </p:nvSpPr>
          <p:spPr>
            <a:xfrm>
              <a:off x="5492018" y="914394"/>
              <a:ext cx="69596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y-KG" sz="2800" b="1" dirty="0"/>
                <a:t>ЭА</a:t>
              </a:r>
              <a:endParaRPr lang="en-US" sz="2400" b="1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32D287D-5744-8280-30D3-0EDCEB81FDF8}"/>
                </a:ext>
              </a:extLst>
            </p:cNvPr>
            <p:cNvSpPr txBox="1"/>
            <p:nvPr/>
          </p:nvSpPr>
          <p:spPr>
            <a:xfrm>
              <a:off x="5209594" y="1625097"/>
              <a:ext cx="69596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y-KG" sz="2800" b="1" dirty="0"/>
                <a:t>С</a:t>
              </a:r>
              <a:endParaRPr lang="en-US" sz="2400" b="1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7DB8E14C-D29C-55C0-030B-3681BC81FD6C}"/>
                </a:ext>
              </a:extLst>
            </p:cNvPr>
            <p:cNvSpPr txBox="1"/>
            <p:nvPr/>
          </p:nvSpPr>
          <p:spPr>
            <a:xfrm>
              <a:off x="5839998" y="1632717"/>
              <a:ext cx="63040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y-KG" sz="2800" b="1" dirty="0"/>
                <a:t>ТЧ</a:t>
              </a:r>
              <a:endParaRPr lang="en-US" sz="2400" b="1" dirty="0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555A72A-4180-DC98-ECDD-18F6792E5C3C}"/>
                  </a:ext>
                </a:extLst>
              </p:cNvPr>
              <p:cNvSpPr txBox="1"/>
              <p:nvPr/>
            </p:nvSpPr>
            <p:spPr>
              <a:xfrm>
                <a:off x="5201380" y="541237"/>
                <a:ext cx="3514552" cy="7973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y-KG" sz="2800" i="1" smtClean="0">
                          <a:latin typeface="Cambria Math" panose="02040503050406030204" pitchFamily="18" charset="0"/>
                        </a:rPr>
                        <m:t>Сааты</m:t>
                      </m:r>
                      <m:r>
                        <a:rPr lang="ky-KG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ky-KG" sz="2800" dirty="0"/>
                            <m:t>Эмгек акы</m:t>
                          </m:r>
                        </m:num>
                        <m:den>
                          <m:r>
                            <a:rPr lang="ky-KG" sz="2800" i="1">
                              <a:latin typeface="Cambria Math" panose="02040503050406030204" pitchFamily="18" charset="0"/>
                            </a:rPr>
                            <m:t>Төлөө </m:t>
                          </m:r>
                          <m:r>
                            <a:rPr lang="ky-KG" sz="2800">
                              <a:latin typeface="Cambria Math" panose="02040503050406030204" pitchFamily="18" charset="0"/>
                            </a:rPr>
                            <m:t>Чени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555A72A-4180-DC98-ECDD-18F6792E5C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1380" y="541237"/>
                <a:ext cx="3514552" cy="79739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467090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13CCA38-00B1-4BE4-B42F-F8FDC4527C3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BA67B6-5253-4206-9A9A-FD56907077D9}"/>
              </a:ext>
            </a:extLst>
          </p:cNvPr>
          <p:cNvSpPr txBox="1"/>
          <p:nvPr/>
        </p:nvSpPr>
        <p:spPr>
          <a:xfrm>
            <a:off x="1518627" y="5242679"/>
            <a:ext cx="373531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4800" dirty="0"/>
              <a:t>532 ÷ (8 × 4) =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698DB7-0BB2-456B-8D17-B91BAFC2CAB3}"/>
              </a:ext>
            </a:extLst>
          </p:cNvPr>
          <p:cNvSpPr txBox="1"/>
          <p:nvPr/>
        </p:nvSpPr>
        <p:spPr>
          <a:xfrm>
            <a:off x="5423263" y="5242679"/>
            <a:ext cx="399000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/>
              <a:t>9,50</a:t>
            </a:r>
            <a:r>
              <a:rPr lang="ky-KG" sz="4800" dirty="0"/>
              <a:t> </a:t>
            </a:r>
            <a:r>
              <a:rPr lang="en-US" sz="4800" dirty="0"/>
              <a:t>$ </a:t>
            </a:r>
            <a:r>
              <a:rPr lang="ky-KG" sz="4800" dirty="0"/>
              <a:t>саатына</a:t>
            </a:r>
            <a:endParaRPr lang="en-GB" sz="4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C310F02-89ED-48C9-8BEF-F23FC06692DF}"/>
              </a:ext>
            </a:extLst>
          </p:cNvPr>
          <p:cNvSpPr txBox="1"/>
          <p:nvPr/>
        </p:nvSpPr>
        <p:spPr>
          <a:xfrm>
            <a:off x="767430" y="2558025"/>
            <a:ext cx="8371139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200" dirty="0"/>
              <a:t>Жамила жумасына 304 доллар табат.</a:t>
            </a:r>
          </a:p>
          <a:p>
            <a:pPr algn="ctr"/>
            <a:endParaRPr lang="ky-KG" sz="3200" dirty="0"/>
          </a:p>
          <a:p>
            <a:pPr algn="ctr"/>
            <a:r>
              <a:rPr lang="ky-KG" sz="3200" dirty="0"/>
              <a:t>Ал күнүнө 8 саат жана жумасына 4 күн иштейт.</a:t>
            </a:r>
          </a:p>
          <a:p>
            <a:pPr algn="ctr"/>
            <a:endParaRPr lang="ky-KG" sz="3200" dirty="0"/>
          </a:p>
          <a:p>
            <a:pPr algn="ctr"/>
            <a:r>
              <a:rPr lang="ky-KG" sz="3200" dirty="0"/>
              <a:t>Анын бир саатына эмгек акысы канча?</a:t>
            </a:r>
            <a:endParaRPr lang="en-GB" sz="32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62D4417-3284-4D04-AC1C-DCBF40C94BB2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972" y="83164"/>
            <a:ext cx="2160261" cy="214675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BF54977-8705-4C96-A8FC-6434676165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7640" y="5908298"/>
            <a:ext cx="774623" cy="909650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9A7210EB-0D5B-1211-E66C-7DB035E325DB}"/>
              </a:ext>
            </a:extLst>
          </p:cNvPr>
          <p:cNvGrpSpPr/>
          <p:nvPr/>
        </p:nvGrpSpPr>
        <p:grpSpPr>
          <a:xfrm>
            <a:off x="2778147" y="342953"/>
            <a:ext cx="1869440" cy="1654076"/>
            <a:chOff x="4905278" y="651911"/>
            <a:chExt cx="1869440" cy="1654076"/>
          </a:xfrm>
        </p:grpSpPr>
        <p:sp>
          <p:nvSpPr>
            <p:cNvPr id="3" name="Isosceles Triangle 2">
              <a:extLst>
                <a:ext uri="{FF2B5EF4-FFF2-40B4-BE49-F238E27FC236}">
                  <a16:creationId xmlns:a16="http://schemas.microsoft.com/office/drawing/2014/main" id="{65B07F37-D4C5-7693-7618-1B5890EEDC28}"/>
                </a:ext>
              </a:extLst>
            </p:cNvPr>
            <p:cNvSpPr/>
            <p:nvPr/>
          </p:nvSpPr>
          <p:spPr>
            <a:xfrm>
              <a:off x="4905278" y="651911"/>
              <a:ext cx="1869440" cy="1654076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950" dirty="0">
                <a:highlight>
                  <a:srgbClr val="000080"/>
                </a:highlight>
              </a:endParaRP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2C32AA8C-6F95-5F54-57D9-6A5056870D3D}"/>
                </a:ext>
              </a:extLst>
            </p:cNvPr>
            <p:cNvCxnSpPr>
              <a:cxnSpLocks/>
              <a:stCxn id="3" idx="1"/>
              <a:endCxn id="3" idx="5"/>
            </p:cNvCxnSpPr>
            <p:nvPr/>
          </p:nvCxnSpPr>
          <p:spPr>
            <a:xfrm>
              <a:off x="5372638" y="1478949"/>
              <a:ext cx="93472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307D2B91-45B9-BF89-4452-49270B8017F4}"/>
                </a:ext>
              </a:extLst>
            </p:cNvPr>
            <p:cNvCxnSpPr/>
            <p:nvPr/>
          </p:nvCxnSpPr>
          <p:spPr>
            <a:xfrm>
              <a:off x="5839998" y="1478949"/>
              <a:ext cx="0" cy="82703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65C1214-0034-4598-457A-55A5D87E7ED7}"/>
                </a:ext>
              </a:extLst>
            </p:cNvPr>
            <p:cNvSpPr txBox="1"/>
            <p:nvPr/>
          </p:nvSpPr>
          <p:spPr>
            <a:xfrm>
              <a:off x="5492018" y="914394"/>
              <a:ext cx="69596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y-KG" sz="2800" b="1" dirty="0"/>
                <a:t>ЭА</a:t>
              </a:r>
              <a:endParaRPr lang="en-US" sz="2400" b="1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47D1E7A-F2B5-CC5C-4BA5-975DC896D7CA}"/>
                </a:ext>
              </a:extLst>
            </p:cNvPr>
            <p:cNvSpPr txBox="1"/>
            <p:nvPr/>
          </p:nvSpPr>
          <p:spPr>
            <a:xfrm>
              <a:off x="5209594" y="1625097"/>
              <a:ext cx="69596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y-KG" sz="2800" b="1" dirty="0"/>
                <a:t>С</a:t>
              </a:r>
              <a:endParaRPr lang="en-US" sz="2400" b="1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D9BA2F9-5F46-DA35-B28F-5311E29FA749}"/>
                </a:ext>
              </a:extLst>
            </p:cNvPr>
            <p:cNvSpPr txBox="1"/>
            <p:nvPr/>
          </p:nvSpPr>
          <p:spPr>
            <a:xfrm>
              <a:off x="5839998" y="1632717"/>
              <a:ext cx="63040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y-KG" sz="2800" b="1" dirty="0"/>
                <a:t>ТЧ</a:t>
              </a:r>
              <a:endParaRPr lang="en-US" sz="2400" b="1" dirty="0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D0DC507-CA87-A75A-BE91-849B5522E8D1}"/>
                  </a:ext>
                </a:extLst>
              </p:cNvPr>
              <p:cNvSpPr txBox="1"/>
              <p:nvPr/>
            </p:nvSpPr>
            <p:spPr>
              <a:xfrm>
                <a:off x="4647587" y="819585"/>
                <a:ext cx="4075603" cy="79752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y-KG" sz="2800" i="1">
                          <a:latin typeface="Cambria Math" panose="02040503050406030204" pitchFamily="18" charset="0"/>
                        </a:rPr>
                        <m:t>Т</m:t>
                      </m:r>
                      <m:r>
                        <a:rPr lang="ky-KG" sz="2800" i="1">
                          <a:latin typeface="Cambria Math" panose="02040503050406030204" pitchFamily="18" charset="0"/>
                        </a:rPr>
                        <m:t>өлөө </m:t>
                      </m:r>
                      <m:r>
                        <a:rPr lang="ky-KG" sz="2800">
                          <a:latin typeface="Cambria Math" panose="02040503050406030204" pitchFamily="18" charset="0"/>
                        </a:rPr>
                        <m:t>Чени</m:t>
                      </m:r>
                      <m:r>
                        <a:rPr lang="ky-KG" sz="28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ky-KG" sz="2800" dirty="0"/>
                            <m:t>Эмгек акы</m:t>
                          </m:r>
                        </m:num>
                        <m:den>
                          <m:r>
                            <a:rPr lang="ky-KG" sz="2800" i="1">
                              <a:latin typeface="Cambria Math" panose="02040503050406030204" pitchFamily="18" charset="0"/>
                            </a:rPr>
                            <m:t>Сааты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D0DC507-CA87-A75A-BE91-849B5522E8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7587" y="819585"/>
                <a:ext cx="4075603" cy="79752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608537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3EB4E18-150A-437F-BFD4-AFE1698D37D3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195087" y="2566739"/>
            <a:ext cx="9515875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200" dirty="0"/>
              <a:t>Бегимай жумасына 304 доллар табат.</a:t>
            </a:r>
          </a:p>
          <a:p>
            <a:pPr algn="ctr"/>
            <a:endParaRPr lang="ky-KG" sz="3200" dirty="0"/>
          </a:p>
          <a:p>
            <a:pPr algn="ctr"/>
            <a:r>
              <a:rPr lang="ky-KG" sz="3200" dirty="0"/>
              <a:t>Бегимайдын айлык акысы саатына 8 долларды түзөт.</a:t>
            </a:r>
          </a:p>
          <a:p>
            <a:pPr algn="ctr"/>
            <a:endParaRPr lang="ky-KG" sz="3200" dirty="0"/>
          </a:p>
          <a:p>
            <a:pPr algn="ctr"/>
            <a:r>
              <a:rPr lang="ky-KG" sz="3200" dirty="0"/>
              <a:t>Ал жумасына канча саат иштейт?</a:t>
            </a:r>
            <a:endParaRPr lang="en-GB" sz="3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BA67B6-5253-4206-9A9A-FD56907077D9}"/>
              </a:ext>
            </a:extLst>
          </p:cNvPr>
          <p:cNvSpPr txBox="1"/>
          <p:nvPr/>
        </p:nvSpPr>
        <p:spPr>
          <a:xfrm>
            <a:off x="2788206" y="5242679"/>
            <a:ext cx="246573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4800" dirty="0"/>
              <a:t>304 ÷ 8 =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698DB7-0BB2-456B-8D17-B91BAFC2CAB3}"/>
              </a:ext>
            </a:extLst>
          </p:cNvPr>
          <p:cNvSpPr txBox="1"/>
          <p:nvPr/>
        </p:nvSpPr>
        <p:spPr>
          <a:xfrm>
            <a:off x="5423263" y="5242679"/>
            <a:ext cx="203594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/>
              <a:t>38 </a:t>
            </a:r>
            <a:r>
              <a:rPr lang="ky-KG" sz="4800" dirty="0"/>
              <a:t>саат</a:t>
            </a:r>
            <a:endParaRPr lang="en-GB" sz="48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3215D07-A945-47A6-A6C8-D6693B97F1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14" y="5878"/>
            <a:ext cx="2543069" cy="222915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7858EDB-CAE5-4C22-A7B3-4BB2BE2C23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7640" y="5908298"/>
            <a:ext cx="774623" cy="909650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B5611F75-BF90-A790-352F-5280B6B0A5AB}"/>
              </a:ext>
            </a:extLst>
          </p:cNvPr>
          <p:cNvGrpSpPr/>
          <p:nvPr/>
        </p:nvGrpSpPr>
        <p:grpSpPr>
          <a:xfrm>
            <a:off x="2809068" y="580961"/>
            <a:ext cx="1869440" cy="1654076"/>
            <a:chOff x="4905278" y="651911"/>
            <a:chExt cx="1869440" cy="1654076"/>
          </a:xfrm>
        </p:grpSpPr>
        <p:sp>
          <p:nvSpPr>
            <p:cNvPr id="16" name="Isosceles Triangle 15">
              <a:extLst>
                <a:ext uri="{FF2B5EF4-FFF2-40B4-BE49-F238E27FC236}">
                  <a16:creationId xmlns:a16="http://schemas.microsoft.com/office/drawing/2014/main" id="{886CBAE6-25E0-A436-632C-3F11228F0E56}"/>
                </a:ext>
              </a:extLst>
            </p:cNvPr>
            <p:cNvSpPr/>
            <p:nvPr/>
          </p:nvSpPr>
          <p:spPr>
            <a:xfrm>
              <a:off x="4905278" y="651911"/>
              <a:ext cx="1869440" cy="1654076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950" dirty="0">
                <a:highlight>
                  <a:srgbClr val="000080"/>
                </a:highlight>
              </a:endParaRPr>
            </a:p>
          </p:txBody>
        </p: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928B7311-D5C8-EBCA-E42B-76FF94A98FCB}"/>
                </a:ext>
              </a:extLst>
            </p:cNvPr>
            <p:cNvCxnSpPr>
              <a:cxnSpLocks/>
              <a:stCxn id="16" idx="1"/>
              <a:endCxn id="16" idx="5"/>
            </p:cNvCxnSpPr>
            <p:nvPr/>
          </p:nvCxnSpPr>
          <p:spPr>
            <a:xfrm>
              <a:off x="5372638" y="1478949"/>
              <a:ext cx="93472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E1457551-AD77-FA91-4F1F-C42A16054B22}"/>
                </a:ext>
              </a:extLst>
            </p:cNvPr>
            <p:cNvCxnSpPr/>
            <p:nvPr/>
          </p:nvCxnSpPr>
          <p:spPr>
            <a:xfrm>
              <a:off x="5839998" y="1478949"/>
              <a:ext cx="0" cy="82703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AF025FD0-3B5D-CC87-3AFD-0D9489F61111}"/>
                </a:ext>
              </a:extLst>
            </p:cNvPr>
            <p:cNvSpPr txBox="1"/>
            <p:nvPr/>
          </p:nvSpPr>
          <p:spPr>
            <a:xfrm>
              <a:off x="5492018" y="914394"/>
              <a:ext cx="69596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y-KG" sz="2800" b="1" dirty="0"/>
                <a:t>ЭА</a:t>
              </a:r>
              <a:endParaRPr lang="en-US" sz="2400" b="1" dirty="0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786EC7A6-9A78-4B21-CED6-386BD86CE932}"/>
                </a:ext>
              </a:extLst>
            </p:cNvPr>
            <p:cNvSpPr txBox="1"/>
            <p:nvPr/>
          </p:nvSpPr>
          <p:spPr>
            <a:xfrm>
              <a:off x="5209594" y="1625097"/>
              <a:ext cx="69596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y-KG" sz="2800" b="1" dirty="0"/>
                <a:t>С</a:t>
              </a:r>
              <a:endParaRPr lang="en-US" sz="2400" b="1" dirty="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FFC96BDC-341B-5093-D9D3-EE508B3ADDE5}"/>
                </a:ext>
              </a:extLst>
            </p:cNvPr>
            <p:cNvSpPr txBox="1"/>
            <p:nvPr/>
          </p:nvSpPr>
          <p:spPr>
            <a:xfrm>
              <a:off x="5839998" y="1632717"/>
              <a:ext cx="63040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y-KG" sz="2800" b="1" dirty="0"/>
                <a:t>ТЧ</a:t>
              </a:r>
              <a:endParaRPr lang="en-US" sz="2400" b="1" dirty="0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A5BB0252-4DC4-A88B-5C86-A8B3C8A8DCF1}"/>
                  </a:ext>
                </a:extLst>
              </p:cNvPr>
              <p:cNvSpPr txBox="1"/>
              <p:nvPr/>
            </p:nvSpPr>
            <p:spPr>
              <a:xfrm>
                <a:off x="5145868" y="653082"/>
                <a:ext cx="3514552" cy="7973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y-KG" sz="2800" i="1" smtClean="0">
                          <a:latin typeface="Cambria Math" panose="02040503050406030204" pitchFamily="18" charset="0"/>
                        </a:rPr>
                        <m:t>Сааты</m:t>
                      </m:r>
                      <m:r>
                        <a:rPr lang="ky-KG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ky-KG" sz="2800" dirty="0"/>
                            <m:t>Эмгек акы</m:t>
                          </m:r>
                        </m:num>
                        <m:den>
                          <m:r>
                            <a:rPr lang="ky-KG" sz="2800" i="1">
                              <a:latin typeface="Cambria Math" panose="02040503050406030204" pitchFamily="18" charset="0"/>
                            </a:rPr>
                            <m:t>Төлөө </m:t>
                          </m:r>
                          <m:r>
                            <a:rPr lang="ky-KG" sz="2800">
                              <a:latin typeface="Cambria Math" panose="02040503050406030204" pitchFamily="18" charset="0"/>
                            </a:rPr>
                            <m:t>Чени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A5BB0252-4DC4-A88B-5C86-A8B3C8A8DC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5868" y="653082"/>
                <a:ext cx="3514552" cy="79739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62148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2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455F9FF-A775-44DB-99DD-42DDB47487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2929352"/>
              </p:ext>
            </p:extLst>
          </p:nvPr>
        </p:nvGraphicFramePr>
        <p:xfrm>
          <a:off x="59945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AD8C36C-2AB2-44CF-BF97-992F65F82F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1891624"/>
              </p:ext>
            </p:extLst>
          </p:nvPr>
        </p:nvGraphicFramePr>
        <p:xfrm>
          <a:off x="2042419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2773A22-7D82-4A6C-9386-8C73822F86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8005975"/>
              </p:ext>
            </p:extLst>
          </p:nvPr>
        </p:nvGraphicFramePr>
        <p:xfrm>
          <a:off x="4024893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ACA04EB-1AF0-4BA4-B56C-D92E4B8FC6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8737508"/>
              </p:ext>
            </p:extLst>
          </p:nvPr>
        </p:nvGraphicFramePr>
        <p:xfrm>
          <a:off x="6007367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DD0CEA2-BF13-4F1F-BDF8-723774394B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2065140"/>
              </p:ext>
            </p:extLst>
          </p:nvPr>
        </p:nvGraphicFramePr>
        <p:xfrm>
          <a:off x="7989841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217ECC1-187E-45C6-AAD9-69FCF451F4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819278"/>
              </p:ext>
            </p:extLst>
          </p:nvPr>
        </p:nvGraphicFramePr>
        <p:xfrm>
          <a:off x="59945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8F2A369-4849-4D8C-9C48-42AC19EAC6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3002619"/>
              </p:ext>
            </p:extLst>
          </p:nvPr>
        </p:nvGraphicFramePr>
        <p:xfrm>
          <a:off x="2042419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CC34FD8-28B7-4290-89FF-C844EE6A1A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619173"/>
              </p:ext>
            </p:extLst>
          </p:nvPr>
        </p:nvGraphicFramePr>
        <p:xfrm>
          <a:off x="4024893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BEE0B481-E5E6-4A56-A167-F7909231AE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741186"/>
              </p:ext>
            </p:extLst>
          </p:nvPr>
        </p:nvGraphicFramePr>
        <p:xfrm>
          <a:off x="6007367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504524C6-1AA7-41E4-A1BD-52B735BCF1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8690728"/>
              </p:ext>
            </p:extLst>
          </p:nvPr>
        </p:nvGraphicFramePr>
        <p:xfrm>
          <a:off x="7989841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FD378E7F-888B-451D-A437-1143E900F4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2700732"/>
              </p:ext>
            </p:extLst>
          </p:nvPr>
        </p:nvGraphicFramePr>
        <p:xfrm>
          <a:off x="59945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DD9438F2-5F7B-453A-9852-A5D953E267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7154783"/>
              </p:ext>
            </p:extLst>
          </p:nvPr>
        </p:nvGraphicFramePr>
        <p:xfrm>
          <a:off x="2042419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8E97513C-7184-48FD-B483-FD49969CA2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9329546"/>
              </p:ext>
            </p:extLst>
          </p:nvPr>
        </p:nvGraphicFramePr>
        <p:xfrm>
          <a:off x="4024893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4FE2DA72-78F4-437E-AA8B-E7D5DF47DE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355289"/>
              </p:ext>
            </p:extLst>
          </p:nvPr>
        </p:nvGraphicFramePr>
        <p:xfrm>
          <a:off x="6007367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6BB7F846-3757-45E8-B86C-628E47A78F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4402805"/>
              </p:ext>
            </p:extLst>
          </p:nvPr>
        </p:nvGraphicFramePr>
        <p:xfrm>
          <a:off x="7989841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188449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94EE51F-7A9F-BBA6-4D52-96A950D8E4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838" y="975360"/>
            <a:ext cx="9052242" cy="4754563"/>
          </a:xfrm>
        </p:spPr>
        <p:txBody>
          <a:bodyPr>
            <a:normAutofit fontScale="92500" lnSpcReduction="20000"/>
          </a:bodyPr>
          <a:lstStyle/>
          <a:p>
            <a:pPr marL="0" indent="0" algn="ctr">
              <a:buNone/>
            </a:pPr>
            <a:r>
              <a:rPr lang="ru-RU" dirty="0"/>
              <a:t>Суроолор барбы?</a:t>
            </a:r>
          </a:p>
          <a:p>
            <a:pPr marL="0" indent="0" algn="ctr">
              <a:buNone/>
            </a:pPr>
            <a:r>
              <a:rPr lang="ru-RU" dirty="0"/>
              <a:t>Комментарийлер?</a:t>
            </a:r>
          </a:p>
          <a:p>
            <a:pPr marL="0" indent="0" algn="ctr">
              <a:buNone/>
            </a:pPr>
            <a:r>
              <a:rPr lang="ru-RU" dirty="0"/>
              <a:t>Сунуштар?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…же ката таптыңызбы!?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Түрдүү пикирлер үчүн ыраазычылык билдиребиз.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en-US" dirty="0">
                <a:solidFill>
                  <a:srgbClr val="FF0000"/>
                </a:solidFill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15155844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8841</TotalTime>
  <Words>755</Words>
  <Application>Microsoft Office PowerPoint</Application>
  <PresentationFormat>A4 Paper (210x297 mm)</PresentationFormat>
  <Paragraphs>246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Cambria Math</vt:lpstr>
      <vt:lpstr>Calibri Light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393</cp:revision>
  <cp:lastPrinted>2017-12-31T22:38:51Z</cp:lastPrinted>
  <dcterms:created xsi:type="dcterms:W3CDTF">2017-01-17T16:57:04Z</dcterms:created>
  <dcterms:modified xsi:type="dcterms:W3CDTF">2024-09-18T15:54:15Z</dcterms:modified>
</cp:coreProperties>
</file>