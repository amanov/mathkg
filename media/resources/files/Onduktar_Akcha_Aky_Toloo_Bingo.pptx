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4"/>
  </p:notesMasterIdLst>
  <p:sldIdLst>
    <p:sldId id="973" r:id="rId2"/>
    <p:sldId id="974" r:id="rId3"/>
    <p:sldId id="851" r:id="rId4"/>
    <p:sldId id="968" r:id="rId5"/>
    <p:sldId id="952" r:id="rId6"/>
    <p:sldId id="955" r:id="rId7"/>
    <p:sldId id="963" r:id="rId8"/>
    <p:sldId id="948" r:id="rId9"/>
    <p:sldId id="958" r:id="rId10"/>
    <p:sldId id="966" r:id="rId11"/>
    <p:sldId id="949" r:id="rId12"/>
    <p:sldId id="953" r:id="rId13"/>
    <p:sldId id="957" r:id="rId14"/>
    <p:sldId id="967" r:id="rId15"/>
    <p:sldId id="950" r:id="rId16"/>
    <p:sldId id="956" r:id="rId17"/>
    <p:sldId id="951" r:id="rId18"/>
    <p:sldId id="964" r:id="rId19"/>
    <p:sldId id="959" r:id="rId20"/>
    <p:sldId id="965" r:id="rId21"/>
    <p:sldId id="940" r:id="rId22"/>
    <p:sldId id="274" r:id="rId23"/>
  </p:sldIdLst>
  <p:sldSz cx="9906000" cy="6858000" type="A4"/>
  <p:notesSz cx="6669088" cy="9926638"/>
  <p:embeddedFontLst>
    <p:embeddedFont>
      <p:font typeface="Cambria Math" panose="02040503050406030204" pitchFamily="18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EFF65C9D-388B-42ED-B2FA-402FDA1B6D8E}">
          <p14:sldIdLst>
            <p14:sldId id="973"/>
          </p14:sldIdLst>
        </p14:section>
        <p14:section name="Титулдук слайд" id="{2961A1B4-93AF-4F4E-AF30-C00A3309CCCD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  <p14:sldId id="968"/>
          </p14:sldIdLst>
        </p14:section>
        <p14:section name="Суроолор" id="{27E8BDD4-AEF9-42D7-8653-0FA4B14A353C}">
          <p14:sldIdLst>
            <p14:sldId id="952"/>
            <p14:sldId id="955"/>
            <p14:sldId id="963"/>
            <p14:sldId id="948"/>
            <p14:sldId id="958"/>
            <p14:sldId id="966"/>
            <p14:sldId id="949"/>
            <p14:sldId id="953"/>
            <p14:sldId id="957"/>
            <p14:sldId id="967"/>
            <p14:sldId id="950"/>
            <p14:sldId id="956"/>
            <p14:sldId id="951"/>
            <p14:sldId id="964"/>
            <p14:sldId id="959"/>
            <p14:sldId id="965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E81448C1-9E41-464C-A67D-B4FB990DBB5E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ADC"/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83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18/09/2024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557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30530" y="1361441"/>
            <a:ext cx="871347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sz="2000" dirty="0">
                <a:solidFill>
                  <a:prstClr val="black"/>
                </a:solidFill>
                <a:latin typeface="Calibri" panose="020F0502020204030204"/>
              </a:rPr>
              <a:t>Акы төлөмдөрү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Бинго</a:t>
            </a:r>
            <a:r>
              <a:rPr lang="ru-RU" sz="2000" dirty="0">
                <a:solidFill>
                  <a:prstClr val="black"/>
                </a:solidFill>
                <a:latin typeface="Calibri" panose="020F0502020204030204"/>
              </a:rPr>
              <a:t>,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285453" y="4443803"/>
            <a:ext cx="9811954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Акы төлөмдөрү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627720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344.80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50.70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9.50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456.50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11.56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59.16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10.80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35331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63192"/>
              </p:ext>
            </p:extLst>
          </p:nvPr>
        </p:nvGraphicFramePr>
        <p:xfrm>
          <a:off x="292100" y="1776367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345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525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400" dirty="0"/>
                        <a:t>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525719" y="6014154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34A61D-F151-4C40-B096-A5056758A90F}"/>
              </a:ext>
            </a:extLst>
          </p:cNvPr>
          <p:cNvSpPr txBox="1"/>
          <p:nvPr/>
        </p:nvSpPr>
        <p:spPr>
          <a:xfrm>
            <a:off x="1003553" y="1127612"/>
            <a:ext cx="7898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(Эң жакын бүтүн санга чейин тегеректелген)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957202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209A2E-23C4-40E7-80AE-923FBD03B1D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53476" y="2566739"/>
            <a:ext cx="619906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Жаркынай саатына 8,45 </a:t>
            </a:r>
            <a:r>
              <a:rPr lang="en-US" sz="3200" dirty="0"/>
              <a:t>$ </a:t>
            </a:r>
            <a:r>
              <a:rPr lang="ky-KG" sz="3200" dirty="0"/>
              <a:t>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Шейшемби күнү ал 6 саат иштеди.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канча эмгек акы  алат?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865204" y="5309266"/>
            <a:ext cx="58882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y-KG" sz="4800" dirty="0"/>
              <a:t>Эмгек акы = </a:t>
            </a:r>
            <a:r>
              <a:rPr lang="en-GB" sz="4800" dirty="0"/>
              <a:t>6 × 8.45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6668517" y="5309266"/>
            <a:ext cx="19030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50.70</a:t>
            </a:r>
            <a:r>
              <a:rPr lang="en-US" sz="4800" dirty="0"/>
              <a:t>$</a:t>
            </a:r>
            <a:endParaRPr lang="en-GB" sz="4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6530AC-01CB-4F3C-8458-8408DD36AE58}"/>
                  </a:ext>
                </a:extLst>
              </p:cNvPr>
              <p:cNvSpPr txBox="1"/>
              <p:nvPr/>
            </p:nvSpPr>
            <p:spPr>
              <a:xfrm>
                <a:off x="4195950" y="203071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6530AC-01CB-4F3C-8458-8408DD36A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5950" y="203071"/>
                <a:ext cx="5277855" cy="430887"/>
              </a:xfrm>
              <a:prstGeom prst="rect">
                <a:avLst/>
              </a:prstGeom>
              <a:blipFill>
                <a:blip r:embed="rId2"/>
                <a:stretch>
                  <a:fillRect l="-4042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F1EAF23-713C-4D50-8D6B-9C6FA39323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4" y="5878"/>
            <a:ext cx="2543069" cy="22291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A974928-0D36-47D8-823A-DFB26B3AB8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E0B7990-9E8E-7E7D-F8BF-9DF51510D6D2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47095CF-2DFA-22B1-4F1C-A354834E13CF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6612034-6DA6-CEE7-DF51-ECF842E153F0}"/>
                </a:ext>
              </a:extLst>
            </p:cNvPr>
            <p:cNvCxnSpPr>
              <a:cxnSpLocks/>
              <a:stCxn id="20" idx="1"/>
              <a:endCxn id="20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03F6B2F-9B09-CECA-A5D8-B6C4D3AE430E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1B6A990-C919-3A40-6B11-765C656A642B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3DBCA9-6D2C-851C-8C30-CFE2D7F1BDDE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7A3560C-9F61-D3C7-245F-37B431CDEA56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69464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71874C-E2AC-446F-BE1D-C757A9F2D10A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476055" y="5252958"/>
            <a:ext cx="2933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46.80 ÷ 6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4409871" y="5253196"/>
            <a:ext cx="43025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10.80 $ </a:t>
            </a:r>
            <a:r>
              <a:rPr lang="ky-KG" sz="4800" dirty="0"/>
              <a:t>саатына</a:t>
            </a:r>
            <a:endParaRPr lang="en-GB" sz="4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BF5ABC-0B6D-42C3-A1B6-E13870CA1B12}"/>
                  </a:ext>
                </a:extLst>
              </p:cNvPr>
              <p:cNvSpPr txBox="1"/>
              <p:nvPr/>
            </p:nvSpPr>
            <p:spPr>
              <a:xfrm>
                <a:off x="5253945" y="381384"/>
                <a:ext cx="4075603" cy="797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>
                          <a:latin typeface="Cambria Math" panose="02040503050406030204" pitchFamily="18" charset="0"/>
                        </a:rPr>
                        <m:t>Т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өлөө </m:t>
                      </m:r>
                      <m:r>
                        <a:rPr lang="ky-KG" sz="2800">
                          <a:latin typeface="Cambria Math" panose="02040503050406030204" pitchFamily="18" charset="0"/>
                        </a:rPr>
                        <m:t>Чени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Сааты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BF5ABC-0B6D-42C3-A1B6-E13870CA1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945" y="381384"/>
                <a:ext cx="4075603" cy="797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C310F02-89ED-48C9-8BEF-F23FC06692DF}"/>
              </a:ext>
            </a:extLst>
          </p:cNvPr>
          <p:cNvSpPr txBox="1"/>
          <p:nvPr/>
        </p:nvSpPr>
        <p:spPr>
          <a:xfrm>
            <a:off x="1512123" y="2816319"/>
            <a:ext cx="688175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Актан 6 саат иштегени үчүн күнүнө </a:t>
            </a:r>
            <a:endParaRPr lang="en-US" sz="3200" dirty="0"/>
          </a:p>
          <a:p>
            <a:pPr algn="ctr"/>
            <a:r>
              <a:rPr lang="ky-KG" sz="3200" dirty="0"/>
              <a:t>64,80 </a:t>
            </a:r>
            <a:r>
              <a:rPr lang="en-US" sz="3200" dirty="0"/>
              <a:t>$</a:t>
            </a:r>
            <a:r>
              <a:rPr lang="ky-KG" sz="3200" dirty="0"/>
              <a:t>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Анын бир сааттык эмгек акысы канча?</a:t>
            </a:r>
            <a:endParaRPr lang="en-GB" sz="3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4D3445-CBBA-42FE-A52A-42B6E668D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71" y="102967"/>
            <a:ext cx="2190845" cy="2229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A45DFB-F11E-4233-B72C-A9C241DD01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900733A-4EB5-7A0B-BEA5-D887A9740B40}"/>
              </a:ext>
            </a:extLst>
          </p:cNvPr>
          <p:cNvGrpSpPr/>
          <p:nvPr/>
        </p:nvGrpSpPr>
        <p:grpSpPr>
          <a:xfrm>
            <a:off x="2828852" y="269907"/>
            <a:ext cx="1869440" cy="1654076"/>
            <a:chOff x="4905278" y="651911"/>
            <a:chExt cx="1869440" cy="1654076"/>
          </a:xfrm>
        </p:grpSpPr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67155216-FE89-89F3-7128-332D1635081D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8F7C929-E688-91FA-7673-E6079352EB19}"/>
                </a:ext>
              </a:extLst>
            </p:cNvPr>
            <p:cNvCxnSpPr>
              <a:cxnSpLocks/>
              <a:stCxn id="15" idx="1"/>
              <a:endCxn id="15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C39F2E8-637E-FDD6-0466-2C51C5933BF1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DD7B0A-4710-89AD-FFA8-9867B918CCB6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752E807-1261-8687-CE9B-3061B2116496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5352E17-0943-8122-1570-4B308C33A4E8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046667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EF428C-1F69-485C-A9FA-AA7EA1E027FB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988157" y="2566739"/>
            <a:ext cx="792973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Карабала айлык акысы саатына 6,50 </a:t>
            </a:r>
            <a:r>
              <a:rPr lang="en-US" sz="3200" dirty="0"/>
              <a:t>$</a:t>
            </a:r>
            <a:r>
              <a:rPr lang="ky-KG" sz="3200" dirty="0"/>
              <a:t> түзөт.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Карабала күнүнө 45,50 </a:t>
            </a:r>
            <a:r>
              <a:rPr lang="en-US" sz="3200" dirty="0"/>
              <a:t>$ </a:t>
            </a:r>
            <a:r>
              <a:rPr lang="ky-KG" sz="3200" dirty="0"/>
              <a:t>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бир күндө канча саат иштейт?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2788206" y="5242679"/>
            <a:ext cx="246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304 ÷ 8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17233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7 </a:t>
            </a:r>
            <a:r>
              <a:rPr lang="ky-KG" sz="4800" dirty="0"/>
              <a:t>саат</a:t>
            </a:r>
            <a:endParaRPr lang="en-GB" sz="4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62DF8B1-D9CC-44AC-ABBC-CA4D99926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54" y="148569"/>
            <a:ext cx="1772880" cy="22291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FFBC59-A764-4A17-87DB-B57A886064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E59E2E1-E739-A0AB-4DDC-BB8778037F89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DD9B2871-BC10-3C8E-B7D0-AC966BCF57F5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9C4B518-BA0A-970F-B5F4-CA89341D3C00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491E22B-8D12-197D-6DBC-C426BEBEF449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4EBCF03-3F90-6DF1-9CB1-BF69D462437B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B2CDF00-7049-EBCE-5040-A95DB08A39F8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EFD770-9477-CB66-3A33-AF391D5E8C94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2E4749-9E62-DFDA-2F43-ED5A9AA10ED0}"/>
                  </a:ext>
                </a:extLst>
              </p:cNvPr>
              <p:cNvSpPr txBox="1"/>
              <p:nvPr/>
            </p:nvSpPr>
            <p:spPr>
              <a:xfrm>
                <a:off x="4888905" y="784324"/>
                <a:ext cx="3514552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 smtClean="0">
                          <a:latin typeface="Cambria Math" panose="02040503050406030204" pitchFamily="18" charset="0"/>
                        </a:rPr>
                        <m:t>Сааты</m:t>
                      </m:r>
                      <m:r>
                        <a:rPr lang="ky-KG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Төлөө </m:t>
                          </m:r>
                          <m:r>
                            <a:rPr lang="ky-KG" sz="2800">
                              <a:latin typeface="Cambria Math" panose="02040503050406030204" pitchFamily="18" charset="0"/>
                            </a:rPr>
                            <m:t>Чени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2E4749-9E62-DFDA-2F43-ED5A9AA10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905" y="784324"/>
                <a:ext cx="3514552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91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F4E0F59-2ECE-4B48-A3CC-32498F20FD22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51083" y="2566739"/>
            <a:ext cx="980383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Бир жумада Гүлбайра 5 күн бою, күнүнө 8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Гүлбайра саатына 8,62 </a:t>
            </a:r>
            <a:r>
              <a:rPr lang="en-US" sz="3200" dirty="0"/>
              <a:t>$</a:t>
            </a:r>
            <a:r>
              <a:rPr lang="ky-KG" sz="3200" dirty="0"/>
              <a:t>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жумасына канча айлык алат?</a:t>
            </a:r>
            <a:endParaRPr lang="en-GB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AEFE84-AE51-46CF-884C-8CB9892AD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" y="22860"/>
            <a:ext cx="2543069" cy="2229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363136" y="5242679"/>
            <a:ext cx="38908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(8 × 5) × 8.62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6340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344.80 </a:t>
            </a:r>
            <a:r>
              <a:rPr lang="en-US" sz="4800" dirty="0"/>
              <a:t>$ </a:t>
            </a:r>
            <a:r>
              <a:rPr lang="en-GB" sz="4800" dirty="0"/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53110DE-692B-4D3B-B111-830BF119D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DF7AAFE-657D-380D-AB77-34095F6B0247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B0194806-1C99-99AA-0312-94F96C5ACBDF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1F9CE2-2237-3F4B-92A2-BE0C0181EDD6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D6BCF9-133A-C108-BE34-1488E2EB783A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3E00254-E889-85D9-6553-0E5444D48492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14994A-9BA6-A898-B158-75F618EEED19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9F670E-693D-8440-EE0F-C3AD44631318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51EE4CF-1043-4A99-7D00-C1D2C628F20D}"/>
                  </a:ext>
                </a:extLst>
              </p:cNvPr>
              <p:cNvSpPr txBox="1"/>
              <p:nvPr/>
            </p:nvSpPr>
            <p:spPr>
              <a:xfrm>
                <a:off x="4305786" y="565721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51EE4CF-1043-4A99-7D00-C1D2C628F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5786" y="565721"/>
                <a:ext cx="5277855" cy="430887"/>
              </a:xfrm>
              <a:prstGeom prst="rect">
                <a:avLst/>
              </a:prstGeom>
              <a:blipFill>
                <a:blip r:embed="rId4"/>
                <a:stretch>
                  <a:fillRect l="-4042" t="-24286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D7860E-2635-4981-8428-78E3BA99ACDE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E2DB48-AC2C-4B73-9A07-4417C1878F6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3" y="251137"/>
            <a:ext cx="2000367" cy="19175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2475620" y="5242679"/>
            <a:ext cx="27783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532 ÷ 38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35219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14</a:t>
            </a:r>
            <a:r>
              <a:rPr lang="ky-KG" sz="4800" dirty="0"/>
              <a:t> </a:t>
            </a:r>
            <a:r>
              <a:rPr lang="en-US" sz="4800" dirty="0"/>
              <a:t>$ </a:t>
            </a:r>
            <a:r>
              <a:rPr lang="ky-KG" sz="4800" dirty="0"/>
              <a:t>саатына</a:t>
            </a:r>
            <a:endParaRPr lang="en-GB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10F02-89ED-48C9-8BEF-F23FC06692DF}"/>
              </a:ext>
            </a:extLst>
          </p:cNvPr>
          <p:cNvSpPr txBox="1"/>
          <p:nvPr/>
        </p:nvSpPr>
        <p:spPr>
          <a:xfrm>
            <a:off x="1509716" y="2341769"/>
            <a:ext cx="688656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Дүйшөн жумасына 38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жумасына 532 </a:t>
            </a:r>
            <a:r>
              <a:rPr lang="en-US" sz="3200" dirty="0"/>
              <a:t>$ </a:t>
            </a:r>
            <a:r>
              <a:rPr lang="ky-KG" sz="3200" dirty="0"/>
              <a:t>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Анын бир сааттык эмгек акысы канча?</a:t>
            </a:r>
            <a:endParaRPr lang="en-GB" sz="3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078D81-CEA3-4185-A4DB-03A89BB0E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4EAF70E-1D0D-4285-8FDF-4855657F51BD}"/>
              </a:ext>
            </a:extLst>
          </p:cNvPr>
          <p:cNvSpPr/>
          <p:nvPr/>
        </p:nvSpPr>
        <p:spPr>
          <a:xfrm>
            <a:off x="2049780" y="1474470"/>
            <a:ext cx="396240" cy="396240"/>
          </a:xfrm>
          <a:prstGeom prst="rect">
            <a:avLst/>
          </a:prstGeom>
          <a:solidFill>
            <a:srgbClr val="8FAADC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5161DB2-B408-35D9-A06F-99ADEF8975C0}"/>
              </a:ext>
            </a:extLst>
          </p:cNvPr>
          <p:cNvGrpSpPr/>
          <p:nvPr/>
        </p:nvGrpSpPr>
        <p:grpSpPr>
          <a:xfrm>
            <a:off x="2656668" y="382869"/>
            <a:ext cx="1869440" cy="1654076"/>
            <a:chOff x="4905278" y="651911"/>
            <a:chExt cx="1869440" cy="1654076"/>
          </a:xfrm>
        </p:grpSpPr>
        <p:sp>
          <p:nvSpPr>
            <p:cNvPr id="4" name="Isosceles Triangle 3">
              <a:extLst>
                <a:ext uri="{FF2B5EF4-FFF2-40B4-BE49-F238E27FC236}">
                  <a16:creationId xmlns:a16="http://schemas.microsoft.com/office/drawing/2014/main" id="{62E01322-6097-DEE4-5231-C521C88A70CE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CC34650-98CC-2124-C8DE-A1F835F1B325}"/>
                </a:ext>
              </a:extLst>
            </p:cNvPr>
            <p:cNvCxnSpPr>
              <a:cxnSpLocks/>
              <a:stCxn id="4" idx="1"/>
              <a:endCxn id="4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3E40DF4-1530-75A0-E348-80206118F9CF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671732-0931-BB2B-0704-5B6F6FC5B7DD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372054B-DBE0-B9DA-407E-A1AEB7676588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41729ED-AE87-1DD3-37A9-427B6CF5DC5B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AF7223-2331-D86C-31C7-4804214ABEE5}"/>
                  </a:ext>
                </a:extLst>
              </p:cNvPr>
              <p:cNvSpPr txBox="1"/>
              <p:nvPr/>
            </p:nvSpPr>
            <p:spPr>
              <a:xfrm>
                <a:off x="4952999" y="683893"/>
                <a:ext cx="4075603" cy="797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>
                          <a:latin typeface="Cambria Math" panose="02040503050406030204" pitchFamily="18" charset="0"/>
                        </a:rPr>
                        <m:t>Т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өлөө </m:t>
                      </m:r>
                      <m:r>
                        <a:rPr lang="ky-KG" sz="2800">
                          <a:latin typeface="Cambria Math" panose="02040503050406030204" pitchFamily="18" charset="0"/>
                        </a:rPr>
                        <m:t>Чени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Сааты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AF7223-2331-D86C-31C7-4804214AB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2999" y="683893"/>
                <a:ext cx="4075603" cy="797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265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BB694C-D24A-4147-B95F-CB5EBCA3C627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176126" y="2566739"/>
            <a:ext cx="755379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Жумагүл айына 1501</a:t>
            </a:r>
            <a:r>
              <a:rPr lang="en-US" sz="3200" dirty="0"/>
              <a:t> $</a:t>
            </a:r>
            <a:r>
              <a:rPr lang="ky-KG" sz="3200" dirty="0"/>
              <a:t>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Жумагүлдүн эмгек акысы, саатына </a:t>
            </a:r>
            <a:r>
              <a:rPr lang="en-US" sz="3200" dirty="0"/>
              <a:t> </a:t>
            </a:r>
            <a:r>
              <a:rPr lang="ky-KG" sz="3200" dirty="0"/>
              <a:t>9.50</a:t>
            </a:r>
            <a:r>
              <a:rPr lang="en-US" sz="3200" dirty="0"/>
              <a:t>$ </a:t>
            </a:r>
            <a:r>
              <a:rPr lang="ky-KG" sz="3200" dirty="0"/>
              <a:t>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ай сайын канча саат иштейт?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2007543" y="5242679"/>
            <a:ext cx="32464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1501 ÷ 9.5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3485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158 </a:t>
            </a:r>
            <a:r>
              <a:rPr lang="ky-KG" sz="4800" dirty="0"/>
              <a:t>саат</a:t>
            </a:r>
            <a:endParaRPr lang="en-GB" sz="4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513F3F-11EC-49E7-8C86-5E2F7A5910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92" y="258777"/>
            <a:ext cx="1983604" cy="2229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DDB1714-83D3-45A5-93BA-A30E0EB903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B28B6B8-9417-DED1-471F-EDB3B88A7BFD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FE0A667-A97D-7A6A-FCB6-C5D09A117A14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A045048-229A-5994-EC7E-B94F355EE71C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8988E52-9783-5618-5EE5-91B4BE121BEC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BF8AF10-0225-95BA-4871-73403414E5DC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683D1A-7590-240F-2516-2EC892B2795D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D6ADBF4-E0EB-99DF-682E-BFFCFCF62A8D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1320B9-E0D1-B4C0-7CCF-B4CC44685E79}"/>
                  </a:ext>
                </a:extLst>
              </p:cNvPr>
              <p:cNvSpPr txBox="1"/>
              <p:nvPr/>
            </p:nvSpPr>
            <p:spPr>
              <a:xfrm>
                <a:off x="5271531" y="784324"/>
                <a:ext cx="3514552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 smtClean="0">
                          <a:latin typeface="Cambria Math" panose="02040503050406030204" pitchFamily="18" charset="0"/>
                        </a:rPr>
                        <m:t>Сааты</m:t>
                      </m:r>
                      <m:r>
                        <a:rPr lang="ky-KG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Төлөө </m:t>
                          </m:r>
                          <m:r>
                            <a:rPr lang="ky-KG" sz="2800">
                              <a:latin typeface="Cambria Math" panose="02040503050406030204" pitchFamily="18" charset="0"/>
                            </a:rPr>
                            <m:t>Чени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1320B9-E0D1-B4C0-7CCF-B4CC44685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31" y="784324"/>
                <a:ext cx="3514552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8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9F7E78-A0FD-4A85-81BE-1C477FC1CF6C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486859" y="2540614"/>
            <a:ext cx="693228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Жыпара саатына 9,13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5 күн бою күнүнө 10 саат иштегени </a:t>
            </a:r>
            <a:endParaRPr lang="en-US" sz="3200" dirty="0"/>
          </a:p>
          <a:p>
            <a:pPr algn="ctr"/>
            <a:r>
              <a:rPr lang="ky-KG" sz="3200" dirty="0"/>
              <a:t>үчүн бир жумада канча айлык алат?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050550" y="5242679"/>
            <a:ext cx="42033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(10 × 5) × 9.13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3551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456.50 $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B47C6D-BB37-4317-A1C4-06A5BBAE2C4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72" y="83164"/>
            <a:ext cx="2160261" cy="21467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240761-F817-4A5D-87F4-55637504F1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A0C3D80-86F4-0887-4AA7-993F811A3BCD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8CD61CDD-5823-C977-F6E5-22E0899B1207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88C27E-75E8-3C2A-04E8-57C7C8D828D1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4BA92C6-63FE-DEDB-25A9-60D34D707B94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C8933DE-0E09-E06E-8F26-CC1AC7DB95B4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8CED26C-0797-6C0B-BE60-E07CE0FA2813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519F9AD-3C9D-ED91-C94D-27D05E83077A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A11CECA-AA1A-1BB7-49CF-3364B223B0DD}"/>
                  </a:ext>
                </a:extLst>
              </p:cNvPr>
              <p:cNvSpPr txBox="1"/>
              <p:nvPr/>
            </p:nvSpPr>
            <p:spPr>
              <a:xfrm>
                <a:off x="4465808" y="941099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A11CECA-AA1A-1BB7-49CF-3364B223B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808" y="941099"/>
                <a:ext cx="5277855" cy="430887"/>
              </a:xfrm>
              <a:prstGeom prst="rect">
                <a:avLst/>
              </a:prstGeom>
              <a:blipFill>
                <a:blip r:embed="rId4"/>
                <a:stretch>
                  <a:fillRect l="-4162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985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3F518E-DA94-41EA-AA7A-DAEF2EE21844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50142" y="2355281"/>
            <a:ext cx="920572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Канат шаршемби күнү 8 саат иштейт, </a:t>
            </a:r>
            <a:endParaRPr lang="en-US" sz="3200" dirty="0"/>
          </a:p>
          <a:p>
            <a:pPr algn="ctr"/>
            <a:r>
              <a:rPr lang="ky-KG" sz="3200" dirty="0"/>
              <a:t>Түштө 45 мүнөттүк төлөнбөгөн убакыта тамактанат.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Канат саатына 8,15 </a:t>
            </a:r>
            <a:r>
              <a:rPr lang="en-US" sz="3200" dirty="0"/>
              <a:t>$ </a:t>
            </a:r>
            <a:r>
              <a:rPr lang="ky-KG" sz="3200" dirty="0"/>
              <a:t>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канча айлык алат?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852052" y="5242679"/>
            <a:ext cx="3401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7.25 × 8.15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0425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59.16 $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1924D6-8EEB-4953-832E-2D005549D1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02" y="181811"/>
            <a:ext cx="1804141" cy="20633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070CB1-C457-4E9D-840A-7363F9912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898E7C4-79F3-E2F5-773C-DBB00D9577BC}"/>
              </a:ext>
            </a:extLst>
          </p:cNvPr>
          <p:cNvGrpSpPr/>
          <p:nvPr/>
        </p:nvGrpSpPr>
        <p:grpSpPr>
          <a:xfrm>
            <a:off x="2509548" y="263640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65FB1A8E-8E85-8B0E-FAC5-E6B9112342CA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BA3351A-E814-1F2A-1564-3D4285E051D8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5E63C13-2351-CC3F-FF47-69961A0C978D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88314F-8492-8B06-6426-0A6D326FB9A9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34E7B6-0FF4-C3C0-DD9E-DF1DFF1EF425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6F7A66-431B-5BC1-8CCE-F41FD03AB7D5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C0DC29-FE13-E20A-B0D6-C0B62F1DD5E3}"/>
                  </a:ext>
                </a:extLst>
              </p:cNvPr>
              <p:cNvSpPr txBox="1"/>
              <p:nvPr/>
            </p:nvSpPr>
            <p:spPr>
              <a:xfrm>
                <a:off x="4374192" y="659791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C0DC29-FE13-E20A-B0D6-C0B62F1DD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2" y="659791"/>
                <a:ext cx="5277855" cy="430887"/>
              </a:xfrm>
              <a:prstGeom prst="rect">
                <a:avLst/>
              </a:prstGeom>
              <a:blipFill>
                <a:blip r:embed="rId4"/>
                <a:stretch>
                  <a:fillRect l="-4162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307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18B54F0-8871-4ACE-9578-016288D4DF28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539466" y="5242679"/>
            <a:ext cx="37144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75.90 ÷ 8.25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39900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9.20</a:t>
            </a:r>
            <a:r>
              <a:rPr lang="ky-KG" sz="4800" dirty="0"/>
              <a:t> </a:t>
            </a:r>
            <a:r>
              <a:rPr lang="en-US" sz="4800" dirty="0"/>
              <a:t>$ </a:t>
            </a:r>
            <a:r>
              <a:rPr lang="ky-KG" sz="4800" dirty="0"/>
              <a:t>саатына</a:t>
            </a:r>
            <a:endParaRPr lang="en-GB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10F02-89ED-48C9-8BEF-F23FC06692DF}"/>
              </a:ext>
            </a:extLst>
          </p:cNvPr>
          <p:cNvSpPr txBox="1"/>
          <p:nvPr/>
        </p:nvSpPr>
        <p:spPr>
          <a:xfrm>
            <a:off x="327899" y="2375156"/>
            <a:ext cx="925022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Жыпара күнүнө 75,90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45 мүнөттүк түшкү тыныгуу менен 9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Анын бир саатына эмгек акысы канча?</a:t>
            </a:r>
            <a:endParaRPr lang="en-GB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8B1D1B-E638-49A3-A83C-D1BE4FDE1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" y="22860"/>
            <a:ext cx="2543069" cy="2229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8EF51A-FB77-46AE-9C61-BD36A88E5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CE76587-87D6-3BED-077E-1A90B81E669A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3D1501CF-9D88-D2CE-3DAA-634A265EA472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15EECB1-7F4F-A614-5BB6-AB78E4A35943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8D26191-D37E-9923-8C54-F63DAB4866AC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3EBC3A-1390-C0BF-46AB-4B278B258701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9C46A3-29DA-97C9-B359-3BCA895B5D20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BDD2DA-51E8-12B7-5907-83588DBBD207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579804-74EB-EB6C-7055-67574D0A1993}"/>
                  </a:ext>
                </a:extLst>
              </p:cNvPr>
              <p:cNvSpPr txBox="1"/>
              <p:nvPr/>
            </p:nvSpPr>
            <p:spPr>
              <a:xfrm>
                <a:off x="4841552" y="784324"/>
                <a:ext cx="4075603" cy="797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>
                          <a:latin typeface="Cambria Math" panose="02040503050406030204" pitchFamily="18" charset="0"/>
                        </a:rPr>
                        <m:t>Т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өлөө </m:t>
                      </m:r>
                      <m:r>
                        <a:rPr lang="ky-KG" sz="2800">
                          <a:latin typeface="Cambria Math" panose="02040503050406030204" pitchFamily="18" charset="0"/>
                        </a:rPr>
                        <m:t>Чени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Сааты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579804-74EB-EB6C-7055-67574D0A1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1552" y="784324"/>
                <a:ext cx="4075603" cy="797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4149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CE988E3-4948-4E80-B0AA-0F76E8A8A2F6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11730" y="2566739"/>
            <a:ext cx="968258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Жакып күнүнө 63,75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Жакыптын айлык акысы саатына 8,50 долларды түзөт.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бир күндө канча саат иштейт?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852053" y="5242679"/>
            <a:ext cx="34018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63.75 ÷ 8.5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1914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7.5 </a:t>
            </a:r>
            <a:r>
              <a:rPr lang="ky-KG" sz="4800" dirty="0"/>
              <a:t>саат</a:t>
            </a:r>
            <a:endParaRPr lang="en-GB" sz="4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FF7A15-0E31-48E1-9736-40B6FD606E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71" y="102967"/>
            <a:ext cx="2190845" cy="2229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AD3FC2-35DA-498E-887A-0CF500A8D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67E0A6B-2B6E-81E0-5159-94AEB99EFD46}"/>
              </a:ext>
            </a:extLst>
          </p:cNvPr>
          <p:cNvGrpSpPr/>
          <p:nvPr/>
        </p:nvGrpSpPr>
        <p:grpSpPr>
          <a:xfrm>
            <a:off x="2809068" y="491166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303AEEBE-6CD5-B79E-B7C3-3F2C3FFE2074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F124C9B-0236-0BE0-DF53-631FDF8DC36D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229DEEA-58F5-8EF8-87F8-CA8DB9F2C0B9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434D72-749B-DAF4-A44E-BA43A177607A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62B33A0-AC4C-85C1-024A-830677B7746E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E2627A-D058-6B5F-A5AB-52303A4EDB44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56F515-3EC2-4D4B-78DC-1C06AE6A5CD7}"/>
                  </a:ext>
                </a:extLst>
              </p:cNvPr>
              <p:cNvSpPr txBox="1"/>
              <p:nvPr/>
            </p:nvSpPr>
            <p:spPr>
              <a:xfrm>
                <a:off x="5097760" y="818847"/>
                <a:ext cx="3514552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 smtClean="0">
                          <a:latin typeface="Cambria Math" panose="02040503050406030204" pitchFamily="18" charset="0"/>
                        </a:rPr>
                        <m:t>Сааты</m:t>
                      </m:r>
                      <m:r>
                        <a:rPr lang="ky-KG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Төлөө </m:t>
                          </m:r>
                          <m:r>
                            <a:rPr lang="ky-KG" sz="2800">
                              <a:latin typeface="Cambria Math" panose="02040503050406030204" pitchFamily="18" charset="0"/>
                            </a:rPr>
                            <m:t>Чени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56F515-3EC2-4D4B-78DC-1C06AE6A5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760" y="818847"/>
                <a:ext cx="3514552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447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0AE1E36-6B23-402C-973A-B46BE506A4C8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063C6B-3D66-4055-8993-C14ED84632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54" y="148569"/>
            <a:ext cx="1772880" cy="22291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789665" y="2549322"/>
            <a:ext cx="632666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Карабала</a:t>
            </a:r>
            <a:r>
              <a:rPr lang="ru-RU" sz="3200" dirty="0"/>
              <a:t> саатына 14 доллар табат.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 37 жарым саат иштегени үчүн </a:t>
            </a:r>
          </a:p>
          <a:p>
            <a:pPr algn="ctr"/>
            <a:r>
              <a:rPr lang="ru-RU" sz="3200" dirty="0"/>
              <a:t>бир жумада канча айлык алат?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2320129" y="5242679"/>
            <a:ext cx="2933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37.5 × 14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15744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525</a:t>
            </a:r>
            <a:r>
              <a:rPr lang="ky-KG" sz="4800" dirty="0"/>
              <a:t> </a:t>
            </a:r>
            <a:r>
              <a:rPr lang="en-US" sz="4800" dirty="0"/>
              <a:t>$</a:t>
            </a:r>
            <a:endParaRPr lang="en-GB" sz="4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43BECB8-1D9C-4829-B6C4-596777791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58A891A-1FB7-CFF0-4E98-52F3B8F22F18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D915BB4C-A263-87F1-3E70-DA81FB9A446D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B603047-B251-B1FF-EAAB-49667AB9FC0F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49B49E8-8C0E-E8E9-B45C-46ACFAA48756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4C2AD3-9A88-22F6-28B6-0EAE024BBEFC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1EB94C5-C805-6581-9BD2-302B27328685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F1F54E-EE17-9FA4-3F19-89797827B1E6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FDCE5C5-F7E4-7160-F83B-9C9DFF1A18B7}"/>
                  </a:ext>
                </a:extLst>
              </p:cNvPr>
              <p:cNvSpPr txBox="1"/>
              <p:nvPr/>
            </p:nvSpPr>
            <p:spPr>
              <a:xfrm>
                <a:off x="4374192" y="580961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FDCE5C5-F7E4-7160-F83B-9C9DFF1A1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2" y="580961"/>
                <a:ext cx="5277855" cy="430887"/>
              </a:xfrm>
              <a:prstGeom prst="rect">
                <a:avLst/>
              </a:prstGeom>
              <a:blipFill>
                <a:blip r:embed="rId4"/>
                <a:stretch>
                  <a:fillRect l="-4162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7727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542FCBB-FED6-4CD8-A05D-BE13C421DCFD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045781" y="5252958"/>
            <a:ext cx="34018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86.70 ÷ 7.5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4529183" y="5252958"/>
            <a:ext cx="46151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11.56</a:t>
            </a:r>
            <a:r>
              <a:rPr lang="ky-KG" sz="4800" dirty="0"/>
              <a:t> </a:t>
            </a:r>
            <a:r>
              <a:rPr lang="en-US" sz="4800" dirty="0"/>
              <a:t>4$ </a:t>
            </a:r>
            <a:r>
              <a:rPr lang="ky-KG" sz="4800" dirty="0"/>
              <a:t>саатына</a:t>
            </a:r>
            <a:endParaRPr lang="en-GB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10F02-89ED-48C9-8BEF-F23FC06692DF}"/>
              </a:ext>
            </a:extLst>
          </p:cNvPr>
          <p:cNvSpPr txBox="1"/>
          <p:nvPr/>
        </p:nvSpPr>
        <p:spPr>
          <a:xfrm>
            <a:off x="1577717" y="2128084"/>
            <a:ext cx="675056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Жаныбек 30 мүнөттүк түшкү тыныгуу </a:t>
            </a:r>
          </a:p>
          <a:p>
            <a:pPr algn="ctr"/>
            <a:r>
              <a:rPr lang="ky-KG" sz="3200" dirty="0"/>
              <a:t>менен 8 саат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күнүнө 86,70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Анын бир саатка эмгек акысы канча?</a:t>
            </a:r>
            <a:endParaRPr lang="en-GB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438546-5680-41D0-B4F6-053F7BB7B3D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02" y="181811"/>
            <a:ext cx="1804141" cy="20633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4E193A-41AF-4283-8F08-97B6BD71C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72C37A4-3C2A-C3A1-3797-EDD5AED09662}"/>
              </a:ext>
            </a:extLst>
          </p:cNvPr>
          <p:cNvGrpSpPr/>
          <p:nvPr/>
        </p:nvGrpSpPr>
        <p:grpSpPr>
          <a:xfrm>
            <a:off x="2882549" y="3278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A3C23EE6-F70F-34C1-B984-166B6C99CAF4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E3DC3DE-60A8-1104-3E03-62DE8BD1A620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D995A7-9A43-F5AB-C07D-BEE80F8A665A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851C18-B4B8-CDA6-71E2-2E1AC730D092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89C643-2035-DCCA-42E0-EB1DCB0EC40E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86C3B4-B674-78E5-28BA-8F124A57596B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39ADE9F-D334-6510-31CE-8521920C2A26}"/>
                  </a:ext>
                </a:extLst>
              </p:cNvPr>
              <p:cNvSpPr txBox="1"/>
              <p:nvPr/>
            </p:nvSpPr>
            <p:spPr>
              <a:xfrm>
                <a:off x="5429795" y="843444"/>
                <a:ext cx="4075603" cy="797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>
                          <a:latin typeface="Cambria Math" panose="02040503050406030204" pitchFamily="18" charset="0"/>
                        </a:rPr>
                        <m:t>Т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өлөө </m:t>
                      </m:r>
                      <m:r>
                        <a:rPr lang="ky-KG" sz="2800">
                          <a:latin typeface="Cambria Math" panose="02040503050406030204" pitchFamily="18" charset="0"/>
                        </a:rPr>
                        <m:t>Чени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Сааты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39ADE9F-D334-6510-31CE-8521920C2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795" y="843444"/>
                <a:ext cx="4075603" cy="797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79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DD31AF-1D92-44E1-8FD6-5FA5AA7573E2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619538" y="2232227"/>
            <a:ext cx="866692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Карыбек күнүнө 9 саат иштейт, </a:t>
            </a:r>
            <a:endParaRPr lang="en-US" sz="3200" dirty="0"/>
          </a:p>
          <a:p>
            <a:pPr algn="ctr"/>
            <a:r>
              <a:rPr lang="ky-KG" sz="3200" dirty="0"/>
              <a:t>30 мүнөттүк түшкү тыныгуу менен.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саатына 14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5 күндүк жуманын ичинде канча айлык алат?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363136" y="5242679"/>
            <a:ext cx="38908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(8.5 × 5) × 14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15744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595</a:t>
            </a:r>
            <a:r>
              <a:rPr lang="en-US" sz="4800" dirty="0"/>
              <a:t> $</a:t>
            </a:r>
            <a:endParaRPr lang="en-GB" sz="4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799F1D-35A6-44F9-A1C2-86DA5641D33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63" y="251137"/>
            <a:ext cx="2000367" cy="19175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89C07-F24F-4E41-A4E9-1BCD08CB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1745D5-406A-4DA6-B8E0-9780126AF4E8}"/>
              </a:ext>
            </a:extLst>
          </p:cNvPr>
          <p:cNvSpPr/>
          <p:nvPr/>
        </p:nvSpPr>
        <p:spPr>
          <a:xfrm>
            <a:off x="2070100" y="1494797"/>
            <a:ext cx="346930" cy="3469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5231C-3EF8-1F46-E9B3-6C004A6C0B0B}"/>
              </a:ext>
            </a:extLst>
          </p:cNvPr>
          <p:cNvGrpSpPr/>
          <p:nvPr/>
        </p:nvGrpSpPr>
        <p:grpSpPr>
          <a:xfrm>
            <a:off x="2417030" y="459817"/>
            <a:ext cx="1869440" cy="1654076"/>
            <a:chOff x="4905278" y="651911"/>
            <a:chExt cx="1869440" cy="1654076"/>
          </a:xfrm>
        </p:grpSpPr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807F159E-DFD2-B5E3-96D0-0C2FA1DC3041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DA577CC-FFE9-88A0-B169-E511A12EEF53}"/>
                </a:ext>
              </a:extLst>
            </p:cNvPr>
            <p:cNvCxnSpPr>
              <a:cxnSpLocks/>
              <a:stCxn id="5" idx="1"/>
              <a:endCxn id="5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248DB9-6606-548B-4C77-D61B830F24FC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C54873-0A2B-613A-69EE-B809C0064637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033869F-D1EC-3208-A0C3-7F9B02D86A67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FF6207-D8F6-8087-8793-9032D598E61A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195AE65-6979-3B08-1DBC-8A26F0263209}"/>
                  </a:ext>
                </a:extLst>
              </p:cNvPr>
              <p:cNvSpPr txBox="1"/>
              <p:nvPr/>
            </p:nvSpPr>
            <p:spPr>
              <a:xfrm>
                <a:off x="4330134" y="855968"/>
                <a:ext cx="52778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ky-KG" sz="2800" dirty="0"/>
                  <a:t>Эмгек акы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Сааты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ky-KG" sz="2800" b="0" i="1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ky-KG" sz="2800" i="1">
                        <a:latin typeface="Cambria Math" panose="02040503050406030204" pitchFamily="18" charset="0"/>
                      </a:rPr>
                      <m:t>өлөө 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Ч</m:t>
                    </m:r>
                    <m:r>
                      <a:rPr lang="ky-KG" sz="2800" b="0" i="0" smtClean="0">
                        <a:latin typeface="Cambria Math" panose="02040503050406030204" pitchFamily="18" charset="0"/>
                      </a:rPr>
                      <m:t>ени</m:t>
                    </m:r>
                  </m:oMath>
                </a14:m>
                <a:endParaRPr lang="en-GB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195AE65-6979-3B08-1DBC-8A26F0263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134" y="855968"/>
                <a:ext cx="5277855" cy="430887"/>
              </a:xfrm>
              <a:prstGeom prst="rect">
                <a:avLst/>
              </a:prstGeom>
              <a:blipFill>
                <a:blip r:embed="rId4"/>
                <a:stretch>
                  <a:fillRect l="-4042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33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4B20BD-E9D5-47C0-9274-77DA26C631C8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2346" y="2566739"/>
            <a:ext cx="988135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Гүлсарынын айлык акысы саатына 8,72 долларды түзөт.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Гүлсары жумасына 296,48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жумасына канча саат иштейт?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226882" y="5242679"/>
            <a:ext cx="40270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296.48 ÷ 8.72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035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34 </a:t>
            </a:r>
            <a:r>
              <a:rPr lang="ky-KG" sz="4800" dirty="0"/>
              <a:t>саат</a:t>
            </a:r>
            <a:endParaRPr lang="en-GB" sz="4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967C16-BA85-4CB8-B709-EF0F40E6F5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92" y="258777"/>
            <a:ext cx="1983604" cy="22291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F77A5C-B3C0-4D2B-A5B9-DB42F8905A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87BEA3B-AA9E-0AE5-6494-6D0AC8071707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C9F66D49-71BA-7C0C-BF1C-FF7C947DF494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0CFF62-EE48-ECE0-7BD8-39104F53115C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E2629BA-43AC-A837-00EE-B89A25C51945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C48DA4-FDE5-0F41-A526-3D0348E6FAA2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32D287D-5744-8280-30D3-0EDCEB81FDF8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B8E14C-D29C-55C0-030B-3681BC81FD6C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55A72A-4180-DC98-ECDD-18F6792E5C3C}"/>
                  </a:ext>
                </a:extLst>
              </p:cNvPr>
              <p:cNvSpPr txBox="1"/>
              <p:nvPr/>
            </p:nvSpPr>
            <p:spPr>
              <a:xfrm>
                <a:off x="5201380" y="541237"/>
                <a:ext cx="3514552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 smtClean="0">
                          <a:latin typeface="Cambria Math" panose="02040503050406030204" pitchFamily="18" charset="0"/>
                        </a:rPr>
                        <m:t>Сааты</m:t>
                      </m:r>
                      <m:r>
                        <a:rPr lang="ky-KG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Төлөө </m:t>
                          </m:r>
                          <m:r>
                            <a:rPr lang="ky-KG" sz="2800">
                              <a:latin typeface="Cambria Math" panose="02040503050406030204" pitchFamily="18" charset="0"/>
                            </a:rPr>
                            <m:t>Чени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55A72A-4180-DC98-ECDD-18F6792E5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1380" y="541237"/>
                <a:ext cx="3514552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670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13CCA38-00B1-4BE4-B42F-F8FDC4527C3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1518627" y="5242679"/>
            <a:ext cx="37353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532 ÷ (8 × 4)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39900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9.50</a:t>
            </a:r>
            <a:r>
              <a:rPr lang="ky-KG" sz="4800" dirty="0"/>
              <a:t> </a:t>
            </a:r>
            <a:r>
              <a:rPr lang="en-US" sz="4800" dirty="0"/>
              <a:t>$ </a:t>
            </a:r>
            <a:r>
              <a:rPr lang="ky-KG" sz="4800" dirty="0"/>
              <a:t>саатына</a:t>
            </a:r>
            <a:endParaRPr lang="en-GB" sz="4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310F02-89ED-48C9-8BEF-F23FC06692DF}"/>
              </a:ext>
            </a:extLst>
          </p:cNvPr>
          <p:cNvSpPr txBox="1"/>
          <p:nvPr/>
        </p:nvSpPr>
        <p:spPr>
          <a:xfrm>
            <a:off x="767430" y="2558025"/>
            <a:ext cx="8371139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Жамила жумасына 304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күнүнө 8 саат жана жумасына 4 күн иштейт.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Анын бир саатына эмгек акысы канча?</a:t>
            </a:r>
            <a:endParaRPr lang="en-GB" sz="3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2D4417-3284-4D04-AC1C-DCBF40C94BB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72" y="83164"/>
            <a:ext cx="2160261" cy="21467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BF54977-8705-4C96-A8FC-643467616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A7210EB-0D5B-1211-E66C-7DB035E325DB}"/>
              </a:ext>
            </a:extLst>
          </p:cNvPr>
          <p:cNvGrpSpPr/>
          <p:nvPr/>
        </p:nvGrpSpPr>
        <p:grpSpPr>
          <a:xfrm>
            <a:off x="2778147" y="342953"/>
            <a:ext cx="1869440" cy="1654076"/>
            <a:chOff x="4905278" y="651911"/>
            <a:chExt cx="1869440" cy="1654076"/>
          </a:xfrm>
        </p:grpSpPr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65B07F37-D4C5-7693-7618-1B5890EEDC28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C32AA8C-6F95-5F54-57D9-6A5056870D3D}"/>
                </a:ext>
              </a:extLst>
            </p:cNvPr>
            <p:cNvCxnSpPr>
              <a:cxnSpLocks/>
              <a:stCxn id="3" idx="1"/>
              <a:endCxn id="3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7D2B91-45B9-BF89-4452-49270B8017F4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5C1214-0034-4598-457A-55A5D87E7ED7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47D1E7A-F2B5-CC5C-4BA5-975DC896D7CA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9BA2F9-5F46-DA35-B28F-5311E29FA749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0DC507-CA87-A75A-BE91-849B5522E8D1}"/>
                  </a:ext>
                </a:extLst>
              </p:cNvPr>
              <p:cNvSpPr txBox="1"/>
              <p:nvPr/>
            </p:nvSpPr>
            <p:spPr>
              <a:xfrm>
                <a:off x="4647587" y="819585"/>
                <a:ext cx="4075603" cy="797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>
                          <a:latin typeface="Cambria Math" panose="02040503050406030204" pitchFamily="18" charset="0"/>
                        </a:rPr>
                        <m:t>Т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өлөө </m:t>
                      </m:r>
                      <m:r>
                        <a:rPr lang="ky-KG" sz="2800">
                          <a:latin typeface="Cambria Math" panose="02040503050406030204" pitchFamily="18" charset="0"/>
                        </a:rPr>
                        <m:t>Чени</m:t>
                      </m:r>
                      <m:r>
                        <a:rPr lang="ky-KG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Сааты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0DC507-CA87-A75A-BE91-849B5522E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587" y="819585"/>
                <a:ext cx="4075603" cy="797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85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EB4E18-150A-437F-BFD4-AFE1698D37D3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95087" y="2566739"/>
            <a:ext cx="951587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Бегимай жумасына 304 доллар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Бегимайдын айлык акысы саатына 8 долларды түзөт.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жумасына канча саат иштейт?</a:t>
            </a:r>
            <a:endParaRPr lang="en-GB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A67B6-5253-4206-9A9A-FD56907077D9}"/>
              </a:ext>
            </a:extLst>
          </p:cNvPr>
          <p:cNvSpPr txBox="1"/>
          <p:nvPr/>
        </p:nvSpPr>
        <p:spPr>
          <a:xfrm>
            <a:off x="2788206" y="5242679"/>
            <a:ext cx="246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800" dirty="0"/>
              <a:t>304 ÷ 8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98DB7-0BB2-456B-8D17-B91BAFC2CAB3}"/>
              </a:ext>
            </a:extLst>
          </p:cNvPr>
          <p:cNvSpPr txBox="1"/>
          <p:nvPr/>
        </p:nvSpPr>
        <p:spPr>
          <a:xfrm>
            <a:off x="5423263" y="5242679"/>
            <a:ext cx="2035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38 </a:t>
            </a:r>
            <a:r>
              <a:rPr lang="ky-KG" sz="4800" dirty="0"/>
              <a:t>саат</a:t>
            </a:r>
            <a:endParaRPr lang="en-GB" sz="4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215D07-A945-47A6-A6C8-D6693B97F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4" y="5878"/>
            <a:ext cx="2543069" cy="22291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858EDB-CAE5-4C22-A7B3-4BB2BE2C23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7640" y="5908298"/>
            <a:ext cx="774623" cy="90965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5611F75-BF90-A790-352F-5280B6B0A5AB}"/>
              </a:ext>
            </a:extLst>
          </p:cNvPr>
          <p:cNvGrpSpPr/>
          <p:nvPr/>
        </p:nvGrpSpPr>
        <p:grpSpPr>
          <a:xfrm>
            <a:off x="2809068" y="580961"/>
            <a:ext cx="1869440" cy="1654076"/>
            <a:chOff x="4905278" y="651911"/>
            <a:chExt cx="1869440" cy="1654076"/>
          </a:xfrm>
        </p:grpSpPr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886CBAE6-25E0-A436-632C-3F11228F0E56}"/>
                </a:ext>
              </a:extLst>
            </p:cNvPr>
            <p:cNvSpPr/>
            <p:nvPr/>
          </p:nvSpPr>
          <p:spPr>
            <a:xfrm>
              <a:off x="4905278" y="651911"/>
              <a:ext cx="1869440" cy="1654076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950" dirty="0">
                <a:highlight>
                  <a:srgbClr val="000080"/>
                </a:highlight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B7311-D5C8-EBCA-E42B-76FF94A98FCB}"/>
                </a:ext>
              </a:extLst>
            </p:cNvPr>
            <p:cNvCxnSpPr>
              <a:cxnSpLocks/>
              <a:stCxn id="16" idx="1"/>
              <a:endCxn id="16" idx="5"/>
            </p:cNvCxnSpPr>
            <p:nvPr/>
          </p:nvCxnSpPr>
          <p:spPr>
            <a:xfrm>
              <a:off x="5372638" y="1478949"/>
              <a:ext cx="93472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1457551-AD77-FA91-4F1F-C42A16054B22}"/>
                </a:ext>
              </a:extLst>
            </p:cNvPr>
            <p:cNvCxnSpPr/>
            <p:nvPr/>
          </p:nvCxnSpPr>
          <p:spPr>
            <a:xfrm>
              <a:off x="5839998" y="1478949"/>
              <a:ext cx="0" cy="82703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F025FD0-3B5D-CC87-3AFD-0D9489F61111}"/>
                </a:ext>
              </a:extLst>
            </p:cNvPr>
            <p:cNvSpPr txBox="1"/>
            <p:nvPr/>
          </p:nvSpPr>
          <p:spPr>
            <a:xfrm>
              <a:off x="5492018" y="914394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ЭА</a:t>
              </a:r>
              <a:endParaRPr lang="en-US" sz="2400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86EC7A6-9A78-4B21-CED6-386BD86CE932}"/>
                </a:ext>
              </a:extLst>
            </p:cNvPr>
            <p:cNvSpPr txBox="1"/>
            <p:nvPr/>
          </p:nvSpPr>
          <p:spPr>
            <a:xfrm>
              <a:off x="5209594" y="1625097"/>
              <a:ext cx="69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С</a:t>
              </a:r>
              <a:endParaRPr lang="en-US" sz="2400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FC96BDC-341B-5093-D9D3-EE508B3ADDE5}"/>
                </a:ext>
              </a:extLst>
            </p:cNvPr>
            <p:cNvSpPr txBox="1"/>
            <p:nvPr/>
          </p:nvSpPr>
          <p:spPr>
            <a:xfrm>
              <a:off x="5839998" y="1632717"/>
              <a:ext cx="6304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y-KG" sz="2800" b="1" dirty="0"/>
                <a:t>ТЧ</a:t>
              </a:r>
              <a:endParaRPr lang="en-US" sz="24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5BB0252-4DC4-A88B-5C86-A8B3C8A8DCF1}"/>
                  </a:ext>
                </a:extLst>
              </p:cNvPr>
              <p:cNvSpPr txBox="1"/>
              <p:nvPr/>
            </p:nvSpPr>
            <p:spPr>
              <a:xfrm>
                <a:off x="5145868" y="653082"/>
                <a:ext cx="3514552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y-KG" sz="2800" i="1" smtClean="0">
                          <a:latin typeface="Cambria Math" panose="02040503050406030204" pitchFamily="18" charset="0"/>
                        </a:rPr>
                        <m:t>Сааты</m:t>
                      </m:r>
                      <m:r>
                        <a:rPr lang="ky-KG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y-KG" sz="2800" dirty="0"/>
                            <m:t>Эмгек акы</m:t>
                          </m:r>
                        </m:num>
                        <m:den>
                          <m:r>
                            <a:rPr lang="ky-KG" sz="2800" i="1">
                              <a:latin typeface="Cambria Math" panose="02040503050406030204" pitchFamily="18" charset="0"/>
                            </a:rPr>
                            <m:t>Төлөө </m:t>
                          </m:r>
                          <m:r>
                            <a:rPr lang="ky-KG" sz="2800">
                              <a:latin typeface="Cambria Math" panose="02040503050406030204" pitchFamily="18" charset="0"/>
                            </a:rPr>
                            <m:t>Чени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5BB0252-4DC4-A88B-5C86-A8B3C8A8D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5868" y="653082"/>
                <a:ext cx="3514552" cy="797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4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38" y="975360"/>
            <a:ext cx="9052242" cy="4754563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8841</TotalTime>
  <Words>755</Words>
  <Application>Microsoft Office PowerPoint</Application>
  <PresentationFormat>A4 Paper (210x297 mm)</PresentationFormat>
  <Paragraphs>246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Cambria Math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393</cp:revision>
  <cp:lastPrinted>2017-12-31T22:38:51Z</cp:lastPrinted>
  <dcterms:created xsi:type="dcterms:W3CDTF">2017-01-17T16:57:04Z</dcterms:created>
  <dcterms:modified xsi:type="dcterms:W3CDTF">2024-09-18T15:54:15Z</dcterms:modified>
</cp:coreProperties>
</file>