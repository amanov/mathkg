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6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3C58"/>
                </a:solidFill>
                <a:latin typeface="Arial"/>
              </a:rPr>
              <a:t>ЭСТЕ САКТОО БАРАКЧАСЫ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360000"/>
            <a:ext cx="5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Аралаш кайталоо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6000" y="6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0F3C58"/>
                </a:solidFill>
                <a:latin typeface="Arial"/>
              </a:rPr>
              <a:t>1-А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6000" y="36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F3C58"/>
                </a:solidFill>
                <a:latin typeface="Arial"/>
              </a:rPr>
              <a:t>Суроолор  ·  Макс. балл: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0000" y="700000"/>
            <a:ext cx="5000285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0000" y="7200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0285" y="720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000" y="740000"/>
            <a:ext cx="4680285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Акча эсеби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" y="920000"/>
            <a:ext cx="4840285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Айжан дүкөндөн 65 сомго самса, 25 сомго сок жана 10 сомдон 3 печенье сатып алды. Ал кассага 200 сом берди. Канча сом кайтарым берилиши керек?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0285" y="700000"/>
            <a:ext cx="2272857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0285" y="7200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93142" y="720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285" y="740000"/>
            <a:ext cx="195285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Көбөйтүү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0285" y="920000"/>
            <a:ext cx="2112857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24 × 74 эсепте.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3142" y="700000"/>
            <a:ext cx="2272857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3142" y="7200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5999" y="720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3142" y="740000"/>
            <a:ext cx="195285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Бөлүү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142" y="920000"/>
            <a:ext cx="2112857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429 ÷ 11 эсепте.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0000" y="2194500"/>
            <a:ext cx="5000285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0000" y="22145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0285" y="22145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000" y="2234500"/>
            <a:ext cx="4680285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Айкалыштар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000" y="2414500"/>
            <a:ext cx="4840285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Мектептин ашканасында 150 сомго 1 тамак жана 1 суусундук тандаса болот.</a:t>
            </a:r>
          </a:p>
          <a:p>
            <a:pPr algn="l"/>
            <a:r>
              <a:rPr sz="1100" b="0">
                <a:latin typeface="Arial"/>
              </a:rPr>
              <a:t>Тамактар: манты, куурдак, плов.</a:t>
            </a:r>
          </a:p>
          <a:p>
            <a:pPr algn="l"/>
            <a:r>
              <a:rPr sz="1100" b="0">
                <a:latin typeface="Arial"/>
              </a:rPr>
              <a:t>Суусундуктар: чай, сок.</a:t>
            </a:r>
          </a:p>
          <a:p>
            <a:pPr algn="l"/>
            <a:r>
              <a:rPr sz="1100" b="0">
                <a:latin typeface="Arial"/>
              </a:rPr>
              <a:t>Тамак менен суусундуктун болушу мүмкүн болгон бардык айкалыштарын жазгыла.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80285" y="2194500"/>
            <a:ext cx="2272857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20285" y="22145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3142" y="22145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285" y="2234500"/>
            <a:ext cx="195285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Пайыз жана ондук бөлчөк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0285" y="2414500"/>
            <a:ext cx="2112857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а) 0,6 санын пайызга айландыр.</a:t>
            </a:r>
          </a:p>
          <a:p>
            <a:pPr algn="l"/>
            <a:r>
              <a:rPr sz="1100" b="0">
                <a:latin typeface="Arial"/>
              </a:rPr>
              <a:t>б) 46% санын ондук бөлчөккө айландыр.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3142" y="2194500"/>
            <a:ext cx="2272857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3142" y="22145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65999" y="22145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3142" y="2234500"/>
            <a:ext cx="195285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Ой жүгүртүү (статистика)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142" y="2414500"/>
            <a:ext cx="2112857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Мугалим 7 окуучунун упайын өсүү тартибинде жайгаштырды:</a:t>
            </a:r>
          </a:p>
          <a:p>
            <a:pPr algn="l"/>
            <a:r>
              <a:rPr sz="1100" b="1">
                <a:latin typeface="Arial"/>
              </a:rPr>
              <a:t>38, 40, 48, 46, 44, 50, 56</a:t>
            </a:r>
          </a:p>
          <a:p>
            <a:pPr algn="l"/>
            <a:r>
              <a:rPr sz="1100" b="0">
                <a:latin typeface="Arial"/>
              </a:rPr>
              <a:t>Тартипти бузган эки санды тапкыла.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0000" y="3689000"/>
            <a:ext cx="5000285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0000" y="37090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0285" y="3709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000" y="3729000"/>
            <a:ext cx="4680285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Тегеректөө чектери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0000" y="3909000"/>
            <a:ext cx="4840285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Жиптин узундугу эң жакын сантиметрге чейин тегеректелгенде 83 см чыкты.</a:t>
            </a:r>
          </a:p>
          <a:p>
            <a:pPr algn="l"/>
            <a:r>
              <a:rPr sz="1100" b="0">
                <a:latin typeface="Arial"/>
              </a:rPr>
              <a:t>а) Анын болушу мүмкүн болгон эң аз узундугун жазгыла.</a:t>
            </a:r>
          </a:p>
          <a:p>
            <a:pPr algn="l"/>
            <a:r>
              <a:rPr sz="1100" b="0">
                <a:latin typeface="Arial"/>
              </a:rPr>
              <a:t>б) Анын болушу мүмкүн болгон эң чоң узундугун жазгыла.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80285" y="3689000"/>
            <a:ext cx="2272857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20285" y="37090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3142" y="3709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285" y="3729000"/>
            <a:ext cx="195285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Бирдик которуу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70285" y="3909000"/>
            <a:ext cx="2112857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а) 25 мм-ди сантиметрге айландыр.</a:t>
            </a:r>
          </a:p>
          <a:p>
            <a:pPr algn="l"/>
            <a:r>
              <a:rPr sz="1100" b="0">
                <a:latin typeface="Arial"/>
              </a:rPr>
              <a:t>б) 5 м-ди сантиметрге айландыр.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0000" y="5183500"/>
            <a:ext cx="5000285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0000" y="52035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20285" y="52035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0000" y="5223500"/>
            <a:ext cx="4680285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Даражалар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0000" y="5403500"/>
            <a:ext cx="4840285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а) 94⁰ маанисин жаз.</a:t>
            </a:r>
          </a:p>
          <a:p>
            <a:pPr algn="l"/>
            <a:r>
              <a:rPr sz="1100" b="0">
                <a:latin typeface="Arial"/>
              </a:rPr>
              <a:t>б) 5⁰ маанисин жаз.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80285" y="5183500"/>
            <a:ext cx="2272857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20285" y="52035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93142" y="52035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285" y="5223500"/>
            <a:ext cx="195285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Ырааттуулук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70285" y="5403500"/>
            <a:ext cx="2112857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Ырааттуулуктун кийинки эки санын тап:</a:t>
            </a:r>
          </a:p>
          <a:p>
            <a:pPr algn="l"/>
            <a:r>
              <a:rPr sz="1100" b="1">
                <a:latin typeface="Arial"/>
              </a:rPr>
              <a:t>5, 10, 15, 20, 25, ___, ___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53142" y="3689000"/>
            <a:ext cx="2272857" cy="29890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3142" y="37090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⑪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65999" y="3709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13142" y="3729000"/>
            <a:ext cx="195285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Чагылдыруу (геометрия)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43142" y="3909000"/>
            <a:ext cx="2112857" cy="22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A үч бурчтугун x = 0 сызыгына карата чагылдыр.</a:t>
            </a:r>
          </a:p>
          <a:p>
            <a:pPr algn="l"/>
            <a:r>
              <a:rPr sz="1100" b="0">
                <a:latin typeface="Arial"/>
              </a:rPr>
              <a:t>Жаңы сүрөттү тартып, аны A' деп белгиле.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76850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685070" y="66180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8659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685070" y="64371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0468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685070" y="62562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2277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685070" y="60753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4086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685070" y="58944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589570" y="4809000"/>
            <a:ext cx="0" cy="1809000"/>
          </a:xfrm>
          <a:prstGeom prst="line">
            <a:avLst/>
          </a:prstGeom>
          <a:ln w="17780">
            <a:solidFill>
              <a:srgbClr val="0F3C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685070" y="5713500"/>
            <a:ext cx="1809000" cy="0"/>
          </a:xfrm>
          <a:prstGeom prst="line">
            <a:avLst/>
          </a:prstGeom>
          <a:ln w="17780">
            <a:solidFill>
              <a:srgbClr val="0F3C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7704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685070" y="55326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9513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685070" y="53517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1322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685070" y="51708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3131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685070" y="49899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4940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5070" y="48090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589570" y="4809000"/>
            <a:ext cx="0" cy="1809000"/>
          </a:xfrm>
          <a:prstGeom prst="line">
            <a:avLst/>
          </a:prstGeom>
          <a:ln w="20320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7685070" y="5351700"/>
            <a:ext cx="361800" cy="723600"/>
          </a:xfrm>
          <a:custGeom>
            <a:avLst/>
            <a:gdLst/>
            <a:ahLst/>
            <a:cxnLst/>
            <a:rect l="l" t="t" r="r" b="b"/>
            <a:pathLst>
              <a:path w="361800" h="723600">
                <a:moveTo>
                  <a:pt x="361800" y="723600"/>
                </a:moveTo>
                <a:lnTo>
                  <a:pt x="180900" y="0"/>
                </a:lnTo>
                <a:lnTo>
                  <a:pt x="0" y="542700"/>
                </a:lnTo>
                <a:lnTo>
                  <a:pt x="361800" y="723600"/>
                </a:lnTo>
                <a:close/>
              </a:path>
            </a:pathLst>
          </a:custGeom>
          <a:solidFill>
            <a:srgbClr val="DCE6EB"/>
          </a:solidFill>
          <a:ln w="2032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6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3C58"/>
                </a:solidFill>
                <a:latin typeface="Arial"/>
              </a:rPr>
              <a:t>ЭСТЕ САКТОО БАРАКЧАСЫ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360000"/>
            <a:ext cx="5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Аралаш кайталоо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6000" y="6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0F3C58"/>
                </a:solidFill>
                <a:latin typeface="Arial"/>
              </a:rPr>
              <a:t>1-А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6000" y="36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D6EFD"/>
                </a:solidFill>
                <a:latin typeface="Arial"/>
              </a:rPr>
              <a:t>Жооптор  ·  Макс. балл: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0000" y="700000"/>
            <a:ext cx="5000285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0000" y="7200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0285" y="720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000" y="740000"/>
            <a:ext cx="4680285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Акча эсеби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" y="920000"/>
            <a:ext cx="4840285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Айжан дүкөндөн 65 сомго самса, 25 сомго сок жана 10 сомдон 3 печенье сатып алды. Ал кассага 200 сом берди. Канча сом кайтарым берилиши керек?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" y="1834500"/>
            <a:ext cx="484028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6EFD"/>
                </a:solidFill>
                <a:latin typeface="Arial"/>
              </a:rPr>
              <a:t>80 сом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0285" y="700000"/>
            <a:ext cx="2272857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0285" y="7200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3142" y="720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285" y="740000"/>
            <a:ext cx="195285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Көбөйтүү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0285" y="920000"/>
            <a:ext cx="2112857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24 × 74 эсепте.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0285" y="1834500"/>
            <a:ext cx="2112857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6EFD"/>
                </a:solidFill>
                <a:latin typeface="Arial"/>
              </a:rPr>
              <a:t>1776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3142" y="700000"/>
            <a:ext cx="2272857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3142" y="7200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5999" y="720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3142" y="740000"/>
            <a:ext cx="195285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Бөлүү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142" y="920000"/>
            <a:ext cx="2112857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429 ÷ 11 эсепте.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142" y="1834500"/>
            <a:ext cx="2112857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6EFD"/>
                </a:solidFill>
                <a:latin typeface="Arial"/>
              </a:rPr>
              <a:t>39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0000" y="2194500"/>
            <a:ext cx="5000285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0000" y="22145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0285" y="22145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000" y="2234500"/>
            <a:ext cx="4680285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Айкалыштар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" y="2414500"/>
            <a:ext cx="4840285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Мектептин ашканасында 150 сомго 1 тамак жана 1 суусундук тандаса болот.</a:t>
            </a:r>
          </a:p>
          <a:p>
            <a:pPr algn="l"/>
            <a:r>
              <a:rPr sz="1100" b="0">
                <a:latin typeface="Arial"/>
              </a:rPr>
              <a:t>Тамактар: манты, куурдак, плов.</a:t>
            </a:r>
          </a:p>
          <a:p>
            <a:pPr algn="l"/>
            <a:r>
              <a:rPr sz="1100" b="0">
                <a:latin typeface="Arial"/>
              </a:rPr>
              <a:t>Суусундуктар: чай, сок.</a:t>
            </a:r>
          </a:p>
          <a:p>
            <a:pPr algn="l"/>
            <a:r>
              <a:rPr sz="1100" b="0">
                <a:latin typeface="Arial"/>
              </a:rPr>
              <a:t>Тамак менен суусундуктун болушу мүмкүн болгон бардык айкалыштарын жазгыла.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0000" y="3329000"/>
            <a:ext cx="484028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6EFD"/>
                </a:solidFill>
                <a:latin typeface="Arial"/>
              </a:rPr>
              <a:t>манты + чай; манты + сок; куурдак + чай; куурдак + сок; плов + чай; плов + сок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80285" y="2194500"/>
            <a:ext cx="2272857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20285" y="22145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3142" y="22145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285" y="2234500"/>
            <a:ext cx="195285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Пайыз жана ондук бөлчөк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70285" y="2414500"/>
            <a:ext cx="2112857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а) 0,6 санын пайызга айландыр.</a:t>
            </a:r>
          </a:p>
          <a:p>
            <a:pPr algn="l"/>
            <a:r>
              <a:rPr sz="1100" b="0">
                <a:latin typeface="Arial"/>
              </a:rPr>
              <a:t>б) 46% санын ондук бөлчөккө айландыр.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70285" y="3329000"/>
            <a:ext cx="2112857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6EFD"/>
                </a:solidFill>
                <a:latin typeface="Arial"/>
              </a:rPr>
              <a:t>а) 60%   б) 0,46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3142" y="2194500"/>
            <a:ext cx="2272857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3142" y="22145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5999" y="22145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13142" y="2234500"/>
            <a:ext cx="195285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Ой жүгүртүү (статистика)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142" y="2414500"/>
            <a:ext cx="2112857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Мугалим 7 окуучунун упайын өсүү тартибинде жайгаштырды:</a:t>
            </a:r>
          </a:p>
          <a:p>
            <a:pPr algn="l"/>
            <a:r>
              <a:rPr sz="1100" b="1">
                <a:latin typeface="Arial"/>
              </a:rPr>
              <a:t>38, 40, 48, 46, 44, 50, 56</a:t>
            </a:r>
          </a:p>
          <a:p>
            <a:pPr algn="l"/>
            <a:r>
              <a:rPr sz="1100" b="0">
                <a:latin typeface="Arial"/>
              </a:rPr>
              <a:t>Тартипти бузган эки санды тапкыла.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142" y="3329000"/>
            <a:ext cx="2112857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6EFD"/>
                </a:solidFill>
                <a:latin typeface="Arial"/>
              </a:rPr>
              <a:t>44 жана 48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0000" y="3689000"/>
            <a:ext cx="5000285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0000" y="37090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20285" y="3709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000" y="3729000"/>
            <a:ext cx="4680285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Тегеректөө чектери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0000" y="3909000"/>
            <a:ext cx="4840285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Жиптин узундугу эң жакын сантиметрге чейин тегеректелгенде 83 см чыкты.</a:t>
            </a:r>
          </a:p>
          <a:p>
            <a:pPr algn="l"/>
            <a:r>
              <a:rPr sz="1100" b="0">
                <a:latin typeface="Arial"/>
              </a:rPr>
              <a:t>а) Анын болушу мүмкүн болгон эң аз узундугун жазгыла.</a:t>
            </a:r>
          </a:p>
          <a:p>
            <a:pPr algn="l"/>
            <a:r>
              <a:rPr sz="1100" b="0">
                <a:latin typeface="Arial"/>
              </a:rPr>
              <a:t>б) Анын болушу мүмкүн болгон эң чоң узундугун жазгыла.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0000" y="4823500"/>
            <a:ext cx="484028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6EFD"/>
                </a:solidFill>
                <a:latin typeface="Arial"/>
              </a:rPr>
              <a:t>а) 82,5 см   б) 83,5 см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80285" y="3689000"/>
            <a:ext cx="2272857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20285" y="37090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93142" y="3709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285" y="3729000"/>
            <a:ext cx="195285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Бирдик которуу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70285" y="3909000"/>
            <a:ext cx="2112857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а) 25 мм-ди сантиметрге айландыр.</a:t>
            </a:r>
          </a:p>
          <a:p>
            <a:pPr algn="l"/>
            <a:r>
              <a:rPr sz="1100" b="0">
                <a:latin typeface="Arial"/>
              </a:rPr>
              <a:t>б) 5 м-ди сантиметрге айландыр.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70285" y="4823500"/>
            <a:ext cx="2112857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6EFD"/>
                </a:solidFill>
                <a:latin typeface="Arial"/>
              </a:rPr>
              <a:t>а) 2,5 см   б) 500 см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0000" y="5183500"/>
            <a:ext cx="5000285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0000" y="52035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20285" y="52035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0000" y="5223500"/>
            <a:ext cx="4680285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Даражалар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0000" y="5403500"/>
            <a:ext cx="4840285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а) 94⁰ маанисин жаз.</a:t>
            </a:r>
          </a:p>
          <a:p>
            <a:pPr algn="l"/>
            <a:r>
              <a:rPr sz="1100" b="0">
                <a:latin typeface="Arial"/>
              </a:rPr>
              <a:t>б) 5⁰ маанисин жаз.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0000" y="6318000"/>
            <a:ext cx="484028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6EFD"/>
                </a:solidFill>
                <a:latin typeface="Arial"/>
              </a:rPr>
              <a:t>а) 1   б) 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80285" y="5183500"/>
            <a:ext cx="2272857" cy="14945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20285" y="52035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93142" y="52035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40285" y="5223500"/>
            <a:ext cx="195285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Ырааттуулук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70285" y="5403500"/>
            <a:ext cx="2112857" cy="12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Ырааттуулуктун кийинки эки санын тап:</a:t>
            </a:r>
          </a:p>
          <a:p>
            <a:pPr algn="l"/>
            <a:r>
              <a:rPr sz="1100" b="1">
                <a:latin typeface="Arial"/>
              </a:rPr>
              <a:t>5, 10, 15, 20, 25, ___, ___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70285" y="6318000"/>
            <a:ext cx="2112857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6EFD"/>
                </a:solidFill>
                <a:latin typeface="Arial"/>
              </a:rPr>
              <a:t>30, 35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53142" y="3689000"/>
            <a:ext cx="2272857" cy="2989000"/>
          </a:xfrm>
          <a:prstGeom prst="roundRect">
            <a:avLst>
              <a:gd name="adj" fmla="val 3000"/>
            </a:avLst>
          </a:prstGeom>
          <a:noFill/>
          <a:ln w="1397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93142" y="3709000"/>
            <a:ext cx="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58"/>
                </a:solidFill>
                <a:latin typeface="Arial"/>
              </a:rPr>
              <a:t>⑪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65999" y="3709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C58"/>
                </a:solidFill>
                <a:latin typeface="Arial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13142" y="3729000"/>
            <a:ext cx="1952857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Чагылдыруу (геометрия)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43142" y="3909000"/>
            <a:ext cx="2112857" cy="22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Arial"/>
              </a:rPr>
              <a:t>A үч бурчтугун x = 0 сызыгына карата чагылдыр.</a:t>
            </a:r>
          </a:p>
          <a:p>
            <a:pPr algn="l"/>
            <a:r>
              <a:rPr sz="1100" b="0">
                <a:latin typeface="Arial"/>
              </a:rPr>
              <a:t>Жаңы сүрөттү тартып, аны A' деп белгиле.</a:t>
            </a:r>
          </a:p>
        </p:txBody>
      </p:sp>
      <p:cxnSp>
        <p:nvCxnSpPr>
          <p:cNvPr id="71" name="Connector 70"/>
          <p:cNvCxnSpPr/>
          <p:nvPr/>
        </p:nvCxnSpPr>
        <p:spPr>
          <a:xfrm flipV="1">
            <a:off x="76850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685070" y="66180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8659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685070" y="64371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0468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685070" y="62562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2277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685070" y="60753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4086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685070" y="58944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589570" y="4809000"/>
            <a:ext cx="0" cy="1809000"/>
          </a:xfrm>
          <a:prstGeom prst="line">
            <a:avLst/>
          </a:prstGeom>
          <a:ln w="17780">
            <a:solidFill>
              <a:srgbClr val="0F3C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5070" y="5713500"/>
            <a:ext cx="1809000" cy="0"/>
          </a:xfrm>
          <a:prstGeom prst="line">
            <a:avLst/>
          </a:prstGeom>
          <a:ln w="17780">
            <a:solidFill>
              <a:srgbClr val="0F3C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7704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685070" y="55326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9513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685070" y="53517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91322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685070" y="51708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93131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685070" y="49899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9494070" y="4809000"/>
            <a:ext cx="0" cy="1809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685070" y="4809000"/>
            <a:ext cx="1809000" cy="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589570" y="4809000"/>
            <a:ext cx="0" cy="1809000"/>
          </a:xfrm>
          <a:prstGeom prst="line">
            <a:avLst/>
          </a:prstGeom>
          <a:ln w="20320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Freeform 93"/>
          <p:cNvSpPr/>
          <p:nvPr/>
        </p:nvSpPr>
        <p:spPr>
          <a:xfrm>
            <a:off x="7685070" y="5351700"/>
            <a:ext cx="361800" cy="723600"/>
          </a:xfrm>
          <a:custGeom>
            <a:avLst/>
            <a:gdLst/>
            <a:ahLst/>
            <a:cxnLst/>
            <a:rect l="l" t="t" r="r" b="b"/>
            <a:pathLst>
              <a:path w="361800" h="723600">
                <a:moveTo>
                  <a:pt x="361800" y="723600"/>
                </a:moveTo>
                <a:lnTo>
                  <a:pt x="180900" y="0"/>
                </a:lnTo>
                <a:lnTo>
                  <a:pt x="0" y="542700"/>
                </a:lnTo>
                <a:lnTo>
                  <a:pt x="361800" y="723600"/>
                </a:lnTo>
                <a:close/>
              </a:path>
            </a:pathLst>
          </a:custGeom>
          <a:solidFill>
            <a:srgbClr val="DCE6EB"/>
          </a:solidFill>
          <a:ln w="2032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9132270" y="5351700"/>
            <a:ext cx="361800" cy="723600"/>
          </a:xfrm>
          <a:custGeom>
            <a:avLst/>
            <a:gdLst/>
            <a:ahLst/>
            <a:cxnLst/>
            <a:rect l="l" t="t" r="r" b="b"/>
            <a:pathLst>
              <a:path w="361800" h="723600">
                <a:moveTo>
                  <a:pt x="0" y="723600"/>
                </a:moveTo>
                <a:lnTo>
                  <a:pt x="180900" y="0"/>
                </a:lnTo>
                <a:lnTo>
                  <a:pt x="361800" y="542700"/>
                </a:lnTo>
                <a:lnTo>
                  <a:pt x="0" y="723600"/>
                </a:lnTo>
                <a:close/>
              </a:path>
            </a:pathLst>
          </a:custGeom>
          <a:solidFill>
            <a:srgbClr val="DDE9FE"/>
          </a:solidFill>
          <a:ln w="20320">
            <a:solidFill>
              <a:srgbClr val="0D6EF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0F3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600000"/>
            <a:ext cx="8706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Сунуштарыңыз барбы?</a:t>
            </a:r>
          </a:p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Ката тапсаңыз, бизге жазыңыз:</a:t>
            </a:r>
          </a:p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support@mathkg.online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