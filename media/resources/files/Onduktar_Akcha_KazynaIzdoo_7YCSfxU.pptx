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5"/>
  </p:notesMasterIdLst>
  <p:sldIdLst>
    <p:sldId id="1059" r:id="rId2"/>
    <p:sldId id="1060" r:id="rId3"/>
    <p:sldId id="891" r:id="rId4"/>
    <p:sldId id="896" r:id="rId5"/>
    <p:sldId id="894" r:id="rId6"/>
    <p:sldId id="903" r:id="rId7"/>
    <p:sldId id="887" r:id="rId8"/>
    <p:sldId id="904" r:id="rId9"/>
    <p:sldId id="901" r:id="rId10"/>
    <p:sldId id="898" r:id="rId11"/>
    <p:sldId id="895" r:id="rId12"/>
    <p:sldId id="899" r:id="rId13"/>
    <p:sldId id="897" r:id="rId14"/>
    <p:sldId id="893" r:id="rId15"/>
    <p:sldId id="900" r:id="rId16"/>
    <p:sldId id="902" r:id="rId17"/>
    <p:sldId id="892" r:id="rId18"/>
    <p:sldId id="905" r:id="rId19"/>
    <p:sldId id="1063" r:id="rId20"/>
    <p:sldId id="889" r:id="rId21"/>
    <p:sldId id="1061" r:id="rId22"/>
    <p:sldId id="1062" r:id="rId23"/>
    <p:sldId id="967" r:id="rId24"/>
  </p:sldIdLst>
  <p:sldSz cx="9906000" cy="6858000" type="A4"/>
  <p:notesSz cx="7104063" cy="10234613"/>
  <p:embeddedFontLst>
    <p:embeddedFont>
      <p:font typeface="Algerian" panose="04020705040A02060702" pitchFamily="82" charset="0"/>
      <p:regular r:id="rId2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7BC8FAF0-C320-415E-87E9-1C6F0587BAEF}">
          <p14:sldIdLst>
            <p14:sldId id="1059"/>
          </p14:sldIdLst>
        </p14:section>
        <p14:section name="Титулдук слайд" id="{BD3F2AD0-4D3E-4999-8D3C-DC4D710531BD}">
          <p14:sldIdLst>
            <p14:sldId id="1060"/>
          </p14:sldIdLst>
        </p14:section>
        <p14:section name="А4 форматындагы плакаттар" id="{03DD8F7C-D35F-4E4B-9282-6A82783B2D88}">
          <p14:sldIdLst>
            <p14:sldId id="891"/>
            <p14:sldId id="896"/>
            <p14:sldId id="894"/>
            <p14:sldId id="903"/>
            <p14:sldId id="887"/>
            <p14:sldId id="904"/>
            <p14:sldId id="901"/>
            <p14:sldId id="898"/>
            <p14:sldId id="895"/>
            <p14:sldId id="899"/>
            <p14:sldId id="897"/>
            <p14:sldId id="893"/>
            <p14:sldId id="900"/>
            <p14:sldId id="902"/>
            <p14:sldId id="892"/>
            <p14:sldId id="905"/>
          </p14:sldIdLst>
        </p14:section>
        <p14:section name="Мугалимдин жооп баракчасы" id="{E2D7BDB3-F176-4040-BFF6-DC0F47462F39}">
          <p14:sldIdLst>
            <p14:sldId id="1063"/>
          </p14:sldIdLst>
        </p14:section>
        <p14:section name="Жооптор" id="{4DCA0740-8998-4120-8F8E-E137F33F62AA}">
          <p14:sldIdLst>
            <p14:sldId id="889"/>
          </p14:sldIdLst>
        </p14:section>
        <p14:section name="Окуучулардын жооп баракчасы" id="{3A740BE4-45AA-4B49-A62A-26F002944D9D}">
          <p14:sldIdLst>
            <p14:sldId id="1061"/>
            <p14:sldId id="1062"/>
          </p14:sldIdLst>
        </p14:section>
        <p14:section name="Кайтарым байланыш" id="{42C022F1-9868-458C-8D47-B0F178A496EE}">
          <p14:sldIdLst>
            <p14:sldId id="9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69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638" tIns="47319" rIns="94638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4638" tIns="47319" rIns="94638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05/09/2024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8" tIns="47319" rIns="94638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8" tIns="47319" rIns="94638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8" tIns="47319" rIns="94638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8" tIns="47319" rIns="94638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9/5/2024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5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196A19-4AB1-E647-240D-F68B9B60A45B}"/>
              </a:ext>
            </a:extLst>
          </p:cNvPr>
          <p:cNvSpPr txBox="1"/>
          <p:nvPr/>
        </p:nvSpPr>
        <p:spPr>
          <a:xfrm>
            <a:off x="314960" y="856357"/>
            <a:ext cx="959104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ky-KG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y-KG" sz="2400" b="1" dirty="0"/>
              <a:t>Ондуктар – Турмуштан эсептер – Калькулятор менен иштөө – Казына Издөө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y-KG" sz="2400" dirty="0"/>
              <a:t>Окуучулар ж</a:t>
            </a:r>
            <a:r>
              <a:rPr lang="en-US" sz="2400" dirty="0" err="1"/>
              <a:t>еке</a:t>
            </a:r>
            <a:r>
              <a:rPr lang="en-US" sz="2400" dirty="0"/>
              <a:t>  (</a:t>
            </a:r>
            <a:r>
              <a:rPr lang="en-US" sz="2400" dirty="0" err="1"/>
              <a:t>же</a:t>
            </a:r>
            <a:r>
              <a:rPr lang="en-US" sz="2400" dirty="0"/>
              <a:t> </a:t>
            </a:r>
            <a:r>
              <a:rPr lang="en-US" sz="2400" dirty="0" err="1"/>
              <a:t>жуп</a:t>
            </a:r>
            <a:r>
              <a:rPr lang="ky-KG" sz="2400" dirty="0"/>
              <a:t> болуп</a:t>
            </a:r>
            <a:r>
              <a:rPr lang="en-US" sz="2400" dirty="0"/>
              <a:t>) </a:t>
            </a:r>
            <a:r>
              <a:rPr lang="en-US" sz="2400" dirty="0" err="1"/>
              <a:t>каалаган</a:t>
            </a:r>
            <a:r>
              <a:rPr lang="en-US" sz="2400" dirty="0"/>
              <a:t> </a:t>
            </a:r>
            <a:r>
              <a:rPr lang="en-US" sz="2400" dirty="0" err="1"/>
              <a:t>суроо</a:t>
            </a:r>
            <a:r>
              <a:rPr lang="en-US" sz="2400" dirty="0"/>
              <a:t> </a:t>
            </a:r>
            <a:r>
              <a:rPr lang="en-US" sz="2400" dirty="0" err="1"/>
              <a:t>плакатта</a:t>
            </a:r>
            <a:r>
              <a:rPr lang="ky-KG" sz="2400" dirty="0"/>
              <a:t>н</a:t>
            </a:r>
            <a:r>
              <a:rPr lang="en-US" sz="2400" dirty="0"/>
              <a:t> </a:t>
            </a:r>
            <a:r>
              <a:rPr lang="en-US" sz="2400" dirty="0" err="1"/>
              <a:t>баштай</a:t>
            </a:r>
            <a:r>
              <a:rPr lang="en-US" sz="2400" dirty="0"/>
              <a:t> </a:t>
            </a:r>
            <a:r>
              <a:rPr lang="en-US" sz="2400" dirty="0" err="1"/>
              <a:t>алышат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Алар</a:t>
            </a:r>
            <a:r>
              <a:rPr lang="en-US" sz="2400" dirty="0"/>
              <a:t> </a:t>
            </a:r>
            <a:r>
              <a:rPr lang="en-US" sz="2400" dirty="0" err="1"/>
              <a:t>жоопту</a:t>
            </a:r>
            <a:r>
              <a:rPr lang="en-US" sz="2400" dirty="0"/>
              <a:t> </a:t>
            </a:r>
            <a:r>
              <a:rPr lang="en-US" sz="2400" dirty="0" err="1"/>
              <a:t>эсептеп</a:t>
            </a:r>
            <a:r>
              <a:rPr lang="en-US" sz="2400" dirty="0"/>
              <a:t> </a:t>
            </a:r>
            <a:r>
              <a:rPr lang="en-US" sz="2400" dirty="0" err="1"/>
              <a:t>чыккандан</a:t>
            </a:r>
            <a:r>
              <a:rPr lang="en-US" sz="2400" dirty="0"/>
              <a:t> </a:t>
            </a:r>
            <a:r>
              <a:rPr lang="en-US" sz="2400" dirty="0" err="1"/>
              <a:t>кийин</a:t>
            </a:r>
            <a:r>
              <a:rPr lang="en-US" sz="2400" dirty="0"/>
              <a:t>,  </a:t>
            </a:r>
            <a:r>
              <a:rPr lang="en-US" sz="2400" dirty="0" err="1"/>
              <a:t>ошол</a:t>
            </a:r>
            <a:r>
              <a:rPr lang="en-US" sz="2400" dirty="0"/>
              <a:t> </a:t>
            </a:r>
            <a:r>
              <a:rPr lang="en-US" sz="2400" dirty="0" err="1"/>
              <a:t>жооп</a:t>
            </a:r>
            <a:r>
              <a:rPr lang="en-US" sz="2400" dirty="0"/>
              <a:t> </a:t>
            </a:r>
            <a:r>
              <a:rPr lang="en-US" sz="2400" dirty="0" err="1"/>
              <a:t>бар</a:t>
            </a:r>
            <a:r>
              <a:rPr lang="en-US" sz="2400" dirty="0"/>
              <a:t> </a:t>
            </a:r>
            <a:r>
              <a:rPr lang="en-US" sz="2400" dirty="0" err="1"/>
              <a:t>плакатты</a:t>
            </a:r>
            <a:r>
              <a:rPr lang="en-US" sz="2400" dirty="0"/>
              <a:t> </a:t>
            </a:r>
            <a:r>
              <a:rPr lang="en-US" sz="2400" dirty="0" err="1"/>
              <a:t>табышы</a:t>
            </a:r>
            <a:r>
              <a:rPr lang="en-US" sz="2400" dirty="0"/>
              <a:t> </a:t>
            </a:r>
            <a:r>
              <a:rPr lang="en-US" sz="2400" dirty="0" err="1"/>
              <a:t>керек</a:t>
            </a:r>
            <a:r>
              <a:rPr lang="en-US" sz="2400" dirty="0"/>
              <a:t>. </a:t>
            </a:r>
            <a:r>
              <a:rPr lang="ky-KG" sz="2400" dirty="0"/>
              <a:t>Окуучулар</a:t>
            </a:r>
            <a:r>
              <a:rPr lang="en-US" sz="2400" dirty="0"/>
              <a:t> </a:t>
            </a:r>
            <a:r>
              <a:rPr lang="en-US" sz="2400" dirty="0" err="1"/>
              <a:t>бир</a:t>
            </a:r>
            <a:r>
              <a:rPr lang="en-US" sz="2400" dirty="0"/>
              <a:t> </a:t>
            </a:r>
            <a:r>
              <a:rPr lang="en-US" sz="2400" dirty="0" err="1"/>
              <a:t>суроодон</a:t>
            </a:r>
            <a:r>
              <a:rPr lang="en-US" sz="2400" dirty="0"/>
              <a:t> </a:t>
            </a:r>
            <a:r>
              <a:rPr lang="en-US" sz="2400" dirty="0" err="1"/>
              <a:t>экинчи</a:t>
            </a:r>
            <a:r>
              <a:rPr lang="en-US" sz="2400" dirty="0"/>
              <a:t> </a:t>
            </a:r>
            <a:r>
              <a:rPr lang="en-US" sz="2400" dirty="0" err="1"/>
              <a:t>суроого</a:t>
            </a:r>
            <a:r>
              <a:rPr lang="en-US" sz="2400" dirty="0"/>
              <a:t> </a:t>
            </a:r>
            <a:r>
              <a:rPr lang="en-US" sz="2400" dirty="0" err="1"/>
              <a:t>толук</a:t>
            </a:r>
            <a:r>
              <a:rPr lang="en-US" sz="2400" dirty="0"/>
              <a:t> </a:t>
            </a:r>
            <a:r>
              <a:rPr lang="en-US" sz="2400" dirty="0" err="1"/>
              <a:t>тегере</a:t>
            </a:r>
            <a:r>
              <a:rPr lang="ky-KG" sz="2400" dirty="0"/>
              <a:t>нип</a:t>
            </a:r>
            <a:r>
              <a:rPr lang="en-US" sz="2400" dirty="0"/>
              <a:t> </a:t>
            </a:r>
            <a:r>
              <a:rPr lang="en-US" sz="2400" dirty="0" err="1"/>
              <a:t>жолду</a:t>
            </a:r>
            <a:r>
              <a:rPr lang="en-US" sz="2400" dirty="0"/>
              <a:t> </a:t>
            </a:r>
            <a:r>
              <a:rPr lang="en-US" sz="2400" dirty="0" err="1"/>
              <a:t>бүтүргөнгө</a:t>
            </a:r>
            <a:r>
              <a:rPr lang="en-US" sz="2400" dirty="0"/>
              <a:t> </a:t>
            </a:r>
            <a:r>
              <a:rPr lang="en-US" sz="2400" dirty="0" err="1"/>
              <a:t>чейин</a:t>
            </a:r>
            <a:r>
              <a:rPr lang="en-US" sz="2400" dirty="0"/>
              <a:t> </a:t>
            </a:r>
            <a:r>
              <a:rPr lang="ky-KG" sz="2400" dirty="0"/>
              <a:t>улантышат</a:t>
            </a:r>
            <a:r>
              <a:rPr lang="en-US" sz="2400" dirty="0"/>
              <a:t>.</a:t>
            </a:r>
            <a:endParaRPr lang="ky-KG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y-KG" sz="2400" dirty="0"/>
              <a:t>Окуучулар</a:t>
            </a:r>
            <a:r>
              <a:rPr lang="en-US" sz="2400" dirty="0"/>
              <a:t> </a:t>
            </a:r>
            <a:r>
              <a:rPr lang="ky-KG" sz="2400" dirty="0"/>
              <a:t>чыгарган </a:t>
            </a:r>
            <a:r>
              <a:rPr lang="en-US" sz="2400" dirty="0" err="1"/>
              <a:t>суроолорунун</a:t>
            </a:r>
            <a:r>
              <a:rPr lang="en-US" sz="2400" dirty="0"/>
              <a:t> </a:t>
            </a:r>
            <a:r>
              <a:rPr lang="en-US" sz="2400" dirty="0" err="1"/>
              <a:t>тамгаларын</a:t>
            </a:r>
            <a:r>
              <a:rPr lang="en-US" sz="2400" dirty="0"/>
              <a:t> </a:t>
            </a:r>
            <a:r>
              <a:rPr lang="en-US" sz="2400" dirty="0" err="1"/>
              <a:t>жазып</a:t>
            </a:r>
            <a:r>
              <a:rPr lang="en-US" sz="2400" dirty="0"/>
              <a:t> </a:t>
            </a:r>
            <a:r>
              <a:rPr lang="en-US" sz="2400" dirty="0" err="1"/>
              <a:t>алышы</a:t>
            </a:r>
            <a:r>
              <a:rPr lang="en-US" sz="2400" dirty="0"/>
              <a:t> </a:t>
            </a:r>
            <a:r>
              <a:rPr lang="en-US" sz="2400" dirty="0" err="1"/>
              <a:t>керек</a:t>
            </a:r>
            <a:r>
              <a:rPr lang="en-US" sz="2400" dirty="0"/>
              <a:t>.</a:t>
            </a:r>
            <a:r>
              <a:rPr lang="ky-KG" sz="2400" dirty="0"/>
              <a:t>Унутуп калбаш үчүн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(</a:t>
            </a:r>
            <a:r>
              <a:rPr lang="ru-RU" sz="2400" dirty="0"/>
              <a:t>ачык пластик файл </a:t>
            </a:r>
            <a:r>
              <a:rPr lang="en-US" sz="2400" dirty="0" err="1"/>
              <a:t>капчыктар</a:t>
            </a:r>
            <a:r>
              <a:rPr lang="ky-KG" sz="2400" dirty="0"/>
              <a:t>га</a:t>
            </a:r>
            <a:r>
              <a:rPr lang="en-US" sz="2400" dirty="0"/>
              <a:t> </a:t>
            </a:r>
            <a:r>
              <a:rPr lang="en-US" sz="2400" dirty="0" err="1"/>
              <a:t>плакаттарды</a:t>
            </a:r>
            <a:r>
              <a:rPr lang="ky-KG" sz="2400" dirty="0"/>
              <a:t> салып кою</a:t>
            </a:r>
            <a:r>
              <a:rPr lang="en-US" sz="2400" dirty="0"/>
              <a:t>ң</a:t>
            </a:r>
            <a:r>
              <a:rPr lang="ky-KG" sz="2400" dirty="0"/>
              <a:t>уз алар сизге</a:t>
            </a:r>
            <a:r>
              <a:rPr lang="en-US" sz="2400" dirty="0"/>
              <a:t> </a:t>
            </a:r>
            <a:r>
              <a:rPr lang="en-US" sz="2400" dirty="0" err="1"/>
              <a:t>тез</a:t>
            </a:r>
            <a:r>
              <a:rPr lang="en-US" sz="2400" dirty="0"/>
              <a:t> </a:t>
            </a:r>
            <a:r>
              <a:rPr lang="en-US" sz="2400" dirty="0" err="1"/>
              <a:t>жана</a:t>
            </a:r>
            <a:r>
              <a:rPr lang="en-US" sz="2400" dirty="0"/>
              <a:t> </a:t>
            </a:r>
            <a:r>
              <a:rPr lang="en-US" sz="2400" dirty="0" err="1"/>
              <a:t>оңой</a:t>
            </a:r>
            <a:r>
              <a:rPr lang="en-US" sz="2400" dirty="0"/>
              <a:t> </a:t>
            </a:r>
            <a:r>
              <a:rPr lang="en-US" sz="2400" dirty="0" err="1"/>
              <a:t>көрсөтүүгө</a:t>
            </a:r>
            <a:r>
              <a:rPr lang="en-US" sz="2400" dirty="0"/>
              <a:t> </a:t>
            </a:r>
            <a:r>
              <a:rPr lang="en-US" sz="2400" dirty="0" err="1"/>
              <a:t>жардам</a:t>
            </a:r>
            <a:r>
              <a:rPr lang="en-US" sz="2400" dirty="0"/>
              <a:t> </a:t>
            </a:r>
            <a:r>
              <a:rPr lang="en-US" sz="2400" dirty="0" err="1"/>
              <a:t>берет</a:t>
            </a:r>
            <a:r>
              <a:rPr lang="en-US" sz="2400" dirty="0"/>
              <a:t>.)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AD99591-3D8C-E2DD-A4E5-9EA7F9F029AB}"/>
              </a:ext>
            </a:extLst>
          </p:cNvPr>
          <p:cNvSpPr txBox="1">
            <a:spLocks/>
          </p:cNvSpPr>
          <p:nvPr/>
        </p:nvSpPr>
        <p:spPr>
          <a:xfrm>
            <a:off x="250825" y="-167322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899463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929F260A-33A7-44B1-B56C-F2E27011A8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8" r="13437" b="13507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FE86785-CDEF-406A-A298-F25D70370A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73352"/>
            <a:ext cx="4361156" cy="414309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720089-C4D2-45A2-90BB-F14332D2BA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3386" y="412577"/>
            <a:ext cx="3764281" cy="5379158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34F97C9-029A-46C3-9ABE-0D249844CA89}"/>
              </a:ext>
            </a:extLst>
          </p:cNvPr>
          <p:cNvSpPr/>
          <p:nvPr/>
        </p:nvSpPr>
        <p:spPr>
          <a:xfrm>
            <a:off x="257175" y="4236720"/>
            <a:ext cx="9648825" cy="2454181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b="1" cap="none" spc="0" dirty="0">
                <a:ln w="28575">
                  <a:solidFill>
                    <a:schemeClr val="tx1">
                      <a:lumMod val="85000"/>
                      <a:lumOff val="1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lgerian" panose="04020705040A02060702" pitchFamily="82" charset="0"/>
              </a:rPr>
              <a:t>Чыныгы - турмуштук маселелер</a:t>
            </a:r>
            <a:endParaRPr lang="en-US" sz="6000" b="1" cap="none" spc="0" dirty="0">
              <a:ln w="28575">
                <a:solidFill>
                  <a:schemeClr val="tx1">
                    <a:lumMod val="85000"/>
                    <a:lumOff val="15000"/>
                  </a:schemeClr>
                </a:solidFill>
                <a:prstDash val="solid"/>
              </a:ln>
              <a:solidFill>
                <a:srgbClr val="FFC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268791-4F03-2200-21A7-04930DF426F3}"/>
              </a:ext>
            </a:extLst>
          </p:cNvPr>
          <p:cNvSpPr/>
          <p:nvPr/>
        </p:nvSpPr>
        <p:spPr>
          <a:xfrm>
            <a:off x="356577" y="199870"/>
            <a:ext cx="8643713" cy="156966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9600" b="0" i="0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КАЗЫНА ИЗДӨӨ</a:t>
            </a:r>
            <a:endParaRPr lang="en-US" sz="9600" b="1" dirty="0">
              <a:ln w="22225">
                <a:solidFill>
                  <a:schemeClr val="accent2"/>
                </a:solidFill>
                <a:prstDash val="solid"/>
              </a:ln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56097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9783F6-8A20-46CF-BDC7-846001044B86}"/>
              </a:ext>
            </a:extLst>
          </p:cNvPr>
          <p:cNvSpPr txBox="1"/>
          <p:nvPr/>
        </p:nvSpPr>
        <p:spPr>
          <a:xfrm>
            <a:off x="955088" y="2700638"/>
            <a:ext cx="7995843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Наабайчы 3 ондогон торт бышыргысы келет.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Ар бир тортко 126 грамм ун керектелет.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Наабайчыга канча кап , 1 кгдык ун керек?</a:t>
            </a:r>
            <a:endParaRPr lang="en-GB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98965A-3220-4F24-85D8-7CB1D1BC19DE}"/>
              </a:ext>
            </a:extLst>
          </p:cNvPr>
          <p:cNvSpPr txBox="1"/>
          <p:nvPr/>
        </p:nvSpPr>
        <p:spPr>
          <a:xfrm>
            <a:off x="1229912" y="0"/>
            <a:ext cx="5942652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dirty="0"/>
              <a:t>97.07</a:t>
            </a:r>
            <a:r>
              <a:rPr lang="ky-KG" sz="11500" dirty="0"/>
              <a:t>сом</a:t>
            </a:r>
            <a:endParaRPr lang="en-GB" sz="11500" dirty="0"/>
          </a:p>
        </p:txBody>
      </p:sp>
    </p:spTree>
    <p:extLst>
      <p:ext uri="{BB962C8B-B14F-4D97-AF65-F5344CB8AC3E}">
        <p14:creationId xmlns:p14="http://schemas.microsoft.com/office/powerpoint/2010/main" val="1877762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4D0D02-1D07-49E4-8EA8-7E7C01E41B9B}"/>
              </a:ext>
            </a:extLst>
          </p:cNvPr>
          <p:cNvSpPr txBox="1"/>
          <p:nvPr/>
        </p:nvSpPr>
        <p:spPr>
          <a:xfrm>
            <a:off x="926334" y="2700638"/>
            <a:ext cx="8053358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Даниарда пицца жасоо үчүн 2,5 кг ун бар.</a:t>
            </a:r>
          </a:p>
          <a:p>
            <a:pPr algn="ctr"/>
            <a:r>
              <a:rPr lang="ky-KG" sz="3200" dirty="0"/>
              <a:t>Ар бир пиццага 328 гр ун туура келет.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Мүмкүн болушунча көп пицца жасагандан </a:t>
            </a:r>
          </a:p>
          <a:p>
            <a:pPr algn="ctr"/>
            <a:r>
              <a:rPr lang="ky-KG" sz="3200" dirty="0"/>
              <a:t>кийин Даниар канча грамм ун ашып калат?</a:t>
            </a:r>
            <a:endParaRPr lang="en-GB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AF0969-662A-4E46-8D40-C89A780A723E}"/>
              </a:ext>
            </a:extLst>
          </p:cNvPr>
          <p:cNvSpPr txBox="1"/>
          <p:nvPr/>
        </p:nvSpPr>
        <p:spPr>
          <a:xfrm>
            <a:off x="1789360" y="0"/>
            <a:ext cx="4823757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dirty="0"/>
              <a:t>350</a:t>
            </a:r>
            <a:r>
              <a:rPr lang="ky-KG" sz="11500" dirty="0"/>
              <a:t>сом</a:t>
            </a:r>
            <a:endParaRPr lang="en-GB" sz="11500" dirty="0"/>
          </a:p>
        </p:txBody>
      </p:sp>
    </p:spTree>
    <p:extLst>
      <p:ext uri="{BB962C8B-B14F-4D97-AF65-F5344CB8AC3E}">
        <p14:creationId xmlns:p14="http://schemas.microsoft.com/office/powerpoint/2010/main" val="342144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25BDAE-1082-4974-B66F-2C777835F2E4}"/>
              </a:ext>
            </a:extLst>
          </p:cNvPr>
          <p:cNvSpPr txBox="1"/>
          <p:nvPr/>
        </p:nvSpPr>
        <p:spPr>
          <a:xfrm>
            <a:off x="1330728" y="2426318"/>
            <a:ext cx="6458819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Театрга 164 чоң киши жана </a:t>
            </a:r>
          </a:p>
          <a:p>
            <a:pPr algn="ctr"/>
            <a:r>
              <a:rPr lang="ky-KG" sz="3200" dirty="0"/>
              <a:t>72 бала келип билет сатып алышты.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Чоңдордун билети 5,50сом турат.</a:t>
            </a:r>
          </a:p>
          <a:p>
            <a:pPr algn="ctr"/>
            <a:r>
              <a:rPr lang="ky-KG" sz="3200" dirty="0"/>
              <a:t>Балдар билетинин баасы 2,50сом.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Театр канча киреше тапты?</a:t>
            </a:r>
            <a:endParaRPr lang="en-GB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015A32-334C-4292-A7EE-BC988D777DAE}"/>
              </a:ext>
            </a:extLst>
          </p:cNvPr>
          <p:cNvSpPr txBox="1"/>
          <p:nvPr/>
        </p:nvSpPr>
        <p:spPr>
          <a:xfrm>
            <a:off x="3735404" y="0"/>
            <a:ext cx="9316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763088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54D5A2-EEAF-4DCB-9E09-8F9B9FCED7A9}"/>
              </a:ext>
            </a:extLst>
          </p:cNvPr>
          <p:cNvSpPr txBox="1"/>
          <p:nvPr/>
        </p:nvSpPr>
        <p:spPr>
          <a:xfrm>
            <a:off x="176566" y="2454416"/>
            <a:ext cx="8983933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Ресторанга шорпо жасоо үчүн 6,470 кг </a:t>
            </a:r>
          </a:p>
          <a:p>
            <a:pPr algn="ctr"/>
            <a:r>
              <a:rPr lang="ky-KG" sz="3200" dirty="0"/>
              <a:t>жашылча керектелет.</a:t>
            </a:r>
          </a:p>
          <a:p>
            <a:pPr algn="ctr"/>
            <a:r>
              <a:rPr lang="ky-KG" sz="3200" dirty="0"/>
              <a:t>Ар биринин салмагы 112 граммдан болгон </a:t>
            </a:r>
          </a:p>
          <a:p>
            <a:pPr algn="ctr"/>
            <a:r>
              <a:rPr lang="ky-KG" sz="3200" dirty="0"/>
              <a:t>45 сабиз сатып алышты. Буга кошумча</a:t>
            </a:r>
          </a:p>
          <a:p>
            <a:pPr algn="ctr"/>
            <a:r>
              <a:rPr lang="ky-KG" sz="3200" dirty="0"/>
              <a:t>ар биринин салмагы 65 граммдан болгон пиязды </a:t>
            </a:r>
          </a:p>
          <a:p>
            <a:pPr algn="ctr"/>
            <a:r>
              <a:rPr lang="ky-KG" sz="3200" dirty="0"/>
              <a:t>да сатып алышты.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Дагы канча пияз сатып алуу керек?</a:t>
            </a:r>
            <a:endParaRPr lang="en-GB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57B579-9D8C-4965-A2F0-4F9763561705}"/>
              </a:ext>
            </a:extLst>
          </p:cNvPr>
          <p:cNvSpPr txBox="1"/>
          <p:nvPr/>
        </p:nvSpPr>
        <p:spPr>
          <a:xfrm>
            <a:off x="2162859" y="0"/>
            <a:ext cx="4076757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dirty="0"/>
              <a:t>45</a:t>
            </a:r>
            <a:r>
              <a:rPr lang="ky-KG" sz="11500" dirty="0"/>
              <a:t>сом</a:t>
            </a:r>
            <a:endParaRPr lang="en-GB" sz="11500" dirty="0"/>
          </a:p>
        </p:txBody>
      </p:sp>
    </p:spTree>
    <p:extLst>
      <p:ext uri="{BB962C8B-B14F-4D97-AF65-F5344CB8AC3E}">
        <p14:creationId xmlns:p14="http://schemas.microsoft.com/office/powerpoint/2010/main" val="3294420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J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632808-4C80-4DC1-9A3B-A65FADC1A249}"/>
              </a:ext>
            </a:extLst>
          </p:cNvPr>
          <p:cNvSpPr txBox="1"/>
          <p:nvPr/>
        </p:nvSpPr>
        <p:spPr>
          <a:xfrm>
            <a:off x="426673" y="2700638"/>
            <a:ext cx="9052670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Машина басып өткөн ар бир чакырымга 0,24 литр </a:t>
            </a:r>
          </a:p>
          <a:p>
            <a:pPr algn="ctr"/>
            <a:r>
              <a:rPr lang="ky-KG" sz="3200" dirty="0"/>
              <a:t>бензин сарптайт.</a:t>
            </a:r>
          </a:p>
          <a:p>
            <a:pPr algn="ctr"/>
            <a:r>
              <a:rPr lang="ky-KG" sz="3200" dirty="0"/>
              <a:t>Мики машинада 126 км жолду басып өттү.</a:t>
            </a:r>
          </a:p>
          <a:p>
            <a:pPr algn="ctr"/>
            <a:r>
              <a:rPr lang="ky-KG" sz="3200" dirty="0"/>
              <a:t>Бензиндин 1 литри 3,21 сом турат.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Мики 126 км жолду басып өтүү үчүн</a:t>
            </a:r>
          </a:p>
          <a:p>
            <a:pPr algn="ctr"/>
            <a:r>
              <a:rPr lang="ky-KG" sz="3200" dirty="0"/>
              <a:t> күйүүчү майга канча төлөдү?</a:t>
            </a:r>
            <a:endParaRPr lang="en-GB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8E91F6-7271-4EBA-BF42-3F7F519681F0}"/>
              </a:ext>
            </a:extLst>
          </p:cNvPr>
          <p:cNvSpPr txBox="1"/>
          <p:nvPr/>
        </p:nvSpPr>
        <p:spPr>
          <a:xfrm>
            <a:off x="2162859" y="0"/>
            <a:ext cx="4076757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dirty="0"/>
              <a:t>27</a:t>
            </a:r>
            <a:r>
              <a:rPr lang="ky-KG" sz="11500" dirty="0"/>
              <a:t>сом</a:t>
            </a:r>
            <a:endParaRPr lang="en-GB" sz="11500" dirty="0"/>
          </a:p>
        </p:txBody>
      </p:sp>
    </p:spTree>
    <p:extLst>
      <p:ext uri="{BB962C8B-B14F-4D97-AF65-F5344CB8AC3E}">
        <p14:creationId xmlns:p14="http://schemas.microsoft.com/office/powerpoint/2010/main" val="1754324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981297-C807-487C-A7D0-8D2ECCA9A006}"/>
              </a:ext>
            </a:extLst>
          </p:cNvPr>
          <p:cNvSpPr txBox="1"/>
          <p:nvPr/>
        </p:nvSpPr>
        <p:spPr>
          <a:xfrm>
            <a:off x="367098" y="2382368"/>
            <a:ext cx="9171806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Бейшемби күнү тематикалык парк 627 билет сатты.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Ар бир билеттин баасы 54,99сом.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Бейшемби күнкү программага парктын </a:t>
            </a:r>
          </a:p>
          <a:p>
            <a:pPr algn="ctr"/>
            <a:r>
              <a:rPr lang="ky-KG" sz="3200" dirty="0"/>
              <a:t>уюштуруучулары 18 273 сом короткон.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Тематикалык парк бейшемби күнү канча </a:t>
            </a:r>
          </a:p>
          <a:p>
            <a:pPr algn="ctr"/>
            <a:r>
              <a:rPr lang="ky-KG" sz="3200" dirty="0"/>
              <a:t>пайда табат?</a:t>
            </a:r>
            <a:endParaRPr lang="en-GB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714921-E758-49D8-BDC1-478CBF24B7EF}"/>
              </a:ext>
            </a:extLst>
          </p:cNvPr>
          <p:cNvSpPr txBox="1"/>
          <p:nvPr/>
        </p:nvSpPr>
        <p:spPr>
          <a:xfrm>
            <a:off x="3361904" y="0"/>
            <a:ext cx="16786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dirty="0"/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942458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D8F508-2DCA-4915-B396-F474105DF497}"/>
              </a:ext>
            </a:extLst>
          </p:cNvPr>
          <p:cNvSpPr txBox="1"/>
          <p:nvPr/>
        </p:nvSpPr>
        <p:spPr>
          <a:xfrm>
            <a:off x="1185218" y="2700638"/>
            <a:ext cx="7535589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Сары кыз жума сайын 12,50сом </a:t>
            </a:r>
          </a:p>
          <a:p>
            <a:pPr algn="ctr"/>
            <a:r>
              <a:rPr lang="ky-KG" sz="3200" dirty="0"/>
              <a:t>стипендия акчасын алат.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Ал 315 сом турган велосипед </a:t>
            </a:r>
          </a:p>
          <a:p>
            <a:pPr algn="ctr"/>
            <a:r>
              <a:rPr lang="ky-KG" sz="3200" dirty="0"/>
              <a:t>сатып алуу үчүн акча чогултуп жатат.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Велосипед сатып алуу үчүн ал дагы канча </a:t>
            </a:r>
          </a:p>
          <a:p>
            <a:pPr algn="ctr"/>
            <a:r>
              <a:rPr lang="ky-KG" sz="3200" dirty="0"/>
              <a:t>жумага акча чогултушу керек?</a:t>
            </a:r>
            <a:endParaRPr lang="en-GB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80E9D3-2714-4DB1-A67E-A676788B897E}"/>
              </a:ext>
            </a:extLst>
          </p:cNvPr>
          <p:cNvSpPr txBox="1"/>
          <p:nvPr/>
        </p:nvSpPr>
        <p:spPr>
          <a:xfrm>
            <a:off x="1789360" y="0"/>
            <a:ext cx="4823757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dirty="0"/>
              <a:t>185</a:t>
            </a:r>
            <a:r>
              <a:rPr lang="ky-KG" sz="11500" dirty="0"/>
              <a:t>сом</a:t>
            </a:r>
            <a:endParaRPr lang="en-GB" sz="11500" dirty="0"/>
          </a:p>
        </p:txBody>
      </p:sp>
    </p:spTree>
    <p:extLst>
      <p:ext uri="{BB962C8B-B14F-4D97-AF65-F5344CB8AC3E}">
        <p14:creationId xmlns:p14="http://schemas.microsoft.com/office/powerpoint/2010/main" val="29442317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49BB35-E651-42D5-AC5D-37A2C7ED01B9}"/>
              </a:ext>
            </a:extLst>
          </p:cNvPr>
          <p:cNvSpPr txBox="1"/>
          <p:nvPr/>
        </p:nvSpPr>
        <p:spPr>
          <a:xfrm>
            <a:off x="293583" y="2516777"/>
            <a:ext cx="9318833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Дарика 426 кишилик паркка саякат уюштуруп жатат.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Бир автобуста 74 киши батат.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Сапарга бир автобус жалдоо үчүн 106сом турат.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Дарика паркка саякат үчүн, транспортко </a:t>
            </a:r>
          </a:p>
          <a:p>
            <a:pPr algn="ctr"/>
            <a:r>
              <a:rPr lang="ky-KG" sz="3200" dirty="0"/>
              <a:t>канча акча коротушу керек?</a:t>
            </a:r>
            <a:endParaRPr lang="en-GB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BADD9C-E3C8-4C85-A058-148A485D3F1E}"/>
              </a:ext>
            </a:extLst>
          </p:cNvPr>
          <p:cNvSpPr txBox="1"/>
          <p:nvPr/>
        </p:nvSpPr>
        <p:spPr>
          <a:xfrm>
            <a:off x="3050120" y="0"/>
            <a:ext cx="2302233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dirty="0"/>
              <a:t>78</a:t>
            </a:r>
            <a:r>
              <a:rPr lang="ky-KG" sz="11500" dirty="0"/>
              <a:t>с</a:t>
            </a:r>
            <a:endParaRPr lang="en-GB" sz="11500" dirty="0"/>
          </a:p>
        </p:txBody>
      </p:sp>
    </p:spTree>
    <p:extLst>
      <p:ext uri="{BB962C8B-B14F-4D97-AF65-F5344CB8AC3E}">
        <p14:creationId xmlns:p14="http://schemas.microsoft.com/office/powerpoint/2010/main" val="3784901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8318E8-F008-43C5-969E-C382EFDA98DE}"/>
              </a:ext>
            </a:extLst>
          </p:cNvPr>
          <p:cNvSpPr txBox="1"/>
          <p:nvPr/>
        </p:nvSpPr>
        <p:spPr>
          <a:xfrm>
            <a:off x="588524" y="2700638"/>
            <a:ext cx="8728993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Дөөлөт баш кийим жасап иштейт.</a:t>
            </a:r>
          </a:p>
          <a:p>
            <a:pPr algn="ctr"/>
            <a:r>
              <a:rPr lang="ky-KG" sz="3200" dirty="0"/>
              <a:t>Ал жасаган ар бир калпак үчүн 1,25сом акы алат.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Дөөлөт саатына 7 баш кийим жасай алат.</a:t>
            </a:r>
          </a:p>
          <a:p>
            <a:pPr algn="ctr"/>
            <a:r>
              <a:rPr lang="ky-KG" sz="3200" dirty="0"/>
              <a:t>Ал күнүнө 8 саат иштейт.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Дөөлөт бир жумада канча акча таба алат?</a:t>
            </a:r>
            <a:endParaRPr lang="en-GB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DB3ADB-1796-4218-84DB-D28DC4225B99}"/>
              </a:ext>
            </a:extLst>
          </p:cNvPr>
          <p:cNvSpPr txBox="1"/>
          <p:nvPr/>
        </p:nvSpPr>
        <p:spPr>
          <a:xfrm>
            <a:off x="1415859" y="0"/>
            <a:ext cx="5570757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dirty="0"/>
              <a:t>1082</a:t>
            </a:r>
            <a:r>
              <a:rPr lang="ky-KG" sz="11500" dirty="0"/>
              <a:t>сом</a:t>
            </a:r>
            <a:endParaRPr lang="en-GB" sz="11500" dirty="0"/>
          </a:p>
        </p:txBody>
      </p:sp>
    </p:spTree>
    <p:extLst>
      <p:ext uri="{BB962C8B-B14F-4D97-AF65-F5344CB8AC3E}">
        <p14:creationId xmlns:p14="http://schemas.microsoft.com/office/powerpoint/2010/main" val="27362931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E368F3-A0A7-449F-B291-D021D3B9E1DB}"/>
              </a:ext>
            </a:extLst>
          </p:cNvPr>
          <p:cNvSpPr txBox="1"/>
          <p:nvPr/>
        </p:nvSpPr>
        <p:spPr>
          <a:xfrm>
            <a:off x="671225" y="2700638"/>
            <a:ext cx="8563563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Жыпара 35 оюнчук жасоо үчүн материалдарды </a:t>
            </a:r>
          </a:p>
          <a:p>
            <a:pPr algn="ctr"/>
            <a:r>
              <a:rPr lang="ky-KG" sz="3200" dirty="0"/>
              <a:t>сатып алуу үчүн 47,25сом төлөйт.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Ал ар бир оюнчукту 2,56сомго сатат.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Ал 20 оюнчук сатуудан канча пайда табат?</a:t>
            </a:r>
            <a:endParaRPr lang="en-GB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D694C6-F299-486F-90DA-4F7CB134A2A4}"/>
              </a:ext>
            </a:extLst>
          </p:cNvPr>
          <p:cNvSpPr txBox="1"/>
          <p:nvPr/>
        </p:nvSpPr>
        <p:spPr>
          <a:xfrm>
            <a:off x="1789360" y="0"/>
            <a:ext cx="4823757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dirty="0"/>
              <a:t>636</a:t>
            </a:r>
            <a:r>
              <a:rPr lang="ky-KG" sz="11500" dirty="0"/>
              <a:t>сом</a:t>
            </a:r>
            <a:endParaRPr lang="en-GB" sz="115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465897-43F8-4DB6-831F-7505473EE66D}"/>
              </a:ext>
            </a:extLst>
          </p:cNvPr>
          <p:cNvSpPr txBox="1"/>
          <p:nvPr/>
        </p:nvSpPr>
        <p:spPr>
          <a:xfrm>
            <a:off x="2019799" y="6211556"/>
            <a:ext cx="58664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(Сак болгула! Бир оюнчуктан канча пайда?)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3150072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6C5B29-888A-4D63-ABD9-3EF8FC1DCABB}"/>
              </a:ext>
            </a:extLst>
          </p:cNvPr>
          <p:cNvSpPr txBox="1"/>
          <p:nvPr/>
        </p:nvSpPr>
        <p:spPr>
          <a:xfrm>
            <a:off x="1435792" y="2571509"/>
            <a:ext cx="6445162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/>
              <a:t>Бир компьютер 464</a:t>
            </a:r>
            <a:r>
              <a:rPr lang="en-US" sz="3200" dirty="0"/>
              <a:t>$</a:t>
            </a:r>
            <a:r>
              <a:rPr lang="ru-RU" sz="3200" dirty="0"/>
              <a:t> турат.</a:t>
            </a:r>
          </a:p>
          <a:p>
            <a:pPr algn="ctr"/>
            <a:endParaRPr lang="ru-RU" sz="3200" dirty="0"/>
          </a:p>
          <a:p>
            <a:pPr algn="ctr"/>
            <a:r>
              <a:rPr lang="ru-RU" sz="3200" dirty="0"/>
              <a:t>Депозит 152</a:t>
            </a:r>
            <a:r>
              <a:rPr lang="en-US" sz="3200" dirty="0"/>
              <a:t>$</a:t>
            </a:r>
            <a:r>
              <a:rPr lang="ru-RU" sz="3200" dirty="0"/>
              <a:t>.</a:t>
            </a:r>
          </a:p>
          <a:p>
            <a:pPr algn="ctr"/>
            <a:endParaRPr lang="ru-RU" sz="3200" dirty="0"/>
          </a:p>
          <a:p>
            <a:pPr algn="ctr"/>
            <a:r>
              <a:rPr lang="ru-RU" sz="3200" dirty="0"/>
              <a:t>Калганы 4 ай сайын</a:t>
            </a:r>
            <a:r>
              <a:rPr lang="en-US" sz="3200" dirty="0"/>
              <a:t>, </a:t>
            </a:r>
            <a:r>
              <a:rPr lang="ky-KG" sz="3200" dirty="0"/>
              <a:t>бөлүп</a:t>
            </a:r>
            <a:r>
              <a:rPr lang="ru-RU" sz="3200" dirty="0"/>
              <a:t> төлөнөт.</a:t>
            </a:r>
          </a:p>
          <a:p>
            <a:pPr algn="ctr"/>
            <a:endParaRPr lang="ru-RU" sz="3200" dirty="0"/>
          </a:p>
          <a:p>
            <a:pPr algn="ctr"/>
            <a:r>
              <a:rPr lang="ru-RU" sz="3200" dirty="0"/>
              <a:t>Ар бир төлөм канча турат?</a:t>
            </a:r>
            <a:endParaRPr lang="en-GB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06D0B3-E83C-4D42-A070-3B8B641D85E3}"/>
              </a:ext>
            </a:extLst>
          </p:cNvPr>
          <p:cNvSpPr txBox="1"/>
          <p:nvPr/>
        </p:nvSpPr>
        <p:spPr>
          <a:xfrm>
            <a:off x="2988405" y="0"/>
            <a:ext cx="2425664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dirty="0"/>
              <a:t>204</a:t>
            </a:r>
          </a:p>
        </p:txBody>
      </p:sp>
    </p:spTree>
    <p:extLst>
      <p:ext uri="{BB962C8B-B14F-4D97-AF65-F5344CB8AC3E}">
        <p14:creationId xmlns:p14="http://schemas.microsoft.com/office/powerpoint/2010/main" val="16813442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961120" y="2677233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F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EDF4F6-9526-4430-8556-CB35B3B2E322}"/>
              </a:ext>
            </a:extLst>
          </p:cNvPr>
          <p:cNvSpPr txBox="1"/>
          <p:nvPr/>
        </p:nvSpPr>
        <p:spPr>
          <a:xfrm>
            <a:off x="77447" y="2355278"/>
            <a:ext cx="9555949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Дику 3,371 кг жемиш сатып алышы керек.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Ал ар биринин салмагы 325 грамм </a:t>
            </a:r>
          </a:p>
          <a:p>
            <a:pPr algn="ctr"/>
            <a:r>
              <a:rPr lang="ky-KG" sz="3200" dirty="0"/>
              <a:t>болгон 5 манго, ар биринин салмагы </a:t>
            </a:r>
          </a:p>
          <a:p>
            <a:pPr algn="ctr"/>
            <a:r>
              <a:rPr lang="ky-KG" sz="3200" dirty="0"/>
              <a:t>249 грамм болгон 4 алма сатып алды.</a:t>
            </a:r>
          </a:p>
          <a:p>
            <a:pPr algn="ctr"/>
            <a:r>
              <a:rPr lang="ky-KG" sz="3200" dirty="0"/>
              <a:t>Ошондой эле ар биринин салмагы 125 грамм болгон </a:t>
            </a:r>
          </a:p>
          <a:p>
            <a:pPr algn="ctr"/>
            <a:r>
              <a:rPr lang="ky-KG" sz="3200" dirty="0"/>
              <a:t>апельсиндерди сатып алды.</a:t>
            </a:r>
          </a:p>
          <a:p>
            <a:pPr algn="ctr"/>
            <a:r>
              <a:rPr lang="ky-KG" sz="3200" dirty="0"/>
              <a:t>Ал канча апельсин сатып алды?</a:t>
            </a:r>
            <a:endParaRPr lang="en-GB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A9C9A9-9D37-4508-84B6-096857657D1C}"/>
              </a:ext>
            </a:extLst>
          </p:cNvPr>
          <p:cNvSpPr txBox="1"/>
          <p:nvPr/>
        </p:nvSpPr>
        <p:spPr>
          <a:xfrm>
            <a:off x="1370172" y="0"/>
            <a:ext cx="5662127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dirty="0"/>
              <a:t>1313.32</a:t>
            </a:r>
            <a:r>
              <a:rPr lang="ky-KG" sz="11500" dirty="0"/>
              <a:t>с</a:t>
            </a:r>
            <a:endParaRPr lang="en-GB" sz="11500" dirty="0"/>
          </a:p>
        </p:txBody>
      </p:sp>
    </p:spTree>
    <p:extLst>
      <p:ext uri="{BB962C8B-B14F-4D97-AF65-F5344CB8AC3E}">
        <p14:creationId xmlns:p14="http://schemas.microsoft.com/office/powerpoint/2010/main" val="7933109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CED667-45E3-4D9C-90EF-B37A3367CDA4}"/>
              </a:ext>
            </a:extLst>
          </p:cNvPr>
          <p:cNvSpPr txBox="1"/>
          <p:nvPr/>
        </p:nvSpPr>
        <p:spPr>
          <a:xfrm>
            <a:off x="777093" y="2700638"/>
            <a:ext cx="8351838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Марат 7 сааттык жумуш күн үчүн 142 сом алат.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Саламат саатына 15сом маяна алат жана </a:t>
            </a:r>
          </a:p>
          <a:p>
            <a:pPr algn="ctr"/>
            <a:r>
              <a:rPr lang="ky-KG" sz="3200" dirty="0"/>
              <a:t>жумасына 35 саат иштейт.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Марат 5 күндүк жумада канча акча алат?</a:t>
            </a:r>
            <a:endParaRPr lang="en-GB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9FCB75-6168-426A-B5F1-07DE95133314}"/>
              </a:ext>
            </a:extLst>
          </p:cNvPr>
          <p:cNvSpPr txBox="1"/>
          <p:nvPr/>
        </p:nvSpPr>
        <p:spPr>
          <a:xfrm>
            <a:off x="1229913" y="0"/>
            <a:ext cx="5942652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dirty="0"/>
              <a:t>24.20</a:t>
            </a:r>
            <a:r>
              <a:rPr lang="ky-KG" sz="11500" dirty="0"/>
              <a:t>сом</a:t>
            </a:r>
            <a:endParaRPr lang="en-GB" sz="11500" dirty="0"/>
          </a:p>
        </p:txBody>
      </p:sp>
    </p:spTree>
    <p:extLst>
      <p:ext uri="{BB962C8B-B14F-4D97-AF65-F5344CB8AC3E}">
        <p14:creationId xmlns:p14="http://schemas.microsoft.com/office/powerpoint/2010/main" val="4928453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DA5700-E50D-4257-8325-B21FBA356A7D}"/>
              </a:ext>
            </a:extLst>
          </p:cNvPr>
          <p:cNvSpPr txBox="1"/>
          <p:nvPr/>
        </p:nvSpPr>
        <p:spPr>
          <a:xfrm>
            <a:off x="402567" y="2700638"/>
            <a:ext cx="9100889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Жаңы муздаткыч, бир төлөм менен </a:t>
            </a:r>
            <a:r>
              <a:rPr lang="en-US" sz="3200" dirty="0"/>
              <a:t>9</a:t>
            </a:r>
            <a:r>
              <a:rPr lang="ky-KG" sz="3200" dirty="0"/>
              <a:t>999сом турат.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Же болбосо, сиз аны 12да , ай сайын </a:t>
            </a:r>
          </a:p>
          <a:p>
            <a:pPr algn="ctr"/>
            <a:r>
              <a:rPr lang="ky-KG" sz="3200" dirty="0"/>
              <a:t>870сомдон төлөп  сатып алсаңыз болот.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Муздаткычты бир төлөм менен сатып алсаңыз,</a:t>
            </a:r>
          </a:p>
          <a:p>
            <a:pPr algn="ctr"/>
            <a:r>
              <a:rPr lang="ky-KG" sz="3200" dirty="0"/>
              <a:t> канча үнөмдөйсүз?</a:t>
            </a:r>
            <a:endParaRPr lang="en-GB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559C6B-86DA-4576-9A65-403240B2DDD5}"/>
              </a:ext>
            </a:extLst>
          </p:cNvPr>
          <p:cNvSpPr txBox="1"/>
          <p:nvPr/>
        </p:nvSpPr>
        <p:spPr>
          <a:xfrm>
            <a:off x="3361904" y="0"/>
            <a:ext cx="16786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dirty="0"/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25285476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D019A8-9757-4BD1-885B-DD04752BB8DD}"/>
              </a:ext>
            </a:extLst>
          </p:cNvPr>
          <p:cNvSpPr txBox="1"/>
          <p:nvPr/>
        </p:nvSpPr>
        <p:spPr>
          <a:xfrm>
            <a:off x="610326" y="2700638"/>
            <a:ext cx="8685391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Аяна телевизор сатып алгысы келет.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Бул  5230 сом ага кошумча 131,72 сомдон</a:t>
            </a:r>
          </a:p>
          <a:p>
            <a:pPr algn="ctr"/>
            <a:r>
              <a:rPr lang="ky-KG" sz="3200" dirty="0"/>
              <a:t> 6 айлык төлөмдөрдү түзөт.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Аяна телевизор үчүн жалпысынан канча төлөйт?</a:t>
            </a:r>
            <a:endParaRPr lang="en-GB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F9ECB5-A7BF-46B5-A438-5E16E90D48E0}"/>
              </a:ext>
            </a:extLst>
          </p:cNvPr>
          <p:cNvSpPr txBox="1"/>
          <p:nvPr/>
        </p:nvSpPr>
        <p:spPr>
          <a:xfrm>
            <a:off x="3735404" y="0"/>
            <a:ext cx="9316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1231722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C301B0-BADA-458C-8EDE-A499281F0580}"/>
              </a:ext>
            </a:extLst>
          </p:cNvPr>
          <p:cNvSpPr txBox="1"/>
          <p:nvPr/>
        </p:nvSpPr>
        <p:spPr>
          <a:xfrm>
            <a:off x="246472" y="2700638"/>
            <a:ext cx="9413090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Полли 32 окуучудан турган классына </a:t>
            </a:r>
            <a:endParaRPr lang="en-US" sz="3200" dirty="0"/>
          </a:p>
          <a:p>
            <a:pPr algn="ctr"/>
            <a:r>
              <a:rPr lang="ky-KG" sz="3200" dirty="0"/>
              <a:t>балмуздак сатып алат.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Балмуздак 6 даанадан таңгакталып 4,50 доллардан, </a:t>
            </a:r>
            <a:endParaRPr lang="en-US" sz="3200" dirty="0"/>
          </a:p>
          <a:p>
            <a:pPr algn="ctr"/>
            <a:r>
              <a:rPr lang="ky-KG" sz="3200" dirty="0"/>
              <a:t>өзүнчө 2,25 доллардан сатылат.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Полли ар бир студентке балмуздак сатып алуу үчүн </a:t>
            </a:r>
            <a:endParaRPr lang="en-US" sz="3200" dirty="0"/>
          </a:p>
          <a:p>
            <a:pPr algn="ctr"/>
            <a:r>
              <a:rPr lang="ky-KG" sz="3200" dirty="0"/>
              <a:t>канча акча коротушу керек?</a:t>
            </a:r>
            <a:endParaRPr lang="en-GB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530137-268F-4CBE-8A29-FA7B1C18CF42}"/>
              </a:ext>
            </a:extLst>
          </p:cNvPr>
          <p:cNvSpPr txBox="1"/>
          <p:nvPr/>
        </p:nvSpPr>
        <p:spPr>
          <a:xfrm>
            <a:off x="1356543" y="107081"/>
            <a:ext cx="56893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16,205.73</a:t>
            </a:r>
            <a:r>
              <a:rPr lang="ky-KG" sz="9600" dirty="0"/>
              <a:t>с</a:t>
            </a:r>
            <a:endParaRPr lang="en-GB" sz="9600" dirty="0"/>
          </a:p>
        </p:txBody>
      </p:sp>
    </p:spTree>
    <p:extLst>
      <p:ext uri="{BB962C8B-B14F-4D97-AF65-F5344CB8AC3E}">
        <p14:creationId xmlns:p14="http://schemas.microsoft.com/office/powerpoint/2010/main" val="25590330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04D95A3-C619-4B98-A2F7-AC88B07141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1359004"/>
              </p:ext>
            </p:extLst>
          </p:nvPr>
        </p:nvGraphicFramePr>
        <p:xfrm>
          <a:off x="87088" y="391888"/>
          <a:ext cx="9753596" cy="6273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5415">
                  <a:extLst>
                    <a:ext uri="{9D8B030D-6E8A-4147-A177-3AD203B41FA5}">
                      <a16:colId xmlns:a16="http://schemas.microsoft.com/office/drawing/2014/main" val="4241353267"/>
                    </a:ext>
                  </a:extLst>
                </a:gridCol>
                <a:gridCol w="3751383">
                  <a:extLst>
                    <a:ext uri="{9D8B030D-6E8A-4147-A177-3AD203B41FA5}">
                      <a16:colId xmlns:a16="http://schemas.microsoft.com/office/drawing/2014/main" val="2660725730"/>
                    </a:ext>
                  </a:extLst>
                </a:gridCol>
                <a:gridCol w="1125415">
                  <a:extLst>
                    <a:ext uri="{9D8B030D-6E8A-4147-A177-3AD203B41FA5}">
                      <a16:colId xmlns:a16="http://schemas.microsoft.com/office/drawing/2014/main" val="151696040"/>
                    </a:ext>
                  </a:extLst>
                </a:gridCol>
                <a:gridCol w="3751383">
                  <a:extLst>
                    <a:ext uri="{9D8B030D-6E8A-4147-A177-3AD203B41FA5}">
                      <a16:colId xmlns:a16="http://schemas.microsoft.com/office/drawing/2014/main" val="2268253823"/>
                    </a:ext>
                  </a:extLst>
                </a:gridCol>
              </a:tblGrid>
              <a:tr h="497736"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351622"/>
                  </a:ext>
                </a:extLst>
              </a:tr>
              <a:tr h="721917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ysClr val="windowText" lastClr="000000"/>
                          </a:solidFill>
                        </a:rPr>
                        <a:t>J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97.07 </a:t>
                      </a:r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сом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/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636 сом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080002"/>
                  </a:ext>
                </a:extLst>
              </a:tr>
              <a:tr h="721917"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24. 20 сом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699499"/>
                  </a:ext>
                </a:extLst>
              </a:tr>
              <a:tr h="721917"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6,026.32сом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185 сом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976582"/>
                  </a:ext>
                </a:extLst>
              </a:tr>
              <a:tr h="721917"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26 сом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588563"/>
                  </a:ext>
                </a:extLst>
              </a:tr>
              <a:tr h="721917"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1082 сом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441 сом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2025085"/>
                  </a:ext>
                </a:extLst>
              </a:tr>
              <a:tr h="721917"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350 сом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22 сом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8463836"/>
                  </a:ext>
                </a:extLst>
              </a:tr>
              <a:tr h="721917"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204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16,205.73 сом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7609596"/>
                  </a:ext>
                </a:extLst>
              </a:tr>
              <a:tr h="721917"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78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27</a:t>
                      </a:r>
                      <a:r>
                        <a:rPr lang="en-US" sz="3200" b="1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endParaRPr lang="ky-KG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33144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9BF481E-DFCA-4BA6-9DBD-F16F6705123C}"/>
              </a:ext>
            </a:extLst>
          </p:cNvPr>
          <p:cNvSpPr txBox="1"/>
          <p:nvPr/>
        </p:nvSpPr>
        <p:spPr>
          <a:xfrm>
            <a:off x="3067458" y="0"/>
            <a:ext cx="3059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u="sng" dirty="0"/>
              <a:t>Мугалимдин жооп барагы</a:t>
            </a:r>
            <a:endParaRPr lang="en-GB" sz="2000" u="sng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0761BAE-9412-451C-8B90-09E585CA2ACA}"/>
              </a:ext>
            </a:extLst>
          </p:cNvPr>
          <p:cNvCxnSpPr>
            <a:cxnSpLocks/>
          </p:cNvCxnSpPr>
          <p:nvPr/>
        </p:nvCxnSpPr>
        <p:spPr>
          <a:xfrm>
            <a:off x="235132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5C25F2F-F81E-4959-B866-200B280E8311}"/>
              </a:ext>
            </a:extLst>
          </p:cNvPr>
          <p:cNvCxnSpPr>
            <a:cxnSpLocks/>
          </p:cNvCxnSpPr>
          <p:nvPr/>
        </p:nvCxnSpPr>
        <p:spPr>
          <a:xfrm>
            <a:off x="5116287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54205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929F260A-33A7-44B1-B56C-F2E27011A8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8" r="13437" b="13507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720089-C4D2-45A2-90BB-F14332D2BA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3386" y="412577"/>
            <a:ext cx="3764281" cy="5379158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305EF85-5BA6-4C13-B25F-C8137E5277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5803989"/>
              </p:ext>
            </p:extLst>
          </p:nvPr>
        </p:nvGraphicFramePr>
        <p:xfrm>
          <a:off x="1524440" y="1162106"/>
          <a:ext cx="6857120" cy="5497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424">
                  <a:extLst>
                    <a:ext uri="{9D8B030D-6E8A-4147-A177-3AD203B41FA5}">
                      <a16:colId xmlns:a16="http://schemas.microsoft.com/office/drawing/2014/main" val="3761786079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281624370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3424541694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2437265853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4059675182"/>
                    </a:ext>
                  </a:extLst>
                </a:gridCol>
              </a:tblGrid>
              <a:tr h="916268"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J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 err="1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i</a:t>
                      </a: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o</a:t>
                      </a: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f</a:t>
                      </a: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c</a:t>
                      </a: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299326996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E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754123776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b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4123062466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H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n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180976631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l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M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46795287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p</a:t>
                      </a: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k</a:t>
                      </a: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a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d</a:t>
                      </a: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g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644428158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42D475E4-94A0-49DA-8DB9-89357D0DB676}"/>
              </a:ext>
            </a:extLst>
          </p:cNvPr>
          <p:cNvSpPr/>
          <p:nvPr/>
        </p:nvSpPr>
        <p:spPr>
          <a:xfrm>
            <a:off x="3104964" y="54354"/>
            <a:ext cx="3696076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6600" cap="none" spc="0" dirty="0">
                <a:ln w="19050">
                  <a:solidFill>
                    <a:schemeClr val="tx1">
                      <a:lumMod val="85000"/>
                      <a:lumOff val="1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lgerian" panose="04020705040A02060702" pitchFamily="82" charset="0"/>
              </a:rPr>
              <a:t>Жооптор</a:t>
            </a:r>
            <a:endParaRPr lang="en-US" sz="6600" cap="none" spc="0" dirty="0">
              <a:ln w="19050">
                <a:solidFill>
                  <a:schemeClr val="tx1">
                    <a:lumMod val="85000"/>
                    <a:lumOff val="15000"/>
                  </a:schemeClr>
                </a:solidFill>
                <a:prstDash val="solid"/>
              </a:ln>
              <a:solidFill>
                <a:srgbClr val="FFC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2" name="Arrow: Up 1">
            <a:extLst>
              <a:ext uri="{FF2B5EF4-FFF2-40B4-BE49-F238E27FC236}">
                <a16:creationId xmlns:a16="http://schemas.microsoft.com/office/drawing/2014/main" id="{74A553F8-1667-4FA5-AB72-4BA850A300ED}"/>
              </a:ext>
            </a:extLst>
          </p:cNvPr>
          <p:cNvSpPr/>
          <p:nvPr/>
        </p:nvSpPr>
        <p:spPr>
          <a:xfrm>
            <a:off x="1780645" y="2299063"/>
            <a:ext cx="910304" cy="1448672"/>
          </a:xfrm>
          <a:prstGeom prst="upArrow">
            <a:avLst/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F6F3053-918E-491C-ABAD-C495771EBD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7544" y="2804160"/>
            <a:ext cx="2850912" cy="2708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9275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04D95A3-C619-4B98-A2F7-AC88B0714106}"/>
              </a:ext>
            </a:extLst>
          </p:cNvPr>
          <p:cNvGraphicFramePr>
            <a:graphicFrameLocks noGrp="1"/>
          </p:cNvGraphicFramePr>
          <p:nvPr/>
        </p:nvGraphicFramePr>
        <p:xfrm>
          <a:off x="87087" y="391887"/>
          <a:ext cx="9649090" cy="6334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498">
                  <a:extLst>
                    <a:ext uri="{9D8B030D-6E8A-4147-A177-3AD203B41FA5}">
                      <a16:colId xmlns:a16="http://schemas.microsoft.com/office/drawing/2014/main" val="4241353267"/>
                    </a:ext>
                  </a:extLst>
                </a:gridCol>
                <a:gridCol w="1517973">
                  <a:extLst>
                    <a:ext uri="{9D8B030D-6E8A-4147-A177-3AD203B41FA5}">
                      <a16:colId xmlns:a16="http://schemas.microsoft.com/office/drawing/2014/main" val="2660725730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151696040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2268253823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2903375927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581000434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358275657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2756706607"/>
                    </a:ext>
                  </a:extLst>
                </a:gridCol>
              </a:tblGrid>
              <a:tr h="446784"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35162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08000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699499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97658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58856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9BF481E-DFCA-4BA6-9DBD-F16F6705123C}"/>
              </a:ext>
            </a:extLst>
          </p:cNvPr>
          <p:cNvSpPr txBox="1"/>
          <p:nvPr/>
        </p:nvSpPr>
        <p:spPr>
          <a:xfrm>
            <a:off x="-31342" y="-26118"/>
            <a:ext cx="15757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u="sng" dirty="0"/>
              <a:t>Жооп кагазы</a:t>
            </a:r>
            <a:endParaRPr lang="en-GB" sz="2000" u="sng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0761BAE-9412-451C-8B90-09E585CA2ACA}"/>
              </a:ext>
            </a:extLst>
          </p:cNvPr>
          <p:cNvCxnSpPr>
            <a:cxnSpLocks/>
          </p:cNvCxnSpPr>
          <p:nvPr/>
        </p:nvCxnSpPr>
        <p:spPr>
          <a:xfrm>
            <a:off x="174174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5C25F2F-F81E-4959-B866-200B280E8311}"/>
              </a:ext>
            </a:extLst>
          </p:cNvPr>
          <p:cNvCxnSpPr>
            <a:cxnSpLocks/>
          </p:cNvCxnSpPr>
          <p:nvPr/>
        </p:nvCxnSpPr>
        <p:spPr>
          <a:xfrm>
            <a:off x="5004528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2E41258-949A-45B5-B9DA-CEAC5643E0FE}"/>
              </a:ext>
            </a:extLst>
          </p:cNvPr>
          <p:cNvCxnSpPr>
            <a:cxnSpLocks/>
          </p:cNvCxnSpPr>
          <p:nvPr/>
        </p:nvCxnSpPr>
        <p:spPr>
          <a:xfrm>
            <a:off x="2589351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484486A-82F5-4658-8436-AD4CAEBBC1CE}"/>
              </a:ext>
            </a:extLst>
          </p:cNvPr>
          <p:cNvCxnSpPr>
            <a:cxnSpLocks/>
          </p:cNvCxnSpPr>
          <p:nvPr/>
        </p:nvCxnSpPr>
        <p:spPr>
          <a:xfrm>
            <a:off x="7419706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24746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CFBF105-B54A-9D9D-8DA2-DA815EC9E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05680" cy="3429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2A3111D-B603-120F-393E-38B9E63BE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680" y="33045"/>
            <a:ext cx="5011616" cy="33959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12CB95-5463-1993-8693-ED09E4F2B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4805680" cy="3429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7296664-37F6-D67F-E2D4-695CBBED3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680" y="3462045"/>
            <a:ext cx="5011616" cy="3395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1337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727800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1992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8369</TotalTime>
  <Words>771</Words>
  <Application>Microsoft Office PowerPoint</Application>
  <PresentationFormat>A4 Paper (210x297 mm)</PresentationFormat>
  <Paragraphs>231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Algerian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357</cp:revision>
  <cp:lastPrinted>2019-03-15T08:45:00Z</cp:lastPrinted>
  <dcterms:created xsi:type="dcterms:W3CDTF">2017-01-17T16:57:04Z</dcterms:created>
  <dcterms:modified xsi:type="dcterms:W3CDTF">2024-09-05T17:02:27Z</dcterms:modified>
</cp:coreProperties>
</file>