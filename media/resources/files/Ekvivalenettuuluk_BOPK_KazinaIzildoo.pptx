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9"/>
  </p:notesMasterIdLst>
  <p:sldIdLst>
    <p:sldId id="1059" r:id="rId2"/>
    <p:sldId id="1060" r:id="rId3"/>
    <p:sldId id="887" r:id="rId4"/>
    <p:sldId id="892" r:id="rId5"/>
    <p:sldId id="893" r:id="rId6"/>
    <p:sldId id="946" r:id="rId7"/>
    <p:sldId id="900" r:id="rId8"/>
    <p:sldId id="902" r:id="rId9"/>
    <p:sldId id="896" r:id="rId10"/>
    <p:sldId id="903" r:id="rId11"/>
    <p:sldId id="899" r:id="rId12"/>
    <p:sldId id="891" r:id="rId13"/>
    <p:sldId id="895" r:id="rId14"/>
    <p:sldId id="901" r:id="rId15"/>
    <p:sldId id="894" r:id="rId16"/>
    <p:sldId id="905" r:id="rId17"/>
    <p:sldId id="945" r:id="rId18"/>
    <p:sldId id="947" r:id="rId19"/>
    <p:sldId id="944" r:id="rId20"/>
    <p:sldId id="897" r:id="rId21"/>
    <p:sldId id="898" r:id="rId22"/>
    <p:sldId id="904" r:id="rId23"/>
    <p:sldId id="890" r:id="rId24"/>
    <p:sldId id="889" r:id="rId25"/>
    <p:sldId id="1061" r:id="rId26"/>
    <p:sldId id="1062" r:id="rId27"/>
    <p:sldId id="967" r:id="rId28"/>
  </p:sldIdLst>
  <p:sldSz cx="9906000" cy="6858000" type="A4"/>
  <p:notesSz cx="6669088" cy="9926638"/>
  <p:embeddedFontLst>
    <p:embeddedFont>
      <p:font typeface="Algerian" panose="04020705040A02060702" pitchFamily="82" charset="0"/>
      <p:regular r:id="rId30"/>
    </p:embeddedFont>
    <p:embeddedFont>
      <p:font typeface="Cambria Math" panose="02040503050406030204" pitchFamily="18" charset="0"/>
      <p:regular r:id="rId3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7BC8FAF0-C320-415E-87E9-1C6F0587BAEF}">
          <p14:sldIdLst>
            <p14:sldId id="1059"/>
          </p14:sldIdLst>
        </p14:section>
        <p14:section name="Титулдук слайд" id="{BD3F2AD0-4D3E-4999-8D3C-DC4D710531BD}">
          <p14:sldIdLst>
            <p14:sldId id="1060"/>
          </p14:sldIdLst>
        </p14:section>
        <p14:section name="А4 форматындагы плакаттар" id="{03DD8F7C-D35F-4E4B-9282-6A82783B2D88}">
          <p14:sldIdLst>
            <p14:sldId id="887"/>
            <p14:sldId id="892"/>
            <p14:sldId id="893"/>
            <p14:sldId id="946"/>
            <p14:sldId id="900"/>
            <p14:sldId id="902"/>
            <p14:sldId id="896"/>
            <p14:sldId id="903"/>
            <p14:sldId id="899"/>
            <p14:sldId id="891"/>
            <p14:sldId id="895"/>
            <p14:sldId id="901"/>
            <p14:sldId id="894"/>
            <p14:sldId id="905"/>
            <p14:sldId id="945"/>
            <p14:sldId id="947"/>
            <p14:sldId id="944"/>
            <p14:sldId id="897"/>
            <p14:sldId id="898"/>
            <p14:sldId id="904"/>
          </p14:sldIdLst>
        </p14:section>
        <p14:section name="Мугалимдин жооп баракчасы" id="{E2D7BDB3-F176-4040-BFF6-DC0F47462F39}">
          <p14:sldIdLst>
            <p14:sldId id="890"/>
          </p14:sldIdLst>
        </p14:section>
        <p14:section name="Жооптор" id="{4DCA0740-8998-4120-8F8E-E137F33F62AA}">
          <p14:sldIdLst>
            <p14:sldId id="889"/>
          </p14:sldIdLst>
        </p14:section>
        <p14:section name="Окуучулардын жооп баракчасы" id="{3A740BE4-45AA-4B49-A62A-26F002944D9D}">
          <p14:sldIdLst>
            <p14:sldId id="1061"/>
            <p14:sldId id="1062"/>
          </p14:sldIdLst>
        </p14:section>
        <p14:section name="Кайтарым байланыш" id="{42C022F1-9868-458C-8D47-B0F178A496EE}">
          <p14:sldIdLst>
            <p14:sldId id="9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-170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04/09/2024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22.jpe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196A19-4AB1-E647-240D-F68B9B60A45B}"/>
              </a:ext>
            </a:extLst>
          </p:cNvPr>
          <p:cNvSpPr txBox="1"/>
          <p:nvPr/>
        </p:nvSpPr>
        <p:spPr>
          <a:xfrm>
            <a:off x="314960" y="856357"/>
            <a:ext cx="959104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ky-KG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b="1" dirty="0"/>
              <a:t>Эквиваленттүү – Бөлчөктөр, Ондуктар, Проценттер жана катыштар</a:t>
            </a:r>
            <a:r>
              <a:rPr lang="en-US" sz="2400" b="1" dirty="0"/>
              <a:t> </a:t>
            </a:r>
            <a:r>
              <a:rPr lang="en-US" sz="2400" dirty="0"/>
              <a:t>– </a:t>
            </a:r>
            <a:r>
              <a:rPr lang="ky-KG" sz="2400" b="1" dirty="0"/>
              <a:t>Казына Издөө көндүмү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 ж</a:t>
            </a:r>
            <a:r>
              <a:rPr lang="en-US" sz="2400" dirty="0" err="1"/>
              <a:t>еке</a:t>
            </a:r>
            <a:r>
              <a:rPr lang="en-US" sz="2400" dirty="0"/>
              <a:t>  (</a:t>
            </a:r>
            <a:r>
              <a:rPr lang="en-US" sz="2400" dirty="0" err="1"/>
              <a:t>же</a:t>
            </a:r>
            <a:r>
              <a:rPr lang="en-US" sz="2400" dirty="0"/>
              <a:t> </a:t>
            </a:r>
            <a:r>
              <a:rPr lang="en-US" sz="2400" dirty="0" err="1"/>
              <a:t>жуп</a:t>
            </a:r>
            <a:r>
              <a:rPr lang="ky-KG" sz="2400" dirty="0"/>
              <a:t> болуп</a:t>
            </a:r>
            <a:r>
              <a:rPr lang="en-US" sz="2400" dirty="0"/>
              <a:t>) </a:t>
            </a:r>
            <a:r>
              <a:rPr lang="en-US" sz="2400" dirty="0" err="1"/>
              <a:t>каалаган</a:t>
            </a:r>
            <a:r>
              <a:rPr lang="en-US" sz="2400" dirty="0"/>
              <a:t> </a:t>
            </a:r>
            <a:r>
              <a:rPr lang="en-US" sz="2400" dirty="0" err="1"/>
              <a:t>суроо</a:t>
            </a:r>
            <a:r>
              <a:rPr lang="en-US" sz="2400" dirty="0"/>
              <a:t> </a:t>
            </a:r>
            <a:r>
              <a:rPr lang="en-US" sz="2400" dirty="0" err="1"/>
              <a:t>плакатта</a:t>
            </a:r>
            <a:r>
              <a:rPr lang="ky-KG" sz="2400" dirty="0"/>
              <a:t>н</a:t>
            </a:r>
            <a:r>
              <a:rPr lang="en-US" sz="2400" dirty="0"/>
              <a:t> </a:t>
            </a:r>
            <a:r>
              <a:rPr lang="en-US" sz="2400" dirty="0" err="1"/>
              <a:t>баштай</a:t>
            </a:r>
            <a:r>
              <a:rPr lang="en-US" sz="2400" dirty="0"/>
              <a:t> </a:t>
            </a:r>
            <a:r>
              <a:rPr lang="en-US" sz="2400" dirty="0" err="1"/>
              <a:t>алышат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Алар</a:t>
            </a:r>
            <a:r>
              <a:rPr lang="en-US" sz="2400" dirty="0"/>
              <a:t> </a:t>
            </a:r>
            <a:r>
              <a:rPr lang="en-US" sz="2400" dirty="0" err="1"/>
              <a:t>жоопту</a:t>
            </a:r>
            <a:r>
              <a:rPr lang="en-US" sz="2400" dirty="0"/>
              <a:t> </a:t>
            </a:r>
            <a:r>
              <a:rPr lang="en-US" sz="2400" dirty="0" err="1"/>
              <a:t>эсептеп</a:t>
            </a:r>
            <a:r>
              <a:rPr lang="en-US" sz="2400" dirty="0"/>
              <a:t> </a:t>
            </a:r>
            <a:r>
              <a:rPr lang="en-US" sz="2400" dirty="0" err="1"/>
              <a:t>чыккандан</a:t>
            </a:r>
            <a:r>
              <a:rPr lang="en-US" sz="2400" dirty="0"/>
              <a:t> </a:t>
            </a:r>
            <a:r>
              <a:rPr lang="en-US" sz="2400" dirty="0" err="1"/>
              <a:t>кийин</a:t>
            </a:r>
            <a:r>
              <a:rPr lang="en-US" sz="2400" dirty="0"/>
              <a:t>,  </a:t>
            </a:r>
            <a:r>
              <a:rPr lang="en-US" sz="2400" dirty="0" err="1"/>
              <a:t>ошол</a:t>
            </a:r>
            <a:r>
              <a:rPr lang="en-US" sz="2400" dirty="0"/>
              <a:t> </a:t>
            </a:r>
            <a:r>
              <a:rPr lang="en-US" sz="2400" dirty="0" err="1"/>
              <a:t>жооп</a:t>
            </a:r>
            <a:r>
              <a:rPr lang="en-US" sz="2400" dirty="0"/>
              <a:t> </a:t>
            </a:r>
            <a:r>
              <a:rPr lang="en-US" sz="2400" dirty="0" err="1"/>
              <a:t>бар</a:t>
            </a:r>
            <a:r>
              <a:rPr lang="en-US" sz="2400" dirty="0"/>
              <a:t> </a:t>
            </a:r>
            <a:r>
              <a:rPr lang="en-US" sz="2400" dirty="0" err="1"/>
              <a:t>плакатты</a:t>
            </a:r>
            <a:r>
              <a:rPr lang="en-US" sz="2400" dirty="0"/>
              <a:t> </a:t>
            </a:r>
            <a:r>
              <a:rPr lang="en-US" sz="2400" dirty="0" err="1"/>
              <a:t>табышы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 </a:t>
            </a: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en-US" sz="2400" dirty="0" err="1"/>
              <a:t>бир</a:t>
            </a:r>
            <a:r>
              <a:rPr lang="en-US" sz="2400" dirty="0"/>
              <a:t> </a:t>
            </a:r>
            <a:r>
              <a:rPr lang="en-US" sz="2400" dirty="0" err="1"/>
              <a:t>суроодон</a:t>
            </a:r>
            <a:r>
              <a:rPr lang="en-US" sz="2400" dirty="0"/>
              <a:t> </a:t>
            </a:r>
            <a:r>
              <a:rPr lang="en-US" sz="2400" dirty="0" err="1"/>
              <a:t>экинчи</a:t>
            </a:r>
            <a:r>
              <a:rPr lang="en-US" sz="2400" dirty="0"/>
              <a:t> </a:t>
            </a:r>
            <a:r>
              <a:rPr lang="en-US" sz="2400" dirty="0" err="1"/>
              <a:t>суроого</a:t>
            </a:r>
            <a:r>
              <a:rPr lang="en-US" sz="2400" dirty="0"/>
              <a:t> </a:t>
            </a:r>
            <a:r>
              <a:rPr lang="en-US" sz="2400" dirty="0" err="1"/>
              <a:t>толук</a:t>
            </a:r>
            <a:r>
              <a:rPr lang="en-US" sz="2400" dirty="0"/>
              <a:t> </a:t>
            </a:r>
            <a:r>
              <a:rPr lang="en-US" sz="2400" dirty="0" err="1"/>
              <a:t>тегере</a:t>
            </a:r>
            <a:r>
              <a:rPr lang="ky-KG" sz="2400" dirty="0"/>
              <a:t>нип</a:t>
            </a:r>
            <a:r>
              <a:rPr lang="en-US" sz="2400" dirty="0"/>
              <a:t> </a:t>
            </a:r>
            <a:r>
              <a:rPr lang="en-US" sz="2400" dirty="0" err="1"/>
              <a:t>жолду</a:t>
            </a:r>
            <a:r>
              <a:rPr lang="en-US" sz="2400" dirty="0"/>
              <a:t> </a:t>
            </a:r>
            <a:r>
              <a:rPr lang="en-US" sz="2400" dirty="0" err="1"/>
              <a:t>бүтүргөнгө</a:t>
            </a:r>
            <a:r>
              <a:rPr lang="en-US" sz="2400" dirty="0"/>
              <a:t> </a:t>
            </a:r>
            <a:r>
              <a:rPr lang="en-US" sz="2400" dirty="0" err="1"/>
              <a:t>чейин</a:t>
            </a:r>
            <a:r>
              <a:rPr lang="en-US" sz="2400" dirty="0"/>
              <a:t> </a:t>
            </a:r>
            <a:r>
              <a:rPr lang="ky-KG" sz="2400" dirty="0"/>
              <a:t>улантышат</a:t>
            </a:r>
            <a:r>
              <a:rPr lang="en-US" sz="2400" dirty="0"/>
              <a:t>.</a:t>
            </a:r>
            <a:endParaRPr lang="ky-KG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ky-KG" sz="2400" dirty="0"/>
              <a:t>чыгарган </a:t>
            </a:r>
            <a:r>
              <a:rPr lang="en-US" sz="2400" dirty="0" err="1"/>
              <a:t>суроолорунун</a:t>
            </a:r>
            <a:r>
              <a:rPr lang="en-US" sz="2400" dirty="0"/>
              <a:t> </a:t>
            </a:r>
            <a:r>
              <a:rPr lang="en-US" sz="2400" dirty="0" err="1"/>
              <a:t>тамгаларын</a:t>
            </a:r>
            <a:r>
              <a:rPr lang="en-US" sz="2400" dirty="0"/>
              <a:t> </a:t>
            </a:r>
            <a:r>
              <a:rPr lang="en-US" sz="2400" dirty="0" err="1"/>
              <a:t>жазып</a:t>
            </a:r>
            <a:r>
              <a:rPr lang="en-US" sz="2400" dirty="0"/>
              <a:t> </a:t>
            </a:r>
            <a:r>
              <a:rPr lang="en-US" sz="2400" dirty="0" err="1"/>
              <a:t>алышы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</a:t>
            </a:r>
            <a:r>
              <a:rPr lang="ky-KG" sz="2400" dirty="0"/>
              <a:t>Унутуп калбаш үчүн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(</a:t>
            </a:r>
            <a:r>
              <a:rPr lang="ru-RU" sz="2400" dirty="0"/>
              <a:t>ачык пластик файл </a:t>
            </a:r>
            <a:r>
              <a:rPr lang="en-US" sz="2400" dirty="0" err="1"/>
              <a:t>капчыктар</a:t>
            </a:r>
            <a:r>
              <a:rPr lang="ky-KG" sz="2400" dirty="0"/>
              <a:t>га</a:t>
            </a:r>
            <a:r>
              <a:rPr lang="en-US" sz="2400" dirty="0"/>
              <a:t> </a:t>
            </a:r>
            <a:r>
              <a:rPr lang="en-US" sz="2400" dirty="0" err="1"/>
              <a:t>плакаттарды</a:t>
            </a:r>
            <a:r>
              <a:rPr lang="ky-KG" sz="2400" dirty="0"/>
              <a:t> салып кою</a:t>
            </a:r>
            <a:r>
              <a:rPr lang="en-US" sz="2400" dirty="0"/>
              <a:t>ң</a:t>
            </a:r>
            <a:r>
              <a:rPr lang="ky-KG" sz="2400" dirty="0"/>
              <a:t>уз алар сизге</a:t>
            </a:r>
            <a:r>
              <a:rPr lang="en-US" sz="2400" dirty="0"/>
              <a:t> </a:t>
            </a:r>
            <a:r>
              <a:rPr lang="en-US" sz="2400" dirty="0" err="1"/>
              <a:t>тез</a:t>
            </a:r>
            <a:r>
              <a:rPr lang="en-US" sz="2400" dirty="0"/>
              <a:t> </a:t>
            </a:r>
            <a:r>
              <a:rPr lang="en-US" sz="2400" dirty="0" err="1"/>
              <a:t>жана</a:t>
            </a:r>
            <a:r>
              <a:rPr lang="en-US" sz="2400" dirty="0"/>
              <a:t> </a:t>
            </a:r>
            <a:r>
              <a:rPr lang="en-US" sz="2400" dirty="0" err="1"/>
              <a:t>оңой</a:t>
            </a:r>
            <a:r>
              <a:rPr lang="en-US" sz="2400" dirty="0"/>
              <a:t> </a:t>
            </a:r>
            <a:r>
              <a:rPr lang="en-US" sz="2400" dirty="0" err="1"/>
              <a:t>көрсөтүүгө</a:t>
            </a:r>
            <a:r>
              <a:rPr lang="en-US" sz="2400" dirty="0"/>
              <a:t> </a:t>
            </a:r>
            <a:r>
              <a:rPr lang="en-US" sz="2400" dirty="0" err="1"/>
              <a:t>жардам</a:t>
            </a:r>
            <a:r>
              <a:rPr lang="en-US" sz="2400" dirty="0"/>
              <a:t> </a:t>
            </a:r>
            <a:r>
              <a:rPr lang="en-US" sz="2400" dirty="0" err="1"/>
              <a:t>берет</a:t>
            </a:r>
            <a:r>
              <a:rPr lang="en-US" sz="2400" dirty="0"/>
              <a:t>.)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D99591-3D8C-E2DD-A4E5-9EA7F9F029AB}"/>
              </a:ext>
            </a:extLst>
          </p:cNvPr>
          <p:cNvSpPr txBox="1">
            <a:spLocks/>
          </p:cNvSpPr>
          <p:nvPr/>
        </p:nvSpPr>
        <p:spPr>
          <a:xfrm>
            <a:off x="250825" y="-167322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899463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29F260A-33A7-44B1-B56C-F2E27011A8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r="13437" b="13507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FE86785-CDEF-406A-A298-F25D70370A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73352"/>
            <a:ext cx="4361156" cy="414309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34F97C9-029A-46C3-9ABE-0D249844CA89}"/>
              </a:ext>
            </a:extLst>
          </p:cNvPr>
          <p:cNvSpPr/>
          <p:nvPr/>
        </p:nvSpPr>
        <p:spPr>
          <a:xfrm>
            <a:off x="257175" y="4236720"/>
            <a:ext cx="9648825" cy="2454181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b="1" cap="none" spc="0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Бөлчөктөр,</a:t>
            </a:r>
          </a:p>
          <a:p>
            <a:pPr algn="ctr"/>
            <a:r>
              <a:rPr lang="ky-KG" sz="6000" b="1" cap="none" spc="0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Ондуктар</a:t>
            </a:r>
            <a:r>
              <a:rPr lang="en-US" sz="6000" b="1" cap="none" spc="0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,</a:t>
            </a:r>
            <a:r>
              <a:rPr lang="ky-KG" sz="6000" b="1" cap="none" spc="0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Пайыздар</a:t>
            </a:r>
            <a:r>
              <a:rPr lang="en-US" sz="6000" b="1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 &amp; </a:t>
            </a:r>
            <a:r>
              <a:rPr lang="ky-KG" sz="6000" b="1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Катыштар Айландыруу</a:t>
            </a:r>
            <a:endParaRPr lang="en-US" sz="6000" b="1" cap="none" spc="0" dirty="0">
              <a:ln w="28575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268791-4F03-2200-21A7-04930DF426F3}"/>
              </a:ext>
            </a:extLst>
          </p:cNvPr>
          <p:cNvSpPr/>
          <p:nvPr/>
        </p:nvSpPr>
        <p:spPr>
          <a:xfrm>
            <a:off x="712443" y="199870"/>
            <a:ext cx="7931980" cy="1446550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8800" b="0" i="0" dirty="0">
                <a:solidFill>
                  <a:srgbClr val="FFDE59"/>
                </a:solidFill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КАЗЫНА ИЗДӨӨ</a:t>
            </a:r>
            <a:endParaRPr lang="en-US" sz="88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56097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8E70A5-724F-4A34-BA89-B4D31BCBA9DA}"/>
              </a:ext>
            </a:extLst>
          </p:cNvPr>
          <p:cNvSpPr txBox="1"/>
          <p:nvPr/>
        </p:nvSpPr>
        <p:spPr>
          <a:xfrm>
            <a:off x="299622" y="2543338"/>
            <a:ext cx="888595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4000" dirty="0"/>
              <a:t>Берилген катышты бөлчөккө айландыр.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5C1A239-D560-4D6A-B8D5-44DFAC930CFA}"/>
                  </a:ext>
                </a:extLst>
              </p:cNvPr>
              <p:cNvSpPr txBox="1"/>
              <p:nvPr/>
            </p:nvSpPr>
            <p:spPr>
              <a:xfrm>
                <a:off x="1902280" y="3588159"/>
                <a:ext cx="4853828" cy="26468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600" b="0" i="1" dirty="0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16600" i="1" dirty="0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GB" sz="16600" b="0" i="1" dirty="0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GB" sz="16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5C1A239-D560-4D6A-B8D5-44DFAC930C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2280" y="3588159"/>
                <a:ext cx="4853828" cy="26468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A3F71A2-A45B-497E-87FC-7715432911CE}"/>
                  </a:ext>
                </a:extLst>
              </p:cNvPr>
              <p:cNvSpPr txBox="1"/>
              <p:nvPr/>
            </p:nvSpPr>
            <p:spPr>
              <a:xfrm>
                <a:off x="3570015" y="106607"/>
                <a:ext cx="724877" cy="16505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A3F71A2-A45B-497E-87FC-7715432911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0015" y="106607"/>
                <a:ext cx="724877" cy="165051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43242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AC358D-C53E-4D66-9529-928808FDE61D}"/>
              </a:ext>
            </a:extLst>
          </p:cNvPr>
          <p:cNvSpPr txBox="1"/>
          <p:nvPr/>
        </p:nvSpPr>
        <p:spPr>
          <a:xfrm>
            <a:off x="542709" y="2583968"/>
            <a:ext cx="86527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бөлчөктү пайызга айландыр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F11619E-6489-4374-AD06-0B9CED850911}"/>
                  </a:ext>
                </a:extLst>
              </p:cNvPr>
              <p:cNvSpPr txBox="1"/>
              <p:nvPr/>
            </p:nvSpPr>
            <p:spPr>
              <a:xfrm>
                <a:off x="3804372" y="3451590"/>
                <a:ext cx="1064714" cy="26639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F11619E-6489-4374-AD06-0B9CED8509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4372" y="3451590"/>
                <a:ext cx="1064714" cy="266393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D81D3-EAE0-4683-810A-0E5D50BB42F6}"/>
                  </a:ext>
                </a:extLst>
              </p:cNvPr>
              <p:cNvSpPr txBox="1"/>
              <p:nvPr/>
            </p:nvSpPr>
            <p:spPr>
              <a:xfrm>
                <a:off x="2675767" y="130317"/>
                <a:ext cx="2885149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9600" i="1" dirty="0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D81D3-EAE0-4683-810A-0E5D50BB4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5767" y="130317"/>
                <a:ext cx="2885149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3172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1CA36D-8DA9-4B46-B838-A3F6293697AE}"/>
              </a:ext>
            </a:extLst>
          </p:cNvPr>
          <p:cNvSpPr txBox="1"/>
          <p:nvPr/>
        </p:nvSpPr>
        <p:spPr>
          <a:xfrm>
            <a:off x="80980" y="2576517"/>
            <a:ext cx="94532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бөлчөктү ондук санга айландыр.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26C64F-C193-49C8-B0BD-80854DD4C0C4}"/>
                  </a:ext>
                </a:extLst>
              </p:cNvPr>
              <p:cNvSpPr txBox="1"/>
              <p:nvPr/>
            </p:nvSpPr>
            <p:spPr>
              <a:xfrm>
                <a:off x="3690396" y="3512550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26C64F-C193-49C8-B0BD-80854DD4C0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0396" y="3512550"/>
                <a:ext cx="1689886" cy="263636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8DA33B0-8011-42C2-8636-F255A270CE34}"/>
                  </a:ext>
                </a:extLst>
              </p:cNvPr>
              <p:cNvSpPr txBox="1"/>
              <p:nvPr/>
            </p:nvSpPr>
            <p:spPr>
              <a:xfrm>
                <a:off x="2856522" y="142764"/>
                <a:ext cx="2693366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60%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8DA33B0-8011-42C2-8636-F255A270CE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6522" y="142764"/>
                <a:ext cx="2693366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93310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9AF8DE-5487-466B-A414-9C5D3C4EF2B6}"/>
              </a:ext>
            </a:extLst>
          </p:cNvPr>
          <p:cNvSpPr txBox="1"/>
          <p:nvPr/>
        </p:nvSpPr>
        <p:spPr>
          <a:xfrm>
            <a:off x="542709" y="2630285"/>
            <a:ext cx="86527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бөлчөктү пайызга айландыр.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1930C02-ED54-4F9B-AF16-FD6C566138AD}"/>
                  </a:ext>
                </a:extLst>
              </p:cNvPr>
              <p:cNvSpPr txBox="1"/>
              <p:nvPr/>
            </p:nvSpPr>
            <p:spPr>
              <a:xfrm>
                <a:off x="3804372" y="3451590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1930C02-ED54-4F9B-AF16-FD6C566138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4372" y="3451590"/>
                <a:ext cx="1689886" cy="263636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CBB7138-F530-46FD-81AC-642C721C2543}"/>
                  </a:ext>
                </a:extLst>
              </p:cNvPr>
              <p:cNvSpPr txBox="1"/>
              <p:nvPr/>
            </p:nvSpPr>
            <p:spPr>
              <a:xfrm>
                <a:off x="3361009" y="106607"/>
                <a:ext cx="1107996" cy="16481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CBB7138-F530-46FD-81AC-642C721C25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009" y="106607"/>
                <a:ext cx="1107996" cy="16481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54484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A2BBE3-5914-4E9F-8651-89FABDD35F72}"/>
              </a:ext>
            </a:extLst>
          </p:cNvPr>
          <p:cNvSpPr txBox="1"/>
          <p:nvPr/>
        </p:nvSpPr>
        <p:spPr>
          <a:xfrm>
            <a:off x="-141947" y="2381889"/>
            <a:ext cx="96800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000" dirty="0"/>
              <a:t>Арзуу менен Жака таттууларды бөлүшүштү.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AA0806E-F9F1-440D-861C-3329426D79C8}"/>
                  </a:ext>
                </a:extLst>
              </p:cNvPr>
              <p:cNvSpPr txBox="1"/>
              <p:nvPr/>
            </p:nvSpPr>
            <p:spPr>
              <a:xfrm>
                <a:off x="1325986" y="3168061"/>
                <a:ext cx="7257115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7200" b="0" i="1" dirty="0" smtClean="0">
                          <a:latin typeface="Cambria Math" panose="02040503050406030204" pitchFamily="18" charset="0"/>
                        </a:rPr>
                        <m:t>Арзуу </m:t>
                      </m:r>
                      <m:r>
                        <a:rPr lang="en-GB" sz="7200" b="0" i="1" dirty="0" smtClean="0">
                          <a:latin typeface="Cambria Math" panose="02040503050406030204" pitchFamily="18" charset="0"/>
                        </a:rPr>
                        <m:t>40%</m:t>
                      </m:r>
                      <m:r>
                        <a:rPr lang="ky-KG" sz="7200" b="0" i="1" dirty="0" smtClean="0">
                          <a:latin typeface="Cambria Math" panose="02040503050406030204" pitchFamily="18" charset="0"/>
                        </a:rPr>
                        <m:t> алды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AA0806E-F9F1-440D-861C-3329426D7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5986" y="3168061"/>
                <a:ext cx="7257115" cy="12003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11C5CE1C-F020-4F79-8AD0-9C9946A76EC1}"/>
              </a:ext>
            </a:extLst>
          </p:cNvPr>
          <p:cNvSpPr txBox="1"/>
          <p:nvPr/>
        </p:nvSpPr>
        <p:spPr>
          <a:xfrm>
            <a:off x="823347" y="4887817"/>
            <a:ext cx="731443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Алар таттууларды катыш катары </a:t>
            </a:r>
          </a:p>
          <a:p>
            <a:pPr algn="ctr"/>
            <a:r>
              <a:rPr lang="ky-KG" sz="4000" dirty="0"/>
              <a:t>кантип бөлүшүшкөнүн көрсөт.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95CBE35-3A2F-4830-A8D0-4A406CB54E43}"/>
                  </a:ext>
                </a:extLst>
              </p:cNvPr>
              <p:cNvSpPr txBox="1"/>
              <p:nvPr/>
            </p:nvSpPr>
            <p:spPr>
              <a:xfrm>
                <a:off x="2675767" y="130317"/>
                <a:ext cx="2885149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9600" i="1" dirty="0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95CBE35-3A2F-4830-A8D0-4A406CB54E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5767" y="130317"/>
                <a:ext cx="2885149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28453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15EDF3-13B9-4AF8-B879-AD6792A8AEA0}"/>
              </a:ext>
            </a:extLst>
          </p:cNvPr>
          <p:cNvSpPr txBox="1"/>
          <p:nvPr/>
        </p:nvSpPr>
        <p:spPr>
          <a:xfrm>
            <a:off x="281131" y="2664504"/>
            <a:ext cx="91759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бөлүктү ондук санга айландыр.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1A73FD7-A125-4955-BD23-47D37477BFDE}"/>
                  </a:ext>
                </a:extLst>
              </p:cNvPr>
              <p:cNvSpPr txBox="1"/>
              <p:nvPr/>
            </p:nvSpPr>
            <p:spPr>
              <a:xfrm>
                <a:off x="3804372" y="3451590"/>
                <a:ext cx="1064714" cy="26639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1A73FD7-A125-4955-BD23-47D37477B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4372" y="3451590"/>
                <a:ext cx="1064714" cy="266393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8AF6A5-4284-4DBB-8F9A-6959407D694B}"/>
                  </a:ext>
                </a:extLst>
              </p:cNvPr>
              <p:cNvSpPr txBox="1"/>
              <p:nvPr/>
            </p:nvSpPr>
            <p:spPr>
              <a:xfrm>
                <a:off x="3196156" y="186307"/>
                <a:ext cx="1920719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1.2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8AF6A5-4284-4DBB-8F9A-6959407D6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6156" y="186307"/>
                <a:ext cx="1920719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8547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Q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42CD3D-3430-4C1E-A65A-A65319A1E657}"/>
              </a:ext>
            </a:extLst>
          </p:cNvPr>
          <p:cNvSpPr txBox="1"/>
          <p:nvPr/>
        </p:nvSpPr>
        <p:spPr>
          <a:xfrm>
            <a:off x="41790" y="2369760"/>
            <a:ext cx="90847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000" dirty="0"/>
              <a:t>Жоки менен </a:t>
            </a:r>
            <a:r>
              <a:rPr lang="ky-KG" sz="4000" dirty="0"/>
              <a:t>Моку</a:t>
            </a:r>
            <a:r>
              <a:rPr lang="ru-RU" sz="4000" dirty="0"/>
              <a:t> таттууларды бөлүшөт.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297AC3-C037-41A9-A506-1D789CE09CE0}"/>
                  </a:ext>
                </a:extLst>
              </p:cNvPr>
              <p:cNvSpPr txBox="1"/>
              <p:nvPr/>
            </p:nvSpPr>
            <p:spPr>
              <a:xfrm>
                <a:off x="817388" y="3235247"/>
                <a:ext cx="7871129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:r>
                  <a:rPr lang="ky-KG" sz="8800" b="0" dirty="0"/>
                  <a:t>Жоки </a:t>
                </a:r>
                <a14:m>
                  <m:oMath xmlns:m="http://schemas.openxmlformats.org/officeDocument/2006/math">
                    <m:r>
                      <a:rPr lang="en-GB" sz="8800" b="0" i="1" dirty="0" smtClean="0">
                        <a:latin typeface="Cambria Math" panose="02040503050406030204" pitchFamily="18" charset="0"/>
                      </a:rPr>
                      <m:t>30%</m:t>
                    </m:r>
                    <m:r>
                      <a:rPr lang="ky-KG" sz="8800" b="0" i="1" dirty="0" smtClean="0">
                        <a:latin typeface="Cambria Math" panose="02040503050406030204" pitchFamily="18" charset="0"/>
                      </a:rPr>
                      <m:t> алат</m:t>
                    </m:r>
                  </m:oMath>
                </a14:m>
                <a:endParaRPr lang="en-GB" sz="88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297AC3-C037-41A9-A506-1D789CE09C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388" y="3235247"/>
                <a:ext cx="7871129" cy="1446550"/>
              </a:xfrm>
              <a:prstGeom prst="rect">
                <a:avLst/>
              </a:prstGeom>
              <a:blipFill>
                <a:blip r:embed="rId2"/>
                <a:stretch>
                  <a:fillRect l="-7359" t="-20253" b="-4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16E4113-F2EE-4280-B4FD-A69D24D4CD24}"/>
              </a:ext>
            </a:extLst>
          </p:cNvPr>
          <p:cNvSpPr txBox="1"/>
          <p:nvPr/>
        </p:nvSpPr>
        <p:spPr>
          <a:xfrm>
            <a:off x="823347" y="4887817"/>
            <a:ext cx="731443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Алар таттууларды катыш катары </a:t>
            </a:r>
          </a:p>
          <a:p>
            <a:pPr algn="ctr"/>
            <a:r>
              <a:rPr lang="ky-KG" sz="4000" dirty="0"/>
              <a:t>кантип бөлүшүшкөнүн көрсөт.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1B9D8E9-66F8-4C79-A532-99E30F4B3F0A}"/>
                  </a:ext>
                </a:extLst>
              </p:cNvPr>
              <p:cNvSpPr txBox="1"/>
              <p:nvPr/>
            </p:nvSpPr>
            <p:spPr>
              <a:xfrm>
                <a:off x="3534822" y="78682"/>
                <a:ext cx="724878" cy="16703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1B9D8E9-66F8-4C79-A532-99E30F4B3F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822" y="78682"/>
                <a:ext cx="724878" cy="16703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144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95590C-EE18-4F56-9D4B-6EC3E6CBBCF9}"/>
              </a:ext>
            </a:extLst>
          </p:cNvPr>
          <p:cNvSpPr txBox="1"/>
          <p:nvPr/>
        </p:nvSpPr>
        <p:spPr>
          <a:xfrm>
            <a:off x="36673" y="2147078"/>
            <a:ext cx="907504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000" dirty="0"/>
              <a:t>Азамат менен Максат бир нече </a:t>
            </a:r>
          </a:p>
          <a:p>
            <a:pPr algn="ctr"/>
            <a:r>
              <a:rPr lang="ru-RU" sz="4000" dirty="0"/>
              <a:t>таттууларды </a:t>
            </a:r>
            <a:r>
              <a:rPr lang="ky-KG" sz="4000" dirty="0"/>
              <a:t>берилген  </a:t>
            </a:r>
            <a:r>
              <a:rPr lang="ru-RU" sz="4000" dirty="0"/>
              <a:t>катышта бөлүшөт</a:t>
            </a:r>
            <a:endParaRPr lang="en-GB" sz="4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659E8C0-27D9-47E2-A664-BCC6CE6951A3}"/>
                  </a:ext>
                </a:extLst>
              </p:cNvPr>
              <p:cNvSpPr txBox="1"/>
              <p:nvPr/>
            </p:nvSpPr>
            <p:spPr>
              <a:xfrm>
                <a:off x="3037986" y="3362771"/>
                <a:ext cx="2885149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9600" i="1" dirty="0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659E8C0-27D9-47E2-A664-BCC6CE6951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7986" y="3362771"/>
                <a:ext cx="2885149" cy="15696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3875596-E9B7-4AE9-AFB1-9B3077D4542D}"/>
              </a:ext>
            </a:extLst>
          </p:cNvPr>
          <p:cNvSpPr txBox="1"/>
          <p:nvPr/>
        </p:nvSpPr>
        <p:spPr>
          <a:xfrm>
            <a:off x="1318757" y="4824684"/>
            <a:ext cx="626703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000" dirty="0"/>
              <a:t>Азамат таттуулардын канча </a:t>
            </a:r>
          </a:p>
          <a:p>
            <a:pPr algn="ctr"/>
            <a:r>
              <a:rPr lang="ru-RU" sz="4000" dirty="0"/>
              <a:t>пайызын алат?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CE2C29F-0A16-4C40-9609-F15D0BF29298}"/>
                  </a:ext>
                </a:extLst>
              </p:cNvPr>
              <p:cNvSpPr txBox="1"/>
              <p:nvPr/>
            </p:nvSpPr>
            <p:spPr>
              <a:xfrm>
                <a:off x="2830396" y="160181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1.25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CE2C29F-0A16-4C40-9609-F15D0BF292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0396" y="160181"/>
                <a:ext cx="2545890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4420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D9208E-93B9-40A6-AB91-F3E5A481CEFB}"/>
              </a:ext>
            </a:extLst>
          </p:cNvPr>
          <p:cNvSpPr txBox="1"/>
          <p:nvPr/>
        </p:nvSpPr>
        <p:spPr>
          <a:xfrm>
            <a:off x="651571" y="2619608"/>
            <a:ext cx="80252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бөлчөктү катышка айлант.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90A494-2945-498F-936F-0E7F57D92A7F}"/>
                  </a:ext>
                </a:extLst>
              </p:cNvPr>
              <p:cNvSpPr txBox="1"/>
              <p:nvPr/>
            </p:nvSpPr>
            <p:spPr>
              <a:xfrm>
                <a:off x="3804372" y="3451590"/>
                <a:ext cx="1064714" cy="26639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90A494-2945-498F-936F-0E7F57D92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4372" y="3451590"/>
                <a:ext cx="1064714" cy="266393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F4DADBE-CA8A-4CC0-9CCC-59ABE761C15D}"/>
                  </a:ext>
                </a:extLst>
              </p:cNvPr>
              <p:cNvSpPr txBox="1"/>
              <p:nvPr/>
            </p:nvSpPr>
            <p:spPr>
              <a:xfrm>
                <a:off x="3361009" y="106607"/>
                <a:ext cx="1107996" cy="16481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F4DADBE-CA8A-4CC0-9CCC-59ABE761C1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009" y="106607"/>
                <a:ext cx="1107996" cy="16481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50072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DF6162-A1A8-4C5F-98D6-C9F438F546E4}"/>
              </a:ext>
            </a:extLst>
          </p:cNvPr>
          <p:cNvSpPr txBox="1"/>
          <p:nvPr/>
        </p:nvSpPr>
        <p:spPr>
          <a:xfrm>
            <a:off x="534896" y="2630240"/>
            <a:ext cx="80252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бөлчөктү катышка айлант.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E969AA6-BCC8-417D-9292-E47F3EE3955E}"/>
                  </a:ext>
                </a:extLst>
              </p:cNvPr>
              <p:cNvSpPr txBox="1"/>
              <p:nvPr/>
            </p:nvSpPr>
            <p:spPr>
              <a:xfrm>
                <a:off x="3804372" y="3451590"/>
                <a:ext cx="1064714" cy="26639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E969AA6-BCC8-417D-9292-E47F3EE395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4372" y="3451590"/>
                <a:ext cx="1064714" cy="266393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9CFAF18-8246-42CF-B442-A82791282DDA}"/>
                  </a:ext>
                </a:extLst>
              </p:cNvPr>
              <p:cNvSpPr txBox="1"/>
              <p:nvPr/>
            </p:nvSpPr>
            <p:spPr>
              <a:xfrm>
                <a:off x="2856522" y="142764"/>
                <a:ext cx="2693366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40%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9CFAF18-8246-42CF-B442-A82791282D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6522" y="142764"/>
                <a:ext cx="2693366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77620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Z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A5A426-DF10-4D92-822A-B02B2F100A20}"/>
              </a:ext>
            </a:extLst>
          </p:cNvPr>
          <p:cNvSpPr txBox="1"/>
          <p:nvPr/>
        </p:nvSpPr>
        <p:spPr>
          <a:xfrm>
            <a:off x="328741" y="2597017"/>
            <a:ext cx="89307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пайызды бөлчөккө айландыр.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EF675F3-65F2-4B11-BF20-878E50C96F34}"/>
                  </a:ext>
                </a:extLst>
              </p:cNvPr>
              <p:cNvSpPr txBox="1"/>
              <p:nvPr/>
            </p:nvSpPr>
            <p:spPr>
              <a:xfrm>
                <a:off x="3122327" y="3812745"/>
                <a:ext cx="2693366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20%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EF675F3-65F2-4B11-BF20-878E50C96F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327" y="3812745"/>
                <a:ext cx="2693366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6E486B0-1097-48E9-92C9-6B61A6B234BD}"/>
                  </a:ext>
                </a:extLst>
              </p:cNvPr>
              <p:cNvSpPr txBox="1"/>
              <p:nvPr/>
            </p:nvSpPr>
            <p:spPr>
              <a:xfrm>
                <a:off x="2917482" y="160181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0.58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6E486B0-1097-48E9-92C9-6B61A6B23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7482" y="160181"/>
                <a:ext cx="2545890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6293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6738F0-6669-4884-B02A-CF9B3A18D2B7}"/>
              </a:ext>
            </a:extLst>
          </p:cNvPr>
          <p:cNvSpPr txBox="1"/>
          <p:nvPr/>
        </p:nvSpPr>
        <p:spPr>
          <a:xfrm>
            <a:off x="219640" y="2691176"/>
            <a:ext cx="94441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</a:t>
            </a:r>
            <a:r>
              <a:rPr lang="ru-RU" sz="4000" dirty="0"/>
              <a:t> пайызды ондук санга айландыр.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21D4C9C-5D9A-435D-B618-D87631B2394F}"/>
                  </a:ext>
                </a:extLst>
              </p:cNvPr>
              <p:cNvSpPr txBox="1"/>
              <p:nvPr/>
            </p:nvSpPr>
            <p:spPr>
              <a:xfrm>
                <a:off x="3122324" y="3812745"/>
                <a:ext cx="3318537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120%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21D4C9C-5D9A-435D-B618-D87631B23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324" y="3812745"/>
                <a:ext cx="3318537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48FCCA0-9A68-4A2C-B059-A21BFBFAA90A}"/>
                  </a:ext>
                </a:extLst>
              </p:cNvPr>
              <p:cNvSpPr txBox="1"/>
              <p:nvPr/>
            </p:nvSpPr>
            <p:spPr>
              <a:xfrm>
                <a:off x="2675767" y="130317"/>
                <a:ext cx="2885149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9600" i="1" dirty="0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48FCCA0-9A68-4A2C-B059-A21BFBFAA9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5767" y="130317"/>
                <a:ext cx="2885149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4231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FA711D-FB00-47EE-BE58-6A55938DCFE0}"/>
              </a:ext>
            </a:extLst>
          </p:cNvPr>
          <p:cNvSpPr txBox="1"/>
          <p:nvPr/>
        </p:nvSpPr>
        <p:spPr>
          <a:xfrm>
            <a:off x="38789" y="2624070"/>
            <a:ext cx="966059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</a:t>
            </a:r>
            <a:r>
              <a:rPr lang="ru-RU" sz="4000" dirty="0"/>
              <a:t> пайызды ондук санга айландыр.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1A7077B-4069-4073-B9BF-5D9D6286D2B3}"/>
                  </a:ext>
                </a:extLst>
              </p:cNvPr>
              <p:cNvSpPr txBox="1"/>
              <p:nvPr/>
            </p:nvSpPr>
            <p:spPr>
              <a:xfrm>
                <a:off x="3122324" y="3812745"/>
                <a:ext cx="2693366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58%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1A7077B-4069-4073-B9BF-5D9D6286D2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324" y="3812745"/>
                <a:ext cx="2693366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204C4CF-9620-4A34-A0FB-6DA003F7DEF8}"/>
                  </a:ext>
                </a:extLst>
              </p:cNvPr>
              <p:cNvSpPr txBox="1"/>
              <p:nvPr/>
            </p:nvSpPr>
            <p:spPr>
              <a:xfrm>
                <a:off x="2917482" y="160181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0.26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204C4CF-9620-4A34-A0FB-6DA003F7DE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7482" y="160181"/>
                <a:ext cx="2545890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3088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F6B46F-8F42-447D-B883-C803848EF494}"/>
              </a:ext>
            </a:extLst>
          </p:cNvPr>
          <p:cNvSpPr txBox="1"/>
          <p:nvPr/>
        </p:nvSpPr>
        <p:spPr>
          <a:xfrm>
            <a:off x="609439" y="2698525"/>
            <a:ext cx="86871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ондукту бөлчөккө айландыр.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40C3C6A-F96E-421C-9607-9FB7A6F2C877}"/>
                  </a:ext>
                </a:extLst>
              </p:cNvPr>
              <p:cNvSpPr txBox="1"/>
              <p:nvPr/>
            </p:nvSpPr>
            <p:spPr>
              <a:xfrm>
                <a:off x="3196065" y="3930790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0.88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40C3C6A-F96E-421C-9607-9FB7A6F2C8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6065" y="3930790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0FB322-63E9-432C-A486-B469C6A4F42B}"/>
                  </a:ext>
                </a:extLst>
              </p:cNvPr>
              <p:cNvSpPr txBox="1"/>
              <p:nvPr/>
            </p:nvSpPr>
            <p:spPr>
              <a:xfrm>
                <a:off x="2856522" y="142764"/>
                <a:ext cx="2693366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68%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0FB322-63E9-432C-A486-B469C6A4F4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6522" y="142764"/>
                <a:ext cx="2693366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90330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2CD1F5-2220-4A93-ADA8-4833EB317247}"/>
              </a:ext>
            </a:extLst>
          </p:cNvPr>
          <p:cNvSpPr txBox="1"/>
          <p:nvPr/>
        </p:nvSpPr>
        <p:spPr>
          <a:xfrm>
            <a:off x="345643" y="2659034"/>
            <a:ext cx="816576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4000" dirty="0"/>
              <a:t>Берилген катышты бөлчөккө айлант.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C13F0F-F553-4099-87FB-AEED285CEE2B}"/>
                  </a:ext>
                </a:extLst>
              </p:cNvPr>
              <p:cNvSpPr txBox="1"/>
              <p:nvPr/>
            </p:nvSpPr>
            <p:spPr>
              <a:xfrm>
                <a:off x="2042091" y="3588159"/>
                <a:ext cx="4853828" cy="26468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600" b="0" i="1" dirty="0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GB" sz="16600" i="1" dirty="0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GB" sz="16600" b="0" i="1" dirty="0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GB" sz="16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C13F0F-F553-4099-87FB-AEED285CEE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2091" y="3588159"/>
                <a:ext cx="4853828" cy="26468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4713A10-968B-4914-979B-9C2A297F967E}"/>
                  </a:ext>
                </a:extLst>
              </p:cNvPr>
              <p:cNvSpPr txBox="1"/>
              <p:nvPr/>
            </p:nvSpPr>
            <p:spPr>
              <a:xfrm>
                <a:off x="3361009" y="106607"/>
                <a:ext cx="1107996" cy="16481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num>
                        <m:den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4713A10-968B-4914-979B-9C2A297F9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009" y="106607"/>
                <a:ext cx="1107996" cy="16481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51241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9515D2-794A-4061-875D-517456838AB0}"/>
              </a:ext>
            </a:extLst>
          </p:cNvPr>
          <p:cNvSpPr txBox="1"/>
          <p:nvPr/>
        </p:nvSpPr>
        <p:spPr>
          <a:xfrm>
            <a:off x="450970" y="2615361"/>
            <a:ext cx="89307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пайызды бөлчөккө айландыр.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0E1F9B7-AE4C-4686-87E2-FE867AAA8195}"/>
                  </a:ext>
                </a:extLst>
              </p:cNvPr>
              <p:cNvSpPr txBox="1"/>
              <p:nvPr/>
            </p:nvSpPr>
            <p:spPr>
              <a:xfrm>
                <a:off x="3122327" y="3812745"/>
                <a:ext cx="2693366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80%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0E1F9B7-AE4C-4686-87E2-FE867AAA81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327" y="3812745"/>
                <a:ext cx="2693366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B3B8D4F-652B-4259-94E3-055505669476}"/>
                  </a:ext>
                </a:extLst>
              </p:cNvPr>
              <p:cNvSpPr txBox="1"/>
              <p:nvPr/>
            </p:nvSpPr>
            <p:spPr>
              <a:xfrm>
                <a:off x="2891356" y="168890"/>
                <a:ext cx="2693366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52%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B3B8D4F-652B-4259-94E3-0555056694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1356" y="168890"/>
                <a:ext cx="2693366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26577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8E70A5-724F-4A34-BA89-B4D31BCBA9DA}"/>
              </a:ext>
            </a:extLst>
          </p:cNvPr>
          <p:cNvSpPr txBox="1"/>
          <p:nvPr/>
        </p:nvSpPr>
        <p:spPr>
          <a:xfrm>
            <a:off x="394523" y="2300577"/>
            <a:ext cx="1089323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/>
              <a:t>Жакы менен Дуку таттууларды </a:t>
            </a:r>
            <a:r>
              <a:rPr lang="ky-KG" sz="4000" dirty="0"/>
              <a:t>берилген </a:t>
            </a:r>
          </a:p>
          <a:p>
            <a:r>
              <a:rPr lang="ky-KG" sz="4000" dirty="0"/>
              <a:t>катышта</a:t>
            </a:r>
            <a:r>
              <a:rPr lang="ru-RU" sz="4000" dirty="0"/>
              <a:t> бөлүшүштү</a:t>
            </a:r>
            <a:endParaRPr lang="en-GB" sz="4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5C1A239-D560-4D6A-B8D5-44DFAC930CFA}"/>
                  </a:ext>
                </a:extLst>
              </p:cNvPr>
              <p:cNvSpPr txBox="1"/>
              <p:nvPr/>
            </p:nvSpPr>
            <p:spPr>
              <a:xfrm>
                <a:off x="3426511" y="3561440"/>
                <a:ext cx="2885149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9600" i="1" dirty="0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5C1A239-D560-4D6A-B8D5-44DFAC930C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6511" y="3561440"/>
                <a:ext cx="2885149" cy="15696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3A194121-06D5-4022-95B2-221B3665528A}"/>
              </a:ext>
            </a:extLst>
          </p:cNvPr>
          <p:cNvSpPr txBox="1"/>
          <p:nvPr/>
        </p:nvSpPr>
        <p:spPr>
          <a:xfrm>
            <a:off x="1388294" y="5068524"/>
            <a:ext cx="71294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/>
              <a:t>Жакы таттуулардын канча </a:t>
            </a:r>
          </a:p>
          <a:p>
            <a:pPr algn="ctr"/>
            <a:r>
              <a:rPr lang="ru-RU" sz="4000" dirty="0"/>
              <a:t>пайызын алат?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A0B344F-57FB-4709-98B9-89DD9E124C61}"/>
                  </a:ext>
                </a:extLst>
              </p:cNvPr>
              <p:cNvSpPr txBox="1"/>
              <p:nvPr/>
            </p:nvSpPr>
            <p:spPr>
              <a:xfrm>
                <a:off x="3534822" y="78682"/>
                <a:ext cx="724878" cy="16703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den>
                      </m:f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A0B344F-57FB-4709-98B9-89DD9E124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822" y="78682"/>
                <a:ext cx="724878" cy="16703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72746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465922-573B-40AC-9443-686BB22CE950}"/>
              </a:ext>
            </a:extLst>
          </p:cNvPr>
          <p:cNvSpPr txBox="1"/>
          <p:nvPr/>
        </p:nvSpPr>
        <p:spPr>
          <a:xfrm>
            <a:off x="421381" y="2647722"/>
            <a:ext cx="84000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ондукту пайызга айландыр.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8A9EC6D-7748-4E3F-B0F2-0FE1622B57ED}"/>
                  </a:ext>
                </a:extLst>
              </p:cNvPr>
              <p:cNvSpPr txBox="1"/>
              <p:nvPr/>
            </p:nvSpPr>
            <p:spPr>
              <a:xfrm>
                <a:off x="3196063" y="3930790"/>
                <a:ext cx="1920719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0.8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8A9EC6D-7748-4E3F-B0F2-0FE1622B57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6063" y="3930790"/>
                <a:ext cx="1920719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0187286-F567-4D91-9F71-B81882F86A7D}"/>
                  </a:ext>
                </a:extLst>
              </p:cNvPr>
              <p:cNvSpPr txBox="1"/>
              <p:nvPr/>
            </p:nvSpPr>
            <p:spPr>
              <a:xfrm>
                <a:off x="2675767" y="130317"/>
                <a:ext cx="2885149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9600" i="1" dirty="0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0187286-F567-4D91-9F71-B81882F86A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5767" y="130317"/>
                <a:ext cx="2885149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13442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1B48CB-37DC-4A19-937A-D2F490B8EE6E}"/>
              </a:ext>
            </a:extLst>
          </p:cNvPr>
          <p:cNvSpPr txBox="1"/>
          <p:nvPr/>
        </p:nvSpPr>
        <p:spPr>
          <a:xfrm>
            <a:off x="524252" y="2657637"/>
            <a:ext cx="86871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ондукту бөлчөккө айландыр.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DC707EB-650B-46EE-B4F3-514050A77E7F}"/>
                  </a:ext>
                </a:extLst>
              </p:cNvPr>
              <p:cNvSpPr txBox="1"/>
              <p:nvPr/>
            </p:nvSpPr>
            <p:spPr>
              <a:xfrm>
                <a:off x="3196065" y="3930790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0.28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DC707EB-650B-46EE-B4F3-514050A77E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6065" y="3930790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135A1F1-E4C6-4D1E-959E-2988F451A6E9}"/>
                  </a:ext>
                </a:extLst>
              </p:cNvPr>
              <p:cNvSpPr txBox="1"/>
              <p:nvPr/>
            </p:nvSpPr>
            <p:spPr>
              <a:xfrm>
                <a:off x="2856522" y="142764"/>
                <a:ext cx="2693366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80%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135A1F1-E4C6-4D1E-959E-2988F451A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6522" y="142764"/>
                <a:ext cx="2693366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4901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785D61-4FA4-4209-A56A-DA07C3FA3958}"/>
              </a:ext>
            </a:extLst>
          </p:cNvPr>
          <p:cNvSpPr txBox="1"/>
          <p:nvPr/>
        </p:nvSpPr>
        <p:spPr>
          <a:xfrm>
            <a:off x="577215" y="2667833"/>
            <a:ext cx="84000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ондукту пайызга айландыр.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26EDD6F-3F06-4ED7-9FB9-6249B7011670}"/>
                  </a:ext>
                </a:extLst>
              </p:cNvPr>
              <p:cNvSpPr txBox="1"/>
              <p:nvPr/>
            </p:nvSpPr>
            <p:spPr>
              <a:xfrm>
                <a:off x="3196063" y="3936503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0.68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26EDD6F-3F06-4ED7-9FB9-6249B70116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6063" y="3936503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439A85C-3863-4269-9CDD-354D1A379C0D}"/>
                  </a:ext>
                </a:extLst>
              </p:cNvPr>
              <p:cNvSpPr txBox="1"/>
              <p:nvPr/>
            </p:nvSpPr>
            <p:spPr>
              <a:xfrm>
                <a:off x="2856522" y="142764"/>
                <a:ext cx="2693366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20%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439A85C-3863-4269-9CDD-354D1A379C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6522" y="142764"/>
                <a:ext cx="2693366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24582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04D95A3-C619-4B98-A2F7-AC88B07141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49960782"/>
                  </p:ext>
                </p:extLst>
              </p:nvPr>
            </p:nvGraphicFramePr>
            <p:xfrm>
              <a:off x="87088" y="391889"/>
              <a:ext cx="9753596" cy="641067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25415">
                      <a:extLst>
                        <a:ext uri="{9D8B030D-6E8A-4147-A177-3AD203B41FA5}">
                          <a16:colId xmlns:a16="http://schemas.microsoft.com/office/drawing/2014/main" val="4241353267"/>
                        </a:ext>
                      </a:extLst>
                    </a:gridCol>
                    <a:gridCol w="3751383">
                      <a:extLst>
                        <a:ext uri="{9D8B030D-6E8A-4147-A177-3AD203B41FA5}">
                          <a16:colId xmlns:a16="http://schemas.microsoft.com/office/drawing/2014/main" val="2660725730"/>
                        </a:ext>
                      </a:extLst>
                    </a:gridCol>
                    <a:gridCol w="1125415">
                      <a:extLst>
                        <a:ext uri="{9D8B030D-6E8A-4147-A177-3AD203B41FA5}">
                          <a16:colId xmlns:a16="http://schemas.microsoft.com/office/drawing/2014/main" val="151696040"/>
                        </a:ext>
                      </a:extLst>
                    </a:gridCol>
                    <a:gridCol w="3751383">
                      <a:extLst>
                        <a:ext uri="{9D8B030D-6E8A-4147-A177-3AD203B41FA5}">
                          <a16:colId xmlns:a16="http://schemas.microsoft.com/office/drawing/2014/main" val="2268253823"/>
                        </a:ext>
                      </a:extLst>
                    </a:gridCol>
                  </a:tblGrid>
                  <a:tr h="41181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9351622"/>
                      </a:ext>
                    </a:extLst>
                  </a:tr>
                  <a:tr h="5973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sz="1800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1800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lang="en-GB" sz="1800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den>
                              </m:f>
                            </m:oMath>
                          </a14:m>
                          <a:r>
                            <a:rPr lang="en-GB" sz="1800" b="0" i="0" dirty="0">
                              <a:solidFill>
                                <a:sysClr val="windowText" lastClr="000000"/>
                              </a:solidFill>
                              <a:latin typeface="+mj-lt"/>
                            </a:rPr>
                            <a:t> 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b="1" dirty="0"/>
                            <a:t>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8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2:7</m:t>
                                </m:r>
                              </m:oMath>
                            </m:oMathPara>
                          </a14:m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080002"/>
                      </a:ext>
                    </a:extLst>
                  </a:tr>
                  <a:tr h="5973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K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8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40%</m:t>
                                </m:r>
                              </m:oMath>
                            </m:oMathPara>
                          </a14:m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8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2:3</m:t>
                                </m:r>
                              </m:oMath>
                            </m:oMathPara>
                          </a14:m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84699499"/>
                      </a:ext>
                    </a:extLst>
                  </a:tr>
                  <a:tr h="5973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8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2:1</m:t>
                                </m:r>
                              </m:oMath>
                            </m:oMathPara>
                          </a14:m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M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8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1.2</m:t>
                                </m:r>
                              </m:oMath>
                            </m:oMathPara>
                          </a14:m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32976582"/>
                      </a:ext>
                    </a:extLst>
                  </a:tr>
                  <a:tr h="5973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8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60%</m:t>
                                </m:r>
                              </m:oMath>
                            </m:oMathPara>
                          </a14:m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Y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8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1.25</m:t>
                                </m:r>
                              </m:oMath>
                            </m:oMathPara>
                          </a14:m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08588563"/>
                      </a:ext>
                    </a:extLst>
                  </a:tr>
                  <a:tr h="5973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F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8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0.26</m:t>
                                </m:r>
                              </m:oMath>
                            </m:oMathPara>
                          </a14:m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I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8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20%</m:t>
                                </m:r>
                              </m:oMath>
                            </m:oMathPara>
                          </a14:m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32025085"/>
                      </a:ext>
                    </a:extLst>
                  </a:tr>
                  <a:tr h="5973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G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8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0.58</m:t>
                                </m:r>
                              </m:oMath>
                            </m:oMathPara>
                          </a14:m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8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68%</m:t>
                                </m:r>
                              </m:oMath>
                            </m:oMathPara>
                          </a14:m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68463836"/>
                      </a:ext>
                    </a:extLst>
                  </a:tr>
                  <a:tr h="5973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Z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8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8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8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H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8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8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num>
                                  <m:den>
                                    <m:r>
                                      <a:rPr lang="en-GB" sz="18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7609596"/>
                      </a:ext>
                    </a:extLst>
                  </a:tr>
                  <a:tr h="5973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Q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8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3:7</m:t>
                                </m:r>
                              </m:oMath>
                            </m:oMathPara>
                          </a14:m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X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8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8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18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2331446"/>
                      </a:ext>
                    </a:extLst>
                  </a:tr>
                  <a:tr h="5973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R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8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80%</m:t>
                                </m:r>
                              </m:oMath>
                            </m:oMathPara>
                          </a14:m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P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8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52%</m:t>
                                </m:r>
                              </m:oMath>
                            </m:oMathPara>
                          </a14:m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33926401"/>
                      </a:ext>
                    </a:extLst>
                  </a:tr>
                  <a:tr h="5973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8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8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18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C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8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8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lang="en-GB" sz="18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1610585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04D95A3-C619-4B98-A2F7-AC88B07141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49960782"/>
                  </p:ext>
                </p:extLst>
              </p:nvPr>
            </p:nvGraphicFramePr>
            <p:xfrm>
              <a:off x="87088" y="391889"/>
              <a:ext cx="9753596" cy="641067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25415">
                      <a:extLst>
                        <a:ext uri="{9D8B030D-6E8A-4147-A177-3AD203B41FA5}">
                          <a16:colId xmlns:a16="http://schemas.microsoft.com/office/drawing/2014/main" val="4241353267"/>
                        </a:ext>
                      </a:extLst>
                    </a:gridCol>
                    <a:gridCol w="3751383">
                      <a:extLst>
                        <a:ext uri="{9D8B030D-6E8A-4147-A177-3AD203B41FA5}">
                          <a16:colId xmlns:a16="http://schemas.microsoft.com/office/drawing/2014/main" val="2660725730"/>
                        </a:ext>
                      </a:extLst>
                    </a:gridCol>
                    <a:gridCol w="1125415">
                      <a:extLst>
                        <a:ext uri="{9D8B030D-6E8A-4147-A177-3AD203B41FA5}">
                          <a16:colId xmlns:a16="http://schemas.microsoft.com/office/drawing/2014/main" val="151696040"/>
                        </a:ext>
                      </a:extLst>
                    </a:gridCol>
                    <a:gridCol w="3751383">
                      <a:extLst>
                        <a:ext uri="{9D8B030D-6E8A-4147-A177-3AD203B41FA5}">
                          <a16:colId xmlns:a16="http://schemas.microsoft.com/office/drawing/2014/main" val="2268253823"/>
                        </a:ext>
                      </a:extLst>
                    </a:gridCol>
                  </a:tblGrid>
                  <a:tr h="41181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9351622"/>
                      </a:ext>
                    </a:extLst>
                  </a:tr>
                  <a:tr h="5973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95" t="-70408" r="-130195" b="-93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800" b="1" dirty="0"/>
                            <a:t>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0065" t="-70408" r="-325" b="-93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080002"/>
                      </a:ext>
                    </a:extLst>
                  </a:tr>
                  <a:tr h="5973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K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95" t="-170408" r="-130195" b="-83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0065" t="-170408" r="-325" b="-83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84699499"/>
                      </a:ext>
                    </a:extLst>
                  </a:tr>
                  <a:tr h="5973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95" t="-270408" r="-130195" b="-73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M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0065" t="-270408" r="-325" b="-73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32976582"/>
                      </a:ext>
                    </a:extLst>
                  </a:tr>
                  <a:tr h="5973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95" t="-370408" r="-130195" b="-63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Y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0065" t="-370408" r="-325" b="-63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08588563"/>
                      </a:ext>
                    </a:extLst>
                  </a:tr>
                  <a:tr h="5973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F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95" t="-470408" r="-130195" b="-53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I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0065" t="-470408" r="-325" b="-53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32025085"/>
                      </a:ext>
                    </a:extLst>
                  </a:tr>
                  <a:tr h="5973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G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95" t="-570408" r="-130195" b="-43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0065" t="-570408" r="-325" b="-43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68463836"/>
                      </a:ext>
                    </a:extLst>
                  </a:tr>
                  <a:tr h="6068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Z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95" t="-663636" r="-130195" b="-3313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H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0065" t="-663636" r="-325" b="-3313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7609596"/>
                      </a:ext>
                    </a:extLst>
                  </a:tr>
                  <a:tr h="605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Q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95" t="-756000" r="-130195" b="-22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X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0065" t="-756000" r="-325" b="-22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2331446"/>
                      </a:ext>
                    </a:extLst>
                  </a:tr>
                  <a:tr h="5973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R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95" t="-873469" r="-130195" b="-132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P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0065" t="-873469" r="-325" b="-1326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33926401"/>
                      </a:ext>
                    </a:extLst>
                  </a:tr>
                  <a:tr h="6058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95" t="-963636" r="-130195" b="-313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C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0065" t="-963636" r="-325" b="-313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1610585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9BF481E-DFCA-4BA6-9DBD-F16F6705123C}"/>
              </a:ext>
            </a:extLst>
          </p:cNvPr>
          <p:cNvSpPr txBox="1"/>
          <p:nvPr/>
        </p:nvSpPr>
        <p:spPr>
          <a:xfrm>
            <a:off x="-31342" y="-26118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761BAE-9412-451C-8B90-09E585CA2ACA}"/>
              </a:ext>
            </a:extLst>
          </p:cNvPr>
          <p:cNvCxnSpPr>
            <a:cxnSpLocks/>
          </p:cNvCxnSpPr>
          <p:nvPr/>
        </p:nvCxnSpPr>
        <p:spPr>
          <a:xfrm>
            <a:off x="235132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C25F2F-F81E-4959-B866-200B280E8311}"/>
              </a:ext>
            </a:extLst>
          </p:cNvPr>
          <p:cNvCxnSpPr>
            <a:cxnSpLocks/>
          </p:cNvCxnSpPr>
          <p:nvPr/>
        </p:nvCxnSpPr>
        <p:spPr>
          <a:xfrm>
            <a:off x="5116287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27569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29F260A-33A7-44B1-B56C-F2E27011A8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r="13437" b="13507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305EF85-5BA6-4C13-B25F-C8137E5277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95251"/>
              </p:ext>
            </p:extLst>
          </p:nvPr>
        </p:nvGraphicFramePr>
        <p:xfrm>
          <a:off x="1981420" y="1066265"/>
          <a:ext cx="5943160" cy="55589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632">
                  <a:extLst>
                    <a:ext uri="{9D8B030D-6E8A-4147-A177-3AD203B41FA5}">
                      <a16:colId xmlns:a16="http://schemas.microsoft.com/office/drawing/2014/main" val="3761786079"/>
                    </a:ext>
                  </a:extLst>
                </a:gridCol>
                <a:gridCol w="1188632">
                  <a:extLst>
                    <a:ext uri="{9D8B030D-6E8A-4147-A177-3AD203B41FA5}">
                      <a16:colId xmlns:a16="http://schemas.microsoft.com/office/drawing/2014/main" val="281624370"/>
                    </a:ext>
                  </a:extLst>
                </a:gridCol>
                <a:gridCol w="1188632">
                  <a:extLst>
                    <a:ext uri="{9D8B030D-6E8A-4147-A177-3AD203B41FA5}">
                      <a16:colId xmlns:a16="http://schemas.microsoft.com/office/drawing/2014/main" val="3424541694"/>
                    </a:ext>
                  </a:extLst>
                </a:gridCol>
                <a:gridCol w="1188632">
                  <a:extLst>
                    <a:ext uri="{9D8B030D-6E8A-4147-A177-3AD203B41FA5}">
                      <a16:colId xmlns:a16="http://schemas.microsoft.com/office/drawing/2014/main" val="2437265853"/>
                    </a:ext>
                  </a:extLst>
                </a:gridCol>
                <a:gridCol w="1188632">
                  <a:extLst>
                    <a:ext uri="{9D8B030D-6E8A-4147-A177-3AD203B41FA5}">
                      <a16:colId xmlns:a16="http://schemas.microsoft.com/office/drawing/2014/main" val="4059675182"/>
                    </a:ext>
                  </a:extLst>
                </a:gridCol>
              </a:tblGrid>
              <a:tr h="794142">
                <a:tc>
                  <a:txBody>
                    <a:bodyPr/>
                    <a:lstStyle/>
                    <a:p>
                      <a:pPr algn="ctr"/>
                      <a:r>
                        <a:rPr lang="en-GB" sz="42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l</a:t>
                      </a: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2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k</a:t>
                      </a:r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2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b</a:t>
                      </a:r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2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o</a:t>
                      </a:r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2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f</a:t>
                      </a:r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3299326996"/>
                  </a:ext>
                </a:extLst>
              </a:tr>
              <a:tr h="79414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200" b="0" dirty="0">
                          <a:latin typeface="Algerian" panose="04020705040A02060702" pitchFamily="82" charset="0"/>
                        </a:rPr>
                        <a:t>c</a:t>
                      </a: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4200" b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200" b="0" dirty="0">
                          <a:latin typeface="Algerian" panose="04020705040A02060702" pitchFamily="82" charset="0"/>
                        </a:rPr>
                        <a:t>g</a:t>
                      </a: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754123776"/>
                  </a:ext>
                </a:extLst>
              </a:tr>
              <a:tr h="79414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200" b="0" dirty="0">
                          <a:latin typeface="Algerian" panose="04020705040A02060702" pitchFamily="82" charset="0"/>
                        </a:rPr>
                        <a:t>p</a:t>
                      </a: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200" b="0" dirty="0">
                          <a:latin typeface="Algerian" panose="04020705040A02060702" pitchFamily="82" charset="0"/>
                        </a:rPr>
                        <a:t>z</a:t>
                      </a: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123062466"/>
                  </a:ext>
                </a:extLst>
              </a:tr>
              <a:tr h="79414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2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x</a:t>
                      </a:r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200" b="0" dirty="0">
                          <a:latin typeface="Algerian" panose="04020705040A02060702" pitchFamily="82" charset="0"/>
                        </a:rPr>
                        <a:t>q</a:t>
                      </a: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180976631"/>
                  </a:ext>
                </a:extLst>
              </a:tr>
              <a:tr h="79414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200" b="0" dirty="0">
                          <a:latin typeface="Algerian" panose="04020705040A02060702" pitchFamily="82" charset="0"/>
                        </a:rPr>
                        <a:t>h</a:t>
                      </a: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4200" b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200" b="0" dirty="0">
                          <a:latin typeface="Algerian" panose="04020705040A02060702" pitchFamily="82" charset="0"/>
                        </a:rPr>
                        <a:t>r</a:t>
                      </a: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6795287"/>
                  </a:ext>
                </a:extLst>
              </a:tr>
              <a:tr h="79414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2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e</a:t>
                      </a:r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2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A</a:t>
                      </a:r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644428158"/>
                  </a:ext>
                </a:extLst>
              </a:tr>
              <a:tr h="79414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2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i</a:t>
                      </a:r>
                      <a:endParaRPr lang="en-GB" sz="4200" b="0" dirty="0">
                        <a:latin typeface="Algerian" panose="04020705040A02060702" pitchFamily="82" charset="0"/>
                      </a:endParaRP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200" b="0" dirty="0">
                          <a:latin typeface="Algerian" panose="04020705040A02060702" pitchFamily="82" charset="0"/>
                        </a:rPr>
                        <a:t>y</a:t>
                      </a: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200" b="0" dirty="0">
                          <a:latin typeface="Algerian" panose="04020705040A02060702" pitchFamily="82" charset="0"/>
                        </a:rPr>
                        <a:t>m</a:t>
                      </a: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200" b="0" dirty="0">
                          <a:latin typeface="Algerian" panose="04020705040A02060702" pitchFamily="82" charset="0"/>
                        </a:rPr>
                        <a:t>s</a:t>
                      </a: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200" b="0" dirty="0">
                          <a:latin typeface="Algerian" panose="04020705040A02060702" pitchFamily="82" charset="0"/>
                        </a:rPr>
                        <a:t>t</a:t>
                      </a:r>
                    </a:p>
                  </a:txBody>
                  <a:tcPr marL="76496" marR="76496" marT="38249" marB="382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3839357156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2D475E4-94A0-49DA-8DB9-89357D0DB676}"/>
              </a:ext>
            </a:extLst>
          </p:cNvPr>
          <p:cNvSpPr/>
          <p:nvPr/>
        </p:nvSpPr>
        <p:spPr>
          <a:xfrm>
            <a:off x="2950689" y="-109874"/>
            <a:ext cx="4004622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6600" cap="none" spc="0" dirty="0"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answers</a:t>
            </a:r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74A553F8-1667-4FA5-AB72-4BA850A300ED}"/>
              </a:ext>
            </a:extLst>
          </p:cNvPr>
          <p:cNvSpPr/>
          <p:nvPr/>
        </p:nvSpPr>
        <p:spPr>
          <a:xfrm>
            <a:off x="994167" y="1856377"/>
            <a:ext cx="910304" cy="1448672"/>
          </a:xfrm>
          <a:prstGeom prst="upArrow">
            <a:avLst/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F6F3053-918E-491C-ABAD-C495771EBD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7544" y="2804160"/>
            <a:ext cx="2850912" cy="270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9275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04D95A3-C619-4B98-A2F7-AC88B0714106}"/>
              </a:ext>
            </a:extLst>
          </p:cNvPr>
          <p:cNvGraphicFramePr>
            <a:graphicFrameLocks noGrp="1"/>
          </p:cNvGraphicFramePr>
          <p:nvPr/>
        </p:nvGraphicFramePr>
        <p:xfrm>
          <a:off x="87087" y="391887"/>
          <a:ext cx="9649090" cy="6334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498">
                  <a:extLst>
                    <a:ext uri="{9D8B030D-6E8A-4147-A177-3AD203B41FA5}">
                      <a16:colId xmlns:a16="http://schemas.microsoft.com/office/drawing/2014/main" val="4241353267"/>
                    </a:ext>
                  </a:extLst>
                </a:gridCol>
                <a:gridCol w="1517973">
                  <a:extLst>
                    <a:ext uri="{9D8B030D-6E8A-4147-A177-3AD203B41FA5}">
                      <a16:colId xmlns:a16="http://schemas.microsoft.com/office/drawing/2014/main" val="2660725730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151696040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268253823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290337592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581000434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35827565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756706607"/>
                    </a:ext>
                  </a:extLst>
                </a:gridCol>
              </a:tblGrid>
              <a:tr h="446784"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35162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08000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699499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97658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8856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9BF481E-DFCA-4BA6-9DBD-F16F6705123C}"/>
              </a:ext>
            </a:extLst>
          </p:cNvPr>
          <p:cNvSpPr txBox="1"/>
          <p:nvPr/>
        </p:nvSpPr>
        <p:spPr>
          <a:xfrm>
            <a:off x="-31342" y="-26118"/>
            <a:ext cx="15757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u="sng" dirty="0"/>
              <a:t>Жооп кагазы</a:t>
            </a:r>
            <a:endParaRPr lang="en-GB" sz="2000" u="sng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761BAE-9412-451C-8B90-09E585CA2ACA}"/>
              </a:ext>
            </a:extLst>
          </p:cNvPr>
          <p:cNvCxnSpPr>
            <a:cxnSpLocks/>
          </p:cNvCxnSpPr>
          <p:nvPr/>
        </p:nvCxnSpPr>
        <p:spPr>
          <a:xfrm>
            <a:off x="174174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C25F2F-F81E-4959-B866-200B280E8311}"/>
              </a:ext>
            </a:extLst>
          </p:cNvPr>
          <p:cNvCxnSpPr>
            <a:cxnSpLocks/>
          </p:cNvCxnSpPr>
          <p:nvPr/>
        </p:nvCxnSpPr>
        <p:spPr>
          <a:xfrm>
            <a:off x="5004528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E41258-949A-45B5-B9DA-CEAC5643E0FE}"/>
              </a:ext>
            </a:extLst>
          </p:cNvPr>
          <p:cNvCxnSpPr>
            <a:cxnSpLocks/>
          </p:cNvCxnSpPr>
          <p:nvPr/>
        </p:nvCxnSpPr>
        <p:spPr>
          <a:xfrm>
            <a:off x="2589351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4486A-82F5-4658-8436-AD4CAEBBC1CE}"/>
              </a:ext>
            </a:extLst>
          </p:cNvPr>
          <p:cNvCxnSpPr>
            <a:cxnSpLocks/>
          </p:cNvCxnSpPr>
          <p:nvPr/>
        </p:nvCxnSpPr>
        <p:spPr>
          <a:xfrm>
            <a:off x="7419706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24746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CFBF105-B54A-9D9D-8DA2-DA815EC9E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5680" cy="3429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A3111D-B603-120F-393E-38B9E63BE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80" y="33045"/>
            <a:ext cx="5011616" cy="33959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12CB95-5463-1993-8693-ED09E4F2B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29000"/>
            <a:ext cx="4805680" cy="3429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296664-37F6-D67F-E2D4-695CBBED33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80" y="3462045"/>
            <a:ext cx="5011616" cy="3395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1337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27800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1992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8412</TotalTime>
  <Words>441</Words>
  <Application>Microsoft Office PowerPoint</Application>
  <PresentationFormat>A4 Paper (210x297 mm)</PresentationFormat>
  <Paragraphs>189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Cambria Math</vt:lpstr>
      <vt:lpstr>Calibri Light</vt:lpstr>
      <vt:lpstr>Arial</vt:lpstr>
      <vt:lpstr>Algerian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357</cp:revision>
  <cp:lastPrinted>2019-01-15T02:15:52Z</cp:lastPrinted>
  <dcterms:created xsi:type="dcterms:W3CDTF">2017-01-17T16:57:04Z</dcterms:created>
  <dcterms:modified xsi:type="dcterms:W3CDTF">2024-09-04T09:10:59Z</dcterms:modified>
</cp:coreProperties>
</file>