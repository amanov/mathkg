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9"/>
  </p:notesMasterIdLst>
  <p:sldIdLst>
    <p:sldId id="1059" r:id="rId2"/>
    <p:sldId id="1060" r:id="rId3"/>
    <p:sldId id="887" r:id="rId4"/>
    <p:sldId id="892" r:id="rId5"/>
    <p:sldId id="893" r:id="rId6"/>
    <p:sldId id="946" r:id="rId7"/>
    <p:sldId id="900" r:id="rId8"/>
    <p:sldId id="902" r:id="rId9"/>
    <p:sldId id="896" r:id="rId10"/>
    <p:sldId id="903" r:id="rId11"/>
    <p:sldId id="899" r:id="rId12"/>
    <p:sldId id="891" r:id="rId13"/>
    <p:sldId id="895" r:id="rId14"/>
    <p:sldId id="901" r:id="rId15"/>
    <p:sldId id="894" r:id="rId16"/>
    <p:sldId id="905" r:id="rId17"/>
    <p:sldId id="945" r:id="rId18"/>
    <p:sldId id="947" r:id="rId19"/>
    <p:sldId id="944" r:id="rId20"/>
    <p:sldId id="897" r:id="rId21"/>
    <p:sldId id="898" r:id="rId22"/>
    <p:sldId id="904" r:id="rId23"/>
    <p:sldId id="890" r:id="rId24"/>
    <p:sldId id="889" r:id="rId25"/>
    <p:sldId id="1061" r:id="rId26"/>
    <p:sldId id="1062" r:id="rId27"/>
    <p:sldId id="967" r:id="rId28"/>
  </p:sldIdLst>
  <p:sldSz cx="9906000" cy="6858000" type="A4"/>
  <p:notesSz cx="6669088" cy="9926638"/>
  <p:embeddedFontLst>
    <p:embeddedFont>
      <p:font typeface="Algerian" panose="04020705040A02060702" pitchFamily="82" charset="0"/>
      <p:regular r:id="rId30"/>
    </p:embeddedFont>
    <p:embeddedFont>
      <p:font typeface="Cambria Math" panose="02040503050406030204" pitchFamily="18" charset="0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887"/>
            <p14:sldId id="892"/>
            <p14:sldId id="893"/>
            <p14:sldId id="946"/>
            <p14:sldId id="900"/>
            <p14:sldId id="902"/>
            <p14:sldId id="896"/>
            <p14:sldId id="903"/>
            <p14:sldId id="899"/>
            <p14:sldId id="891"/>
            <p14:sldId id="895"/>
            <p14:sldId id="901"/>
            <p14:sldId id="894"/>
            <p14:sldId id="905"/>
            <p14:sldId id="945"/>
            <p14:sldId id="947"/>
            <p14:sldId id="944"/>
            <p14:sldId id="897"/>
            <p14:sldId id="898"/>
            <p14:sldId id="904"/>
          </p14:sldIdLst>
        </p14:section>
        <p14:section name="Мугалимдин жооп баракчасы" id="{E2D7BDB3-F176-4040-BFF6-DC0F47462F39}">
          <p14:sldIdLst>
            <p14:sldId id="890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70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Эквиваленттүү – Бөлчөктөр, Ондуктар, Проценттер жана катыштар</a:t>
            </a:r>
            <a:r>
              <a:rPr lang="en-US" sz="2400" b="1" dirty="0"/>
              <a:t> </a:t>
            </a:r>
            <a:r>
              <a:rPr lang="en-US" sz="2400" dirty="0"/>
              <a:t>– </a:t>
            </a:r>
            <a:r>
              <a:rPr lang="ky-KG" sz="2400" b="1" dirty="0"/>
              <a:t>Казына Издөө көндүмү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250825" y="-167322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35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236720"/>
            <a:ext cx="9648825" cy="2454181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Бөлчөктөр,</a:t>
            </a:r>
          </a:p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Ондуктар</a:t>
            </a:r>
            <a:r>
              <a:rPr lang="en-US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,</a:t>
            </a:r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Пайыздар</a:t>
            </a:r>
            <a:r>
              <a:rPr lang="en-US" sz="6000" b="1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 &amp; </a:t>
            </a:r>
            <a:r>
              <a:rPr lang="ky-KG" sz="6000" b="1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Катыштар Айландыруу</a:t>
            </a:r>
            <a:endParaRPr lang="en-US" sz="60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E70A5-724F-4A34-BA89-B4D31BCBA9DA}"/>
              </a:ext>
            </a:extLst>
          </p:cNvPr>
          <p:cNvSpPr txBox="1"/>
          <p:nvPr/>
        </p:nvSpPr>
        <p:spPr>
          <a:xfrm>
            <a:off x="299622" y="2543338"/>
            <a:ext cx="88859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4000" dirty="0"/>
              <a:t>Берилген катышты бөлчөккө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C1A239-D560-4D6A-B8D5-44DFAC930CFA}"/>
                  </a:ext>
                </a:extLst>
              </p:cNvPr>
              <p:cNvSpPr txBox="1"/>
              <p:nvPr/>
            </p:nvSpPr>
            <p:spPr>
              <a:xfrm>
                <a:off x="1902280" y="3588159"/>
                <a:ext cx="4853828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6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60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166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6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C1A239-D560-4D6A-B8D5-44DFAC930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280" y="3588159"/>
                <a:ext cx="4853828" cy="26468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3F71A2-A45B-497E-87FC-7715432911CE}"/>
                  </a:ext>
                </a:extLst>
              </p:cNvPr>
              <p:cNvSpPr txBox="1"/>
              <p:nvPr/>
            </p:nvSpPr>
            <p:spPr>
              <a:xfrm>
                <a:off x="3570015" y="106607"/>
                <a:ext cx="724877" cy="1650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3F71A2-A45B-497E-87FC-771543291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015" y="106607"/>
                <a:ext cx="724877" cy="16505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432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AC358D-C53E-4D66-9529-928808FDE61D}"/>
              </a:ext>
            </a:extLst>
          </p:cNvPr>
          <p:cNvSpPr txBox="1"/>
          <p:nvPr/>
        </p:nvSpPr>
        <p:spPr>
          <a:xfrm>
            <a:off x="542709" y="2583968"/>
            <a:ext cx="8652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пайызга айландыр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F11619E-6489-4374-AD06-0B9CED850911}"/>
                  </a:ext>
                </a:extLst>
              </p:cNvPr>
              <p:cNvSpPr txBox="1"/>
              <p:nvPr/>
            </p:nvSpPr>
            <p:spPr>
              <a:xfrm>
                <a:off x="3804372" y="3451590"/>
                <a:ext cx="1064714" cy="2663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F11619E-6489-4374-AD06-0B9CED850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372" y="3451590"/>
                <a:ext cx="1064714" cy="26639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4D81D3-EAE0-4683-810A-0E5D50BB42F6}"/>
                  </a:ext>
                </a:extLst>
              </p:cNvPr>
              <p:cNvSpPr txBox="1"/>
              <p:nvPr/>
            </p:nvSpPr>
            <p:spPr>
              <a:xfrm>
                <a:off x="2675767" y="130317"/>
                <a:ext cx="2885149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960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4D81D3-EAE0-4683-810A-0E5D50BB4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767" y="130317"/>
                <a:ext cx="2885149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17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1CA36D-8DA9-4B46-B838-A3F6293697AE}"/>
              </a:ext>
            </a:extLst>
          </p:cNvPr>
          <p:cNvSpPr txBox="1"/>
          <p:nvPr/>
        </p:nvSpPr>
        <p:spPr>
          <a:xfrm>
            <a:off x="80980" y="2576517"/>
            <a:ext cx="9453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ондук санга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26C64F-C193-49C8-B0BD-80854DD4C0C4}"/>
                  </a:ext>
                </a:extLst>
              </p:cNvPr>
              <p:cNvSpPr txBox="1"/>
              <p:nvPr/>
            </p:nvSpPr>
            <p:spPr>
              <a:xfrm>
                <a:off x="3690396" y="3512550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26C64F-C193-49C8-B0BD-80854DD4C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396" y="3512550"/>
                <a:ext cx="1689886" cy="26363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DA33B0-8011-42C2-8636-F255A270CE34}"/>
                  </a:ext>
                </a:extLst>
              </p:cNvPr>
              <p:cNvSpPr txBox="1"/>
              <p:nvPr/>
            </p:nvSpPr>
            <p:spPr>
              <a:xfrm>
                <a:off x="2856522" y="142764"/>
                <a:ext cx="2693366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60%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DA33B0-8011-42C2-8636-F255A270C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522" y="142764"/>
                <a:ext cx="2693366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31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9AF8DE-5487-466B-A414-9C5D3C4EF2B6}"/>
              </a:ext>
            </a:extLst>
          </p:cNvPr>
          <p:cNvSpPr txBox="1"/>
          <p:nvPr/>
        </p:nvSpPr>
        <p:spPr>
          <a:xfrm>
            <a:off x="542709" y="2630285"/>
            <a:ext cx="8652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пайызга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930C02-ED54-4F9B-AF16-FD6C566138AD}"/>
                  </a:ext>
                </a:extLst>
              </p:cNvPr>
              <p:cNvSpPr txBox="1"/>
              <p:nvPr/>
            </p:nvSpPr>
            <p:spPr>
              <a:xfrm>
                <a:off x="3804372" y="3451590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930C02-ED54-4F9B-AF16-FD6C56613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372" y="3451590"/>
                <a:ext cx="1689886" cy="26363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BB7138-F530-46FD-81AC-642C721C2543}"/>
                  </a:ext>
                </a:extLst>
              </p:cNvPr>
              <p:cNvSpPr txBox="1"/>
              <p:nvPr/>
            </p:nvSpPr>
            <p:spPr>
              <a:xfrm>
                <a:off x="3361009" y="106607"/>
                <a:ext cx="1107996" cy="1648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BB7138-F530-46FD-81AC-642C721C2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009" y="106607"/>
                <a:ext cx="1107996" cy="1648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44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2BBE3-5914-4E9F-8651-89FABDD35F72}"/>
              </a:ext>
            </a:extLst>
          </p:cNvPr>
          <p:cNvSpPr txBox="1"/>
          <p:nvPr/>
        </p:nvSpPr>
        <p:spPr>
          <a:xfrm>
            <a:off x="-141947" y="2381889"/>
            <a:ext cx="96800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Арзуу менен Жака таттууларды бөлүшүштү.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A0806E-F9F1-440D-861C-3329426D79C8}"/>
                  </a:ext>
                </a:extLst>
              </p:cNvPr>
              <p:cNvSpPr txBox="1"/>
              <p:nvPr/>
            </p:nvSpPr>
            <p:spPr>
              <a:xfrm>
                <a:off x="1325986" y="3168061"/>
                <a:ext cx="725711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7200" b="0" i="1" dirty="0" smtClean="0">
                          <a:latin typeface="Cambria Math" panose="02040503050406030204" pitchFamily="18" charset="0"/>
                        </a:rPr>
                        <m:t>Арзуу </m:t>
                      </m:r>
                      <m:r>
                        <a:rPr lang="en-GB" sz="7200" b="0" i="1" dirty="0" smtClean="0">
                          <a:latin typeface="Cambria Math" panose="02040503050406030204" pitchFamily="18" charset="0"/>
                        </a:rPr>
                        <m:t>40%</m:t>
                      </m:r>
                      <m:r>
                        <a:rPr lang="ky-KG" sz="7200" b="0" i="1" dirty="0" smtClean="0">
                          <a:latin typeface="Cambria Math" panose="02040503050406030204" pitchFamily="18" charset="0"/>
                        </a:rPr>
                        <m:t> алды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A0806E-F9F1-440D-861C-3329426D7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986" y="3168061"/>
                <a:ext cx="7257115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1C5CE1C-F020-4F79-8AD0-9C9946A76EC1}"/>
              </a:ext>
            </a:extLst>
          </p:cNvPr>
          <p:cNvSpPr txBox="1"/>
          <p:nvPr/>
        </p:nvSpPr>
        <p:spPr>
          <a:xfrm>
            <a:off x="823347" y="4887817"/>
            <a:ext cx="73144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Алар таттууларды катыш катары </a:t>
            </a:r>
          </a:p>
          <a:p>
            <a:pPr algn="ctr"/>
            <a:r>
              <a:rPr lang="ky-KG" sz="4000" dirty="0"/>
              <a:t>кантип бөлүшүшкөнүн көрсөт.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5CBE35-3A2F-4830-A8D0-4A406CB54E43}"/>
                  </a:ext>
                </a:extLst>
              </p:cNvPr>
              <p:cNvSpPr txBox="1"/>
              <p:nvPr/>
            </p:nvSpPr>
            <p:spPr>
              <a:xfrm>
                <a:off x="2675767" y="130317"/>
                <a:ext cx="2885149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960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5CBE35-3A2F-4830-A8D0-4A406CB54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767" y="130317"/>
                <a:ext cx="2885149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845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15EDF3-13B9-4AF8-B879-AD6792A8AEA0}"/>
              </a:ext>
            </a:extLst>
          </p:cNvPr>
          <p:cNvSpPr txBox="1"/>
          <p:nvPr/>
        </p:nvSpPr>
        <p:spPr>
          <a:xfrm>
            <a:off x="281131" y="2664504"/>
            <a:ext cx="91759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бөлүктү ондук санга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A73FD7-A125-4955-BD23-47D37477BFDE}"/>
                  </a:ext>
                </a:extLst>
              </p:cNvPr>
              <p:cNvSpPr txBox="1"/>
              <p:nvPr/>
            </p:nvSpPr>
            <p:spPr>
              <a:xfrm>
                <a:off x="3804372" y="3451590"/>
                <a:ext cx="1064714" cy="2663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A73FD7-A125-4955-BD23-47D37477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372" y="3451590"/>
                <a:ext cx="1064714" cy="26639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8AF6A5-4284-4DBB-8F9A-6959407D694B}"/>
                  </a:ext>
                </a:extLst>
              </p:cNvPr>
              <p:cNvSpPr txBox="1"/>
              <p:nvPr/>
            </p:nvSpPr>
            <p:spPr>
              <a:xfrm>
                <a:off x="3196156" y="186307"/>
                <a:ext cx="1920719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1.2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8AF6A5-4284-4DBB-8F9A-6959407D6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156" y="186307"/>
                <a:ext cx="1920719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8547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2CD3D-3430-4C1E-A65A-A65319A1E657}"/>
              </a:ext>
            </a:extLst>
          </p:cNvPr>
          <p:cNvSpPr txBox="1"/>
          <p:nvPr/>
        </p:nvSpPr>
        <p:spPr>
          <a:xfrm>
            <a:off x="41790" y="2369760"/>
            <a:ext cx="9084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Жоки менен </a:t>
            </a:r>
            <a:r>
              <a:rPr lang="ky-KG" sz="4000" dirty="0"/>
              <a:t>Моку</a:t>
            </a:r>
            <a:r>
              <a:rPr lang="ru-RU" sz="4000" dirty="0"/>
              <a:t> таттууларды бөлүшөт.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297AC3-C037-41A9-A506-1D789CE09CE0}"/>
                  </a:ext>
                </a:extLst>
              </p:cNvPr>
              <p:cNvSpPr txBox="1"/>
              <p:nvPr/>
            </p:nvSpPr>
            <p:spPr>
              <a:xfrm>
                <a:off x="817388" y="3235247"/>
                <a:ext cx="7871129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ky-KG" sz="8800" b="0" dirty="0"/>
                  <a:t>Жоки </a:t>
                </a:r>
                <a14:m>
                  <m:oMath xmlns:m="http://schemas.openxmlformats.org/officeDocument/2006/math">
                    <m:r>
                      <a:rPr lang="en-GB" sz="8800" b="0" i="1" dirty="0" smtClean="0">
                        <a:latin typeface="Cambria Math" panose="02040503050406030204" pitchFamily="18" charset="0"/>
                      </a:rPr>
                      <m:t>30%</m:t>
                    </m:r>
                    <m:r>
                      <a:rPr lang="ky-KG" sz="8800" b="0" i="1" dirty="0" smtClean="0">
                        <a:latin typeface="Cambria Math" panose="02040503050406030204" pitchFamily="18" charset="0"/>
                      </a:rPr>
                      <m:t> алат</m:t>
                    </m:r>
                  </m:oMath>
                </a14:m>
                <a:endParaRPr lang="en-GB" sz="8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297AC3-C037-41A9-A506-1D789CE09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88" y="3235247"/>
                <a:ext cx="7871129" cy="1446550"/>
              </a:xfrm>
              <a:prstGeom prst="rect">
                <a:avLst/>
              </a:prstGeom>
              <a:blipFill>
                <a:blip r:embed="rId2"/>
                <a:stretch>
                  <a:fillRect l="-7359" t="-20253" b="-4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16E4113-F2EE-4280-B4FD-A69D24D4CD24}"/>
              </a:ext>
            </a:extLst>
          </p:cNvPr>
          <p:cNvSpPr txBox="1"/>
          <p:nvPr/>
        </p:nvSpPr>
        <p:spPr>
          <a:xfrm>
            <a:off x="823347" y="4887817"/>
            <a:ext cx="73144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Алар таттууларды катыш катары </a:t>
            </a:r>
          </a:p>
          <a:p>
            <a:pPr algn="ctr"/>
            <a:r>
              <a:rPr lang="ky-KG" sz="4000" dirty="0"/>
              <a:t>кантип бөлүшүшкөнүн көрсөт.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B9D8E9-66F8-4C79-A532-99E30F4B3F0A}"/>
                  </a:ext>
                </a:extLst>
              </p:cNvPr>
              <p:cNvSpPr txBox="1"/>
              <p:nvPr/>
            </p:nvSpPr>
            <p:spPr>
              <a:xfrm>
                <a:off x="3534822" y="78682"/>
                <a:ext cx="724878" cy="16703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B9D8E9-66F8-4C79-A532-99E30F4B3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822" y="78682"/>
                <a:ext cx="724878" cy="16703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144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95590C-EE18-4F56-9D4B-6EC3E6CBBCF9}"/>
              </a:ext>
            </a:extLst>
          </p:cNvPr>
          <p:cNvSpPr txBox="1"/>
          <p:nvPr/>
        </p:nvSpPr>
        <p:spPr>
          <a:xfrm>
            <a:off x="36673" y="2147078"/>
            <a:ext cx="90750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Азамат менен Максат бир нече </a:t>
            </a:r>
          </a:p>
          <a:p>
            <a:pPr algn="ctr"/>
            <a:r>
              <a:rPr lang="ru-RU" sz="4000" dirty="0"/>
              <a:t>таттууларды </a:t>
            </a:r>
            <a:r>
              <a:rPr lang="ky-KG" sz="4000" dirty="0"/>
              <a:t>берилген  </a:t>
            </a:r>
            <a:r>
              <a:rPr lang="ru-RU" sz="4000" dirty="0"/>
              <a:t>катышта бөлүшөт</a:t>
            </a:r>
            <a:endParaRPr lang="en-GB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59E8C0-27D9-47E2-A664-BCC6CE6951A3}"/>
                  </a:ext>
                </a:extLst>
              </p:cNvPr>
              <p:cNvSpPr txBox="1"/>
              <p:nvPr/>
            </p:nvSpPr>
            <p:spPr>
              <a:xfrm>
                <a:off x="3037986" y="3362771"/>
                <a:ext cx="2885149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960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59E8C0-27D9-47E2-A664-BCC6CE695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986" y="3362771"/>
                <a:ext cx="2885149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3875596-E9B7-4AE9-AFB1-9B3077D4542D}"/>
              </a:ext>
            </a:extLst>
          </p:cNvPr>
          <p:cNvSpPr txBox="1"/>
          <p:nvPr/>
        </p:nvSpPr>
        <p:spPr>
          <a:xfrm>
            <a:off x="1318757" y="4824684"/>
            <a:ext cx="62670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Азамат таттуулардын канча </a:t>
            </a:r>
          </a:p>
          <a:p>
            <a:pPr algn="ctr"/>
            <a:r>
              <a:rPr lang="ru-RU" sz="4000" dirty="0"/>
              <a:t>пайызын алат?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E2C29F-0A16-4C40-9609-F15D0BF29298}"/>
                  </a:ext>
                </a:extLst>
              </p:cNvPr>
              <p:cNvSpPr txBox="1"/>
              <p:nvPr/>
            </p:nvSpPr>
            <p:spPr>
              <a:xfrm>
                <a:off x="2830396" y="160181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1.25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E2C29F-0A16-4C40-9609-F15D0BF29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396" y="160181"/>
                <a:ext cx="2545890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420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9208E-93B9-40A6-AB91-F3E5A481CEFB}"/>
              </a:ext>
            </a:extLst>
          </p:cNvPr>
          <p:cNvSpPr txBox="1"/>
          <p:nvPr/>
        </p:nvSpPr>
        <p:spPr>
          <a:xfrm>
            <a:off x="651571" y="2619608"/>
            <a:ext cx="80252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катышка айлант.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90A494-2945-498F-936F-0E7F57D92A7F}"/>
                  </a:ext>
                </a:extLst>
              </p:cNvPr>
              <p:cNvSpPr txBox="1"/>
              <p:nvPr/>
            </p:nvSpPr>
            <p:spPr>
              <a:xfrm>
                <a:off x="3804372" y="3451590"/>
                <a:ext cx="1064714" cy="2663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90A494-2945-498F-936F-0E7F57D92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372" y="3451590"/>
                <a:ext cx="1064714" cy="26639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4DADBE-CA8A-4CC0-9CCC-59ABE761C15D}"/>
                  </a:ext>
                </a:extLst>
              </p:cNvPr>
              <p:cNvSpPr txBox="1"/>
              <p:nvPr/>
            </p:nvSpPr>
            <p:spPr>
              <a:xfrm>
                <a:off x="3361009" y="106607"/>
                <a:ext cx="1107996" cy="1648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4DADBE-CA8A-4CC0-9CCC-59ABE761C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009" y="106607"/>
                <a:ext cx="1107996" cy="1648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007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DF6162-A1A8-4C5F-98D6-C9F438F546E4}"/>
              </a:ext>
            </a:extLst>
          </p:cNvPr>
          <p:cNvSpPr txBox="1"/>
          <p:nvPr/>
        </p:nvSpPr>
        <p:spPr>
          <a:xfrm>
            <a:off x="534896" y="2630240"/>
            <a:ext cx="80252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катышка айлант.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69AA6-BCC8-417D-9292-E47F3EE3955E}"/>
                  </a:ext>
                </a:extLst>
              </p:cNvPr>
              <p:cNvSpPr txBox="1"/>
              <p:nvPr/>
            </p:nvSpPr>
            <p:spPr>
              <a:xfrm>
                <a:off x="3804372" y="3451590"/>
                <a:ext cx="1064714" cy="2663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69AA6-BCC8-417D-9292-E47F3EE39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372" y="3451590"/>
                <a:ext cx="1064714" cy="26639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CFAF18-8246-42CF-B442-A82791282DDA}"/>
                  </a:ext>
                </a:extLst>
              </p:cNvPr>
              <p:cNvSpPr txBox="1"/>
              <p:nvPr/>
            </p:nvSpPr>
            <p:spPr>
              <a:xfrm>
                <a:off x="2856522" y="142764"/>
                <a:ext cx="2693366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CFAF18-8246-42CF-B442-A82791282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522" y="142764"/>
                <a:ext cx="2693366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762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A5A426-DF10-4D92-822A-B02B2F100A20}"/>
              </a:ext>
            </a:extLst>
          </p:cNvPr>
          <p:cNvSpPr txBox="1"/>
          <p:nvPr/>
        </p:nvSpPr>
        <p:spPr>
          <a:xfrm>
            <a:off x="328741" y="2597017"/>
            <a:ext cx="89307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 бөлчөккө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F675F3-65F2-4B11-BF20-878E50C96F34}"/>
                  </a:ext>
                </a:extLst>
              </p:cNvPr>
              <p:cNvSpPr txBox="1"/>
              <p:nvPr/>
            </p:nvSpPr>
            <p:spPr>
              <a:xfrm>
                <a:off x="3122327" y="3812745"/>
                <a:ext cx="2693366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20%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F675F3-65F2-4B11-BF20-878E50C96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327" y="3812745"/>
                <a:ext cx="2693366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486B0-1097-48E9-92C9-6B61A6B234BD}"/>
                  </a:ext>
                </a:extLst>
              </p:cNvPr>
              <p:cNvSpPr txBox="1"/>
              <p:nvPr/>
            </p:nvSpPr>
            <p:spPr>
              <a:xfrm>
                <a:off x="2917482" y="160181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0.58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486B0-1097-48E9-92C9-6B61A6B23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482" y="160181"/>
                <a:ext cx="2545890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29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6738F0-6669-4884-B02A-CF9B3A18D2B7}"/>
              </a:ext>
            </a:extLst>
          </p:cNvPr>
          <p:cNvSpPr txBox="1"/>
          <p:nvPr/>
        </p:nvSpPr>
        <p:spPr>
          <a:xfrm>
            <a:off x="219640" y="2691176"/>
            <a:ext cx="94441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</a:t>
            </a:r>
            <a:r>
              <a:rPr lang="ru-RU" sz="4000" dirty="0"/>
              <a:t> пайызды ондук санга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1D4C9C-5D9A-435D-B618-D87631B2394F}"/>
                  </a:ext>
                </a:extLst>
              </p:cNvPr>
              <p:cNvSpPr txBox="1"/>
              <p:nvPr/>
            </p:nvSpPr>
            <p:spPr>
              <a:xfrm>
                <a:off x="3122324" y="3812745"/>
                <a:ext cx="3318537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120%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1D4C9C-5D9A-435D-B618-D87631B23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324" y="3812745"/>
                <a:ext cx="3318537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8FCCA0-9A68-4A2C-B059-A21BFBFAA90A}"/>
                  </a:ext>
                </a:extLst>
              </p:cNvPr>
              <p:cNvSpPr txBox="1"/>
              <p:nvPr/>
            </p:nvSpPr>
            <p:spPr>
              <a:xfrm>
                <a:off x="2675767" y="130317"/>
                <a:ext cx="2885149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960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8FCCA0-9A68-4A2C-B059-A21BFBFAA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767" y="130317"/>
                <a:ext cx="2885149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4231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A711D-FB00-47EE-BE58-6A55938DCFE0}"/>
              </a:ext>
            </a:extLst>
          </p:cNvPr>
          <p:cNvSpPr txBox="1"/>
          <p:nvPr/>
        </p:nvSpPr>
        <p:spPr>
          <a:xfrm>
            <a:off x="38789" y="2624070"/>
            <a:ext cx="96605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</a:t>
            </a:r>
            <a:r>
              <a:rPr lang="ru-RU" sz="4000" dirty="0"/>
              <a:t> пайызды ондук санга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A7077B-4069-4073-B9BF-5D9D6286D2B3}"/>
                  </a:ext>
                </a:extLst>
              </p:cNvPr>
              <p:cNvSpPr txBox="1"/>
              <p:nvPr/>
            </p:nvSpPr>
            <p:spPr>
              <a:xfrm>
                <a:off x="3122324" y="3812745"/>
                <a:ext cx="2693366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58%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A7077B-4069-4073-B9BF-5D9D6286D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324" y="3812745"/>
                <a:ext cx="2693366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04C4CF-9620-4A34-A0FB-6DA003F7DEF8}"/>
                  </a:ext>
                </a:extLst>
              </p:cNvPr>
              <p:cNvSpPr txBox="1"/>
              <p:nvPr/>
            </p:nvSpPr>
            <p:spPr>
              <a:xfrm>
                <a:off x="2917482" y="160181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0.26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04C4CF-9620-4A34-A0FB-6DA003F7D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482" y="160181"/>
                <a:ext cx="2545890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088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6B46F-8F42-447D-B883-C803848EF494}"/>
              </a:ext>
            </a:extLst>
          </p:cNvPr>
          <p:cNvSpPr txBox="1"/>
          <p:nvPr/>
        </p:nvSpPr>
        <p:spPr>
          <a:xfrm>
            <a:off x="609439" y="2698525"/>
            <a:ext cx="8687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 бөлчөккө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0C3C6A-F96E-421C-9607-9FB7A6F2C877}"/>
                  </a:ext>
                </a:extLst>
              </p:cNvPr>
              <p:cNvSpPr txBox="1"/>
              <p:nvPr/>
            </p:nvSpPr>
            <p:spPr>
              <a:xfrm>
                <a:off x="3196065" y="3930790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0.88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0C3C6A-F96E-421C-9607-9FB7A6F2C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065" y="3930790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0FB322-63E9-432C-A486-B469C6A4F42B}"/>
                  </a:ext>
                </a:extLst>
              </p:cNvPr>
              <p:cNvSpPr txBox="1"/>
              <p:nvPr/>
            </p:nvSpPr>
            <p:spPr>
              <a:xfrm>
                <a:off x="2856522" y="142764"/>
                <a:ext cx="2693366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68%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0FB322-63E9-432C-A486-B469C6A4F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522" y="142764"/>
                <a:ext cx="2693366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033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2CD1F5-2220-4A93-ADA8-4833EB317247}"/>
              </a:ext>
            </a:extLst>
          </p:cNvPr>
          <p:cNvSpPr txBox="1"/>
          <p:nvPr/>
        </p:nvSpPr>
        <p:spPr>
          <a:xfrm>
            <a:off x="345643" y="2659034"/>
            <a:ext cx="81657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4000" dirty="0"/>
              <a:t>Берилген катышты бөлчөккө айлант.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C13F0F-F553-4099-87FB-AEED285CEE2B}"/>
                  </a:ext>
                </a:extLst>
              </p:cNvPr>
              <p:cNvSpPr txBox="1"/>
              <p:nvPr/>
            </p:nvSpPr>
            <p:spPr>
              <a:xfrm>
                <a:off x="2042091" y="3588159"/>
                <a:ext cx="4853828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6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660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166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16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C13F0F-F553-4099-87FB-AEED285CE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091" y="3588159"/>
                <a:ext cx="4853828" cy="26468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713A10-968B-4914-979B-9C2A297F967E}"/>
                  </a:ext>
                </a:extLst>
              </p:cNvPr>
              <p:cNvSpPr txBox="1"/>
              <p:nvPr/>
            </p:nvSpPr>
            <p:spPr>
              <a:xfrm>
                <a:off x="3361009" y="106607"/>
                <a:ext cx="1107996" cy="1648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713A10-968B-4914-979B-9C2A297F9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009" y="106607"/>
                <a:ext cx="1107996" cy="1648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124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9515D2-794A-4061-875D-517456838AB0}"/>
              </a:ext>
            </a:extLst>
          </p:cNvPr>
          <p:cNvSpPr txBox="1"/>
          <p:nvPr/>
        </p:nvSpPr>
        <p:spPr>
          <a:xfrm>
            <a:off x="450970" y="2615361"/>
            <a:ext cx="89307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 бөлчөккө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0E1F9B7-AE4C-4686-87E2-FE867AAA8195}"/>
                  </a:ext>
                </a:extLst>
              </p:cNvPr>
              <p:cNvSpPr txBox="1"/>
              <p:nvPr/>
            </p:nvSpPr>
            <p:spPr>
              <a:xfrm>
                <a:off x="3122327" y="3812745"/>
                <a:ext cx="2693366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80%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0E1F9B7-AE4C-4686-87E2-FE867AAA8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327" y="3812745"/>
                <a:ext cx="2693366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3B8D4F-652B-4259-94E3-055505669476}"/>
                  </a:ext>
                </a:extLst>
              </p:cNvPr>
              <p:cNvSpPr txBox="1"/>
              <p:nvPr/>
            </p:nvSpPr>
            <p:spPr>
              <a:xfrm>
                <a:off x="2891356" y="168890"/>
                <a:ext cx="2693366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52%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3B8D4F-652B-4259-94E3-055505669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356" y="168890"/>
                <a:ext cx="2693366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657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E70A5-724F-4A34-BA89-B4D31BCBA9DA}"/>
              </a:ext>
            </a:extLst>
          </p:cNvPr>
          <p:cNvSpPr txBox="1"/>
          <p:nvPr/>
        </p:nvSpPr>
        <p:spPr>
          <a:xfrm>
            <a:off x="394523" y="2300577"/>
            <a:ext cx="108932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Жакы менен Дуку таттууларды </a:t>
            </a:r>
            <a:r>
              <a:rPr lang="ky-KG" sz="4000" dirty="0"/>
              <a:t>берилген </a:t>
            </a:r>
          </a:p>
          <a:p>
            <a:r>
              <a:rPr lang="ky-KG" sz="4000" dirty="0"/>
              <a:t>катышта</a:t>
            </a:r>
            <a:r>
              <a:rPr lang="ru-RU" sz="4000" dirty="0"/>
              <a:t> бөлүшүштү</a:t>
            </a:r>
            <a:endParaRPr lang="en-GB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C1A239-D560-4D6A-B8D5-44DFAC930CFA}"/>
                  </a:ext>
                </a:extLst>
              </p:cNvPr>
              <p:cNvSpPr txBox="1"/>
              <p:nvPr/>
            </p:nvSpPr>
            <p:spPr>
              <a:xfrm>
                <a:off x="3426511" y="3561440"/>
                <a:ext cx="2885149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960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C1A239-D560-4D6A-B8D5-44DFAC930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511" y="3561440"/>
                <a:ext cx="2885149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A194121-06D5-4022-95B2-221B3665528A}"/>
              </a:ext>
            </a:extLst>
          </p:cNvPr>
          <p:cNvSpPr txBox="1"/>
          <p:nvPr/>
        </p:nvSpPr>
        <p:spPr>
          <a:xfrm>
            <a:off x="1388294" y="5068524"/>
            <a:ext cx="7129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Жакы таттуулардын канча </a:t>
            </a:r>
          </a:p>
          <a:p>
            <a:pPr algn="ctr"/>
            <a:r>
              <a:rPr lang="ru-RU" sz="4000" dirty="0"/>
              <a:t>пайызын алат?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0B344F-57FB-4709-98B9-89DD9E124C61}"/>
                  </a:ext>
                </a:extLst>
              </p:cNvPr>
              <p:cNvSpPr txBox="1"/>
              <p:nvPr/>
            </p:nvSpPr>
            <p:spPr>
              <a:xfrm>
                <a:off x="3534822" y="78682"/>
                <a:ext cx="724878" cy="16703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0B344F-57FB-4709-98B9-89DD9E124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822" y="78682"/>
                <a:ext cx="724878" cy="16703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274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65922-573B-40AC-9443-686BB22CE950}"/>
              </a:ext>
            </a:extLst>
          </p:cNvPr>
          <p:cNvSpPr txBox="1"/>
          <p:nvPr/>
        </p:nvSpPr>
        <p:spPr>
          <a:xfrm>
            <a:off x="421381" y="2647722"/>
            <a:ext cx="84000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 пайызга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A9EC6D-7748-4E3F-B0F2-0FE1622B57ED}"/>
                  </a:ext>
                </a:extLst>
              </p:cNvPr>
              <p:cNvSpPr txBox="1"/>
              <p:nvPr/>
            </p:nvSpPr>
            <p:spPr>
              <a:xfrm>
                <a:off x="3196063" y="3930790"/>
                <a:ext cx="1920719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A9EC6D-7748-4E3F-B0F2-0FE1622B5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063" y="3930790"/>
                <a:ext cx="1920719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187286-F567-4D91-9F71-B81882F86A7D}"/>
                  </a:ext>
                </a:extLst>
              </p:cNvPr>
              <p:cNvSpPr txBox="1"/>
              <p:nvPr/>
            </p:nvSpPr>
            <p:spPr>
              <a:xfrm>
                <a:off x="2675767" y="130317"/>
                <a:ext cx="2885149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960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187286-F567-4D91-9F71-B81882F86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767" y="130317"/>
                <a:ext cx="2885149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344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1B48CB-37DC-4A19-937A-D2F490B8EE6E}"/>
              </a:ext>
            </a:extLst>
          </p:cNvPr>
          <p:cNvSpPr txBox="1"/>
          <p:nvPr/>
        </p:nvSpPr>
        <p:spPr>
          <a:xfrm>
            <a:off x="524252" y="2657637"/>
            <a:ext cx="8687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 бөлчөккө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C707EB-650B-46EE-B4F3-514050A77E7F}"/>
                  </a:ext>
                </a:extLst>
              </p:cNvPr>
              <p:cNvSpPr txBox="1"/>
              <p:nvPr/>
            </p:nvSpPr>
            <p:spPr>
              <a:xfrm>
                <a:off x="3196065" y="3930790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0.28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C707EB-650B-46EE-B4F3-514050A77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065" y="3930790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35A1F1-E4C6-4D1E-959E-2988F451A6E9}"/>
                  </a:ext>
                </a:extLst>
              </p:cNvPr>
              <p:cNvSpPr txBox="1"/>
              <p:nvPr/>
            </p:nvSpPr>
            <p:spPr>
              <a:xfrm>
                <a:off x="2856522" y="142764"/>
                <a:ext cx="2693366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80%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35A1F1-E4C6-4D1E-959E-2988F451A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522" y="142764"/>
                <a:ext cx="2693366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490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785D61-4FA4-4209-A56A-DA07C3FA3958}"/>
              </a:ext>
            </a:extLst>
          </p:cNvPr>
          <p:cNvSpPr txBox="1"/>
          <p:nvPr/>
        </p:nvSpPr>
        <p:spPr>
          <a:xfrm>
            <a:off x="577215" y="2667833"/>
            <a:ext cx="84000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 пайызга айландыр.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6EDD6F-3F06-4ED7-9FB9-6249B7011670}"/>
                  </a:ext>
                </a:extLst>
              </p:cNvPr>
              <p:cNvSpPr txBox="1"/>
              <p:nvPr/>
            </p:nvSpPr>
            <p:spPr>
              <a:xfrm>
                <a:off x="3196063" y="3936503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0.68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6EDD6F-3F06-4ED7-9FB9-6249B7011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063" y="3936503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39A85C-3863-4269-9CDD-354D1A379C0D}"/>
                  </a:ext>
                </a:extLst>
              </p:cNvPr>
              <p:cNvSpPr txBox="1"/>
              <p:nvPr/>
            </p:nvSpPr>
            <p:spPr>
              <a:xfrm>
                <a:off x="2856522" y="142764"/>
                <a:ext cx="2693366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20%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39A85C-3863-4269-9CDD-354D1A379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522" y="142764"/>
                <a:ext cx="2693366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458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9960782"/>
                  </p:ext>
                </p:extLst>
              </p:nvPr>
            </p:nvGraphicFramePr>
            <p:xfrm>
              <a:off x="87088" y="391889"/>
              <a:ext cx="9753596" cy="641067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5415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375138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1125415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3751383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</a:tblGrid>
                  <a:tr h="4118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800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800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GB" sz="1800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oMath>
                          </a14:m>
                          <a:r>
                            <a:rPr lang="en-GB" sz="1800" b="0" i="0" dirty="0">
                              <a:solidFill>
                                <a:sysClr val="windowText" lastClr="000000"/>
                              </a:solidFill>
                              <a:latin typeface="+mj-lt"/>
                            </a:rPr>
                            <a:t>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="1" dirty="0"/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2:7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2:3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2:1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0.26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2025085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0.58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68%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8463836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7609596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3:7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331446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80%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52%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3926401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18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61058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9960782"/>
                  </p:ext>
                </p:extLst>
              </p:nvPr>
            </p:nvGraphicFramePr>
            <p:xfrm>
              <a:off x="87088" y="391889"/>
              <a:ext cx="9753596" cy="641067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5415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375138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1125415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3751383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</a:tblGrid>
                  <a:tr h="4118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5" t="-70408" r="-130195" b="-9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="1" dirty="0"/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65" t="-70408" r="-325" b="-93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5" t="-170408" r="-130195" b="-8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65" t="-170408" r="-325" b="-83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5" t="-270408" r="-130195" b="-7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65" t="-270408" r="-325" b="-73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5" t="-370408" r="-130195" b="-6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65" t="-370408" r="-325" b="-63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5" t="-470408" r="-130195" b="-5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65" t="-470408" r="-325" b="-53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2025085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5" t="-570408" r="-130195" b="-4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65" t="-570408" r="-325" b="-43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8463836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5" t="-663636" r="-130195" b="-331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65" t="-663636" r="-325" b="-331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7609596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5" t="-756000" r="-130195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65" t="-756000" r="-325" b="-22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331446"/>
                      </a:ext>
                    </a:extLst>
                  </a:tr>
                  <a:tr h="597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5" t="-873469" r="-130195" b="-132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65" t="-873469" r="-325" b="-132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3926401"/>
                      </a:ext>
                    </a:extLst>
                  </a:tr>
                  <a:tr h="6058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5" t="-963636" r="-130195" b="-31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65" t="-963636" r="-325" b="-31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61058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235132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116287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756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95251"/>
              </p:ext>
            </p:extLst>
          </p:nvPr>
        </p:nvGraphicFramePr>
        <p:xfrm>
          <a:off x="1981420" y="1066265"/>
          <a:ext cx="5943160" cy="5558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632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188632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188632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188632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188632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794142">
                <a:tc>
                  <a:txBody>
                    <a:bodyPr/>
                    <a:lstStyle/>
                    <a:p>
                      <a:pPr algn="ctr"/>
                      <a:r>
                        <a:rPr lang="en-GB" sz="42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b</a:t>
                      </a: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o</a:t>
                      </a: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f</a:t>
                      </a: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794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latin typeface="Algerian" panose="04020705040A02060702" pitchFamily="82" charset="0"/>
                        </a:rPr>
                        <a:t>c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200" b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200" b="0" dirty="0"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794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200" b="0" dirty="0">
                          <a:latin typeface="Algerian" panose="04020705040A02060702" pitchFamily="82" charset="0"/>
                        </a:rPr>
                        <a:t>z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794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x</a:t>
                      </a: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200" b="0" dirty="0">
                          <a:latin typeface="Algerian" panose="04020705040A02060702" pitchFamily="82" charset="0"/>
                        </a:rPr>
                        <a:t>q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794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200" b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200" b="0" dirty="0"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794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e</a:t>
                      </a: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A</a:t>
                      </a: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  <a:tr h="794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i</a:t>
                      </a:r>
                      <a:endParaRPr lang="en-GB" sz="4200" b="0" dirty="0">
                        <a:latin typeface="Algerian" panose="04020705040A02060702" pitchFamily="82" charset="0"/>
                      </a:endParaRP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latin typeface="Algerian" panose="04020705040A02060702" pitchFamily="82" charset="0"/>
                        </a:rPr>
                        <a:t>y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latin typeface="Algerian" panose="04020705040A02060702" pitchFamily="82" charset="0"/>
                        </a:rPr>
                        <a:t>s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200" b="0" dirty="0">
                          <a:latin typeface="Algerian" panose="04020705040A02060702" pitchFamily="82" charset="0"/>
                        </a:rPr>
                        <a:t>t</a:t>
                      </a:r>
                    </a:p>
                  </a:txBody>
                  <a:tcPr marL="76496" marR="76496" marT="38249" marB="382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83935715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2950689" y="-109874"/>
            <a:ext cx="400462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answers</a:t>
            </a: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994167" y="1856377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8412</TotalTime>
  <Words>441</Words>
  <Application>Microsoft Office PowerPoint</Application>
  <PresentationFormat>A4 Paper (210x297 mm)</PresentationFormat>
  <Paragraphs>189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Cambria Math</vt:lpstr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357</cp:revision>
  <cp:lastPrinted>2019-01-15T02:15:52Z</cp:lastPrinted>
  <dcterms:created xsi:type="dcterms:W3CDTF">2017-01-17T16:57:04Z</dcterms:created>
  <dcterms:modified xsi:type="dcterms:W3CDTF">2024-09-04T09:10:59Z</dcterms:modified>
</cp:coreProperties>
</file>