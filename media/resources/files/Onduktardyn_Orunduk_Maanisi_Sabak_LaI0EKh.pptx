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46"/>
  </p:notesMasterIdLst>
  <p:handoutMasterIdLst>
    <p:handoutMasterId r:id="rId47"/>
  </p:handoutMasterIdLst>
  <p:sldIdLst>
    <p:sldId id="257" r:id="rId3"/>
    <p:sldId id="1057" r:id="rId4"/>
    <p:sldId id="1058" r:id="rId5"/>
    <p:sldId id="1019" r:id="rId6"/>
    <p:sldId id="1020" r:id="rId7"/>
    <p:sldId id="1022" r:id="rId8"/>
    <p:sldId id="1023" r:id="rId9"/>
    <p:sldId id="1021" r:id="rId10"/>
    <p:sldId id="1024" r:id="rId11"/>
    <p:sldId id="1028" r:id="rId12"/>
    <p:sldId id="1026" r:id="rId13"/>
    <p:sldId id="1029" r:id="rId14"/>
    <p:sldId id="1027" r:id="rId15"/>
    <p:sldId id="1030" r:id="rId16"/>
    <p:sldId id="1031" r:id="rId17"/>
    <p:sldId id="1032" r:id="rId18"/>
    <p:sldId id="1033" r:id="rId19"/>
    <p:sldId id="1034" r:id="rId20"/>
    <p:sldId id="1037" r:id="rId21"/>
    <p:sldId id="1038" r:id="rId22"/>
    <p:sldId id="1039" r:id="rId23"/>
    <p:sldId id="1036" r:id="rId24"/>
    <p:sldId id="1040" r:id="rId25"/>
    <p:sldId id="1047" r:id="rId26"/>
    <p:sldId id="1041" r:id="rId27"/>
    <p:sldId id="1042" r:id="rId28"/>
    <p:sldId id="1045" r:id="rId29"/>
    <p:sldId id="1048" r:id="rId30"/>
    <p:sldId id="1046" r:id="rId31"/>
    <p:sldId id="1060" r:id="rId32"/>
    <p:sldId id="1059" r:id="rId33"/>
    <p:sldId id="1018" r:id="rId34"/>
    <p:sldId id="1049" r:id="rId35"/>
    <p:sldId id="1050" r:id="rId36"/>
    <p:sldId id="1051" r:id="rId37"/>
    <p:sldId id="1054" r:id="rId38"/>
    <p:sldId id="1061" r:id="rId39"/>
    <p:sldId id="1052" r:id="rId40"/>
    <p:sldId id="1053" r:id="rId41"/>
    <p:sldId id="1056" r:id="rId42"/>
    <p:sldId id="1055" r:id="rId43"/>
    <p:sldId id="1017" r:id="rId44"/>
    <p:sldId id="274" r:id="rId45"/>
  </p:sldIdLst>
  <p:sldSz cx="9906000" cy="6858000" type="A4"/>
  <p:notesSz cx="7104063" cy="10234613"/>
  <p:embeddedFontLst>
    <p:embeddedFont>
      <p:font typeface="Cambria Math" panose="02040503050406030204" pitchFamily="18" charset="0"/>
      <p:regular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46C2451-A42B-4152-9E13-548364DFE02B}">
          <p14:sldIdLst>
            <p14:sldId id="257"/>
          </p14:sldIdLst>
        </p14:section>
        <p14:section name="Сабак-түшүндүрмө" id="{059544AC-2C27-45B1-9F95-F87DF8854DD6}">
          <p14:sldIdLst>
            <p14:sldId id="1057"/>
            <p14:sldId id="1058"/>
            <p14:sldId id="1019"/>
            <p14:sldId id="1020"/>
            <p14:sldId id="1022"/>
            <p14:sldId id="1023"/>
            <p14:sldId id="1021"/>
            <p14:sldId id="1024"/>
            <p14:sldId id="1028"/>
            <p14:sldId id="1026"/>
            <p14:sldId id="1029"/>
            <p14:sldId id="1027"/>
            <p14:sldId id="1030"/>
            <p14:sldId id="1031"/>
            <p14:sldId id="1032"/>
            <p14:sldId id="1033"/>
            <p14:sldId id="1034"/>
            <p14:sldId id="1037"/>
            <p14:sldId id="1038"/>
            <p14:sldId id="1039"/>
          </p14:sldIdLst>
        </p14:section>
        <p14:section name="Орундардын мааниси диаграммасы" id="{D074C7EF-F11D-4D34-AF38-CDC3166449A7}">
          <p14:sldIdLst>
            <p14:sldId id="1036"/>
            <p14:sldId id="1040"/>
            <p14:sldId id="1047"/>
            <p14:sldId id="1041"/>
            <p14:sldId id="1042"/>
            <p14:sldId id="1045"/>
            <p14:sldId id="1048"/>
            <p14:sldId id="1046"/>
            <p14:sldId id="1060"/>
            <p14:sldId id="1059"/>
          </p14:sldIdLst>
        </p14:section>
        <p14:section name="Сабак- Түшүндүрмөлөр" id="{D06A50BA-CF3E-4C9B-82D4-5343D575D19C}">
          <p14:sldIdLst>
            <p14:sldId id="1018"/>
            <p14:sldId id="1049"/>
            <p14:sldId id="1050"/>
            <p14:sldId id="1051"/>
            <p14:sldId id="1054"/>
            <p14:sldId id="1061"/>
            <p14:sldId id="1052"/>
            <p14:sldId id="1053"/>
            <p14:sldId id="1056"/>
            <p14:sldId id="1055"/>
          </p14:sldIdLst>
        </p14:section>
        <p14:section name="Текшерүү үчун суроолор" id="{1FEDB314-42DC-4694-9B04-D4A4AAE625F7}">
          <p14:sldIdLst>
            <p14:sldId id="1017"/>
          </p14:sldIdLst>
        </p14:section>
        <p14:section name="Кайтарым байланыш" id="{D8DE6AFA-D21F-42C0-933C-1C883DBF7862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FF00"/>
    <a:srgbClr val="FF33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1.fntdata"/><Relationship Id="rId8" Type="http://schemas.openxmlformats.org/officeDocument/2006/relationships/slide" Target="slides/slide6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24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1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9207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6901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0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17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56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92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06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28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35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37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15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41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0553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3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517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18" y="1480185"/>
            <a:ext cx="8543925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y-KG" dirty="0"/>
              <a:t>Ондуктар </a:t>
            </a:r>
            <a:r>
              <a:rPr lang="ru-RU" dirty="0"/>
              <a:t>–Орундардын мааниси - Сабак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Бул ресурс ыкманы жандуу көрсөтөт.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98C57A-40CC-464D-88E8-8665D78E484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970" y="2542528"/>
            <a:ext cx="2251131" cy="14421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4098FB-9CD8-4477-9716-CEBD859CD40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38301" y="2543695"/>
            <a:ext cx="2391308" cy="138621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B36411-2741-4D54-9699-BBB1A52950B6}"/>
              </a:ext>
            </a:extLst>
          </p:cNvPr>
          <p:cNvSpPr/>
          <p:nvPr/>
        </p:nvSpPr>
        <p:spPr>
          <a:xfrm>
            <a:off x="2061556" y="3865419"/>
            <a:ext cx="2150226" cy="70658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2750,66</a:t>
            </a:r>
            <a:r>
              <a:rPr lang="ky-KG" sz="2800" dirty="0"/>
              <a:t> сом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62678D-829A-4AC5-B233-86066B16D5F7}"/>
              </a:ext>
            </a:extLst>
          </p:cNvPr>
          <p:cNvSpPr/>
          <p:nvPr/>
        </p:nvSpPr>
        <p:spPr>
          <a:xfrm>
            <a:off x="5694218" y="3923608"/>
            <a:ext cx="2150225" cy="70658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2784,32</a:t>
            </a:r>
            <a:r>
              <a:rPr lang="ky-KG" sz="2800" dirty="0"/>
              <a:t> сом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23DF0-19FC-461C-877F-7E6306A1BE2E}"/>
              </a:ext>
            </a:extLst>
          </p:cNvPr>
          <p:cNvSpPr txBox="1"/>
          <p:nvPr/>
        </p:nvSpPr>
        <p:spPr>
          <a:xfrm>
            <a:off x="3109043" y="446416"/>
            <a:ext cx="370453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Кайсы бут кийим кымбатыраак?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Канча акчага көбүрөөк?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Биз кайдан билебиз?</a:t>
            </a:r>
            <a:endParaRPr lang="en-GB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45064F-F3CF-442C-9D15-4649BF46BAB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37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4ACEF01-E7A4-4959-8E39-40A4D8BC0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780" y="2352178"/>
            <a:ext cx="1985009" cy="15968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258A5B-E7F9-4977-ADBF-647F160C4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664" y="2348141"/>
            <a:ext cx="1855678" cy="164401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B36411-2741-4D54-9699-BBB1A52950B6}"/>
              </a:ext>
            </a:extLst>
          </p:cNvPr>
          <p:cNvSpPr/>
          <p:nvPr/>
        </p:nvSpPr>
        <p:spPr>
          <a:xfrm>
            <a:off x="2061556" y="3865419"/>
            <a:ext cx="1870364" cy="7065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91,99</a:t>
            </a:r>
            <a:r>
              <a:rPr lang="ky-KG" sz="2800" dirty="0"/>
              <a:t> сом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62678D-829A-4AC5-B233-86066B16D5F7}"/>
              </a:ext>
            </a:extLst>
          </p:cNvPr>
          <p:cNvSpPr/>
          <p:nvPr/>
        </p:nvSpPr>
        <p:spPr>
          <a:xfrm>
            <a:off x="5694219" y="3923608"/>
            <a:ext cx="1870364" cy="7065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94,23</a:t>
            </a:r>
            <a:r>
              <a:rPr lang="ky-KG" sz="2800" dirty="0"/>
              <a:t> сом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23DF0-19FC-461C-877F-7E6306A1BE2E}"/>
              </a:ext>
            </a:extLst>
          </p:cNvPr>
          <p:cNvSpPr txBox="1"/>
          <p:nvPr/>
        </p:nvSpPr>
        <p:spPr>
          <a:xfrm>
            <a:off x="3110966" y="446416"/>
            <a:ext cx="370069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Кайсы таттуу нан кымбатыраак?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Канча акчага көбүрөөк?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Биз кайдан билебиз?</a:t>
            </a:r>
            <a:endParaRPr lang="en-GB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45064F-F3CF-442C-9D15-4649BF46BAB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539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C125A1-DF45-4DE6-A1C2-DBEA51D9F9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3" t="19934" b="17910"/>
          <a:stretch/>
        </p:blipFill>
        <p:spPr>
          <a:xfrm>
            <a:off x="5029547" y="564686"/>
            <a:ext cx="3008688" cy="114300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0C2B8B-4BEA-4264-9A47-73B353A39832}"/>
              </a:ext>
            </a:extLst>
          </p:cNvPr>
          <p:cNvCxnSpPr>
            <a:cxnSpLocks/>
          </p:cNvCxnSpPr>
          <p:nvPr/>
        </p:nvCxnSpPr>
        <p:spPr>
          <a:xfrm>
            <a:off x="5063893" y="1852351"/>
            <a:ext cx="2880000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0F3D005-7562-4853-89E0-8F9531CFE9DF}"/>
              </a:ext>
            </a:extLst>
          </p:cNvPr>
          <p:cNvCxnSpPr>
            <a:cxnSpLocks/>
          </p:cNvCxnSpPr>
          <p:nvPr/>
        </p:nvCxnSpPr>
        <p:spPr>
          <a:xfrm>
            <a:off x="4775893" y="3515821"/>
            <a:ext cx="3168000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4013A6F-0F54-4A3F-A552-6DC9F2F510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3" t="19934" b="17910"/>
          <a:stretch/>
        </p:blipFill>
        <p:spPr>
          <a:xfrm>
            <a:off x="4759268" y="3617273"/>
            <a:ext cx="3254029" cy="12362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0B34D1-1E37-4C13-B176-FB13AC37DB3C}"/>
              </a:ext>
            </a:extLst>
          </p:cNvPr>
          <p:cNvSpPr txBox="1"/>
          <p:nvPr/>
        </p:nvSpPr>
        <p:spPr>
          <a:xfrm>
            <a:off x="6326910" y="1869207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 </a:t>
            </a:r>
            <a:r>
              <a:rPr lang="ky-KG" sz="2400" dirty="0"/>
              <a:t>см</a:t>
            </a:r>
            <a:endParaRPr lang="en-GB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A0E304-D5AF-4205-BEDC-6D7ECAB21B01}"/>
              </a:ext>
            </a:extLst>
          </p:cNvPr>
          <p:cNvSpPr txBox="1"/>
          <p:nvPr/>
        </p:nvSpPr>
        <p:spPr>
          <a:xfrm>
            <a:off x="6326910" y="3049618"/>
            <a:ext cx="97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1,1 </a:t>
            </a:r>
            <a:r>
              <a:rPr lang="ky-KG" sz="2400" dirty="0"/>
              <a:t>см</a:t>
            </a:r>
            <a:endParaRPr lang="en-GB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E8D9A2-7EC5-4327-B928-188C690ACA38}"/>
              </a:ext>
            </a:extLst>
          </p:cNvPr>
          <p:cNvSpPr txBox="1"/>
          <p:nvPr/>
        </p:nvSpPr>
        <p:spPr>
          <a:xfrm>
            <a:off x="934744" y="3723638"/>
            <a:ext cx="36936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Кумурскалардын узундугундагы</a:t>
            </a:r>
          </a:p>
          <a:p>
            <a:pPr algn="ctr"/>
            <a:r>
              <a:rPr lang="ru-RU" sz="2000" dirty="0"/>
              <a:t>айырма канча?</a:t>
            </a:r>
            <a:endParaRPr lang="en-GB" sz="20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B3A1E41-AC73-4EDB-AC47-CD2635C30B91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E399C-8921-42A7-8172-4AF5BD22EB0C}"/>
              </a:ext>
            </a:extLst>
          </p:cNvPr>
          <p:cNvSpPr txBox="1"/>
          <p:nvPr/>
        </p:nvSpPr>
        <p:spPr>
          <a:xfrm>
            <a:off x="635914" y="5635735"/>
            <a:ext cx="1117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0,1 </a:t>
            </a:r>
            <a:r>
              <a:rPr lang="ky-KG" sz="2800" dirty="0"/>
              <a:t>см</a:t>
            </a:r>
            <a:endParaRPr lang="en-GB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084253-FA8C-4547-BBFF-300A350CD214}"/>
              </a:ext>
            </a:extLst>
          </p:cNvPr>
          <p:cNvSpPr txBox="1"/>
          <p:nvPr/>
        </p:nvSpPr>
        <p:spPr>
          <a:xfrm>
            <a:off x="4261889" y="5742100"/>
            <a:ext cx="5146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сантиметрдин ондон бир бөлүгү</a:t>
            </a:r>
            <a:endParaRPr lang="en-GB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9AF5DC4-1C1E-44A6-B338-CFBF9CFA8029}"/>
                  </a:ext>
                </a:extLst>
              </p:cNvPr>
              <p:cNvSpPr txBox="1"/>
              <p:nvPr/>
            </p:nvSpPr>
            <p:spPr>
              <a:xfrm>
                <a:off x="2703093" y="5458282"/>
                <a:ext cx="1133645" cy="87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3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2800" dirty="0"/>
                  <a:t>  </a:t>
                </a:r>
                <a:r>
                  <a:rPr lang="ky-KG" sz="2800" dirty="0"/>
                  <a:t>см</a:t>
                </a:r>
                <a:endParaRPr lang="en-GB" sz="28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9AF5DC4-1C1E-44A6-B338-CFBF9CFA8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093" y="5458282"/>
                <a:ext cx="1133645" cy="878126"/>
              </a:xfrm>
              <a:prstGeom prst="rect">
                <a:avLst/>
              </a:prstGeom>
              <a:blipFill>
                <a:blip r:embed="rId3"/>
                <a:stretch>
                  <a:fillRect r="-10753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120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3FA96C-5C8A-49D5-AB51-535D592302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786" b="10491"/>
          <a:stretch/>
        </p:blipFill>
        <p:spPr>
          <a:xfrm>
            <a:off x="4407011" y="634208"/>
            <a:ext cx="3878700" cy="21197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B0AF8D-864E-4730-AA55-BFCC6B66F7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53" t="19934" b="17910"/>
          <a:stretch/>
        </p:blipFill>
        <p:spPr>
          <a:xfrm>
            <a:off x="4530261" y="4287421"/>
            <a:ext cx="2406951" cy="91440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130968-362D-4275-A454-027738992900}"/>
              </a:ext>
            </a:extLst>
          </p:cNvPr>
          <p:cNvCxnSpPr>
            <a:cxnSpLocks/>
          </p:cNvCxnSpPr>
          <p:nvPr/>
        </p:nvCxnSpPr>
        <p:spPr>
          <a:xfrm>
            <a:off x="4530261" y="2796902"/>
            <a:ext cx="3727047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0A4975C-EA47-419F-B590-D733A59F8C25}"/>
              </a:ext>
            </a:extLst>
          </p:cNvPr>
          <p:cNvCxnSpPr>
            <a:cxnSpLocks/>
          </p:cNvCxnSpPr>
          <p:nvPr/>
        </p:nvCxnSpPr>
        <p:spPr>
          <a:xfrm>
            <a:off x="4552966" y="4087916"/>
            <a:ext cx="2286000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52D6113-FC6C-4BBD-A585-9CEED1552120}"/>
              </a:ext>
            </a:extLst>
          </p:cNvPr>
          <p:cNvSpPr txBox="1"/>
          <p:nvPr/>
        </p:nvSpPr>
        <p:spPr>
          <a:xfrm>
            <a:off x="5885472" y="2813757"/>
            <a:ext cx="97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1,6 </a:t>
            </a:r>
            <a:r>
              <a:rPr lang="ky-KG" sz="2400" dirty="0"/>
              <a:t>см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C209D-8580-4EC3-ADF2-E37EE30901CF}"/>
              </a:ext>
            </a:extLst>
          </p:cNvPr>
          <p:cNvSpPr txBox="1"/>
          <p:nvPr/>
        </p:nvSpPr>
        <p:spPr>
          <a:xfrm>
            <a:off x="5424725" y="3613400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 </a:t>
            </a:r>
            <a:r>
              <a:rPr lang="ky-KG" sz="2400" dirty="0"/>
              <a:t>см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FA947-BE1A-46AF-A912-AF274A3BF4B1}"/>
              </a:ext>
            </a:extLst>
          </p:cNvPr>
          <p:cNvSpPr txBox="1"/>
          <p:nvPr/>
        </p:nvSpPr>
        <p:spPr>
          <a:xfrm>
            <a:off x="1244221" y="1584167"/>
            <a:ext cx="19201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Аары канчалык </a:t>
            </a:r>
          </a:p>
          <a:p>
            <a:pPr algn="ctr"/>
            <a:r>
              <a:rPr lang="ky-KG" sz="2000" dirty="0"/>
              <a:t>узун?</a:t>
            </a:r>
            <a:endParaRPr lang="en-GB" sz="2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B183D7-CF83-4615-A2E5-7423DCA7B98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9FF35-145A-42F8-86AD-310B930E1A65}"/>
              </a:ext>
            </a:extLst>
          </p:cNvPr>
          <p:cNvSpPr txBox="1"/>
          <p:nvPr/>
        </p:nvSpPr>
        <p:spPr>
          <a:xfrm>
            <a:off x="944436" y="5678531"/>
            <a:ext cx="1117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0,6 </a:t>
            </a:r>
            <a:r>
              <a:rPr lang="ky-KG" sz="2800" dirty="0"/>
              <a:t>см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2D7924-4E91-4EA3-BA5D-D81C034AC031}"/>
              </a:ext>
            </a:extLst>
          </p:cNvPr>
          <p:cNvSpPr txBox="1"/>
          <p:nvPr/>
        </p:nvSpPr>
        <p:spPr>
          <a:xfrm>
            <a:off x="4186285" y="5678530"/>
            <a:ext cx="53053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сантиметрдин ондон алты бөлүгү</a:t>
            </a:r>
            <a:endParaRPr lang="en-GB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31351A-874F-4778-866B-40619B56B807}"/>
                  </a:ext>
                </a:extLst>
              </p:cNvPr>
              <p:cNvSpPr txBox="1"/>
              <p:nvPr/>
            </p:nvSpPr>
            <p:spPr>
              <a:xfrm>
                <a:off x="2722167" y="5500533"/>
                <a:ext cx="1133645" cy="8792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3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2800" dirty="0"/>
                  <a:t>  </a:t>
                </a:r>
                <a:r>
                  <a:rPr lang="ky-KG" sz="2800" dirty="0"/>
                  <a:t>см</a:t>
                </a:r>
                <a:endParaRPr lang="en-GB" sz="2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31351A-874F-4778-866B-40619B56B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167" y="5500533"/>
                <a:ext cx="1133645" cy="879215"/>
              </a:xfrm>
              <a:prstGeom prst="rect">
                <a:avLst/>
              </a:prstGeom>
              <a:blipFill>
                <a:blip r:embed="rId4"/>
                <a:stretch>
                  <a:fillRect r="-10215" b="-2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300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130968-362D-4275-A454-027738992900}"/>
              </a:ext>
            </a:extLst>
          </p:cNvPr>
          <p:cNvCxnSpPr>
            <a:cxnSpLocks/>
          </p:cNvCxnSpPr>
          <p:nvPr/>
        </p:nvCxnSpPr>
        <p:spPr>
          <a:xfrm>
            <a:off x="4377861" y="2021971"/>
            <a:ext cx="3244910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52D6113-FC6C-4BBD-A585-9CEED1552120}"/>
              </a:ext>
            </a:extLst>
          </p:cNvPr>
          <p:cNvSpPr txBox="1"/>
          <p:nvPr/>
        </p:nvSpPr>
        <p:spPr>
          <a:xfrm>
            <a:off x="5532812" y="2038826"/>
            <a:ext cx="1135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0,75 </a:t>
            </a:r>
            <a:r>
              <a:rPr lang="ky-KG" sz="2400" dirty="0"/>
              <a:t>см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FA947-BE1A-46AF-A912-AF274A3BF4B1}"/>
              </a:ext>
            </a:extLst>
          </p:cNvPr>
          <p:cNvSpPr txBox="1"/>
          <p:nvPr/>
        </p:nvSpPr>
        <p:spPr>
          <a:xfrm>
            <a:off x="703537" y="892364"/>
            <a:ext cx="26967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Чиркейлердин узундук</a:t>
            </a:r>
          </a:p>
          <a:p>
            <a:pPr algn="ctr"/>
            <a:r>
              <a:rPr lang="ru-RU" sz="2000" dirty="0"/>
              <a:t>айырмасы канча?</a:t>
            </a:r>
            <a:endParaRPr lang="en-GB" sz="2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B183D7-CF83-4615-A2E5-7423DCA7B98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9FF35-145A-42F8-86AD-310B930E1A65}"/>
              </a:ext>
            </a:extLst>
          </p:cNvPr>
          <p:cNvSpPr txBox="1"/>
          <p:nvPr/>
        </p:nvSpPr>
        <p:spPr>
          <a:xfrm>
            <a:off x="620380" y="5677622"/>
            <a:ext cx="13003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0,01 </a:t>
            </a:r>
            <a:r>
              <a:rPr lang="ky-KG" sz="2800" dirty="0"/>
              <a:t>см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2D7924-4E91-4EA3-BA5D-D81C034AC031}"/>
              </a:ext>
            </a:extLst>
          </p:cNvPr>
          <p:cNvSpPr txBox="1"/>
          <p:nvPr/>
        </p:nvSpPr>
        <p:spPr>
          <a:xfrm>
            <a:off x="4302823" y="5678531"/>
            <a:ext cx="5325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сантиметрдин жүздөн бир бөлүгү</a:t>
            </a:r>
            <a:endParaRPr lang="en-GB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31351A-874F-4778-866B-40619B56B807}"/>
                  </a:ext>
                </a:extLst>
              </p:cNvPr>
              <p:cNvSpPr txBox="1"/>
              <p:nvPr/>
            </p:nvSpPr>
            <p:spPr>
              <a:xfrm>
                <a:off x="2500476" y="5500169"/>
                <a:ext cx="1329210" cy="87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3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GB" sz="2800" dirty="0"/>
                  <a:t>  </a:t>
                </a:r>
                <a:r>
                  <a:rPr lang="ky-KG" sz="2800" dirty="0"/>
                  <a:t>см</a:t>
                </a:r>
                <a:endParaRPr lang="en-GB" sz="2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31351A-874F-4778-866B-40619B56B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476" y="5500169"/>
                <a:ext cx="1329210" cy="878126"/>
              </a:xfrm>
              <a:prstGeom prst="rect">
                <a:avLst/>
              </a:prstGeom>
              <a:blipFill>
                <a:blip r:embed="rId2"/>
                <a:stretch>
                  <a:fillRect r="-9174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494B7B06-8C78-4AF0-AC5D-423148EB7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219" y="104653"/>
            <a:ext cx="3152925" cy="175647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7A734DF-9D70-4F0B-A4F0-76F4C7A34E1D}"/>
              </a:ext>
            </a:extLst>
          </p:cNvPr>
          <p:cNvCxnSpPr>
            <a:cxnSpLocks/>
          </p:cNvCxnSpPr>
          <p:nvPr/>
        </p:nvCxnSpPr>
        <p:spPr>
          <a:xfrm>
            <a:off x="4377861" y="3509950"/>
            <a:ext cx="3128532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E7898BB-D09D-4E50-A019-97FE278781D7}"/>
              </a:ext>
            </a:extLst>
          </p:cNvPr>
          <p:cNvSpPr txBox="1"/>
          <p:nvPr/>
        </p:nvSpPr>
        <p:spPr>
          <a:xfrm>
            <a:off x="5532812" y="3036355"/>
            <a:ext cx="1135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0,74 </a:t>
            </a:r>
            <a:r>
              <a:rPr lang="ky-KG" sz="2400" dirty="0"/>
              <a:t>см</a:t>
            </a:r>
            <a:endParaRPr lang="en-GB" sz="2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8B14DB5-0304-4282-85A1-0B8AD13B8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219" y="3388181"/>
            <a:ext cx="3152925" cy="175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7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130968-362D-4275-A454-027738992900}"/>
              </a:ext>
            </a:extLst>
          </p:cNvPr>
          <p:cNvCxnSpPr>
            <a:cxnSpLocks/>
          </p:cNvCxnSpPr>
          <p:nvPr/>
        </p:nvCxnSpPr>
        <p:spPr>
          <a:xfrm>
            <a:off x="5349411" y="1933071"/>
            <a:ext cx="2372189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52D6113-FC6C-4BBD-A585-9CEED1552120}"/>
              </a:ext>
            </a:extLst>
          </p:cNvPr>
          <p:cNvSpPr txBox="1"/>
          <p:nvPr/>
        </p:nvSpPr>
        <p:spPr>
          <a:xfrm>
            <a:off x="6053512" y="1949926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0,823 </a:t>
            </a:r>
            <a:r>
              <a:rPr lang="ky-KG" sz="2400" dirty="0"/>
              <a:t>см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FA947-BE1A-46AF-A912-AF274A3BF4B1}"/>
              </a:ext>
            </a:extLst>
          </p:cNvPr>
          <p:cNvSpPr txBox="1"/>
          <p:nvPr/>
        </p:nvSpPr>
        <p:spPr>
          <a:xfrm>
            <a:off x="597481" y="3829268"/>
            <a:ext cx="30155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Керебет куртунун узундук</a:t>
            </a:r>
          </a:p>
          <a:p>
            <a:pPr algn="ctr"/>
            <a:r>
              <a:rPr lang="ky-KG" sz="2000" dirty="0"/>
              <a:t> айырмасы канча?</a:t>
            </a:r>
            <a:endParaRPr lang="en-GB" sz="2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B183D7-CF83-4615-A2E5-7423DCA7B98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9FF35-145A-42F8-86AD-310B930E1A65}"/>
              </a:ext>
            </a:extLst>
          </p:cNvPr>
          <p:cNvSpPr txBox="1"/>
          <p:nvPr/>
        </p:nvSpPr>
        <p:spPr>
          <a:xfrm>
            <a:off x="426499" y="5678531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0,001 </a:t>
            </a:r>
            <a:r>
              <a:rPr lang="ky-KG" sz="2800" dirty="0"/>
              <a:t>см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2D7924-4E91-4EA3-BA5D-D81C034AC031}"/>
              </a:ext>
            </a:extLst>
          </p:cNvPr>
          <p:cNvSpPr txBox="1"/>
          <p:nvPr/>
        </p:nvSpPr>
        <p:spPr>
          <a:xfrm>
            <a:off x="4372558" y="5678531"/>
            <a:ext cx="5388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сантиметрдин миңден бир бөлүгү</a:t>
            </a:r>
            <a:endParaRPr lang="en-GB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31351A-874F-4778-866B-40619B56B807}"/>
                  </a:ext>
                </a:extLst>
              </p:cNvPr>
              <p:cNvSpPr txBox="1"/>
              <p:nvPr/>
            </p:nvSpPr>
            <p:spPr>
              <a:xfrm>
                <a:off x="2295456" y="5501078"/>
                <a:ext cx="1524776" cy="87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3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GB" sz="2800" dirty="0"/>
                  <a:t>  </a:t>
                </a:r>
                <a:r>
                  <a:rPr lang="ky-KG" sz="2800" dirty="0"/>
                  <a:t>см</a:t>
                </a:r>
                <a:endParaRPr lang="en-GB" sz="2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31351A-874F-4778-866B-40619B56B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456" y="5501078"/>
                <a:ext cx="1524776" cy="878126"/>
              </a:xfrm>
              <a:prstGeom prst="rect">
                <a:avLst/>
              </a:prstGeom>
              <a:blipFill>
                <a:blip r:embed="rId2"/>
                <a:stretch>
                  <a:fillRect r="-7600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E7898BB-D09D-4E50-A019-97FE278781D7}"/>
              </a:ext>
            </a:extLst>
          </p:cNvPr>
          <p:cNvSpPr txBox="1"/>
          <p:nvPr/>
        </p:nvSpPr>
        <p:spPr>
          <a:xfrm>
            <a:off x="6053512" y="2947455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0,824 </a:t>
            </a:r>
            <a:r>
              <a:rPr lang="ky-KG" sz="2400" dirty="0"/>
              <a:t>см</a:t>
            </a:r>
            <a:endParaRPr lang="en-GB" sz="2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CF1313E-362E-415A-971E-F0F6C83E7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213" y="343906"/>
            <a:ext cx="2290462" cy="155721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CB53D5-4A54-4F68-95B6-6430DAC6263A}"/>
              </a:ext>
            </a:extLst>
          </p:cNvPr>
          <p:cNvCxnSpPr>
            <a:cxnSpLocks/>
          </p:cNvCxnSpPr>
          <p:nvPr/>
        </p:nvCxnSpPr>
        <p:spPr>
          <a:xfrm>
            <a:off x="5349411" y="3418971"/>
            <a:ext cx="2372189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50DE2F67-D632-46D7-9DE9-EFADC1223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213" y="3404606"/>
            <a:ext cx="2290462" cy="15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9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C125A1-DF45-4DE6-A1C2-DBEA51D9F9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3" t="19934" b="17910"/>
          <a:stretch/>
        </p:blipFill>
        <p:spPr>
          <a:xfrm>
            <a:off x="1373987" y="673332"/>
            <a:ext cx="1877281" cy="71317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0C2B8B-4BEA-4264-9A47-73B353A39832}"/>
              </a:ext>
            </a:extLst>
          </p:cNvPr>
          <p:cNvCxnSpPr>
            <a:cxnSpLocks/>
          </p:cNvCxnSpPr>
          <p:nvPr/>
        </p:nvCxnSpPr>
        <p:spPr>
          <a:xfrm>
            <a:off x="1269884" y="1476775"/>
            <a:ext cx="1922519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0F3D005-7562-4853-89E0-8F9531CFE9DF}"/>
              </a:ext>
            </a:extLst>
          </p:cNvPr>
          <p:cNvCxnSpPr>
            <a:cxnSpLocks/>
          </p:cNvCxnSpPr>
          <p:nvPr/>
        </p:nvCxnSpPr>
        <p:spPr>
          <a:xfrm>
            <a:off x="1215718" y="2514703"/>
            <a:ext cx="1976685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4013A6F-0F54-4A3F-A552-6DC9F2F510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3" t="19934" b="17910"/>
          <a:stretch/>
        </p:blipFill>
        <p:spPr>
          <a:xfrm>
            <a:off x="1205345" y="2578004"/>
            <a:ext cx="2030363" cy="7713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0B34D1-1E37-4C13-B176-FB13AC37DB3C}"/>
              </a:ext>
            </a:extLst>
          </p:cNvPr>
          <p:cNvSpPr txBox="1"/>
          <p:nvPr/>
        </p:nvSpPr>
        <p:spPr>
          <a:xfrm>
            <a:off x="1702036" y="1442264"/>
            <a:ext cx="1172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2,08 cm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A0E304-D5AF-4205-BEDC-6D7ECAB21B01}"/>
              </a:ext>
            </a:extLst>
          </p:cNvPr>
          <p:cNvSpPr txBox="1"/>
          <p:nvPr/>
        </p:nvSpPr>
        <p:spPr>
          <a:xfrm>
            <a:off x="1719353" y="2092889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2,1 cm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E8D9A2-7EC5-4327-B928-188C690ACA38}"/>
              </a:ext>
            </a:extLst>
          </p:cNvPr>
          <p:cNvSpPr txBox="1"/>
          <p:nvPr/>
        </p:nvSpPr>
        <p:spPr>
          <a:xfrm>
            <a:off x="3460843" y="99751"/>
            <a:ext cx="30010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Ар бир жуп үчүн кайсы </a:t>
            </a:r>
          </a:p>
          <a:p>
            <a:pPr algn="ctr"/>
            <a:r>
              <a:rPr lang="ky-KG" sz="2000" dirty="0"/>
              <a:t>курт-кумурска узунураак?</a:t>
            </a:r>
            <a:endParaRPr lang="en-GB" sz="20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B3A1E41-AC73-4EDB-AC47-CD2635C30B91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C4D64F-EF5A-474B-AADC-3133A947B2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>
            <a:off x="7014048" y="2770529"/>
            <a:ext cx="1945342" cy="106314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9B3971B-036F-425B-9395-EE68115DEF0C}"/>
              </a:ext>
            </a:extLst>
          </p:cNvPr>
          <p:cNvSpPr txBox="1"/>
          <p:nvPr/>
        </p:nvSpPr>
        <p:spPr>
          <a:xfrm>
            <a:off x="674570" y="275982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Б</a:t>
            </a:r>
            <a:endParaRPr lang="en-GB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758427-EEC3-494F-A694-B553C3C426C4}"/>
              </a:ext>
            </a:extLst>
          </p:cNvPr>
          <p:cNvSpPr txBox="1"/>
          <p:nvPr/>
        </p:nvSpPr>
        <p:spPr>
          <a:xfrm>
            <a:off x="668158" y="881149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А</a:t>
            </a:r>
            <a:endParaRPr lang="en-GB" sz="2000" b="1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C09DACA-EA77-4EAD-8AD6-1E4AEB92750A}"/>
              </a:ext>
            </a:extLst>
          </p:cNvPr>
          <p:cNvCxnSpPr>
            <a:cxnSpLocks/>
          </p:cNvCxnSpPr>
          <p:nvPr/>
        </p:nvCxnSpPr>
        <p:spPr>
          <a:xfrm>
            <a:off x="7117889" y="1637487"/>
            <a:ext cx="1874028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3B6DBD5-F277-4FF5-9011-F309CEB908EB}"/>
              </a:ext>
            </a:extLst>
          </p:cNvPr>
          <p:cNvCxnSpPr>
            <a:cxnSpLocks/>
          </p:cNvCxnSpPr>
          <p:nvPr/>
        </p:nvCxnSpPr>
        <p:spPr>
          <a:xfrm>
            <a:off x="7015232" y="2675415"/>
            <a:ext cx="1976685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DEA4894-15E8-4B5C-B9C7-C3F385883E7C}"/>
              </a:ext>
            </a:extLst>
          </p:cNvPr>
          <p:cNvSpPr txBox="1"/>
          <p:nvPr/>
        </p:nvSpPr>
        <p:spPr>
          <a:xfrm>
            <a:off x="7493930" y="1625836"/>
            <a:ext cx="1172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3,21 cm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98939A-AEA7-412A-8691-F3CBA40CB774}"/>
              </a:ext>
            </a:extLst>
          </p:cNvPr>
          <p:cNvSpPr txBox="1"/>
          <p:nvPr/>
        </p:nvSpPr>
        <p:spPr>
          <a:xfrm>
            <a:off x="7480767" y="2245981"/>
            <a:ext cx="1172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3,19 cm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28F304-E841-4E3C-B8A6-3CECDC37FE29}"/>
              </a:ext>
            </a:extLst>
          </p:cNvPr>
          <p:cNvSpPr txBox="1"/>
          <p:nvPr/>
        </p:nvSpPr>
        <p:spPr>
          <a:xfrm>
            <a:off x="6474885" y="2920537"/>
            <a:ext cx="325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У</a:t>
            </a:r>
            <a:endParaRPr lang="en-GB" sz="2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B0E0B5-0A66-4134-8D47-9D194F71EADB}"/>
              </a:ext>
            </a:extLst>
          </p:cNvPr>
          <p:cNvSpPr txBox="1"/>
          <p:nvPr/>
        </p:nvSpPr>
        <p:spPr>
          <a:xfrm>
            <a:off x="6474885" y="1041861"/>
            <a:ext cx="325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Х</a:t>
            </a:r>
            <a:endParaRPr lang="en-GB" sz="2000" b="1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E34BE1A-B990-47B4-AED1-68ED32EED7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>
            <a:off x="7014048" y="490879"/>
            <a:ext cx="1945342" cy="1063147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AFA51B8-3036-4CFA-9611-AA2DE9464F9B}"/>
              </a:ext>
            </a:extLst>
          </p:cNvPr>
          <p:cNvCxnSpPr>
            <a:cxnSpLocks/>
          </p:cNvCxnSpPr>
          <p:nvPr/>
        </p:nvCxnSpPr>
        <p:spPr>
          <a:xfrm>
            <a:off x="2210868" y="4763765"/>
            <a:ext cx="1300047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65E9370-F0E9-4B4C-A33C-59B4D8EA8B36}"/>
              </a:ext>
            </a:extLst>
          </p:cNvPr>
          <p:cNvCxnSpPr>
            <a:cxnSpLocks/>
          </p:cNvCxnSpPr>
          <p:nvPr/>
        </p:nvCxnSpPr>
        <p:spPr>
          <a:xfrm>
            <a:off x="2174240" y="5801693"/>
            <a:ext cx="1336675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0E01D4D-79F7-4CDC-B6DF-39B268E40356}"/>
              </a:ext>
            </a:extLst>
          </p:cNvPr>
          <p:cNvSpPr txBox="1"/>
          <p:nvPr/>
        </p:nvSpPr>
        <p:spPr>
          <a:xfrm>
            <a:off x="2261760" y="4797834"/>
            <a:ext cx="1172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0,51 cm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38CB98-1A20-4A3E-9380-37D0784E809D}"/>
              </a:ext>
            </a:extLst>
          </p:cNvPr>
          <p:cNvSpPr txBox="1"/>
          <p:nvPr/>
        </p:nvSpPr>
        <p:spPr>
          <a:xfrm>
            <a:off x="2260027" y="5357019"/>
            <a:ext cx="1327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0,499 cm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421A7E-8898-4BA2-93BD-76783AE228E5}"/>
              </a:ext>
            </a:extLst>
          </p:cNvPr>
          <p:cNvSpPr txBox="1"/>
          <p:nvPr/>
        </p:nvSpPr>
        <p:spPr>
          <a:xfrm>
            <a:off x="1628536" y="5955375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Н</a:t>
            </a:r>
            <a:endParaRPr lang="en-GB" sz="20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A50491-FE68-494A-9A6E-95AC76345691}"/>
              </a:ext>
            </a:extLst>
          </p:cNvPr>
          <p:cNvSpPr txBox="1"/>
          <p:nvPr/>
        </p:nvSpPr>
        <p:spPr>
          <a:xfrm>
            <a:off x="1654185" y="4229099"/>
            <a:ext cx="295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Г</a:t>
            </a:r>
            <a:endParaRPr lang="en-GB" sz="2000" b="1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8226DDA-6451-44F5-8317-B279A52F0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4022" y="4013716"/>
            <a:ext cx="1157570" cy="64487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73F2E0B-A2FF-4DA1-AE92-43102F932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4022" y="5809265"/>
            <a:ext cx="1157570" cy="64487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02836E6-EF90-42DD-95A9-CF3497A718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96559" y="2775508"/>
            <a:ext cx="638317" cy="69016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56706E7-5857-42EC-A724-C534D28F339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6417553" y="1225977"/>
            <a:ext cx="638317" cy="69016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6DBF88B-7E9E-4DDA-B7F0-4C351C1437C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1565743" y="4451958"/>
            <a:ext cx="638317" cy="690167"/>
          </a:xfrm>
          <a:prstGeom prst="rect">
            <a:avLst/>
          </a:prstGeom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3DF66A-1135-47CA-BEFE-113247F3C1C4}"/>
              </a:ext>
            </a:extLst>
          </p:cNvPr>
          <p:cNvCxnSpPr>
            <a:cxnSpLocks/>
          </p:cNvCxnSpPr>
          <p:nvPr/>
        </p:nvCxnSpPr>
        <p:spPr>
          <a:xfrm>
            <a:off x="6262688" y="4839965"/>
            <a:ext cx="841534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97AED93-6D92-4AC7-8F17-E5CA99A21C0E}"/>
              </a:ext>
            </a:extLst>
          </p:cNvPr>
          <p:cNvSpPr txBox="1"/>
          <p:nvPr/>
        </p:nvSpPr>
        <p:spPr>
          <a:xfrm>
            <a:off x="6062235" y="4874034"/>
            <a:ext cx="1483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0,2598 cm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2F0CE8-726B-449C-B1F1-DF24BBE226F2}"/>
              </a:ext>
            </a:extLst>
          </p:cNvPr>
          <p:cNvSpPr txBox="1"/>
          <p:nvPr/>
        </p:nvSpPr>
        <p:spPr>
          <a:xfrm>
            <a:off x="6355777" y="5433219"/>
            <a:ext cx="1172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0,26 cm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266FFD-EB21-481A-854C-6C94AAD9A437}"/>
              </a:ext>
            </a:extLst>
          </p:cNvPr>
          <p:cNvSpPr txBox="1"/>
          <p:nvPr/>
        </p:nvSpPr>
        <p:spPr>
          <a:xfrm>
            <a:off x="5524260" y="5888700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Л</a:t>
            </a:r>
            <a:endParaRPr lang="en-GB" sz="20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00D28C-81FD-457F-89D6-414B96CCED2A}"/>
              </a:ext>
            </a:extLst>
          </p:cNvPr>
          <p:cNvSpPr txBox="1"/>
          <p:nvPr/>
        </p:nvSpPr>
        <p:spPr>
          <a:xfrm>
            <a:off x="5549108" y="4433886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К</a:t>
            </a:r>
            <a:endParaRPr lang="en-GB" sz="2000" b="1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9EAEB442-15E5-43A6-8C7C-F8CB9422553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5717460" y="5943726"/>
            <a:ext cx="638317" cy="69016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31CBB9C-7E58-4C51-BB77-CB7BBB90C2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2038" y="4286250"/>
            <a:ext cx="783523" cy="532692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552B6F78-F024-49D8-9362-3154902E0EDC}"/>
              </a:ext>
            </a:extLst>
          </p:cNvPr>
          <p:cNvSpPr txBox="1"/>
          <p:nvPr/>
        </p:nvSpPr>
        <p:spPr>
          <a:xfrm>
            <a:off x="8908742" y="6051663"/>
            <a:ext cx="8169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not to</a:t>
            </a:r>
          </a:p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scale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0BBA277-A407-423A-9FC7-7002FEA26AC4}"/>
              </a:ext>
            </a:extLst>
          </p:cNvPr>
          <p:cNvCxnSpPr>
            <a:cxnSpLocks/>
          </p:cNvCxnSpPr>
          <p:nvPr/>
        </p:nvCxnSpPr>
        <p:spPr>
          <a:xfrm>
            <a:off x="6262688" y="5875015"/>
            <a:ext cx="841534" cy="0"/>
          </a:xfrm>
          <a:prstGeom prst="straightConnector1">
            <a:avLst/>
          </a:prstGeom>
          <a:ln w="28575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ECC108C5-183C-445A-9C17-12F291521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2038" y="5929312"/>
            <a:ext cx="783523" cy="53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3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4">
            <a:extLst>
              <a:ext uri="{FF2B5EF4-FFF2-40B4-BE49-F238E27FC236}">
                <a16:creationId xmlns:a16="http://schemas.microsoft.com/office/drawing/2014/main" id="{6DB54C78-B580-455B-8324-78AA8BCA30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9901" b="17179"/>
          <a:stretch/>
        </p:blipFill>
        <p:spPr>
          <a:xfrm>
            <a:off x="415161" y="1136825"/>
            <a:ext cx="9490839" cy="5721176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E11FE8AA-75A0-40B5-83D1-F9C648F7624C}"/>
              </a:ext>
            </a:extLst>
          </p:cNvPr>
          <p:cNvSpPr txBox="1"/>
          <p:nvPr/>
        </p:nvSpPr>
        <p:spPr>
          <a:xfrm>
            <a:off x="3565845" y="6039316"/>
            <a:ext cx="2422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 сантиметр</a:t>
            </a:r>
            <a:endParaRPr lang="en-GB" sz="2800" dirty="0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7FE5C83-AAC6-4A79-8919-BE12D1BF4DB4}"/>
              </a:ext>
            </a:extLst>
          </p:cNvPr>
          <p:cNvCxnSpPr>
            <a:cxnSpLocks/>
          </p:cNvCxnSpPr>
          <p:nvPr/>
        </p:nvCxnSpPr>
        <p:spPr>
          <a:xfrm>
            <a:off x="1691811" y="5981196"/>
            <a:ext cx="5724989" cy="0"/>
          </a:xfrm>
          <a:prstGeom prst="straightConnector1">
            <a:avLst/>
          </a:prstGeom>
          <a:ln w="57150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2206DAE-2690-433F-9B92-CA8F35E4A8B9}"/>
              </a:ext>
            </a:extLst>
          </p:cNvPr>
          <p:cNvCxnSpPr>
            <a:cxnSpLocks/>
          </p:cNvCxnSpPr>
          <p:nvPr/>
        </p:nvCxnSpPr>
        <p:spPr>
          <a:xfrm>
            <a:off x="1680925" y="940657"/>
            <a:ext cx="525246" cy="0"/>
          </a:xfrm>
          <a:prstGeom prst="straightConnector1">
            <a:avLst/>
          </a:prstGeom>
          <a:ln w="57150">
            <a:solidFill>
              <a:srgbClr val="0070C0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6C63AD4-73C3-42AB-B0C9-5DED699AA878}"/>
              </a:ext>
            </a:extLst>
          </p:cNvPr>
          <p:cNvSpPr txBox="1"/>
          <p:nvPr/>
        </p:nvSpPr>
        <p:spPr>
          <a:xfrm>
            <a:off x="1047936" y="355801"/>
            <a:ext cx="1897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бир миллиметр</a:t>
            </a:r>
            <a:endParaRPr lang="en-GB" sz="20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765AE01-D777-4F99-A2C9-6313C6F56924}"/>
              </a:ext>
            </a:extLst>
          </p:cNvPr>
          <p:cNvSpPr txBox="1"/>
          <p:nvPr/>
        </p:nvSpPr>
        <p:spPr>
          <a:xfrm>
            <a:off x="3047658" y="355801"/>
            <a:ext cx="37271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сантиметрдин ондон бир бөлүгү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24B981B6-3D38-4F82-BFB6-E6F79A54B0DD}"/>
                  </a:ext>
                </a:extLst>
              </p:cNvPr>
              <p:cNvSpPr txBox="1"/>
              <p:nvPr/>
            </p:nvSpPr>
            <p:spPr>
              <a:xfrm>
                <a:off x="6877240" y="136956"/>
                <a:ext cx="663963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24B981B6-3D38-4F82-BFB6-E6F79A54B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240" y="136956"/>
                <a:ext cx="663963" cy="901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671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96" grpId="0"/>
      <p:bldP spid="97" grpId="0"/>
      <p:bldP spid="9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>
            <a:extLst>
              <a:ext uri="{FF2B5EF4-FFF2-40B4-BE49-F238E27FC236}">
                <a16:creationId xmlns:a16="http://schemas.microsoft.com/office/drawing/2014/main" id="{2318924A-AB56-4746-AE98-5C35A71044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3" t="19934" b="17910"/>
          <a:stretch/>
        </p:blipFill>
        <p:spPr>
          <a:xfrm flipH="1">
            <a:off x="978794" y="1653713"/>
            <a:ext cx="3874365" cy="1471872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D6727B47-EBE3-4DC1-BD5B-5A4EBB90CB7E}"/>
              </a:ext>
            </a:extLst>
          </p:cNvPr>
          <p:cNvSpPr txBox="1"/>
          <p:nvPr/>
        </p:nvSpPr>
        <p:spPr>
          <a:xfrm>
            <a:off x="570021" y="852339"/>
            <a:ext cx="3772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Кумурсканын узундугун ченесек.</a:t>
            </a:r>
            <a:endParaRPr lang="en-GB" sz="2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4BBB9CC-401B-4795-B122-A7285563FC6E}"/>
              </a:ext>
            </a:extLst>
          </p:cNvPr>
          <p:cNvSpPr txBox="1"/>
          <p:nvPr/>
        </p:nvSpPr>
        <p:spPr>
          <a:xfrm>
            <a:off x="5502450" y="805674"/>
            <a:ext cx="935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Ондук:</a:t>
            </a:r>
            <a:endParaRPr lang="en-GB" sz="2000" dirty="0"/>
          </a:p>
        </p:txBody>
      </p:sp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>
            <a:off x="2275582" y="1862049"/>
            <a:ext cx="360939" cy="2937888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5459490" y="2533452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Бөлчөк:</a:t>
            </a:r>
            <a:endParaRPr lang="en-GB" sz="2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D84834E-F1F8-4F1C-8689-735304645AE4}"/>
              </a:ext>
            </a:extLst>
          </p:cNvPr>
          <p:cNvSpPr txBox="1"/>
          <p:nvPr/>
        </p:nvSpPr>
        <p:spPr>
          <a:xfrm>
            <a:off x="7383117" y="744119"/>
            <a:ext cx="1281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1,1   </a:t>
            </a:r>
            <a:r>
              <a:rPr lang="ky-KG" sz="2800" dirty="0"/>
              <a:t>см</a:t>
            </a:r>
            <a:endParaRPr lang="en-GB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7032064" y="2294444"/>
                <a:ext cx="1983235" cy="87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3600" b="0" i="1" dirty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3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3600" dirty="0"/>
                  <a:t>  </a:t>
                </a:r>
                <a:r>
                  <a:rPr lang="ky-KG" sz="2800" dirty="0"/>
                  <a:t>см</a:t>
                </a:r>
                <a:endParaRPr lang="en-GB" sz="28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064" y="2294444"/>
                <a:ext cx="1983235" cy="878126"/>
              </a:xfrm>
              <a:prstGeom prst="rect">
                <a:avLst/>
              </a:prstGeom>
              <a:blipFill>
                <a:blip r:embed="rId3"/>
                <a:stretch>
                  <a:fillRect r="-553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5" name="Picture 84">
            <a:extLst>
              <a:ext uri="{FF2B5EF4-FFF2-40B4-BE49-F238E27FC236}">
                <a16:creationId xmlns:a16="http://schemas.microsoft.com/office/drawing/2014/main" id="{6DB54C78-B580-455B-8324-78AA8BCA30B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646"/>
          <a:stretch/>
        </p:blipFill>
        <p:spPr>
          <a:xfrm>
            <a:off x="415161" y="3574989"/>
            <a:ext cx="9490839" cy="318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7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D6727B47-EBE3-4DC1-BD5B-5A4EBB90CB7E}"/>
              </a:ext>
            </a:extLst>
          </p:cNvPr>
          <p:cNvSpPr txBox="1"/>
          <p:nvPr/>
        </p:nvSpPr>
        <p:spPr>
          <a:xfrm>
            <a:off x="384937" y="546924"/>
            <a:ext cx="33343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Аарынын узундугун ченесек.</a:t>
            </a:r>
            <a:endParaRPr lang="en-GB" sz="2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4BBB9CC-401B-4795-B122-A7285563FC6E}"/>
              </a:ext>
            </a:extLst>
          </p:cNvPr>
          <p:cNvSpPr txBox="1"/>
          <p:nvPr/>
        </p:nvSpPr>
        <p:spPr>
          <a:xfrm>
            <a:off x="5502450" y="805674"/>
            <a:ext cx="935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Ондук:</a:t>
            </a:r>
            <a:endParaRPr lang="en-GB" sz="2000" dirty="0"/>
          </a:p>
        </p:txBody>
      </p:sp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>
            <a:off x="2678460" y="1459170"/>
            <a:ext cx="360939" cy="3743645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5459490" y="2532874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Бөлчөк:</a:t>
            </a:r>
            <a:endParaRPr lang="en-GB" sz="2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D84834E-F1F8-4F1C-8689-735304645AE4}"/>
              </a:ext>
            </a:extLst>
          </p:cNvPr>
          <p:cNvSpPr txBox="1"/>
          <p:nvPr/>
        </p:nvSpPr>
        <p:spPr>
          <a:xfrm>
            <a:off x="7383117" y="744119"/>
            <a:ext cx="1281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1,4   </a:t>
            </a:r>
            <a:r>
              <a:rPr lang="ky-KG" sz="2800" dirty="0"/>
              <a:t>см</a:t>
            </a:r>
            <a:endParaRPr lang="en-GB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7032064" y="2294444"/>
                <a:ext cx="1983235" cy="8769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3600" b="0" i="1" dirty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3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3600" dirty="0"/>
                  <a:t>  </a:t>
                </a:r>
                <a:r>
                  <a:rPr lang="ky-KG" sz="2800" dirty="0"/>
                  <a:t>см</a:t>
                </a:r>
                <a:endParaRPr lang="en-GB" sz="28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064" y="2294444"/>
                <a:ext cx="1983235" cy="876971"/>
              </a:xfrm>
              <a:prstGeom prst="rect">
                <a:avLst/>
              </a:prstGeom>
              <a:blipFill>
                <a:blip r:embed="rId2"/>
                <a:stretch>
                  <a:fillRect r="-553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082828D-1E94-4F3B-9F00-DCDBBC94B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 flipH="1">
            <a:off x="948814" y="912562"/>
            <a:ext cx="4308986" cy="22387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3E9C99-77DF-4833-BB06-E86E5A63E1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646"/>
          <a:stretch/>
        </p:blipFill>
        <p:spPr>
          <a:xfrm>
            <a:off x="415161" y="3574989"/>
            <a:ext cx="9490839" cy="318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D6727B47-EBE3-4DC1-BD5B-5A4EBB90CB7E}"/>
              </a:ext>
            </a:extLst>
          </p:cNvPr>
          <p:cNvSpPr txBox="1"/>
          <p:nvPr/>
        </p:nvSpPr>
        <p:spPr>
          <a:xfrm>
            <a:off x="13874" y="886058"/>
            <a:ext cx="3895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Кумурсканын узундугун ченелген.</a:t>
            </a:r>
            <a:endParaRPr lang="en-GB" sz="2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4BBB9CC-401B-4795-B122-A7285563FC6E}"/>
              </a:ext>
            </a:extLst>
          </p:cNvPr>
          <p:cNvSpPr txBox="1"/>
          <p:nvPr/>
        </p:nvSpPr>
        <p:spPr>
          <a:xfrm>
            <a:off x="5502450" y="805674"/>
            <a:ext cx="935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Ондук:</a:t>
            </a:r>
            <a:endParaRPr lang="en-GB" sz="2000" dirty="0"/>
          </a:p>
        </p:txBody>
      </p:sp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>
            <a:off x="2214909" y="1922720"/>
            <a:ext cx="360939" cy="2816543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5459490" y="2537972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Бөлчөк:</a:t>
            </a:r>
            <a:endParaRPr lang="en-GB" sz="2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D84834E-F1F8-4F1C-8689-735304645AE4}"/>
              </a:ext>
            </a:extLst>
          </p:cNvPr>
          <p:cNvSpPr txBox="1"/>
          <p:nvPr/>
        </p:nvSpPr>
        <p:spPr>
          <a:xfrm>
            <a:off x="7291746" y="744119"/>
            <a:ext cx="1463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1,05   </a:t>
            </a:r>
            <a:r>
              <a:rPr lang="ky-KG" sz="2800" dirty="0"/>
              <a:t>см</a:t>
            </a:r>
            <a:endParaRPr lang="en-GB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6934281" y="2294444"/>
                <a:ext cx="2178802" cy="887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3600" b="0" i="1" dirty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3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GB" sz="3600" dirty="0"/>
                  <a:t>  </a:t>
                </a:r>
                <a:r>
                  <a:rPr lang="ky-KG" sz="2800" dirty="0"/>
                  <a:t>см</a:t>
                </a:r>
                <a:endParaRPr lang="en-GB" sz="28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81" y="2294444"/>
                <a:ext cx="2178802" cy="887166"/>
              </a:xfrm>
              <a:prstGeom prst="rect">
                <a:avLst/>
              </a:prstGeom>
              <a:blipFill>
                <a:blip r:embed="rId2"/>
                <a:stretch>
                  <a:fillRect r="-5042"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E23E9C99-77DF-4833-BB06-E86E5A63E1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646"/>
          <a:stretch/>
        </p:blipFill>
        <p:spPr>
          <a:xfrm>
            <a:off x="415161" y="3574989"/>
            <a:ext cx="9490839" cy="31814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F9B97A-D82B-484E-A1C8-B4B62C180F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53" t="19934" b="17910"/>
          <a:stretch/>
        </p:blipFill>
        <p:spPr>
          <a:xfrm flipH="1">
            <a:off x="285122" y="1334733"/>
            <a:ext cx="4680577" cy="1778152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87C76E-A042-4E28-95BE-16EDAB8C9573}"/>
              </a:ext>
            </a:extLst>
          </p:cNvPr>
          <p:cNvSpPr/>
          <p:nvPr/>
        </p:nvSpPr>
        <p:spPr>
          <a:xfrm>
            <a:off x="3266902" y="116378"/>
            <a:ext cx="5125258" cy="55695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ru-RU" sz="2400" dirty="0"/>
              <a:t>0,1 смдин жарымы эмнеге барабар?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4787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 flipH="1">
            <a:off x="2419488" y="1177605"/>
            <a:ext cx="360000" cy="3743645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6332392" y="3356586"/>
            <a:ext cx="206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 суммасы: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6157279" y="4471586"/>
                <a:ext cx="2412007" cy="10502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4400" dirty="0"/>
                  <a:t>  </a:t>
                </a:r>
                <a:r>
                  <a:rPr lang="ky-KG" sz="3600" dirty="0"/>
                  <a:t>см</a:t>
                </a:r>
                <a:endParaRPr lang="en-GB" sz="36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279" y="4471586"/>
                <a:ext cx="2412007" cy="1050224"/>
              </a:xfrm>
              <a:prstGeom prst="rect">
                <a:avLst/>
              </a:prstGeom>
              <a:blipFill>
                <a:blip r:embed="rId2"/>
                <a:stretch>
                  <a:fillRect r="-7323" b="-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082828D-1E94-4F3B-9F00-DCDBBC94B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 flipH="1">
            <a:off x="727470" y="710515"/>
            <a:ext cx="3971529" cy="2063396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E74191F-D53D-4AE0-80C2-100B83C1F01D}"/>
              </a:ext>
            </a:extLst>
          </p:cNvPr>
          <p:cNvSpPr txBox="1"/>
          <p:nvPr/>
        </p:nvSpPr>
        <p:spPr>
          <a:xfrm>
            <a:off x="6539980" y="1168135"/>
            <a:ext cx="16466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1,7 </a:t>
            </a:r>
            <a:r>
              <a:rPr lang="ky-KG" sz="4400" dirty="0"/>
              <a:t>см</a:t>
            </a:r>
            <a:endParaRPr lang="en-GB" sz="4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641655-B24F-4F56-9C28-7909292EF08A}"/>
              </a:ext>
            </a:extLst>
          </p:cNvPr>
          <p:cNvSpPr txBox="1"/>
          <p:nvPr/>
        </p:nvSpPr>
        <p:spPr>
          <a:xfrm>
            <a:off x="271848" y="3407358"/>
            <a:ext cx="45877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Сызгычтын ордуна аары </a:t>
            </a:r>
          </a:p>
          <a:p>
            <a:pPr algn="ctr"/>
            <a:r>
              <a:rPr lang="ky-KG" sz="2000" dirty="0"/>
              <a:t>микроскоптун жардамы менен өлчөнөт.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05776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 flipH="1">
            <a:off x="2419489" y="1334608"/>
            <a:ext cx="360000" cy="3429640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6332392" y="3356586"/>
            <a:ext cx="206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 суммасы: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6157279" y="4471586"/>
                <a:ext cx="2412007" cy="10540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4400" dirty="0"/>
                  <a:t>  </a:t>
                </a:r>
                <a:r>
                  <a:rPr lang="ky-KG" sz="3600" dirty="0"/>
                  <a:t>см</a:t>
                </a:r>
                <a:endParaRPr lang="en-GB" sz="36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279" y="4471586"/>
                <a:ext cx="2412007" cy="1054071"/>
              </a:xfrm>
              <a:prstGeom prst="rect">
                <a:avLst/>
              </a:prstGeom>
              <a:blipFill>
                <a:blip r:embed="rId2"/>
                <a:stretch>
                  <a:fillRect r="-7323" b="-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082828D-1E94-4F3B-9F00-DCDBBC94B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 flipH="1">
            <a:off x="869085" y="1022465"/>
            <a:ext cx="3538670" cy="1838506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E74191F-D53D-4AE0-80C2-100B83C1F01D}"/>
              </a:ext>
            </a:extLst>
          </p:cNvPr>
          <p:cNvSpPr txBox="1"/>
          <p:nvPr/>
        </p:nvSpPr>
        <p:spPr>
          <a:xfrm>
            <a:off x="6539980" y="1168135"/>
            <a:ext cx="16466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1,6 </a:t>
            </a:r>
            <a:r>
              <a:rPr lang="ky-KG" sz="4400" dirty="0"/>
              <a:t>см</a:t>
            </a:r>
            <a:endParaRPr lang="en-GB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6F827D-0034-4857-A19C-5274AE437602}"/>
              </a:ext>
            </a:extLst>
          </p:cNvPr>
          <p:cNvSpPr txBox="1"/>
          <p:nvPr/>
        </p:nvSpPr>
        <p:spPr>
          <a:xfrm>
            <a:off x="271848" y="3407358"/>
            <a:ext cx="4587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Сызгычтын ордуна аары </a:t>
            </a:r>
          </a:p>
          <a:p>
            <a:pPr algn="ctr"/>
            <a:r>
              <a:rPr lang="ky-KG" sz="2000" dirty="0"/>
              <a:t>микроскоптун жардамы менен өлчөнөт.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4251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D6727B47-EBE3-4DC1-BD5B-5A4EBB90CB7E}"/>
              </a:ext>
            </a:extLst>
          </p:cNvPr>
          <p:cNvSpPr txBox="1"/>
          <p:nvPr/>
        </p:nvSpPr>
        <p:spPr>
          <a:xfrm>
            <a:off x="271848" y="3407358"/>
            <a:ext cx="4587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Сызгычтын ордуна аары </a:t>
            </a:r>
          </a:p>
          <a:p>
            <a:pPr algn="ctr"/>
            <a:r>
              <a:rPr lang="ky-KG" sz="2000" dirty="0"/>
              <a:t>микроскоптун жардамы менен өлчөнөт.</a:t>
            </a:r>
            <a:endParaRPr lang="en-GB" sz="2000" dirty="0"/>
          </a:p>
        </p:txBody>
      </p:sp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 flipH="1">
            <a:off x="2419488" y="1177605"/>
            <a:ext cx="360000" cy="3743645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6332392" y="3356586"/>
            <a:ext cx="206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 суммасы: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5462796" y="4471586"/>
                <a:ext cx="3800977" cy="10637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GB" sz="4400" dirty="0"/>
                  <a:t>  </a:t>
                </a:r>
                <a:r>
                  <a:rPr lang="ky-KG" sz="3600" dirty="0"/>
                  <a:t>см</a:t>
                </a:r>
                <a:endParaRPr lang="en-GB" sz="36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796" y="4471586"/>
                <a:ext cx="3800977" cy="1063753"/>
              </a:xfrm>
              <a:prstGeom prst="rect">
                <a:avLst/>
              </a:prstGeom>
              <a:blipFill>
                <a:blip r:embed="rId2"/>
                <a:stretch>
                  <a:fillRect r="-4327" b="-5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082828D-1E94-4F3B-9F00-DCDBBC94B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 flipH="1">
            <a:off x="727470" y="710515"/>
            <a:ext cx="3971529" cy="2063396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E74191F-D53D-4AE0-80C2-100B83C1F01D}"/>
              </a:ext>
            </a:extLst>
          </p:cNvPr>
          <p:cNvSpPr txBox="1"/>
          <p:nvPr/>
        </p:nvSpPr>
        <p:spPr>
          <a:xfrm>
            <a:off x="6397314" y="1168135"/>
            <a:ext cx="19319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1,25 </a:t>
            </a:r>
            <a:r>
              <a:rPr lang="ky-KG" sz="4400" dirty="0"/>
              <a:t>см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290930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 flipH="1">
            <a:off x="2419489" y="1559051"/>
            <a:ext cx="360000" cy="2980754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6332392" y="3356586"/>
            <a:ext cx="206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 суммасы: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5462796" y="4471586"/>
                <a:ext cx="3800977" cy="10540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GB" sz="4400" dirty="0"/>
                  <a:t>  </a:t>
                </a:r>
                <a:r>
                  <a:rPr lang="ky-KG" sz="3600" dirty="0"/>
                  <a:t>см</a:t>
                </a:r>
                <a:endParaRPr lang="en-GB" sz="36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796" y="4471586"/>
                <a:ext cx="3800977" cy="1054071"/>
              </a:xfrm>
              <a:prstGeom prst="rect">
                <a:avLst/>
              </a:prstGeom>
              <a:blipFill>
                <a:blip r:embed="rId2"/>
                <a:stretch>
                  <a:fillRect r="-4327" b="-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082828D-1E94-4F3B-9F00-DCDBBC94B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 flipH="1">
            <a:off x="1086647" y="1097280"/>
            <a:ext cx="3186672" cy="1655626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E74191F-D53D-4AE0-80C2-100B83C1F01D}"/>
              </a:ext>
            </a:extLst>
          </p:cNvPr>
          <p:cNvSpPr txBox="1"/>
          <p:nvPr/>
        </p:nvSpPr>
        <p:spPr>
          <a:xfrm>
            <a:off x="6397314" y="1168135"/>
            <a:ext cx="19319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1,07 </a:t>
            </a:r>
            <a:r>
              <a:rPr lang="ky-KG" sz="4400" dirty="0"/>
              <a:t>см</a:t>
            </a:r>
            <a:endParaRPr lang="en-GB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B6D327-AA68-45F5-8B31-DD7772235247}"/>
              </a:ext>
            </a:extLst>
          </p:cNvPr>
          <p:cNvSpPr txBox="1"/>
          <p:nvPr/>
        </p:nvSpPr>
        <p:spPr>
          <a:xfrm>
            <a:off x="271848" y="3407358"/>
            <a:ext cx="4587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Сызгычтын ордуна аары </a:t>
            </a:r>
          </a:p>
          <a:p>
            <a:pPr algn="ctr"/>
            <a:r>
              <a:rPr lang="ky-KG" sz="2000" dirty="0"/>
              <a:t>микроскоптун жардамы менен өлчөнөт.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96786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 flipH="1">
            <a:off x="2320207" y="1019195"/>
            <a:ext cx="360000" cy="4060466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6332392" y="3356586"/>
            <a:ext cx="206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 суммасы: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5462796" y="4471586"/>
                <a:ext cx="3800977" cy="10540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2+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GB" sz="4400" dirty="0"/>
                  <a:t>  </a:t>
                </a:r>
                <a:r>
                  <a:rPr lang="ky-KG" sz="3600" dirty="0"/>
                  <a:t>см</a:t>
                </a:r>
                <a:endParaRPr lang="en-GB" sz="36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796" y="4471586"/>
                <a:ext cx="3800977" cy="1054071"/>
              </a:xfrm>
              <a:prstGeom prst="rect">
                <a:avLst/>
              </a:prstGeom>
              <a:blipFill>
                <a:blip r:embed="rId2"/>
                <a:stretch>
                  <a:fillRect r="-4327" b="-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082828D-1E94-4F3B-9F00-DCDBBC94B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 flipH="1">
            <a:off x="438833" y="560554"/>
            <a:ext cx="4548802" cy="2363318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E74191F-D53D-4AE0-80C2-100B83C1F01D}"/>
              </a:ext>
            </a:extLst>
          </p:cNvPr>
          <p:cNvSpPr txBox="1"/>
          <p:nvPr/>
        </p:nvSpPr>
        <p:spPr>
          <a:xfrm>
            <a:off x="6397314" y="1168135"/>
            <a:ext cx="19319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2,18 </a:t>
            </a:r>
            <a:r>
              <a:rPr lang="ky-KG" sz="4400" dirty="0"/>
              <a:t>см</a:t>
            </a:r>
            <a:endParaRPr lang="en-GB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E2B24-CEC6-4B70-A087-BE8F4862B5DB}"/>
              </a:ext>
            </a:extLst>
          </p:cNvPr>
          <p:cNvSpPr txBox="1"/>
          <p:nvPr/>
        </p:nvSpPr>
        <p:spPr>
          <a:xfrm>
            <a:off x="271848" y="3407358"/>
            <a:ext cx="4587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Сызгычтын ордуна аары </a:t>
            </a:r>
          </a:p>
          <a:p>
            <a:pPr algn="ctr"/>
            <a:r>
              <a:rPr lang="ky-KG" sz="2000" dirty="0"/>
              <a:t>микроскоптун жардамы менен өлчөнөт.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48963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ight Bracket 78">
            <a:extLst>
              <a:ext uri="{FF2B5EF4-FFF2-40B4-BE49-F238E27FC236}">
                <a16:creationId xmlns:a16="http://schemas.microsoft.com/office/drawing/2014/main" id="{6C95E3B8-114D-4449-9256-967174633DE3}"/>
              </a:ext>
            </a:extLst>
          </p:cNvPr>
          <p:cNvSpPr/>
          <p:nvPr/>
        </p:nvSpPr>
        <p:spPr>
          <a:xfrm rot="16200000" flipH="1">
            <a:off x="2419488" y="1177605"/>
            <a:ext cx="360000" cy="3743645"/>
          </a:xfrm>
          <a:prstGeom prst="rightBracket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9DE661-F120-4A57-953E-D7FEF10812DC}"/>
              </a:ext>
            </a:extLst>
          </p:cNvPr>
          <p:cNvSpPr txBox="1"/>
          <p:nvPr/>
        </p:nvSpPr>
        <p:spPr>
          <a:xfrm>
            <a:off x="5710092" y="3610586"/>
            <a:ext cx="206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 суммасы: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/>
              <p:nvPr/>
            </p:nvSpPr>
            <p:spPr>
              <a:xfrm>
                <a:off x="4026589" y="4725586"/>
                <a:ext cx="5428795" cy="10540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2+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GB" sz="4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4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4400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GB" sz="4400" dirty="0"/>
                  <a:t>  </a:t>
                </a:r>
                <a:r>
                  <a:rPr lang="ky-KG" sz="3600" dirty="0"/>
                  <a:t>см</a:t>
                </a:r>
                <a:endParaRPr lang="en-GB" sz="36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6D83E9-EC60-40C3-B6B6-4E86A837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589" y="4725586"/>
                <a:ext cx="5428795" cy="1054071"/>
              </a:xfrm>
              <a:prstGeom prst="rect">
                <a:avLst/>
              </a:prstGeom>
              <a:blipFill>
                <a:blip r:embed="rId2"/>
                <a:stretch>
                  <a:fillRect r="-2921" b="-5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082828D-1E94-4F3B-9F00-DCDBBC94B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786" b="10491"/>
          <a:stretch/>
        </p:blipFill>
        <p:spPr>
          <a:xfrm flipH="1">
            <a:off x="727470" y="710515"/>
            <a:ext cx="3971529" cy="2063396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E74191F-D53D-4AE0-80C2-100B83C1F01D}"/>
              </a:ext>
            </a:extLst>
          </p:cNvPr>
          <p:cNvSpPr txBox="1"/>
          <p:nvPr/>
        </p:nvSpPr>
        <p:spPr>
          <a:xfrm>
            <a:off x="6254646" y="1168135"/>
            <a:ext cx="22172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2,473 </a:t>
            </a:r>
            <a:r>
              <a:rPr lang="ky-KG" sz="4400" dirty="0"/>
              <a:t>см</a:t>
            </a:r>
            <a:endParaRPr lang="en-GB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4BEF1D-93D4-4990-9164-F08A99DE28E4}"/>
              </a:ext>
            </a:extLst>
          </p:cNvPr>
          <p:cNvSpPr txBox="1"/>
          <p:nvPr/>
        </p:nvSpPr>
        <p:spPr>
          <a:xfrm>
            <a:off x="271848" y="3407358"/>
            <a:ext cx="4587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Сызгычтын ордуна аары </a:t>
            </a:r>
          </a:p>
          <a:p>
            <a:pPr algn="ctr"/>
            <a:r>
              <a:rPr lang="ky-KG" sz="2000" dirty="0"/>
              <a:t>микроскоптун жардамы менен өлчөнөт.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59928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B3EE5F-4F21-439F-9BEC-6F90C4F6FA7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503" y="3986174"/>
            <a:ext cx="1193602" cy="12144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B40DC1-67EA-4DC0-8C81-FCE75E67BE7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90" y="2493698"/>
            <a:ext cx="1673431" cy="1397577"/>
          </a:xfrm>
          <a:prstGeom prst="rect">
            <a:avLst/>
          </a:prstGeom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A26E6188-C02A-44FB-B51F-758AF0345B86}"/>
              </a:ext>
            </a:extLst>
          </p:cNvPr>
          <p:cNvSpPr/>
          <p:nvPr/>
        </p:nvSpPr>
        <p:spPr>
          <a:xfrm>
            <a:off x="3157982" y="2585967"/>
            <a:ext cx="4766818" cy="752676"/>
          </a:xfrm>
          <a:prstGeom prst="wedgeRoundRectCallout">
            <a:avLst>
              <a:gd name="adj1" fmla="val -69138"/>
              <a:gd name="adj2" fmla="val 43045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000" dirty="0">
                <a:solidFill>
                  <a:sysClr val="windowText" lastClr="000000"/>
                </a:solidFill>
              </a:rPr>
              <a:t>жыйырма сегиз бүтүн жүздөн элүү жети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42218E-9859-4A0C-9863-DADB8E46C908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28,57</a:t>
            </a:r>
            <a:endParaRPr lang="en-GB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8ED8B-5906-4348-8176-3C48AFF89A25}"/>
              </a:ext>
            </a:extLst>
          </p:cNvPr>
          <p:cNvSpPr txBox="1"/>
          <p:nvPr/>
        </p:nvSpPr>
        <p:spPr>
          <a:xfrm>
            <a:off x="3535821" y="5699067"/>
            <a:ext cx="2851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Кайсынысы түшүнүктүү?</a:t>
            </a:r>
            <a:endParaRPr lang="en-GB" sz="2000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D9A7EAA-9253-488E-9DE0-6A73947A5D8B}"/>
              </a:ext>
            </a:extLst>
          </p:cNvPr>
          <p:cNvSpPr/>
          <p:nvPr/>
        </p:nvSpPr>
        <p:spPr>
          <a:xfrm>
            <a:off x="2946400" y="4052817"/>
            <a:ext cx="3787775" cy="752676"/>
          </a:xfrm>
          <a:prstGeom prst="wedgeRoundRectCallout">
            <a:avLst>
              <a:gd name="adj1" fmla="val 67105"/>
              <a:gd name="adj2" fmla="val 44310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000" dirty="0">
                <a:solidFill>
                  <a:sysClr val="windowText" lastClr="000000"/>
                </a:solidFill>
              </a:rPr>
              <a:t>жыйырма сегиз бүтүн беш жети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744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A26E6188-C02A-44FB-B51F-758AF0345B86}"/>
              </a:ext>
            </a:extLst>
          </p:cNvPr>
          <p:cNvSpPr/>
          <p:nvPr/>
        </p:nvSpPr>
        <p:spPr>
          <a:xfrm>
            <a:off x="2957956" y="2452617"/>
            <a:ext cx="6662294" cy="752676"/>
          </a:xfrm>
          <a:prstGeom prst="wedgeRoundRectCallout">
            <a:avLst>
              <a:gd name="adj1" fmla="val -69138"/>
              <a:gd name="adj2" fmla="val 43045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000" dirty="0">
                <a:solidFill>
                  <a:sysClr val="windowText" lastClr="000000"/>
                </a:solidFill>
              </a:rPr>
              <a:t>жүз жетимиш бир бүтүн жүздөн үч жүз эки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42218E-9859-4A0C-9863-DADB8E46C908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171,302</a:t>
            </a:r>
            <a:endParaRPr lang="en-GB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8ED8B-5906-4348-8176-3C48AFF89A25}"/>
              </a:ext>
            </a:extLst>
          </p:cNvPr>
          <p:cNvSpPr txBox="1"/>
          <p:nvPr/>
        </p:nvSpPr>
        <p:spPr>
          <a:xfrm>
            <a:off x="767434" y="5554542"/>
            <a:ext cx="83878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Үтүрдөн кийинки бөлчөк бөлүктөгү сандардын биринчиси </a:t>
            </a:r>
            <a:r>
              <a:rPr lang="ky-KG" sz="2000" b="1" dirty="0"/>
              <a:t>ондук мааниде</a:t>
            </a:r>
            <a:r>
              <a:rPr lang="ky-KG" sz="2000" dirty="0"/>
              <a:t>, </a:t>
            </a:r>
          </a:p>
          <a:p>
            <a:pPr algn="ctr"/>
            <a:r>
              <a:rPr lang="ky-KG" sz="2000" dirty="0"/>
              <a:t>экинчиси </a:t>
            </a:r>
            <a:r>
              <a:rPr lang="ky-KG" sz="2000" b="1" dirty="0"/>
              <a:t>жүздүк мааниде</a:t>
            </a:r>
            <a:r>
              <a:rPr lang="ky-KG" sz="2000" dirty="0"/>
              <a:t>, үчүнчүсү </a:t>
            </a:r>
            <a:r>
              <a:rPr lang="ky-KG" sz="2000" b="1" dirty="0"/>
              <a:t>миңдик мааниде, </a:t>
            </a:r>
          </a:p>
          <a:p>
            <a:pPr algn="ctr"/>
            <a:r>
              <a:rPr lang="ky-KG" sz="2000" dirty="0"/>
              <a:t>кийинкиси </a:t>
            </a:r>
            <a:r>
              <a:rPr lang="ky-KG" sz="2000" b="1" dirty="0"/>
              <a:t>он миңдик </a:t>
            </a:r>
            <a:r>
              <a:rPr lang="ky-KG" sz="2000" dirty="0"/>
              <a:t>ж.б. уланган тартипте турат окулат </a:t>
            </a:r>
            <a:endParaRPr lang="en-GB" sz="2400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D9A7EAA-9253-488E-9DE0-6A73947A5D8B}"/>
              </a:ext>
            </a:extLst>
          </p:cNvPr>
          <p:cNvSpPr/>
          <p:nvPr/>
        </p:nvSpPr>
        <p:spPr>
          <a:xfrm>
            <a:off x="771525" y="4243317"/>
            <a:ext cx="5943600" cy="752676"/>
          </a:xfrm>
          <a:prstGeom prst="wedgeRoundRectCallout">
            <a:avLst>
              <a:gd name="adj1" fmla="val 67105"/>
              <a:gd name="adj2" fmla="val 44310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000" dirty="0">
                <a:solidFill>
                  <a:sysClr val="windowText" lastClr="000000"/>
                </a:solidFill>
              </a:rPr>
              <a:t>жүз жетимиш бир бүтүн үч нөл эки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A92E0F-D83C-4438-8ADD-21E3581757B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98" y="2446058"/>
            <a:ext cx="1157551" cy="13112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D1ED78-C2DD-4DF7-A716-3E10E1E21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216" y="4124325"/>
            <a:ext cx="1494350" cy="1200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5A05BF-EDF2-4BB1-828A-926F338B5BC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530391" y="2901779"/>
            <a:ext cx="638317" cy="69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20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86FB1D3-44E8-4174-80C7-DE4A08ABC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1" y="200025"/>
            <a:ext cx="1494350" cy="1200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BB5914-00E3-4FBD-BAE6-0ED000A3F174}"/>
              </a:ext>
            </a:extLst>
          </p:cNvPr>
          <p:cNvSpPr txBox="1"/>
          <p:nvPr/>
        </p:nvSpPr>
        <p:spPr>
          <a:xfrm>
            <a:off x="2553391" y="174567"/>
            <a:ext cx="4815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ондук сандарды </a:t>
            </a:r>
            <a:r>
              <a:rPr lang="ky-KG" sz="2000" dirty="0"/>
              <a:t>окуп көргүлөчү 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AE6D1C-24C8-4DF0-853D-E4298844C0D1}"/>
              </a:ext>
            </a:extLst>
          </p:cNvPr>
          <p:cNvSpPr/>
          <p:nvPr/>
        </p:nvSpPr>
        <p:spPr>
          <a:xfrm>
            <a:off x="1244866" y="990600"/>
            <a:ext cx="2708009" cy="10318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1,6</a:t>
            </a:r>
            <a:endParaRPr lang="en-GB" sz="18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E230DC6-8572-42AC-9E03-ED5A90793FD3}"/>
              </a:ext>
            </a:extLst>
          </p:cNvPr>
          <p:cNvSpPr/>
          <p:nvPr/>
        </p:nvSpPr>
        <p:spPr>
          <a:xfrm>
            <a:off x="1244866" y="2454275"/>
            <a:ext cx="2708009" cy="10318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23,9</a:t>
            </a:r>
            <a:endParaRPr lang="en-GB" sz="1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3EB985-9CB3-429B-AC59-49D4D862857D}"/>
              </a:ext>
            </a:extLst>
          </p:cNvPr>
          <p:cNvSpPr/>
          <p:nvPr/>
        </p:nvSpPr>
        <p:spPr>
          <a:xfrm>
            <a:off x="1244866" y="3917950"/>
            <a:ext cx="2708009" cy="10318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56,81</a:t>
            </a:r>
            <a:endParaRPr lang="en-GB" sz="18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7185CA-CBC6-47EA-9820-1AD47F965A97}"/>
              </a:ext>
            </a:extLst>
          </p:cNvPr>
          <p:cNvSpPr/>
          <p:nvPr/>
        </p:nvSpPr>
        <p:spPr>
          <a:xfrm>
            <a:off x="1244866" y="5381625"/>
            <a:ext cx="2708009" cy="10318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101,56</a:t>
            </a:r>
            <a:endParaRPr lang="en-GB" sz="18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B278A1-0A53-430C-8A71-B52EF2EC5FC5}"/>
              </a:ext>
            </a:extLst>
          </p:cNvPr>
          <p:cNvSpPr/>
          <p:nvPr/>
        </p:nvSpPr>
        <p:spPr>
          <a:xfrm>
            <a:off x="5969266" y="990600"/>
            <a:ext cx="2708009" cy="10318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222,02</a:t>
            </a:r>
            <a:endParaRPr lang="en-GB" sz="1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0608CA-93D3-4E4F-9137-BE6FFBF484EC}"/>
              </a:ext>
            </a:extLst>
          </p:cNvPr>
          <p:cNvSpPr/>
          <p:nvPr/>
        </p:nvSpPr>
        <p:spPr>
          <a:xfrm>
            <a:off x="5969266" y="2454275"/>
            <a:ext cx="2708009" cy="10318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540,617</a:t>
            </a:r>
            <a:endParaRPr lang="en-GB" sz="18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FA14EA1-10A6-456D-B391-E29B42D18F59}"/>
              </a:ext>
            </a:extLst>
          </p:cNvPr>
          <p:cNvSpPr/>
          <p:nvPr/>
        </p:nvSpPr>
        <p:spPr>
          <a:xfrm>
            <a:off x="5969266" y="3917950"/>
            <a:ext cx="2708009" cy="10318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1528,309</a:t>
            </a:r>
            <a:endParaRPr lang="en-GB" sz="18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59E7C5-A99B-40FE-996B-0E19F842331E}"/>
              </a:ext>
            </a:extLst>
          </p:cNvPr>
          <p:cNvSpPr/>
          <p:nvPr/>
        </p:nvSpPr>
        <p:spPr>
          <a:xfrm>
            <a:off x="5473966" y="5381625"/>
            <a:ext cx="3698610" cy="10318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4273,5902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842224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2216815"/>
                  </p:ext>
                </p:extLst>
              </p:nvPr>
            </p:nvGraphicFramePr>
            <p:xfrm>
              <a:off x="480753" y="2337973"/>
              <a:ext cx="5130800" cy="16937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2216815"/>
                  </p:ext>
                </p:extLst>
              </p:nvPr>
            </p:nvGraphicFramePr>
            <p:xfrm>
              <a:off x="480753" y="2337973"/>
              <a:ext cx="5130800" cy="16937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4" t="-143478" r="-300474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4" t="-143478" r="-200474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29" t="-143478" r="-101429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43478" r="-948" b="-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869813-C723-4AFC-8742-95B9415783A0}"/>
              </a:ext>
            </a:extLst>
          </p:cNvPr>
          <p:cNvSpPr txBox="1"/>
          <p:nvPr/>
        </p:nvSpPr>
        <p:spPr>
          <a:xfrm>
            <a:off x="2888534" y="109283"/>
            <a:ext cx="4145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Орундардын мааниси диаграммасы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1370392"/>
                  </p:ext>
                </p:extLst>
              </p:nvPr>
            </p:nvGraphicFramePr>
            <p:xfrm>
              <a:off x="5611553" y="2337973"/>
              <a:ext cx="3848100" cy="16934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1370392"/>
                  </p:ext>
                </p:extLst>
              </p:nvPr>
            </p:nvGraphicFramePr>
            <p:xfrm>
              <a:off x="5611553" y="2337973"/>
              <a:ext cx="3848100" cy="16934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4" t="-143478" r="-200474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952" t="-143478" r="-101429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3478" r="-948" b="-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A76737E-9EF9-49C2-89BB-B3B13B101456}"/>
              </a:ext>
            </a:extLst>
          </p:cNvPr>
          <p:cNvGrpSpPr/>
          <p:nvPr/>
        </p:nvGrpSpPr>
        <p:grpSpPr>
          <a:xfrm>
            <a:off x="3755136" y="1208434"/>
            <a:ext cx="1059872" cy="1726075"/>
            <a:chOff x="3909060" y="1765386"/>
            <a:chExt cx="1059872" cy="1726075"/>
          </a:xfrm>
        </p:grpSpPr>
        <p:sp>
          <p:nvSpPr>
            <p:cNvPr id="9" name="Arc 8">
              <a:extLst>
                <a:ext uri="{FF2B5EF4-FFF2-40B4-BE49-F238E27FC236}">
                  <a16:creationId xmlns:a16="http://schemas.microsoft.com/office/drawing/2014/main" id="{CBB62F94-0A29-4669-B8AD-B0EA296B81BF}"/>
                </a:ext>
              </a:extLst>
            </p:cNvPr>
            <p:cNvSpPr/>
            <p:nvPr/>
          </p:nvSpPr>
          <p:spPr>
            <a:xfrm>
              <a:off x="3909060" y="2125981"/>
              <a:ext cx="1059872" cy="1365480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00FF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D42DD1D-40C1-4314-BB8B-019F86119159}"/>
                </a:ext>
              </a:extLst>
            </p:cNvPr>
            <p:cNvSpPr txBox="1"/>
            <p:nvPr/>
          </p:nvSpPr>
          <p:spPr>
            <a:xfrm>
              <a:off x="4160319" y="1765386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×10</a:t>
              </a:r>
              <a:endParaRPr lang="en-GB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6D5AC87-733D-4801-9444-EC8CC34EE18E}"/>
              </a:ext>
            </a:extLst>
          </p:cNvPr>
          <p:cNvGrpSpPr/>
          <p:nvPr/>
        </p:nvGrpSpPr>
        <p:grpSpPr>
          <a:xfrm>
            <a:off x="2418588" y="1208434"/>
            <a:ext cx="1059872" cy="1726075"/>
            <a:chOff x="3909060" y="1765386"/>
            <a:chExt cx="1059872" cy="1726075"/>
          </a:xfrm>
        </p:grpSpPr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901E1242-F812-494E-AD49-F4D05411A854}"/>
                </a:ext>
              </a:extLst>
            </p:cNvPr>
            <p:cNvSpPr/>
            <p:nvPr/>
          </p:nvSpPr>
          <p:spPr>
            <a:xfrm>
              <a:off x="3909060" y="2125981"/>
              <a:ext cx="1059872" cy="1365480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00FF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20DB10E-C31B-449F-83FC-ACF638E7917F}"/>
                </a:ext>
              </a:extLst>
            </p:cNvPr>
            <p:cNvSpPr txBox="1"/>
            <p:nvPr/>
          </p:nvSpPr>
          <p:spPr>
            <a:xfrm>
              <a:off x="4160319" y="1765386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×10</a:t>
              </a:r>
              <a:endParaRPr lang="en-GB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AC9E9A0-6EEB-4452-AE5B-277B29A5FFF7}"/>
              </a:ext>
            </a:extLst>
          </p:cNvPr>
          <p:cNvGrpSpPr/>
          <p:nvPr/>
        </p:nvGrpSpPr>
        <p:grpSpPr>
          <a:xfrm>
            <a:off x="1082040" y="1208434"/>
            <a:ext cx="1059872" cy="1726075"/>
            <a:chOff x="3909060" y="1765386"/>
            <a:chExt cx="1059872" cy="1726075"/>
          </a:xfrm>
        </p:grpSpPr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205B2349-F6B6-473C-BB65-78AEA76D0A12}"/>
                </a:ext>
              </a:extLst>
            </p:cNvPr>
            <p:cNvSpPr/>
            <p:nvPr/>
          </p:nvSpPr>
          <p:spPr>
            <a:xfrm>
              <a:off x="3909060" y="2125981"/>
              <a:ext cx="1059872" cy="1365480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00FF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C4FBD4-7F32-4615-8BE0-E59EAC372B8D}"/>
                </a:ext>
              </a:extLst>
            </p:cNvPr>
            <p:cNvSpPr txBox="1"/>
            <p:nvPr/>
          </p:nvSpPr>
          <p:spPr>
            <a:xfrm>
              <a:off x="4160319" y="1765386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×10</a:t>
              </a:r>
              <a:endParaRPr lang="en-GB" sz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4D51867-33C0-4072-868B-46C4FAFF8635}"/>
              </a:ext>
            </a:extLst>
          </p:cNvPr>
          <p:cNvGrpSpPr/>
          <p:nvPr/>
        </p:nvGrpSpPr>
        <p:grpSpPr>
          <a:xfrm>
            <a:off x="5091684" y="1208434"/>
            <a:ext cx="3732968" cy="1726075"/>
            <a:chOff x="5091684" y="1765386"/>
            <a:chExt cx="3732968" cy="172607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4637411-A69C-4327-AA5B-B1234878AB71}"/>
                </a:ext>
              </a:extLst>
            </p:cNvPr>
            <p:cNvGrpSpPr/>
            <p:nvPr/>
          </p:nvGrpSpPr>
          <p:grpSpPr>
            <a:xfrm>
              <a:off x="5091684" y="1765386"/>
              <a:ext cx="1059872" cy="1726075"/>
              <a:chOff x="3909060" y="1765386"/>
              <a:chExt cx="1059872" cy="1726075"/>
            </a:xfrm>
          </p:grpSpPr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DE89B6FC-3A1C-4A33-BADB-39AFFE5F2063}"/>
                  </a:ext>
                </a:extLst>
              </p:cNvPr>
              <p:cNvSpPr/>
              <p:nvPr/>
            </p:nvSpPr>
            <p:spPr>
              <a:xfrm>
                <a:off x="3909060" y="2125981"/>
                <a:ext cx="1059872" cy="1365480"/>
              </a:xfrm>
              <a:prstGeom prst="arc">
                <a:avLst>
                  <a:gd name="adj1" fmla="val 10860478"/>
                  <a:gd name="adj2" fmla="val 0"/>
                </a:avLst>
              </a:prstGeom>
              <a:ln w="28575">
                <a:solidFill>
                  <a:srgbClr val="00FF00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C91EE62-D129-4779-A04E-A6DB6DDF12CC}"/>
                  </a:ext>
                </a:extLst>
              </p:cNvPr>
              <p:cNvSpPr txBox="1"/>
              <p:nvPr/>
            </p:nvSpPr>
            <p:spPr>
              <a:xfrm>
                <a:off x="4160319" y="1765386"/>
                <a:ext cx="57259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 dirty="0"/>
                  <a:t>×10</a:t>
                </a:r>
                <a:endParaRPr lang="en-GB" sz="120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80C921E-5501-41BE-A965-7689B260E45D}"/>
                </a:ext>
              </a:extLst>
            </p:cNvPr>
            <p:cNvGrpSpPr/>
            <p:nvPr/>
          </p:nvGrpSpPr>
          <p:grpSpPr>
            <a:xfrm>
              <a:off x="6428232" y="1765386"/>
              <a:ext cx="1059872" cy="1726075"/>
              <a:chOff x="3909060" y="1765386"/>
              <a:chExt cx="1059872" cy="1726075"/>
            </a:xfrm>
          </p:grpSpPr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AF17EDBD-7BAB-437B-A2EC-3AC3EA4BF3A0}"/>
                  </a:ext>
                </a:extLst>
              </p:cNvPr>
              <p:cNvSpPr/>
              <p:nvPr/>
            </p:nvSpPr>
            <p:spPr>
              <a:xfrm>
                <a:off x="3909060" y="2125981"/>
                <a:ext cx="1059872" cy="1365480"/>
              </a:xfrm>
              <a:prstGeom prst="arc">
                <a:avLst>
                  <a:gd name="adj1" fmla="val 10860478"/>
                  <a:gd name="adj2" fmla="val 0"/>
                </a:avLst>
              </a:prstGeom>
              <a:ln w="28575">
                <a:solidFill>
                  <a:srgbClr val="00FF00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0C56-B4B2-4261-8588-61F7CEB99044}"/>
                  </a:ext>
                </a:extLst>
              </p:cNvPr>
              <p:cNvSpPr txBox="1"/>
              <p:nvPr/>
            </p:nvSpPr>
            <p:spPr>
              <a:xfrm>
                <a:off x="4160319" y="1765386"/>
                <a:ext cx="57259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 dirty="0"/>
                  <a:t>×10</a:t>
                </a:r>
                <a:endParaRPr lang="en-GB" sz="1200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669B73A-FAF1-4468-B187-C5C87F2DE6D0}"/>
                </a:ext>
              </a:extLst>
            </p:cNvPr>
            <p:cNvGrpSpPr/>
            <p:nvPr/>
          </p:nvGrpSpPr>
          <p:grpSpPr>
            <a:xfrm>
              <a:off x="7764780" y="1765386"/>
              <a:ext cx="1059872" cy="1726075"/>
              <a:chOff x="3909060" y="1765386"/>
              <a:chExt cx="1059872" cy="1726075"/>
            </a:xfrm>
          </p:grpSpPr>
          <p:sp>
            <p:nvSpPr>
              <p:cNvPr id="32" name="Arc 31">
                <a:extLst>
                  <a:ext uri="{FF2B5EF4-FFF2-40B4-BE49-F238E27FC236}">
                    <a16:creationId xmlns:a16="http://schemas.microsoft.com/office/drawing/2014/main" id="{3336406F-F3DD-41A3-B1DE-9D4718E2F618}"/>
                  </a:ext>
                </a:extLst>
              </p:cNvPr>
              <p:cNvSpPr/>
              <p:nvPr/>
            </p:nvSpPr>
            <p:spPr>
              <a:xfrm>
                <a:off x="3909060" y="2125981"/>
                <a:ext cx="1059872" cy="1365480"/>
              </a:xfrm>
              <a:prstGeom prst="arc">
                <a:avLst>
                  <a:gd name="adj1" fmla="val 10860478"/>
                  <a:gd name="adj2" fmla="val 0"/>
                </a:avLst>
              </a:prstGeom>
              <a:ln w="28575">
                <a:solidFill>
                  <a:srgbClr val="00FF00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5C91D72-ADBB-4CA4-9829-130EFFFA4565}"/>
                  </a:ext>
                </a:extLst>
              </p:cNvPr>
              <p:cNvSpPr txBox="1"/>
              <p:nvPr/>
            </p:nvSpPr>
            <p:spPr>
              <a:xfrm>
                <a:off x="4160319" y="1765386"/>
                <a:ext cx="57259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 dirty="0"/>
                  <a:t>×10</a:t>
                </a:r>
                <a:endParaRPr lang="en-GB" sz="1200" dirty="0"/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59FFAD-461E-42EA-8AD9-0924F4A5BD24}"/>
              </a:ext>
            </a:extLst>
          </p:cNvPr>
          <p:cNvGrpSpPr/>
          <p:nvPr/>
        </p:nvGrpSpPr>
        <p:grpSpPr>
          <a:xfrm>
            <a:off x="1082040" y="3538104"/>
            <a:ext cx="3731496" cy="1728000"/>
            <a:chOff x="1082040" y="4095056"/>
            <a:chExt cx="3731496" cy="1728000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EBE25BFA-5C55-40C0-9A12-932C6CB71FA0}"/>
                </a:ext>
              </a:extLst>
            </p:cNvPr>
            <p:cNvSpPr/>
            <p:nvPr/>
          </p:nvSpPr>
          <p:spPr>
            <a:xfrm flipH="1" flipV="1">
              <a:off x="3755136" y="4095056"/>
              <a:ext cx="1058400" cy="1367003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C05A6D1-03FD-40FE-BADA-0F41B2DC6769}"/>
                </a:ext>
              </a:extLst>
            </p:cNvPr>
            <p:cNvSpPr txBox="1"/>
            <p:nvPr/>
          </p:nvSpPr>
          <p:spPr>
            <a:xfrm rot="10800000" flipH="1" flipV="1">
              <a:off x="3990828" y="5422500"/>
              <a:ext cx="571798" cy="4005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÷10</a:t>
              </a:r>
              <a:endParaRPr lang="en-GB" sz="1200" dirty="0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EF22F5FF-DFD9-433D-AE56-8B19CA8FBD7B}"/>
                </a:ext>
              </a:extLst>
            </p:cNvPr>
            <p:cNvSpPr/>
            <p:nvPr/>
          </p:nvSpPr>
          <p:spPr>
            <a:xfrm flipH="1" flipV="1">
              <a:off x="2418588" y="4095056"/>
              <a:ext cx="1058400" cy="1367003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BA89391-4919-4E63-A22A-6CE5260ACCF6}"/>
                </a:ext>
              </a:extLst>
            </p:cNvPr>
            <p:cNvSpPr txBox="1"/>
            <p:nvPr/>
          </p:nvSpPr>
          <p:spPr>
            <a:xfrm rot="10800000" flipH="1" flipV="1">
              <a:off x="2654280" y="5422500"/>
              <a:ext cx="571798" cy="4005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÷10</a:t>
              </a:r>
              <a:endParaRPr lang="en-GB" sz="1200" dirty="0"/>
            </a:p>
          </p:txBody>
        </p:sp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8166482C-B363-47F1-9AB8-49B3BEB81722}"/>
                </a:ext>
              </a:extLst>
            </p:cNvPr>
            <p:cNvSpPr/>
            <p:nvPr/>
          </p:nvSpPr>
          <p:spPr>
            <a:xfrm flipH="1" flipV="1">
              <a:off x="1082040" y="4095056"/>
              <a:ext cx="1058400" cy="1367003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640E759-43CE-45DB-9B4D-E8572D230384}"/>
                </a:ext>
              </a:extLst>
            </p:cNvPr>
            <p:cNvSpPr txBox="1"/>
            <p:nvPr/>
          </p:nvSpPr>
          <p:spPr>
            <a:xfrm rot="10800000" flipH="1" flipV="1">
              <a:off x="1317334" y="5422723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÷10</a:t>
              </a:r>
              <a:endParaRPr lang="en-GB" sz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771F01-5D29-4EE7-9054-B321B573E731}"/>
              </a:ext>
            </a:extLst>
          </p:cNvPr>
          <p:cNvGrpSpPr/>
          <p:nvPr/>
        </p:nvGrpSpPr>
        <p:grpSpPr>
          <a:xfrm>
            <a:off x="5091684" y="3538104"/>
            <a:ext cx="3731496" cy="1728000"/>
            <a:chOff x="5091684" y="4095056"/>
            <a:chExt cx="3731496" cy="1728000"/>
          </a:xfrm>
        </p:grpSpPr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DB0C1969-72E9-4887-A136-91EE06F637D1}"/>
                </a:ext>
              </a:extLst>
            </p:cNvPr>
            <p:cNvSpPr/>
            <p:nvPr/>
          </p:nvSpPr>
          <p:spPr>
            <a:xfrm flipH="1" flipV="1">
              <a:off x="5091684" y="4095056"/>
              <a:ext cx="1058400" cy="1367003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D1802D7-52CF-4501-90C7-32C5F73ABE75}"/>
                </a:ext>
              </a:extLst>
            </p:cNvPr>
            <p:cNvSpPr txBox="1"/>
            <p:nvPr/>
          </p:nvSpPr>
          <p:spPr>
            <a:xfrm rot="10800000" flipH="1" flipV="1">
              <a:off x="5327376" y="5422500"/>
              <a:ext cx="571798" cy="4005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÷10</a:t>
              </a:r>
              <a:endParaRPr lang="en-GB" sz="1200" dirty="0"/>
            </a:p>
          </p:txBody>
        </p: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47C38E27-CB0C-4AE5-B07A-39D5EDE53E34}"/>
                </a:ext>
              </a:extLst>
            </p:cNvPr>
            <p:cNvSpPr/>
            <p:nvPr/>
          </p:nvSpPr>
          <p:spPr>
            <a:xfrm flipH="1" flipV="1">
              <a:off x="6428232" y="4095056"/>
              <a:ext cx="1058400" cy="1367003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1E150F5-7264-4A4B-BF3E-0BB8B827BAD1}"/>
                </a:ext>
              </a:extLst>
            </p:cNvPr>
            <p:cNvSpPr txBox="1"/>
            <p:nvPr/>
          </p:nvSpPr>
          <p:spPr>
            <a:xfrm rot="10800000" flipH="1" flipV="1">
              <a:off x="6663924" y="5422500"/>
              <a:ext cx="571798" cy="4005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÷10</a:t>
              </a:r>
              <a:endParaRPr lang="en-GB" sz="1200" dirty="0"/>
            </a:p>
          </p:txBody>
        </p:sp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C3BE84E5-BF7E-48C6-A592-4D9DE2C25490}"/>
                </a:ext>
              </a:extLst>
            </p:cNvPr>
            <p:cNvSpPr/>
            <p:nvPr/>
          </p:nvSpPr>
          <p:spPr>
            <a:xfrm flipH="1" flipV="1">
              <a:off x="7764780" y="4095056"/>
              <a:ext cx="1058400" cy="1367003"/>
            </a:xfrm>
            <a:prstGeom prst="arc">
              <a:avLst>
                <a:gd name="adj1" fmla="val 10860478"/>
                <a:gd name="adj2" fmla="val 0"/>
              </a:avLst>
            </a:prstGeom>
            <a:ln w="28575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964692D-5CD1-4773-A41E-404285571761}"/>
                </a:ext>
              </a:extLst>
            </p:cNvPr>
            <p:cNvSpPr txBox="1"/>
            <p:nvPr/>
          </p:nvSpPr>
          <p:spPr>
            <a:xfrm rot="10800000" flipH="1" flipV="1">
              <a:off x="8000472" y="5422500"/>
              <a:ext cx="571798" cy="4005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÷10</a:t>
              </a:r>
              <a:endParaRPr lang="en-GB" sz="12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4253658-E01C-4B6A-9483-FFFE7ECE8DA6}"/>
              </a:ext>
            </a:extLst>
          </p:cNvPr>
          <p:cNvSpPr txBox="1"/>
          <p:nvPr/>
        </p:nvSpPr>
        <p:spPr>
          <a:xfrm>
            <a:off x="6443126" y="5429831"/>
            <a:ext cx="2684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ky-KG" sz="2400" b="1" dirty="0">
                <a:solidFill>
                  <a:srgbClr val="00B0F0"/>
                </a:solidFill>
              </a:rPr>
              <a:t>Ондук сандар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E0563E-D724-46AA-9AF8-3C14D5E3A178}"/>
              </a:ext>
            </a:extLst>
          </p:cNvPr>
          <p:cNvSpPr txBox="1"/>
          <p:nvPr/>
        </p:nvSpPr>
        <p:spPr>
          <a:xfrm>
            <a:off x="1837874" y="500383"/>
            <a:ext cx="2741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400" b="1" dirty="0">
                <a:solidFill>
                  <a:srgbClr val="00B050"/>
                </a:solidFill>
              </a:rPr>
              <a:t>Бүтүн сандар</a:t>
            </a:r>
            <a:endParaRPr lang="en-GB" sz="2400" b="1" dirty="0">
              <a:solidFill>
                <a:srgbClr val="00B05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1711B6-727F-4A48-A435-B9A82E3963F6}"/>
              </a:ext>
            </a:extLst>
          </p:cNvPr>
          <p:cNvSpPr txBox="1"/>
          <p:nvPr/>
        </p:nvSpPr>
        <p:spPr>
          <a:xfrm>
            <a:off x="398877" y="5451909"/>
            <a:ext cx="678910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"Дека" латын тилинен 10 дегенди билдирет.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Ар бир орундун мааниси коңшусунан(оң жагы же сол жагы) </a:t>
            </a:r>
          </a:p>
          <a:p>
            <a:pPr algn="ctr"/>
            <a:r>
              <a:rPr lang="ru-RU" sz="2000" dirty="0"/>
              <a:t>10 эсе чоң же кичине дегенди билдирет.</a:t>
            </a:r>
            <a:endParaRPr lang="en-GB" sz="20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C6CEE2A-D1FC-46A0-8C07-24C57C2010A8}"/>
              </a:ext>
            </a:extLst>
          </p:cNvPr>
          <p:cNvSpPr/>
          <p:nvPr/>
        </p:nvSpPr>
        <p:spPr>
          <a:xfrm>
            <a:off x="5531417" y="3598884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E3F736-C473-4589-9528-D43665529B11}"/>
              </a:ext>
            </a:extLst>
          </p:cNvPr>
          <p:cNvGrpSpPr/>
          <p:nvPr/>
        </p:nvGrpSpPr>
        <p:grpSpPr>
          <a:xfrm>
            <a:off x="7027708" y="325415"/>
            <a:ext cx="1973366" cy="400110"/>
            <a:chOff x="7027708" y="325415"/>
            <a:chExt cx="1973366" cy="40011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D138757-F3EC-4978-B172-D1250F5E8C98}"/>
                </a:ext>
              </a:extLst>
            </p:cNvPr>
            <p:cNvSpPr/>
            <p:nvPr/>
          </p:nvSpPr>
          <p:spPr>
            <a:xfrm>
              <a:off x="7027708" y="445334"/>
              <a:ext cx="160272" cy="160272"/>
            </a:xfrm>
            <a:prstGeom prst="ellipse">
              <a:avLst/>
            </a:prstGeom>
            <a:solidFill>
              <a:schemeClr val="tx1"/>
            </a:solidFill>
            <a:ln w="28575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8407553-269D-437F-8AFE-96FD55A4865E}"/>
                </a:ext>
              </a:extLst>
            </p:cNvPr>
            <p:cNvSpPr txBox="1"/>
            <p:nvPr/>
          </p:nvSpPr>
          <p:spPr>
            <a:xfrm>
              <a:off x="7472001" y="325415"/>
              <a:ext cx="15290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Ондук чекит</a:t>
              </a:r>
              <a:endParaRPr lang="en-GB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7423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4" grpId="0"/>
      <p:bldP spid="5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3351814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3351814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4" t="-143478" r="-3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29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869813-C723-4AFC-8742-95B9415783A0}"/>
              </a:ext>
            </a:extLst>
          </p:cNvPr>
          <p:cNvSpPr txBox="1"/>
          <p:nvPr/>
        </p:nvSpPr>
        <p:spPr>
          <a:xfrm>
            <a:off x="2888534" y="109283"/>
            <a:ext cx="4145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Орундардын мааниси диаграммасы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3275152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3275152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952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B59F2E3-AA13-40E6-A1F7-1439BC0E00AA}"/>
              </a:ext>
            </a:extLst>
          </p:cNvPr>
          <p:cNvSpPr txBox="1"/>
          <p:nvPr/>
        </p:nvSpPr>
        <p:spPr>
          <a:xfrm>
            <a:off x="4512312" y="803396"/>
            <a:ext cx="89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6,3</a:t>
            </a:r>
            <a:endParaRPr lang="en-GB" sz="28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CF5D06C-DF97-4043-859A-58804FD43B6C}"/>
              </a:ext>
            </a:extLst>
          </p:cNvPr>
          <p:cNvSpPr/>
          <p:nvPr/>
        </p:nvSpPr>
        <p:spPr>
          <a:xfrm>
            <a:off x="5531417" y="4191045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9727FE1-0D31-462A-9574-265B9E37997E}"/>
              </a:ext>
            </a:extLst>
          </p:cNvPr>
          <p:cNvSpPr/>
          <p:nvPr/>
        </p:nvSpPr>
        <p:spPr>
          <a:xfrm>
            <a:off x="5531417" y="3348864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568355-98CE-4213-94F0-67525CB889CF}"/>
              </a:ext>
            </a:extLst>
          </p:cNvPr>
          <p:cNvSpPr txBox="1"/>
          <p:nvPr/>
        </p:nvSpPr>
        <p:spPr>
          <a:xfrm>
            <a:off x="3250248" y="5371239"/>
            <a:ext cx="3422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dirty="0"/>
              <a:t>3</a:t>
            </a:r>
            <a:r>
              <a:rPr lang="ky-KG" sz="2000" dirty="0"/>
              <a:t> санынын мааниси кандай?</a:t>
            </a:r>
            <a:endParaRPr lang="en-GB" sz="2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10AAB90-6590-42CF-BDDD-15BC3F73EE91}"/>
              </a:ext>
            </a:extLst>
          </p:cNvPr>
          <p:cNvSpPr/>
          <p:nvPr/>
        </p:nvSpPr>
        <p:spPr>
          <a:xfrm>
            <a:off x="714895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CEB5BB-EE63-41B8-87D6-6E0E6F6E26D3}"/>
              </a:ext>
            </a:extLst>
          </p:cNvPr>
          <p:cNvSpPr/>
          <p:nvPr/>
        </p:nvSpPr>
        <p:spPr>
          <a:xfrm>
            <a:off x="207818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F934F71-2A1B-44E9-BA9F-45A8B3AA68FC}"/>
              </a:ext>
            </a:extLst>
          </p:cNvPr>
          <p:cNvSpPr/>
          <p:nvPr/>
        </p:nvSpPr>
        <p:spPr>
          <a:xfrm>
            <a:off x="326690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3F6AC8-72B6-493E-AF9E-BCA30897227F}"/>
              </a:ext>
            </a:extLst>
          </p:cNvPr>
          <p:cNvSpPr/>
          <p:nvPr/>
        </p:nvSpPr>
        <p:spPr>
          <a:xfrm>
            <a:off x="4505499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CBA21D-CB89-4547-B9E3-DBBE66947243}"/>
              </a:ext>
            </a:extLst>
          </p:cNvPr>
          <p:cNvSpPr/>
          <p:nvPr/>
        </p:nvSpPr>
        <p:spPr>
          <a:xfrm>
            <a:off x="5910350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286ED41-997E-4935-A568-186DCEF83474}"/>
              </a:ext>
            </a:extLst>
          </p:cNvPr>
          <p:cNvSpPr/>
          <p:nvPr/>
        </p:nvSpPr>
        <p:spPr>
          <a:xfrm>
            <a:off x="7090758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D02F31-2D2B-4BAE-B16D-0DF7A3B183A1}"/>
              </a:ext>
            </a:extLst>
          </p:cNvPr>
          <p:cNvSpPr/>
          <p:nvPr/>
        </p:nvSpPr>
        <p:spPr>
          <a:xfrm>
            <a:off x="8321042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81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8096920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8096920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4" t="-143478" r="-3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29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869813-C723-4AFC-8742-95B9415783A0}"/>
              </a:ext>
            </a:extLst>
          </p:cNvPr>
          <p:cNvSpPr txBox="1"/>
          <p:nvPr/>
        </p:nvSpPr>
        <p:spPr>
          <a:xfrm>
            <a:off x="2888534" y="109283"/>
            <a:ext cx="4145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Орундардын мааниси диаграммасы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8484262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8484262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952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B59F2E3-AA13-40E6-A1F7-1439BC0E00AA}"/>
              </a:ext>
            </a:extLst>
          </p:cNvPr>
          <p:cNvSpPr txBox="1"/>
          <p:nvPr/>
        </p:nvSpPr>
        <p:spPr>
          <a:xfrm>
            <a:off x="4226979" y="803396"/>
            <a:ext cx="14686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45,82</a:t>
            </a:r>
            <a:endParaRPr lang="en-GB" sz="28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CF5D06C-DF97-4043-859A-58804FD43B6C}"/>
              </a:ext>
            </a:extLst>
          </p:cNvPr>
          <p:cNvSpPr/>
          <p:nvPr/>
        </p:nvSpPr>
        <p:spPr>
          <a:xfrm>
            <a:off x="5531417" y="4191045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9727FE1-0D31-462A-9574-265B9E37997E}"/>
              </a:ext>
            </a:extLst>
          </p:cNvPr>
          <p:cNvSpPr/>
          <p:nvPr/>
        </p:nvSpPr>
        <p:spPr>
          <a:xfrm>
            <a:off x="5531417" y="3348864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568355-98CE-4213-94F0-67525CB889CF}"/>
              </a:ext>
            </a:extLst>
          </p:cNvPr>
          <p:cNvSpPr txBox="1"/>
          <p:nvPr/>
        </p:nvSpPr>
        <p:spPr>
          <a:xfrm>
            <a:off x="3232614" y="5371239"/>
            <a:ext cx="3457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dirty="0"/>
              <a:t>2</a:t>
            </a:r>
            <a:r>
              <a:rPr lang="ky-KG" sz="2800" dirty="0"/>
              <a:t> </a:t>
            </a:r>
            <a:r>
              <a:rPr lang="ky-KG" sz="2000" dirty="0"/>
              <a:t>санынын мааниси кандай?</a:t>
            </a:r>
            <a:endParaRPr lang="en-GB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FE6243-7657-4070-B571-F8C9346B61D8}"/>
              </a:ext>
            </a:extLst>
          </p:cNvPr>
          <p:cNvSpPr/>
          <p:nvPr/>
        </p:nvSpPr>
        <p:spPr>
          <a:xfrm>
            <a:off x="714895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3F5510-E0F7-4EF8-AF55-A9BAAF47612C}"/>
              </a:ext>
            </a:extLst>
          </p:cNvPr>
          <p:cNvSpPr/>
          <p:nvPr/>
        </p:nvSpPr>
        <p:spPr>
          <a:xfrm>
            <a:off x="207818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79EDF6-0741-40A8-8A71-472A3E398CEA}"/>
              </a:ext>
            </a:extLst>
          </p:cNvPr>
          <p:cNvSpPr/>
          <p:nvPr/>
        </p:nvSpPr>
        <p:spPr>
          <a:xfrm>
            <a:off x="326690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653B7B-78FA-4AED-9943-2BC2C6C875E1}"/>
              </a:ext>
            </a:extLst>
          </p:cNvPr>
          <p:cNvSpPr/>
          <p:nvPr/>
        </p:nvSpPr>
        <p:spPr>
          <a:xfrm>
            <a:off x="4505499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9C1792-C2F6-4B3F-B07E-B0A2D858825F}"/>
              </a:ext>
            </a:extLst>
          </p:cNvPr>
          <p:cNvSpPr/>
          <p:nvPr/>
        </p:nvSpPr>
        <p:spPr>
          <a:xfrm>
            <a:off x="5910350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B78C27-BBFF-4949-9E93-75A2FD279384}"/>
              </a:ext>
            </a:extLst>
          </p:cNvPr>
          <p:cNvSpPr/>
          <p:nvPr/>
        </p:nvSpPr>
        <p:spPr>
          <a:xfrm>
            <a:off x="7090758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92997A-01D0-410D-AF77-3308837556CD}"/>
              </a:ext>
            </a:extLst>
          </p:cNvPr>
          <p:cNvSpPr/>
          <p:nvPr/>
        </p:nvSpPr>
        <p:spPr>
          <a:xfrm>
            <a:off x="8321042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56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574172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574172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4" t="-143478" r="-3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29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869813-C723-4AFC-8742-95B9415783A0}"/>
              </a:ext>
            </a:extLst>
          </p:cNvPr>
          <p:cNvSpPr txBox="1"/>
          <p:nvPr/>
        </p:nvSpPr>
        <p:spPr>
          <a:xfrm>
            <a:off x="2888534" y="109283"/>
            <a:ext cx="4145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Орундардын мааниси диаграммасы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8820106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8820106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952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B59F2E3-AA13-40E6-A1F7-1439BC0E00AA}"/>
              </a:ext>
            </a:extLst>
          </p:cNvPr>
          <p:cNvSpPr txBox="1"/>
          <p:nvPr/>
        </p:nvSpPr>
        <p:spPr>
          <a:xfrm>
            <a:off x="4084313" y="803396"/>
            <a:ext cx="17540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5002,9</a:t>
            </a:r>
            <a:endParaRPr lang="en-GB" sz="28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CF5D06C-DF97-4043-859A-58804FD43B6C}"/>
              </a:ext>
            </a:extLst>
          </p:cNvPr>
          <p:cNvSpPr/>
          <p:nvPr/>
        </p:nvSpPr>
        <p:spPr>
          <a:xfrm>
            <a:off x="5531417" y="4191045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9727FE1-0D31-462A-9574-265B9E37997E}"/>
              </a:ext>
            </a:extLst>
          </p:cNvPr>
          <p:cNvSpPr/>
          <p:nvPr/>
        </p:nvSpPr>
        <p:spPr>
          <a:xfrm>
            <a:off x="5531417" y="3348864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568355-98CE-4213-94F0-67525CB889CF}"/>
              </a:ext>
            </a:extLst>
          </p:cNvPr>
          <p:cNvSpPr txBox="1"/>
          <p:nvPr/>
        </p:nvSpPr>
        <p:spPr>
          <a:xfrm>
            <a:off x="3263073" y="5371239"/>
            <a:ext cx="3396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9</a:t>
            </a:r>
            <a:r>
              <a:rPr lang="ky-KG" sz="2000" dirty="0"/>
              <a:t> санынын мааниси кандай?</a:t>
            </a:r>
            <a:endParaRPr lang="en-GB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B9DE31-C0A3-432A-9161-A103EDED27E8}"/>
              </a:ext>
            </a:extLst>
          </p:cNvPr>
          <p:cNvSpPr/>
          <p:nvPr/>
        </p:nvSpPr>
        <p:spPr>
          <a:xfrm>
            <a:off x="714895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2E713C-4279-4327-8635-3741311ABE20}"/>
              </a:ext>
            </a:extLst>
          </p:cNvPr>
          <p:cNvSpPr/>
          <p:nvPr/>
        </p:nvSpPr>
        <p:spPr>
          <a:xfrm>
            <a:off x="207818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E5959-E717-4E44-8218-9D5C565CD77F}"/>
              </a:ext>
            </a:extLst>
          </p:cNvPr>
          <p:cNvSpPr/>
          <p:nvPr/>
        </p:nvSpPr>
        <p:spPr>
          <a:xfrm>
            <a:off x="326690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6F9BB4-768C-45C7-8D38-6B2271ACE094}"/>
              </a:ext>
            </a:extLst>
          </p:cNvPr>
          <p:cNvSpPr/>
          <p:nvPr/>
        </p:nvSpPr>
        <p:spPr>
          <a:xfrm>
            <a:off x="4505499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283DBC-18B5-4D0F-B455-4A715BE1B85E}"/>
              </a:ext>
            </a:extLst>
          </p:cNvPr>
          <p:cNvSpPr/>
          <p:nvPr/>
        </p:nvSpPr>
        <p:spPr>
          <a:xfrm>
            <a:off x="5910350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FE1B37-0C3B-451E-AC91-BE4C39BA7F47}"/>
              </a:ext>
            </a:extLst>
          </p:cNvPr>
          <p:cNvSpPr/>
          <p:nvPr/>
        </p:nvSpPr>
        <p:spPr>
          <a:xfrm>
            <a:off x="7090758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FB66F3-5D75-4B80-AFBE-ED31ADCF9D46}"/>
              </a:ext>
            </a:extLst>
          </p:cNvPr>
          <p:cNvSpPr/>
          <p:nvPr/>
        </p:nvSpPr>
        <p:spPr>
          <a:xfrm>
            <a:off x="8321042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64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8567703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8567703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4" t="-143478" r="-3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29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869813-C723-4AFC-8742-95B9415783A0}"/>
              </a:ext>
            </a:extLst>
          </p:cNvPr>
          <p:cNvSpPr txBox="1"/>
          <p:nvPr/>
        </p:nvSpPr>
        <p:spPr>
          <a:xfrm>
            <a:off x="2888534" y="109283"/>
            <a:ext cx="4145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Орундардын мааниси диаграммасы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8696135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8696135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952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B59F2E3-AA13-40E6-A1F7-1439BC0E00AA}"/>
              </a:ext>
            </a:extLst>
          </p:cNvPr>
          <p:cNvSpPr txBox="1"/>
          <p:nvPr/>
        </p:nvSpPr>
        <p:spPr>
          <a:xfrm>
            <a:off x="4226979" y="803396"/>
            <a:ext cx="14686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6,591</a:t>
            </a:r>
            <a:endParaRPr lang="en-GB" sz="28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CF5D06C-DF97-4043-859A-58804FD43B6C}"/>
              </a:ext>
            </a:extLst>
          </p:cNvPr>
          <p:cNvSpPr/>
          <p:nvPr/>
        </p:nvSpPr>
        <p:spPr>
          <a:xfrm>
            <a:off x="5531417" y="4191045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9727FE1-0D31-462A-9574-265B9E37997E}"/>
              </a:ext>
            </a:extLst>
          </p:cNvPr>
          <p:cNvSpPr/>
          <p:nvPr/>
        </p:nvSpPr>
        <p:spPr>
          <a:xfrm>
            <a:off x="5531417" y="3348864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568355-98CE-4213-94F0-67525CB889CF}"/>
              </a:ext>
            </a:extLst>
          </p:cNvPr>
          <p:cNvSpPr txBox="1"/>
          <p:nvPr/>
        </p:nvSpPr>
        <p:spPr>
          <a:xfrm>
            <a:off x="3263074" y="5371239"/>
            <a:ext cx="3396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1</a:t>
            </a:r>
            <a:r>
              <a:rPr lang="ky-KG" sz="2000" dirty="0"/>
              <a:t> санынын мааниси кандай?</a:t>
            </a:r>
            <a:endParaRPr lang="en-GB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A09620-9F03-4126-B9B9-D859760972DC}"/>
              </a:ext>
            </a:extLst>
          </p:cNvPr>
          <p:cNvSpPr/>
          <p:nvPr/>
        </p:nvSpPr>
        <p:spPr>
          <a:xfrm>
            <a:off x="714895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3633AB-696D-4263-BA09-10C1857E243F}"/>
              </a:ext>
            </a:extLst>
          </p:cNvPr>
          <p:cNvSpPr/>
          <p:nvPr/>
        </p:nvSpPr>
        <p:spPr>
          <a:xfrm>
            <a:off x="207818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91082F-E11D-403D-89AC-92D52955CD4A}"/>
              </a:ext>
            </a:extLst>
          </p:cNvPr>
          <p:cNvSpPr/>
          <p:nvPr/>
        </p:nvSpPr>
        <p:spPr>
          <a:xfrm>
            <a:off x="326690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DDDF4-3A0D-4B7E-871C-F9EC7ED99C50}"/>
              </a:ext>
            </a:extLst>
          </p:cNvPr>
          <p:cNvSpPr/>
          <p:nvPr/>
        </p:nvSpPr>
        <p:spPr>
          <a:xfrm>
            <a:off x="4505499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64F19B-5327-4583-90BA-5AC7A2C68F02}"/>
              </a:ext>
            </a:extLst>
          </p:cNvPr>
          <p:cNvSpPr/>
          <p:nvPr/>
        </p:nvSpPr>
        <p:spPr>
          <a:xfrm>
            <a:off x="5910350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E69624-6DC8-4545-B1B0-E8159E6C534A}"/>
              </a:ext>
            </a:extLst>
          </p:cNvPr>
          <p:cNvSpPr/>
          <p:nvPr/>
        </p:nvSpPr>
        <p:spPr>
          <a:xfrm>
            <a:off x="7090758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45508B-AB23-4B3A-A5C0-71ED9985638A}"/>
              </a:ext>
            </a:extLst>
          </p:cNvPr>
          <p:cNvSpPr/>
          <p:nvPr/>
        </p:nvSpPr>
        <p:spPr>
          <a:xfrm>
            <a:off x="8321042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97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7331379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7331379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4" t="-143478" r="-3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29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869813-C723-4AFC-8742-95B9415783A0}"/>
              </a:ext>
            </a:extLst>
          </p:cNvPr>
          <p:cNvSpPr txBox="1"/>
          <p:nvPr/>
        </p:nvSpPr>
        <p:spPr>
          <a:xfrm>
            <a:off x="2888534" y="109283"/>
            <a:ext cx="4145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Орундардын мааниси диаграммасы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7782807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7782807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952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B59F2E3-AA13-40E6-A1F7-1439BC0E00AA}"/>
              </a:ext>
            </a:extLst>
          </p:cNvPr>
          <p:cNvSpPr txBox="1"/>
          <p:nvPr/>
        </p:nvSpPr>
        <p:spPr>
          <a:xfrm>
            <a:off x="4084313" y="803396"/>
            <a:ext cx="17540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27,042</a:t>
            </a:r>
            <a:endParaRPr lang="en-GB" sz="28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CF5D06C-DF97-4043-859A-58804FD43B6C}"/>
              </a:ext>
            </a:extLst>
          </p:cNvPr>
          <p:cNvSpPr/>
          <p:nvPr/>
        </p:nvSpPr>
        <p:spPr>
          <a:xfrm>
            <a:off x="5531417" y="4191045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9727FE1-0D31-462A-9574-265B9E37997E}"/>
              </a:ext>
            </a:extLst>
          </p:cNvPr>
          <p:cNvSpPr/>
          <p:nvPr/>
        </p:nvSpPr>
        <p:spPr>
          <a:xfrm>
            <a:off x="5531417" y="3348864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568355-98CE-4213-94F0-67525CB889CF}"/>
              </a:ext>
            </a:extLst>
          </p:cNvPr>
          <p:cNvSpPr txBox="1"/>
          <p:nvPr/>
        </p:nvSpPr>
        <p:spPr>
          <a:xfrm>
            <a:off x="3263072" y="5371239"/>
            <a:ext cx="3396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4</a:t>
            </a:r>
            <a:r>
              <a:rPr lang="ky-KG" sz="2000" dirty="0"/>
              <a:t> санынын мааниси кандай?</a:t>
            </a:r>
            <a:endParaRPr lang="en-GB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954E3F-2A21-490E-BD59-4FA47BDFCEDB}"/>
              </a:ext>
            </a:extLst>
          </p:cNvPr>
          <p:cNvSpPr/>
          <p:nvPr/>
        </p:nvSpPr>
        <p:spPr>
          <a:xfrm>
            <a:off x="714895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92E0BF-E3F0-4A50-BF2F-AA240AB22D6E}"/>
              </a:ext>
            </a:extLst>
          </p:cNvPr>
          <p:cNvSpPr/>
          <p:nvPr/>
        </p:nvSpPr>
        <p:spPr>
          <a:xfrm>
            <a:off x="207818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BE10EE-F9B6-407B-968C-C7A7AE1F32CA}"/>
              </a:ext>
            </a:extLst>
          </p:cNvPr>
          <p:cNvSpPr/>
          <p:nvPr/>
        </p:nvSpPr>
        <p:spPr>
          <a:xfrm>
            <a:off x="326690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9284FA-B1D3-49EC-A752-DCD1020E95C8}"/>
              </a:ext>
            </a:extLst>
          </p:cNvPr>
          <p:cNvSpPr/>
          <p:nvPr/>
        </p:nvSpPr>
        <p:spPr>
          <a:xfrm>
            <a:off x="4505499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200FCB-2962-4213-834F-6C8AD8F3FA0B}"/>
              </a:ext>
            </a:extLst>
          </p:cNvPr>
          <p:cNvSpPr/>
          <p:nvPr/>
        </p:nvSpPr>
        <p:spPr>
          <a:xfrm>
            <a:off x="5910350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4E92B9-B4D8-4E69-952D-535C8A7C6DDF}"/>
              </a:ext>
            </a:extLst>
          </p:cNvPr>
          <p:cNvSpPr/>
          <p:nvPr/>
        </p:nvSpPr>
        <p:spPr>
          <a:xfrm>
            <a:off x="7090758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39DD71-25B3-44A1-A0EA-E1E4379671E1}"/>
              </a:ext>
            </a:extLst>
          </p:cNvPr>
          <p:cNvSpPr/>
          <p:nvPr/>
        </p:nvSpPr>
        <p:spPr>
          <a:xfrm>
            <a:off x="8321042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74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8809334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75D18CD-FB3E-4BAF-96A5-67F77AE30A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8809334"/>
                  </p:ext>
                </p:extLst>
              </p:nvPr>
            </p:nvGraphicFramePr>
            <p:xfrm>
              <a:off x="480753" y="2084706"/>
              <a:ext cx="5130800" cy="2688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6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4" t="-143478" r="-3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29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869813-C723-4AFC-8742-95B9415783A0}"/>
              </a:ext>
            </a:extLst>
          </p:cNvPr>
          <p:cNvSpPr txBox="1"/>
          <p:nvPr/>
        </p:nvSpPr>
        <p:spPr>
          <a:xfrm>
            <a:off x="2888534" y="109283"/>
            <a:ext cx="4145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Орундардын мааниси диаграммасы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7982002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CB1C4CA-60D0-41A7-B176-51042F9F7B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7982002"/>
                  </p:ext>
                </p:extLst>
              </p:nvPr>
            </p:nvGraphicFramePr>
            <p:xfrm>
              <a:off x="5611553" y="2084706"/>
              <a:ext cx="3848100" cy="26885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2700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8270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698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4" t="-143478" r="-200474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952" t="-143478" r="-101429" b="-15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43478" r="-948" b="-15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9950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497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B59F2E3-AA13-40E6-A1F7-1439BC0E00AA}"/>
              </a:ext>
            </a:extLst>
          </p:cNvPr>
          <p:cNvSpPr txBox="1"/>
          <p:nvPr/>
        </p:nvSpPr>
        <p:spPr>
          <a:xfrm>
            <a:off x="3798978" y="803396"/>
            <a:ext cx="23246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2560,507</a:t>
            </a:r>
            <a:endParaRPr lang="en-GB" sz="28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CF5D06C-DF97-4043-859A-58804FD43B6C}"/>
              </a:ext>
            </a:extLst>
          </p:cNvPr>
          <p:cNvSpPr/>
          <p:nvPr/>
        </p:nvSpPr>
        <p:spPr>
          <a:xfrm>
            <a:off x="5531417" y="4191045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9727FE1-0D31-462A-9574-265B9E37997E}"/>
              </a:ext>
            </a:extLst>
          </p:cNvPr>
          <p:cNvSpPr/>
          <p:nvPr/>
        </p:nvSpPr>
        <p:spPr>
          <a:xfrm>
            <a:off x="5531417" y="3348864"/>
            <a:ext cx="160272" cy="160272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568355-98CE-4213-94F0-67525CB889CF}"/>
              </a:ext>
            </a:extLst>
          </p:cNvPr>
          <p:cNvSpPr txBox="1"/>
          <p:nvPr/>
        </p:nvSpPr>
        <p:spPr>
          <a:xfrm>
            <a:off x="3263072" y="5371239"/>
            <a:ext cx="3396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7</a:t>
            </a:r>
            <a:r>
              <a:rPr lang="ky-KG" sz="2000" dirty="0"/>
              <a:t> санынын мааниси кандай?</a:t>
            </a:r>
            <a:endParaRPr lang="en-GB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DAF3C7-258C-49E1-B024-55E83A5A6433}"/>
              </a:ext>
            </a:extLst>
          </p:cNvPr>
          <p:cNvSpPr/>
          <p:nvPr/>
        </p:nvSpPr>
        <p:spPr>
          <a:xfrm>
            <a:off x="714895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AF4045-7059-4B95-8296-9E77C468C3D4}"/>
              </a:ext>
            </a:extLst>
          </p:cNvPr>
          <p:cNvSpPr/>
          <p:nvPr/>
        </p:nvSpPr>
        <p:spPr>
          <a:xfrm>
            <a:off x="207818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C8EF4F-6B8F-47E7-98A6-C25D4A00F136}"/>
              </a:ext>
            </a:extLst>
          </p:cNvPr>
          <p:cNvSpPr/>
          <p:nvPr/>
        </p:nvSpPr>
        <p:spPr>
          <a:xfrm>
            <a:off x="3266903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E99351-DD9E-4227-B452-0AED417916AA}"/>
              </a:ext>
            </a:extLst>
          </p:cNvPr>
          <p:cNvSpPr/>
          <p:nvPr/>
        </p:nvSpPr>
        <p:spPr>
          <a:xfrm>
            <a:off x="4505499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13FAFF-5907-4165-8EBD-A01E60FADF81}"/>
              </a:ext>
            </a:extLst>
          </p:cNvPr>
          <p:cNvSpPr/>
          <p:nvPr/>
        </p:nvSpPr>
        <p:spPr>
          <a:xfrm>
            <a:off x="5910350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D6A688-6D44-4D85-8F66-1BFA4C413A7B}"/>
              </a:ext>
            </a:extLst>
          </p:cNvPr>
          <p:cNvSpPr/>
          <p:nvPr/>
        </p:nvSpPr>
        <p:spPr>
          <a:xfrm>
            <a:off x="7090758" y="3906981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81D81-33C7-46FC-9F39-A600472A84DF}"/>
              </a:ext>
            </a:extLst>
          </p:cNvPr>
          <p:cNvSpPr/>
          <p:nvPr/>
        </p:nvSpPr>
        <p:spPr>
          <a:xfrm>
            <a:off x="8427038" y="3950048"/>
            <a:ext cx="798021" cy="748146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387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8676763"/>
                  </p:ext>
                </p:extLst>
              </p:nvPr>
            </p:nvGraphicFramePr>
            <p:xfrm>
              <a:off x="76201" y="76201"/>
              <a:ext cx="4190998" cy="67341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871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2963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71686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8585931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6443551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2229164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565867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617907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6295850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1981753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4523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8676763"/>
                  </p:ext>
                </p:extLst>
              </p:nvPr>
            </p:nvGraphicFramePr>
            <p:xfrm>
              <a:off x="76201" y="76201"/>
              <a:ext cx="4190998" cy="67341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871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2963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7168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" t="-181356" r="-605102" b="-65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81356" r="-498990" b="-65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41" t="-181356" r="-404082" b="-65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041" t="-181356" r="-304082" b="-65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041" t="-181356" r="-204082" b="-65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6970" t="-181356" r="-102020" b="-65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3061" t="-181356" r="-3061" b="-658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8585931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6443551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2229164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565867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617907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6295850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1981753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4523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2421505" y="1689133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2421505" y="228206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2421505" y="275390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60C002-5B98-4986-B34E-6177C7FB7300}"/>
              </a:ext>
            </a:extLst>
          </p:cNvPr>
          <p:cNvSpPr txBox="1"/>
          <p:nvPr/>
        </p:nvSpPr>
        <p:spPr>
          <a:xfrm>
            <a:off x="4835335" y="5865074"/>
            <a:ext cx="43556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сандагы 4түн маанисин окуп бер.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Ар бир санды туура окуп бере аласызбы?</a:t>
            </a:r>
            <a:endParaRPr lang="en-GB" sz="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1D709-1E74-496E-82F6-943973D3B2EF}"/>
              </a:ext>
            </a:extLst>
          </p:cNvPr>
          <p:cNvSpPr txBox="1"/>
          <p:nvPr/>
        </p:nvSpPr>
        <p:spPr>
          <a:xfrm>
            <a:off x="4885782" y="201510"/>
            <a:ext cx="4362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сандарды орундардын мааниси </a:t>
            </a:r>
          </a:p>
          <a:p>
            <a:pPr algn="ctr"/>
            <a:r>
              <a:rPr lang="ru-RU" dirty="0"/>
              <a:t>диаграммасына  жайгаштырыңыз.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C2AE9A-5B75-476A-A00C-15B79028036A}"/>
              </a:ext>
            </a:extLst>
          </p:cNvPr>
          <p:cNvSpPr txBox="1"/>
          <p:nvPr/>
        </p:nvSpPr>
        <p:spPr>
          <a:xfrm>
            <a:off x="5190355" y="792060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B31806-90C1-4AF8-848E-AB82A3EEF16B}"/>
              </a:ext>
            </a:extLst>
          </p:cNvPr>
          <p:cNvSpPr txBox="1"/>
          <p:nvPr/>
        </p:nvSpPr>
        <p:spPr>
          <a:xfrm>
            <a:off x="7962710" y="101113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21,4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39C451-94C2-4603-B295-48896FE840C7}"/>
              </a:ext>
            </a:extLst>
          </p:cNvPr>
          <p:cNvSpPr txBox="1"/>
          <p:nvPr/>
        </p:nvSpPr>
        <p:spPr>
          <a:xfrm>
            <a:off x="6144015" y="1544535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347,1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9E67CA-01C7-43F0-85B1-16A1E93D3D2F}"/>
              </a:ext>
            </a:extLst>
          </p:cNvPr>
          <p:cNvSpPr txBox="1"/>
          <p:nvPr/>
        </p:nvSpPr>
        <p:spPr>
          <a:xfrm>
            <a:off x="8238936" y="215413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6,84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0B9F0E-A346-49B5-8475-DFF9A9CA4580}"/>
              </a:ext>
            </a:extLst>
          </p:cNvPr>
          <p:cNvSpPr txBox="1"/>
          <p:nvPr/>
        </p:nvSpPr>
        <p:spPr>
          <a:xfrm>
            <a:off x="4781941" y="2716110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97,03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FF8F6C-8957-4655-AC06-DE2138862F64}"/>
              </a:ext>
            </a:extLst>
          </p:cNvPr>
          <p:cNvSpPr txBox="1"/>
          <p:nvPr/>
        </p:nvSpPr>
        <p:spPr>
          <a:xfrm>
            <a:off x="6686943" y="2973285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3,164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B064A5-7875-42C8-A501-024A95FA1A50}"/>
              </a:ext>
            </a:extLst>
          </p:cNvPr>
          <p:cNvSpPr txBox="1"/>
          <p:nvPr/>
        </p:nvSpPr>
        <p:spPr>
          <a:xfrm>
            <a:off x="7992449" y="3525735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28,647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5665A-C66C-42B1-AE90-C2E38886301D}"/>
              </a:ext>
            </a:extLst>
          </p:cNvPr>
          <p:cNvSpPr txBox="1"/>
          <p:nvPr/>
        </p:nvSpPr>
        <p:spPr>
          <a:xfrm>
            <a:off x="5134949" y="3925785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4111,8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21DC4B-E239-4AC8-B802-7D32471C6958}"/>
              </a:ext>
            </a:extLst>
          </p:cNvPr>
          <p:cNvSpPr txBox="1"/>
          <p:nvPr/>
        </p:nvSpPr>
        <p:spPr>
          <a:xfrm>
            <a:off x="7612030" y="4554435"/>
            <a:ext cx="15392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6513,41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EADB0C-F396-482A-9F11-1ACFD099AF22}"/>
              </a:ext>
            </a:extLst>
          </p:cNvPr>
          <p:cNvSpPr txBox="1"/>
          <p:nvPr/>
        </p:nvSpPr>
        <p:spPr>
          <a:xfrm>
            <a:off x="5431965" y="5097360"/>
            <a:ext cx="1955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8021,0594</a:t>
            </a:r>
          </a:p>
        </p:txBody>
      </p:sp>
    </p:spTree>
    <p:extLst>
      <p:ext uri="{BB962C8B-B14F-4D97-AF65-F5344CB8AC3E}">
        <p14:creationId xmlns:p14="http://schemas.microsoft.com/office/powerpoint/2010/main" val="3588028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6170130"/>
                  </p:ext>
                </p:extLst>
              </p:nvPr>
            </p:nvGraphicFramePr>
            <p:xfrm>
              <a:off x="76201" y="76201"/>
              <a:ext cx="4190998" cy="67341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871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2963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71686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8585931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6443551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2229164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565867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617907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6295850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1981753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4523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6170130"/>
                  </p:ext>
                </p:extLst>
              </p:nvPr>
            </p:nvGraphicFramePr>
            <p:xfrm>
              <a:off x="76201" y="76201"/>
              <a:ext cx="4190998" cy="67341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871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2963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Жүздүк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7168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" t="-181356" r="-605102" b="-6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81356" r="-498990" b="-6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41" t="-181356" r="-404082" b="-6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041" t="-181356" r="-304082" b="-6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041" t="-181356" r="-204082" b="-6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6970" t="-181356" r="-102020" b="-6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3061" t="-181356" r="-3061" b="-674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8585931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6443551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2229164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565867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617907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6295850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1981753"/>
                      </a:ext>
                    </a:extLst>
                  </a:tr>
                  <a:tr h="4720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4523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2421505" y="1689133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2421505" y="228206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2421505" y="275390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CACFCEA-BAF1-46B1-B9FE-225F16DDB889}"/>
              </a:ext>
            </a:extLst>
          </p:cNvPr>
          <p:cNvSpPr/>
          <p:nvPr/>
        </p:nvSpPr>
        <p:spPr>
          <a:xfrm>
            <a:off x="2421505" y="3225743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4346E8-CBC3-4195-B09F-C11804A9F6BE}"/>
              </a:ext>
            </a:extLst>
          </p:cNvPr>
          <p:cNvSpPr/>
          <p:nvPr/>
        </p:nvSpPr>
        <p:spPr>
          <a:xfrm>
            <a:off x="2421505" y="3697582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4443576-F255-4CD5-83EB-736F8FA8B57C}"/>
              </a:ext>
            </a:extLst>
          </p:cNvPr>
          <p:cNvSpPr/>
          <p:nvPr/>
        </p:nvSpPr>
        <p:spPr>
          <a:xfrm>
            <a:off x="2421505" y="4169421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A4D7DAB-0368-47A4-9283-83136AA5B030}"/>
              </a:ext>
            </a:extLst>
          </p:cNvPr>
          <p:cNvSpPr/>
          <p:nvPr/>
        </p:nvSpPr>
        <p:spPr>
          <a:xfrm>
            <a:off x="2421505" y="4641260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E332F4-B0A3-4FC0-821E-648CB6BA8DD5}"/>
              </a:ext>
            </a:extLst>
          </p:cNvPr>
          <p:cNvSpPr/>
          <p:nvPr/>
        </p:nvSpPr>
        <p:spPr>
          <a:xfrm>
            <a:off x="2421505" y="5113099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57E0A5D-EA6D-4474-AE0D-B1785E5770A3}"/>
              </a:ext>
            </a:extLst>
          </p:cNvPr>
          <p:cNvSpPr/>
          <p:nvPr/>
        </p:nvSpPr>
        <p:spPr>
          <a:xfrm>
            <a:off x="2421505" y="5584938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1768D02-6089-424E-9786-52AAF970EC62}"/>
              </a:ext>
            </a:extLst>
          </p:cNvPr>
          <p:cNvSpPr/>
          <p:nvPr/>
        </p:nvSpPr>
        <p:spPr>
          <a:xfrm>
            <a:off x="2421505" y="6056777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5F5E11-7407-4C83-99AA-CC162390F1C4}"/>
              </a:ext>
            </a:extLst>
          </p:cNvPr>
          <p:cNvSpPr/>
          <p:nvPr/>
        </p:nvSpPr>
        <p:spPr>
          <a:xfrm>
            <a:off x="2421505" y="6528613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60C002-5B98-4986-B34E-6177C7FB7300}"/>
              </a:ext>
            </a:extLst>
          </p:cNvPr>
          <p:cNvSpPr txBox="1"/>
          <p:nvPr/>
        </p:nvSpPr>
        <p:spPr>
          <a:xfrm>
            <a:off x="5120163" y="5942505"/>
            <a:ext cx="43556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сандагы 4түн маанисин окуп бер.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Ар бир санды туура окуп бере аласызбы?</a:t>
            </a:r>
            <a:endParaRPr lang="en-GB" sz="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1D709-1E74-496E-82F6-943973D3B2EF}"/>
              </a:ext>
            </a:extLst>
          </p:cNvPr>
          <p:cNvSpPr txBox="1"/>
          <p:nvPr/>
        </p:nvSpPr>
        <p:spPr>
          <a:xfrm>
            <a:off x="4885772" y="138585"/>
            <a:ext cx="4362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сандарды орундардын мааниси </a:t>
            </a:r>
          </a:p>
          <a:p>
            <a:pPr algn="ctr"/>
            <a:r>
              <a:rPr lang="ru-RU" dirty="0"/>
              <a:t>диаграммасына  жайгаштырыңыз.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C2AE9A-5B75-476A-A00C-15B79028036A}"/>
              </a:ext>
            </a:extLst>
          </p:cNvPr>
          <p:cNvSpPr txBox="1"/>
          <p:nvPr/>
        </p:nvSpPr>
        <p:spPr>
          <a:xfrm>
            <a:off x="5190355" y="792060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B31806-90C1-4AF8-848E-AB82A3EEF16B}"/>
              </a:ext>
            </a:extLst>
          </p:cNvPr>
          <p:cNvSpPr txBox="1"/>
          <p:nvPr/>
        </p:nvSpPr>
        <p:spPr>
          <a:xfrm>
            <a:off x="7962710" y="101113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21,4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39C451-94C2-4603-B295-48896FE840C7}"/>
              </a:ext>
            </a:extLst>
          </p:cNvPr>
          <p:cNvSpPr txBox="1"/>
          <p:nvPr/>
        </p:nvSpPr>
        <p:spPr>
          <a:xfrm>
            <a:off x="6144015" y="1544535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347,1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9E67CA-01C7-43F0-85B1-16A1E93D3D2F}"/>
              </a:ext>
            </a:extLst>
          </p:cNvPr>
          <p:cNvSpPr txBox="1"/>
          <p:nvPr/>
        </p:nvSpPr>
        <p:spPr>
          <a:xfrm>
            <a:off x="8238936" y="215413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6,84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0B9F0E-A346-49B5-8475-DFF9A9CA4580}"/>
              </a:ext>
            </a:extLst>
          </p:cNvPr>
          <p:cNvSpPr txBox="1"/>
          <p:nvPr/>
        </p:nvSpPr>
        <p:spPr>
          <a:xfrm>
            <a:off x="4781941" y="2716110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97,03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FF8F6C-8957-4655-AC06-DE2138862F64}"/>
              </a:ext>
            </a:extLst>
          </p:cNvPr>
          <p:cNvSpPr txBox="1"/>
          <p:nvPr/>
        </p:nvSpPr>
        <p:spPr>
          <a:xfrm>
            <a:off x="6686943" y="2973285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3,164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B064A5-7875-42C8-A501-024A95FA1A50}"/>
              </a:ext>
            </a:extLst>
          </p:cNvPr>
          <p:cNvSpPr txBox="1"/>
          <p:nvPr/>
        </p:nvSpPr>
        <p:spPr>
          <a:xfrm>
            <a:off x="7992449" y="3525735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28,647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5665A-C66C-42B1-AE90-C2E38886301D}"/>
              </a:ext>
            </a:extLst>
          </p:cNvPr>
          <p:cNvSpPr txBox="1"/>
          <p:nvPr/>
        </p:nvSpPr>
        <p:spPr>
          <a:xfrm>
            <a:off x="5134949" y="3925785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4111,8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21DC4B-E239-4AC8-B802-7D32471C6958}"/>
              </a:ext>
            </a:extLst>
          </p:cNvPr>
          <p:cNvSpPr txBox="1"/>
          <p:nvPr/>
        </p:nvSpPr>
        <p:spPr>
          <a:xfrm>
            <a:off x="7612030" y="4554435"/>
            <a:ext cx="15392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6513,41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7EC9D7-C340-4CBB-87E0-70550098E038}"/>
              </a:ext>
            </a:extLst>
          </p:cNvPr>
          <p:cNvSpPr txBox="1"/>
          <p:nvPr/>
        </p:nvSpPr>
        <p:spPr>
          <a:xfrm>
            <a:off x="4449299" y="638323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EADB0C-F396-482A-9F11-1ACFD099AF22}"/>
              </a:ext>
            </a:extLst>
          </p:cNvPr>
          <p:cNvSpPr txBox="1"/>
          <p:nvPr/>
        </p:nvSpPr>
        <p:spPr>
          <a:xfrm>
            <a:off x="5431965" y="5097360"/>
            <a:ext cx="1955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8021,0594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612A226-26EB-46C4-B0A6-490AE35E2F3D}"/>
              </a:ext>
            </a:extLst>
          </p:cNvPr>
          <p:cNvSpPr/>
          <p:nvPr/>
        </p:nvSpPr>
        <p:spPr>
          <a:xfrm>
            <a:off x="4272611" y="6257267"/>
            <a:ext cx="670864" cy="670864"/>
          </a:xfrm>
          <a:prstGeom prst="ellips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3A4030-B863-4BCC-914A-6D59E829FA2C}"/>
              </a:ext>
            </a:extLst>
          </p:cNvPr>
          <p:cNvSpPr txBox="1"/>
          <p:nvPr/>
        </p:nvSpPr>
        <p:spPr>
          <a:xfrm>
            <a:off x="4313632" y="5670954"/>
            <a:ext cx="1783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он миңден  төрт</a:t>
            </a:r>
            <a:endParaRPr lang="en-GB" sz="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2315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9B6DF9-642D-2995-D49A-995CDE4D4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4734560" cy="33217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542B86-8F05-897D-88CF-BFBC2E37E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8099"/>
            <a:ext cx="4734560" cy="33217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C628C6-A0C9-534F-575F-A27BFF7E4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8186"/>
            <a:ext cx="4734560" cy="33217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D8B34A-D7C1-CAD2-6A32-B972ADC1C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98185"/>
            <a:ext cx="4734560" cy="332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223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1133339" y="2558935"/>
            <a:ext cx="76560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0,71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4321961" y="3255011"/>
                <a:ext cx="1262076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1961" y="3255011"/>
                <a:ext cx="1262076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3904797" y="4742373"/>
                <a:ext cx="2113079" cy="113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797" y="4742373"/>
                <a:ext cx="2113079" cy="1133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62BF634-5725-428F-82A9-A537D9BFBC84}"/>
              </a:ext>
            </a:extLst>
          </p:cNvPr>
          <p:cNvSpPr txBox="1"/>
          <p:nvPr/>
        </p:nvSpPr>
        <p:spPr>
          <a:xfrm>
            <a:off x="6932135" y="711851"/>
            <a:ext cx="30561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Берилген ондуктун, бөлүүчү </a:t>
            </a:r>
          </a:p>
          <a:p>
            <a:pPr algn="ctr"/>
            <a:r>
              <a:rPr lang="ky-KG" dirty="0">
                <a:solidFill>
                  <a:srgbClr val="FF0000"/>
                </a:solidFill>
              </a:rPr>
              <a:t>саны 10 санынын </a:t>
            </a:r>
          </a:p>
          <a:p>
            <a:pPr algn="ctr"/>
            <a:r>
              <a:rPr lang="ky-KG" dirty="0">
                <a:solidFill>
                  <a:srgbClr val="FF0000"/>
                </a:solidFill>
              </a:rPr>
              <a:t>көбөйтүндүлөрү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5B7379E-C95F-4B63-89E5-93D0BC77052B}"/>
              </a:ext>
            </a:extLst>
          </p:cNvPr>
          <p:cNvSpPr/>
          <p:nvPr/>
        </p:nvSpPr>
        <p:spPr>
          <a:xfrm>
            <a:off x="6438900" y="1695449"/>
            <a:ext cx="2371725" cy="742950"/>
          </a:xfrm>
          <a:custGeom>
            <a:avLst/>
            <a:gdLst>
              <a:gd name="connsiteX0" fmla="*/ 0 w 981075"/>
              <a:gd name="connsiteY0" fmla="*/ 742950 h 742950"/>
              <a:gd name="connsiteX1" fmla="*/ 981075 w 981075"/>
              <a:gd name="connsiteY1" fmla="*/ 0 h 742950"/>
              <a:gd name="connsiteX0" fmla="*/ 0 w 2276475"/>
              <a:gd name="connsiteY0" fmla="*/ 752475 h 752475"/>
              <a:gd name="connsiteX1" fmla="*/ 2276475 w 2276475"/>
              <a:gd name="connsiteY1" fmla="*/ 0 h 752475"/>
              <a:gd name="connsiteX0" fmla="*/ 0 w 2276475"/>
              <a:gd name="connsiteY0" fmla="*/ 752475 h 752475"/>
              <a:gd name="connsiteX1" fmla="*/ 2276475 w 2276475"/>
              <a:gd name="connsiteY1" fmla="*/ 0 h 752475"/>
              <a:gd name="connsiteX0" fmla="*/ 0 w 2276475"/>
              <a:gd name="connsiteY0" fmla="*/ 752475 h 752475"/>
              <a:gd name="connsiteX1" fmla="*/ 2276475 w 2276475"/>
              <a:gd name="connsiteY1" fmla="*/ 0 h 752475"/>
              <a:gd name="connsiteX0" fmla="*/ 0 w 2371725"/>
              <a:gd name="connsiteY0" fmla="*/ 742950 h 742950"/>
              <a:gd name="connsiteX1" fmla="*/ 2371725 w 2371725"/>
              <a:gd name="connsiteY1" fmla="*/ 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71725" h="742950">
                <a:moveTo>
                  <a:pt x="0" y="742950"/>
                </a:moveTo>
                <a:cubicBezTo>
                  <a:pt x="393700" y="-114300"/>
                  <a:pt x="2139950" y="981075"/>
                  <a:pt x="2371725" y="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24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7" grpId="0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1162192" y="2558935"/>
            <a:ext cx="7598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0,821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3883443" y="3255011"/>
                <a:ext cx="2139112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443" y="3255011"/>
                <a:ext cx="2139112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3120128" y="4742373"/>
                <a:ext cx="3682418" cy="113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128" y="4742373"/>
                <a:ext cx="3682418" cy="1133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873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83667" y="2558935"/>
            <a:ext cx="97553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бүтүн сандын </a:t>
            </a:r>
            <a:r>
              <a:rPr lang="ky-KG" sz="2000" dirty="0"/>
              <a:t>жана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  <a:p>
            <a:pPr algn="ctr"/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2,8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4463955" y="3255011"/>
                <a:ext cx="978088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955" y="3255011"/>
                <a:ext cx="978088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4159674" y="4742373"/>
                <a:ext cx="1603324" cy="113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9674" y="4742373"/>
                <a:ext cx="1603324" cy="1133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83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42499" y="2558935"/>
            <a:ext cx="9837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бүтүн сандын </a:t>
            </a:r>
            <a:r>
              <a:rPr lang="ky-KG" sz="2000" dirty="0"/>
              <a:t>жана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3,15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4096772" y="3255011"/>
                <a:ext cx="1712455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772" y="3255011"/>
                <a:ext cx="1712455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3502443" y="4742373"/>
                <a:ext cx="2917786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443" y="4742373"/>
                <a:ext cx="2917786" cy="11443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13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42499" y="2558935"/>
            <a:ext cx="9837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бүтүн сандын </a:t>
            </a:r>
            <a:r>
              <a:rPr lang="ky-KG" sz="2000" dirty="0"/>
              <a:t>жана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2,513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2717774" y="4742373"/>
                <a:ext cx="4487126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774" y="4742373"/>
                <a:ext cx="4487126" cy="11443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041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42499" y="2558935"/>
            <a:ext cx="9837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бүтүн сандын </a:t>
            </a:r>
            <a:r>
              <a:rPr lang="ky-KG" sz="2000" dirty="0"/>
              <a:t>жана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7,258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2717774" y="4742373"/>
                <a:ext cx="4487126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7+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774" y="4742373"/>
                <a:ext cx="4487126" cy="11443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058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42499" y="2558935"/>
            <a:ext cx="9837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бүтүн сандын </a:t>
            </a:r>
            <a:r>
              <a:rPr lang="ky-KG" sz="2000" dirty="0"/>
              <a:t>жана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6,08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4392621" y="3255011"/>
                <a:ext cx="1120755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2621" y="3255011"/>
                <a:ext cx="1120755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4032235" y="4742373"/>
                <a:ext cx="1858201" cy="113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235" y="4742373"/>
                <a:ext cx="1858201" cy="1133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679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42499" y="2558935"/>
            <a:ext cx="9837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бүтүн сандын </a:t>
            </a:r>
            <a:r>
              <a:rPr lang="ky-KG" sz="2000" dirty="0"/>
              <a:t>жана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5,009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3904797" y="4742373"/>
                <a:ext cx="2113078" cy="113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797" y="4742373"/>
                <a:ext cx="2113078" cy="1133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8655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42499" y="2558935"/>
            <a:ext cx="9837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бүтүн сандын </a:t>
            </a:r>
            <a:r>
              <a:rPr lang="ky-KG" sz="2000" dirty="0"/>
              <a:t>жана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2,103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3375005" y="4742373"/>
                <a:ext cx="3172663" cy="113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005" y="4742373"/>
                <a:ext cx="3172663" cy="1133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6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8BC0-F196-41A9-A428-2971663FEDA9}"/>
              </a:ext>
            </a:extLst>
          </p:cNvPr>
          <p:cNvSpPr txBox="1"/>
          <p:nvPr/>
        </p:nvSpPr>
        <p:spPr>
          <a:xfrm>
            <a:off x="42499" y="2558935"/>
            <a:ext cx="9837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  <a:r>
              <a:rPr lang="ky-KG" sz="2000" b="1" dirty="0"/>
              <a:t>бүтүн сандын </a:t>
            </a:r>
            <a:r>
              <a:rPr lang="ky-KG" sz="2000" dirty="0"/>
              <a:t>жана </a:t>
            </a:r>
            <a:r>
              <a:rPr lang="ky-KG" sz="2000" b="1" dirty="0"/>
              <a:t>бөлчөктөрдүн</a:t>
            </a:r>
            <a:r>
              <a:rPr lang="ky-KG" sz="2000" dirty="0"/>
              <a:t> жардамы менен сүрөттөп бергиле.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259AE4-BCCF-469B-8A07-F4E9DC82C163}"/>
              </a:ext>
            </a:extLst>
          </p:cNvPr>
          <p:cNvSpPr/>
          <p:nvPr/>
        </p:nvSpPr>
        <p:spPr>
          <a:xfrm>
            <a:off x="3521341" y="641738"/>
            <a:ext cx="2879992" cy="136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4800" dirty="0"/>
              <a:t>7,0107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/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A78DD9-EE15-4BB5-8126-DF0A796E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254" y="3255011"/>
                <a:ext cx="2589491" cy="697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/>
              <p:nvPr/>
            </p:nvSpPr>
            <p:spPr>
              <a:xfrm>
                <a:off x="3120127" y="4742373"/>
                <a:ext cx="3682418" cy="113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7+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8B8FC-EEC6-4C92-BA0B-43D4697F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127" y="4742373"/>
                <a:ext cx="3682418" cy="1133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362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50EF73-2688-40FF-9D13-613E34F454A7}"/>
              </a:ext>
            </a:extLst>
          </p:cNvPr>
          <p:cNvCxnSpPr>
            <a:cxnSpLocks/>
          </p:cNvCxnSpPr>
          <p:nvPr/>
        </p:nvCxnSpPr>
        <p:spPr>
          <a:xfrm flipH="1">
            <a:off x="255510" y="2298700"/>
            <a:ext cx="9394980" cy="0"/>
          </a:xfrm>
          <a:prstGeom prst="line">
            <a:avLst/>
          </a:prstGeom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1240C53-68AD-4545-A32F-3C3075F818A5}"/>
              </a:ext>
            </a:extLst>
          </p:cNvPr>
          <p:cNvSpPr txBox="1"/>
          <p:nvPr/>
        </p:nvSpPr>
        <p:spPr>
          <a:xfrm>
            <a:off x="67096" y="-6609"/>
            <a:ext cx="6922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800" dirty="0"/>
              <a:t>Берилген ондукту </a:t>
            </a:r>
            <a:r>
              <a:rPr lang="ky-KG" sz="1800" b="1" dirty="0"/>
              <a:t>бөлчөктөрдүн</a:t>
            </a:r>
            <a:r>
              <a:rPr lang="ky-KG" sz="1800" dirty="0"/>
              <a:t> жардамы менен көрсөтүп бергиле.</a:t>
            </a:r>
            <a:endParaRPr lang="en-GB" sz="1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B5A831-49D6-4819-9B35-A0F88B9A9BEE}"/>
              </a:ext>
            </a:extLst>
          </p:cNvPr>
          <p:cNvCxnSpPr>
            <a:cxnSpLocks/>
          </p:cNvCxnSpPr>
          <p:nvPr/>
        </p:nvCxnSpPr>
        <p:spPr>
          <a:xfrm flipH="1">
            <a:off x="255510" y="4587875"/>
            <a:ext cx="9394980" cy="0"/>
          </a:xfrm>
          <a:prstGeom prst="line">
            <a:avLst/>
          </a:prstGeom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5153E4F-DBE8-4F04-AF95-142729EA1DF2}"/>
              </a:ext>
            </a:extLst>
          </p:cNvPr>
          <p:cNvSpPr txBox="1"/>
          <p:nvPr/>
        </p:nvSpPr>
        <p:spPr>
          <a:xfrm>
            <a:off x="506202" y="67298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0,35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ADC30B-CB52-4DDF-9C22-B0A376EA0127}"/>
                  </a:ext>
                </a:extLst>
              </p:cNvPr>
              <p:cNvSpPr txBox="1"/>
              <p:nvPr/>
            </p:nvSpPr>
            <p:spPr>
              <a:xfrm>
                <a:off x="440574" y="1360998"/>
                <a:ext cx="1045286" cy="5599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ADC30B-CB52-4DDF-9C22-B0A376EA0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74" y="1360998"/>
                <a:ext cx="1045286" cy="5599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D216C2C3-4D65-4E46-BE27-F5F44CC280F1}"/>
              </a:ext>
            </a:extLst>
          </p:cNvPr>
          <p:cNvSpPr txBox="1"/>
          <p:nvPr/>
        </p:nvSpPr>
        <p:spPr>
          <a:xfrm>
            <a:off x="59966" y="2330335"/>
            <a:ext cx="4966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dirty="0"/>
              <a:t>Берилген</a:t>
            </a:r>
            <a:r>
              <a:rPr lang="ky-KG" dirty="0"/>
              <a:t> суммаларды ондуктар түрүндө көрсөт.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BED7ED-1E47-4C4E-ABFF-34A9542AD3E1}"/>
              </a:ext>
            </a:extLst>
          </p:cNvPr>
          <p:cNvSpPr txBox="1"/>
          <p:nvPr/>
        </p:nvSpPr>
        <p:spPr>
          <a:xfrm>
            <a:off x="59966" y="4616335"/>
            <a:ext cx="6534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0" i="0" u="none" strike="noStrike" baseline="0" dirty="0">
                <a:solidFill>
                  <a:srgbClr val="000000"/>
                </a:solidFill>
              </a:rPr>
              <a:t>Окулушуна карап ондук бөлчөктөрдү цифралар менен жазгыла: 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EB0100-A338-4ABB-B72B-34C03B935D69}"/>
              </a:ext>
            </a:extLst>
          </p:cNvPr>
          <p:cNvSpPr txBox="1"/>
          <p:nvPr/>
        </p:nvSpPr>
        <p:spPr>
          <a:xfrm>
            <a:off x="2504071" y="67298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2,06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2662759-ABBC-4410-A440-44A77F2D24EC}"/>
                  </a:ext>
                </a:extLst>
              </p:cNvPr>
              <p:cNvSpPr txBox="1"/>
              <p:nvPr/>
            </p:nvSpPr>
            <p:spPr>
              <a:xfrm>
                <a:off x="2495349" y="1360998"/>
                <a:ext cx="931473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2662759-ABBC-4410-A440-44A77F2D2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349" y="1360998"/>
                <a:ext cx="931473" cy="554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F8841C4-2F5F-46D5-9DB5-70BDEB54FA29}"/>
              </a:ext>
            </a:extLst>
          </p:cNvPr>
          <p:cNvSpPr txBox="1"/>
          <p:nvPr/>
        </p:nvSpPr>
        <p:spPr>
          <a:xfrm>
            <a:off x="4397745" y="672985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0,172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4BC59BE-3F0C-4624-8FF0-8DE29259E833}"/>
                  </a:ext>
                </a:extLst>
              </p:cNvPr>
              <p:cNvSpPr txBox="1"/>
              <p:nvPr/>
            </p:nvSpPr>
            <p:spPr>
              <a:xfrm>
                <a:off x="4086152" y="1360998"/>
                <a:ext cx="1745606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4BC59BE-3F0C-4624-8FF0-8DE29259E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152" y="1360998"/>
                <a:ext cx="1745606" cy="554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A4D17065-9AB4-4456-B3E9-ABF78ECAA339}"/>
              </a:ext>
            </a:extLst>
          </p:cNvPr>
          <p:cNvSpPr txBox="1"/>
          <p:nvPr/>
        </p:nvSpPr>
        <p:spPr>
          <a:xfrm>
            <a:off x="6395614" y="672985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4,045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8FBB2AB-904B-4213-A615-754B2D6FECF3}"/>
                  </a:ext>
                </a:extLst>
              </p:cNvPr>
              <p:cNvSpPr txBox="1"/>
              <p:nvPr/>
            </p:nvSpPr>
            <p:spPr>
              <a:xfrm>
                <a:off x="6140928" y="1360998"/>
                <a:ext cx="1631792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8FBB2AB-904B-4213-A615-754B2D6FE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928" y="1360998"/>
                <a:ext cx="1631792" cy="5549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4101CAE3-99B7-4EBA-A99C-8768CB36C869}"/>
              </a:ext>
            </a:extLst>
          </p:cNvPr>
          <p:cNvSpPr txBox="1"/>
          <p:nvPr/>
        </p:nvSpPr>
        <p:spPr>
          <a:xfrm>
            <a:off x="8393482" y="672985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7,308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5395E5D-EBA0-461E-A09A-5BE7DB3575DB}"/>
                  </a:ext>
                </a:extLst>
              </p:cNvPr>
              <p:cNvSpPr txBox="1"/>
              <p:nvPr/>
            </p:nvSpPr>
            <p:spPr>
              <a:xfrm>
                <a:off x="8195702" y="1360998"/>
                <a:ext cx="1517980" cy="5761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7+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5395E5D-EBA0-461E-A09A-5BE7DB357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5702" y="1360998"/>
                <a:ext cx="1517980" cy="5761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A87D8013-EA85-4D6E-A2F1-F9EA61CAB74C}"/>
              </a:ext>
            </a:extLst>
          </p:cNvPr>
          <p:cNvSpPr txBox="1"/>
          <p:nvPr/>
        </p:nvSpPr>
        <p:spPr>
          <a:xfrm>
            <a:off x="353802" y="3788916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0,29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E32C45B-16A0-4BDE-842D-E7D77C5295AF}"/>
                  </a:ext>
                </a:extLst>
              </p:cNvPr>
              <p:cNvSpPr txBox="1"/>
              <p:nvPr/>
            </p:nvSpPr>
            <p:spPr>
              <a:xfrm>
                <a:off x="179779" y="2932623"/>
                <a:ext cx="1262077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E32C45B-16A0-4BDE-842D-E7D77C529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79" y="2932623"/>
                <a:ext cx="1262077" cy="6705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38DCAF4F-DCFE-4E92-B643-2D213B171BEC}"/>
              </a:ext>
            </a:extLst>
          </p:cNvPr>
          <p:cNvSpPr txBox="1"/>
          <p:nvPr/>
        </p:nvSpPr>
        <p:spPr>
          <a:xfrm>
            <a:off x="1908639" y="3788916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5,07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D3D8057-5BD6-4D1E-A2FC-04BEE1AA9628}"/>
                  </a:ext>
                </a:extLst>
              </p:cNvPr>
              <p:cNvSpPr txBox="1"/>
              <p:nvPr/>
            </p:nvSpPr>
            <p:spPr>
              <a:xfrm>
                <a:off x="1805950" y="2932623"/>
                <a:ext cx="1119409" cy="668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D3D8057-5BD6-4D1E-A2FC-04BEE1AA9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950" y="2932623"/>
                <a:ext cx="1119409" cy="6685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59322E97-6A4B-4CE5-9CDB-150292A42F3E}"/>
              </a:ext>
            </a:extLst>
          </p:cNvPr>
          <p:cNvSpPr txBox="1"/>
          <p:nvPr/>
        </p:nvSpPr>
        <p:spPr>
          <a:xfrm>
            <a:off x="3797798" y="3788916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0,529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86BFC3F-9839-4EC1-A26F-9EB4595B2C0F}"/>
                  </a:ext>
                </a:extLst>
              </p:cNvPr>
              <p:cNvSpPr txBox="1"/>
              <p:nvPr/>
            </p:nvSpPr>
            <p:spPr>
              <a:xfrm>
                <a:off x="3289453" y="2932623"/>
                <a:ext cx="2139112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86BFC3F-9839-4EC1-A26F-9EB4595B2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453" y="2932623"/>
                <a:ext cx="2139112" cy="6705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TextBox 90">
            <a:extLst>
              <a:ext uri="{FF2B5EF4-FFF2-40B4-BE49-F238E27FC236}">
                <a16:creationId xmlns:a16="http://schemas.microsoft.com/office/drawing/2014/main" id="{45D48454-D7C9-46FC-9D8E-0DB463A0F606}"/>
              </a:ext>
            </a:extLst>
          </p:cNvPr>
          <p:cNvSpPr txBox="1"/>
          <p:nvPr/>
        </p:nvSpPr>
        <p:spPr>
          <a:xfrm>
            <a:off x="8212507" y="3788916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1,347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D8C6C6C-7D1D-457D-80DD-EB4862E2CBC8}"/>
                  </a:ext>
                </a:extLst>
              </p:cNvPr>
              <p:cNvSpPr txBox="1"/>
              <p:nvPr/>
            </p:nvSpPr>
            <p:spPr>
              <a:xfrm>
                <a:off x="7704162" y="2932623"/>
                <a:ext cx="2139112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D8C6C6C-7D1D-457D-80DD-EB4862E2C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162" y="2932623"/>
                <a:ext cx="2139112" cy="6705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02AA66DC-6390-46AB-B910-90313C27C954}"/>
              </a:ext>
            </a:extLst>
          </p:cNvPr>
          <p:cNvSpPr txBox="1"/>
          <p:nvPr/>
        </p:nvSpPr>
        <p:spPr>
          <a:xfrm>
            <a:off x="860066" y="5178310"/>
            <a:ext cx="241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ky-KG" dirty="0"/>
              <a:t>Беш</a:t>
            </a:r>
            <a:r>
              <a:rPr lang="ky-KG" sz="1800" b="0" i="0" u="none" strike="noStrike" baseline="0" dirty="0"/>
              <a:t> бүтүн ондон </a:t>
            </a:r>
            <a:r>
              <a:rPr lang="ky-KG" dirty="0"/>
              <a:t>уч</a:t>
            </a:r>
            <a:r>
              <a:rPr lang="ky-KG" sz="1800" b="0" i="0" u="none" strike="noStrike" baseline="0" dirty="0"/>
              <a:t> </a:t>
            </a:r>
            <a:endParaRPr lang="en-GB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F7F7484-39F6-4FB8-BAF9-561E3AA43FF3}"/>
              </a:ext>
            </a:extLst>
          </p:cNvPr>
          <p:cNvSpPr txBox="1"/>
          <p:nvPr/>
        </p:nvSpPr>
        <p:spPr>
          <a:xfrm>
            <a:off x="6005153" y="3788916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0,063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0F0C580-CAEC-4E4E-818F-5A7F943E83F0}"/>
                  </a:ext>
                </a:extLst>
              </p:cNvPr>
              <p:cNvSpPr txBox="1"/>
              <p:nvPr/>
            </p:nvSpPr>
            <p:spPr>
              <a:xfrm>
                <a:off x="5792659" y="2932623"/>
                <a:ext cx="1547410" cy="697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0F0C580-CAEC-4E4E-818F-5A7F943E8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659" y="2932623"/>
                <a:ext cx="1547410" cy="69711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TextBox 114">
            <a:extLst>
              <a:ext uri="{FF2B5EF4-FFF2-40B4-BE49-F238E27FC236}">
                <a16:creationId xmlns:a16="http://schemas.microsoft.com/office/drawing/2014/main" id="{0DAB94EE-C578-41E8-B223-AFE5553498A4}"/>
              </a:ext>
            </a:extLst>
          </p:cNvPr>
          <p:cNvSpPr txBox="1"/>
          <p:nvPr/>
        </p:nvSpPr>
        <p:spPr>
          <a:xfrm>
            <a:off x="3175608" y="5050026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5,3</a:t>
            </a:r>
            <a:endParaRPr lang="en-GB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E8F069E-D2D3-4B74-AA0C-60D06DD3A00B}"/>
              </a:ext>
            </a:extLst>
          </p:cNvPr>
          <p:cNvSpPr txBox="1"/>
          <p:nvPr/>
        </p:nvSpPr>
        <p:spPr>
          <a:xfrm>
            <a:off x="860066" y="5733523"/>
            <a:ext cx="2447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ky-KG" sz="1800" b="0" i="0" u="none" strike="noStrike" baseline="0" dirty="0"/>
              <a:t> Эки бүтүн жүздөн 4 </a:t>
            </a:r>
            <a:endParaRPr lang="en-GB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6137BEF-DA22-4BF4-9CD0-6432D4594471}"/>
              </a:ext>
            </a:extLst>
          </p:cNvPr>
          <p:cNvSpPr txBox="1"/>
          <p:nvPr/>
        </p:nvSpPr>
        <p:spPr>
          <a:xfrm>
            <a:off x="3471462" y="5632956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2,04</a:t>
            </a:r>
            <a:endParaRPr lang="en-GB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997395F-6F59-4DA4-985F-90567EA92323}"/>
              </a:ext>
            </a:extLst>
          </p:cNvPr>
          <p:cNvSpPr txBox="1"/>
          <p:nvPr/>
        </p:nvSpPr>
        <p:spPr>
          <a:xfrm>
            <a:off x="901805" y="6288736"/>
            <a:ext cx="2279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ky-KG" dirty="0"/>
              <a:t>Бир</a:t>
            </a:r>
            <a:r>
              <a:rPr lang="ky-KG" sz="1800" b="0" i="0" u="none" strike="noStrike" baseline="0" dirty="0"/>
              <a:t> бүтүн ондон 2 </a:t>
            </a:r>
            <a:endParaRPr lang="en-GB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FD96BF3-FC9E-4DAB-B771-F46CE9430A91}"/>
              </a:ext>
            </a:extLst>
          </p:cNvPr>
          <p:cNvSpPr txBox="1"/>
          <p:nvPr/>
        </p:nvSpPr>
        <p:spPr>
          <a:xfrm>
            <a:off x="3241432" y="6185015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1,2</a:t>
            </a:r>
            <a:endParaRPr lang="en-GB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0A1C418-5785-43DC-B94D-7EE536414542}"/>
              </a:ext>
            </a:extLst>
          </p:cNvPr>
          <p:cNvSpPr txBox="1"/>
          <p:nvPr/>
        </p:nvSpPr>
        <p:spPr>
          <a:xfrm>
            <a:off x="5117741" y="5178310"/>
            <a:ext cx="25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ky-KG" dirty="0"/>
              <a:t>Үч</a:t>
            </a:r>
            <a:r>
              <a:rPr lang="ky-KG" sz="1800" b="0" i="0" u="none" strike="noStrike" baseline="0" dirty="0"/>
              <a:t> бүтүн миңден алты</a:t>
            </a:r>
            <a:endParaRPr lang="en-GB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C67D95A-C1F0-4DD7-8CB9-91D7403E6B60}"/>
              </a:ext>
            </a:extLst>
          </p:cNvPr>
          <p:cNvSpPr txBox="1"/>
          <p:nvPr/>
        </p:nvSpPr>
        <p:spPr>
          <a:xfrm>
            <a:off x="7779248" y="5042406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3,006</a:t>
            </a:r>
            <a:endParaRPr lang="en-GB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B3F07B6-621A-48CB-8ACD-4C6F8EE30DBD}"/>
              </a:ext>
            </a:extLst>
          </p:cNvPr>
          <p:cNvSpPr txBox="1"/>
          <p:nvPr/>
        </p:nvSpPr>
        <p:spPr>
          <a:xfrm>
            <a:off x="5117741" y="5745048"/>
            <a:ext cx="3871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ky-KG" dirty="0"/>
              <a:t>Жети</a:t>
            </a:r>
            <a:r>
              <a:rPr lang="ky-KG" sz="1800" b="0" i="0" u="none" strike="noStrike" baseline="0" dirty="0"/>
              <a:t> бүтүн жүздөн жыйырма алты</a:t>
            </a:r>
            <a:endParaRPr lang="en-GB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311DBD9-72EC-459E-AB9E-50B483E0F467}"/>
              </a:ext>
            </a:extLst>
          </p:cNvPr>
          <p:cNvSpPr txBox="1"/>
          <p:nvPr/>
        </p:nvSpPr>
        <p:spPr>
          <a:xfrm>
            <a:off x="8896305" y="563480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7,26</a:t>
            </a:r>
            <a:endParaRPr lang="en-GB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F4FFF84-1865-40B6-BFCC-4134D3E86328}"/>
              </a:ext>
            </a:extLst>
          </p:cNvPr>
          <p:cNvSpPr txBox="1"/>
          <p:nvPr/>
        </p:nvSpPr>
        <p:spPr>
          <a:xfrm>
            <a:off x="5117741" y="6311785"/>
            <a:ext cx="2997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ky-KG" dirty="0"/>
              <a:t>Эки</a:t>
            </a:r>
            <a:r>
              <a:rPr lang="ky-KG" sz="1800" b="0" i="0" u="none" strike="noStrike" baseline="0" dirty="0"/>
              <a:t> бүтүн миллиондон үч </a:t>
            </a:r>
            <a:endParaRPr lang="en-GB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376DD27-DAB9-42EA-8AEE-21F331667C0D}"/>
              </a:ext>
            </a:extLst>
          </p:cNvPr>
          <p:cNvSpPr txBox="1"/>
          <p:nvPr/>
        </p:nvSpPr>
        <p:spPr>
          <a:xfrm>
            <a:off x="8022508" y="6190730"/>
            <a:ext cx="17475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200" dirty="0"/>
              <a:t>2,000003</a:t>
            </a:r>
            <a:endParaRPr lang="en-GB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4D96988-44B3-44CE-A429-D353E8AC944E}"/>
              </a:ext>
            </a:extLst>
          </p:cNvPr>
          <p:cNvSpPr/>
          <p:nvPr/>
        </p:nvSpPr>
        <p:spPr>
          <a:xfrm>
            <a:off x="509587" y="1344736"/>
            <a:ext cx="302419" cy="302419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769B5DC-FA26-4F9B-B4FB-3C72F5A19A8C}"/>
              </a:ext>
            </a:extLst>
          </p:cNvPr>
          <p:cNvSpPr/>
          <p:nvPr/>
        </p:nvSpPr>
        <p:spPr>
          <a:xfrm>
            <a:off x="1081087" y="1344736"/>
            <a:ext cx="302419" cy="302419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616E6B2-4482-4197-8CA8-01789D442D80}"/>
              </a:ext>
            </a:extLst>
          </p:cNvPr>
          <p:cNvSpPr/>
          <p:nvPr/>
        </p:nvSpPr>
        <p:spPr>
          <a:xfrm>
            <a:off x="3000375" y="1325686"/>
            <a:ext cx="302419" cy="302419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712D618-1F4B-4394-BDA4-C384E01DE525}"/>
              </a:ext>
            </a:extLst>
          </p:cNvPr>
          <p:cNvSpPr/>
          <p:nvPr/>
        </p:nvSpPr>
        <p:spPr>
          <a:xfrm>
            <a:off x="2081213" y="1716211"/>
            <a:ext cx="452437" cy="302419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E78CE54-AE53-46CC-8DDF-A33BA1FC36DF}"/>
              </a:ext>
            </a:extLst>
          </p:cNvPr>
          <p:cNvSpPr/>
          <p:nvPr/>
        </p:nvSpPr>
        <p:spPr>
          <a:xfrm>
            <a:off x="2971800" y="1697161"/>
            <a:ext cx="357188" cy="302419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1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4" grpId="0"/>
      <p:bldP spid="67" grpId="0"/>
      <p:bldP spid="69" grpId="0"/>
      <p:bldP spid="85" grpId="0"/>
      <p:bldP spid="88" grpId="0"/>
      <p:bldP spid="91" grpId="0"/>
      <p:bldP spid="113" grpId="0"/>
      <p:bldP spid="115" grpId="0"/>
      <p:bldP spid="117" grpId="0"/>
      <p:bldP spid="119" grpId="0"/>
      <p:bldP spid="121" grpId="0"/>
      <p:bldP spid="123" grpId="0"/>
      <p:bldP spid="125" grpId="0"/>
      <p:bldP spid="126" grpId="0" animBg="1"/>
      <p:bldP spid="127" grpId="0" animBg="1"/>
      <p:bldP spid="128" grpId="0" animBg="1"/>
      <p:bldP spid="13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8575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10715</TotalTime>
  <Words>1158</Words>
  <Application>Microsoft Office PowerPoint</Application>
  <PresentationFormat>A4 Paper (210x297 mm)</PresentationFormat>
  <Paragraphs>492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Calibri</vt:lpstr>
      <vt:lpstr>Cambria Math</vt:lpstr>
      <vt:lpstr>Calibri Light</vt:lpstr>
      <vt:lpstr>Arial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507</cp:revision>
  <cp:lastPrinted>2017-12-31T22:38:51Z</cp:lastPrinted>
  <dcterms:created xsi:type="dcterms:W3CDTF">2017-01-17T16:57:04Z</dcterms:created>
  <dcterms:modified xsi:type="dcterms:W3CDTF">2024-09-21T17:25:04Z</dcterms:modified>
</cp:coreProperties>
</file>