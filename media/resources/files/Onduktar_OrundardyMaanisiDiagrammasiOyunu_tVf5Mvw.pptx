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7"/>
  </p:notesMasterIdLst>
  <p:sldIdLst>
    <p:sldId id="1015" r:id="rId3"/>
    <p:sldId id="1014" r:id="rId4"/>
    <p:sldId id="944" r:id="rId5"/>
    <p:sldId id="946" r:id="rId6"/>
  </p:sldIdLst>
  <p:sldSz cx="9906000" cy="6858000" type="A4"/>
  <p:notesSz cx="7104063" cy="10234613"/>
  <p:embeddedFontLst>
    <p:embeddedFont>
      <p:font typeface="Berlin Sans FB Demi" panose="020E0802020502020306" pitchFamily="34" charset="0"/>
      <p:bold r:id="rId8"/>
    </p:embeddedFont>
    <p:embeddedFont>
      <p:font typeface="Constantia" panose="02030602050306030303" pitchFamily="18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4.fntdata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2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02/05/2024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223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8793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3B5789-A92C-E16C-E548-D04799F55D79}"/>
              </a:ext>
            </a:extLst>
          </p:cNvPr>
          <p:cNvSpPr txBox="1"/>
          <p:nvPr/>
        </p:nvSpPr>
        <p:spPr>
          <a:xfrm>
            <a:off x="406400" y="1351280"/>
            <a:ext cx="9062720" cy="5386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Кошуу –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Класстык иш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иш-чарада 2+ окуучулардан турган топтор туш келди тандалган цифралык карталарды колдонуп, эң чоң санды чыгаруу үчүн ат салышат.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Жеңүүчү ондук сандардын ортосундагы маанинин айырмасын упай алат.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D565D6-DA7F-39FF-47B5-EB94DC0C6326}"/>
              </a:ext>
            </a:extLst>
          </p:cNvPr>
          <p:cNvSpPr txBox="1">
            <a:spLocks/>
          </p:cNvSpPr>
          <p:nvPr/>
        </p:nvSpPr>
        <p:spPr>
          <a:xfrm>
            <a:off x="501650" y="1476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62731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343154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465807" y="-52636"/>
            <a:ext cx="44167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>
                <a:latin typeface="Constantia" panose="02030602050306030303" pitchFamily="18" charset="0"/>
              </a:rPr>
              <a:t>Орундардын мааниси диаграммасы  карта оюну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Constantia" panose="02030602050306030303" pitchFamily="18" charset="0"/>
            </a:endParaRPr>
          </a:p>
        </p:txBody>
      </p:sp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D2B8258C-418F-4B11-964A-F98F504B73CD}"/>
              </a:ext>
            </a:extLst>
          </p:cNvPr>
          <p:cNvGraphicFramePr>
            <a:graphicFrameLocks noGrp="1"/>
          </p:cNvGraphicFramePr>
          <p:nvPr/>
        </p:nvGraphicFramePr>
        <p:xfrm>
          <a:off x="33214" y="3471120"/>
          <a:ext cx="4852295" cy="3354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242971208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1143077558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3719782528"/>
                    </a:ext>
                  </a:extLst>
                </a:gridCol>
              </a:tblGrid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0132845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9095048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73647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A578D3B-EC1A-4D74-9841-B65D2C391A84}"/>
              </a:ext>
            </a:extLst>
          </p:cNvPr>
          <p:cNvSpPr txBox="1"/>
          <p:nvPr/>
        </p:nvSpPr>
        <p:spPr>
          <a:xfrm>
            <a:off x="765066" y="2796250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Berlin Sans FB Demi" panose="020E0802020502020306" pitchFamily="34" charset="0"/>
              </a:rPr>
              <a:t>Оюнчу </a:t>
            </a:r>
            <a:r>
              <a:rPr lang="en-US" b="1" dirty="0">
                <a:latin typeface="Berlin Sans FB Demi" panose="020E0802020502020306" pitchFamily="34" charset="0"/>
              </a:rPr>
              <a:t>2</a:t>
            </a:r>
            <a:endParaRPr lang="en-GB" b="1" dirty="0">
              <a:latin typeface="Berlin Sans FB Demi" panose="020E0802020502020306" pitchFamily="34" charset="0"/>
            </a:endParaRPr>
          </a:p>
        </p:txBody>
      </p:sp>
      <p:graphicFrame>
        <p:nvGraphicFramePr>
          <p:cNvPr id="19" name="Table 11">
            <a:extLst>
              <a:ext uri="{FF2B5EF4-FFF2-40B4-BE49-F238E27FC236}">
                <a16:creationId xmlns:a16="http://schemas.microsoft.com/office/drawing/2014/main" id="{4B6014C0-28E4-440F-8750-D30E822F8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8074402"/>
              </p:ext>
            </p:extLst>
          </p:nvPr>
        </p:nvGraphicFramePr>
        <p:xfrm>
          <a:off x="1968782" y="2561545"/>
          <a:ext cx="1940918" cy="8387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</a:tblGrid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Б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О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975B4DBF-8596-4808-AF0B-CA30B7934E1B}"/>
              </a:ext>
            </a:extLst>
          </p:cNvPr>
          <p:cNvSpPr txBox="1"/>
          <p:nvPr/>
        </p:nvSpPr>
        <p:spPr>
          <a:xfrm>
            <a:off x="788309" y="1911352"/>
            <a:ext cx="990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Berlin Sans FB Demi" panose="020E0802020502020306" pitchFamily="34" charset="0"/>
              </a:rPr>
              <a:t>Оюнчу 1</a:t>
            </a:r>
            <a:endParaRPr lang="en-GB" b="1" dirty="0">
              <a:latin typeface="Berlin Sans FB Demi" panose="020E0802020502020306" pitchFamily="34" charset="0"/>
            </a:endParaRPr>
          </a:p>
        </p:txBody>
      </p:sp>
      <p:graphicFrame>
        <p:nvGraphicFramePr>
          <p:cNvPr id="21" name="Table 11">
            <a:extLst>
              <a:ext uri="{FF2B5EF4-FFF2-40B4-BE49-F238E27FC236}">
                <a16:creationId xmlns:a16="http://schemas.microsoft.com/office/drawing/2014/main" id="{22340668-9DAE-4508-85AA-31981774A5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442695"/>
              </p:ext>
            </p:extLst>
          </p:nvPr>
        </p:nvGraphicFramePr>
        <p:xfrm>
          <a:off x="1968782" y="1809259"/>
          <a:ext cx="1940918" cy="706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</a:tblGrid>
              <a:tr h="706130"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Б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О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</a:tbl>
          </a:graphicData>
        </a:graphic>
      </p:graphicFrame>
      <p:sp>
        <p:nvSpPr>
          <p:cNvPr id="24" name="Oval 23">
            <a:extLst>
              <a:ext uri="{FF2B5EF4-FFF2-40B4-BE49-F238E27FC236}">
                <a16:creationId xmlns:a16="http://schemas.microsoft.com/office/drawing/2014/main" id="{F5D89BB3-9F7E-4325-BB3A-3659EA2C4322}"/>
              </a:ext>
            </a:extLst>
          </p:cNvPr>
          <p:cNvSpPr/>
          <p:nvPr/>
        </p:nvSpPr>
        <p:spPr>
          <a:xfrm>
            <a:off x="2874925" y="2031702"/>
            <a:ext cx="128632" cy="128632"/>
          </a:xfrm>
          <a:prstGeom prst="ellipse">
            <a:avLst/>
          </a:prstGeom>
          <a:solidFill>
            <a:srgbClr val="BFBFB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A182E27-07CC-44A3-91D4-281DEAD77DCA}"/>
              </a:ext>
            </a:extLst>
          </p:cNvPr>
          <p:cNvSpPr/>
          <p:nvPr/>
        </p:nvSpPr>
        <p:spPr>
          <a:xfrm>
            <a:off x="2874925" y="2916600"/>
            <a:ext cx="128632" cy="128632"/>
          </a:xfrm>
          <a:prstGeom prst="ellipse">
            <a:avLst/>
          </a:prstGeom>
          <a:solidFill>
            <a:srgbClr val="BFBFB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41BEBA-ABEB-4203-B524-1B8B550910D8}"/>
              </a:ext>
            </a:extLst>
          </p:cNvPr>
          <p:cNvSpPr txBox="1"/>
          <p:nvPr/>
        </p:nvSpPr>
        <p:spPr>
          <a:xfrm>
            <a:off x="615043" y="193432"/>
            <a:ext cx="4186018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/>
              <a:t>Ар бир оюнчу өзүнүн сандык карталарын алат (0-9).</a:t>
            </a:r>
            <a:endParaRPr lang="th-TH" sz="1200" dirty="0"/>
          </a:p>
          <a:p>
            <a:pPr algn="ctr"/>
            <a:r>
              <a:rPr lang="ru-RU" sz="1200" dirty="0"/>
              <a:t> Карталарды кесип, аралаштырыңыз</a:t>
            </a:r>
            <a:r>
              <a:rPr lang="th-TH" sz="1200" dirty="0"/>
              <a:t> </a:t>
            </a:r>
            <a:r>
              <a:rPr lang="ru-RU" sz="1200" dirty="0"/>
              <a:t> жана ылдый </a:t>
            </a:r>
            <a:endParaRPr lang="th-TH" sz="1200" dirty="0"/>
          </a:p>
          <a:p>
            <a:pPr algn="ctr"/>
            <a:r>
              <a:rPr lang="ru-RU" sz="1200" dirty="0"/>
              <a:t>караңыз. Эң улуу оюнчу биринчи баштайт!</a:t>
            </a:r>
            <a:endParaRPr lang="en-GB" sz="300" dirty="0"/>
          </a:p>
          <a:p>
            <a:pPr algn="ctr"/>
            <a:endParaRPr lang="en-GB" sz="300" dirty="0"/>
          </a:p>
          <a:p>
            <a:pPr algn="ctr"/>
            <a:r>
              <a:rPr lang="ru-RU" sz="1200" dirty="0"/>
              <a:t>Картаны тандап, аны </a:t>
            </a:r>
            <a:r>
              <a:rPr lang="ru-RU" sz="1200" b="1" dirty="0">
                <a:latin typeface="Constantia" panose="02030602050306030303" pitchFamily="18" charset="0"/>
              </a:rPr>
              <a:t>Орундардын мааниси</a:t>
            </a:r>
            <a:r>
              <a:rPr lang="ru-RU" sz="1200" dirty="0"/>
              <a:t> </a:t>
            </a:r>
            <a:endParaRPr lang="th-TH" sz="1200" dirty="0"/>
          </a:p>
          <a:p>
            <a:pPr algn="ctr"/>
            <a:r>
              <a:rPr lang="ru-RU" sz="1200" dirty="0"/>
              <a:t>каалаган жерине коюңуз. Ар бириңизде толук 2 орундуу ондук сан болмоюнча кезек менен жүрүңүз.</a:t>
            </a:r>
            <a:endParaRPr lang="en-GB" sz="300" dirty="0"/>
          </a:p>
          <a:p>
            <a:pPr algn="ctr"/>
            <a:r>
              <a:rPr lang="ru-RU" sz="1200" dirty="0"/>
              <a:t>Эң көп санга ээ болгон оюнчу жеңишке жетип,</a:t>
            </a:r>
            <a:endParaRPr lang="th-TH" sz="1200" dirty="0"/>
          </a:p>
          <a:p>
            <a:pPr algn="ctr"/>
            <a:r>
              <a:rPr lang="ru-RU" sz="1200" dirty="0"/>
              <a:t> сандардын жалпы маанисин упай алат!</a:t>
            </a:r>
            <a:endParaRPr lang="en-GB" sz="1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8D6E818-8C45-4FDD-A2A8-BBCD900C767B}"/>
              </a:ext>
            </a:extLst>
          </p:cNvPr>
          <p:cNvSpPr/>
          <p:nvPr/>
        </p:nvSpPr>
        <p:spPr>
          <a:xfrm>
            <a:off x="918041" y="217796"/>
            <a:ext cx="3512318" cy="59025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685921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343154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465807" y="-52636"/>
            <a:ext cx="44167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>
                <a:latin typeface="Constantia" panose="02030602050306030303" pitchFamily="18" charset="0"/>
              </a:rPr>
              <a:t>Орундардын мааниси диаграммасы  карта оюну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Constantia" panose="02030602050306030303" pitchFamily="18" charset="0"/>
            </a:endParaRPr>
          </a:p>
        </p:txBody>
      </p:sp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D2B8258C-418F-4B11-964A-F98F504B7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4424131"/>
              </p:ext>
            </p:extLst>
          </p:nvPr>
        </p:nvGraphicFramePr>
        <p:xfrm>
          <a:off x="33214" y="3471120"/>
          <a:ext cx="4852295" cy="3354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242971208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1143077558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3719782528"/>
                    </a:ext>
                  </a:extLst>
                </a:gridCol>
              </a:tblGrid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0132845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9095048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73647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A578D3B-EC1A-4D74-9841-B65D2C391A84}"/>
              </a:ext>
            </a:extLst>
          </p:cNvPr>
          <p:cNvSpPr txBox="1"/>
          <p:nvPr/>
        </p:nvSpPr>
        <p:spPr>
          <a:xfrm>
            <a:off x="765066" y="2796250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Berlin Sans FB Demi" panose="020E0802020502020306" pitchFamily="34" charset="0"/>
              </a:rPr>
              <a:t>Оюнчу </a:t>
            </a:r>
            <a:r>
              <a:rPr lang="en-US" b="1" dirty="0">
                <a:latin typeface="Berlin Sans FB Demi" panose="020E0802020502020306" pitchFamily="34" charset="0"/>
              </a:rPr>
              <a:t>2</a:t>
            </a:r>
            <a:endParaRPr lang="en-GB" b="1" dirty="0">
              <a:latin typeface="Berlin Sans FB Demi" panose="020E0802020502020306" pitchFamily="34" charset="0"/>
            </a:endParaRPr>
          </a:p>
        </p:txBody>
      </p:sp>
      <p:graphicFrame>
        <p:nvGraphicFramePr>
          <p:cNvPr id="19" name="Table 11">
            <a:extLst>
              <a:ext uri="{FF2B5EF4-FFF2-40B4-BE49-F238E27FC236}">
                <a16:creationId xmlns:a16="http://schemas.microsoft.com/office/drawing/2014/main" id="{4B6014C0-28E4-440F-8750-D30E822F8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054369"/>
              </p:ext>
            </p:extLst>
          </p:nvPr>
        </p:nvGraphicFramePr>
        <p:xfrm>
          <a:off x="1968782" y="2561545"/>
          <a:ext cx="1940918" cy="8387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</a:tblGrid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Б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О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975B4DBF-8596-4808-AF0B-CA30B7934E1B}"/>
              </a:ext>
            </a:extLst>
          </p:cNvPr>
          <p:cNvSpPr txBox="1"/>
          <p:nvPr/>
        </p:nvSpPr>
        <p:spPr>
          <a:xfrm>
            <a:off x="788309" y="1911352"/>
            <a:ext cx="990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Berlin Sans FB Demi" panose="020E0802020502020306" pitchFamily="34" charset="0"/>
              </a:rPr>
              <a:t>Оюнчу 1</a:t>
            </a:r>
            <a:endParaRPr lang="en-GB" b="1" dirty="0">
              <a:latin typeface="Berlin Sans FB Demi" panose="020E0802020502020306" pitchFamily="34" charset="0"/>
            </a:endParaRPr>
          </a:p>
        </p:txBody>
      </p:sp>
      <p:graphicFrame>
        <p:nvGraphicFramePr>
          <p:cNvPr id="21" name="Table 11">
            <a:extLst>
              <a:ext uri="{FF2B5EF4-FFF2-40B4-BE49-F238E27FC236}">
                <a16:creationId xmlns:a16="http://schemas.microsoft.com/office/drawing/2014/main" id="{22340668-9DAE-4508-85AA-31981774A5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7580629"/>
              </p:ext>
            </p:extLst>
          </p:nvPr>
        </p:nvGraphicFramePr>
        <p:xfrm>
          <a:off x="1968782" y="1809259"/>
          <a:ext cx="1940918" cy="706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</a:tblGrid>
              <a:tr h="706130"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Б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О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</a:tbl>
          </a:graphicData>
        </a:graphic>
      </p:graphicFrame>
      <p:sp>
        <p:nvSpPr>
          <p:cNvPr id="24" name="Oval 23">
            <a:extLst>
              <a:ext uri="{FF2B5EF4-FFF2-40B4-BE49-F238E27FC236}">
                <a16:creationId xmlns:a16="http://schemas.microsoft.com/office/drawing/2014/main" id="{F5D89BB3-9F7E-4325-BB3A-3659EA2C4322}"/>
              </a:ext>
            </a:extLst>
          </p:cNvPr>
          <p:cNvSpPr/>
          <p:nvPr/>
        </p:nvSpPr>
        <p:spPr>
          <a:xfrm>
            <a:off x="2874925" y="2031702"/>
            <a:ext cx="128632" cy="128632"/>
          </a:xfrm>
          <a:prstGeom prst="ellipse">
            <a:avLst/>
          </a:prstGeom>
          <a:solidFill>
            <a:srgbClr val="BFBFB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A182E27-07CC-44A3-91D4-281DEAD77DCA}"/>
              </a:ext>
            </a:extLst>
          </p:cNvPr>
          <p:cNvSpPr/>
          <p:nvPr/>
        </p:nvSpPr>
        <p:spPr>
          <a:xfrm>
            <a:off x="2874925" y="2916600"/>
            <a:ext cx="128632" cy="128632"/>
          </a:xfrm>
          <a:prstGeom prst="ellipse">
            <a:avLst/>
          </a:prstGeom>
          <a:solidFill>
            <a:srgbClr val="BFBFB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41BEBA-ABEB-4203-B524-1B8B550910D8}"/>
              </a:ext>
            </a:extLst>
          </p:cNvPr>
          <p:cNvSpPr txBox="1"/>
          <p:nvPr/>
        </p:nvSpPr>
        <p:spPr>
          <a:xfrm>
            <a:off x="615043" y="193432"/>
            <a:ext cx="4186018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/>
              <a:t>Ар бир оюнчу өзүнүн сандык карталарын алат (0-9).</a:t>
            </a:r>
            <a:endParaRPr lang="th-TH" sz="1200" dirty="0"/>
          </a:p>
          <a:p>
            <a:pPr algn="ctr"/>
            <a:r>
              <a:rPr lang="ru-RU" sz="1200" dirty="0"/>
              <a:t> Карталарды кесип, аралаштырыңыз</a:t>
            </a:r>
            <a:r>
              <a:rPr lang="th-TH" sz="1200" dirty="0"/>
              <a:t> </a:t>
            </a:r>
            <a:r>
              <a:rPr lang="ru-RU" sz="1200" dirty="0"/>
              <a:t> жана ылдый </a:t>
            </a:r>
            <a:endParaRPr lang="th-TH" sz="1200" dirty="0"/>
          </a:p>
          <a:p>
            <a:pPr algn="ctr"/>
            <a:r>
              <a:rPr lang="ru-RU" sz="1200" dirty="0"/>
              <a:t>караңыз. Эң улуу оюнчу биринчи баштайт!</a:t>
            </a:r>
            <a:endParaRPr lang="en-GB" sz="300" dirty="0"/>
          </a:p>
          <a:p>
            <a:pPr algn="ctr"/>
            <a:endParaRPr lang="en-GB" sz="300" dirty="0"/>
          </a:p>
          <a:p>
            <a:pPr algn="ctr"/>
            <a:r>
              <a:rPr lang="ru-RU" sz="1200" dirty="0"/>
              <a:t>Картаны тандап, аны </a:t>
            </a:r>
            <a:r>
              <a:rPr lang="ru-RU" sz="1200" b="1" dirty="0">
                <a:latin typeface="Constantia" panose="02030602050306030303" pitchFamily="18" charset="0"/>
              </a:rPr>
              <a:t>Орундардын мааниси</a:t>
            </a:r>
            <a:r>
              <a:rPr lang="ru-RU" sz="1200" dirty="0"/>
              <a:t> </a:t>
            </a:r>
            <a:endParaRPr lang="th-TH" sz="1200" dirty="0"/>
          </a:p>
          <a:p>
            <a:pPr algn="ctr"/>
            <a:r>
              <a:rPr lang="ru-RU" sz="1200" dirty="0"/>
              <a:t>каалаган жерине коюңуз. Ар бириңизде толук 2 орундуу ондук сан болмоюнча кезек менен жүрүңүз.</a:t>
            </a:r>
            <a:endParaRPr lang="en-GB" sz="300" dirty="0"/>
          </a:p>
          <a:p>
            <a:pPr algn="ctr"/>
            <a:r>
              <a:rPr lang="ru-RU" sz="1200" dirty="0"/>
              <a:t>Эң көп санга ээ болгон оюнчу жеңишке жетип,</a:t>
            </a:r>
            <a:endParaRPr lang="th-TH" sz="1200" dirty="0"/>
          </a:p>
          <a:p>
            <a:pPr algn="ctr"/>
            <a:r>
              <a:rPr lang="ru-RU" sz="1200" dirty="0"/>
              <a:t> сандардын жалпы маанисин упай алат!</a:t>
            </a:r>
            <a:endParaRPr lang="en-GB" sz="1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8D6E818-8C45-4FDD-A2A8-BBCD900C767B}"/>
              </a:ext>
            </a:extLst>
          </p:cNvPr>
          <p:cNvSpPr/>
          <p:nvPr/>
        </p:nvSpPr>
        <p:spPr>
          <a:xfrm>
            <a:off x="951893" y="219809"/>
            <a:ext cx="3512318" cy="59025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355B52E-CB33-4FED-9E82-35B70162F2FD}"/>
              </a:ext>
            </a:extLst>
          </p:cNvPr>
          <p:cNvSpPr/>
          <p:nvPr/>
        </p:nvSpPr>
        <p:spPr>
          <a:xfrm>
            <a:off x="4996180" y="7620"/>
            <a:ext cx="4877888" cy="343154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D76851-0E90-4A5B-8CD7-FE725522E8A5}"/>
              </a:ext>
            </a:extLst>
          </p:cNvPr>
          <p:cNvSpPr txBox="1"/>
          <p:nvPr/>
        </p:nvSpPr>
        <p:spPr>
          <a:xfrm>
            <a:off x="5354912" y="-45138"/>
            <a:ext cx="44167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>
                <a:latin typeface="Constantia" panose="02030602050306030303" pitchFamily="18" charset="0"/>
              </a:rPr>
              <a:t>Орундардын мааниси диаграммасы  карта оюну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Constantia" panose="02030602050306030303" pitchFamily="18" charset="0"/>
            </a:endParaRPr>
          </a:p>
        </p:txBody>
      </p:sp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CD660B8C-D9A2-47A0-8CC6-464C99B9C3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4424131"/>
              </p:ext>
            </p:extLst>
          </p:nvPr>
        </p:nvGraphicFramePr>
        <p:xfrm>
          <a:off x="5021774" y="3471120"/>
          <a:ext cx="4852295" cy="3354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242971208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1143077558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3719782528"/>
                    </a:ext>
                  </a:extLst>
                </a:gridCol>
              </a:tblGrid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0132845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9095048"/>
                  </a:ext>
                </a:extLst>
              </a:tr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736472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2BE28F5D-BE41-4585-8448-5FA2C36793E9}"/>
              </a:ext>
            </a:extLst>
          </p:cNvPr>
          <p:cNvSpPr txBox="1"/>
          <p:nvPr/>
        </p:nvSpPr>
        <p:spPr>
          <a:xfrm>
            <a:off x="5753626" y="2796250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Berlin Sans FB Demi" panose="020E0802020502020306" pitchFamily="34" charset="0"/>
              </a:rPr>
              <a:t>Оюнчу </a:t>
            </a:r>
            <a:r>
              <a:rPr lang="en-US" b="1" dirty="0">
                <a:latin typeface="Berlin Sans FB Demi" panose="020E0802020502020306" pitchFamily="34" charset="0"/>
              </a:rPr>
              <a:t>2</a:t>
            </a:r>
            <a:endParaRPr lang="en-GB" b="1" dirty="0">
              <a:latin typeface="Berlin Sans FB Demi" panose="020E0802020502020306" pitchFamily="34" charset="0"/>
            </a:endParaRPr>
          </a:p>
        </p:txBody>
      </p:sp>
      <p:graphicFrame>
        <p:nvGraphicFramePr>
          <p:cNvPr id="26" name="Table 11">
            <a:extLst>
              <a:ext uri="{FF2B5EF4-FFF2-40B4-BE49-F238E27FC236}">
                <a16:creationId xmlns:a16="http://schemas.microsoft.com/office/drawing/2014/main" id="{DA6A87F1-1139-46A8-A363-881EFB2EA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576449"/>
              </p:ext>
            </p:extLst>
          </p:nvPr>
        </p:nvGraphicFramePr>
        <p:xfrm>
          <a:off x="6957342" y="2561545"/>
          <a:ext cx="1940918" cy="8387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</a:tblGrid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Б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О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6CD8C92E-DF45-4D7D-A615-6E52D2224D76}"/>
              </a:ext>
            </a:extLst>
          </p:cNvPr>
          <p:cNvSpPr txBox="1"/>
          <p:nvPr/>
        </p:nvSpPr>
        <p:spPr>
          <a:xfrm>
            <a:off x="5776869" y="1911352"/>
            <a:ext cx="990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Berlin Sans FB Demi" panose="020E0802020502020306" pitchFamily="34" charset="0"/>
              </a:rPr>
              <a:t>Оюнчу 1</a:t>
            </a:r>
            <a:endParaRPr lang="en-GB" b="1" dirty="0">
              <a:latin typeface="Berlin Sans FB Demi" panose="020E0802020502020306" pitchFamily="34" charset="0"/>
            </a:endParaRPr>
          </a:p>
        </p:txBody>
      </p:sp>
      <p:graphicFrame>
        <p:nvGraphicFramePr>
          <p:cNvPr id="28" name="Table 11">
            <a:extLst>
              <a:ext uri="{FF2B5EF4-FFF2-40B4-BE49-F238E27FC236}">
                <a16:creationId xmlns:a16="http://schemas.microsoft.com/office/drawing/2014/main" id="{C18105EC-4E3E-4F33-AD77-EF9F3539F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97319"/>
              </p:ext>
            </p:extLst>
          </p:nvPr>
        </p:nvGraphicFramePr>
        <p:xfrm>
          <a:off x="6957342" y="1803099"/>
          <a:ext cx="1940918" cy="8387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59">
                  <a:extLst>
                    <a:ext uri="{9D8B030D-6E8A-4147-A177-3AD203B41FA5}">
                      <a16:colId xmlns:a16="http://schemas.microsoft.com/office/drawing/2014/main" val="3288608306"/>
                    </a:ext>
                  </a:extLst>
                </a:gridCol>
                <a:gridCol w="970459">
                  <a:extLst>
                    <a:ext uri="{9D8B030D-6E8A-4147-A177-3AD203B41FA5}">
                      <a16:colId xmlns:a16="http://schemas.microsoft.com/office/drawing/2014/main" val="4193740473"/>
                    </a:ext>
                  </a:extLst>
                </a:gridCol>
              </a:tblGrid>
              <a:tr h="838742"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Б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b="1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О</a:t>
                      </a:r>
                      <a:endParaRPr lang="en-GB" sz="4000" b="1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19374"/>
                  </a:ext>
                </a:extLst>
              </a:tr>
            </a:tbl>
          </a:graphicData>
        </a:graphic>
      </p:graphicFrame>
      <p:sp>
        <p:nvSpPr>
          <p:cNvPr id="29" name="Oval 28">
            <a:extLst>
              <a:ext uri="{FF2B5EF4-FFF2-40B4-BE49-F238E27FC236}">
                <a16:creationId xmlns:a16="http://schemas.microsoft.com/office/drawing/2014/main" id="{CF8561F1-1B18-4A32-9AAF-79303C050029}"/>
              </a:ext>
            </a:extLst>
          </p:cNvPr>
          <p:cNvSpPr/>
          <p:nvPr/>
        </p:nvSpPr>
        <p:spPr>
          <a:xfrm>
            <a:off x="7863485" y="2031702"/>
            <a:ext cx="128632" cy="128632"/>
          </a:xfrm>
          <a:prstGeom prst="ellipse">
            <a:avLst/>
          </a:prstGeom>
          <a:solidFill>
            <a:srgbClr val="BFBFB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BBF09B6-3D85-4C8E-B85D-AB0155B2B1EB}"/>
              </a:ext>
            </a:extLst>
          </p:cNvPr>
          <p:cNvSpPr/>
          <p:nvPr/>
        </p:nvSpPr>
        <p:spPr>
          <a:xfrm>
            <a:off x="7863485" y="2916600"/>
            <a:ext cx="128632" cy="128632"/>
          </a:xfrm>
          <a:prstGeom prst="ellipse">
            <a:avLst/>
          </a:prstGeom>
          <a:solidFill>
            <a:srgbClr val="BFBFB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3840150-03CE-45F3-A654-45F0357883D8}"/>
              </a:ext>
            </a:extLst>
          </p:cNvPr>
          <p:cNvSpPr/>
          <p:nvPr/>
        </p:nvSpPr>
        <p:spPr>
          <a:xfrm>
            <a:off x="5678965" y="219809"/>
            <a:ext cx="3512318" cy="59025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790F6D-E273-23B2-DF87-AD56C699DC5B}"/>
              </a:ext>
            </a:extLst>
          </p:cNvPr>
          <p:cNvSpPr txBox="1"/>
          <p:nvPr/>
        </p:nvSpPr>
        <p:spPr>
          <a:xfrm>
            <a:off x="5354912" y="211283"/>
            <a:ext cx="4186018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/>
              <a:t>Ар бир оюнчу өзүнүн сандык карталарын алат (0-9).</a:t>
            </a:r>
            <a:endParaRPr lang="th-TH" sz="1200" dirty="0"/>
          </a:p>
          <a:p>
            <a:pPr algn="ctr"/>
            <a:r>
              <a:rPr lang="ru-RU" sz="1200" dirty="0"/>
              <a:t> Карталарды кесип, аралаштырыңыз</a:t>
            </a:r>
            <a:r>
              <a:rPr lang="th-TH" sz="1200" dirty="0"/>
              <a:t> </a:t>
            </a:r>
            <a:r>
              <a:rPr lang="ru-RU" sz="1200" dirty="0"/>
              <a:t> жана ылдый </a:t>
            </a:r>
            <a:endParaRPr lang="th-TH" sz="1200" dirty="0"/>
          </a:p>
          <a:p>
            <a:pPr algn="ctr"/>
            <a:r>
              <a:rPr lang="ru-RU" sz="1200" dirty="0"/>
              <a:t>караңыз. Эң улуу оюнчу биринчи баштайт!</a:t>
            </a:r>
            <a:endParaRPr lang="en-GB" sz="300" dirty="0"/>
          </a:p>
          <a:p>
            <a:pPr algn="ctr"/>
            <a:endParaRPr lang="en-GB" sz="300" dirty="0"/>
          </a:p>
          <a:p>
            <a:pPr algn="ctr"/>
            <a:r>
              <a:rPr lang="ru-RU" sz="1200" dirty="0"/>
              <a:t>Картаны тандап, аны </a:t>
            </a:r>
            <a:r>
              <a:rPr lang="ru-RU" sz="1200" b="1" dirty="0">
                <a:latin typeface="Constantia" panose="02030602050306030303" pitchFamily="18" charset="0"/>
              </a:rPr>
              <a:t>Орундардын мааниси</a:t>
            </a:r>
            <a:r>
              <a:rPr lang="ru-RU" sz="1200" dirty="0"/>
              <a:t> </a:t>
            </a:r>
            <a:endParaRPr lang="th-TH" sz="1200" dirty="0"/>
          </a:p>
          <a:p>
            <a:pPr algn="ctr"/>
            <a:r>
              <a:rPr lang="ru-RU" sz="1200" dirty="0"/>
              <a:t>каалаган жерине коюңуз. Ар бириңизде толук 2 орундуу ондук сан болмоюнча кезек менен жүрүңүз.</a:t>
            </a:r>
            <a:endParaRPr lang="en-GB" sz="300" dirty="0"/>
          </a:p>
          <a:p>
            <a:pPr algn="ctr"/>
            <a:r>
              <a:rPr lang="ru-RU" sz="1200" dirty="0"/>
              <a:t>Эң көп санга ээ болгон оюнчу жеңишке жетип,</a:t>
            </a:r>
            <a:endParaRPr lang="th-TH" sz="1200" dirty="0"/>
          </a:p>
          <a:p>
            <a:pPr algn="ctr"/>
            <a:r>
              <a:rPr lang="ru-RU" sz="1200" dirty="0"/>
              <a:t> сандардын жалпы маанисин упай алат!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517369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/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10423</TotalTime>
  <Words>373</Words>
  <Application>Microsoft Office PowerPoint</Application>
  <PresentationFormat>A4 Paper (210x297 mm)</PresentationFormat>
  <Paragraphs>125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 Light</vt:lpstr>
      <vt:lpstr>Calibri</vt:lpstr>
      <vt:lpstr>Constantia</vt:lpstr>
      <vt:lpstr>Berlin Sans FB Demi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496</cp:revision>
  <cp:lastPrinted>2024-05-02T06:37:34Z</cp:lastPrinted>
  <dcterms:created xsi:type="dcterms:W3CDTF">2017-01-17T16:57:04Z</dcterms:created>
  <dcterms:modified xsi:type="dcterms:W3CDTF">2024-05-02T06:44:52Z</dcterms:modified>
</cp:coreProperties>
</file>