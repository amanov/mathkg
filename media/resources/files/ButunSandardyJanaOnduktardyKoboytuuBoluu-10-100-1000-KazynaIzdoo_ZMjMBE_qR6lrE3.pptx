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25"/>
  </p:notesMasterIdLst>
  <p:sldIdLst>
    <p:sldId id="1059" r:id="rId2"/>
    <p:sldId id="1060" r:id="rId3"/>
    <p:sldId id="953" r:id="rId4"/>
    <p:sldId id="954" r:id="rId5"/>
    <p:sldId id="955" r:id="rId6"/>
    <p:sldId id="959" r:id="rId7"/>
    <p:sldId id="950" r:id="rId8"/>
    <p:sldId id="952" r:id="rId9"/>
    <p:sldId id="957" r:id="rId10"/>
    <p:sldId id="958" r:id="rId11"/>
    <p:sldId id="951" r:id="rId12"/>
    <p:sldId id="960" r:id="rId13"/>
    <p:sldId id="961" r:id="rId14"/>
    <p:sldId id="965" r:id="rId15"/>
    <p:sldId id="962" r:id="rId16"/>
    <p:sldId id="963" r:id="rId17"/>
    <p:sldId id="964" r:id="rId18"/>
    <p:sldId id="956" r:id="rId19"/>
    <p:sldId id="966" r:id="rId20"/>
    <p:sldId id="889" r:id="rId21"/>
    <p:sldId id="948" r:id="rId22"/>
    <p:sldId id="946" r:id="rId23"/>
    <p:sldId id="967" r:id="rId24"/>
  </p:sldIdLst>
  <p:sldSz cx="9906000" cy="6858000" type="A4"/>
  <p:notesSz cx="6669088" cy="9926638"/>
  <p:embeddedFontLst>
    <p:embeddedFont>
      <p:font typeface="Algerian" panose="04020705040A02060702" pitchFamily="82" charset="0"/>
      <p:regular r:id="rId2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ADB636F4-2F91-4A82-9DC2-91168C8A1509}">
          <p14:sldIdLst>
            <p14:sldId id="1059"/>
          </p14:sldIdLst>
        </p14:section>
        <p14:section name="Тутилдык слайд" id="{BD3F2AD0-4D3E-4999-8D3C-DC4D710531BD}">
          <p14:sldIdLst>
            <p14:sldId id="1060"/>
          </p14:sldIdLst>
        </p14:section>
        <p14:section name="А4 форматындагы плакаттар" id="{03DD8F7C-D35F-4E4B-9282-6A82783B2D88}">
          <p14:sldIdLst>
            <p14:sldId id="953"/>
            <p14:sldId id="954"/>
            <p14:sldId id="955"/>
            <p14:sldId id="959"/>
            <p14:sldId id="950"/>
            <p14:sldId id="952"/>
            <p14:sldId id="957"/>
            <p14:sldId id="958"/>
            <p14:sldId id="951"/>
            <p14:sldId id="960"/>
            <p14:sldId id="961"/>
            <p14:sldId id="965"/>
            <p14:sldId id="962"/>
            <p14:sldId id="963"/>
            <p14:sldId id="964"/>
            <p14:sldId id="956"/>
          </p14:sldIdLst>
        </p14:section>
        <p14:section name="Мугалимдин жооп барагы" id="{64D9EF62-CF08-4BFF-B5AD-DEFE555334F2}">
          <p14:sldIdLst>
            <p14:sldId id="966"/>
          </p14:sldIdLst>
        </p14:section>
        <p14:section name="Жооптор" id="{4DCA0740-8998-4120-8F8E-E137F33F62AA}">
          <p14:sldIdLst>
            <p14:sldId id="889"/>
          </p14:sldIdLst>
        </p14:section>
        <p14:section name="Окуучулардын жооп баракчасы" id="{1229D97B-7AD4-4172-843E-8573209DA75B}">
          <p14:sldIdLst>
            <p14:sldId id="948"/>
            <p14:sldId id="946"/>
          </p14:sldIdLst>
        </p14:section>
        <p14:section name="Кайтарым байланыш" id="{F3D720CF-F566-46A6-9361-125255B68FA6}">
          <p14:sldIdLst>
            <p14:sldId id="96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000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226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6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-108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29/08/2024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.png"/><Relationship Id="rId4" Type="http://schemas.openxmlformats.org/officeDocument/2006/relationships/image" Target="../media/image5.jpe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0196A19-4AB1-E647-240D-F68B9B60A45B}"/>
              </a:ext>
            </a:extLst>
          </p:cNvPr>
          <p:cNvSpPr txBox="1"/>
          <p:nvPr/>
        </p:nvSpPr>
        <p:spPr>
          <a:xfrm>
            <a:off x="314960" y="856357"/>
            <a:ext cx="9591040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ky-KG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ky-KG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y-KG" sz="2400" b="1" dirty="0"/>
              <a:t>Бүтүн жана ондук сандар – 10, 100, 1000гө көбөйтүү жана бөлүү – </a:t>
            </a:r>
            <a:r>
              <a:rPr lang="en-US" sz="2400" dirty="0"/>
              <a:t>– </a:t>
            </a:r>
            <a:r>
              <a:rPr lang="ky-KG" sz="2400" b="1" dirty="0"/>
              <a:t>Казынанын Издөө көндүмү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y-KG" sz="2400" dirty="0"/>
              <a:t>Окуучулар ж</a:t>
            </a:r>
            <a:r>
              <a:rPr lang="en-US" sz="2400" dirty="0" err="1"/>
              <a:t>еке</a:t>
            </a:r>
            <a:r>
              <a:rPr lang="en-US" sz="2400" dirty="0"/>
              <a:t>  (</a:t>
            </a:r>
            <a:r>
              <a:rPr lang="en-US" sz="2400" dirty="0" err="1"/>
              <a:t>же</a:t>
            </a:r>
            <a:r>
              <a:rPr lang="en-US" sz="2400" dirty="0"/>
              <a:t> </a:t>
            </a:r>
            <a:r>
              <a:rPr lang="en-US" sz="2400" dirty="0" err="1"/>
              <a:t>жуп</a:t>
            </a:r>
            <a:r>
              <a:rPr lang="ky-KG" sz="2400" dirty="0"/>
              <a:t> болуп</a:t>
            </a:r>
            <a:r>
              <a:rPr lang="en-US" sz="2400" dirty="0"/>
              <a:t>) </a:t>
            </a:r>
            <a:r>
              <a:rPr lang="en-US" sz="2400" dirty="0" err="1"/>
              <a:t>каалаган</a:t>
            </a:r>
            <a:r>
              <a:rPr lang="en-US" sz="2400" dirty="0"/>
              <a:t> </a:t>
            </a:r>
            <a:r>
              <a:rPr lang="en-US" sz="2400" dirty="0" err="1"/>
              <a:t>суроо</a:t>
            </a:r>
            <a:r>
              <a:rPr lang="en-US" sz="2400" dirty="0"/>
              <a:t> </a:t>
            </a:r>
            <a:r>
              <a:rPr lang="en-US" sz="2400" dirty="0" err="1"/>
              <a:t>плакатта</a:t>
            </a:r>
            <a:r>
              <a:rPr lang="ky-KG" sz="2400" dirty="0"/>
              <a:t>н</a:t>
            </a:r>
            <a:r>
              <a:rPr lang="en-US" sz="2400" dirty="0"/>
              <a:t> </a:t>
            </a:r>
            <a:r>
              <a:rPr lang="en-US" sz="2400" dirty="0" err="1"/>
              <a:t>баштай</a:t>
            </a:r>
            <a:r>
              <a:rPr lang="en-US" sz="2400" dirty="0"/>
              <a:t> </a:t>
            </a:r>
            <a:r>
              <a:rPr lang="en-US" sz="2400" dirty="0" err="1"/>
              <a:t>алышат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Алар</a:t>
            </a:r>
            <a:r>
              <a:rPr lang="en-US" sz="2400" dirty="0"/>
              <a:t> </a:t>
            </a:r>
            <a:r>
              <a:rPr lang="en-US" sz="2400" dirty="0" err="1"/>
              <a:t>жоопту</a:t>
            </a:r>
            <a:r>
              <a:rPr lang="en-US" sz="2400" dirty="0"/>
              <a:t> </a:t>
            </a:r>
            <a:r>
              <a:rPr lang="en-US" sz="2400" dirty="0" err="1"/>
              <a:t>эсептеп</a:t>
            </a:r>
            <a:r>
              <a:rPr lang="en-US" sz="2400" dirty="0"/>
              <a:t> </a:t>
            </a:r>
            <a:r>
              <a:rPr lang="en-US" sz="2400" dirty="0" err="1"/>
              <a:t>чыккандан</a:t>
            </a:r>
            <a:r>
              <a:rPr lang="en-US" sz="2400" dirty="0"/>
              <a:t> </a:t>
            </a:r>
            <a:r>
              <a:rPr lang="en-US" sz="2400" dirty="0" err="1"/>
              <a:t>кийин</a:t>
            </a:r>
            <a:r>
              <a:rPr lang="en-US" sz="2400" dirty="0"/>
              <a:t>,  </a:t>
            </a:r>
            <a:r>
              <a:rPr lang="en-US" sz="2400" dirty="0" err="1"/>
              <a:t>ошол</a:t>
            </a:r>
            <a:r>
              <a:rPr lang="en-US" sz="2400" dirty="0"/>
              <a:t> </a:t>
            </a:r>
            <a:r>
              <a:rPr lang="en-US" sz="2400" dirty="0" err="1"/>
              <a:t>жооп</a:t>
            </a:r>
            <a:r>
              <a:rPr lang="en-US" sz="2400" dirty="0"/>
              <a:t> </a:t>
            </a:r>
            <a:r>
              <a:rPr lang="en-US" sz="2400" dirty="0" err="1"/>
              <a:t>бар</a:t>
            </a:r>
            <a:r>
              <a:rPr lang="en-US" sz="2400" dirty="0"/>
              <a:t> </a:t>
            </a:r>
            <a:r>
              <a:rPr lang="en-US" sz="2400" dirty="0" err="1"/>
              <a:t>плакатты</a:t>
            </a:r>
            <a:r>
              <a:rPr lang="en-US" sz="2400" dirty="0"/>
              <a:t> </a:t>
            </a:r>
            <a:r>
              <a:rPr lang="en-US" sz="2400" dirty="0" err="1"/>
              <a:t>табышы</a:t>
            </a:r>
            <a:r>
              <a:rPr lang="en-US" sz="2400" dirty="0"/>
              <a:t> </a:t>
            </a:r>
            <a:r>
              <a:rPr lang="en-US" sz="2400" dirty="0" err="1"/>
              <a:t>керек</a:t>
            </a:r>
            <a:r>
              <a:rPr lang="en-US" sz="2400" dirty="0"/>
              <a:t>. </a:t>
            </a:r>
            <a:r>
              <a:rPr lang="ky-KG" sz="2400" dirty="0"/>
              <a:t>Окуучулар</a:t>
            </a:r>
            <a:r>
              <a:rPr lang="en-US" sz="2400" dirty="0"/>
              <a:t> </a:t>
            </a:r>
            <a:r>
              <a:rPr lang="en-US" sz="2400" dirty="0" err="1"/>
              <a:t>бир</a:t>
            </a:r>
            <a:r>
              <a:rPr lang="en-US" sz="2400" dirty="0"/>
              <a:t> </a:t>
            </a:r>
            <a:r>
              <a:rPr lang="en-US" sz="2400" dirty="0" err="1"/>
              <a:t>суроодон</a:t>
            </a:r>
            <a:r>
              <a:rPr lang="en-US" sz="2400" dirty="0"/>
              <a:t> </a:t>
            </a:r>
            <a:r>
              <a:rPr lang="en-US" sz="2400" dirty="0" err="1"/>
              <a:t>экинчи</a:t>
            </a:r>
            <a:r>
              <a:rPr lang="en-US" sz="2400" dirty="0"/>
              <a:t> </a:t>
            </a:r>
            <a:r>
              <a:rPr lang="en-US" sz="2400" dirty="0" err="1"/>
              <a:t>суроого</a:t>
            </a:r>
            <a:r>
              <a:rPr lang="en-US" sz="2400" dirty="0"/>
              <a:t> </a:t>
            </a:r>
            <a:r>
              <a:rPr lang="en-US" sz="2400" dirty="0" err="1"/>
              <a:t>толук</a:t>
            </a:r>
            <a:r>
              <a:rPr lang="en-US" sz="2400" dirty="0"/>
              <a:t> </a:t>
            </a:r>
            <a:r>
              <a:rPr lang="en-US" sz="2400" dirty="0" err="1"/>
              <a:t>тегере</a:t>
            </a:r>
            <a:r>
              <a:rPr lang="ky-KG" sz="2400" dirty="0"/>
              <a:t>нип</a:t>
            </a:r>
            <a:r>
              <a:rPr lang="en-US" sz="2400" dirty="0"/>
              <a:t> </a:t>
            </a:r>
            <a:r>
              <a:rPr lang="en-US" sz="2400" dirty="0" err="1"/>
              <a:t>жолду</a:t>
            </a:r>
            <a:r>
              <a:rPr lang="en-US" sz="2400" dirty="0"/>
              <a:t> </a:t>
            </a:r>
            <a:r>
              <a:rPr lang="en-US" sz="2400" dirty="0" err="1"/>
              <a:t>бүтүргөнгө</a:t>
            </a:r>
            <a:r>
              <a:rPr lang="en-US" sz="2400" dirty="0"/>
              <a:t> </a:t>
            </a:r>
            <a:r>
              <a:rPr lang="en-US" sz="2400" dirty="0" err="1"/>
              <a:t>чейин</a:t>
            </a:r>
            <a:r>
              <a:rPr lang="en-US" sz="2400" dirty="0"/>
              <a:t> </a:t>
            </a:r>
            <a:r>
              <a:rPr lang="ky-KG" sz="2400" dirty="0"/>
              <a:t>улантышат</a:t>
            </a:r>
            <a:r>
              <a:rPr lang="en-US" sz="2400" dirty="0"/>
              <a:t>.</a:t>
            </a:r>
            <a:endParaRPr lang="ky-KG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y-KG" sz="2400" dirty="0"/>
              <a:t>Окуучулар</a:t>
            </a:r>
            <a:r>
              <a:rPr lang="en-US" sz="2400" dirty="0"/>
              <a:t> </a:t>
            </a:r>
            <a:r>
              <a:rPr lang="ky-KG" sz="2400" dirty="0"/>
              <a:t>чыгарган </a:t>
            </a:r>
            <a:r>
              <a:rPr lang="en-US" sz="2400" dirty="0" err="1"/>
              <a:t>суроолорунун</a:t>
            </a:r>
            <a:r>
              <a:rPr lang="en-US" sz="2400" dirty="0"/>
              <a:t> </a:t>
            </a:r>
            <a:r>
              <a:rPr lang="en-US" sz="2400" dirty="0" err="1"/>
              <a:t>тамгаларын</a:t>
            </a:r>
            <a:r>
              <a:rPr lang="en-US" sz="2400" dirty="0"/>
              <a:t> </a:t>
            </a:r>
            <a:r>
              <a:rPr lang="en-US" sz="2400" dirty="0" err="1"/>
              <a:t>жазып</a:t>
            </a:r>
            <a:r>
              <a:rPr lang="en-US" sz="2400" dirty="0"/>
              <a:t> </a:t>
            </a:r>
            <a:r>
              <a:rPr lang="en-US" sz="2400" dirty="0" err="1"/>
              <a:t>алышы</a:t>
            </a:r>
            <a:r>
              <a:rPr lang="en-US" sz="2400" dirty="0"/>
              <a:t> </a:t>
            </a:r>
            <a:r>
              <a:rPr lang="en-US" sz="2400" dirty="0" err="1"/>
              <a:t>керек</a:t>
            </a:r>
            <a:r>
              <a:rPr lang="en-US" sz="2400" dirty="0"/>
              <a:t>.</a:t>
            </a:r>
            <a:r>
              <a:rPr lang="ky-KG" sz="2400" dirty="0"/>
              <a:t>Унутуп калбаш учун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(</a:t>
            </a:r>
            <a:r>
              <a:rPr lang="ru-RU" sz="2400" dirty="0"/>
              <a:t>ачык пластик файл </a:t>
            </a:r>
            <a:r>
              <a:rPr lang="en-US" sz="2400" dirty="0" err="1"/>
              <a:t>капчыктар</a:t>
            </a:r>
            <a:r>
              <a:rPr lang="ky-KG" sz="2400" dirty="0"/>
              <a:t>га</a:t>
            </a:r>
            <a:r>
              <a:rPr lang="en-US" sz="2400" dirty="0"/>
              <a:t> </a:t>
            </a:r>
            <a:r>
              <a:rPr lang="en-US" sz="2400" dirty="0" err="1"/>
              <a:t>плакаттарды</a:t>
            </a:r>
            <a:r>
              <a:rPr lang="ky-KG" sz="2400" dirty="0"/>
              <a:t> салып кою</a:t>
            </a:r>
            <a:r>
              <a:rPr lang="en-US" sz="2400" dirty="0"/>
              <a:t>ң</a:t>
            </a:r>
            <a:r>
              <a:rPr lang="ky-KG" sz="2400" dirty="0"/>
              <a:t>уз алар сизге</a:t>
            </a:r>
            <a:r>
              <a:rPr lang="en-US" sz="2400" dirty="0"/>
              <a:t> </a:t>
            </a:r>
            <a:r>
              <a:rPr lang="en-US" sz="2400" dirty="0" err="1"/>
              <a:t>тез</a:t>
            </a:r>
            <a:r>
              <a:rPr lang="en-US" sz="2400" dirty="0"/>
              <a:t> </a:t>
            </a:r>
            <a:r>
              <a:rPr lang="en-US" sz="2400" dirty="0" err="1"/>
              <a:t>жана</a:t>
            </a:r>
            <a:r>
              <a:rPr lang="en-US" sz="2400" dirty="0"/>
              <a:t> </a:t>
            </a:r>
            <a:r>
              <a:rPr lang="en-US" sz="2400" dirty="0" err="1"/>
              <a:t>оңой</a:t>
            </a:r>
            <a:r>
              <a:rPr lang="en-US" sz="2400" dirty="0"/>
              <a:t> </a:t>
            </a:r>
            <a:r>
              <a:rPr lang="en-US" sz="2400" dirty="0" err="1"/>
              <a:t>көрсөтүүгө</a:t>
            </a:r>
            <a:r>
              <a:rPr lang="en-US" sz="2400" dirty="0"/>
              <a:t> </a:t>
            </a:r>
            <a:r>
              <a:rPr lang="en-US" sz="2400" dirty="0" err="1"/>
              <a:t>жардам</a:t>
            </a:r>
            <a:r>
              <a:rPr lang="en-US" sz="2400" dirty="0"/>
              <a:t> </a:t>
            </a:r>
            <a:r>
              <a:rPr lang="en-US" sz="2400" dirty="0" err="1"/>
              <a:t>берет</a:t>
            </a:r>
            <a:r>
              <a:rPr lang="en-US" sz="2400" dirty="0"/>
              <a:t>.)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AD99591-3D8C-E2DD-A4E5-9EA7F9F029AB}"/>
              </a:ext>
            </a:extLst>
          </p:cNvPr>
          <p:cNvSpPr txBox="1">
            <a:spLocks/>
          </p:cNvSpPr>
          <p:nvPr/>
        </p:nvSpPr>
        <p:spPr>
          <a:xfrm>
            <a:off x="314960" y="31019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dirty="0" err="1">
                <a:solidFill>
                  <a:srgbClr val="00B0F0"/>
                </a:solidFill>
              </a:rPr>
              <a:t>MathKGZ</a:t>
            </a:r>
            <a:r>
              <a:rPr lang="en-US" sz="5200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899463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929F260A-33A7-44B1-B56C-F2E27011A86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28" r="13437" b="13507"/>
          <a:stretch/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FE86785-CDEF-406A-A298-F25D70370A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750" y="2515032"/>
            <a:ext cx="4361156" cy="414309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5720089-C4D2-45A2-90BB-F14332D2BA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3386" y="412577"/>
            <a:ext cx="3764281" cy="5379158"/>
          </a:xfrm>
          <a:prstGeom prst="rect">
            <a:avLst/>
          </a:prstGeom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34F97C9-029A-46C3-9ABE-0D249844CA89}"/>
              </a:ext>
            </a:extLst>
          </p:cNvPr>
          <p:cNvSpPr/>
          <p:nvPr/>
        </p:nvSpPr>
        <p:spPr>
          <a:xfrm>
            <a:off x="257175" y="4962525"/>
            <a:ext cx="9394585" cy="1728376"/>
          </a:xfrm>
          <a:prstGeom prst="roundRect">
            <a:avLst/>
          </a:prstGeom>
          <a:blipFill>
            <a:blip r:embed="rId5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6000" b="1" cap="none" spc="0" dirty="0">
                <a:ln w="28575">
                  <a:solidFill>
                    <a:schemeClr val="tx1">
                      <a:lumMod val="85000"/>
                      <a:lumOff val="15000"/>
                    </a:schemeClr>
                  </a:solidFill>
                  <a:prstDash val="solid"/>
                </a:ln>
                <a:solidFill>
                  <a:srgbClr val="FFC00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lgerian" panose="04020705040A02060702" pitchFamily="82" charset="0"/>
              </a:rPr>
              <a:t>Көбөйтүү жана бөлүү:</a:t>
            </a:r>
          </a:p>
          <a:p>
            <a:pPr algn="ctr"/>
            <a:r>
              <a:rPr lang="ky-KG" sz="6000" b="1" cap="none" spc="0" dirty="0">
                <a:ln w="28575">
                  <a:solidFill>
                    <a:schemeClr val="tx1">
                      <a:lumMod val="85000"/>
                      <a:lumOff val="15000"/>
                    </a:schemeClr>
                  </a:solidFill>
                  <a:prstDash val="solid"/>
                </a:ln>
                <a:solidFill>
                  <a:srgbClr val="FFC00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lgerian" panose="04020705040A02060702" pitchFamily="82" charset="0"/>
              </a:rPr>
              <a:t>10, 100, 1000</a:t>
            </a:r>
            <a:endParaRPr lang="en-US" sz="1400" b="1" cap="none" spc="0" dirty="0">
              <a:ln w="28575">
                <a:solidFill>
                  <a:schemeClr val="tx1">
                    <a:lumMod val="85000"/>
                    <a:lumOff val="15000"/>
                  </a:schemeClr>
                </a:solidFill>
                <a:prstDash val="solid"/>
              </a:ln>
              <a:solidFill>
                <a:srgbClr val="FFC00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Algerian" panose="04020705040A02060702" pitchFamily="8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268791-4F03-2200-21A7-04930DF426F3}"/>
              </a:ext>
            </a:extLst>
          </p:cNvPr>
          <p:cNvSpPr/>
          <p:nvPr/>
        </p:nvSpPr>
        <p:spPr>
          <a:xfrm>
            <a:off x="712443" y="199870"/>
            <a:ext cx="7931980" cy="1446550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8800" b="0" i="0" dirty="0">
                <a:solidFill>
                  <a:srgbClr val="FFDE59"/>
                </a:solidFill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КАЗЫНА ИЗДӨӨ</a:t>
            </a:r>
            <a:endParaRPr lang="en-US" sz="88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>
                <a:glow rad="228600">
                  <a:schemeClr val="accent2">
                    <a:satMod val="175000"/>
                    <a:alpha val="40000"/>
                  </a:scheme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560976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N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794A1F-9FC3-9878-C4D9-4B3D4104F9F2}"/>
              </a:ext>
            </a:extLst>
          </p:cNvPr>
          <p:cNvSpPr txBox="1"/>
          <p:nvPr/>
        </p:nvSpPr>
        <p:spPr>
          <a:xfrm>
            <a:off x="2666135" y="412209"/>
            <a:ext cx="2993127" cy="120032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GB" sz="7200" dirty="0"/>
              <a:t>517000</a:t>
            </a:r>
            <a:endParaRPr lang="en-GB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3CDFFC-AEEF-9A4E-F44D-846090166CFF}"/>
              </a:ext>
            </a:extLst>
          </p:cNvPr>
          <p:cNvSpPr txBox="1"/>
          <p:nvPr/>
        </p:nvSpPr>
        <p:spPr>
          <a:xfrm>
            <a:off x="2201548" y="3779057"/>
            <a:ext cx="4976041" cy="144655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GB" sz="8800" dirty="0"/>
              <a:t>5.17 ÷ 100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27896298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R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CF6845-D3DE-5786-C721-A3E5F3C3F46F}"/>
              </a:ext>
            </a:extLst>
          </p:cNvPr>
          <p:cNvSpPr txBox="1"/>
          <p:nvPr/>
        </p:nvSpPr>
        <p:spPr>
          <a:xfrm>
            <a:off x="2783956" y="412209"/>
            <a:ext cx="2757486" cy="120032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GB" sz="7200" dirty="0"/>
              <a:t>0.0517</a:t>
            </a:r>
            <a:endParaRPr lang="en-GB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021768-B554-B4F6-9B3F-DBBC37A97BE6}"/>
              </a:ext>
            </a:extLst>
          </p:cNvPr>
          <p:cNvSpPr txBox="1"/>
          <p:nvPr/>
        </p:nvSpPr>
        <p:spPr>
          <a:xfrm>
            <a:off x="2201548" y="3779057"/>
            <a:ext cx="4976041" cy="144655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GB" sz="8800" dirty="0"/>
              <a:t>0.571 × 10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30900411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F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604A73-0247-9C61-7D98-9F5469464187}"/>
              </a:ext>
            </a:extLst>
          </p:cNvPr>
          <p:cNvSpPr txBox="1"/>
          <p:nvPr/>
        </p:nvSpPr>
        <p:spPr>
          <a:xfrm>
            <a:off x="3252034" y="412209"/>
            <a:ext cx="1821332" cy="120032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GB" sz="7200" dirty="0"/>
              <a:t>5.71</a:t>
            </a:r>
            <a:endParaRPr lang="en-GB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35B25B-39EC-B9DC-1820-68C6300ED8D7}"/>
              </a:ext>
            </a:extLst>
          </p:cNvPr>
          <p:cNvSpPr txBox="1"/>
          <p:nvPr/>
        </p:nvSpPr>
        <p:spPr>
          <a:xfrm>
            <a:off x="1915412" y="3779057"/>
            <a:ext cx="5548314" cy="144655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GB" sz="8800" dirty="0"/>
              <a:t>5.17 ÷ 1000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23483927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W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0B9FC9-86AA-4628-E1FE-FC2C44AFCCBC}"/>
              </a:ext>
            </a:extLst>
          </p:cNvPr>
          <p:cNvSpPr txBox="1"/>
          <p:nvPr/>
        </p:nvSpPr>
        <p:spPr>
          <a:xfrm>
            <a:off x="2315881" y="412209"/>
            <a:ext cx="3693640" cy="120032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GB" sz="7200" dirty="0"/>
              <a:t>0.000571</a:t>
            </a:r>
            <a:endParaRPr lang="en-GB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D2D8F7-2D9F-9DE9-95A4-FCCBE636AB87}"/>
              </a:ext>
            </a:extLst>
          </p:cNvPr>
          <p:cNvSpPr txBox="1"/>
          <p:nvPr/>
        </p:nvSpPr>
        <p:spPr>
          <a:xfrm>
            <a:off x="1915411" y="3779057"/>
            <a:ext cx="5548315" cy="144655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GB" sz="8800" dirty="0"/>
              <a:t>57.1 × 1000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12008021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P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A93357-9DDA-750E-5D62-347F9DB49770}"/>
              </a:ext>
            </a:extLst>
          </p:cNvPr>
          <p:cNvSpPr txBox="1"/>
          <p:nvPr/>
        </p:nvSpPr>
        <p:spPr>
          <a:xfrm>
            <a:off x="3252031" y="412209"/>
            <a:ext cx="1821332" cy="120032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GB" sz="7200"/>
              <a:t>57.1</a:t>
            </a:r>
            <a:endParaRPr lang="en-GB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35809D-6D5D-5E44-B4A1-1496E12B68F3}"/>
              </a:ext>
            </a:extLst>
          </p:cNvPr>
          <p:cNvSpPr txBox="1"/>
          <p:nvPr/>
        </p:nvSpPr>
        <p:spPr>
          <a:xfrm>
            <a:off x="2201547" y="3779057"/>
            <a:ext cx="4976042" cy="144655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GB" sz="8800" dirty="0"/>
              <a:t>5.17 × 100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11927743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G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BFED15-47C4-F8C1-10A2-91DA49AA77C1}"/>
              </a:ext>
            </a:extLst>
          </p:cNvPr>
          <p:cNvSpPr txBox="1"/>
          <p:nvPr/>
        </p:nvSpPr>
        <p:spPr>
          <a:xfrm>
            <a:off x="3017995" y="412209"/>
            <a:ext cx="2289409" cy="120032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GB" sz="7200" dirty="0"/>
              <a:t>0.571</a:t>
            </a:r>
            <a:endParaRPr lang="en-GB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920F48-1205-D3F6-BB9D-F4FF1B378066}"/>
              </a:ext>
            </a:extLst>
          </p:cNvPr>
          <p:cNvSpPr txBox="1"/>
          <p:nvPr/>
        </p:nvSpPr>
        <p:spPr>
          <a:xfrm>
            <a:off x="2058079" y="3779057"/>
            <a:ext cx="5262979" cy="144655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GB" sz="8800" dirty="0"/>
              <a:t>517 × 1000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12902232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M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B08AA2-D21C-29E3-8223-D5700B1A72DD}"/>
              </a:ext>
            </a:extLst>
          </p:cNvPr>
          <p:cNvSpPr txBox="1"/>
          <p:nvPr/>
        </p:nvSpPr>
        <p:spPr>
          <a:xfrm>
            <a:off x="3134211" y="412209"/>
            <a:ext cx="2056974" cy="120032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GB" sz="7200" dirty="0"/>
              <a:t>5170</a:t>
            </a:r>
            <a:endParaRPr lang="en-GB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259E4F-8C7A-7A3F-1719-A7048ED32147}"/>
              </a:ext>
            </a:extLst>
          </p:cNvPr>
          <p:cNvSpPr txBox="1"/>
          <p:nvPr/>
        </p:nvSpPr>
        <p:spPr>
          <a:xfrm>
            <a:off x="2058079" y="3779057"/>
            <a:ext cx="5262979" cy="144655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GB" sz="8800" dirty="0"/>
              <a:t>517 ÷ 1000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14779622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T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5B6E0B-52D7-B112-2AFE-5CC6F2028F2E}"/>
              </a:ext>
            </a:extLst>
          </p:cNvPr>
          <p:cNvSpPr txBox="1"/>
          <p:nvPr/>
        </p:nvSpPr>
        <p:spPr>
          <a:xfrm>
            <a:off x="3017996" y="412209"/>
            <a:ext cx="2289409" cy="120032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GB" sz="7200" dirty="0"/>
              <a:t>0.517</a:t>
            </a:r>
            <a:endParaRPr lang="en-GB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0A3DBC-E5D3-14E4-74FB-F90F2B21DB49}"/>
              </a:ext>
            </a:extLst>
          </p:cNvPr>
          <p:cNvSpPr txBox="1"/>
          <p:nvPr/>
        </p:nvSpPr>
        <p:spPr>
          <a:xfrm>
            <a:off x="1629276" y="3779057"/>
            <a:ext cx="6120586" cy="144655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GB" sz="8800" dirty="0"/>
              <a:t>0.571 ÷ 1000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16813591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K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7F8FD3-451C-D8D4-26CC-CFE59DA2396A}"/>
              </a:ext>
            </a:extLst>
          </p:cNvPr>
          <p:cNvSpPr txBox="1"/>
          <p:nvPr/>
        </p:nvSpPr>
        <p:spPr>
          <a:xfrm>
            <a:off x="3368249" y="412209"/>
            <a:ext cx="1588898" cy="120032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GB" sz="7200" dirty="0"/>
              <a:t>517</a:t>
            </a:r>
            <a:endParaRPr lang="en-GB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66B279-E613-C4D4-CA15-82AC1E13351C}"/>
              </a:ext>
            </a:extLst>
          </p:cNvPr>
          <p:cNvSpPr txBox="1"/>
          <p:nvPr/>
        </p:nvSpPr>
        <p:spPr>
          <a:xfrm>
            <a:off x="2201547" y="3779057"/>
            <a:ext cx="4976042" cy="144655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GB" sz="8800" dirty="0"/>
              <a:t>57.1 ÷ 100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8858639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J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E21F70-45C5-9926-6CAD-AFB916778759}"/>
              </a:ext>
            </a:extLst>
          </p:cNvPr>
          <p:cNvSpPr txBox="1"/>
          <p:nvPr/>
        </p:nvSpPr>
        <p:spPr>
          <a:xfrm>
            <a:off x="2900173" y="412209"/>
            <a:ext cx="2525050" cy="120032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GB" sz="7200" dirty="0"/>
              <a:t>57100</a:t>
            </a:r>
            <a:endParaRPr lang="en-GB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37C54F-B1C3-B266-F9C5-120CEFA706D2}"/>
              </a:ext>
            </a:extLst>
          </p:cNvPr>
          <p:cNvSpPr txBox="1"/>
          <p:nvPr/>
        </p:nvSpPr>
        <p:spPr>
          <a:xfrm>
            <a:off x="1915411" y="3779057"/>
            <a:ext cx="5548315" cy="144655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GB" sz="8800" dirty="0"/>
              <a:t>5.71 ÷ 1000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21000392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X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07B070-24F8-0F4A-CD96-0F77A2F9D6D8}"/>
              </a:ext>
            </a:extLst>
          </p:cNvPr>
          <p:cNvSpPr txBox="1"/>
          <p:nvPr/>
        </p:nvSpPr>
        <p:spPr>
          <a:xfrm>
            <a:off x="2549918" y="412209"/>
            <a:ext cx="3225563" cy="120032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GB" sz="7200" dirty="0"/>
              <a:t>0.00571</a:t>
            </a:r>
            <a:endParaRPr lang="en-GB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F24ECB-93B8-9B49-AC76-CC1B3B715C50}"/>
              </a:ext>
            </a:extLst>
          </p:cNvPr>
          <p:cNvSpPr txBox="1"/>
          <p:nvPr/>
        </p:nvSpPr>
        <p:spPr>
          <a:xfrm>
            <a:off x="1771943" y="3779057"/>
            <a:ext cx="5835252" cy="144655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GB" sz="8800" dirty="0"/>
              <a:t>5170 ÷ 1000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29808930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>
                <a:solidFill>
                  <a:schemeClr val="tx1"/>
                </a:solidFill>
                <a:latin typeface="Algerian" panose="04020705040A02060702" pitchFamily="82" charset="0"/>
              </a:rPr>
              <a:t>H</a:t>
            </a:r>
            <a:endParaRPr lang="en-GB" sz="8000" dirty="0">
              <a:solidFill>
                <a:schemeClr val="tx1"/>
              </a:solidFill>
              <a:latin typeface="Algerian" panose="04020705040A02060702" pitchFamily="82" charset="0"/>
            </a:endParaRP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1F3509-39D5-F645-AE8B-F8390A4C49F3}"/>
              </a:ext>
            </a:extLst>
          </p:cNvPr>
          <p:cNvSpPr txBox="1"/>
          <p:nvPr/>
        </p:nvSpPr>
        <p:spPr>
          <a:xfrm>
            <a:off x="3134214" y="412209"/>
            <a:ext cx="2056973" cy="120032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GB" sz="7200" dirty="0"/>
              <a:t>5710</a:t>
            </a:r>
            <a:endParaRPr lang="en-GB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919FA4-0815-B23B-0597-441FCF3CFFF4}"/>
              </a:ext>
            </a:extLst>
          </p:cNvPr>
          <p:cNvSpPr txBox="1"/>
          <p:nvPr/>
        </p:nvSpPr>
        <p:spPr>
          <a:xfrm>
            <a:off x="1915412" y="3779057"/>
            <a:ext cx="5548314" cy="144655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GB" sz="8800" dirty="0"/>
              <a:t>0.571 × 100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23080251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Q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851DCB-5AFD-DE7B-0151-53684A9635BC}"/>
              </a:ext>
            </a:extLst>
          </p:cNvPr>
          <p:cNvSpPr txBox="1"/>
          <p:nvPr/>
        </p:nvSpPr>
        <p:spPr>
          <a:xfrm>
            <a:off x="3252033" y="412209"/>
            <a:ext cx="1821332" cy="120032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GB" sz="7200" dirty="0"/>
              <a:t>5.17</a:t>
            </a:r>
            <a:endParaRPr lang="en-GB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C8C063-2D60-8E87-9704-10E71680AA69}"/>
              </a:ext>
            </a:extLst>
          </p:cNvPr>
          <p:cNvSpPr txBox="1"/>
          <p:nvPr/>
        </p:nvSpPr>
        <p:spPr>
          <a:xfrm>
            <a:off x="2487683" y="3779057"/>
            <a:ext cx="4403770" cy="144655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GB" sz="8800" dirty="0"/>
              <a:t>5.17 × 10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24222408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S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3C6C24-1559-8313-1531-6CF82FEA05C7}"/>
              </a:ext>
            </a:extLst>
          </p:cNvPr>
          <p:cNvSpPr txBox="1"/>
          <p:nvPr/>
        </p:nvSpPr>
        <p:spPr>
          <a:xfrm>
            <a:off x="3252032" y="412209"/>
            <a:ext cx="1821332" cy="120032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GB" sz="7200" dirty="0"/>
              <a:t>51.7</a:t>
            </a:r>
            <a:endParaRPr lang="en-GB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524D6E-3BCC-F8AA-C1EE-609600EE0A3B}"/>
              </a:ext>
            </a:extLst>
          </p:cNvPr>
          <p:cNvSpPr txBox="1"/>
          <p:nvPr/>
        </p:nvSpPr>
        <p:spPr>
          <a:xfrm>
            <a:off x="2201548" y="3779057"/>
            <a:ext cx="4976041" cy="144655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GB" sz="8800" dirty="0"/>
              <a:t>5.71 × 100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36743982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L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3A9B4F-EB3C-8644-B14F-5EB3CEF2CD74}"/>
              </a:ext>
            </a:extLst>
          </p:cNvPr>
          <p:cNvSpPr txBox="1"/>
          <p:nvPr/>
        </p:nvSpPr>
        <p:spPr>
          <a:xfrm>
            <a:off x="3368249" y="412209"/>
            <a:ext cx="1588898" cy="120032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GB" sz="7200" dirty="0"/>
              <a:t>571</a:t>
            </a:r>
            <a:endParaRPr lang="en-GB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166AAD-597E-0F28-69D5-187ADFF0F952}"/>
              </a:ext>
            </a:extLst>
          </p:cNvPr>
          <p:cNvSpPr txBox="1"/>
          <p:nvPr/>
        </p:nvSpPr>
        <p:spPr>
          <a:xfrm>
            <a:off x="1485807" y="3779057"/>
            <a:ext cx="6407523" cy="144655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GB" sz="8800" dirty="0"/>
              <a:t>571000 ÷ 100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15133664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V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F1EA32-EF6E-D4EF-DFAD-E1F93360817D}"/>
              </a:ext>
            </a:extLst>
          </p:cNvPr>
          <p:cNvSpPr txBox="1"/>
          <p:nvPr/>
        </p:nvSpPr>
        <p:spPr>
          <a:xfrm>
            <a:off x="2549918" y="412209"/>
            <a:ext cx="3225562" cy="120032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GB" sz="7200" dirty="0"/>
              <a:t>0.00517</a:t>
            </a:r>
            <a:endParaRPr lang="en-GB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D5770B-7E75-B4D2-8BC2-6EB3649E43CB}"/>
              </a:ext>
            </a:extLst>
          </p:cNvPr>
          <p:cNvSpPr txBox="1"/>
          <p:nvPr/>
        </p:nvSpPr>
        <p:spPr>
          <a:xfrm>
            <a:off x="2201548" y="3779057"/>
            <a:ext cx="4976041" cy="144655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GB" sz="8800" dirty="0"/>
              <a:t>51.7 × 100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42586805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04D95A3-C619-4B98-A2F7-AC88B07141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5890166"/>
              </p:ext>
            </p:extLst>
          </p:nvPr>
        </p:nvGraphicFramePr>
        <p:xfrm>
          <a:off x="87087" y="391887"/>
          <a:ext cx="9649090" cy="6334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5498">
                  <a:extLst>
                    <a:ext uri="{9D8B030D-6E8A-4147-A177-3AD203B41FA5}">
                      <a16:colId xmlns:a16="http://schemas.microsoft.com/office/drawing/2014/main" val="4241353267"/>
                    </a:ext>
                  </a:extLst>
                </a:gridCol>
                <a:gridCol w="1517973">
                  <a:extLst>
                    <a:ext uri="{9D8B030D-6E8A-4147-A177-3AD203B41FA5}">
                      <a16:colId xmlns:a16="http://schemas.microsoft.com/office/drawing/2014/main" val="2660725730"/>
                    </a:ext>
                  </a:extLst>
                </a:gridCol>
                <a:gridCol w="895498">
                  <a:extLst>
                    <a:ext uri="{9D8B030D-6E8A-4147-A177-3AD203B41FA5}">
                      <a16:colId xmlns:a16="http://schemas.microsoft.com/office/drawing/2014/main" val="151696040"/>
                    </a:ext>
                  </a:extLst>
                </a:gridCol>
                <a:gridCol w="1516375">
                  <a:extLst>
                    <a:ext uri="{9D8B030D-6E8A-4147-A177-3AD203B41FA5}">
                      <a16:colId xmlns:a16="http://schemas.microsoft.com/office/drawing/2014/main" val="2268253823"/>
                    </a:ext>
                  </a:extLst>
                </a:gridCol>
                <a:gridCol w="895498">
                  <a:extLst>
                    <a:ext uri="{9D8B030D-6E8A-4147-A177-3AD203B41FA5}">
                      <a16:colId xmlns:a16="http://schemas.microsoft.com/office/drawing/2014/main" val="2903375927"/>
                    </a:ext>
                  </a:extLst>
                </a:gridCol>
                <a:gridCol w="1516375">
                  <a:extLst>
                    <a:ext uri="{9D8B030D-6E8A-4147-A177-3AD203B41FA5}">
                      <a16:colId xmlns:a16="http://schemas.microsoft.com/office/drawing/2014/main" val="581000434"/>
                    </a:ext>
                  </a:extLst>
                </a:gridCol>
                <a:gridCol w="895498">
                  <a:extLst>
                    <a:ext uri="{9D8B030D-6E8A-4147-A177-3AD203B41FA5}">
                      <a16:colId xmlns:a16="http://schemas.microsoft.com/office/drawing/2014/main" val="358275657"/>
                    </a:ext>
                  </a:extLst>
                </a:gridCol>
                <a:gridCol w="1516375">
                  <a:extLst>
                    <a:ext uri="{9D8B030D-6E8A-4147-A177-3AD203B41FA5}">
                      <a16:colId xmlns:a16="http://schemas.microsoft.com/office/drawing/2014/main" val="2756706607"/>
                    </a:ext>
                  </a:extLst>
                </a:gridCol>
              </a:tblGrid>
              <a:tr h="446784"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Барак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Жооп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Барак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Жооп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Барак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Жооп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Барак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Жооп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9351622"/>
                  </a:ext>
                </a:extLst>
              </a:tr>
              <a:tr h="1471812"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solidFill>
                            <a:sysClr val="windowText" lastClr="000000"/>
                          </a:solidFill>
                        </a:rPr>
                        <a:t>P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517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/>
                        <a:t>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5.71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solidFill>
                            <a:sysClr val="windowText" lastClr="000000"/>
                          </a:solidFill>
                        </a:rPr>
                        <a:t>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0.000571</a:t>
                      </a:r>
                      <a:endParaRPr kumimoji="0" lang="en-GB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solidFill>
                            <a:sysClr val="windowText" lastClr="000000"/>
                          </a:solidFill>
                        </a:rPr>
                        <a:t>Q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51.7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9080002"/>
                  </a:ext>
                </a:extLst>
              </a:tr>
              <a:tr h="1471812"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solidFill>
                            <a:sysClr val="windowText" lastClr="000000"/>
                          </a:solidFill>
                        </a:rPr>
                        <a:t>K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0.571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/>
                        <a:t>F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0.00517</a:t>
                      </a:r>
                      <a:endParaRPr kumimoji="0" lang="en-GB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solidFill>
                            <a:sysClr val="windowText" lastClr="000000"/>
                          </a:solidFill>
                        </a:rPr>
                        <a:t>W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57100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solidFill>
                            <a:sysClr val="windowText" lastClr="000000"/>
                          </a:solidFill>
                        </a:rPr>
                        <a:t>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571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699499"/>
                  </a:ext>
                </a:extLst>
              </a:tr>
              <a:tr h="1471812"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solidFill>
                            <a:sysClr val="windowText" lastClr="000000"/>
                          </a:solidFill>
                        </a:rPr>
                        <a:t>G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517000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solidFill>
                            <a:sysClr val="windowText" lastClr="000000"/>
                          </a:solidFill>
                        </a:rPr>
                        <a:t>V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5170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solidFill>
                            <a:sysClr val="windowText" lastClr="000000"/>
                          </a:solidFill>
                        </a:rPr>
                        <a:t>J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0.00571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solidFill>
                            <a:sysClr val="windowText" lastClr="000000"/>
                          </a:solidFill>
                        </a:rPr>
                        <a:t>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5710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976582"/>
                  </a:ext>
                </a:extLst>
              </a:tr>
              <a:tr h="1471812"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solidFill>
                            <a:sysClr val="windowText" lastClr="000000"/>
                          </a:solidFill>
                        </a:rPr>
                        <a:t>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0.0517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solidFill>
                            <a:sysClr val="windowText" lastClr="000000"/>
                          </a:solidFill>
                        </a:rPr>
                        <a:t>M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0.517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solidFill>
                            <a:sysClr val="windowText" lastClr="000000"/>
                          </a:solidFill>
                        </a:rPr>
                        <a:t>X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5.17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solidFill>
                            <a:sysClr val="windowText" lastClr="000000"/>
                          </a:solidFill>
                        </a:rPr>
                        <a:t>H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57.1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588563"/>
                  </a:ext>
                </a:extLst>
              </a:tr>
            </a:tbl>
          </a:graphicData>
        </a:graphic>
      </p:graphicFrame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0761BAE-9412-451C-8B90-09E585CA2ACA}"/>
              </a:ext>
            </a:extLst>
          </p:cNvPr>
          <p:cNvCxnSpPr>
            <a:cxnSpLocks/>
          </p:cNvCxnSpPr>
          <p:nvPr/>
        </p:nvCxnSpPr>
        <p:spPr>
          <a:xfrm>
            <a:off x="174174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5C25F2F-F81E-4959-B866-200B280E8311}"/>
              </a:ext>
            </a:extLst>
          </p:cNvPr>
          <p:cNvCxnSpPr>
            <a:cxnSpLocks/>
          </p:cNvCxnSpPr>
          <p:nvPr/>
        </p:nvCxnSpPr>
        <p:spPr>
          <a:xfrm>
            <a:off x="5004528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2E41258-949A-45B5-B9DA-CEAC5643E0FE}"/>
              </a:ext>
            </a:extLst>
          </p:cNvPr>
          <p:cNvCxnSpPr>
            <a:cxnSpLocks/>
          </p:cNvCxnSpPr>
          <p:nvPr/>
        </p:nvCxnSpPr>
        <p:spPr>
          <a:xfrm>
            <a:off x="2589351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484486A-82F5-4658-8436-AD4CAEBBC1CE}"/>
              </a:ext>
            </a:extLst>
          </p:cNvPr>
          <p:cNvCxnSpPr>
            <a:cxnSpLocks/>
          </p:cNvCxnSpPr>
          <p:nvPr/>
        </p:nvCxnSpPr>
        <p:spPr>
          <a:xfrm>
            <a:off x="7419706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2543F6E-4978-46E1-B062-F1D3A5125429}"/>
              </a:ext>
            </a:extLst>
          </p:cNvPr>
          <p:cNvSpPr txBox="1"/>
          <p:nvPr/>
        </p:nvSpPr>
        <p:spPr>
          <a:xfrm>
            <a:off x="-31342" y="-26118"/>
            <a:ext cx="3059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u="sng" dirty="0"/>
              <a:t>Мугалимдин жооп барагы</a:t>
            </a:r>
            <a:endParaRPr lang="en-GB" sz="2000" u="sng" dirty="0"/>
          </a:p>
        </p:txBody>
      </p:sp>
    </p:spTree>
    <p:extLst>
      <p:ext uri="{BB962C8B-B14F-4D97-AF65-F5344CB8AC3E}">
        <p14:creationId xmlns:p14="http://schemas.microsoft.com/office/powerpoint/2010/main" val="30809151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929F260A-33A7-44B1-B56C-F2E27011A86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28" r="13437" b="13507"/>
          <a:stretch/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5720089-C4D2-45A2-90BB-F14332D2BA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3386" y="412577"/>
            <a:ext cx="3764281" cy="5379158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305EF85-5BA6-4C13-B25F-C8137E5277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4197836"/>
              </p:ext>
            </p:extLst>
          </p:nvPr>
        </p:nvGraphicFramePr>
        <p:xfrm>
          <a:off x="1524440" y="1162106"/>
          <a:ext cx="6857120" cy="5497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424">
                  <a:extLst>
                    <a:ext uri="{9D8B030D-6E8A-4147-A177-3AD203B41FA5}">
                      <a16:colId xmlns:a16="http://schemas.microsoft.com/office/drawing/2014/main" val="3761786079"/>
                    </a:ext>
                  </a:extLst>
                </a:gridCol>
                <a:gridCol w="1371424">
                  <a:extLst>
                    <a:ext uri="{9D8B030D-6E8A-4147-A177-3AD203B41FA5}">
                      <a16:colId xmlns:a16="http://schemas.microsoft.com/office/drawing/2014/main" val="281624370"/>
                    </a:ext>
                  </a:extLst>
                </a:gridCol>
                <a:gridCol w="1371424">
                  <a:extLst>
                    <a:ext uri="{9D8B030D-6E8A-4147-A177-3AD203B41FA5}">
                      <a16:colId xmlns:a16="http://schemas.microsoft.com/office/drawing/2014/main" val="3424541694"/>
                    </a:ext>
                  </a:extLst>
                </a:gridCol>
                <a:gridCol w="1371424">
                  <a:extLst>
                    <a:ext uri="{9D8B030D-6E8A-4147-A177-3AD203B41FA5}">
                      <a16:colId xmlns:a16="http://schemas.microsoft.com/office/drawing/2014/main" val="2437265853"/>
                    </a:ext>
                  </a:extLst>
                </a:gridCol>
                <a:gridCol w="1371424">
                  <a:extLst>
                    <a:ext uri="{9D8B030D-6E8A-4147-A177-3AD203B41FA5}">
                      <a16:colId xmlns:a16="http://schemas.microsoft.com/office/drawing/2014/main" val="4059675182"/>
                    </a:ext>
                  </a:extLst>
                </a:gridCol>
              </a:tblGrid>
              <a:tr h="916268">
                <a:tc>
                  <a:txBody>
                    <a:bodyPr/>
                    <a:lstStyle/>
                    <a:p>
                      <a:pPr algn="ctr"/>
                      <a:r>
                        <a:rPr lang="en-GB" sz="54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P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K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G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N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R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3299326996"/>
                  </a:ext>
                </a:extLst>
              </a:tr>
              <a:tr h="9162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5400" b="0" dirty="0">
                          <a:latin typeface="Algerian" panose="04020705040A02060702" pitchFamily="82" charset="0"/>
                        </a:rPr>
                        <a:t>F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754123776"/>
                  </a:ext>
                </a:extLst>
              </a:tr>
              <a:tr h="9162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5400" b="0" dirty="0">
                          <a:latin typeface="Algerian" panose="04020705040A02060702" pitchFamily="82" charset="0"/>
                        </a:rPr>
                        <a:t>V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4123062466"/>
                  </a:ext>
                </a:extLst>
              </a:tr>
              <a:tr h="9162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latin typeface="Algerian" panose="04020705040A02060702" pitchFamily="82" charset="0"/>
                        </a:rPr>
                        <a:t>H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5400" b="0" dirty="0">
                          <a:latin typeface="Algerian" panose="04020705040A02060702" pitchFamily="82" charset="0"/>
                        </a:rPr>
                        <a:t>M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2180976631"/>
                  </a:ext>
                </a:extLst>
              </a:tr>
              <a:tr h="9162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latin typeface="Algerian" panose="04020705040A02060702" pitchFamily="82" charset="0"/>
                        </a:rPr>
                        <a:t>L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5400" b="0" dirty="0">
                          <a:latin typeface="Algerian" panose="04020705040A02060702" pitchFamily="82" charset="0"/>
                        </a:rPr>
                        <a:t>T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46795287"/>
                  </a:ext>
                </a:extLst>
              </a:tr>
              <a:tr h="9162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latin typeface="Algerian" panose="04020705040A02060702" pitchFamily="82" charset="0"/>
                        </a:rPr>
                        <a:t>S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latin typeface="Algerian" panose="04020705040A02060702" pitchFamily="82" charset="0"/>
                        </a:rPr>
                        <a:t>Q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latin typeface="Algerian" panose="04020705040A02060702" pitchFamily="82" charset="0"/>
                        </a:rPr>
                        <a:t>X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latin typeface="Algerian" panose="04020705040A02060702" pitchFamily="82" charset="0"/>
                        </a:rPr>
                        <a:t>J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latin typeface="Algerian" panose="04020705040A02060702" pitchFamily="82" charset="0"/>
                        </a:rPr>
                        <a:t>W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2644428158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42D475E4-94A0-49DA-8DB9-89357D0DB676}"/>
              </a:ext>
            </a:extLst>
          </p:cNvPr>
          <p:cNvSpPr/>
          <p:nvPr/>
        </p:nvSpPr>
        <p:spPr>
          <a:xfrm>
            <a:off x="3196846" y="54354"/>
            <a:ext cx="3512307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y-KG" sz="6600" cap="none" spc="0" dirty="0">
                <a:ln w="19050">
                  <a:solidFill>
                    <a:schemeClr val="tx1">
                      <a:lumMod val="85000"/>
                      <a:lumOff val="15000"/>
                    </a:schemeClr>
                  </a:solidFill>
                  <a:prstDash val="solid"/>
                </a:ln>
                <a:solidFill>
                  <a:srgbClr val="FFC00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lgerian" panose="04020705040A02060702" pitchFamily="82" charset="0"/>
              </a:rPr>
              <a:t>жооптор</a:t>
            </a:r>
            <a:endParaRPr lang="en-US" sz="6600" cap="none" spc="0" dirty="0">
              <a:ln w="19050">
                <a:solidFill>
                  <a:schemeClr val="tx1">
                    <a:lumMod val="85000"/>
                    <a:lumOff val="15000"/>
                  </a:schemeClr>
                </a:solidFill>
                <a:prstDash val="solid"/>
              </a:ln>
              <a:solidFill>
                <a:srgbClr val="FFC00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Algerian" panose="04020705040A02060702" pitchFamily="82" charset="0"/>
            </a:endParaRPr>
          </a:p>
        </p:txBody>
      </p:sp>
      <p:sp>
        <p:nvSpPr>
          <p:cNvPr id="2" name="Arrow: Up 1">
            <a:extLst>
              <a:ext uri="{FF2B5EF4-FFF2-40B4-BE49-F238E27FC236}">
                <a16:creationId xmlns:a16="http://schemas.microsoft.com/office/drawing/2014/main" id="{74A553F8-1667-4FA5-AB72-4BA850A300ED}"/>
              </a:ext>
            </a:extLst>
          </p:cNvPr>
          <p:cNvSpPr/>
          <p:nvPr/>
        </p:nvSpPr>
        <p:spPr>
          <a:xfrm>
            <a:off x="1780645" y="2299063"/>
            <a:ext cx="910304" cy="1448672"/>
          </a:xfrm>
          <a:prstGeom prst="upArrow">
            <a:avLst/>
          </a:prstGeom>
          <a:solidFill>
            <a:srgbClr val="FFC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F6F3053-918E-491C-ABAD-C495771EBD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7544" y="2804160"/>
            <a:ext cx="2850912" cy="2708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9275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04D95A3-C619-4B98-A2F7-AC88B07141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9351453"/>
              </p:ext>
            </p:extLst>
          </p:nvPr>
        </p:nvGraphicFramePr>
        <p:xfrm>
          <a:off x="87087" y="391887"/>
          <a:ext cx="9649090" cy="6334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5498">
                  <a:extLst>
                    <a:ext uri="{9D8B030D-6E8A-4147-A177-3AD203B41FA5}">
                      <a16:colId xmlns:a16="http://schemas.microsoft.com/office/drawing/2014/main" val="4241353267"/>
                    </a:ext>
                  </a:extLst>
                </a:gridCol>
                <a:gridCol w="1517973">
                  <a:extLst>
                    <a:ext uri="{9D8B030D-6E8A-4147-A177-3AD203B41FA5}">
                      <a16:colId xmlns:a16="http://schemas.microsoft.com/office/drawing/2014/main" val="2660725730"/>
                    </a:ext>
                  </a:extLst>
                </a:gridCol>
                <a:gridCol w="895498">
                  <a:extLst>
                    <a:ext uri="{9D8B030D-6E8A-4147-A177-3AD203B41FA5}">
                      <a16:colId xmlns:a16="http://schemas.microsoft.com/office/drawing/2014/main" val="151696040"/>
                    </a:ext>
                  </a:extLst>
                </a:gridCol>
                <a:gridCol w="1516375">
                  <a:extLst>
                    <a:ext uri="{9D8B030D-6E8A-4147-A177-3AD203B41FA5}">
                      <a16:colId xmlns:a16="http://schemas.microsoft.com/office/drawing/2014/main" val="2268253823"/>
                    </a:ext>
                  </a:extLst>
                </a:gridCol>
                <a:gridCol w="895498">
                  <a:extLst>
                    <a:ext uri="{9D8B030D-6E8A-4147-A177-3AD203B41FA5}">
                      <a16:colId xmlns:a16="http://schemas.microsoft.com/office/drawing/2014/main" val="2903375927"/>
                    </a:ext>
                  </a:extLst>
                </a:gridCol>
                <a:gridCol w="1516375">
                  <a:extLst>
                    <a:ext uri="{9D8B030D-6E8A-4147-A177-3AD203B41FA5}">
                      <a16:colId xmlns:a16="http://schemas.microsoft.com/office/drawing/2014/main" val="581000434"/>
                    </a:ext>
                  </a:extLst>
                </a:gridCol>
                <a:gridCol w="895498">
                  <a:extLst>
                    <a:ext uri="{9D8B030D-6E8A-4147-A177-3AD203B41FA5}">
                      <a16:colId xmlns:a16="http://schemas.microsoft.com/office/drawing/2014/main" val="358275657"/>
                    </a:ext>
                  </a:extLst>
                </a:gridCol>
                <a:gridCol w="1516375">
                  <a:extLst>
                    <a:ext uri="{9D8B030D-6E8A-4147-A177-3AD203B41FA5}">
                      <a16:colId xmlns:a16="http://schemas.microsoft.com/office/drawing/2014/main" val="2756706607"/>
                    </a:ext>
                  </a:extLst>
                </a:gridCol>
              </a:tblGrid>
              <a:tr h="446784"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Барак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Жооп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Барак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Жооп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Барак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Жооп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Барак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Жооп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9351622"/>
                  </a:ext>
                </a:extLst>
              </a:tr>
              <a:tr h="1471812">
                <a:tc>
                  <a:txBody>
                    <a:bodyPr/>
                    <a:lstStyle/>
                    <a:p>
                      <a:pPr algn="ctr"/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9080002"/>
                  </a:ext>
                </a:extLst>
              </a:tr>
              <a:tr h="1471812">
                <a:tc>
                  <a:txBody>
                    <a:bodyPr/>
                    <a:lstStyle/>
                    <a:p>
                      <a:pPr algn="ctr"/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699499"/>
                  </a:ext>
                </a:extLst>
              </a:tr>
              <a:tr h="1471812">
                <a:tc>
                  <a:txBody>
                    <a:bodyPr/>
                    <a:lstStyle/>
                    <a:p>
                      <a:pPr algn="ctr"/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976582"/>
                  </a:ext>
                </a:extLst>
              </a:tr>
              <a:tr h="1471812">
                <a:tc>
                  <a:txBody>
                    <a:bodyPr/>
                    <a:lstStyle/>
                    <a:p>
                      <a:pPr algn="ctr"/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58856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89BF481E-DFCA-4BA6-9DBD-F16F6705123C}"/>
              </a:ext>
            </a:extLst>
          </p:cNvPr>
          <p:cNvSpPr txBox="1"/>
          <p:nvPr/>
        </p:nvSpPr>
        <p:spPr>
          <a:xfrm>
            <a:off x="-31342" y="-26118"/>
            <a:ext cx="15757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u="sng" dirty="0"/>
              <a:t>Жооп кагазы</a:t>
            </a:r>
            <a:endParaRPr lang="en-GB" sz="2000" u="sng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0761BAE-9412-451C-8B90-09E585CA2ACA}"/>
              </a:ext>
            </a:extLst>
          </p:cNvPr>
          <p:cNvCxnSpPr>
            <a:cxnSpLocks/>
          </p:cNvCxnSpPr>
          <p:nvPr/>
        </p:nvCxnSpPr>
        <p:spPr>
          <a:xfrm>
            <a:off x="174174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5C25F2F-F81E-4959-B866-200B280E8311}"/>
              </a:ext>
            </a:extLst>
          </p:cNvPr>
          <p:cNvCxnSpPr>
            <a:cxnSpLocks/>
          </p:cNvCxnSpPr>
          <p:nvPr/>
        </p:nvCxnSpPr>
        <p:spPr>
          <a:xfrm>
            <a:off x="5004528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2E41258-949A-45B5-B9DA-CEAC5643E0FE}"/>
              </a:ext>
            </a:extLst>
          </p:cNvPr>
          <p:cNvCxnSpPr>
            <a:cxnSpLocks/>
          </p:cNvCxnSpPr>
          <p:nvPr/>
        </p:nvCxnSpPr>
        <p:spPr>
          <a:xfrm>
            <a:off x="2589351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484486A-82F5-4658-8436-AD4CAEBBC1CE}"/>
              </a:ext>
            </a:extLst>
          </p:cNvPr>
          <p:cNvCxnSpPr>
            <a:cxnSpLocks/>
          </p:cNvCxnSpPr>
          <p:nvPr/>
        </p:nvCxnSpPr>
        <p:spPr>
          <a:xfrm>
            <a:off x="7419706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05636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CFBF105-B54A-9D9D-8DA2-DA815EC9EE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805680" cy="3429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2A3111D-B603-120F-393E-38B9E63BE4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5680" y="33045"/>
            <a:ext cx="5011616" cy="33959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C12CB95-5463-1993-8693-ED09E4F2BB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29000"/>
            <a:ext cx="4805680" cy="3429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7296664-37F6-D67F-E2D4-695CBBED33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5680" y="3462045"/>
            <a:ext cx="5011616" cy="3395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3298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727800"/>
            <a:ext cx="9240883" cy="587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19926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8368</TotalTime>
  <Words>282</Words>
  <Application>Microsoft Office PowerPoint</Application>
  <PresentationFormat>A4 Paper (210x297 mm)</PresentationFormat>
  <Paragraphs>140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Calibri Light</vt:lpstr>
      <vt:lpstr>Arial</vt:lpstr>
      <vt:lpstr>Algerian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375</cp:revision>
  <cp:lastPrinted>2023-07-25T11:10:43Z</cp:lastPrinted>
  <dcterms:created xsi:type="dcterms:W3CDTF">2017-01-17T16:57:04Z</dcterms:created>
  <dcterms:modified xsi:type="dcterms:W3CDTF">2024-08-29T08:34:26Z</dcterms:modified>
</cp:coreProperties>
</file>