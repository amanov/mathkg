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5"/>
  </p:notesMasterIdLst>
  <p:sldIdLst>
    <p:sldId id="1059" r:id="rId2"/>
    <p:sldId id="1060" r:id="rId3"/>
    <p:sldId id="894" r:id="rId4"/>
    <p:sldId id="895" r:id="rId5"/>
    <p:sldId id="900" r:id="rId6"/>
    <p:sldId id="939" r:id="rId7"/>
    <p:sldId id="904" r:id="rId8"/>
    <p:sldId id="899" r:id="rId9"/>
    <p:sldId id="887" r:id="rId10"/>
    <p:sldId id="898" r:id="rId11"/>
    <p:sldId id="891" r:id="rId12"/>
    <p:sldId id="897" r:id="rId13"/>
    <p:sldId id="901" r:id="rId14"/>
    <p:sldId id="902" r:id="rId15"/>
    <p:sldId id="903" r:id="rId16"/>
    <p:sldId id="892" r:id="rId17"/>
    <p:sldId id="896" r:id="rId18"/>
    <p:sldId id="893" r:id="rId19"/>
    <p:sldId id="890" r:id="rId20"/>
    <p:sldId id="889" r:id="rId21"/>
    <p:sldId id="1061" r:id="rId22"/>
    <p:sldId id="1062" r:id="rId23"/>
    <p:sldId id="967" r:id="rId24"/>
  </p:sldIdLst>
  <p:sldSz cx="9906000" cy="6858000" type="A4"/>
  <p:notesSz cx="6669088" cy="9926638"/>
  <p:embeddedFontLst>
    <p:embeddedFont>
      <p:font typeface="Algerian" panose="04020705040A02060702" pitchFamily="82" charset="0"/>
      <p:regular r:id="rId26"/>
    </p:embeddedFont>
    <p:embeddedFont>
      <p:font typeface="Cambria Math" panose="02040503050406030204" pitchFamily="18" charset="0"/>
      <p:regular r:id="rId2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7BC8FAF0-C320-415E-87E9-1C6F0587BAEF}">
          <p14:sldIdLst>
            <p14:sldId id="1059"/>
          </p14:sldIdLst>
        </p14:section>
        <p14:section name="Титулдук слайд" id="{BD3F2AD0-4D3E-4999-8D3C-DC4D710531BD}">
          <p14:sldIdLst>
            <p14:sldId id="1060"/>
          </p14:sldIdLst>
        </p14:section>
        <p14:section name="А4 форматындагы плакаттар" id="{03DD8F7C-D35F-4E4B-9282-6A82783B2D88}">
          <p14:sldIdLst>
            <p14:sldId id="894"/>
            <p14:sldId id="895"/>
            <p14:sldId id="900"/>
            <p14:sldId id="939"/>
            <p14:sldId id="904"/>
            <p14:sldId id="899"/>
            <p14:sldId id="887"/>
            <p14:sldId id="898"/>
            <p14:sldId id="891"/>
            <p14:sldId id="897"/>
            <p14:sldId id="901"/>
            <p14:sldId id="902"/>
            <p14:sldId id="903"/>
            <p14:sldId id="892"/>
            <p14:sldId id="896"/>
            <p14:sldId id="893"/>
          </p14:sldIdLst>
        </p14:section>
        <p14:section name="Мугалимдин жооп баракчасы" id="{64D9EF62-CF08-4BFF-B5AD-DEFE555334F2}">
          <p14:sldIdLst>
            <p14:sldId id="890"/>
          </p14:sldIdLst>
        </p14:section>
        <p14:section name="Жооптор" id="{4DCA0740-8998-4120-8F8E-E137F33F62AA}">
          <p14:sldIdLst>
            <p14:sldId id="889"/>
          </p14:sldIdLst>
        </p14:section>
        <p14:section name="Окуучулардын жооп баракчасы" id="{3A740BE4-45AA-4B49-A62A-26F002944D9D}">
          <p14:sldIdLst>
            <p14:sldId id="1061"/>
            <p14:sldId id="1062"/>
          </p14:sldIdLst>
        </p14:section>
        <p14:section name="Кайтарым байланыш" id="{42C022F1-9868-458C-8D47-B0F178A496EE}">
          <p14:sldIdLst>
            <p14:sldId id="9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000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7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235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9/13/2024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jpe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196A19-4AB1-E647-240D-F68B9B60A45B}"/>
              </a:ext>
            </a:extLst>
          </p:cNvPr>
          <p:cNvSpPr txBox="1"/>
          <p:nvPr/>
        </p:nvSpPr>
        <p:spPr>
          <a:xfrm>
            <a:off x="314960" y="856357"/>
            <a:ext cx="959104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ky-KG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b="1" dirty="0"/>
              <a:t>Ондуктар – Турмуштан эсептер – Калькуляторсуз  иштөө – Казына Издөө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 ж</a:t>
            </a:r>
            <a:r>
              <a:rPr lang="en-US" sz="2400" dirty="0" err="1"/>
              <a:t>еке</a:t>
            </a:r>
            <a:r>
              <a:rPr lang="en-US" sz="2400" dirty="0"/>
              <a:t>  (</a:t>
            </a:r>
            <a:r>
              <a:rPr lang="en-US" sz="2400" dirty="0" err="1"/>
              <a:t>же</a:t>
            </a:r>
            <a:r>
              <a:rPr lang="en-US" sz="2400" dirty="0"/>
              <a:t> </a:t>
            </a:r>
            <a:r>
              <a:rPr lang="en-US" sz="2400" dirty="0" err="1"/>
              <a:t>жуп</a:t>
            </a:r>
            <a:r>
              <a:rPr lang="ky-KG" sz="2400" dirty="0"/>
              <a:t> болуп</a:t>
            </a:r>
            <a:r>
              <a:rPr lang="en-US" sz="2400" dirty="0"/>
              <a:t>) </a:t>
            </a:r>
            <a:r>
              <a:rPr lang="en-US" sz="2400" dirty="0" err="1"/>
              <a:t>каалаган</a:t>
            </a:r>
            <a:r>
              <a:rPr lang="en-US" sz="2400" dirty="0"/>
              <a:t> </a:t>
            </a:r>
            <a:r>
              <a:rPr lang="en-US" sz="2400" dirty="0" err="1"/>
              <a:t>суроо</a:t>
            </a:r>
            <a:r>
              <a:rPr lang="en-US" sz="2400" dirty="0"/>
              <a:t> </a:t>
            </a:r>
            <a:r>
              <a:rPr lang="en-US" sz="2400" dirty="0" err="1"/>
              <a:t>плакатта</a:t>
            </a:r>
            <a:r>
              <a:rPr lang="ky-KG" sz="2400" dirty="0"/>
              <a:t>н</a:t>
            </a:r>
            <a:r>
              <a:rPr lang="en-US" sz="2400" dirty="0"/>
              <a:t> </a:t>
            </a:r>
            <a:r>
              <a:rPr lang="en-US" sz="2400" dirty="0" err="1"/>
              <a:t>баштай</a:t>
            </a:r>
            <a:r>
              <a:rPr lang="en-US" sz="2400" dirty="0"/>
              <a:t> </a:t>
            </a:r>
            <a:r>
              <a:rPr lang="en-US" sz="2400" dirty="0" err="1"/>
              <a:t>алышат</a:t>
            </a:r>
            <a:r>
              <a:rPr lang="en-US" sz="2400" dirty="0"/>
              <a:t>.</a:t>
            </a:r>
          </a:p>
          <a:p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Алар</a:t>
            </a:r>
            <a:r>
              <a:rPr lang="en-US" sz="2400" dirty="0"/>
              <a:t> </a:t>
            </a:r>
            <a:r>
              <a:rPr lang="en-US" sz="2400" dirty="0" err="1"/>
              <a:t>жоопту</a:t>
            </a:r>
            <a:r>
              <a:rPr lang="en-US" sz="2400" dirty="0"/>
              <a:t> </a:t>
            </a:r>
            <a:r>
              <a:rPr lang="en-US" sz="2400" dirty="0" err="1"/>
              <a:t>эсептеп</a:t>
            </a:r>
            <a:r>
              <a:rPr lang="en-US" sz="2400" dirty="0"/>
              <a:t> </a:t>
            </a:r>
            <a:r>
              <a:rPr lang="en-US" sz="2400" dirty="0" err="1"/>
              <a:t>чыккандан</a:t>
            </a:r>
            <a:r>
              <a:rPr lang="en-US" sz="2400" dirty="0"/>
              <a:t> </a:t>
            </a:r>
            <a:r>
              <a:rPr lang="en-US" sz="2400" dirty="0" err="1"/>
              <a:t>кийин</a:t>
            </a:r>
            <a:r>
              <a:rPr lang="en-US" sz="2400" dirty="0"/>
              <a:t>,  </a:t>
            </a:r>
            <a:r>
              <a:rPr lang="en-US" sz="2400" dirty="0" err="1"/>
              <a:t>ошол</a:t>
            </a:r>
            <a:r>
              <a:rPr lang="en-US" sz="2400" dirty="0"/>
              <a:t> </a:t>
            </a:r>
            <a:r>
              <a:rPr lang="en-US" sz="2400" dirty="0" err="1"/>
              <a:t>жооп</a:t>
            </a:r>
            <a:r>
              <a:rPr lang="en-US" sz="2400" dirty="0"/>
              <a:t> </a:t>
            </a:r>
            <a:r>
              <a:rPr lang="en-US" sz="2400" dirty="0" err="1"/>
              <a:t>бар</a:t>
            </a:r>
            <a:r>
              <a:rPr lang="en-US" sz="2400" dirty="0"/>
              <a:t> </a:t>
            </a:r>
            <a:r>
              <a:rPr lang="en-US" sz="2400" dirty="0" err="1"/>
              <a:t>плакатты</a:t>
            </a:r>
            <a:r>
              <a:rPr lang="en-US" sz="2400" dirty="0"/>
              <a:t> </a:t>
            </a:r>
            <a:r>
              <a:rPr lang="en-US" sz="2400" dirty="0" err="1"/>
              <a:t>табышы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 </a:t>
            </a: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en-US" sz="2400" dirty="0" err="1"/>
              <a:t>бир</a:t>
            </a:r>
            <a:r>
              <a:rPr lang="en-US" sz="2400" dirty="0"/>
              <a:t> </a:t>
            </a:r>
            <a:r>
              <a:rPr lang="en-US" sz="2400" dirty="0" err="1"/>
              <a:t>суроодон</a:t>
            </a:r>
            <a:r>
              <a:rPr lang="en-US" sz="2400" dirty="0"/>
              <a:t> </a:t>
            </a:r>
            <a:r>
              <a:rPr lang="en-US" sz="2400" dirty="0" err="1"/>
              <a:t>экинчи</a:t>
            </a:r>
            <a:r>
              <a:rPr lang="en-US" sz="2400" dirty="0"/>
              <a:t> </a:t>
            </a:r>
            <a:r>
              <a:rPr lang="en-US" sz="2400" dirty="0" err="1"/>
              <a:t>суроого</a:t>
            </a:r>
            <a:r>
              <a:rPr lang="en-US" sz="2400" dirty="0"/>
              <a:t> </a:t>
            </a:r>
            <a:r>
              <a:rPr lang="en-US" sz="2400" dirty="0" err="1"/>
              <a:t>толук</a:t>
            </a:r>
            <a:r>
              <a:rPr lang="en-US" sz="2400" dirty="0"/>
              <a:t> </a:t>
            </a:r>
            <a:r>
              <a:rPr lang="en-US" sz="2400" dirty="0" err="1"/>
              <a:t>тегере</a:t>
            </a:r>
            <a:r>
              <a:rPr lang="ky-KG" sz="2400" dirty="0"/>
              <a:t>нип</a:t>
            </a:r>
            <a:r>
              <a:rPr lang="en-US" sz="2400" dirty="0"/>
              <a:t> </a:t>
            </a:r>
            <a:r>
              <a:rPr lang="en-US" sz="2400" dirty="0" err="1"/>
              <a:t>жолду</a:t>
            </a:r>
            <a:r>
              <a:rPr lang="en-US" sz="2400" dirty="0"/>
              <a:t> </a:t>
            </a:r>
            <a:r>
              <a:rPr lang="en-US" sz="2400" dirty="0" err="1"/>
              <a:t>бүтүргөнгө</a:t>
            </a:r>
            <a:r>
              <a:rPr lang="en-US" sz="2400" dirty="0"/>
              <a:t> </a:t>
            </a:r>
            <a:r>
              <a:rPr lang="en-US" sz="2400" dirty="0" err="1"/>
              <a:t>чейин</a:t>
            </a:r>
            <a:r>
              <a:rPr lang="en-US" sz="2400" dirty="0"/>
              <a:t> </a:t>
            </a:r>
            <a:r>
              <a:rPr lang="ky-KG" sz="2400" dirty="0"/>
              <a:t>улантышат</a:t>
            </a:r>
            <a:r>
              <a:rPr lang="en-US" sz="2400" dirty="0"/>
              <a:t>.</a:t>
            </a:r>
            <a:endParaRPr lang="ky-KG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y-KG" sz="2400" dirty="0"/>
              <a:t>Окуучулар</a:t>
            </a:r>
            <a:r>
              <a:rPr lang="en-US" sz="2400" dirty="0"/>
              <a:t> </a:t>
            </a:r>
            <a:r>
              <a:rPr lang="ky-KG" sz="2400" dirty="0"/>
              <a:t>чыгарган </a:t>
            </a:r>
            <a:r>
              <a:rPr lang="en-US" sz="2400" dirty="0" err="1"/>
              <a:t>суроолорунун</a:t>
            </a:r>
            <a:r>
              <a:rPr lang="en-US" sz="2400" dirty="0"/>
              <a:t> </a:t>
            </a:r>
            <a:r>
              <a:rPr lang="en-US" sz="2400" dirty="0" err="1"/>
              <a:t>тамгаларын</a:t>
            </a:r>
            <a:r>
              <a:rPr lang="en-US" sz="2400" dirty="0"/>
              <a:t> </a:t>
            </a:r>
            <a:r>
              <a:rPr lang="en-US" sz="2400" dirty="0" err="1"/>
              <a:t>жазып</a:t>
            </a:r>
            <a:r>
              <a:rPr lang="en-US" sz="2400" dirty="0"/>
              <a:t> </a:t>
            </a:r>
            <a:r>
              <a:rPr lang="en-US" sz="2400" dirty="0" err="1"/>
              <a:t>алышы</a:t>
            </a:r>
            <a:r>
              <a:rPr lang="en-US" sz="2400" dirty="0"/>
              <a:t> </a:t>
            </a:r>
            <a:r>
              <a:rPr lang="en-US" sz="2400" dirty="0" err="1"/>
              <a:t>керек</a:t>
            </a:r>
            <a:r>
              <a:rPr lang="en-US" sz="2400" dirty="0"/>
              <a:t>.</a:t>
            </a:r>
            <a:r>
              <a:rPr lang="ky-KG" sz="2400" dirty="0"/>
              <a:t>Унутуп калбаш үчүн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(</a:t>
            </a:r>
            <a:r>
              <a:rPr lang="ru-RU" sz="2400" dirty="0"/>
              <a:t>ачык пластик файл </a:t>
            </a:r>
            <a:r>
              <a:rPr lang="en-US" sz="2400" dirty="0" err="1"/>
              <a:t>капчыктар</a:t>
            </a:r>
            <a:r>
              <a:rPr lang="ky-KG" sz="2400" dirty="0"/>
              <a:t>га</a:t>
            </a:r>
            <a:r>
              <a:rPr lang="en-US" sz="2400" dirty="0"/>
              <a:t> </a:t>
            </a:r>
            <a:r>
              <a:rPr lang="en-US" sz="2400" dirty="0" err="1"/>
              <a:t>плакаттарды</a:t>
            </a:r>
            <a:r>
              <a:rPr lang="ky-KG" sz="2400" dirty="0"/>
              <a:t> салып кою</a:t>
            </a:r>
            <a:r>
              <a:rPr lang="en-US" sz="2400" dirty="0"/>
              <a:t>ң</a:t>
            </a:r>
            <a:r>
              <a:rPr lang="ky-KG" sz="2400" dirty="0"/>
              <a:t>уз алар сизге</a:t>
            </a:r>
            <a:r>
              <a:rPr lang="en-US" sz="2400" dirty="0"/>
              <a:t> </a:t>
            </a:r>
            <a:r>
              <a:rPr lang="en-US" sz="2400" dirty="0" err="1"/>
              <a:t>тез</a:t>
            </a:r>
            <a:r>
              <a:rPr lang="en-US" sz="2400" dirty="0"/>
              <a:t> </a:t>
            </a:r>
            <a:r>
              <a:rPr lang="en-US" sz="2400" dirty="0" err="1"/>
              <a:t>жана</a:t>
            </a:r>
            <a:r>
              <a:rPr lang="en-US" sz="2400" dirty="0"/>
              <a:t> </a:t>
            </a:r>
            <a:r>
              <a:rPr lang="en-US" sz="2400" dirty="0" err="1"/>
              <a:t>оңой</a:t>
            </a:r>
            <a:r>
              <a:rPr lang="en-US" sz="2400" dirty="0"/>
              <a:t> </a:t>
            </a:r>
            <a:r>
              <a:rPr lang="en-US" sz="2400" dirty="0" err="1"/>
              <a:t>көрсөтүүгө</a:t>
            </a:r>
            <a:r>
              <a:rPr lang="en-US" sz="2400" dirty="0"/>
              <a:t> </a:t>
            </a:r>
            <a:r>
              <a:rPr lang="en-US" sz="2400" dirty="0" err="1"/>
              <a:t>жардам</a:t>
            </a:r>
            <a:r>
              <a:rPr lang="en-US" sz="2400" dirty="0"/>
              <a:t> </a:t>
            </a:r>
            <a:r>
              <a:rPr lang="en-US" sz="2400" dirty="0" err="1"/>
              <a:t>берет</a:t>
            </a:r>
            <a:r>
              <a:rPr lang="en-US" sz="2400" dirty="0"/>
              <a:t>.)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D99591-3D8C-E2DD-A4E5-9EA7F9F029AB}"/>
              </a:ext>
            </a:extLst>
          </p:cNvPr>
          <p:cNvSpPr txBox="1">
            <a:spLocks/>
          </p:cNvSpPr>
          <p:nvPr/>
        </p:nvSpPr>
        <p:spPr>
          <a:xfrm>
            <a:off x="250825" y="-167322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899463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FE86785-CDEF-406A-A298-F25D70370A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73352"/>
            <a:ext cx="4361156" cy="414309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34F97C9-029A-46C3-9ABE-0D249844CA89}"/>
              </a:ext>
            </a:extLst>
          </p:cNvPr>
          <p:cNvSpPr/>
          <p:nvPr/>
        </p:nvSpPr>
        <p:spPr>
          <a:xfrm>
            <a:off x="257175" y="4236720"/>
            <a:ext cx="9648825" cy="2454181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y-KG" sz="6000" b="1" cap="none" spc="0" dirty="0">
                <a:ln w="28575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Чыныгы - турмуштук маселелер</a:t>
            </a:r>
            <a:endParaRPr lang="en-US" sz="6000" b="1" cap="none" spc="0" dirty="0">
              <a:ln w="28575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268791-4F03-2200-21A7-04930DF426F3}"/>
              </a:ext>
            </a:extLst>
          </p:cNvPr>
          <p:cNvSpPr/>
          <p:nvPr/>
        </p:nvSpPr>
        <p:spPr>
          <a:xfrm>
            <a:off x="356577" y="199870"/>
            <a:ext cx="8643713" cy="1569660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9600" b="0" i="0" dirty="0">
                <a:effectLst>
                  <a:glow rad="228600">
                    <a:schemeClr val="accent2">
                      <a:satMod val="175000"/>
                      <a:alpha val="40000"/>
                    </a:schemeClr>
                  </a:glow>
                </a:effectLst>
              </a:rPr>
              <a:t>КАЗЫНА ИЗДӨӨ</a:t>
            </a:r>
            <a:endParaRPr lang="en-US" sz="9600" b="1" dirty="0">
              <a:ln w="22225">
                <a:solidFill>
                  <a:schemeClr val="accent2"/>
                </a:solidFill>
                <a:prstDash val="solid"/>
              </a:ln>
              <a:effectLst>
                <a:glow rad="228600">
                  <a:schemeClr val="accent2">
                    <a:satMod val="175000"/>
                    <a:alpha val="40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56097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7B3EBA-D104-473B-ABA8-2E0364CBA8A1}"/>
              </a:ext>
            </a:extLst>
          </p:cNvPr>
          <p:cNvSpPr txBox="1"/>
          <p:nvPr/>
        </p:nvSpPr>
        <p:spPr>
          <a:xfrm>
            <a:off x="1393414" y="0"/>
            <a:ext cx="561564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9600" dirty="0"/>
              <a:t>674.24сом</a:t>
            </a:r>
            <a:endParaRPr lang="en-GB" sz="115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E9DA28-C23E-45DE-8A11-AE116627DDDC}"/>
              </a:ext>
            </a:extLst>
          </p:cNvPr>
          <p:cNvSpPr txBox="1"/>
          <p:nvPr/>
        </p:nvSpPr>
        <p:spPr>
          <a:xfrm>
            <a:off x="958867" y="2700638"/>
            <a:ext cx="7849007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Чоңдор үчүн,футбол оюнуна билеттин </a:t>
            </a:r>
          </a:p>
          <a:p>
            <a:pPr algn="ctr"/>
            <a:r>
              <a:rPr lang="ky-KG" sz="3200" dirty="0"/>
              <a:t>баасы 1500 сом турат.</a:t>
            </a:r>
          </a:p>
          <a:p>
            <a:pPr algn="ctr"/>
            <a:r>
              <a:rPr lang="ky-KG" sz="3200" dirty="0"/>
              <a:t>Футбол оюнуна балдардын билет </a:t>
            </a:r>
          </a:p>
          <a:p>
            <a:pPr algn="ctr"/>
            <a:r>
              <a:rPr lang="ky-KG" sz="3200" dirty="0"/>
              <a:t>баасы 827.39 сом турат.</a:t>
            </a:r>
          </a:p>
          <a:p>
            <a:pPr algn="ctr"/>
            <a:r>
              <a:rPr lang="ky-KG" sz="3200" dirty="0"/>
              <a:t>Үй-бүлөлүк билет (2 чоң киши жана 2 бала) </a:t>
            </a:r>
          </a:p>
          <a:p>
            <a:pPr algn="ctr"/>
            <a:r>
              <a:rPr lang="ky-KG" sz="3200" dirty="0"/>
              <a:t>Баасы 3309.55 сом турат.</a:t>
            </a:r>
          </a:p>
          <a:p>
            <a:pPr algn="ctr"/>
            <a:r>
              <a:rPr lang="ky-KG" sz="3200" dirty="0"/>
              <a:t>12 чоң киши жана 17 бала футбол оюнуна </a:t>
            </a:r>
          </a:p>
          <a:p>
            <a:pPr algn="ctr"/>
            <a:r>
              <a:rPr lang="ky-KG" sz="3200" dirty="0"/>
              <a:t>баруунун эң арзан баасы канча?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7630886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F33588-A471-4C89-894F-EA701E4D535F}"/>
              </a:ext>
            </a:extLst>
          </p:cNvPr>
          <p:cNvSpPr txBox="1"/>
          <p:nvPr/>
        </p:nvSpPr>
        <p:spPr>
          <a:xfrm>
            <a:off x="996673" y="0"/>
            <a:ext cx="640912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23988.25c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460DD6-177E-4607-8971-AF242E49C699}"/>
              </a:ext>
            </a:extLst>
          </p:cNvPr>
          <p:cNvSpPr txBox="1"/>
          <p:nvPr/>
        </p:nvSpPr>
        <p:spPr>
          <a:xfrm>
            <a:off x="390144" y="2981992"/>
            <a:ext cx="877547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Том 76295.75 сомго жаңы компьютер сатып алат.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28389.12 сомду алдын ала төлөп, </a:t>
            </a:r>
            <a:endParaRPr lang="en-US" sz="3200" dirty="0"/>
          </a:p>
          <a:p>
            <a:pPr algn="ctr"/>
            <a:r>
              <a:rPr lang="ky-KG" sz="3200" dirty="0"/>
              <a:t>калганын 12 ай сайын бирдей бөлүп төлөйт.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Ай сайын төлөнүүчү төлөм канчадан?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736293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36142E-2874-4D8D-A20E-5142C3567929}"/>
              </a:ext>
            </a:extLst>
          </p:cNvPr>
          <p:cNvSpPr txBox="1"/>
          <p:nvPr/>
        </p:nvSpPr>
        <p:spPr>
          <a:xfrm>
            <a:off x="3361900" y="0"/>
            <a:ext cx="167866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34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AE3E4C-9B53-40D8-A1A2-754BE6FFDF62}"/>
              </a:ext>
            </a:extLst>
          </p:cNvPr>
          <p:cNvSpPr txBox="1"/>
          <p:nvPr/>
        </p:nvSpPr>
        <p:spPr>
          <a:xfrm>
            <a:off x="554285" y="2743615"/>
            <a:ext cx="862960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Бир бургер 155.43 сом турат.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12 гамбургердин бир таңгагы 1663.42 сом турат.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12 гамбургерди бирден эмес, </a:t>
            </a:r>
          </a:p>
          <a:p>
            <a:pPr algn="ctr"/>
            <a:r>
              <a:rPr lang="ky-KG" sz="3200" dirty="0"/>
              <a:t>таңгактан сатып алуу канчага арзан?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92845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BA1B44-AF30-4865-AE57-0B428B80C3B9}"/>
              </a:ext>
            </a:extLst>
          </p:cNvPr>
          <p:cNvSpPr txBox="1"/>
          <p:nvPr/>
        </p:nvSpPr>
        <p:spPr>
          <a:xfrm>
            <a:off x="3361900" y="0"/>
            <a:ext cx="167866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1</a:t>
            </a:r>
            <a:r>
              <a:rPr lang="ky-KG" sz="11500" dirty="0"/>
              <a:t>1</a:t>
            </a:r>
            <a:endParaRPr lang="en-GB" sz="115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CEA69A-AAE9-4D8D-9477-0B4AAB225439}"/>
              </a:ext>
            </a:extLst>
          </p:cNvPr>
          <p:cNvSpPr txBox="1"/>
          <p:nvPr/>
        </p:nvSpPr>
        <p:spPr>
          <a:xfrm>
            <a:off x="1230127" y="2355278"/>
            <a:ext cx="7404335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Даниар 62.10 сомдон турган </a:t>
            </a:r>
          </a:p>
          <a:p>
            <a:pPr algn="ctr"/>
            <a:r>
              <a:rPr lang="ky-KG" sz="3200" dirty="0"/>
              <a:t>пакет таттууларды сатып алат.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Аларды 83.17 сомдон сатат.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бир күндө 32 пачка таттууларды сатат.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Даниар канча пайда табат?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2047962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01A047-AA76-4329-9C77-AC9BCC7D28DE}"/>
              </a:ext>
            </a:extLst>
          </p:cNvPr>
          <p:cNvSpPr txBox="1"/>
          <p:nvPr/>
        </p:nvSpPr>
        <p:spPr>
          <a:xfrm>
            <a:off x="951614" y="164770"/>
            <a:ext cx="651813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9600" b="0" dirty="0">
                <a:solidFill>
                  <a:sysClr val="windowText" lastClr="000000"/>
                </a:solidFill>
              </a:rPr>
              <a:t>5402.82 сом</a:t>
            </a:r>
            <a:endParaRPr lang="en-GB" sz="9600" b="0" dirty="0">
              <a:solidFill>
                <a:sysClr val="windowText" lastClr="0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0279DC-EDE6-47BB-B046-7CA5D5856BDA}"/>
              </a:ext>
            </a:extLst>
          </p:cNvPr>
          <p:cNvSpPr txBox="1"/>
          <p:nvPr/>
        </p:nvSpPr>
        <p:spPr>
          <a:xfrm>
            <a:off x="854175" y="2700638"/>
            <a:ext cx="7988854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Жеңишгүл шуруларды жасап сатат.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532.30 сомго ,ал 8 мончок жасоого керектүү </a:t>
            </a:r>
          </a:p>
          <a:p>
            <a:pPr algn="ctr"/>
            <a:r>
              <a:rPr lang="ky-KG" sz="3200" dirty="0"/>
              <a:t>материалдарды сатып алса болот.</a:t>
            </a:r>
          </a:p>
          <a:p>
            <a:pPr algn="ctr"/>
            <a:r>
              <a:rPr lang="ky-KG" sz="3200" dirty="0"/>
              <a:t>Ал бир айда 72 мончоктун </a:t>
            </a:r>
          </a:p>
          <a:p>
            <a:pPr algn="ctr"/>
            <a:r>
              <a:rPr lang="ky-KG" sz="3200" dirty="0"/>
              <a:t>ар бирин 121.79 сомдон  сатат.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Жеңишгүл канча пайда тапты?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9424582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E92ECE-0B5A-4654-9B56-C9066964CDA1}"/>
              </a:ext>
            </a:extLst>
          </p:cNvPr>
          <p:cNvSpPr txBox="1"/>
          <p:nvPr/>
        </p:nvSpPr>
        <p:spPr>
          <a:xfrm>
            <a:off x="942168" y="0"/>
            <a:ext cx="651813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9600" b="0" dirty="0">
                <a:solidFill>
                  <a:sysClr val="windowText" lastClr="000000"/>
                </a:solidFill>
              </a:rPr>
              <a:t>2991.12 сом</a:t>
            </a:r>
            <a:endParaRPr lang="en-GB" sz="9600" b="0" dirty="0">
              <a:solidFill>
                <a:sysClr val="windowText" lastClr="0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F043C-585D-4BA7-8B7F-69132FAAB697}"/>
              </a:ext>
            </a:extLst>
          </p:cNvPr>
          <p:cNvSpPr txBox="1"/>
          <p:nvPr/>
        </p:nvSpPr>
        <p:spPr>
          <a:xfrm>
            <a:off x="759275" y="2700638"/>
            <a:ext cx="8387489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Ак-Талаа башталгыч мектебинде 29 окуучудан </a:t>
            </a:r>
          </a:p>
          <a:p>
            <a:pPr algn="ctr"/>
            <a:r>
              <a:rPr lang="ky-KG" sz="3200" dirty="0"/>
              <a:t>турган 14 класс бар.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Ар бир 12 окуучуга бир мугалим </a:t>
            </a:r>
          </a:p>
          <a:p>
            <a:pPr algn="ctr"/>
            <a:r>
              <a:rPr lang="ky-KG" sz="3200" dirty="0"/>
              <a:t>туура келиши керек.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Мектепте канча мугалим иштеши керек?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315007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458B74-769F-48D8-9D75-E0B86DA918B3}"/>
              </a:ext>
            </a:extLst>
          </p:cNvPr>
          <p:cNvSpPr txBox="1"/>
          <p:nvPr/>
        </p:nvSpPr>
        <p:spPr>
          <a:xfrm>
            <a:off x="1117401" y="2700638"/>
            <a:ext cx="7671204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Азамат 426 окуучуга , тематикалык паркка </a:t>
            </a:r>
          </a:p>
          <a:p>
            <a:pPr algn="ctr"/>
            <a:r>
              <a:rPr lang="ky-KG" sz="3200" dirty="0"/>
              <a:t>саякат уюштурууну пландап жатат.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Бир автобуска 35 кишини батат.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Эгерде 8 мугалим дагы барса,</a:t>
            </a:r>
          </a:p>
          <a:p>
            <a:pPr algn="ctr"/>
            <a:r>
              <a:rPr lang="ky-KG" sz="3200" dirty="0"/>
              <a:t> Азамат канча автобус жалдашы керек?</a:t>
            </a:r>
            <a:endParaRPr lang="en-GB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ADEB01-5E15-49E8-BB20-934295E335A7}"/>
              </a:ext>
            </a:extLst>
          </p:cNvPr>
          <p:cNvSpPr txBox="1"/>
          <p:nvPr/>
        </p:nvSpPr>
        <p:spPr>
          <a:xfrm>
            <a:off x="1000634" y="185090"/>
            <a:ext cx="651813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dirty="0"/>
              <a:t>8768.88</a:t>
            </a:r>
            <a:r>
              <a:rPr lang="ky-KG" sz="9600" dirty="0"/>
              <a:t> сом</a:t>
            </a:r>
            <a:endParaRPr lang="en-GB" sz="9600" dirty="0"/>
          </a:p>
        </p:txBody>
      </p:sp>
    </p:spTree>
    <p:extLst>
      <p:ext uri="{BB962C8B-B14F-4D97-AF65-F5344CB8AC3E}">
        <p14:creationId xmlns:p14="http://schemas.microsoft.com/office/powerpoint/2010/main" val="17543242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210FB5-499C-4B60-BA62-38E289795A9F}"/>
              </a:ext>
            </a:extLst>
          </p:cNvPr>
          <p:cNvSpPr txBox="1"/>
          <p:nvPr/>
        </p:nvSpPr>
        <p:spPr>
          <a:xfrm>
            <a:off x="3361900" y="0"/>
            <a:ext cx="167866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29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2A176A-7B85-4688-9A2B-ACEDCDAE2DD3}"/>
              </a:ext>
            </a:extLst>
          </p:cNvPr>
          <p:cNvSpPr txBox="1"/>
          <p:nvPr/>
        </p:nvSpPr>
        <p:spPr>
          <a:xfrm>
            <a:off x="211615" y="3113876"/>
            <a:ext cx="9308447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Жаку 316 калемди ар бирин 22.18 сомго сатып алат.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аларды жалпысынан 10000 сомго сатат.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Жаку канча пайда табат?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784901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I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06C23A-67C5-4294-A69D-D4D81D6A6AA1}"/>
              </a:ext>
            </a:extLst>
          </p:cNvPr>
          <p:cNvSpPr txBox="1"/>
          <p:nvPr/>
        </p:nvSpPr>
        <p:spPr>
          <a:xfrm>
            <a:off x="3361900" y="0"/>
            <a:ext cx="167866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13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B9E67D-EDE8-4911-B8A4-027E36758254}"/>
              </a:ext>
            </a:extLst>
          </p:cNvPr>
          <p:cNvSpPr txBox="1"/>
          <p:nvPr/>
        </p:nvSpPr>
        <p:spPr>
          <a:xfrm>
            <a:off x="1334195" y="2700638"/>
            <a:ext cx="7237622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/>
              <a:t>Кутуга 24 шире банкасы батат.</a:t>
            </a:r>
          </a:p>
          <a:p>
            <a:pPr algn="ctr"/>
            <a:endParaRPr lang="ru-RU" sz="3200" dirty="0"/>
          </a:p>
          <a:p>
            <a:pPr algn="ctr"/>
            <a:r>
              <a:rPr lang="ru-RU" sz="3200" dirty="0"/>
              <a:t>Супермаркет 25 куту </a:t>
            </a:r>
            <a:r>
              <a:rPr lang="ky-KG" sz="3200" dirty="0"/>
              <a:t>шире</a:t>
            </a:r>
            <a:r>
              <a:rPr lang="ru-RU" sz="3200" dirty="0"/>
              <a:t> заказ кылат.</a:t>
            </a:r>
          </a:p>
          <a:p>
            <a:pPr algn="ctr"/>
            <a:endParaRPr lang="ru-RU" sz="3200" dirty="0"/>
          </a:p>
          <a:p>
            <a:pPr algn="ctr"/>
            <a:r>
              <a:rPr lang="ru-RU" sz="3200" dirty="0"/>
              <a:t>Банкалардын 10%ы бузулган.</a:t>
            </a:r>
          </a:p>
          <a:p>
            <a:pPr algn="ctr"/>
            <a:endParaRPr lang="ru-RU" sz="3200" dirty="0"/>
          </a:p>
          <a:p>
            <a:pPr algn="ctr"/>
            <a:r>
              <a:rPr lang="ru-RU" sz="3200" dirty="0"/>
              <a:t>Алардын канчасы бүтүн,бузулган эмес?</a:t>
            </a:r>
            <a:endParaRPr lang="en-GB" sz="3200" dirty="0"/>
          </a:p>
        </p:txBody>
      </p:sp>
      <p:pic>
        <p:nvPicPr>
          <p:cNvPr id="5" name="Graphic 4" descr="Packing Box Open outline">
            <a:extLst>
              <a:ext uri="{FF2B5EF4-FFF2-40B4-BE49-F238E27FC236}">
                <a16:creationId xmlns:a16="http://schemas.microsoft.com/office/drawing/2014/main" id="{8B65ED12-E2A1-94CA-DA8F-618B650836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0158" y="2168432"/>
            <a:ext cx="1330313" cy="1330313"/>
          </a:xfrm>
          <a:prstGeom prst="rect">
            <a:avLst/>
          </a:prstGeom>
        </p:spPr>
      </p:pic>
      <p:pic>
        <p:nvPicPr>
          <p:cNvPr id="13" name="Graphic 12" descr="Paint with solid fill">
            <a:extLst>
              <a:ext uri="{FF2B5EF4-FFF2-40B4-BE49-F238E27FC236}">
                <a16:creationId xmlns:a16="http://schemas.microsoft.com/office/drawing/2014/main" id="{D096DE41-B394-2C91-65D7-4CCBF64A99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69745" y="451657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7620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449CF-8E86-45CE-B441-7CA682FA2F23}"/>
              </a:ext>
            </a:extLst>
          </p:cNvPr>
          <p:cNvSpPr txBox="1"/>
          <p:nvPr/>
        </p:nvSpPr>
        <p:spPr>
          <a:xfrm>
            <a:off x="976590" y="188401"/>
            <a:ext cx="656622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8800" b="0" dirty="0">
                <a:solidFill>
                  <a:sysClr val="windowText" lastClr="000000"/>
                </a:solidFill>
              </a:rPr>
              <a:t>13972.</a:t>
            </a:r>
            <a:r>
              <a:rPr lang="ky-KG" sz="8800" b="0" dirty="0">
                <a:solidFill>
                  <a:sysClr val="windowText" lastClr="000000"/>
                </a:solidFill>
              </a:rPr>
              <a:t>35 сом</a:t>
            </a:r>
            <a:endParaRPr lang="en-GB" sz="8800" b="0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78012B-1BC4-4E09-AF7D-48F2A3F463DB}"/>
                  </a:ext>
                </a:extLst>
              </p:cNvPr>
              <p:cNvSpPr txBox="1"/>
              <p:nvPr/>
            </p:nvSpPr>
            <p:spPr>
              <a:xfrm>
                <a:off x="644853" y="2647886"/>
                <a:ext cx="8477129" cy="35394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y-KG" sz="3200" dirty="0"/>
                  <a:t>Максат уктоочу бөлмөсүн сырдайын деп жатат.</a:t>
                </a:r>
              </a:p>
              <a:p>
                <a:pPr algn="ctr"/>
                <a:endParaRPr lang="ky-KG" sz="3200" dirty="0"/>
              </a:p>
              <a:p>
                <a:pPr algn="ctr"/>
                <a:r>
                  <a:rPr lang="ky-KG" sz="3200" dirty="0"/>
                  <a:t>Ал дубалдардын аянты 452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y-KG" sz="32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y-KG" sz="3200" b="0" i="1" smtClean="0">
                            <a:latin typeface="Cambria Math" panose="02040503050406030204" pitchFamily="18" charset="0"/>
                          </a:rPr>
                          <m:t>м</m:t>
                        </m:r>
                      </m:e>
                      <m:sup>
                        <m:r>
                          <a:rPr lang="ky-KG" sz="3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y-KG" sz="3200" dirty="0"/>
                  <a:t> деп эсептейт.</a:t>
                </a:r>
              </a:p>
              <a:p>
                <a:pPr algn="ctr"/>
                <a:endParaRPr lang="ky-KG" sz="3200" dirty="0"/>
              </a:p>
              <a:p>
                <a:pPr algn="ctr"/>
                <a:r>
                  <a:rPr lang="ky-KG" sz="3200" dirty="0"/>
                  <a:t>Бир банка боёк 16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ky-KG" sz="32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ky-KG" sz="3200" b="0" i="1" smtClean="0">
                            <a:latin typeface="Cambria Math" panose="02040503050406030204" pitchFamily="18" charset="0"/>
                          </a:rPr>
                          <m:t>м</m:t>
                        </m:r>
                      </m:e>
                      <m:sup>
                        <m:r>
                          <a:rPr lang="ky-KG" sz="3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y-KG" sz="3200" dirty="0"/>
                  <a:t> аянтты камтыйт.</a:t>
                </a:r>
              </a:p>
              <a:p>
                <a:pPr algn="ctr"/>
                <a:endParaRPr lang="ky-KG" sz="3200" dirty="0"/>
              </a:p>
              <a:p>
                <a:pPr algn="ctr"/>
                <a:r>
                  <a:rPr lang="ky-KG" sz="3200" dirty="0"/>
                  <a:t>Максат канча банка боёк сатып алышы керек?</a:t>
                </a:r>
                <a:endParaRPr lang="en-GB" sz="32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478012B-1BC4-4E09-AF7D-48F2A3F463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53" y="2647886"/>
                <a:ext cx="8477129" cy="3539430"/>
              </a:xfrm>
              <a:prstGeom prst="rect">
                <a:avLst/>
              </a:prstGeom>
              <a:blipFill>
                <a:blip r:embed="rId2"/>
                <a:stretch>
                  <a:fillRect l="-1439" t="-2238" r="-1367" b="-4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13442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J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143905-0A6C-41AC-A4A9-356C4F8A13BA}"/>
              </a:ext>
            </a:extLst>
          </p:cNvPr>
          <p:cNvSpPr txBox="1"/>
          <p:nvPr/>
        </p:nvSpPr>
        <p:spPr>
          <a:xfrm>
            <a:off x="1253952" y="125489"/>
            <a:ext cx="589456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9600" b="0" dirty="0">
                <a:solidFill>
                  <a:sysClr val="windowText" lastClr="000000"/>
                </a:solidFill>
              </a:rPr>
              <a:t>201.74 сом</a:t>
            </a:r>
            <a:endParaRPr lang="en-GB" sz="9600" b="0" dirty="0">
              <a:solidFill>
                <a:sysClr val="windowText" lastClr="0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CBC413-7D9A-49EE-9A93-4CF38E79D2F1}"/>
              </a:ext>
            </a:extLst>
          </p:cNvPr>
          <p:cNvSpPr txBox="1"/>
          <p:nvPr/>
        </p:nvSpPr>
        <p:spPr>
          <a:xfrm>
            <a:off x="1037767" y="2700638"/>
            <a:ext cx="7830541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128 адам театрга экскурсияга баратышат.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56 адам автобус менен, калгандары жеңил </a:t>
            </a:r>
          </a:p>
          <a:p>
            <a:pPr algn="ctr"/>
            <a:r>
              <a:rPr lang="ky-KG" sz="3200" dirty="0"/>
              <a:t>унаалары менен барат.</a:t>
            </a:r>
          </a:p>
          <a:p>
            <a:pPr algn="ctr"/>
            <a:r>
              <a:rPr lang="ky-KG" sz="3200" dirty="0"/>
              <a:t>Ар бир машинага 5 киши туура келет.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Жеңил унаалардын минималдуу </a:t>
            </a:r>
          </a:p>
          <a:p>
            <a:pPr algn="ctr"/>
            <a:r>
              <a:rPr lang="ky-KG" sz="3200" dirty="0"/>
              <a:t>саны канча болушу керек?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9442317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A9C5B8-C8AF-4DE0-84D9-2FE30EA7BFC5}"/>
              </a:ext>
            </a:extLst>
          </p:cNvPr>
          <p:cNvSpPr txBox="1"/>
          <p:nvPr/>
        </p:nvSpPr>
        <p:spPr>
          <a:xfrm>
            <a:off x="3361900" y="0"/>
            <a:ext cx="1678665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15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9213E2-362C-43DA-BF92-CF25862EF78B}"/>
              </a:ext>
            </a:extLst>
          </p:cNvPr>
          <p:cNvSpPr txBox="1"/>
          <p:nvPr/>
        </p:nvSpPr>
        <p:spPr>
          <a:xfrm>
            <a:off x="1140280" y="2700638"/>
            <a:ext cx="7457619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Сайкал телевизор сатып алды.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Ал ошол күнү 23620.63 сом төлөп </a:t>
            </a:r>
          </a:p>
          <a:p>
            <a:pPr algn="ctr"/>
            <a:r>
              <a:rPr lang="ky-KG" sz="3200" dirty="0"/>
              <a:t>жана 2606.03 сомдон 12 ай бөлүп төлөйт.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Сайкал телевизор үчүн </a:t>
            </a:r>
            <a:endParaRPr lang="en-US" sz="3200" dirty="0"/>
          </a:p>
          <a:p>
            <a:pPr algn="ctr"/>
            <a:r>
              <a:rPr lang="ky-KG" sz="3200" dirty="0"/>
              <a:t>жалпысынан канча төлөйт?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528547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50F85A-FFDD-4362-A35D-81B3F0603522}"/>
              </a:ext>
            </a:extLst>
          </p:cNvPr>
          <p:cNvSpPr txBox="1"/>
          <p:nvPr/>
        </p:nvSpPr>
        <p:spPr>
          <a:xfrm>
            <a:off x="976590" y="200786"/>
            <a:ext cx="656622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8800" b="0" dirty="0">
                <a:solidFill>
                  <a:sysClr val="windowText" lastClr="000000"/>
                </a:solidFill>
              </a:rPr>
              <a:t>54892.99 сом</a:t>
            </a:r>
            <a:endParaRPr lang="en-GB" sz="8800" b="0" dirty="0">
              <a:solidFill>
                <a:sysClr val="windowText" lastClr="0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46CBE1-0887-4856-81B5-B89F653E8D4F}"/>
              </a:ext>
            </a:extLst>
          </p:cNvPr>
          <p:cNvSpPr txBox="1"/>
          <p:nvPr/>
        </p:nvSpPr>
        <p:spPr>
          <a:xfrm>
            <a:off x="455776" y="2619766"/>
            <a:ext cx="8994450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Ресторанга күнүнө 500 калама керектелет.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Наабайчы 6 каламадан турган таңгак үчүн</a:t>
            </a:r>
          </a:p>
          <a:p>
            <a:pPr algn="ctr"/>
            <a:r>
              <a:rPr lang="ky-KG" sz="3200" dirty="0"/>
              <a:t>110.89 сом  алат.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Ресторан каламаларга күнүнө канча акча коротот?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2944201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C56118-8C95-47F7-845D-C86758538A03}"/>
              </a:ext>
            </a:extLst>
          </p:cNvPr>
          <p:cNvSpPr txBox="1"/>
          <p:nvPr/>
        </p:nvSpPr>
        <p:spPr>
          <a:xfrm>
            <a:off x="1000635" y="185090"/>
            <a:ext cx="651813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9600" b="0" dirty="0">
                <a:solidFill>
                  <a:sysClr val="windowText" lastClr="000000"/>
                </a:solidFill>
              </a:rPr>
              <a:t>9240.83 сом</a:t>
            </a:r>
            <a:endParaRPr lang="en-GB" sz="9600" b="0" dirty="0">
              <a:solidFill>
                <a:sysClr val="windowText" lastClr="0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2CF4FC-2B8B-43B0-A434-788DB1735A21}"/>
              </a:ext>
            </a:extLst>
          </p:cNvPr>
          <p:cNvSpPr txBox="1"/>
          <p:nvPr/>
        </p:nvSpPr>
        <p:spPr>
          <a:xfrm>
            <a:off x="780704" y="2930460"/>
            <a:ext cx="7747827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Кинотеатр балдар билети үчүн 300.53 сом, </a:t>
            </a:r>
          </a:p>
          <a:p>
            <a:pPr algn="ctr"/>
            <a:r>
              <a:rPr lang="ky-KG" sz="3200" dirty="0"/>
              <a:t>Чоңдор билети үчүн 599.94  сом алат.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Кинотеатрга 6 чоң киши, 6 бала барса,</a:t>
            </a:r>
          </a:p>
          <a:p>
            <a:pPr algn="ctr"/>
            <a:r>
              <a:rPr lang="ky-KG" sz="3200" dirty="0"/>
              <a:t> баасы канча турат?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11231722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90CEFB-C59E-44FF-A3FB-ED5A50EEFE88}"/>
              </a:ext>
            </a:extLst>
          </p:cNvPr>
          <p:cNvSpPr txBox="1"/>
          <p:nvPr/>
        </p:nvSpPr>
        <p:spPr>
          <a:xfrm>
            <a:off x="942168" y="0"/>
            <a:ext cx="651813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9600" b="0" dirty="0">
                <a:solidFill>
                  <a:sysClr val="windowText" lastClr="000000"/>
                </a:solidFill>
              </a:rPr>
              <a:t>3992.22</a:t>
            </a:r>
            <a:r>
              <a:rPr lang="ky-KG" sz="9600" b="0" dirty="0">
                <a:solidFill>
                  <a:sysClr val="windowText" lastClr="000000"/>
                </a:solidFill>
              </a:rPr>
              <a:t> сом</a:t>
            </a:r>
            <a:endParaRPr lang="en-GB" sz="9600" b="0" dirty="0">
              <a:solidFill>
                <a:sysClr val="windowText" lastClr="0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528645-24F8-4D6F-A520-0AF261122C1F}"/>
              </a:ext>
            </a:extLst>
          </p:cNvPr>
          <p:cNvSpPr txBox="1"/>
          <p:nvPr/>
        </p:nvSpPr>
        <p:spPr>
          <a:xfrm>
            <a:off x="104775" y="2743615"/>
            <a:ext cx="931447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Дүйшөмбүдөн жекшембиге чейин орто эсеп менен</a:t>
            </a:r>
          </a:p>
          <a:p>
            <a:pPr algn="ctr"/>
            <a:r>
              <a:rPr lang="ky-KG" sz="3200" dirty="0"/>
              <a:t> бир дүкөн күн сайын 15 суусундук сатат.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Дүкөн ар бир суусундуктан 133.07 сом </a:t>
            </a:r>
          </a:p>
          <a:p>
            <a:pPr algn="ctr"/>
            <a:r>
              <a:rPr lang="ky-KG" sz="3200" dirty="0"/>
              <a:t>пайда табат.</a:t>
            </a:r>
          </a:p>
          <a:p>
            <a:pPr algn="ctr"/>
            <a:endParaRPr lang="ky-KG" sz="3200" dirty="0"/>
          </a:p>
          <a:p>
            <a:pPr algn="ctr"/>
            <a:r>
              <a:rPr lang="ky-KG" sz="3200" dirty="0"/>
              <a:t>Дүкөн бир жумада канча киреше табат?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3421444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3EA4308-DFEC-4AD1-BCFD-5857D8CEF957}"/>
              </a:ext>
            </a:extLst>
          </p:cNvPr>
          <p:cNvSpPr/>
          <p:nvPr/>
        </p:nvSpPr>
        <p:spPr>
          <a:xfrm>
            <a:off x="104775" y="2168433"/>
            <a:ext cx="9528622" cy="460384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064DF5D-E002-480A-93E4-833F26EB2831}"/>
              </a:ext>
            </a:extLst>
          </p:cNvPr>
          <p:cNvSpPr/>
          <p:nvPr/>
        </p:nvSpPr>
        <p:spPr>
          <a:xfrm>
            <a:off x="940158" y="85726"/>
            <a:ext cx="6529587" cy="1834514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F8DA2E7-8D5A-4467-A134-4CDCB7B8CEE5}"/>
              </a:ext>
            </a:extLst>
          </p:cNvPr>
          <p:cNvSpPr/>
          <p:nvPr/>
        </p:nvSpPr>
        <p:spPr>
          <a:xfrm>
            <a:off x="8856345" y="371858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8E48112D-D091-4EED-887B-E76F122766A2}"/>
              </a:ext>
            </a:extLst>
          </p:cNvPr>
          <p:cNvSpPr/>
          <p:nvPr/>
        </p:nvSpPr>
        <p:spPr>
          <a:xfrm rot="5400000">
            <a:off x="4480560" y="1292570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810E0DB-3485-4C53-8308-31576FF51684}"/>
              </a:ext>
            </a:extLst>
          </p:cNvPr>
          <p:cNvSpPr/>
          <p:nvPr/>
        </p:nvSpPr>
        <p:spPr>
          <a:xfrm>
            <a:off x="104775" y="251216"/>
            <a:ext cx="944880" cy="1503534"/>
          </a:xfrm>
          <a:prstGeom prst="rightArrow">
            <a:avLst>
              <a:gd name="adj1" fmla="val 65639"/>
              <a:gd name="adj2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croll: Vertical 8">
            <a:extLst>
              <a:ext uri="{FF2B5EF4-FFF2-40B4-BE49-F238E27FC236}">
                <a16:creationId xmlns:a16="http://schemas.microsoft.com/office/drawing/2014/main" id="{8D0CE508-058A-40DF-9BBC-76EFB8C26759}"/>
              </a:ext>
            </a:extLst>
          </p:cNvPr>
          <p:cNvSpPr/>
          <p:nvPr/>
        </p:nvSpPr>
        <p:spPr>
          <a:xfrm>
            <a:off x="7635529" y="107081"/>
            <a:ext cx="1997867" cy="1834514"/>
          </a:xfrm>
          <a:prstGeom prst="verticalScroll">
            <a:avLst>
              <a:gd name="adj" fmla="val 21830"/>
            </a:avLst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800" dirty="0">
                <a:solidFill>
                  <a:schemeClr val="tx1"/>
                </a:solidFill>
                <a:latin typeface="Algerian" panose="04020705040A02060702" pitchFamily="82" charset="0"/>
              </a:rPr>
              <a:t>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594C1E-E532-4F3F-8A0B-36C3492927F1}"/>
              </a:ext>
            </a:extLst>
          </p:cNvPr>
          <p:cNvSpPr txBox="1"/>
          <p:nvPr/>
        </p:nvSpPr>
        <p:spPr>
          <a:xfrm>
            <a:off x="2988401" y="0"/>
            <a:ext cx="2425664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1500" dirty="0"/>
              <a:t>540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0B1638-4A44-44F8-B0DE-2CA7DF17195D}"/>
              </a:ext>
            </a:extLst>
          </p:cNvPr>
          <p:cNvSpPr txBox="1"/>
          <p:nvPr/>
        </p:nvSpPr>
        <p:spPr>
          <a:xfrm>
            <a:off x="865935" y="2454416"/>
            <a:ext cx="8327601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3200" dirty="0"/>
              <a:t>Айшада</a:t>
            </a:r>
            <a:r>
              <a:rPr lang="ru-RU" sz="3200" dirty="0"/>
              <a:t> 1000 сом бар.</a:t>
            </a:r>
          </a:p>
          <a:p>
            <a:pPr algn="ctr"/>
            <a:r>
              <a:rPr lang="ru-RU" sz="3200" dirty="0"/>
              <a:t>Ал ар бири 25.51сомдон турган </a:t>
            </a:r>
          </a:p>
          <a:p>
            <a:pPr algn="ctr"/>
            <a:r>
              <a:rPr lang="ru-RU" sz="3200" dirty="0"/>
              <a:t>22 чаптама сатып алгысы келет.</a:t>
            </a:r>
          </a:p>
          <a:p>
            <a:pPr algn="ctr"/>
            <a:endParaRPr lang="ru-RU" sz="3200" dirty="0"/>
          </a:p>
          <a:p>
            <a:pPr algn="ctr"/>
            <a:r>
              <a:rPr lang="ru-RU" sz="3200" dirty="0"/>
              <a:t>Ал калганын ар бири 38.81 сом турган </a:t>
            </a:r>
            <a:endParaRPr lang="en-US" sz="3200" dirty="0"/>
          </a:p>
          <a:p>
            <a:pPr algn="ctr"/>
            <a:r>
              <a:rPr lang="ru-RU" sz="3200" dirty="0"/>
              <a:t>шоколад батончиктерине короткусу келет.</a:t>
            </a:r>
          </a:p>
          <a:p>
            <a:pPr algn="ctr"/>
            <a:endParaRPr lang="ru-RU" sz="3200" dirty="0"/>
          </a:p>
          <a:p>
            <a:pPr algn="ctr"/>
            <a:r>
              <a:rPr lang="ru-RU" sz="3200" dirty="0"/>
              <a:t>Ал канча шоколад батончик сатып алса болот?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7933109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4D95A3-C619-4B98-A2F7-AC88B07141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809327"/>
              </p:ext>
            </p:extLst>
          </p:nvPr>
        </p:nvGraphicFramePr>
        <p:xfrm>
          <a:off x="273000" y="797879"/>
          <a:ext cx="9360000" cy="57574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4241353267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266072573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51696040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2268253823"/>
                    </a:ext>
                  </a:extLst>
                </a:gridCol>
              </a:tblGrid>
              <a:tr h="636857"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351622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ysClr val="windowText" lastClr="000000"/>
                          </a:solidFill>
                        </a:rPr>
                        <a:t>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/>
                        <a:t>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2991.12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80002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ysClr val="windowText" lastClr="000000"/>
                          </a:solidFill>
                        </a:rPr>
                        <a:t>540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200" b="1" dirty="0"/>
                        <a:t>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ysClr val="windowText" lastClr="000000"/>
                          </a:solidFill>
                        </a:rPr>
                        <a:t>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699499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11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201.74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76582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674.24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J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ysClr val="windowText" lastClr="000000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88563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ysClr val="windowText" lastClr="000000"/>
                          </a:solidFill>
                        </a:rPr>
                        <a:t>23988.25</a:t>
                      </a:r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54892.99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2025085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ysClr val="windowText" lastClr="000000"/>
                          </a:solidFill>
                        </a:rPr>
                        <a:t>3992.22</a:t>
                      </a:r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9240.83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8463836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ysClr val="windowText" lastClr="000000"/>
                          </a:solidFill>
                        </a:rPr>
                        <a:t>13972.</a:t>
                      </a:r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35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5402.82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7609596"/>
                  </a:ext>
                </a:extLst>
              </a:tr>
              <a:tr h="636857"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29 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1" dirty="0">
                          <a:solidFill>
                            <a:sysClr val="windowText" lastClr="000000"/>
                          </a:solidFill>
                        </a:rPr>
                        <a:t>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b="0" dirty="0">
                          <a:solidFill>
                            <a:sysClr val="windowText" lastClr="000000"/>
                          </a:solidFill>
                        </a:rPr>
                        <a:t>8,768.88</a:t>
                      </a:r>
                      <a:r>
                        <a:rPr lang="ky-KG" sz="3600" b="0" dirty="0">
                          <a:solidFill>
                            <a:sysClr val="windowText" lastClr="000000"/>
                          </a:solidFill>
                        </a:rPr>
                        <a:t> сом</a:t>
                      </a:r>
                      <a:endParaRPr lang="en-GB" sz="36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33144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9BF481E-DFCA-4BA6-9DBD-F16F6705123C}"/>
              </a:ext>
            </a:extLst>
          </p:cNvPr>
          <p:cNvSpPr txBox="1"/>
          <p:nvPr/>
        </p:nvSpPr>
        <p:spPr>
          <a:xfrm>
            <a:off x="3626258" y="209013"/>
            <a:ext cx="34422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u="sng" dirty="0"/>
              <a:t>Мугалимдин жооп баракчасы</a:t>
            </a:r>
            <a:endParaRPr lang="en-GB" sz="2000" u="sng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0EE09F7-E788-4441-94EC-EA9B3DBD2DAE}"/>
              </a:ext>
            </a:extLst>
          </p:cNvPr>
          <p:cNvCxnSpPr>
            <a:cxnSpLocks/>
          </p:cNvCxnSpPr>
          <p:nvPr/>
        </p:nvCxnSpPr>
        <p:spPr>
          <a:xfrm>
            <a:off x="376397" y="1441854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D45B0F2-09B4-4CFD-B186-7892BAC13BE3}"/>
              </a:ext>
            </a:extLst>
          </p:cNvPr>
          <p:cNvCxnSpPr>
            <a:cxnSpLocks/>
          </p:cNvCxnSpPr>
          <p:nvPr/>
        </p:nvCxnSpPr>
        <p:spPr>
          <a:xfrm>
            <a:off x="5074420" y="1444785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27569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929F260A-33A7-44B1-B56C-F2E27011A8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28" r="13437" b="13507"/>
          <a:stretch/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FE86785-CDEF-406A-A298-F25D70370A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7544" y="2804160"/>
            <a:ext cx="2850912" cy="270836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5720089-C4D2-45A2-90BB-F14332D2BA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3386" y="412577"/>
            <a:ext cx="3764281" cy="5379158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305EF85-5BA6-4C13-B25F-C8137E5277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3307455"/>
              </p:ext>
            </p:extLst>
          </p:nvPr>
        </p:nvGraphicFramePr>
        <p:xfrm>
          <a:off x="1524440" y="1162106"/>
          <a:ext cx="6857120" cy="54925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424">
                  <a:extLst>
                    <a:ext uri="{9D8B030D-6E8A-4147-A177-3AD203B41FA5}">
                      <a16:colId xmlns:a16="http://schemas.microsoft.com/office/drawing/2014/main" val="3761786079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81624370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3424541694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2437265853"/>
                    </a:ext>
                  </a:extLst>
                </a:gridCol>
                <a:gridCol w="1371424">
                  <a:extLst>
                    <a:ext uri="{9D8B030D-6E8A-4147-A177-3AD203B41FA5}">
                      <a16:colId xmlns:a16="http://schemas.microsoft.com/office/drawing/2014/main" val="4059675182"/>
                    </a:ext>
                  </a:extLst>
                </a:gridCol>
              </a:tblGrid>
              <a:tr h="916268"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a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 err="1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i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L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f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B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329932699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O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754123776"/>
                  </a:ext>
                </a:extLst>
              </a:tr>
              <a:tr h="36686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H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123062466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E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n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180976631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C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5400" b="0" dirty="0">
                          <a:latin typeface="Algerian" panose="04020705040A02060702" pitchFamily="82" charset="0"/>
                        </a:rPr>
                        <a:t>g</a:t>
                      </a: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46795287"/>
                  </a:ext>
                </a:extLst>
              </a:tr>
              <a:tr h="9162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p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D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j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K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5400" b="0" dirty="0">
                          <a:solidFill>
                            <a:schemeClr val="tx1"/>
                          </a:solidFill>
                          <a:latin typeface="Algerian" panose="04020705040A02060702" pitchFamily="82" charset="0"/>
                        </a:rPr>
                        <a:t>m</a:t>
                      </a:r>
                      <a:endParaRPr lang="en-GB" sz="5400" b="0" dirty="0">
                        <a:latin typeface="Algerian" panose="04020705040A02060702" pitchFamily="82" charset="0"/>
                      </a:endParaRPr>
                    </a:p>
                  </a:txBody>
                  <a:tcPr marL="88260" marR="88260" marT="44131" marB="441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blipFill>
                      <a:blip r:embed="rId5"/>
                      <a:tile tx="0" ty="0" sx="100000" sy="100000" flip="none" algn="tl"/>
                    </a:blipFill>
                  </a:tcPr>
                </a:tc>
                <a:extLst>
                  <a:ext uri="{0D108BD9-81ED-4DB2-BD59-A6C34878D82A}">
                    <a16:rowId xmlns:a16="http://schemas.microsoft.com/office/drawing/2014/main" val="2644428158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2D475E4-94A0-49DA-8DB9-89357D0DB676}"/>
              </a:ext>
            </a:extLst>
          </p:cNvPr>
          <p:cNvSpPr/>
          <p:nvPr/>
        </p:nvSpPr>
        <p:spPr>
          <a:xfrm>
            <a:off x="3104962" y="54354"/>
            <a:ext cx="3696076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6600" cap="none" spc="0" dirty="0">
                <a:ln w="19050">
                  <a:solidFill>
                    <a:schemeClr val="tx1">
                      <a:lumMod val="85000"/>
                      <a:lumOff val="15000"/>
                    </a:schemeClr>
                  </a:solidFill>
                  <a:prstDash val="solid"/>
                </a:ln>
                <a:solidFill>
                  <a:srgbClr val="FFC00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Algerian" panose="04020705040A02060702" pitchFamily="82" charset="0"/>
              </a:rPr>
              <a:t>Жооптор</a:t>
            </a:r>
            <a:endParaRPr lang="en-US" sz="6600" cap="none" spc="0" dirty="0">
              <a:ln w="19050">
                <a:solidFill>
                  <a:schemeClr val="tx1">
                    <a:lumMod val="85000"/>
                    <a:lumOff val="15000"/>
                  </a:schemeClr>
                </a:solidFill>
                <a:prstDash val="solid"/>
              </a:ln>
              <a:solidFill>
                <a:srgbClr val="FFC00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Algerian" panose="04020705040A02060702" pitchFamily="82" charset="0"/>
            </a:endParaRPr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74A553F8-1667-4FA5-AB72-4BA850A300ED}"/>
              </a:ext>
            </a:extLst>
          </p:cNvPr>
          <p:cNvSpPr/>
          <p:nvPr/>
        </p:nvSpPr>
        <p:spPr>
          <a:xfrm>
            <a:off x="1780645" y="2299063"/>
            <a:ext cx="910304" cy="1448672"/>
          </a:xfrm>
          <a:prstGeom prst="upArrow">
            <a:avLst/>
          </a:prstGeom>
          <a:solidFill>
            <a:srgbClr val="FFC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</p:spTree>
    <p:extLst>
      <p:ext uri="{BB962C8B-B14F-4D97-AF65-F5344CB8AC3E}">
        <p14:creationId xmlns:p14="http://schemas.microsoft.com/office/powerpoint/2010/main" val="20379275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04D95A3-C619-4B98-A2F7-AC88B0714106}"/>
              </a:ext>
            </a:extLst>
          </p:cNvPr>
          <p:cNvGraphicFramePr>
            <a:graphicFrameLocks noGrp="1"/>
          </p:cNvGraphicFramePr>
          <p:nvPr/>
        </p:nvGraphicFramePr>
        <p:xfrm>
          <a:off x="87087" y="391887"/>
          <a:ext cx="9649090" cy="6334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5498">
                  <a:extLst>
                    <a:ext uri="{9D8B030D-6E8A-4147-A177-3AD203B41FA5}">
                      <a16:colId xmlns:a16="http://schemas.microsoft.com/office/drawing/2014/main" val="4241353267"/>
                    </a:ext>
                  </a:extLst>
                </a:gridCol>
                <a:gridCol w="1517973">
                  <a:extLst>
                    <a:ext uri="{9D8B030D-6E8A-4147-A177-3AD203B41FA5}">
                      <a16:colId xmlns:a16="http://schemas.microsoft.com/office/drawing/2014/main" val="2660725730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151696040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268253823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290337592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581000434"/>
                    </a:ext>
                  </a:extLst>
                </a:gridCol>
                <a:gridCol w="895498">
                  <a:extLst>
                    <a:ext uri="{9D8B030D-6E8A-4147-A177-3AD203B41FA5}">
                      <a16:colId xmlns:a16="http://schemas.microsoft.com/office/drawing/2014/main" val="358275657"/>
                    </a:ext>
                  </a:extLst>
                </a:gridCol>
                <a:gridCol w="1516375">
                  <a:extLst>
                    <a:ext uri="{9D8B030D-6E8A-4147-A177-3AD203B41FA5}">
                      <a16:colId xmlns:a16="http://schemas.microsoft.com/office/drawing/2014/main" val="2756706607"/>
                    </a:ext>
                  </a:extLst>
                </a:gridCol>
              </a:tblGrid>
              <a:tr h="446784"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Барак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b="1" dirty="0">
                          <a:solidFill>
                            <a:sysClr val="windowText" lastClr="000000"/>
                          </a:solidFill>
                        </a:rPr>
                        <a:t>Жооп</a:t>
                      </a:r>
                      <a:endParaRPr lang="en-GB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935162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08000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699499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2976582"/>
                  </a:ext>
                </a:extLst>
              </a:tr>
              <a:tr h="1471812"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32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858856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9BF481E-DFCA-4BA6-9DBD-F16F6705123C}"/>
              </a:ext>
            </a:extLst>
          </p:cNvPr>
          <p:cNvSpPr txBox="1"/>
          <p:nvPr/>
        </p:nvSpPr>
        <p:spPr>
          <a:xfrm>
            <a:off x="-31342" y="-26118"/>
            <a:ext cx="15757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y-KG" sz="2000" u="sng" dirty="0"/>
              <a:t>Жооп кагазы</a:t>
            </a:r>
            <a:endParaRPr lang="en-GB" sz="2000" u="sng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0761BAE-9412-451C-8B90-09E585CA2ACA}"/>
              </a:ext>
            </a:extLst>
          </p:cNvPr>
          <p:cNvCxnSpPr>
            <a:cxnSpLocks/>
          </p:cNvCxnSpPr>
          <p:nvPr/>
        </p:nvCxnSpPr>
        <p:spPr>
          <a:xfrm>
            <a:off x="174174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5C25F2F-F81E-4959-B866-200B280E8311}"/>
              </a:ext>
            </a:extLst>
          </p:cNvPr>
          <p:cNvCxnSpPr>
            <a:cxnSpLocks/>
          </p:cNvCxnSpPr>
          <p:nvPr/>
        </p:nvCxnSpPr>
        <p:spPr>
          <a:xfrm>
            <a:off x="5004528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E41258-949A-45B5-B9DA-CEAC5643E0FE}"/>
              </a:ext>
            </a:extLst>
          </p:cNvPr>
          <p:cNvCxnSpPr>
            <a:cxnSpLocks/>
          </p:cNvCxnSpPr>
          <p:nvPr/>
        </p:nvCxnSpPr>
        <p:spPr>
          <a:xfrm>
            <a:off x="2589351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4486A-82F5-4658-8436-AD4CAEBBC1CE}"/>
              </a:ext>
            </a:extLst>
          </p:cNvPr>
          <p:cNvCxnSpPr>
            <a:cxnSpLocks/>
          </p:cNvCxnSpPr>
          <p:nvPr/>
        </p:nvCxnSpPr>
        <p:spPr>
          <a:xfrm>
            <a:off x="7419706" y="923108"/>
            <a:ext cx="0" cy="16546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2474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CFBF105-B54A-9D9D-8DA2-DA815EC9E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05680" cy="3429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A3111D-B603-120F-393E-38B9E63BE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80" y="33045"/>
            <a:ext cx="5011616" cy="339595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2CB95-5463-1993-8693-ED09E4F2BB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29000"/>
            <a:ext cx="4805680" cy="3429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296664-37F6-D67F-E2D4-695CBBED33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80" y="3462045"/>
            <a:ext cx="5011616" cy="3395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1337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727800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1992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8567</TotalTime>
  <Words>714</Words>
  <Application>Microsoft Office PowerPoint</Application>
  <PresentationFormat>A4 Paper (210x297 mm)</PresentationFormat>
  <Paragraphs>228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 Light</vt:lpstr>
      <vt:lpstr>Cambria Math</vt:lpstr>
      <vt:lpstr>Algerian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357</cp:revision>
  <cp:lastPrinted>2024-09-13T05:04:40Z</cp:lastPrinted>
  <dcterms:created xsi:type="dcterms:W3CDTF">2017-01-17T16:57:04Z</dcterms:created>
  <dcterms:modified xsi:type="dcterms:W3CDTF">2024-09-13T05:06:28Z</dcterms:modified>
</cp:coreProperties>
</file>