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0"/>
  </p:notesMasterIdLst>
  <p:handoutMasterIdLst>
    <p:handoutMasterId r:id="rId11"/>
  </p:handoutMasterIdLst>
  <p:sldIdLst>
    <p:sldId id="1004" r:id="rId2"/>
    <p:sldId id="1009" r:id="rId3"/>
    <p:sldId id="1010" r:id="rId4"/>
    <p:sldId id="967" r:id="rId5"/>
    <p:sldId id="1011" r:id="rId6"/>
    <p:sldId id="1012" r:id="rId7"/>
    <p:sldId id="1013" r:id="rId8"/>
    <p:sldId id="1008" r:id="rId9"/>
  </p:sldIdLst>
  <p:sldSz cx="9906000" cy="6858000" type="A4"/>
  <p:notesSz cx="7104063" cy="10234613"/>
  <p:embeddedFontLst>
    <p:embeddedFont>
      <p:font typeface="Cambria Math" panose="02040503050406030204" pitchFamily="18" charset="0"/>
      <p:regular r:id="rId12"/>
    </p:embeddedFont>
    <p:embeddedFont>
      <p:font typeface="Stencil" panose="040409050D0802020404" pitchFamily="82" charset="0"/>
      <p:regular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CFCC38FB-7118-4555-ACF5-0BD5AF27F91A}">
          <p14:sldIdLst>
            <p14:sldId id="1004"/>
          </p14:sldIdLst>
        </p14:section>
        <p14:section name="Толук барак көндүм А" id="{059544AC-2C27-45B1-9F95-F87DF8854DD6}">
          <p14:sldIdLst>
            <p14:sldId id="1009"/>
            <p14:sldId id="1010"/>
          </p14:sldIdLst>
        </p14:section>
        <p14:section name="Жарым барак көндүм А" id="{66411D58-1247-41BC-A8D3-87E459D4C417}">
          <p14:sldIdLst>
            <p14:sldId id="967"/>
            <p14:sldId id="1011"/>
          </p14:sldIdLst>
        </p14:section>
        <p14:section name="Жообу" id="{AF46F52E-64BB-4CDD-9C92-36613B45A49C}">
          <p14:sldIdLst>
            <p14:sldId id="1012"/>
            <p14:sldId id="1013"/>
          </p14:sldIdLst>
        </p14:section>
        <p14:section name="Кайтарым байланыш" id="{44593A35-489B-47C3-9FD2-BAFF3AF9952F}">
          <p14:sldIdLst>
            <p14:sldId id="100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686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04" y="3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notesViewPr>
    <p:cSldViewPr snapToGrid="0" showGuides="1">
      <p:cViewPr varScale="1">
        <p:scale>
          <a:sx n="59" d="100"/>
          <a:sy n="59" d="100"/>
        </p:scale>
        <p:origin x="3254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F95EEC0-BA2F-4C89-A04C-7A4A655E27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920E98-7CDF-4021-8551-1596F15CE7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831BB-79C8-47D7-927B-A4A057B48BB9}" type="datetimeFigureOut">
              <a:rPr lang="en-GB" smtClean="0"/>
              <a:t>04/09/2024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172B7C-7F8E-4E82-8E98-8202508291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038D9-98AA-4E2F-BECD-0B5701A075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A3C3B0-A9E3-44D3-89EF-A392F668C0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18304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04/09/2024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1649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15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image" Target="../media/image1.png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18" Type="http://schemas.openxmlformats.org/officeDocument/2006/relationships/image" Target="../media/image38.png"/><Relationship Id="rId26" Type="http://schemas.openxmlformats.org/officeDocument/2006/relationships/image" Target="../media/image44.png"/><Relationship Id="rId3" Type="http://schemas.openxmlformats.org/officeDocument/2006/relationships/image" Target="../media/image230.png"/><Relationship Id="rId21" Type="http://schemas.openxmlformats.org/officeDocument/2006/relationships/image" Target="../media/image39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5" Type="http://schemas.openxmlformats.org/officeDocument/2006/relationships/image" Target="../media/image43.png"/><Relationship Id="rId33" Type="http://schemas.openxmlformats.org/officeDocument/2006/relationships/image" Target="../media/image7.svg"/><Relationship Id="rId2" Type="http://schemas.openxmlformats.org/officeDocument/2006/relationships/image" Target="../media/image1.png"/><Relationship Id="rId16" Type="http://schemas.openxmlformats.org/officeDocument/2006/relationships/image" Target="../media/image36.png"/><Relationship Id="rId29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24" Type="http://schemas.openxmlformats.org/officeDocument/2006/relationships/image" Target="../media/image42.png"/><Relationship Id="rId32" Type="http://schemas.openxmlformats.org/officeDocument/2006/relationships/image" Target="../media/image6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23" Type="http://schemas.openxmlformats.org/officeDocument/2006/relationships/image" Target="../media/image41.png"/><Relationship Id="rId28" Type="http://schemas.openxmlformats.org/officeDocument/2006/relationships/image" Target="../media/image46.png"/><Relationship Id="rId10" Type="http://schemas.openxmlformats.org/officeDocument/2006/relationships/image" Target="../media/image30.png"/><Relationship Id="rId31" Type="http://schemas.openxmlformats.org/officeDocument/2006/relationships/image" Target="../media/image49.png"/><Relationship Id="rId4" Type="http://schemas.openxmlformats.org/officeDocument/2006/relationships/image" Target="../media/image240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Relationship Id="rId22" Type="http://schemas.openxmlformats.org/officeDocument/2006/relationships/image" Target="../media/image40.png"/><Relationship Id="rId27" Type="http://schemas.openxmlformats.org/officeDocument/2006/relationships/image" Target="../media/image45.png"/><Relationship Id="rId30" Type="http://schemas.openxmlformats.org/officeDocument/2006/relationships/image" Target="../media/image4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13" Type="http://schemas.openxmlformats.org/officeDocument/2006/relationships/image" Target="../media/image231.png"/><Relationship Id="rId3" Type="http://schemas.openxmlformats.org/officeDocument/2006/relationships/image" Target="../media/image130.png"/><Relationship Id="rId7" Type="http://schemas.openxmlformats.org/officeDocument/2006/relationships/image" Target="../media/image170.png"/><Relationship Id="rId12" Type="http://schemas.openxmlformats.org/officeDocument/2006/relationships/image" Target="../media/image220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0.png"/><Relationship Id="rId11" Type="http://schemas.openxmlformats.org/officeDocument/2006/relationships/image" Target="../media/image210.png"/><Relationship Id="rId5" Type="http://schemas.openxmlformats.org/officeDocument/2006/relationships/image" Target="../media/image150.png"/><Relationship Id="rId15" Type="http://schemas.openxmlformats.org/officeDocument/2006/relationships/image" Target="../media/image50.png"/><Relationship Id="rId10" Type="http://schemas.openxmlformats.org/officeDocument/2006/relationships/image" Target="../media/image200.png"/><Relationship Id="rId4" Type="http://schemas.openxmlformats.org/officeDocument/2006/relationships/image" Target="../media/image140.png"/><Relationship Id="rId9" Type="http://schemas.openxmlformats.org/officeDocument/2006/relationships/image" Target="../media/image190.png"/><Relationship Id="rId14" Type="http://schemas.openxmlformats.org/officeDocument/2006/relationships/image" Target="../media/image24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2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5" Type="http://schemas.openxmlformats.org/officeDocument/2006/relationships/image" Target="../media/image64.pn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Relationship Id="rId14" Type="http://schemas.openxmlformats.org/officeDocument/2006/relationships/image" Target="../media/image6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79.png"/><Relationship Id="rId3" Type="http://schemas.openxmlformats.org/officeDocument/2006/relationships/image" Target="../media/image115.png"/><Relationship Id="rId21" Type="http://schemas.openxmlformats.org/officeDocument/2006/relationships/image" Target="../media/image19.png"/><Relationship Id="rId34" Type="http://schemas.openxmlformats.org/officeDocument/2006/relationships/image" Target="../media/image74.png"/><Relationship Id="rId42" Type="http://schemas.openxmlformats.org/officeDocument/2006/relationships/image" Target="../media/image82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66.png"/><Relationship Id="rId33" Type="http://schemas.openxmlformats.org/officeDocument/2006/relationships/image" Target="../media/image73.png"/><Relationship Id="rId38" Type="http://schemas.openxmlformats.org/officeDocument/2006/relationships/image" Target="../media/image78.png"/><Relationship Id="rId46" Type="http://schemas.openxmlformats.org/officeDocument/2006/relationships/image" Target="../media/image86.png"/><Relationship Id="rId2" Type="http://schemas.openxmlformats.org/officeDocument/2006/relationships/image" Target="../media/image1.png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69.png"/><Relationship Id="rId41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72.png"/><Relationship Id="rId37" Type="http://schemas.openxmlformats.org/officeDocument/2006/relationships/image" Target="../media/image77.png"/><Relationship Id="rId40" Type="http://schemas.openxmlformats.org/officeDocument/2006/relationships/image" Target="../media/image80.png"/><Relationship Id="rId45" Type="http://schemas.openxmlformats.org/officeDocument/2006/relationships/image" Target="../media/image85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68.png"/><Relationship Id="rId36" Type="http://schemas.openxmlformats.org/officeDocument/2006/relationships/image" Target="../media/image76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71.png"/><Relationship Id="rId44" Type="http://schemas.openxmlformats.org/officeDocument/2006/relationships/image" Target="../media/image84.pn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png"/><Relationship Id="rId22" Type="http://schemas.openxmlformats.org/officeDocument/2006/relationships/image" Target="../media/image65.png"/><Relationship Id="rId27" Type="http://schemas.openxmlformats.org/officeDocument/2006/relationships/image" Target="../media/image67.png"/><Relationship Id="rId30" Type="http://schemas.openxmlformats.org/officeDocument/2006/relationships/image" Target="../media/image70.png"/><Relationship Id="rId35" Type="http://schemas.openxmlformats.org/officeDocument/2006/relationships/image" Target="../media/image75.png"/><Relationship Id="rId43" Type="http://schemas.openxmlformats.org/officeDocument/2006/relationships/image" Target="../media/image83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4.png"/><Relationship Id="rId18" Type="http://schemas.openxmlformats.org/officeDocument/2006/relationships/image" Target="../media/image38.png"/><Relationship Id="rId26" Type="http://schemas.openxmlformats.org/officeDocument/2006/relationships/image" Target="../media/image44.png"/><Relationship Id="rId39" Type="http://schemas.openxmlformats.org/officeDocument/2006/relationships/image" Target="../media/image94.png"/><Relationship Id="rId21" Type="http://schemas.openxmlformats.org/officeDocument/2006/relationships/image" Target="../media/image39.png"/><Relationship Id="rId34" Type="http://schemas.openxmlformats.org/officeDocument/2006/relationships/image" Target="../media/image89.png"/><Relationship Id="rId42" Type="http://schemas.openxmlformats.org/officeDocument/2006/relationships/image" Target="../media/image97.png"/><Relationship Id="rId47" Type="http://schemas.openxmlformats.org/officeDocument/2006/relationships/image" Target="../media/image102.png"/><Relationship Id="rId50" Type="http://schemas.openxmlformats.org/officeDocument/2006/relationships/image" Target="../media/image105.png"/><Relationship Id="rId55" Type="http://schemas.openxmlformats.org/officeDocument/2006/relationships/image" Target="../media/image110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87.png"/><Relationship Id="rId25" Type="http://schemas.openxmlformats.org/officeDocument/2006/relationships/image" Target="../media/image43.png"/><Relationship Id="rId33" Type="http://schemas.openxmlformats.org/officeDocument/2006/relationships/image" Target="../media/image7.svg"/><Relationship Id="rId38" Type="http://schemas.openxmlformats.org/officeDocument/2006/relationships/image" Target="../media/image93.png"/><Relationship Id="rId46" Type="http://schemas.openxmlformats.org/officeDocument/2006/relationships/image" Target="../media/image101.png"/><Relationship Id="rId59" Type="http://schemas.openxmlformats.org/officeDocument/2006/relationships/image" Target="../media/image114.png"/><Relationship Id="rId2" Type="http://schemas.openxmlformats.org/officeDocument/2006/relationships/image" Target="../media/image1.png"/><Relationship Id="rId16" Type="http://schemas.openxmlformats.org/officeDocument/2006/relationships/image" Target="../media/image36.png"/><Relationship Id="rId29" Type="http://schemas.openxmlformats.org/officeDocument/2006/relationships/image" Target="../media/image47.png"/><Relationship Id="rId41" Type="http://schemas.openxmlformats.org/officeDocument/2006/relationships/image" Target="../media/image96.png"/><Relationship Id="rId54" Type="http://schemas.openxmlformats.org/officeDocument/2006/relationships/image" Target="../media/image10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24" Type="http://schemas.openxmlformats.org/officeDocument/2006/relationships/image" Target="../media/image88.png"/><Relationship Id="rId32" Type="http://schemas.openxmlformats.org/officeDocument/2006/relationships/image" Target="../media/image6.png"/><Relationship Id="rId37" Type="http://schemas.openxmlformats.org/officeDocument/2006/relationships/image" Target="../media/image92.png"/><Relationship Id="rId40" Type="http://schemas.openxmlformats.org/officeDocument/2006/relationships/image" Target="../media/image95.png"/><Relationship Id="rId45" Type="http://schemas.openxmlformats.org/officeDocument/2006/relationships/image" Target="../media/image100.png"/><Relationship Id="rId53" Type="http://schemas.openxmlformats.org/officeDocument/2006/relationships/image" Target="../media/image108.png"/><Relationship Id="rId58" Type="http://schemas.openxmlformats.org/officeDocument/2006/relationships/image" Target="../media/image113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23" Type="http://schemas.openxmlformats.org/officeDocument/2006/relationships/image" Target="../media/image41.png"/><Relationship Id="rId28" Type="http://schemas.openxmlformats.org/officeDocument/2006/relationships/image" Target="../media/image46.png"/><Relationship Id="rId36" Type="http://schemas.openxmlformats.org/officeDocument/2006/relationships/image" Target="../media/image91.png"/><Relationship Id="rId49" Type="http://schemas.openxmlformats.org/officeDocument/2006/relationships/image" Target="../media/image104.png"/><Relationship Id="rId57" Type="http://schemas.openxmlformats.org/officeDocument/2006/relationships/image" Target="../media/image112.png"/><Relationship Id="rId10" Type="http://schemas.openxmlformats.org/officeDocument/2006/relationships/image" Target="../media/image30.png"/><Relationship Id="rId31" Type="http://schemas.openxmlformats.org/officeDocument/2006/relationships/image" Target="../media/image49.png"/><Relationship Id="rId44" Type="http://schemas.openxmlformats.org/officeDocument/2006/relationships/image" Target="../media/image99.png"/><Relationship Id="rId52" Type="http://schemas.openxmlformats.org/officeDocument/2006/relationships/image" Target="../media/image107.png"/><Relationship Id="rId4" Type="http://schemas.openxmlformats.org/officeDocument/2006/relationships/image" Target="../media/image240.png"/><Relationship Id="rId9" Type="http://schemas.openxmlformats.org/officeDocument/2006/relationships/image" Target="../media/image29.png"/><Relationship Id="rId22" Type="http://schemas.openxmlformats.org/officeDocument/2006/relationships/image" Target="../media/image40.png"/><Relationship Id="rId27" Type="http://schemas.openxmlformats.org/officeDocument/2006/relationships/image" Target="../media/image45.png"/><Relationship Id="rId30" Type="http://schemas.openxmlformats.org/officeDocument/2006/relationships/image" Target="../media/image48.png"/><Relationship Id="rId35" Type="http://schemas.openxmlformats.org/officeDocument/2006/relationships/image" Target="../media/image90.png"/><Relationship Id="rId43" Type="http://schemas.openxmlformats.org/officeDocument/2006/relationships/image" Target="../media/image98.png"/><Relationship Id="rId48" Type="http://schemas.openxmlformats.org/officeDocument/2006/relationships/image" Target="../media/image103.png"/><Relationship Id="rId56" Type="http://schemas.openxmlformats.org/officeDocument/2006/relationships/image" Target="../media/image111.png"/><Relationship Id="rId8" Type="http://schemas.openxmlformats.org/officeDocument/2006/relationships/image" Target="../media/image28.png"/><Relationship Id="rId51" Type="http://schemas.openxmlformats.org/officeDocument/2006/relationships/image" Target="../media/image106.png"/><Relationship Id="rId3" Type="http://schemas.openxmlformats.org/officeDocument/2006/relationships/image" Target="../media/image23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70AB8EA-EE90-54AD-333F-C9B060BBDA87}"/>
              </a:ext>
            </a:extLst>
          </p:cNvPr>
          <p:cNvSpPr txBox="1">
            <a:spLocks/>
          </p:cNvSpPr>
          <p:nvPr/>
        </p:nvSpPr>
        <p:spPr>
          <a:xfrm>
            <a:off x="0" y="1903413"/>
            <a:ext cx="983107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Бөлчөктөрдү, ондуктарды жана пайыздарды ирээттөө– Сабак</a:t>
            </a:r>
          </a:p>
          <a:p>
            <a:endParaRPr lang="ru-RU" dirty="0"/>
          </a:p>
          <a:p>
            <a:r>
              <a:rPr lang="ru-RU" dirty="0"/>
              <a:t>Бул ресурс ыкманы жандуу көрсөтөт.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3200" b="1" dirty="0">
                <a:solidFill>
                  <a:srgbClr val="FF0000"/>
                </a:solidFill>
              </a:rPr>
              <a:t>ӨЧҮРҮ</a:t>
            </a:r>
            <a:r>
              <a:rPr lang="ky-KG" sz="3200" b="1" dirty="0">
                <a:solidFill>
                  <a:srgbClr val="FF0000"/>
                </a:solidFill>
              </a:rPr>
              <a:t>П САЛЫ</a:t>
            </a:r>
            <a:r>
              <a:rPr lang="ru-RU" sz="32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33578990-6CDC-83E1-7E5A-C95904FE7CA7}"/>
              </a:ext>
            </a:extLst>
          </p:cNvPr>
          <p:cNvSpPr txBox="1">
            <a:spLocks/>
          </p:cNvSpPr>
          <p:nvPr/>
        </p:nvSpPr>
        <p:spPr>
          <a:xfrm>
            <a:off x="426720" y="5032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046856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34A46C22-29F5-3098-7C9C-FD1B17CB467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4478" y="87359"/>
                <a:ext cx="9650844" cy="6683282"/>
              </a:xfrm>
              <a:prstGeom prst="roundRect">
                <a:avLst>
                  <a:gd name="adj" fmla="val 5156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i="1" smtClean="0">
                          <a:latin typeface="Cambria Math" panose="02040503050406030204" pitchFamily="18" charset="0"/>
                        </a:rPr>
                        <m:t>0.801</m:t>
                      </m:r>
                    </m:oMath>
                  </m:oMathPara>
                </a14:m>
                <a:endParaRPr lang="en-GB" sz="1950" dirty="0"/>
              </a:p>
            </p:txBody>
          </p:sp>
        </mc:Choice>
        <mc:Fallback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34A46C22-29F5-3098-7C9C-FD1B17CB46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78" y="87359"/>
                <a:ext cx="9650844" cy="6683282"/>
              </a:xfrm>
              <a:prstGeom prst="roundRect">
                <a:avLst>
                  <a:gd name="adj" fmla="val 5156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404E514-B434-C59C-D16B-AFEC68D6A8F9}"/>
                  </a:ext>
                </a:extLst>
              </p:cNvPr>
              <p:cNvSpPr txBox="1"/>
              <p:nvPr/>
            </p:nvSpPr>
            <p:spPr>
              <a:xfrm>
                <a:off x="3712666" y="2403253"/>
                <a:ext cx="200375" cy="5770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404E514-B434-C59C-D16B-AFEC68D6A8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2666" y="2403253"/>
                <a:ext cx="200375" cy="5770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4B164A0-6C68-1790-A450-3DBCEBB65FEC}"/>
              </a:ext>
            </a:extLst>
          </p:cNvPr>
          <p:cNvSpPr txBox="1"/>
          <p:nvPr/>
        </p:nvSpPr>
        <p:spPr>
          <a:xfrm>
            <a:off x="119904" y="577205"/>
            <a:ext cx="85491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dirty="0"/>
              <a:t>Ар бир сап жана ар бир тилке өсүү тартибинде (кичинеден чоңго карай) болушу үчүн бардык маанилерди бош торчого ирээттеңиз.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D1FCE9C-4FC5-1622-9467-00F4A597CE9D}"/>
                  </a:ext>
                </a:extLst>
              </p:cNvPr>
              <p:cNvSpPr txBox="1"/>
              <p:nvPr/>
            </p:nvSpPr>
            <p:spPr>
              <a:xfrm>
                <a:off x="219599" y="1599829"/>
                <a:ext cx="26129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ky-KG" sz="2000" b="1" dirty="0"/>
                  <a:t>А</a:t>
                </a:r>
                <a14:m>
                  <m:oMath xmlns:m="http://schemas.openxmlformats.org/officeDocument/2006/math"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0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D1FCE9C-4FC5-1622-9467-00F4A597CE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599" y="1599829"/>
                <a:ext cx="261290" cy="307777"/>
              </a:xfrm>
              <a:prstGeom prst="rect">
                <a:avLst/>
              </a:prstGeom>
              <a:blipFill>
                <a:blip r:embed="rId4"/>
                <a:stretch>
                  <a:fillRect l="-58140" t="-25490" r="-44186" b="-49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1C913A76-100E-6E31-1650-5F92C791F928}"/>
              </a:ext>
            </a:extLst>
          </p:cNvPr>
          <p:cNvSpPr txBox="1"/>
          <p:nvPr/>
        </p:nvSpPr>
        <p:spPr>
          <a:xfrm>
            <a:off x="1485810" y="215423"/>
            <a:ext cx="567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u="sng" dirty="0"/>
              <a:t>Бөлчөктөрдү, ондуктарды жана пайыздарды ирээттөө</a:t>
            </a:r>
            <a:endParaRPr lang="en-GB" b="1" u="sn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DD4265-ABEF-FB80-D9B2-56EDBC0B9EF6}"/>
              </a:ext>
            </a:extLst>
          </p:cNvPr>
          <p:cNvSpPr txBox="1"/>
          <p:nvPr/>
        </p:nvSpPr>
        <p:spPr>
          <a:xfrm>
            <a:off x="8880742" y="114155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1C2D65A-59DD-CB2B-7CA6-C49FACA6465B}"/>
                  </a:ext>
                </a:extLst>
              </p:cNvPr>
              <p:cNvSpPr txBox="1"/>
              <p:nvPr/>
            </p:nvSpPr>
            <p:spPr>
              <a:xfrm>
                <a:off x="197687" y="4481649"/>
                <a:ext cx="24846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ky-KG" sz="2000" b="1" dirty="0"/>
                  <a:t>Б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000" b="1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1C2D65A-59DD-CB2B-7CA6-C49FACA646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687" y="4481649"/>
                <a:ext cx="248466" cy="307777"/>
              </a:xfrm>
              <a:prstGeom prst="rect">
                <a:avLst/>
              </a:prstGeom>
              <a:blipFill>
                <a:blip r:embed="rId5"/>
                <a:stretch>
                  <a:fillRect l="-60976" t="-25490" r="-48780" b="-49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3AC63CE1-3FA9-B224-0627-9E2EE5A78D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5905297"/>
              </p:ext>
            </p:extLst>
          </p:nvPr>
        </p:nvGraphicFramePr>
        <p:xfrm>
          <a:off x="6225206" y="1813625"/>
          <a:ext cx="2096757" cy="17033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8919">
                  <a:extLst>
                    <a:ext uri="{9D8B030D-6E8A-4147-A177-3AD203B41FA5}">
                      <a16:colId xmlns:a16="http://schemas.microsoft.com/office/drawing/2014/main" val="4011859080"/>
                    </a:ext>
                  </a:extLst>
                </a:gridCol>
                <a:gridCol w="698919">
                  <a:extLst>
                    <a:ext uri="{9D8B030D-6E8A-4147-A177-3AD203B41FA5}">
                      <a16:colId xmlns:a16="http://schemas.microsoft.com/office/drawing/2014/main" val="3715397478"/>
                    </a:ext>
                  </a:extLst>
                </a:gridCol>
                <a:gridCol w="698919">
                  <a:extLst>
                    <a:ext uri="{9D8B030D-6E8A-4147-A177-3AD203B41FA5}">
                      <a16:colId xmlns:a16="http://schemas.microsoft.com/office/drawing/2014/main" val="2316878995"/>
                    </a:ext>
                  </a:extLst>
                </a:gridCol>
              </a:tblGrid>
              <a:tr h="5677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0394257"/>
                  </a:ext>
                </a:extLst>
              </a:tr>
              <a:tr h="56778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8214960"/>
                  </a:ext>
                </a:extLst>
              </a:tr>
              <a:tr h="5677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141711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EEA4CE8-86CD-2D21-74CC-8C595DE0680C}"/>
              </a:ext>
            </a:extLst>
          </p:cNvPr>
          <p:cNvCxnSpPr>
            <a:cxnSpLocks/>
          </p:cNvCxnSpPr>
          <p:nvPr/>
        </p:nvCxnSpPr>
        <p:spPr>
          <a:xfrm>
            <a:off x="6491549" y="1589391"/>
            <a:ext cx="1261406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A6625ED-3211-2042-94F6-A43660C05FBD}"/>
              </a:ext>
            </a:extLst>
          </p:cNvPr>
          <p:cNvCxnSpPr>
            <a:cxnSpLocks/>
          </p:cNvCxnSpPr>
          <p:nvPr/>
        </p:nvCxnSpPr>
        <p:spPr>
          <a:xfrm>
            <a:off x="5794362" y="1869843"/>
            <a:ext cx="0" cy="1502104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3AF7D2B-7329-3D6D-F54E-5C3D90A90320}"/>
              </a:ext>
            </a:extLst>
          </p:cNvPr>
          <p:cNvSpPr txBox="1"/>
          <p:nvPr/>
        </p:nvSpPr>
        <p:spPr>
          <a:xfrm>
            <a:off x="4949045" y="1415163"/>
            <a:ext cx="1529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Эң кичинекей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DB191DE-4AB4-53E9-4F53-E5B825CF94F3}"/>
              </a:ext>
            </a:extLst>
          </p:cNvPr>
          <p:cNvSpPr txBox="1"/>
          <p:nvPr/>
        </p:nvSpPr>
        <p:spPr>
          <a:xfrm>
            <a:off x="7921864" y="1361289"/>
            <a:ext cx="1000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Эң чоң</a:t>
            </a:r>
            <a:endParaRPr lang="en-US" dirty="0"/>
          </a:p>
          <a:p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F742980-225E-1577-2FAC-AC917827CDAC}"/>
              </a:ext>
            </a:extLst>
          </p:cNvPr>
          <p:cNvSpPr txBox="1"/>
          <p:nvPr/>
        </p:nvSpPr>
        <p:spPr>
          <a:xfrm>
            <a:off x="5360956" y="3429000"/>
            <a:ext cx="1000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Эң чоң</a:t>
            </a:r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6BF09CA-20E4-346B-70C2-E63AF43D2816}"/>
                  </a:ext>
                </a:extLst>
              </p:cNvPr>
              <p:cNvSpPr txBox="1"/>
              <p:nvPr/>
            </p:nvSpPr>
            <p:spPr>
              <a:xfrm>
                <a:off x="988711" y="2620895"/>
                <a:ext cx="32541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0.</m:t>
                    </m:r>
                  </m:oMath>
                </a14:m>
                <a:r>
                  <a:rPr lang="ky-KG" sz="2000" dirty="0"/>
                  <a:t>9</a:t>
                </a:r>
                <a:endParaRPr lang="en-GB" sz="2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6BF09CA-20E4-346B-70C2-E63AF43D28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711" y="2620895"/>
                <a:ext cx="325410" cy="307777"/>
              </a:xfrm>
              <a:prstGeom prst="rect">
                <a:avLst/>
              </a:prstGeom>
              <a:blipFill>
                <a:blip r:embed="rId6"/>
                <a:stretch>
                  <a:fillRect l="-25926" t="-26000" r="-46296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8B0C9EF-2D28-6361-FFEF-245115DC91A5}"/>
                  </a:ext>
                </a:extLst>
              </p:cNvPr>
              <p:cNvSpPr txBox="1"/>
              <p:nvPr/>
            </p:nvSpPr>
            <p:spPr>
              <a:xfrm>
                <a:off x="2346254" y="3256757"/>
                <a:ext cx="200375" cy="5761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8B0C9EF-2D28-6361-FFEF-245115DC91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6254" y="3256757"/>
                <a:ext cx="200375" cy="57618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5C8EBD24-7791-320C-CD6D-A9AF46B8BD55}"/>
              </a:ext>
            </a:extLst>
          </p:cNvPr>
          <p:cNvSpPr txBox="1"/>
          <p:nvPr/>
        </p:nvSpPr>
        <p:spPr>
          <a:xfrm>
            <a:off x="7827100" y="3657744"/>
            <a:ext cx="1534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Эң чоңу</a:t>
            </a:r>
            <a:endParaRPr lang="en-US" dirty="0"/>
          </a:p>
        </p:txBody>
      </p:sp>
      <p:pic>
        <p:nvPicPr>
          <p:cNvPr id="42" name="Graphic 41" descr="Cursor with solid fill">
            <a:extLst>
              <a:ext uri="{FF2B5EF4-FFF2-40B4-BE49-F238E27FC236}">
                <a16:creationId xmlns:a16="http://schemas.microsoft.com/office/drawing/2014/main" id="{3D8E7DC4-B6B9-944E-35BC-AC2C791C36E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2422567">
            <a:off x="8113456" y="3366164"/>
            <a:ext cx="399005" cy="399005"/>
          </a:xfrm>
          <a:prstGeom prst="rect">
            <a:avLst/>
          </a:prstGeom>
        </p:spPr>
      </p:pic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91950F2-C49B-8457-C8B9-D54965841596}"/>
              </a:ext>
            </a:extLst>
          </p:cNvPr>
          <p:cNvCxnSpPr>
            <a:cxnSpLocks/>
          </p:cNvCxnSpPr>
          <p:nvPr/>
        </p:nvCxnSpPr>
        <p:spPr>
          <a:xfrm>
            <a:off x="6660458" y="4336658"/>
            <a:ext cx="1261406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22057F1-6D4B-49A7-7628-9CD40BD5BAE2}"/>
              </a:ext>
            </a:extLst>
          </p:cNvPr>
          <p:cNvCxnSpPr>
            <a:cxnSpLocks/>
          </p:cNvCxnSpPr>
          <p:nvPr/>
        </p:nvCxnSpPr>
        <p:spPr>
          <a:xfrm>
            <a:off x="6171914" y="4663446"/>
            <a:ext cx="0" cy="1502104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8E160AD7-8D22-BD28-3ACB-B9C83F28C3E6}"/>
              </a:ext>
            </a:extLst>
          </p:cNvPr>
          <p:cNvSpPr txBox="1"/>
          <p:nvPr/>
        </p:nvSpPr>
        <p:spPr>
          <a:xfrm>
            <a:off x="5134360" y="4186137"/>
            <a:ext cx="1547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Эң кичинекей</a:t>
            </a:r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CAD01B4-7C62-2B6E-8844-BD880EECC803}"/>
              </a:ext>
            </a:extLst>
          </p:cNvPr>
          <p:cNvSpPr txBox="1"/>
          <p:nvPr/>
        </p:nvSpPr>
        <p:spPr>
          <a:xfrm>
            <a:off x="8000077" y="4117625"/>
            <a:ext cx="1000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Эң чоң</a:t>
            </a:r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712A5B8-5F4D-7D68-6016-D9EF7DDBB2CE}"/>
              </a:ext>
            </a:extLst>
          </p:cNvPr>
          <p:cNvSpPr txBox="1"/>
          <p:nvPr/>
        </p:nvSpPr>
        <p:spPr>
          <a:xfrm>
            <a:off x="5699196" y="6224944"/>
            <a:ext cx="1000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Эң чоң</a:t>
            </a:r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CA105E5-F75E-CC35-4677-584503B03AB5}"/>
              </a:ext>
            </a:extLst>
          </p:cNvPr>
          <p:cNvSpPr txBox="1"/>
          <p:nvPr/>
        </p:nvSpPr>
        <p:spPr>
          <a:xfrm>
            <a:off x="8031737" y="6470186"/>
            <a:ext cx="1534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Эң чоңу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4BBD19E-E846-F28E-D993-666F2BFB83D6}"/>
                  </a:ext>
                </a:extLst>
              </p:cNvPr>
              <p:cNvSpPr txBox="1"/>
              <p:nvPr/>
            </p:nvSpPr>
            <p:spPr>
              <a:xfrm>
                <a:off x="909710" y="1667288"/>
                <a:ext cx="343043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4BBD19E-E846-F28E-D993-666F2BFB83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710" y="1667288"/>
                <a:ext cx="343043" cy="57823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8FDCF35-3E9B-45E0-A0A0-A2FD982CCF7F}"/>
                  </a:ext>
                </a:extLst>
              </p:cNvPr>
              <p:cNvSpPr txBox="1"/>
              <p:nvPr/>
            </p:nvSpPr>
            <p:spPr>
              <a:xfrm>
                <a:off x="2177944" y="1669904"/>
                <a:ext cx="57066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61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8FDCF35-3E9B-45E0-A0A0-A2FD982CCF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7944" y="1669904"/>
                <a:ext cx="570669" cy="307777"/>
              </a:xfrm>
              <a:prstGeom prst="rect">
                <a:avLst/>
              </a:prstGeom>
              <a:blipFill>
                <a:blip r:embed="rId11"/>
                <a:stretch>
                  <a:fillRect l="-9574" r="-10638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8546F40-235E-D2D0-C88E-8FF561CFC456}"/>
                  </a:ext>
                </a:extLst>
              </p:cNvPr>
              <p:cNvSpPr txBox="1"/>
              <p:nvPr/>
            </p:nvSpPr>
            <p:spPr>
              <a:xfrm>
                <a:off x="2245029" y="2424049"/>
                <a:ext cx="441448" cy="5761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8546F40-235E-D2D0-C88E-8FF561CFC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5029" y="2424049"/>
                <a:ext cx="441448" cy="57618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A28CEC6-F886-EB83-B87B-834C93F83C9E}"/>
                  </a:ext>
                </a:extLst>
              </p:cNvPr>
              <p:cNvSpPr txBox="1"/>
              <p:nvPr/>
            </p:nvSpPr>
            <p:spPr>
              <a:xfrm>
                <a:off x="3556654" y="3507731"/>
                <a:ext cx="59471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0.43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A28CEC6-F886-EB83-B87B-834C93F83C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6654" y="3507731"/>
                <a:ext cx="594715" cy="307777"/>
              </a:xfrm>
              <a:prstGeom prst="rect">
                <a:avLst/>
              </a:prstGeom>
              <a:blipFill>
                <a:blip r:embed="rId13"/>
                <a:stretch>
                  <a:fillRect r="-9184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ECDB8029-67FF-DCD1-5D67-705C0D375485}"/>
                  </a:ext>
                </a:extLst>
              </p:cNvPr>
              <p:cNvSpPr txBox="1"/>
              <p:nvPr/>
            </p:nvSpPr>
            <p:spPr>
              <a:xfrm>
                <a:off x="856319" y="3417734"/>
                <a:ext cx="57066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22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ECDB8029-67FF-DCD1-5D67-705C0D3754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319" y="3417734"/>
                <a:ext cx="570669" cy="307777"/>
              </a:xfrm>
              <a:prstGeom prst="rect">
                <a:avLst/>
              </a:prstGeom>
              <a:blipFill>
                <a:blip r:embed="rId14"/>
                <a:stretch>
                  <a:fillRect l="-9574" r="-10638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B99665C-1D16-F753-2C61-4DDD25D700FF}"/>
                  </a:ext>
                </a:extLst>
              </p:cNvPr>
              <p:cNvSpPr txBox="1"/>
              <p:nvPr/>
            </p:nvSpPr>
            <p:spPr>
              <a:xfrm>
                <a:off x="3727022" y="1509102"/>
                <a:ext cx="200375" cy="5761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B99665C-1D16-F753-2C61-4DDD25D700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7022" y="1509102"/>
                <a:ext cx="200375" cy="57618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5" name="TextBox 244">
                <a:extLst>
                  <a:ext uri="{FF2B5EF4-FFF2-40B4-BE49-F238E27FC236}">
                    <a16:creationId xmlns:a16="http://schemas.microsoft.com/office/drawing/2014/main" id="{8ABCD862-46E4-4492-865D-6160824323ED}"/>
                  </a:ext>
                </a:extLst>
              </p:cNvPr>
              <p:cNvSpPr txBox="1"/>
              <p:nvPr/>
            </p:nvSpPr>
            <p:spPr>
              <a:xfrm>
                <a:off x="854661" y="4370803"/>
                <a:ext cx="343043" cy="5771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45" name="TextBox 244">
                <a:extLst>
                  <a:ext uri="{FF2B5EF4-FFF2-40B4-BE49-F238E27FC236}">
                    <a16:creationId xmlns:a16="http://schemas.microsoft.com/office/drawing/2014/main" id="{8ABCD862-46E4-4492-865D-6160824323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661" y="4370803"/>
                <a:ext cx="343043" cy="57714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6" name="TextBox 245">
                <a:extLst>
                  <a:ext uri="{FF2B5EF4-FFF2-40B4-BE49-F238E27FC236}">
                    <a16:creationId xmlns:a16="http://schemas.microsoft.com/office/drawing/2014/main" id="{D65E776C-A6C9-7417-52C7-A9D451FE64D7}"/>
                  </a:ext>
                </a:extLst>
              </p:cNvPr>
              <p:cNvSpPr txBox="1"/>
              <p:nvPr/>
            </p:nvSpPr>
            <p:spPr>
              <a:xfrm>
                <a:off x="3568287" y="4481650"/>
                <a:ext cx="570669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46" name="TextBox 245">
                <a:extLst>
                  <a:ext uri="{FF2B5EF4-FFF2-40B4-BE49-F238E27FC236}">
                    <a16:creationId xmlns:a16="http://schemas.microsoft.com/office/drawing/2014/main" id="{D65E776C-A6C9-7417-52C7-A9D451FE64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8287" y="4481650"/>
                <a:ext cx="570669" cy="307777"/>
              </a:xfrm>
              <a:prstGeom prst="rect">
                <a:avLst/>
              </a:prstGeom>
              <a:blipFill>
                <a:blip r:embed="rId17"/>
                <a:stretch>
                  <a:fillRect l="-9574" r="-10638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7" name="TextBox 246">
                <a:extLst>
                  <a:ext uri="{FF2B5EF4-FFF2-40B4-BE49-F238E27FC236}">
                    <a16:creationId xmlns:a16="http://schemas.microsoft.com/office/drawing/2014/main" id="{8871A154-287E-E34F-ED1F-7723EAF8205E}"/>
                  </a:ext>
                </a:extLst>
              </p:cNvPr>
              <p:cNvSpPr txBox="1"/>
              <p:nvPr/>
            </p:nvSpPr>
            <p:spPr>
              <a:xfrm>
                <a:off x="2148785" y="4984718"/>
                <a:ext cx="441448" cy="5761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19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247" name="TextBox 246">
                <a:extLst>
                  <a:ext uri="{FF2B5EF4-FFF2-40B4-BE49-F238E27FC236}">
                    <a16:creationId xmlns:a16="http://schemas.microsoft.com/office/drawing/2014/main" id="{8871A154-287E-E34F-ED1F-7723EAF820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8785" y="4984718"/>
                <a:ext cx="441448" cy="576183"/>
              </a:xfrm>
              <a:prstGeom prst="rect">
                <a:avLst/>
              </a:prstGeom>
              <a:blipFill>
                <a:blip r:embed="rId18"/>
                <a:stretch>
                  <a:fillRect b="-10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8" name="TextBox 247">
                <a:extLst>
                  <a:ext uri="{FF2B5EF4-FFF2-40B4-BE49-F238E27FC236}">
                    <a16:creationId xmlns:a16="http://schemas.microsoft.com/office/drawing/2014/main" id="{B1CC81A2-332C-05D9-DF90-D02B1C23CDA8}"/>
                  </a:ext>
                </a:extLst>
              </p:cNvPr>
              <p:cNvSpPr txBox="1"/>
              <p:nvPr/>
            </p:nvSpPr>
            <p:spPr>
              <a:xfrm>
                <a:off x="756877" y="5144872"/>
                <a:ext cx="53860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0.62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248" name="TextBox 247">
                <a:extLst>
                  <a:ext uri="{FF2B5EF4-FFF2-40B4-BE49-F238E27FC236}">
                    <a16:creationId xmlns:a16="http://schemas.microsoft.com/office/drawing/2014/main" id="{B1CC81A2-332C-05D9-DF90-D02B1C23C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877" y="5144872"/>
                <a:ext cx="538609" cy="307777"/>
              </a:xfrm>
              <a:prstGeom prst="rect">
                <a:avLst/>
              </a:prstGeom>
              <a:blipFill>
                <a:blip r:embed="rId19"/>
                <a:stretch>
                  <a:fillRect l="-15730" r="-4494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9F37CA45-CE1E-90E9-912B-F4DC31C3D76A}"/>
                  </a:ext>
                </a:extLst>
              </p:cNvPr>
              <p:cNvSpPr txBox="1"/>
              <p:nvPr/>
            </p:nvSpPr>
            <p:spPr>
              <a:xfrm>
                <a:off x="2222105" y="6225362"/>
                <a:ext cx="343043" cy="5770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9F37CA45-CE1E-90E9-912B-F4DC31C3D7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2105" y="6225362"/>
                <a:ext cx="343043" cy="577081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0" name="TextBox 249">
                <a:extLst>
                  <a:ext uri="{FF2B5EF4-FFF2-40B4-BE49-F238E27FC236}">
                    <a16:creationId xmlns:a16="http://schemas.microsoft.com/office/drawing/2014/main" id="{813CDCED-C8CC-B21F-DE6A-25867EF4EAEF}"/>
                  </a:ext>
                </a:extLst>
              </p:cNvPr>
              <p:cNvSpPr txBox="1"/>
              <p:nvPr/>
            </p:nvSpPr>
            <p:spPr>
              <a:xfrm>
                <a:off x="756876" y="6417911"/>
                <a:ext cx="53860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0.89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250" name="TextBox 249">
                <a:extLst>
                  <a:ext uri="{FF2B5EF4-FFF2-40B4-BE49-F238E27FC236}">
                    <a16:creationId xmlns:a16="http://schemas.microsoft.com/office/drawing/2014/main" id="{813CDCED-C8CC-B21F-DE6A-25867EF4EA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876" y="6417911"/>
                <a:ext cx="538609" cy="307777"/>
              </a:xfrm>
              <a:prstGeom prst="rect">
                <a:avLst/>
              </a:prstGeom>
              <a:blipFill>
                <a:blip r:embed="rId21"/>
                <a:stretch>
                  <a:fillRect l="-10112" r="-10112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1" name="TextBox 250">
            <a:extLst>
              <a:ext uri="{FF2B5EF4-FFF2-40B4-BE49-F238E27FC236}">
                <a16:creationId xmlns:a16="http://schemas.microsoft.com/office/drawing/2014/main" id="{0BAF77D5-B49D-F8FA-82F8-1E9A54507419}"/>
              </a:ext>
            </a:extLst>
          </p:cNvPr>
          <p:cNvSpPr txBox="1"/>
          <p:nvPr/>
        </p:nvSpPr>
        <p:spPr>
          <a:xfrm>
            <a:off x="2119429" y="4469828"/>
            <a:ext cx="45365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y-KG" sz="2000" dirty="0"/>
              <a:t>0,33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2" name="TextBox 251">
                <a:extLst>
                  <a:ext uri="{FF2B5EF4-FFF2-40B4-BE49-F238E27FC236}">
                    <a16:creationId xmlns:a16="http://schemas.microsoft.com/office/drawing/2014/main" id="{23CC0DB6-0905-8112-3EB1-F4E1A22C3BF1}"/>
                  </a:ext>
                </a:extLst>
              </p:cNvPr>
              <p:cNvSpPr txBox="1"/>
              <p:nvPr/>
            </p:nvSpPr>
            <p:spPr>
              <a:xfrm>
                <a:off x="3556654" y="5042770"/>
                <a:ext cx="570669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252" name="TextBox 251">
                <a:extLst>
                  <a:ext uri="{FF2B5EF4-FFF2-40B4-BE49-F238E27FC236}">
                    <a16:creationId xmlns:a16="http://schemas.microsoft.com/office/drawing/2014/main" id="{23CC0DB6-0905-8112-3EB1-F4E1A22C3B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6654" y="5042770"/>
                <a:ext cx="570669" cy="307777"/>
              </a:xfrm>
              <a:prstGeom prst="rect">
                <a:avLst/>
              </a:prstGeom>
              <a:blipFill>
                <a:blip r:embed="rId22"/>
                <a:stretch>
                  <a:fillRect l="-9574" r="-10638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3" name="TextBox 252">
                <a:extLst>
                  <a:ext uri="{FF2B5EF4-FFF2-40B4-BE49-F238E27FC236}">
                    <a16:creationId xmlns:a16="http://schemas.microsoft.com/office/drawing/2014/main" id="{952EAC22-5974-65D8-E53A-D7EDB16166A6}"/>
                  </a:ext>
                </a:extLst>
              </p:cNvPr>
              <p:cNvSpPr txBox="1"/>
              <p:nvPr/>
            </p:nvSpPr>
            <p:spPr>
              <a:xfrm>
                <a:off x="3663933" y="6159569"/>
                <a:ext cx="200375" cy="5761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253" name="TextBox 252">
                <a:extLst>
                  <a:ext uri="{FF2B5EF4-FFF2-40B4-BE49-F238E27FC236}">
                    <a16:creationId xmlns:a16="http://schemas.microsoft.com/office/drawing/2014/main" id="{952EAC22-5974-65D8-E53A-D7EDB16166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3933" y="6159569"/>
                <a:ext cx="200375" cy="576183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557B645E-6B0B-D0C6-624B-CC918146AD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5207478"/>
              </p:ext>
            </p:extLst>
          </p:nvPr>
        </p:nvGraphicFramePr>
        <p:xfrm>
          <a:off x="6682219" y="4481649"/>
          <a:ext cx="1986819" cy="1872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273">
                  <a:extLst>
                    <a:ext uri="{9D8B030D-6E8A-4147-A177-3AD203B41FA5}">
                      <a16:colId xmlns:a16="http://schemas.microsoft.com/office/drawing/2014/main" val="1128243535"/>
                    </a:ext>
                  </a:extLst>
                </a:gridCol>
                <a:gridCol w="662273">
                  <a:extLst>
                    <a:ext uri="{9D8B030D-6E8A-4147-A177-3AD203B41FA5}">
                      <a16:colId xmlns:a16="http://schemas.microsoft.com/office/drawing/2014/main" val="2750885493"/>
                    </a:ext>
                  </a:extLst>
                </a:gridCol>
                <a:gridCol w="662273">
                  <a:extLst>
                    <a:ext uri="{9D8B030D-6E8A-4147-A177-3AD203B41FA5}">
                      <a16:colId xmlns:a16="http://schemas.microsoft.com/office/drawing/2014/main" val="3344932021"/>
                    </a:ext>
                  </a:extLst>
                </a:gridCol>
              </a:tblGrid>
              <a:tr h="43851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378138"/>
                  </a:ext>
                </a:extLst>
              </a:tr>
              <a:tr h="47790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719601"/>
                  </a:ext>
                </a:extLst>
              </a:tr>
              <a:tr h="47790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2243323"/>
                  </a:ext>
                </a:extLst>
              </a:tr>
              <a:tr h="47790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2463512"/>
                  </a:ext>
                </a:extLst>
              </a:tr>
            </a:tbl>
          </a:graphicData>
        </a:graphic>
      </p:graphicFrame>
      <p:pic>
        <p:nvPicPr>
          <p:cNvPr id="50" name="Graphic 49" descr="Cursor with solid fill">
            <a:extLst>
              <a:ext uri="{FF2B5EF4-FFF2-40B4-BE49-F238E27FC236}">
                <a16:creationId xmlns:a16="http://schemas.microsoft.com/office/drawing/2014/main" id="{1494DBC5-7EAE-141F-098E-2EB33981588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2422567">
            <a:off x="8188314" y="6256944"/>
            <a:ext cx="399005" cy="39900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6BF5EFC-19F8-C7E3-89CF-A55C69AC8CA5}"/>
                  </a:ext>
                </a:extLst>
              </p:cNvPr>
              <p:cNvSpPr txBox="1"/>
              <p:nvPr/>
            </p:nvSpPr>
            <p:spPr>
              <a:xfrm>
                <a:off x="771349" y="5581334"/>
                <a:ext cx="441448" cy="5782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6BF5EFC-19F8-C7E3-89CF-A55C69AC8C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349" y="5581334"/>
                <a:ext cx="441448" cy="578235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AAF6EAA-7792-DB89-DE54-1922C5BCCE96}"/>
                  </a:ext>
                </a:extLst>
              </p:cNvPr>
              <p:cNvSpPr txBox="1"/>
              <p:nvPr/>
            </p:nvSpPr>
            <p:spPr>
              <a:xfrm>
                <a:off x="2119429" y="5763760"/>
                <a:ext cx="570669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AAF6EAA-7792-DB89-DE54-1922C5BCCE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9429" y="5763760"/>
                <a:ext cx="570669" cy="307777"/>
              </a:xfrm>
              <a:prstGeom prst="rect">
                <a:avLst/>
              </a:prstGeom>
              <a:blipFill>
                <a:blip r:embed="rId25"/>
                <a:stretch>
                  <a:fillRect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E9F82B9-53EF-500C-5787-A1E9ACF59FEA}"/>
                  </a:ext>
                </a:extLst>
              </p:cNvPr>
              <p:cNvSpPr txBox="1"/>
              <p:nvPr/>
            </p:nvSpPr>
            <p:spPr>
              <a:xfrm>
                <a:off x="3543397" y="5452649"/>
                <a:ext cx="441448" cy="57624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E9F82B9-53EF-500C-5787-A1E9ACF59F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3397" y="5452649"/>
                <a:ext cx="441448" cy="576248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3794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2AAE91E9-0EE3-D8DF-8A63-90EE2488245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4478" y="87359"/>
                <a:ext cx="9650844" cy="6683282"/>
              </a:xfrm>
              <a:prstGeom prst="roundRect">
                <a:avLst>
                  <a:gd name="adj" fmla="val 5156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i="1" smtClean="0">
                          <a:latin typeface="Cambria Math" panose="02040503050406030204" pitchFamily="18" charset="0"/>
                        </a:rPr>
                        <m:t>0.801</m:t>
                      </m:r>
                    </m:oMath>
                  </m:oMathPara>
                </a14:m>
                <a:endParaRPr lang="en-GB" sz="1950" dirty="0"/>
              </a:p>
            </p:txBody>
          </p:sp>
        </mc:Choice>
        <mc:Fallback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2AAE91E9-0EE3-D8DF-8A63-90EE248824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78" y="87359"/>
                <a:ext cx="9650844" cy="6683282"/>
              </a:xfrm>
              <a:prstGeom prst="roundRect">
                <a:avLst>
                  <a:gd name="adj" fmla="val 5156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F404E514-B434-C59C-D16B-AFEC68D6A8F9}"/>
              </a:ext>
            </a:extLst>
          </p:cNvPr>
          <p:cNvSpPr txBox="1"/>
          <p:nvPr/>
        </p:nvSpPr>
        <p:spPr>
          <a:xfrm>
            <a:off x="3152465" y="5089375"/>
            <a:ext cx="45365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y-KG" sz="2000" dirty="0"/>
              <a:t>0,33</a:t>
            </a:r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BCD862-46E4-4492-865D-6160824323ED}"/>
              </a:ext>
            </a:extLst>
          </p:cNvPr>
          <p:cNvSpPr txBox="1"/>
          <p:nvPr/>
        </p:nvSpPr>
        <p:spPr>
          <a:xfrm>
            <a:off x="966049" y="1212607"/>
            <a:ext cx="44242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y-KG" sz="2000" dirty="0"/>
              <a:t>80%</a:t>
            </a:r>
            <a:endParaRPr lang="en-GB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65E776C-A6C9-7417-52C7-A9D451FE64D7}"/>
                  </a:ext>
                </a:extLst>
              </p:cNvPr>
              <p:cNvSpPr txBox="1"/>
              <p:nvPr/>
            </p:nvSpPr>
            <p:spPr>
              <a:xfrm>
                <a:off x="1869081" y="1237697"/>
                <a:ext cx="570669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0.3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65E776C-A6C9-7417-52C7-A9D451FE64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9081" y="1237697"/>
                <a:ext cx="570669" cy="307777"/>
              </a:xfrm>
              <a:prstGeom prst="rect">
                <a:avLst/>
              </a:prstGeom>
              <a:blipFill>
                <a:blip r:embed="rId3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D1FCE9C-4FC5-1622-9467-00F4A597CE9D}"/>
                  </a:ext>
                </a:extLst>
              </p:cNvPr>
              <p:cNvSpPr txBox="1"/>
              <p:nvPr/>
            </p:nvSpPr>
            <p:spPr>
              <a:xfrm>
                <a:off x="305366" y="1172367"/>
                <a:ext cx="26129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ky-KG" sz="2000" b="1" dirty="0"/>
                  <a:t>А</a:t>
                </a:r>
                <a14:m>
                  <m:oMath xmlns:m="http://schemas.openxmlformats.org/officeDocument/2006/math"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0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D1FCE9C-4FC5-1622-9467-00F4A597CE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366" y="1172367"/>
                <a:ext cx="261290" cy="307777"/>
              </a:xfrm>
              <a:prstGeom prst="rect">
                <a:avLst/>
              </a:prstGeom>
              <a:blipFill>
                <a:blip r:embed="rId4"/>
                <a:stretch>
                  <a:fillRect l="-58140" t="-25490" r="-44186" b="-49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871A154-287E-E34F-ED1F-7723EAF8205E}"/>
                  </a:ext>
                </a:extLst>
              </p:cNvPr>
              <p:cNvSpPr txBox="1"/>
              <p:nvPr/>
            </p:nvSpPr>
            <p:spPr>
              <a:xfrm>
                <a:off x="918737" y="1871589"/>
                <a:ext cx="441448" cy="5761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871A154-287E-E34F-ED1F-7723EAF820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737" y="1871589"/>
                <a:ext cx="441448" cy="5761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1CC81A2-332C-05D9-DF90-D02B1C23CDA8}"/>
                  </a:ext>
                </a:extLst>
              </p:cNvPr>
              <p:cNvSpPr txBox="1"/>
              <p:nvPr/>
            </p:nvSpPr>
            <p:spPr>
              <a:xfrm>
                <a:off x="1739331" y="1962124"/>
                <a:ext cx="777411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0.64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1CC81A2-332C-05D9-DF90-D02B1C23C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9331" y="1962124"/>
                <a:ext cx="777411" cy="307777"/>
              </a:xfrm>
              <a:prstGeom prst="rect">
                <a:avLst/>
              </a:prstGeom>
              <a:blipFill>
                <a:blip r:embed="rId6"/>
                <a:stretch>
                  <a:fillRect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9F37CA45-CE1E-90E9-912B-F4DC31C3D76A}"/>
              </a:ext>
            </a:extLst>
          </p:cNvPr>
          <p:cNvSpPr txBox="1"/>
          <p:nvPr/>
        </p:nvSpPr>
        <p:spPr>
          <a:xfrm>
            <a:off x="1836289" y="3473104"/>
            <a:ext cx="58349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y-KG" sz="2000" dirty="0"/>
              <a:t>0,805</a:t>
            </a:r>
            <a:endParaRPr lang="en-GB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3CDCED-C8CC-B21F-DE6A-25867EF4EAEF}"/>
                  </a:ext>
                </a:extLst>
              </p:cNvPr>
              <p:cNvSpPr txBox="1"/>
              <p:nvPr/>
            </p:nvSpPr>
            <p:spPr>
              <a:xfrm>
                <a:off x="932681" y="3459433"/>
                <a:ext cx="57066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33%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3CDCED-C8CC-B21F-DE6A-25867EF4EA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681" y="3459433"/>
                <a:ext cx="570669" cy="307777"/>
              </a:xfrm>
              <a:prstGeom prst="rect">
                <a:avLst/>
              </a:prstGeom>
              <a:blipFill>
                <a:blip r:embed="rId7"/>
                <a:stretch>
                  <a:fillRect l="-11702" r="-9574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1C2D65A-59DD-CB2B-7CA6-C49FACA6465B}"/>
                  </a:ext>
                </a:extLst>
              </p:cNvPr>
              <p:cNvSpPr txBox="1"/>
              <p:nvPr/>
            </p:nvSpPr>
            <p:spPr>
              <a:xfrm>
                <a:off x="190679" y="4189217"/>
                <a:ext cx="24846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ky-KG" sz="2000" b="1" dirty="0"/>
                  <a:t>Б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000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1C2D65A-59DD-CB2B-7CA6-C49FACA646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679" y="4189217"/>
                <a:ext cx="248466" cy="307777"/>
              </a:xfrm>
              <a:prstGeom prst="rect">
                <a:avLst/>
              </a:prstGeom>
              <a:blipFill>
                <a:blip r:embed="rId8"/>
                <a:stretch>
                  <a:fillRect l="-60976" t="-25490" r="-46341" b="-49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BAF77D5-B49D-F8FA-82F8-1E9A54507419}"/>
                  </a:ext>
                </a:extLst>
              </p:cNvPr>
              <p:cNvSpPr txBox="1"/>
              <p:nvPr/>
            </p:nvSpPr>
            <p:spPr>
              <a:xfrm>
                <a:off x="3105126" y="1237697"/>
                <a:ext cx="57066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55%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BAF77D5-B49D-F8FA-82F8-1E9A545074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5126" y="1237697"/>
                <a:ext cx="570669" cy="307777"/>
              </a:xfrm>
              <a:prstGeom prst="rect">
                <a:avLst/>
              </a:prstGeom>
              <a:blipFill>
                <a:blip r:embed="rId9"/>
                <a:stretch>
                  <a:fillRect l="-11702" r="-10638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EEA4CE8-86CD-2D21-74CC-8C595DE0680C}"/>
              </a:ext>
            </a:extLst>
          </p:cNvPr>
          <p:cNvCxnSpPr>
            <a:cxnSpLocks/>
          </p:cNvCxnSpPr>
          <p:nvPr/>
        </p:nvCxnSpPr>
        <p:spPr>
          <a:xfrm>
            <a:off x="6159985" y="1344752"/>
            <a:ext cx="1859823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A6625ED-3211-2042-94F6-A43660C05FBD}"/>
              </a:ext>
            </a:extLst>
          </p:cNvPr>
          <p:cNvCxnSpPr>
            <a:cxnSpLocks/>
          </p:cNvCxnSpPr>
          <p:nvPr/>
        </p:nvCxnSpPr>
        <p:spPr>
          <a:xfrm>
            <a:off x="5129018" y="1545474"/>
            <a:ext cx="0" cy="1502104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3AF7D2B-7329-3D6D-F54E-5C3D90A90320}"/>
              </a:ext>
            </a:extLst>
          </p:cNvPr>
          <p:cNvSpPr txBox="1"/>
          <p:nvPr/>
        </p:nvSpPr>
        <p:spPr>
          <a:xfrm>
            <a:off x="4423696" y="1175464"/>
            <a:ext cx="1671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Эң кичинекей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DB191DE-4AB4-53E9-4F53-E5B825CF94F3}"/>
              </a:ext>
            </a:extLst>
          </p:cNvPr>
          <p:cNvSpPr txBox="1"/>
          <p:nvPr/>
        </p:nvSpPr>
        <p:spPr>
          <a:xfrm>
            <a:off x="8110207" y="1120860"/>
            <a:ext cx="1000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Эң чоң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F742980-225E-1577-2FAC-AC917827CDAC}"/>
              </a:ext>
            </a:extLst>
          </p:cNvPr>
          <p:cNvSpPr txBox="1"/>
          <p:nvPr/>
        </p:nvSpPr>
        <p:spPr>
          <a:xfrm>
            <a:off x="4628753" y="3164092"/>
            <a:ext cx="1000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Эң чоң</a:t>
            </a:r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4BBD19E-E846-F28E-D993-666F2BFB83D6}"/>
                  </a:ext>
                </a:extLst>
              </p:cNvPr>
              <p:cNvSpPr txBox="1"/>
              <p:nvPr/>
            </p:nvSpPr>
            <p:spPr>
              <a:xfrm>
                <a:off x="696385" y="4152265"/>
                <a:ext cx="350591" cy="5761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4BBD19E-E846-F28E-D993-666F2BFB83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385" y="4152265"/>
                <a:ext cx="350591" cy="57618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8FDCF35-3E9B-45E0-A0A0-A2FD982CCF7F}"/>
                  </a:ext>
                </a:extLst>
              </p:cNvPr>
              <p:cNvSpPr txBox="1"/>
              <p:nvPr/>
            </p:nvSpPr>
            <p:spPr>
              <a:xfrm>
                <a:off x="2074809" y="4374438"/>
                <a:ext cx="71333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101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8FDCF35-3E9B-45E0-A0A0-A2FD982CCF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4809" y="4374438"/>
                <a:ext cx="713337" cy="307777"/>
              </a:xfrm>
              <a:prstGeom prst="rect">
                <a:avLst/>
              </a:prstGeom>
              <a:blipFill>
                <a:blip r:embed="rId11"/>
                <a:stretch>
                  <a:fillRect l="-7692" r="-8547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8546F40-235E-D2D0-C88E-8FF561CFC456}"/>
                  </a:ext>
                </a:extLst>
              </p:cNvPr>
              <p:cNvSpPr txBox="1"/>
              <p:nvPr/>
            </p:nvSpPr>
            <p:spPr>
              <a:xfrm>
                <a:off x="2169033" y="4739596"/>
                <a:ext cx="441448" cy="5204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b="0" i="1" smtClean="0">
                              <a:latin typeface="Cambria Math" panose="02040503050406030204" pitchFamily="18" charset="0"/>
                            </a:rPr>
                            <m:t>19</m:t>
                          </m:r>
                        </m:num>
                        <m:den>
                          <m:r>
                            <a:rPr lang="ky-KG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8546F40-235E-D2D0-C88E-8FF561CFC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9033" y="4739596"/>
                <a:ext cx="441448" cy="52046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A28CEC6-F886-EB83-B87B-834C93F83C9E}"/>
                  </a:ext>
                </a:extLst>
              </p:cNvPr>
              <p:cNvSpPr txBox="1"/>
              <p:nvPr/>
            </p:nvSpPr>
            <p:spPr>
              <a:xfrm>
                <a:off x="1318126" y="5628465"/>
                <a:ext cx="59471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0.28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A28CEC6-F886-EB83-B87B-834C93F83C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8126" y="5628465"/>
                <a:ext cx="594714" cy="307777"/>
              </a:xfrm>
              <a:prstGeom prst="rect">
                <a:avLst/>
              </a:prstGeom>
              <a:blipFill>
                <a:blip r:embed="rId13"/>
                <a:stretch>
                  <a:fillRect r="-9184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CDB8029-67FF-DCD1-5D67-705C0D375485}"/>
                  </a:ext>
                </a:extLst>
              </p:cNvPr>
              <p:cNvSpPr txBox="1"/>
              <p:nvPr/>
            </p:nvSpPr>
            <p:spPr>
              <a:xfrm>
                <a:off x="3133728" y="5571697"/>
                <a:ext cx="57066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67%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CDB8029-67FF-DCD1-5D67-705C0D3754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3728" y="5571697"/>
                <a:ext cx="570669" cy="307777"/>
              </a:xfrm>
              <a:prstGeom prst="rect">
                <a:avLst/>
              </a:prstGeom>
              <a:blipFill>
                <a:blip r:embed="rId14"/>
                <a:stretch>
                  <a:fillRect l="-10638" r="-10638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B99665C-1D16-F753-2C61-4DDD25D700FF}"/>
                  </a:ext>
                </a:extLst>
              </p:cNvPr>
              <p:cNvSpPr txBox="1"/>
              <p:nvPr/>
            </p:nvSpPr>
            <p:spPr>
              <a:xfrm>
                <a:off x="3133728" y="4336658"/>
                <a:ext cx="485710" cy="578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123</m:t>
                          </m:r>
                        </m:num>
                        <m:den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200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B99665C-1D16-F753-2C61-4DDD25D700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3728" y="4336658"/>
                <a:ext cx="485710" cy="57817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F2F6333-5274-E280-AD51-352FED1684B5}"/>
                  </a:ext>
                </a:extLst>
              </p:cNvPr>
              <p:cNvSpPr txBox="1"/>
              <p:nvPr/>
            </p:nvSpPr>
            <p:spPr>
              <a:xfrm>
                <a:off x="3009452" y="1962124"/>
                <a:ext cx="570667" cy="5761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num>
                        <m:den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F2F6333-5274-E280-AD51-352FED168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9452" y="1962124"/>
                <a:ext cx="570667" cy="576183"/>
              </a:xfrm>
              <a:prstGeom prst="rect">
                <a:avLst/>
              </a:prstGeom>
              <a:blipFill>
                <a:blip r:embed="rId16"/>
                <a:stretch>
                  <a:fillRect b="-10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6BF09CA-20E4-346B-70C2-E63AF43D2816}"/>
                  </a:ext>
                </a:extLst>
              </p:cNvPr>
              <p:cNvSpPr txBox="1"/>
              <p:nvPr/>
            </p:nvSpPr>
            <p:spPr>
              <a:xfrm>
                <a:off x="540058" y="5021003"/>
                <a:ext cx="68127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0.801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6BF09CA-20E4-346B-70C2-E63AF43D28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058" y="5021003"/>
                <a:ext cx="681277" cy="307777"/>
              </a:xfrm>
              <a:prstGeom prst="rect">
                <a:avLst/>
              </a:prstGeom>
              <a:blipFill>
                <a:blip r:embed="rId17"/>
                <a:stretch>
                  <a:fillRect l="-13514" r="-3604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8B0C9EF-2D28-6361-FFEF-245115DC91A5}"/>
                  </a:ext>
                </a:extLst>
              </p:cNvPr>
              <p:cNvSpPr txBox="1"/>
              <p:nvPr/>
            </p:nvSpPr>
            <p:spPr>
              <a:xfrm>
                <a:off x="693491" y="5416157"/>
                <a:ext cx="200375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8B0C9EF-2D28-6361-FFEF-245115DC91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491" y="5416157"/>
                <a:ext cx="200375" cy="57823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5C8EBD24-7791-320C-CD6D-A9AF46B8BD55}"/>
              </a:ext>
            </a:extLst>
          </p:cNvPr>
          <p:cNvSpPr txBox="1"/>
          <p:nvPr/>
        </p:nvSpPr>
        <p:spPr>
          <a:xfrm>
            <a:off x="7732631" y="3506669"/>
            <a:ext cx="1534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Эң чоңу</a:t>
            </a:r>
            <a:endParaRPr lang="en-US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91950F2-C49B-8457-C8B9-D54965841596}"/>
              </a:ext>
            </a:extLst>
          </p:cNvPr>
          <p:cNvCxnSpPr>
            <a:cxnSpLocks/>
          </p:cNvCxnSpPr>
          <p:nvPr/>
        </p:nvCxnSpPr>
        <p:spPr>
          <a:xfrm>
            <a:off x="5784323" y="4374438"/>
            <a:ext cx="1772251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22057F1-6D4B-49A7-7628-9CD40BD5BAE2}"/>
              </a:ext>
            </a:extLst>
          </p:cNvPr>
          <p:cNvCxnSpPr>
            <a:cxnSpLocks/>
          </p:cNvCxnSpPr>
          <p:nvPr/>
        </p:nvCxnSpPr>
        <p:spPr>
          <a:xfrm>
            <a:off x="5284059" y="4646100"/>
            <a:ext cx="0" cy="1502104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8E160AD7-8D22-BD28-3ACB-B9C83F28C3E6}"/>
              </a:ext>
            </a:extLst>
          </p:cNvPr>
          <p:cNvSpPr txBox="1"/>
          <p:nvPr/>
        </p:nvSpPr>
        <p:spPr>
          <a:xfrm>
            <a:off x="4207288" y="4197852"/>
            <a:ext cx="1843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Эң кичинекей</a:t>
            </a:r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CAD01B4-7C62-2B6E-8844-BD880EECC803}"/>
              </a:ext>
            </a:extLst>
          </p:cNvPr>
          <p:cNvSpPr txBox="1"/>
          <p:nvPr/>
        </p:nvSpPr>
        <p:spPr>
          <a:xfrm>
            <a:off x="7822808" y="4147735"/>
            <a:ext cx="1000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Эң чоң</a:t>
            </a:r>
            <a:endParaRPr lang="en-US" dirty="0"/>
          </a:p>
          <a:p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712A5B8-5F4D-7D68-6016-D9EF7DDBB2CE}"/>
              </a:ext>
            </a:extLst>
          </p:cNvPr>
          <p:cNvSpPr txBox="1"/>
          <p:nvPr/>
        </p:nvSpPr>
        <p:spPr>
          <a:xfrm>
            <a:off x="4845354" y="6225029"/>
            <a:ext cx="1000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Эң чоң</a:t>
            </a:r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72D939A-84A0-CF9D-336C-85D1FC547B54}"/>
                  </a:ext>
                </a:extLst>
              </p:cNvPr>
              <p:cNvSpPr txBox="1"/>
              <p:nvPr/>
            </p:nvSpPr>
            <p:spPr>
              <a:xfrm>
                <a:off x="3056879" y="3447482"/>
                <a:ext cx="343043" cy="5761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72D939A-84A0-CF9D-336C-85D1FC547B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6879" y="3447482"/>
                <a:ext cx="343043" cy="576183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0C988E9-A60E-925B-C274-E749D02DBC10}"/>
                  </a:ext>
                </a:extLst>
              </p:cNvPr>
              <p:cNvSpPr txBox="1"/>
              <p:nvPr/>
            </p:nvSpPr>
            <p:spPr>
              <a:xfrm>
                <a:off x="803874" y="2766858"/>
                <a:ext cx="777411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0.5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0C988E9-A60E-925B-C274-E749D02DBC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874" y="2766858"/>
                <a:ext cx="777411" cy="307777"/>
              </a:xfrm>
              <a:prstGeom prst="rect">
                <a:avLst/>
              </a:prstGeom>
              <a:blipFill>
                <a:blip r:embed="rId22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9A5F294-C23B-50DD-6204-C447971C1CE1}"/>
                  </a:ext>
                </a:extLst>
              </p:cNvPr>
              <p:cNvSpPr txBox="1"/>
              <p:nvPr/>
            </p:nvSpPr>
            <p:spPr>
              <a:xfrm>
                <a:off x="1768828" y="2615436"/>
                <a:ext cx="570667" cy="5781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9A5F294-C23B-50DD-6204-C447971C1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8828" y="2615436"/>
                <a:ext cx="570667" cy="57817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7DE36AF-04CC-E8EA-2959-EB4832E7FD22}"/>
                  </a:ext>
                </a:extLst>
              </p:cNvPr>
              <p:cNvSpPr txBox="1"/>
              <p:nvPr/>
            </p:nvSpPr>
            <p:spPr>
              <a:xfrm>
                <a:off x="2858597" y="2841950"/>
                <a:ext cx="777411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ky-KG" sz="2000" b="0" i="1" smtClean="0"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lang="ky-KG" sz="2000" dirty="0"/>
                  <a:t>5</a:t>
                </a:r>
                <a:endParaRPr lang="en-GB" sz="20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7DE36AF-04CC-E8EA-2959-EB4832E7FD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8597" y="2841950"/>
                <a:ext cx="777411" cy="307777"/>
              </a:xfrm>
              <a:prstGeom prst="rect">
                <a:avLst/>
              </a:prstGeom>
              <a:blipFill>
                <a:blip r:embed="rId24"/>
                <a:stretch>
                  <a:fillRect t="-25490" b="-49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54392DB-1E98-B831-FB3C-4263C83E0341}"/>
                  </a:ext>
                </a:extLst>
              </p:cNvPr>
              <p:cNvSpPr txBox="1"/>
              <p:nvPr/>
            </p:nvSpPr>
            <p:spPr>
              <a:xfrm>
                <a:off x="1257535" y="4209547"/>
                <a:ext cx="628377" cy="5845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54392DB-1E98-B831-FB3C-4263C83E03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535" y="4209547"/>
                <a:ext cx="628377" cy="584519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33A2D95-E62D-5245-2742-13273007C005}"/>
                  </a:ext>
                </a:extLst>
              </p:cNvPr>
              <p:cNvSpPr txBox="1"/>
              <p:nvPr/>
            </p:nvSpPr>
            <p:spPr>
              <a:xfrm>
                <a:off x="1482914" y="4999212"/>
                <a:ext cx="42800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7%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33A2D95-E62D-5245-2742-13273007C0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2914" y="4999212"/>
                <a:ext cx="428002" cy="307777"/>
              </a:xfrm>
              <a:prstGeom prst="rect">
                <a:avLst/>
              </a:prstGeom>
              <a:blipFill>
                <a:blip r:embed="rId26"/>
                <a:stretch>
                  <a:fillRect l="-21429" r="-8571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78F5968-1D32-47F0-A9E4-7C92FD4D17C6}"/>
                  </a:ext>
                </a:extLst>
              </p:cNvPr>
              <p:cNvSpPr txBox="1"/>
              <p:nvPr/>
            </p:nvSpPr>
            <p:spPr>
              <a:xfrm>
                <a:off x="2307600" y="5446908"/>
                <a:ext cx="200375" cy="578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78F5968-1D32-47F0-A9E4-7C92FD4D17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7600" y="5446908"/>
                <a:ext cx="200375" cy="57817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B04B4A5-FCA8-EED4-5999-E61541C9B8E3}"/>
                  </a:ext>
                </a:extLst>
              </p:cNvPr>
              <p:cNvSpPr txBox="1"/>
              <p:nvPr/>
            </p:nvSpPr>
            <p:spPr>
              <a:xfrm>
                <a:off x="551601" y="6211928"/>
                <a:ext cx="53860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1.04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B04B4A5-FCA8-EED4-5999-E61541C9B8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601" y="6211928"/>
                <a:ext cx="538609" cy="307777"/>
              </a:xfrm>
              <a:prstGeom prst="rect">
                <a:avLst/>
              </a:prstGeom>
              <a:blipFill>
                <a:blip r:embed="rId28"/>
                <a:stretch>
                  <a:fillRect l="-15730" r="-4494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F9B2C61-B46B-E90E-75DC-9C6178E384F5}"/>
                  </a:ext>
                </a:extLst>
              </p:cNvPr>
              <p:cNvSpPr txBox="1"/>
              <p:nvPr/>
            </p:nvSpPr>
            <p:spPr>
              <a:xfrm>
                <a:off x="1387676" y="6199553"/>
                <a:ext cx="53860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0.06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F9B2C61-B46B-E90E-75DC-9C6178E384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676" y="6199553"/>
                <a:ext cx="538609" cy="307777"/>
              </a:xfrm>
              <a:prstGeom prst="rect">
                <a:avLst/>
              </a:prstGeom>
              <a:blipFill>
                <a:blip r:embed="rId29"/>
                <a:stretch>
                  <a:fillRect l="-17045" r="-4545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3BE75EB-46A5-7709-E67C-B13D649D063B}"/>
                  </a:ext>
                </a:extLst>
              </p:cNvPr>
              <p:cNvSpPr txBox="1"/>
              <p:nvPr/>
            </p:nvSpPr>
            <p:spPr>
              <a:xfrm>
                <a:off x="2163170" y="6193442"/>
                <a:ext cx="76623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30.3%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3BE75EB-46A5-7709-E67C-B13D649D06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3170" y="6193442"/>
                <a:ext cx="766235" cy="307777"/>
              </a:xfrm>
              <a:prstGeom prst="rect">
                <a:avLst/>
              </a:prstGeom>
              <a:blipFill>
                <a:blip r:embed="rId30"/>
                <a:stretch>
                  <a:fillRect l="-11111" r="-4762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971ACB2E-8DE3-FCC1-A29B-7956D06268B5}"/>
                  </a:ext>
                </a:extLst>
              </p:cNvPr>
              <p:cNvSpPr txBox="1"/>
              <p:nvPr/>
            </p:nvSpPr>
            <p:spPr>
              <a:xfrm>
                <a:off x="3177990" y="5994392"/>
                <a:ext cx="441448" cy="5781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971ACB2E-8DE3-FCC1-A29B-7956D06268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7990" y="5994392"/>
                <a:ext cx="441448" cy="57817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AC1274E4-5B0F-D1B0-0E01-14CD47518A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982419"/>
              </p:ext>
            </p:extLst>
          </p:nvPr>
        </p:nvGraphicFramePr>
        <p:xfrm>
          <a:off x="5617260" y="1532332"/>
          <a:ext cx="2964990" cy="1787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8330">
                  <a:extLst>
                    <a:ext uri="{9D8B030D-6E8A-4147-A177-3AD203B41FA5}">
                      <a16:colId xmlns:a16="http://schemas.microsoft.com/office/drawing/2014/main" val="696380963"/>
                    </a:ext>
                  </a:extLst>
                </a:gridCol>
                <a:gridCol w="988330">
                  <a:extLst>
                    <a:ext uri="{9D8B030D-6E8A-4147-A177-3AD203B41FA5}">
                      <a16:colId xmlns:a16="http://schemas.microsoft.com/office/drawing/2014/main" val="3207365101"/>
                    </a:ext>
                  </a:extLst>
                </a:gridCol>
                <a:gridCol w="988330">
                  <a:extLst>
                    <a:ext uri="{9D8B030D-6E8A-4147-A177-3AD203B41FA5}">
                      <a16:colId xmlns:a16="http://schemas.microsoft.com/office/drawing/2014/main" val="2637960292"/>
                    </a:ext>
                  </a:extLst>
                </a:gridCol>
              </a:tblGrid>
              <a:tr h="44688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8300616"/>
                  </a:ext>
                </a:extLst>
              </a:tr>
              <a:tr h="44688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906360"/>
                  </a:ext>
                </a:extLst>
              </a:tr>
              <a:tr h="44688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23159"/>
                  </a:ext>
                </a:extLst>
              </a:tr>
              <a:tr h="44688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0210018"/>
                  </a:ext>
                </a:extLst>
              </a:tr>
            </a:tbl>
          </a:graphicData>
        </a:graphic>
      </p:graphicFrame>
      <p:graphicFrame>
        <p:nvGraphicFramePr>
          <p:cNvPr id="61" name="Table 60">
            <a:extLst>
              <a:ext uri="{FF2B5EF4-FFF2-40B4-BE49-F238E27FC236}">
                <a16:creationId xmlns:a16="http://schemas.microsoft.com/office/drawing/2014/main" id="{21056388-63C4-6B4B-C298-76849D1FC9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6179043"/>
              </p:ext>
            </p:extLst>
          </p:nvPr>
        </p:nvGraphicFramePr>
        <p:xfrm>
          <a:off x="5734333" y="4548575"/>
          <a:ext cx="2888012" cy="1625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2003">
                  <a:extLst>
                    <a:ext uri="{9D8B030D-6E8A-4147-A177-3AD203B41FA5}">
                      <a16:colId xmlns:a16="http://schemas.microsoft.com/office/drawing/2014/main" val="760089138"/>
                    </a:ext>
                  </a:extLst>
                </a:gridCol>
                <a:gridCol w="722003">
                  <a:extLst>
                    <a:ext uri="{9D8B030D-6E8A-4147-A177-3AD203B41FA5}">
                      <a16:colId xmlns:a16="http://schemas.microsoft.com/office/drawing/2014/main" val="1482244886"/>
                    </a:ext>
                  </a:extLst>
                </a:gridCol>
                <a:gridCol w="722003">
                  <a:extLst>
                    <a:ext uri="{9D8B030D-6E8A-4147-A177-3AD203B41FA5}">
                      <a16:colId xmlns:a16="http://schemas.microsoft.com/office/drawing/2014/main" val="499573329"/>
                    </a:ext>
                  </a:extLst>
                </a:gridCol>
                <a:gridCol w="722003">
                  <a:extLst>
                    <a:ext uri="{9D8B030D-6E8A-4147-A177-3AD203B41FA5}">
                      <a16:colId xmlns:a16="http://schemas.microsoft.com/office/drawing/2014/main" val="3101839307"/>
                    </a:ext>
                  </a:extLst>
                </a:gridCol>
              </a:tblGrid>
              <a:tr h="40637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3702225"/>
                  </a:ext>
                </a:extLst>
              </a:tr>
              <a:tr h="40637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05804"/>
                  </a:ext>
                </a:extLst>
              </a:tr>
              <a:tr h="40637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1882605"/>
                  </a:ext>
                </a:extLst>
              </a:tr>
              <a:tr h="40637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178504"/>
                  </a:ext>
                </a:extLst>
              </a:tr>
            </a:tbl>
          </a:graphicData>
        </a:graphic>
      </p:graphicFrame>
      <p:sp>
        <p:nvSpPr>
          <p:cNvPr id="62" name="TextBox 61">
            <a:extLst>
              <a:ext uri="{FF2B5EF4-FFF2-40B4-BE49-F238E27FC236}">
                <a16:creationId xmlns:a16="http://schemas.microsoft.com/office/drawing/2014/main" id="{94F61160-71AF-C4D0-223F-C21BAFC431AA}"/>
              </a:ext>
            </a:extLst>
          </p:cNvPr>
          <p:cNvSpPr txBox="1"/>
          <p:nvPr/>
        </p:nvSpPr>
        <p:spPr>
          <a:xfrm>
            <a:off x="9040113" y="178799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sz="2400" b="1" dirty="0"/>
          </a:p>
        </p:txBody>
      </p:sp>
      <p:pic>
        <p:nvPicPr>
          <p:cNvPr id="42" name="Graphic 41" descr="Cursor with solid fill">
            <a:extLst>
              <a:ext uri="{FF2B5EF4-FFF2-40B4-BE49-F238E27FC236}">
                <a16:creationId xmlns:a16="http://schemas.microsoft.com/office/drawing/2014/main" id="{3D8E7DC4-B6B9-944E-35BC-AC2C791C36E2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 rot="2422567">
            <a:off x="8082441" y="3189947"/>
            <a:ext cx="399005" cy="399005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CCA105E5-F75E-CC35-4677-584503B03AB5}"/>
              </a:ext>
            </a:extLst>
          </p:cNvPr>
          <p:cNvSpPr txBox="1"/>
          <p:nvPr/>
        </p:nvSpPr>
        <p:spPr>
          <a:xfrm>
            <a:off x="7830435" y="6365816"/>
            <a:ext cx="1534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Эң чоңу</a:t>
            </a:r>
            <a:endParaRPr lang="en-US" dirty="0"/>
          </a:p>
        </p:txBody>
      </p:sp>
      <p:pic>
        <p:nvPicPr>
          <p:cNvPr id="50" name="Graphic 49" descr="Cursor with solid fill">
            <a:extLst>
              <a:ext uri="{FF2B5EF4-FFF2-40B4-BE49-F238E27FC236}">
                <a16:creationId xmlns:a16="http://schemas.microsoft.com/office/drawing/2014/main" id="{1494DBC5-7EAE-141F-098E-2EB339815885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 rot="2422567">
            <a:off x="8101527" y="6059049"/>
            <a:ext cx="399005" cy="39900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BC07C63-7D35-563C-A1B4-108530E1E99B}"/>
              </a:ext>
            </a:extLst>
          </p:cNvPr>
          <p:cNvSpPr txBox="1"/>
          <p:nvPr/>
        </p:nvSpPr>
        <p:spPr>
          <a:xfrm>
            <a:off x="119904" y="577205"/>
            <a:ext cx="85491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dirty="0"/>
              <a:t>Ар бир сап жана ар бир тилке өсүү тартибинде (кичинеден чоңго карай) болушу үчүн бардык маанилерди бош торчого ирээттеңиз.</a:t>
            </a:r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340FD1-644D-04F1-7278-25EAF83D36D0}"/>
              </a:ext>
            </a:extLst>
          </p:cNvPr>
          <p:cNvSpPr txBox="1"/>
          <p:nvPr/>
        </p:nvSpPr>
        <p:spPr>
          <a:xfrm>
            <a:off x="1485810" y="215423"/>
            <a:ext cx="567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u="sng" dirty="0"/>
              <a:t>Бөлчөктөрдү, ондуктарды жана пайыздарды ирээттөө</a:t>
            </a:r>
            <a:endParaRPr lang="en-GB" b="1" u="sng" dirty="0"/>
          </a:p>
        </p:txBody>
      </p:sp>
    </p:spTree>
    <p:extLst>
      <p:ext uri="{BB962C8B-B14F-4D97-AF65-F5344CB8AC3E}">
        <p14:creationId xmlns:p14="http://schemas.microsoft.com/office/powerpoint/2010/main" val="4130839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773280D-12B4-48BF-BC07-37C580D4D44F}"/>
              </a:ext>
            </a:extLst>
          </p:cNvPr>
          <p:cNvSpPr/>
          <p:nvPr/>
        </p:nvSpPr>
        <p:spPr>
          <a:xfrm>
            <a:off x="35168" y="316523"/>
            <a:ext cx="4888523" cy="6479931"/>
          </a:xfrm>
          <a:prstGeom prst="roundRect">
            <a:avLst>
              <a:gd name="adj" fmla="val 5156"/>
            </a:avLst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B33103D-0025-48D0-A566-6C2EFD974474}"/>
                  </a:ext>
                </a:extLst>
              </p:cNvPr>
              <p:cNvSpPr txBox="1"/>
              <p:nvPr/>
            </p:nvSpPr>
            <p:spPr>
              <a:xfrm>
                <a:off x="4043633" y="3334542"/>
                <a:ext cx="775853" cy="9676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B33103D-0025-48D0-A566-6C2EFD9744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3633" y="3334542"/>
                <a:ext cx="775853" cy="96763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E8FF6B37-37E0-44B9-A06A-3BF24AF0530D}"/>
              </a:ext>
            </a:extLst>
          </p:cNvPr>
          <p:cNvSpPr txBox="1"/>
          <p:nvPr/>
        </p:nvSpPr>
        <p:spPr>
          <a:xfrm>
            <a:off x="267835" y="891054"/>
            <a:ext cx="39947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Берилген сандарды </a:t>
            </a:r>
            <a:r>
              <a:rPr lang="ru-RU" sz="2000" b="1" dirty="0"/>
              <a:t>эң кичинеден </a:t>
            </a:r>
          </a:p>
          <a:p>
            <a:pPr algn="ctr"/>
            <a:r>
              <a:rPr lang="ru-RU" sz="2000" b="1" dirty="0"/>
              <a:t>чоңго </a:t>
            </a:r>
            <a:r>
              <a:rPr lang="ru-RU" sz="2000" dirty="0"/>
              <a:t>ирээтке келтириңиз.</a:t>
            </a:r>
            <a:endParaRPr lang="en-GB" sz="2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26D1EDD-1270-422C-AD54-B875AD9D30E9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38A45FC-A50B-4278-AAFB-59AF743BF422}"/>
                  </a:ext>
                </a:extLst>
              </p:cNvPr>
              <p:cNvSpPr txBox="1"/>
              <p:nvPr/>
            </p:nvSpPr>
            <p:spPr>
              <a:xfrm>
                <a:off x="3620666" y="1477147"/>
                <a:ext cx="548227" cy="925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38A45FC-A50B-4278-AAFB-59AF743BF4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0666" y="1477147"/>
                <a:ext cx="548227" cy="9251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0DB34FC-C699-4EC4-8262-646BBB5DF19E}"/>
                  </a:ext>
                </a:extLst>
              </p:cNvPr>
              <p:cNvSpPr txBox="1"/>
              <p:nvPr/>
            </p:nvSpPr>
            <p:spPr>
              <a:xfrm>
                <a:off x="1809239" y="1691918"/>
                <a:ext cx="9137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39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0DB34FC-C699-4EC4-8262-646BBB5DF1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239" y="1691918"/>
                <a:ext cx="913712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AEFF7E2-AF3F-4F61-BCF4-164CC56CC1A8}"/>
                  </a:ext>
                </a:extLst>
              </p:cNvPr>
              <p:cNvSpPr txBox="1"/>
              <p:nvPr/>
            </p:nvSpPr>
            <p:spPr>
              <a:xfrm>
                <a:off x="396868" y="1691918"/>
                <a:ext cx="63318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AEFF7E2-AF3F-4F61-BCF4-164CC56CC1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868" y="1691918"/>
                <a:ext cx="633187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9E4A012E-E2A1-4BE1-8ACC-0AD67FD0C6DC}"/>
              </a:ext>
            </a:extLst>
          </p:cNvPr>
          <p:cNvSpPr txBox="1"/>
          <p:nvPr/>
        </p:nvSpPr>
        <p:spPr>
          <a:xfrm>
            <a:off x="271597" y="357742"/>
            <a:ext cx="44156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600" dirty="0"/>
              <a:t>Ар бир санды бирдей форматка айландырыңыз:</a:t>
            </a:r>
          </a:p>
          <a:p>
            <a:pPr algn="ctr"/>
            <a:r>
              <a:rPr lang="ru-RU" sz="1600" dirty="0"/>
              <a:t>Ондуктарга</a:t>
            </a:r>
            <a:endParaRPr lang="en-GB" sz="1600" dirty="0"/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8BF99788-195C-469A-9857-9F4C323F87ED}"/>
              </a:ext>
            </a:extLst>
          </p:cNvPr>
          <p:cNvSpPr/>
          <p:nvPr/>
        </p:nvSpPr>
        <p:spPr>
          <a:xfrm>
            <a:off x="621580" y="2546179"/>
            <a:ext cx="206912" cy="252787"/>
          </a:xfrm>
          <a:prstGeom prst="downArrow">
            <a:avLst>
              <a:gd name="adj1" fmla="val 26576"/>
              <a:gd name="adj2" fmla="val 50000"/>
            </a:avLst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1" name="Arrow: Down 50">
            <a:extLst>
              <a:ext uri="{FF2B5EF4-FFF2-40B4-BE49-F238E27FC236}">
                <a16:creationId xmlns:a16="http://schemas.microsoft.com/office/drawing/2014/main" id="{304CB684-EE55-42D3-BEB1-81A1E0E1540F}"/>
              </a:ext>
            </a:extLst>
          </p:cNvPr>
          <p:cNvSpPr/>
          <p:nvPr/>
        </p:nvSpPr>
        <p:spPr>
          <a:xfrm>
            <a:off x="2165517" y="2546179"/>
            <a:ext cx="206912" cy="252787"/>
          </a:xfrm>
          <a:prstGeom prst="downArrow">
            <a:avLst>
              <a:gd name="adj1" fmla="val 26576"/>
              <a:gd name="adj2" fmla="val 50000"/>
            </a:avLst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2" name="Arrow: Down 51">
            <a:extLst>
              <a:ext uri="{FF2B5EF4-FFF2-40B4-BE49-F238E27FC236}">
                <a16:creationId xmlns:a16="http://schemas.microsoft.com/office/drawing/2014/main" id="{4BDDDAE5-A9CF-4DEB-A4F4-53992EE6E609}"/>
              </a:ext>
            </a:extLst>
          </p:cNvPr>
          <p:cNvSpPr/>
          <p:nvPr/>
        </p:nvSpPr>
        <p:spPr>
          <a:xfrm>
            <a:off x="3788585" y="2546179"/>
            <a:ext cx="206912" cy="252787"/>
          </a:xfrm>
          <a:prstGeom prst="downArrow">
            <a:avLst>
              <a:gd name="adj1" fmla="val 26576"/>
              <a:gd name="adj2" fmla="val 50000"/>
            </a:avLst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7039806-352B-4EA4-9454-C74491038E8C}"/>
                  </a:ext>
                </a:extLst>
              </p:cNvPr>
              <p:cNvSpPr txBox="1"/>
              <p:nvPr/>
            </p:nvSpPr>
            <p:spPr>
              <a:xfrm>
                <a:off x="3177945" y="3372081"/>
                <a:ext cx="548227" cy="925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7039806-352B-4EA4-9454-C74491038E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7945" y="3372081"/>
                <a:ext cx="548227" cy="92519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082506A-7FC3-4D29-BBDE-DB99B6DBC81D}"/>
                  </a:ext>
                </a:extLst>
              </p:cNvPr>
              <p:cNvSpPr txBox="1"/>
              <p:nvPr/>
            </p:nvSpPr>
            <p:spPr>
              <a:xfrm>
                <a:off x="1849176" y="3757643"/>
                <a:ext cx="8608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39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082506A-7FC3-4D29-BBDE-DB99B6DBC8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9176" y="3757643"/>
                <a:ext cx="860812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5982F8F-CCF0-48E2-844C-5F70E973D337}"/>
                  </a:ext>
                </a:extLst>
              </p:cNvPr>
              <p:cNvSpPr txBox="1"/>
              <p:nvPr/>
            </p:nvSpPr>
            <p:spPr>
              <a:xfrm>
                <a:off x="417236" y="3757643"/>
                <a:ext cx="63318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5982F8F-CCF0-48E2-844C-5F70E973D3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236" y="3757643"/>
                <a:ext cx="633187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>
            <a:extLst>
              <a:ext uri="{FF2B5EF4-FFF2-40B4-BE49-F238E27FC236}">
                <a16:creationId xmlns:a16="http://schemas.microsoft.com/office/drawing/2014/main" id="{848DFFDB-0AD8-404E-9F56-1D256E46281E}"/>
              </a:ext>
            </a:extLst>
          </p:cNvPr>
          <p:cNvSpPr txBox="1"/>
          <p:nvPr/>
        </p:nvSpPr>
        <p:spPr>
          <a:xfrm>
            <a:off x="1828230" y="2800052"/>
            <a:ext cx="8739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÷ 100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88C9641-0FFB-4C8A-BF57-79BF9218F2A6}"/>
                  </a:ext>
                </a:extLst>
              </p:cNvPr>
              <p:cNvSpPr txBox="1"/>
              <p:nvPr/>
            </p:nvSpPr>
            <p:spPr>
              <a:xfrm>
                <a:off x="4152522" y="3336912"/>
                <a:ext cx="54822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42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88C9641-0FFB-4C8A-BF57-79BF9218F2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522" y="3336912"/>
                <a:ext cx="548227" cy="49244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83286FF-08CF-4EC7-98B6-733DE13ABC50}"/>
                  </a:ext>
                </a:extLst>
              </p:cNvPr>
              <p:cNvSpPr txBox="1"/>
              <p:nvPr/>
            </p:nvSpPr>
            <p:spPr>
              <a:xfrm>
                <a:off x="3675003" y="3605761"/>
                <a:ext cx="39914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83286FF-08CF-4EC7-98B6-733DE13ABC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5003" y="3605761"/>
                <a:ext cx="399147" cy="49244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F801744-0B2C-4766-A984-D715FAD39F30}"/>
              </a:ext>
            </a:extLst>
          </p:cNvPr>
          <p:cNvSpPr/>
          <p:nvPr/>
        </p:nvSpPr>
        <p:spPr>
          <a:xfrm>
            <a:off x="3580934" y="3208495"/>
            <a:ext cx="751840" cy="151200"/>
          </a:xfrm>
          <a:custGeom>
            <a:avLst/>
            <a:gdLst>
              <a:gd name="connsiteX0" fmla="*/ 0 w 751840"/>
              <a:gd name="connsiteY0" fmla="*/ 314973 h 314973"/>
              <a:gd name="connsiteX1" fmla="*/ 386080 w 751840"/>
              <a:gd name="connsiteY1" fmla="*/ 13 h 314973"/>
              <a:gd name="connsiteX2" fmla="*/ 751840 w 751840"/>
              <a:gd name="connsiteY2" fmla="*/ 304813 h 31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1840" h="314973">
                <a:moveTo>
                  <a:pt x="0" y="314973"/>
                </a:moveTo>
                <a:cubicBezTo>
                  <a:pt x="130386" y="158339"/>
                  <a:pt x="260773" y="1706"/>
                  <a:pt x="386080" y="13"/>
                </a:cubicBezTo>
                <a:cubicBezTo>
                  <a:pt x="511387" y="-1680"/>
                  <a:pt x="631613" y="151566"/>
                  <a:pt x="751840" y="304813"/>
                </a:cubicBezTo>
              </a:path>
            </a:pathLst>
          </a:custGeom>
          <a:noFill/>
          <a:ln w="19050"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B3E19754-F375-4EB1-9C95-AC766B1160FF}"/>
              </a:ext>
            </a:extLst>
          </p:cNvPr>
          <p:cNvSpPr/>
          <p:nvPr/>
        </p:nvSpPr>
        <p:spPr>
          <a:xfrm flipV="1">
            <a:off x="3580934" y="4373642"/>
            <a:ext cx="751840" cy="150055"/>
          </a:xfrm>
          <a:custGeom>
            <a:avLst/>
            <a:gdLst>
              <a:gd name="connsiteX0" fmla="*/ 0 w 751840"/>
              <a:gd name="connsiteY0" fmla="*/ 314973 h 314973"/>
              <a:gd name="connsiteX1" fmla="*/ 386080 w 751840"/>
              <a:gd name="connsiteY1" fmla="*/ 13 h 314973"/>
              <a:gd name="connsiteX2" fmla="*/ 751840 w 751840"/>
              <a:gd name="connsiteY2" fmla="*/ 304813 h 31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1840" h="314973">
                <a:moveTo>
                  <a:pt x="0" y="314973"/>
                </a:moveTo>
                <a:cubicBezTo>
                  <a:pt x="130386" y="158339"/>
                  <a:pt x="260773" y="1706"/>
                  <a:pt x="386080" y="13"/>
                </a:cubicBezTo>
                <a:cubicBezTo>
                  <a:pt x="511387" y="-1680"/>
                  <a:pt x="631613" y="151566"/>
                  <a:pt x="751840" y="304813"/>
                </a:cubicBezTo>
              </a:path>
            </a:pathLst>
          </a:custGeom>
          <a:noFill/>
          <a:ln w="19050"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31BE553-FAD3-4557-8960-83B443187C41}"/>
                  </a:ext>
                </a:extLst>
              </p:cNvPr>
              <p:cNvSpPr txBox="1"/>
              <p:nvPr/>
            </p:nvSpPr>
            <p:spPr>
              <a:xfrm>
                <a:off x="3344686" y="4803631"/>
                <a:ext cx="137076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42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31BE553-FAD3-4557-8960-83B443187C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4686" y="4803631"/>
                <a:ext cx="1370760" cy="49244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72BEC00-FF51-4B57-97A7-F48979D76801}"/>
                  </a:ext>
                </a:extLst>
              </p:cNvPr>
              <p:cNvSpPr txBox="1"/>
              <p:nvPr/>
            </p:nvSpPr>
            <p:spPr>
              <a:xfrm>
                <a:off x="1972268" y="6033860"/>
                <a:ext cx="63318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72BEC00-FF51-4B57-97A7-F48979D768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2268" y="6033860"/>
                <a:ext cx="633187" cy="49244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3962D52-F8F7-4582-8C10-E6A583B40EE0}"/>
                  </a:ext>
                </a:extLst>
              </p:cNvPr>
              <p:cNvSpPr txBox="1"/>
              <p:nvPr/>
            </p:nvSpPr>
            <p:spPr>
              <a:xfrm>
                <a:off x="215013" y="6033860"/>
                <a:ext cx="9137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39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3962D52-F8F7-4582-8C10-E6A583B40E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013" y="6033860"/>
                <a:ext cx="913712" cy="49244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8A1F94C-7446-4606-8A1A-CB2D706D1C47}"/>
                  </a:ext>
                </a:extLst>
              </p:cNvPr>
              <p:cNvSpPr txBox="1"/>
              <p:nvPr/>
            </p:nvSpPr>
            <p:spPr>
              <a:xfrm>
                <a:off x="3582390" y="5817486"/>
                <a:ext cx="940597" cy="92519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8A1F94C-7446-4606-8A1A-CB2D706D1C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2390" y="5817486"/>
                <a:ext cx="940597" cy="92519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TextBox 66">
            <a:extLst>
              <a:ext uri="{FF2B5EF4-FFF2-40B4-BE49-F238E27FC236}">
                <a16:creationId xmlns:a16="http://schemas.microsoft.com/office/drawing/2014/main" id="{01D3C868-59E2-4D5F-867E-EC2A0C447A1F}"/>
              </a:ext>
            </a:extLst>
          </p:cNvPr>
          <p:cNvSpPr txBox="1"/>
          <p:nvPr/>
        </p:nvSpPr>
        <p:spPr>
          <a:xfrm>
            <a:off x="3618241" y="2806878"/>
            <a:ext cx="56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× 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2F217FA-4666-440A-BFE0-F12BEBED9172}"/>
              </a:ext>
            </a:extLst>
          </p:cNvPr>
          <p:cNvSpPr txBox="1"/>
          <p:nvPr/>
        </p:nvSpPr>
        <p:spPr>
          <a:xfrm>
            <a:off x="3618241" y="4446702"/>
            <a:ext cx="56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× 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DA6214B-52A8-499F-AAE2-BA599F0694CB}"/>
              </a:ext>
            </a:extLst>
          </p:cNvPr>
          <p:cNvSpPr txBox="1"/>
          <p:nvPr/>
        </p:nvSpPr>
        <p:spPr>
          <a:xfrm>
            <a:off x="2132327" y="4145146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sz="2400" b="1" dirty="0">
              <a:solidFill>
                <a:srgbClr val="FF000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005ACFB-9C96-4CA9-BF1F-834E498AE2CF}"/>
              </a:ext>
            </a:extLst>
          </p:cNvPr>
          <p:cNvSpPr txBox="1"/>
          <p:nvPr/>
        </p:nvSpPr>
        <p:spPr>
          <a:xfrm>
            <a:off x="244914" y="4183246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sz="2400" b="1" dirty="0">
              <a:solidFill>
                <a:srgbClr val="FF000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51AD9BA-58B0-490F-B8FB-FA9069499CC7}"/>
              </a:ext>
            </a:extLst>
          </p:cNvPr>
          <p:cNvSpPr txBox="1"/>
          <p:nvPr/>
        </p:nvSpPr>
        <p:spPr>
          <a:xfrm>
            <a:off x="4397811" y="5162118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sz="2400" b="1" dirty="0">
              <a:solidFill>
                <a:srgbClr val="FF0000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5C36011-A2CA-4401-AAA2-051C78921F66}"/>
              </a:ext>
            </a:extLst>
          </p:cNvPr>
          <p:cNvCxnSpPr>
            <a:cxnSpLocks/>
          </p:cNvCxnSpPr>
          <p:nvPr/>
        </p:nvCxnSpPr>
        <p:spPr>
          <a:xfrm>
            <a:off x="1573822" y="5468812"/>
            <a:ext cx="1811215" cy="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5D68FB24-40E3-42C5-92CE-E23B80E0B8B5}"/>
              </a:ext>
            </a:extLst>
          </p:cNvPr>
          <p:cNvSpPr txBox="1"/>
          <p:nvPr/>
        </p:nvSpPr>
        <p:spPr>
          <a:xfrm>
            <a:off x="638456" y="5515891"/>
            <a:ext cx="36819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Түпнуска </a:t>
            </a:r>
            <a:r>
              <a:rPr lang="ky-KG" sz="2000" b="1" dirty="0"/>
              <a:t>сандарды</a:t>
            </a:r>
            <a:r>
              <a:rPr lang="ru-RU" sz="2000" b="1" dirty="0"/>
              <a:t> ир</a:t>
            </a:r>
            <a:r>
              <a:rPr lang="ky-KG" sz="2000" b="1" dirty="0"/>
              <a:t>ээттеңиз</a:t>
            </a:r>
            <a:r>
              <a:rPr lang="ky-KG" sz="2000" dirty="0"/>
              <a:t>.</a:t>
            </a:r>
            <a:endParaRPr lang="en-GB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C776AF-C13B-4D8B-906C-6C4DAA8401B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4717" y="61546"/>
            <a:ext cx="4995960" cy="67693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90D6540-1DEA-82CD-CFD5-8F715E6A828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66608" y="61546"/>
            <a:ext cx="4804224" cy="676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606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50" grpId="0"/>
      <p:bldP spid="3" grpId="0" animBg="1"/>
      <p:bldP spid="51" grpId="0" animBg="1"/>
      <p:bldP spid="52" grpId="0" animBg="1"/>
      <p:bldP spid="53" grpId="0"/>
      <p:bldP spid="54" grpId="0"/>
      <p:bldP spid="55" grpId="0"/>
      <p:bldP spid="56" grpId="0"/>
      <p:bldP spid="57" grpId="0"/>
      <p:bldP spid="58" grpId="0"/>
      <p:bldP spid="5" grpId="0" animBg="1"/>
      <p:bldP spid="59" grpId="0" animBg="1"/>
      <p:bldP spid="60" grpId="0"/>
      <p:bldP spid="61" grpId="0"/>
      <p:bldP spid="62" grpId="0"/>
      <p:bldP spid="63" grpId="0"/>
      <p:bldP spid="67" grpId="0"/>
      <p:bldP spid="68" grpId="0"/>
      <p:bldP spid="37" grpId="0"/>
      <p:bldP spid="38" grpId="0"/>
      <p:bldP spid="39" grpId="0"/>
      <p:bldP spid="4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773280D-12B4-48BF-BC07-37C580D4D44F}"/>
              </a:ext>
            </a:extLst>
          </p:cNvPr>
          <p:cNvSpPr/>
          <p:nvPr/>
        </p:nvSpPr>
        <p:spPr>
          <a:xfrm>
            <a:off x="35168" y="316523"/>
            <a:ext cx="4888523" cy="6479931"/>
          </a:xfrm>
          <a:prstGeom prst="roundRect">
            <a:avLst>
              <a:gd name="adj" fmla="val 5156"/>
            </a:avLst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B33103D-0025-48D0-A566-6C2EFD974474}"/>
                  </a:ext>
                </a:extLst>
              </p:cNvPr>
              <p:cNvSpPr txBox="1"/>
              <p:nvPr/>
            </p:nvSpPr>
            <p:spPr>
              <a:xfrm>
                <a:off x="4043633" y="3334542"/>
                <a:ext cx="775853" cy="9676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B33103D-0025-48D0-A566-6C2EFD9744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3633" y="3334542"/>
                <a:ext cx="775853" cy="96763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E8FF6B37-37E0-44B9-A06A-3BF24AF0530D}"/>
              </a:ext>
            </a:extLst>
          </p:cNvPr>
          <p:cNvSpPr txBox="1"/>
          <p:nvPr/>
        </p:nvSpPr>
        <p:spPr>
          <a:xfrm>
            <a:off x="267835" y="891054"/>
            <a:ext cx="39947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Берилген сандарды </a:t>
            </a:r>
            <a:r>
              <a:rPr lang="ru-RU" sz="2000" b="1" dirty="0"/>
              <a:t>эң кичинеден </a:t>
            </a:r>
          </a:p>
          <a:p>
            <a:pPr algn="ctr"/>
            <a:r>
              <a:rPr lang="ru-RU" sz="2000" b="1" dirty="0"/>
              <a:t>чоңго </a:t>
            </a:r>
            <a:r>
              <a:rPr lang="ru-RU" sz="2000" dirty="0"/>
              <a:t>ирээтке келтириңиз.</a:t>
            </a:r>
            <a:endParaRPr lang="en-GB" sz="2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26D1EDD-1270-422C-AD54-B875AD9D30E9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38A45FC-A50B-4278-AAFB-59AF743BF422}"/>
                  </a:ext>
                </a:extLst>
              </p:cNvPr>
              <p:cNvSpPr txBox="1"/>
              <p:nvPr/>
            </p:nvSpPr>
            <p:spPr>
              <a:xfrm>
                <a:off x="3620666" y="1477147"/>
                <a:ext cx="548227" cy="925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38A45FC-A50B-4278-AAFB-59AF743BF4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0666" y="1477147"/>
                <a:ext cx="548227" cy="9251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0DB34FC-C699-4EC4-8262-646BBB5DF19E}"/>
                  </a:ext>
                </a:extLst>
              </p:cNvPr>
              <p:cNvSpPr txBox="1"/>
              <p:nvPr/>
            </p:nvSpPr>
            <p:spPr>
              <a:xfrm>
                <a:off x="1809239" y="1691918"/>
                <a:ext cx="9137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39%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0DB34FC-C699-4EC4-8262-646BBB5DF1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239" y="1691918"/>
                <a:ext cx="913712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AEFF7E2-AF3F-4F61-BCF4-164CC56CC1A8}"/>
                  </a:ext>
                </a:extLst>
              </p:cNvPr>
              <p:cNvSpPr txBox="1"/>
              <p:nvPr/>
            </p:nvSpPr>
            <p:spPr>
              <a:xfrm>
                <a:off x="396868" y="1691918"/>
                <a:ext cx="63318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0.4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AEFF7E2-AF3F-4F61-BCF4-164CC56CC1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868" y="1691918"/>
                <a:ext cx="633187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9E4A012E-E2A1-4BE1-8ACC-0AD67FD0C6DC}"/>
              </a:ext>
            </a:extLst>
          </p:cNvPr>
          <p:cNvSpPr txBox="1"/>
          <p:nvPr/>
        </p:nvSpPr>
        <p:spPr>
          <a:xfrm>
            <a:off x="271597" y="357742"/>
            <a:ext cx="44156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600" dirty="0"/>
              <a:t>Ар бир санды бирдей форматка айландырыңыз:</a:t>
            </a:r>
          </a:p>
          <a:p>
            <a:pPr algn="ctr"/>
            <a:r>
              <a:rPr lang="ru-RU" sz="1600" dirty="0"/>
              <a:t>Ондуктарга</a:t>
            </a:r>
            <a:endParaRPr lang="en-GB" sz="1600" dirty="0"/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8BF99788-195C-469A-9857-9F4C323F87ED}"/>
              </a:ext>
            </a:extLst>
          </p:cNvPr>
          <p:cNvSpPr/>
          <p:nvPr/>
        </p:nvSpPr>
        <p:spPr>
          <a:xfrm>
            <a:off x="621580" y="2546179"/>
            <a:ext cx="206912" cy="252787"/>
          </a:xfrm>
          <a:prstGeom prst="downArrow">
            <a:avLst>
              <a:gd name="adj1" fmla="val 26576"/>
              <a:gd name="adj2" fmla="val 50000"/>
            </a:avLst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1" name="Arrow: Down 50">
            <a:extLst>
              <a:ext uri="{FF2B5EF4-FFF2-40B4-BE49-F238E27FC236}">
                <a16:creationId xmlns:a16="http://schemas.microsoft.com/office/drawing/2014/main" id="{304CB684-EE55-42D3-BEB1-81A1E0E1540F}"/>
              </a:ext>
            </a:extLst>
          </p:cNvPr>
          <p:cNvSpPr/>
          <p:nvPr/>
        </p:nvSpPr>
        <p:spPr>
          <a:xfrm>
            <a:off x="2165517" y="2546179"/>
            <a:ext cx="206912" cy="252787"/>
          </a:xfrm>
          <a:prstGeom prst="downArrow">
            <a:avLst>
              <a:gd name="adj1" fmla="val 26576"/>
              <a:gd name="adj2" fmla="val 50000"/>
            </a:avLst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2" name="Arrow: Down 51">
            <a:extLst>
              <a:ext uri="{FF2B5EF4-FFF2-40B4-BE49-F238E27FC236}">
                <a16:creationId xmlns:a16="http://schemas.microsoft.com/office/drawing/2014/main" id="{4BDDDAE5-A9CF-4DEB-A4F4-53992EE6E609}"/>
              </a:ext>
            </a:extLst>
          </p:cNvPr>
          <p:cNvSpPr/>
          <p:nvPr/>
        </p:nvSpPr>
        <p:spPr>
          <a:xfrm>
            <a:off x="3788585" y="2546179"/>
            <a:ext cx="206912" cy="252787"/>
          </a:xfrm>
          <a:prstGeom prst="downArrow">
            <a:avLst>
              <a:gd name="adj1" fmla="val 26576"/>
              <a:gd name="adj2" fmla="val 50000"/>
            </a:avLst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7039806-352B-4EA4-9454-C74491038E8C}"/>
                  </a:ext>
                </a:extLst>
              </p:cNvPr>
              <p:cNvSpPr txBox="1"/>
              <p:nvPr/>
            </p:nvSpPr>
            <p:spPr>
              <a:xfrm>
                <a:off x="3177945" y="3372081"/>
                <a:ext cx="548227" cy="925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7039806-352B-4EA4-9454-C74491038E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7945" y="3372081"/>
                <a:ext cx="548227" cy="92519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082506A-7FC3-4D29-BBDE-DB99B6DBC81D}"/>
                  </a:ext>
                </a:extLst>
              </p:cNvPr>
              <p:cNvSpPr txBox="1"/>
              <p:nvPr/>
            </p:nvSpPr>
            <p:spPr>
              <a:xfrm>
                <a:off x="1849176" y="3757643"/>
                <a:ext cx="8608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0.39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082506A-7FC3-4D29-BBDE-DB99B6DBC8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9176" y="3757643"/>
                <a:ext cx="860812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5982F8F-CCF0-48E2-844C-5F70E973D337}"/>
                  </a:ext>
                </a:extLst>
              </p:cNvPr>
              <p:cNvSpPr txBox="1"/>
              <p:nvPr/>
            </p:nvSpPr>
            <p:spPr>
              <a:xfrm>
                <a:off x="417236" y="3757643"/>
                <a:ext cx="63318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0.4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5982F8F-CCF0-48E2-844C-5F70E973D3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236" y="3757643"/>
                <a:ext cx="633187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>
            <a:extLst>
              <a:ext uri="{FF2B5EF4-FFF2-40B4-BE49-F238E27FC236}">
                <a16:creationId xmlns:a16="http://schemas.microsoft.com/office/drawing/2014/main" id="{848DFFDB-0AD8-404E-9F56-1D256E46281E}"/>
              </a:ext>
            </a:extLst>
          </p:cNvPr>
          <p:cNvSpPr txBox="1"/>
          <p:nvPr/>
        </p:nvSpPr>
        <p:spPr>
          <a:xfrm>
            <a:off x="1828230" y="2800052"/>
            <a:ext cx="8739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÷ 100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88C9641-0FFB-4C8A-BF57-79BF9218F2A6}"/>
                  </a:ext>
                </a:extLst>
              </p:cNvPr>
              <p:cNvSpPr txBox="1"/>
              <p:nvPr/>
            </p:nvSpPr>
            <p:spPr>
              <a:xfrm>
                <a:off x="4152522" y="3336912"/>
                <a:ext cx="54822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42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88C9641-0FFB-4C8A-BF57-79BF9218F2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522" y="3336912"/>
                <a:ext cx="548227" cy="49244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83286FF-08CF-4EC7-98B6-733DE13ABC50}"/>
                  </a:ext>
                </a:extLst>
              </p:cNvPr>
              <p:cNvSpPr txBox="1"/>
              <p:nvPr/>
            </p:nvSpPr>
            <p:spPr>
              <a:xfrm>
                <a:off x="3675003" y="3605761"/>
                <a:ext cx="39914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83286FF-08CF-4EC7-98B6-733DE13ABC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5003" y="3605761"/>
                <a:ext cx="399147" cy="49244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F801744-0B2C-4766-A984-D715FAD39F30}"/>
              </a:ext>
            </a:extLst>
          </p:cNvPr>
          <p:cNvSpPr/>
          <p:nvPr/>
        </p:nvSpPr>
        <p:spPr>
          <a:xfrm>
            <a:off x="3580934" y="3208495"/>
            <a:ext cx="751840" cy="151200"/>
          </a:xfrm>
          <a:custGeom>
            <a:avLst/>
            <a:gdLst>
              <a:gd name="connsiteX0" fmla="*/ 0 w 751840"/>
              <a:gd name="connsiteY0" fmla="*/ 314973 h 314973"/>
              <a:gd name="connsiteX1" fmla="*/ 386080 w 751840"/>
              <a:gd name="connsiteY1" fmla="*/ 13 h 314973"/>
              <a:gd name="connsiteX2" fmla="*/ 751840 w 751840"/>
              <a:gd name="connsiteY2" fmla="*/ 304813 h 31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1840" h="314973">
                <a:moveTo>
                  <a:pt x="0" y="314973"/>
                </a:moveTo>
                <a:cubicBezTo>
                  <a:pt x="130386" y="158339"/>
                  <a:pt x="260773" y="1706"/>
                  <a:pt x="386080" y="13"/>
                </a:cubicBezTo>
                <a:cubicBezTo>
                  <a:pt x="511387" y="-1680"/>
                  <a:pt x="631613" y="151566"/>
                  <a:pt x="751840" y="304813"/>
                </a:cubicBezTo>
              </a:path>
            </a:pathLst>
          </a:custGeom>
          <a:noFill/>
          <a:ln w="19050"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B3E19754-F375-4EB1-9C95-AC766B1160FF}"/>
              </a:ext>
            </a:extLst>
          </p:cNvPr>
          <p:cNvSpPr/>
          <p:nvPr/>
        </p:nvSpPr>
        <p:spPr>
          <a:xfrm flipV="1">
            <a:off x="3580934" y="4373642"/>
            <a:ext cx="751840" cy="150055"/>
          </a:xfrm>
          <a:custGeom>
            <a:avLst/>
            <a:gdLst>
              <a:gd name="connsiteX0" fmla="*/ 0 w 751840"/>
              <a:gd name="connsiteY0" fmla="*/ 314973 h 314973"/>
              <a:gd name="connsiteX1" fmla="*/ 386080 w 751840"/>
              <a:gd name="connsiteY1" fmla="*/ 13 h 314973"/>
              <a:gd name="connsiteX2" fmla="*/ 751840 w 751840"/>
              <a:gd name="connsiteY2" fmla="*/ 304813 h 31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1840" h="314973">
                <a:moveTo>
                  <a:pt x="0" y="314973"/>
                </a:moveTo>
                <a:cubicBezTo>
                  <a:pt x="130386" y="158339"/>
                  <a:pt x="260773" y="1706"/>
                  <a:pt x="386080" y="13"/>
                </a:cubicBezTo>
                <a:cubicBezTo>
                  <a:pt x="511387" y="-1680"/>
                  <a:pt x="631613" y="151566"/>
                  <a:pt x="751840" y="304813"/>
                </a:cubicBezTo>
              </a:path>
            </a:pathLst>
          </a:custGeom>
          <a:noFill/>
          <a:ln w="19050"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31BE553-FAD3-4557-8960-83B443187C41}"/>
                  </a:ext>
                </a:extLst>
              </p:cNvPr>
              <p:cNvSpPr txBox="1"/>
              <p:nvPr/>
            </p:nvSpPr>
            <p:spPr>
              <a:xfrm>
                <a:off x="3344686" y="4803631"/>
                <a:ext cx="137076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= 0.42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31BE553-FAD3-4557-8960-83B443187C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4686" y="4803631"/>
                <a:ext cx="1370760" cy="49244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72BEC00-FF51-4B57-97A7-F48979D76801}"/>
                  </a:ext>
                </a:extLst>
              </p:cNvPr>
              <p:cNvSpPr txBox="1"/>
              <p:nvPr/>
            </p:nvSpPr>
            <p:spPr>
              <a:xfrm>
                <a:off x="1972268" y="6033860"/>
                <a:ext cx="63318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0.4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72BEC00-FF51-4B57-97A7-F48979D768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2268" y="6033860"/>
                <a:ext cx="633187" cy="49244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3962D52-F8F7-4582-8C10-E6A583B40EE0}"/>
                  </a:ext>
                </a:extLst>
              </p:cNvPr>
              <p:cNvSpPr txBox="1"/>
              <p:nvPr/>
            </p:nvSpPr>
            <p:spPr>
              <a:xfrm>
                <a:off x="215013" y="6033860"/>
                <a:ext cx="9137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39%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3962D52-F8F7-4582-8C10-E6A583B40E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013" y="6033860"/>
                <a:ext cx="913712" cy="49244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8A1F94C-7446-4606-8A1A-CB2D706D1C47}"/>
                  </a:ext>
                </a:extLst>
              </p:cNvPr>
              <p:cNvSpPr txBox="1"/>
              <p:nvPr/>
            </p:nvSpPr>
            <p:spPr>
              <a:xfrm>
                <a:off x="3582390" y="5817486"/>
                <a:ext cx="940597" cy="92519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8A1F94C-7446-4606-8A1A-CB2D706D1C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2390" y="5817486"/>
                <a:ext cx="940597" cy="92519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TextBox 66">
            <a:extLst>
              <a:ext uri="{FF2B5EF4-FFF2-40B4-BE49-F238E27FC236}">
                <a16:creationId xmlns:a16="http://schemas.microsoft.com/office/drawing/2014/main" id="{01D3C868-59E2-4D5F-867E-EC2A0C447A1F}"/>
              </a:ext>
            </a:extLst>
          </p:cNvPr>
          <p:cNvSpPr txBox="1"/>
          <p:nvPr/>
        </p:nvSpPr>
        <p:spPr>
          <a:xfrm>
            <a:off x="3618241" y="2806878"/>
            <a:ext cx="56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× 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2F217FA-4666-440A-BFE0-F12BEBED9172}"/>
              </a:ext>
            </a:extLst>
          </p:cNvPr>
          <p:cNvSpPr txBox="1"/>
          <p:nvPr/>
        </p:nvSpPr>
        <p:spPr>
          <a:xfrm>
            <a:off x="3618241" y="4446702"/>
            <a:ext cx="56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× 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DA6214B-52A8-499F-AAE2-BA599F0694CB}"/>
              </a:ext>
            </a:extLst>
          </p:cNvPr>
          <p:cNvSpPr txBox="1"/>
          <p:nvPr/>
        </p:nvSpPr>
        <p:spPr>
          <a:xfrm>
            <a:off x="2132327" y="4145146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sz="2400" b="1" dirty="0">
              <a:solidFill>
                <a:srgbClr val="FF000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005ACFB-9C96-4CA9-BF1F-834E498AE2CF}"/>
              </a:ext>
            </a:extLst>
          </p:cNvPr>
          <p:cNvSpPr txBox="1"/>
          <p:nvPr/>
        </p:nvSpPr>
        <p:spPr>
          <a:xfrm>
            <a:off x="244914" y="4183246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sz="2400" b="1" dirty="0">
              <a:solidFill>
                <a:srgbClr val="FF000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51AD9BA-58B0-490F-B8FB-FA9069499CC7}"/>
              </a:ext>
            </a:extLst>
          </p:cNvPr>
          <p:cNvSpPr txBox="1"/>
          <p:nvPr/>
        </p:nvSpPr>
        <p:spPr>
          <a:xfrm>
            <a:off x="4397811" y="5162118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sz="2400" b="1" dirty="0">
              <a:solidFill>
                <a:srgbClr val="FF0000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5C36011-A2CA-4401-AAA2-051C78921F66}"/>
              </a:ext>
            </a:extLst>
          </p:cNvPr>
          <p:cNvCxnSpPr>
            <a:cxnSpLocks/>
          </p:cNvCxnSpPr>
          <p:nvPr/>
        </p:nvCxnSpPr>
        <p:spPr>
          <a:xfrm>
            <a:off x="1573822" y="5468812"/>
            <a:ext cx="1811215" cy="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5D68FB24-40E3-42C5-92CE-E23B80E0B8B5}"/>
              </a:ext>
            </a:extLst>
          </p:cNvPr>
          <p:cNvSpPr txBox="1"/>
          <p:nvPr/>
        </p:nvSpPr>
        <p:spPr>
          <a:xfrm>
            <a:off x="638456" y="5515891"/>
            <a:ext cx="36819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Түпнуска </a:t>
            </a:r>
            <a:r>
              <a:rPr lang="ky-KG" sz="2000" b="1" dirty="0"/>
              <a:t>сандарды</a:t>
            </a:r>
            <a:r>
              <a:rPr lang="ru-RU" sz="2000" b="1" dirty="0"/>
              <a:t> ир</a:t>
            </a:r>
            <a:r>
              <a:rPr lang="ky-KG" sz="2000" b="1" dirty="0"/>
              <a:t>ээттеңиз</a:t>
            </a:r>
            <a:r>
              <a:rPr lang="ky-KG" sz="2000" dirty="0"/>
              <a:t>.</a:t>
            </a:r>
            <a:endParaRPr lang="en-GB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06C1D5-1FA8-E82F-F7FC-CF99D522F82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39747"/>
            <a:ext cx="4991243" cy="67911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C8CF284-5DD3-5155-D7FB-6182776DBB2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63799" y="56339"/>
            <a:ext cx="4649220" cy="6745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390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50" grpId="0"/>
      <p:bldP spid="3" grpId="0" animBg="1"/>
      <p:bldP spid="51" grpId="0" animBg="1"/>
      <p:bldP spid="52" grpId="0" animBg="1"/>
      <p:bldP spid="53" grpId="0"/>
      <p:bldP spid="54" grpId="0"/>
      <p:bldP spid="55" grpId="0"/>
      <p:bldP spid="56" grpId="0"/>
      <p:bldP spid="57" grpId="0"/>
      <p:bldP spid="58" grpId="0"/>
      <p:bldP spid="5" grpId="0" animBg="1"/>
      <p:bldP spid="59" grpId="0" animBg="1"/>
      <p:bldP spid="60" grpId="0"/>
      <p:bldP spid="61" grpId="0"/>
      <p:bldP spid="62" grpId="0"/>
      <p:bldP spid="63" grpId="0"/>
      <p:bldP spid="67" grpId="0"/>
      <p:bldP spid="68" grpId="0"/>
      <p:bldP spid="37" grpId="0"/>
      <p:bldP spid="38" grpId="0"/>
      <p:bldP spid="39" grpId="0"/>
      <p:bldP spid="4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34A46C22-29F5-3098-7C9C-FD1B17CB467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4478" y="87359"/>
                <a:ext cx="9650844" cy="6683282"/>
              </a:xfrm>
              <a:prstGeom prst="roundRect">
                <a:avLst>
                  <a:gd name="adj" fmla="val 5156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ky-KG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ky-KG" i="1" smtClean="0">
                          <a:latin typeface="Cambria Math" panose="02040503050406030204" pitchFamily="18" charset="0"/>
                        </a:rPr>
                        <m:t>801</m:t>
                      </m:r>
                    </m:oMath>
                  </m:oMathPara>
                </a14:m>
                <a:endParaRPr lang="en-GB" sz="1950" dirty="0"/>
              </a:p>
            </p:txBody>
          </p:sp>
        </mc:Choice>
        <mc:Fallback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34A46C22-29F5-3098-7C9C-FD1B17CB46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78" y="87359"/>
                <a:ext cx="9650844" cy="6683282"/>
              </a:xfrm>
              <a:prstGeom prst="roundRect">
                <a:avLst>
                  <a:gd name="adj" fmla="val 5156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404E514-B434-C59C-D16B-AFEC68D6A8F9}"/>
                  </a:ext>
                </a:extLst>
              </p:cNvPr>
              <p:cNvSpPr txBox="1"/>
              <p:nvPr/>
            </p:nvSpPr>
            <p:spPr>
              <a:xfrm>
                <a:off x="3712666" y="2403253"/>
                <a:ext cx="200375" cy="5770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404E514-B434-C59C-D16B-AFEC68D6A8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2666" y="2403253"/>
                <a:ext cx="200375" cy="5770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4B164A0-6C68-1790-A450-3DBCEBB65FEC}"/>
              </a:ext>
            </a:extLst>
          </p:cNvPr>
          <p:cNvSpPr txBox="1"/>
          <p:nvPr/>
        </p:nvSpPr>
        <p:spPr>
          <a:xfrm>
            <a:off x="119904" y="577205"/>
            <a:ext cx="85491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dirty="0"/>
              <a:t>Ар бир сап жана ар бир тилке өсүү тартибинде (кичинеден чоңго карай) болушу үчүн бардык маанилерди бош торчого ирээттеңиз.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D1FCE9C-4FC5-1622-9467-00F4A597CE9D}"/>
                  </a:ext>
                </a:extLst>
              </p:cNvPr>
              <p:cNvSpPr txBox="1"/>
              <p:nvPr/>
            </p:nvSpPr>
            <p:spPr>
              <a:xfrm>
                <a:off x="219599" y="1599829"/>
                <a:ext cx="26129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ky-KG" sz="2000" b="1" dirty="0"/>
                  <a:t>А</a:t>
                </a:r>
                <a14:m>
                  <m:oMath xmlns:m="http://schemas.openxmlformats.org/officeDocument/2006/math"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0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D1FCE9C-4FC5-1622-9467-00F4A597CE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599" y="1599829"/>
                <a:ext cx="261290" cy="307777"/>
              </a:xfrm>
              <a:prstGeom prst="rect">
                <a:avLst/>
              </a:prstGeom>
              <a:blipFill>
                <a:blip r:embed="rId4"/>
                <a:stretch>
                  <a:fillRect l="-58140" t="-25490" r="-44186" b="-49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1C913A76-100E-6E31-1650-5F92C791F928}"/>
              </a:ext>
            </a:extLst>
          </p:cNvPr>
          <p:cNvSpPr txBox="1"/>
          <p:nvPr/>
        </p:nvSpPr>
        <p:spPr>
          <a:xfrm>
            <a:off x="1485810" y="215423"/>
            <a:ext cx="567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u="sng" dirty="0"/>
              <a:t>Бөлчөктөрдү, ондуктарды жана пайыздарды ирээттөө</a:t>
            </a:r>
            <a:endParaRPr lang="en-GB" b="1" u="sn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DD4265-ABEF-FB80-D9B2-56EDBC0B9EF6}"/>
              </a:ext>
            </a:extLst>
          </p:cNvPr>
          <p:cNvSpPr txBox="1"/>
          <p:nvPr/>
        </p:nvSpPr>
        <p:spPr>
          <a:xfrm>
            <a:off x="8880742" y="114155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1C2D65A-59DD-CB2B-7CA6-C49FACA6465B}"/>
                  </a:ext>
                </a:extLst>
              </p:cNvPr>
              <p:cNvSpPr txBox="1"/>
              <p:nvPr/>
            </p:nvSpPr>
            <p:spPr>
              <a:xfrm>
                <a:off x="197687" y="4481649"/>
                <a:ext cx="24846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ky-KG" sz="2000" b="1" dirty="0"/>
                  <a:t>Б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000" b="1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1C2D65A-59DD-CB2B-7CA6-C49FACA646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687" y="4481649"/>
                <a:ext cx="248466" cy="307777"/>
              </a:xfrm>
              <a:prstGeom prst="rect">
                <a:avLst/>
              </a:prstGeom>
              <a:blipFill>
                <a:blip r:embed="rId5"/>
                <a:stretch>
                  <a:fillRect l="-60976" t="-25490" r="-48780" b="-49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3AC63CE1-3FA9-B224-0627-9E2EE5A78D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9071089"/>
              </p:ext>
            </p:extLst>
          </p:nvPr>
        </p:nvGraphicFramePr>
        <p:xfrm>
          <a:off x="6137320" y="1697369"/>
          <a:ext cx="2341176" cy="18914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392">
                  <a:extLst>
                    <a:ext uri="{9D8B030D-6E8A-4147-A177-3AD203B41FA5}">
                      <a16:colId xmlns:a16="http://schemas.microsoft.com/office/drawing/2014/main" val="4011859080"/>
                    </a:ext>
                  </a:extLst>
                </a:gridCol>
                <a:gridCol w="780392">
                  <a:extLst>
                    <a:ext uri="{9D8B030D-6E8A-4147-A177-3AD203B41FA5}">
                      <a16:colId xmlns:a16="http://schemas.microsoft.com/office/drawing/2014/main" val="3715397478"/>
                    </a:ext>
                  </a:extLst>
                </a:gridCol>
                <a:gridCol w="780392">
                  <a:extLst>
                    <a:ext uri="{9D8B030D-6E8A-4147-A177-3AD203B41FA5}">
                      <a16:colId xmlns:a16="http://schemas.microsoft.com/office/drawing/2014/main" val="2316878995"/>
                    </a:ext>
                  </a:extLst>
                </a:gridCol>
              </a:tblGrid>
              <a:tr h="63049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0394257"/>
                  </a:ext>
                </a:extLst>
              </a:tr>
              <a:tr h="63049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8214960"/>
                  </a:ext>
                </a:extLst>
              </a:tr>
              <a:tr h="63049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141711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EEA4CE8-86CD-2D21-74CC-8C595DE0680C}"/>
              </a:ext>
            </a:extLst>
          </p:cNvPr>
          <p:cNvCxnSpPr>
            <a:cxnSpLocks/>
          </p:cNvCxnSpPr>
          <p:nvPr/>
        </p:nvCxnSpPr>
        <p:spPr>
          <a:xfrm>
            <a:off x="6491549" y="1589391"/>
            <a:ext cx="1261406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A6625ED-3211-2042-94F6-A43660C05FBD}"/>
              </a:ext>
            </a:extLst>
          </p:cNvPr>
          <p:cNvCxnSpPr>
            <a:cxnSpLocks/>
          </p:cNvCxnSpPr>
          <p:nvPr/>
        </p:nvCxnSpPr>
        <p:spPr>
          <a:xfrm>
            <a:off x="5794362" y="1869843"/>
            <a:ext cx="0" cy="1502104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3AF7D2B-7329-3D6D-F54E-5C3D90A90320}"/>
              </a:ext>
            </a:extLst>
          </p:cNvPr>
          <p:cNvSpPr txBox="1"/>
          <p:nvPr/>
        </p:nvSpPr>
        <p:spPr>
          <a:xfrm>
            <a:off x="4949045" y="1415163"/>
            <a:ext cx="1529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Эң кичинекей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DB191DE-4AB4-53E9-4F53-E5B825CF94F3}"/>
              </a:ext>
            </a:extLst>
          </p:cNvPr>
          <p:cNvSpPr txBox="1"/>
          <p:nvPr/>
        </p:nvSpPr>
        <p:spPr>
          <a:xfrm>
            <a:off x="7921864" y="1361289"/>
            <a:ext cx="1000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Эң чоң</a:t>
            </a:r>
            <a:endParaRPr lang="en-US" dirty="0"/>
          </a:p>
          <a:p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F742980-225E-1577-2FAC-AC917827CDAC}"/>
              </a:ext>
            </a:extLst>
          </p:cNvPr>
          <p:cNvSpPr txBox="1"/>
          <p:nvPr/>
        </p:nvSpPr>
        <p:spPr>
          <a:xfrm>
            <a:off x="5360956" y="3429000"/>
            <a:ext cx="1000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Эң чоң</a:t>
            </a:r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6BF09CA-20E4-346B-70C2-E63AF43D2816}"/>
                  </a:ext>
                </a:extLst>
              </p:cNvPr>
              <p:cNvSpPr txBox="1"/>
              <p:nvPr/>
            </p:nvSpPr>
            <p:spPr>
              <a:xfrm>
                <a:off x="988711" y="2620895"/>
                <a:ext cx="32541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ky-KG" sz="2000" dirty="0"/>
                  <a:t>9</a:t>
                </a:r>
                <a:endParaRPr lang="en-GB" sz="2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6BF09CA-20E4-346B-70C2-E63AF43D28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711" y="2620895"/>
                <a:ext cx="325410" cy="307777"/>
              </a:xfrm>
              <a:prstGeom prst="rect">
                <a:avLst/>
              </a:prstGeom>
              <a:blipFill>
                <a:blip r:embed="rId6"/>
                <a:stretch>
                  <a:fillRect l="-25926" t="-26000" r="-46296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8B0C9EF-2D28-6361-FFEF-245115DC91A5}"/>
                  </a:ext>
                </a:extLst>
              </p:cNvPr>
              <p:cNvSpPr txBox="1"/>
              <p:nvPr/>
            </p:nvSpPr>
            <p:spPr>
              <a:xfrm>
                <a:off x="2346254" y="3256757"/>
                <a:ext cx="200375" cy="5761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8B0C9EF-2D28-6361-FFEF-245115DC91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6254" y="3256757"/>
                <a:ext cx="200375" cy="57618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5C8EBD24-7791-320C-CD6D-A9AF46B8BD55}"/>
              </a:ext>
            </a:extLst>
          </p:cNvPr>
          <p:cNvSpPr txBox="1"/>
          <p:nvPr/>
        </p:nvSpPr>
        <p:spPr>
          <a:xfrm>
            <a:off x="7827100" y="3657744"/>
            <a:ext cx="1534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Эң чоңу</a:t>
            </a:r>
            <a:endParaRPr lang="en-US" dirty="0"/>
          </a:p>
        </p:txBody>
      </p:sp>
      <p:pic>
        <p:nvPicPr>
          <p:cNvPr id="42" name="Graphic 41" descr="Cursor with solid fill">
            <a:extLst>
              <a:ext uri="{FF2B5EF4-FFF2-40B4-BE49-F238E27FC236}">
                <a16:creationId xmlns:a16="http://schemas.microsoft.com/office/drawing/2014/main" id="{3D8E7DC4-B6B9-944E-35BC-AC2C791C36E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2422567">
            <a:off x="8113456" y="3366164"/>
            <a:ext cx="399005" cy="399005"/>
          </a:xfrm>
          <a:prstGeom prst="rect">
            <a:avLst/>
          </a:prstGeom>
        </p:spPr>
      </p:pic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91950F2-C49B-8457-C8B9-D54965841596}"/>
              </a:ext>
            </a:extLst>
          </p:cNvPr>
          <p:cNvCxnSpPr>
            <a:cxnSpLocks/>
          </p:cNvCxnSpPr>
          <p:nvPr/>
        </p:nvCxnSpPr>
        <p:spPr>
          <a:xfrm>
            <a:off x="6660458" y="4336658"/>
            <a:ext cx="1261406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22057F1-6D4B-49A7-7628-9CD40BD5BAE2}"/>
              </a:ext>
            </a:extLst>
          </p:cNvPr>
          <p:cNvCxnSpPr>
            <a:cxnSpLocks/>
          </p:cNvCxnSpPr>
          <p:nvPr/>
        </p:nvCxnSpPr>
        <p:spPr>
          <a:xfrm>
            <a:off x="6171914" y="4663446"/>
            <a:ext cx="0" cy="1502104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8E160AD7-8D22-BD28-3ACB-B9C83F28C3E6}"/>
              </a:ext>
            </a:extLst>
          </p:cNvPr>
          <p:cNvSpPr txBox="1"/>
          <p:nvPr/>
        </p:nvSpPr>
        <p:spPr>
          <a:xfrm>
            <a:off x="5134360" y="4186137"/>
            <a:ext cx="1547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Эң кичинекей</a:t>
            </a:r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CAD01B4-7C62-2B6E-8844-BD880EECC803}"/>
              </a:ext>
            </a:extLst>
          </p:cNvPr>
          <p:cNvSpPr txBox="1"/>
          <p:nvPr/>
        </p:nvSpPr>
        <p:spPr>
          <a:xfrm>
            <a:off x="8000077" y="4117625"/>
            <a:ext cx="1000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Эң чоң</a:t>
            </a:r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712A5B8-5F4D-7D68-6016-D9EF7DDBB2CE}"/>
              </a:ext>
            </a:extLst>
          </p:cNvPr>
          <p:cNvSpPr txBox="1"/>
          <p:nvPr/>
        </p:nvSpPr>
        <p:spPr>
          <a:xfrm>
            <a:off x="5699196" y="6224944"/>
            <a:ext cx="1000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Эң чоң</a:t>
            </a:r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CA105E5-F75E-CC35-4677-584503B03AB5}"/>
              </a:ext>
            </a:extLst>
          </p:cNvPr>
          <p:cNvSpPr txBox="1"/>
          <p:nvPr/>
        </p:nvSpPr>
        <p:spPr>
          <a:xfrm>
            <a:off x="8031737" y="6470186"/>
            <a:ext cx="1534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Эң чоңу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4BBD19E-E846-F28E-D993-666F2BFB83D6}"/>
                  </a:ext>
                </a:extLst>
              </p:cNvPr>
              <p:cNvSpPr txBox="1"/>
              <p:nvPr/>
            </p:nvSpPr>
            <p:spPr>
              <a:xfrm>
                <a:off x="909710" y="1667288"/>
                <a:ext cx="343043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4BBD19E-E846-F28E-D993-666F2BFB83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710" y="1667288"/>
                <a:ext cx="343043" cy="57823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8FDCF35-3E9B-45E0-A0A0-A2FD982CCF7F}"/>
                  </a:ext>
                </a:extLst>
              </p:cNvPr>
              <p:cNvSpPr txBox="1"/>
              <p:nvPr/>
            </p:nvSpPr>
            <p:spPr>
              <a:xfrm>
                <a:off x="2177944" y="1669904"/>
                <a:ext cx="57066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61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8FDCF35-3E9B-45E0-A0A0-A2FD982CCF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7944" y="1669904"/>
                <a:ext cx="570669" cy="307777"/>
              </a:xfrm>
              <a:prstGeom prst="rect">
                <a:avLst/>
              </a:prstGeom>
              <a:blipFill>
                <a:blip r:embed="rId11"/>
                <a:stretch>
                  <a:fillRect l="-9574" r="-10638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8546F40-235E-D2D0-C88E-8FF561CFC456}"/>
                  </a:ext>
                </a:extLst>
              </p:cNvPr>
              <p:cNvSpPr txBox="1"/>
              <p:nvPr/>
            </p:nvSpPr>
            <p:spPr>
              <a:xfrm>
                <a:off x="2245029" y="2424049"/>
                <a:ext cx="441448" cy="5761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8546F40-235E-D2D0-C88E-8FF561CFC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5029" y="2424049"/>
                <a:ext cx="441448" cy="57618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A28CEC6-F886-EB83-B87B-834C93F83C9E}"/>
                  </a:ext>
                </a:extLst>
              </p:cNvPr>
              <p:cNvSpPr txBox="1"/>
              <p:nvPr/>
            </p:nvSpPr>
            <p:spPr>
              <a:xfrm>
                <a:off x="3556654" y="3507731"/>
                <a:ext cx="59471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43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A28CEC6-F886-EB83-B87B-834C93F83C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6654" y="3507731"/>
                <a:ext cx="594715" cy="307777"/>
              </a:xfrm>
              <a:prstGeom prst="rect">
                <a:avLst/>
              </a:prstGeom>
              <a:blipFill>
                <a:blip r:embed="rId13"/>
                <a:stretch>
                  <a:fillRect r="-9184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ECDB8029-67FF-DCD1-5D67-705C0D375485}"/>
                  </a:ext>
                </a:extLst>
              </p:cNvPr>
              <p:cNvSpPr txBox="1"/>
              <p:nvPr/>
            </p:nvSpPr>
            <p:spPr>
              <a:xfrm>
                <a:off x="856319" y="3417734"/>
                <a:ext cx="57066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22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ECDB8029-67FF-DCD1-5D67-705C0D3754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319" y="3417734"/>
                <a:ext cx="570669" cy="307777"/>
              </a:xfrm>
              <a:prstGeom prst="rect">
                <a:avLst/>
              </a:prstGeom>
              <a:blipFill>
                <a:blip r:embed="rId14"/>
                <a:stretch>
                  <a:fillRect l="-9574" r="-10638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B99665C-1D16-F753-2C61-4DDD25D700FF}"/>
                  </a:ext>
                </a:extLst>
              </p:cNvPr>
              <p:cNvSpPr txBox="1"/>
              <p:nvPr/>
            </p:nvSpPr>
            <p:spPr>
              <a:xfrm>
                <a:off x="3727022" y="1509102"/>
                <a:ext cx="200375" cy="5761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B99665C-1D16-F753-2C61-4DDD25D700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7022" y="1509102"/>
                <a:ext cx="200375" cy="57618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5" name="TextBox 244">
                <a:extLst>
                  <a:ext uri="{FF2B5EF4-FFF2-40B4-BE49-F238E27FC236}">
                    <a16:creationId xmlns:a16="http://schemas.microsoft.com/office/drawing/2014/main" id="{8ABCD862-46E4-4492-865D-6160824323ED}"/>
                  </a:ext>
                </a:extLst>
              </p:cNvPr>
              <p:cNvSpPr txBox="1"/>
              <p:nvPr/>
            </p:nvSpPr>
            <p:spPr>
              <a:xfrm>
                <a:off x="854661" y="4370803"/>
                <a:ext cx="343043" cy="5771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45" name="TextBox 244">
                <a:extLst>
                  <a:ext uri="{FF2B5EF4-FFF2-40B4-BE49-F238E27FC236}">
                    <a16:creationId xmlns:a16="http://schemas.microsoft.com/office/drawing/2014/main" id="{8ABCD862-46E4-4492-865D-6160824323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661" y="4370803"/>
                <a:ext cx="343043" cy="57714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6" name="TextBox 245">
                <a:extLst>
                  <a:ext uri="{FF2B5EF4-FFF2-40B4-BE49-F238E27FC236}">
                    <a16:creationId xmlns:a16="http://schemas.microsoft.com/office/drawing/2014/main" id="{D65E776C-A6C9-7417-52C7-A9D451FE64D7}"/>
                  </a:ext>
                </a:extLst>
              </p:cNvPr>
              <p:cNvSpPr txBox="1"/>
              <p:nvPr/>
            </p:nvSpPr>
            <p:spPr>
              <a:xfrm>
                <a:off x="3568287" y="4481650"/>
                <a:ext cx="570669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46" name="TextBox 245">
                <a:extLst>
                  <a:ext uri="{FF2B5EF4-FFF2-40B4-BE49-F238E27FC236}">
                    <a16:creationId xmlns:a16="http://schemas.microsoft.com/office/drawing/2014/main" id="{D65E776C-A6C9-7417-52C7-A9D451FE64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8287" y="4481650"/>
                <a:ext cx="570669" cy="307777"/>
              </a:xfrm>
              <a:prstGeom prst="rect">
                <a:avLst/>
              </a:prstGeom>
              <a:blipFill>
                <a:blip r:embed="rId17"/>
                <a:stretch>
                  <a:fillRect l="-9574" r="-10638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7" name="TextBox 246">
                <a:extLst>
                  <a:ext uri="{FF2B5EF4-FFF2-40B4-BE49-F238E27FC236}">
                    <a16:creationId xmlns:a16="http://schemas.microsoft.com/office/drawing/2014/main" id="{8871A154-287E-E34F-ED1F-7723EAF8205E}"/>
                  </a:ext>
                </a:extLst>
              </p:cNvPr>
              <p:cNvSpPr txBox="1"/>
              <p:nvPr/>
            </p:nvSpPr>
            <p:spPr>
              <a:xfrm>
                <a:off x="2148785" y="4984718"/>
                <a:ext cx="441448" cy="5761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19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247" name="TextBox 246">
                <a:extLst>
                  <a:ext uri="{FF2B5EF4-FFF2-40B4-BE49-F238E27FC236}">
                    <a16:creationId xmlns:a16="http://schemas.microsoft.com/office/drawing/2014/main" id="{8871A154-287E-E34F-ED1F-7723EAF820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8785" y="4984718"/>
                <a:ext cx="441448" cy="576183"/>
              </a:xfrm>
              <a:prstGeom prst="rect">
                <a:avLst/>
              </a:prstGeom>
              <a:blipFill>
                <a:blip r:embed="rId18"/>
                <a:stretch>
                  <a:fillRect b="-10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8" name="TextBox 247">
                <a:extLst>
                  <a:ext uri="{FF2B5EF4-FFF2-40B4-BE49-F238E27FC236}">
                    <a16:creationId xmlns:a16="http://schemas.microsoft.com/office/drawing/2014/main" id="{B1CC81A2-332C-05D9-DF90-D02B1C23CDA8}"/>
                  </a:ext>
                </a:extLst>
              </p:cNvPr>
              <p:cNvSpPr txBox="1"/>
              <p:nvPr/>
            </p:nvSpPr>
            <p:spPr>
              <a:xfrm>
                <a:off x="756877" y="5144872"/>
                <a:ext cx="53860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62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248" name="TextBox 247">
                <a:extLst>
                  <a:ext uri="{FF2B5EF4-FFF2-40B4-BE49-F238E27FC236}">
                    <a16:creationId xmlns:a16="http://schemas.microsoft.com/office/drawing/2014/main" id="{B1CC81A2-332C-05D9-DF90-D02B1C23C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877" y="5144872"/>
                <a:ext cx="538609" cy="307777"/>
              </a:xfrm>
              <a:prstGeom prst="rect">
                <a:avLst/>
              </a:prstGeom>
              <a:blipFill>
                <a:blip r:embed="rId19"/>
                <a:stretch>
                  <a:fillRect l="-15730" r="-4494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9F37CA45-CE1E-90E9-912B-F4DC31C3D76A}"/>
                  </a:ext>
                </a:extLst>
              </p:cNvPr>
              <p:cNvSpPr txBox="1"/>
              <p:nvPr/>
            </p:nvSpPr>
            <p:spPr>
              <a:xfrm>
                <a:off x="2222105" y="6225362"/>
                <a:ext cx="343043" cy="5770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9F37CA45-CE1E-90E9-912B-F4DC31C3D7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2105" y="6225362"/>
                <a:ext cx="343043" cy="577081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0" name="TextBox 249">
                <a:extLst>
                  <a:ext uri="{FF2B5EF4-FFF2-40B4-BE49-F238E27FC236}">
                    <a16:creationId xmlns:a16="http://schemas.microsoft.com/office/drawing/2014/main" id="{813CDCED-C8CC-B21F-DE6A-25867EF4EAEF}"/>
                  </a:ext>
                </a:extLst>
              </p:cNvPr>
              <p:cNvSpPr txBox="1"/>
              <p:nvPr/>
            </p:nvSpPr>
            <p:spPr>
              <a:xfrm>
                <a:off x="756876" y="6417911"/>
                <a:ext cx="53860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89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250" name="TextBox 249">
                <a:extLst>
                  <a:ext uri="{FF2B5EF4-FFF2-40B4-BE49-F238E27FC236}">
                    <a16:creationId xmlns:a16="http://schemas.microsoft.com/office/drawing/2014/main" id="{813CDCED-C8CC-B21F-DE6A-25867EF4EA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876" y="6417911"/>
                <a:ext cx="538609" cy="307777"/>
              </a:xfrm>
              <a:prstGeom prst="rect">
                <a:avLst/>
              </a:prstGeom>
              <a:blipFill>
                <a:blip r:embed="rId21"/>
                <a:stretch>
                  <a:fillRect l="-10112" r="-10112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1" name="TextBox 250">
            <a:extLst>
              <a:ext uri="{FF2B5EF4-FFF2-40B4-BE49-F238E27FC236}">
                <a16:creationId xmlns:a16="http://schemas.microsoft.com/office/drawing/2014/main" id="{0BAF77D5-B49D-F8FA-82F8-1E9A54507419}"/>
              </a:ext>
            </a:extLst>
          </p:cNvPr>
          <p:cNvSpPr txBox="1"/>
          <p:nvPr/>
        </p:nvSpPr>
        <p:spPr>
          <a:xfrm>
            <a:off x="2119429" y="4469828"/>
            <a:ext cx="45365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y-KG" sz="2000" dirty="0"/>
              <a:t>0,33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2" name="TextBox 251">
                <a:extLst>
                  <a:ext uri="{FF2B5EF4-FFF2-40B4-BE49-F238E27FC236}">
                    <a16:creationId xmlns:a16="http://schemas.microsoft.com/office/drawing/2014/main" id="{23CC0DB6-0905-8112-3EB1-F4E1A22C3BF1}"/>
                  </a:ext>
                </a:extLst>
              </p:cNvPr>
              <p:cNvSpPr txBox="1"/>
              <p:nvPr/>
            </p:nvSpPr>
            <p:spPr>
              <a:xfrm>
                <a:off x="3597448" y="5066873"/>
                <a:ext cx="570669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252" name="TextBox 251">
                <a:extLst>
                  <a:ext uri="{FF2B5EF4-FFF2-40B4-BE49-F238E27FC236}">
                    <a16:creationId xmlns:a16="http://schemas.microsoft.com/office/drawing/2014/main" id="{23CC0DB6-0905-8112-3EB1-F4E1A22C3B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7448" y="5066873"/>
                <a:ext cx="570669" cy="307777"/>
              </a:xfrm>
              <a:prstGeom prst="rect">
                <a:avLst/>
              </a:prstGeom>
              <a:blipFill>
                <a:blip r:embed="rId22"/>
                <a:stretch>
                  <a:fillRect l="-9574" r="-10638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3" name="TextBox 252">
                <a:extLst>
                  <a:ext uri="{FF2B5EF4-FFF2-40B4-BE49-F238E27FC236}">
                    <a16:creationId xmlns:a16="http://schemas.microsoft.com/office/drawing/2014/main" id="{952EAC22-5974-65D8-E53A-D7EDB16166A6}"/>
                  </a:ext>
                </a:extLst>
              </p:cNvPr>
              <p:cNvSpPr txBox="1"/>
              <p:nvPr/>
            </p:nvSpPr>
            <p:spPr>
              <a:xfrm>
                <a:off x="3663933" y="6159569"/>
                <a:ext cx="200375" cy="5761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253" name="TextBox 252">
                <a:extLst>
                  <a:ext uri="{FF2B5EF4-FFF2-40B4-BE49-F238E27FC236}">
                    <a16:creationId xmlns:a16="http://schemas.microsoft.com/office/drawing/2014/main" id="{952EAC22-5974-65D8-E53A-D7EDB16166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3933" y="6159569"/>
                <a:ext cx="200375" cy="576183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557B645E-6B0B-D0C6-624B-CC918146AD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4702046"/>
              </p:ext>
            </p:extLst>
          </p:nvPr>
        </p:nvGraphicFramePr>
        <p:xfrm>
          <a:off x="6581299" y="4472508"/>
          <a:ext cx="2078946" cy="19521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2982">
                  <a:extLst>
                    <a:ext uri="{9D8B030D-6E8A-4147-A177-3AD203B41FA5}">
                      <a16:colId xmlns:a16="http://schemas.microsoft.com/office/drawing/2014/main" val="1128243535"/>
                    </a:ext>
                  </a:extLst>
                </a:gridCol>
                <a:gridCol w="692982">
                  <a:extLst>
                    <a:ext uri="{9D8B030D-6E8A-4147-A177-3AD203B41FA5}">
                      <a16:colId xmlns:a16="http://schemas.microsoft.com/office/drawing/2014/main" val="2750885493"/>
                    </a:ext>
                  </a:extLst>
                </a:gridCol>
                <a:gridCol w="692982">
                  <a:extLst>
                    <a:ext uri="{9D8B030D-6E8A-4147-A177-3AD203B41FA5}">
                      <a16:colId xmlns:a16="http://schemas.microsoft.com/office/drawing/2014/main" val="3344932021"/>
                    </a:ext>
                  </a:extLst>
                </a:gridCol>
              </a:tblGrid>
              <a:tr h="45723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378138"/>
                  </a:ext>
                </a:extLst>
              </a:tr>
              <a:tr h="4983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719601"/>
                  </a:ext>
                </a:extLst>
              </a:tr>
              <a:tr h="4983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2243323"/>
                  </a:ext>
                </a:extLst>
              </a:tr>
              <a:tr h="4983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2463512"/>
                  </a:ext>
                </a:extLst>
              </a:tr>
            </a:tbl>
          </a:graphicData>
        </a:graphic>
      </p:graphicFrame>
      <p:pic>
        <p:nvPicPr>
          <p:cNvPr id="50" name="Graphic 49" descr="Cursor with solid fill">
            <a:extLst>
              <a:ext uri="{FF2B5EF4-FFF2-40B4-BE49-F238E27FC236}">
                <a16:creationId xmlns:a16="http://schemas.microsoft.com/office/drawing/2014/main" id="{1494DBC5-7EAE-141F-098E-2EB33981588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2422567">
            <a:off x="8188314" y="6256944"/>
            <a:ext cx="399005" cy="39900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6BF5EFC-19F8-C7E3-89CF-A55C69AC8CA5}"/>
                  </a:ext>
                </a:extLst>
              </p:cNvPr>
              <p:cNvSpPr txBox="1"/>
              <p:nvPr/>
            </p:nvSpPr>
            <p:spPr>
              <a:xfrm>
                <a:off x="771349" y="5581334"/>
                <a:ext cx="441448" cy="5782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6BF5EFC-19F8-C7E3-89CF-A55C69AC8C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349" y="5581334"/>
                <a:ext cx="441448" cy="578235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AAF6EAA-7792-DB89-DE54-1922C5BCCE96}"/>
                  </a:ext>
                </a:extLst>
              </p:cNvPr>
              <p:cNvSpPr txBox="1"/>
              <p:nvPr/>
            </p:nvSpPr>
            <p:spPr>
              <a:xfrm>
                <a:off x="2119429" y="5768014"/>
                <a:ext cx="570669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AAF6EAA-7792-DB89-DE54-1922C5BCCE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9429" y="5768014"/>
                <a:ext cx="570669" cy="307777"/>
              </a:xfrm>
              <a:prstGeom prst="rect">
                <a:avLst/>
              </a:prstGeom>
              <a:blipFill>
                <a:blip r:embed="rId25"/>
                <a:stretch>
                  <a:fillRect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E9F82B9-53EF-500C-5787-A1E9ACF59FEA}"/>
                  </a:ext>
                </a:extLst>
              </p:cNvPr>
              <p:cNvSpPr txBox="1"/>
              <p:nvPr/>
            </p:nvSpPr>
            <p:spPr>
              <a:xfrm>
                <a:off x="3543397" y="5452649"/>
                <a:ext cx="441448" cy="57624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E9F82B9-53EF-500C-5787-A1E9ACF59F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3397" y="5452649"/>
                <a:ext cx="441448" cy="576248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1CA72C3-21A5-FB30-D158-113F31CCA63A}"/>
                  </a:ext>
                </a:extLst>
              </p:cNvPr>
              <p:cNvSpPr txBox="1"/>
              <p:nvPr/>
            </p:nvSpPr>
            <p:spPr>
              <a:xfrm>
                <a:off x="6295777" y="1813625"/>
                <a:ext cx="441448" cy="4626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1CA72C3-21A5-FB30-D158-113F31CCA6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5777" y="1813625"/>
                <a:ext cx="441448" cy="462627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3D9E79D-3BFF-0EEF-01B4-B7ED3FC6C92A}"/>
                  </a:ext>
                </a:extLst>
              </p:cNvPr>
              <p:cNvSpPr txBox="1"/>
              <p:nvPr/>
            </p:nvSpPr>
            <p:spPr>
              <a:xfrm>
                <a:off x="7072263" y="1953416"/>
                <a:ext cx="5145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b="0" i="1" smtClean="0">
                          <a:latin typeface="Cambria Math" panose="02040503050406030204" pitchFamily="18" charset="0"/>
                        </a:rPr>
                        <m:t>22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3D9E79D-3BFF-0EEF-01B4-B7ED3FC6C9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2263" y="1953416"/>
                <a:ext cx="514563" cy="276999"/>
              </a:xfrm>
              <a:prstGeom prst="rect">
                <a:avLst/>
              </a:prstGeom>
              <a:blipFill>
                <a:blip r:embed="rId28"/>
                <a:stretch>
                  <a:fillRect l="-9412" r="-12941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DB394FD-594B-D560-C1F6-B21481CF5961}"/>
                  </a:ext>
                </a:extLst>
              </p:cNvPr>
              <p:cNvSpPr txBox="1"/>
              <p:nvPr/>
            </p:nvSpPr>
            <p:spPr>
              <a:xfrm>
                <a:off x="7877971" y="1748147"/>
                <a:ext cx="309380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ky-KG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DB394FD-594B-D560-C1F6-B21481CF59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7971" y="1748147"/>
                <a:ext cx="309380" cy="520399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7032919-3FEA-0AC5-8BC3-49D2E920DF56}"/>
                  </a:ext>
                </a:extLst>
              </p:cNvPr>
              <p:cNvSpPr txBox="1"/>
              <p:nvPr/>
            </p:nvSpPr>
            <p:spPr>
              <a:xfrm>
                <a:off x="6237729" y="2593437"/>
                <a:ext cx="59471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43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7032919-3FEA-0AC5-8BC3-49D2E920DF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7729" y="2593437"/>
                <a:ext cx="594715" cy="307777"/>
              </a:xfrm>
              <a:prstGeom prst="rect">
                <a:avLst/>
              </a:prstGeom>
              <a:blipFill>
                <a:blip r:embed="rId30"/>
                <a:stretch>
                  <a:fillRect r="-9184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A26A7E0-3E52-04EB-F48D-947871ED07A9}"/>
                  </a:ext>
                </a:extLst>
              </p:cNvPr>
              <p:cNvSpPr txBox="1"/>
              <p:nvPr/>
            </p:nvSpPr>
            <p:spPr>
              <a:xfrm>
                <a:off x="7250481" y="2403701"/>
                <a:ext cx="169918" cy="4610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ky-KG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GB" sz="1600" b="1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A26A7E0-3E52-04EB-F48D-947871ED07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0481" y="2403701"/>
                <a:ext cx="169918" cy="461024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D59B6AB-C6CA-4BCF-039D-9CABBFE37B62}"/>
                  </a:ext>
                </a:extLst>
              </p:cNvPr>
              <p:cNvSpPr txBox="1"/>
              <p:nvPr/>
            </p:nvSpPr>
            <p:spPr>
              <a:xfrm>
                <a:off x="7846712" y="2543976"/>
                <a:ext cx="57066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61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D59B6AB-C6CA-4BCF-039D-9CABBFE37B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6712" y="2543976"/>
                <a:ext cx="570669" cy="307777"/>
              </a:xfrm>
              <a:prstGeom prst="rect">
                <a:avLst/>
              </a:prstGeom>
              <a:blipFill>
                <a:blip r:embed="rId32"/>
                <a:stretch>
                  <a:fillRect l="-9574" r="-10638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04AB6A7-26E2-2D66-498B-42B80E888EE6}"/>
                  </a:ext>
                </a:extLst>
              </p:cNvPr>
              <p:cNvSpPr txBox="1"/>
              <p:nvPr/>
            </p:nvSpPr>
            <p:spPr>
              <a:xfrm>
                <a:off x="6361484" y="3023056"/>
                <a:ext cx="470959" cy="46102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04AB6A7-26E2-2D66-498B-42B80E888E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1484" y="3023056"/>
                <a:ext cx="470959" cy="461024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27765FC-4F62-BBC7-4ABC-8DE684BF3671}"/>
                  </a:ext>
                </a:extLst>
              </p:cNvPr>
              <p:cNvSpPr txBox="1"/>
              <p:nvPr/>
            </p:nvSpPr>
            <p:spPr>
              <a:xfrm>
                <a:off x="7182458" y="3023056"/>
                <a:ext cx="361092" cy="46172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27765FC-4F62-BBC7-4ABC-8DE684BF36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2458" y="3023056"/>
                <a:ext cx="361092" cy="461729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E4E4A1F-F6AA-676B-EAFE-24E9887F11BC}"/>
                  </a:ext>
                </a:extLst>
              </p:cNvPr>
              <p:cNvSpPr txBox="1"/>
              <p:nvPr/>
            </p:nvSpPr>
            <p:spPr>
              <a:xfrm>
                <a:off x="7929467" y="3119603"/>
                <a:ext cx="32541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ky-KG" sz="2000" dirty="0"/>
                  <a:t>9</a:t>
                </a:r>
                <a:endParaRPr lang="en-GB" sz="2000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E4E4A1F-F6AA-676B-EAFE-24E9887F11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9467" y="3119603"/>
                <a:ext cx="325410" cy="307777"/>
              </a:xfrm>
              <a:prstGeom prst="rect">
                <a:avLst/>
              </a:prstGeom>
              <a:blipFill>
                <a:blip r:embed="rId35"/>
                <a:stretch>
                  <a:fillRect l="-28302" t="-26000" r="-47170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D4DFC96-53DA-23B8-0F5B-BE33CF50695C}"/>
                  </a:ext>
                </a:extLst>
              </p:cNvPr>
              <p:cNvSpPr txBox="1"/>
              <p:nvPr/>
            </p:nvSpPr>
            <p:spPr>
              <a:xfrm>
                <a:off x="6758875" y="4546794"/>
                <a:ext cx="570669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D4DFC96-53DA-23B8-0F5B-BE33CF506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8875" y="4546794"/>
                <a:ext cx="570669" cy="307777"/>
              </a:xfrm>
              <a:prstGeom prst="rect">
                <a:avLst/>
              </a:prstGeom>
              <a:blipFill>
                <a:blip r:embed="rId36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A462996-0805-C2F0-92E0-44ABDFD3DEE3}"/>
                  </a:ext>
                </a:extLst>
              </p:cNvPr>
              <p:cNvSpPr txBox="1"/>
              <p:nvPr/>
            </p:nvSpPr>
            <p:spPr>
              <a:xfrm>
                <a:off x="7437516" y="4453180"/>
                <a:ext cx="405859" cy="46172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A462996-0805-C2F0-92E0-44ABDFD3DE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7516" y="4453180"/>
                <a:ext cx="405859" cy="461729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B947B07-B36E-E2E2-8366-2428ABE53D74}"/>
                  </a:ext>
                </a:extLst>
              </p:cNvPr>
              <p:cNvSpPr txBox="1"/>
              <p:nvPr/>
            </p:nvSpPr>
            <p:spPr>
              <a:xfrm>
                <a:off x="8118385" y="4449847"/>
                <a:ext cx="298996" cy="46102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B947B07-B36E-E2E2-8366-2428ABE53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8385" y="4449847"/>
                <a:ext cx="298996" cy="461024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4895970D-AAB5-B8AA-DA0E-91C08B297774}"/>
              </a:ext>
            </a:extLst>
          </p:cNvPr>
          <p:cNvSpPr txBox="1"/>
          <p:nvPr/>
        </p:nvSpPr>
        <p:spPr>
          <a:xfrm>
            <a:off x="6728241" y="5006742"/>
            <a:ext cx="45365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y-KG" sz="2000" dirty="0"/>
              <a:t>0,33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4" name="TextBox 223">
                <a:extLst>
                  <a:ext uri="{FF2B5EF4-FFF2-40B4-BE49-F238E27FC236}">
                    <a16:creationId xmlns:a16="http://schemas.microsoft.com/office/drawing/2014/main" id="{E430E956-4CC4-8E6F-3801-3EA889C0767A}"/>
                  </a:ext>
                </a:extLst>
              </p:cNvPr>
              <p:cNvSpPr txBox="1"/>
              <p:nvPr/>
            </p:nvSpPr>
            <p:spPr>
              <a:xfrm>
                <a:off x="7419721" y="4951871"/>
                <a:ext cx="441448" cy="4626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224" name="TextBox 223">
                <a:extLst>
                  <a:ext uri="{FF2B5EF4-FFF2-40B4-BE49-F238E27FC236}">
                    <a16:creationId xmlns:a16="http://schemas.microsoft.com/office/drawing/2014/main" id="{E430E956-4CC4-8E6F-3801-3EA889C076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9721" y="4951871"/>
                <a:ext cx="441448" cy="462627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82971691-540F-7A14-D5E2-5A23C565F1F3}"/>
                  </a:ext>
                </a:extLst>
              </p:cNvPr>
              <p:cNvSpPr txBox="1"/>
              <p:nvPr/>
            </p:nvSpPr>
            <p:spPr>
              <a:xfrm>
                <a:off x="8175901" y="4947949"/>
                <a:ext cx="274114" cy="4617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82971691-540F-7A14-D5E2-5A23C565F1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5901" y="4947949"/>
                <a:ext cx="274114" cy="461729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332F8413-4C8D-EFEB-1FA3-3B84E032058E}"/>
                  </a:ext>
                </a:extLst>
              </p:cNvPr>
              <p:cNvSpPr txBox="1"/>
              <p:nvPr/>
            </p:nvSpPr>
            <p:spPr>
              <a:xfrm>
                <a:off x="6660458" y="5540563"/>
                <a:ext cx="570669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332F8413-4C8D-EFEB-1FA3-3B84E03205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458" y="5540563"/>
                <a:ext cx="570669" cy="307777"/>
              </a:xfrm>
              <a:prstGeom prst="rect">
                <a:avLst/>
              </a:prstGeom>
              <a:blipFill>
                <a:blip r:embed="rId41"/>
                <a:stretch>
                  <a:fillRect l="-10753" r="-10753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7B9F4933-AC1D-E1ED-6F9F-FD1190E73918}"/>
                  </a:ext>
                </a:extLst>
              </p:cNvPr>
              <p:cNvSpPr txBox="1"/>
              <p:nvPr/>
            </p:nvSpPr>
            <p:spPr>
              <a:xfrm>
                <a:off x="6650690" y="6071055"/>
                <a:ext cx="570669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7B9F4933-AC1D-E1ED-6F9F-FD1190E739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0690" y="6071055"/>
                <a:ext cx="570669" cy="307777"/>
              </a:xfrm>
              <a:prstGeom prst="rect">
                <a:avLst/>
              </a:prstGeom>
              <a:blipFill>
                <a:blip r:embed="rId42"/>
                <a:stretch>
                  <a:fillRect l="-10638" r="-9574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8" name="TextBox 227">
                <a:extLst>
                  <a:ext uri="{FF2B5EF4-FFF2-40B4-BE49-F238E27FC236}">
                    <a16:creationId xmlns:a16="http://schemas.microsoft.com/office/drawing/2014/main" id="{535A131B-AD20-10D4-89E9-0DDFA1554293}"/>
                  </a:ext>
                </a:extLst>
              </p:cNvPr>
              <p:cNvSpPr txBox="1"/>
              <p:nvPr/>
            </p:nvSpPr>
            <p:spPr>
              <a:xfrm>
                <a:off x="7419721" y="5532857"/>
                <a:ext cx="53860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62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228" name="TextBox 227">
                <a:extLst>
                  <a:ext uri="{FF2B5EF4-FFF2-40B4-BE49-F238E27FC236}">
                    <a16:creationId xmlns:a16="http://schemas.microsoft.com/office/drawing/2014/main" id="{535A131B-AD20-10D4-89E9-0DDFA1554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9721" y="5532857"/>
                <a:ext cx="538609" cy="307777"/>
              </a:xfrm>
              <a:prstGeom prst="rect">
                <a:avLst/>
              </a:prstGeom>
              <a:blipFill>
                <a:blip r:embed="rId43"/>
                <a:stretch>
                  <a:fillRect l="-15730" r="-4494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9" name="TextBox 228">
                <a:extLst>
                  <a:ext uri="{FF2B5EF4-FFF2-40B4-BE49-F238E27FC236}">
                    <a16:creationId xmlns:a16="http://schemas.microsoft.com/office/drawing/2014/main" id="{37E82BF8-89E1-7C4D-873F-223F775AC3D4}"/>
                  </a:ext>
                </a:extLst>
              </p:cNvPr>
              <p:cNvSpPr txBox="1"/>
              <p:nvPr/>
            </p:nvSpPr>
            <p:spPr>
              <a:xfrm>
                <a:off x="8085867" y="5447981"/>
                <a:ext cx="441448" cy="46102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>
          <p:sp>
            <p:nvSpPr>
              <p:cNvPr id="229" name="TextBox 228">
                <a:extLst>
                  <a:ext uri="{FF2B5EF4-FFF2-40B4-BE49-F238E27FC236}">
                    <a16:creationId xmlns:a16="http://schemas.microsoft.com/office/drawing/2014/main" id="{37E82BF8-89E1-7C4D-873F-223F775AC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5867" y="5447981"/>
                <a:ext cx="441448" cy="461024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0" name="TextBox 229">
                <a:extLst>
                  <a:ext uri="{FF2B5EF4-FFF2-40B4-BE49-F238E27FC236}">
                    <a16:creationId xmlns:a16="http://schemas.microsoft.com/office/drawing/2014/main" id="{A0613FDD-2451-B448-68BE-2204C2C216A8}"/>
                  </a:ext>
                </a:extLst>
              </p:cNvPr>
              <p:cNvSpPr txBox="1"/>
              <p:nvPr/>
            </p:nvSpPr>
            <p:spPr>
              <a:xfrm>
                <a:off x="7371140" y="6071054"/>
                <a:ext cx="53860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89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230" name="TextBox 229">
                <a:extLst>
                  <a:ext uri="{FF2B5EF4-FFF2-40B4-BE49-F238E27FC236}">
                    <a16:creationId xmlns:a16="http://schemas.microsoft.com/office/drawing/2014/main" id="{A0613FDD-2451-B448-68BE-2204C2C216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1140" y="6071054"/>
                <a:ext cx="538609" cy="307777"/>
              </a:xfrm>
              <a:prstGeom prst="rect">
                <a:avLst/>
              </a:prstGeom>
              <a:blipFill>
                <a:blip r:embed="rId45"/>
                <a:stretch>
                  <a:fillRect l="-10112" r="-10112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1" name="TextBox 230">
                <a:extLst>
                  <a:ext uri="{FF2B5EF4-FFF2-40B4-BE49-F238E27FC236}">
                    <a16:creationId xmlns:a16="http://schemas.microsoft.com/office/drawing/2014/main" id="{FD588FB9-4F94-2EF9-A912-46E02CA436FA}"/>
                  </a:ext>
                </a:extLst>
              </p:cNvPr>
              <p:cNvSpPr txBox="1"/>
              <p:nvPr/>
            </p:nvSpPr>
            <p:spPr>
              <a:xfrm>
                <a:off x="8047159" y="5937719"/>
                <a:ext cx="441448" cy="4626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19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>
          <p:sp>
            <p:nvSpPr>
              <p:cNvPr id="231" name="TextBox 230">
                <a:extLst>
                  <a:ext uri="{FF2B5EF4-FFF2-40B4-BE49-F238E27FC236}">
                    <a16:creationId xmlns:a16="http://schemas.microsoft.com/office/drawing/2014/main" id="{FD588FB9-4F94-2EF9-A912-46E02CA436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7159" y="5937719"/>
                <a:ext cx="441448" cy="462627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9254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2AAE91E9-0EE3-D8DF-8A63-90EE2488245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4478" y="87359"/>
                <a:ext cx="9650844" cy="6683282"/>
              </a:xfrm>
              <a:prstGeom prst="roundRect">
                <a:avLst>
                  <a:gd name="adj" fmla="val 5156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i="1" smtClean="0">
                          <a:latin typeface="Cambria Math" panose="02040503050406030204" pitchFamily="18" charset="0"/>
                        </a:rPr>
                        <m:t>0.801</m:t>
                      </m:r>
                    </m:oMath>
                  </m:oMathPara>
                </a14:m>
                <a:endParaRPr lang="en-GB" sz="1950" dirty="0"/>
              </a:p>
            </p:txBody>
          </p:sp>
        </mc:Choice>
        <mc:Fallback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2AAE91E9-0EE3-D8DF-8A63-90EE248824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78" y="87359"/>
                <a:ext cx="9650844" cy="6683282"/>
              </a:xfrm>
              <a:prstGeom prst="roundRect">
                <a:avLst>
                  <a:gd name="adj" fmla="val 5156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F404E514-B434-C59C-D16B-AFEC68D6A8F9}"/>
              </a:ext>
            </a:extLst>
          </p:cNvPr>
          <p:cNvSpPr txBox="1"/>
          <p:nvPr/>
        </p:nvSpPr>
        <p:spPr>
          <a:xfrm>
            <a:off x="3152465" y="5089375"/>
            <a:ext cx="45365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y-KG" sz="2000" dirty="0"/>
              <a:t>0,33</a:t>
            </a:r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BCD862-46E4-4492-865D-6160824323ED}"/>
              </a:ext>
            </a:extLst>
          </p:cNvPr>
          <p:cNvSpPr txBox="1"/>
          <p:nvPr/>
        </p:nvSpPr>
        <p:spPr>
          <a:xfrm>
            <a:off x="966049" y="1212607"/>
            <a:ext cx="44242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y-KG" sz="2000" dirty="0"/>
              <a:t>80%</a:t>
            </a:r>
            <a:endParaRPr lang="en-GB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65E776C-A6C9-7417-52C7-A9D451FE64D7}"/>
                  </a:ext>
                </a:extLst>
              </p:cNvPr>
              <p:cNvSpPr txBox="1"/>
              <p:nvPr/>
            </p:nvSpPr>
            <p:spPr>
              <a:xfrm>
                <a:off x="1869081" y="1237697"/>
                <a:ext cx="570669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0.3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65E776C-A6C9-7417-52C7-A9D451FE64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9081" y="1237697"/>
                <a:ext cx="570669" cy="307777"/>
              </a:xfrm>
              <a:prstGeom prst="rect">
                <a:avLst/>
              </a:prstGeom>
              <a:blipFill>
                <a:blip r:embed="rId3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D1FCE9C-4FC5-1622-9467-00F4A597CE9D}"/>
                  </a:ext>
                </a:extLst>
              </p:cNvPr>
              <p:cNvSpPr txBox="1"/>
              <p:nvPr/>
            </p:nvSpPr>
            <p:spPr>
              <a:xfrm>
                <a:off x="305366" y="1172367"/>
                <a:ext cx="26129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ky-KG" sz="2000" b="1" dirty="0"/>
                  <a:t>А</a:t>
                </a:r>
                <a14:m>
                  <m:oMath xmlns:m="http://schemas.openxmlformats.org/officeDocument/2006/math"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0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D1FCE9C-4FC5-1622-9467-00F4A597CE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366" y="1172367"/>
                <a:ext cx="261290" cy="307777"/>
              </a:xfrm>
              <a:prstGeom prst="rect">
                <a:avLst/>
              </a:prstGeom>
              <a:blipFill>
                <a:blip r:embed="rId4"/>
                <a:stretch>
                  <a:fillRect l="-58140" t="-25490" r="-44186" b="-49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871A154-287E-E34F-ED1F-7723EAF8205E}"/>
                  </a:ext>
                </a:extLst>
              </p:cNvPr>
              <p:cNvSpPr txBox="1"/>
              <p:nvPr/>
            </p:nvSpPr>
            <p:spPr>
              <a:xfrm>
                <a:off x="918737" y="1871589"/>
                <a:ext cx="441448" cy="5761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871A154-287E-E34F-ED1F-7723EAF820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737" y="1871589"/>
                <a:ext cx="441448" cy="5761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1CC81A2-332C-05D9-DF90-D02B1C23CDA8}"/>
                  </a:ext>
                </a:extLst>
              </p:cNvPr>
              <p:cNvSpPr txBox="1"/>
              <p:nvPr/>
            </p:nvSpPr>
            <p:spPr>
              <a:xfrm>
                <a:off x="1739331" y="1962124"/>
                <a:ext cx="777411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0.64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1CC81A2-332C-05D9-DF90-D02B1C23C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9331" y="1962124"/>
                <a:ext cx="777411" cy="307777"/>
              </a:xfrm>
              <a:prstGeom prst="rect">
                <a:avLst/>
              </a:prstGeom>
              <a:blipFill>
                <a:blip r:embed="rId6"/>
                <a:stretch>
                  <a:fillRect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9F37CA45-CE1E-90E9-912B-F4DC31C3D76A}"/>
              </a:ext>
            </a:extLst>
          </p:cNvPr>
          <p:cNvSpPr txBox="1"/>
          <p:nvPr/>
        </p:nvSpPr>
        <p:spPr>
          <a:xfrm>
            <a:off x="1836289" y="3473104"/>
            <a:ext cx="58349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y-KG" sz="2000" dirty="0"/>
              <a:t>0,805</a:t>
            </a:r>
            <a:endParaRPr lang="en-GB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3CDCED-C8CC-B21F-DE6A-25867EF4EAEF}"/>
                  </a:ext>
                </a:extLst>
              </p:cNvPr>
              <p:cNvSpPr txBox="1"/>
              <p:nvPr/>
            </p:nvSpPr>
            <p:spPr>
              <a:xfrm>
                <a:off x="932681" y="3459433"/>
                <a:ext cx="57066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33%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3CDCED-C8CC-B21F-DE6A-25867EF4EA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681" y="3459433"/>
                <a:ext cx="570669" cy="307777"/>
              </a:xfrm>
              <a:prstGeom prst="rect">
                <a:avLst/>
              </a:prstGeom>
              <a:blipFill>
                <a:blip r:embed="rId7"/>
                <a:stretch>
                  <a:fillRect l="-11702" r="-9574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1C2D65A-59DD-CB2B-7CA6-C49FACA6465B}"/>
                  </a:ext>
                </a:extLst>
              </p:cNvPr>
              <p:cNvSpPr txBox="1"/>
              <p:nvPr/>
            </p:nvSpPr>
            <p:spPr>
              <a:xfrm>
                <a:off x="190679" y="4189217"/>
                <a:ext cx="24846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ky-KG" sz="2000" b="1" dirty="0"/>
                  <a:t>Б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000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1C2D65A-59DD-CB2B-7CA6-C49FACA646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679" y="4189217"/>
                <a:ext cx="248466" cy="307777"/>
              </a:xfrm>
              <a:prstGeom prst="rect">
                <a:avLst/>
              </a:prstGeom>
              <a:blipFill>
                <a:blip r:embed="rId8"/>
                <a:stretch>
                  <a:fillRect l="-60976" t="-25490" r="-46341" b="-49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BAF77D5-B49D-F8FA-82F8-1E9A54507419}"/>
                  </a:ext>
                </a:extLst>
              </p:cNvPr>
              <p:cNvSpPr txBox="1"/>
              <p:nvPr/>
            </p:nvSpPr>
            <p:spPr>
              <a:xfrm>
                <a:off x="3105126" y="1237697"/>
                <a:ext cx="57066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55%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BAF77D5-B49D-F8FA-82F8-1E9A545074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5126" y="1237697"/>
                <a:ext cx="570669" cy="307777"/>
              </a:xfrm>
              <a:prstGeom prst="rect">
                <a:avLst/>
              </a:prstGeom>
              <a:blipFill>
                <a:blip r:embed="rId9"/>
                <a:stretch>
                  <a:fillRect l="-11702" r="-10638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EEA4CE8-86CD-2D21-74CC-8C595DE0680C}"/>
              </a:ext>
            </a:extLst>
          </p:cNvPr>
          <p:cNvCxnSpPr>
            <a:cxnSpLocks/>
          </p:cNvCxnSpPr>
          <p:nvPr/>
        </p:nvCxnSpPr>
        <p:spPr>
          <a:xfrm>
            <a:off x="6159985" y="1344752"/>
            <a:ext cx="1859823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A6625ED-3211-2042-94F6-A43660C05FBD}"/>
              </a:ext>
            </a:extLst>
          </p:cNvPr>
          <p:cNvCxnSpPr>
            <a:cxnSpLocks/>
          </p:cNvCxnSpPr>
          <p:nvPr/>
        </p:nvCxnSpPr>
        <p:spPr>
          <a:xfrm>
            <a:off x="5129018" y="1545474"/>
            <a:ext cx="0" cy="1502104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3AF7D2B-7329-3D6D-F54E-5C3D90A90320}"/>
              </a:ext>
            </a:extLst>
          </p:cNvPr>
          <p:cNvSpPr txBox="1"/>
          <p:nvPr/>
        </p:nvSpPr>
        <p:spPr>
          <a:xfrm>
            <a:off x="4423696" y="1175464"/>
            <a:ext cx="1671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Эң кичинекей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DB191DE-4AB4-53E9-4F53-E5B825CF94F3}"/>
              </a:ext>
            </a:extLst>
          </p:cNvPr>
          <p:cNvSpPr txBox="1"/>
          <p:nvPr/>
        </p:nvSpPr>
        <p:spPr>
          <a:xfrm>
            <a:off x="8110207" y="1120860"/>
            <a:ext cx="1000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Эң чоң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F742980-225E-1577-2FAC-AC917827CDAC}"/>
              </a:ext>
            </a:extLst>
          </p:cNvPr>
          <p:cNvSpPr txBox="1"/>
          <p:nvPr/>
        </p:nvSpPr>
        <p:spPr>
          <a:xfrm>
            <a:off x="4628753" y="3164092"/>
            <a:ext cx="1000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Эң чоң</a:t>
            </a:r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4BBD19E-E846-F28E-D993-666F2BFB83D6}"/>
                  </a:ext>
                </a:extLst>
              </p:cNvPr>
              <p:cNvSpPr txBox="1"/>
              <p:nvPr/>
            </p:nvSpPr>
            <p:spPr>
              <a:xfrm>
                <a:off x="696385" y="4152265"/>
                <a:ext cx="350591" cy="5761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4BBD19E-E846-F28E-D993-666F2BFB83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385" y="4152265"/>
                <a:ext cx="350591" cy="57618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8FDCF35-3E9B-45E0-A0A0-A2FD982CCF7F}"/>
                  </a:ext>
                </a:extLst>
              </p:cNvPr>
              <p:cNvSpPr txBox="1"/>
              <p:nvPr/>
            </p:nvSpPr>
            <p:spPr>
              <a:xfrm>
                <a:off x="2074809" y="4374438"/>
                <a:ext cx="71333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101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8FDCF35-3E9B-45E0-A0A0-A2FD982CCF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4809" y="4374438"/>
                <a:ext cx="713337" cy="307777"/>
              </a:xfrm>
              <a:prstGeom prst="rect">
                <a:avLst/>
              </a:prstGeom>
              <a:blipFill>
                <a:blip r:embed="rId11"/>
                <a:stretch>
                  <a:fillRect l="-7692" r="-8547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8546F40-235E-D2D0-C88E-8FF561CFC456}"/>
                  </a:ext>
                </a:extLst>
              </p:cNvPr>
              <p:cNvSpPr txBox="1"/>
              <p:nvPr/>
            </p:nvSpPr>
            <p:spPr>
              <a:xfrm>
                <a:off x="2169033" y="4739596"/>
                <a:ext cx="441448" cy="5204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b="0" i="1" smtClean="0">
                              <a:latin typeface="Cambria Math" panose="02040503050406030204" pitchFamily="18" charset="0"/>
                            </a:rPr>
                            <m:t>19</m:t>
                          </m:r>
                        </m:num>
                        <m:den>
                          <m:r>
                            <a:rPr lang="ky-KG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8546F40-235E-D2D0-C88E-8FF561CFC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9033" y="4739596"/>
                <a:ext cx="441448" cy="52046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CDB8029-67FF-DCD1-5D67-705C0D375485}"/>
                  </a:ext>
                </a:extLst>
              </p:cNvPr>
              <p:cNvSpPr txBox="1"/>
              <p:nvPr/>
            </p:nvSpPr>
            <p:spPr>
              <a:xfrm>
                <a:off x="3133728" y="5571697"/>
                <a:ext cx="57066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67%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CDB8029-67FF-DCD1-5D67-705C0D3754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3728" y="5571697"/>
                <a:ext cx="570669" cy="307777"/>
              </a:xfrm>
              <a:prstGeom prst="rect">
                <a:avLst/>
              </a:prstGeom>
              <a:blipFill>
                <a:blip r:embed="rId13"/>
                <a:stretch>
                  <a:fillRect l="-10638" r="-10638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B99665C-1D16-F753-2C61-4DDD25D700FF}"/>
                  </a:ext>
                </a:extLst>
              </p:cNvPr>
              <p:cNvSpPr txBox="1"/>
              <p:nvPr/>
            </p:nvSpPr>
            <p:spPr>
              <a:xfrm>
                <a:off x="3133728" y="4336658"/>
                <a:ext cx="485710" cy="578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123</m:t>
                          </m:r>
                        </m:num>
                        <m:den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200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B99665C-1D16-F753-2C61-4DDD25D700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3728" y="4336658"/>
                <a:ext cx="485710" cy="57817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F2F6333-5274-E280-AD51-352FED1684B5}"/>
                  </a:ext>
                </a:extLst>
              </p:cNvPr>
              <p:cNvSpPr txBox="1"/>
              <p:nvPr/>
            </p:nvSpPr>
            <p:spPr>
              <a:xfrm>
                <a:off x="3009452" y="1962124"/>
                <a:ext cx="570667" cy="5761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num>
                        <m:den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F2F6333-5274-E280-AD51-352FED168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9452" y="1962124"/>
                <a:ext cx="570667" cy="576183"/>
              </a:xfrm>
              <a:prstGeom prst="rect">
                <a:avLst/>
              </a:prstGeom>
              <a:blipFill>
                <a:blip r:embed="rId16"/>
                <a:stretch>
                  <a:fillRect b="-10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6BF09CA-20E4-346B-70C2-E63AF43D2816}"/>
                  </a:ext>
                </a:extLst>
              </p:cNvPr>
              <p:cNvSpPr txBox="1"/>
              <p:nvPr/>
            </p:nvSpPr>
            <p:spPr>
              <a:xfrm>
                <a:off x="530645" y="4959614"/>
                <a:ext cx="68127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0.801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6BF09CA-20E4-346B-70C2-E63AF43D28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645" y="4959614"/>
                <a:ext cx="681277" cy="307777"/>
              </a:xfrm>
              <a:prstGeom prst="rect">
                <a:avLst/>
              </a:prstGeom>
              <a:blipFill>
                <a:blip r:embed="rId17"/>
                <a:stretch>
                  <a:fillRect l="-12500" r="-3571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8B0C9EF-2D28-6361-FFEF-245115DC91A5}"/>
                  </a:ext>
                </a:extLst>
              </p:cNvPr>
              <p:cNvSpPr txBox="1"/>
              <p:nvPr/>
            </p:nvSpPr>
            <p:spPr>
              <a:xfrm>
                <a:off x="693491" y="5416157"/>
                <a:ext cx="200375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8B0C9EF-2D28-6361-FFEF-245115DC91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491" y="5416157"/>
                <a:ext cx="200375" cy="57823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5C8EBD24-7791-320C-CD6D-A9AF46B8BD55}"/>
              </a:ext>
            </a:extLst>
          </p:cNvPr>
          <p:cNvSpPr txBox="1"/>
          <p:nvPr/>
        </p:nvSpPr>
        <p:spPr>
          <a:xfrm>
            <a:off x="7732631" y="3689095"/>
            <a:ext cx="1534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Эң чоңу</a:t>
            </a:r>
            <a:endParaRPr lang="en-US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91950F2-C49B-8457-C8B9-D54965841596}"/>
              </a:ext>
            </a:extLst>
          </p:cNvPr>
          <p:cNvCxnSpPr>
            <a:cxnSpLocks/>
          </p:cNvCxnSpPr>
          <p:nvPr/>
        </p:nvCxnSpPr>
        <p:spPr>
          <a:xfrm>
            <a:off x="5784323" y="4374438"/>
            <a:ext cx="1772251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22057F1-6D4B-49A7-7628-9CD40BD5BAE2}"/>
              </a:ext>
            </a:extLst>
          </p:cNvPr>
          <p:cNvCxnSpPr>
            <a:cxnSpLocks/>
          </p:cNvCxnSpPr>
          <p:nvPr/>
        </p:nvCxnSpPr>
        <p:spPr>
          <a:xfrm>
            <a:off x="5284059" y="4646100"/>
            <a:ext cx="0" cy="1502104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8E160AD7-8D22-BD28-3ACB-B9C83F28C3E6}"/>
              </a:ext>
            </a:extLst>
          </p:cNvPr>
          <p:cNvSpPr txBox="1"/>
          <p:nvPr/>
        </p:nvSpPr>
        <p:spPr>
          <a:xfrm>
            <a:off x="4207287" y="4086447"/>
            <a:ext cx="1843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Эң кичинекей</a:t>
            </a:r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CAD01B4-7C62-2B6E-8844-BD880EECC803}"/>
              </a:ext>
            </a:extLst>
          </p:cNvPr>
          <p:cNvSpPr txBox="1"/>
          <p:nvPr/>
        </p:nvSpPr>
        <p:spPr>
          <a:xfrm>
            <a:off x="7739188" y="4094259"/>
            <a:ext cx="1000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Эң чоң</a:t>
            </a:r>
            <a:endParaRPr lang="en-US" dirty="0"/>
          </a:p>
          <a:p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712A5B8-5F4D-7D68-6016-D9EF7DDBB2CE}"/>
              </a:ext>
            </a:extLst>
          </p:cNvPr>
          <p:cNvSpPr txBox="1"/>
          <p:nvPr/>
        </p:nvSpPr>
        <p:spPr>
          <a:xfrm>
            <a:off x="4845354" y="6225029"/>
            <a:ext cx="1000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Эң чоң</a:t>
            </a:r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72D939A-84A0-CF9D-336C-85D1FC547B54}"/>
                  </a:ext>
                </a:extLst>
              </p:cNvPr>
              <p:cNvSpPr txBox="1"/>
              <p:nvPr/>
            </p:nvSpPr>
            <p:spPr>
              <a:xfrm>
                <a:off x="3056879" y="3447482"/>
                <a:ext cx="343043" cy="5761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72D939A-84A0-CF9D-336C-85D1FC547B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6879" y="3447482"/>
                <a:ext cx="343043" cy="576183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0C988E9-A60E-925B-C274-E749D02DBC10}"/>
                  </a:ext>
                </a:extLst>
              </p:cNvPr>
              <p:cNvSpPr txBox="1"/>
              <p:nvPr/>
            </p:nvSpPr>
            <p:spPr>
              <a:xfrm>
                <a:off x="803874" y="2766858"/>
                <a:ext cx="777411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0.5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0C988E9-A60E-925B-C274-E749D02DBC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874" y="2766858"/>
                <a:ext cx="777411" cy="307777"/>
              </a:xfrm>
              <a:prstGeom prst="rect">
                <a:avLst/>
              </a:prstGeom>
              <a:blipFill>
                <a:blip r:embed="rId22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9A5F294-C23B-50DD-6204-C447971C1CE1}"/>
                  </a:ext>
                </a:extLst>
              </p:cNvPr>
              <p:cNvSpPr txBox="1"/>
              <p:nvPr/>
            </p:nvSpPr>
            <p:spPr>
              <a:xfrm>
                <a:off x="1768828" y="2615436"/>
                <a:ext cx="570667" cy="5781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9A5F294-C23B-50DD-6204-C447971C1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8828" y="2615436"/>
                <a:ext cx="570667" cy="57817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7DE36AF-04CC-E8EA-2959-EB4832E7FD22}"/>
                  </a:ext>
                </a:extLst>
              </p:cNvPr>
              <p:cNvSpPr txBox="1"/>
              <p:nvPr/>
            </p:nvSpPr>
            <p:spPr>
              <a:xfrm>
                <a:off x="2858597" y="2841950"/>
                <a:ext cx="777411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ky-KG" sz="2000" b="0" i="1" smtClean="0">
                        <a:latin typeface="Cambria Math" panose="02040503050406030204" pitchFamily="18" charset="0"/>
                      </a:rPr>
                      <m:t>0.0</m:t>
                    </m:r>
                  </m:oMath>
                </a14:m>
                <a:r>
                  <a:rPr lang="ky-KG" sz="2000" dirty="0"/>
                  <a:t>5</a:t>
                </a:r>
                <a:endParaRPr lang="en-GB" sz="2000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7DE36AF-04CC-E8EA-2959-EB4832E7FD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8597" y="2841950"/>
                <a:ext cx="777411" cy="307777"/>
              </a:xfrm>
              <a:prstGeom prst="rect">
                <a:avLst/>
              </a:prstGeom>
              <a:blipFill>
                <a:blip r:embed="rId24"/>
                <a:stretch>
                  <a:fillRect t="-25490" b="-49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54392DB-1E98-B831-FB3C-4263C83E0341}"/>
                  </a:ext>
                </a:extLst>
              </p:cNvPr>
              <p:cNvSpPr txBox="1"/>
              <p:nvPr/>
            </p:nvSpPr>
            <p:spPr>
              <a:xfrm>
                <a:off x="1257535" y="4209547"/>
                <a:ext cx="628377" cy="5845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54392DB-1E98-B831-FB3C-4263C83E03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535" y="4209547"/>
                <a:ext cx="628377" cy="584519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33A2D95-E62D-5245-2742-13273007C005}"/>
                  </a:ext>
                </a:extLst>
              </p:cNvPr>
              <p:cNvSpPr txBox="1"/>
              <p:nvPr/>
            </p:nvSpPr>
            <p:spPr>
              <a:xfrm>
                <a:off x="1482914" y="4999212"/>
                <a:ext cx="42800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7%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33A2D95-E62D-5245-2742-13273007C0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2914" y="4999212"/>
                <a:ext cx="428002" cy="307777"/>
              </a:xfrm>
              <a:prstGeom prst="rect">
                <a:avLst/>
              </a:prstGeom>
              <a:blipFill>
                <a:blip r:embed="rId26"/>
                <a:stretch>
                  <a:fillRect l="-21429" r="-8571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78F5968-1D32-47F0-A9E4-7C92FD4D17C6}"/>
                  </a:ext>
                </a:extLst>
              </p:cNvPr>
              <p:cNvSpPr txBox="1"/>
              <p:nvPr/>
            </p:nvSpPr>
            <p:spPr>
              <a:xfrm>
                <a:off x="2307600" y="5446908"/>
                <a:ext cx="200375" cy="578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78F5968-1D32-47F0-A9E4-7C92FD4D17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7600" y="5446908"/>
                <a:ext cx="200375" cy="57817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B04B4A5-FCA8-EED4-5999-E61541C9B8E3}"/>
                  </a:ext>
                </a:extLst>
              </p:cNvPr>
              <p:cNvSpPr txBox="1"/>
              <p:nvPr/>
            </p:nvSpPr>
            <p:spPr>
              <a:xfrm>
                <a:off x="551601" y="6211928"/>
                <a:ext cx="53860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1.04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B04B4A5-FCA8-EED4-5999-E61541C9B8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601" y="6211928"/>
                <a:ext cx="538609" cy="307777"/>
              </a:xfrm>
              <a:prstGeom prst="rect">
                <a:avLst/>
              </a:prstGeom>
              <a:blipFill>
                <a:blip r:embed="rId28"/>
                <a:stretch>
                  <a:fillRect l="-15730" r="-4494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F9B2C61-B46B-E90E-75DC-9C6178E384F5}"/>
                  </a:ext>
                </a:extLst>
              </p:cNvPr>
              <p:cNvSpPr txBox="1"/>
              <p:nvPr/>
            </p:nvSpPr>
            <p:spPr>
              <a:xfrm>
                <a:off x="1387676" y="6199553"/>
                <a:ext cx="53860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0.06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F9B2C61-B46B-E90E-75DC-9C6178E384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676" y="6199553"/>
                <a:ext cx="538609" cy="307777"/>
              </a:xfrm>
              <a:prstGeom prst="rect">
                <a:avLst/>
              </a:prstGeom>
              <a:blipFill>
                <a:blip r:embed="rId29"/>
                <a:stretch>
                  <a:fillRect l="-17045" r="-4545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3BE75EB-46A5-7709-E67C-B13D649D063B}"/>
                  </a:ext>
                </a:extLst>
              </p:cNvPr>
              <p:cNvSpPr txBox="1"/>
              <p:nvPr/>
            </p:nvSpPr>
            <p:spPr>
              <a:xfrm>
                <a:off x="2163170" y="6193442"/>
                <a:ext cx="76623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30.3%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3BE75EB-46A5-7709-E67C-B13D649D06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3170" y="6193442"/>
                <a:ext cx="766235" cy="307777"/>
              </a:xfrm>
              <a:prstGeom prst="rect">
                <a:avLst/>
              </a:prstGeom>
              <a:blipFill>
                <a:blip r:embed="rId30"/>
                <a:stretch>
                  <a:fillRect l="-11111" r="-4762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971ACB2E-8DE3-FCC1-A29B-7956D06268B5}"/>
                  </a:ext>
                </a:extLst>
              </p:cNvPr>
              <p:cNvSpPr txBox="1"/>
              <p:nvPr/>
            </p:nvSpPr>
            <p:spPr>
              <a:xfrm>
                <a:off x="3177990" y="5994392"/>
                <a:ext cx="441448" cy="5781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971ACB2E-8DE3-FCC1-A29B-7956D06268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7990" y="5994392"/>
                <a:ext cx="441448" cy="57817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AC1274E4-5B0F-D1B0-0E01-14CD47518A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0375708"/>
              </p:ext>
            </p:extLst>
          </p:nvPr>
        </p:nvGraphicFramePr>
        <p:xfrm>
          <a:off x="5617260" y="1532331"/>
          <a:ext cx="2964990" cy="2026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8330">
                  <a:extLst>
                    <a:ext uri="{9D8B030D-6E8A-4147-A177-3AD203B41FA5}">
                      <a16:colId xmlns:a16="http://schemas.microsoft.com/office/drawing/2014/main" val="696380963"/>
                    </a:ext>
                  </a:extLst>
                </a:gridCol>
                <a:gridCol w="988330">
                  <a:extLst>
                    <a:ext uri="{9D8B030D-6E8A-4147-A177-3AD203B41FA5}">
                      <a16:colId xmlns:a16="http://schemas.microsoft.com/office/drawing/2014/main" val="3207365101"/>
                    </a:ext>
                  </a:extLst>
                </a:gridCol>
                <a:gridCol w="988330">
                  <a:extLst>
                    <a:ext uri="{9D8B030D-6E8A-4147-A177-3AD203B41FA5}">
                      <a16:colId xmlns:a16="http://schemas.microsoft.com/office/drawing/2014/main" val="2637960292"/>
                    </a:ext>
                  </a:extLst>
                </a:gridCol>
              </a:tblGrid>
              <a:tr h="50668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8300616"/>
                  </a:ext>
                </a:extLst>
              </a:tr>
              <a:tr h="50668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906360"/>
                  </a:ext>
                </a:extLst>
              </a:tr>
              <a:tr h="50668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23159"/>
                  </a:ext>
                </a:extLst>
              </a:tr>
              <a:tr h="50668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0210018"/>
                  </a:ext>
                </a:extLst>
              </a:tr>
            </a:tbl>
          </a:graphicData>
        </a:graphic>
      </p:graphicFrame>
      <p:graphicFrame>
        <p:nvGraphicFramePr>
          <p:cNvPr id="61" name="Table 60">
            <a:extLst>
              <a:ext uri="{FF2B5EF4-FFF2-40B4-BE49-F238E27FC236}">
                <a16:creationId xmlns:a16="http://schemas.microsoft.com/office/drawing/2014/main" id="{21056388-63C4-6B4B-C298-76849D1FC9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0441606"/>
              </p:ext>
            </p:extLst>
          </p:nvPr>
        </p:nvGraphicFramePr>
        <p:xfrm>
          <a:off x="5734333" y="4484032"/>
          <a:ext cx="2888012" cy="19890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2003">
                  <a:extLst>
                    <a:ext uri="{9D8B030D-6E8A-4147-A177-3AD203B41FA5}">
                      <a16:colId xmlns:a16="http://schemas.microsoft.com/office/drawing/2014/main" val="760089138"/>
                    </a:ext>
                  </a:extLst>
                </a:gridCol>
                <a:gridCol w="722003">
                  <a:extLst>
                    <a:ext uri="{9D8B030D-6E8A-4147-A177-3AD203B41FA5}">
                      <a16:colId xmlns:a16="http://schemas.microsoft.com/office/drawing/2014/main" val="1482244886"/>
                    </a:ext>
                  </a:extLst>
                </a:gridCol>
                <a:gridCol w="722003">
                  <a:extLst>
                    <a:ext uri="{9D8B030D-6E8A-4147-A177-3AD203B41FA5}">
                      <a16:colId xmlns:a16="http://schemas.microsoft.com/office/drawing/2014/main" val="499573329"/>
                    </a:ext>
                  </a:extLst>
                </a:gridCol>
                <a:gridCol w="722003">
                  <a:extLst>
                    <a:ext uri="{9D8B030D-6E8A-4147-A177-3AD203B41FA5}">
                      <a16:colId xmlns:a16="http://schemas.microsoft.com/office/drawing/2014/main" val="3101839307"/>
                    </a:ext>
                  </a:extLst>
                </a:gridCol>
              </a:tblGrid>
              <a:tr h="49727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3702225"/>
                  </a:ext>
                </a:extLst>
              </a:tr>
              <a:tr h="49727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05804"/>
                  </a:ext>
                </a:extLst>
              </a:tr>
              <a:tr h="49727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1882605"/>
                  </a:ext>
                </a:extLst>
              </a:tr>
              <a:tr h="49727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178504"/>
                  </a:ext>
                </a:extLst>
              </a:tr>
            </a:tbl>
          </a:graphicData>
        </a:graphic>
      </p:graphicFrame>
      <p:sp>
        <p:nvSpPr>
          <p:cNvPr id="62" name="TextBox 61">
            <a:extLst>
              <a:ext uri="{FF2B5EF4-FFF2-40B4-BE49-F238E27FC236}">
                <a16:creationId xmlns:a16="http://schemas.microsoft.com/office/drawing/2014/main" id="{94F61160-71AF-C4D0-223F-C21BAFC431AA}"/>
              </a:ext>
            </a:extLst>
          </p:cNvPr>
          <p:cNvSpPr txBox="1"/>
          <p:nvPr/>
        </p:nvSpPr>
        <p:spPr>
          <a:xfrm>
            <a:off x="9040113" y="178799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sz="2400" b="1" dirty="0"/>
          </a:p>
        </p:txBody>
      </p:sp>
      <p:pic>
        <p:nvPicPr>
          <p:cNvPr id="42" name="Graphic 41" descr="Cursor with solid fill">
            <a:extLst>
              <a:ext uri="{FF2B5EF4-FFF2-40B4-BE49-F238E27FC236}">
                <a16:creationId xmlns:a16="http://schemas.microsoft.com/office/drawing/2014/main" id="{3D8E7DC4-B6B9-944E-35BC-AC2C791C36E2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 rot="2422567">
            <a:off x="8271543" y="3352321"/>
            <a:ext cx="399005" cy="399005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CCA105E5-F75E-CC35-4677-584503B03AB5}"/>
              </a:ext>
            </a:extLst>
          </p:cNvPr>
          <p:cNvSpPr txBox="1"/>
          <p:nvPr/>
        </p:nvSpPr>
        <p:spPr>
          <a:xfrm>
            <a:off x="7767312" y="6518338"/>
            <a:ext cx="1534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Эң чоңу</a:t>
            </a:r>
            <a:endParaRPr lang="en-US" dirty="0"/>
          </a:p>
        </p:txBody>
      </p:sp>
      <p:pic>
        <p:nvPicPr>
          <p:cNvPr id="50" name="Graphic 49" descr="Cursor with solid fill">
            <a:extLst>
              <a:ext uri="{FF2B5EF4-FFF2-40B4-BE49-F238E27FC236}">
                <a16:creationId xmlns:a16="http://schemas.microsoft.com/office/drawing/2014/main" id="{1494DBC5-7EAE-141F-098E-2EB339815885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 rot="2422567">
            <a:off x="8300209" y="6272386"/>
            <a:ext cx="399005" cy="39900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BC07C63-7D35-563C-A1B4-108530E1E99B}"/>
              </a:ext>
            </a:extLst>
          </p:cNvPr>
          <p:cNvSpPr txBox="1"/>
          <p:nvPr/>
        </p:nvSpPr>
        <p:spPr>
          <a:xfrm>
            <a:off x="119904" y="577205"/>
            <a:ext cx="85491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dirty="0"/>
              <a:t>Ар бир сап жана ар бир тилке өсүү тартибинде (кичинеден чоңго карай) болушу үчүн бардык маанилерди бош торчого ирээттеңиз.</a:t>
            </a:r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340FD1-644D-04F1-7278-25EAF83D36D0}"/>
              </a:ext>
            </a:extLst>
          </p:cNvPr>
          <p:cNvSpPr txBox="1"/>
          <p:nvPr/>
        </p:nvSpPr>
        <p:spPr>
          <a:xfrm>
            <a:off x="1485810" y="215423"/>
            <a:ext cx="567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u="sng" dirty="0"/>
              <a:t>Бөлчөктөрдү, ондуктарды жана пайыздарды ирээттөө</a:t>
            </a:r>
            <a:endParaRPr lang="en-GB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7977163-A118-5A9D-CDB5-0E3026151129}"/>
                  </a:ext>
                </a:extLst>
              </p:cNvPr>
              <p:cNvSpPr txBox="1"/>
              <p:nvPr/>
            </p:nvSpPr>
            <p:spPr>
              <a:xfrm>
                <a:off x="5734333" y="1641775"/>
                <a:ext cx="777411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ky-KG" sz="2000" b="0" i="1" smtClean="0">
                        <a:latin typeface="Cambria Math" panose="02040503050406030204" pitchFamily="18" charset="0"/>
                      </a:rPr>
                      <m:t>0.0</m:t>
                    </m:r>
                  </m:oMath>
                </a14:m>
                <a:r>
                  <a:rPr lang="ky-KG" sz="2000" dirty="0"/>
                  <a:t>5</a:t>
                </a:r>
                <a:endParaRPr lang="en-GB" sz="20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7977163-A118-5A9D-CDB5-0E30261511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4333" y="1641775"/>
                <a:ext cx="777411" cy="307777"/>
              </a:xfrm>
              <a:prstGeom prst="rect">
                <a:avLst/>
              </a:prstGeom>
              <a:blipFill>
                <a:blip r:embed="rId34"/>
                <a:stretch>
                  <a:fillRect t="-25490" b="-49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0482234-59DC-7C96-087E-192C8259A7B3}"/>
                  </a:ext>
                </a:extLst>
              </p:cNvPr>
              <p:cNvSpPr txBox="1"/>
              <p:nvPr/>
            </p:nvSpPr>
            <p:spPr>
              <a:xfrm>
                <a:off x="6883916" y="1520830"/>
                <a:ext cx="441448" cy="4626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0482234-59DC-7C96-087E-192C8259A7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3916" y="1520830"/>
                <a:ext cx="441448" cy="462627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EA7C31B-C52C-DE5D-D543-03A8029DF83A}"/>
                  </a:ext>
                </a:extLst>
              </p:cNvPr>
              <p:cNvSpPr txBox="1"/>
              <p:nvPr/>
            </p:nvSpPr>
            <p:spPr>
              <a:xfrm>
                <a:off x="7813605" y="1613302"/>
                <a:ext cx="570669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0.3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EA7C31B-C52C-DE5D-D543-03A8029DF8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3605" y="1613302"/>
                <a:ext cx="570669" cy="307777"/>
              </a:xfrm>
              <a:prstGeom prst="rect">
                <a:avLst/>
              </a:prstGeom>
              <a:blipFill>
                <a:blip r:embed="rId36"/>
                <a:stretch>
                  <a:fillRect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B788E7-47E1-449A-89CC-1FF5D99B4820}"/>
                  </a:ext>
                </a:extLst>
              </p:cNvPr>
              <p:cNvSpPr txBox="1"/>
              <p:nvPr/>
            </p:nvSpPr>
            <p:spPr>
              <a:xfrm>
                <a:off x="5836622" y="2096326"/>
                <a:ext cx="57066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33%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B788E7-47E1-449A-89CC-1FF5D99B48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6622" y="2096326"/>
                <a:ext cx="570669" cy="307777"/>
              </a:xfrm>
              <a:prstGeom prst="rect">
                <a:avLst/>
              </a:prstGeom>
              <a:blipFill>
                <a:blip r:embed="rId37"/>
                <a:stretch>
                  <a:fillRect l="-10638" r="-10638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1545210-54ED-D571-6730-3C3CB7105001}"/>
                  </a:ext>
                </a:extLst>
              </p:cNvPr>
              <p:cNvSpPr txBox="1"/>
              <p:nvPr/>
            </p:nvSpPr>
            <p:spPr>
              <a:xfrm>
                <a:off x="6928232" y="2039253"/>
                <a:ext cx="441447" cy="4626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1545210-54ED-D571-6730-3C3CB71050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8232" y="2039253"/>
                <a:ext cx="441447" cy="462627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45E52FC-CF7F-B1DD-CF8C-6EE205404308}"/>
                  </a:ext>
                </a:extLst>
              </p:cNvPr>
              <p:cNvSpPr txBox="1"/>
              <p:nvPr/>
            </p:nvSpPr>
            <p:spPr>
              <a:xfrm>
                <a:off x="7723288" y="2174874"/>
                <a:ext cx="777411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0.5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45E52FC-CF7F-B1DD-CF8C-6EE2054043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3288" y="2174874"/>
                <a:ext cx="777411" cy="307777"/>
              </a:xfrm>
              <a:prstGeom prst="rect">
                <a:avLst/>
              </a:prstGeom>
              <a:blipFill>
                <a:blip r:embed="rId39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62A5238-0EB9-6618-64A5-E2C20A139353}"/>
                  </a:ext>
                </a:extLst>
              </p:cNvPr>
              <p:cNvSpPr txBox="1"/>
              <p:nvPr/>
            </p:nvSpPr>
            <p:spPr>
              <a:xfrm>
                <a:off x="5751914" y="2637643"/>
                <a:ext cx="57066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55%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62A5238-0EB9-6618-64A5-E2C20A1393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1914" y="2637643"/>
                <a:ext cx="570669" cy="307777"/>
              </a:xfrm>
              <a:prstGeom prst="rect">
                <a:avLst/>
              </a:prstGeom>
              <a:blipFill>
                <a:blip r:embed="rId40"/>
                <a:stretch>
                  <a:fillRect l="-11828" r="-11828" b="-1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ABEBFC2-F19B-7AE3-008C-D2A220CFCE50}"/>
                  </a:ext>
                </a:extLst>
              </p:cNvPr>
              <p:cNvSpPr txBox="1"/>
              <p:nvPr/>
            </p:nvSpPr>
            <p:spPr>
              <a:xfrm>
                <a:off x="6711049" y="2665154"/>
                <a:ext cx="777411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0.64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ABEBFC2-F19B-7AE3-008C-D2A220CFCE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1049" y="2665154"/>
                <a:ext cx="777411" cy="307777"/>
              </a:xfrm>
              <a:prstGeom prst="rect">
                <a:avLst/>
              </a:prstGeom>
              <a:blipFill>
                <a:blip r:embed="rId41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09D96E6-3AA0-20DC-261C-038DE876B604}"/>
                  </a:ext>
                </a:extLst>
              </p:cNvPr>
              <p:cNvSpPr txBox="1"/>
              <p:nvPr/>
            </p:nvSpPr>
            <p:spPr>
              <a:xfrm>
                <a:off x="7723288" y="2544097"/>
                <a:ext cx="570667" cy="4626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09D96E6-3AA0-20DC-261C-038DE876B6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3288" y="2544097"/>
                <a:ext cx="570667" cy="462627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Box 57">
            <a:extLst>
              <a:ext uri="{FF2B5EF4-FFF2-40B4-BE49-F238E27FC236}">
                <a16:creationId xmlns:a16="http://schemas.microsoft.com/office/drawing/2014/main" id="{ED19EAA6-2995-E2A1-CD2C-CCE2258983BF}"/>
              </a:ext>
            </a:extLst>
          </p:cNvPr>
          <p:cNvSpPr txBox="1"/>
          <p:nvPr/>
        </p:nvSpPr>
        <p:spPr>
          <a:xfrm>
            <a:off x="5925266" y="3132998"/>
            <a:ext cx="44242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y-KG" sz="2000" dirty="0"/>
              <a:t>80%</a:t>
            </a:r>
            <a:endParaRPr lang="en-GB" sz="20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392B031-B167-D950-9F1A-48D8257BEAF4}"/>
              </a:ext>
            </a:extLst>
          </p:cNvPr>
          <p:cNvSpPr txBox="1"/>
          <p:nvPr/>
        </p:nvSpPr>
        <p:spPr>
          <a:xfrm>
            <a:off x="6772709" y="3116716"/>
            <a:ext cx="58349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y-KG" sz="2000" dirty="0"/>
              <a:t>0,805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72CA944-FB1A-EB29-3921-D2B4DDB688AB}"/>
                  </a:ext>
                </a:extLst>
              </p:cNvPr>
              <p:cNvSpPr txBox="1"/>
              <p:nvPr/>
            </p:nvSpPr>
            <p:spPr>
              <a:xfrm>
                <a:off x="7754883" y="3060162"/>
                <a:ext cx="570667" cy="4626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num>
                        <m:den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72CA944-FB1A-EB29-3921-D2B4DDB688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4883" y="3060162"/>
                <a:ext cx="570667" cy="462627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35ED5043-6875-2BBF-C4E0-91B2351DF4B8}"/>
                  </a:ext>
                </a:extLst>
              </p:cNvPr>
              <p:cNvSpPr txBox="1"/>
              <p:nvPr/>
            </p:nvSpPr>
            <p:spPr>
              <a:xfrm>
                <a:off x="5856913" y="4625744"/>
                <a:ext cx="53860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0.06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35ED5043-6875-2BBF-C4E0-91B2351DF4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6913" y="4625744"/>
                <a:ext cx="538609" cy="307777"/>
              </a:xfrm>
              <a:prstGeom prst="rect">
                <a:avLst/>
              </a:prstGeom>
              <a:blipFill>
                <a:blip r:embed="rId44"/>
                <a:stretch>
                  <a:fillRect l="-15909" r="-5682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B4B1753E-0EC8-8C26-8413-CC123820AF73}"/>
                  </a:ext>
                </a:extLst>
              </p:cNvPr>
              <p:cNvSpPr txBox="1"/>
              <p:nvPr/>
            </p:nvSpPr>
            <p:spPr>
              <a:xfrm>
                <a:off x="6649721" y="4621390"/>
                <a:ext cx="42800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7%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B4B1753E-0EC8-8C26-8413-CC123820AF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9721" y="4621390"/>
                <a:ext cx="428002" cy="307777"/>
              </a:xfrm>
              <a:prstGeom prst="rect">
                <a:avLst/>
              </a:prstGeom>
              <a:blipFill>
                <a:blip r:embed="rId45"/>
                <a:stretch>
                  <a:fillRect l="-21429" r="-8571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FB625BC-FA28-972D-EEBF-F5EEFCF79FD5}"/>
                  </a:ext>
                </a:extLst>
              </p:cNvPr>
              <p:cNvSpPr txBox="1"/>
              <p:nvPr/>
            </p:nvSpPr>
            <p:spPr>
              <a:xfrm>
                <a:off x="7221548" y="4430696"/>
                <a:ext cx="501740" cy="4676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FB625BC-FA28-972D-EEBF-F5EEFCF79F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1548" y="4430696"/>
                <a:ext cx="501740" cy="467629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52B13E04-4D8C-9C7C-1FAD-95543E7B66D8}"/>
                  </a:ext>
                </a:extLst>
              </p:cNvPr>
              <p:cNvSpPr txBox="1"/>
              <p:nvPr/>
            </p:nvSpPr>
            <p:spPr>
              <a:xfrm>
                <a:off x="8024105" y="4427746"/>
                <a:ext cx="441448" cy="4626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52B13E04-4D8C-9C7C-1FAD-95543E7B66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4105" y="4427746"/>
                <a:ext cx="441448" cy="462627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3D086918-D12E-6539-182E-080AD25A3BA4}"/>
                  </a:ext>
                </a:extLst>
              </p:cNvPr>
              <p:cNvSpPr txBox="1"/>
              <p:nvPr/>
            </p:nvSpPr>
            <p:spPr>
              <a:xfrm>
                <a:off x="5776656" y="5035833"/>
                <a:ext cx="69089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b="0" i="1" smtClean="0">
                          <a:latin typeface="Cambria Math" panose="02040503050406030204" pitchFamily="18" charset="0"/>
                        </a:rPr>
                        <m:t>30.3%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3D086918-D12E-6539-182E-080AD25A3B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6656" y="5035833"/>
                <a:ext cx="690895" cy="276999"/>
              </a:xfrm>
              <a:prstGeom prst="rect">
                <a:avLst/>
              </a:prstGeom>
              <a:blipFill>
                <a:blip r:embed="rId48"/>
                <a:stretch>
                  <a:fillRect l="-11504" r="-5310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TextBox 69">
            <a:extLst>
              <a:ext uri="{FF2B5EF4-FFF2-40B4-BE49-F238E27FC236}">
                <a16:creationId xmlns:a16="http://schemas.microsoft.com/office/drawing/2014/main" id="{5CA26AD4-4089-4051-9CCA-C18F8F5581A2}"/>
              </a:ext>
            </a:extLst>
          </p:cNvPr>
          <p:cNvSpPr txBox="1"/>
          <p:nvPr/>
        </p:nvSpPr>
        <p:spPr>
          <a:xfrm>
            <a:off x="6545884" y="4999211"/>
            <a:ext cx="45365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y-KG" sz="2000" dirty="0"/>
              <a:t>0,33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AFD89D72-F253-77A8-4479-8947265AD351}"/>
                  </a:ext>
                </a:extLst>
              </p:cNvPr>
              <p:cNvSpPr txBox="1"/>
              <p:nvPr/>
            </p:nvSpPr>
            <p:spPr>
              <a:xfrm>
                <a:off x="7449807" y="4921785"/>
                <a:ext cx="160300" cy="4626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AFD89D72-F253-77A8-4479-8947265AD3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9807" y="4921785"/>
                <a:ext cx="160300" cy="462627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329FD03A-715C-A525-916F-601DA1A1D0DF}"/>
                  </a:ext>
                </a:extLst>
              </p:cNvPr>
              <p:cNvSpPr txBox="1"/>
              <p:nvPr/>
            </p:nvSpPr>
            <p:spPr>
              <a:xfrm>
                <a:off x="8001571" y="4926205"/>
                <a:ext cx="471571" cy="4626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123</m:t>
                          </m:r>
                        </m:num>
                        <m:den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200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329FD03A-715C-A525-916F-601DA1A1D0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571" y="4926205"/>
                <a:ext cx="471571" cy="462627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0E15DF7D-83EE-4F06-91CF-438D12E4E052}"/>
                  </a:ext>
                </a:extLst>
              </p:cNvPr>
              <p:cNvSpPr txBox="1"/>
              <p:nvPr/>
            </p:nvSpPr>
            <p:spPr>
              <a:xfrm>
                <a:off x="1340504" y="5549130"/>
                <a:ext cx="580608" cy="3798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acc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0E15DF7D-83EE-4F06-91CF-438D12E4E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0504" y="5549130"/>
                <a:ext cx="580608" cy="379848"/>
              </a:xfrm>
              <a:prstGeom prst="rect">
                <a:avLst/>
              </a:prstGeom>
              <a:blipFill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90A03569-085D-C6EA-0B64-BBB417CCBDBE}"/>
                  </a:ext>
                </a:extLst>
              </p:cNvPr>
              <p:cNvSpPr txBox="1"/>
              <p:nvPr/>
            </p:nvSpPr>
            <p:spPr>
              <a:xfrm>
                <a:off x="5826683" y="5453968"/>
                <a:ext cx="580608" cy="3798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acc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90A03569-085D-C6EA-0B64-BBB417CCB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6683" y="5453968"/>
                <a:ext cx="580608" cy="379848"/>
              </a:xfrm>
              <a:prstGeom prst="rect">
                <a:avLst/>
              </a:prstGeom>
              <a:blipFill>
                <a:blip r:embed="rId5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685B58BC-CB4B-9E98-98C5-F8A3382A926E}"/>
                  </a:ext>
                </a:extLst>
              </p:cNvPr>
              <p:cNvSpPr txBox="1"/>
              <p:nvPr/>
            </p:nvSpPr>
            <p:spPr>
              <a:xfrm>
                <a:off x="6525770" y="5490003"/>
                <a:ext cx="57066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67%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685B58BC-CB4B-9E98-98C5-F8A3382A92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5770" y="5490003"/>
                <a:ext cx="570669" cy="307777"/>
              </a:xfrm>
              <a:prstGeom prst="rect">
                <a:avLst/>
              </a:prstGeom>
              <a:blipFill>
                <a:blip r:embed="rId53"/>
                <a:stretch>
                  <a:fillRect l="-11828" r="-10753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AE9FF76C-8AA2-CA4D-8541-C75AD82DC2D7}"/>
                  </a:ext>
                </a:extLst>
              </p:cNvPr>
              <p:cNvSpPr txBox="1"/>
              <p:nvPr/>
            </p:nvSpPr>
            <p:spPr>
              <a:xfrm>
                <a:off x="7398955" y="5377979"/>
                <a:ext cx="350591" cy="46102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AE9FF76C-8AA2-CA4D-8541-C75AD82DC2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8955" y="5377979"/>
                <a:ext cx="350591" cy="461024"/>
              </a:xfrm>
              <a:prstGeom prst="rect">
                <a:avLst/>
              </a:prstGeom>
              <a:blipFill>
                <a:blip r:embed="rId5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17D82C6E-0271-09E1-AC8D-885D95818A1D}"/>
                  </a:ext>
                </a:extLst>
              </p:cNvPr>
              <p:cNvSpPr txBox="1"/>
              <p:nvPr/>
            </p:nvSpPr>
            <p:spPr>
              <a:xfrm>
                <a:off x="8008621" y="5358870"/>
                <a:ext cx="441448" cy="4626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19</m:t>
                          </m:r>
                        </m:num>
                        <m:den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17D82C6E-0271-09E1-AC8D-885D95818A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8621" y="5358870"/>
                <a:ext cx="441448" cy="462627"/>
              </a:xfrm>
              <a:prstGeom prst="rect">
                <a:avLst/>
              </a:prstGeom>
              <a:blipFill>
                <a:blip r:embed="rId5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D781C3E1-876F-8DEB-7F45-FBB8B3307210}"/>
                  </a:ext>
                </a:extLst>
              </p:cNvPr>
              <p:cNvSpPr txBox="1"/>
              <p:nvPr/>
            </p:nvSpPr>
            <p:spPr>
              <a:xfrm>
                <a:off x="5772808" y="5994392"/>
                <a:ext cx="68127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0.801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D781C3E1-876F-8DEB-7F45-FBB8B3307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2808" y="5994392"/>
                <a:ext cx="681277" cy="307777"/>
              </a:xfrm>
              <a:prstGeom prst="rect">
                <a:avLst/>
              </a:prstGeom>
              <a:blipFill>
                <a:blip r:embed="rId56"/>
                <a:stretch>
                  <a:fillRect l="-12500" r="-3571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6D4E79FD-9BF3-7474-BE03-0E536A50A951}"/>
                  </a:ext>
                </a:extLst>
              </p:cNvPr>
              <p:cNvSpPr txBox="1"/>
              <p:nvPr/>
            </p:nvSpPr>
            <p:spPr>
              <a:xfrm>
                <a:off x="6432529" y="5990278"/>
                <a:ext cx="71333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101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6D4E79FD-9BF3-7474-BE03-0E536A50A9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2529" y="5990278"/>
                <a:ext cx="713337" cy="307777"/>
              </a:xfrm>
              <a:prstGeom prst="rect">
                <a:avLst/>
              </a:prstGeom>
              <a:blipFill>
                <a:blip r:embed="rId57"/>
                <a:stretch>
                  <a:fillRect l="-7692" r="-8547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4AB53F48-28D7-AB9E-DE0A-ACFF3517A1DA}"/>
                  </a:ext>
                </a:extLst>
              </p:cNvPr>
              <p:cNvSpPr txBox="1"/>
              <p:nvPr/>
            </p:nvSpPr>
            <p:spPr>
              <a:xfrm>
                <a:off x="7267733" y="6009087"/>
                <a:ext cx="53860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1.04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4AB53F48-28D7-AB9E-DE0A-ACFF3517A1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7733" y="6009087"/>
                <a:ext cx="538609" cy="307777"/>
              </a:xfrm>
              <a:prstGeom prst="rect">
                <a:avLst/>
              </a:prstGeom>
              <a:blipFill>
                <a:blip r:embed="rId58"/>
                <a:stretch>
                  <a:fillRect l="-15730" r="-4494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C10986B7-8FB4-49FF-25F8-4B541F22F48B}"/>
                  </a:ext>
                </a:extLst>
              </p:cNvPr>
              <p:cNvSpPr txBox="1"/>
              <p:nvPr/>
            </p:nvSpPr>
            <p:spPr>
              <a:xfrm>
                <a:off x="8077933" y="5987018"/>
                <a:ext cx="402065" cy="4626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C10986B7-8FB4-49FF-25F8-4B541F22F4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7933" y="5987018"/>
                <a:ext cx="402065" cy="462627"/>
              </a:xfrm>
              <a:prstGeom prst="rect">
                <a:avLst/>
              </a:prstGeom>
              <a:blipFill>
                <a:blip r:embed="rId5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9505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35188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062346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60000"/>
            <a:lumOff val="40000"/>
          </a:schemeClr>
        </a:solidFill>
        <a:ln w="1905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10684</TotalTime>
  <Words>550</Words>
  <Application>Microsoft Office PowerPoint</Application>
  <PresentationFormat>A4 Paper (210x297 mm)</PresentationFormat>
  <Paragraphs>270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Cambria Math</vt:lpstr>
      <vt:lpstr>Arial</vt:lpstr>
      <vt:lpstr>Calibri</vt:lpstr>
      <vt:lpstr>Stencil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505</cp:revision>
  <cp:lastPrinted>2024-09-04T04:14:33Z</cp:lastPrinted>
  <dcterms:created xsi:type="dcterms:W3CDTF">2017-01-17T16:57:04Z</dcterms:created>
  <dcterms:modified xsi:type="dcterms:W3CDTF">2024-09-04T04:23:06Z</dcterms:modified>
</cp:coreProperties>
</file>