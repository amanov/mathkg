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6"/>
  </p:notesMasterIdLst>
  <p:sldIdLst>
    <p:sldId id="941" r:id="rId2"/>
    <p:sldId id="850" r:id="rId3"/>
    <p:sldId id="939" r:id="rId4"/>
    <p:sldId id="274" r:id="rId5"/>
  </p:sldIdLst>
  <p:sldSz cx="9906000" cy="6858000" type="A4"/>
  <p:notesSz cx="6669088" cy="9926638"/>
  <p:embeddedFontLst>
    <p:embeddedFont>
      <p:font typeface="Cambria Math" panose="02040503050406030204" pitchFamily="18" charset="0"/>
      <p:regular r:id="rId7"/>
    </p:embeddedFont>
    <p:embeddedFont>
      <p:font typeface="Ravie" panose="04040805050809020602" pitchFamily="82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FDBF3D2-AF8E-4A92-84B1-51A754FEF665}">
          <p14:sldIdLst>
            <p14:sldId id="941"/>
          </p14:sldIdLst>
        </p14:section>
        <p14:section name="Суроолор" id="{A762EA83-E639-46EB-896F-C5F39615FAD1}">
          <p14:sldIdLst>
            <p14:sldId id="850"/>
            <p14:sldId id="939"/>
          </p14:sldIdLst>
        </p14:section>
        <p14:section name="Кайтарым байланыш" id="{9919CDD7-72C6-4B90-A07C-4F52C5471EDB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B183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720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Эквивалент – Бөлчөктөр, Ондуктар, Пайыздар жана катыштар–– 3тү Туташтыр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окуучулардын эки командасын сыноо үчүн тез оюн.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команданын окуучусу суроону тандап, андан кийин тиешелүү жоопту бериши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Ошол команда үчүн квадратты талап кылуу үчүн жооп кутучасынын тиешелүү көлөкө тарабын чыкылдатыңыз/тийиңиз.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катары менен туташтырган утат!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 слайддарынын кыйынчылык деңгээли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барган сайын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жогорулайт.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73566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8347847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 :4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80%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:17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70%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0.25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35%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 :2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3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:1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3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45%</m:t>
                                </m:r>
                              </m:oMath>
                            </m:oMathPara>
                          </a14:m>
                          <a:endParaRPr lang="en-GB" sz="32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8347847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30094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r="-199531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r="-100472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r="-472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0000" r="-30094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100000" r="-19953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100000" r="-10047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100000" r="-47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0943" r="-300943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00943" r="-199531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00943" r="-100472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00943" r="-472" b="-1009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99531" r="-300943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99531" r="-199531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99531" r="-100472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99531" r="-472" b="-4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6740062"/>
                  </p:ext>
                </p:extLst>
              </p:nvPr>
            </p:nvGraphicFramePr>
            <p:xfrm>
              <a:off x="146447" y="61547"/>
              <a:ext cx="4317999" cy="58996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625303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3900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0.9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75%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60%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3 :4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40%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50%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28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0.1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7 :13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9 :11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867067"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8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15%</m:t>
                                </m:r>
                              </m:oMath>
                            </m:oMathPara>
                          </a14:m>
                          <a:endParaRPr lang="en-GB" sz="28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6740062"/>
                  </p:ext>
                </p:extLst>
              </p:nvPr>
            </p:nvGraphicFramePr>
            <p:xfrm>
              <a:off x="146447" y="61547"/>
              <a:ext cx="4317999" cy="58996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625303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390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72727" r="-202966" b="-464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72727" r="-102110" b="-464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72727" r="-2542" b="-464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187324" r="-202966" b="-4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187324" r="-102110" b="-4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187324" r="-2542" b="-4042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287324" r="-202966" b="-3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287324" r="-102110" b="-3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287324" r="-2542" b="-3042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387324" r="-202966" b="-2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387324" r="-102110" b="-2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387324" r="-2542" b="-2042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483916" r="-202966" b="-102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483916" r="-102110" b="-102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483916" r="-2542" b="-102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867067">
                    <a:tc grid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64" t="-588028" r="-846" b="-352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7721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3-тү Туташ</a:t>
            </a:r>
            <a:r>
              <a:rPr lang="ky-KG" sz="4800" dirty="0">
                <a:latin typeface="Ravie" panose="04040805050809020602" pitchFamily="82" charset="0"/>
              </a:rPr>
              <a:t>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8" y="964311"/>
            <a:ext cx="43597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Жооптор торчолору</a:t>
            </a:r>
            <a:endParaRPr lang="en-GB" sz="3200" b="1" dirty="0">
              <a:latin typeface="Ravie" panose="04040805050809020602" pitchFamily="82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64B85DC-15D7-4674-AB83-858538C52B7F}"/>
              </a:ext>
            </a:extLst>
          </p:cNvPr>
          <p:cNvSpPr/>
          <p:nvPr/>
        </p:nvSpPr>
        <p:spPr>
          <a:xfrm>
            <a:off x="-37262" y="5900043"/>
            <a:ext cx="46928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y-KG" sz="1600" dirty="0">
                <a:latin typeface="Arial" panose="020B0604020202020204" pitchFamily="34" charset="0"/>
                <a:cs typeface="Arial" panose="020B0604020202020204" pitchFamily="34" charset="0"/>
              </a:rPr>
              <a:t>Жооптор торчосунан эквиваленттүү</a:t>
            </a:r>
          </a:p>
          <a:p>
            <a:pPr algn="ctr"/>
            <a:r>
              <a:rPr lang="ky-KG" sz="1600" dirty="0">
                <a:latin typeface="Arial" panose="020B0604020202020204" pitchFamily="34" charset="0"/>
                <a:cs typeface="Arial" panose="020B0604020202020204" pitchFamily="34" charset="0"/>
              </a:rPr>
              <a:t> санды тап.</a:t>
            </a:r>
          </a:p>
          <a:p>
            <a:pPr algn="ctr"/>
            <a:r>
              <a:rPr lang="ky-KG" sz="1600" dirty="0">
                <a:latin typeface="Arial" panose="020B0604020202020204" pitchFamily="34" charset="0"/>
                <a:cs typeface="Arial" panose="020B0604020202020204" pitchFamily="34" charset="0"/>
              </a:rPr>
              <a:t>Катыштар үчүн биринчи бөлүккө эквивалентти </a:t>
            </a:r>
          </a:p>
          <a:p>
            <a:pPr algn="ctr"/>
            <a:r>
              <a:rPr lang="ky-KG" sz="1600" dirty="0">
                <a:latin typeface="Arial" panose="020B0604020202020204" pitchFamily="34" charset="0"/>
                <a:cs typeface="Arial" panose="020B0604020202020204" pitchFamily="34" charset="0"/>
              </a:rPr>
              <a:t>тап.</a:t>
            </a:r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7900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3635464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0.12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3%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 :3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90%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3:2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0.09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4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15%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 :1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30%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4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 :3</m:t>
                                </m:r>
                              </m:oMath>
                            </m:oMathPara>
                          </a14:m>
                          <a:endParaRPr lang="en-GB" sz="4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8" name="Table 87">
                <a:extLst>
                  <a:ext uri="{FF2B5EF4-FFF2-40B4-BE49-F238E27FC236}">
                    <a16:creationId xmlns:a16="http://schemas.microsoft.com/office/drawing/2014/main" id="{F0FB5B1D-69AC-483C-9C68-E5E31C8B58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3635464"/>
                  </p:ext>
                </p:extLst>
              </p:nvPr>
            </p:nvGraphicFramePr>
            <p:xfrm>
              <a:off x="4608496" y="1531911"/>
              <a:ext cx="5168552" cy="51854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2138">
                      <a:extLst>
                        <a:ext uri="{9D8B030D-6E8A-4147-A177-3AD203B41FA5}">
                          <a16:colId xmlns:a16="http://schemas.microsoft.com/office/drawing/2014/main" val="3926725342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14648582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088939633"/>
                        </a:ext>
                      </a:extLst>
                    </a:gridCol>
                    <a:gridCol w="1292138">
                      <a:extLst>
                        <a:ext uri="{9D8B030D-6E8A-4147-A177-3AD203B41FA5}">
                          <a16:colId xmlns:a16="http://schemas.microsoft.com/office/drawing/2014/main" val="3508545897"/>
                        </a:ext>
                      </a:extLst>
                    </a:gridCol>
                  </a:tblGrid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30094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r="-199531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r="-100472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r="-472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8675500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0000" r="-30094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100000" r="-19953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100000" r="-10047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100000" r="-47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8309862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0943" r="-300943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00943" r="-199531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00943" r="-100472" b="-1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00943" r="-472" b="-1009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593046"/>
                      </a:ext>
                    </a:extLst>
                  </a:tr>
                  <a:tr h="12963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99531" r="-300943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531" t="-299531" r="-199531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99531" r="-100472" b="-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50698" marR="50698" marT="50698" marB="50698"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72" t="-299531" r="-472" b="-4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5639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1289800"/>
                  </p:ext>
                </p:extLst>
              </p:nvPr>
            </p:nvGraphicFramePr>
            <p:xfrm>
              <a:off x="146447" y="61547"/>
              <a:ext cx="4317999" cy="58996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625303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3900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0.65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60%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9%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0.45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95%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52%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9 : 1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1:4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80%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0.03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2400" b="0" i="1" dirty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867067"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400" b="0" i="1" dirty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3 :7</m:t>
                                </m:r>
                              </m:oMath>
                            </m:oMathPara>
                          </a14:m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6F6E4B9A-CCC4-408A-92D6-AF0A7B46DF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1289800"/>
                  </p:ext>
                </p:extLst>
              </p:nvPr>
            </p:nvGraphicFramePr>
            <p:xfrm>
              <a:off x="146447" y="61547"/>
              <a:ext cx="4317999" cy="58996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39333">
                      <a:extLst>
                        <a:ext uri="{9D8B030D-6E8A-4147-A177-3AD203B41FA5}">
                          <a16:colId xmlns:a16="http://schemas.microsoft.com/office/drawing/2014/main" val="1783487117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287481676"/>
                        </a:ext>
                      </a:extLst>
                    </a:gridCol>
                    <a:gridCol w="1439333">
                      <a:extLst>
                        <a:ext uri="{9D8B030D-6E8A-4147-A177-3AD203B41FA5}">
                          <a16:colId xmlns:a16="http://schemas.microsoft.com/office/drawing/2014/main" val="1215249565"/>
                        </a:ext>
                      </a:extLst>
                    </a:gridCol>
                  </a:tblGrid>
                  <a:tr h="625303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3200" dirty="0">
                              <a:solidFill>
                                <a:schemeClr val="tx1"/>
                              </a:solidFill>
                              <a:latin typeface="Ravie" panose="04040805050809020602" pitchFamily="82" charset="0"/>
                            </a:rPr>
                            <a:t>Суроолор</a:t>
                          </a: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24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3200" b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45720" marR="4572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0666071"/>
                      </a:ext>
                    </a:extLst>
                  </a:tr>
                  <a:tr h="9390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72727" r="-202966" b="-464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72727" r="-102110" b="-464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72727" r="-2542" b="-464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66825991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187324" r="-202966" b="-4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187324" r="-102110" b="-4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187324" r="-2542" b="-4042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9722879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287324" r="-202966" b="-3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287324" r="-102110" b="-3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287324" r="-2542" b="-3042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696694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387324" r="-202966" b="-2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387324" r="-102110" b="-20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387324" r="-2542" b="-2042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7597803"/>
                      </a:ext>
                    </a:extLst>
                  </a:tr>
                  <a:tr h="8670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5" t="-483916" r="-202966" b="-102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66" t="-483916" r="-102110" b="-102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2119" t="-483916" r="-2542" b="-102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10141422"/>
                      </a:ext>
                    </a:extLst>
                  </a:tr>
                  <a:tr h="867067">
                    <a:tc grid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64" t="-588028" r="-846" b="-352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34096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79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3-тү Туташ</a:t>
            </a:r>
            <a:r>
              <a:rPr lang="ky-KG" sz="4800" dirty="0">
                <a:latin typeface="Ravie" panose="04040805050809020602" pitchFamily="82" charset="0"/>
              </a:rPr>
              <a:t>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5688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Жооптор торчолору</a:t>
            </a:r>
            <a:endParaRPr lang="en-GB" sz="3200" b="1" dirty="0">
              <a:latin typeface="Ravie" panose="04040805050809020602" pitchFamily="82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64B85DC-15D7-4674-AB83-858538C52B7F}"/>
              </a:ext>
            </a:extLst>
          </p:cNvPr>
          <p:cNvSpPr/>
          <p:nvPr/>
        </p:nvSpPr>
        <p:spPr>
          <a:xfrm>
            <a:off x="0" y="5897309"/>
            <a:ext cx="46928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y-KG" sz="1600" dirty="0">
                <a:latin typeface="Arial" panose="020B0604020202020204" pitchFamily="34" charset="0"/>
                <a:cs typeface="Arial" panose="020B0604020202020204" pitchFamily="34" charset="0"/>
              </a:rPr>
              <a:t>Жооптор торчосунан эквиваленттүү</a:t>
            </a:r>
          </a:p>
          <a:p>
            <a:pPr algn="ctr"/>
            <a:r>
              <a:rPr lang="ky-KG" sz="1600" dirty="0">
                <a:latin typeface="Arial" panose="020B0604020202020204" pitchFamily="34" charset="0"/>
                <a:cs typeface="Arial" panose="020B0604020202020204" pitchFamily="34" charset="0"/>
              </a:rPr>
              <a:t> санды тап.</a:t>
            </a:r>
          </a:p>
          <a:p>
            <a:pPr algn="ctr"/>
            <a:r>
              <a:rPr lang="ky-KG" sz="1600" dirty="0">
                <a:latin typeface="Arial" panose="020B0604020202020204" pitchFamily="34" charset="0"/>
                <a:cs typeface="Arial" panose="020B0604020202020204" pitchFamily="34" charset="0"/>
              </a:rPr>
              <a:t>Катыштар үчүн биринчи бөлүккө эквивалентти </a:t>
            </a:r>
          </a:p>
          <a:p>
            <a:pPr algn="ctr"/>
            <a:r>
              <a:rPr lang="ky-KG" sz="1600" dirty="0">
                <a:latin typeface="Arial" panose="020B0604020202020204" pitchFamily="34" charset="0"/>
                <a:cs typeface="Arial" panose="020B0604020202020204" pitchFamily="34" charset="0"/>
              </a:rPr>
              <a:t>тап.</a:t>
            </a:r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209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8399</TotalTime>
  <Words>255</Words>
  <Application>Microsoft Office PowerPoint</Application>
  <PresentationFormat>A4 Paper (210x297 mm)</PresentationFormat>
  <Paragraphs>103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Calibri Light</vt:lpstr>
      <vt:lpstr>Cambria Math</vt:lpstr>
      <vt:lpstr>Ravie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377</cp:revision>
  <cp:lastPrinted>2017-12-31T22:38:51Z</cp:lastPrinted>
  <dcterms:created xsi:type="dcterms:W3CDTF">2017-01-17T16:57:04Z</dcterms:created>
  <dcterms:modified xsi:type="dcterms:W3CDTF">2024-09-04T09:23:33Z</dcterms:modified>
</cp:coreProperties>
</file>