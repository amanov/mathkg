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theme/theme2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>
  <p:sldMasterIdLst>
    <p:sldMasterId id="2147483704" r:id="rId1"/>
  </p:sldMasterIdLst>
  <p:notesMasterIdLst>
    <p:notesMasterId r:id="rId7"/>
  </p:notesMasterIdLst>
  <p:sldIdLst>
    <p:sldId id="941" r:id="rId2"/>
    <p:sldId id="939" r:id="rId3"/>
    <p:sldId id="833" r:id="rId4"/>
    <p:sldId id="940" r:id="rId5"/>
    <p:sldId id="942" r:id="rId6"/>
  </p:sldIdLst>
  <p:sldSz cx="9906000" cy="6858000" type="A4"/>
  <p:notesSz cx="7104063" cy="10234613"/>
  <p:embeddedFontLst>
    <p:embeddedFont>
      <p:font typeface="Matura MT Script Capitals" panose="03020802060602070202" pitchFamily="66" charset="0"/>
      <p:regular r:id="rId8"/>
    </p:embeddedFont>
    <p:embeddedFont>
      <p:font typeface="Ravie" panose="04040805050809020602" pitchFamily="82" charset="0"/>
      <p:regular r:id="rId9"/>
    </p:embeddedFont>
  </p:embeddedFontLst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Капкак слайд" id="{197FF5E7-57A8-40D7-8FA0-8A089C366947}">
          <p14:sldIdLst>
            <p14:sldId id="941"/>
          </p14:sldIdLst>
        </p14:section>
        <p14:section name="Чагылдыруу" id="{05C36403-E8B4-468F-A140-90D75B14B710}">
          <p14:sldIdLst>
            <p14:sldId id="939"/>
          </p14:sldIdLst>
        </p14:section>
        <p14:section name="Иш кагаздар" id="{C9917BAB-E32A-4A78-98A8-75E884F996CE}">
          <p14:sldIdLst>
            <p14:sldId id="833"/>
            <p14:sldId id="940"/>
          </p14:sldIdLst>
        </p14:section>
        <p14:section name="Кайтарым байланыш" id="{F3D720CF-F566-46A6-9361-125255B68FA6}">
          <p14:sldIdLst>
            <p14:sldId id="942"/>
          </p14:sldIdLst>
        </p14:section>
      </p14:sectionLst>
    </p:ex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12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FF3300"/>
    <a:srgbClr val="FF0066"/>
    <a:srgbClr val="00FF00"/>
    <a:srgbClr val="4472C4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1691" autoAdjust="0"/>
    <p:restoredTop sz="94660"/>
  </p:normalViewPr>
  <p:slideViewPr>
    <p:cSldViewPr snapToGrid="0" showGuides="1">
      <p:cViewPr varScale="1">
        <p:scale>
          <a:sx n="69" d="100"/>
          <a:sy n="69" d="100"/>
        </p:scale>
        <p:origin x="1410" y="60"/>
      </p:cViewPr>
      <p:guideLst>
        <p:guide orient="horz" pos="2160"/>
        <p:guide pos="3120"/>
      </p:guideLst>
    </p:cSldViewPr>
  </p:slideViewPr>
  <p:notesTextViewPr>
    <p:cViewPr>
      <p:scale>
        <a:sx n="1" d="1"/>
        <a:sy n="1" d="1"/>
      </p:scale>
      <p:origin x="0" y="0"/>
    </p:cViewPr>
  </p:notesTextViewPr>
  <p:sorterViewPr>
    <p:cViewPr>
      <p:scale>
        <a:sx n="25" d="100"/>
        <a:sy n="25" d="100"/>
      </p:scale>
      <p:origin x="0" y="0"/>
    </p:cViewPr>
  </p:sorter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font" Target="fonts/font1.fntdata"/><Relationship Id="rId13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notesMaster" Target="notesMasters/notesMaster1.xml"/><Relationship Id="rId12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viewProps" Target="viewProps.xml"/><Relationship Id="rId5" Type="http://schemas.openxmlformats.org/officeDocument/2006/relationships/slide" Target="slides/slide4.xml"/><Relationship Id="rId10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font" Target="fonts/font2.fntdata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1" y="0"/>
            <a:ext cx="3078427" cy="513508"/>
          </a:xfrm>
          <a:prstGeom prst="rect">
            <a:avLst/>
          </a:prstGeom>
        </p:spPr>
        <p:txBody>
          <a:bodyPr vert="horz" lIns="94638" tIns="47319" rIns="94638" bIns="47319" rtlCol="0"/>
          <a:lstStyle>
            <a:lvl1pPr algn="l">
              <a:defRPr sz="1300"/>
            </a:lvl1pPr>
          </a:lstStyle>
          <a:p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4023992" y="0"/>
            <a:ext cx="3078427" cy="513508"/>
          </a:xfrm>
          <a:prstGeom prst="rect">
            <a:avLst/>
          </a:prstGeom>
        </p:spPr>
        <p:txBody>
          <a:bodyPr vert="horz" lIns="94638" tIns="47319" rIns="94638" bIns="47319" rtlCol="0"/>
          <a:lstStyle>
            <a:lvl1pPr algn="r">
              <a:defRPr sz="1300"/>
            </a:lvl1pPr>
          </a:lstStyle>
          <a:p>
            <a:fld id="{9C6A85EB-AF26-437E-8488-94E19A13AA79}" type="datetimeFigureOut">
              <a:rPr lang="en-GB" smtClean="0"/>
              <a:t>19/08/2024</a:t>
            </a:fld>
            <a:endParaRPr lang="en-GB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057275" y="1279525"/>
            <a:ext cx="4989513" cy="34544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4638" tIns="47319" rIns="94638" bIns="47319" rtlCol="0" anchor="ctr"/>
          <a:lstStyle/>
          <a:p>
            <a:endParaRPr lang="en-GB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710407" y="4925410"/>
            <a:ext cx="5683250" cy="4029878"/>
          </a:xfrm>
          <a:prstGeom prst="rect">
            <a:avLst/>
          </a:prstGeom>
        </p:spPr>
        <p:txBody>
          <a:bodyPr vert="horz" lIns="94638" tIns="47319" rIns="94638" bIns="47319" rtlCol="0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1" y="9721110"/>
            <a:ext cx="3078427" cy="513507"/>
          </a:xfrm>
          <a:prstGeom prst="rect">
            <a:avLst/>
          </a:prstGeom>
        </p:spPr>
        <p:txBody>
          <a:bodyPr vert="horz" lIns="94638" tIns="47319" rIns="94638" bIns="47319" rtlCol="0" anchor="b"/>
          <a:lstStyle>
            <a:lvl1pPr algn="l">
              <a:defRPr sz="1300"/>
            </a:lvl1pPr>
          </a:lstStyle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4023992" y="9721110"/>
            <a:ext cx="3078427" cy="513507"/>
          </a:xfrm>
          <a:prstGeom prst="rect">
            <a:avLst/>
          </a:prstGeom>
        </p:spPr>
        <p:txBody>
          <a:bodyPr vert="horz" lIns="94638" tIns="47319" rIns="94638" bIns="47319" rtlCol="0" anchor="b"/>
          <a:lstStyle>
            <a:lvl1pPr algn="r">
              <a:defRPr sz="1300"/>
            </a:lvl1pPr>
          </a:lstStyle>
          <a:p>
            <a:fld id="{DD4EDCD2-601A-461C-9AB5-639C33E3F98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949271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742950" y="1122363"/>
            <a:ext cx="84201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238250" y="3602038"/>
            <a:ext cx="74295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smtClean="0"/>
              <a:t>8/19/2024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54914716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smtClean="0"/>
              <a:t>8/19/2024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77299539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5879" y="1709740"/>
            <a:ext cx="8543925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5879" y="4589465"/>
            <a:ext cx="8543925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smtClean="0"/>
              <a:t>8/19/2024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67483106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81038" y="1825625"/>
            <a:ext cx="4210050" cy="435133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5014913" y="1825625"/>
            <a:ext cx="4210050" cy="435133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smtClean="0"/>
              <a:t>8/19/2024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48989402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2328" y="365127"/>
            <a:ext cx="8543925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82329" y="1681163"/>
            <a:ext cx="4190702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82329" y="2505075"/>
            <a:ext cx="4190702" cy="368458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5014913" y="1681163"/>
            <a:ext cx="4211340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5014913" y="2505075"/>
            <a:ext cx="4211340" cy="368458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smtClean="0"/>
              <a:t>8/19/2024</a:t>
            </a:fld>
            <a:endParaRPr lang="en-US" dirty="0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15105042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smtClean="0"/>
              <a:t>8/19/2024</a:t>
            </a:fld>
            <a:endParaRPr 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3067655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smtClean="0"/>
              <a:t>8/19/2024</a:t>
            </a:fld>
            <a:endParaRPr lang="en-US" dirty="0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50677498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2328" y="457200"/>
            <a:ext cx="3194943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211340" y="987427"/>
            <a:ext cx="5014913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82328" y="2057400"/>
            <a:ext cx="3194943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smtClean="0"/>
              <a:t>8/19/2024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03568098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2328" y="457200"/>
            <a:ext cx="3194943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4211340" y="987427"/>
            <a:ext cx="5014913" cy="4873625"/>
          </a:xfrm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82328" y="2057400"/>
            <a:ext cx="3194943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smtClean="0"/>
              <a:t>8/19/2024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98621591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smtClean="0"/>
              <a:t>8/19/2024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21801746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7088982" y="365125"/>
            <a:ext cx="2135981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81038" y="365125"/>
            <a:ext cx="6284119" cy="5811838"/>
          </a:xfrm>
        </p:spPr>
        <p:txBody>
          <a:bodyPr vert="eaVert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smtClean="0"/>
              <a:t>8/19/2024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735142738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07398827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81038" y="365127"/>
            <a:ext cx="8543925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81038" y="1825625"/>
            <a:ext cx="8543925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81038" y="6356352"/>
            <a:ext cx="222885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764DE79-268F-4C1A-8933-263129D2AF90}" type="datetimeFigureOut">
              <a:rPr lang="en-US" smtClean="0"/>
              <a:t>8/19/2024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281363" y="6356352"/>
            <a:ext cx="334327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996113" y="6356352"/>
            <a:ext cx="222885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8F63A3B-78C7-47BE-AE5E-E10140E04643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6300797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05" r:id="rId1"/>
    <p:sldLayoutId id="2147483706" r:id="rId2"/>
    <p:sldLayoutId id="2147483707" r:id="rId3"/>
    <p:sldLayoutId id="2147483708" r:id="rId4"/>
    <p:sldLayoutId id="2147483709" r:id="rId5"/>
    <p:sldLayoutId id="2147483710" r:id="rId6"/>
    <p:sldLayoutId id="2147483711" r:id="rId7"/>
    <p:sldLayoutId id="2147483712" r:id="rId8"/>
    <p:sldLayoutId id="2147483713" r:id="rId9"/>
    <p:sldLayoutId id="2147483714" r:id="rId10"/>
    <p:sldLayoutId id="2147483715" r:id="rId11"/>
    <p:sldLayoutId id="2147483716" r:id="rId12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4">
            <a:extLst>
              <a:ext uri="{FF2B5EF4-FFF2-40B4-BE49-F238E27FC236}">
                <a16:creationId xmlns:a16="http://schemas.microsoft.com/office/drawing/2014/main" id="{446EB53F-C8E3-C609-08AC-A0D4E6921DE6}"/>
              </a:ext>
            </a:extLst>
          </p:cNvPr>
          <p:cNvSpPr txBox="1">
            <a:spLocks/>
          </p:cNvSpPr>
          <p:nvPr/>
        </p:nvSpPr>
        <p:spPr>
          <a:xfrm>
            <a:off x="187960" y="1774825"/>
            <a:ext cx="10515600" cy="4351338"/>
          </a:xfrm>
          <a:prstGeom prst="rect">
            <a:avLst/>
          </a:prstGeom>
        </p:spPr>
        <p:txBody>
          <a:bodyPr>
            <a:normAutofit fontScale="62500" lnSpcReduction="200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228600" marR="0" lvl="0" indent="-22860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ru-RU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Амалдарды аткаруу тартиби</a:t>
            </a:r>
            <a:r>
              <a:rPr kumimoji="0" lang="en-US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  –</a:t>
            </a:r>
            <a:r>
              <a:rPr kumimoji="0" lang="ky-KG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  Багытталган сандвр – катары менен төрт</a:t>
            </a:r>
          </a:p>
          <a:p>
            <a:pPr marL="228600" marR="0" lvl="0" indent="-22860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endParaRPr kumimoji="0" lang="ky-KG" sz="2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228600" marR="0" lvl="0" indent="-22860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ky-KG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Эки-экиден жарышып, окуучулар сол жактагы суроону тандашы керек жана </a:t>
            </a:r>
          </a:p>
          <a:p>
            <a:pPr marL="0" marR="0" lvl="0" indent="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kumimoji="0" lang="ky-KG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жоопту эсептөөсу керек.</a:t>
            </a:r>
          </a:p>
          <a:p>
            <a:pPr marL="228600" marR="0" lvl="0" indent="-22860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endParaRPr kumimoji="0" lang="ky-KG" sz="2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228600" marR="0" lvl="0" indent="-22860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ky-KG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Алар жооп торчосунда катары менен төрт жооп алууга аракет кылышы керек</a:t>
            </a:r>
          </a:p>
          <a:p>
            <a:pPr marL="0" marR="0" lvl="0" indent="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kumimoji="0" lang="ky-KG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(</a:t>
            </a:r>
            <a:r>
              <a:rPr kumimoji="0" lang="en-US" sz="28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Xs</a:t>
            </a:r>
            <a:r>
              <a:rPr kumimoji="0" lang="en-US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 </a:t>
            </a:r>
            <a:r>
              <a:rPr kumimoji="0" lang="ky-KG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же </a:t>
            </a:r>
            <a:r>
              <a:rPr kumimoji="0" lang="en-US" sz="28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Os</a:t>
            </a:r>
            <a:r>
              <a:rPr kumimoji="0" lang="en-US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 </a:t>
            </a:r>
            <a:r>
              <a:rPr kumimoji="0" lang="ky-KG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колдонуу менен).</a:t>
            </a:r>
          </a:p>
          <a:p>
            <a:pPr marL="228600" marR="0" lvl="0" indent="-22860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endParaRPr kumimoji="0" lang="ky-KG" sz="2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228600" marR="0" lvl="0" indent="-22860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ky-KG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Окуучуларга суроолорду тандоо үчүн убакыт чегин белгилөө зарыл болушу мүмкүн!</a:t>
            </a:r>
          </a:p>
          <a:p>
            <a:pPr marL="228600" marR="0" lvl="0" indent="-22860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endParaRPr kumimoji="0" lang="ky-KG" sz="2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228600" marR="0" lvl="0" indent="-22860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ky-KG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Иш баракчалары 3 өлчөмдө.</a:t>
            </a:r>
            <a:endParaRPr kumimoji="0" lang="ru-RU" sz="2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228600" marR="0" lvl="0" indent="-22860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endParaRPr kumimoji="0" lang="ru-RU" sz="2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228600" marR="0" lvl="0" indent="-22860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ru-RU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Анимацияларды текшерип, </a:t>
            </a:r>
            <a:r>
              <a:rPr kumimoji="0" lang="ky-KG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сабагы</a:t>
            </a:r>
            <a:r>
              <a:rPr kumimoji="0" lang="ru-RU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ң</a:t>
            </a:r>
            <a:r>
              <a:rPr kumimoji="0" lang="ky-KG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ызга </a:t>
            </a:r>
            <a:r>
              <a:rPr kumimoji="0" lang="ru-RU" sz="2800" b="1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КЕРЕГИ ЖОК </a:t>
            </a:r>
            <a:r>
              <a:rPr kumimoji="0" lang="ru-RU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слайддарды </a:t>
            </a:r>
            <a:r>
              <a:rPr kumimoji="0" lang="ru-RU" sz="3200" b="1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ӨЧҮРҮ</a:t>
            </a:r>
            <a:r>
              <a:rPr kumimoji="0" lang="ky-KG" sz="3200" b="1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П САЛЫ</a:t>
            </a:r>
            <a:r>
              <a:rPr kumimoji="0" lang="ru-RU" sz="3200" b="1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ҢЫЗ.</a:t>
            </a:r>
            <a:endParaRPr kumimoji="0" lang="en-US" sz="2800" b="1" i="0" u="none" strike="noStrike" kern="1200" cap="none" spc="0" normalizeH="0" baseline="0" noProof="0" dirty="0">
              <a:ln>
                <a:noFill/>
              </a:ln>
              <a:solidFill>
                <a:srgbClr val="FF0000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" name="Title 3">
            <a:extLst>
              <a:ext uri="{FF2B5EF4-FFF2-40B4-BE49-F238E27FC236}">
                <a16:creationId xmlns:a16="http://schemas.microsoft.com/office/drawing/2014/main" id="{D0CBE51D-6645-F4AE-8F17-E3876F6C01BF}"/>
              </a:ext>
            </a:extLst>
          </p:cNvPr>
          <p:cNvSpPr txBox="1">
            <a:spLocks/>
          </p:cNvSpPr>
          <p:nvPr/>
        </p:nvSpPr>
        <p:spPr>
          <a:xfrm>
            <a:off x="0" y="452438"/>
            <a:ext cx="9404350" cy="1400175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marL="0" marR="0" lvl="0" indent="0" algn="l" defTabSz="914400" rtl="0" eaLnBrk="1" fontAlgn="auto" latinLnBrk="0" hangingPunct="1">
              <a:lnSpc>
                <a:spcPct val="9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6600" b="0" i="0" u="none" strike="noStrike" kern="1200" cap="none" spc="0" normalizeH="0" baseline="0" noProof="0">
                <a:ln>
                  <a:noFill/>
                </a:ln>
                <a:solidFill>
                  <a:srgbClr val="00B0F0"/>
                </a:solidFill>
                <a:effectLst/>
                <a:uLnTx/>
                <a:uFillTx/>
                <a:latin typeface="Calibri Light" panose="020F0302020204030204"/>
                <a:ea typeface="+mj-ea"/>
                <a:cs typeface="+mj-cs"/>
              </a:rPr>
              <a:t>MathKGZ</a:t>
            </a:r>
            <a:r>
              <a:rPr kumimoji="0" lang="en-US" sz="5200" b="0" i="0" u="none" strike="noStrike" kern="1200" cap="none" spc="0" normalizeH="0" baseline="0" noProof="0">
                <a:ln>
                  <a:noFill/>
                </a:ln>
                <a:solidFill>
                  <a:srgbClr val="00B0F0"/>
                </a:solidFill>
                <a:effectLst/>
                <a:uLnTx/>
                <a:uFillTx/>
                <a:latin typeface="Calibri Light" panose="020F0302020204030204"/>
                <a:ea typeface="+mj-ea"/>
                <a:cs typeface="+mj-cs"/>
              </a:rPr>
              <a:t>  -- </a:t>
            </a:r>
            <a:endParaRPr kumimoji="0" lang="en-US" sz="5200" b="0" i="0" u="none" strike="noStrike" kern="1200" cap="none" spc="0" normalizeH="0" baseline="0" noProof="0" dirty="0">
              <a:ln>
                <a:noFill/>
              </a:ln>
              <a:solidFill>
                <a:srgbClr val="00B0F0"/>
              </a:solidFill>
              <a:effectLst/>
              <a:uLnTx/>
              <a:uFillTx/>
              <a:latin typeface="Calibri Light" panose="020F0302020204030204"/>
              <a:ea typeface="+mj-ea"/>
              <a:cs typeface="+mj-cs"/>
            </a:endParaRPr>
          </a:p>
        </p:txBody>
      </p:sp>
    </p:spTree>
    <p:extLst>
      <p:ext uri="{BB962C8B-B14F-4D97-AF65-F5344CB8AC3E}">
        <p14:creationId xmlns:p14="http://schemas.microsoft.com/office/powerpoint/2010/main" val="603972313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" name="Table 2">
            <a:extLst>
              <a:ext uri="{FF2B5EF4-FFF2-40B4-BE49-F238E27FC236}">
                <a16:creationId xmlns:a16="http://schemas.microsoft.com/office/drawing/2014/main" id="{E04F6338-9A32-4A54-8297-A41704B220A9}"/>
              </a:ext>
            </a:extLst>
          </p:cNvPr>
          <p:cNvGraphicFramePr>
            <a:graphicFrameLocks noGrp="1"/>
          </p:cNvGraphicFramePr>
          <p:nvPr/>
        </p:nvGraphicFramePr>
        <p:xfrm>
          <a:off x="5055577" y="2593732"/>
          <a:ext cx="4805430" cy="42107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61086">
                  <a:extLst>
                    <a:ext uri="{9D8B030D-6E8A-4147-A177-3AD203B41FA5}">
                      <a16:colId xmlns:a16="http://schemas.microsoft.com/office/drawing/2014/main" val="4186202697"/>
                    </a:ext>
                  </a:extLst>
                </a:gridCol>
                <a:gridCol w="961086">
                  <a:extLst>
                    <a:ext uri="{9D8B030D-6E8A-4147-A177-3AD203B41FA5}">
                      <a16:colId xmlns:a16="http://schemas.microsoft.com/office/drawing/2014/main" val="963617051"/>
                    </a:ext>
                  </a:extLst>
                </a:gridCol>
                <a:gridCol w="961086">
                  <a:extLst>
                    <a:ext uri="{9D8B030D-6E8A-4147-A177-3AD203B41FA5}">
                      <a16:colId xmlns:a16="http://schemas.microsoft.com/office/drawing/2014/main" val="823350154"/>
                    </a:ext>
                  </a:extLst>
                </a:gridCol>
                <a:gridCol w="961086">
                  <a:extLst>
                    <a:ext uri="{9D8B030D-6E8A-4147-A177-3AD203B41FA5}">
                      <a16:colId xmlns:a16="http://schemas.microsoft.com/office/drawing/2014/main" val="310387196"/>
                    </a:ext>
                  </a:extLst>
                </a:gridCol>
                <a:gridCol w="961086">
                  <a:extLst>
                    <a:ext uri="{9D8B030D-6E8A-4147-A177-3AD203B41FA5}">
                      <a16:colId xmlns:a16="http://schemas.microsoft.com/office/drawing/2014/main" val="930399332"/>
                    </a:ext>
                  </a:extLst>
                </a:gridCol>
              </a:tblGrid>
              <a:tr h="842156">
                <a:tc>
                  <a:txBody>
                    <a:bodyPr/>
                    <a:lstStyle/>
                    <a:p>
                      <a:pPr algn="ctr"/>
                      <a:r>
                        <a:rPr lang="en-GB" sz="2400" b="0" dirty="0">
                          <a:solidFill>
                            <a:schemeClr val="tx1"/>
                          </a:solidFill>
                        </a:rPr>
                        <a:t>0.088</a:t>
                      </a:r>
                    </a:p>
                  </a:txBody>
                  <a:tcPr marL="0" marR="0" marT="0" marB="0" anchor="ctr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2400" b="0" dirty="0">
                          <a:solidFill>
                            <a:schemeClr val="tx1"/>
                          </a:solidFill>
                        </a:rPr>
                        <a:t>1.75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2400" b="0" dirty="0">
                          <a:solidFill>
                            <a:schemeClr val="tx1"/>
                          </a:solidFill>
                        </a:rPr>
                        <a:t>4.08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2400" b="0" dirty="0">
                          <a:solidFill>
                            <a:schemeClr val="tx1"/>
                          </a:solidFill>
                        </a:rPr>
                        <a:t>4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2400" b="0" dirty="0">
                          <a:solidFill>
                            <a:schemeClr val="tx1"/>
                          </a:solidFill>
                        </a:rPr>
                        <a:t>10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34632324"/>
                  </a:ext>
                </a:extLst>
              </a:tr>
              <a:tr h="842156">
                <a:tc>
                  <a:txBody>
                    <a:bodyPr/>
                    <a:lstStyle/>
                    <a:p>
                      <a:pPr algn="ctr"/>
                      <a:r>
                        <a:rPr lang="en-GB" sz="2400" b="0" dirty="0">
                          <a:solidFill>
                            <a:schemeClr val="tx1"/>
                          </a:solidFill>
                        </a:rPr>
                        <a:t>3.2</a:t>
                      </a:r>
                    </a:p>
                  </a:txBody>
                  <a:tcPr marL="0" marR="0" marT="0" marB="0" anchor="ctr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2400" b="0" dirty="0">
                          <a:solidFill>
                            <a:schemeClr val="tx1"/>
                          </a:solidFill>
                        </a:rPr>
                        <a:t>2.34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2400" b="0" dirty="0">
                          <a:solidFill>
                            <a:schemeClr val="tx1"/>
                          </a:solidFill>
                        </a:rPr>
                        <a:t>8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2400" b="0" dirty="0">
                          <a:solidFill>
                            <a:schemeClr val="tx1"/>
                          </a:solidFill>
                        </a:rPr>
                        <a:t>0.2142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2400" b="0" dirty="0">
                          <a:solidFill>
                            <a:schemeClr val="tx1"/>
                          </a:solidFill>
                        </a:rPr>
                        <a:t>5.5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23010047"/>
                  </a:ext>
                </a:extLst>
              </a:tr>
              <a:tr h="842156">
                <a:tc>
                  <a:txBody>
                    <a:bodyPr/>
                    <a:lstStyle/>
                    <a:p>
                      <a:pPr algn="ctr"/>
                      <a:r>
                        <a:rPr lang="en-GB" sz="2400" b="0" dirty="0">
                          <a:solidFill>
                            <a:schemeClr val="tx1"/>
                          </a:solidFill>
                        </a:rPr>
                        <a:t>0.128</a:t>
                      </a:r>
                    </a:p>
                  </a:txBody>
                  <a:tcPr marL="0" marR="0" marT="0" marB="0" anchor="ctr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2400" b="0" dirty="0">
                          <a:solidFill>
                            <a:schemeClr val="tx1"/>
                          </a:solidFill>
                        </a:rPr>
                        <a:t>0.744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2400" b="0" dirty="0">
                          <a:solidFill>
                            <a:schemeClr val="tx1"/>
                          </a:solidFill>
                        </a:rPr>
                        <a:t>12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2400" b="0" dirty="0">
                          <a:solidFill>
                            <a:schemeClr val="tx1"/>
                          </a:solidFill>
                        </a:rPr>
                        <a:t>4.05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2400" b="0" dirty="0">
                          <a:solidFill>
                            <a:schemeClr val="tx1"/>
                          </a:solidFill>
                        </a:rPr>
                        <a:t>7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81002653"/>
                  </a:ext>
                </a:extLst>
              </a:tr>
              <a:tr h="842156">
                <a:tc>
                  <a:txBody>
                    <a:bodyPr/>
                    <a:lstStyle/>
                    <a:p>
                      <a:pPr algn="ctr"/>
                      <a:r>
                        <a:rPr lang="en-GB" sz="2400" b="0" dirty="0">
                          <a:solidFill>
                            <a:schemeClr val="tx1"/>
                          </a:solidFill>
                        </a:rPr>
                        <a:t>6</a:t>
                      </a:r>
                    </a:p>
                  </a:txBody>
                  <a:tcPr marL="0" marR="0" marT="0" marB="0" anchor="ctr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2400" b="0" dirty="0">
                          <a:solidFill>
                            <a:schemeClr val="tx1"/>
                          </a:solidFill>
                        </a:rPr>
                        <a:t>2.8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2400" b="0" dirty="0">
                          <a:solidFill>
                            <a:schemeClr val="tx1"/>
                          </a:solidFill>
                        </a:rPr>
                        <a:t>1.89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2400" b="0" dirty="0">
                          <a:solidFill>
                            <a:schemeClr val="tx1"/>
                          </a:solidFill>
                        </a:rPr>
                        <a:t>9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2400" b="0" dirty="0">
                          <a:solidFill>
                            <a:schemeClr val="tx1"/>
                          </a:solidFill>
                        </a:rPr>
                        <a:t>1.12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115090426"/>
                  </a:ext>
                </a:extLst>
              </a:tr>
              <a:tr h="842156">
                <a:tc>
                  <a:txBody>
                    <a:bodyPr/>
                    <a:lstStyle/>
                    <a:p>
                      <a:pPr algn="ctr"/>
                      <a:r>
                        <a:rPr lang="en-GB" sz="2400" b="0" dirty="0">
                          <a:solidFill>
                            <a:schemeClr val="tx1"/>
                          </a:solidFill>
                        </a:rPr>
                        <a:t>1.12</a:t>
                      </a:r>
                    </a:p>
                  </a:txBody>
                  <a:tcPr marL="0" marR="0" marT="0" marB="0" anchor="ctr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2400" b="0" dirty="0">
                          <a:solidFill>
                            <a:schemeClr val="tx1"/>
                          </a:solidFill>
                        </a:rPr>
                        <a:t>3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2400" b="0" dirty="0">
                          <a:solidFill>
                            <a:schemeClr val="tx1"/>
                          </a:solidFill>
                        </a:rPr>
                        <a:t>3.4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2400" b="0" dirty="0">
                          <a:solidFill>
                            <a:schemeClr val="tx1"/>
                          </a:solidFill>
                        </a:rPr>
                        <a:t>5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2400" b="0" dirty="0">
                          <a:solidFill>
                            <a:schemeClr val="tx1"/>
                          </a:solidFill>
                        </a:rPr>
                        <a:t>0.861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53579389"/>
                  </a:ext>
                </a:extLst>
              </a:tr>
            </a:tbl>
          </a:graphicData>
        </a:graphic>
      </p:graphicFrame>
      <p:graphicFrame>
        <p:nvGraphicFramePr>
          <p:cNvPr id="5" name="Table 4">
            <a:extLst>
              <a:ext uri="{FF2B5EF4-FFF2-40B4-BE49-F238E27FC236}">
                <a16:creationId xmlns:a16="http://schemas.microsoft.com/office/drawing/2014/main" id="{6F6E4B9A-CCC4-408A-92D6-AF0A7B46DF69}"/>
              </a:ext>
            </a:extLst>
          </p:cNvPr>
          <p:cNvGraphicFramePr>
            <a:graphicFrameLocks noGrp="1"/>
          </p:cNvGraphicFramePr>
          <p:nvPr/>
        </p:nvGraphicFramePr>
        <p:xfrm>
          <a:off x="504653" y="43962"/>
          <a:ext cx="4426432" cy="6761287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13216">
                  <a:extLst>
                    <a:ext uri="{9D8B030D-6E8A-4147-A177-3AD203B41FA5}">
                      <a16:colId xmlns:a16="http://schemas.microsoft.com/office/drawing/2014/main" val="1783487117"/>
                    </a:ext>
                  </a:extLst>
                </a:gridCol>
                <a:gridCol w="2213216">
                  <a:extLst>
                    <a:ext uri="{9D8B030D-6E8A-4147-A177-3AD203B41FA5}">
                      <a16:colId xmlns:a16="http://schemas.microsoft.com/office/drawing/2014/main" val="287481676"/>
                    </a:ext>
                  </a:extLst>
                </a:gridCol>
              </a:tblGrid>
              <a:tr h="520099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2400" b="0" dirty="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 0.31 × 2.3</a:t>
                      </a:r>
                    </a:p>
                  </a:txBody>
                  <a:tcPr marL="0" marR="0" marT="0" marB="0" anchor="ctr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2400" b="0" dirty="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2.04 ÷ 0.6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40666071"/>
                  </a:ext>
                </a:extLst>
              </a:tr>
              <a:tr h="520099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2400" b="0" dirty="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15.6 ÷ 1.3</a:t>
                      </a:r>
                    </a:p>
                  </a:txBody>
                  <a:tcPr marL="0" marR="0" marT="0" marB="0" anchor="ctr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2400" b="0" dirty="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0.78 × 3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366825991"/>
                  </a:ext>
                </a:extLst>
              </a:tr>
              <a:tr h="520099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2400" b="0" dirty="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0.2 × 0.44</a:t>
                      </a:r>
                    </a:p>
                  </a:txBody>
                  <a:tcPr marL="0" marR="0" marT="0" marB="0" anchor="ctr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2400" b="0" dirty="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3.6 ÷ 0.6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69722879"/>
                  </a:ext>
                </a:extLst>
              </a:tr>
              <a:tr h="520099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2400" b="0" dirty="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11 ÷ 1.1</a:t>
                      </a:r>
                    </a:p>
                  </a:txBody>
                  <a:tcPr marL="0" marR="0" marT="0" marB="0" anchor="ctr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2400" b="0" dirty="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0.32 × 0.4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698696694"/>
                  </a:ext>
                </a:extLst>
              </a:tr>
              <a:tr h="520099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2400" b="0" dirty="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0.42 × 0.51</a:t>
                      </a:r>
                    </a:p>
                  </a:txBody>
                  <a:tcPr marL="0" marR="0" marT="0" marB="0" anchor="ctr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2400" b="0" dirty="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8.4 ÷ 1.2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867597803"/>
                  </a:ext>
                </a:extLst>
              </a:tr>
              <a:tr h="520099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2400" b="0" dirty="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4.5 ÷ 0.9</a:t>
                      </a:r>
                    </a:p>
                  </a:txBody>
                  <a:tcPr marL="0" marR="0" marT="0" marB="0" anchor="ctr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2400" b="0" dirty="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0.5 × 3.5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69679166"/>
                  </a:ext>
                </a:extLst>
              </a:tr>
              <a:tr h="520099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2400" b="0" dirty="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4.5 × 0.9</a:t>
                      </a:r>
                    </a:p>
                  </a:txBody>
                  <a:tcPr marL="0" marR="0" marT="0" marB="0" anchor="ctr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2400" b="0" dirty="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1.2 ÷ 0.3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50986815"/>
                  </a:ext>
                </a:extLst>
              </a:tr>
              <a:tr h="520099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2400" b="0" dirty="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1.26 ÷ 0.14</a:t>
                      </a:r>
                    </a:p>
                  </a:txBody>
                  <a:tcPr marL="0" marR="0" marT="0" marB="0" anchor="ctr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2400" b="0" dirty="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3.4 × 1.2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80798909"/>
                  </a:ext>
                </a:extLst>
              </a:tr>
              <a:tr h="520099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2400" b="0" dirty="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0.9 × 2.1</a:t>
                      </a:r>
                    </a:p>
                  </a:txBody>
                  <a:tcPr marL="0" marR="0" marT="0" marB="0" anchor="ctr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2400" b="0" dirty="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0.84 ÷ 0.3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54669354"/>
                  </a:ext>
                </a:extLst>
              </a:tr>
              <a:tr h="520099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2400" b="0" dirty="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2.56 ÷ 0.8</a:t>
                      </a:r>
                    </a:p>
                  </a:txBody>
                  <a:tcPr marL="0" marR="0" marT="0" marB="0" anchor="ctr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2400" b="0" dirty="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1.6 × 0.7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70416711"/>
                  </a:ext>
                </a:extLst>
              </a:tr>
              <a:tr h="520099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2400" b="0" dirty="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2.1 × 0.41</a:t>
                      </a:r>
                    </a:p>
                  </a:txBody>
                  <a:tcPr marL="0" marR="0" marT="0" marB="0" anchor="ctr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2400" b="0" dirty="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4.5 ÷ 1.5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715940436"/>
                  </a:ext>
                </a:extLst>
              </a:tr>
              <a:tr h="520099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2400" b="0" dirty="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0.8 ÷ 0.1</a:t>
                      </a:r>
                    </a:p>
                  </a:txBody>
                  <a:tcPr marL="0" marR="0" marT="0" marB="0" anchor="ctr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2400" b="0" dirty="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2 × 0.56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563032271"/>
                  </a:ext>
                </a:extLst>
              </a:tr>
              <a:tr h="520099">
                <a:tc gridSpan="2"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2400" b="0" dirty="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3.85 ÷ 0.7</a:t>
                      </a:r>
                    </a:p>
                  </a:txBody>
                  <a:tcPr marL="0" marR="0" marT="0" marB="0" anchor="ctr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 hMerge="1"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GB" sz="2400" b="0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811409496"/>
                  </a:ext>
                </a:extLst>
              </a:tr>
            </a:tbl>
          </a:graphicData>
        </a:graphic>
      </p:graphicFrame>
      <p:sp>
        <p:nvSpPr>
          <p:cNvPr id="11" name="TextBox 10">
            <a:extLst>
              <a:ext uri="{FF2B5EF4-FFF2-40B4-BE49-F238E27FC236}">
                <a16:creationId xmlns:a16="http://schemas.microsoft.com/office/drawing/2014/main" id="{7927D11E-F752-411A-9031-7458196948A5}"/>
              </a:ext>
            </a:extLst>
          </p:cNvPr>
          <p:cNvSpPr txBox="1"/>
          <p:nvPr/>
        </p:nvSpPr>
        <p:spPr>
          <a:xfrm>
            <a:off x="5026670" y="899384"/>
            <a:ext cx="4834337" cy="120032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ru-RU" dirty="0">
                <a:latin typeface="Arial" panose="020B0604020202020204" pitchFamily="34" charset="0"/>
                <a:cs typeface="Arial" panose="020B0604020202020204" pitchFamily="34" charset="0"/>
              </a:rPr>
              <a:t>Сол жактан суроо тандаңыз.</a:t>
            </a:r>
          </a:p>
          <a:p>
            <a:pPr algn="ctr"/>
            <a:r>
              <a:rPr lang="ru-RU" dirty="0">
                <a:latin typeface="Arial" panose="020B0604020202020204" pitchFamily="34" charset="0"/>
                <a:cs typeface="Arial" panose="020B0604020202020204" pitchFamily="34" charset="0"/>
              </a:rPr>
              <a:t>Төмөнкү жоопту таап, (</a:t>
            </a:r>
            <a:r>
              <a:rPr lang="en-GB" dirty="0">
                <a:latin typeface="Arial" panose="020B0604020202020204" pitchFamily="34" charset="0"/>
                <a:cs typeface="Arial" panose="020B0604020202020204" pitchFamily="34" charset="0"/>
              </a:rPr>
              <a:t>X </a:t>
            </a:r>
            <a:r>
              <a:rPr lang="ru-RU" dirty="0">
                <a:latin typeface="Arial" panose="020B0604020202020204" pitchFamily="34" charset="0"/>
                <a:cs typeface="Arial" panose="020B0604020202020204" pitchFamily="34" charset="0"/>
              </a:rPr>
              <a:t>же О) белгилеңиз.</a:t>
            </a:r>
          </a:p>
          <a:p>
            <a:pPr algn="ctr"/>
            <a:r>
              <a:rPr lang="ru-RU" dirty="0">
                <a:latin typeface="Arial" panose="020B0604020202020204" pitchFamily="34" charset="0"/>
                <a:cs typeface="Arial" panose="020B0604020202020204" pitchFamily="34" charset="0"/>
              </a:rPr>
              <a:t>Биринчи катары менен 4 жооп</a:t>
            </a:r>
          </a:p>
          <a:p>
            <a:pPr algn="ctr"/>
            <a:r>
              <a:rPr lang="ru-RU" dirty="0">
                <a:latin typeface="Arial" panose="020B0604020202020204" pitchFamily="34" charset="0"/>
                <a:cs typeface="Arial" panose="020B0604020202020204" pitchFamily="34" charset="0"/>
              </a:rPr>
              <a:t>туура келсген оюнчу жеңет!</a:t>
            </a:r>
            <a:endParaRPr lang="en-GB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4F8B5776-E736-462B-B6D4-825FE3225AD3}"/>
              </a:ext>
            </a:extLst>
          </p:cNvPr>
          <p:cNvSpPr txBox="1"/>
          <p:nvPr/>
        </p:nvSpPr>
        <p:spPr>
          <a:xfrm>
            <a:off x="5955604" y="202175"/>
            <a:ext cx="3005375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4000" b="1" dirty="0">
                <a:latin typeface="Ravie" panose="04040805050809020602" pitchFamily="82" charset="0"/>
              </a:rPr>
              <a:t>Төрт катар</a:t>
            </a:r>
            <a:endParaRPr lang="en-GB" sz="4000" b="1" dirty="0">
              <a:latin typeface="Matura MT Script Capitals" panose="03020802060602070202" pitchFamily="66" charset="0"/>
            </a:endParaRP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FEC0C933-D5DA-4EBB-9EB0-A765039CF815}"/>
              </a:ext>
            </a:extLst>
          </p:cNvPr>
          <p:cNvSpPr txBox="1"/>
          <p:nvPr/>
        </p:nvSpPr>
        <p:spPr>
          <a:xfrm rot="16200000">
            <a:off x="-1269973" y="3136614"/>
            <a:ext cx="2999736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ru-RU" sz="3200" b="1" i="1" dirty="0">
                <a:latin typeface="Ravie" panose="04040805050809020602" pitchFamily="82" charset="0"/>
              </a:rPr>
              <a:t>Суроолор</a:t>
            </a:r>
            <a:endParaRPr lang="en-GB" sz="3200" b="1" i="1" dirty="0">
              <a:latin typeface="Ravie" panose="04040805050809020602" pitchFamily="82" charset="0"/>
            </a:endParaRP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7044CD7B-522E-4AFE-9A1A-5D428C0D7509}"/>
              </a:ext>
            </a:extLst>
          </p:cNvPr>
          <p:cNvSpPr txBox="1"/>
          <p:nvPr/>
        </p:nvSpPr>
        <p:spPr>
          <a:xfrm>
            <a:off x="6113277" y="2018263"/>
            <a:ext cx="269003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ru-RU" sz="2800" b="1" i="1" dirty="0">
                <a:latin typeface="Ravie" panose="04040805050809020602" pitchFamily="82" charset="0"/>
              </a:rPr>
              <a:t>Жооп торчосу</a:t>
            </a:r>
            <a:endParaRPr lang="en-GB" sz="2800" b="1" i="1" dirty="0">
              <a:latin typeface="Ravie" panose="04040805050809020602" pitchFamily="8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167240790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F9B51DBF-835A-BBD7-99A9-D93E2027010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 rot="16200000">
            <a:off x="-855251" y="1184562"/>
            <a:ext cx="6691745" cy="4655131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AFB51436-DE08-BB89-610D-D6FACF9F1AA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 rot="16200000">
            <a:off x="4069507" y="1184562"/>
            <a:ext cx="6691745" cy="465513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79269152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>
            <a:extLst>
              <a:ext uri="{FF2B5EF4-FFF2-40B4-BE49-F238E27FC236}">
                <a16:creationId xmlns:a16="http://schemas.microsoft.com/office/drawing/2014/main" id="{385CC1E6-31DD-6AAE-9554-00CC4E9B1CF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631" y="36247"/>
            <a:ext cx="4903130" cy="3392753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C53DE798-ED75-25DB-F806-FFB029C7B19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52999" y="36247"/>
            <a:ext cx="4903130" cy="3392753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9AAA9D8D-584E-64F9-F97A-83305B3B76A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631" y="3546763"/>
            <a:ext cx="4903130" cy="3274989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A670BDAE-F501-4BE2-CC7F-E61425D7C47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52999" y="3546763"/>
            <a:ext cx="4903130" cy="327498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0149257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049DD828-9816-48D5-8793-DAFED5357886}"/>
              </a:ext>
            </a:extLst>
          </p:cNvPr>
          <p:cNvSpPr/>
          <p:nvPr/>
        </p:nvSpPr>
        <p:spPr>
          <a:xfrm>
            <a:off x="454478" y="595720"/>
            <a:ext cx="9240883" cy="550920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3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Суроолор барбы?</a:t>
            </a: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3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Комментарийлер?</a:t>
            </a: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3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Сунуштар?</a:t>
            </a: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ru-RU" sz="3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3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…же ката таптыңызбы!?</a:t>
            </a: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ru-RU" sz="3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3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Турдуу пикирлер учун ыраазычылык билдиребиз.</a:t>
            </a: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ru-RU" sz="3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3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Сураныч, электрондук кат жөнөтүңүз:</a:t>
            </a: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ru-RU" sz="3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3200" b="0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mathematicskgz@gmail.com</a:t>
            </a:r>
          </a:p>
        </p:txBody>
      </p:sp>
    </p:spTree>
    <p:extLst>
      <p:ext uri="{BB962C8B-B14F-4D97-AF65-F5344CB8AC3E}">
        <p14:creationId xmlns:p14="http://schemas.microsoft.com/office/powerpoint/2010/main" val="3750950216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 Them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 Them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solidFill>
          <a:schemeClr val="bg1"/>
        </a:solidFill>
        <a:ln w="28575">
          <a:solidFill>
            <a:schemeClr val="tx1"/>
          </a:solidFill>
        </a:ln>
      </a:spPr>
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<a:prstTxWarp prst="textNoShape">
          <a:avLst/>
        </a:prstTxWarp>
        <a:noAutofit/>
      </a:bodyPr>
      <a:lstStyle>
        <a:defPPr algn="ctr">
          <a:defRPr sz="1950"/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  <a:lnDef>
      <a:spPr>
        <a:ln w="28575">
          <a:solidFill>
            <a:schemeClr val="tx1"/>
          </a:solidFill>
        </a:ln>
      </a:spPr>
      <a:bodyPr/>
      <a:lstStyle/>
      <a:style>
        <a:lnRef idx="1">
          <a:schemeClr val="accent1"/>
        </a:lnRef>
        <a:fillRef idx="0">
          <a:schemeClr val="accent1"/>
        </a:fillRef>
        <a:effectRef idx="0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TM04033937[[fn=Vapor Trail]]</Template>
  <TotalTime>8879</TotalTime>
  <Words>235</Words>
  <Application>Microsoft Office PowerPoint</Application>
  <PresentationFormat>A4 Paper (210x297 mm)</PresentationFormat>
  <Paragraphs>82</Paragraphs>
  <Slides>5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5</vt:i4>
      </vt:variant>
    </vt:vector>
  </HeadingPairs>
  <TitlesOfParts>
    <vt:vector size="11" baseType="lpstr">
      <vt:lpstr>Matura MT Script Capitals</vt:lpstr>
      <vt:lpstr>Arial</vt:lpstr>
      <vt:lpstr>Calibri</vt:lpstr>
      <vt:lpstr>Calibri Light</vt:lpstr>
      <vt:lpstr>Ravie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Kite</dc:creator>
  <cp:lastModifiedBy>Isa Amanov</cp:lastModifiedBy>
  <cp:revision>388</cp:revision>
  <cp:lastPrinted>2019-01-13T09:49:06Z</cp:lastPrinted>
  <dcterms:created xsi:type="dcterms:W3CDTF">2017-01-17T16:57:04Z</dcterms:created>
  <dcterms:modified xsi:type="dcterms:W3CDTF">2024-08-19T08:42:23Z</dcterms:modified>
</cp:coreProperties>
</file>