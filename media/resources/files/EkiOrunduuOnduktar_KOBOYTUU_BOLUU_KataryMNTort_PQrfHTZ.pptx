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941" r:id="rId2"/>
    <p:sldId id="939" r:id="rId3"/>
    <p:sldId id="833" r:id="rId4"/>
    <p:sldId id="940" r:id="rId5"/>
    <p:sldId id="942" r:id="rId6"/>
  </p:sldIdLst>
  <p:sldSz cx="9906000" cy="6858000" type="A4"/>
  <p:notesSz cx="7104063" cy="10234613"/>
  <p:embeddedFontLst>
    <p:embeddedFont>
      <p:font typeface="Matura MT Script Capitals" panose="03020802060602070202" pitchFamily="66" charset="0"/>
      <p:regular r:id="rId8"/>
    </p:embeddedFont>
    <p:embeddedFont>
      <p:font typeface="Ravie" panose="04040805050809020602" pitchFamily="82" charset="0"/>
      <p:regular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41"/>
          </p14:sldIdLst>
        </p14:section>
        <p14:section name="Чагылдыруу" id="{05C36403-E8B4-468F-A140-90D75B14B710}">
          <p14:sldIdLst>
            <p14:sldId id="939"/>
          </p14:sldIdLst>
        </p14:section>
        <p14:section name="Иш кагаздар" id="{C9917BAB-E32A-4A78-98A8-75E884F996CE}">
          <p14:sldIdLst>
            <p14:sldId id="833"/>
            <p14:sldId id="940"/>
          </p14:sldIdLst>
        </p14:section>
        <p14:section name="Кайтарым байланыш" id="{F3D720CF-F566-46A6-9361-125255B68FA6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8" tIns="47319" rIns="94638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8" tIns="47319" rIns="94638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446EB53F-C8E3-C609-08AC-A0D4E6921DE6}"/>
              </a:ext>
            </a:extLst>
          </p:cNvPr>
          <p:cNvSpPr txBox="1">
            <a:spLocks/>
          </p:cNvSpPr>
          <p:nvPr/>
        </p:nvSpPr>
        <p:spPr>
          <a:xfrm>
            <a:off x="187960" y="1774825"/>
            <a:ext cx="10515600" cy="4351338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Амалдарды аткаруу тартиби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–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Багытталган сандвр – катары менен төрт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ky-KG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Эки-экиден жарышып, окуучулар сол жактагы суроону тандашы керек жана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жоопту эсептөөсу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ky-KG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Алар жооп торчосунда катары менен төрт жооп алууга аракет кылышы керек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колдонуу менен).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ky-KG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суроолорду тандоо үчүн убакыт чегин белгилөө зарыл болушу мүмкүн!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ky-KG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баракчалары 3 өлчөмдө.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D0CBE51D-6645-F4AE-8F17-E3876F6C01BF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03972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4F6338-9A32-4A54-8297-A41704B220A9}"/>
              </a:ext>
            </a:extLst>
          </p:cNvPr>
          <p:cNvGraphicFramePr>
            <a:graphicFrameLocks noGrp="1"/>
          </p:cNvGraphicFramePr>
          <p:nvPr/>
        </p:nvGraphicFramePr>
        <p:xfrm>
          <a:off x="5055577" y="2593732"/>
          <a:ext cx="4805430" cy="4210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1086">
                  <a:extLst>
                    <a:ext uri="{9D8B030D-6E8A-4147-A177-3AD203B41FA5}">
                      <a16:colId xmlns:a16="http://schemas.microsoft.com/office/drawing/2014/main" val="4186202697"/>
                    </a:ext>
                  </a:extLst>
                </a:gridCol>
                <a:gridCol w="961086">
                  <a:extLst>
                    <a:ext uri="{9D8B030D-6E8A-4147-A177-3AD203B41FA5}">
                      <a16:colId xmlns:a16="http://schemas.microsoft.com/office/drawing/2014/main" val="963617051"/>
                    </a:ext>
                  </a:extLst>
                </a:gridCol>
                <a:gridCol w="961086">
                  <a:extLst>
                    <a:ext uri="{9D8B030D-6E8A-4147-A177-3AD203B41FA5}">
                      <a16:colId xmlns:a16="http://schemas.microsoft.com/office/drawing/2014/main" val="823350154"/>
                    </a:ext>
                  </a:extLst>
                </a:gridCol>
                <a:gridCol w="961086">
                  <a:extLst>
                    <a:ext uri="{9D8B030D-6E8A-4147-A177-3AD203B41FA5}">
                      <a16:colId xmlns:a16="http://schemas.microsoft.com/office/drawing/2014/main" val="310387196"/>
                    </a:ext>
                  </a:extLst>
                </a:gridCol>
                <a:gridCol w="961086">
                  <a:extLst>
                    <a:ext uri="{9D8B030D-6E8A-4147-A177-3AD203B41FA5}">
                      <a16:colId xmlns:a16="http://schemas.microsoft.com/office/drawing/2014/main" val="930399332"/>
                    </a:ext>
                  </a:extLst>
                </a:gridCol>
              </a:tblGrid>
              <a:tr h="842156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0.088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1.75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4.08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632324"/>
                  </a:ext>
                </a:extLst>
              </a:tr>
              <a:tr h="842156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3.2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2.34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0.2142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5.5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010047"/>
                  </a:ext>
                </a:extLst>
              </a:tr>
              <a:tr h="842156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0.128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0.744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4.05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002653"/>
                  </a:ext>
                </a:extLst>
              </a:tr>
              <a:tr h="842156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2.8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1.89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1.12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5090426"/>
                  </a:ext>
                </a:extLst>
              </a:tr>
              <a:tr h="842156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1.12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3.4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0.861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57938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6E4B9A-CCC4-408A-92D6-AF0A7B46DF69}"/>
              </a:ext>
            </a:extLst>
          </p:cNvPr>
          <p:cNvGraphicFramePr>
            <a:graphicFrameLocks noGrp="1"/>
          </p:cNvGraphicFramePr>
          <p:nvPr/>
        </p:nvGraphicFramePr>
        <p:xfrm>
          <a:off x="504653" y="43962"/>
          <a:ext cx="4426432" cy="67612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3216">
                  <a:extLst>
                    <a:ext uri="{9D8B030D-6E8A-4147-A177-3AD203B41FA5}">
                      <a16:colId xmlns:a16="http://schemas.microsoft.com/office/drawing/2014/main" val="1783487117"/>
                    </a:ext>
                  </a:extLst>
                </a:gridCol>
                <a:gridCol w="2213216">
                  <a:extLst>
                    <a:ext uri="{9D8B030D-6E8A-4147-A177-3AD203B41FA5}">
                      <a16:colId xmlns:a16="http://schemas.microsoft.com/office/drawing/2014/main" val="287481676"/>
                    </a:ext>
                  </a:extLst>
                </a:gridCol>
              </a:tblGrid>
              <a:tr h="5200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0.31 × 2.3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2.04 ÷ 0.6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666071"/>
                  </a:ext>
                </a:extLst>
              </a:tr>
              <a:tr h="5200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15.6 ÷ 1.3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0.78 × 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825991"/>
                  </a:ext>
                </a:extLst>
              </a:tr>
              <a:tr h="5200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 × 0.44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3.6 ÷ 0.6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722879"/>
                  </a:ext>
                </a:extLst>
              </a:tr>
              <a:tr h="5200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 ÷ 1.1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 × 0.4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696694"/>
                  </a:ext>
                </a:extLst>
              </a:tr>
              <a:tr h="5200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0.42 × 0.51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8.4 ÷ 1.2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597803"/>
                  </a:ext>
                </a:extLst>
              </a:tr>
              <a:tr h="5200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4.5 ÷ 0.9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 × 3.5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679166"/>
                  </a:ext>
                </a:extLst>
              </a:tr>
              <a:tr h="5200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4.5 × 0.9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1.2 ÷ 0.3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86815"/>
                  </a:ext>
                </a:extLst>
              </a:tr>
              <a:tr h="5200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1.26 ÷ 0.14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3.4 × 1.2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798909"/>
                  </a:ext>
                </a:extLst>
              </a:tr>
              <a:tr h="5200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 × 2.1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0.84 ÷ 0.3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669354"/>
                  </a:ext>
                </a:extLst>
              </a:tr>
              <a:tr h="5200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2.56 ÷ 0.8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1.6 × 0.7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416711"/>
                  </a:ext>
                </a:extLst>
              </a:tr>
              <a:tr h="5200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2.1 × 0.41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4.5 ÷ 1.5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940436"/>
                  </a:ext>
                </a:extLst>
              </a:tr>
              <a:tr h="5200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 ÷ 0.1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× 0.56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032271"/>
                  </a:ext>
                </a:extLst>
              </a:tr>
              <a:tr h="52009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3.85 ÷ 0.7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40949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927D11E-F752-411A-9031-7458196948A5}"/>
              </a:ext>
            </a:extLst>
          </p:cNvPr>
          <p:cNvSpPr txBox="1"/>
          <p:nvPr/>
        </p:nvSpPr>
        <p:spPr>
          <a:xfrm>
            <a:off x="5026670" y="899384"/>
            <a:ext cx="483433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Сол жактан суроо тандаңыз.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Төмөнкү жоопту таап, (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X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же О) белгилеңиз.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Биринчи катары менен 4 жооп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туура келсген оюнчу жеңет!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8B5776-E736-462B-B6D4-825FE3225AD3}"/>
              </a:ext>
            </a:extLst>
          </p:cNvPr>
          <p:cNvSpPr txBox="1"/>
          <p:nvPr/>
        </p:nvSpPr>
        <p:spPr>
          <a:xfrm>
            <a:off x="5955604" y="202175"/>
            <a:ext cx="30053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 dirty="0">
                <a:latin typeface="Ravie" panose="04040805050809020602" pitchFamily="82" charset="0"/>
              </a:rPr>
              <a:t>Төрт катар</a:t>
            </a:r>
            <a:endParaRPr lang="en-GB" sz="4000" b="1" dirty="0">
              <a:latin typeface="Matura MT Script Capitals" panose="03020802060602070202" pitchFamily="66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C0C933-D5DA-4EBB-9EB0-A765039CF815}"/>
              </a:ext>
            </a:extLst>
          </p:cNvPr>
          <p:cNvSpPr txBox="1"/>
          <p:nvPr/>
        </p:nvSpPr>
        <p:spPr>
          <a:xfrm rot="16200000">
            <a:off x="-1269973" y="3136614"/>
            <a:ext cx="2999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i="1" dirty="0">
                <a:latin typeface="Ravie" panose="04040805050809020602" pitchFamily="82" charset="0"/>
              </a:rPr>
              <a:t>Суроолор</a:t>
            </a:r>
            <a:endParaRPr lang="en-GB" sz="3200" b="1" i="1" dirty="0">
              <a:latin typeface="Ravie" panose="04040805050809020602" pitchFamily="8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44CD7B-522E-4AFE-9A1A-5D428C0D7509}"/>
              </a:ext>
            </a:extLst>
          </p:cNvPr>
          <p:cNvSpPr txBox="1"/>
          <p:nvPr/>
        </p:nvSpPr>
        <p:spPr>
          <a:xfrm>
            <a:off x="6113277" y="2018263"/>
            <a:ext cx="26900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1" i="1" dirty="0">
                <a:latin typeface="Ravie" panose="04040805050809020602" pitchFamily="82" charset="0"/>
              </a:rPr>
              <a:t>Жооп торчосу</a:t>
            </a:r>
            <a:endParaRPr lang="en-GB" sz="2800" b="1" i="1" dirty="0">
              <a:latin typeface="Ravie" panose="040408050508090206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7240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B51DBF-835A-BBD7-99A9-D93E20270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55251" y="1184562"/>
            <a:ext cx="6691745" cy="46551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B51436-DE08-BB89-610D-D6FACF9F1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69507" y="1184562"/>
            <a:ext cx="6691745" cy="465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269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85CC1E6-31DD-6AAE-9554-00CC4E9B1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1" y="36247"/>
            <a:ext cx="4903130" cy="33927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3DE798-ED75-25DB-F806-FFB029C7B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999" y="36247"/>
            <a:ext cx="4903130" cy="33927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AA9D8D-584E-64F9-F97A-83305B3B7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1" y="3546763"/>
            <a:ext cx="4903130" cy="32749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70BDAE-F501-4BE2-CC7F-E61425D7C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999" y="3546763"/>
            <a:ext cx="4903130" cy="3274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492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54478" y="59572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750950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8879</TotalTime>
  <Words>235</Words>
  <Application>Microsoft Office PowerPoint</Application>
  <PresentationFormat>A4 Paper (210x297 mm)</PresentationFormat>
  <Paragraphs>82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Matura MT Script Capitals</vt:lpstr>
      <vt:lpstr>Arial</vt:lpstr>
      <vt:lpstr>Calibri</vt:lpstr>
      <vt:lpstr>Calibri Light</vt:lpstr>
      <vt:lpstr>Ravie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388</cp:revision>
  <cp:lastPrinted>2019-01-13T09:49:06Z</cp:lastPrinted>
  <dcterms:created xsi:type="dcterms:W3CDTF">2017-01-17T16:57:04Z</dcterms:created>
  <dcterms:modified xsi:type="dcterms:W3CDTF">2024-08-19T08:42:23Z</dcterms:modified>
</cp:coreProperties>
</file>