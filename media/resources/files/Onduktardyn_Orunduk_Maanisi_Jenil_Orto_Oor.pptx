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DE5AE1A8-6660-48CC-AD73-ACE7D99C79C6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Таркатма иш кагаздары" id="{A78D9305-6AAE-4715-A210-52F6908F30F7}">
          <p14:sldIdLst>
            <p14:sldId id="946"/>
          </p14:sldIdLst>
        </p14:section>
        <p14:section name="Кайтарым байланыш" id="{8356E4A5-7CCE-4860-921E-86777E43F799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64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43" d="100"/>
          <a:sy n="43" d="100"/>
        </p:scale>
        <p:origin x="2840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83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Ондуктар – орундук мааниси  </a:t>
            </a:r>
            <a:r>
              <a:rPr kumimoji="0" lang="en-US" sz="2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 </a:t>
            </a:r>
            <a:r>
              <a:rPr kumimoji="0" lang="ru-RU" sz="28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-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 "/>
              </a:rPr>
              <a:t>ЖЕҢИЛ, 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 "/>
              </a:rPr>
              <a:t>ОРТО,</a:t>
            </a: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 "/>
              </a:rPr>
              <a:t> ООР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 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D7CAADB-B5C2-4443-12FD-878B37F3968B}"/>
                  </a:ext>
                </a:extLst>
              </p:cNvPr>
              <p:cNvSpPr txBox="1"/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D7CAADB-B5C2-4443-12FD-878B37F39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1E49C482-3D4C-FFC9-2286-51E642764ADE}"/>
              </a:ext>
            </a:extLst>
          </p:cNvPr>
          <p:cNvSpPr/>
          <p:nvPr/>
        </p:nvSpPr>
        <p:spPr>
          <a:xfrm>
            <a:off x="8991599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2A4F46-86E0-5F34-E030-0222AE15062A}"/>
              </a:ext>
            </a:extLst>
          </p:cNvPr>
          <p:cNvSpPr/>
          <p:nvPr/>
        </p:nvSpPr>
        <p:spPr>
          <a:xfrm>
            <a:off x="8341518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9FB36BD-EF64-4791-B47D-392E7491C6EF}"/>
              </a:ext>
            </a:extLst>
          </p:cNvPr>
          <p:cNvSpPr/>
          <p:nvPr/>
        </p:nvSpPr>
        <p:spPr>
          <a:xfrm>
            <a:off x="8991599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9AF78B4-CA94-1EFE-0A94-4639165AC4CF}"/>
              </a:ext>
            </a:extLst>
          </p:cNvPr>
          <p:cNvSpPr/>
          <p:nvPr/>
        </p:nvSpPr>
        <p:spPr>
          <a:xfrm>
            <a:off x="8338087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16200B-9B10-E02F-506B-7BE555FE8F7C}"/>
              </a:ext>
            </a:extLst>
          </p:cNvPr>
          <p:cNvSpPr txBox="1"/>
          <p:nvPr/>
        </p:nvSpPr>
        <p:spPr>
          <a:xfrm>
            <a:off x="576539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6C354-2983-4C6F-978E-B4228CD9C6DC}"/>
              </a:ext>
            </a:extLst>
          </p:cNvPr>
          <p:cNvSpPr txBox="1"/>
          <p:nvPr/>
        </p:nvSpPr>
        <p:spPr>
          <a:xfrm>
            <a:off x="2327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7BB6-A281-9164-FCF1-C41562A35A78}"/>
              </a:ext>
            </a:extLst>
          </p:cNvPr>
          <p:cNvSpPr txBox="1"/>
          <p:nvPr/>
        </p:nvSpPr>
        <p:spPr>
          <a:xfrm>
            <a:off x="434429" y="1663097"/>
            <a:ext cx="26111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ондук үлүшү 3 болгон</a:t>
            </a:r>
            <a:r>
              <a:rPr lang="en-GB" sz="20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1797DB-9147-F6D2-295F-63F1BDFE997A}"/>
              </a:ext>
            </a:extLst>
          </p:cNvPr>
          <p:cNvSpPr txBox="1"/>
          <p:nvPr/>
        </p:nvSpPr>
        <p:spPr>
          <a:xfrm>
            <a:off x="232766" y="285593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BD0EC2-E601-6869-6984-D8615DD143E3}"/>
              </a:ext>
            </a:extLst>
          </p:cNvPr>
          <p:cNvSpPr txBox="1"/>
          <p:nvPr/>
        </p:nvSpPr>
        <p:spPr>
          <a:xfrm>
            <a:off x="438496" y="2873493"/>
            <a:ext cx="26030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…2</a:t>
            </a:r>
            <a:r>
              <a:rPr lang="ky-KG" sz="2000" dirty="0"/>
              <a:t>ден чоң жана ондук </a:t>
            </a:r>
          </a:p>
          <a:p>
            <a:pPr algn="ctr"/>
            <a:r>
              <a:rPr lang="ky-KG" sz="2000" dirty="0"/>
              <a:t>улүшү  </a:t>
            </a:r>
            <a:r>
              <a:rPr lang="en-GB" sz="2000" dirty="0"/>
              <a:t>7 </a:t>
            </a:r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2C6586-8D9D-23F7-A776-3A60789529B8}"/>
              </a:ext>
            </a:extLst>
          </p:cNvPr>
          <p:cNvSpPr txBox="1"/>
          <p:nvPr/>
        </p:nvSpPr>
        <p:spPr>
          <a:xfrm>
            <a:off x="232766" y="43741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5115BC-B10F-9EF7-6615-560E1124FED3}"/>
              </a:ext>
            </a:extLst>
          </p:cNvPr>
          <p:cNvSpPr txBox="1"/>
          <p:nvPr/>
        </p:nvSpPr>
        <p:spPr>
          <a:xfrm>
            <a:off x="735365" y="4391259"/>
            <a:ext cx="197759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жүздүк үлүшү 6</a:t>
            </a:r>
            <a:r>
              <a:rPr lang="en-GB" sz="2000" dirty="0"/>
              <a:t> </a:t>
            </a:r>
            <a:endParaRPr lang="ky-KG" sz="2000" dirty="0"/>
          </a:p>
          <a:p>
            <a:pPr algn="ctr"/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49BB01-85B9-009F-6D11-C3CA262E2B7A}"/>
              </a:ext>
            </a:extLst>
          </p:cNvPr>
          <p:cNvSpPr txBox="1"/>
          <p:nvPr/>
        </p:nvSpPr>
        <p:spPr>
          <a:xfrm>
            <a:off x="2327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64063-9694-7099-5CEA-530BB7A6C4BA}"/>
              </a:ext>
            </a:extLst>
          </p:cNvPr>
          <p:cNvSpPr txBox="1"/>
          <p:nvPr/>
        </p:nvSpPr>
        <p:spPr>
          <a:xfrm>
            <a:off x="349659" y="5584499"/>
            <a:ext cx="278069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 </a:t>
            </a:r>
            <a:r>
              <a:rPr lang="en-GB" sz="2000" dirty="0"/>
              <a:t>0.3</a:t>
            </a:r>
            <a:r>
              <a:rPr lang="ky-KG" sz="2000" dirty="0"/>
              <a:t> төн кичине, жүздүк </a:t>
            </a:r>
          </a:p>
          <a:p>
            <a:pPr algn="ctr"/>
            <a:r>
              <a:rPr lang="ky-KG" sz="2000" dirty="0"/>
              <a:t>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E6D93-42CB-5FA7-75FA-75B8A45BC625}"/>
              </a:ext>
            </a:extLst>
          </p:cNvPr>
          <p:cNvSpPr txBox="1"/>
          <p:nvPr/>
        </p:nvSpPr>
        <p:spPr>
          <a:xfrm>
            <a:off x="3891240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AD6945-C2CE-954E-3710-81C7F8B7E22E}"/>
              </a:ext>
            </a:extLst>
          </p:cNvPr>
          <p:cNvSpPr txBox="1"/>
          <p:nvPr/>
        </p:nvSpPr>
        <p:spPr>
          <a:xfrm>
            <a:off x="35474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B7ACCA-9E32-4366-7450-70352D1407E1}"/>
              </a:ext>
            </a:extLst>
          </p:cNvPr>
          <p:cNvSpPr txBox="1"/>
          <p:nvPr/>
        </p:nvSpPr>
        <p:spPr>
          <a:xfrm>
            <a:off x="4082486" y="1516923"/>
            <a:ext cx="213641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миңдик  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  <a:p>
            <a:pPr algn="ctr"/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31F277-34F2-CAB7-3887-92E13DEE7E1E}"/>
              </a:ext>
            </a:extLst>
          </p:cNvPr>
          <p:cNvSpPr txBox="1"/>
          <p:nvPr/>
        </p:nvSpPr>
        <p:spPr>
          <a:xfrm>
            <a:off x="3547466" y="295409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6FD986-859C-5650-D788-86C85CB9EF3B}"/>
              </a:ext>
            </a:extLst>
          </p:cNvPr>
          <p:cNvSpPr txBox="1"/>
          <p:nvPr/>
        </p:nvSpPr>
        <p:spPr>
          <a:xfrm>
            <a:off x="4006596" y="2971658"/>
            <a:ext cx="20962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13 </a:t>
            </a:r>
            <a:r>
              <a:rPr lang="ky-KG" sz="2000" dirty="0"/>
              <a:t>ондук бөлчөк</a:t>
            </a:r>
            <a:r>
              <a:rPr lang="en-GB" sz="2000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2E10D0-35AF-0CE8-D35D-6D2BAC1E1973}"/>
              </a:ext>
            </a:extLst>
          </p:cNvPr>
          <p:cNvSpPr txBox="1"/>
          <p:nvPr/>
        </p:nvSpPr>
        <p:spPr>
          <a:xfrm>
            <a:off x="3547466" y="42759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EBCC812-C8FF-F18E-876F-433B03A6259B}"/>
              </a:ext>
            </a:extLst>
          </p:cNvPr>
          <p:cNvSpPr txBox="1"/>
          <p:nvPr/>
        </p:nvSpPr>
        <p:spPr>
          <a:xfrm>
            <a:off x="3942481" y="4275938"/>
            <a:ext cx="22244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29 </a:t>
            </a:r>
            <a:r>
              <a:rPr lang="ky-KG" sz="2000" dirty="0"/>
              <a:t>жүздүк бөлчөк</a:t>
            </a:r>
            <a:r>
              <a:rPr lang="en-GB" sz="2000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961E00-BFD8-6561-8AC9-B73A8E2374B0}"/>
              </a:ext>
            </a:extLst>
          </p:cNvPr>
          <p:cNvSpPr txBox="1"/>
          <p:nvPr/>
        </p:nvSpPr>
        <p:spPr>
          <a:xfrm>
            <a:off x="35474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9032AC-4AB2-901E-9265-C326E3F88559}"/>
              </a:ext>
            </a:extLst>
          </p:cNvPr>
          <p:cNvSpPr txBox="1"/>
          <p:nvPr/>
        </p:nvSpPr>
        <p:spPr>
          <a:xfrm>
            <a:off x="3838830" y="5584499"/>
            <a:ext cx="24317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307</a:t>
            </a:r>
            <a:r>
              <a:rPr lang="ky-KG" sz="2000" dirty="0"/>
              <a:t> миңдик бөлчөк</a:t>
            </a:r>
            <a:r>
              <a:rPr lang="en-GB" sz="2000" dirty="0"/>
              <a:t>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6DBFF2-CF50-9ABE-106E-C926B0D98EB6}"/>
              </a:ext>
            </a:extLst>
          </p:cNvPr>
          <p:cNvSpPr txBox="1"/>
          <p:nvPr/>
        </p:nvSpPr>
        <p:spPr>
          <a:xfrm>
            <a:off x="6890741" y="679172"/>
            <a:ext cx="290797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Ар бир сан үчүн ондук </a:t>
            </a:r>
          </a:p>
          <a:p>
            <a:pPr algn="ctr"/>
            <a:r>
              <a:rPr lang="ky-KG" sz="2000" dirty="0"/>
              <a:t>бөлүкчөлөрдүн суммасын </a:t>
            </a:r>
          </a:p>
          <a:p>
            <a:pPr algn="ctr"/>
            <a:r>
              <a:rPr lang="ky-KG" sz="2000" dirty="0"/>
              <a:t>толукта.</a:t>
            </a:r>
            <a:endParaRPr lang="en-GB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71C4BF-5E51-7C6C-5454-85DF79699C0C}"/>
              </a:ext>
            </a:extLst>
          </p:cNvPr>
          <p:cNvSpPr txBox="1"/>
          <p:nvPr/>
        </p:nvSpPr>
        <p:spPr>
          <a:xfrm>
            <a:off x="6890741" y="18386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01895C-D786-46C0-E165-F48B153E12EB}"/>
              </a:ext>
            </a:extLst>
          </p:cNvPr>
          <p:cNvSpPr txBox="1"/>
          <p:nvPr/>
        </p:nvSpPr>
        <p:spPr>
          <a:xfrm>
            <a:off x="7288078" y="1810047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0.56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EA8CC6-9EED-64E0-A0C8-F74075B9BCD8}"/>
              </a:ext>
            </a:extLst>
          </p:cNvPr>
          <p:cNvSpPr txBox="1"/>
          <p:nvPr/>
        </p:nvSpPr>
        <p:spPr>
          <a:xfrm>
            <a:off x="6890741" y="28292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0A68F1-E3E3-CCE1-FEF4-DFF7FBBE3CEB}"/>
              </a:ext>
            </a:extLst>
          </p:cNvPr>
          <p:cNvSpPr txBox="1"/>
          <p:nvPr/>
        </p:nvSpPr>
        <p:spPr>
          <a:xfrm>
            <a:off x="7210331" y="2800647"/>
            <a:ext cx="6989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0.287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8B0D7E-3EB6-98BA-5DCB-8941BD30D4EB}"/>
              </a:ext>
            </a:extLst>
          </p:cNvPr>
          <p:cNvSpPr txBox="1"/>
          <p:nvPr/>
        </p:nvSpPr>
        <p:spPr>
          <a:xfrm>
            <a:off x="6878478" y="3574772"/>
            <a:ext cx="284853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Асты сызылган сандарды </a:t>
            </a:r>
          </a:p>
          <a:p>
            <a:pPr algn="ctr"/>
            <a:r>
              <a:rPr lang="ky-KG" sz="2000" dirty="0"/>
              <a:t>жөнөкөйлөштүрүлгөн</a:t>
            </a:r>
          </a:p>
          <a:p>
            <a:pPr algn="ctr"/>
            <a:r>
              <a:rPr lang="ky-KG" sz="2000" dirty="0"/>
              <a:t> бөлчөк түрүндө көрсөт.</a:t>
            </a:r>
            <a:endParaRPr lang="en-GB" sz="14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9F0F7C-319D-6852-A446-8A608AB0A22D}"/>
              </a:ext>
            </a:extLst>
          </p:cNvPr>
          <p:cNvSpPr txBox="1"/>
          <p:nvPr/>
        </p:nvSpPr>
        <p:spPr>
          <a:xfrm>
            <a:off x="6890741" y="49913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0905BB-F296-6EF0-AE65-70B3A69F2BB7}"/>
              </a:ext>
            </a:extLst>
          </p:cNvPr>
          <p:cNvSpPr txBox="1"/>
          <p:nvPr/>
        </p:nvSpPr>
        <p:spPr>
          <a:xfrm>
            <a:off x="7288078" y="4962822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4</a:t>
            </a:r>
            <a:r>
              <a:rPr lang="en-GB" sz="2400" u="sng" dirty="0"/>
              <a:t>2.2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869689-00AF-C29A-CA24-13B9AAE296FA}"/>
              </a:ext>
            </a:extLst>
          </p:cNvPr>
          <p:cNvSpPr txBox="1"/>
          <p:nvPr/>
        </p:nvSpPr>
        <p:spPr>
          <a:xfrm>
            <a:off x="6890741" y="60486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7D79B38-7740-E17C-7318-C2CD645AC5E0}"/>
              </a:ext>
            </a:extLst>
          </p:cNvPr>
          <p:cNvSpPr txBox="1"/>
          <p:nvPr/>
        </p:nvSpPr>
        <p:spPr>
          <a:xfrm>
            <a:off x="7288077" y="6020097"/>
            <a:ext cx="5434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2.</a:t>
            </a:r>
            <a:r>
              <a:rPr lang="en-GB" sz="2400" u="sng" dirty="0"/>
              <a:t>52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B8EB3AB-8B23-3A85-6D3D-9E7DFB58C727}"/>
              </a:ext>
            </a:extLst>
          </p:cNvPr>
          <p:cNvSpPr/>
          <p:nvPr/>
        </p:nvSpPr>
        <p:spPr>
          <a:xfrm>
            <a:off x="13950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364223D7-5EB9-DFAC-2048-ACC32E3DC224}"/>
              </a:ext>
            </a:extLst>
          </p:cNvPr>
          <p:cNvSpPr/>
          <p:nvPr/>
        </p:nvSpPr>
        <p:spPr>
          <a:xfrm>
            <a:off x="345674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6419072-B11C-F0AC-6F92-71DCD2D9D9E0}"/>
              </a:ext>
            </a:extLst>
          </p:cNvPr>
          <p:cNvSpPr/>
          <p:nvPr/>
        </p:nvSpPr>
        <p:spPr>
          <a:xfrm>
            <a:off x="677398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0C9B446-8F40-BEC8-4E40-E24C990FDADA}"/>
              </a:ext>
            </a:extLst>
          </p:cNvPr>
          <p:cNvSpPr/>
          <p:nvPr/>
        </p:nvSpPr>
        <p:spPr>
          <a:xfrm>
            <a:off x="843280" y="119380"/>
            <a:ext cx="1568384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954398-72C4-DF39-EE7B-8D6EC1C51E63}"/>
              </a:ext>
            </a:extLst>
          </p:cNvPr>
          <p:cNvSpPr/>
          <p:nvPr/>
        </p:nvSpPr>
        <p:spPr>
          <a:xfrm>
            <a:off x="4460362" y="147344"/>
            <a:ext cx="1217514" cy="30963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FDB6E4-AC9C-71D3-D133-0562F8C53B86}"/>
              </a:ext>
            </a:extLst>
          </p:cNvPr>
          <p:cNvSpPr/>
          <p:nvPr/>
        </p:nvSpPr>
        <p:spPr>
          <a:xfrm>
            <a:off x="7671433" y="152823"/>
            <a:ext cx="1391287" cy="42353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6D89FE-070E-37E1-9668-8EEDE52E8F66}"/>
              </a:ext>
            </a:extLst>
          </p:cNvPr>
          <p:cNvSpPr txBox="1"/>
          <p:nvPr/>
        </p:nvSpPr>
        <p:spPr>
          <a:xfrm>
            <a:off x="7731786" y="12035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37491F7-18ED-E86F-1AC6-C66D8D16940B}"/>
              </a:ext>
            </a:extLst>
          </p:cNvPr>
          <p:cNvSpPr txBox="1"/>
          <p:nvPr/>
        </p:nvSpPr>
        <p:spPr>
          <a:xfrm>
            <a:off x="654020" y="43099"/>
            <a:ext cx="193157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255867-D2D8-CE82-7D1D-A5BD7562B1B5}"/>
              </a:ext>
            </a:extLst>
          </p:cNvPr>
          <p:cNvSpPr txBox="1"/>
          <p:nvPr/>
        </p:nvSpPr>
        <p:spPr>
          <a:xfrm>
            <a:off x="4472318" y="43099"/>
            <a:ext cx="121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1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320039"/>
            <a:ext cx="3020256" cy="6416041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843280" y="119380"/>
            <a:ext cx="1568384" cy="4234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561840" y="119380"/>
            <a:ext cx="1087120" cy="4234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7671433" y="119380"/>
            <a:ext cx="1391287" cy="4234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576539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327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60833-C96F-44B8-BD51-C9B11D8512B8}"/>
              </a:ext>
            </a:extLst>
          </p:cNvPr>
          <p:cNvSpPr txBox="1"/>
          <p:nvPr/>
        </p:nvSpPr>
        <p:spPr>
          <a:xfrm>
            <a:off x="434429" y="1663097"/>
            <a:ext cx="261116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ондук үлүшү 3 болгон</a:t>
            </a:r>
            <a:r>
              <a:rPr lang="en-GB" sz="2000" dirty="0"/>
              <a:t>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07EDBB3-432C-4793-8763-CDF752C13DF6}"/>
              </a:ext>
            </a:extLst>
          </p:cNvPr>
          <p:cNvSpPr txBox="1"/>
          <p:nvPr/>
        </p:nvSpPr>
        <p:spPr>
          <a:xfrm>
            <a:off x="1068347" y="2093918"/>
            <a:ext cx="13433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 0.3</a:t>
            </a:r>
            <a:endParaRPr lang="en-GB" sz="20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01E3364-BE52-4541-906F-FA9E2F9BBAF3}"/>
              </a:ext>
            </a:extLst>
          </p:cNvPr>
          <p:cNvSpPr txBox="1"/>
          <p:nvPr/>
        </p:nvSpPr>
        <p:spPr>
          <a:xfrm>
            <a:off x="232766" y="285593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9DE9EFC-A3EB-4129-B878-2D34B29071F1}"/>
              </a:ext>
            </a:extLst>
          </p:cNvPr>
          <p:cNvSpPr txBox="1"/>
          <p:nvPr/>
        </p:nvSpPr>
        <p:spPr>
          <a:xfrm>
            <a:off x="438496" y="2873493"/>
            <a:ext cx="2603020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…2</a:t>
            </a:r>
            <a:r>
              <a:rPr lang="ky-KG" sz="2000" dirty="0"/>
              <a:t>ден чоң жана ондук </a:t>
            </a:r>
          </a:p>
          <a:p>
            <a:pPr algn="ctr"/>
            <a:r>
              <a:rPr lang="ky-KG" sz="2000" dirty="0"/>
              <a:t>улүшү  </a:t>
            </a:r>
            <a:r>
              <a:rPr lang="en-GB" sz="2000" dirty="0"/>
              <a:t>7 </a:t>
            </a:r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A0D9FE3-87BC-48A4-8F6A-6CBC19FED15D}"/>
              </a:ext>
            </a:extLst>
          </p:cNvPr>
          <p:cNvSpPr txBox="1"/>
          <p:nvPr/>
        </p:nvSpPr>
        <p:spPr>
          <a:xfrm>
            <a:off x="1068347" y="3612090"/>
            <a:ext cx="134331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 3.7</a:t>
            </a:r>
            <a:endParaRPr lang="en-GB" sz="2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4C54795-C149-4DB7-A841-0A4369CBC76F}"/>
              </a:ext>
            </a:extLst>
          </p:cNvPr>
          <p:cNvSpPr txBox="1"/>
          <p:nvPr/>
        </p:nvSpPr>
        <p:spPr>
          <a:xfrm>
            <a:off x="232766" y="4374103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3F803A1-0255-45AC-99FF-AEFE67855DC7}"/>
              </a:ext>
            </a:extLst>
          </p:cNvPr>
          <p:cNvSpPr txBox="1"/>
          <p:nvPr/>
        </p:nvSpPr>
        <p:spPr>
          <a:xfrm>
            <a:off x="735365" y="4391259"/>
            <a:ext cx="197759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жүздүк үлүшү 6</a:t>
            </a:r>
            <a:r>
              <a:rPr lang="en-GB" sz="2000" dirty="0"/>
              <a:t> </a:t>
            </a:r>
            <a:endParaRPr lang="ky-KG" sz="2000" dirty="0"/>
          </a:p>
          <a:p>
            <a:pPr algn="ctr"/>
            <a:r>
              <a:rPr lang="ky-KG" sz="2000" dirty="0"/>
              <a:t>болгон</a:t>
            </a:r>
            <a:r>
              <a:rPr lang="en-GB" sz="2000" dirty="0"/>
              <a:t>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19FD7D5-AC57-400B-A7A1-857211A5F2C7}"/>
              </a:ext>
            </a:extLst>
          </p:cNvPr>
          <p:cNvSpPr txBox="1"/>
          <p:nvPr/>
        </p:nvSpPr>
        <p:spPr>
          <a:xfrm>
            <a:off x="983509" y="4974683"/>
            <a:ext cx="15308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0.06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0DE196A-4B71-4193-A5EE-40C0EAAE7B4E}"/>
              </a:ext>
            </a:extLst>
          </p:cNvPr>
          <p:cNvSpPr txBox="1"/>
          <p:nvPr/>
        </p:nvSpPr>
        <p:spPr>
          <a:xfrm>
            <a:off x="2327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B910F1A-39E2-419C-B22F-BB8F7648FD9B}"/>
              </a:ext>
            </a:extLst>
          </p:cNvPr>
          <p:cNvSpPr txBox="1"/>
          <p:nvPr/>
        </p:nvSpPr>
        <p:spPr>
          <a:xfrm>
            <a:off x="349659" y="5584499"/>
            <a:ext cx="278069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</a:t>
            </a:r>
            <a:r>
              <a:rPr lang="ky-KG" sz="2000" dirty="0"/>
              <a:t> </a:t>
            </a:r>
            <a:r>
              <a:rPr lang="en-GB" sz="2000" dirty="0"/>
              <a:t>0.3</a:t>
            </a:r>
            <a:r>
              <a:rPr lang="ky-KG" sz="2000" dirty="0"/>
              <a:t> төн кичине, жүздүк </a:t>
            </a:r>
          </a:p>
          <a:p>
            <a:pPr algn="ctr"/>
            <a:r>
              <a:rPr lang="ky-KG" sz="2000" dirty="0"/>
              <a:t>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29E8B55-90AE-4FD1-9057-D0DB7CB05E43}"/>
              </a:ext>
            </a:extLst>
          </p:cNvPr>
          <p:cNvSpPr txBox="1"/>
          <p:nvPr/>
        </p:nvSpPr>
        <p:spPr>
          <a:xfrm>
            <a:off x="1003427" y="6323098"/>
            <a:ext cx="147316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Мисалы:</a:t>
            </a:r>
            <a:r>
              <a:rPr lang="en-GB" sz="2000" dirty="0"/>
              <a:t> 0.28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5F97AD7-0D82-48A9-A966-D6C92C0411FE}"/>
              </a:ext>
            </a:extLst>
          </p:cNvPr>
          <p:cNvSpPr txBox="1"/>
          <p:nvPr/>
        </p:nvSpPr>
        <p:spPr>
          <a:xfrm>
            <a:off x="3891240" y="679172"/>
            <a:ext cx="213641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Ондук бөлчөктөрдү</a:t>
            </a:r>
          </a:p>
          <a:p>
            <a:pPr algn="ctr"/>
            <a:r>
              <a:rPr lang="ky-KG" sz="2000" dirty="0"/>
              <a:t>жазгыла…</a:t>
            </a:r>
            <a:endParaRPr lang="en-GB" sz="1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0776A12-0F1C-4730-8CD9-7CA33C074356}"/>
              </a:ext>
            </a:extLst>
          </p:cNvPr>
          <p:cNvSpPr txBox="1"/>
          <p:nvPr/>
        </p:nvSpPr>
        <p:spPr>
          <a:xfrm>
            <a:off x="3547466" y="16630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2E2887B-EEDB-4B07-A289-EBB9CA4811CC}"/>
              </a:ext>
            </a:extLst>
          </p:cNvPr>
          <p:cNvSpPr txBox="1"/>
          <p:nvPr/>
        </p:nvSpPr>
        <p:spPr>
          <a:xfrm>
            <a:off x="4082486" y="1516923"/>
            <a:ext cx="213641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… </a:t>
            </a:r>
            <a:r>
              <a:rPr lang="ky-KG" sz="2000" dirty="0"/>
              <a:t>миңдик  үлушү </a:t>
            </a:r>
            <a:r>
              <a:rPr lang="en-GB" sz="2000" dirty="0"/>
              <a:t>8</a:t>
            </a:r>
            <a:r>
              <a:rPr lang="ky-KG" sz="2000" dirty="0"/>
              <a:t> болгон</a:t>
            </a:r>
            <a:r>
              <a:rPr lang="en-GB" sz="2000" dirty="0"/>
              <a:t>.</a:t>
            </a:r>
          </a:p>
          <a:p>
            <a:pPr algn="ctr"/>
            <a:endParaRPr lang="en-GB" sz="20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4229C37-D5AB-4C19-87A1-BFDD69B32F22}"/>
              </a:ext>
            </a:extLst>
          </p:cNvPr>
          <p:cNvSpPr txBox="1"/>
          <p:nvPr/>
        </p:nvSpPr>
        <p:spPr>
          <a:xfrm>
            <a:off x="4267704" y="2160017"/>
            <a:ext cx="166071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0.0</a:t>
            </a:r>
            <a:r>
              <a:rPr lang="ky-KG" sz="2000" dirty="0"/>
              <a:t>0</a:t>
            </a:r>
            <a:r>
              <a:rPr lang="en-GB" sz="2000" dirty="0"/>
              <a:t>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4E581E4-63A2-47BA-A526-51CA8D26CDC9}"/>
              </a:ext>
            </a:extLst>
          </p:cNvPr>
          <p:cNvSpPr txBox="1"/>
          <p:nvPr/>
        </p:nvSpPr>
        <p:spPr>
          <a:xfrm>
            <a:off x="3547466" y="295409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03E56F2-C10D-48A9-9324-A311D7E50A6C}"/>
              </a:ext>
            </a:extLst>
          </p:cNvPr>
          <p:cNvSpPr txBox="1"/>
          <p:nvPr/>
        </p:nvSpPr>
        <p:spPr>
          <a:xfrm>
            <a:off x="4006596" y="2971658"/>
            <a:ext cx="20962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13 </a:t>
            </a:r>
            <a:r>
              <a:rPr lang="ky-KG" sz="2000" dirty="0"/>
              <a:t>ондук бөлчөк</a:t>
            </a:r>
            <a:r>
              <a:rPr lang="en-GB" sz="2000" dirty="0"/>
              <a:t>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B9C40CF-2964-4296-99FC-76DCD06EF636}"/>
              </a:ext>
            </a:extLst>
          </p:cNvPr>
          <p:cNvSpPr txBox="1"/>
          <p:nvPr/>
        </p:nvSpPr>
        <p:spPr>
          <a:xfrm>
            <a:off x="4354193" y="3415760"/>
            <a:ext cx="140102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 </a:t>
            </a:r>
            <a:r>
              <a:rPr lang="en-GB" sz="2000" dirty="0"/>
              <a:t>1.3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787A565-017C-4B90-9A22-C3C68A3C175F}"/>
              </a:ext>
            </a:extLst>
          </p:cNvPr>
          <p:cNvSpPr txBox="1"/>
          <p:nvPr/>
        </p:nvSpPr>
        <p:spPr>
          <a:xfrm>
            <a:off x="3547466" y="42759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C0C4A5E-E200-45E8-B559-743A4C5AB4E9}"/>
              </a:ext>
            </a:extLst>
          </p:cNvPr>
          <p:cNvSpPr txBox="1"/>
          <p:nvPr/>
        </p:nvSpPr>
        <p:spPr>
          <a:xfrm>
            <a:off x="3942481" y="4275938"/>
            <a:ext cx="22244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29 </a:t>
            </a:r>
            <a:r>
              <a:rPr lang="ky-KG" sz="2000" dirty="0"/>
              <a:t>жүздүк бөлчөк</a:t>
            </a:r>
            <a:r>
              <a:rPr lang="en-GB" sz="2000" dirty="0"/>
              <a:t>.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0CE6C52-03BF-44E4-9B46-09C1CDFFEA86}"/>
              </a:ext>
            </a:extLst>
          </p:cNvPr>
          <p:cNvSpPr txBox="1"/>
          <p:nvPr/>
        </p:nvSpPr>
        <p:spPr>
          <a:xfrm>
            <a:off x="4289271" y="4706759"/>
            <a:ext cx="153086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</a:t>
            </a:r>
            <a:r>
              <a:rPr lang="en-GB" sz="2000" dirty="0"/>
              <a:t> 0.29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6E5F3B8-7329-4C58-B69D-5476CEAB7861}"/>
              </a:ext>
            </a:extLst>
          </p:cNvPr>
          <p:cNvSpPr txBox="1"/>
          <p:nvPr/>
        </p:nvSpPr>
        <p:spPr>
          <a:xfrm>
            <a:off x="3547466" y="556693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3C57678-6F3F-4384-BD27-CB07D11E6E87}"/>
              </a:ext>
            </a:extLst>
          </p:cNvPr>
          <p:cNvSpPr txBox="1"/>
          <p:nvPr/>
        </p:nvSpPr>
        <p:spPr>
          <a:xfrm>
            <a:off x="3838830" y="5584499"/>
            <a:ext cx="243175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… 307</a:t>
            </a:r>
            <a:r>
              <a:rPr lang="ky-KG" sz="2000" dirty="0"/>
              <a:t> миңдик бөлчөк</a:t>
            </a:r>
            <a:r>
              <a:rPr lang="en-GB" sz="2000" dirty="0"/>
              <a:t>.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B2F4C13-ED42-4A40-BE94-6012EB5B656C}"/>
              </a:ext>
            </a:extLst>
          </p:cNvPr>
          <p:cNvSpPr txBox="1"/>
          <p:nvPr/>
        </p:nvSpPr>
        <p:spPr>
          <a:xfrm>
            <a:off x="4253203" y="6006400"/>
            <a:ext cx="160300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Мисалы :</a:t>
            </a:r>
            <a:r>
              <a:rPr lang="en-GB" sz="2000" dirty="0"/>
              <a:t>0.307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DCA7CF8-F041-45AB-843D-3B48D6C91079}"/>
              </a:ext>
            </a:extLst>
          </p:cNvPr>
          <p:cNvSpPr txBox="1"/>
          <p:nvPr/>
        </p:nvSpPr>
        <p:spPr>
          <a:xfrm>
            <a:off x="6890741" y="679172"/>
            <a:ext cx="290797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Ар бир сан үчүн ондук </a:t>
            </a:r>
          </a:p>
          <a:p>
            <a:pPr algn="ctr"/>
            <a:r>
              <a:rPr lang="ky-KG" sz="2000" dirty="0"/>
              <a:t>бөлүкчөлөрдүн суммасын </a:t>
            </a:r>
          </a:p>
          <a:p>
            <a:pPr algn="ctr"/>
            <a:r>
              <a:rPr lang="ky-KG" sz="2000" dirty="0"/>
              <a:t>толукта.</a:t>
            </a:r>
            <a:endParaRPr lang="en-GB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6CC19AE-C2B1-48D1-A053-8B1EBB7FB590}"/>
              </a:ext>
            </a:extLst>
          </p:cNvPr>
          <p:cNvSpPr txBox="1"/>
          <p:nvPr/>
        </p:nvSpPr>
        <p:spPr>
          <a:xfrm>
            <a:off x="6890741" y="18386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F4C45CC-B74F-4664-A43A-F45282A26FA7}"/>
              </a:ext>
            </a:extLst>
          </p:cNvPr>
          <p:cNvSpPr txBox="1"/>
          <p:nvPr/>
        </p:nvSpPr>
        <p:spPr>
          <a:xfrm>
            <a:off x="7288078" y="1810047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0.56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1E0F3D-BB8B-4FF4-BE35-AD0FE6C6746A}"/>
                  </a:ext>
                </a:extLst>
              </p:cNvPr>
              <p:cNvSpPr txBox="1"/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10 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241E0F3D-BB8B-4FF4-BE35-AD0FE6C67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7078" y="1703393"/>
                <a:ext cx="1072408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TextBox 165">
            <a:extLst>
              <a:ext uri="{FF2B5EF4-FFF2-40B4-BE49-F238E27FC236}">
                <a16:creationId xmlns:a16="http://schemas.microsoft.com/office/drawing/2014/main" id="{B4E645C2-3992-48A1-B779-542C349E9494}"/>
              </a:ext>
            </a:extLst>
          </p:cNvPr>
          <p:cNvSpPr txBox="1"/>
          <p:nvPr/>
        </p:nvSpPr>
        <p:spPr>
          <a:xfrm>
            <a:off x="6890741" y="282922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C1548CF-B415-44EA-9F09-0B8297A64797}"/>
              </a:ext>
            </a:extLst>
          </p:cNvPr>
          <p:cNvSpPr txBox="1"/>
          <p:nvPr/>
        </p:nvSpPr>
        <p:spPr>
          <a:xfrm>
            <a:off x="7210331" y="2800647"/>
            <a:ext cx="69891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0.287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72D5A73-3C2E-4054-9D4C-03F3E15711CD}"/>
                  </a:ext>
                </a:extLst>
              </p:cNvPr>
              <p:cNvSpPr txBox="1"/>
              <p:nvPr/>
            </p:nvSpPr>
            <p:spPr>
              <a:xfrm>
                <a:off x="8004511" y="2693993"/>
                <a:ext cx="1758494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E72D5A73-3C2E-4054-9D4C-03F3E1571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511" y="2693993"/>
                <a:ext cx="1758494" cy="5203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TextBox 168">
            <a:extLst>
              <a:ext uri="{FF2B5EF4-FFF2-40B4-BE49-F238E27FC236}">
                <a16:creationId xmlns:a16="http://schemas.microsoft.com/office/drawing/2014/main" id="{44D61062-6268-4AD0-B125-F3A65919D6BE}"/>
              </a:ext>
            </a:extLst>
          </p:cNvPr>
          <p:cNvSpPr txBox="1"/>
          <p:nvPr/>
        </p:nvSpPr>
        <p:spPr>
          <a:xfrm>
            <a:off x="6878478" y="3574772"/>
            <a:ext cx="2848536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Асты сызылган сандарды </a:t>
            </a:r>
          </a:p>
          <a:p>
            <a:pPr algn="ctr"/>
            <a:r>
              <a:rPr lang="ky-KG" sz="2000" dirty="0"/>
              <a:t>жөнөкөйлөштүрүлгөн</a:t>
            </a:r>
          </a:p>
          <a:p>
            <a:pPr algn="ctr"/>
            <a:r>
              <a:rPr lang="ky-KG" sz="2000" dirty="0"/>
              <a:t> бөлчөк түрүндө көрсөт.</a:t>
            </a:r>
            <a:endParaRPr lang="en-GB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B7E42BA-D445-4383-9FC6-3E97FB185CFF}"/>
              </a:ext>
            </a:extLst>
          </p:cNvPr>
          <p:cNvSpPr txBox="1"/>
          <p:nvPr/>
        </p:nvSpPr>
        <p:spPr>
          <a:xfrm>
            <a:off x="6890741" y="4991397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96FA202-14A5-4106-B118-E1713A4EB1F3}"/>
              </a:ext>
            </a:extLst>
          </p:cNvPr>
          <p:cNvSpPr txBox="1"/>
          <p:nvPr/>
        </p:nvSpPr>
        <p:spPr>
          <a:xfrm>
            <a:off x="7288078" y="4962822"/>
            <a:ext cx="54341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4</a:t>
            </a:r>
            <a:r>
              <a:rPr lang="en-GB" sz="2400" u="sng" dirty="0"/>
              <a:t>2.2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797F457-052A-40AB-9D71-9846B8263EE2}"/>
                  </a:ext>
                </a:extLst>
              </p:cNvPr>
              <p:cNvSpPr txBox="1"/>
              <p:nvPr/>
            </p:nvSpPr>
            <p:spPr>
              <a:xfrm>
                <a:off x="8411676" y="4856168"/>
                <a:ext cx="963212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797F457-052A-40AB-9D71-9846B826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1676" y="4856168"/>
                <a:ext cx="963212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70B332DE-954F-4F07-95AB-9DC5F21EE760}"/>
              </a:ext>
            </a:extLst>
          </p:cNvPr>
          <p:cNvSpPr txBox="1"/>
          <p:nvPr/>
        </p:nvSpPr>
        <p:spPr>
          <a:xfrm>
            <a:off x="6890741" y="604867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A72A3D0-3D72-4C96-84DF-E4AC689A106F}"/>
              </a:ext>
            </a:extLst>
          </p:cNvPr>
          <p:cNvSpPr txBox="1"/>
          <p:nvPr/>
        </p:nvSpPr>
        <p:spPr>
          <a:xfrm>
            <a:off x="7288077" y="6020097"/>
            <a:ext cx="54341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400" dirty="0"/>
              <a:t>2.</a:t>
            </a:r>
            <a:r>
              <a:rPr lang="en-GB" sz="2400" u="sng" dirty="0"/>
              <a:t>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9EEC0BC-31CF-47BC-AF5F-F95F4F5A4612}"/>
                  </a:ext>
                </a:extLst>
              </p:cNvPr>
              <p:cNvSpPr txBox="1"/>
              <p:nvPr/>
            </p:nvSpPr>
            <p:spPr>
              <a:xfrm>
                <a:off x="8340343" y="5913443"/>
                <a:ext cx="1105879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39EEC0BC-31CF-47BC-AF5F-F95F4F5A4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43" y="5913443"/>
                <a:ext cx="1105879" cy="5845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2" name="Rectangle 181">
            <a:extLst>
              <a:ext uri="{FF2B5EF4-FFF2-40B4-BE49-F238E27FC236}">
                <a16:creationId xmlns:a16="http://schemas.microsoft.com/office/drawing/2014/main" id="{66830EC0-0B6B-4F04-8D9A-B89EBB5E2C02}"/>
              </a:ext>
            </a:extLst>
          </p:cNvPr>
          <p:cNvSpPr/>
          <p:nvPr/>
        </p:nvSpPr>
        <p:spPr>
          <a:xfrm>
            <a:off x="8991599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E719E22-886D-402C-9D7A-AA0E5B571D19}"/>
              </a:ext>
            </a:extLst>
          </p:cNvPr>
          <p:cNvSpPr/>
          <p:nvPr/>
        </p:nvSpPr>
        <p:spPr>
          <a:xfrm>
            <a:off x="8341518" y="204072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3764B70-1E6E-4819-BA73-096DC06575F3}"/>
              </a:ext>
            </a:extLst>
          </p:cNvPr>
          <p:cNvSpPr/>
          <p:nvPr/>
        </p:nvSpPr>
        <p:spPr>
          <a:xfrm>
            <a:off x="8991599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238DAA0-90BA-4872-A9CC-0F608E63E187}"/>
              </a:ext>
            </a:extLst>
          </p:cNvPr>
          <p:cNvSpPr/>
          <p:nvPr/>
        </p:nvSpPr>
        <p:spPr>
          <a:xfrm>
            <a:off x="8341518" y="1678779"/>
            <a:ext cx="385763" cy="2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8D554-F7CF-23DC-5E30-96F010E0DA4B}"/>
              </a:ext>
            </a:extLst>
          </p:cNvPr>
          <p:cNvSpPr txBox="1"/>
          <p:nvPr/>
        </p:nvSpPr>
        <p:spPr>
          <a:xfrm>
            <a:off x="678959" y="32874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5C5B8-479B-1481-9F73-2EF9BC791C55}"/>
              </a:ext>
            </a:extLst>
          </p:cNvPr>
          <p:cNvSpPr txBox="1"/>
          <p:nvPr/>
        </p:nvSpPr>
        <p:spPr>
          <a:xfrm>
            <a:off x="4489303" y="41319"/>
            <a:ext cx="1217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454CD-9223-DD8E-8DEA-C8916909FA4A}"/>
              </a:ext>
            </a:extLst>
          </p:cNvPr>
          <p:cNvSpPr txBox="1"/>
          <p:nvPr/>
        </p:nvSpPr>
        <p:spPr>
          <a:xfrm>
            <a:off x="7702254" y="-9165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10" grpId="0"/>
      <p:bldP spid="114" grpId="0"/>
      <p:bldP spid="118" grpId="0"/>
      <p:bldP spid="129" grpId="0"/>
      <p:bldP spid="133" grpId="0"/>
      <p:bldP spid="137" grpId="0"/>
      <p:bldP spid="141" grpId="0"/>
      <p:bldP spid="168" grpId="0"/>
      <p:bldP spid="174" grpId="0"/>
      <p:bldP spid="178" grpId="0"/>
      <p:bldP spid="182" grpId="0" animBg="1"/>
      <p:bldP spid="184" grpId="0" animBg="1"/>
      <p:bldP spid="185" grpId="0" animBg="1"/>
      <p:bldP spid="18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C92620D-6D6D-37EB-D458-27F1D901F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" y="19051"/>
            <a:ext cx="4872835" cy="3324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A6BCCE-50F6-DEB3-1073-0D0E0DE63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1" y="19051"/>
            <a:ext cx="4872835" cy="3324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C92CE6-412C-DB4F-0DAE-E01C410D5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" y="3514726"/>
            <a:ext cx="4872835" cy="33242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5C2914-12E0-8996-AD0D-21BECD83A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1" y="3514726"/>
            <a:ext cx="4872835" cy="33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12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10636</TotalTime>
  <Words>316</Words>
  <Application>Microsoft Office PowerPoint</Application>
  <PresentationFormat>A4 Paper (210x297 mm)</PresentationFormat>
  <Paragraphs>112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</vt:lpstr>
      <vt:lpstr>Calibri Light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527</cp:revision>
  <cp:lastPrinted>2017-12-31T22:38:51Z</cp:lastPrinted>
  <dcterms:created xsi:type="dcterms:W3CDTF">2017-01-17T16:57:04Z</dcterms:created>
  <dcterms:modified xsi:type="dcterms:W3CDTF">2024-09-22T17:13:29Z</dcterms:modified>
</cp:coreProperties>
</file>