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3"/>
  </p:notesMasterIdLst>
  <p:sldIdLst>
    <p:sldId id="973" r:id="rId2"/>
    <p:sldId id="974" r:id="rId3"/>
    <p:sldId id="851" r:id="rId4"/>
    <p:sldId id="949" r:id="rId5"/>
    <p:sldId id="962" r:id="rId6"/>
    <p:sldId id="958" r:id="rId7"/>
    <p:sldId id="948" r:id="rId8"/>
    <p:sldId id="960" r:id="rId9"/>
    <p:sldId id="951" r:id="rId10"/>
    <p:sldId id="955" r:id="rId11"/>
    <p:sldId id="952" r:id="rId12"/>
    <p:sldId id="959" r:id="rId13"/>
    <p:sldId id="963" r:id="rId14"/>
    <p:sldId id="950" r:id="rId15"/>
    <p:sldId id="953" r:id="rId16"/>
    <p:sldId id="961" r:id="rId17"/>
    <p:sldId id="954" r:id="rId18"/>
    <p:sldId id="957" r:id="rId19"/>
    <p:sldId id="956" r:id="rId20"/>
    <p:sldId id="940" r:id="rId21"/>
    <p:sldId id="274" r:id="rId22"/>
  </p:sldIdLst>
  <p:sldSz cx="9906000" cy="6858000" type="A4"/>
  <p:notesSz cx="6669088" cy="9926638"/>
  <p:embeddedFontLst>
    <p:embeddedFont>
      <p:font typeface="Open Sans" panose="020B0606030504020204" pitchFamily="34" charset="0"/>
      <p:regular r:id="rId24"/>
    </p:embeddedFont>
    <p:embeddedFont>
      <p:font typeface="Stencil" panose="040409050D0802020404" pitchFamily="82" charset="0"/>
      <p:regular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73"/>
          </p14:sldIdLst>
        </p14:section>
        <p14:section name="Титулдук слайд" id="{195A40EB-42C5-4819-BF1F-D64913D96EEB}">
          <p14:sldIdLst>
            <p14:sldId id="974"/>
          </p14:sldIdLst>
        </p14:section>
        <p14:section name="Сандарды тандаңыз…" id="{C9905531-21F4-4739-9781-312E283928B4}">
          <p14:sldIdLst>
            <p14:sldId id="851"/>
          </p14:sldIdLst>
        </p14:section>
        <p14:section name="Суроолор" id="{27E8BDD4-AEF9-42D7-8653-0FA4B14A353C}">
          <p14:sldIdLst>
            <p14:sldId id="949"/>
            <p14:sldId id="962"/>
            <p14:sldId id="958"/>
            <p14:sldId id="948"/>
            <p14:sldId id="960"/>
            <p14:sldId id="951"/>
            <p14:sldId id="955"/>
            <p14:sldId id="952"/>
            <p14:sldId id="959"/>
            <p14:sldId id="963"/>
            <p14:sldId id="950"/>
            <p14:sldId id="953"/>
            <p14:sldId id="961"/>
            <p14:sldId id="954"/>
            <p14:sldId id="957"/>
            <p14:sldId id="956"/>
          </p14:sldIdLst>
        </p14:section>
        <p14:section name="Бош Торчолор" id="{6E755883-6069-420B-9780-208DEDF6E016}">
          <p14:sldIdLst>
            <p14:sldId id="940"/>
          </p14:sldIdLst>
        </p14:section>
        <p14:section name="Кайтарым байланыш" id="{A3E833EC-D5DB-4E6B-B8B3-14CC1EAFC891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88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14/09/2024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858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470535" y="1574801"/>
            <a:ext cx="8605520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Ондуктар – </a:t>
            </a:r>
            <a:r>
              <a:rPr lang="ky-KG" sz="2000" b="1" dirty="0">
                <a:solidFill>
                  <a:prstClr val="black"/>
                </a:solidFill>
                <a:latin typeface="Calibri" panose="020F0502020204030204"/>
              </a:rPr>
              <a:t>Турмуштук маселелер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– Калькулятор менен иштөө – Бинго гана жооптору– Бинго.жооптору менен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тордон тогуз жоопту тандап, дептердеги 3х3 чакмакка каалагандай коюшат.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учурундагы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кыйынчылыкка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суроолорду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тандаса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болот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Убакыттын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өтүшүнө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сызык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X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бардыгы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алышат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85629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/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0" y="3346500"/>
            <a:ext cx="9811954" cy="304698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96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Арзандатуу менен сатып алуу</a:t>
            </a:r>
          </a:p>
        </p:txBody>
      </p:sp>
    </p:spTree>
    <p:extLst>
      <p:ext uri="{BB962C8B-B14F-4D97-AF65-F5344CB8AC3E}">
        <p14:creationId xmlns:p14="http://schemas.microsoft.com/office/powerpoint/2010/main" val="1810214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0730645"/>
              </p:ext>
            </p:extLst>
          </p:nvPr>
        </p:nvGraphicFramePr>
        <p:xfrm>
          <a:off x="292100" y="1544873"/>
          <a:ext cx="9321800" cy="358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0450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772295460"/>
                    </a:ext>
                  </a:extLst>
                </a:gridCol>
              </a:tblGrid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10 642,26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583,55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727,08</a:t>
                      </a: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3022,8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2121,6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1364,1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10</a:t>
                      </a:r>
                      <a:r>
                        <a:rPr lang="ky-KG" sz="4000" dirty="0"/>
                        <a:t> </a:t>
                      </a:r>
                      <a:r>
                        <a:rPr lang="en-GB" sz="4000" dirty="0"/>
                        <a:t>836,54</a:t>
                      </a:r>
                      <a:r>
                        <a:rPr lang="ky-KG" sz="4000" dirty="0"/>
                        <a:t> 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965,85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172,2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883,26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445,80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41 676,8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9 051,5</a:t>
                      </a:r>
                      <a:r>
                        <a:rPr lang="ky-KG" sz="4000" dirty="0"/>
                        <a:t>0 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913,57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1737,5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171,78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8986472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726618" y="19616"/>
            <a:ext cx="8452763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Сандарды тандаңыз…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246953"/>
              </p:ext>
            </p:extLst>
          </p:nvPr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373632" y="6041522"/>
            <a:ext cx="4005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Китепке/дептерге 3х3 торчо тартыңыз.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368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3128495" y="3529410"/>
            <a:ext cx="36490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3 рулон 2нүн баасына!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124434" y="4656853"/>
            <a:ext cx="5657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8 рулон ашкана кагазы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1" y="5588838"/>
            <a:ext cx="280076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445,80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B752B8-E110-430E-818D-474CE62A5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252" y="815922"/>
            <a:ext cx="3353495" cy="21092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14DC5B-075D-4FD8-87B3-E90E902CC0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936502" y="1718891"/>
            <a:ext cx="278789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7</a:t>
            </a:r>
            <a:r>
              <a:rPr lang="ky-KG" sz="4400" dirty="0">
                <a:solidFill>
                  <a:schemeClr val="tx1"/>
                </a:solidFill>
              </a:rPr>
              <a:t>4,30сом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4389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782855" y="3529410"/>
            <a:ext cx="43402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7 калемдин баасына 10 ал!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72343" y="4656853"/>
            <a:ext cx="35613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20 калем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462218" y="2026622"/>
            <a:ext cx="2604822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12,30 </a:t>
            </a:r>
            <a:r>
              <a:rPr lang="ky-KG" sz="4400" dirty="0">
                <a:solidFill>
                  <a:schemeClr val="tx1"/>
                </a:solidFill>
              </a:rPr>
              <a:t>т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695310" y="5588838"/>
            <a:ext cx="2515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172,2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CE1D36-53C6-4799-B0A9-2AA55F8DBE7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00" b="31891"/>
          <a:stretch/>
        </p:blipFill>
        <p:spPr>
          <a:xfrm rot="8915150">
            <a:off x="2743598" y="1247315"/>
            <a:ext cx="4418803" cy="7403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C1A066-2B6D-4AEB-B926-3D44308FCA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076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1531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554462" y="3529410"/>
            <a:ext cx="479708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 калькулятор сатып алыңыз, </a:t>
            </a:r>
            <a:endParaRPr lang="en-US" sz="2800" dirty="0"/>
          </a:p>
          <a:p>
            <a:pPr algn="ctr"/>
            <a:r>
              <a:rPr lang="ky-KG" sz="2800" dirty="0"/>
              <a:t>дагы 50% арзандатуу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796763" y="4656853"/>
            <a:ext cx="4312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6 калькулятор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861718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1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3022,8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2E0F266-1E0E-451C-AC51-D2A48AEC1B69}"/>
              </a:ext>
            </a:extLst>
          </p:cNvPr>
          <p:cNvGrpSpPr/>
          <p:nvPr/>
        </p:nvGrpSpPr>
        <p:grpSpPr>
          <a:xfrm>
            <a:off x="4184022" y="353924"/>
            <a:ext cx="1537956" cy="2947919"/>
            <a:chOff x="1121791" y="915383"/>
            <a:chExt cx="2709330" cy="5193186"/>
          </a:xfrm>
        </p:grpSpPr>
        <p:pic>
          <p:nvPicPr>
            <p:cNvPr id="14" name="Picture 2" descr="Affordable Schoolwear Casio FX-83GT X Scientific Calculator ...">
              <a:extLst>
                <a:ext uri="{FF2B5EF4-FFF2-40B4-BE49-F238E27FC236}">
                  <a16:creationId xmlns:a16="http://schemas.microsoft.com/office/drawing/2014/main" id="{DFA1FE5F-FC9C-483B-BA5C-885ECFF5C0B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127" r="23702"/>
            <a:stretch/>
          </p:blipFill>
          <p:spPr bwMode="auto">
            <a:xfrm>
              <a:off x="1121791" y="915383"/>
              <a:ext cx="2709330" cy="51931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3EFB918-599F-4F69-B3C5-B00868944C88}"/>
                </a:ext>
              </a:extLst>
            </p:cNvPr>
            <p:cNvSpPr/>
            <p:nvPr/>
          </p:nvSpPr>
          <p:spPr>
            <a:xfrm>
              <a:off x="1580225" y="1811045"/>
              <a:ext cx="1819923" cy="585926"/>
            </a:xfrm>
            <a:prstGeom prst="rect">
              <a:avLst/>
            </a:prstGeom>
            <a:solidFill>
              <a:srgbClr val="D4E2E3"/>
            </a:solidFill>
            <a:ln>
              <a:solidFill>
                <a:srgbClr val="D4E2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E60F58DB-3FFA-4613-9EE4-804B4AD123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330333" y="2105752"/>
            <a:ext cx="2289667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604,56</a:t>
            </a:r>
          </a:p>
        </p:txBody>
      </p:sp>
    </p:spTree>
    <p:extLst>
      <p:ext uri="{BB962C8B-B14F-4D97-AF65-F5344CB8AC3E}">
        <p14:creationId xmlns:p14="http://schemas.microsoft.com/office/powerpoint/2010/main" val="144383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626584" y="311463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1716806" y="3114636"/>
            <a:ext cx="67330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2 жупту сатып</a:t>
            </a:r>
            <a:r>
              <a:rPr lang="en-US" sz="2800" dirty="0"/>
              <a:t> </a:t>
            </a:r>
            <a:r>
              <a:rPr lang="ky-KG" sz="2800" dirty="0"/>
              <a:t>алсаңыз,</a:t>
            </a:r>
          </a:p>
          <a:p>
            <a:pPr algn="ctr"/>
            <a:r>
              <a:rPr lang="ru-RU" sz="2800" dirty="0"/>
              <a:t>үчүнчүсүн-жарым баада сатып ала аласыз!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610429" y="4656853"/>
            <a:ext cx="468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6 жуп бут кийим канча турат?</a:t>
            </a:r>
            <a:endParaRPr lang="en-GB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D9F42F1-D1F5-483C-8026-CC2D7367BA9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5002" y="440531"/>
            <a:ext cx="4297575" cy="2491250"/>
          </a:xfrm>
          <a:prstGeom prst="rect">
            <a:avLst/>
          </a:prstGeom>
        </p:spPr>
      </p:pic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8700578" y="3176915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954587" y="1912322"/>
            <a:ext cx="3050769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1810,30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339443" y="5588838"/>
            <a:ext cx="32271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9 051,5</a:t>
            </a:r>
            <a:r>
              <a:rPr lang="ky-KG" sz="4400" dirty="0"/>
              <a:t>0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7CF647-05F0-46BF-909A-43A5FE21F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43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986470" y="3529410"/>
            <a:ext cx="393306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9 сызгыч сатып алсаңыз,</a:t>
            </a:r>
          </a:p>
          <a:p>
            <a:pPr algn="ctr"/>
            <a:r>
              <a:rPr lang="ky-KG" sz="2800" dirty="0"/>
              <a:t> 4 – өө бекер !!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02132" y="4656853"/>
            <a:ext cx="37017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15 сызгыч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4969849" y="2079375"/>
            <a:ext cx="2496215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53,05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1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583,55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D2D1C0-E670-41FF-A06D-46A0D0EBF1F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557" b="30002"/>
          <a:stretch/>
        </p:blipFill>
        <p:spPr>
          <a:xfrm rot="20737420">
            <a:off x="2854657" y="1240364"/>
            <a:ext cx="4228911" cy="8339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A4D6CA-41D5-4162-AE7A-B782E50181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730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441739" y="3529410"/>
            <a:ext cx="50225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5 алманын баасына, 7 алма ал! 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255220" y="4656853"/>
            <a:ext cx="33956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30 алма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18" y="5683613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171,78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023E35-C43A-4DF4-8369-BB31028F6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3612" y="404946"/>
            <a:ext cx="2398775" cy="25459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7E95CE-14A9-4A81-AE8F-0CA35A9D3E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2358533" y="1921114"/>
            <a:ext cx="2264267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28,63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0735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452126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824286" y="3529410"/>
            <a:ext cx="425744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Бир көйнөк алсаңыз</a:t>
            </a:r>
            <a:r>
              <a:rPr lang="en-GB" sz="2800" dirty="0"/>
              <a:t>,</a:t>
            </a:r>
            <a:r>
              <a:rPr lang="ky-KG" sz="2800" dirty="0"/>
              <a:t> </a:t>
            </a:r>
          </a:p>
          <a:p>
            <a:pPr algn="ctr"/>
            <a:r>
              <a:rPr lang="ky-KG" sz="2800" dirty="0"/>
              <a:t>экинчиси жарым баасына</a:t>
            </a:r>
            <a:r>
              <a:rPr lang="en-GB" sz="2800" dirty="0"/>
              <a:t>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83082" y="4656853"/>
            <a:ext cx="35398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5 көйнөк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677080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267310" y="5588838"/>
            <a:ext cx="337143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10 642,26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C91814-3C9A-4326-BDE1-84F22176381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70"/>
          <a:stretch/>
        </p:blipFill>
        <p:spPr>
          <a:xfrm>
            <a:off x="3969025" y="375818"/>
            <a:ext cx="1960067" cy="28245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CB7F31-C556-4115-AF0D-43ED4560FE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940560" y="1543045"/>
            <a:ext cx="2651759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2660,72</a:t>
            </a:r>
            <a:r>
              <a:rPr lang="ky-KG" sz="4400" dirty="0">
                <a:solidFill>
                  <a:schemeClr val="tx1"/>
                </a:solidFill>
              </a:rPr>
              <a:t>с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6042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1956276" y="4656853"/>
            <a:ext cx="59935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20 бөтөлкө газдалган суу канча турат?</a:t>
            </a:r>
            <a:endParaRPr lang="en-GB" sz="280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E8F50E8-9773-4BE8-902D-678B9E183766}"/>
              </a:ext>
            </a:extLst>
          </p:cNvPr>
          <p:cNvGrpSpPr/>
          <p:nvPr/>
        </p:nvGrpSpPr>
        <p:grpSpPr>
          <a:xfrm>
            <a:off x="826341" y="3364383"/>
            <a:ext cx="8253323" cy="841411"/>
            <a:chOff x="1195618" y="3364383"/>
            <a:chExt cx="8253323" cy="841411"/>
          </a:xfrm>
        </p:grpSpPr>
        <p:sp>
          <p:nvSpPr>
            <p:cNvPr id="3" name="Star: 5 Points 2">
              <a:extLst>
                <a:ext uri="{FF2B5EF4-FFF2-40B4-BE49-F238E27FC236}">
                  <a16:creationId xmlns:a16="http://schemas.microsoft.com/office/drawing/2014/main" id="{6FC10BED-B455-4F86-BEEE-D32DFAB493F4}"/>
                </a:ext>
              </a:extLst>
            </p:cNvPr>
            <p:cNvSpPr/>
            <p:nvPr/>
          </p:nvSpPr>
          <p:spPr>
            <a:xfrm>
              <a:off x="1195618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2574D9F-003A-499B-AB33-5B32B85491C6}"/>
                </a:ext>
              </a:extLst>
            </p:cNvPr>
            <p:cNvSpPr txBox="1"/>
            <p:nvPr/>
          </p:nvSpPr>
          <p:spPr>
            <a:xfrm>
              <a:off x="2223931" y="3529410"/>
              <a:ext cx="619669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800" dirty="0"/>
                <a:t>Бирди алсаңыз</a:t>
              </a:r>
              <a:r>
                <a:rPr lang="en-GB" sz="2800" dirty="0"/>
                <a:t>,</a:t>
              </a:r>
              <a:r>
                <a:rPr lang="ky-KG" sz="2800" dirty="0"/>
                <a:t>экинчиси жарым баага</a:t>
              </a:r>
              <a:r>
                <a:rPr lang="en-GB" sz="2800" dirty="0"/>
                <a:t>!</a:t>
              </a:r>
            </a:p>
          </p:txBody>
        </p:sp>
        <p:sp>
          <p:nvSpPr>
            <p:cNvPr id="11" name="Star: 5 Points 10">
              <a:extLst>
                <a:ext uri="{FF2B5EF4-FFF2-40B4-BE49-F238E27FC236}">
                  <a16:creationId xmlns:a16="http://schemas.microsoft.com/office/drawing/2014/main" id="{9F17DDD9-05C9-4CAE-9C93-254E57C15065}"/>
                </a:ext>
              </a:extLst>
            </p:cNvPr>
            <p:cNvSpPr/>
            <p:nvPr/>
          </p:nvSpPr>
          <p:spPr>
            <a:xfrm>
              <a:off x="8619393" y="3364383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594103" y="2105753"/>
            <a:ext cx="245724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64,39 с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60469" y="5588838"/>
            <a:ext cx="298511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965,85</a:t>
            </a:r>
            <a:r>
              <a:rPr lang="ky-KG" sz="4400" dirty="0"/>
              <a:t> сом!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AF18BB-0FEF-417B-AC5C-7DA29B55DE1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149"/>
          <a:stretch/>
        </p:blipFill>
        <p:spPr>
          <a:xfrm>
            <a:off x="4583332" y="353924"/>
            <a:ext cx="739336" cy="24074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115AF77-622E-4692-BF5D-17293479FD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297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914260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922517" y="3529410"/>
            <a:ext cx="406098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10 даананын баасына,</a:t>
            </a:r>
          </a:p>
          <a:p>
            <a:pPr algn="ctr"/>
            <a:r>
              <a:rPr lang="ru-RU" sz="2800" dirty="0"/>
              <a:t>15 циркул сатып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00694" y="4656853"/>
            <a:ext cx="37046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35 циркул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8297288" y="3373940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2323364" y="1305653"/>
            <a:ext cx="2028829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4400" b="1" i="0" dirty="0">
                <a:solidFill>
                  <a:srgbClr val="1D2029"/>
                </a:solidFill>
                <a:effectLst/>
                <a:latin typeface="Open Sans" panose="020B0606030504020204" pitchFamily="34" charset="0"/>
              </a:rPr>
              <a:t>69</a:t>
            </a:r>
            <a:r>
              <a:rPr lang="ky-KG" sz="4400" b="1" dirty="0">
                <a:solidFill>
                  <a:srgbClr val="1D2029"/>
                </a:solidFill>
                <a:latin typeface="Open Sans" panose="020B0606030504020204" pitchFamily="34" charset="0"/>
              </a:rPr>
              <a:t>,</a:t>
            </a:r>
            <a:r>
              <a:rPr lang="en-US" sz="4400" b="1" i="0" dirty="0">
                <a:solidFill>
                  <a:srgbClr val="1D2029"/>
                </a:solidFill>
                <a:effectLst/>
                <a:latin typeface="Open Sans" panose="020B0606030504020204" pitchFamily="34" charset="0"/>
              </a:rPr>
              <a:t>5</a:t>
            </a:r>
            <a:r>
              <a:rPr lang="ky-KG" sz="4400" b="1" i="0" dirty="0">
                <a:solidFill>
                  <a:srgbClr val="1D2029"/>
                </a:solidFill>
                <a:effectLst/>
                <a:latin typeface="Open Sans" panose="020B0606030504020204" pitchFamily="34" charset="0"/>
              </a:rPr>
              <a:t>с</a:t>
            </a:r>
            <a:r>
              <a:rPr lang="en-US" sz="4400" b="1" i="0" dirty="0">
                <a:solidFill>
                  <a:srgbClr val="1D2029"/>
                </a:solidFill>
                <a:effectLst/>
                <a:latin typeface="Open Sans" panose="020B0606030504020204" pitchFamily="34" charset="0"/>
              </a:rPr>
              <a:t> 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3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1737,5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DA1D0-7981-4C3E-9E13-37E5C00372F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0955" y="-110695"/>
            <a:ext cx="1656920" cy="34392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B3FD1A-979F-41F1-A378-552286B61B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29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910372" y="3278958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1661963" y="3353600"/>
            <a:ext cx="652992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10 сатып алсаңыз, </a:t>
            </a:r>
          </a:p>
          <a:p>
            <a:pPr algn="ctr"/>
            <a:r>
              <a:rPr lang="ru-RU" sz="2800" dirty="0"/>
              <a:t>кийинки 10нуна 50% арзандатуу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672528" y="4656853"/>
            <a:ext cx="45609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40 транспортир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932364" y="331556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1364,1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682CF3-71B0-4B49-B218-4B7A1C70E6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322" y="460804"/>
            <a:ext cx="4757432" cy="26241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F96587-CF81-4A8A-86DD-F8CDADEB84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6200771" y="1252899"/>
            <a:ext cx="2282829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45,47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088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865668" y="3529410"/>
            <a:ext cx="41746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4 банканы сатып алып, </a:t>
            </a:r>
          </a:p>
          <a:p>
            <a:pPr algn="ctr"/>
            <a:r>
              <a:rPr lang="ru-RU" sz="2800" dirty="0"/>
              <a:t>2 банканы бекер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1973204" y="4656853"/>
            <a:ext cx="595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9 банка кулпунай кыямы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4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913,57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34D266-0B75-4BC5-9314-709E40FF7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960" y="458983"/>
            <a:ext cx="2028079" cy="26259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BE0ADD-AC78-416F-AF91-A1EA30211D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453425" y="2167299"/>
            <a:ext cx="2522175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130,51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1242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610430" y="4656853"/>
            <a:ext cx="468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7 жуп бут кийим канча турат?</a:t>
            </a:r>
            <a:endParaRPr lang="en-GB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203187" y="5588838"/>
            <a:ext cx="34996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10</a:t>
            </a:r>
            <a:r>
              <a:rPr lang="ky-KG" sz="4400" dirty="0"/>
              <a:t> </a:t>
            </a:r>
            <a:r>
              <a:rPr lang="en-GB" sz="4400" dirty="0"/>
              <a:t>836,54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15C573-AA5D-45A8-8915-3D78C782BF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4447" y="618151"/>
            <a:ext cx="3797105" cy="2290127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7C262B71-BBDB-4103-B893-B8501E714D42}"/>
              </a:ext>
            </a:extLst>
          </p:cNvPr>
          <p:cNvGrpSpPr/>
          <p:nvPr/>
        </p:nvGrpSpPr>
        <p:grpSpPr>
          <a:xfrm>
            <a:off x="1241110" y="3376246"/>
            <a:ext cx="7423779" cy="1107271"/>
            <a:chOff x="1610387" y="3376246"/>
            <a:chExt cx="7423779" cy="1107271"/>
          </a:xfrm>
        </p:grpSpPr>
        <p:sp>
          <p:nvSpPr>
            <p:cNvPr id="15" name="Star: 5 Points 14">
              <a:extLst>
                <a:ext uri="{FF2B5EF4-FFF2-40B4-BE49-F238E27FC236}">
                  <a16:creationId xmlns:a16="http://schemas.microsoft.com/office/drawing/2014/main" id="{7000E753-8133-4048-9FCF-C5AD5229447A}"/>
                </a:ext>
              </a:extLst>
            </p:cNvPr>
            <p:cNvSpPr/>
            <p:nvPr/>
          </p:nvSpPr>
          <p:spPr>
            <a:xfrm>
              <a:off x="1610387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4002F59-5107-46FB-A5E2-679DA9A417A8}"/>
                </a:ext>
              </a:extLst>
            </p:cNvPr>
            <p:cNvSpPr txBox="1"/>
            <p:nvPr/>
          </p:nvSpPr>
          <p:spPr>
            <a:xfrm>
              <a:off x="3068520" y="3529410"/>
              <a:ext cx="4507516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800" dirty="0"/>
                <a:t>1 жуп сатып алып, </a:t>
              </a:r>
            </a:p>
            <a:p>
              <a:pPr algn="ctr"/>
              <a:r>
                <a:rPr lang="ky-KG" sz="2800" dirty="0"/>
                <a:t>1ди жарым баасын алыңыз!</a:t>
              </a:r>
              <a:endParaRPr lang="en-GB" sz="2800" dirty="0"/>
            </a:p>
          </p:txBody>
        </p:sp>
        <p:sp>
          <p:nvSpPr>
            <p:cNvPr id="17" name="Star: 5 Points 16">
              <a:extLst>
                <a:ext uri="{FF2B5EF4-FFF2-40B4-BE49-F238E27FC236}">
                  <a16:creationId xmlns:a16="http://schemas.microsoft.com/office/drawing/2014/main" id="{C07E7A85-D9DB-45D7-A24E-8CEBBA9AD48C}"/>
                </a:ext>
              </a:extLst>
            </p:cNvPr>
            <p:cNvSpPr/>
            <p:nvPr/>
          </p:nvSpPr>
          <p:spPr>
            <a:xfrm>
              <a:off x="8204618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E637EFE-B780-4112-ADAF-DFAAA7A919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2200272" y="2202468"/>
            <a:ext cx="275272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1970,28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646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956525" y="3529410"/>
            <a:ext cx="39929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10 карандаш, 6 баасына!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788168" y="4656853"/>
            <a:ext cx="43297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200 карандаш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2091338" y="779332"/>
            <a:ext cx="2535460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17,68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2121,6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F921DC-A2E9-4DC2-AF61-5DFC3DF446B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27" r="43524"/>
          <a:stretch/>
        </p:blipFill>
        <p:spPr>
          <a:xfrm rot="4259713">
            <a:off x="4468048" y="-1082546"/>
            <a:ext cx="727916" cy="54122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C08608-A8A8-44D7-8422-86F839A03E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91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416956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710467" y="3529410"/>
            <a:ext cx="448507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4 көйнөк сатып алсаңыз, </a:t>
            </a:r>
          </a:p>
          <a:p>
            <a:pPr algn="ctr"/>
            <a:r>
              <a:rPr lang="ky-KG" sz="2800" dirty="0"/>
              <a:t>кийинкиси жарым баасына!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091713" y="4656853"/>
            <a:ext cx="37226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20 көйнөк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650703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41 676,8 </a:t>
            </a:r>
            <a:r>
              <a:rPr lang="ky-KG" sz="4400" dirty="0"/>
              <a:t>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534C13-603E-493F-B07B-30763BE145E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124" y="389071"/>
            <a:ext cx="3035751" cy="27321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01F576-FC10-42BB-A620-397AC2D188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638063" y="2070583"/>
            <a:ext cx="2632177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2315,50</a:t>
            </a:r>
            <a:r>
              <a:rPr lang="ky-KG" sz="4400" dirty="0">
                <a:solidFill>
                  <a:schemeClr val="tx1"/>
                </a:solidFill>
              </a:rPr>
              <a:t>с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666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355410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844031" y="3529410"/>
            <a:ext cx="421795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3 жуп сатып ал, </a:t>
            </a:r>
          </a:p>
          <a:p>
            <a:pPr algn="ctr"/>
            <a:r>
              <a:rPr lang="ru-RU" sz="2800" dirty="0"/>
              <a:t>4сүнө жарым арзандатуу!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924425" y="4656853"/>
            <a:ext cx="40572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8 жуп кайчы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765003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770184" y="1003832"/>
            <a:ext cx="2568136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12</a:t>
            </a:r>
            <a:r>
              <a:rPr lang="en-GB" sz="4400" dirty="0">
                <a:solidFill>
                  <a:schemeClr val="tx1"/>
                </a:solidFill>
              </a:rPr>
              <a:t>6,18</a:t>
            </a:r>
            <a:r>
              <a:rPr lang="ky-KG" sz="4400" dirty="0">
                <a:solidFill>
                  <a:schemeClr val="tx1"/>
                </a:solidFill>
              </a:rPr>
              <a:t>с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883,26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2A181EE-1DB7-4AF9-8187-2DD019660A9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711" y="522653"/>
            <a:ext cx="3187974" cy="26566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CA2DD4A-BA12-4A6C-B47D-6C845617A5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191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3011377" y="3529410"/>
            <a:ext cx="38832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5 shirts for the price of 4!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83083" y="4656853"/>
            <a:ext cx="35398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8 көйнөк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203186" y="5588838"/>
            <a:ext cx="34996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10</a:t>
            </a:r>
            <a:r>
              <a:rPr lang="ky-KG" sz="4400" dirty="0"/>
              <a:t> </a:t>
            </a:r>
            <a:r>
              <a:rPr lang="en-GB" sz="4400" dirty="0"/>
              <a:t>727,08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4DEAC-545D-447E-A409-54E1BA7683A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3813" y="414272"/>
            <a:ext cx="3078373" cy="27705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D4BE871-399E-4D86-B676-A3269ACE87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708402" y="2079375"/>
            <a:ext cx="272439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1532,44</a:t>
            </a:r>
            <a:r>
              <a:rPr lang="ky-KG" sz="4400" dirty="0">
                <a:solidFill>
                  <a:schemeClr val="tx1"/>
                </a:solidFill>
              </a:rPr>
              <a:t>с 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8085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55F9FF-A775-44DB-99DD-42DDB4748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929352"/>
              </p:ext>
            </p:extLst>
          </p:nvPr>
        </p:nvGraphicFramePr>
        <p:xfrm>
          <a:off x="59945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D8C36C-2AB2-44CF-BF97-992F65F82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891624"/>
              </p:ext>
            </p:extLst>
          </p:nvPr>
        </p:nvGraphicFramePr>
        <p:xfrm>
          <a:off x="2042419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773A22-7D82-4A6C-9386-8C73822F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005975"/>
              </p:ext>
            </p:extLst>
          </p:nvPr>
        </p:nvGraphicFramePr>
        <p:xfrm>
          <a:off x="4024893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A04EB-1AF0-4BA4-B56C-D92E4B8FC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737508"/>
              </p:ext>
            </p:extLst>
          </p:nvPr>
        </p:nvGraphicFramePr>
        <p:xfrm>
          <a:off x="6007367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0CEA2-BF13-4F1F-BDF8-72377439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065140"/>
              </p:ext>
            </p:extLst>
          </p:nvPr>
        </p:nvGraphicFramePr>
        <p:xfrm>
          <a:off x="7989841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217ECC1-187E-45C6-AAD9-69FCF451F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819278"/>
              </p:ext>
            </p:extLst>
          </p:nvPr>
        </p:nvGraphicFramePr>
        <p:xfrm>
          <a:off x="59945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8F2A369-4849-4D8C-9C48-42AC19EAC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02619"/>
              </p:ext>
            </p:extLst>
          </p:nvPr>
        </p:nvGraphicFramePr>
        <p:xfrm>
          <a:off x="2042419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C34FD8-28B7-4290-89FF-C844EE6A1A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19173"/>
              </p:ext>
            </p:extLst>
          </p:nvPr>
        </p:nvGraphicFramePr>
        <p:xfrm>
          <a:off x="4024893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EE0B481-E5E6-4A56-A167-F7909231A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741186"/>
              </p:ext>
            </p:extLst>
          </p:nvPr>
        </p:nvGraphicFramePr>
        <p:xfrm>
          <a:off x="6007367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04524C6-1AA7-41E4-A1BD-52B735BCF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690728"/>
              </p:ext>
            </p:extLst>
          </p:nvPr>
        </p:nvGraphicFramePr>
        <p:xfrm>
          <a:off x="7989841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378E7F-888B-451D-A437-1143E900F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700732"/>
              </p:ext>
            </p:extLst>
          </p:nvPr>
        </p:nvGraphicFramePr>
        <p:xfrm>
          <a:off x="59945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D9438F2-5F7B-453A-9852-A5D953E2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154783"/>
              </p:ext>
            </p:extLst>
          </p:nvPr>
        </p:nvGraphicFramePr>
        <p:xfrm>
          <a:off x="2042419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E97513C-7184-48FD-B483-FD49969CA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329546"/>
              </p:ext>
            </p:extLst>
          </p:nvPr>
        </p:nvGraphicFramePr>
        <p:xfrm>
          <a:off x="4024893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DA72-78F4-437E-AA8B-E7D5DF47D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55289"/>
              </p:ext>
            </p:extLst>
          </p:nvPr>
        </p:nvGraphicFramePr>
        <p:xfrm>
          <a:off x="6007367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BB7F846-3757-45E8-B86C-628E47A78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402805"/>
              </p:ext>
            </p:extLst>
          </p:nvPr>
        </p:nvGraphicFramePr>
        <p:xfrm>
          <a:off x="7989841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8449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8916</TotalTime>
  <Words>496</Words>
  <Application>Microsoft Office PowerPoint</Application>
  <PresentationFormat>A4 Paper (210x297 mm)</PresentationFormat>
  <Paragraphs>141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 Light</vt:lpstr>
      <vt:lpstr>Calibri</vt:lpstr>
      <vt:lpstr>Open Sans</vt:lpstr>
      <vt:lpstr>Stencil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400</cp:revision>
  <cp:lastPrinted>2017-12-31T22:38:51Z</cp:lastPrinted>
  <dcterms:created xsi:type="dcterms:W3CDTF">2017-01-17T16:57:04Z</dcterms:created>
  <dcterms:modified xsi:type="dcterms:W3CDTF">2024-09-14T15:36:38Z</dcterms:modified>
</cp:coreProperties>
</file>