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</p:sldMasterIdLst>
  <p:notesMasterIdLst>
    <p:notesMasterId r:id="rId22"/>
  </p:notesMasterIdLst>
  <p:handoutMasterIdLst>
    <p:handoutMasterId r:id="rId23"/>
  </p:handoutMasterIdLst>
  <p:sldIdLst>
    <p:sldId id="257" r:id="rId3"/>
    <p:sldId id="964" r:id="rId4"/>
    <p:sldId id="966" r:id="rId5"/>
    <p:sldId id="968" r:id="rId6"/>
    <p:sldId id="969" r:id="rId7"/>
    <p:sldId id="970" r:id="rId8"/>
    <p:sldId id="975" r:id="rId9"/>
    <p:sldId id="977" r:id="rId10"/>
    <p:sldId id="979" r:id="rId11"/>
    <p:sldId id="989" r:id="rId12"/>
    <p:sldId id="982" r:id="rId13"/>
    <p:sldId id="980" r:id="rId14"/>
    <p:sldId id="981" r:id="rId15"/>
    <p:sldId id="984" r:id="rId16"/>
    <p:sldId id="985" r:id="rId17"/>
    <p:sldId id="986" r:id="rId18"/>
    <p:sldId id="987" r:id="rId19"/>
    <p:sldId id="988" r:id="rId20"/>
    <p:sldId id="274" r:id="rId21"/>
  </p:sldIdLst>
  <p:sldSz cx="9906000" cy="6858000" type="A4"/>
  <p:notesSz cx="7104063" cy="10234613"/>
  <p:embeddedFontLst>
    <p:embeddedFont>
      <p:font typeface="Cambria Math" panose="02040503050406030204" pitchFamily="18" charset="0"/>
      <p:regular r:id="rId24"/>
    </p:embeddedFont>
    <p:embeddedFont>
      <p:font typeface="Stencil" panose="040409050D0802020404" pitchFamily="82" charset="0"/>
      <p:regular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581537D-C184-472C-9EEF-2832992A0C39}">
          <p14:sldIdLst>
            <p14:sldId id="257"/>
          </p14:sldIdLst>
        </p14:section>
        <p14:section name="Сабак-түшүндүрмө" id="{059544AC-2C27-45B1-9F95-F87DF8854DD6}">
          <p14:sldIdLst>
            <p14:sldId id="964"/>
            <p14:sldId id="966"/>
            <p14:sldId id="968"/>
            <p14:sldId id="969"/>
            <p14:sldId id="970"/>
          </p14:sldIdLst>
        </p14:section>
        <p14:section name="Сабак- Түшүндүрмөлөр" id="{D06A50BA-CF3E-4C9B-82D4-5343D575D19C}">
          <p14:sldIdLst>
            <p14:sldId id="975"/>
            <p14:sldId id="977"/>
            <p14:sldId id="979"/>
            <p14:sldId id="989"/>
            <p14:sldId id="982"/>
            <p14:sldId id="980"/>
            <p14:sldId id="981"/>
            <p14:sldId id="984"/>
            <p14:sldId id="985"/>
            <p14:sldId id="986"/>
            <p14:sldId id="987"/>
          </p14:sldIdLst>
        </p14:section>
        <p14:section name="Текшерүү үчун суроолор" id="{1FEDB314-42DC-4694-9B04-D4A4AAE625F7}">
          <p14:sldIdLst>
            <p14:sldId id="988"/>
          </p14:sldIdLst>
        </p14:section>
        <p14:section name="Кайтарым байланыш" id="{44CABC69-C459-4609-9605-26CA33CBC9B1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6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256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9/19/2024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417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9/19/2024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0899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9/19/2024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23638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9/19/2024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151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9/19/2024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51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9/19/2024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911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9/19/2024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02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9/19/2024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2186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9/19/2024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3038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299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7755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6286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3927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384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3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9/19/2024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394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409065"/>
            <a:ext cx="8543925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ky-KG" sz="3200" dirty="0"/>
              <a:t>Ондуктар </a:t>
            </a:r>
            <a:r>
              <a:rPr lang="ky-KG" sz="3200"/>
              <a:t>– Ирээттөө </a:t>
            </a:r>
            <a:r>
              <a:rPr lang="ru-RU" sz="3200" dirty="0"/>
              <a:t>- Сабак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Бул ресурс ыкманы жандуу көрсөтөт.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Анимацияларды текшерип, </a:t>
            </a:r>
            <a:r>
              <a:rPr lang="ky-KG" sz="3200" dirty="0"/>
              <a:t>сабагы</a:t>
            </a:r>
            <a:r>
              <a:rPr lang="ru-RU" sz="3200" dirty="0"/>
              <a:t>ң</a:t>
            </a:r>
            <a:r>
              <a:rPr lang="ky-KG" sz="3200" dirty="0"/>
              <a:t>ызга </a:t>
            </a:r>
            <a:r>
              <a:rPr lang="ru-RU" sz="3200" b="1" dirty="0">
                <a:solidFill>
                  <a:srgbClr val="FF0000"/>
                </a:solidFill>
              </a:rPr>
              <a:t>КЕРЕГИ ЖОК </a:t>
            </a:r>
            <a:r>
              <a:rPr lang="ru-RU" sz="3200" dirty="0"/>
              <a:t>слайддарды </a:t>
            </a:r>
            <a:r>
              <a:rPr lang="ru-RU" sz="3600" b="1" dirty="0">
                <a:solidFill>
                  <a:srgbClr val="FF0000"/>
                </a:solidFill>
              </a:rPr>
              <a:t>ӨЧҮРҮ</a:t>
            </a:r>
            <a:r>
              <a:rPr lang="ky-KG" sz="3600" b="1" dirty="0">
                <a:solidFill>
                  <a:srgbClr val="FF0000"/>
                </a:solidFill>
              </a:rPr>
              <a:t>П САЛЫ</a:t>
            </a:r>
            <a:r>
              <a:rPr lang="ru-RU" sz="3600" b="1" dirty="0">
                <a:solidFill>
                  <a:srgbClr val="FF0000"/>
                </a:solidFill>
              </a:rPr>
              <a:t>ҢЫЗ.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1221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3830F80-5805-480E-84F6-06A8211F057E}"/>
              </a:ext>
            </a:extLst>
          </p:cNvPr>
          <p:cNvSpPr/>
          <p:nvPr/>
        </p:nvSpPr>
        <p:spPr>
          <a:xfrm>
            <a:off x="425306" y="1578040"/>
            <a:ext cx="9056077" cy="173665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84C24-16E4-4ABE-832F-A87329CAA12B}"/>
              </a:ext>
            </a:extLst>
          </p:cNvPr>
          <p:cNvSpPr txBox="1"/>
          <p:nvPr/>
        </p:nvSpPr>
        <p:spPr>
          <a:xfrm>
            <a:off x="2819352" y="334108"/>
            <a:ext cx="42673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Кайсы сан чоңураак?</a:t>
            </a:r>
          </a:p>
          <a:p>
            <a:pPr algn="ctr"/>
            <a:endParaRPr lang="ru-RU" sz="2000" dirty="0"/>
          </a:p>
          <a:p>
            <a:pPr algn="ctr"/>
            <a:r>
              <a:rPr lang="ru-RU" sz="2000" dirty="0"/>
              <a:t>Аларды кантип салыштырууга болот?</a:t>
            </a:r>
            <a:endParaRPr lang="en-GB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B13051-2B60-489D-BAEC-C0FD2018A271}"/>
              </a:ext>
            </a:extLst>
          </p:cNvPr>
          <p:cNvSpPr txBox="1"/>
          <p:nvPr/>
        </p:nvSpPr>
        <p:spPr>
          <a:xfrm>
            <a:off x="1578495" y="1810975"/>
            <a:ext cx="22894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/>
              <a:t>3,500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9BBC06-F5BB-420E-A04B-FF9301792348}"/>
              </a:ext>
            </a:extLst>
          </p:cNvPr>
          <p:cNvSpPr txBox="1"/>
          <p:nvPr/>
        </p:nvSpPr>
        <p:spPr>
          <a:xfrm>
            <a:off x="5176903" y="1810975"/>
            <a:ext cx="41617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/>
              <a:t>3,4 918 799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DBD4FC-9E9F-4331-B185-BA71E7FEC376}"/>
              </a:ext>
            </a:extLst>
          </p:cNvPr>
          <p:cNvSpPr txBox="1"/>
          <p:nvPr/>
        </p:nvSpPr>
        <p:spPr>
          <a:xfrm>
            <a:off x="330672" y="3552092"/>
            <a:ext cx="92447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Сандардын маанисин түшүнүү үчүн биз орундук маанилерди колдонушубуз керек.</a:t>
            </a:r>
            <a:endParaRPr lang="en-GB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7560B3-D31A-4D92-B2D4-ED7493B7DE19}"/>
              </a:ext>
            </a:extLst>
          </p:cNvPr>
          <p:cNvSpPr txBox="1"/>
          <p:nvPr/>
        </p:nvSpPr>
        <p:spPr>
          <a:xfrm>
            <a:off x="3514888" y="4264268"/>
            <a:ext cx="22894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/>
              <a:t>3,500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4E6B81-F63A-4B18-AC61-C501D67019D1}"/>
              </a:ext>
            </a:extLst>
          </p:cNvPr>
          <p:cNvSpPr txBox="1"/>
          <p:nvPr/>
        </p:nvSpPr>
        <p:spPr>
          <a:xfrm>
            <a:off x="3514888" y="5257799"/>
            <a:ext cx="41617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/>
              <a:t>3,4 918 799</a:t>
            </a:r>
          </a:p>
        </p:txBody>
      </p:sp>
    </p:spTree>
    <p:extLst>
      <p:ext uri="{BB962C8B-B14F-4D97-AF65-F5344CB8AC3E}">
        <p14:creationId xmlns:p14="http://schemas.microsoft.com/office/powerpoint/2010/main" val="2443604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C76057-84BB-4EAE-AAD3-4217D55F4DEB}"/>
              </a:ext>
            </a:extLst>
          </p:cNvPr>
          <p:cNvSpPr txBox="1"/>
          <p:nvPr/>
        </p:nvSpPr>
        <p:spPr>
          <a:xfrm>
            <a:off x="3340218" y="43720"/>
            <a:ext cx="32255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7200" dirty="0"/>
              <a:t>273,418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08B93324-8A6A-48E6-B62D-C6BCFC692D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3221759"/>
                  </p:ext>
                </p:extLst>
              </p:nvPr>
            </p:nvGraphicFramePr>
            <p:xfrm>
              <a:off x="564660" y="1390255"/>
              <a:ext cx="8776680" cy="26866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62780">
                      <a:extLst>
                        <a:ext uri="{9D8B030D-6E8A-4147-A177-3AD203B41FA5}">
                          <a16:colId xmlns:a16="http://schemas.microsoft.com/office/drawing/2014/main" val="2595320870"/>
                        </a:ext>
                      </a:extLst>
                    </a:gridCol>
                    <a:gridCol w="1462780">
                      <a:extLst>
                        <a:ext uri="{9D8B030D-6E8A-4147-A177-3AD203B41FA5}">
                          <a16:colId xmlns:a16="http://schemas.microsoft.com/office/drawing/2014/main" val="2259929276"/>
                        </a:ext>
                      </a:extLst>
                    </a:gridCol>
                    <a:gridCol w="1462780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1462780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1462780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1462780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7424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Бирлер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8540542"/>
                      </a:ext>
                    </a:extLst>
                  </a:tr>
                  <a:tr h="74241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  <m:r>
                                  <a:rPr lang="ky-KG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 дөр</m:t>
                                </m:r>
                              </m:oMath>
                            </m:oMathPara>
                          </a14:m>
                          <a:endParaRPr lang="en-GB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ky-KG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 дор</m:t>
                                </m:r>
                              </m:oMath>
                            </m:oMathPara>
                          </a14:m>
                          <a:endParaRPr lang="en-GB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ky-KG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 лер</m:t>
                                </m:r>
                              </m:oMath>
                            </m:oMathPara>
                          </a14:m>
                          <a:endParaRPr lang="en-GB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  <m:r>
                                  <a:rPr lang="ky-KG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 тар</m:t>
                                </m:r>
                              </m:oMath>
                            </m:oMathPara>
                          </a14:m>
                          <a:endParaRPr lang="en-GB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  <m:r>
                                  <a:rPr lang="ky-KG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 төр</m:t>
                                </m:r>
                              </m:oMath>
                            </m:oMathPara>
                          </a14:m>
                          <a:endParaRPr lang="en-GB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1000</m:t>
                                    </m:r>
                                  </m:den>
                                </m:f>
                                <m:r>
                                  <a:rPr lang="ky-KG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 тер</m:t>
                                </m:r>
                              </m:oMath>
                            </m:oMathPara>
                          </a14:m>
                          <a:endParaRPr lang="en-GB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12017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08B93324-8A6A-48E6-B62D-C6BCFC692D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3221759"/>
                  </p:ext>
                </p:extLst>
              </p:nvPr>
            </p:nvGraphicFramePr>
            <p:xfrm>
              <a:off x="564660" y="1390255"/>
              <a:ext cx="8776680" cy="26866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62780">
                      <a:extLst>
                        <a:ext uri="{9D8B030D-6E8A-4147-A177-3AD203B41FA5}">
                          <a16:colId xmlns:a16="http://schemas.microsoft.com/office/drawing/2014/main" val="2595320870"/>
                        </a:ext>
                      </a:extLst>
                    </a:gridCol>
                    <a:gridCol w="1462780">
                      <a:extLst>
                        <a:ext uri="{9D8B030D-6E8A-4147-A177-3AD203B41FA5}">
                          <a16:colId xmlns:a16="http://schemas.microsoft.com/office/drawing/2014/main" val="2259929276"/>
                        </a:ext>
                      </a:extLst>
                    </a:gridCol>
                    <a:gridCol w="1462780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1462780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1462780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1462780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7424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Бирлер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8540542"/>
                      </a:ext>
                    </a:extLst>
                  </a:tr>
                  <a:tr h="7424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17" t="-101639" r="-501667" b="-227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17" t="-101639" r="-401667" b="-227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9585" t="-101639" r="-300000" b="-227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833" t="-101639" r="-201250" b="-227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833" t="-101639" r="-101250" b="-227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0833" t="-101639" r="-1250" b="-2278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12017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02E0CBD-5E16-4135-877A-1D50B7B98751}"/>
              </a:ext>
            </a:extLst>
          </p:cNvPr>
          <p:cNvSpPr txBox="1"/>
          <p:nvPr/>
        </p:nvSpPr>
        <p:spPr>
          <a:xfrm>
            <a:off x="4744448" y="2628659"/>
            <a:ext cx="4171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72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841088-2094-4886-85EC-1DF141C93978}"/>
              </a:ext>
            </a:extLst>
          </p:cNvPr>
          <p:cNvSpPr txBox="1"/>
          <p:nvPr/>
        </p:nvSpPr>
        <p:spPr>
          <a:xfrm>
            <a:off x="2947695" y="5310554"/>
            <a:ext cx="40106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Кайсы тилке </a:t>
            </a:r>
            <a:r>
              <a:rPr lang="ky-KG" sz="2000" dirty="0">
                <a:solidFill>
                  <a:srgbClr val="FF0000"/>
                </a:solidFill>
              </a:rPr>
              <a:t>көбүрөөк мааниге ээ</a:t>
            </a:r>
            <a:r>
              <a:rPr lang="ky-KG" sz="2000" dirty="0"/>
              <a:t>?</a:t>
            </a:r>
          </a:p>
          <a:p>
            <a:pPr algn="ctr"/>
            <a:r>
              <a:rPr lang="ky-KG" sz="2000" dirty="0"/>
              <a:t>Кайсысы </a:t>
            </a:r>
            <a:r>
              <a:rPr lang="ky-KG" sz="2000" dirty="0">
                <a:solidFill>
                  <a:srgbClr val="FF0000"/>
                </a:solidFill>
              </a:rPr>
              <a:t>азыраак мааниге ээ</a:t>
            </a:r>
            <a:r>
              <a:rPr lang="ky-KG" sz="2000" dirty="0"/>
              <a:t>?</a:t>
            </a:r>
            <a:endParaRPr lang="en-GB" sz="20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D2C29F3-4E4E-4438-A7B6-54B94BA0AB22}"/>
              </a:ext>
            </a:extLst>
          </p:cNvPr>
          <p:cNvCxnSpPr>
            <a:cxnSpLocks/>
          </p:cNvCxnSpPr>
          <p:nvPr/>
        </p:nvCxnSpPr>
        <p:spPr>
          <a:xfrm flipH="1" flipV="1">
            <a:off x="564660" y="4299439"/>
            <a:ext cx="8699503" cy="1"/>
          </a:xfrm>
          <a:prstGeom prst="straightConnector1">
            <a:avLst/>
          </a:prstGeom>
          <a:ln w="412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7A4E2C5-5BA5-4707-A923-C3211D3B26FB}"/>
              </a:ext>
            </a:extLst>
          </p:cNvPr>
          <p:cNvSpPr txBox="1"/>
          <p:nvPr/>
        </p:nvSpPr>
        <p:spPr>
          <a:xfrm>
            <a:off x="497513" y="4399084"/>
            <a:ext cx="2483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>
                <a:solidFill>
                  <a:srgbClr val="FF0000"/>
                </a:solidFill>
              </a:rPr>
              <a:t>Көбүрөөк мааниге ээ</a:t>
            </a:r>
            <a:endParaRPr lang="en-GB" sz="2000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60BE45-30B8-465A-9FCC-C609700808DC}"/>
              </a:ext>
            </a:extLst>
          </p:cNvPr>
          <p:cNvSpPr txBox="1"/>
          <p:nvPr/>
        </p:nvSpPr>
        <p:spPr>
          <a:xfrm>
            <a:off x="7236650" y="4399084"/>
            <a:ext cx="23669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>
                <a:solidFill>
                  <a:srgbClr val="FF0000"/>
                </a:solidFill>
              </a:rPr>
              <a:t>Азыраак мааниге ээ</a:t>
            </a:r>
            <a:endParaRPr lang="en-GB" sz="2000" dirty="0">
              <a:solidFill>
                <a:srgbClr val="FF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432240-B92E-43D0-800C-6362C7F71B63}"/>
              </a:ext>
            </a:extLst>
          </p:cNvPr>
          <p:cNvSpPr/>
          <p:nvPr/>
        </p:nvSpPr>
        <p:spPr>
          <a:xfrm>
            <a:off x="2177607" y="1470456"/>
            <a:ext cx="1151792" cy="501162"/>
          </a:xfrm>
          <a:prstGeom prst="rect">
            <a:avLst/>
          </a:prstGeom>
          <a:solidFill>
            <a:srgbClr val="FFE69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82DCC3-2831-40AF-BA25-98FB986C86CD}"/>
              </a:ext>
            </a:extLst>
          </p:cNvPr>
          <p:cNvSpPr/>
          <p:nvPr/>
        </p:nvSpPr>
        <p:spPr>
          <a:xfrm>
            <a:off x="3762619" y="1499025"/>
            <a:ext cx="1151792" cy="501162"/>
          </a:xfrm>
          <a:prstGeom prst="rect">
            <a:avLst/>
          </a:prstGeom>
          <a:solidFill>
            <a:srgbClr val="FFE69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4A42ED-A26C-4FBC-A8DC-4FBCAC32B93B}"/>
              </a:ext>
            </a:extLst>
          </p:cNvPr>
          <p:cNvSpPr/>
          <p:nvPr/>
        </p:nvSpPr>
        <p:spPr>
          <a:xfrm>
            <a:off x="5119024" y="1486154"/>
            <a:ext cx="1151792" cy="501162"/>
          </a:xfrm>
          <a:prstGeom prst="rect">
            <a:avLst/>
          </a:prstGeom>
          <a:solidFill>
            <a:srgbClr val="FFE69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C00F65-19D2-461A-B8FE-FD2F4107BF01}"/>
              </a:ext>
            </a:extLst>
          </p:cNvPr>
          <p:cNvSpPr/>
          <p:nvPr/>
        </p:nvSpPr>
        <p:spPr>
          <a:xfrm>
            <a:off x="6517711" y="1435215"/>
            <a:ext cx="1230922" cy="501162"/>
          </a:xfrm>
          <a:prstGeom prst="rect">
            <a:avLst/>
          </a:prstGeom>
          <a:solidFill>
            <a:srgbClr val="FFE69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A3A5AD-C934-49B8-BC1A-D4224093AB28}"/>
              </a:ext>
            </a:extLst>
          </p:cNvPr>
          <p:cNvSpPr/>
          <p:nvPr/>
        </p:nvSpPr>
        <p:spPr>
          <a:xfrm>
            <a:off x="8001149" y="1458520"/>
            <a:ext cx="1301261" cy="501162"/>
          </a:xfrm>
          <a:prstGeom prst="rect">
            <a:avLst/>
          </a:prstGeom>
          <a:solidFill>
            <a:srgbClr val="FFE69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C1F4C2-6BDB-42B2-8AB0-501B29416865}"/>
              </a:ext>
            </a:extLst>
          </p:cNvPr>
          <p:cNvSpPr/>
          <p:nvPr/>
        </p:nvSpPr>
        <p:spPr>
          <a:xfrm>
            <a:off x="675755" y="2232397"/>
            <a:ext cx="1151792" cy="501162"/>
          </a:xfrm>
          <a:prstGeom prst="rect">
            <a:avLst/>
          </a:prstGeom>
          <a:solidFill>
            <a:srgbClr val="FFE69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667675-9139-404C-8A4C-22DBF5A5EA9A}"/>
              </a:ext>
            </a:extLst>
          </p:cNvPr>
          <p:cNvSpPr/>
          <p:nvPr/>
        </p:nvSpPr>
        <p:spPr>
          <a:xfrm>
            <a:off x="2177607" y="2232397"/>
            <a:ext cx="1151792" cy="501162"/>
          </a:xfrm>
          <a:prstGeom prst="rect">
            <a:avLst/>
          </a:prstGeom>
          <a:solidFill>
            <a:srgbClr val="FFE69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1ABFAC-5ED0-4A59-9F16-10D8FB934779}"/>
              </a:ext>
            </a:extLst>
          </p:cNvPr>
          <p:cNvSpPr/>
          <p:nvPr/>
        </p:nvSpPr>
        <p:spPr>
          <a:xfrm>
            <a:off x="3691606" y="2232397"/>
            <a:ext cx="1151792" cy="501162"/>
          </a:xfrm>
          <a:prstGeom prst="rect">
            <a:avLst/>
          </a:prstGeom>
          <a:solidFill>
            <a:srgbClr val="FFE69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6D9C08D-6087-4807-B04C-6CA62B92A0E2}"/>
              </a:ext>
            </a:extLst>
          </p:cNvPr>
          <p:cNvSpPr/>
          <p:nvPr/>
        </p:nvSpPr>
        <p:spPr>
          <a:xfrm>
            <a:off x="5130484" y="2209891"/>
            <a:ext cx="1151792" cy="545123"/>
          </a:xfrm>
          <a:prstGeom prst="rect">
            <a:avLst/>
          </a:prstGeom>
          <a:solidFill>
            <a:srgbClr val="FFE69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0CDEDF-8F7D-484D-ACCD-0E00FFA00AAE}"/>
              </a:ext>
            </a:extLst>
          </p:cNvPr>
          <p:cNvSpPr/>
          <p:nvPr/>
        </p:nvSpPr>
        <p:spPr>
          <a:xfrm>
            <a:off x="6529377" y="2193356"/>
            <a:ext cx="1230922" cy="580292"/>
          </a:xfrm>
          <a:prstGeom prst="rect">
            <a:avLst/>
          </a:prstGeom>
          <a:solidFill>
            <a:srgbClr val="FFE69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FE0410-493E-4659-9A4F-63A679D9F21D}"/>
              </a:ext>
            </a:extLst>
          </p:cNvPr>
          <p:cNvSpPr/>
          <p:nvPr/>
        </p:nvSpPr>
        <p:spPr>
          <a:xfrm>
            <a:off x="8001149" y="2237477"/>
            <a:ext cx="1301261" cy="580292"/>
          </a:xfrm>
          <a:prstGeom prst="rect">
            <a:avLst/>
          </a:prstGeom>
          <a:solidFill>
            <a:srgbClr val="FFE69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B51886-1D31-4635-A36D-D09305F40261}"/>
              </a:ext>
            </a:extLst>
          </p:cNvPr>
          <p:cNvSpPr/>
          <p:nvPr/>
        </p:nvSpPr>
        <p:spPr>
          <a:xfrm>
            <a:off x="821202" y="1470456"/>
            <a:ext cx="1151792" cy="501162"/>
          </a:xfrm>
          <a:prstGeom prst="rect">
            <a:avLst/>
          </a:prstGeom>
          <a:solidFill>
            <a:srgbClr val="FFE69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5294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 animBg="1"/>
      <p:bldP spid="15" grpId="0" animBg="1"/>
      <p:bldP spid="16" grpId="0" animBg="1"/>
      <p:bldP spid="17" grpId="0" animBg="1"/>
      <p:bldP spid="18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C76057-84BB-4EAE-AAD3-4217D55F4DEB}"/>
              </a:ext>
            </a:extLst>
          </p:cNvPr>
          <p:cNvSpPr txBox="1"/>
          <p:nvPr/>
        </p:nvSpPr>
        <p:spPr>
          <a:xfrm>
            <a:off x="1159726" y="500919"/>
            <a:ext cx="32255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7200" dirty="0"/>
              <a:t>273,418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08B93324-8A6A-48E6-B62D-C6BCFC692D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9071021"/>
                  </p:ext>
                </p:extLst>
              </p:nvPr>
            </p:nvGraphicFramePr>
            <p:xfrm>
              <a:off x="564660" y="1847454"/>
              <a:ext cx="8776680" cy="38883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62780">
                      <a:extLst>
                        <a:ext uri="{9D8B030D-6E8A-4147-A177-3AD203B41FA5}">
                          <a16:colId xmlns:a16="http://schemas.microsoft.com/office/drawing/2014/main" val="2595320870"/>
                        </a:ext>
                      </a:extLst>
                    </a:gridCol>
                    <a:gridCol w="1462780">
                      <a:extLst>
                        <a:ext uri="{9D8B030D-6E8A-4147-A177-3AD203B41FA5}">
                          <a16:colId xmlns:a16="http://schemas.microsoft.com/office/drawing/2014/main" val="2259929276"/>
                        </a:ext>
                      </a:extLst>
                    </a:gridCol>
                    <a:gridCol w="1462780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1462780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1462780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1462780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7424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Бирлер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8540542"/>
                      </a:ext>
                    </a:extLst>
                  </a:tr>
                  <a:tr h="74241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GB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  <m:r>
                                <a:rPr lang="ky-KG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ky-KG" b="0" dirty="0">
                              <a:solidFill>
                                <a:sysClr val="windowText" lastClr="000000"/>
                              </a:solidFill>
                            </a:rPr>
                            <a:t>дөр</a:t>
                          </a:r>
                          <a:endParaRPr lang="en-GB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ky-KG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 дор</m:t>
                                </m:r>
                              </m:oMath>
                            </m:oMathPara>
                          </a14:m>
                          <a:endParaRPr lang="en-GB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ky-KG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 лер</m:t>
                                </m:r>
                              </m:oMath>
                            </m:oMathPara>
                          </a14:m>
                          <a:endParaRPr lang="en-GB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b="0" i="1" dirty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dirty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dirty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r>
                            <a:rPr lang="ky-KG" b="0" dirty="0">
                              <a:solidFill>
                                <a:sysClr val="windowText" lastClr="000000"/>
                              </a:solidFill>
                            </a:rPr>
                            <a:t> тар</a:t>
                          </a:r>
                          <a:endParaRPr lang="en-GB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b="0" i="1" dirty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dirty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dirty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r>
                            <a:rPr lang="ky-KG" b="0" dirty="0">
                              <a:solidFill>
                                <a:sysClr val="windowText" lastClr="000000"/>
                              </a:solidFill>
                            </a:rPr>
                            <a:t> төр </a:t>
                          </a:r>
                          <a:endParaRPr lang="en-GB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b="0" i="1" dirty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dirty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dirty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1000</m:t>
                                  </m:r>
                                </m:den>
                              </m:f>
                            </m:oMath>
                          </a14:m>
                          <a:r>
                            <a:rPr lang="ky-KG" b="0" dirty="0">
                              <a:solidFill>
                                <a:sysClr val="windowText" lastClr="000000"/>
                              </a:solidFill>
                            </a:rPr>
                            <a:t> тер</a:t>
                          </a:r>
                          <a:endParaRPr lang="en-GB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12017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12017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254301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08B93324-8A6A-48E6-B62D-C6BCFC692D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9071021"/>
                  </p:ext>
                </p:extLst>
              </p:nvPr>
            </p:nvGraphicFramePr>
            <p:xfrm>
              <a:off x="564660" y="1847454"/>
              <a:ext cx="8776680" cy="38883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62780">
                      <a:extLst>
                        <a:ext uri="{9D8B030D-6E8A-4147-A177-3AD203B41FA5}">
                          <a16:colId xmlns:a16="http://schemas.microsoft.com/office/drawing/2014/main" val="2595320870"/>
                        </a:ext>
                      </a:extLst>
                    </a:gridCol>
                    <a:gridCol w="1462780">
                      <a:extLst>
                        <a:ext uri="{9D8B030D-6E8A-4147-A177-3AD203B41FA5}">
                          <a16:colId xmlns:a16="http://schemas.microsoft.com/office/drawing/2014/main" val="2259929276"/>
                        </a:ext>
                      </a:extLst>
                    </a:gridCol>
                    <a:gridCol w="1462780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1462780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1462780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1462780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7424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Бирлер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8540542"/>
                      </a:ext>
                    </a:extLst>
                  </a:tr>
                  <a:tr h="7424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17" t="-101639" r="-501667" b="-3893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17" t="-101639" r="-401667" b="-3893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9585" t="-101639" r="-300000" b="-3893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833" t="-101639" r="-201250" b="-3893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833" t="-101639" r="-101250" b="-3893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0833" t="-101639" r="-1250" b="-3893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12017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12017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25430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02E0CBD-5E16-4135-877A-1D50B7B98751}"/>
              </a:ext>
            </a:extLst>
          </p:cNvPr>
          <p:cNvSpPr txBox="1"/>
          <p:nvPr/>
        </p:nvSpPr>
        <p:spPr>
          <a:xfrm>
            <a:off x="4744448" y="3085858"/>
            <a:ext cx="4171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72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DFCB03-CF9F-4DBD-A4AC-25325D11671A}"/>
              </a:ext>
            </a:extLst>
          </p:cNvPr>
          <p:cNvSpPr txBox="1"/>
          <p:nvPr/>
        </p:nvSpPr>
        <p:spPr>
          <a:xfrm>
            <a:off x="5256942" y="500919"/>
            <a:ext cx="32255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7200" dirty="0"/>
              <a:t>272,999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94ACBF-E737-48ED-A09A-0CFAAAB103AD}"/>
              </a:ext>
            </a:extLst>
          </p:cNvPr>
          <p:cNvSpPr txBox="1"/>
          <p:nvPr/>
        </p:nvSpPr>
        <p:spPr>
          <a:xfrm>
            <a:off x="4744448" y="4343158"/>
            <a:ext cx="4171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7200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80D72D-32E0-443D-B258-7861FB8E78F5}"/>
              </a:ext>
            </a:extLst>
          </p:cNvPr>
          <p:cNvSpPr txBox="1"/>
          <p:nvPr/>
        </p:nvSpPr>
        <p:spPr>
          <a:xfrm>
            <a:off x="2074001" y="52755"/>
            <a:ext cx="57580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Кайсы сан көбүрөөк мааниге ээ экенин билүү үчүн </a:t>
            </a:r>
          </a:p>
          <a:p>
            <a:pPr algn="ctr"/>
            <a:r>
              <a:rPr lang="ky-KG" sz="2000" dirty="0"/>
              <a:t>орундук маани таблицасын колдоно алабыз.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D9D590-C8A6-45C7-88E0-95F480CEB267}"/>
              </a:ext>
            </a:extLst>
          </p:cNvPr>
          <p:cNvSpPr txBox="1"/>
          <p:nvPr/>
        </p:nvSpPr>
        <p:spPr>
          <a:xfrm>
            <a:off x="753398" y="5890848"/>
            <a:ext cx="11192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FF0000"/>
                </a:solidFill>
              </a:rPr>
              <a:t>Барабар</a:t>
            </a:r>
            <a:endParaRPr lang="en-GB" sz="2000" b="1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3B6012-8561-4CF1-A999-B395C12819E1}"/>
              </a:ext>
            </a:extLst>
          </p:cNvPr>
          <p:cNvSpPr txBox="1"/>
          <p:nvPr/>
        </p:nvSpPr>
        <p:spPr>
          <a:xfrm>
            <a:off x="2195338" y="5890848"/>
            <a:ext cx="11192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FF0000"/>
                </a:solidFill>
              </a:rPr>
              <a:t>Барабар</a:t>
            </a:r>
            <a:endParaRPr lang="en-GB" sz="2000" b="1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F0496F-BE18-4457-BEFD-FD0523D1C8BD}"/>
              </a:ext>
            </a:extLst>
          </p:cNvPr>
          <p:cNvSpPr txBox="1"/>
          <p:nvPr/>
        </p:nvSpPr>
        <p:spPr>
          <a:xfrm>
            <a:off x="3683598" y="5890848"/>
            <a:ext cx="11496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FF0000"/>
                </a:solidFill>
              </a:rPr>
              <a:t>Азыраак</a:t>
            </a:r>
            <a:endParaRPr lang="en-GB" sz="2000" b="1" dirty="0">
              <a:solidFill>
                <a:srgbClr val="FF0000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2DD3920-2427-468E-905A-8BD4F213F1FD}"/>
              </a:ext>
            </a:extLst>
          </p:cNvPr>
          <p:cNvSpPr/>
          <p:nvPr/>
        </p:nvSpPr>
        <p:spPr>
          <a:xfrm>
            <a:off x="821782" y="3334448"/>
            <a:ext cx="914400" cy="240139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EFD5622-209C-487D-A35E-C92FB78B1F97}"/>
              </a:ext>
            </a:extLst>
          </p:cNvPr>
          <p:cNvSpPr/>
          <p:nvPr/>
        </p:nvSpPr>
        <p:spPr>
          <a:xfrm>
            <a:off x="2281305" y="3334448"/>
            <a:ext cx="914400" cy="240139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82A1BE9-0517-4B72-9702-1FAAF6E465BE}"/>
              </a:ext>
            </a:extLst>
          </p:cNvPr>
          <p:cNvSpPr/>
          <p:nvPr/>
        </p:nvSpPr>
        <p:spPr>
          <a:xfrm>
            <a:off x="3749621" y="4600539"/>
            <a:ext cx="914400" cy="114083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D9CDB7-BCBE-4DF6-B168-ADFFB7A9FA96}"/>
              </a:ext>
            </a:extLst>
          </p:cNvPr>
          <p:cNvSpPr txBox="1"/>
          <p:nvPr/>
        </p:nvSpPr>
        <p:spPr>
          <a:xfrm>
            <a:off x="4258435" y="6150114"/>
            <a:ext cx="57347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Булардын баары өз тилкелеринде көп мааниге ээ, </a:t>
            </a:r>
          </a:p>
          <a:p>
            <a:pPr algn="ctr"/>
            <a:r>
              <a:rPr lang="ky-KG" sz="2000" dirty="0"/>
              <a:t>Бирок эмне үчүн алар 3 бирден жогору эмес?</a:t>
            </a:r>
            <a:endParaRPr lang="en-GB" sz="20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73F9011-A251-4AA1-B209-527C8E656B21}"/>
              </a:ext>
            </a:extLst>
          </p:cNvPr>
          <p:cNvSpPr/>
          <p:nvPr/>
        </p:nvSpPr>
        <p:spPr>
          <a:xfrm>
            <a:off x="5068466" y="4574163"/>
            <a:ext cx="4207417" cy="1140837"/>
          </a:xfrm>
          <a:prstGeom prst="ellipse">
            <a:avLst/>
          </a:prstGeom>
          <a:noFill/>
          <a:ln w="571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141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4" grpId="0"/>
      <p:bldP spid="15" grpId="0"/>
      <p:bldP spid="16" grpId="0"/>
      <p:bldP spid="4" grpId="0" animBg="1"/>
      <p:bldP spid="17" grpId="0" animBg="1"/>
      <p:bldP spid="18" grpId="0" animBg="1"/>
      <p:bldP spid="20" grpId="0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C76057-84BB-4EAE-AAD3-4217D55F4DEB}"/>
              </a:ext>
            </a:extLst>
          </p:cNvPr>
          <p:cNvSpPr txBox="1"/>
          <p:nvPr/>
        </p:nvSpPr>
        <p:spPr>
          <a:xfrm>
            <a:off x="2446135" y="500919"/>
            <a:ext cx="6527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7200" dirty="0"/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08B93324-8A6A-48E6-B62D-C6BCFC692D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9426559"/>
                  </p:ext>
                </p:extLst>
              </p:nvPr>
            </p:nvGraphicFramePr>
            <p:xfrm>
              <a:off x="564660" y="1847454"/>
              <a:ext cx="8776680" cy="38883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62780">
                      <a:extLst>
                        <a:ext uri="{9D8B030D-6E8A-4147-A177-3AD203B41FA5}">
                          <a16:colId xmlns:a16="http://schemas.microsoft.com/office/drawing/2014/main" val="2595320870"/>
                        </a:ext>
                      </a:extLst>
                    </a:gridCol>
                    <a:gridCol w="1462780">
                      <a:extLst>
                        <a:ext uri="{9D8B030D-6E8A-4147-A177-3AD203B41FA5}">
                          <a16:colId xmlns:a16="http://schemas.microsoft.com/office/drawing/2014/main" val="2259929276"/>
                        </a:ext>
                      </a:extLst>
                    </a:gridCol>
                    <a:gridCol w="1462780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1462780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1462780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1462780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7424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Бирлер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8540542"/>
                      </a:ext>
                    </a:extLst>
                  </a:tr>
                  <a:tr h="74241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GB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  <m:r>
                                <a:rPr lang="ky-KG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ky-KG" b="0" dirty="0">
                              <a:solidFill>
                                <a:sysClr val="windowText" lastClr="000000"/>
                              </a:solidFill>
                            </a:rPr>
                            <a:t>дөр</a:t>
                          </a:r>
                          <a:endParaRPr lang="en-GB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ky-KG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 дор</m:t>
                                </m:r>
                              </m:oMath>
                            </m:oMathPara>
                          </a14:m>
                          <a:endParaRPr lang="en-GB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ky-KG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 лер</m:t>
                                </m:r>
                              </m:oMath>
                            </m:oMathPara>
                          </a14:m>
                          <a:endParaRPr lang="en-GB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b="0" i="1" dirty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dirty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dirty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r>
                            <a:rPr lang="ky-KG" b="0" dirty="0">
                              <a:solidFill>
                                <a:sysClr val="windowText" lastClr="000000"/>
                              </a:solidFill>
                            </a:rPr>
                            <a:t> тар</a:t>
                          </a:r>
                          <a:endParaRPr lang="en-GB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b="0" i="1" dirty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dirty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dirty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r>
                            <a:rPr lang="ky-KG" b="0" dirty="0">
                              <a:solidFill>
                                <a:sysClr val="windowText" lastClr="000000"/>
                              </a:solidFill>
                            </a:rPr>
                            <a:t> төр </a:t>
                          </a:r>
                          <a:endParaRPr lang="en-GB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b="0" i="1" dirty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dirty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dirty="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1000</m:t>
                                  </m:r>
                                </m:den>
                              </m:f>
                            </m:oMath>
                          </a14:m>
                          <a:r>
                            <a:rPr lang="ky-KG" b="0" dirty="0">
                              <a:solidFill>
                                <a:sysClr val="windowText" lastClr="000000"/>
                              </a:solidFill>
                            </a:rPr>
                            <a:t> тер</a:t>
                          </a:r>
                          <a:endParaRPr lang="en-GB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12017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12017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254301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08B93324-8A6A-48E6-B62D-C6BCFC692D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9426559"/>
                  </p:ext>
                </p:extLst>
              </p:nvPr>
            </p:nvGraphicFramePr>
            <p:xfrm>
              <a:off x="564660" y="1847454"/>
              <a:ext cx="8776680" cy="38883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62780">
                      <a:extLst>
                        <a:ext uri="{9D8B030D-6E8A-4147-A177-3AD203B41FA5}">
                          <a16:colId xmlns:a16="http://schemas.microsoft.com/office/drawing/2014/main" val="2595320870"/>
                        </a:ext>
                      </a:extLst>
                    </a:gridCol>
                    <a:gridCol w="1462780">
                      <a:extLst>
                        <a:ext uri="{9D8B030D-6E8A-4147-A177-3AD203B41FA5}">
                          <a16:colId xmlns:a16="http://schemas.microsoft.com/office/drawing/2014/main" val="2259929276"/>
                        </a:ext>
                      </a:extLst>
                    </a:gridCol>
                    <a:gridCol w="1462780">
                      <a:extLst>
                        <a:ext uri="{9D8B030D-6E8A-4147-A177-3AD203B41FA5}">
                          <a16:colId xmlns:a16="http://schemas.microsoft.com/office/drawing/2014/main" val="1845507689"/>
                        </a:ext>
                      </a:extLst>
                    </a:gridCol>
                    <a:gridCol w="1462780">
                      <a:extLst>
                        <a:ext uri="{9D8B030D-6E8A-4147-A177-3AD203B41FA5}">
                          <a16:colId xmlns:a16="http://schemas.microsoft.com/office/drawing/2014/main" val="1930623779"/>
                        </a:ext>
                      </a:extLst>
                    </a:gridCol>
                    <a:gridCol w="1462780">
                      <a:extLst>
                        <a:ext uri="{9D8B030D-6E8A-4147-A177-3AD203B41FA5}">
                          <a16:colId xmlns:a16="http://schemas.microsoft.com/office/drawing/2014/main" val="2829033142"/>
                        </a:ext>
                      </a:extLst>
                    </a:gridCol>
                    <a:gridCol w="1462780">
                      <a:extLst>
                        <a:ext uri="{9D8B030D-6E8A-4147-A177-3AD203B41FA5}">
                          <a16:colId xmlns:a16="http://schemas.microsoft.com/office/drawing/2014/main" val="2504371840"/>
                        </a:ext>
                      </a:extLst>
                    </a:gridCol>
                  </a:tblGrid>
                  <a:tr h="7424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Жүздөр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Бирлер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Миңдиктер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8540542"/>
                      </a:ext>
                    </a:extLst>
                  </a:tr>
                  <a:tr h="7424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17" t="-101639" r="-501667" b="-3893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17" t="-101639" r="-401667" b="-3893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9585" t="-101639" r="-300000" b="-3893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833" t="-101639" r="-201250" b="-3893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833" t="-101639" r="-101250" b="-3893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0833" t="-101639" r="-1250" b="-3893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6263388"/>
                      </a:ext>
                    </a:extLst>
                  </a:tr>
                  <a:tr h="12017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352471"/>
                      </a:ext>
                    </a:extLst>
                  </a:tr>
                  <a:tr h="12017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2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25430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02E0CBD-5E16-4135-877A-1D50B7B98751}"/>
              </a:ext>
            </a:extLst>
          </p:cNvPr>
          <p:cNvSpPr txBox="1"/>
          <p:nvPr/>
        </p:nvSpPr>
        <p:spPr>
          <a:xfrm>
            <a:off x="4744448" y="3085858"/>
            <a:ext cx="4171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72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DFCB03-CF9F-4DBD-A4AC-25325D11671A}"/>
              </a:ext>
            </a:extLst>
          </p:cNvPr>
          <p:cNvSpPr txBox="1"/>
          <p:nvPr/>
        </p:nvSpPr>
        <p:spPr>
          <a:xfrm>
            <a:off x="5725018" y="500919"/>
            <a:ext cx="22894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7200" dirty="0"/>
              <a:t>0,999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94ACBF-E737-48ED-A09A-0CFAAAB103AD}"/>
              </a:ext>
            </a:extLst>
          </p:cNvPr>
          <p:cNvSpPr txBox="1"/>
          <p:nvPr/>
        </p:nvSpPr>
        <p:spPr>
          <a:xfrm>
            <a:off x="4744448" y="4343158"/>
            <a:ext cx="4171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7200" dirty="0"/>
              <a:t>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2DD3920-2427-468E-905A-8BD4F213F1FD}"/>
              </a:ext>
            </a:extLst>
          </p:cNvPr>
          <p:cNvSpPr/>
          <p:nvPr/>
        </p:nvSpPr>
        <p:spPr>
          <a:xfrm>
            <a:off x="821782" y="3334448"/>
            <a:ext cx="914400" cy="240139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EFD5622-209C-487D-A35E-C92FB78B1F97}"/>
              </a:ext>
            </a:extLst>
          </p:cNvPr>
          <p:cNvSpPr/>
          <p:nvPr/>
        </p:nvSpPr>
        <p:spPr>
          <a:xfrm>
            <a:off x="2281305" y="3334448"/>
            <a:ext cx="914400" cy="240139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82A1BE9-0517-4B72-9702-1FAAF6E465BE}"/>
              </a:ext>
            </a:extLst>
          </p:cNvPr>
          <p:cNvSpPr/>
          <p:nvPr/>
        </p:nvSpPr>
        <p:spPr>
          <a:xfrm>
            <a:off x="3749621" y="4530201"/>
            <a:ext cx="914400" cy="114083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73F9011-A251-4AA1-B209-527C8E656B21}"/>
              </a:ext>
            </a:extLst>
          </p:cNvPr>
          <p:cNvSpPr/>
          <p:nvPr/>
        </p:nvSpPr>
        <p:spPr>
          <a:xfrm>
            <a:off x="5068466" y="4574163"/>
            <a:ext cx="4207417" cy="1140837"/>
          </a:xfrm>
          <a:prstGeom prst="ellipse">
            <a:avLst/>
          </a:prstGeom>
          <a:noFill/>
          <a:ln w="571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189B9B-0695-4204-8A46-1396AAE3E28C}"/>
              </a:ext>
            </a:extLst>
          </p:cNvPr>
          <p:cNvSpPr txBox="1"/>
          <p:nvPr/>
        </p:nvSpPr>
        <p:spPr>
          <a:xfrm>
            <a:off x="4096384" y="6097359"/>
            <a:ext cx="57347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Булардын баары өз тилкелеринде көп мааниге ээ, </a:t>
            </a:r>
          </a:p>
          <a:p>
            <a:pPr algn="ctr"/>
            <a:r>
              <a:rPr lang="ky-KG" sz="2000" dirty="0"/>
              <a:t>Бирок эмне үчүн алар 1 бирден жогору эмес?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1402BC-AD0B-107B-DDE5-17EF2C320134}"/>
              </a:ext>
            </a:extLst>
          </p:cNvPr>
          <p:cNvSpPr txBox="1"/>
          <p:nvPr/>
        </p:nvSpPr>
        <p:spPr>
          <a:xfrm>
            <a:off x="2045147" y="52755"/>
            <a:ext cx="58157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Кайсы сан көбүрөөк мааниге ээ экенин билүү үчүн </a:t>
            </a:r>
          </a:p>
          <a:p>
            <a:pPr algn="ctr"/>
            <a:r>
              <a:rPr lang="ky-KG" sz="2000" dirty="0"/>
              <a:t>орундук маани таблицасын колдоно алабыз.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800941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30160B3-8AC2-4CD4-BE95-DCF53B22F980}"/>
              </a:ext>
            </a:extLst>
          </p:cNvPr>
          <p:cNvSpPr/>
          <p:nvPr/>
        </p:nvSpPr>
        <p:spPr>
          <a:xfrm>
            <a:off x="1076499" y="254979"/>
            <a:ext cx="2709150" cy="188155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66E0EF5-BC1E-4E45-A954-3C482329513D}"/>
              </a:ext>
            </a:extLst>
          </p:cNvPr>
          <p:cNvSpPr/>
          <p:nvPr/>
        </p:nvSpPr>
        <p:spPr>
          <a:xfrm>
            <a:off x="6044152" y="254979"/>
            <a:ext cx="2709150" cy="188155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E4F005B-34C2-4E42-80F8-ADD98DA5C2FE}"/>
              </a:ext>
            </a:extLst>
          </p:cNvPr>
          <p:cNvSpPr/>
          <p:nvPr/>
        </p:nvSpPr>
        <p:spPr>
          <a:xfrm>
            <a:off x="942044" y="3727939"/>
            <a:ext cx="3136320" cy="188155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83F5BB-9235-443A-94A4-37B52D6D7DE2}"/>
              </a:ext>
            </a:extLst>
          </p:cNvPr>
          <p:cNvGrpSpPr/>
          <p:nvPr/>
        </p:nvGrpSpPr>
        <p:grpSpPr>
          <a:xfrm>
            <a:off x="1626366" y="134057"/>
            <a:ext cx="1588898" cy="2097144"/>
            <a:chOff x="386650" y="773481"/>
            <a:chExt cx="1588898" cy="2097144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DA604B7-502C-404C-9883-B466694667F2}"/>
                </a:ext>
              </a:extLst>
            </p:cNvPr>
            <p:cNvSpPr txBox="1"/>
            <p:nvPr/>
          </p:nvSpPr>
          <p:spPr>
            <a:xfrm>
              <a:off x="386650" y="773481"/>
              <a:ext cx="1588898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7200" dirty="0"/>
                <a:t>100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3504474-4A88-4E3A-8AC6-ED33E501EC1A}"/>
                </a:ext>
              </a:extLst>
            </p:cNvPr>
            <p:cNvSpPr txBox="1"/>
            <p:nvPr/>
          </p:nvSpPr>
          <p:spPr>
            <a:xfrm>
              <a:off x="822912" y="1670296"/>
              <a:ext cx="112082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7200" dirty="0"/>
                <a:t>99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78EABC7-F402-4C48-9331-69AC32985B44}"/>
              </a:ext>
            </a:extLst>
          </p:cNvPr>
          <p:cNvGrpSpPr/>
          <p:nvPr/>
        </p:nvGrpSpPr>
        <p:grpSpPr>
          <a:xfrm>
            <a:off x="6395150" y="134057"/>
            <a:ext cx="2086707" cy="2097144"/>
            <a:chOff x="5041135" y="676765"/>
            <a:chExt cx="2086707" cy="209714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77EFF24-101D-460C-8A4B-2F993CD1A668}"/>
                </a:ext>
              </a:extLst>
            </p:cNvPr>
            <p:cNvSpPr txBox="1"/>
            <p:nvPr/>
          </p:nvSpPr>
          <p:spPr>
            <a:xfrm>
              <a:off x="5041135" y="676765"/>
              <a:ext cx="2056974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7200" dirty="0"/>
                <a:t>1000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D1CCEB3-9B85-45AC-BD18-EE60073F2461}"/>
                </a:ext>
              </a:extLst>
            </p:cNvPr>
            <p:cNvSpPr txBox="1"/>
            <p:nvPr/>
          </p:nvSpPr>
          <p:spPr>
            <a:xfrm>
              <a:off x="5538945" y="1573580"/>
              <a:ext cx="1588897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7200" dirty="0"/>
                <a:t>999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BEE4971-9DCD-49A9-A6B9-434A8F166910}"/>
              </a:ext>
            </a:extLst>
          </p:cNvPr>
          <p:cNvGrpSpPr/>
          <p:nvPr/>
        </p:nvGrpSpPr>
        <p:grpSpPr>
          <a:xfrm>
            <a:off x="1425580" y="3622190"/>
            <a:ext cx="2289409" cy="2097144"/>
            <a:chOff x="836495" y="3762866"/>
            <a:chExt cx="2289409" cy="209714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DFD8710-9C52-4951-84ED-3DB8CE647F1E}"/>
                </a:ext>
              </a:extLst>
            </p:cNvPr>
            <p:cNvSpPr txBox="1"/>
            <p:nvPr/>
          </p:nvSpPr>
          <p:spPr>
            <a:xfrm>
              <a:off x="854727" y="3762866"/>
              <a:ext cx="652743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7200" dirty="0"/>
                <a:t>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5DDB420-6D29-499E-A294-F1A0100BCF46}"/>
                </a:ext>
              </a:extLst>
            </p:cNvPr>
            <p:cNvSpPr txBox="1"/>
            <p:nvPr/>
          </p:nvSpPr>
          <p:spPr>
            <a:xfrm>
              <a:off x="836495" y="4659681"/>
              <a:ext cx="2289409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7200" dirty="0"/>
                <a:t>0,999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D93BF17-F5A3-465A-8EAE-12B0166ECB93}"/>
              </a:ext>
            </a:extLst>
          </p:cNvPr>
          <p:cNvGrpSpPr/>
          <p:nvPr/>
        </p:nvGrpSpPr>
        <p:grpSpPr>
          <a:xfrm>
            <a:off x="5212558" y="3622190"/>
            <a:ext cx="4214076" cy="2097144"/>
            <a:chOff x="5748889" y="3024313"/>
            <a:chExt cx="4214076" cy="2097144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152888A-1CD4-41BE-8162-01BA88A27B23}"/>
                </a:ext>
              </a:extLst>
            </p:cNvPr>
            <p:cNvSpPr/>
            <p:nvPr/>
          </p:nvSpPr>
          <p:spPr>
            <a:xfrm>
              <a:off x="5748889" y="3130062"/>
              <a:ext cx="4214076" cy="1881553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 err="1">
                <a:solidFill>
                  <a:schemeClr val="tx1"/>
                </a:solidFill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0FB7D9D-B1C4-4DE1-955E-DFC20631DBC9}"/>
                </a:ext>
              </a:extLst>
            </p:cNvPr>
            <p:cNvGrpSpPr/>
            <p:nvPr/>
          </p:nvGrpSpPr>
          <p:grpSpPr>
            <a:xfrm>
              <a:off x="6071920" y="3024313"/>
              <a:ext cx="3667887" cy="2097144"/>
              <a:chOff x="5720228" y="4167312"/>
              <a:chExt cx="3667887" cy="2097144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F32F778-6B5B-42D8-B1C8-778E15DD36F1}"/>
                  </a:ext>
                </a:extLst>
              </p:cNvPr>
              <p:cNvSpPr txBox="1"/>
              <p:nvPr/>
            </p:nvSpPr>
            <p:spPr>
              <a:xfrm>
                <a:off x="5720228" y="4167312"/>
                <a:ext cx="1120820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7200" dirty="0"/>
                  <a:t>10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5F9574D-1A4C-4E80-AB23-7D39EC804AEB}"/>
                  </a:ext>
                </a:extLst>
              </p:cNvPr>
              <p:cNvSpPr txBox="1"/>
              <p:nvPr/>
            </p:nvSpPr>
            <p:spPr>
              <a:xfrm>
                <a:off x="6162553" y="5064127"/>
                <a:ext cx="322556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7200" dirty="0"/>
                  <a:t>9,99 999</a:t>
                </a:r>
              </a:p>
            </p:txBody>
          </p:sp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10A54CB-674F-4E31-8D13-21826292FDAA}"/>
              </a:ext>
            </a:extLst>
          </p:cNvPr>
          <p:cNvSpPr txBox="1"/>
          <p:nvPr/>
        </p:nvSpPr>
        <p:spPr>
          <a:xfrm>
            <a:off x="1705840" y="6200503"/>
            <a:ext cx="61582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Ар бир жупта эмне үчүн жогоруда жайгашкан сан,</a:t>
            </a:r>
          </a:p>
          <a:p>
            <a:pPr algn="ctr"/>
            <a:r>
              <a:rPr lang="ky-KG" sz="2000" dirty="0"/>
              <a:t>эң көп мааниге ээ экенин түшүндүрүп бере аласызбы?</a:t>
            </a:r>
            <a:endParaRPr lang="en-GB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0DA03A-E27B-4A96-B077-5448B95EAF26}"/>
              </a:ext>
            </a:extLst>
          </p:cNvPr>
          <p:cNvSpPr txBox="1"/>
          <p:nvPr/>
        </p:nvSpPr>
        <p:spPr>
          <a:xfrm>
            <a:off x="357034" y="2128597"/>
            <a:ext cx="42352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Эң көп сандагы </a:t>
            </a:r>
            <a:r>
              <a:rPr lang="ky-KG" sz="2000" dirty="0">
                <a:solidFill>
                  <a:srgbClr val="FF0000"/>
                </a:solidFill>
              </a:rPr>
              <a:t>Ондор</a:t>
            </a:r>
            <a:r>
              <a:rPr lang="ru-RU" sz="2000" dirty="0">
                <a:solidFill>
                  <a:srgbClr val="FF0000"/>
                </a:solidFill>
              </a:rPr>
              <a:t> жана Бирлер, </a:t>
            </a:r>
            <a:endParaRPr lang="en-US" sz="2000" dirty="0">
              <a:solidFill>
                <a:srgbClr val="FF0000"/>
              </a:solidFill>
            </a:endParaRPr>
          </a:p>
          <a:p>
            <a:pPr algn="ctr"/>
            <a:r>
              <a:rPr lang="ru-RU" sz="2000" dirty="0">
                <a:solidFill>
                  <a:srgbClr val="FF0000"/>
                </a:solidFill>
              </a:rPr>
              <a:t>эч качан 1 жүздөн ашпайт.</a:t>
            </a:r>
            <a:endParaRPr lang="en-GB" sz="2000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FB9A66-059B-4497-AC70-6C67C5D7C9DA}"/>
              </a:ext>
            </a:extLst>
          </p:cNvPr>
          <p:cNvSpPr txBox="1"/>
          <p:nvPr/>
        </p:nvSpPr>
        <p:spPr>
          <a:xfrm>
            <a:off x="4949547" y="2128597"/>
            <a:ext cx="519655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Эң көп сандагы </a:t>
            </a:r>
            <a:r>
              <a:rPr lang="ky-KG" sz="2000" dirty="0">
                <a:solidFill>
                  <a:srgbClr val="FF0000"/>
                </a:solidFill>
              </a:rPr>
              <a:t>Жүздөр, Ондор</a:t>
            </a:r>
            <a:r>
              <a:rPr lang="ru-RU" sz="2000" dirty="0">
                <a:solidFill>
                  <a:srgbClr val="FF0000"/>
                </a:solidFill>
              </a:rPr>
              <a:t> жана Бирлер, </a:t>
            </a:r>
            <a:endParaRPr lang="en-US" sz="2000" dirty="0">
              <a:solidFill>
                <a:srgbClr val="FF0000"/>
              </a:solidFill>
            </a:endParaRPr>
          </a:p>
          <a:p>
            <a:pPr algn="ctr"/>
            <a:r>
              <a:rPr lang="ru-RU" sz="2000" dirty="0">
                <a:solidFill>
                  <a:srgbClr val="FF0000"/>
                </a:solidFill>
              </a:rPr>
              <a:t>эч качан 1 миңден ашпайт.</a:t>
            </a:r>
            <a:endParaRPr lang="en-GB" sz="2000" dirty="0">
              <a:solidFill>
                <a:srgbClr val="FF0000"/>
              </a:solidFill>
            </a:endParaRPr>
          </a:p>
          <a:p>
            <a:pPr algn="ctr"/>
            <a:r>
              <a:rPr lang="en-GB" sz="2000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65164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DD172A9-01BB-4238-B4E3-F4277ED4A5EC}"/>
              </a:ext>
            </a:extLst>
          </p:cNvPr>
          <p:cNvCxnSpPr>
            <a:cxnSpLocks/>
          </p:cNvCxnSpPr>
          <p:nvPr/>
        </p:nvCxnSpPr>
        <p:spPr>
          <a:xfrm>
            <a:off x="2457256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D50701E-88B0-4F68-AF39-B407BE823211}"/>
              </a:ext>
            </a:extLst>
          </p:cNvPr>
          <p:cNvCxnSpPr>
            <a:cxnSpLocks/>
          </p:cNvCxnSpPr>
          <p:nvPr/>
        </p:nvCxnSpPr>
        <p:spPr>
          <a:xfrm>
            <a:off x="3159760" y="2905213"/>
            <a:ext cx="0" cy="182426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1E57937-6321-49F7-8FB8-E3876CDEF03D}"/>
              </a:ext>
            </a:extLst>
          </p:cNvPr>
          <p:cNvCxnSpPr>
            <a:cxnSpLocks/>
          </p:cNvCxnSpPr>
          <p:nvPr/>
        </p:nvCxnSpPr>
        <p:spPr>
          <a:xfrm>
            <a:off x="3678507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318C6F4-68E1-414E-9588-F7FFF426E923}"/>
              </a:ext>
            </a:extLst>
          </p:cNvPr>
          <p:cNvSpPr txBox="1"/>
          <p:nvPr/>
        </p:nvSpPr>
        <p:spPr>
          <a:xfrm>
            <a:off x="1792109" y="2737917"/>
            <a:ext cx="21194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2,71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A6B9B3-C7A1-431F-9861-B79B42E0D41D}"/>
              </a:ext>
            </a:extLst>
          </p:cNvPr>
          <p:cNvSpPr txBox="1"/>
          <p:nvPr/>
        </p:nvSpPr>
        <p:spPr>
          <a:xfrm>
            <a:off x="1792109" y="3411017"/>
            <a:ext cx="21194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2,83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FC842A-994C-4A28-BA76-849F8530D62A}"/>
              </a:ext>
            </a:extLst>
          </p:cNvPr>
          <p:cNvSpPr txBox="1"/>
          <p:nvPr/>
        </p:nvSpPr>
        <p:spPr>
          <a:xfrm>
            <a:off x="1792109" y="4084117"/>
            <a:ext cx="21194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1,97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661144" y="0"/>
            <a:ext cx="2583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Ондуктарды Ирээттөө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72755" y="378903"/>
            <a:ext cx="487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Берилген ондуктарды өсүү тартибинде ирээтте.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100897" y="-30715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spc="300" dirty="0">
                <a:latin typeface="Stencil" panose="040409050D0802020404" pitchFamily="82" charset="0"/>
              </a:rPr>
              <a:t>САБАК</a:t>
            </a:r>
            <a:endParaRPr lang="en-GB" b="1" spc="300" dirty="0">
              <a:latin typeface="Stencil" panose="040409050D0802020404" pitchFamily="8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21A334-6CB9-46CD-BB9D-DDDC49030548}"/>
              </a:ext>
            </a:extLst>
          </p:cNvPr>
          <p:cNvSpPr txBox="1"/>
          <p:nvPr/>
        </p:nvSpPr>
        <p:spPr>
          <a:xfrm>
            <a:off x="2284766" y="642671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rgbClr val="FF0000"/>
                </a:solidFill>
              </a:rPr>
              <a:t>... көбөйүү, өсүү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8E82BA-E068-46DA-8C13-D69CF52E76AE}"/>
              </a:ext>
            </a:extLst>
          </p:cNvPr>
          <p:cNvSpPr txBox="1"/>
          <p:nvPr/>
        </p:nvSpPr>
        <p:spPr>
          <a:xfrm>
            <a:off x="1924135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2,83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CD74E9-BDCF-4674-849F-671FFE0D4786}"/>
              </a:ext>
            </a:extLst>
          </p:cNvPr>
          <p:cNvSpPr txBox="1"/>
          <p:nvPr/>
        </p:nvSpPr>
        <p:spPr>
          <a:xfrm>
            <a:off x="3104453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1,97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8D2579D-1EFD-4A43-81AB-DF9DE96F51CE}"/>
              </a:ext>
            </a:extLst>
          </p:cNvPr>
          <p:cNvSpPr/>
          <p:nvPr/>
        </p:nvSpPr>
        <p:spPr>
          <a:xfrm>
            <a:off x="1675220" y="4113975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3DAD479-C1E7-4BFE-BE4C-CB0FA0F48EB3}"/>
              </a:ext>
            </a:extLst>
          </p:cNvPr>
          <p:cNvSpPr txBox="1"/>
          <p:nvPr/>
        </p:nvSpPr>
        <p:spPr>
          <a:xfrm>
            <a:off x="332926" y="4200340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Эң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FAD8A3-E3C4-43D4-8FA5-FCEF389050F9}"/>
              </a:ext>
            </a:extLst>
          </p:cNvPr>
          <p:cNvSpPr txBox="1"/>
          <p:nvPr/>
        </p:nvSpPr>
        <p:spPr>
          <a:xfrm>
            <a:off x="672789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1,97,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F39E50-5D2B-49CF-B5DC-44FD4499989F}"/>
              </a:ext>
            </a:extLst>
          </p:cNvPr>
          <p:cNvSpPr txBox="1"/>
          <p:nvPr/>
        </p:nvSpPr>
        <p:spPr>
          <a:xfrm>
            <a:off x="743816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2,71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0FE3080-D401-4861-8AAC-0B79304DCA6E}"/>
              </a:ext>
            </a:extLst>
          </p:cNvPr>
          <p:cNvSpPr/>
          <p:nvPr/>
        </p:nvSpPr>
        <p:spPr>
          <a:xfrm>
            <a:off x="2522086" y="2771062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97D1BC-C884-464E-A892-8D1D4E959B5D}"/>
              </a:ext>
            </a:extLst>
          </p:cNvPr>
          <p:cNvSpPr txBox="1"/>
          <p:nvPr/>
        </p:nvSpPr>
        <p:spPr>
          <a:xfrm>
            <a:off x="367388" y="2966796"/>
            <a:ext cx="1053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2-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520F65-2313-418C-AF57-44C9BFF5DE3A}"/>
              </a:ext>
            </a:extLst>
          </p:cNvPr>
          <p:cNvSpPr txBox="1"/>
          <p:nvPr/>
        </p:nvSpPr>
        <p:spPr>
          <a:xfrm>
            <a:off x="-77615" y="1899570"/>
            <a:ext cx="5030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rgbClr val="FF0000"/>
                </a:solidFill>
              </a:rPr>
              <a:t>Эң чоң тилкеден баштап, эң кичине </a:t>
            </a:r>
          </a:p>
          <a:p>
            <a:pPr algn="ctr"/>
            <a:r>
              <a:rPr lang="ky-KG" dirty="0">
                <a:solidFill>
                  <a:srgbClr val="FF0000"/>
                </a:solidFill>
              </a:rPr>
              <a:t>санды тапканга чейин сандарды салыштырыңыз.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8A679F-40F3-4F0C-807C-E5124EE8F472}"/>
              </a:ext>
            </a:extLst>
          </p:cNvPr>
          <p:cNvSpPr txBox="1"/>
          <p:nvPr/>
        </p:nvSpPr>
        <p:spPr>
          <a:xfrm>
            <a:off x="1999699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2,71,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B567FE-C26B-4BC6-A565-09877E2B985A}"/>
              </a:ext>
            </a:extLst>
          </p:cNvPr>
          <p:cNvSpPr txBox="1"/>
          <p:nvPr/>
        </p:nvSpPr>
        <p:spPr>
          <a:xfrm>
            <a:off x="3326609" y="5517029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2,83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AD477EA-3702-4FA7-BA85-D0CB83BCCE9C}"/>
              </a:ext>
            </a:extLst>
          </p:cNvPr>
          <p:cNvCxnSpPr>
            <a:cxnSpLocks/>
          </p:cNvCxnSpPr>
          <p:nvPr/>
        </p:nvCxnSpPr>
        <p:spPr>
          <a:xfrm flipH="1">
            <a:off x="1856616" y="3117134"/>
            <a:ext cx="1809260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24B9747-A8F8-4313-B564-54002076FDB6}"/>
              </a:ext>
            </a:extLst>
          </p:cNvPr>
          <p:cNvCxnSpPr>
            <a:cxnSpLocks/>
          </p:cNvCxnSpPr>
          <p:nvPr/>
        </p:nvCxnSpPr>
        <p:spPr>
          <a:xfrm flipH="1">
            <a:off x="1787828" y="4443049"/>
            <a:ext cx="1809260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80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22" grpId="0"/>
      <p:bldP spid="27" grpId="0"/>
      <p:bldP spid="39" grpId="0" animBg="1"/>
      <p:bldP spid="40" grpId="0"/>
      <p:bldP spid="41" grpId="0"/>
      <p:bldP spid="32" grpId="0" animBg="1"/>
      <p:bldP spid="33" grpId="0"/>
      <p:bldP spid="38" grpId="0"/>
      <p:bldP spid="42" grpId="0"/>
      <p:bldP spid="4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DD172A9-01BB-4238-B4E3-F4277ED4A5EC}"/>
              </a:ext>
            </a:extLst>
          </p:cNvPr>
          <p:cNvCxnSpPr>
            <a:cxnSpLocks/>
          </p:cNvCxnSpPr>
          <p:nvPr/>
        </p:nvCxnSpPr>
        <p:spPr>
          <a:xfrm>
            <a:off x="2457256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D50701E-88B0-4F68-AF39-B407BE823211}"/>
              </a:ext>
            </a:extLst>
          </p:cNvPr>
          <p:cNvCxnSpPr>
            <a:cxnSpLocks/>
          </p:cNvCxnSpPr>
          <p:nvPr/>
        </p:nvCxnSpPr>
        <p:spPr>
          <a:xfrm>
            <a:off x="3159760" y="2905213"/>
            <a:ext cx="0" cy="182426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1E57937-6321-49F7-8FB8-E3876CDEF03D}"/>
              </a:ext>
            </a:extLst>
          </p:cNvPr>
          <p:cNvCxnSpPr>
            <a:cxnSpLocks/>
          </p:cNvCxnSpPr>
          <p:nvPr/>
        </p:nvCxnSpPr>
        <p:spPr>
          <a:xfrm>
            <a:off x="3678507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318C6F4-68E1-414E-9588-F7FFF426E923}"/>
              </a:ext>
            </a:extLst>
          </p:cNvPr>
          <p:cNvSpPr txBox="1"/>
          <p:nvPr/>
        </p:nvSpPr>
        <p:spPr>
          <a:xfrm>
            <a:off x="1792109" y="2737917"/>
            <a:ext cx="21194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3,41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A6B9B3-C7A1-431F-9861-B79B42E0D41D}"/>
              </a:ext>
            </a:extLst>
          </p:cNvPr>
          <p:cNvSpPr txBox="1"/>
          <p:nvPr/>
        </p:nvSpPr>
        <p:spPr>
          <a:xfrm>
            <a:off x="1792109" y="3411017"/>
            <a:ext cx="21194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3,39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FC842A-994C-4A28-BA76-849F8530D62A}"/>
              </a:ext>
            </a:extLst>
          </p:cNvPr>
          <p:cNvSpPr txBox="1"/>
          <p:nvPr/>
        </p:nvSpPr>
        <p:spPr>
          <a:xfrm>
            <a:off x="1792109" y="4084117"/>
            <a:ext cx="21194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3,57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661147" y="0"/>
            <a:ext cx="2583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Ондуктарды Ирээттөө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72755" y="378903"/>
            <a:ext cx="487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Берилген ондуктарды өсүү тартибинде ирээтте.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21A334-6CB9-46CD-BB9D-DDDC49030548}"/>
              </a:ext>
            </a:extLst>
          </p:cNvPr>
          <p:cNvSpPr txBox="1"/>
          <p:nvPr/>
        </p:nvSpPr>
        <p:spPr>
          <a:xfrm>
            <a:off x="2284767" y="642671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rgbClr val="FF0000"/>
                </a:solidFill>
              </a:rPr>
              <a:t>... көбөйүү, өсүү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8E82BA-E068-46DA-8C13-D69CF52E76AE}"/>
              </a:ext>
            </a:extLst>
          </p:cNvPr>
          <p:cNvSpPr txBox="1"/>
          <p:nvPr/>
        </p:nvSpPr>
        <p:spPr>
          <a:xfrm>
            <a:off x="1924135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3,39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CD74E9-BDCF-4674-849F-671FFE0D4786}"/>
              </a:ext>
            </a:extLst>
          </p:cNvPr>
          <p:cNvSpPr txBox="1"/>
          <p:nvPr/>
        </p:nvSpPr>
        <p:spPr>
          <a:xfrm>
            <a:off x="3104453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3,57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8D2579D-1EFD-4A43-81AB-DF9DE96F51CE}"/>
              </a:ext>
            </a:extLst>
          </p:cNvPr>
          <p:cNvSpPr/>
          <p:nvPr/>
        </p:nvSpPr>
        <p:spPr>
          <a:xfrm>
            <a:off x="2545658" y="3436968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3DAD479-C1E7-4BFE-BE4C-CB0FA0F48EB3}"/>
              </a:ext>
            </a:extLst>
          </p:cNvPr>
          <p:cNvSpPr txBox="1"/>
          <p:nvPr/>
        </p:nvSpPr>
        <p:spPr>
          <a:xfrm>
            <a:off x="332924" y="3576086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Эң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FAD8A3-E3C4-43D4-8FA5-FCEF389050F9}"/>
              </a:ext>
            </a:extLst>
          </p:cNvPr>
          <p:cNvSpPr txBox="1"/>
          <p:nvPr/>
        </p:nvSpPr>
        <p:spPr>
          <a:xfrm>
            <a:off x="672789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3,39,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F39E50-5D2B-49CF-B5DC-44FD4499989F}"/>
              </a:ext>
            </a:extLst>
          </p:cNvPr>
          <p:cNvSpPr txBox="1"/>
          <p:nvPr/>
        </p:nvSpPr>
        <p:spPr>
          <a:xfrm>
            <a:off x="743816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3,41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0FE3080-D401-4861-8AAC-0B79304DCA6E}"/>
              </a:ext>
            </a:extLst>
          </p:cNvPr>
          <p:cNvSpPr/>
          <p:nvPr/>
        </p:nvSpPr>
        <p:spPr>
          <a:xfrm>
            <a:off x="2522086" y="2771062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97D1BC-C884-464E-A892-8D1D4E959B5D}"/>
              </a:ext>
            </a:extLst>
          </p:cNvPr>
          <p:cNvSpPr txBox="1"/>
          <p:nvPr/>
        </p:nvSpPr>
        <p:spPr>
          <a:xfrm>
            <a:off x="367388" y="2966796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2-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520F65-2313-418C-AF57-44C9BFF5DE3A}"/>
              </a:ext>
            </a:extLst>
          </p:cNvPr>
          <p:cNvSpPr txBox="1"/>
          <p:nvPr/>
        </p:nvSpPr>
        <p:spPr>
          <a:xfrm>
            <a:off x="-77616" y="1899570"/>
            <a:ext cx="5030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rgbClr val="FF0000"/>
                </a:solidFill>
              </a:rPr>
              <a:t>Эң чоң тилкеден баштап, эң кичине </a:t>
            </a:r>
          </a:p>
          <a:p>
            <a:pPr algn="ctr"/>
            <a:r>
              <a:rPr lang="ky-KG" dirty="0">
                <a:solidFill>
                  <a:srgbClr val="FF0000"/>
                </a:solidFill>
              </a:rPr>
              <a:t>санды тапканга чейин сандарды салыштырыңыз.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8A679F-40F3-4F0C-807C-E5124EE8F472}"/>
              </a:ext>
            </a:extLst>
          </p:cNvPr>
          <p:cNvSpPr txBox="1"/>
          <p:nvPr/>
        </p:nvSpPr>
        <p:spPr>
          <a:xfrm>
            <a:off x="1999699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3,41,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B567FE-C26B-4BC6-A565-09877E2B985A}"/>
              </a:ext>
            </a:extLst>
          </p:cNvPr>
          <p:cNvSpPr txBox="1"/>
          <p:nvPr/>
        </p:nvSpPr>
        <p:spPr>
          <a:xfrm>
            <a:off x="3326609" y="5517029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3,57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AD477EA-3702-4FA7-BA85-D0CB83BCCE9C}"/>
              </a:ext>
            </a:extLst>
          </p:cNvPr>
          <p:cNvCxnSpPr>
            <a:cxnSpLocks/>
          </p:cNvCxnSpPr>
          <p:nvPr/>
        </p:nvCxnSpPr>
        <p:spPr>
          <a:xfrm flipH="1">
            <a:off x="1812655" y="3090757"/>
            <a:ext cx="1809260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24B9747-A8F8-4313-B564-54002076FDB6}"/>
              </a:ext>
            </a:extLst>
          </p:cNvPr>
          <p:cNvCxnSpPr>
            <a:cxnSpLocks/>
          </p:cNvCxnSpPr>
          <p:nvPr/>
        </p:nvCxnSpPr>
        <p:spPr>
          <a:xfrm flipH="1">
            <a:off x="1893336" y="3783626"/>
            <a:ext cx="1809260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B34B4F0-3D78-B366-8EE0-826E792234B2}"/>
              </a:ext>
            </a:extLst>
          </p:cNvPr>
          <p:cNvSpPr txBox="1"/>
          <p:nvPr/>
        </p:nvSpPr>
        <p:spPr>
          <a:xfrm>
            <a:off x="-100897" y="-30715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spc="300" dirty="0">
                <a:latin typeface="Stencil" panose="040409050D0802020404" pitchFamily="82" charset="0"/>
              </a:rPr>
              <a:t>САБАК</a:t>
            </a:r>
            <a:endParaRPr lang="en-GB" b="1" spc="300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2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22" grpId="0"/>
      <p:bldP spid="27" grpId="0"/>
      <p:bldP spid="39" grpId="0" animBg="1"/>
      <p:bldP spid="40" grpId="0"/>
      <p:bldP spid="41" grpId="0"/>
      <p:bldP spid="32" grpId="0" animBg="1"/>
      <p:bldP spid="33" grpId="0"/>
      <p:bldP spid="38" grpId="0"/>
      <p:bldP spid="42" grpId="0"/>
      <p:bldP spid="4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DD172A9-01BB-4238-B4E3-F4277ED4A5EC}"/>
              </a:ext>
            </a:extLst>
          </p:cNvPr>
          <p:cNvCxnSpPr>
            <a:cxnSpLocks/>
          </p:cNvCxnSpPr>
          <p:nvPr/>
        </p:nvCxnSpPr>
        <p:spPr>
          <a:xfrm>
            <a:off x="2457256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D50701E-88B0-4F68-AF39-B407BE823211}"/>
              </a:ext>
            </a:extLst>
          </p:cNvPr>
          <p:cNvCxnSpPr>
            <a:cxnSpLocks/>
          </p:cNvCxnSpPr>
          <p:nvPr/>
        </p:nvCxnSpPr>
        <p:spPr>
          <a:xfrm>
            <a:off x="3159760" y="2905213"/>
            <a:ext cx="0" cy="182426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1E57937-6321-49F7-8FB8-E3876CDEF03D}"/>
              </a:ext>
            </a:extLst>
          </p:cNvPr>
          <p:cNvCxnSpPr>
            <a:cxnSpLocks/>
          </p:cNvCxnSpPr>
          <p:nvPr/>
        </p:nvCxnSpPr>
        <p:spPr>
          <a:xfrm>
            <a:off x="3678507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318C6F4-68E1-414E-9588-F7FFF426E923}"/>
              </a:ext>
            </a:extLst>
          </p:cNvPr>
          <p:cNvSpPr txBox="1"/>
          <p:nvPr/>
        </p:nvSpPr>
        <p:spPr>
          <a:xfrm>
            <a:off x="1792109" y="2737917"/>
            <a:ext cx="21194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A6B9B3-C7A1-431F-9861-B79B42E0D41D}"/>
              </a:ext>
            </a:extLst>
          </p:cNvPr>
          <p:cNvSpPr txBox="1"/>
          <p:nvPr/>
        </p:nvSpPr>
        <p:spPr>
          <a:xfrm>
            <a:off x="1792109" y="3411017"/>
            <a:ext cx="21194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2,65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FC842A-994C-4A28-BA76-849F8530D62A}"/>
              </a:ext>
            </a:extLst>
          </p:cNvPr>
          <p:cNvSpPr txBox="1"/>
          <p:nvPr/>
        </p:nvSpPr>
        <p:spPr>
          <a:xfrm>
            <a:off x="1792109" y="4084117"/>
            <a:ext cx="21194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2,70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661147" y="0"/>
            <a:ext cx="2583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Ондуктарды Ирээттөө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72755" y="378903"/>
            <a:ext cx="487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Берилген ондуктарды өсүү тартибинде ирээтте.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21A334-6CB9-46CD-BB9D-DDDC49030548}"/>
              </a:ext>
            </a:extLst>
          </p:cNvPr>
          <p:cNvSpPr txBox="1"/>
          <p:nvPr/>
        </p:nvSpPr>
        <p:spPr>
          <a:xfrm>
            <a:off x="2284767" y="642671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rgbClr val="FF0000"/>
                </a:solidFill>
              </a:rPr>
              <a:t>... көбөйүү, өсүү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8E82BA-E068-46DA-8C13-D69CF52E76AE}"/>
              </a:ext>
            </a:extLst>
          </p:cNvPr>
          <p:cNvSpPr txBox="1"/>
          <p:nvPr/>
        </p:nvSpPr>
        <p:spPr>
          <a:xfrm>
            <a:off x="1924135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CD74E9-BDCF-4674-849F-671FFE0D4786}"/>
              </a:ext>
            </a:extLst>
          </p:cNvPr>
          <p:cNvSpPr txBox="1"/>
          <p:nvPr/>
        </p:nvSpPr>
        <p:spPr>
          <a:xfrm>
            <a:off x="3104453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2,70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8D2579D-1EFD-4A43-81AB-DF9DE96F51CE}"/>
              </a:ext>
            </a:extLst>
          </p:cNvPr>
          <p:cNvSpPr/>
          <p:nvPr/>
        </p:nvSpPr>
        <p:spPr>
          <a:xfrm>
            <a:off x="3055612" y="3410591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3DAD479-C1E7-4BFE-BE4C-CB0FA0F48EB3}"/>
              </a:ext>
            </a:extLst>
          </p:cNvPr>
          <p:cNvSpPr txBox="1"/>
          <p:nvPr/>
        </p:nvSpPr>
        <p:spPr>
          <a:xfrm>
            <a:off x="332924" y="3602464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Эң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FAD8A3-E3C4-43D4-8FA5-FCEF389050F9}"/>
              </a:ext>
            </a:extLst>
          </p:cNvPr>
          <p:cNvSpPr txBox="1"/>
          <p:nvPr/>
        </p:nvSpPr>
        <p:spPr>
          <a:xfrm>
            <a:off x="672789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2,65,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F39E50-5D2B-49CF-B5DC-44FD4499989F}"/>
              </a:ext>
            </a:extLst>
          </p:cNvPr>
          <p:cNvSpPr txBox="1"/>
          <p:nvPr/>
        </p:nvSpPr>
        <p:spPr>
          <a:xfrm>
            <a:off x="743816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2,67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0FE3080-D401-4861-8AAC-0B79304DCA6E}"/>
              </a:ext>
            </a:extLst>
          </p:cNvPr>
          <p:cNvSpPr/>
          <p:nvPr/>
        </p:nvSpPr>
        <p:spPr>
          <a:xfrm>
            <a:off x="2522086" y="2771062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97D1BC-C884-464E-A892-8D1D4E959B5D}"/>
              </a:ext>
            </a:extLst>
          </p:cNvPr>
          <p:cNvSpPr txBox="1"/>
          <p:nvPr/>
        </p:nvSpPr>
        <p:spPr>
          <a:xfrm>
            <a:off x="367388" y="2966796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2-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520F65-2313-418C-AF57-44C9BFF5DE3A}"/>
              </a:ext>
            </a:extLst>
          </p:cNvPr>
          <p:cNvSpPr txBox="1"/>
          <p:nvPr/>
        </p:nvSpPr>
        <p:spPr>
          <a:xfrm>
            <a:off x="-77616" y="1899570"/>
            <a:ext cx="5030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rgbClr val="FF0000"/>
                </a:solidFill>
              </a:rPr>
              <a:t>Эң чоң тилкеден баштап, эң кичине </a:t>
            </a:r>
          </a:p>
          <a:p>
            <a:pPr algn="ctr"/>
            <a:r>
              <a:rPr lang="ky-KG" dirty="0">
                <a:solidFill>
                  <a:srgbClr val="FF0000"/>
                </a:solidFill>
              </a:rPr>
              <a:t>санды тапканга чейин сандарды салыштырыңыз.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8A679F-40F3-4F0C-807C-E5124EE8F472}"/>
              </a:ext>
            </a:extLst>
          </p:cNvPr>
          <p:cNvSpPr txBox="1"/>
          <p:nvPr/>
        </p:nvSpPr>
        <p:spPr>
          <a:xfrm>
            <a:off x="1999699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2,67,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B567FE-C26B-4BC6-A565-09877E2B985A}"/>
              </a:ext>
            </a:extLst>
          </p:cNvPr>
          <p:cNvSpPr txBox="1"/>
          <p:nvPr/>
        </p:nvSpPr>
        <p:spPr>
          <a:xfrm>
            <a:off x="3326609" y="5517029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2,70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AD477EA-3702-4FA7-BA85-D0CB83BCCE9C}"/>
              </a:ext>
            </a:extLst>
          </p:cNvPr>
          <p:cNvCxnSpPr>
            <a:cxnSpLocks/>
          </p:cNvCxnSpPr>
          <p:nvPr/>
        </p:nvCxnSpPr>
        <p:spPr>
          <a:xfrm flipH="1">
            <a:off x="1882993" y="3081965"/>
            <a:ext cx="1809260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24B9747-A8F8-4313-B564-54002076FDB6}"/>
              </a:ext>
            </a:extLst>
          </p:cNvPr>
          <p:cNvCxnSpPr>
            <a:cxnSpLocks/>
          </p:cNvCxnSpPr>
          <p:nvPr/>
        </p:nvCxnSpPr>
        <p:spPr>
          <a:xfrm flipH="1">
            <a:off x="1928505" y="3792419"/>
            <a:ext cx="1809260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C206C82-A7FE-BDD7-58E7-95172E589178}"/>
              </a:ext>
            </a:extLst>
          </p:cNvPr>
          <p:cNvSpPr txBox="1"/>
          <p:nvPr/>
        </p:nvSpPr>
        <p:spPr>
          <a:xfrm>
            <a:off x="-100897" y="-30715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spc="300" dirty="0">
                <a:latin typeface="Stencil" panose="040409050D0802020404" pitchFamily="82" charset="0"/>
              </a:rPr>
              <a:t>САБАК</a:t>
            </a:r>
            <a:endParaRPr lang="en-GB" b="1" spc="300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529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22" grpId="0"/>
      <p:bldP spid="27" grpId="0"/>
      <p:bldP spid="39" grpId="0" animBg="1"/>
      <p:bldP spid="40" grpId="0"/>
      <p:bldP spid="41" grpId="0"/>
      <p:bldP spid="32" grpId="0" animBg="1"/>
      <p:bldP spid="33" grpId="0"/>
      <p:bldP spid="38" grpId="0"/>
      <p:bldP spid="42" grpId="0"/>
      <p:bldP spid="4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DD172A9-01BB-4238-B4E3-F4277ED4A5EC}"/>
              </a:ext>
            </a:extLst>
          </p:cNvPr>
          <p:cNvCxnSpPr>
            <a:cxnSpLocks/>
          </p:cNvCxnSpPr>
          <p:nvPr/>
        </p:nvCxnSpPr>
        <p:spPr>
          <a:xfrm>
            <a:off x="2457256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D50701E-88B0-4F68-AF39-B407BE823211}"/>
              </a:ext>
            </a:extLst>
          </p:cNvPr>
          <p:cNvCxnSpPr>
            <a:cxnSpLocks/>
          </p:cNvCxnSpPr>
          <p:nvPr/>
        </p:nvCxnSpPr>
        <p:spPr>
          <a:xfrm>
            <a:off x="3159760" y="2905213"/>
            <a:ext cx="0" cy="182426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1E57937-6321-49F7-8FB8-E3876CDEF03D}"/>
              </a:ext>
            </a:extLst>
          </p:cNvPr>
          <p:cNvCxnSpPr>
            <a:cxnSpLocks/>
          </p:cNvCxnSpPr>
          <p:nvPr/>
        </p:nvCxnSpPr>
        <p:spPr>
          <a:xfrm>
            <a:off x="3678507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318C6F4-68E1-414E-9588-F7FFF426E923}"/>
              </a:ext>
            </a:extLst>
          </p:cNvPr>
          <p:cNvSpPr txBox="1"/>
          <p:nvPr/>
        </p:nvSpPr>
        <p:spPr>
          <a:xfrm>
            <a:off x="1792109" y="27379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2,680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A6B9B3-C7A1-431F-9861-B79B42E0D41D}"/>
              </a:ext>
            </a:extLst>
          </p:cNvPr>
          <p:cNvSpPr txBox="1"/>
          <p:nvPr/>
        </p:nvSpPr>
        <p:spPr>
          <a:xfrm>
            <a:off x="1792109" y="34110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2,957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FC842A-994C-4A28-BA76-849F8530D62A}"/>
              </a:ext>
            </a:extLst>
          </p:cNvPr>
          <p:cNvSpPr txBox="1"/>
          <p:nvPr/>
        </p:nvSpPr>
        <p:spPr>
          <a:xfrm>
            <a:off x="1792109" y="40841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2,620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661147" y="0"/>
            <a:ext cx="2583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Ондуктарды Ирээттөө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72755" y="378903"/>
            <a:ext cx="487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Берилген ондуктарды өсүү тартибинде ирээтте.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21A334-6CB9-46CD-BB9D-DDDC49030548}"/>
              </a:ext>
            </a:extLst>
          </p:cNvPr>
          <p:cNvSpPr txBox="1"/>
          <p:nvPr/>
        </p:nvSpPr>
        <p:spPr>
          <a:xfrm>
            <a:off x="2284767" y="642671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rgbClr val="FF0000"/>
                </a:solidFill>
              </a:rPr>
              <a:t>... көбөйүү, өсүү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8E82BA-E068-46DA-8C13-D69CF52E76AE}"/>
              </a:ext>
            </a:extLst>
          </p:cNvPr>
          <p:cNvSpPr txBox="1"/>
          <p:nvPr/>
        </p:nvSpPr>
        <p:spPr>
          <a:xfrm>
            <a:off x="1819940" y="1230681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2,957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CD74E9-BDCF-4674-849F-671FFE0D4786}"/>
              </a:ext>
            </a:extLst>
          </p:cNvPr>
          <p:cNvSpPr txBox="1"/>
          <p:nvPr/>
        </p:nvSpPr>
        <p:spPr>
          <a:xfrm>
            <a:off x="3104453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2,62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8D2579D-1EFD-4A43-81AB-DF9DE96F51CE}"/>
              </a:ext>
            </a:extLst>
          </p:cNvPr>
          <p:cNvSpPr/>
          <p:nvPr/>
        </p:nvSpPr>
        <p:spPr>
          <a:xfrm>
            <a:off x="3055612" y="4105183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3DAD479-C1E7-4BFE-BE4C-CB0FA0F48EB3}"/>
              </a:ext>
            </a:extLst>
          </p:cNvPr>
          <p:cNvSpPr txBox="1"/>
          <p:nvPr/>
        </p:nvSpPr>
        <p:spPr>
          <a:xfrm>
            <a:off x="332924" y="4297056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Эң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FAD8A3-E3C4-43D4-8FA5-FCEF389050F9}"/>
              </a:ext>
            </a:extLst>
          </p:cNvPr>
          <p:cNvSpPr txBox="1"/>
          <p:nvPr/>
        </p:nvSpPr>
        <p:spPr>
          <a:xfrm>
            <a:off x="672789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2,62,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F39E50-5D2B-49CF-B5DC-44FD4499989F}"/>
              </a:ext>
            </a:extLst>
          </p:cNvPr>
          <p:cNvSpPr txBox="1"/>
          <p:nvPr/>
        </p:nvSpPr>
        <p:spPr>
          <a:xfrm>
            <a:off x="743816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2,68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0FE3080-D401-4861-8AAC-0B79304DCA6E}"/>
              </a:ext>
            </a:extLst>
          </p:cNvPr>
          <p:cNvSpPr/>
          <p:nvPr/>
        </p:nvSpPr>
        <p:spPr>
          <a:xfrm>
            <a:off x="2522086" y="2771062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97D1BC-C884-464E-A892-8D1D4E959B5D}"/>
              </a:ext>
            </a:extLst>
          </p:cNvPr>
          <p:cNvSpPr txBox="1"/>
          <p:nvPr/>
        </p:nvSpPr>
        <p:spPr>
          <a:xfrm>
            <a:off x="367388" y="2966796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2-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520F65-2313-418C-AF57-44C9BFF5DE3A}"/>
              </a:ext>
            </a:extLst>
          </p:cNvPr>
          <p:cNvSpPr txBox="1"/>
          <p:nvPr/>
        </p:nvSpPr>
        <p:spPr>
          <a:xfrm>
            <a:off x="-77616" y="1899570"/>
            <a:ext cx="5030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rgbClr val="FF0000"/>
                </a:solidFill>
              </a:rPr>
              <a:t>Эң чоң тилкеден баштап, эң кичине </a:t>
            </a:r>
          </a:p>
          <a:p>
            <a:pPr algn="ctr"/>
            <a:r>
              <a:rPr lang="ky-KG" dirty="0">
                <a:solidFill>
                  <a:srgbClr val="FF0000"/>
                </a:solidFill>
              </a:rPr>
              <a:t>санды тапканга чейин сандарды салыштырыңыз.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8A679F-40F3-4F0C-807C-E5124EE8F472}"/>
              </a:ext>
            </a:extLst>
          </p:cNvPr>
          <p:cNvSpPr txBox="1"/>
          <p:nvPr/>
        </p:nvSpPr>
        <p:spPr>
          <a:xfrm>
            <a:off x="1999699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2,68,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B567FE-C26B-4BC6-A565-09877E2B985A}"/>
              </a:ext>
            </a:extLst>
          </p:cNvPr>
          <p:cNvSpPr txBox="1"/>
          <p:nvPr/>
        </p:nvSpPr>
        <p:spPr>
          <a:xfrm>
            <a:off x="3222414" y="5517029"/>
            <a:ext cx="11224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2,957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AD477EA-3702-4FA7-BA85-D0CB83BCCE9C}"/>
              </a:ext>
            </a:extLst>
          </p:cNvPr>
          <p:cNvCxnSpPr>
            <a:cxnSpLocks/>
          </p:cNvCxnSpPr>
          <p:nvPr/>
        </p:nvCxnSpPr>
        <p:spPr>
          <a:xfrm flipH="1">
            <a:off x="1821446" y="3134719"/>
            <a:ext cx="1809260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24B9747-A8F8-4313-B564-54002076FDB6}"/>
              </a:ext>
            </a:extLst>
          </p:cNvPr>
          <p:cNvCxnSpPr>
            <a:cxnSpLocks/>
          </p:cNvCxnSpPr>
          <p:nvPr/>
        </p:nvCxnSpPr>
        <p:spPr>
          <a:xfrm flipH="1">
            <a:off x="1840582" y="4469427"/>
            <a:ext cx="1809260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2507C5E-3344-F1F8-F2AC-C6F75408DDCB}"/>
              </a:ext>
            </a:extLst>
          </p:cNvPr>
          <p:cNvSpPr txBox="1"/>
          <p:nvPr/>
        </p:nvSpPr>
        <p:spPr>
          <a:xfrm>
            <a:off x="-100897" y="-30715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spc="300" dirty="0">
                <a:latin typeface="Stencil" panose="040409050D0802020404" pitchFamily="82" charset="0"/>
              </a:rPr>
              <a:t>САБАК</a:t>
            </a:r>
            <a:endParaRPr lang="en-GB" b="1" spc="300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549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22" grpId="0"/>
      <p:bldP spid="27" grpId="0"/>
      <p:bldP spid="39" grpId="0" animBg="1"/>
      <p:bldP spid="40" grpId="0"/>
      <p:bldP spid="41" grpId="0"/>
      <p:bldP spid="32" grpId="0" animBg="1"/>
      <p:bldP spid="33" grpId="0"/>
      <p:bldP spid="42" grpId="0"/>
      <p:bldP spid="4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DD172A9-01BB-4238-B4E3-F4277ED4A5EC}"/>
              </a:ext>
            </a:extLst>
          </p:cNvPr>
          <p:cNvCxnSpPr>
            <a:cxnSpLocks/>
          </p:cNvCxnSpPr>
          <p:nvPr/>
        </p:nvCxnSpPr>
        <p:spPr>
          <a:xfrm>
            <a:off x="2457256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D50701E-88B0-4F68-AF39-B407BE823211}"/>
              </a:ext>
            </a:extLst>
          </p:cNvPr>
          <p:cNvCxnSpPr>
            <a:cxnSpLocks/>
          </p:cNvCxnSpPr>
          <p:nvPr/>
        </p:nvCxnSpPr>
        <p:spPr>
          <a:xfrm>
            <a:off x="3159760" y="2905213"/>
            <a:ext cx="0" cy="182426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1E57937-6321-49F7-8FB8-E3876CDEF03D}"/>
              </a:ext>
            </a:extLst>
          </p:cNvPr>
          <p:cNvCxnSpPr>
            <a:cxnSpLocks/>
          </p:cNvCxnSpPr>
          <p:nvPr/>
        </p:nvCxnSpPr>
        <p:spPr>
          <a:xfrm>
            <a:off x="3678507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318C6F4-68E1-414E-9588-F7FFF426E923}"/>
              </a:ext>
            </a:extLst>
          </p:cNvPr>
          <p:cNvSpPr txBox="1"/>
          <p:nvPr/>
        </p:nvSpPr>
        <p:spPr>
          <a:xfrm>
            <a:off x="1792109" y="27379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2,680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A6B9B3-C7A1-431F-9861-B79B42E0D41D}"/>
              </a:ext>
            </a:extLst>
          </p:cNvPr>
          <p:cNvSpPr txBox="1"/>
          <p:nvPr/>
        </p:nvSpPr>
        <p:spPr>
          <a:xfrm>
            <a:off x="1792109" y="34110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2,957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FC842A-994C-4A28-BA76-849F8530D62A}"/>
              </a:ext>
            </a:extLst>
          </p:cNvPr>
          <p:cNvSpPr txBox="1"/>
          <p:nvPr/>
        </p:nvSpPr>
        <p:spPr>
          <a:xfrm>
            <a:off x="1792109" y="40841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2,620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661147" y="0"/>
            <a:ext cx="2583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Ондуктарды Ирээттөө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72755" y="378903"/>
            <a:ext cx="487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Берилген ондуктарды өсүү тартибинде ирээтте.</a:t>
            </a:r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960973" y="9571"/>
            <a:ext cx="1684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Кезек СЕНДЕ!</a:t>
            </a:r>
            <a:endParaRPr lang="en-GB" b="1" dirty="0">
              <a:latin typeface="Stencil" panose="040409050D0802020404" pitchFamily="8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21A334-6CB9-46CD-BB9D-DDDC49030548}"/>
              </a:ext>
            </a:extLst>
          </p:cNvPr>
          <p:cNvSpPr txBox="1"/>
          <p:nvPr/>
        </p:nvSpPr>
        <p:spPr>
          <a:xfrm>
            <a:off x="2284767" y="642671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rgbClr val="FF0000"/>
                </a:solidFill>
              </a:rPr>
              <a:t>... көбөйүү, өсүү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8E82BA-E068-46DA-8C13-D69CF52E76AE}"/>
              </a:ext>
            </a:extLst>
          </p:cNvPr>
          <p:cNvSpPr txBox="1"/>
          <p:nvPr/>
        </p:nvSpPr>
        <p:spPr>
          <a:xfrm>
            <a:off x="1819940" y="1230681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2,957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CD74E9-BDCF-4674-849F-671FFE0D4786}"/>
              </a:ext>
            </a:extLst>
          </p:cNvPr>
          <p:cNvSpPr txBox="1"/>
          <p:nvPr/>
        </p:nvSpPr>
        <p:spPr>
          <a:xfrm>
            <a:off x="3104453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2,62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8D2579D-1EFD-4A43-81AB-DF9DE96F51CE}"/>
              </a:ext>
            </a:extLst>
          </p:cNvPr>
          <p:cNvSpPr/>
          <p:nvPr/>
        </p:nvSpPr>
        <p:spPr>
          <a:xfrm>
            <a:off x="3055612" y="4105183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3DAD479-C1E7-4BFE-BE4C-CB0FA0F48EB3}"/>
              </a:ext>
            </a:extLst>
          </p:cNvPr>
          <p:cNvSpPr txBox="1"/>
          <p:nvPr/>
        </p:nvSpPr>
        <p:spPr>
          <a:xfrm>
            <a:off x="332924" y="4297056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Эң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FAD8A3-E3C4-43D4-8FA5-FCEF389050F9}"/>
              </a:ext>
            </a:extLst>
          </p:cNvPr>
          <p:cNvSpPr txBox="1"/>
          <p:nvPr/>
        </p:nvSpPr>
        <p:spPr>
          <a:xfrm>
            <a:off x="672789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2,62,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F39E50-5D2B-49CF-B5DC-44FD4499989F}"/>
              </a:ext>
            </a:extLst>
          </p:cNvPr>
          <p:cNvSpPr txBox="1"/>
          <p:nvPr/>
        </p:nvSpPr>
        <p:spPr>
          <a:xfrm>
            <a:off x="743816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2,68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0FE3080-D401-4861-8AAC-0B79304DCA6E}"/>
              </a:ext>
            </a:extLst>
          </p:cNvPr>
          <p:cNvSpPr/>
          <p:nvPr/>
        </p:nvSpPr>
        <p:spPr>
          <a:xfrm>
            <a:off x="2522086" y="2771062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97D1BC-C884-464E-A892-8D1D4E959B5D}"/>
              </a:ext>
            </a:extLst>
          </p:cNvPr>
          <p:cNvSpPr txBox="1"/>
          <p:nvPr/>
        </p:nvSpPr>
        <p:spPr>
          <a:xfrm>
            <a:off x="367388" y="2966796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2-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520F65-2313-418C-AF57-44C9BFF5DE3A}"/>
              </a:ext>
            </a:extLst>
          </p:cNvPr>
          <p:cNvSpPr txBox="1"/>
          <p:nvPr/>
        </p:nvSpPr>
        <p:spPr>
          <a:xfrm>
            <a:off x="-77616" y="1899570"/>
            <a:ext cx="5030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rgbClr val="FF0000"/>
                </a:solidFill>
              </a:rPr>
              <a:t>Эң чоң тилкеден баштап, эң кичине </a:t>
            </a:r>
          </a:p>
          <a:p>
            <a:pPr algn="ctr"/>
            <a:r>
              <a:rPr lang="ky-KG" dirty="0">
                <a:solidFill>
                  <a:srgbClr val="FF0000"/>
                </a:solidFill>
              </a:rPr>
              <a:t>санды тапканга чейин сандарды салыштырыңыз.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8A679F-40F3-4F0C-807C-E5124EE8F472}"/>
              </a:ext>
            </a:extLst>
          </p:cNvPr>
          <p:cNvSpPr txBox="1"/>
          <p:nvPr/>
        </p:nvSpPr>
        <p:spPr>
          <a:xfrm>
            <a:off x="1999699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2,68,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B567FE-C26B-4BC6-A565-09877E2B985A}"/>
              </a:ext>
            </a:extLst>
          </p:cNvPr>
          <p:cNvSpPr txBox="1"/>
          <p:nvPr/>
        </p:nvSpPr>
        <p:spPr>
          <a:xfrm>
            <a:off x="3222414" y="5517029"/>
            <a:ext cx="11224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2,957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AD477EA-3702-4FA7-BA85-D0CB83BCCE9C}"/>
              </a:ext>
            </a:extLst>
          </p:cNvPr>
          <p:cNvCxnSpPr>
            <a:cxnSpLocks/>
          </p:cNvCxnSpPr>
          <p:nvPr/>
        </p:nvCxnSpPr>
        <p:spPr>
          <a:xfrm flipH="1">
            <a:off x="1821446" y="3134719"/>
            <a:ext cx="1809260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24B9747-A8F8-4313-B564-54002076FDB6}"/>
              </a:ext>
            </a:extLst>
          </p:cNvPr>
          <p:cNvCxnSpPr>
            <a:cxnSpLocks/>
          </p:cNvCxnSpPr>
          <p:nvPr/>
        </p:nvCxnSpPr>
        <p:spPr>
          <a:xfrm flipH="1">
            <a:off x="1840582" y="4469427"/>
            <a:ext cx="1809260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322EA5A-D571-429D-A301-74989C07058E}"/>
              </a:ext>
            </a:extLst>
          </p:cNvPr>
          <p:cNvCxnSpPr>
            <a:cxnSpLocks/>
          </p:cNvCxnSpPr>
          <p:nvPr/>
        </p:nvCxnSpPr>
        <p:spPr>
          <a:xfrm>
            <a:off x="7407325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5050758-40AB-403A-99D0-7AE281C510C4}"/>
              </a:ext>
            </a:extLst>
          </p:cNvPr>
          <p:cNvCxnSpPr>
            <a:cxnSpLocks/>
          </p:cNvCxnSpPr>
          <p:nvPr/>
        </p:nvCxnSpPr>
        <p:spPr>
          <a:xfrm>
            <a:off x="8109829" y="2905213"/>
            <a:ext cx="0" cy="182426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E61808-3453-4BE6-85A1-F816EBF23307}"/>
              </a:ext>
            </a:extLst>
          </p:cNvPr>
          <p:cNvCxnSpPr>
            <a:cxnSpLocks/>
          </p:cNvCxnSpPr>
          <p:nvPr/>
        </p:nvCxnSpPr>
        <p:spPr>
          <a:xfrm>
            <a:off x="8628576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B4C4A36-E831-4717-B101-11ED41D722CC}"/>
              </a:ext>
            </a:extLst>
          </p:cNvPr>
          <p:cNvSpPr txBox="1"/>
          <p:nvPr/>
        </p:nvSpPr>
        <p:spPr>
          <a:xfrm>
            <a:off x="6742178" y="2737917"/>
            <a:ext cx="21194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1,67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B52CF0-2127-4A59-BCB3-3BB124E17BB6}"/>
              </a:ext>
            </a:extLst>
          </p:cNvPr>
          <p:cNvSpPr txBox="1"/>
          <p:nvPr/>
        </p:nvSpPr>
        <p:spPr>
          <a:xfrm>
            <a:off x="6742178" y="3411017"/>
            <a:ext cx="21194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1,62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0CA5B17-8F59-407E-9106-9138C329F50A}"/>
              </a:ext>
            </a:extLst>
          </p:cNvPr>
          <p:cNvSpPr txBox="1"/>
          <p:nvPr/>
        </p:nvSpPr>
        <p:spPr>
          <a:xfrm>
            <a:off x="6742178" y="4084117"/>
            <a:ext cx="21194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1,52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938B13F-F7FC-4360-8D37-1BDE9E0E6FF7}"/>
              </a:ext>
            </a:extLst>
          </p:cNvPr>
          <p:cNvSpPr txBox="1"/>
          <p:nvPr/>
        </p:nvSpPr>
        <p:spPr>
          <a:xfrm>
            <a:off x="5569832" y="378903"/>
            <a:ext cx="3781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Put these decimals in ascending order.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C5A49C-DF19-41D9-9706-1C66FA0D801A}"/>
              </a:ext>
            </a:extLst>
          </p:cNvPr>
          <p:cNvSpPr txBox="1"/>
          <p:nvPr/>
        </p:nvSpPr>
        <p:spPr>
          <a:xfrm>
            <a:off x="6874204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1,62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1975BD9-29CF-429F-88D9-CEEBA09FCBFF}"/>
              </a:ext>
            </a:extLst>
          </p:cNvPr>
          <p:cNvSpPr txBox="1"/>
          <p:nvPr/>
        </p:nvSpPr>
        <p:spPr>
          <a:xfrm>
            <a:off x="8054522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1,52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F08E211-5C88-48B3-A5BC-8D2048F5966E}"/>
              </a:ext>
            </a:extLst>
          </p:cNvPr>
          <p:cNvSpPr/>
          <p:nvPr/>
        </p:nvSpPr>
        <p:spPr>
          <a:xfrm>
            <a:off x="7495727" y="4105183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33151B9-1B63-4E97-AA5B-9DFDE00A6E6B}"/>
              </a:ext>
            </a:extLst>
          </p:cNvPr>
          <p:cNvSpPr txBox="1"/>
          <p:nvPr/>
        </p:nvSpPr>
        <p:spPr>
          <a:xfrm>
            <a:off x="5282993" y="4297056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Эң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9EF479-0087-4D54-86C5-C4F614BF07DB}"/>
              </a:ext>
            </a:extLst>
          </p:cNvPr>
          <p:cNvSpPr txBox="1"/>
          <p:nvPr/>
        </p:nvSpPr>
        <p:spPr>
          <a:xfrm>
            <a:off x="5622858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1,52,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31B965-DDD3-4C0D-947B-E74E768DF1F1}"/>
              </a:ext>
            </a:extLst>
          </p:cNvPr>
          <p:cNvSpPr txBox="1"/>
          <p:nvPr/>
        </p:nvSpPr>
        <p:spPr>
          <a:xfrm>
            <a:off x="5693885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1,67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248562E-49BF-4027-84E7-D6A3E8378D07}"/>
              </a:ext>
            </a:extLst>
          </p:cNvPr>
          <p:cNvSpPr/>
          <p:nvPr/>
        </p:nvSpPr>
        <p:spPr>
          <a:xfrm>
            <a:off x="7999694" y="3412900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064549B-925C-430F-BB22-84CD0DDDD55E}"/>
              </a:ext>
            </a:extLst>
          </p:cNvPr>
          <p:cNvSpPr txBox="1"/>
          <p:nvPr/>
        </p:nvSpPr>
        <p:spPr>
          <a:xfrm>
            <a:off x="5317457" y="3582257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2-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EB6C1AD-8752-426A-934C-B027A16564FA}"/>
              </a:ext>
            </a:extLst>
          </p:cNvPr>
          <p:cNvSpPr txBox="1"/>
          <p:nvPr/>
        </p:nvSpPr>
        <p:spPr>
          <a:xfrm>
            <a:off x="6949768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1,62,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D2E93BA-2486-4221-92C6-DA5B808264D9}"/>
              </a:ext>
            </a:extLst>
          </p:cNvPr>
          <p:cNvSpPr txBox="1"/>
          <p:nvPr/>
        </p:nvSpPr>
        <p:spPr>
          <a:xfrm>
            <a:off x="8276679" y="5517029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1,67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4D3528C-3E66-480F-AE89-D47742952857}"/>
              </a:ext>
            </a:extLst>
          </p:cNvPr>
          <p:cNvCxnSpPr>
            <a:cxnSpLocks/>
          </p:cNvCxnSpPr>
          <p:nvPr/>
        </p:nvCxnSpPr>
        <p:spPr>
          <a:xfrm flipH="1">
            <a:off x="6797892" y="3750180"/>
            <a:ext cx="1809260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56B4523-AF45-4553-89C9-857E56D8BB54}"/>
              </a:ext>
            </a:extLst>
          </p:cNvPr>
          <p:cNvCxnSpPr>
            <a:cxnSpLocks/>
          </p:cNvCxnSpPr>
          <p:nvPr/>
        </p:nvCxnSpPr>
        <p:spPr>
          <a:xfrm flipH="1">
            <a:off x="6825821" y="4469427"/>
            <a:ext cx="1809260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8501157-2738-F7EC-5C07-814F4D4AE0DF}"/>
              </a:ext>
            </a:extLst>
          </p:cNvPr>
          <p:cNvSpPr txBox="1"/>
          <p:nvPr/>
        </p:nvSpPr>
        <p:spPr>
          <a:xfrm>
            <a:off x="-100897" y="-30715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spc="300" dirty="0">
                <a:latin typeface="Stencil" panose="040409050D0802020404" pitchFamily="82" charset="0"/>
              </a:rPr>
              <a:t>САБАК</a:t>
            </a:r>
            <a:endParaRPr lang="en-GB" b="1" spc="300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041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5" grpId="0" animBg="1"/>
      <p:bldP spid="56" grpId="0"/>
      <p:bldP spid="57" grpId="0"/>
      <p:bldP spid="59" grpId="0" animBg="1"/>
      <p:bldP spid="60" grpId="0"/>
      <p:bldP spid="62" grpId="0"/>
      <p:bldP spid="6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661147" y="0"/>
            <a:ext cx="2583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Ондуктарды Ирээттөө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72755" y="378903"/>
            <a:ext cx="487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Берилген ондуктарды өсүү тартибинде ирээтте.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21A334-6CB9-46CD-BB9D-DDDC49030548}"/>
              </a:ext>
            </a:extLst>
          </p:cNvPr>
          <p:cNvSpPr txBox="1"/>
          <p:nvPr/>
        </p:nvSpPr>
        <p:spPr>
          <a:xfrm>
            <a:off x="2284767" y="642671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rgbClr val="FF0000"/>
                </a:solidFill>
              </a:rPr>
              <a:t>... көбөйүү, өсүү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8E82BA-E068-46DA-8C13-D69CF52E76AE}"/>
              </a:ext>
            </a:extLst>
          </p:cNvPr>
          <p:cNvSpPr txBox="1"/>
          <p:nvPr/>
        </p:nvSpPr>
        <p:spPr>
          <a:xfrm>
            <a:off x="1819940" y="1230681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2,957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CD74E9-BDCF-4674-849F-671FFE0D4786}"/>
              </a:ext>
            </a:extLst>
          </p:cNvPr>
          <p:cNvSpPr txBox="1"/>
          <p:nvPr/>
        </p:nvSpPr>
        <p:spPr>
          <a:xfrm>
            <a:off x="3104453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FAD8A3-E3C4-43D4-8FA5-FCEF389050F9}"/>
              </a:ext>
            </a:extLst>
          </p:cNvPr>
          <p:cNvSpPr txBox="1"/>
          <p:nvPr/>
        </p:nvSpPr>
        <p:spPr>
          <a:xfrm>
            <a:off x="672789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2,62,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F39E50-5D2B-49CF-B5DC-44FD4499989F}"/>
              </a:ext>
            </a:extLst>
          </p:cNvPr>
          <p:cNvSpPr txBox="1"/>
          <p:nvPr/>
        </p:nvSpPr>
        <p:spPr>
          <a:xfrm>
            <a:off x="743816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520F65-2313-418C-AF57-44C9BFF5DE3A}"/>
              </a:ext>
            </a:extLst>
          </p:cNvPr>
          <p:cNvSpPr txBox="1"/>
          <p:nvPr/>
        </p:nvSpPr>
        <p:spPr>
          <a:xfrm>
            <a:off x="-77616" y="1899570"/>
            <a:ext cx="5030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rgbClr val="FF0000"/>
                </a:solidFill>
              </a:rPr>
              <a:t>Эң чоң тилкеден баштап, эң кичине </a:t>
            </a:r>
          </a:p>
          <a:p>
            <a:pPr algn="ctr"/>
            <a:r>
              <a:rPr lang="ky-KG" dirty="0">
                <a:solidFill>
                  <a:srgbClr val="FF0000"/>
                </a:solidFill>
              </a:rPr>
              <a:t>санды тапканга чейин сандарды салыштырыңыз.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8A679F-40F3-4F0C-807C-E5124EE8F472}"/>
              </a:ext>
            </a:extLst>
          </p:cNvPr>
          <p:cNvSpPr txBox="1"/>
          <p:nvPr/>
        </p:nvSpPr>
        <p:spPr>
          <a:xfrm>
            <a:off x="1999699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2,68,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B567FE-C26B-4BC6-A565-09877E2B985A}"/>
              </a:ext>
            </a:extLst>
          </p:cNvPr>
          <p:cNvSpPr txBox="1"/>
          <p:nvPr/>
        </p:nvSpPr>
        <p:spPr>
          <a:xfrm>
            <a:off x="3222414" y="5517029"/>
            <a:ext cx="11224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2,957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322EA5A-D571-429D-A301-74989C07058E}"/>
              </a:ext>
            </a:extLst>
          </p:cNvPr>
          <p:cNvCxnSpPr>
            <a:cxnSpLocks/>
          </p:cNvCxnSpPr>
          <p:nvPr/>
        </p:nvCxnSpPr>
        <p:spPr>
          <a:xfrm>
            <a:off x="7407325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5050758-40AB-403A-99D0-7AE281C510C4}"/>
              </a:ext>
            </a:extLst>
          </p:cNvPr>
          <p:cNvCxnSpPr>
            <a:cxnSpLocks/>
          </p:cNvCxnSpPr>
          <p:nvPr/>
        </p:nvCxnSpPr>
        <p:spPr>
          <a:xfrm>
            <a:off x="8109829" y="2905213"/>
            <a:ext cx="0" cy="182426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E61808-3453-4BE6-85A1-F816EBF23307}"/>
              </a:ext>
            </a:extLst>
          </p:cNvPr>
          <p:cNvCxnSpPr>
            <a:cxnSpLocks/>
          </p:cNvCxnSpPr>
          <p:nvPr/>
        </p:nvCxnSpPr>
        <p:spPr>
          <a:xfrm>
            <a:off x="8628576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B4C4A36-E831-4717-B101-11ED41D722CC}"/>
              </a:ext>
            </a:extLst>
          </p:cNvPr>
          <p:cNvSpPr txBox="1"/>
          <p:nvPr/>
        </p:nvSpPr>
        <p:spPr>
          <a:xfrm>
            <a:off x="6742178" y="2737917"/>
            <a:ext cx="21194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2,83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B52CF0-2127-4A59-BCB3-3BB124E17BB6}"/>
              </a:ext>
            </a:extLst>
          </p:cNvPr>
          <p:cNvSpPr txBox="1"/>
          <p:nvPr/>
        </p:nvSpPr>
        <p:spPr>
          <a:xfrm>
            <a:off x="6742178" y="3411017"/>
            <a:ext cx="21194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3,59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0CA5B17-8F59-407E-9106-9138C329F50A}"/>
              </a:ext>
            </a:extLst>
          </p:cNvPr>
          <p:cNvSpPr txBox="1"/>
          <p:nvPr/>
        </p:nvSpPr>
        <p:spPr>
          <a:xfrm>
            <a:off x="6742178" y="4084117"/>
            <a:ext cx="21194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2,87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938B13F-F7FC-4360-8D37-1BDE9E0E6FF7}"/>
              </a:ext>
            </a:extLst>
          </p:cNvPr>
          <p:cNvSpPr txBox="1"/>
          <p:nvPr/>
        </p:nvSpPr>
        <p:spPr>
          <a:xfrm>
            <a:off x="5569832" y="378903"/>
            <a:ext cx="3781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Put these decimals in ascending order.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C5A49C-DF19-41D9-9706-1C66FA0D801A}"/>
              </a:ext>
            </a:extLst>
          </p:cNvPr>
          <p:cNvSpPr txBox="1"/>
          <p:nvPr/>
        </p:nvSpPr>
        <p:spPr>
          <a:xfrm>
            <a:off x="6874204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3,59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1975BD9-29CF-429F-88D9-CEEBA09FCBFF}"/>
              </a:ext>
            </a:extLst>
          </p:cNvPr>
          <p:cNvSpPr txBox="1"/>
          <p:nvPr/>
        </p:nvSpPr>
        <p:spPr>
          <a:xfrm>
            <a:off x="8054522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2,87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F08E211-5C88-48B3-A5BC-8D2048F5966E}"/>
              </a:ext>
            </a:extLst>
          </p:cNvPr>
          <p:cNvSpPr/>
          <p:nvPr/>
        </p:nvSpPr>
        <p:spPr>
          <a:xfrm>
            <a:off x="8005681" y="2724791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33151B9-1B63-4E97-AA5B-9DFDE00A6E6B}"/>
              </a:ext>
            </a:extLst>
          </p:cNvPr>
          <p:cNvSpPr txBox="1"/>
          <p:nvPr/>
        </p:nvSpPr>
        <p:spPr>
          <a:xfrm>
            <a:off x="5282993" y="2916664"/>
            <a:ext cx="11224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Эң төмөн</a:t>
            </a:r>
            <a:endParaRPr lang="en-GB" b="1" dirty="0">
              <a:solidFill>
                <a:srgbClr val="FF0000"/>
              </a:solidFill>
            </a:endParaRPr>
          </a:p>
          <a:p>
            <a:pPr algn="ctr"/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9EF479-0087-4D54-86C5-C4F614BF07DB}"/>
              </a:ext>
            </a:extLst>
          </p:cNvPr>
          <p:cNvSpPr txBox="1"/>
          <p:nvPr/>
        </p:nvSpPr>
        <p:spPr>
          <a:xfrm>
            <a:off x="5622858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2,83,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31B965-DDD3-4C0D-947B-E74E768DF1F1}"/>
              </a:ext>
            </a:extLst>
          </p:cNvPr>
          <p:cNvSpPr txBox="1"/>
          <p:nvPr/>
        </p:nvSpPr>
        <p:spPr>
          <a:xfrm>
            <a:off x="5693885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2,83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248562E-49BF-4027-84E7-D6A3E8378D07}"/>
              </a:ext>
            </a:extLst>
          </p:cNvPr>
          <p:cNvSpPr/>
          <p:nvPr/>
        </p:nvSpPr>
        <p:spPr>
          <a:xfrm>
            <a:off x="6584132" y="4125076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064549B-925C-430F-BB22-84CD0DDDD55E}"/>
              </a:ext>
            </a:extLst>
          </p:cNvPr>
          <p:cNvSpPr txBox="1"/>
          <p:nvPr/>
        </p:nvSpPr>
        <p:spPr>
          <a:xfrm>
            <a:off x="5317457" y="4259264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2-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EB6C1AD-8752-426A-934C-B027A16564FA}"/>
              </a:ext>
            </a:extLst>
          </p:cNvPr>
          <p:cNvSpPr txBox="1"/>
          <p:nvPr/>
        </p:nvSpPr>
        <p:spPr>
          <a:xfrm>
            <a:off x="6949768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2,87,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D2E93BA-2486-4221-92C6-DA5B808264D9}"/>
              </a:ext>
            </a:extLst>
          </p:cNvPr>
          <p:cNvSpPr txBox="1"/>
          <p:nvPr/>
        </p:nvSpPr>
        <p:spPr>
          <a:xfrm>
            <a:off x="8276677" y="5517029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3,59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4D3528C-3E66-480F-AE89-D47742952857}"/>
              </a:ext>
            </a:extLst>
          </p:cNvPr>
          <p:cNvCxnSpPr>
            <a:cxnSpLocks/>
          </p:cNvCxnSpPr>
          <p:nvPr/>
        </p:nvCxnSpPr>
        <p:spPr>
          <a:xfrm flipH="1">
            <a:off x="6753931" y="4444773"/>
            <a:ext cx="1809260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56B4523-AF45-4553-89C9-857E56D8BB54}"/>
              </a:ext>
            </a:extLst>
          </p:cNvPr>
          <p:cNvCxnSpPr>
            <a:cxnSpLocks/>
          </p:cNvCxnSpPr>
          <p:nvPr/>
        </p:nvCxnSpPr>
        <p:spPr>
          <a:xfrm flipH="1">
            <a:off x="6825820" y="3097827"/>
            <a:ext cx="1809260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441FD8B-EFBB-47DB-A5AE-188F32681F67}"/>
              </a:ext>
            </a:extLst>
          </p:cNvPr>
          <p:cNvCxnSpPr>
            <a:cxnSpLocks/>
          </p:cNvCxnSpPr>
          <p:nvPr/>
        </p:nvCxnSpPr>
        <p:spPr>
          <a:xfrm>
            <a:off x="2457256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1BCE5BA-666B-44FF-82D3-80D1AD8F1C61}"/>
              </a:ext>
            </a:extLst>
          </p:cNvPr>
          <p:cNvCxnSpPr>
            <a:cxnSpLocks/>
          </p:cNvCxnSpPr>
          <p:nvPr/>
        </p:nvCxnSpPr>
        <p:spPr>
          <a:xfrm>
            <a:off x="3159760" y="2905213"/>
            <a:ext cx="0" cy="182426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3CEAA954-631F-4B39-8A20-7F3B09A3B050}"/>
              </a:ext>
            </a:extLst>
          </p:cNvPr>
          <p:cNvCxnSpPr>
            <a:cxnSpLocks/>
          </p:cNvCxnSpPr>
          <p:nvPr/>
        </p:nvCxnSpPr>
        <p:spPr>
          <a:xfrm>
            <a:off x="3678507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8FADBCC0-36FF-45CB-B447-5B5DF8399692}"/>
              </a:ext>
            </a:extLst>
          </p:cNvPr>
          <p:cNvSpPr txBox="1"/>
          <p:nvPr/>
        </p:nvSpPr>
        <p:spPr>
          <a:xfrm>
            <a:off x="1792109" y="27379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2,680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3959DA8-97AB-46C0-B1C2-26CC00755750}"/>
              </a:ext>
            </a:extLst>
          </p:cNvPr>
          <p:cNvSpPr txBox="1"/>
          <p:nvPr/>
        </p:nvSpPr>
        <p:spPr>
          <a:xfrm>
            <a:off x="1792109" y="34110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2,957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DA99E43-DC8B-4100-BBB4-3D14555DBF22}"/>
              </a:ext>
            </a:extLst>
          </p:cNvPr>
          <p:cNvSpPr txBox="1"/>
          <p:nvPr/>
        </p:nvSpPr>
        <p:spPr>
          <a:xfrm>
            <a:off x="1792109" y="40841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2,620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0BD80B0E-B6A1-4471-93DD-81206BD6E940}"/>
              </a:ext>
            </a:extLst>
          </p:cNvPr>
          <p:cNvSpPr/>
          <p:nvPr/>
        </p:nvSpPr>
        <p:spPr>
          <a:xfrm>
            <a:off x="3055612" y="4105183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8194CA4-3D90-42F4-8550-09079F186CDF}"/>
              </a:ext>
            </a:extLst>
          </p:cNvPr>
          <p:cNvSpPr txBox="1"/>
          <p:nvPr/>
        </p:nvSpPr>
        <p:spPr>
          <a:xfrm>
            <a:off x="332924" y="4297056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Эң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2A6BC63-9E69-442E-B9B7-B837A2B9398F}"/>
              </a:ext>
            </a:extLst>
          </p:cNvPr>
          <p:cNvSpPr/>
          <p:nvPr/>
        </p:nvSpPr>
        <p:spPr>
          <a:xfrm>
            <a:off x="2522086" y="2771062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4059568-E13E-4FED-BCD0-AB8858CE03A0}"/>
              </a:ext>
            </a:extLst>
          </p:cNvPr>
          <p:cNvSpPr txBox="1"/>
          <p:nvPr/>
        </p:nvSpPr>
        <p:spPr>
          <a:xfrm>
            <a:off x="367388" y="2966796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2-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B6B16E41-7CA6-4F47-BDEA-CAC85D5987A0}"/>
              </a:ext>
            </a:extLst>
          </p:cNvPr>
          <p:cNvCxnSpPr>
            <a:cxnSpLocks/>
          </p:cNvCxnSpPr>
          <p:nvPr/>
        </p:nvCxnSpPr>
        <p:spPr>
          <a:xfrm flipH="1">
            <a:off x="1821446" y="3134719"/>
            <a:ext cx="1809260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01AD74E-8046-48B7-B2C1-51E001F2B842}"/>
              </a:ext>
            </a:extLst>
          </p:cNvPr>
          <p:cNvCxnSpPr>
            <a:cxnSpLocks/>
          </p:cNvCxnSpPr>
          <p:nvPr/>
        </p:nvCxnSpPr>
        <p:spPr>
          <a:xfrm flipH="1">
            <a:off x="1840582" y="4469427"/>
            <a:ext cx="1809260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65155F4-BB40-24EF-6D25-AFCEC3814EAB}"/>
              </a:ext>
            </a:extLst>
          </p:cNvPr>
          <p:cNvSpPr txBox="1"/>
          <p:nvPr/>
        </p:nvSpPr>
        <p:spPr>
          <a:xfrm>
            <a:off x="-100897" y="-30715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spc="300" dirty="0">
                <a:latin typeface="Stencil" panose="040409050D0802020404" pitchFamily="82" charset="0"/>
              </a:rPr>
              <a:t>САБАК</a:t>
            </a:r>
            <a:endParaRPr lang="en-GB" b="1" spc="300" dirty="0"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877F14-A0A0-E811-2493-CA85AB55506C}"/>
              </a:ext>
            </a:extLst>
          </p:cNvPr>
          <p:cNvSpPr txBox="1"/>
          <p:nvPr/>
        </p:nvSpPr>
        <p:spPr>
          <a:xfrm>
            <a:off x="7960973" y="9571"/>
            <a:ext cx="1684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Кезек СЕНДЕ!</a:t>
            </a:r>
            <a:endParaRPr lang="en-GB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572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5" grpId="0" animBg="1"/>
      <p:bldP spid="56" grpId="0"/>
      <p:bldP spid="57" grpId="0"/>
      <p:bldP spid="59" grpId="0" animBg="1"/>
      <p:bldP spid="60" grpId="0"/>
      <p:bldP spid="62" grpId="0"/>
      <p:bldP spid="6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661147" y="0"/>
            <a:ext cx="2583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Ондуктарды Ирээттөө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72755" y="378903"/>
            <a:ext cx="487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Берилген ондуктарды өсүү тартибинде ирээтте.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21A334-6CB9-46CD-BB9D-DDDC49030548}"/>
              </a:ext>
            </a:extLst>
          </p:cNvPr>
          <p:cNvSpPr txBox="1"/>
          <p:nvPr/>
        </p:nvSpPr>
        <p:spPr>
          <a:xfrm>
            <a:off x="2284767" y="642671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rgbClr val="FF0000"/>
                </a:solidFill>
              </a:rPr>
              <a:t>... көбөйүү, өсүү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8E82BA-E068-46DA-8C13-D69CF52E76AE}"/>
              </a:ext>
            </a:extLst>
          </p:cNvPr>
          <p:cNvSpPr txBox="1"/>
          <p:nvPr/>
        </p:nvSpPr>
        <p:spPr>
          <a:xfrm>
            <a:off x="1819940" y="1230681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2,957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CD74E9-BDCF-4674-849F-671FFE0D4786}"/>
              </a:ext>
            </a:extLst>
          </p:cNvPr>
          <p:cNvSpPr txBox="1"/>
          <p:nvPr/>
        </p:nvSpPr>
        <p:spPr>
          <a:xfrm>
            <a:off x="3104453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FAD8A3-E3C4-43D4-8FA5-FCEF389050F9}"/>
              </a:ext>
            </a:extLst>
          </p:cNvPr>
          <p:cNvSpPr txBox="1"/>
          <p:nvPr/>
        </p:nvSpPr>
        <p:spPr>
          <a:xfrm>
            <a:off x="672789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2,62,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F39E50-5D2B-49CF-B5DC-44FD4499989F}"/>
              </a:ext>
            </a:extLst>
          </p:cNvPr>
          <p:cNvSpPr txBox="1"/>
          <p:nvPr/>
        </p:nvSpPr>
        <p:spPr>
          <a:xfrm>
            <a:off x="743816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520F65-2313-418C-AF57-44C9BFF5DE3A}"/>
              </a:ext>
            </a:extLst>
          </p:cNvPr>
          <p:cNvSpPr txBox="1"/>
          <p:nvPr/>
        </p:nvSpPr>
        <p:spPr>
          <a:xfrm>
            <a:off x="-77616" y="1899570"/>
            <a:ext cx="5030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rgbClr val="FF0000"/>
                </a:solidFill>
              </a:rPr>
              <a:t>Эң чоң тилкеден баштап, эң кичине </a:t>
            </a:r>
          </a:p>
          <a:p>
            <a:pPr algn="ctr"/>
            <a:r>
              <a:rPr lang="ky-KG" dirty="0">
                <a:solidFill>
                  <a:srgbClr val="FF0000"/>
                </a:solidFill>
              </a:rPr>
              <a:t>санды тапканга чейин сандарды салыштырыңыз.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8A679F-40F3-4F0C-807C-E5124EE8F472}"/>
              </a:ext>
            </a:extLst>
          </p:cNvPr>
          <p:cNvSpPr txBox="1"/>
          <p:nvPr/>
        </p:nvSpPr>
        <p:spPr>
          <a:xfrm>
            <a:off x="1999699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2,68,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B567FE-C26B-4BC6-A565-09877E2B985A}"/>
              </a:ext>
            </a:extLst>
          </p:cNvPr>
          <p:cNvSpPr txBox="1"/>
          <p:nvPr/>
        </p:nvSpPr>
        <p:spPr>
          <a:xfrm>
            <a:off x="3222414" y="5517029"/>
            <a:ext cx="11224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2,957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322EA5A-D571-429D-A301-74989C07058E}"/>
              </a:ext>
            </a:extLst>
          </p:cNvPr>
          <p:cNvCxnSpPr>
            <a:cxnSpLocks/>
          </p:cNvCxnSpPr>
          <p:nvPr/>
        </p:nvCxnSpPr>
        <p:spPr>
          <a:xfrm>
            <a:off x="7407325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5050758-40AB-403A-99D0-7AE281C510C4}"/>
              </a:ext>
            </a:extLst>
          </p:cNvPr>
          <p:cNvCxnSpPr>
            <a:cxnSpLocks/>
          </p:cNvCxnSpPr>
          <p:nvPr/>
        </p:nvCxnSpPr>
        <p:spPr>
          <a:xfrm>
            <a:off x="8109829" y="2905213"/>
            <a:ext cx="0" cy="182426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E61808-3453-4BE6-85A1-F816EBF23307}"/>
              </a:ext>
            </a:extLst>
          </p:cNvPr>
          <p:cNvCxnSpPr>
            <a:cxnSpLocks/>
          </p:cNvCxnSpPr>
          <p:nvPr/>
        </p:nvCxnSpPr>
        <p:spPr>
          <a:xfrm>
            <a:off x="8628576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B4C4A36-E831-4717-B101-11ED41D722CC}"/>
              </a:ext>
            </a:extLst>
          </p:cNvPr>
          <p:cNvSpPr txBox="1"/>
          <p:nvPr/>
        </p:nvSpPr>
        <p:spPr>
          <a:xfrm>
            <a:off x="6742178" y="2737917"/>
            <a:ext cx="21194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2,51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B52CF0-2127-4A59-BCB3-3BB124E17BB6}"/>
              </a:ext>
            </a:extLst>
          </p:cNvPr>
          <p:cNvSpPr txBox="1"/>
          <p:nvPr/>
        </p:nvSpPr>
        <p:spPr>
          <a:xfrm>
            <a:off x="6742178" y="3411017"/>
            <a:ext cx="21194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2,08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0CA5B17-8F59-407E-9106-9138C329F50A}"/>
              </a:ext>
            </a:extLst>
          </p:cNvPr>
          <p:cNvSpPr txBox="1"/>
          <p:nvPr/>
        </p:nvSpPr>
        <p:spPr>
          <a:xfrm>
            <a:off x="6742178" y="4084117"/>
            <a:ext cx="21194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2,30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938B13F-F7FC-4360-8D37-1BDE9E0E6FF7}"/>
              </a:ext>
            </a:extLst>
          </p:cNvPr>
          <p:cNvSpPr txBox="1"/>
          <p:nvPr/>
        </p:nvSpPr>
        <p:spPr>
          <a:xfrm>
            <a:off x="5569832" y="378903"/>
            <a:ext cx="3781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Put these decimals in ascending order.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C5A49C-DF19-41D9-9706-1C66FA0D801A}"/>
              </a:ext>
            </a:extLst>
          </p:cNvPr>
          <p:cNvSpPr txBox="1"/>
          <p:nvPr/>
        </p:nvSpPr>
        <p:spPr>
          <a:xfrm>
            <a:off x="6874204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2,08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1975BD9-29CF-429F-88D9-CEEBA09FCBFF}"/>
              </a:ext>
            </a:extLst>
          </p:cNvPr>
          <p:cNvSpPr txBox="1"/>
          <p:nvPr/>
        </p:nvSpPr>
        <p:spPr>
          <a:xfrm>
            <a:off x="8054522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2,30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F08E211-5C88-48B3-A5BC-8D2048F5966E}"/>
              </a:ext>
            </a:extLst>
          </p:cNvPr>
          <p:cNvSpPr/>
          <p:nvPr/>
        </p:nvSpPr>
        <p:spPr>
          <a:xfrm>
            <a:off x="7469351" y="3428175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33151B9-1B63-4E97-AA5B-9DFDE00A6E6B}"/>
              </a:ext>
            </a:extLst>
          </p:cNvPr>
          <p:cNvSpPr txBox="1"/>
          <p:nvPr/>
        </p:nvSpPr>
        <p:spPr>
          <a:xfrm>
            <a:off x="5282993" y="3620048"/>
            <a:ext cx="11224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Эң төмөн</a:t>
            </a:r>
            <a:endParaRPr lang="en-GB" b="1" dirty="0">
              <a:solidFill>
                <a:srgbClr val="FF0000"/>
              </a:solidFill>
            </a:endParaRPr>
          </a:p>
          <a:p>
            <a:pPr algn="ctr"/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9EF479-0087-4D54-86C5-C4F614BF07DB}"/>
              </a:ext>
            </a:extLst>
          </p:cNvPr>
          <p:cNvSpPr txBox="1"/>
          <p:nvPr/>
        </p:nvSpPr>
        <p:spPr>
          <a:xfrm>
            <a:off x="5622858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2,08,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31B965-DDD3-4C0D-947B-E74E768DF1F1}"/>
              </a:ext>
            </a:extLst>
          </p:cNvPr>
          <p:cNvSpPr txBox="1"/>
          <p:nvPr/>
        </p:nvSpPr>
        <p:spPr>
          <a:xfrm>
            <a:off x="5693885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2,51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248562E-49BF-4027-84E7-D6A3E8378D07}"/>
              </a:ext>
            </a:extLst>
          </p:cNvPr>
          <p:cNvSpPr/>
          <p:nvPr/>
        </p:nvSpPr>
        <p:spPr>
          <a:xfrm>
            <a:off x="7472155" y="4081116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064549B-925C-430F-BB22-84CD0DDDD55E}"/>
              </a:ext>
            </a:extLst>
          </p:cNvPr>
          <p:cNvSpPr txBox="1"/>
          <p:nvPr/>
        </p:nvSpPr>
        <p:spPr>
          <a:xfrm>
            <a:off x="5317457" y="4276850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2-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EB6C1AD-8752-426A-934C-B027A16564FA}"/>
              </a:ext>
            </a:extLst>
          </p:cNvPr>
          <p:cNvSpPr txBox="1"/>
          <p:nvPr/>
        </p:nvSpPr>
        <p:spPr>
          <a:xfrm>
            <a:off x="6889676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2,30,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D2E93BA-2486-4221-92C6-DA5B808264D9}"/>
              </a:ext>
            </a:extLst>
          </p:cNvPr>
          <p:cNvSpPr txBox="1"/>
          <p:nvPr/>
        </p:nvSpPr>
        <p:spPr>
          <a:xfrm>
            <a:off x="8276677" y="5517029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2,51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4D3528C-3E66-480F-AE89-D47742952857}"/>
              </a:ext>
            </a:extLst>
          </p:cNvPr>
          <p:cNvCxnSpPr>
            <a:cxnSpLocks/>
          </p:cNvCxnSpPr>
          <p:nvPr/>
        </p:nvCxnSpPr>
        <p:spPr>
          <a:xfrm flipH="1">
            <a:off x="6815477" y="4444772"/>
            <a:ext cx="1809260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56B4523-AF45-4553-89C9-857E56D8BB54}"/>
              </a:ext>
            </a:extLst>
          </p:cNvPr>
          <p:cNvCxnSpPr>
            <a:cxnSpLocks/>
          </p:cNvCxnSpPr>
          <p:nvPr/>
        </p:nvCxnSpPr>
        <p:spPr>
          <a:xfrm flipH="1">
            <a:off x="6737898" y="3810004"/>
            <a:ext cx="1809260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BEBF82A-6A97-45A1-8E95-600185DA5CFD}"/>
              </a:ext>
            </a:extLst>
          </p:cNvPr>
          <p:cNvCxnSpPr>
            <a:cxnSpLocks/>
          </p:cNvCxnSpPr>
          <p:nvPr/>
        </p:nvCxnSpPr>
        <p:spPr>
          <a:xfrm>
            <a:off x="2457256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EED598B-CF6A-48AF-B76B-FFAE4EBE2D41}"/>
              </a:ext>
            </a:extLst>
          </p:cNvPr>
          <p:cNvCxnSpPr>
            <a:cxnSpLocks/>
          </p:cNvCxnSpPr>
          <p:nvPr/>
        </p:nvCxnSpPr>
        <p:spPr>
          <a:xfrm>
            <a:off x="3159760" y="2905213"/>
            <a:ext cx="0" cy="182426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5223CA9-73AA-4140-BD7E-A3481A62F12F}"/>
              </a:ext>
            </a:extLst>
          </p:cNvPr>
          <p:cNvCxnSpPr>
            <a:cxnSpLocks/>
          </p:cNvCxnSpPr>
          <p:nvPr/>
        </p:nvCxnSpPr>
        <p:spPr>
          <a:xfrm>
            <a:off x="3678507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3F56CE10-1E83-4148-9F26-A53B511EC731}"/>
              </a:ext>
            </a:extLst>
          </p:cNvPr>
          <p:cNvSpPr txBox="1"/>
          <p:nvPr/>
        </p:nvSpPr>
        <p:spPr>
          <a:xfrm>
            <a:off x="1792109" y="27379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2,680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1DBBB6-D69E-4F92-BA90-B84D3C9D515C}"/>
              </a:ext>
            </a:extLst>
          </p:cNvPr>
          <p:cNvSpPr txBox="1"/>
          <p:nvPr/>
        </p:nvSpPr>
        <p:spPr>
          <a:xfrm>
            <a:off x="1792109" y="34110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2,957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FFBF0BE-D125-4BB7-9B10-98C8F21B0AB2}"/>
              </a:ext>
            </a:extLst>
          </p:cNvPr>
          <p:cNvSpPr txBox="1"/>
          <p:nvPr/>
        </p:nvSpPr>
        <p:spPr>
          <a:xfrm>
            <a:off x="1792109" y="40841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2,620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9C9D76C-765C-4A5D-A915-28860D4F5252}"/>
              </a:ext>
            </a:extLst>
          </p:cNvPr>
          <p:cNvSpPr/>
          <p:nvPr/>
        </p:nvSpPr>
        <p:spPr>
          <a:xfrm>
            <a:off x="3055612" y="4105183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46A9E6D-74FF-4A22-B9A9-24C7503E270B}"/>
              </a:ext>
            </a:extLst>
          </p:cNvPr>
          <p:cNvSpPr txBox="1"/>
          <p:nvPr/>
        </p:nvSpPr>
        <p:spPr>
          <a:xfrm>
            <a:off x="332924" y="4297056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Эң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FD14F46-2EB3-4695-A5EE-16265D0C19FD}"/>
              </a:ext>
            </a:extLst>
          </p:cNvPr>
          <p:cNvSpPr/>
          <p:nvPr/>
        </p:nvSpPr>
        <p:spPr>
          <a:xfrm>
            <a:off x="2522086" y="2771062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5C7C1DD-6A11-463C-B51D-3C0C5612D609}"/>
              </a:ext>
            </a:extLst>
          </p:cNvPr>
          <p:cNvSpPr txBox="1"/>
          <p:nvPr/>
        </p:nvSpPr>
        <p:spPr>
          <a:xfrm>
            <a:off x="367388" y="2966796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2-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018B000-DDD8-44B3-8A1A-9E83ED36EAB4}"/>
              </a:ext>
            </a:extLst>
          </p:cNvPr>
          <p:cNvCxnSpPr>
            <a:cxnSpLocks/>
          </p:cNvCxnSpPr>
          <p:nvPr/>
        </p:nvCxnSpPr>
        <p:spPr>
          <a:xfrm flipH="1">
            <a:off x="1821446" y="3134719"/>
            <a:ext cx="1809260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DA037AC-340E-4C1A-BD1F-06F9AC606587}"/>
              </a:ext>
            </a:extLst>
          </p:cNvPr>
          <p:cNvCxnSpPr>
            <a:cxnSpLocks/>
          </p:cNvCxnSpPr>
          <p:nvPr/>
        </p:nvCxnSpPr>
        <p:spPr>
          <a:xfrm flipH="1">
            <a:off x="1840582" y="4469427"/>
            <a:ext cx="1809260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F4CDCD4-00D8-5145-FD92-E7746768543E}"/>
              </a:ext>
            </a:extLst>
          </p:cNvPr>
          <p:cNvSpPr txBox="1"/>
          <p:nvPr/>
        </p:nvSpPr>
        <p:spPr>
          <a:xfrm>
            <a:off x="-100897" y="-30715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spc="300" dirty="0">
                <a:latin typeface="Stencil" panose="040409050D0802020404" pitchFamily="82" charset="0"/>
              </a:rPr>
              <a:t>САБАК</a:t>
            </a:r>
            <a:endParaRPr lang="en-GB" b="1" spc="300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8F4D0A-B7D7-8BFF-34C5-447417E1E18F}"/>
              </a:ext>
            </a:extLst>
          </p:cNvPr>
          <p:cNvSpPr txBox="1"/>
          <p:nvPr/>
        </p:nvSpPr>
        <p:spPr>
          <a:xfrm>
            <a:off x="7960973" y="9571"/>
            <a:ext cx="1684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Кезек СЕНДЕ!</a:t>
            </a:r>
            <a:endParaRPr lang="en-GB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485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5" grpId="0" animBg="1"/>
      <p:bldP spid="56" grpId="0"/>
      <p:bldP spid="57" grpId="0"/>
      <p:bldP spid="59" grpId="0" animBg="1"/>
      <p:bldP spid="60" grpId="0"/>
      <p:bldP spid="62" grpId="0"/>
      <p:bldP spid="6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661147" y="0"/>
            <a:ext cx="2583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Ондуктарды Ирээттөө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72755" y="378903"/>
            <a:ext cx="487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Берилген ондуктарды өсүү тартибинде ирээтте.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21A334-6CB9-46CD-BB9D-DDDC49030548}"/>
              </a:ext>
            </a:extLst>
          </p:cNvPr>
          <p:cNvSpPr txBox="1"/>
          <p:nvPr/>
        </p:nvSpPr>
        <p:spPr>
          <a:xfrm>
            <a:off x="2284767" y="642671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rgbClr val="FF0000"/>
                </a:solidFill>
              </a:rPr>
              <a:t>... көбөйүү, өсүү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8E82BA-E068-46DA-8C13-D69CF52E76AE}"/>
              </a:ext>
            </a:extLst>
          </p:cNvPr>
          <p:cNvSpPr txBox="1"/>
          <p:nvPr/>
        </p:nvSpPr>
        <p:spPr>
          <a:xfrm>
            <a:off x="1819940" y="1230681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2,957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CD74E9-BDCF-4674-849F-671FFE0D4786}"/>
              </a:ext>
            </a:extLst>
          </p:cNvPr>
          <p:cNvSpPr txBox="1"/>
          <p:nvPr/>
        </p:nvSpPr>
        <p:spPr>
          <a:xfrm>
            <a:off x="3104453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FAD8A3-E3C4-43D4-8FA5-FCEF389050F9}"/>
              </a:ext>
            </a:extLst>
          </p:cNvPr>
          <p:cNvSpPr txBox="1"/>
          <p:nvPr/>
        </p:nvSpPr>
        <p:spPr>
          <a:xfrm>
            <a:off x="672789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2,62,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F39E50-5D2B-49CF-B5DC-44FD4499989F}"/>
              </a:ext>
            </a:extLst>
          </p:cNvPr>
          <p:cNvSpPr txBox="1"/>
          <p:nvPr/>
        </p:nvSpPr>
        <p:spPr>
          <a:xfrm>
            <a:off x="743816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520F65-2313-418C-AF57-44C9BFF5DE3A}"/>
              </a:ext>
            </a:extLst>
          </p:cNvPr>
          <p:cNvSpPr txBox="1"/>
          <p:nvPr/>
        </p:nvSpPr>
        <p:spPr>
          <a:xfrm>
            <a:off x="-77616" y="1899570"/>
            <a:ext cx="5030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rgbClr val="FF0000"/>
                </a:solidFill>
              </a:rPr>
              <a:t>Эң чоң тилкеден баштап, эң кичине </a:t>
            </a:r>
          </a:p>
          <a:p>
            <a:pPr algn="ctr"/>
            <a:r>
              <a:rPr lang="ky-KG" dirty="0">
                <a:solidFill>
                  <a:srgbClr val="FF0000"/>
                </a:solidFill>
              </a:rPr>
              <a:t>санды тапканга чейин сандарды салыштырыңыз.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8A679F-40F3-4F0C-807C-E5124EE8F472}"/>
              </a:ext>
            </a:extLst>
          </p:cNvPr>
          <p:cNvSpPr txBox="1"/>
          <p:nvPr/>
        </p:nvSpPr>
        <p:spPr>
          <a:xfrm>
            <a:off x="1999699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2,68,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B567FE-C26B-4BC6-A565-09877E2B985A}"/>
              </a:ext>
            </a:extLst>
          </p:cNvPr>
          <p:cNvSpPr txBox="1"/>
          <p:nvPr/>
        </p:nvSpPr>
        <p:spPr>
          <a:xfrm>
            <a:off x="3222414" y="5517029"/>
            <a:ext cx="11224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2,957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322EA5A-D571-429D-A301-74989C07058E}"/>
              </a:ext>
            </a:extLst>
          </p:cNvPr>
          <p:cNvCxnSpPr>
            <a:cxnSpLocks/>
          </p:cNvCxnSpPr>
          <p:nvPr/>
        </p:nvCxnSpPr>
        <p:spPr>
          <a:xfrm>
            <a:off x="7407325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5050758-40AB-403A-99D0-7AE281C510C4}"/>
              </a:ext>
            </a:extLst>
          </p:cNvPr>
          <p:cNvCxnSpPr>
            <a:cxnSpLocks/>
          </p:cNvCxnSpPr>
          <p:nvPr/>
        </p:nvCxnSpPr>
        <p:spPr>
          <a:xfrm>
            <a:off x="8109829" y="2905213"/>
            <a:ext cx="0" cy="182426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E61808-3453-4BE6-85A1-F816EBF23307}"/>
              </a:ext>
            </a:extLst>
          </p:cNvPr>
          <p:cNvCxnSpPr>
            <a:cxnSpLocks/>
          </p:cNvCxnSpPr>
          <p:nvPr/>
        </p:nvCxnSpPr>
        <p:spPr>
          <a:xfrm>
            <a:off x="8628576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B4C4A36-E831-4717-B101-11ED41D722CC}"/>
              </a:ext>
            </a:extLst>
          </p:cNvPr>
          <p:cNvSpPr txBox="1"/>
          <p:nvPr/>
        </p:nvSpPr>
        <p:spPr>
          <a:xfrm>
            <a:off x="6742178" y="27379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4,507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B52CF0-2127-4A59-BCB3-3BB124E17BB6}"/>
              </a:ext>
            </a:extLst>
          </p:cNvPr>
          <p:cNvSpPr txBox="1"/>
          <p:nvPr/>
        </p:nvSpPr>
        <p:spPr>
          <a:xfrm>
            <a:off x="6742178" y="34110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4,490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0CA5B17-8F59-407E-9106-9138C329F50A}"/>
              </a:ext>
            </a:extLst>
          </p:cNvPr>
          <p:cNvSpPr txBox="1"/>
          <p:nvPr/>
        </p:nvSpPr>
        <p:spPr>
          <a:xfrm>
            <a:off x="6742178" y="40841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4,510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938B13F-F7FC-4360-8D37-1BDE9E0E6FF7}"/>
              </a:ext>
            </a:extLst>
          </p:cNvPr>
          <p:cNvSpPr txBox="1"/>
          <p:nvPr/>
        </p:nvSpPr>
        <p:spPr>
          <a:xfrm>
            <a:off x="5022824" y="378903"/>
            <a:ext cx="487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Берилген ондуктарды өсүү тартибинде ирээтте.</a:t>
            </a:r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C5A49C-DF19-41D9-9706-1C66FA0D801A}"/>
              </a:ext>
            </a:extLst>
          </p:cNvPr>
          <p:cNvSpPr txBox="1"/>
          <p:nvPr/>
        </p:nvSpPr>
        <p:spPr>
          <a:xfrm>
            <a:off x="6874204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4,49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1975BD9-29CF-429F-88D9-CEEBA09FCBFF}"/>
              </a:ext>
            </a:extLst>
          </p:cNvPr>
          <p:cNvSpPr txBox="1"/>
          <p:nvPr/>
        </p:nvSpPr>
        <p:spPr>
          <a:xfrm>
            <a:off x="8054522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4,51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F08E211-5C88-48B3-A5BC-8D2048F5966E}"/>
              </a:ext>
            </a:extLst>
          </p:cNvPr>
          <p:cNvSpPr/>
          <p:nvPr/>
        </p:nvSpPr>
        <p:spPr>
          <a:xfrm>
            <a:off x="7469351" y="3428175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33151B9-1B63-4E97-AA5B-9DFDE00A6E6B}"/>
              </a:ext>
            </a:extLst>
          </p:cNvPr>
          <p:cNvSpPr txBox="1"/>
          <p:nvPr/>
        </p:nvSpPr>
        <p:spPr>
          <a:xfrm>
            <a:off x="5282993" y="3620048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Эң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9EF479-0087-4D54-86C5-C4F614BF07DB}"/>
              </a:ext>
            </a:extLst>
          </p:cNvPr>
          <p:cNvSpPr txBox="1"/>
          <p:nvPr/>
        </p:nvSpPr>
        <p:spPr>
          <a:xfrm>
            <a:off x="5622858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4,49,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31B965-DDD3-4C0D-947B-E74E768DF1F1}"/>
              </a:ext>
            </a:extLst>
          </p:cNvPr>
          <p:cNvSpPr txBox="1"/>
          <p:nvPr/>
        </p:nvSpPr>
        <p:spPr>
          <a:xfrm>
            <a:off x="5589691" y="1230681"/>
            <a:ext cx="11224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4,507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248562E-49BF-4027-84E7-D6A3E8378D07}"/>
              </a:ext>
            </a:extLst>
          </p:cNvPr>
          <p:cNvSpPr/>
          <p:nvPr/>
        </p:nvSpPr>
        <p:spPr>
          <a:xfrm>
            <a:off x="8026071" y="2753478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064549B-925C-430F-BB22-84CD0DDDD55E}"/>
              </a:ext>
            </a:extLst>
          </p:cNvPr>
          <p:cNvSpPr txBox="1"/>
          <p:nvPr/>
        </p:nvSpPr>
        <p:spPr>
          <a:xfrm>
            <a:off x="5317457" y="2949212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2-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EB6C1AD-8752-426A-934C-B027A16564FA}"/>
              </a:ext>
            </a:extLst>
          </p:cNvPr>
          <p:cNvSpPr txBox="1"/>
          <p:nvPr/>
        </p:nvSpPr>
        <p:spPr>
          <a:xfrm>
            <a:off x="6845574" y="5517029"/>
            <a:ext cx="1225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4,507,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D2E93BA-2486-4221-92C6-DA5B808264D9}"/>
              </a:ext>
            </a:extLst>
          </p:cNvPr>
          <p:cNvSpPr txBox="1"/>
          <p:nvPr/>
        </p:nvSpPr>
        <p:spPr>
          <a:xfrm>
            <a:off x="8276677" y="5517029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4,51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4D3528C-3E66-480F-AE89-D47742952857}"/>
              </a:ext>
            </a:extLst>
          </p:cNvPr>
          <p:cNvCxnSpPr>
            <a:cxnSpLocks/>
          </p:cNvCxnSpPr>
          <p:nvPr/>
        </p:nvCxnSpPr>
        <p:spPr>
          <a:xfrm flipH="1">
            <a:off x="6841853" y="3108341"/>
            <a:ext cx="2205432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56B4523-AF45-4553-89C9-857E56D8BB54}"/>
              </a:ext>
            </a:extLst>
          </p:cNvPr>
          <p:cNvCxnSpPr>
            <a:cxnSpLocks/>
          </p:cNvCxnSpPr>
          <p:nvPr/>
        </p:nvCxnSpPr>
        <p:spPr>
          <a:xfrm flipH="1">
            <a:off x="6808237" y="3792420"/>
            <a:ext cx="1809260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31D9DAD-15CF-4EC4-96E1-23D4ADA04E7D}"/>
              </a:ext>
            </a:extLst>
          </p:cNvPr>
          <p:cNvCxnSpPr>
            <a:cxnSpLocks/>
          </p:cNvCxnSpPr>
          <p:nvPr/>
        </p:nvCxnSpPr>
        <p:spPr>
          <a:xfrm>
            <a:off x="2457256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23E6EE9-FCE6-41D1-97CD-D234CBB87284}"/>
              </a:ext>
            </a:extLst>
          </p:cNvPr>
          <p:cNvCxnSpPr>
            <a:cxnSpLocks/>
          </p:cNvCxnSpPr>
          <p:nvPr/>
        </p:nvCxnSpPr>
        <p:spPr>
          <a:xfrm>
            <a:off x="3159760" y="2905213"/>
            <a:ext cx="0" cy="182426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C974A62-FDAD-47D8-AC04-B3BC65079780}"/>
              </a:ext>
            </a:extLst>
          </p:cNvPr>
          <p:cNvCxnSpPr>
            <a:cxnSpLocks/>
          </p:cNvCxnSpPr>
          <p:nvPr/>
        </p:nvCxnSpPr>
        <p:spPr>
          <a:xfrm>
            <a:off x="3678507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E6769C2-84C1-4FEB-879D-C06976CB351D}"/>
              </a:ext>
            </a:extLst>
          </p:cNvPr>
          <p:cNvSpPr txBox="1"/>
          <p:nvPr/>
        </p:nvSpPr>
        <p:spPr>
          <a:xfrm>
            <a:off x="1792109" y="27379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2,680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C4B615E-B2B6-477F-B40A-CD00954B721C}"/>
              </a:ext>
            </a:extLst>
          </p:cNvPr>
          <p:cNvSpPr txBox="1"/>
          <p:nvPr/>
        </p:nvSpPr>
        <p:spPr>
          <a:xfrm>
            <a:off x="1792109" y="34110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2,957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22DFB5D-A63B-4744-9C72-7FEED605957A}"/>
              </a:ext>
            </a:extLst>
          </p:cNvPr>
          <p:cNvSpPr txBox="1"/>
          <p:nvPr/>
        </p:nvSpPr>
        <p:spPr>
          <a:xfrm>
            <a:off x="1792109" y="40841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2,620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36E6AC9-2A70-447E-A524-0F72DB4B8563}"/>
              </a:ext>
            </a:extLst>
          </p:cNvPr>
          <p:cNvSpPr/>
          <p:nvPr/>
        </p:nvSpPr>
        <p:spPr>
          <a:xfrm>
            <a:off x="3055612" y="4105183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23B806E-4DD2-4C8A-B0D2-4DBA00BADBDD}"/>
              </a:ext>
            </a:extLst>
          </p:cNvPr>
          <p:cNvSpPr txBox="1"/>
          <p:nvPr/>
        </p:nvSpPr>
        <p:spPr>
          <a:xfrm>
            <a:off x="332924" y="4297056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Эң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6A86357-96A3-4B8A-AFBA-10FD1F178529}"/>
              </a:ext>
            </a:extLst>
          </p:cNvPr>
          <p:cNvSpPr/>
          <p:nvPr/>
        </p:nvSpPr>
        <p:spPr>
          <a:xfrm>
            <a:off x="2522086" y="2771062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E1DF7BD-209B-41F4-A75F-444EED900679}"/>
              </a:ext>
            </a:extLst>
          </p:cNvPr>
          <p:cNvSpPr txBox="1"/>
          <p:nvPr/>
        </p:nvSpPr>
        <p:spPr>
          <a:xfrm>
            <a:off x="367388" y="2966796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2-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A8BAC53-44F8-4F17-AA95-0AA2A472EE73}"/>
              </a:ext>
            </a:extLst>
          </p:cNvPr>
          <p:cNvCxnSpPr>
            <a:cxnSpLocks/>
          </p:cNvCxnSpPr>
          <p:nvPr/>
        </p:nvCxnSpPr>
        <p:spPr>
          <a:xfrm flipH="1">
            <a:off x="1821446" y="3134719"/>
            <a:ext cx="1809260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9E1962A-D66D-4B74-8D7E-1616E2BB8E3D}"/>
              </a:ext>
            </a:extLst>
          </p:cNvPr>
          <p:cNvCxnSpPr>
            <a:cxnSpLocks/>
          </p:cNvCxnSpPr>
          <p:nvPr/>
        </p:nvCxnSpPr>
        <p:spPr>
          <a:xfrm flipH="1">
            <a:off x="1840582" y="4469427"/>
            <a:ext cx="1809260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7538311-C5B3-7E29-CFF2-D8AAD0B0BFD5}"/>
              </a:ext>
            </a:extLst>
          </p:cNvPr>
          <p:cNvSpPr txBox="1"/>
          <p:nvPr/>
        </p:nvSpPr>
        <p:spPr>
          <a:xfrm>
            <a:off x="-100897" y="-30715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spc="300" dirty="0">
                <a:latin typeface="Stencil" panose="040409050D0802020404" pitchFamily="82" charset="0"/>
              </a:rPr>
              <a:t>САБАК</a:t>
            </a:r>
            <a:endParaRPr lang="en-GB" b="1" spc="300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1ACCE1-04E1-7C87-974C-824A07BD0DC4}"/>
              </a:ext>
            </a:extLst>
          </p:cNvPr>
          <p:cNvSpPr txBox="1"/>
          <p:nvPr/>
        </p:nvSpPr>
        <p:spPr>
          <a:xfrm>
            <a:off x="7960973" y="9571"/>
            <a:ext cx="1684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Кезек СЕНДЕ!</a:t>
            </a:r>
            <a:endParaRPr lang="en-GB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530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5" grpId="0" animBg="1"/>
      <p:bldP spid="56" grpId="0"/>
      <p:bldP spid="57" grpId="0"/>
      <p:bldP spid="59" grpId="0" animBg="1"/>
      <p:bldP spid="60" grpId="0"/>
      <p:bldP spid="62" grpId="0"/>
      <p:bldP spid="6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661147" y="0"/>
            <a:ext cx="2583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Ондуктарды Ирээттөө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72755" y="378903"/>
            <a:ext cx="487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Берилген ондуктарды өсүү тартибинде ирээтте.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21A334-6CB9-46CD-BB9D-DDDC49030548}"/>
              </a:ext>
            </a:extLst>
          </p:cNvPr>
          <p:cNvSpPr txBox="1"/>
          <p:nvPr/>
        </p:nvSpPr>
        <p:spPr>
          <a:xfrm>
            <a:off x="2284767" y="642671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rgbClr val="FF0000"/>
                </a:solidFill>
              </a:rPr>
              <a:t>... көбөйүү, өсүү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8E82BA-E068-46DA-8C13-D69CF52E76AE}"/>
              </a:ext>
            </a:extLst>
          </p:cNvPr>
          <p:cNvSpPr txBox="1"/>
          <p:nvPr/>
        </p:nvSpPr>
        <p:spPr>
          <a:xfrm>
            <a:off x="1819940" y="1230681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2,957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CD74E9-BDCF-4674-849F-671FFE0D4786}"/>
              </a:ext>
            </a:extLst>
          </p:cNvPr>
          <p:cNvSpPr txBox="1"/>
          <p:nvPr/>
        </p:nvSpPr>
        <p:spPr>
          <a:xfrm>
            <a:off x="3104453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FAD8A3-E3C4-43D4-8FA5-FCEF389050F9}"/>
              </a:ext>
            </a:extLst>
          </p:cNvPr>
          <p:cNvSpPr txBox="1"/>
          <p:nvPr/>
        </p:nvSpPr>
        <p:spPr>
          <a:xfrm>
            <a:off x="672789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2,62,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F39E50-5D2B-49CF-B5DC-44FD4499989F}"/>
              </a:ext>
            </a:extLst>
          </p:cNvPr>
          <p:cNvSpPr txBox="1"/>
          <p:nvPr/>
        </p:nvSpPr>
        <p:spPr>
          <a:xfrm>
            <a:off x="743816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520F65-2313-418C-AF57-44C9BFF5DE3A}"/>
              </a:ext>
            </a:extLst>
          </p:cNvPr>
          <p:cNvSpPr txBox="1"/>
          <p:nvPr/>
        </p:nvSpPr>
        <p:spPr>
          <a:xfrm>
            <a:off x="-77616" y="1899570"/>
            <a:ext cx="5030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rgbClr val="FF0000"/>
                </a:solidFill>
              </a:rPr>
              <a:t>Эң чоң тилкеден баштап, эң кичине </a:t>
            </a:r>
          </a:p>
          <a:p>
            <a:pPr algn="ctr"/>
            <a:r>
              <a:rPr lang="ky-KG" dirty="0">
                <a:solidFill>
                  <a:srgbClr val="FF0000"/>
                </a:solidFill>
              </a:rPr>
              <a:t>санды тапканга чейин сандарды салыштырыңыз.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8A679F-40F3-4F0C-807C-E5124EE8F472}"/>
              </a:ext>
            </a:extLst>
          </p:cNvPr>
          <p:cNvSpPr txBox="1"/>
          <p:nvPr/>
        </p:nvSpPr>
        <p:spPr>
          <a:xfrm>
            <a:off x="1999699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2,68,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B567FE-C26B-4BC6-A565-09877E2B985A}"/>
              </a:ext>
            </a:extLst>
          </p:cNvPr>
          <p:cNvSpPr txBox="1"/>
          <p:nvPr/>
        </p:nvSpPr>
        <p:spPr>
          <a:xfrm>
            <a:off x="3222414" y="5517029"/>
            <a:ext cx="11224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2,957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322EA5A-D571-429D-A301-74989C07058E}"/>
              </a:ext>
            </a:extLst>
          </p:cNvPr>
          <p:cNvCxnSpPr>
            <a:cxnSpLocks/>
          </p:cNvCxnSpPr>
          <p:nvPr/>
        </p:nvCxnSpPr>
        <p:spPr>
          <a:xfrm>
            <a:off x="7407325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5050758-40AB-403A-99D0-7AE281C510C4}"/>
              </a:ext>
            </a:extLst>
          </p:cNvPr>
          <p:cNvCxnSpPr>
            <a:cxnSpLocks/>
          </p:cNvCxnSpPr>
          <p:nvPr/>
        </p:nvCxnSpPr>
        <p:spPr>
          <a:xfrm>
            <a:off x="8109829" y="2905213"/>
            <a:ext cx="0" cy="182426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E61808-3453-4BE6-85A1-F816EBF23307}"/>
              </a:ext>
            </a:extLst>
          </p:cNvPr>
          <p:cNvCxnSpPr>
            <a:cxnSpLocks/>
          </p:cNvCxnSpPr>
          <p:nvPr/>
        </p:nvCxnSpPr>
        <p:spPr>
          <a:xfrm>
            <a:off x="8628576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B4C4A36-E831-4717-B101-11ED41D722CC}"/>
              </a:ext>
            </a:extLst>
          </p:cNvPr>
          <p:cNvSpPr txBox="1"/>
          <p:nvPr/>
        </p:nvSpPr>
        <p:spPr>
          <a:xfrm>
            <a:off x="6742178" y="27379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3,200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B52CF0-2127-4A59-BCB3-3BB124E17BB6}"/>
              </a:ext>
            </a:extLst>
          </p:cNvPr>
          <p:cNvSpPr txBox="1"/>
          <p:nvPr/>
        </p:nvSpPr>
        <p:spPr>
          <a:xfrm>
            <a:off x="6742178" y="34110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3,025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0CA5B17-8F59-407E-9106-9138C329F50A}"/>
              </a:ext>
            </a:extLst>
          </p:cNvPr>
          <p:cNvSpPr txBox="1"/>
          <p:nvPr/>
        </p:nvSpPr>
        <p:spPr>
          <a:xfrm>
            <a:off x="6742178" y="40841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3,216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938B13F-F7FC-4360-8D37-1BDE9E0E6FF7}"/>
              </a:ext>
            </a:extLst>
          </p:cNvPr>
          <p:cNvSpPr txBox="1"/>
          <p:nvPr/>
        </p:nvSpPr>
        <p:spPr>
          <a:xfrm>
            <a:off x="5022824" y="378903"/>
            <a:ext cx="487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Берилген ондуктарды өсүү тартибинде ирээтте.</a:t>
            </a:r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C5A49C-DF19-41D9-9706-1C66FA0D801A}"/>
              </a:ext>
            </a:extLst>
          </p:cNvPr>
          <p:cNvSpPr txBox="1"/>
          <p:nvPr/>
        </p:nvSpPr>
        <p:spPr>
          <a:xfrm>
            <a:off x="6770010" y="1230681"/>
            <a:ext cx="11224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3,025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1975BD9-29CF-429F-88D9-CEEBA09FCBFF}"/>
              </a:ext>
            </a:extLst>
          </p:cNvPr>
          <p:cNvSpPr txBox="1"/>
          <p:nvPr/>
        </p:nvSpPr>
        <p:spPr>
          <a:xfrm>
            <a:off x="7950328" y="1230681"/>
            <a:ext cx="11224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3,216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F08E211-5C88-48B3-A5BC-8D2048F5966E}"/>
              </a:ext>
            </a:extLst>
          </p:cNvPr>
          <p:cNvSpPr/>
          <p:nvPr/>
        </p:nvSpPr>
        <p:spPr>
          <a:xfrm>
            <a:off x="7469351" y="3428175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33151B9-1B63-4E97-AA5B-9DFDE00A6E6B}"/>
              </a:ext>
            </a:extLst>
          </p:cNvPr>
          <p:cNvSpPr txBox="1"/>
          <p:nvPr/>
        </p:nvSpPr>
        <p:spPr>
          <a:xfrm>
            <a:off x="5282993" y="3620048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Эң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9EF479-0087-4D54-86C5-C4F614BF07DB}"/>
              </a:ext>
            </a:extLst>
          </p:cNvPr>
          <p:cNvSpPr txBox="1"/>
          <p:nvPr/>
        </p:nvSpPr>
        <p:spPr>
          <a:xfrm>
            <a:off x="5518663" y="5517029"/>
            <a:ext cx="1225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3,025,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31B965-DDD3-4C0D-947B-E74E768DF1F1}"/>
              </a:ext>
            </a:extLst>
          </p:cNvPr>
          <p:cNvSpPr txBox="1"/>
          <p:nvPr/>
        </p:nvSpPr>
        <p:spPr>
          <a:xfrm>
            <a:off x="5798081" y="1230681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3,2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248562E-49BF-4027-84E7-D6A3E8378D07}"/>
              </a:ext>
            </a:extLst>
          </p:cNvPr>
          <p:cNvSpPr/>
          <p:nvPr/>
        </p:nvSpPr>
        <p:spPr>
          <a:xfrm>
            <a:off x="8026071" y="2753478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064549B-925C-430F-BB22-84CD0DDDD55E}"/>
              </a:ext>
            </a:extLst>
          </p:cNvPr>
          <p:cNvSpPr txBox="1"/>
          <p:nvPr/>
        </p:nvSpPr>
        <p:spPr>
          <a:xfrm>
            <a:off x="5317457" y="2949212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2-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EB6C1AD-8752-426A-934C-B027A16564FA}"/>
              </a:ext>
            </a:extLst>
          </p:cNvPr>
          <p:cNvSpPr txBox="1"/>
          <p:nvPr/>
        </p:nvSpPr>
        <p:spPr>
          <a:xfrm>
            <a:off x="7053965" y="5517029"/>
            <a:ext cx="8082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3,2,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D2E93BA-2486-4221-92C6-DA5B808264D9}"/>
              </a:ext>
            </a:extLst>
          </p:cNvPr>
          <p:cNvSpPr txBox="1"/>
          <p:nvPr/>
        </p:nvSpPr>
        <p:spPr>
          <a:xfrm>
            <a:off x="8172483" y="5517029"/>
            <a:ext cx="11224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3,216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4D3528C-3E66-480F-AE89-D47742952857}"/>
              </a:ext>
            </a:extLst>
          </p:cNvPr>
          <p:cNvCxnSpPr>
            <a:cxnSpLocks/>
          </p:cNvCxnSpPr>
          <p:nvPr/>
        </p:nvCxnSpPr>
        <p:spPr>
          <a:xfrm flipH="1">
            <a:off x="6841853" y="3108341"/>
            <a:ext cx="2205432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56B4523-AF45-4553-89C9-857E56D8BB54}"/>
              </a:ext>
            </a:extLst>
          </p:cNvPr>
          <p:cNvCxnSpPr>
            <a:cxnSpLocks/>
          </p:cNvCxnSpPr>
          <p:nvPr/>
        </p:nvCxnSpPr>
        <p:spPr>
          <a:xfrm flipH="1">
            <a:off x="6808237" y="3792420"/>
            <a:ext cx="2239048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6836D31-6898-4EE8-AE6B-6FCE5AAD06B6}"/>
              </a:ext>
            </a:extLst>
          </p:cNvPr>
          <p:cNvCxnSpPr>
            <a:cxnSpLocks/>
          </p:cNvCxnSpPr>
          <p:nvPr/>
        </p:nvCxnSpPr>
        <p:spPr>
          <a:xfrm>
            <a:off x="2457256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210550E-C9C4-4E0E-A45F-90A3D7B7C86C}"/>
              </a:ext>
            </a:extLst>
          </p:cNvPr>
          <p:cNvCxnSpPr>
            <a:cxnSpLocks/>
          </p:cNvCxnSpPr>
          <p:nvPr/>
        </p:nvCxnSpPr>
        <p:spPr>
          <a:xfrm>
            <a:off x="3159760" y="2905213"/>
            <a:ext cx="0" cy="182426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1505893-4F46-4EC3-A494-663C857552CC}"/>
              </a:ext>
            </a:extLst>
          </p:cNvPr>
          <p:cNvCxnSpPr>
            <a:cxnSpLocks/>
          </p:cNvCxnSpPr>
          <p:nvPr/>
        </p:nvCxnSpPr>
        <p:spPr>
          <a:xfrm>
            <a:off x="3678507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1CFC1DAB-DC1E-4A63-8E67-DD4AA7DF51FF}"/>
              </a:ext>
            </a:extLst>
          </p:cNvPr>
          <p:cNvSpPr txBox="1"/>
          <p:nvPr/>
        </p:nvSpPr>
        <p:spPr>
          <a:xfrm>
            <a:off x="1792109" y="27379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2,680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62AF608-E9CB-4E25-A477-351AF0EBA8AD}"/>
              </a:ext>
            </a:extLst>
          </p:cNvPr>
          <p:cNvSpPr txBox="1"/>
          <p:nvPr/>
        </p:nvSpPr>
        <p:spPr>
          <a:xfrm>
            <a:off x="1792109" y="34110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2,957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093D73B-A0D1-41C6-8153-5736968CFC6F}"/>
              </a:ext>
            </a:extLst>
          </p:cNvPr>
          <p:cNvSpPr txBox="1"/>
          <p:nvPr/>
        </p:nvSpPr>
        <p:spPr>
          <a:xfrm>
            <a:off x="1792109" y="40841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2,620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A3126F7D-A0EC-4E11-A5ED-29BB261613B3}"/>
              </a:ext>
            </a:extLst>
          </p:cNvPr>
          <p:cNvSpPr/>
          <p:nvPr/>
        </p:nvSpPr>
        <p:spPr>
          <a:xfrm>
            <a:off x="3055612" y="4105183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7A612AB-3F1C-46CD-889C-6FF0630D854B}"/>
              </a:ext>
            </a:extLst>
          </p:cNvPr>
          <p:cNvSpPr txBox="1"/>
          <p:nvPr/>
        </p:nvSpPr>
        <p:spPr>
          <a:xfrm>
            <a:off x="332924" y="4297056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Эң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48E6E9E7-4B05-40BF-9793-6EF173E37829}"/>
              </a:ext>
            </a:extLst>
          </p:cNvPr>
          <p:cNvSpPr/>
          <p:nvPr/>
        </p:nvSpPr>
        <p:spPr>
          <a:xfrm>
            <a:off x="2522086" y="2771062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3052564-2D50-4477-8B2E-CC06BCCFC39C}"/>
              </a:ext>
            </a:extLst>
          </p:cNvPr>
          <p:cNvSpPr txBox="1"/>
          <p:nvPr/>
        </p:nvSpPr>
        <p:spPr>
          <a:xfrm>
            <a:off x="367388" y="2966796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2-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B6366DF-5BC2-4213-B529-7AAFA128F7B7}"/>
              </a:ext>
            </a:extLst>
          </p:cNvPr>
          <p:cNvCxnSpPr>
            <a:cxnSpLocks/>
          </p:cNvCxnSpPr>
          <p:nvPr/>
        </p:nvCxnSpPr>
        <p:spPr>
          <a:xfrm flipH="1">
            <a:off x="1821446" y="3134719"/>
            <a:ext cx="1809260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4DC0320-7E46-4261-82E8-8CD7C6DB81B4}"/>
              </a:ext>
            </a:extLst>
          </p:cNvPr>
          <p:cNvCxnSpPr>
            <a:cxnSpLocks/>
          </p:cNvCxnSpPr>
          <p:nvPr/>
        </p:nvCxnSpPr>
        <p:spPr>
          <a:xfrm flipH="1">
            <a:off x="1840582" y="4469427"/>
            <a:ext cx="1809260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7588AB0-CE35-87D5-DEE7-9F8253CCA226}"/>
              </a:ext>
            </a:extLst>
          </p:cNvPr>
          <p:cNvSpPr txBox="1"/>
          <p:nvPr/>
        </p:nvSpPr>
        <p:spPr>
          <a:xfrm>
            <a:off x="-100897" y="-30715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spc="300" dirty="0">
                <a:latin typeface="Stencil" panose="040409050D0802020404" pitchFamily="82" charset="0"/>
              </a:rPr>
              <a:t>САБАК</a:t>
            </a:r>
            <a:endParaRPr lang="en-GB" b="1" spc="300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238D5F-162D-AC34-C29C-3894449781F8}"/>
              </a:ext>
            </a:extLst>
          </p:cNvPr>
          <p:cNvSpPr txBox="1"/>
          <p:nvPr/>
        </p:nvSpPr>
        <p:spPr>
          <a:xfrm>
            <a:off x="7960973" y="9571"/>
            <a:ext cx="1684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Кезек СЕНДЕ!</a:t>
            </a:r>
            <a:endParaRPr lang="en-GB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462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5" grpId="0" animBg="1"/>
      <p:bldP spid="56" grpId="0"/>
      <p:bldP spid="57" grpId="0"/>
      <p:bldP spid="59" grpId="0" animBg="1"/>
      <p:bldP spid="60" grpId="0"/>
      <p:bldP spid="62" grpId="0"/>
      <p:bldP spid="6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322EA5A-D571-429D-A301-74989C07058E}"/>
              </a:ext>
            </a:extLst>
          </p:cNvPr>
          <p:cNvCxnSpPr>
            <a:cxnSpLocks/>
          </p:cNvCxnSpPr>
          <p:nvPr/>
        </p:nvCxnSpPr>
        <p:spPr>
          <a:xfrm>
            <a:off x="7407325" y="2905213"/>
            <a:ext cx="0" cy="240973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5050758-40AB-403A-99D0-7AE281C510C4}"/>
              </a:ext>
            </a:extLst>
          </p:cNvPr>
          <p:cNvCxnSpPr>
            <a:cxnSpLocks/>
          </p:cNvCxnSpPr>
          <p:nvPr/>
        </p:nvCxnSpPr>
        <p:spPr>
          <a:xfrm>
            <a:off x="8109829" y="2905213"/>
            <a:ext cx="0" cy="239830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E61808-3453-4BE6-85A1-F816EBF23307}"/>
              </a:ext>
            </a:extLst>
          </p:cNvPr>
          <p:cNvCxnSpPr>
            <a:cxnSpLocks/>
          </p:cNvCxnSpPr>
          <p:nvPr/>
        </p:nvCxnSpPr>
        <p:spPr>
          <a:xfrm>
            <a:off x="8628576" y="2905213"/>
            <a:ext cx="0" cy="23906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661147" y="0"/>
            <a:ext cx="2583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Ондуктарды Ирээттөө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72755" y="378903"/>
            <a:ext cx="487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Берилген ондуктарды өсүү тартибинде ирээтте.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21A334-6CB9-46CD-BB9D-DDDC49030548}"/>
              </a:ext>
            </a:extLst>
          </p:cNvPr>
          <p:cNvSpPr txBox="1"/>
          <p:nvPr/>
        </p:nvSpPr>
        <p:spPr>
          <a:xfrm>
            <a:off x="2284767" y="642671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rgbClr val="FF0000"/>
                </a:solidFill>
              </a:rPr>
              <a:t>... көбөйүү, өсүү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8E82BA-E068-46DA-8C13-D69CF52E76AE}"/>
              </a:ext>
            </a:extLst>
          </p:cNvPr>
          <p:cNvSpPr txBox="1"/>
          <p:nvPr/>
        </p:nvSpPr>
        <p:spPr>
          <a:xfrm>
            <a:off x="1819940" y="1230681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2,957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CD74E9-BDCF-4674-849F-671FFE0D4786}"/>
              </a:ext>
            </a:extLst>
          </p:cNvPr>
          <p:cNvSpPr txBox="1"/>
          <p:nvPr/>
        </p:nvSpPr>
        <p:spPr>
          <a:xfrm>
            <a:off x="3104453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FAD8A3-E3C4-43D4-8FA5-FCEF389050F9}"/>
              </a:ext>
            </a:extLst>
          </p:cNvPr>
          <p:cNvSpPr txBox="1"/>
          <p:nvPr/>
        </p:nvSpPr>
        <p:spPr>
          <a:xfrm>
            <a:off x="672789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2,62,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F39E50-5D2B-49CF-B5DC-44FD4499989F}"/>
              </a:ext>
            </a:extLst>
          </p:cNvPr>
          <p:cNvSpPr txBox="1"/>
          <p:nvPr/>
        </p:nvSpPr>
        <p:spPr>
          <a:xfrm>
            <a:off x="743816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520F65-2313-418C-AF57-44C9BFF5DE3A}"/>
              </a:ext>
            </a:extLst>
          </p:cNvPr>
          <p:cNvSpPr txBox="1"/>
          <p:nvPr/>
        </p:nvSpPr>
        <p:spPr>
          <a:xfrm>
            <a:off x="-77616" y="1899570"/>
            <a:ext cx="5030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rgbClr val="FF0000"/>
                </a:solidFill>
              </a:rPr>
              <a:t>Эң чоң тилкеден баштап, эң кичине </a:t>
            </a:r>
          </a:p>
          <a:p>
            <a:pPr algn="ctr"/>
            <a:r>
              <a:rPr lang="ky-KG" dirty="0">
                <a:solidFill>
                  <a:srgbClr val="FF0000"/>
                </a:solidFill>
              </a:rPr>
              <a:t>санды тапканга чейин сандарды салыштырыңыз.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8A679F-40F3-4F0C-807C-E5124EE8F472}"/>
              </a:ext>
            </a:extLst>
          </p:cNvPr>
          <p:cNvSpPr txBox="1"/>
          <p:nvPr/>
        </p:nvSpPr>
        <p:spPr>
          <a:xfrm>
            <a:off x="1999699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2,68,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B567FE-C26B-4BC6-A565-09877E2B985A}"/>
              </a:ext>
            </a:extLst>
          </p:cNvPr>
          <p:cNvSpPr txBox="1"/>
          <p:nvPr/>
        </p:nvSpPr>
        <p:spPr>
          <a:xfrm>
            <a:off x="3222414" y="5517029"/>
            <a:ext cx="11224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2,957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B4C4A36-E831-4717-B101-11ED41D722CC}"/>
              </a:ext>
            </a:extLst>
          </p:cNvPr>
          <p:cNvSpPr txBox="1"/>
          <p:nvPr/>
        </p:nvSpPr>
        <p:spPr>
          <a:xfrm>
            <a:off x="6742178" y="27379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5,450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B52CF0-2127-4A59-BCB3-3BB124E17BB6}"/>
              </a:ext>
            </a:extLst>
          </p:cNvPr>
          <p:cNvSpPr txBox="1"/>
          <p:nvPr/>
        </p:nvSpPr>
        <p:spPr>
          <a:xfrm>
            <a:off x="6742178" y="3385943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5,380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0CA5B17-8F59-407E-9106-9138C329F50A}"/>
              </a:ext>
            </a:extLst>
          </p:cNvPr>
          <p:cNvSpPr txBox="1"/>
          <p:nvPr/>
        </p:nvSpPr>
        <p:spPr>
          <a:xfrm>
            <a:off x="6742178" y="4033969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5,359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938B13F-F7FC-4360-8D37-1BDE9E0E6FF7}"/>
              </a:ext>
            </a:extLst>
          </p:cNvPr>
          <p:cNvSpPr txBox="1"/>
          <p:nvPr/>
        </p:nvSpPr>
        <p:spPr>
          <a:xfrm>
            <a:off x="5022824" y="378903"/>
            <a:ext cx="487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Берилген ондуктарды өсүү тартибинде ирээтте.</a:t>
            </a:r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C5A49C-DF19-41D9-9706-1C66FA0D801A}"/>
              </a:ext>
            </a:extLst>
          </p:cNvPr>
          <p:cNvSpPr txBox="1"/>
          <p:nvPr/>
        </p:nvSpPr>
        <p:spPr>
          <a:xfrm>
            <a:off x="6204090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5,38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1975BD9-29CF-429F-88D9-CEEBA09FCBFF}"/>
              </a:ext>
            </a:extLst>
          </p:cNvPr>
          <p:cNvSpPr txBox="1"/>
          <p:nvPr/>
        </p:nvSpPr>
        <p:spPr>
          <a:xfrm>
            <a:off x="7363614" y="1230681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5,359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33151B9-1B63-4E97-AA5B-9DFDE00A6E6B}"/>
              </a:ext>
            </a:extLst>
          </p:cNvPr>
          <p:cNvSpPr txBox="1"/>
          <p:nvPr/>
        </p:nvSpPr>
        <p:spPr>
          <a:xfrm>
            <a:off x="5282993" y="4202754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Эң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9EF479-0087-4D54-86C5-C4F614BF07DB}"/>
              </a:ext>
            </a:extLst>
          </p:cNvPr>
          <p:cNvSpPr txBox="1"/>
          <p:nvPr/>
        </p:nvSpPr>
        <p:spPr>
          <a:xfrm>
            <a:off x="4953887" y="5517029"/>
            <a:ext cx="1225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5,359,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31B965-DDD3-4C0D-947B-E74E768DF1F1}"/>
              </a:ext>
            </a:extLst>
          </p:cNvPr>
          <p:cNvSpPr txBox="1"/>
          <p:nvPr/>
        </p:nvSpPr>
        <p:spPr>
          <a:xfrm>
            <a:off x="5148761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5,45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064549B-925C-430F-BB22-84CD0DDDD55E}"/>
              </a:ext>
            </a:extLst>
          </p:cNvPr>
          <p:cNvSpPr txBox="1"/>
          <p:nvPr/>
        </p:nvSpPr>
        <p:spPr>
          <a:xfrm>
            <a:off x="5317457" y="3567777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2-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EB6C1AD-8752-426A-934C-B027A16564FA}"/>
              </a:ext>
            </a:extLst>
          </p:cNvPr>
          <p:cNvSpPr txBox="1"/>
          <p:nvPr/>
        </p:nvSpPr>
        <p:spPr>
          <a:xfrm>
            <a:off x="6327308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5,38,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D2E93BA-2486-4221-92C6-DA5B808264D9}"/>
              </a:ext>
            </a:extLst>
          </p:cNvPr>
          <p:cNvSpPr txBox="1"/>
          <p:nvPr/>
        </p:nvSpPr>
        <p:spPr>
          <a:xfrm>
            <a:off x="7492339" y="5517029"/>
            <a:ext cx="12250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5,405,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4D3528C-3E66-480F-AE89-D47742952857}"/>
              </a:ext>
            </a:extLst>
          </p:cNvPr>
          <p:cNvCxnSpPr>
            <a:cxnSpLocks/>
          </p:cNvCxnSpPr>
          <p:nvPr/>
        </p:nvCxnSpPr>
        <p:spPr>
          <a:xfrm flipH="1">
            <a:off x="6732380" y="3744835"/>
            <a:ext cx="2205432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56B4523-AF45-4553-89C9-857E56D8BB54}"/>
              </a:ext>
            </a:extLst>
          </p:cNvPr>
          <p:cNvCxnSpPr>
            <a:cxnSpLocks/>
          </p:cNvCxnSpPr>
          <p:nvPr/>
        </p:nvCxnSpPr>
        <p:spPr>
          <a:xfrm flipH="1">
            <a:off x="6895987" y="4410984"/>
            <a:ext cx="2113542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CC92810-026C-439F-9717-E86F98087576}"/>
              </a:ext>
            </a:extLst>
          </p:cNvPr>
          <p:cNvSpPr txBox="1"/>
          <p:nvPr/>
        </p:nvSpPr>
        <p:spPr>
          <a:xfrm>
            <a:off x="8627334" y="1230681"/>
            <a:ext cx="11224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5,405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2290D10-2CDB-4848-8709-DB67545C2269}"/>
              </a:ext>
            </a:extLst>
          </p:cNvPr>
          <p:cNvSpPr txBox="1"/>
          <p:nvPr/>
        </p:nvSpPr>
        <p:spPr>
          <a:xfrm>
            <a:off x="6742178" y="4681994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5,405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F08E211-5C88-48B3-A5BC-8D2048F5966E}"/>
              </a:ext>
            </a:extLst>
          </p:cNvPr>
          <p:cNvSpPr/>
          <p:nvPr/>
        </p:nvSpPr>
        <p:spPr>
          <a:xfrm>
            <a:off x="7998269" y="4037775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248562E-49BF-4027-84E7-D6A3E8378D07}"/>
              </a:ext>
            </a:extLst>
          </p:cNvPr>
          <p:cNvSpPr/>
          <p:nvPr/>
        </p:nvSpPr>
        <p:spPr>
          <a:xfrm>
            <a:off x="7506118" y="3398936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9F6F470-085F-48F8-906A-C631433C8341}"/>
              </a:ext>
            </a:extLst>
          </p:cNvPr>
          <p:cNvSpPr txBox="1"/>
          <p:nvPr/>
        </p:nvSpPr>
        <p:spPr>
          <a:xfrm>
            <a:off x="5317456" y="4945652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3-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AB77486-4A5D-4D15-8419-3D81F1CCBEF8}"/>
              </a:ext>
            </a:extLst>
          </p:cNvPr>
          <p:cNvCxnSpPr>
            <a:cxnSpLocks/>
          </p:cNvCxnSpPr>
          <p:nvPr/>
        </p:nvCxnSpPr>
        <p:spPr>
          <a:xfrm flipH="1">
            <a:off x="6795132" y="5077887"/>
            <a:ext cx="2205432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E1FB5798-4C96-4DCD-AC6C-36E95B58FD51}"/>
              </a:ext>
            </a:extLst>
          </p:cNvPr>
          <p:cNvSpPr/>
          <p:nvPr/>
        </p:nvSpPr>
        <p:spPr>
          <a:xfrm>
            <a:off x="7999695" y="4714748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4C71272-9420-4B80-BCEC-C3107BCE55D9}"/>
              </a:ext>
            </a:extLst>
          </p:cNvPr>
          <p:cNvSpPr txBox="1"/>
          <p:nvPr/>
        </p:nvSpPr>
        <p:spPr>
          <a:xfrm>
            <a:off x="8865760" y="5517029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5,45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32EAB3E-5F64-4420-BEC7-089B1E64DBC5}"/>
              </a:ext>
            </a:extLst>
          </p:cNvPr>
          <p:cNvCxnSpPr>
            <a:cxnSpLocks/>
          </p:cNvCxnSpPr>
          <p:nvPr/>
        </p:nvCxnSpPr>
        <p:spPr>
          <a:xfrm>
            <a:off x="2457256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EAE1B68-4CB3-4F41-8EA2-6113FA600384}"/>
              </a:ext>
            </a:extLst>
          </p:cNvPr>
          <p:cNvCxnSpPr>
            <a:cxnSpLocks/>
          </p:cNvCxnSpPr>
          <p:nvPr/>
        </p:nvCxnSpPr>
        <p:spPr>
          <a:xfrm>
            <a:off x="3159760" y="2905213"/>
            <a:ext cx="0" cy="182426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2D8B092-D50F-43A1-8721-8754F189EF5D}"/>
              </a:ext>
            </a:extLst>
          </p:cNvPr>
          <p:cNvCxnSpPr>
            <a:cxnSpLocks/>
          </p:cNvCxnSpPr>
          <p:nvPr/>
        </p:nvCxnSpPr>
        <p:spPr>
          <a:xfrm>
            <a:off x="3678507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2A022469-F916-44E7-9F64-7DB72AF14910}"/>
              </a:ext>
            </a:extLst>
          </p:cNvPr>
          <p:cNvSpPr txBox="1"/>
          <p:nvPr/>
        </p:nvSpPr>
        <p:spPr>
          <a:xfrm>
            <a:off x="1792109" y="27379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2,680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5E2BDF1-3A02-4CC3-A053-12524022F798}"/>
              </a:ext>
            </a:extLst>
          </p:cNvPr>
          <p:cNvSpPr txBox="1"/>
          <p:nvPr/>
        </p:nvSpPr>
        <p:spPr>
          <a:xfrm>
            <a:off x="1792109" y="34110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2,957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2A4E445-263C-4C50-B5A9-CF6DA78606EC}"/>
              </a:ext>
            </a:extLst>
          </p:cNvPr>
          <p:cNvSpPr txBox="1"/>
          <p:nvPr/>
        </p:nvSpPr>
        <p:spPr>
          <a:xfrm>
            <a:off x="1792109" y="40841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2,620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826DF12D-6D4A-49DB-B526-969D4531C4B2}"/>
              </a:ext>
            </a:extLst>
          </p:cNvPr>
          <p:cNvSpPr/>
          <p:nvPr/>
        </p:nvSpPr>
        <p:spPr>
          <a:xfrm>
            <a:off x="3055612" y="4105183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36F23F2-B57A-4443-83F7-98153DA09C60}"/>
              </a:ext>
            </a:extLst>
          </p:cNvPr>
          <p:cNvSpPr txBox="1"/>
          <p:nvPr/>
        </p:nvSpPr>
        <p:spPr>
          <a:xfrm>
            <a:off x="332924" y="4297056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Эң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4448C58-0F52-4CED-A207-4FF767C95423}"/>
              </a:ext>
            </a:extLst>
          </p:cNvPr>
          <p:cNvSpPr/>
          <p:nvPr/>
        </p:nvSpPr>
        <p:spPr>
          <a:xfrm>
            <a:off x="2522086" y="2771062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4CDC3FB-4EAC-4A3A-976D-6F8DE3F680F2}"/>
              </a:ext>
            </a:extLst>
          </p:cNvPr>
          <p:cNvSpPr txBox="1"/>
          <p:nvPr/>
        </p:nvSpPr>
        <p:spPr>
          <a:xfrm>
            <a:off x="367388" y="2966796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2-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9AE70BA-6574-4F81-AD69-EC08120B651C}"/>
              </a:ext>
            </a:extLst>
          </p:cNvPr>
          <p:cNvCxnSpPr>
            <a:cxnSpLocks/>
          </p:cNvCxnSpPr>
          <p:nvPr/>
        </p:nvCxnSpPr>
        <p:spPr>
          <a:xfrm flipH="1">
            <a:off x="1821446" y="3134719"/>
            <a:ext cx="1809260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A3EA064-8A47-4C07-AA35-220C8F324123}"/>
              </a:ext>
            </a:extLst>
          </p:cNvPr>
          <p:cNvCxnSpPr>
            <a:cxnSpLocks/>
          </p:cNvCxnSpPr>
          <p:nvPr/>
        </p:nvCxnSpPr>
        <p:spPr>
          <a:xfrm flipH="1">
            <a:off x="1840582" y="4469427"/>
            <a:ext cx="1809260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6B81F3F-E0FD-DC98-78DD-C2C75B042EA1}"/>
              </a:ext>
            </a:extLst>
          </p:cNvPr>
          <p:cNvSpPr txBox="1"/>
          <p:nvPr/>
        </p:nvSpPr>
        <p:spPr>
          <a:xfrm>
            <a:off x="-100897" y="-30715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spc="300" dirty="0">
                <a:latin typeface="Stencil" panose="040409050D0802020404" pitchFamily="82" charset="0"/>
              </a:rPr>
              <a:t>САБАК</a:t>
            </a:r>
            <a:endParaRPr lang="en-GB" b="1" spc="300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D079AF-75BA-1AAD-1E10-8CF57F9ABD27}"/>
              </a:ext>
            </a:extLst>
          </p:cNvPr>
          <p:cNvSpPr txBox="1"/>
          <p:nvPr/>
        </p:nvSpPr>
        <p:spPr>
          <a:xfrm>
            <a:off x="7960973" y="9571"/>
            <a:ext cx="1684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Кезек СЕНДЕ!</a:t>
            </a:r>
            <a:endParaRPr lang="en-GB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041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6" grpId="0"/>
      <p:bldP spid="57" grpId="0"/>
      <p:bldP spid="60" grpId="0"/>
      <p:bldP spid="62" grpId="0"/>
      <p:bldP spid="63" grpId="0"/>
      <p:bldP spid="52" grpId="0"/>
      <p:bldP spid="55" grpId="0" animBg="1"/>
      <p:bldP spid="59" grpId="0" animBg="1"/>
      <p:bldP spid="61" grpId="0"/>
      <p:bldP spid="67" grpId="0" animBg="1"/>
      <p:bldP spid="6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322EA5A-D571-429D-A301-74989C07058E}"/>
              </a:ext>
            </a:extLst>
          </p:cNvPr>
          <p:cNvCxnSpPr>
            <a:cxnSpLocks/>
          </p:cNvCxnSpPr>
          <p:nvPr/>
        </p:nvCxnSpPr>
        <p:spPr>
          <a:xfrm>
            <a:off x="7407325" y="2905213"/>
            <a:ext cx="0" cy="240973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5050758-40AB-403A-99D0-7AE281C510C4}"/>
              </a:ext>
            </a:extLst>
          </p:cNvPr>
          <p:cNvCxnSpPr>
            <a:cxnSpLocks/>
          </p:cNvCxnSpPr>
          <p:nvPr/>
        </p:nvCxnSpPr>
        <p:spPr>
          <a:xfrm>
            <a:off x="8109829" y="2905213"/>
            <a:ext cx="0" cy="239830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E61808-3453-4BE6-85A1-F816EBF23307}"/>
              </a:ext>
            </a:extLst>
          </p:cNvPr>
          <p:cNvCxnSpPr>
            <a:cxnSpLocks/>
          </p:cNvCxnSpPr>
          <p:nvPr/>
        </p:nvCxnSpPr>
        <p:spPr>
          <a:xfrm>
            <a:off x="8628576" y="2905213"/>
            <a:ext cx="0" cy="23906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661147" y="0"/>
            <a:ext cx="2583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Ондуктарды Ирээттөө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72755" y="378903"/>
            <a:ext cx="487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Берилген ондуктарды өсүү тартибинде ирээтте.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21A334-6CB9-46CD-BB9D-DDDC49030548}"/>
              </a:ext>
            </a:extLst>
          </p:cNvPr>
          <p:cNvSpPr txBox="1"/>
          <p:nvPr/>
        </p:nvSpPr>
        <p:spPr>
          <a:xfrm>
            <a:off x="2284767" y="642671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rgbClr val="FF0000"/>
                </a:solidFill>
              </a:rPr>
              <a:t>... көбөйүү, өсүү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8E82BA-E068-46DA-8C13-D69CF52E76AE}"/>
              </a:ext>
            </a:extLst>
          </p:cNvPr>
          <p:cNvSpPr txBox="1"/>
          <p:nvPr/>
        </p:nvSpPr>
        <p:spPr>
          <a:xfrm>
            <a:off x="1819940" y="1230681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2,957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CD74E9-BDCF-4674-849F-671FFE0D4786}"/>
              </a:ext>
            </a:extLst>
          </p:cNvPr>
          <p:cNvSpPr txBox="1"/>
          <p:nvPr/>
        </p:nvSpPr>
        <p:spPr>
          <a:xfrm>
            <a:off x="3104453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FAD8A3-E3C4-43D4-8FA5-FCEF389050F9}"/>
              </a:ext>
            </a:extLst>
          </p:cNvPr>
          <p:cNvSpPr txBox="1"/>
          <p:nvPr/>
        </p:nvSpPr>
        <p:spPr>
          <a:xfrm>
            <a:off x="672789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2,62,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F39E50-5D2B-49CF-B5DC-44FD4499989F}"/>
              </a:ext>
            </a:extLst>
          </p:cNvPr>
          <p:cNvSpPr txBox="1"/>
          <p:nvPr/>
        </p:nvSpPr>
        <p:spPr>
          <a:xfrm>
            <a:off x="743816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520F65-2313-418C-AF57-44C9BFF5DE3A}"/>
              </a:ext>
            </a:extLst>
          </p:cNvPr>
          <p:cNvSpPr txBox="1"/>
          <p:nvPr/>
        </p:nvSpPr>
        <p:spPr>
          <a:xfrm>
            <a:off x="-77616" y="1899570"/>
            <a:ext cx="5030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rgbClr val="FF0000"/>
                </a:solidFill>
              </a:rPr>
              <a:t>Эң чоң тилкеден баштап, эң кичине </a:t>
            </a:r>
          </a:p>
          <a:p>
            <a:pPr algn="ctr"/>
            <a:r>
              <a:rPr lang="ky-KG" dirty="0">
                <a:solidFill>
                  <a:srgbClr val="FF0000"/>
                </a:solidFill>
              </a:rPr>
              <a:t>санды тапканга чейин сандарды салыштырыңыз.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8A679F-40F3-4F0C-807C-E5124EE8F472}"/>
              </a:ext>
            </a:extLst>
          </p:cNvPr>
          <p:cNvSpPr txBox="1"/>
          <p:nvPr/>
        </p:nvSpPr>
        <p:spPr>
          <a:xfrm>
            <a:off x="1999699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2,68,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B567FE-C26B-4BC6-A565-09877E2B985A}"/>
              </a:ext>
            </a:extLst>
          </p:cNvPr>
          <p:cNvSpPr txBox="1"/>
          <p:nvPr/>
        </p:nvSpPr>
        <p:spPr>
          <a:xfrm>
            <a:off x="3222414" y="5517029"/>
            <a:ext cx="11224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2,957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B4C4A36-E831-4717-B101-11ED41D722CC}"/>
              </a:ext>
            </a:extLst>
          </p:cNvPr>
          <p:cNvSpPr txBox="1"/>
          <p:nvPr/>
        </p:nvSpPr>
        <p:spPr>
          <a:xfrm>
            <a:off x="6742178" y="27379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3,330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B52CF0-2127-4A59-BCB3-3BB124E17BB6}"/>
              </a:ext>
            </a:extLst>
          </p:cNvPr>
          <p:cNvSpPr txBox="1"/>
          <p:nvPr/>
        </p:nvSpPr>
        <p:spPr>
          <a:xfrm>
            <a:off x="6742178" y="3385943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3,316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0CA5B17-8F59-407E-9106-9138C329F50A}"/>
              </a:ext>
            </a:extLst>
          </p:cNvPr>
          <p:cNvSpPr txBox="1"/>
          <p:nvPr/>
        </p:nvSpPr>
        <p:spPr>
          <a:xfrm>
            <a:off x="6742178" y="4033969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3,310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938B13F-F7FC-4360-8D37-1BDE9E0E6FF7}"/>
              </a:ext>
            </a:extLst>
          </p:cNvPr>
          <p:cNvSpPr txBox="1"/>
          <p:nvPr/>
        </p:nvSpPr>
        <p:spPr>
          <a:xfrm>
            <a:off x="5022824" y="378903"/>
            <a:ext cx="487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Берилген ондуктарды өсүү тартибинде ирээтте.</a:t>
            </a:r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C5A49C-DF19-41D9-9706-1C66FA0D801A}"/>
              </a:ext>
            </a:extLst>
          </p:cNvPr>
          <p:cNvSpPr txBox="1"/>
          <p:nvPr/>
        </p:nvSpPr>
        <p:spPr>
          <a:xfrm>
            <a:off x="6273553" y="1230681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3,316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1975BD9-29CF-429F-88D9-CEEBA09FCBFF}"/>
              </a:ext>
            </a:extLst>
          </p:cNvPr>
          <p:cNvSpPr txBox="1"/>
          <p:nvPr/>
        </p:nvSpPr>
        <p:spPr>
          <a:xfrm>
            <a:off x="7606735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3,31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33151B9-1B63-4E97-AA5B-9DFDE00A6E6B}"/>
              </a:ext>
            </a:extLst>
          </p:cNvPr>
          <p:cNvSpPr txBox="1"/>
          <p:nvPr/>
        </p:nvSpPr>
        <p:spPr>
          <a:xfrm>
            <a:off x="5282993" y="4893036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Эң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9EF479-0087-4D54-86C5-C4F614BF07DB}"/>
              </a:ext>
            </a:extLst>
          </p:cNvPr>
          <p:cNvSpPr txBox="1"/>
          <p:nvPr/>
        </p:nvSpPr>
        <p:spPr>
          <a:xfrm>
            <a:off x="5058081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3,27,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31B965-DDD3-4C0D-947B-E74E768DF1F1}"/>
              </a:ext>
            </a:extLst>
          </p:cNvPr>
          <p:cNvSpPr txBox="1"/>
          <p:nvPr/>
        </p:nvSpPr>
        <p:spPr>
          <a:xfrm>
            <a:off x="5148761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3,33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064549B-925C-430F-BB22-84CD0DDDD55E}"/>
              </a:ext>
            </a:extLst>
          </p:cNvPr>
          <p:cNvSpPr txBox="1"/>
          <p:nvPr/>
        </p:nvSpPr>
        <p:spPr>
          <a:xfrm>
            <a:off x="5317457" y="4258059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2-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EB6C1AD-8752-426A-934C-B027A16564FA}"/>
              </a:ext>
            </a:extLst>
          </p:cNvPr>
          <p:cNvSpPr txBox="1"/>
          <p:nvPr/>
        </p:nvSpPr>
        <p:spPr>
          <a:xfrm>
            <a:off x="6161519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3,31,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D2E93BA-2486-4221-92C6-DA5B808264D9}"/>
              </a:ext>
            </a:extLst>
          </p:cNvPr>
          <p:cNvSpPr txBox="1"/>
          <p:nvPr/>
        </p:nvSpPr>
        <p:spPr>
          <a:xfrm>
            <a:off x="7317855" y="5517029"/>
            <a:ext cx="1225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3,316,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4D3528C-3E66-480F-AE89-D47742952857}"/>
              </a:ext>
            </a:extLst>
          </p:cNvPr>
          <p:cNvCxnSpPr>
            <a:cxnSpLocks/>
          </p:cNvCxnSpPr>
          <p:nvPr/>
        </p:nvCxnSpPr>
        <p:spPr>
          <a:xfrm flipH="1">
            <a:off x="6866851" y="4399259"/>
            <a:ext cx="2205432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CC92810-026C-439F-9717-E86F98087576}"/>
              </a:ext>
            </a:extLst>
          </p:cNvPr>
          <p:cNvSpPr txBox="1"/>
          <p:nvPr/>
        </p:nvSpPr>
        <p:spPr>
          <a:xfrm>
            <a:off x="8731528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3,27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2290D10-2CDB-4848-8709-DB67545C2269}"/>
              </a:ext>
            </a:extLst>
          </p:cNvPr>
          <p:cNvSpPr txBox="1"/>
          <p:nvPr/>
        </p:nvSpPr>
        <p:spPr>
          <a:xfrm>
            <a:off x="6742178" y="4681994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3,270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F08E211-5C88-48B3-A5BC-8D2048F5966E}"/>
              </a:ext>
            </a:extLst>
          </p:cNvPr>
          <p:cNvSpPr/>
          <p:nvPr/>
        </p:nvSpPr>
        <p:spPr>
          <a:xfrm>
            <a:off x="7469351" y="4701163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248562E-49BF-4027-84E7-D6A3E8378D07}"/>
              </a:ext>
            </a:extLst>
          </p:cNvPr>
          <p:cNvSpPr/>
          <p:nvPr/>
        </p:nvSpPr>
        <p:spPr>
          <a:xfrm>
            <a:off x="8528095" y="4062325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9F6F470-085F-48F8-906A-C631433C8341}"/>
              </a:ext>
            </a:extLst>
          </p:cNvPr>
          <p:cNvSpPr txBox="1"/>
          <p:nvPr/>
        </p:nvSpPr>
        <p:spPr>
          <a:xfrm>
            <a:off x="5317456" y="3556122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3-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AB77486-4A5D-4D15-8419-3D81F1CCBEF8}"/>
              </a:ext>
            </a:extLst>
          </p:cNvPr>
          <p:cNvCxnSpPr>
            <a:cxnSpLocks/>
          </p:cNvCxnSpPr>
          <p:nvPr/>
        </p:nvCxnSpPr>
        <p:spPr>
          <a:xfrm flipH="1">
            <a:off x="6795133" y="3751110"/>
            <a:ext cx="2205432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E1FB5798-4C96-4DCD-AC6C-36E95B58FD51}"/>
              </a:ext>
            </a:extLst>
          </p:cNvPr>
          <p:cNvSpPr/>
          <p:nvPr/>
        </p:nvSpPr>
        <p:spPr>
          <a:xfrm>
            <a:off x="8026071" y="3360388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4C71272-9420-4B80-BCEC-C3107BCE55D9}"/>
              </a:ext>
            </a:extLst>
          </p:cNvPr>
          <p:cNvSpPr txBox="1"/>
          <p:nvPr/>
        </p:nvSpPr>
        <p:spPr>
          <a:xfrm>
            <a:off x="8733876" y="5517029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3,33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56B4523-AF45-4553-89C9-857E56D8BB54}"/>
              </a:ext>
            </a:extLst>
          </p:cNvPr>
          <p:cNvCxnSpPr>
            <a:cxnSpLocks/>
          </p:cNvCxnSpPr>
          <p:nvPr/>
        </p:nvCxnSpPr>
        <p:spPr>
          <a:xfrm flipH="1">
            <a:off x="6851164" y="5029549"/>
            <a:ext cx="2391448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5EC39D9-0BC9-4164-A256-DAFB41AF681B}"/>
              </a:ext>
            </a:extLst>
          </p:cNvPr>
          <p:cNvCxnSpPr>
            <a:cxnSpLocks/>
          </p:cNvCxnSpPr>
          <p:nvPr/>
        </p:nvCxnSpPr>
        <p:spPr>
          <a:xfrm>
            <a:off x="2457256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23842792-FA9E-46D0-967D-9BFE1F413D61}"/>
              </a:ext>
            </a:extLst>
          </p:cNvPr>
          <p:cNvCxnSpPr>
            <a:cxnSpLocks/>
          </p:cNvCxnSpPr>
          <p:nvPr/>
        </p:nvCxnSpPr>
        <p:spPr>
          <a:xfrm>
            <a:off x="3159760" y="2905213"/>
            <a:ext cx="0" cy="182426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D5473BD-E312-45D0-86C9-0845871367D1}"/>
              </a:ext>
            </a:extLst>
          </p:cNvPr>
          <p:cNvCxnSpPr>
            <a:cxnSpLocks/>
          </p:cNvCxnSpPr>
          <p:nvPr/>
        </p:nvCxnSpPr>
        <p:spPr>
          <a:xfrm>
            <a:off x="3678507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47D07950-7FEC-4A91-9B38-78C01C043826}"/>
              </a:ext>
            </a:extLst>
          </p:cNvPr>
          <p:cNvSpPr txBox="1"/>
          <p:nvPr/>
        </p:nvSpPr>
        <p:spPr>
          <a:xfrm>
            <a:off x="1792109" y="27379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2,680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F8771B2-639C-4FFC-8CDF-9A9A25BF05E6}"/>
              </a:ext>
            </a:extLst>
          </p:cNvPr>
          <p:cNvSpPr txBox="1"/>
          <p:nvPr/>
        </p:nvSpPr>
        <p:spPr>
          <a:xfrm>
            <a:off x="1792109" y="34110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2,957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4BBD85A-5ED3-442F-B449-21C28EFBC18F}"/>
              </a:ext>
            </a:extLst>
          </p:cNvPr>
          <p:cNvSpPr txBox="1"/>
          <p:nvPr/>
        </p:nvSpPr>
        <p:spPr>
          <a:xfrm>
            <a:off x="1792109" y="40841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2,620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94025DB3-8218-4DA4-B83D-63FAC2608E70}"/>
              </a:ext>
            </a:extLst>
          </p:cNvPr>
          <p:cNvSpPr/>
          <p:nvPr/>
        </p:nvSpPr>
        <p:spPr>
          <a:xfrm>
            <a:off x="3055612" y="4105183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6142C1E-336A-4B21-AC42-E909E2853067}"/>
              </a:ext>
            </a:extLst>
          </p:cNvPr>
          <p:cNvSpPr txBox="1"/>
          <p:nvPr/>
        </p:nvSpPr>
        <p:spPr>
          <a:xfrm>
            <a:off x="332924" y="4297056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Эң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B04F7F37-6DAA-47B9-BB36-B1984374A166}"/>
              </a:ext>
            </a:extLst>
          </p:cNvPr>
          <p:cNvSpPr/>
          <p:nvPr/>
        </p:nvSpPr>
        <p:spPr>
          <a:xfrm>
            <a:off x="2522086" y="2771062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CFDBECA-2D6F-4B7D-8DC0-977E0F197DC6}"/>
              </a:ext>
            </a:extLst>
          </p:cNvPr>
          <p:cNvSpPr txBox="1"/>
          <p:nvPr/>
        </p:nvSpPr>
        <p:spPr>
          <a:xfrm>
            <a:off x="367388" y="2966796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2-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8AD3E25-A6C1-49E2-B6EC-67CBA1A65129}"/>
              </a:ext>
            </a:extLst>
          </p:cNvPr>
          <p:cNvCxnSpPr>
            <a:cxnSpLocks/>
          </p:cNvCxnSpPr>
          <p:nvPr/>
        </p:nvCxnSpPr>
        <p:spPr>
          <a:xfrm flipH="1">
            <a:off x="1821446" y="3134719"/>
            <a:ext cx="1809260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B5B506C-22FA-4997-8723-8FA73B0CE0DC}"/>
              </a:ext>
            </a:extLst>
          </p:cNvPr>
          <p:cNvCxnSpPr>
            <a:cxnSpLocks/>
          </p:cNvCxnSpPr>
          <p:nvPr/>
        </p:nvCxnSpPr>
        <p:spPr>
          <a:xfrm flipH="1">
            <a:off x="1840582" y="4469427"/>
            <a:ext cx="1809260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4EC6D78-A511-CC1B-556B-1CFC9CC7A6D6}"/>
              </a:ext>
            </a:extLst>
          </p:cNvPr>
          <p:cNvSpPr txBox="1"/>
          <p:nvPr/>
        </p:nvSpPr>
        <p:spPr>
          <a:xfrm>
            <a:off x="-100897" y="-30715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spc="300" dirty="0">
                <a:latin typeface="Stencil" panose="040409050D0802020404" pitchFamily="82" charset="0"/>
              </a:rPr>
              <a:t>САБАК</a:t>
            </a:r>
            <a:endParaRPr lang="en-GB" b="1" spc="300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31DF40-A7D2-B627-8422-58EFF600D7F6}"/>
              </a:ext>
            </a:extLst>
          </p:cNvPr>
          <p:cNvSpPr txBox="1"/>
          <p:nvPr/>
        </p:nvSpPr>
        <p:spPr>
          <a:xfrm>
            <a:off x="7960973" y="9571"/>
            <a:ext cx="1684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Stencil" panose="040409050D0802020404" pitchFamily="82" charset="0"/>
              </a:rPr>
              <a:t>Кезек СЕНДЕ!</a:t>
            </a:r>
            <a:endParaRPr lang="en-GB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044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6" grpId="0"/>
      <p:bldP spid="57" grpId="0"/>
      <p:bldP spid="60" grpId="0"/>
      <p:bldP spid="62" grpId="0"/>
      <p:bldP spid="63" grpId="0"/>
      <p:bldP spid="52" grpId="0"/>
      <p:bldP spid="55" grpId="0" animBg="1"/>
      <p:bldP spid="59" grpId="0" animBg="1"/>
      <p:bldP spid="61" grpId="0"/>
      <p:bldP spid="67" grpId="0" animBg="1"/>
      <p:bldP spid="6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661147" y="0"/>
            <a:ext cx="2583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Ондуктарды Ирээттөө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72755" y="378903"/>
            <a:ext cx="487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Берилген ондуктарды өсүү тартибинде ирээтте.</a:t>
            </a:r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8441758" y="-30715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Stencil" panose="040409050D0802020404" pitchFamily="82" charset="0"/>
              </a:rPr>
              <a:t>YOUR TURN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21A334-6CB9-46CD-BB9D-DDDC49030548}"/>
              </a:ext>
            </a:extLst>
          </p:cNvPr>
          <p:cNvSpPr txBox="1"/>
          <p:nvPr/>
        </p:nvSpPr>
        <p:spPr>
          <a:xfrm>
            <a:off x="2620499" y="642671"/>
            <a:ext cx="1133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increasing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8E82BA-E068-46DA-8C13-D69CF52E76AE}"/>
              </a:ext>
            </a:extLst>
          </p:cNvPr>
          <p:cNvSpPr txBox="1"/>
          <p:nvPr/>
        </p:nvSpPr>
        <p:spPr>
          <a:xfrm>
            <a:off x="1819940" y="1230681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2,957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CD74E9-BDCF-4674-849F-671FFE0D4786}"/>
              </a:ext>
            </a:extLst>
          </p:cNvPr>
          <p:cNvSpPr txBox="1"/>
          <p:nvPr/>
        </p:nvSpPr>
        <p:spPr>
          <a:xfrm>
            <a:off x="3104453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FAD8A3-E3C4-43D4-8FA5-FCEF389050F9}"/>
              </a:ext>
            </a:extLst>
          </p:cNvPr>
          <p:cNvSpPr txBox="1"/>
          <p:nvPr/>
        </p:nvSpPr>
        <p:spPr>
          <a:xfrm>
            <a:off x="672789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2,62,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F39E50-5D2B-49CF-B5DC-44FD4499989F}"/>
              </a:ext>
            </a:extLst>
          </p:cNvPr>
          <p:cNvSpPr txBox="1"/>
          <p:nvPr/>
        </p:nvSpPr>
        <p:spPr>
          <a:xfrm>
            <a:off x="743816" y="12306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520F65-2313-418C-AF57-44C9BFF5DE3A}"/>
              </a:ext>
            </a:extLst>
          </p:cNvPr>
          <p:cNvSpPr txBox="1"/>
          <p:nvPr/>
        </p:nvSpPr>
        <p:spPr>
          <a:xfrm>
            <a:off x="-77616" y="1899570"/>
            <a:ext cx="5030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>
                <a:solidFill>
                  <a:srgbClr val="FF0000"/>
                </a:solidFill>
              </a:rPr>
              <a:t>Эң чоң тилкеден баштап, эң кичине </a:t>
            </a:r>
          </a:p>
          <a:p>
            <a:pPr algn="ctr"/>
            <a:r>
              <a:rPr lang="ky-KG" dirty="0">
                <a:solidFill>
                  <a:srgbClr val="FF0000"/>
                </a:solidFill>
              </a:rPr>
              <a:t>санды тапканга чейин сандарды салыштырыңыз.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8A679F-40F3-4F0C-807C-E5124EE8F472}"/>
              </a:ext>
            </a:extLst>
          </p:cNvPr>
          <p:cNvSpPr txBox="1"/>
          <p:nvPr/>
        </p:nvSpPr>
        <p:spPr>
          <a:xfrm>
            <a:off x="1999699" y="5517029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2,68,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B567FE-C26B-4BC6-A565-09877E2B985A}"/>
              </a:ext>
            </a:extLst>
          </p:cNvPr>
          <p:cNvSpPr txBox="1"/>
          <p:nvPr/>
        </p:nvSpPr>
        <p:spPr>
          <a:xfrm>
            <a:off x="3222414" y="5517029"/>
            <a:ext cx="11224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2,957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3F35EE1-5680-47BD-8E0F-E71F9C4971EE}"/>
              </a:ext>
            </a:extLst>
          </p:cNvPr>
          <p:cNvCxnSpPr>
            <a:cxnSpLocks/>
          </p:cNvCxnSpPr>
          <p:nvPr/>
        </p:nvCxnSpPr>
        <p:spPr>
          <a:xfrm>
            <a:off x="2457256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17D3158B-7A28-4929-9EF0-9490F3EDD85A}"/>
              </a:ext>
            </a:extLst>
          </p:cNvPr>
          <p:cNvCxnSpPr>
            <a:cxnSpLocks/>
          </p:cNvCxnSpPr>
          <p:nvPr/>
        </p:nvCxnSpPr>
        <p:spPr>
          <a:xfrm>
            <a:off x="3159760" y="2905213"/>
            <a:ext cx="0" cy="182426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CF4DB29-1E70-463C-B604-D8E050530DA6}"/>
              </a:ext>
            </a:extLst>
          </p:cNvPr>
          <p:cNvCxnSpPr>
            <a:cxnSpLocks/>
          </p:cNvCxnSpPr>
          <p:nvPr/>
        </p:nvCxnSpPr>
        <p:spPr>
          <a:xfrm>
            <a:off x="3678507" y="2905213"/>
            <a:ext cx="0" cy="1819187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32937D9D-06E6-4B9D-9EFE-7FF65FAFC733}"/>
              </a:ext>
            </a:extLst>
          </p:cNvPr>
          <p:cNvSpPr txBox="1"/>
          <p:nvPr/>
        </p:nvSpPr>
        <p:spPr>
          <a:xfrm>
            <a:off x="1792109" y="27379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2,680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9FD752F-3732-4225-AA2B-2AE6A7D1ABF7}"/>
              </a:ext>
            </a:extLst>
          </p:cNvPr>
          <p:cNvSpPr txBox="1"/>
          <p:nvPr/>
        </p:nvSpPr>
        <p:spPr>
          <a:xfrm>
            <a:off x="1792109" y="34110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2,957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2B39560-A930-4716-B0C4-2FC56DD9BC89}"/>
              </a:ext>
            </a:extLst>
          </p:cNvPr>
          <p:cNvSpPr txBox="1"/>
          <p:nvPr/>
        </p:nvSpPr>
        <p:spPr>
          <a:xfrm>
            <a:off x="1792109" y="4084117"/>
            <a:ext cx="2635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kern="1700" spc="2000" dirty="0"/>
              <a:t>2,620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8BBDF6D2-D49E-4BCC-8F08-7603E77CD864}"/>
              </a:ext>
            </a:extLst>
          </p:cNvPr>
          <p:cNvSpPr/>
          <p:nvPr/>
        </p:nvSpPr>
        <p:spPr>
          <a:xfrm>
            <a:off x="3055612" y="4105183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0C6A2EB-0C61-4DFA-B9C6-6CA3AD071810}"/>
              </a:ext>
            </a:extLst>
          </p:cNvPr>
          <p:cNvSpPr txBox="1"/>
          <p:nvPr/>
        </p:nvSpPr>
        <p:spPr>
          <a:xfrm>
            <a:off x="332924" y="4297056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Эң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94B011C2-4EC1-4D09-A8C2-5C85F3A0953E}"/>
              </a:ext>
            </a:extLst>
          </p:cNvPr>
          <p:cNvSpPr/>
          <p:nvPr/>
        </p:nvSpPr>
        <p:spPr>
          <a:xfrm>
            <a:off x="2522086" y="2771062"/>
            <a:ext cx="720000" cy="72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5A4A652-AF12-48B4-B816-A33913F7A704}"/>
              </a:ext>
            </a:extLst>
          </p:cNvPr>
          <p:cNvSpPr txBox="1"/>
          <p:nvPr/>
        </p:nvSpPr>
        <p:spPr>
          <a:xfrm>
            <a:off x="367388" y="2966796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dirty="0">
                <a:solidFill>
                  <a:srgbClr val="FF0000"/>
                </a:solidFill>
              </a:rPr>
              <a:t>2- төмөн</a:t>
            </a:r>
            <a:endParaRPr lang="en-GB" b="1" dirty="0">
              <a:solidFill>
                <a:srgbClr val="FF0000"/>
              </a:solidFill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8C45F1F5-54AE-4818-B30D-CA86AB7CCA2C}"/>
              </a:ext>
            </a:extLst>
          </p:cNvPr>
          <p:cNvCxnSpPr>
            <a:cxnSpLocks/>
          </p:cNvCxnSpPr>
          <p:nvPr/>
        </p:nvCxnSpPr>
        <p:spPr>
          <a:xfrm flipH="1">
            <a:off x="1821446" y="3134719"/>
            <a:ext cx="1809260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2BE029A-F433-4E1A-BE1B-5A09BBEF0651}"/>
              </a:ext>
            </a:extLst>
          </p:cNvPr>
          <p:cNvCxnSpPr>
            <a:cxnSpLocks/>
          </p:cNvCxnSpPr>
          <p:nvPr/>
        </p:nvCxnSpPr>
        <p:spPr>
          <a:xfrm flipH="1">
            <a:off x="1840582" y="4469427"/>
            <a:ext cx="1809260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884F0FAC-E936-459A-AFEF-1F29121B64F9}"/>
              </a:ext>
            </a:extLst>
          </p:cNvPr>
          <p:cNvSpPr txBox="1"/>
          <p:nvPr/>
        </p:nvSpPr>
        <p:spPr>
          <a:xfrm>
            <a:off x="5022826" y="378903"/>
            <a:ext cx="487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Берилген ондуктарды өсүү тартибинде ирээтте.</a:t>
            </a:r>
            <a:endParaRPr lang="en-GB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BCCD13F-49DA-4494-8331-0514D04384C6}"/>
              </a:ext>
            </a:extLst>
          </p:cNvPr>
          <p:cNvSpPr txBox="1"/>
          <p:nvPr/>
        </p:nvSpPr>
        <p:spPr>
          <a:xfrm>
            <a:off x="5063028" y="918164"/>
            <a:ext cx="34515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а</a:t>
            </a:r>
            <a:r>
              <a:rPr lang="en-GB" sz="2800" dirty="0"/>
              <a:t>)   4,62, 4,51, 4,64</a:t>
            </a:r>
          </a:p>
          <a:p>
            <a:r>
              <a:rPr lang="en-GB" sz="2800" dirty="0"/>
              <a:t>		4,51, 4,62, 4,64 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1704A3A-9E41-4A08-8D6F-82AD9E641056}"/>
              </a:ext>
            </a:extLst>
          </p:cNvPr>
          <p:cNvSpPr txBox="1"/>
          <p:nvPr/>
        </p:nvSpPr>
        <p:spPr>
          <a:xfrm>
            <a:off x="5063028" y="2168229"/>
            <a:ext cx="335380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</a:t>
            </a:r>
            <a:r>
              <a:rPr lang="en-GB" sz="2800" dirty="0"/>
              <a:t>)   6,3, 6,29, 6,28</a:t>
            </a:r>
          </a:p>
          <a:p>
            <a:r>
              <a:rPr lang="en-GB" sz="2800" dirty="0"/>
              <a:t>		6,28, 6,29, 6,3 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0B92E53-7C40-4450-9BB5-70B123E0EE39}"/>
              </a:ext>
            </a:extLst>
          </p:cNvPr>
          <p:cNvSpPr txBox="1"/>
          <p:nvPr/>
        </p:nvSpPr>
        <p:spPr>
          <a:xfrm>
            <a:off x="5063028" y="3371996"/>
            <a:ext cx="42627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в</a:t>
            </a:r>
            <a:r>
              <a:rPr lang="en-GB" sz="2800" dirty="0"/>
              <a:t>)   4,701, 4,07, 4,78, 4,7</a:t>
            </a:r>
          </a:p>
          <a:p>
            <a:r>
              <a:rPr lang="en-GB" sz="2800" dirty="0"/>
              <a:t>		4,07, 4,7, 4,701, 4,78 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F2D0856-4A17-40E4-A3BB-8D694E64194E}"/>
              </a:ext>
            </a:extLst>
          </p:cNvPr>
          <p:cNvSpPr txBox="1"/>
          <p:nvPr/>
        </p:nvSpPr>
        <p:spPr>
          <a:xfrm>
            <a:off x="5063028" y="4575763"/>
            <a:ext cx="471315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г</a:t>
            </a:r>
            <a:r>
              <a:rPr lang="en-GB" sz="2800" dirty="0"/>
              <a:t>)   1,56, 1,605, 1,65, 1,556</a:t>
            </a:r>
          </a:p>
          <a:p>
            <a:r>
              <a:rPr lang="en-GB" sz="2800" dirty="0"/>
              <a:t>		1,556, 1,56, 1,605, 1,65 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AA554D4-38FE-4158-B374-039A610F49DE}"/>
              </a:ext>
            </a:extLst>
          </p:cNvPr>
          <p:cNvSpPr txBox="1"/>
          <p:nvPr/>
        </p:nvSpPr>
        <p:spPr>
          <a:xfrm>
            <a:off x="5063028" y="5721656"/>
            <a:ext cx="481093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д</a:t>
            </a:r>
            <a:r>
              <a:rPr lang="en-GB" sz="2800" dirty="0"/>
              <a:t>)   1,305, 1,503, 1,035, 1,35</a:t>
            </a:r>
          </a:p>
          <a:p>
            <a:r>
              <a:rPr lang="en-GB" sz="2800" dirty="0"/>
              <a:t>		1,035, 1,305, 1,35, 1,503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C29F5B-2339-F747-82C5-41DBE5B6FF05}"/>
              </a:ext>
            </a:extLst>
          </p:cNvPr>
          <p:cNvSpPr/>
          <p:nvPr/>
        </p:nvSpPr>
        <p:spPr>
          <a:xfrm>
            <a:off x="5985162" y="1394333"/>
            <a:ext cx="2452255" cy="45109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83DD2E-1601-A698-F5F4-6B5FD191A33C}"/>
              </a:ext>
            </a:extLst>
          </p:cNvPr>
          <p:cNvSpPr/>
          <p:nvPr/>
        </p:nvSpPr>
        <p:spPr>
          <a:xfrm>
            <a:off x="5985162" y="2641242"/>
            <a:ext cx="2452255" cy="45109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AD9F90-F5C8-913A-BBCE-EF85F459428A}"/>
              </a:ext>
            </a:extLst>
          </p:cNvPr>
          <p:cNvSpPr/>
          <p:nvPr/>
        </p:nvSpPr>
        <p:spPr>
          <a:xfrm>
            <a:off x="5985162" y="3854900"/>
            <a:ext cx="3158838" cy="45109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675228-D1F5-5C9C-4314-A06BC2CF5F4F}"/>
              </a:ext>
            </a:extLst>
          </p:cNvPr>
          <p:cNvSpPr/>
          <p:nvPr/>
        </p:nvSpPr>
        <p:spPr>
          <a:xfrm>
            <a:off x="5985161" y="5035307"/>
            <a:ext cx="3532911" cy="45109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B66004-E1BF-EA71-B90C-C795E1156E97}"/>
              </a:ext>
            </a:extLst>
          </p:cNvPr>
          <p:cNvSpPr/>
          <p:nvPr/>
        </p:nvSpPr>
        <p:spPr>
          <a:xfrm>
            <a:off x="5985161" y="6199089"/>
            <a:ext cx="3773981" cy="45109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1A02FD-BBEE-BB9C-0766-CE2E0DBDFA57}"/>
              </a:ext>
            </a:extLst>
          </p:cNvPr>
          <p:cNvSpPr txBox="1"/>
          <p:nvPr/>
        </p:nvSpPr>
        <p:spPr>
          <a:xfrm>
            <a:off x="-100897" y="-30715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spc="300" dirty="0">
                <a:latin typeface="Stencil" panose="040409050D0802020404" pitchFamily="82" charset="0"/>
              </a:rPr>
              <a:t>САБАК</a:t>
            </a:r>
            <a:endParaRPr lang="en-GB" b="1" spc="300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251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807544"/>
            <a:ext cx="8543925" cy="540021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1905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10638</TotalTime>
  <Words>1075</Words>
  <Application>Microsoft Office PowerPoint</Application>
  <PresentationFormat>A4 Paper (210x297 mm)</PresentationFormat>
  <Paragraphs>446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Cambria Math</vt:lpstr>
      <vt:lpstr>Calibri Light</vt:lpstr>
      <vt:lpstr>Arial</vt:lpstr>
      <vt:lpstr>Stencil</vt:lpstr>
      <vt:lpstr>Calibri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496</cp:revision>
  <cp:lastPrinted>2017-12-31T22:38:51Z</cp:lastPrinted>
  <dcterms:created xsi:type="dcterms:W3CDTF">2017-01-17T16:57:04Z</dcterms:created>
  <dcterms:modified xsi:type="dcterms:W3CDTF">2024-09-19T03:41:22Z</dcterms:modified>
</cp:coreProperties>
</file>