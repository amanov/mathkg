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2200000"/>
            <a:ext cx="8706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Белгисиз бир жагында турган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теңдемелер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3900000"/>
            <a:ext cx="8706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FD6E8"/>
                </a:solidFill>
                <a:latin typeface="Arial"/>
              </a:rPr>
              <a:t>1-кадамдуу теңдемелер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8000"/>
            <a:ext cx="870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6EFD"/>
                </a:solidFill>
                <a:latin typeface="Arial"/>
              </a:rPr>
              <a:t>MathKGZ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Бул сабакта эмнени үйрөнөсүң?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x + a = b,  x − a = b,  a·x = b,  x : a = b түрүндөгү теңдемелерди чыгаруу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Теңдеме — таразага окшош: эки жагы ар дайым тең салмакта болушу керек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Белгисизди (x) жалгыз калтыруу үчүн, эки жагынан тең бир эле амалды аткаруу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Теңдеме — тараза</a:t>
            </a:r>
          </a:p>
        </p:txBody>
      </p:sp>
      <p:sp>
        <p:nvSpPr>
          <p:cNvPr id="3" name="Freeform 2"/>
          <p:cNvSpPr/>
          <p:nvPr/>
        </p:nvSpPr>
        <p:spPr>
          <a:xfrm>
            <a:off x="4823000" y="21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060000"/>
            <a:ext cx="9146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5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Freeform 7"/>
          <p:cNvSpPr/>
          <p:nvPr/>
        </p:nvSpPr>
        <p:spPr>
          <a:xfrm>
            <a:off x="8676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16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4380000"/>
            <a:ext cx="954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Эки жак тең салмакта — демек, алар бирдей: x + 3 =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Тең салмакты сактоо үчүн эки жагынан бирдей санды кемитебиз</a:t>
            </a:r>
          </a:p>
        </p:txBody>
      </p:sp>
      <p:sp>
        <p:nvSpPr>
          <p:cNvPr id="3" name="Freeform 2"/>
          <p:cNvSpPr/>
          <p:nvPr/>
        </p:nvSpPr>
        <p:spPr>
          <a:xfrm>
            <a:off x="4823000" y="21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060000"/>
            <a:ext cx="9146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0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Freeform 6"/>
          <p:cNvSpPr/>
          <p:nvPr/>
        </p:nvSpPr>
        <p:spPr>
          <a:xfrm>
            <a:off x="8676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16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4380000"/>
            <a:ext cx="954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Эки жагынан тең 3төн алып салсак, тең салмак сакталат: x =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Эми ушул эле кадамдарды сандар менен жазабыз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400000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+ 3 =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2466666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+ 3 − 3 = 8 − 3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106665"/>
            <a:ext cx="9546000" cy="405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жагынан тең 3төн кемитебиз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3533332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2-мисал:  x − 4 = 9</a:t>
            </a:r>
          </a:p>
        </p:txBody>
      </p:sp>
      <p:sp>
        <p:nvSpPr>
          <p:cNvPr id="3" name="Freeform 2"/>
          <p:cNvSpPr/>
          <p:nvPr/>
        </p:nvSpPr>
        <p:spPr>
          <a:xfrm>
            <a:off x="2386500" y="22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160000"/>
            <a:ext cx="4273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1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0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Freeform 6"/>
          <p:cNvSpPr/>
          <p:nvPr/>
        </p:nvSpPr>
        <p:spPr>
          <a:xfrm>
            <a:off x="3803000" y="21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8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5938000"/>
            <a:ext cx="46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x − 4 = 9  (тараза эки жагынан 4 кем турат)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− 4 =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− 4 + 4 = 9 + 4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жагына тең 4төн кошобуз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3-мисал:  3x =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380000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4" name="Rectangle 3"/>
          <p:cNvSpPr/>
          <p:nvPr/>
        </p:nvSpPr>
        <p:spPr>
          <a:xfrm>
            <a:off x="1804333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3228666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6" name="Rectangle 5"/>
          <p:cNvSpPr/>
          <p:nvPr/>
        </p:nvSpPr>
        <p:spPr>
          <a:xfrm>
            <a:off x="380000" y="1600000"/>
            <a:ext cx="4273000" cy="700000"/>
          </a:xfrm>
          <a:prstGeom prst="rect">
            <a:avLst/>
          </a:prstGeom>
          <a:noFill/>
          <a:ln w="3175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000" y="2360000"/>
            <a:ext cx="42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3C58"/>
                </a:solidFill>
                <a:latin typeface="Arial"/>
              </a:rPr>
              <a:t>бардыгы =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5978000"/>
            <a:ext cx="4673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3 барабар бөлүк кошулса, 12 болот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3x =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3x ÷ 3 = 12 ÷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 тең 3кө бөлөбүз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4-мисал:  x : 2 = 6</a:t>
            </a:r>
          </a:p>
        </p:txBody>
      </p:sp>
      <p:sp>
        <p:nvSpPr>
          <p:cNvPr id="3" name="Rectangle 2"/>
          <p:cNvSpPr/>
          <p:nvPr/>
        </p:nvSpPr>
        <p:spPr>
          <a:xfrm>
            <a:off x="380000" y="1600000"/>
            <a:ext cx="2136500" cy="700000"/>
          </a:xfrm>
          <a:prstGeom prst="rect">
            <a:avLst/>
          </a:prstGeom>
          <a:solidFill>
            <a:srgbClr val="94A3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6500" y="1600000"/>
            <a:ext cx="2136500" cy="700000"/>
          </a:xfrm>
          <a:prstGeom prst="rect">
            <a:avLst/>
          </a:prstGeom>
          <a:solidFill>
            <a:srgbClr val="94A3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0000" y="1600000"/>
            <a:ext cx="4273000" cy="700000"/>
          </a:xfrm>
          <a:prstGeom prst="rect">
            <a:avLst/>
          </a:prstGeom>
          <a:noFill/>
          <a:ln w="3175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0000" y="2360000"/>
            <a:ext cx="42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3C58"/>
                </a:solidFill>
                <a:latin typeface="Arial"/>
              </a:rPr>
              <a:t>бардыгы =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" y="5978000"/>
            <a:ext cx="4673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x экиге бөлүнгөндө, ар бир бөлүк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: 2 =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: 2 × 2 = 6 ×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 тең 2ге көбөйтөбүз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Эрежени тапкыла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+ кошулса  →  эки жагынан кемитебиз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− алынса  →  эки жагына кошобуз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· көбөйтүлсө  →  эки жагын бөлөбүз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: бөлүнсө  →  эки жагын көбөйтөбүз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360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6EFD"/>
                </a:solidFill>
                <a:latin typeface="Arial"/>
              </a:rPr>
              <a:t>Эреже: белгисизди жалгыз калтыруу үчүн, экинчи жагындагы амалдын карама-каршысын эки жагына тең аткар.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Көнүгүү — өзүңүз чыгарыңыз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+ 7 = 15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− 9 = 6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5x = 35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: 4 = 9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+ 12 = 20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2x =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Жооптор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+ 7 = 15  →  x = 8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− 9 = 6  →  x = 15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5x = 35  →  x = 7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: 4 = 9  →  x = 36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+ 12 = 20  →  x = 8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2x = 18  →  x =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2000000"/>
            <a:ext cx="870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D6EFD"/>
                </a:solidFill>
                <a:latin typeface="Arial"/>
              </a:rPr>
              <a:t>Эстен чыгарба!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600000"/>
            <a:ext cx="8706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Теңдеме — тараза: эки жагы дайым тең.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Белгисизди (x) жалгыз калтыруу үчүн,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экинчи жагындагы амалдын карама-каршысын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эки жагына тең аткар.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