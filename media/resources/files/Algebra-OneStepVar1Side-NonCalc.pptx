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0F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200000"/>
            <a:ext cx="8706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Белгисиз бир жагында турган</a:t>
            </a:r>
          </a:p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теңдемелер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3900000"/>
            <a:ext cx="8706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FD6E8"/>
                </a:solidFill>
                <a:latin typeface="Arial"/>
              </a:rPr>
              <a:t>1-кадамдуу теңдемелер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6158000"/>
            <a:ext cx="870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6EFD"/>
                </a:solidFill>
                <a:latin typeface="Arial"/>
              </a:rPr>
              <a:t>MathKGZ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260000"/>
            <a:ext cx="954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3C58"/>
                </a:solidFill>
                <a:latin typeface="Arial"/>
              </a:rPr>
              <a:t>Бул сабакта эмнени үйрөнөсүң?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300000"/>
            <a:ext cx="9546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0F3C58"/>
                </a:solidFill>
                <a:latin typeface="Arial"/>
              </a:rPr>
              <a:t>•  x + a = b,  x − a = b,  a·x = b,  x : a = b түрүндөгү теңдемелерди чечүү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0F3C58"/>
                </a:solidFill>
                <a:latin typeface="Arial"/>
              </a:rPr>
              <a:t>•  Теңдеме — таразага окшош: эки жагы ар дайым тең салмакта болушу керек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0F3C58"/>
                </a:solidFill>
                <a:latin typeface="Arial"/>
              </a:rPr>
              <a:t>•  Белгисизди (x) жалгыз калтыруу үчүн, эки жагынан тең бир эле амалды аткаруу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260000"/>
            <a:ext cx="954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3C58"/>
                </a:solidFill>
                <a:latin typeface="Arial"/>
              </a:rPr>
              <a:t>Теңдеме — тараза</a:t>
            </a:r>
          </a:p>
        </p:txBody>
      </p:sp>
      <p:sp>
        <p:nvSpPr>
          <p:cNvPr id="3" name="Freeform 2"/>
          <p:cNvSpPr/>
          <p:nvPr/>
        </p:nvSpPr>
        <p:spPr>
          <a:xfrm>
            <a:off x="4823000" y="2100000"/>
            <a:ext cx="260000" cy="500000"/>
          </a:xfrm>
          <a:custGeom>
            <a:avLst/>
            <a:gdLst/>
            <a:ahLst/>
            <a:cxnLst/>
            <a:rect l="l" t="t" r="r" b="b"/>
            <a:pathLst>
              <a:path w="260000" h="500000">
                <a:moveTo>
                  <a:pt x="0" y="500000"/>
                </a:moveTo>
                <a:lnTo>
                  <a:pt x="260000" y="500000"/>
                </a:lnTo>
                <a:lnTo>
                  <a:pt x="130000" y="0"/>
                </a:lnTo>
                <a:lnTo>
                  <a:pt x="0" y="500000"/>
                </a:lnTo>
                <a:close/>
              </a:path>
            </a:pathLst>
          </a:custGeom>
          <a:solidFill>
            <a:srgbClr val="0F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0000" y="2060000"/>
            <a:ext cx="9146000" cy="40000"/>
          </a:xfrm>
          <a:prstGeom prst="roundRect">
            <a:avLst>
              <a:gd name="adj" fmla="val 50000"/>
            </a:avLst>
          </a:prstGeom>
          <a:solidFill>
            <a:srgbClr val="0F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30000" y="2000000"/>
            <a:ext cx="1100000" cy="260000"/>
          </a:xfrm>
          <a:custGeom>
            <a:avLst/>
            <a:gdLst/>
            <a:ahLst/>
            <a:cxnLst/>
            <a:rect l="l" t="t" r="r" b="b"/>
            <a:pathLst>
              <a:path w="1100000" h="260000">
                <a:moveTo>
                  <a:pt x="0" y="0"/>
                </a:moveTo>
                <a:lnTo>
                  <a:pt x="1100000" y="0"/>
                </a:lnTo>
                <a:lnTo>
                  <a:pt x="1020000" y="260000"/>
                </a:lnTo>
                <a:lnTo>
                  <a:pt x="80000" y="260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5000" y="1720000"/>
            <a:ext cx="220000" cy="220000"/>
          </a:xfrm>
          <a:prstGeom prst="roundRect">
            <a:avLst>
              <a:gd name="adj" fmla="val 15000"/>
            </a:avLst>
          </a:prstGeom>
          <a:solidFill>
            <a:srgbClr val="0D6EFD"/>
          </a:solidFill>
          <a:ln w="1270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5000" y="1720000"/>
            <a:ext cx="220000" cy="22000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 w="1270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Freeform 7"/>
          <p:cNvSpPr/>
          <p:nvPr/>
        </p:nvSpPr>
        <p:spPr>
          <a:xfrm>
            <a:off x="8676000" y="2000000"/>
            <a:ext cx="1100000" cy="260000"/>
          </a:xfrm>
          <a:custGeom>
            <a:avLst/>
            <a:gdLst/>
            <a:ahLst/>
            <a:cxnLst/>
            <a:rect l="l" t="t" r="r" b="b"/>
            <a:pathLst>
              <a:path w="1100000" h="260000">
                <a:moveTo>
                  <a:pt x="0" y="0"/>
                </a:moveTo>
                <a:lnTo>
                  <a:pt x="1100000" y="0"/>
                </a:lnTo>
                <a:lnTo>
                  <a:pt x="1020000" y="260000"/>
                </a:lnTo>
                <a:lnTo>
                  <a:pt x="80000" y="260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16000" y="1720000"/>
            <a:ext cx="220000" cy="22000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 w="1270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4380000"/>
            <a:ext cx="954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rial"/>
              </a:rPr>
              <a:t>Эки жак тең салмакта — демек, алар бирдей: x + 3 =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260000"/>
            <a:ext cx="954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3C58"/>
                </a:solidFill>
                <a:latin typeface="Arial"/>
              </a:rPr>
              <a:t>Тең салмакты сактоо үчүн эки жагынан бирдей санды кемитебиз</a:t>
            </a:r>
          </a:p>
        </p:txBody>
      </p:sp>
      <p:sp>
        <p:nvSpPr>
          <p:cNvPr id="3" name="Freeform 2"/>
          <p:cNvSpPr/>
          <p:nvPr/>
        </p:nvSpPr>
        <p:spPr>
          <a:xfrm>
            <a:off x="4823000" y="2100000"/>
            <a:ext cx="260000" cy="500000"/>
          </a:xfrm>
          <a:custGeom>
            <a:avLst/>
            <a:gdLst/>
            <a:ahLst/>
            <a:cxnLst/>
            <a:rect l="l" t="t" r="r" b="b"/>
            <a:pathLst>
              <a:path w="260000" h="500000">
                <a:moveTo>
                  <a:pt x="0" y="500000"/>
                </a:moveTo>
                <a:lnTo>
                  <a:pt x="260000" y="500000"/>
                </a:lnTo>
                <a:lnTo>
                  <a:pt x="130000" y="0"/>
                </a:lnTo>
                <a:lnTo>
                  <a:pt x="0" y="500000"/>
                </a:lnTo>
                <a:close/>
              </a:path>
            </a:pathLst>
          </a:custGeom>
          <a:solidFill>
            <a:srgbClr val="0F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0000" y="2060000"/>
            <a:ext cx="9146000" cy="40000"/>
          </a:xfrm>
          <a:prstGeom prst="roundRect">
            <a:avLst>
              <a:gd name="adj" fmla="val 50000"/>
            </a:avLst>
          </a:prstGeom>
          <a:solidFill>
            <a:srgbClr val="0F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30000" y="2000000"/>
            <a:ext cx="1100000" cy="260000"/>
          </a:xfrm>
          <a:custGeom>
            <a:avLst/>
            <a:gdLst/>
            <a:ahLst/>
            <a:cxnLst/>
            <a:rect l="l" t="t" r="r" b="b"/>
            <a:pathLst>
              <a:path w="1100000" h="260000">
                <a:moveTo>
                  <a:pt x="0" y="0"/>
                </a:moveTo>
                <a:lnTo>
                  <a:pt x="1100000" y="0"/>
                </a:lnTo>
                <a:lnTo>
                  <a:pt x="1020000" y="260000"/>
                </a:lnTo>
                <a:lnTo>
                  <a:pt x="80000" y="260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0000" y="1720000"/>
            <a:ext cx="220000" cy="220000"/>
          </a:xfrm>
          <a:prstGeom prst="roundRect">
            <a:avLst>
              <a:gd name="adj" fmla="val 15000"/>
            </a:avLst>
          </a:prstGeom>
          <a:solidFill>
            <a:srgbClr val="0D6EFD"/>
          </a:solidFill>
          <a:ln w="1270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7" name="Freeform 6"/>
          <p:cNvSpPr/>
          <p:nvPr/>
        </p:nvSpPr>
        <p:spPr>
          <a:xfrm>
            <a:off x="8676000" y="2000000"/>
            <a:ext cx="1100000" cy="260000"/>
          </a:xfrm>
          <a:custGeom>
            <a:avLst/>
            <a:gdLst/>
            <a:ahLst/>
            <a:cxnLst/>
            <a:rect l="l" t="t" r="r" b="b"/>
            <a:pathLst>
              <a:path w="1100000" h="260000">
                <a:moveTo>
                  <a:pt x="0" y="0"/>
                </a:moveTo>
                <a:lnTo>
                  <a:pt x="1100000" y="0"/>
                </a:lnTo>
                <a:lnTo>
                  <a:pt x="1020000" y="260000"/>
                </a:lnTo>
                <a:lnTo>
                  <a:pt x="80000" y="260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16000" y="1720000"/>
            <a:ext cx="220000" cy="22000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 w="1270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" y="4380000"/>
            <a:ext cx="954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rial"/>
              </a:rPr>
              <a:t>Эки жагынан тең 3төн алып салсак, тең салмак сакталат: x =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260000"/>
            <a:ext cx="954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3C58"/>
                </a:solidFill>
                <a:latin typeface="Arial"/>
              </a:rPr>
              <a:t>Эми ушул эле кадамдарды сандар менен жазабыз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400000"/>
            <a:ext cx="9546000" cy="661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C58"/>
                </a:solidFill>
                <a:latin typeface="Arial"/>
              </a:rPr>
              <a:t>x + 3 =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2466666"/>
            <a:ext cx="9546000" cy="661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C58"/>
                </a:solidFill>
                <a:latin typeface="Arial"/>
              </a:rPr>
              <a:t>x + 3 − 3 = 8 − 3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3106665"/>
            <a:ext cx="9546000" cy="405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6EFD"/>
                </a:solidFill>
                <a:latin typeface="Arial"/>
              </a:rPr>
              <a:t>эки жагынан тең 3төн кемитебиз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3533332"/>
            <a:ext cx="9546000" cy="661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C58"/>
                </a:solidFill>
                <a:latin typeface="Arial"/>
              </a:rPr>
              <a:t>x =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260000"/>
            <a:ext cx="954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3C58"/>
                </a:solidFill>
                <a:latin typeface="Arial"/>
              </a:rPr>
              <a:t>2-мисал:  x − 4 = 9</a:t>
            </a:r>
          </a:p>
        </p:txBody>
      </p:sp>
      <p:sp>
        <p:nvSpPr>
          <p:cNvPr id="3" name="Freeform 2"/>
          <p:cNvSpPr/>
          <p:nvPr/>
        </p:nvSpPr>
        <p:spPr>
          <a:xfrm>
            <a:off x="2386500" y="2200000"/>
            <a:ext cx="260000" cy="500000"/>
          </a:xfrm>
          <a:custGeom>
            <a:avLst/>
            <a:gdLst/>
            <a:ahLst/>
            <a:cxnLst/>
            <a:rect l="l" t="t" r="r" b="b"/>
            <a:pathLst>
              <a:path w="260000" h="500000">
                <a:moveTo>
                  <a:pt x="0" y="500000"/>
                </a:moveTo>
                <a:lnTo>
                  <a:pt x="260000" y="500000"/>
                </a:lnTo>
                <a:lnTo>
                  <a:pt x="130000" y="0"/>
                </a:lnTo>
                <a:lnTo>
                  <a:pt x="0" y="500000"/>
                </a:lnTo>
                <a:close/>
              </a:path>
            </a:pathLst>
          </a:custGeom>
          <a:solidFill>
            <a:srgbClr val="0F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0000" y="2160000"/>
            <a:ext cx="4273000" cy="40000"/>
          </a:xfrm>
          <a:prstGeom prst="roundRect">
            <a:avLst>
              <a:gd name="adj" fmla="val 50000"/>
            </a:avLst>
          </a:prstGeom>
          <a:solidFill>
            <a:srgbClr val="0F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30000" y="2100000"/>
            <a:ext cx="1100000" cy="260000"/>
          </a:xfrm>
          <a:custGeom>
            <a:avLst/>
            <a:gdLst/>
            <a:ahLst/>
            <a:cxnLst/>
            <a:rect l="l" t="t" r="r" b="b"/>
            <a:pathLst>
              <a:path w="1100000" h="260000">
                <a:moveTo>
                  <a:pt x="0" y="0"/>
                </a:moveTo>
                <a:lnTo>
                  <a:pt x="1100000" y="0"/>
                </a:lnTo>
                <a:lnTo>
                  <a:pt x="1020000" y="260000"/>
                </a:lnTo>
                <a:lnTo>
                  <a:pt x="80000" y="260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0000" y="1820000"/>
            <a:ext cx="220000" cy="220000"/>
          </a:xfrm>
          <a:prstGeom prst="roundRect">
            <a:avLst>
              <a:gd name="adj" fmla="val 15000"/>
            </a:avLst>
          </a:prstGeom>
          <a:solidFill>
            <a:srgbClr val="0D6EFD"/>
          </a:solidFill>
          <a:ln w="1270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7" name="Freeform 6"/>
          <p:cNvSpPr/>
          <p:nvPr/>
        </p:nvSpPr>
        <p:spPr>
          <a:xfrm>
            <a:off x="3803000" y="2100000"/>
            <a:ext cx="1100000" cy="260000"/>
          </a:xfrm>
          <a:custGeom>
            <a:avLst/>
            <a:gdLst/>
            <a:ahLst/>
            <a:cxnLst/>
            <a:rect l="l" t="t" r="r" b="b"/>
            <a:pathLst>
              <a:path w="1100000" h="260000">
                <a:moveTo>
                  <a:pt x="0" y="0"/>
                </a:moveTo>
                <a:lnTo>
                  <a:pt x="1100000" y="0"/>
                </a:lnTo>
                <a:lnTo>
                  <a:pt x="1020000" y="260000"/>
                </a:lnTo>
                <a:lnTo>
                  <a:pt x="80000" y="260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8000" y="1820000"/>
            <a:ext cx="220000" cy="22000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 w="1270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000" y="1820000"/>
            <a:ext cx="220000" cy="22000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 w="1270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000" y="5938000"/>
            <a:ext cx="4673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rial"/>
              </a:rPr>
              <a:t>x − 4 = 9  (тараза эки жагынан 4 кем турат)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3000" y="1300000"/>
            <a:ext cx="4673000" cy="104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C58"/>
                </a:solidFill>
                <a:latin typeface="Arial"/>
              </a:rPr>
              <a:t>x − 4 =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3000" y="2986000"/>
            <a:ext cx="4673000" cy="104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C58"/>
                </a:solidFill>
                <a:latin typeface="Arial"/>
              </a:rPr>
              <a:t>x − 4 + 4 = 9 + 4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3000" y="3997600"/>
            <a:ext cx="4673000" cy="6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6EFD"/>
                </a:solidFill>
                <a:latin typeface="Arial"/>
              </a:rPr>
              <a:t>эки жагына тең 4төн кошобуз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3000" y="4672000"/>
            <a:ext cx="4673000" cy="104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C58"/>
                </a:solidFill>
                <a:latin typeface="Arial"/>
              </a:rPr>
              <a:t>x =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260000"/>
            <a:ext cx="954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3C58"/>
                </a:solidFill>
                <a:latin typeface="Arial"/>
              </a:rPr>
              <a:t>3-мисал:  3x =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000" y="1600000"/>
            <a:ext cx="1424333" cy="700000"/>
          </a:xfrm>
          <a:prstGeom prst="rect">
            <a:avLst/>
          </a:prstGeom>
          <a:solidFill>
            <a:srgbClr val="0D6EF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4" name="Rectangle 3"/>
          <p:cNvSpPr/>
          <p:nvPr/>
        </p:nvSpPr>
        <p:spPr>
          <a:xfrm>
            <a:off x="1804333" y="1600000"/>
            <a:ext cx="1424333" cy="700000"/>
          </a:xfrm>
          <a:prstGeom prst="rect">
            <a:avLst/>
          </a:prstGeom>
          <a:solidFill>
            <a:srgbClr val="0D6EF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5" name="Rectangle 4"/>
          <p:cNvSpPr/>
          <p:nvPr/>
        </p:nvSpPr>
        <p:spPr>
          <a:xfrm>
            <a:off x="3228666" y="1600000"/>
            <a:ext cx="1424333" cy="700000"/>
          </a:xfrm>
          <a:prstGeom prst="rect">
            <a:avLst/>
          </a:prstGeom>
          <a:solidFill>
            <a:srgbClr val="0D6EF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000" y="1600000"/>
            <a:ext cx="4273000" cy="700000"/>
          </a:xfrm>
          <a:prstGeom prst="rect">
            <a:avLst/>
          </a:prstGeom>
          <a:noFill/>
          <a:ln w="3175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000" y="2360000"/>
            <a:ext cx="4273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3C58"/>
                </a:solidFill>
                <a:latin typeface="Arial"/>
              </a:rPr>
              <a:t>бардыгы =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5978000"/>
            <a:ext cx="4673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rial"/>
              </a:rPr>
              <a:t>3 барабар бөлүк кошулса, 12 болот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3000" y="1300000"/>
            <a:ext cx="4673000" cy="104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C58"/>
                </a:solidFill>
                <a:latin typeface="Arial"/>
              </a:rPr>
              <a:t>3x =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3000" y="2986000"/>
            <a:ext cx="4673000" cy="104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C58"/>
                </a:solidFill>
                <a:latin typeface="Arial"/>
              </a:rPr>
              <a:t>3x ÷ 3 = 12 ÷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3000" y="3997600"/>
            <a:ext cx="4673000" cy="6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6EFD"/>
                </a:solidFill>
                <a:latin typeface="Arial"/>
              </a:rPr>
              <a:t>эки жагын тең 3кө бөлөбүз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3000" y="4672000"/>
            <a:ext cx="4673000" cy="104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C58"/>
                </a:solidFill>
                <a:latin typeface="Arial"/>
              </a:rPr>
              <a:t>x =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260000"/>
            <a:ext cx="954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3C58"/>
                </a:solidFill>
                <a:latin typeface="Arial"/>
              </a:rPr>
              <a:t>4-мисал:  x : 2 = 6</a:t>
            </a:r>
          </a:p>
        </p:txBody>
      </p:sp>
      <p:sp>
        <p:nvSpPr>
          <p:cNvPr id="3" name="Rectangle 2"/>
          <p:cNvSpPr/>
          <p:nvPr/>
        </p:nvSpPr>
        <p:spPr>
          <a:xfrm>
            <a:off x="380000" y="1600000"/>
            <a:ext cx="2136500" cy="700000"/>
          </a:xfrm>
          <a:prstGeom prst="rect">
            <a:avLst/>
          </a:prstGeom>
          <a:solidFill>
            <a:srgbClr val="94A3B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6500" y="1600000"/>
            <a:ext cx="2136500" cy="700000"/>
          </a:xfrm>
          <a:prstGeom prst="rect">
            <a:avLst/>
          </a:prstGeom>
          <a:solidFill>
            <a:srgbClr val="94A3B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0000" y="1600000"/>
            <a:ext cx="4273000" cy="700000"/>
          </a:xfrm>
          <a:prstGeom prst="rect">
            <a:avLst/>
          </a:prstGeom>
          <a:noFill/>
          <a:ln w="31750">
            <a:solidFill>
              <a:srgbClr val="0F3C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000" y="2360000"/>
            <a:ext cx="4273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3C58"/>
                </a:solidFill>
                <a:latin typeface="Arial"/>
              </a:rPr>
              <a:t>бардыгы =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" y="5978000"/>
            <a:ext cx="4673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rial"/>
              </a:rPr>
              <a:t>x экиге бөлүнгөндө, ар бир бөлүк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3000" y="1300000"/>
            <a:ext cx="4673000" cy="104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C58"/>
                </a:solidFill>
                <a:latin typeface="Arial"/>
              </a:rPr>
              <a:t>x : 2 =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3000" y="2986000"/>
            <a:ext cx="4673000" cy="104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C58"/>
                </a:solidFill>
                <a:latin typeface="Arial"/>
              </a:rPr>
              <a:t>x : 2 × 2 = 6 ×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3000" y="3997600"/>
            <a:ext cx="4673000" cy="6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D6EFD"/>
                </a:solidFill>
                <a:latin typeface="Arial"/>
              </a:rPr>
              <a:t>эки жагын тең 2ге көбөйтөбүз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3000" y="4672000"/>
            <a:ext cx="4673000" cy="104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C58"/>
                </a:solidFill>
                <a:latin typeface="Arial"/>
              </a:rPr>
              <a:t>x =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260000"/>
            <a:ext cx="954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3C58"/>
                </a:solidFill>
                <a:latin typeface="Arial"/>
              </a:rPr>
              <a:t>Эрежени тапкыла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300000"/>
            <a:ext cx="9546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0F3C58"/>
                </a:solidFill>
                <a:latin typeface="Arial"/>
              </a:rPr>
              <a:t>•  + кошулса  →  эки жагынан кемитебиз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F3C58"/>
                </a:solidFill>
                <a:latin typeface="Arial"/>
              </a:rPr>
              <a:t>•  − алынса  →  эки жагына кошобуз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F3C58"/>
                </a:solidFill>
                <a:latin typeface="Arial"/>
              </a:rPr>
              <a:t>•  · көбөйтүлсө  →  эки жагын бөлөбүз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0F3C58"/>
                </a:solidFill>
                <a:latin typeface="Arial"/>
              </a:rPr>
              <a:t>•  : бөлүнсө  →  эки жагын көбөйтөбүз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3600000"/>
            <a:ext cx="954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6EFD"/>
                </a:solidFill>
                <a:latin typeface="Arial"/>
              </a:rPr>
              <a:t>Эреже: белгисизди жалгыз калтыруу үчүн, экинчи жагындагы амалдын карама-каршысын эки жагына тең аткар.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260000"/>
            <a:ext cx="954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3C58"/>
                </a:solidFill>
                <a:latin typeface="Arial"/>
              </a:rPr>
              <a:t>Көнүгүү — өзүңүз чечиңиз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300000"/>
            <a:ext cx="9546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0F3C58"/>
                </a:solidFill>
                <a:latin typeface="Arial"/>
              </a:rPr>
              <a:t>•  x + 7 = 15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3C58"/>
                </a:solidFill>
                <a:latin typeface="Arial"/>
              </a:rPr>
              <a:t>•  x − 9 = 6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3C58"/>
                </a:solidFill>
                <a:latin typeface="Arial"/>
              </a:rPr>
              <a:t>•  5x = 35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3C58"/>
                </a:solidFill>
                <a:latin typeface="Arial"/>
              </a:rPr>
              <a:t>•  x : 4 = 9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3C58"/>
                </a:solidFill>
                <a:latin typeface="Arial"/>
              </a:rPr>
              <a:t>•  x + 12 = 20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3C58"/>
                </a:solidFill>
                <a:latin typeface="Arial"/>
              </a:rPr>
              <a:t>•  2x =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260000"/>
            <a:ext cx="954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3C58"/>
                </a:solidFill>
                <a:latin typeface="Arial"/>
              </a:rPr>
              <a:t>Жооптор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300000"/>
            <a:ext cx="9546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0F3C58"/>
                </a:solidFill>
                <a:latin typeface="Arial"/>
              </a:rPr>
              <a:t>•  x + 7 = 15  →  x = 8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3C58"/>
                </a:solidFill>
                <a:latin typeface="Arial"/>
              </a:rPr>
              <a:t>•  x − 9 = 6  →  x = 15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3C58"/>
                </a:solidFill>
                <a:latin typeface="Arial"/>
              </a:rPr>
              <a:t>•  5x = 35  →  x = 7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3C58"/>
                </a:solidFill>
                <a:latin typeface="Arial"/>
              </a:rPr>
              <a:t>•  x : 4 = 9  →  x = 36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3C58"/>
                </a:solidFill>
                <a:latin typeface="Arial"/>
              </a:rPr>
              <a:t>•  x + 12 = 20  →  x = 8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0F3C58"/>
                </a:solidFill>
                <a:latin typeface="Arial"/>
              </a:rPr>
              <a:t>•  2x = 18  →  x =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0F3C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2000000"/>
            <a:ext cx="8706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D6EFD"/>
                </a:solidFill>
                <a:latin typeface="Arial"/>
              </a:rPr>
              <a:t>Эстен чыгарба!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2600000"/>
            <a:ext cx="8706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Теңдеме — тараза: эки жагы дайым тең.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Белгисизди (x) жалгыз калтыруу үчүн,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экинчи жагындагы амалдын карама-каршысын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эки жагына тең аткар.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