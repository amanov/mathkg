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10"/>
  </p:notesMasterIdLst>
  <p:handoutMasterIdLst>
    <p:handoutMasterId r:id="rId11"/>
  </p:handoutMasterIdLst>
  <p:sldIdLst>
    <p:sldId id="1004" r:id="rId2"/>
    <p:sldId id="1009" r:id="rId3"/>
    <p:sldId id="1010" r:id="rId4"/>
    <p:sldId id="967" r:id="rId5"/>
    <p:sldId id="1011" r:id="rId6"/>
    <p:sldId id="1012" r:id="rId7"/>
    <p:sldId id="1013" r:id="rId8"/>
    <p:sldId id="1008" r:id="rId9"/>
  </p:sldIdLst>
  <p:sldSz cx="9906000" cy="6858000" type="A4"/>
  <p:notesSz cx="7104063" cy="10234613"/>
  <p:embeddedFontLst>
    <p:embeddedFont>
      <p:font typeface="Cambria Math" panose="02040503050406030204" pitchFamily="18" charset="0"/>
      <p:regular r:id="rId12"/>
    </p:embeddedFont>
    <p:embeddedFont>
      <p:font typeface="Stencil" panose="040409050D0802020404" pitchFamily="82" charset="0"/>
      <p:regular r:id="rId1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CFCC38FB-7118-4555-ACF5-0BD5AF27F91A}">
          <p14:sldIdLst>
            <p14:sldId id="1004"/>
          </p14:sldIdLst>
        </p14:section>
        <p14:section name="Толук барак көндүм А" id="{059544AC-2C27-45B1-9F95-F87DF8854DD6}">
          <p14:sldIdLst>
            <p14:sldId id="1009"/>
            <p14:sldId id="1010"/>
          </p14:sldIdLst>
        </p14:section>
        <p14:section name="Жарым барак көндүм А" id="{66411D58-1247-41BC-A8D3-87E459D4C417}">
          <p14:sldIdLst>
            <p14:sldId id="967"/>
            <p14:sldId id="1011"/>
          </p14:sldIdLst>
        </p14:section>
        <p14:section name="Жообу" id="{AF46F52E-64BB-4CDD-9C92-36613B45A49C}">
          <p14:sldIdLst>
            <p14:sldId id="1012"/>
            <p14:sldId id="1013"/>
          </p14:sldIdLst>
        </p14:section>
        <p14:section name="Кайтарым байланыш" id="{44593A35-489B-47C3-9FD2-BAFF3AF9952F}">
          <p14:sldIdLst>
            <p14:sldId id="10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  <a:srgbClr val="FF3300"/>
    <a:srgbClr val="FF0066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686" autoAdjust="0"/>
    <p:restoredTop sz="92935" autoAdjust="0"/>
  </p:normalViewPr>
  <p:slideViewPr>
    <p:cSldViewPr snapToGrid="0" showGuides="1">
      <p:cViewPr varScale="1">
        <p:scale>
          <a:sx n="63" d="100"/>
          <a:sy n="63" d="100"/>
        </p:scale>
        <p:origin x="1304" y="32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-4242"/>
    </p:cViewPr>
  </p:sorterViewPr>
  <p:notesViewPr>
    <p:cSldViewPr snapToGrid="0" showGuides="1">
      <p:cViewPr varScale="1">
        <p:scale>
          <a:sx n="59" d="100"/>
          <a:sy n="59" d="100"/>
        </p:scale>
        <p:origin x="3254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F95EEC0-BA2F-4C89-A04C-7A4A655E278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920E98-7CDF-4021-8551-1596F15CE7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B831BB-79C8-47D7-927B-A4A057B48BB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172B7C-7F8E-4E82-8E98-8202508291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E038D9-98AA-4E2F-BECD-0B5701A075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A3C3B0-A9E3-44D3-89EF-A392F668C0A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183047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637" tIns="47319" rIns="94637" bIns="47319" rtlCol="0"/>
          <a:lstStyle>
            <a:lvl1pPr algn="r">
              <a:defRPr sz="1300"/>
            </a:lvl1pPr>
          </a:lstStyle>
          <a:p>
            <a:fld id="{9C6A85EB-AF26-437E-8488-94E19A13AA79}" type="datetimeFigureOut">
              <a:rPr lang="en-GB" smtClean="0"/>
              <a:t>04/09/2024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637" tIns="47319" rIns="94637" bIns="47319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407" y="4925410"/>
            <a:ext cx="5683250" cy="4029878"/>
          </a:xfrm>
          <a:prstGeom prst="rect">
            <a:avLst/>
          </a:prstGeom>
        </p:spPr>
        <p:txBody>
          <a:bodyPr vert="horz" lIns="94637" tIns="47319" rIns="94637" bIns="47319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993" y="9721110"/>
            <a:ext cx="3078427" cy="513507"/>
          </a:xfrm>
          <a:prstGeom prst="rect">
            <a:avLst/>
          </a:prstGeom>
        </p:spPr>
        <p:txBody>
          <a:bodyPr vert="horz" lIns="94637" tIns="47319" rIns="94637" bIns="47319" rtlCol="0" anchor="b"/>
          <a:lstStyle>
            <a:lvl1pPr algn="r">
              <a:defRPr sz="13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16494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15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23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3.png"/><Relationship Id="rId18" Type="http://schemas.openxmlformats.org/officeDocument/2006/relationships/image" Target="../media/image38.png"/><Relationship Id="rId26" Type="http://schemas.openxmlformats.org/officeDocument/2006/relationships/image" Target="../media/image44.png"/><Relationship Id="rId3" Type="http://schemas.openxmlformats.org/officeDocument/2006/relationships/image" Target="../media/image230.png"/><Relationship Id="rId21" Type="http://schemas.openxmlformats.org/officeDocument/2006/relationships/image" Target="../media/image39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37.png"/><Relationship Id="rId25" Type="http://schemas.openxmlformats.org/officeDocument/2006/relationships/image" Target="../media/image43.png"/><Relationship Id="rId33" Type="http://schemas.openxmlformats.org/officeDocument/2006/relationships/image" Target="../media/image7.svg"/><Relationship Id="rId2" Type="http://schemas.openxmlformats.org/officeDocument/2006/relationships/image" Target="../media/image1.png"/><Relationship Id="rId16" Type="http://schemas.openxmlformats.org/officeDocument/2006/relationships/image" Target="../media/image36.png"/><Relationship Id="rId29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42.png"/><Relationship Id="rId32" Type="http://schemas.openxmlformats.org/officeDocument/2006/relationships/image" Target="../media/image6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10" Type="http://schemas.openxmlformats.org/officeDocument/2006/relationships/image" Target="../media/image30.png"/><Relationship Id="rId31" Type="http://schemas.openxmlformats.org/officeDocument/2006/relationships/image" Target="../media/image49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14" Type="http://schemas.openxmlformats.org/officeDocument/2006/relationships/image" Target="../media/image34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0.png"/><Relationship Id="rId13" Type="http://schemas.openxmlformats.org/officeDocument/2006/relationships/image" Target="../media/image231.png"/><Relationship Id="rId3" Type="http://schemas.openxmlformats.org/officeDocument/2006/relationships/image" Target="../media/image130.png"/><Relationship Id="rId7" Type="http://schemas.openxmlformats.org/officeDocument/2006/relationships/image" Target="../media/image170.png"/><Relationship Id="rId12" Type="http://schemas.openxmlformats.org/officeDocument/2006/relationships/image" Target="../media/image220.png"/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0.png"/><Relationship Id="rId11" Type="http://schemas.openxmlformats.org/officeDocument/2006/relationships/image" Target="../media/image210.png"/><Relationship Id="rId5" Type="http://schemas.openxmlformats.org/officeDocument/2006/relationships/image" Target="../media/image150.png"/><Relationship Id="rId15" Type="http://schemas.openxmlformats.org/officeDocument/2006/relationships/image" Target="../media/image50.png"/><Relationship Id="rId10" Type="http://schemas.openxmlformats.org/officeDocument/2006/relationships/image" Target="../media/image200.png"/><Relationship Id="rId4" Type="http://schemas.openxmlformats.org/officeDocument/2006/relationships/image" Target="../media/image140.png"/><Relationship Id="rId9" Type="http://schemas.openxmlformats.org/officeDocument/2006/relationships/image" Target="../media/image190.png"/><Relationship Id="rId14" Type="http://schemas.openxmlformats.org/officeDocument/2006/relationships/image" Target="../media/image24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3" Type="http://schemas.openxmlformats.org/officeDocument/2006/relationships/image" Target="../media/image52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79.png"/><Relationship Id="rId3" Type="http://schemas.openxmlformats.org/officeDocument/2006/relationships/image" Target="../media/image115.png"/><Relationship Id="rId21" Type="http://schemas.openxmlformats.org/officeDocument/2006/relationships/image" Target="../media/image19.png"/><Relationship Id="rId34" Type="http://schemas.openxmlformats.org/officeDocument/2006/relationships/image" Target="../media/image74.png"/><Relationship Id="rId42" Type="http://schemas.openxmlformats.org/officeDocument/2006/relationships/image" Target="../media/image82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5" Type="http://schemas.openxmlformats.org/officeDocument/2006/relationships/image" Target="../media/image66.png"/><Relationship Id="rId33" Type="http://schemas.openxmlformats.org/officeDocument/2006/relationships/image" Target="../media/image73.png"/><Relationship Id="rId38" Type="http://schemas.openxmlformats.org/officeDocument/2006/relationships/image" Target="../media/image78.png"/><Relationship Id="rId46" Type="http://schemas.openxmlformats.org/officeDocument/2006/relationships/image" Target="../media/image86.png"/><Relationship Id="rId2" Type="http://schemas.openxmlformats.org/officeDocument/2006/relationships/image" Target="../media/image1.png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69.png"/><Relationship Id="rId41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72.png"/><Relationship Id="rId37" Type="http://schemas.openxmlformats.org/officeDocument/2006/relationships/image" Target="../media/image77.png"/><Relationship Id="rId40" Type="http://schemas.openxmlformats.org/officeDocument/2006/relationships/image" Target="../media/image80.png"/><Relationship Id="rId45" Type="http://schemas.openxmlformats.org/officeDocument/2006/relationships/image" Target="../media/image85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68.png"/><Relationship Id="rId36" Type="http://schemas.openxmlformats.org/officeDocument/2006/relationships/image" Target="../media/image76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31" Type="http://schemas.openxmlformats.org/officeDocument/2006/relationships/image" Target="../media/image71.png"/><Relationship Id="rId44" Type="http://schemas.openxmlformats.org/officeDocument/2006/relationships/image" Target="../media/image84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65.png"/><Relationship Id="rId27" Type="http://schemas.openxmlformats.org/officeDocument/2006/relationships/image" Target="../media/image67.png"/><Relationship Id="rId30" Type="http://schemas.openxmlformats.org/officeDocument/2006/relationships/image" Target="../media/image70.png"/><Relationship Id="rId35" Type="http://schemas.openxmlformats.org/officeDocument/2006/relationships/image" Target="../media/image75.png"/><Relationship Id="rId43" Type="http://schemas.openxmlformats.org/officeDocument/2006/relationships/image" Target="../media/image8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4.png"/><Relationship Id="rId18" Type="http://schemas.openxmlformats.org/officeDocument/2006/relationships/image" Target="../media/image38.png"/><Relationship Id="rId26" Type="http://schemas.openxmlformats.org/officeDocument/2006/relationships/image" Target="../media/image44.png"/><Relationship Id="rId39" Type="http://schemas.openxmlformats.org/officeDocument/2006/relationships/image" Target="../media/image94.png"/><Relationship Id="rId21" Type="http://schemas.openxmlformats.org/officeDocument/2006/relationships/image" Target="../media/image39.png"/><Relationship Id="rId34" Type="http://schemas.openxmlformats.org/officeDocument/2006/relationships/image" Target="../media/image89.png"/><Relationship Id="rId42" Type="http://schemas.openxmlformats.org/officeDocument/2006/relationships/image" Target="../media/image97.png"/><Relationship Id="rId47" Type="http://schemas.openxmlformats.org/officeDocument/2006/relationships/image" Target="../media/image102.png"/><Relationship Id="rId50" Type="http://schemas.openxmlformats.org/officeDocument/2006/relationships/image" Target="../media/image105.png"/><Relationship Id="rId55" Type="http://schemas.openxmlformats.org/officeDocument/2006/relationships/image" Target="../media/image110.png"/><Relationship Id="rId7" Type="http://schemas.openxmlformats.org/officeDocument/2006/relationships/image" Target="../media/image27.png"/><Relationship Id="rId12" Type="http://schemas.openxmlformats.org/officeDocument/2006/relationships/image" Target="../media/image32.png"/><Relationship Id="rId17" Type="http://schemas.openxmlformats.org/officeDocument/2006/relationships/image" Target="../media/image87.png"/><Relationship Id="rId25" Type="http://schemas.openxmlformats.org/officeDocument/2006/relationships/image" Target="../media/image43.png"/><Relationship Id="rId33" Type="http://schemas.openxmlformats.org/officeDocument/2006/relationships/image" Target="../media/image7.svg"/><Relationship Id="rId38" Type="http://schemas.openxmlformats.org/officeDocument/2006/relationships/image" Target="../media/image93.png"/><Relationship Id="rId46" Type="http://schemas.openxmlformats.org/officeDocument/2006/relationships/image" Target="../media/image101.png"/><Relationship Id="rId59" Type="http://schemas.openxmlformats.org/officeDocument/2006/relationships/image" Target="../media/image114.png"/><Relationship Id="rId2" Type="http://schemas.openxmlformats.org/officeDocument/2006/relationships/image" Target="../media/image1.png"/><Relationship Id="rId16" Type="http://schemas.openxmlformats.org/officeDocument/2006/relationships/image" Target="../media/image36.png"/><Relationship Id="rId29" Type="http://schemas.openxmlformats.org/officeDocument/2006/relationships/image" Target="../media/image47.png"/><Relationship Id="rId41" Type="http://schemas.openxmlformats.org/officeDocument/2006/relationships/image" Target="../media/image96.png"/><Relationship Id="rId54" Type="http://schemas.openxmlformats.org/officeDocument/2006/relationships/image" Target="../media/image10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11" Type="http://schemas.openxmlformats.org/officeDocument/2006/relationships/image" Target="../media/image31.png"/><Relationship Id="rId24" Type="http://schemas.openxmlformats.org/officeDocument/2006/relationships/image" Target="../media/image88.png"/><Relationship Id="rId32" Type="http://schemas.openxmlformats.org/officeDocument/2006/relationships/image" Target="../media/image6.png"/><Relationship Id="rId37" Type="http://schemas.openxmlformats.org/officeDocument/2006/relationships/image" Target="../media/image92.png"/><Relationship Id="rId40" Type="http://schemas.openxmlformats.org/officeDocument/2006/relationships/image" Target="../media/image95.png"/><Relationship Id="rId45" Type="http://schemas.openxmlformats.org/officeDocument/2006/relationships/image" Target="../media/image100.png"/><Relationship Id="rId53" Type="http://schemas.openxmlformats.org/officeDocument/2006/relationships/image" Target="../media/image108.png"/><Relationship Id="rId58" Type="http://schemas.openxmlformats.org/officeDocument/2006/relationships/image" Target="../media/image113.png"/><Relationship Id="rId5" Type="http://schemas.openxmlformats.org/officeDocument/2006/relationships/image" Target="../media/image25.png"/><Relationship Id="rId15" Type="http://schemas.openxmlformats.org/officeDocument/2006/relationships/image" Target="../media/image35.png"/><Relationship Id="rId23" Type="http://schemas.openxmlformats.org/officeDocument/2006/relationships/image" Target="../media/image41.png"/><Relationship Id="rId28" Type="http://schemas.openxmlformats.org/officeDocument/2006/relationships/image" Target="../media/image46.png"/><Relationship Id="rId36" Type="http://schemas.openxmlformats.org/officeDocument/2006/relationships/image" Target="../media/image91.png"/><Relationship Id="rId49" Type="http://schemas.openxmlformats.org/officeDocument/2006/relationships/image" Target="../media/image104.png"/><Relationship Id="rId57" Type="http://schemas.openxmlformats.org/officeDocument/2006/relationships/image" Target="../media/image112.png"/><Relationship Id="rId10" Type="http://schemas.openxmlformats.org/officeDocument/2006/relationships/image" Target="../media/image30.png"/><Relationship Id="rId31" Type="http://schemas.openxmlformats.org/officeDocument/2006/relationships/image" Target="../media/image49.png"/><Relationship Id="rId44" Type="http://schemas.openxmlformats.org/officeDocument/2006/relationships/image" Target="../media/image99.png"/><Relationship Id="rId52" Type="http://schemas.openxmlformats.org/officeDocument/2006/relationships/image" Target="../media/image107.png"/><Relationship Id="rId4" Type="http://schemas.openxmlformats.org/officeDocument/2006/relationships/image" Target="../media/image240.png"/><Relationship Id="rId9" Type="http://schemas.openxmlformats.org/officeDocument/2006/relationships/image" Target="../media/image29.png"/><Relationship Id="rId22" Type="http://schemas.openxmlformats.org/officeDocument/2006/relationships/image" Target="../media/image40.png"/><Relationship Id="rId27" Type="http://schemas.openxmlformats.org/officeDocument/2006/relationships/image" Target="../media/image45.png"/><Relationship Id="rId30" Type="http://schemas.openxmlformats.org/officeDocument/2006/relationships/image" Target="../media/image48.png"/><Relationship Id="rId35" Type="http://schemas.openxmlformats.org/officeDocument/2006/relationships/image" Target="../media/image90.png"/><Relationship Id="rId43" Type="http://schemas.openxmlformats.org/officeDocument/2006/relationships/image" Target="../media/image98.png"/><Relationship Id="rId48" Type="http://schemas.openxmlformats.org/officeDocument/2006/relationships/image" Target="../media/image103.png"/><Relationship Id="rId56" Type="http://schemas.openxmlformats.org/officeDocument/2006/relationships/image" Target="../media/image111.png"/><Relationship Id="rId8" Type="http://schemas.openxmlformats.org/officeDocument/2006/relationships/image" Target="../media/image28.png"/><Relationship Id="rId51" Type="http://schemas.openxmlformats.org/officeDocument/2006/relationships/image" Target="../media/image106.png"/><Relationship Id="rId3" Type="http://schemas.openxmlformats.org/officeDocument/2006/relationships/image" Target="../media/image23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70AB8EA-EE90-54AD-333F-C9B060BBDA87}"/>
              </a:ext>
            </a:extLst>
          </p:cNvPr>
          <p:cNvSpPr txBox="1">
            <a:spLocks/>
          </p:cNvSpPr>
          <p:nvPr/>
        </p:nvSpPr>
        <p:spPr>
          <a:xfrm>
            <a:off x="0" y="1903413"/>
            <a:ext cx="9831070" cy="4351338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Бөлчөктөрдү, ондуктарды жана пайыздарды иреттөө– Сабак</a:t>
            </a:r>
          </a:p>
          <a:p>
            <a:endParaRPr lang="ru-RU" dirty="0"/>
          </a:p>
          <a:p>
            <a:r>
              <a:rPr lang="ru-RU" dirty="0"/>
              <a:t>Бул ресурс математикалык ыкманын жандуу демонстрацияларын камсыз кылат.</a:t>
            </a:r>
          </a:p>
          <a:p>
            <a:endParaRPr lang="ru-RU" dirty="0"/>
          </a:p>
          <a:p>
            <a:r>
              <a:rPr lang="ru-RU" dirty="0"/>
              <a:t>Анимацияларды текшерип, </a:t>
            </a:r>
            <a:r>
              <a:rPr lang="ky-KG" dirty="0"/>
              <a:t>сабагы</a:t>
            </a:r>
            <a:r>
              <a:rPr lang="ru-RU" dirty="0"/>
              <a:t>ң</a:t>
            </a:r>
            <a:r>
              <a:rPr lang="ky-KG" dirty="0"/>
              <a:t>ызга </a:t>
            </a:r>
            <a:r>
              <a:rPr lang="ru-RU" b="1" dirty="0">
                <a:solidFill>
                  <a:srgbClr val="FF0000"/>
                </a:solidFill>
              </a:rPr>
              <a:t>КЕРЕГИ ЖОК </a:t>
            </a:r>
            <a:r>
              <a:rPr lang="ru-RU" dirty="0"/>
              <a:t>слайддарды </a:t>
            </a:r>
            <a:r>
              <a:rPr lang="ru-RU" sz="3200" b="1" dirty="0">
                <a:solidFill>
                  <a:srgbClr val="FF0000"/>
                </a:solidFill>
              </a:rPr>
              <a:t>ӨЧҮРҮ</a:t>
            </a:r>
            <a:r>
              <a:rPr lang="ky-KG" sz="3200" b="1" dirty="0">
                <a:solidFill>
                  <a:srgbClr val="FF0000"/>
                </a:solidFill>
              </a:rPr>
              <a:t>П САЛЫ</a:t>
            </a:r>
            <a:r>
              <a:rPr lang="ru-RU" sz="3200" b="1" dirty="0">
                <a:solidFill>
                  <a:srgbClr val="FF0000"/>
                </a:solidFill>
              </a:rPr>
              <a:t>ҢЫЗ.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3" name="Title 3">
            <a:extLst>
              <a:ext uri="{FF2B5EF4-FFF2-40B4-BE49-F238E27FC236}">
                <a16:creationId xmlns:a16="http://schemas.microsoft.com/office/drawing/2014/main" id="{33578990-6CDC-83E1-7E5A-C95904FE7CA7}"/>
              </a:ext>
            </a:extLst>
          </p:cNvPr>
          <p:cNvSpPr txBox="1">
            <a:spLocks/>
          </p:cNvSpPr>
          <p:nvPr/>
        </p:nvSpPr>
        <p:spPr>
          <a:xfrm>
            <a:off x="426720" y="503238"/>
            <a:ext cx="9404350" cy="1400175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600" dirty="0" err="1">
                <a:solidFill>
                  <a:srgbClr val="00B0F0"/>
                </a:solidFill>
              </a:rPr>
              <a:t>MathKGZ</a:t>
            </a:r>
            <a:r>
              <a:rPr lang="en-US" sz="5200" dirty="0">
                <a:solidFill>
                  <a:srgbClr val="00B0F0"/>
                </a:solidFill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3046856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/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B164A0-6C68-1790-A450-3DBCEBB65FEC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C913A76-100E-6E31-1650-5F92C791F928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D4265-ABEF-FB80-D9B2-56EDBC0B9EF6}"/>
              </a:ext>
            </a:extLst>
          </p:cNvPr>
          <p:cNvSpPr txBox="1"/>
          <p:nvPr/>
        </p:nvSpPr>
        <p:spPr>
          <a:xfrm>
            <a:off x="8880742" y="11415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blipFill>
                <a:blip r:embed="rId5"/>
                <a:stretch>
                  <a:fillRect l="-60976" t="-25490" r="-4878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AC63CE1-3FA9-B224-0627-9E2EE5A78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5905297"/>
              </p:ext>
            </p:extLst>
          </p:nvPr>
        </p:nvGraphicFramePr>
        <p:xfrm>
          <a:off x="6225206" y="1813625"/>
          <a:ext cx="2096757" cy="17033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8919">
                  <a:extLst>
                    <a:ext uri="{9D8B030D-6E8A-4147-A177-3AD203B41FA5}">
                      <a16:colId xmlns:a16="http://schemas.microsoft.com/office/drawing/2014/main" val="4011859080"/>
                    </a:ext>
                  </a:extLst>
                </a:gridCol>
                <a:gridCol w="698919">
                  <a:extLst>
                    <a:ext uri="{9D8B030D-6E8A-4147-A177-3AD203B41FA5}">
                      <a16:colId xmlns:a16="http://schemas.microsoft.com/office/drawing/2014/main" val="3715397478"/>
                    </a:ext>
                  </a:extLst>
                </a:gridCol>
                <a:gridCol w="698919">
                  <a:extLst>
                    <a:ext uri="{9D8B030D-6E8A-4147-A177-3AD203B41FA5}">
                      <a16:colId xmlns:a16="http://schemas.microsoft.com/office/drawing/2014/main" val="2316878995"/>
                    </a:ext>
                  </a:extLst>
                </a:gridCol>
              </a:tblGrid>
              <a:tr h="5677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94257"/>
                  </a:ext>
                </a:extLst>
              </a:tr>
              <a:tr h="56778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14960"/>
                  </a:ext>
                </a:extLst>
              </a:tr>
              <a:tr h="56778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1711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491549" y="1589391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794362" y="1869843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949045" y="1415163"/>
            <a:ext cx="152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7921864" y="136128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5360956" y="3429000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0.</m:t>
                    </m:r>
                  </m:oMath>
                </a14:m>
                <a:r>
                  <a:rPr lang="ky-KG" sz="2000" dirty="0"/>
                  <a:t>9</a:t>
                </a:r>
                <a:endParaRPr lang="en-GB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blipFill>
                <a:blip r:embed="rId6"/>
                <a:stretch>
                  <a:fillRect l="-25926" t="-26000" r="-4629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827100" y="3657744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13456" y="3366164"/>
            <a:ext cx="399005" cy="399005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6660458" y="4336658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6171914" y="4663446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5134360" y="4186137"/>
            <a:ext cx="154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8000077" y="4117625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5699196" y="6224944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8031737" y="6470186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blipFill>
                <a:blip r:embed="rId11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/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0.43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blipFill>
                <a:blip r:embed="rId13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blipFill>
                <a:blip r:embed="rId14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/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blipFill>
                <a:blip r:embed="rId17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blipFill>
                <a:blip r:embed="rId18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blipFill>
                <a:blip r:embed="rId19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/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blipFill>
                <a:blip r:embed="rId21"/>
                <a:stretch>
                  <a:fillRect l="-10112" r="-1011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0BAF77D5-B49D-F8FA-82F8-1E9A54507419}"/>
              </a:ext>
            </a:extLst>
          </p:cNvPr>
          <p:cNvSpPr txBox="1"/>
          <p:nvPr/>
        </p:nvSpPr>
        <p:spPr>
          <a:xfrm>
            <a:off x="2119429" y="4469828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/>
              <p:nvPr/>
            </p:nvSpPr>
            <p:spPr>
              <a:xfrm>
                <a:off x="3556654" y="504277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54" y="5042770"/>
                <a:ext cx="570669" cy="307777"/>
              </a:xfrm>
              <a:prstGeom prst="rect">
                <a:avLst/>
              </a:prstGeom>
              <a:blipFill>
                <a:blip r:embed="rId2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/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557B645E-6B0B-D0C6-624B-CC918146A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5207478"/>
              </p:ext>
            </p:extLst>
          </p:nvPr>
        </p:nvGraphicFramePr>
        <p:xfrm>
          <a:off x="6682219" y="4481649"/>
          <a:ext cx="1986819" cy="1872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273">
                  <a:extLst>
                    <a:ext uri="{9D8B030D-6E8A-4147-A177-3AD203B41FA5}">
                      <a16:colId xmlns:a16="http://schemas.microsoft.com/office/drawing/2014/main" val="1128243535"/>
                    </a:ext>
                  </a:extLst>
                </a:gridCol>
                <a:gridCol w="662273">
                  <a:extLst>
                    <a:ext uri="{9D8B030D-6E8A-4147-A177-3AD203B41FA5}">
                      <a16:colId xmlns:a16="http://schemas.microsoft.com/office/drawing/2014/main" val="2750885493"/>
                    </a:ext>
                  </a:extLst>
                </a:gridCol>
                <a:gridCol w="662273">
                  <a:extLst>
                    <a:ext uri="{9D8B030D-6E8A-4147-A177-3AD203B41FA5}">
                      <a16:colId xmlns:a16="http://schemas.microsoft.com/office/drawing/2014/main" val="3344932021"/>
                    </a:ext>
                  </a:extLst>
                </a:gridCol>
              </a:tblGrid>
              <a:tr h="43851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78138"/>
                  </a:ext>
                </a:extLst>
              </a:tr>
              <a:tr h="4779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719601"/>
                  </a:ext>
                </a:extLst>
              </a:tr>
              <a:tr h="47790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243323"/>
                  </a:ext>
                </a:extLst>
              </a:tr>
              <a:tr h="47790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63512"/>
                  </a:ext>
                </a:extLst>
              </a:tr>
            </a:tbl>
          </a:graphicData>
        </a:graphic>
      </p:graphicFrame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88314" y="6256944"/>
            <a:ext cx="399005" cy="3990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/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/>
              <p:nvPr/>
            </p:nvSpPr>
            <p:spPr>
              <a:xfrm>
                <a:off x="2119429" y="576376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29" y="5763760"/>
                <a:ext cx="570669" cy="307777"/>
              </a:xfrm>
              <a:prstGeom prst="rect">
                <a:avLst/>
              </a:prstGeom>
              <a:blipFill>
                <a:blip r:embed="rId2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/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73794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404E514-B434-C59C-D16B-AFEC68D6A8F9}"/>
              </a:ext>
            </a:extLst>
          </p:cNvPr>
          <p:cNvSpPr txBox="1"/>
          <p:nvPr/>
        </p:nvSpPr>
        <p:spPr>
          <a:xfrm>
            <a:off x="3152465" y="5089375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0.33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CD862-46E4-4492-865D-6160824323ED}"/>
              </a:ext>
            </a:extLst>
          </p:cNvPr>
          <p:cNvSpPr txBox="1"/>
          <p:nvPr/>
        </p:nvSpPr>
        <p:spPr>
          <a:xfrm>
            <a:off x="966049" y="1212607"/>
            <a:ext cx="4424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80%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F37CA45-CE1E-90E9-912B-F4DC31C3D76A}"/>
              </a:ext>
            </a:extLst>
          </p:cNvPr>
          <p:cNvSpPr txBox="1"/>
          <p:nvPr/>
        </p:nvSpPr>
        <p:spPr>
          <a:xfrm>
            <a:off x="1836289" y="3473104"/>
            <a:ext cx="5834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0.805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blipFill>
                <a:blip r:embed="rId7"/>
                <a:stretch>
                  <a:fillRect l="-11702" r="-957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blipFill>
                <a:blip r:embed="rId8"/>
                <a:stretch>
                  <a:fillRect l="-60976" t="-25490" r="-46341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/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blipFill>
                <a:blip r:embed="rId9"/>
                <a:stretch>
                  <a:fillRect l="-11702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159985" y="1344752"/>
            <a:ext cx="1859823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129018" y="1545474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423696" y="1175464"/>
            <a:ext cx="167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8110207" y="1120860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4628753" y="3164092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101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blipFill>
                <a:blip r:embed="rId11"/>
                <a:stretch>
                  <a:fillRect l="-7692" r="-854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/>
              <p:nvPr/>
            </p:nvSpPr>
            <p:spPr>
              <a:xfrm>
                <a:off x="1318126" y="5628465"/>
                <a:ext cx="594714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0.28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18126" y="5628465"/>
                <a:ext cx="594714" cy="307777"/>
              </a:xfrm>
              <a:prstGeom prst="rect">
                <a:avLst/>
              </a:prstGeom>
              <a:blipFill>
                <a:blip r:embed="rId13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blipFill>
                <a:blip r:embed="rId14"/>
                <a:stretch>
                  <a:fillRect l="-10638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/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blipFill>
                <a:blip r:embed="rId16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540058" y="5021003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058" y="5021003"/>
                <a:ext cx="681277" cy="307777"/>
              </a:xfrm>
              <a:prstGeom prst="rect">
                <a:avLst/>
              </a:prstGeom>
              <a:blipFill>
                <a:blip r:embed="rId17"/>
                <a:stretch>
                  <a:fillRect l="-13514" r="-360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732631" y="3506669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5784323" y="4374438"/>
            <a:ext cx="1772251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5284059" y="4646100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4207288" y="4197852"/>
            <a:ext cx="184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7822808" y="4147735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4845354" y="622502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/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/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blipFill>
                <a:blip r:embed="rId2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/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/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y-KG" sz="20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lang="ky-KG" sz="2000" dirty="0"/>
                  <a:t>5</a:t>
                </a:r>
                <a:endParaRPr lang="en-GB" sz="2000" dirty="0"/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blipFill>
                <a:blip r:embed="rId24"/>
                <a:stretch>
                  <a:fillRect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/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/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blipFill>
                <a:blip r:embed="rId26"/>
                <a:stretch>
                  <a:fillRect l="-21429" r="-857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/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/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1.04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blipFill>
                <a:blip r:embed="rId28"/>
                <a:stretch>
                  <a:fillRect l="-15730" r="-449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/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blipFill>
                <a:blip r:embed="rId29"/>
                <a:stretch>
                  <a:fillRect l="-17045" r="-454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/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blipFill>
                <a:blip r:embed="rId30"/>
                <a:stretch>
                  <a:fillRect l="-11111" r="-4762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/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AC1274E4-5B0F-D1B0-0E01-14CD47518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982419"/>
              </p:ext>
            </p:extLst>
          </p:nvPr>
        </p:nvGraphicFramePr>
        <p:xfrm>
          <a:off x="5617260" y="1532332"/>
          <a:ext cx="2964990" cy="17875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30">
                  <a:extLst>
                    <a:ext uri="{9D8B030D-6E8A-4147-A177-3AD203B41FA5}">
                      <a16:colId xmlns:a16="http://schemas.microsoft.com/office/drawing/2014/main" val="696380963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3207365101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2637960292"/>
                    </a:ext>
                  </a:extLst>
                </a:gridCol>
              </a:tblGrid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00616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906360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3159"/>
                  </a:ext>
                </a:extLst>
              </a:tr>
              <a:tr h="44688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10018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1056388-63C4-6B4B-C298-76849D1F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56179043"/>
              </p:ext>
            </p:extLst>
          </p:nvPr>
        </p:nvGraphicFramePr>
        <p:xfrm>
          <a:off x="5734333" y="4548575"/>
          <a:ext cx="2888012" cy="16254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003">
                  <a:extLst>
                    <a:ext uri="{9D8B030D-6E8A-4147-A177-3AD203B41FA5}">
                      <a16:colId xmlns:a16="http://schemas.microsoft.com/office/drawing/2014/main" val="760089138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1482244886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499573329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3101839307"/>
                    </a:ext>
                  </a:extLst>
                </a:gridCol>
              </a:tblGrid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702225"/>
                  </a:ext>
                </a:extLst>
              </a:tr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5804"/>
                  </a:ext>
                </a:extLst>
              </a:tr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882605"/>
                  </a:ext>
                </a:extLst>
              </a:tr>
              <a:tr h="406372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178504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94F61160-71AF-C4D0-223F-C21BAFC431AA}"/>
              </a:ext>
            </a:extLst>
          </p:cNvPr>
          <p:cNvSpPr txBox="1"/>
          <p:nvPr/>
        </p:nvSpPr>
        <p:spPr>
          <a:xfrm>
            <a:off x="9040113" y="17879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082441" y="3189947"/>
            <a:ext cx="399005" cy="3990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7830435" y="6365816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101527" y="6059049"/>
            <a:ext cx="399005" cy="399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07C63-7D35-563C-A1B4-108530E1E99B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40FD1-644D-04F1-7278-25EAF83D36D0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</p:spTree>
    <p:extLst>
      <p:ext uri="{BB962C8B-B14F-4D97-AF65-F5344CB8AC3E}">
        <p14:creationId xmlns:p14="http://schemas.microsoft.com/office/powerpoint/2010/main" val="41308396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267835" y="89105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</m:t>
                      </m:r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244914" y="41832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397811" y="51621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CC776AF-C13B-4D8B-906C-6C4DAA8401B8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717" y="61546"/>
            <a:ext cx="4995960" cy="676935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0D6540-1DEA-82CD-CFD5-8F715E6A8287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66608" y="61546"/>
            <a:ext cx="4804224" cy="676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7606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3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" grpId="0" animBg="1"/>
      <p:bldP spid="59" grpId="0" animBg="1"/>
      <p:bldP spid="60" grpId="0"/>
      <p:bldP spid="61" grpId="0"/>
      <p:bldP spid="62" grpId="0"/>
      <p:bldP spid="63" grpId="0"/>
      <p:bldP spid="67" grpId="0"/>
      <p:bldP spid="68" grpId="0"/>
      <p:bldP spid="37" grpId="0"/>
      <p:bldP spid="38" grpId="0"/>
      <p:bldP spid="39" grpId="0"/>
      <p:bldP spid="4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773280D-12B4-48BF-BC07-37C580D4D44F}"/>
              </a:ext>
            </a:extLst>
          </p:cNvPr>
          <p:cNvSpPr/>
          <p:nvPr/>
        </p:nvSpPr>
        <p:spPr>
          <a:xfrm>
            <a:off x="35168" y="316523"/>
            <a:ext cx="4888523" cy="6479931"/>
          </a:xfrm>
          <a:prstGeom prst="roundRect">
            <a:avLst>
              <a:gd name="adj" fmla="val 5156"/>
            </a:avLst>
          </a:prstGeom>
          <a:solidFill>
            <a:schemeClr val="accent4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/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/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100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B33103D-0025-48D0-A566-6C2EFD9744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43633" y="3334542"/>
                <a:ext cx="775853" cy="9676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E8FF6B37-37E0-44B9-A06A-3BF24AF0530D}"/>
              </a:ext>
            </a:extLst>
          </p:cNvPr>
          <p:cNvSpPr txBox="1"/>
          <p:nvPr/>
        </p:nvSpPr>
        <p:spPr>
          <a:xfrm>
            <a:off x="267835" y="891054"/>
            <a:ext cx="399474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/>
              <a:t>Берилген сандарды </a:t>
            </a:r>
            <a:r>
              <a:rPr lang="ru-RU" sz="2000" b="1" dirty="0"/>
              <a:t>эң кичинеден </a:t>
            </a:r>
          </a:p>
          <a:p>
            <a:pPr algn="ctr"/>
            <a:r>
              <a:rPr lang="ru-RU" sz="2000" b="1" dirty="0"/>
              <a:t>чоңго </a:t>
            </a:r>
            <a:r>
              <a:rPr lang="ru-RU" sz="2000" dirty="0"/>
              <a:t>ирээтке келтириңиз.</a:t>
            </a:r>
            <a:endParaRPr lang="en-GB" sz="20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26D1EDD-1270-422C-AD54-B875AD9D30E9}"/>
              </a:ext>
            </a:extLst>
          </p:cNvPr>
          <p:cNvSpPr txBox="1"/>
          <p:nvPr/>
        </p:nvSpPr>
        <p:spPr>
          <a:xfrm>
            <a:off x="-4717" y="-30715"/>
            <a:ext cx="92365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y-KG" sz="1800" b="1" dirty="0">
                <a:latin typeface="Stencil" panose="040409050D0802020404" pitchFamily="82" charset="0"/>
              </a:rPr>
              <a:t>САБАК</a:t>
            </a:r>
            <a:endParaRPr lang="en-GB" sz="1800" b="1" dirty="0">
              <a:latin typeface="Stencil" panose="040409050D0802020404" pitchFamily="82" charset="0"/>
            </a:endParaRPr>
          </a:p>
          <a:p>
            <a:endParaRPr lang="en-GB" dirty="0">
              <a:latin typeface="Stencil" panose="040409050D0802020404" pitchFamily="82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/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338A45FC-A50B-4278-AAFB-59AF743BF4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0666" y="1477147"/>
                <a:ext cx="548227" cy="92519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/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0DB34FC-C699-4EC4-8262-646BBB5DF1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09239" y="1691918"/>
                <a:ext cx="913712" cy="492443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/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6AEFF7E2-AF3F-4F61-BCF4-164CC56CC1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868" y="1691918"/>
                <a:ext cx="633187" cy="49244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49">
            <a:extLst>
              <a:ext uri="{FF2B5EF4-FFF2-40B4-BE49-F238E27FC236}">
                <a16:creationId xmlns:a16="http://schemas.microsoft.com/office/drawing/2014/main" id="{9E4A012E-E2A1-4BE1-8ACC-0AD67FD0C6DC}"/>
              </a:ext>
            </a:extLst>
          </p:cNvPr>
          <p:cNvSpPr txBox="1"/>
          <p:nvPr/>
        </p:nvSpPr>
        <p:spPr>
          <a:xfrm>
            <a:off x="271597" y="357742"/>
            <a:ext cx="44156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1600" dirty="0"/>
              <a:t>Ар бир санды бирдей форматка айландырыңыз:</a:t>
            </a:r>
          </a:p>
          <a:p>
            <a:pPr algn="ctr"/>
            <a:r>
              <a:rPr lang="ru-RU" sz="1600" dirty="0"/>
              <a:t>Ондуктарга</a:t>
            </a:r>
            <a:endParaRPr lang="en-GB" sz="1600" dirty="0"/>
          </a:p>
        </p:txBody>
      </p:sp>
      <p:sp>
        <p:nvSpPr>
          <p:cNvPr id="3" name="Arrow: Down 2">
            <a:extLst>
              <a:ext uri="{FF2B5EF4-FFF2-40B4-BE49-F238E27FC236}">
                <a16:creationId xmlns:a16="http://schemas.microsoft.com/office/drawing/2014/main" id="{8BF99788-195C-469A-9857-9F4C323F87ED}"/>
              </a:ext>
            </a:extLst>
          </p:cNvPr>
          <p:cNvSpPr/>
          <p:nvPr/>
        </p:nvSpPr>
        <p:spPr>
          <a:xfrm>
            <a:off x="621580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1" name="Arrow: Down 50">
            <a:extLst>
              <a:ext uri="{FF2B5EF4-FFF2-40B4-BE49-F238E27FC236}">
                <a16:creationId xmlns:a16="http://schemas.microsoft.com/office/drawing/2014/main" id="{304CB684-EE55-42D3-BEB1-81A1E0E1540F}"/>
              </a:ext>
            </a:extLst>
          </p:cNvPr>
          <p:cNvSpPr/>
          <p:nvPr/>
        </p:nvSpPr>
        <p:spPr>
          <a:xfrm>
            <a:off x="2165517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p:sp>
        <p:nvSpPr>
          <p:cNvPr id="52" name="Arrow: Down 51">
            <a:extLst>
              <a:ext uri="{FF2B5EF4-FFF2-40B4-BE49-F238E27FC236}">
                <a16:creationId xmlns:a16="http://schemas.microsoft.com/office/drawing/2014/main" id="{4BDDDAE5-A9CF-4DEB-A4F4-53992EE6E609}"/>
              </a:ext>
            </a:extLst>
          </p:cNvPr>
          <p:cNvSpPr/>
          <p:nvPr/>
        </p:nvSpPr>
        <p:spPr>
          <a:xfrm>
            <a:off x="3788585" y="2546179"/>
            <a:ext cx="206912" cy="252787"/>
          </a:xfrm>
          <a:prstGeom prst="downArrow">
            <a:avLst>
              <a:gd name="adj1" fmla="val 26576"/>
              <a:gd name="adj2" fmla="val 50000"/>
            </a:avLst>
          </a:prstGeom>
          <a:solidFill>
            <a:schemeClr val="accent5">
              <a:lumMod val="75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 err="1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/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77039806-352B-4EA4-9454-C74491038E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45" y="3372081"/>
                <a:ext cx="548227" cy="92519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/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0.39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082506A-7FC3-4D29-BBDE-DB99B6DBC8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9176" y="3757643"/>
                <a:ext cx="860812" cy="49244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/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B5982F8F-CCF0-48E2-844C-5F70E973D3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236" y="3757643"/>
                <a:ext cx="633187" cy="492443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Box 55">
            <a:extLst>
              <a:ext uri="{FF2B5EF4-FFF2-40B4-BE49-F238E27FC236}">
                <a16:creationId xmlns:a16="http://schemas.microsoft.com/office/drawing/2014/main" id="{848DFFDB-0AD8-404E-9F56-1D256E46281E}"/>
              </a:ext>
            </a:extLst>
          </p:cNvPr>
          <p:cNvSpPr txBox="1"/>
          <p:nvPr/>
        </p:nvSpPr>
        <p:spPr>
          <a:xfrm>
            <a:off x="1828230" y="2800052"/>
            <a:ext cx="87395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÷ 100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/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88C9641-0FFB-4C8A-BF57-79BF9218F2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52522" y="3336912"/>
                <a:ext cx="548227" cy="49244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/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83286FF-08CF-4EC7-98B6-733DE13ABC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75003" y="3605761"/>
                <a:ext cx="399147" cy="49244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F801744-0B2C-4766-A984-D715FAD39F30}"/>
              </a:ext>
            </a:extLst>
          </p:cNvPr>
          <p:cNvSpPr/>
          <p:nvPr/>
        </p:nvSpPr>
        <p:spPr>
          <a:xfrm>
            <a:off x="3580934" y="3208495"/>
            <a:ext cx="751840" cy="151200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Freeform: Shape 58">
            <a:extLst>
              <a:ext uri="{FF2B5EF4-FFF2-40B4-BE49-F238E27FC236}">
                <a16:creationId xmlns:a16="http://schemas.microsoft.com/office/drawing/2014/main" id="{B3E19754-F375-4EB1-9C95-AC766B1160FF}"/>
              </a:ext>
            </a:extLst>
          </p:cNvPr>
          <p:cNvSpPr/>
          <p:nvPr/>
        </p:nvSpPr>
        <p:spPr>
          <a:xfrm flipV="1">
            <a:off x="3580934" y="4373642"/>
            <a:ext cx="751840" cy="150055"/>
          </a:xfrm>
          <a:custGeom>
            <a:avLst/>
            <a:gdLst>
              <a:gd name="connsiteX0" fmla="*/ 0 w 751840"/>
              <a:gd name="connsiteY0" fmla="*/ 314973 h 314973"/>
              <a:gd name="connsiteX1" fmla="*/ 386080 w 751840"/>
              <a:gd name="connsiteY1" fmla="*/ 13 h 314973"/>
              <a:gd name="connsiteX2" fmla="*/ 751840 w 751840"/>
              <a:gd name="connsiteY2" fmla="*/ 304813 h 3149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51840" h="314973">
                <a:moveTo>
                  <a:pt x="0" y="314973"/>
                </a:moveTo>
                <a:cubicBezTo>
                  <a:pt x="130386" y="158339"/>
                  <a:pt x="260773" y="1706"/>
                  <a:pt x="386080" y="13"/>
                </a:cubicBezTo>
                <a:cubicBezTo>
                  <a:pt x="511387" y="-1680"/>
                  <a:pt x="631613" y="151566"/>
                  <a:pt x="751840" y="304813"/>
                </a:cubicBezTo>
              </a:path>
            </a:pathLst>
          </a:custGeom>
          <a:noFill/>
          <a:ln w="19050">
            <a:solidFill>
              <a:schemeClr val="tx1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/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= 0.42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B31BE553-FAD3-4557-8960-83B443187C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4686" y="4803631"/>
                <a:ext cx="1370760" cy="49244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/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0.4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772BEC00-FF51-4B57-97A7-F48979D768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2268" y="6033860"/>
                <a:ext cx="633187" cy="49244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/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3200" b="0" i="1" smtClean="0">
                          <a:latin typeface="Cambria Math" panose="02040503050406030204" pitchFamily="18" charset="0"/>
                        </a:rPr>
                        <m:t>39%</m:t>
                      </m:r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3962D52-F8F7-4582-8C10-E6A583B40EE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013" y="6033860"/>
                <a:ext cx="913712" cy="492443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/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3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en-GB" sz="3200" b="0" i="1" smtClean="0">
                              <a:latin typeface="Cambria Math" panose="02040503050406030204" pitchFamily="18" charset="0"/>
                            </a:rPr>
                            <m:t>50</m:t>
                          </m:r>
                        </m:den>
                      </m:f>
                    </m:oMath>
                  </m:oMathPara>
                </a14:m>
                <a:endParaRPr lang="en-GB" sz="32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8A1F94C-7446-4606-8A1A-CB2D706D1C4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2390" y="5817486"/>
                <a:ext cx="940597" cy="925190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7" name="TextBox 66">
            <a:extLst>
              <a:ext uri="{FF2B5EF4-FFF2-40B4-BE49-F238E27FC236}">
                <a16:creationId xmlns:a16="http://schemas.microsoft.com/office/drawing/2014/main" id="{01D3C868-59E2-4D5F-867E-EC2A0C447A1F}"/>
              </a:ext>
            </a:extLst>
          </p:cNvPr>
          <p:cNvSpPr txBox="1"/>
          <p:nvPr/>
        </p:nvSpPr>
        <p:spPr>
          <a:xfrm>
            <a:off x="3618241" y="2806878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52F217FA-4666-440A-BFE0-F12BEBED9172}"/>
              </a:ext>
            </a:extLst>
          </p:cNvPr>
          <p:cNvSpPr txBox="1"/>
          <p:nvPr/>
        </p:nvSpPr>
        <p:spPr>
          <a:xfrm>
            <a:off x="3618241" y="4446702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sz="2400" dirty="0"/>
              <a:t>× 2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DA6214B-52A8-499F-AAE2-BA599F0694CB}"/>
              </a:ext>
            </a:extLst>
          </p:cNvPr>
          <p:cNvSpPr txBox="1"/>
          <p:nvPr/>
        </p:nvSpPr>
        <p:spPr>
          <a:xfrm>
            <a:off x="2132327" y="41451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005ACFB-9C96-4CA9-BF1F-834E498AE2CF}"/>
              </a:ext>
            </a:extLst>
          </p:cNvPr>
          <p:cNvSpPr txBox="1"/>
          <p:nvPr/>
        </p:nvSpPr>
        <p:spPr>
          <a:xfrm>
            <a:off x="244914" y="4183246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C51AD9BA-58B0-490F-B8FB-FA9069499CC7}"/>
              </a:ext>
            </a:extLst>
          </p:cNvPr>
          <p:cNvSpPr txBox="1"/>
          <p:nvPr/>
        </p:nvSpPr>
        <p:spPr>
          <a:xfrm>
            <a:off x="4397811" y="5162118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③</a:t>
            </a:r>
            <a:endParaRPr lang="en-GB" sz="2400" b="1" dirty="0">
              <a:solidFill>
                <a:srgbClr val="FF0000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5C36011-A2CA-4401-AAA2-051C78921F66}"/>
              </a:ext>
            </a:extLst>
          </p:cNvPr>
          <p:cNvCxnSpPr>
            <a:cxnSpLocks/>
          </p:cNvCxnSpPr>
          <p:nvPr/>
        </p:nvCxnSpPr>
        <p:spPr>
          <a:xfrm>
            <a:off x="1573822" y="5468812"/>
            <a:ext cx="1811215" cy="0"/>
          </a:xfrm>
          <a:prstGeom prst="line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5D68FB24-40E3-42C5-92CE-E23B80E0B8B5}"/>
              </a:ext>
            </a:extLst>
          </p:cNvPr>
          <p:cNvSpPr txBox="1"/>
          <p:nvPr/>
        </p:nvSpPr>
        <p:spPr>
          <a:xfrm>
            <a:off x="638456" y="5515891"/>
            <a:ext cx="3681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2000" dirty="0"/>
              <a:t>Түпнуска </a:t>
            </a:r>
            <a:r>
              <a:rPr lang="ky-KG" sz="2000" b="1" dirty="0"/>
              <a:t>сандарды</a:t>
            </a:r>
            <a:r>
              <a:rPr lang="ru-RU" sz="2000" b="1" dirty="0"/>
              <a:t> ир</a:t>
            </a:r>
            <a:r>
              <a:rPr lang="ky-KG" sz="2000" b="1" dirty="0"/>
              <a:t>ээттеңиз</a:t>
            </a:r>
            <a:r>
              <a:rPr lang="ky-KG" sz="2000" dirty="0"/>
              <a:t>.</a:t>
            </a:r>
            <a:endParaRPr lang="en-GB" sz="20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06C1D5-1FA8-E82F-F7FC-CF99D522F82D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0" y="39747"/>
            <a:ext cx="4991243" cy="679115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C8CF284-5DD3-5155-D7FB-6182776DBB2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163799" y="56339"/>
            <a:ext cx="4649220" cy="6745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03901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50" grpId="0"/>
      <p:bldP spid="3" grpId="0" animBg="1"/>
      <p:bldP spid="51" grpId="0" animBg="1"/>
      <p:bldP spid="52" grpId="0" animBg="1"/>
      <p:bldP spid="53" grpId="0"/>
      <p:bldP spid="54" grpId="0"/>
      <p:bldP spid="55" grpId="0"/>
      <p:bldP spid="56" grpId="0"/>
      <p:bldP spid="57" grpId="0"/>
      <p:bldP spid="58" grpId="0"/>
      <p:bldP spid="5" grpId="0" animBg="1"/>
      <p:bldP spid="59" grpId="0" animBg="1"/>
      <p:bldP spid="60" grpId="0"/>
      <p:bldP spid="61" grpId="0"/>
      <p:bldP spid="62" grpId="0"/>
      <p:bldP spid="63" grpId="0"/>
      <p:bldP spid="67" grpId="0"/>
      <p:bldP spid="68" grpId="0"/>
      <p:bldP spid="37" grpId="0"/>
      <p:bldP spid="38" grpId="0"/>
      <p:bldP spid="39" grpId="0"/>
      <p:bldP spid="4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i="1" smtClean="0">
                          <a:latin typeface="Cambria Math" panose="02040503050406030204" pitchFamily="18" charset="0"/>
                        </a:rPr>
                        <m:t>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34A46C22-29F5-3098-7C9C-FD1B17CB467D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/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404E514-B434-C59C-D16B-AFEC68D6A8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12666" y="2403253"/>
                <a:ext cx="200375" cy="57708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14B164A0-6C68-1790-A450-3DBCEBB65FEC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9599" y="1599829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1C913A76-100E-6E31-1650-5F92C791F928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D4265-ABEF-FB80-D9B2-56EDBC0B9EF6}"/>
              </a:ext>
            </a:extLst>
          </p:cNvPr>
          <p:cNvSpPr txBox="1"/>
          <p:nvPr/>
        </p:nvSpPr>
        <p:spPr>
          <a:xfrm>
            <a:off x="8880742" y="114155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①</a:t>
            </a:r>
            <a:endParaRPr lang="en-GB" sz="2400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7687" y="4481649"/>
                <a:ext cx="248466" cy="307777"/>
              </a:xfrm>
              <a:prstGeom prst="rect">
                <a:avLst/>
              </a:prstGeom>
              <a:blipFill>
                <a:blip r:embed="rId5"/>
                <a:stretch>
                  <a:fillRect l="-60976" t="-25490" r="-4878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AC63CE1-3FA9-B224-0627-9E2EE5A78D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9071089"/>
              </p:ext>
            </p:extLst>
          </p:nvPr>
        </p:nvGraphicFramePr>
        <p:xfrm>
          <a:off x="6137320" y="1697369"/>
          <a:ext cx="2341176" cy="189149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0392">
                  <a:extLst>
                    <a:ext uri="{9D8B030D-6E8A-4147-A177-3AD203B41FA5}">
                      <a16:colId xmlns:a16="http://schemas.microsoft.com/office/drawing/2014/main" val="4011859080"/>
                    </a:ext>
                  </a:extLst>
                </a:gridCol>
                <a:gridCol w="780392">
                  <a:extLst>
                    <a:ext uri="{9D8B030D-6E8A-4147-A177-3AD203B41FA5}">
                      <a16:colId xmlns:a16="http://schemas.microsoft.com/office/drawing/2014/main" val="3715397478"/>
                    </a:ext>
                  </a:extLst>
                </a:gridCol>
                <a:gridCol w="780392">
                  <a:extLst>
                    <a:ext uri="{9D8B030D-6E8A-4147-A177-3AD203B41FA5}">
                      <a16:colId xmlns:a16="http://schemas.microsoft.com/office/drawing/2014/main" val="2316878995"/>
                    </a:ext>
                  </a:extLst>
                </a:gridCol>
              </a:tblGrid>
              <a:tr h="6304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394257"/>
                  </a:ext>
                </a:extLst>
              </a:tr>
              <a:tr h="630498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08214960"/>
                  </a:ext>
                </a:extLst>
              </a:tr>
              <a:tr h="63049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141711"/>
                  </a:ext>
                </a:extLst>
              </a:tr>
            </a:tbl>
          </a:graphicData>
        </a:graphic>
      </p:graphicFrame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491549" y="1589391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794362" y="1869843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949045" y="1415163"/>
            <a:ext cx="152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7921864" y="136128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5360956" y="3429000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ky-KG" sz="2000" dirty="0"/>
                  <a:t>9</a:t>
                </a:r>
                <a:endParaRPr lang="en-GB" sz="2000" dirty="0"/>
              </a:p>
            </p:txBody>
          </p:sp>
        </mc:Choice>
        <mc:Fallback xmlns="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8711" y="2620895"/>
                <a:ext cx="325410" cy="307777"/>
              </a:xfrm>
              <a:prstGeom prst="rect">
                <a:avLst/>
              </a:prstGeom>
              <a:blipFill>
                <a:blip r:embed="rId6"/>
                <a:stretch>
                  <a:fillRect l="-25926" t="-26000" r="-46296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6254" y="3256757"/>
                <a:ext cx="200375" cy="5761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827100" y="3657744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13456" y="3366164"/>
            <a:ext cx="399005" cy="399005"/>
          </a:xfrm>
          <a:prstGeom prst="rect">
            <a:avLst/>
          </a:prstGeom>
        </p:spPr>
      </p:pic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6660458" y="4336658"/>
            <a:ext cx="1261406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6171914" y="4663446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5134360" y="4186137"/>
            <a:ext cx="1547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8000077" y="4117625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5699196" y="6224944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8031737" y="6470186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9710" y="1667288"/>
                <a:ext cx="343043" cy="57823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77944" y="1669904"/>
                <a:ext cx="570669" cy="307777"/>
              </a:xfrm>
              <a:prstGeom prst="rect">
                <a:avLst/>
              </a:prstGeom>
              <a:blipFill>
                <a:blip r:embed="rId11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5029" y="2424049"/>
                <a:ext cx="441448" cy="57618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/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0A28CEC6-F886-EB83-B87B-834C93F83C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56654" y="3507731"/>
                <a:ext cx="594715" cy="307777"/>
              </a:xfrm>
              <a:prstGeom prst="rect">
                <a:avLst/>
              </a:prstGeom>
              <a:blipFill>
                <a:blip r:embed="rId13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6319" y="3417734"/>
                <a:ext cx="570669" cy="307777"/>
              </a:xfrm>
              <a:prstGeom prst="rect">
                <a:avLst/>
              </a:prstGeom>
              <a:blipFill>
                <a:blip r:embed="rId14"/>
                <a:stretch>
                  <a:fillRect l="-9574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27022" y="1509102"/>
                <a:ext cx="200375" cy="576183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/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5" name="TextBox 244">
                <a:extLst>
                  <a:ext uri="{FF2B5EF4-FFF2-40B4-BE49-F238E27FC236}">
                    <a16:creationId xmlns:a16="http://schemas.microsoft.com/office/drawing/2014/main" id="{8ABCD862-46E4-4492-865D-6160824323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4661" y="4370803"/>
                <a:ext cx="343043" cy="577146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46" name="TextBox 245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68287" y="4481650"/>
                <a:ext cx="570669" cy="307777"/>
              </a:xfrm>
              <a:prstGeom prst="rect">
                <a:avLst/>
              </a:prstGeom>
              <a:blipFill>
                <a:blip r:embed="rId17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7" name="TextBox 246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8785" y="4984718"/>
                <a:ext cx="441448" cy="576183"/>
              </a:xfrm>
              <a:prstGeom prst="rect">
                <a:avLst/>
              </a:prstGeom>
              <a:blipFill>
                <a:blip r:embed="rId18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8" name="TextBox 247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7" y="5144872"/>
                <a:ext cx="538609" cy="307777"/>
              </a:xfrm>
              <a:prstGeom prst="rect">
                <a:avLst/>
              </a:prstGeom>
              <a:blipFill>
                <a:blip r:embed="rId19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/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9F37CA45-CE1E-90E9-912B-F4DC31C3D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2105" y="6225362"/>
                <a:ext cx="343043" cy="57708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0" name="TextBox 249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6876" y="6417911"/>
                <a:ext cx="538609" cy="307777"/>
              </a:xfrm>
              <a:prstGeom prst="rect">
                <a:avLst/>
              </a:prstGeom>
              <a:blipFill>
                <a:blip r:embed="rId21"/>
                <a:stretch>
                  <a:fillRect l="-10112" r="-1011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1" name="TextBox 250">
            <a:extLst>
              <a:ext uri="{FF2B5EF4-FFF2-40B4-BE49-F238E27FC236}">
                <a16:creationId xmlns:a16="http://schemas.microsoft.com/office/drawing/2014/main" id="{0BAF77D5-B49D-F8FA-82F8-1E9A54507419}"/>
              </a:ext>
            </a:extLst>
          </p:cNvPr>
          <p:cNvSpPr txBox="1"/>
          <p:nvPr/>
        </p:nvSpPr>
        <p:spPr>
          <a:xfrm>
            <a:off x="2119429" y="4469828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/>
              <p:nvPr/>
            </p:nvSpPr>
            <p:spPr>
              <a:xfrm>
                <a:off x="3597448" y="5066873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2" name="TextBox 251">
                <a:extLst>
                  <a:ext uri="{FF2B5EF4-FFF2-40B4-BE49-F238E27FC236}">
                    <a16:creationId xmlns:a16="http://schemas.microsoft.com/office/drawing/2014/main" id="{23CC0DB6-0905-8112-3EB1-F4E1A22C3B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97448" y="5066873"/>
                <a:ext cx="570669" cy="307777"/>
              </a:xfrm>
              <a:prstGeom prst="rect">
                <a:avLst/>
              </a:prstGeom>
              <a:blipFill>
                <a:blip r:embed="rId2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/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53" name="TextBox 252">
                <a:extLst>
                  <a:ext uri="{FF2B5EF4-FFF2-40B4-BE49-F238E27FC236}">
                    <a16:creationId xmlns:a16="http://schemas.microsoft.com/office/drawing/2014/main" id="{952EAC22-5974-65D8-E53A-D7EDB16166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63933" y="6159569"/>
                <a:ext cx="200375" cy="576183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557B645E-6B0B-D0C6-624B-CC918146AD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34702046"/>
              </p:ext>
            </p:extLst>
          </p:nvPr>
        </p:nvGraphicFramePr>
        <p:xfrm>
          <a:off x="6581299" y="4472508"/>
          <a:ext cx="2078946" cy="19521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92982">
                  <a:extLst>
                    <a:ext uri="{9D8B030D-6E8A-4147-A177-3AD203B41FA5}">
                      <a16:colId xmlns:a16="http://schemas.microsoft.com/office/drawing/2014/main" val="1128243535"/>
                    </a:ext>
                  </a:extLst>
                </a:gridCol>
                <a:gridCol w="692982">
                  <a:extLst>
                    <a:ext uri="{9D8B030D-6E8A-4147-A177-3AD203B41FA5}">
                      <a16:colId xmlns:a16="http://schemas.microsoft.com/office/drawing/2014/main" val="2750885493"/>
                    </a:ext>
                  </a:extLst>
                </a:gridCol>
                <a:gridCol w="692982">
                  <a:extLst>
                    <a:ext uri="{9D8B030D-6E8A-4147-A177-3AD203B41FA5}">
                      <a16:colId xmlns:a16="http://schemas.microsoft.com/office/drawing/2014/main" val="3344932021"/>
                    </a:ext>
                  </a:extLst>
                </a:gridCol>
              </a:tblGrid>
              <a:tr h="457235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5378138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8719601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2243323"/>
                  </a:ext>
                </a:extLst>
              </a:tr>
              <a:tr h="49831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02463512"/>
                  </a:ext>
                </a:extLst>
              </a:tr>
            </a:tbl>
          </a:graphicData>
        </a:graphic>
      </p:graphicFrame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2422567">
            <a:off x="8188314" y="6256944"/>
            <a:ext cx="399005" cy="39900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/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96BF5EFC-19F8-C7E3-89CF-A55C69AC8C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349" y="5581334"/>
                <a:ext cx="441448" cy="578235"/>
              </a:xfrm>
              <a:prstGeom prst="rect">
                <a:avLst/>
              </a:prstGeom>
              <a:blipFill>
                <a:blip r:embed="rId2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/>
              <p:nvPr/>
            </p:nvSpPr>
            <p:spPr>
              <a:xfrm>
                <a:off x="2119429" y="5768014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AAF6EAA-7792-DB89-DE54-1922C5BCCE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19429" y="5768014"/>
                <a:ext cx="570669" cy="307777"/>
              </a:xfrm>
              <a:prstGeom prst="rect">
                <a:avLst/>
              </a:prstGeom>
              <a:blipFill>
                <a:blip r:embed="rId25"/>
                <a:stretch>
                  <a:fillRect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/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E9F82B9-53EF-500C-5787-A1E9ACF59F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3397" y="5452649"/>
                <a:ext cx="441448" cy="576248"/>
              </a:xfrm>
              <a:prstGeom prst="rect">
                <a:avLst/>
              </a:prstGeom>
              <a:blipFill>
                <a:blip r:embed="rId2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CA72C3-21A5-FB30-D158-113F31CCA63A}"/>
                  </a:ext>
                </a:extLst>
              </p:cNvPr>
              <p:cNvSpPr txBox="1"/>
              <p:nvPr/>
            </p:nvSpPr>
            <p:spPr>
              <a:xfrm>
                <a:off x="6295777" y="1813625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41CA72C3-21A5-FB30-D158-113F31CCA6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95777" y="1813625"/>
                <a:ext cx="441448" cy="462627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9E79D-3BFF-0EEF-01B4-B7ED3FC6C92A}"/>
                  </a:ext>
                </a:extLst>
              </p:cNvPr>
              <p:cNvSpPr txBox="1"/>
              <p:nvPr/>
            </p:nvSpPr>
            <p:spPr>
              <a:xfrm>
                <a:off x="7072263" y="1953416"/>
                <a:ext cx="514563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b="0" i="1" smtClean="0">
                          <a:latin typeface="Cambria Math" panose="02040503050406030204" pitchFamily="18" charset="0"/>
                        </a:rPr>
                        <m:t>22</m:t>
                      </m:r>
                      <m:r>
                        <a:rPr lang="en-GB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3D9E79D-3BFF-0EEF-01B4-B7ED3FC6C9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72263" y="1953416"/>
                <a:ext cx="514563" cy="276999"/>
              </a:xfrm>
              <a:prstGeom prst="rect">
                <a:avLst/>
              </a:prstGeom>
              <a:blipFill>
                <a:blip r:embed="rId28"/>
                <a:stretch>
                  <a:fillRect l="-9412" r="-12941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B394FD-594B-D560-C1F6-B21481CF5961}"/>
                  </a:ext>
                </a:extLst>
              </p:cNvPr>
              <p:cNvSpPr txBox="1"/>
              <p:nvPr/>
            </p:nvSpPr>
            <p:spPr>
              <a:xfrm>
                <a:off x="7877971" y="1748147"/>
                <a:ext cx="309380" cy="5203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DB394FD-594B-D560-C1F6-B21481CF5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7971" y="1748147"/>
                <a:ext cx="309380" cy="520399"/>
              </a:xfrm>
              <a:prstGeom prst="rect">
                <a:avLst/>
              </a:prstGeom>
              <a:blipFill>
                <a:blip r:embed="rId2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032919-3FEA-0AC5-8BC3-49D2E920DF56}"/>
                  </a:ext>
                </a:extLst>
              </p:cNvPr>
              <p:cNvSpPr txBox="1"/>
              <p:nvPr/>
            </p:nvSpPr>
            <p:spPr>
              <a:xfrm>
                <a:off x="6237729" y="2593437"/>
                <a:ext cx="59471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43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D7032919-3FEA-0AC5-8BC3-49D2E920DF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7729" y="2593437"/>
                <a:ext cx="594715" cy="307777"/>
              </a:xfrm>
              <a:prstGeom prst="rect">
                <a:avLst/>
              </a:prstGeom>
              <a:blipFill>
                <a:blip r:embed="rId30"/>
                <a:stretch>
                  <a:fillRect r="-918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26A7E0-3E52-04EB-F48D-947871ED07A9}"/>
                  </a:ext>
                </a:extLst>
              </p:cNvPr>
              <p:cNvSpPr txBox="1"/>
              <p:nvPr/>
            </p:nvSpPr>
            <p:spPr>
              <a:xfrm>
                <a:off x="7250481" y="2403701"/>
                <a:ext cx="169918" cy="46102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r>
                            <a:rPr lang="ky-KG" sz="1600" b="1" i="1" smtClean="0">
                              <a:latin typeface="Cambria Math" panose="02040503050406030204" pitchFamily="18" charset="0"/>
                            </a:rPr>
                            <m:t>𝟐</m:t>
                          </m:r>
                        </m:den>
                      </m:f>
                    </m:oMath>
                  </m:oMathPara>
                </a14:m>
                <a:endParaRPr lang="en-GB" sz="1600" b="1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A26A7E0-3E52-04EB-F48D-947871ED07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50481" y="2403701"/>
                <a:ext cx="169918" cy="461024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59B6AB-C6CA-4BCF-039D-9CABBFE37B62}"/>
                  </a:ext>
                </a:extLst>
              </p:cNvPr>
              <p:cNvSpPr txBox="1"/>
              <p:nvPr/>
            </p:nvSpPr>
            <p:spPr>
              <a:xfrm>
                <a:off x="7846712" y="2543976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6D59B6AB-C6CA-4BCF-039D-9CABBFE37B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46712" y="2543976"/>
                <a:ext cx="570669" cy="307777"/>
              </a:xfrm>
              <a:prstGeom prst="rect">
                <a:avLst/>
              </a:prstGeom>
              <a:blipFill>
                <a:blip r:embed="rId32"/>
                <a:stretch>
                  <a:fillRect l="-9574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4AB6A7-26E2-2D66-498B-42B80E888EE6}"/>
                  </a:ext>
                </a:extLst>
              </p:cNvPr>
              <p:cNvSpPr txBox="1"/>
              <p:nvPr/>
            </p:nvSpPr>
            <p:spPr>
              <a:xfrm>
                <a:off x="6361484" y="3023056"/>
                <a:ext cx="470959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04AB6A7-26E2-2D66-498B-42B80E888E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61484" y="3023056"/>
                <a:ext cx="470959" cy="461024"/>
              </a:xfrm>
              <a:prstGeom prst="rect">
                <a:avLst/>
              </a:prstGeom>
              <a:blipFill>
                <a:blip r:embed="rId3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7765FC-4F62-BBC7-4ABC-8DE684BF3671}"/>
                  </a:ext>
                </a:extLst>
              </p:cNvPr>
              <p:cNvSpPr txBox="1"/>
              <p:nvPr/>
            </p:nvSpPr>
            <p:spPr>
              <a:xfrm>
                <a:off x="7182458" y="3023056"/>
                <a:ext cx="361092" cy="461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627765FC-4F62-BBC7-4ABC-8DE684BF367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82458" y="3023056"/>
                <a:ext cx="361092" cy="461729"/>
              </a:xfrm>
              <a:prstGeom prst="rect">
                <a:avLst/>
              </a:prstGeom>
              <a:blipFill>
                <a:blip r:embed="rId3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4E4A1F-F6AA-676B-EAFE-24E9887F11BC}"/>
                  </a:ext>
                </a:extLst>
              </p:cNvPr>
              <p:cNvSpPr txBox="1"/>
              <p:nvPr/>
            </p:nvSpPr>
            <p:spPr>
              <a:xfrm>
                <a:off x="7929467" y="3119603"/>
                <a:ext cx="32541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n-GB" sz="20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ky-KG" sz="2000" dirty="0"/>
                  <a:t>9</a:t>
                </a:r>
                <a:endParaRPr lang="en-GB" sz="2000" dirty="0"/>
              </a:p>
            </p:txBody>
          </p:sp>
        </mc:Choice>
        <mc:Fallback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6E4E4A1F-F6AA-676B-EAFE-24E9887F1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29467" y="3119603"/>
                <a:ext cx="325410" cy="307777"/>
              </a:xfrm>
              <a:prstGeom prst="rect">
                <a:avLst/>
              </a:prstGeom>
              <a:blipFill>
                <a:blip r:embed="rId35"/>
                <a:stretch>
                  <a:fillRect l="-28302" t="-26000" r="-47170" b="-5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D4DFC96-53DA-23B8-0F5B-BE33CF50695C}"/>
                  </a:ext>
                </a:extLst>
              </p:cNvPr>
              <p:cNvSpPr txBox="1"/>
              <p:nvPr/>
            </p:nvSpPr>
            <p:spPr>
              <a:xfrm>
                <a:off x="6758875" y="4546794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</a:rPr>
                        <m:t>5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CD4DFC96-53DA-23B8-0F5B-BE33CF5069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58875" y="4546794"/>
                <a:ext cx="570669" cy="307777"/>
              </a:xfrm>
              <a:prstGeom prst="rect">
                <a:avLst/>
              </a:prstGeom>
              <a:blipFill>
                <a:blip r:embed="rId36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462996-0805-C2F0-92E0-44ABDFD3DEE3}"/>
                  </a:ext>
                </a:extLst>
              </p:cNvPr>
              <p:cNvSpPr txBox="1"/>
              <p:nvPr/>
            </p:nvSpPr>
            <p:spPr>
              <a:xfrm>
                <a:off x="7437516" y="4453180"/>
                <a:ext cx="405859" cy="46172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A462996-0805-C2F0-92E0-44ABDFD3DE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37516" y="4453180"/>
                <a:ext cx="405859" cy="461729"/>
              </a:xfrm>
              <a:prstGeom prst="rect">
                <a:avLst/>
              </a:prstGeom>
              <a:blipFill>
                <a:blip r:embed="rId3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947B07-B36E-E2E2-8366-2428ABE53D74}"/>
                  </a:ext>
                </a:extLst>
              </p:cNvPr>
              <p:cNvSpPr txBox="1"/>
              <p:nvPr/>
            </p:nvSpPr>
            <p:spPr>
              <a:xfrm>
                <a:off x="8118385" y="4449847"/>
                <a:ext cx="298996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B947B07-B36E-E2E2-8366-2428ABE53D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18385" y="4449847"/>
                <a:ext cx="298996" cy="461024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TextBox 30">
            <a:extLst>
              <a:ext uri="{FF2B5EF4-FFF2-40B4-BE49-F238E27FC236}">
                <a16:creationId xmlns:a16="http://schemas.microsoft.com/office/drawing/2014/main" id="{4895970D-AAB5-B8AA-DA0E-91C08B297774}"/>
              </a:ext>
            </a:extLst>
          </p:cNvPr>
          <p:cNvSpPr txBox="1"/>
          <p:nvPr/>
        </p:nvSpPr>
        <p:spPr>
          <a:xfrm>
            <a:off x="6728241" y="5006742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E430E956-4CC4-8E6F-3801-3EA889C0767A}"/>
                  </a:ext>
                </a:extLst>
              </p:cNvPr>
              <p:cNvSpPr txBox="1"/>
              <p:nvPr/>
            </p:nvSpPr>
            <p:spPr>
              <a:xfrm>
                <a:off x="7419721" y="4951871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4" name="TextBox 223">
                <a:extLst>
                  <a:ext uri="{FF2B5EF4-FFF2-40B4-BE49-F238E27FC236}">
                    <a16:creationId xmlns:a16="http://schemas.microsoft.com/office/drawing/2014/main" id="{E430E956-4CC4-8E6F-3801-3EA889C076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21" y="4951871"/>
                <a:ext cx="441448" cy="462627"/>
              </a:xfrm>
              <a:prstGeom prst="rect">
                <a:avLst/>
              </a:prstGeom>
              <a:blipFill>
                <a:blip r:embed="rId3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82971691-540F-7A14-D5E2-5A23C565F1F3}"/>
                  </a:ext>
                </a:extLst>
              </p:cNvPr>
              <p:cNvSpPr txBox="1"/>
              <p:nvPr/>
            </p:nvSpPr>
            <p:spPr>
              <a:xfrm>
                <a:off x="8175901" y="4947949"/>
                <a:ext cx="274114" cy="4617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5" name="TextBox 224">
                <a:extLst>
                  <a:ext uri="{FF2B5EF4-FFF2-40B4-BE49-F238E27FC236}">
                    <a16:creationId xmlns:a16="http://schemas.microsoft.com/office/drawing/2014/main" id="{82971691-540F-7A14-D5E2-5A23C565F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75901" y="4947949"/>
                <a:ext cx="274114" cy="461729"/>
              </a:xfrm>
              <a:prstGeom prst="rect">
                <a:avLst/>
              </a:prstGeom>
              <a:blipFill>
                <a:blip r:embed="rId4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32F8413-4C8D-EFEB-1FA3-3B84E032058E}"/>
                  </a:ext>
                </a:extLst>
              </p:cNvPr>
              <p:cNvSpPr txBox="1"/>
              <p:nvPr/>
            </p:nvSpPr>
            <p:spPr>
              <a:xfrm>
                <a:off x="6660458" y="5540563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6" name="TextBox 225">
                <a:extLst>
                  <a:ext uri="{FF2B5EF4-FFF2-40B4-BE49-F238E27FC236}">
                    <a16:creationId xmlns:a16="http://schemas.microsoft.com/office/drawing/2014/main" id="{332F8413-4C8D-EFEB-1FA3-3B84E0320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458" y="5540563"/>
                <a:ext cx="570669" cy="307777"/>
              </a:xfrm>
              <a:prstGeom prst="rect">
                <a:avLst/>
              </a:prstGeom>
              <a:blipFill>
                <a:blip r:embed="rId41"/>
                <a:stretch>
                  <a:fillRect l="-10753" r="-1075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B9F4933-AC1D-E1ED-6F9F-FD1190E73918}"/>
                  </a:ext>
                </a:extLst>
              </p:cNvPr>
              <p:cNvSpPr txBox="1"/>
              <p:nvPr/>
            </p:nvSpPr>
            <p:spPr>
              <a:xfrm>
                <a:off x="6650690" y="6071055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7" name="TextBox 226">
                <a:extLst>
                  <a:ext uri="{FF2B5EF4-FFF2-40B4-BE49-F238E27FC236}">
                    <a16:creationId xmlns:a16="http://schemas.microsoft.com/office/drawing/2014/main" id="{7B9F4933-AC1D-E1ED-6F9F-FD1190E739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50690" y="6071055"/>
                <a:ext cx="570669" cy="307777"/>
              </a:xfrm>
              <a:prstGeom prst="rect">
                <a:avLst/>
              </a:prstGeom>
              <a:blipFill>
                <a:blip r:embed="rId42"/>
                <a:stretch>
                  <a:fillRect l="-10638" r="-9574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535A131B-AD20-10D4-89E9-0DDFA1554293}"/>
                  </a:ext>
                </a:extLst>
              </p:cNvPr>
              <p:cNvSpPr txBox="1"/>
              <p:nvPr/>
            </p:nvSpPr>
            <p:spPr>
              <a:xfrm>
                <a:off x="7419721" y="553285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62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28" name="TextBox 227">
                <a:extLst>
                  <a:ext uri="{FF2B5EF4-FFF2-40B4-BE49-F238E27FC236}">
                    <a16:creationId xmlns:a16="http://schemas.microsoft.com/office/drawing/2014/main" id="{535A131B-AD20-10D4-89E9-0DDFA15542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19721" y="5532857"/>
                <a:ext cx="538609" cy="307777"/>
              </a:xfrm>
              <a:prstGeom prst="rect">
                <a:avLst/>
              </a:prstGeom>
              <a:blipFill>
                <a:blip r:embed="rId43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7E82BF8-89E1-7C4D-873F-223F775AC3D4}"/>
                  </a:ext>
                </a:extLst>
              </p:cNvPr>
              <p:cNvSpPr txBox="1"/>
              <p:nvPr/>
            </p:nvSpPr>
            <p:spPr>
              <a:xfrm>
                <a:off x="8085867" y="5447981"/>
                <a:ext cx="441448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29" name="TextBox 228">
                <a:extLst>
                  <a:ext uri="{FF2B5EF4-FFF2-40B4-BE49-F238E27FC236}">
                    <a16:creationId xmlns:a16="http://schemas.microsoft.com/office/drawing/2014/main" id="{37E82BF8-89E1-7C4D-873F-223F775AC3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85867" y="5447981"/>
                <a:ext cx="441448" cy="461024"/>
              </a:xfrm>
              <a:prstGeom prst="rect">
                <a:avLst/>
              </a:prstGeom>
              <a:blipFill>
                <a:blip r:embed="rId4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A0613FDD-2451-B448-68BE-2204C2C216A8}"/>
                  </a:ext>
                </a:extLst>
              </p:cNvPr>
              <p:cNvSpPr txBox="1"/>
              <p:nvPr/>
            </p:nvSpPr>
            <p:spPr>
              <a:xfrm>
                <a:off x="7371140" y="607105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89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30" name="TextBox 229">
                <a:extLst>
                  <a:ext uri="{FF2B5EF4-FFF2-40B4-BE49-F238E27FC236}">
                    <a16:creationId xmlns:a16="http://schemas.microsoft.com/office/drawing/2014/main" id="{A0613FDD-2451-B448-68BE-2204C2C216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71140" y="6071054"/>
                <a:ext cx="538609" cy="307777"/>
              </a:xfrm>
              <a:prstGeom prst="rect">
                <a:avLst/>
              </a:prstGeom>
              <a:blipFill>
                <a:blip r:embed="rId45"/>
                <a:stretch>
                  <a:fillRect l="-10112" r="-1011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D588FB9-4F94-2EF9-A912-46E02CA436FA}"/>
                  </a:ext>
                </a:extLst>
              </p:cNvPr>
              <p:cNvSpPr txBox="1"/>
              <p:nvPr/>
            </p:nvSpPr>
            <p:spPr>
              <a:xfrm>
                <a:off x="8047159" y="5937719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231" name="TextBox 230">
                <a:extLst>
                  <a:ext uri="{FF2B5EF4-FFF2-40B4-BE49-F238E27FC236}">
                    <a16:creationId xmlns:a16="http://schemas.microsoft.com/office/drawing/2014/main" id="{FD588FB9-4F94-2EF9-A912-46E02CA436F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47159" y="5937719"/>
                <a:ext cx="441448" cy="462627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192546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1950" dirty="0"/>
              </a:p>
            </p:txBody>
          </p:sp>
        </mc:Choice>
        <mc:Fallback>
          <p:sp>
            <p:nvSpPr>
              <p:cNvPr id="51" name="Rectangle: Rounded Corners 50">
                <a:extLst>
                  <a:ext uri="{FF2B5EF4-FFF2-40B4-BE49-F238E27FC236}">
                    <a16:creationId xmlns:a16="http://schemas.microsoft.com/office/drawing/2014/main" id="{2AAE91E9-0EE3-D8DF-8A63-90EE2488245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478" y="87359"/>
                <a:ext cx="9650844" cy="6683282"/>
              </a:xfrm>
              <a:prstGeom prst="roundRect">
                <a:avLst>
                  <a:gd name="adj" fmla="val 5156"/>
                </a:avLst>
              </a:prstGeom>
              <a:blipFill>
                <a:blip r:embed="rId2"/>
                <a:stretch>
                  <a:fillRect/>
                </a:stretch>
              </a:blipFill>
              <a:ln w="127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F404E514-B434-C59C-D16B-AFEC68D6A8F9}"/>
              </a:ext>
            </a:extLst>
          </p:cNvPr>
          <p:cNvSpPr txBox="1"/>
          <p:nvPr/>
        </p:nvSpPr>
        <p:spPr>
          <a:xfrm>
            <a:off x="3152465" y="5089375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0.33</a:t>
            </a:r>
            <a:endParaRPr lang="en-GB" sz="20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BCD862-46E4-4492-865D-6160824323ED}"/>
              </a:ext>
            </a:extLst>
          </p:cNvPr>
          <p:cNvSpPr txBox="1"/>
          <p:nvPr/>
        </p:nvSpPr>
        <p:spPr>
          <a:xfrm>
            <a:off x="966049" y="1212607"/>
            <a:ext cx="4424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80%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/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65E776C-A6C9-7417-52C7-A9D451FE64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69081" y="1237697"/>
                <a:ext cx="570669" cy="307777"/>
              </a:xfrm>
              <a:prstGeom prst="rect">
                <a:avLst/>
              </a:prstGeom>
              <a:blipFill>
                <a:blip r:embed="rId3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/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А</a:t>
                </a:r>
                <a14:m>
                  <m:oMath xmlns:m="http://schemas.openxmlformats.org/officeDocument/2006/math">
                    <m:r>
                      <a:rPr lang="en-US" sz="2000" b="1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D1FCE9C-4FC5-1622-9467-00F4A597C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366" y="1172367"/>
                <a:ext cx="261290" cy="307777"/>
              </a:xfrm>
              <a:prstGeom prst="rect">
                <a:avLst/>
              </a:prstGeom>
              <a:blipFill>
                <a:blip r:embed="rId4"/>
                <a:stretch>
                  <a:fillRect l="-58140" t="-25490" r="-44186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/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871A154-287E-E34F-ED1F-7723EAF820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8737" y="1871589"/>
                <a:ext cx="441448" cy="576183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/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B1CC81A2-332C-05D9-DF90-D02B1C23C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39331" y="1962124"/>
                <a:ext cx="777411" cy="307777"/>
              </a:xfrm>
              <a:prstGeom prst="rect">
                <a:avLst/>
              </a:prstGeom>
              <a:blipFill>
                <a:blip r:embed="rId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9F37CA45-CE1E-90E9-912B-F4DC31C3D76A}"/>
              </a:ext>
            </a:extLst>
          </p:cNvPr>
          <p:cNvSpPr txBox="1"/>
          <p:nvPr/>
        </p:nvSpPr>
        <p:spPr>
          <a:xfrm>
            <a:off x="1836289" y="3473104"/>
            <a:ext cx="5834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0.805</a:t>
            </a:r>
            <a:endParaRPr lang="en-GB" sz="2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/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13CDCED-C8CC-B21F-DE6A-25867EF4EA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2681" y="3459433"/>
                <a:ext cx="570669" cy="307777"/>
              </a:xfrm>
              <a:prstGeom prst="rect">
                <a:avLst/>
              </a:prstGeom>
              <a:blipFill>
                <a:blip r:embed="rId7"/>
                <a:stretch>
                  <a:fillRect l="-11702" r="-9574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/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:r>
                  <a:rPr lang="ky-KG" sz="2000" b="1" dirty="0"/>
                  <a:t>Б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GB" sz="2000" b="1" dirty="0"/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81C2D65A-59DD-CB2B-7CA6-C49FACA646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679" y="4189217"/>
                <a:ext cx="248466" cy="307777"/>
              </a:xfrm>
              <a:prstGeom prst="rect">
                <a:avLst/>
              </a:prstGeom>
              <a:blipFill>
                <a:blip r:embed="rId8"/>
                <a:stretch>
                  <a:fillRect l="-60976" t="-25490" r="-46341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/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BAF77D5-B49D-F8FA-82F8-1E9A5450741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05126" y="1237697"/>
                <a:ext cx="570669" cy="307777"/>
              </a:xfrm>
              <a:prstGeom prst="rect">
                <a:avLst/>
              </a:prstGeom>
              <a:blipFill>
                <a:blip r:embed="rId9"/>
                <a:stretch>
                  <a:fillRect l="-11702" r="-10638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EEEA4CE8-86CD-2D21-74CC-8C595DE0680C}"/>
              </a:ext>
            </a:extLst>
          </p:cNvPr>
          <p:cNvCxnSpPr>
            <a:cxnSpLocks/>
          </p:cNvCxnSpPr>
          <p:nvPr/>
        </p:nvCxnSpPr>
        <p:spPr>
          <a:xfrm>
            <a:off x="6159985" y="1344752"/>
            <a:ext cx="1859823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9A6625ED-3211-2042-94F6-A43660C05FBD}"/>
              </a:ext>
            </a:extLst>
          </p:cNvPr>
          <p:cNvCxnSpPr>
            <a:cxnSpLocks/>
          </p:cNvCxnSpPr>
          <p:nvPr/>
        </p:nvCxnSpPr>
        <p:spPr>
          <a:xfrm>
            <a:off x="5129018" y="1545474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43AF7D2B-7329-3D6D-F54E-5C3D90A90320}"/>
              </a:ext>
            </a:extLst>
          </p:cNvPr>
          <p:cNvSpPr txBox="1"/>
          <p:nvPr/>
        </p:nvSpPr>
        <p:spPr>
          <a:xfrm>
            <a:off x="4423696" y="1175464"/>
            <a:ext cx="1671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B191DE-4AB4-53E9-4F53-E5B825CF94F3}"/>
              </a:ext>
            </a:extLst>
          </p:cNvPr>
          <p:cNvSpPr txBox="1"/>
          <p:nvPr/>
        </p:nvSpPr>
        <p:spPr>
          <a:xfrm>
            <a:off x="8110207" y="1120860"/>
            <a:ext cx="100052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F742980-225E-1577-2FAC-AC917827CDAC}"/>
              </a:ext>
            </a:extLst>
          </p:cNvPr>
          <p:cNvSpPr txBox="1"/>
          <p:nvPr/>
        </p:nvSpPr>
        <p:spPr>
          <a:xfrm>
            <a:off x="4628753" y="3164092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/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D4BBD19E-E846-F28E-D993-666F2BFB83D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6385" y="4152265"/>
                <a:ext cx="350591" cy="576183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/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101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A8FDCF35-3E9B-45E0-A0A0-A2FD982CC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4809" y="4374438"/>
                <a:ext cx="713337" cy="307777"/>
              </a:xfrm>
              <a:prstGeom prst="rect">
                <a:avLst/>
              </a:prstGeom>
              <a:blipFill>
                <a:blip r:embed="rId11"/>
                <a:stretch>
                  <a:fillRect l="-7692" r="-854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/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ky-KG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8546F40-235E-D2D0-C88E-8FF561CFC4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9033" y="4739596"/>
                <a:ext cx="441448" cy="520463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/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CDB8029-67FF-DCD1-5D67-705C0D3754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5571697"/>
                <a:ext cx="570669" cy="307777"/>
              </a:xfrm>
              <a:prstGeom prst="rect">
                <a:avLst/>
              </a:prstGeom>
              <a:blipFill>
                <a:blip r:embed="rId13"/>
                <a:stretch>
                  <a:fillRect l="-10638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/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9B99665C-1D16-F753-2C61-4DDD25D700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33728" y="4336658"/>
                <a:ext cx="485710" cy="578172"/>
              </a:xfrm>
              <a:prstGeom prst="rect">
                <a:avLst/>
              </a:prstGeom>
              <a:blipFill>
                <a:blip r:embed="rId1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/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4F2F6333-5274-E280-AD51-352FED168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09452" y="1962124"/>
                <a:ext cx="570667" cy="576183"/>
              </a:xfrm>
              <a:prstGeom prst="rect">
                <a:avLst/>
              </a:prstGeom>
              <a:blipFill>
                <a:blip r:embed="rId16"/>
                <a:stretch>
                  <a:fillRect b="-106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/>
              <p:nvPr/>
            </p:nvSpPr>
            <p:spPr>
              <a:xfrm>
                <a:off x="530645" y="4959614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F6BF09CA-20E4-346B-70C2-E63AF43D28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645" y="4959614"/>
                <a:ext cx="681277" cy="307777"/>
              </a:xfrm>
              <a:prstGeom prst="rect">
                <a:avLst/>
              </a:prstGeom>
              <a:blipFill>
                <a:blip r:embed="rId17"/>
                <a:stretch>
                  <a:fillRect l="-12500" r="-3571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/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18B0C9EF-2D28-6361-FFEF-245115DC91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3491" y="5416157"/>
                <a:ext cx="200375" cy="578235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5C8EBD24-7791-320C-CD6D-A9AF46B8BD55}"/>
              </a:ext>
            </a:extLst>
          </p:cNvPr>
          <p:cNvSpPr txBox="1"/>
          <p:nvPr/>
        </p:nvSpPr>
        <p:spPr>
          <a:xfrm>
            <a:off x="7732631" y="3689095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F91950F2-C49B-8457-C8B9-D54965841596}"/>
              </a:ext>
            </a:extLst>
          </p:cNvPr>
          <p:cNvCxnSpPr>
            <a:cxnSpLocks/>
          </p:cNvCxnSpPr>
          <p:nvPr/>
        </p:nvCxnSpPr>
        <p:spPr>
          <a:xfrm>
            <a:off x="5784323" y="4374438"/>
            <a:ext cx="1772251" cy="0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222057F1-6D4B-49A7-7628-9CD40BD5BAE2}"/>
              </a:ext>
            </a:extLst>
          </p:cNvPr>
          <p:cNvCxnSpPr>
            <a:cxnSpLocks/>
          </p:cNvCxnSpPr>
          <p:nvPr/>
        </p:nvCxnSpPr>
        <p:spPr>
          <a:xfrm>
            <a:off x="5284059" y="4646100"/>
            <a:ext cx="0" cy="1502104"/>
          </a:xfrm>
          <a:prstGeom prst="straightConnector1">
            <a:avLst/>
          </a:prstGeom>
          <a:ln w="28575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8E160AD7-8D22-BD28-3ACB-B9C83F28C3E6}"/>
              </a:ext>
            </a:extLst>
          </p:cNvPr>
          <p:cNvSpPr txBox="1"/>
          <p:nvPr/>
        </p:nvSpPr>
        <p:spPr>
          <a:xfrm>
            <a:off x="4207287" y="4086447"/>
            <a:ext cx="18434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кичинекей</a:t>
            </a:r>
            <a:endParaRPr lang="en-US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CAD01B4-7C62-2B6E-8844-BD880EECC803}"/>
              </a:ext>
            </a:extLst>
          </p:cNvPr>
          <p:cNvSpPr txBox="1"/>
          <p:nvPr/>
        </p:nvSpPr>
        <p:spPr>
          <a:xfrm>
            <a:off x="7739188" y="409425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4712A5B8-5F4D-7D68-6016-D9EF7DDBB2CE}"/>
              </a:ext>
            </a:extLst>
          </p:cNvPr>
          <p:cNvSpPr txBox="1"/>
          <p:nvPr/>
        </p:nvSpPr>
        <p:spPr>
          <a:xfrm>
            <a:off x="4845354" y="6225029"/>
            <a:ext cx="10005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</a:t>
            </a: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/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72D939A-84A0-CF9D-336C-85D1FC547B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56879" y="3447482"/>
                <a:ext cx="343043" cy="576183"/>
              </a:xfrm>
              <a:prstGeom prst="rect">
                <a:avLst/>
              </a:prstGeom>
              <a:blipFill>
                <a:blip r:embed="rId2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/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0C988E9-A60E-925B-C274-E749D02DBC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3874" y="2766858"/>
                <a:ext cx="777411" cy="307777"/>
              </a:xfrm>
              <a:prstGeom prst="rect">
                <a:avLst/>
              </a:prstGeom>
              <a:blipFill>
                <a:blip r:embed="rId22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/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9A5F294-C23B-50DD-6204-C447971C1C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8828" y="2615436"/>
                <a:ext cx="570667" cy="578172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/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y-KG" sz="2000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lang="ky-KG" sz="2000" dirty="0"/>
                  <a:t>5</a:t>
                </a:r>
                <a:endParaRPr lang="en-GB" sz="2000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7DE36AF-04CC-E8EA-2959-EB4832E7FD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8597" y="2841950"/>
                <a:ext cx="777411" cy="307777"/>
              </a:xfrm>
              <a:prstGeom prst="rect">
                <a:avLst/>
              </a:prstGeom>
              <a:blipFill>
                <a:blip r:embed="rId24"/>
                <a:stretch>
                  <a:fillRect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/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 xmlns=""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654392DB-1E98-B831-FB3C-4263C83E03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7535" y="4209547"/>
                <a:ext cx="628377" cy="584519"/>
              </a:xfrm>
              <a:prstGeom prst="rect">
                <a:avLst/>
              </a:prstGeom>
              <a:blipFill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/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333A2D95-E62D-5245-2742-13273007C0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82914" y="4999212"/>
                <a:ext cx="428002" cy="307777"/>
              </a:xfrm>
              <a:prstGeom prst="rect">
                <a:avLst/>
              </a:prstGeom>
              <a:blipFill>
                <a:blip r:embed="rId26"/>
                <a:stretch>
                  <a:fillRect l="-21429" r="-857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/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A78F5968-1D32-47F0-A9E4-7C92FD4D17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7600" y="5446908"/>
                <a:ext cx="200375" cy="578172"/>
              </a:xfrm>
              <a:prstGeom prst="rect">
                <a:avLst/>
              </a:prstGeom>
              <a:blipFill>
                <a:blip r:embed="rId2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/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1.04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B04B4A5-FCA8-EED4-5999-E61541C9B8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601" y="6211928"/>
                <a:ext cx="538609" cy="307777"/>
              </a:xfrm>
              <a:prstGeom prst="rect">
                <a:avLst/>
              </a:prstGeom>
              <a:blipFill>
                <a:blip r:embed="rId28"/>
                <a:stretch>
                  <a:fillRect l="-15730" r="-4494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/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0F9B2C61-B46B-E90E-75DC-9C6178E384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87676" y="6199553"/>
                <a:ext cx="538609" cy="307777"/>
              </a:xfrm>
              <a:prstGeom prst="rect">
                <a:avLst/>
              </a:prstGeom>
              <a:blipFill>
                <a:blip r:embed="rId29"/>
                <a:stretch>
                  <a:fillRect l="-17045" r="-4545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/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03BE75EB-46A5-7709-E67C-B13D649D06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170" y="6193442"/>
                <a:ext cx="766235" cy="307777"/>
              </a:xfrm>
              <a:prstGeom prst="rect">
                <a:avLst/>
              </a:prstGeom>
              <a:blipFill>
                <a:blip r:embed="rId30"/>
                <a:stretch>
                  <a:fillRect l="-11111" r="-4762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/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20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71ACB2E-8DE3-FCC1-A29B-7956D06268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77990" y="5994392"/>
                <a:ext cx="441448" cy="578172"/>
              </a:xfrm>
              <a:prstGeom prst="rect">
                <a:avLst/>
              </a:prstGeom>
              <a:blipFill>
                <a:blip r:embed="rId3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59" name="Table 58">
            <a:extLst>
              <a:ext uri="{FF2B5EF4-FFF2-40B4-BE49-F238E27FC236}">
                <a16:creationId xmlns:a16="http://schemas.microsoft.com/office/drawing/2014/main" id="{AC1274E4-5B0F-D1B0-0E01-14CD47518A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0375708"/>
              </p:ext>
            </p:extLst>
          </p:nvPr>
        </p:nvGraphicFramePr>
        <p:xfrm>
          <a:off x="5617260" y="1532331"/>
          <a:ext cx="2964990" cy="20267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8330">
                  <a:extLst>
                    <a:ext uri="{9D8B030D-6E8A-4147-A177-3AD203B41FA5}">
                      <a16:colId xmlns:a16="http://schemas.microsoft.com/office/drawing/2014/main" val="696380963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3207365101"/>
                    </a:ext>
                  </a:extLst>
                </a:gridCol>
                <a:gridCol w="988330">
                  <a:extLst>
                    <a:ext uri="{9D8B030D-6E8A-4147-A177-3AD203B41FA5}">
                      <a16:colId xmlns:a16="http://schemas.microsoft.com/office/drawing/2014/main" val="2637960292"/>
                    </a:ext>
                  </a:extLst>
                </a:gridCol>
              </a:tblGrid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8300616"/>
                  </a:ext>
                </a:extLst>
              </a:tr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0906360"/>
                  </a:ext>
                </a:extLst>
              </a:tr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23159"/>
                  </a:ext>
                </a:extLst>
              </a:tr>
              <a:tr h="506685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30210018"/>
                  </a:ext>
                </a:extLst>
              </a:tr>
            </a:tbl>
          </a:graphicData>
        </a:graphic>
      </p:graphicFrame>
      <p:graphicFrame>
        <p:nvGraphicFramePr>
          <p:cNvPr id="61" name="Table 60">
            <a:extLst>
              <a:ext uri="{FF2B5EF4-FFF2-40B4-BE49-F238E27FC236}">
                <a16:creationId xmlns:a16="http://schemas.microsoft.com/office/drawing/2014/main" id="{21056388-63C4-6B4B-C298-76849D1FC9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441606"/>
              </p:ext>
            </p:extLst>
          </p:nvPr>
        </p:nvGraphicFramePr>
        <p:xfrm>
          <a:off x="5734333" y="4484032"/>
          <a:ext cx="2888012" cy="19890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2003">
                  <a:extLst>
                    <a:ext uri="{9D8B030D-6E8A-4147-A177-3AD203B41FA5}">
                      <a16:colId xmlns:a16="http://schemas.microsoft.com/office/drawing/2014/main" val="760089138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1482244886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499573329"/>
                    </a:ext>
                  </a:extLst>
                </a:gridCol>
                <a:gridCol w="722003">
                  <a:extLst>
                    <a:ext uri="{9D8B030D-6E8A-4147-A177-3AD203B41FA5}">
                      <a16:colId xmlns:a16="http://schemas.microsoft.com/office/drawing/2014/main" val="3101839307"/>
                    </a:ext>
                  </a:extLst>
                </a:gridCol>
              </a:tblGrid>
              <a:tr h="497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3702225"/>
                  </a:ext>
                </a:extLst>
              </a:tr>
              <a:tr h="497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8605804"/>
                  </a:ext>
                </a:extLst>
              </a:tr>
              <a:tr h="497273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21882605"/>
                  </a:ext>
                </a:extLst>
              </a:tr>
              <a:tr h="4972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03178504"/>
                  </a:ext>
                </a:extLst>
              </a:tr>
            </a:tbl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94F61160-71AF-C4D0-223F-C21BAFC431AA}"/>
              </a:ext>
            </a:extLst>
          </p:cNvPr>
          <p:cNvSpPr txBox="1"/>
          <p:nvPr/>
        </p:nvSpPr>
        <p:spPr>
          <a:xfrm>
            <a:off x="9040113" y="178799"/>
            <a:ext cx="59343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b="1" dirty="0">
                <a:latin typeface="Calibri" panose="020F0502020204030204" pitchFamily="34" charset="0"/>
                <a:cs typeface="Calibri" panose="020F0502020204030204" pitchFamily="34" charset="0"/>
              </a:rPr>
              <a:t>②</a:t>
            </a:r>
            <a:endParaRPr lang="en-GB" sz="2400" b="1" dirty="0"/>
          </a:p>
        </p:txBody>
      </p:sp>
      <p:pic>
        <p:nvPicPr>
          <p:cNvPr id="42" name="Graphic 41" descr="Cursor with solid fill">
            <a:extLst>
              <a:ext uri="{FF2B5EF4-FFF2-40B4-BE49-F238E27FC236}">
                <a16:creationId xmlns:a16="http://schemas.microsoft.com/office/drawing/2014/main" id="{3D8E7DC4-B6B9-944E-35BC-AC2C791C36E2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271543" y="3352321"/>
            <a:ext cx="399005" cy="399005"/>
          </a:xfrm>
          <a:prstGeom prst="rect">
            <a:avLst/>
          </a:prstGeom>
        </p:spPr>
      </p:pic>
      <p:sp>
        <p:nvSpPr>
          <p:cNvPr id="49" name="TextBox 48">
            <a:extLst>
              <a:ext uri="{FF2B5EF4-FFF2-40B4-BE49-F238E27FC236}">
                <a16:creationId xmlns:a16="http://schemas.microsoft.com/office/drawing/2014/main" id="{CCA105E5-F75E-CC35-4677-584503B03AB5}"/>
              </a:ext>
            </a:extLst>
          </p:cNvPr>
          <p:cNvSpPr txBox="1"/>
          <p:nvPr/>
        </p:nvSpPr>
        <p:spPr>
          <a:xfrm>
            <a:off x="7767312" y="6518338"/>
            <a:ext cx="15341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y-KG" dirty="0"/>
              <a:t>Эң чоңу</a:t>
            </a:r>
            <a:endParaRPr lang="en-US" dirty="0"/>
          </a:p>
        </p:txBody>
      </p:sp>
      <p:pic>
        <p:nvPicPr>
          <p:cNvPr id="50" name="Graphic 49" descr="Cursor with solid fill">
            <a:extLst>
              <a:ext uri="{FF2B5EF4-FFF2-40B4-BE49-F238E27FC236}">
                <a16:creationId xmlns:a16="http://schemas.microsoft.com/office/drawing/2014/main" id="{1494DBC5-7EAE-141F-098E-2EB339815885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 rot="2422567">
            <a:off x="8300209" y="6272386"/>
            <a:ext cx="399005" cy="39900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C07C63-7D35-563C-A1B4-108530E1E99B}"/>
              </a:ext>
            </a:extLst>
          </p:cNvPr>
          <p:cNvSpPr txBox="1"/>
          <p:nvPr/>
        </p:nvSpPr>
        <p:spPr>
          <a:xfrm>
            <a:off x="119904" y="577205"/>
            <a:ext cx="8549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dirty="0"/>
              <a:t>Ар бир сап жана ар бир тилке өсүү тартибинде (кичинеден чоңго карай) болушу үчүн бардык маанилерди бош торчого ирээттеңиз.</a:t>
            </a:r>
            <a:endParaRPr lang="en-GB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340FD1-644D-04F1-7278-25EAF83D36D0}"/>
              </a:ext>
            </a:extLst>
          </p:cNvPr>
          <p:cNvSpPr txBox="1"/>
          <p:nvPr/>
        </p:nvSpPr>
        <p:spPr>
          <a:xfrm>
            <a:off x="1485810" y="215423"/>
            <a:ext cx="5679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b="1" u="sng" dirty="0"/>
              <a:t>Бөлчөктөрдү, ондуктарды жана пайыздарды ирээттөө</a:t>
            </a:r>
            <a:endParaRPr lang="en-GB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977163-A118-5A9D-CDB5-0E3026151129}"/>
                  </a:ext>
                </a:extLst>
              </p:cNvPr>
              <p:cNvSpPr txBox="1"/>
              <p:nvPr/>
            </p:nvSpPr>
            <p:spPr>
              <a:xfrm>
                <a:off x="5734333" y="1641775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ky-KG" sz="2000" b="0" i="1" smtClean="0">
                        <a:latin typeface="Cambria Math" panose="02040503050406030204" pitchFamily="18" charset="0"/>
                      </a:rPr>
                      <m:t>0.0</m:t>
                    </m:r>
                  </m:oMath>
                </a14:m>
                <a:r>
                  <a:rPr lang="ky-KG" sz="2000" dirty="0"/>
                  <a:t>5</a:t>
                </a:r>
                <a:endParaRPr lang="en-GB" sz="2000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7977163-A118-5A9D-CDB5-0E3026151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4333" y="1641775"/>
                <a:ext cx="777411" cy="307777"/>
              </a:xfrm>
              <a:prstGeom prst="rect">
                <a:avLst/>
              </a:prstGeom>
              <a:blipFill>
                <a:blip r:embed="rId34"/>
                <a:stretch>
                  <a:fillRect t="-25490" b="-4902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482234-59DC-7C96-087E-192C8259A7B3}"/>
                  </a:ext>
                </a:extLst>
              </p:cNvPr>
              <p:cNvSpPr txBox="1"/>
              <p:nvPr/>
            </p:nvSpPr>
            <p:spPr>
              <a:xfrm>
                <a:off x="6883916" y="1520830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20482234-59DC-7C96-087E-192C8259A7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3916" y="1520830"/>
                <a:ext cx="441448" cy="462627"/>
              </a:xfrm>
              <a:prstGeom prst="rect">
                <a:avLst/>
              </a:prstGeom>
              <a:blipFill>
                <a:blip r:embed="rId3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A7C31B-C52C-DE5D-D543-03A8029DF83A}"/>
                  </a:ext>
                </a:extLst>
              </p:cNvPr>
              <p:cNvSpPr txBox="1"/>
              <p:nvPr/>
            </p:nvSpPr>
            <p:spPr>
              <a:xfrm>
                <a:off x="7813605" y="1613302"/>
                <a:ext cx="570669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0.3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CEA7C31B-C52C-DE5D-D543-03A8029DF8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13605" y="1613302"/>
                <a:ext cx="570669" cy="307777"/>
              </a:xfrm>
              <a:prstGeom prst="rect">
                <a:avLst/>
              </a:prstGeom>
              <a:blipFill>
                <a:blip r:embed="rId36"/>
                <a:stretch>
                  <a:fillRect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B788E7-47E1-449A-89CC-1FF5D99B4820}"/>
                  </a:ext>
                </a:extLst>
              </p:cNvPr>
              <p:cNvSpPr txBox="1"/>
              <p:nvPr/>
            </p:nvSpPr>
            <p:spPr>
              <a:xfrm>
                <a:off x="5836622" y="2096326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33%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D8B788E7-47E1-449A-89CC-1FF5D99B48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6622" y="2096326"/>
                <a:ext cx="570669" cy="307777"/>
              </a:xfrm>
              <a:prstGeom prst="rect">
                <a:avLst/>
              </a:prstGeom>
              <a:blipFill>
                <a:blip r:embed="rId37"/>
                <a:stretch>
                  <a:fillRect l="-10638" r="-10638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545210-54ED-D571-6730-3C3CB7105001}"/>
                  </a:ext>
                </a:extLst>
              </p:cNvPr>
              <p:cNvSpPr txBox="1"/>
              <p:nvPr/>
            </p:nvSpPr>
            <p:spPr>
              <a:xfrm>
                <a:off x="6928232" y="2039253"/>
                <a:ext cx="441447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12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1545210-54ED-D571-6730-3C3CB71050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232" y="2039253"/>
                <a:ext cx="441447" cy="462627"/>
              </a:xfrm>
              <a:prstGeom prst="rect">
                <a:avLst/>
              </a:prstGeom>
              <a:blipFill>
                <a:blip r:embed="rId3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5E52FC-CF7F-B1DD-CF8C-6EE205404308}"/>
                  </a:ext>
                </a:extLst>
              </p:cNvPr>
              <p:cNvSpPr txBox="1"/>
              <p:nvPr/>
            </p:nvSpPr>
            <p:spPr>
              <a:xfrm>
                <a:off x="7723288" y="217487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0.5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A45E52FC-CF7F-B1DD-CF8C-6EE2054043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288" y="2174874"/>
                <a:ext cx="777411" cy="307777"/>
              </a:xfrm>
              <a:prstGeom prst="rect">
                <a:avLst/>
              </a:prstGeom>
              <a:blipFill>
                <a:blip r:embed="rId39"/>
                <a:stretch>
                  <a:fillRect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2A5238-0EB9-6618-64A5-E2C20A139353}"/>
                  </a:ext>
                </a:extLst>
              </p:cNvPr>
              <p:cNvSpPr txBox="1"/>
              <p:nvPr/>
            </p:nvSpPr>
            <p:spPr>
              <a:xfrm>
                <a:off x="5751914" y="263764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55%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062A5238-0EB9-6618-64A5-E2C20A1393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1914" y="2637643"/>
                <a:ext cx="570669" cy="307777"/>
              </a:xfrm>
              <a:prstGeom prst="rect">
                <a:avLst/>
              </a:prstGeom>
              <a:blipFill>
                <a:blip r:embed="rId40"/>
                <a:stretch>
                  <a:fillRect l="-11828" r="-11828" b="-1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BEBFC2-F19B-7AE3-008C-D2A220CFCE50}"/>
                  </a:ext>
                </a:extLst>
              </p:cNvPr>
              <p:cNvSpPr txBox="1"/>
              <p:nvPr/>
            </p:nvSpPr>
            <p:spPr>
              <a:xfrm>
                <a:off x="6711049" y="2665154"/>
                <a:ext cx="777411" cy="30777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0.64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0ABEBFC2-F19B-7AE3-008C-D2A220CFCE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11049" y="2665154"/>
                <a:ext cx="777411" cy="307777"/>
              </a:xfrm>
              <a:prstGeom prst="rect">
                <a:avLst/>
              </a:prstGeom>
              <a:blipFill>
                <a:blip r:embed="rId41"/>
                <a:stretch>
                  <a:fillRect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9D96E6-3AA0-20DC-261C-038DE876B604}"/>
                  </a:ext>
                </a:extLst>
              </p:cNvPr>
              <p:cNvSpPr txBox="1"/>
              <p:nvPr/>
            </p:nvSpPr>
            <p:spPr>
              <a:xfrm>
                <a:off x="7723288" y="2544097"/>
                <a:ext cx="570667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809D96E6-3AA0-20DC-261C-038DE876B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23288" y="2544097"/>
                <a:ext cx="570667" cy="462627"/>
              </a:xfrm>
              <a:prstGeom prst="rect">
                <a:avLst/>
              </a:prstGeom>
              <a:blipFill>
                <a:blip r:embed="rId4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ED19EAA6-2995-E2A1-CD2C-CCE2258983BF}"/>
              </a:ext>
            </a:extLst>
          </p:cNvPr>
          <p:cNvSpPr txBox="1"/>
          <p:nvPr/>
        </p:nvSpPr>
        <p:spPr>
          <a:xfrm>
            <a:off x="5925266" y="3132998"/>
            <a:ext cx="442429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80%</a:t>
            </a:r>
            <a:endParaRPr lang="en-GB" sz="2000" dirty="0"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392B031-B167-D950-9F1A-48D8257BEAF4}"/>
              </a:ext>
            </a:extLst>
          </p:cNvPr>
          <p:cNvSpPr txBox="1"/>
          <p:nvPr/>
        </p:nvSpPr>
        <p:spPr>
          <a:xfrm>
            <a:off x="6772709" y="3116716"/>
            <a:ext cx="583493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0.805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72CA944-FB1A-EB29-3921-D2B4DDB688AB}"/>
                  </a:ext>
                </a:extLst>
              </p:cNvPr>
              <p:cNvSpPr txBox="1"/>
              <p:nvPr/>
            </p:nvSpPr>
            <p:spPr>
              <a:xfrm>
                <a:off x="7754883" y="3060162"/>
                <a:ext cx="570667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272CA944-FB1A-EB29-3921-D2B4DDB688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54883" y="3060162"/>
                <a:ext cx="570667" cy="462627"/>
              </a:xfrm>
              <a:prstGeom prst="rect">
                <a:avLst/>
              </a:prstGeom>
              <a:blipFill>
                <a:blip r:embed="rId4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ED5043-6875-2BBF-C4E0-91B2351DF4B8}"/>
                  </a:ext>
                </a:extLst>
              </p:cNvPr>
              <p:cNvSpPr txBox="1"/>
              <p:nvPr/>
            </p:nvSpPr>
            <p:spPr>
              <a:xfrm>
                <a:off x="5856913" y="4625744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0.06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35ED5043-6875-2BBF-C4E0-91B2351DF4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6913" y="4625744"/>
                <a:ext cx="538609" cy="307777"/>
              </a:xfrm>
              <a:prstGeom prst="rect">
                <a:avLst/>
              </a:prstGeom>
              <a:blipFill>
                <a:blip r:embed="rId44"/>
                <a:stretch>
                  <a:fillRect l="-15909" r="-5682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B1753E-0EC8-8C26-8413-CC123820AF73}"/>
                  </a:ext>
                </a:extLst>
              </p:cNvPr>
              <p:cNvSpPr txBox="1"/>
              <p:nvPr/>
            </p:nvSpPr>
            <p:spPr>
              <a:xfrm>
                <a:off x="6649721" y="4621390"/>
                <a:ext cx="428002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B4B1753E-0EC8-8C26-8413-CC123820AF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9721" y="4621390"/>
                <a:ext cx="428002" cy="307777"/>
              </a:xfrm>
              <a:prstGeom prst="rect">
                <a:avLst/>
              </a:prstGeom>
              <a:blipFill>
                <a:blip r:embed="rId45"/>
                <a:stretch>
                  <a:fillRect l="-21429" r="-8571" b="-11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FB625BC-FA28-972D-EEBF-F5EEFCF79FD5}"/>
                  </a:ext>
                </a:extLst>
              </p:cNvPr>
              <p:cNvSpPr txBox="1"/>
              <p:nvPr/>
            </p:nvSpPr>
            <p:spPr>
              <a:xfrm>
                <a:off x="7221548" y="4430696"/>
                <a:ext cx="501740" cy="467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600" b="0" i="1" smtClean="0">
                              <a:latin typeface="Cambria Math" panose="02040503050406030204" pitchFamily="18" charset="0"/>
                            </a:rPr>
                            <m:t>7</m:t>
                          </m:r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1000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CFB625BC-FA28-972D-EEBF-F5EEFCF79FD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1548" y="4430696"/>
                <a:ext cx="501740" cy="467629"/>
              </a:xfrm>
              <a:prstGeom prst="rect">
                <a:avLst/>
              </a:prstGeom>
              <a:blipFill>
                <a:blip r:embed="rId4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B13E04-4D8C-9C7C-1FAD-95543E7B66D8}"/>
                  </a:ext>
                </a:extLst>
              </p:cNvPr>
              <p:cNvSpPr txBox="1"/>
              <p:nvPr/>
            </p:nvSpPr>
            <p:spPr>
              <a:xfrm>
                <a:off x="8024105" y="4427746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52B13E04-4D8C-9C7C-1FAD-95543E7B66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4105" y="4427746"/>
                <a:ext cx="441448" cy="462627"/>
              </a:xfrm>
              <a:prstGeom prst="rect">
                <a:avLst/>
              </a:prstGeom>
              <a:blipFill>
                <a:blip r:embed="rId4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D086918-D12E-6539-182E-080AD25A3BA4}"/>
                  </a:ext>
                </a:extLst>
              </p:cNvPr>
              <p:cNvSpPr txBox="1"/>
              <p:nvPr/>
            </p:nvSpPr>
            <p:spPr>
              <a:xfrm>
                <a:off x="5776656" y="5035833"/>
                <a:ext cx="69089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b="0" i="1" smtClean="0">
                          <a:latin typeface="Cambria Math" panose="02040503050406030204" pitchFamily="18" charset="0"/>
                        </a:rPr>
                        <m:t>30.3%</m:t>
                      </m:r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69" name="TextBox 68">
                <a:extLst>
                  <a:ext uri="{FF2B5EF4-FFF2-40B4-BE49-F238E27FC236}">
                    <a16:creationId xmlns:a16="http://schemas.microsoft.com/office/drawing/2014/main" id="{3D086918-D12E-6539-182E-080AD25A3B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6656" y="5035833"/>
                <a:ext cx="690895" cy="276999"/>
              </a:xfrm>
              <a:prstGeom prst="rect">
                <a:avLst/>
              </a:prstGeom>
              <a:blipFill>
                <a:blip r:embed="rId48"/>
                <a:stretch>
                  <a:fillRect l="-11504" r="-5310" b="-13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0" name="TextBox 69">
            <a:extLst>
              <a:ext uri="{FF2B5EF4-FFF2-40B4-BE49-F238E27FC236}">
                <a16:creationId xmlns:a16="http://schemas.microsoft.com/office/drawing/2014/main" id="{5CA26AD4-4089-4051-9CCA-C18F8F5581A2}"/>
              </a:ext>
            </a:extLst>
          </p:cNvPr>
          <p:cNvSpPr txBox="1"/>
          <p:nvPr/>
        </p:nvSpPr>
        <p:spPr>
          <a:xfrm>
            <a:off x="6545884" y="4999211"/>
            <a:ext cx="453650" cy="3077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ky-KG" sz="2000" dirty="0"/>
              <a:t>0.33</a:t>
            </a:r>
            <a:endParaRPr lang="en-GB"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FD89D72-F253-77A8-4479-8947265AD351}"/>
                  </a:ext>
                </a:extLst>
              </p:cNvPr>
              <p:cNvSpPr txBox="1"/>
              <p:nvPr/>
            </p:nvSpPr>
            <p:spPr>
              <a:xfrm>
                <a:off x="7449807" y="4921785"/>
                <a:ext cx="160300" cy="46262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AFD89D72-F253-77A8-4479-8947265AD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49807" y="4921785"/>
                <a:ext cx="160300" cy="462627"/>
              </a:xfrm>
              <a:prstGeom prst="rect">
                <a:avLst/>
              </a:prstGeom>
              <a:blipFill>
                <a:blip r:embed="rId4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29FD03A-715C-A525-916F-601DA1A1D0DF}"/>
                  </a:ext>
                </a:extLst>
              </p:cNvPr>
              <p:cNvSpPr txBox="1"/>
              <p:nvPr/>
            </p:nvSpPr>
            <p:spPr>
              <a:xfrm>
                <a:off x="8001571" y="4926205"/>
                <a:ext cx="471571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123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200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2" name="TextBox 71">
                <a:extLst>
                  <a:ext uri="{FF2B5EF4-FFF2-40B4-BE49-F238E27FC236}">
                    <a16:creationId xmlns:a16="http://schemas.microsoft.com/office/drawing/2014/main" id="{329FD03A-715C-A525-916F-601DA1A1D0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1571" y="4926205"/>
                <a:ext cx="471571" cy="462627"/>
              </a:xfrm>
              <a:prstGeom prst="rect">
                <a:avLst/>
              </a:prstGeom>
              <a:blipFill>
                <a:blip r:embed="rId5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E15DF7D-83EE-4F06-91CF-438D12E4E052}"/>
                  </a:ext>
                </a:extLst>
              </p:cNvPr>
              <p:cNvSpPr txBox="1"/>
              <p:nvPr/>
            </p:nvSpPr>
            <p:spPr>
              <a:xfrm>
                <a:off x="1340504" y="5549130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4" name="TextBox 73">
                <a:extLst>
                  <a:ext uri="{FF2B5EF4-FFF2-40B4-BE49-F238E27FC236}">
                    <a16:creationId xmlns:a16="http://schemas.microsoft.com/office/drawing/2014/main" id="{0E15DF7D-83EE-4F06-91CF-438D12E4E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40504" y="5549130"/>
                <a:ext cx="580608" cy="379848"/>
              </a:xfrm>
              <a:prstGeom prst="rect">
                <a:avLst/>
              </a:prstGeom>
              <a:blipFill>
                <a:blip r:embed="rId5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0A03569-085D-C6EA-0B64-BBB417CCBDBE}"/>
                  </a:ext>
                </a:extLst>
              </p:cNvPr>
              <p:cNvSpPr txBox="1"/>
              <p:nvPr/>
            </p:nvSpPr>
            <p:spPr>
              <a:xfrm>
                <a:off x="5826683" y="5453968"/>
                <a:ext cx="580608" cy="37984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dirty="0" smtClean="0">
                          <a:latin typeface="Cambria Math" panose="02040503050406030204" pitchFamily="18" charset="0"/>
                        </a:rPr>
                        <m:t>0.</m:t>
                      </m:r>
                      <m:acc>
                        <m:accPr>
                          <m:chr m:val="̇"/>
                          <m:ctrlPr>
                            <a:rPr lang="en-GB" b="0" i="1" dirty="0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GB" b="0" i="1" dirty="0" smtClean="0">
                              <a:latin typeface="Cambria Math" panose="02040503050406030204" pitchFamily="18" charset="0"/>
                            </a:rPr>
                            <m:t>6</m:t>
                          </m:r>
                        </m:e>
                      </m:acc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90A03569-085D-C6EA-0B64-BBB417CCBD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683" y="5453968"/>
                <a:ext cx="580608" cy="379848"/>
              </a:xfrm>
              <a:prstGeom prst="rect">
                <a:avLst/>
              </a:prstGeom>
              <a:blipFill>
                <a:blip r:embed="rId5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5B58BC-CB4B-9E98-98C5-F8A3382A926E}"/>
                  </a:ext>
                </a:extLst>
              </p:cNvPr>
              <p:cNvSpPr txBox="1"/>
              <p:nvPr/>
            </p:nvSpPr>
            <p:spPr>
              <a:xfrm>
                <a:off x="6525770" y="5490003"/>
                <a:ext cx="57066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67%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6" name="TextBox 75">
                <a:extLst>
                  <a:ext uri="{FF2B5EF4-FFF2-40B4-BE49-F238E27FC236}">
                    <a16:creationId xmlns:a16="http://schemas.microsoft.com/office/drawing/2014/main" id="{685B58BC-CB4B-9E98-98C5-F8A3382A92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5770" y="5490003"/>
                <a:ext cx="570669" cy="307777"/>
              </a:xfrm>
              <a:prstGeom prst="rect">
                <a:avLst/>
              </a:prstGeom>
              <a:blipFill>
                <a:blip r:embed="rId53"/>
                <a:stretch>
                  <a:fillRect l="-11828" r="-10753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9FF76C-8AA2-CA4D-8541-C75AD82DC2D7}"/>
                  </a:ext>
                </a:extLst>
              </p:cNvPr>
              <p:cNvSpPr txBox="1"/>
              <p:nvPr/>
            </p:nvSpPr>
            <p:spPr>
              <a:xfrm>
                <a:off x="7398955" y="5377979"/>
                <a:ext cx="350591" cy="46102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7" name="TextBox 76">
                <a:extLst>
                  <a:ext uri="{FF2B5EF4-FFF2-40B4-BE49-F238E27FC236}">
                    <a16:creationId xmlns:a16="http://schemas.microsoft.com/office/drawing/2014/main" id="{AE9FF76C-8AA2-CA4D-8541-C75AD82DC2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98955" y="5377979"/>
                <a:ext cx="350591" cy="461024"/>
              </a:xfrm>
              <a:prstGeom prst="rect">
                <a:avLst/>
              </a:prstGeom>
              <a:blipFill>
                <a:blip r:embed="rId5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7D82C6E-0271-09E1-AC8D-885D95818A1D}"/>
                  </a:ext>
                </a:extLst>
              </p:cNvPr>
              <p:cNvSpPr txBox="1"/>
              <p:nvPr/>
            </p:nvSpPr>
            <p:spPr>
              <a:xfrm>
                <a:off x="8008621" y="5358870"/>
                <a:ext cx="441448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19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25</m:t>
                          </m:r>
                        </m:den>
                      </m:f>
                    </m:oMath>
                  </m:oMathPara>
                </a14:m>
                <a:endParaRPr lang="en-GB" sz="1600" dirty="0"/>
              </a:p>
            </p:txBody>
          </p:sp>
        </mc:Choice>
        <mc:Fallback>
          <p:sp>
            <p:nvSpPr>
              <p:cNvPr id="78" name="TextBox 77">
                <a:extLst>
                  <a:ext uri="{FF2B5EF4-FFF2-40B4-BE49-F238E27FC236}">
                    <a16:creationId xmlns:a16="http://schemas.microsoft.com/office/drawing/2014/main" id="{17D82C6E-0271-09E1-AC8D-885D95818A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08621" y="5358870"/>
                <a:ext cx="441448" cy="462627"/>
              </a:xfrm>
              <a:prstGeom prst="rect">
                <a:avLst/>
              </a:prstGeom>
              <a:blipFill>
                <a:blip r:embed="rId5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781C3E1-876F-8DEB-7F45-FBB8B3307210}"/>
                  </a:ext>
                </a:extLst>
              </p:cNvPr>
              <p:cNvSpPr txBox="1"/>
              <p:nvPr/>
            </p:nvSpPr>
            <p:spPr>
              <a:xfrm>
                <a:off x="5772808" y="5994392"/>
                <a:ext cx="68127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0.801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D781C3E1-876F-8DEB-7F45-FBB8B3307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2808" y="5994392"/>
                <a:ext cx="681277" cy="307777"/>
              </a:xfrm>
              <a:prstGeom prst="rect">
                <a:avLst/>
              </a:prstGeom>
              <a:blipFill>
                <a:blip r:embed="rId56"/>
                <a:stretch>
                  <a:fillRect l="-12500" r="-3571" b="-58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D4E79FD-9BF3-7474-BE03-0E536A50A951}"/>
                  </a:ext>
                </a:extLst>
              </p:cNvPr>
              <p:cNvSpPr txBox="1"/>
              <p:nvPr/>
            </p:nvSpPr>
            <p:spPr>
              <a:xfrm>
                <a:off x="6432529" y="5990278"/>
                <a:ext cx="713337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101</m:t>
                      </m:r>
                      <m:r>
                        <a:rPr lang="en-GB" sz="2000" b="0" i="1" smtClean="0">
                          <a:latin typeface="Cambria Math" panose="02040503050406030204" pitchFamily="18" charset="0"/>
                        </a:rPr>
                        <m:t>%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6D4E79FD-9BF3-7474-BE03-0E536A50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32529" y="5990278"/>
                <a:ext cx="713337" cy="307777"/>
              </a:xfrm>
              <a:prstGeom prst="rect">
                <a:avLst/>
              </a:prstGeom>
              <a:blipFill>
                <a:blip r:embed="rId57"/>
                <a:stretch>
                  <a:fillRect l="-7692" r="-8547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AB53F48-28D7-AB9E-DE0A-ACFF3517A1DA}"/>
                  </a:ext>
                </a:extLst>
              </p:cNvPr>
              <p:cNvSpPr txBox="1"/>
              <p:nvPr/>
            </p:nvSpPr>
            <p:spPr>
              <a:xfrm>
                <a:off x="7267733" y="6009087"/>
                <a:ext cx="538609" cy="3077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ky-KG" sz="2000" b="0" i="1" smtClean="0">
                          <a:latin typeface="Cambria Math" panose="02040503050406030204" pitchFamily="18" charset="0"/>
                        </a:rPr>
                        <m:t>1.04</m:t>
                      </m:r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4AB53F48-28D7-AB9E-DE0A-ACFF3517A1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67733" y="6009087"/>
                <a:ext cx="538609" cy="307777"/>
              </a:xfrm>
              <a:prstGeom prst="rect">
                <a:avLst/>
              </a:prstGeom>
              <a:blipFill>
                <a:blip r:embed="rId58"/>
                <a:stretch>
                  <a:fillRect l="-15730" r="-4494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10986B7-8FB4-49FF-25F8-4B541F22F48B}"/>
                  </a:ext>
                </a:extLst>
              </p:cNvPr>
              <p:cNvSpPr txBox="1"/>
              <p:nvPr/>
            </p:nvSpPr>
            <p:spPr>
              <a:xfrm>
                <a:off x="8077933" y="5987018"/>
                <a:ext cx="402065" cy="46262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6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ky-KG" sz="1600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GB" sz="2000" dirty="0"/>
              </a:p>
            </p:txBody>
          </p:sp>
        </mc:Choice>
        <mc:Fallback>
          <p:sp>
            <p:nvSpPr>
              <p:cNvPr id="83" name="TextBox 82">
                <a:extLst>
                  <a:ext uri="{FF2B5EF4-FFF2-40B4-BE49-F238E27FC236}">
                    <a16:creationId xmlns:a16="http://schemas.microsoft.com/office/drawing/2014/main" id="{C10986B7-8FB4-49FF-25F8-4B541F22F48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77933" y="5987018"/>
                <a:ext cx="402065" cy="462627"/>
              </a:xfrm>
              <a:prstGeom prst="rect">
                <a:avLst/>
              </a:prstGeom>
              <a:blipFill>
                <a:blip r:embed="rId5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695051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332558" y="351880"/>
            <a:ext cx="9240883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ru-RU" sz="3200" dirty="0"/>
              <a:t>Суроолор барбы?</a:t>
            </a:r>
          </a:p>
          <a:p>
            <a:pPr marL="0" indent="0" algn="ctr">
              <a:buNone/>
            </a:pPr>
            <a:r>
              <a:rPr lang="ru-RU" sz="3200" dirty="0"/>
              <a:t>Комментарийлер?</a:t>
            </a:r>
          </a:p>
          <a:p>
            <a:pPr marL="0" indent="0" algn="ctr">
              <a:buNone/>
            </a:pPr>
            <a:r>
              <a:rPr lang="ru-RU" sz="3200" dirty="0"/>
              <a:t>Сунуштар?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…же ката таптыңызбы!?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Түрдүү пикирлер үчүн ыраазычылык билдиребиз.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ru-RU" sz="3200" dirty="0"/>
              <a:t>Сураныч, электрондук кат жөнөтүңүз:</a:t>
            </a:r>
          </a:p>
          <a:p>
            <a:pPr marL="0" indent="0" algn="ctr">
              <a:buNone/>
            </a:pPr>
            <a:endParaRPr lang="ru-RU" sz="3200" dirty="0"/>
          </a:p>
          <a:p>
            <a:pPr marL="0" indent="0" algn="ctr">
              <a:buNone/>
            </a:pPr>
            <a:r>
              <a:rPr lang="en-US" sz="3200" dirty="0"/>
              <a:t>mathematicskgz@gmail.com</a:t>
            </a:r>
          </a:p>
        </p:txBody>
      </p:sp>
    </p:spTree>
    <p:extLst>
      <p:ext uri="{BB962C8B-B14F-4D97-AF65-F5344CB8AC3E}">
        <p14:creationId xmlns:p14="http://schemas.microsoft.com/office/powerpoint/2010/main" val="20623469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4">
            <a:lumMod val="60000"/>
            <a:lumOff val="40000"/>
          </a:schemeClr>
        </a:solidFill>
        <a:ln w="19050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10684</TotalTime>
  <Words>550</Words>
  <Application>Microsoft Office PowerPoint</Application>
  <PresentationFormat>A4 Paper (210x297 mm)</PresentationFormat>
  <Paragraphs>270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Cambria Math</vt:lpstr>
      <vt:lpstr>Arial</vt:lpstr>
      <vt:lpstr>Calibri</vt:lpstr>
      <vt:lpstr>Stencil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505</cp:revision>
  <cp:lastPrinted>2024-09-04T04:14:33Z</cp:lastPrinted>
  <dcterms:created xsi:type="dcterms:W3CDTF">2017-01-17T16:57:04Z</dcterms:created>
  <dcterms:modified xsi:type="dcterms:W3CDTF">2024-09-04T04:23:06Z</dcterms:modified>
</cp:coreProperties>
</file>