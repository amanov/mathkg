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0"/>
  </p:notesMasterIdLst>
  <p:sldIdLst>
    <p:sldId id="257" r:id="rId3"/>
    <p:sldId id="921" r:id="rId4"/>
    <p:sldId id="919" r:id="rId5"/>
    <p:sldId id="920" r:id="rId6"/>
    <p:sldId id="915" r:id="rId7"/>
    <p:sldId id="918" r:id="rId8"/>
    <p:sldId id="274" r:id="rId9"/>
  </p:sldIdLst>
  <p:sldSz cx="9906000" cy="6858000" type="A4"/>
  <p:notesSz cx="7104063" cy="10234613"/>
  <p:embeddedFontLst>
    <p:embeddedFont>
      <p:font typeface="Aharoni" panose="02010803020104030203" pitchFamily="2" charset="-79"/>
      <p:bold r:id="rId11"/>
    </p:embeddedFont>
    <p:embeddedFont>
      <p:font typeface="Bahnschrift" panose="020B0502040204020203" pitchFamily="34" charset="0"/>
      <p:regular r:id="rId12"/>
      <p:bold r:id="rId13"/>
    </p:embeddedFont>
    <p:embeddedFont>
      <p:font typeface="Script MT Bold" panose="03040602040607080904" pitchFamily="66" charset="0"/>
      <p:bold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23/05/2024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5/23/2024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1922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74284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78306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8386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5/23/2024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0274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4661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5/23/2024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801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6468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254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8791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194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9782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1676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58409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5/23/2024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070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7" y="1510665"/>
            <a:ext cx="8543925" cy="4351338"/>
          </a:xfrm>
        </p:spPr>
        <p:txBody>
          <a:bodyPr>
            <a:normAutofit/>
          </a:bodyPr>
          <a:lstStyle/>
          <a:p>
            <a:r>
              <a:rPr lang="ru-RU" sz="2400" dirty="0"/>
              <a:t>2 Сандуу Ондуктар – Көбөйтүү</a:t>
            </a:r>
            <a:r>
              <a:rPr lang="en-US" sz="2400" dirty="0"/>
              <a:t> </a:t>
            </a:r>
            <a:r>
              <a:rPr lang="ru-RU" sz="2400" dirty="0"/>
              <a:t>– жооптор торчосу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ru-RU" sz="2400" dirty="0"/>
              <a:t>Окуучулар жооптор торчосунда жоопторду сызып, калган беш сандардын суммасын чыгарышы керек.</a:t>
            </a:r>
            <a:endParaRPr lang="en-US" sz="2400" dirty="0"/>
          </a:p>
          <a:p>
            <a:endParaRPr lang="ru-RU" sz="2400" dirty="0"/>
          </a:p>
          <a:p>
            <a:r>
              <a:rPr lang="ru-RU" sz="2400" dirty="0"/>
              <a:t>Иш баракчасы ар кандай өлчөмдө/форматтарда берилет.</a:t>
            </a:r>
          </a:p>
          <a:p>
            <a:endParaRPr lang="ru-RU" sz="2400" dirty="0"/>
          </a:p>
          <a:p>
            <a:r>
              <a:rPr lang="ru-RU" sz="2400" dirty="0"/>
              <a:t>Анимацияларды текшерип, </a:t>
            </a:r>
            <a:r>
              <a:rPr lang="ky-KG" sz="2400" dirty="0"/>
              <a:t>сабагы</a:t>
            </a:r>
            <a:r>
              <a:rPr lang="ru-RU" sz="2400" dirty="0"/>
              <a:t>ң</a:t>
            </a:r>
            <a:r>
              <a:rPr lang="ky-KG" sz="2400" dirty="0"/>
              <a:t>ызга </a:t>
            </a:r>
            <a:r>
              <a:rPr lang="ru-RU" sz="2400" b="1" dirty="0">
                <a:solidFill>
                  <a:srgbClr val="FF0000"/>
                </a:solidFill>
              </a:rPr>
              <a:t>КЕРЕГИ ЖОК </a:t>
            </a:r>
            <a:r>
              <a:rPr lang="ru-RU" sz="2400" dirty="0"/>
              <a:t>слайддарды </a:t>
            </a:r>
            <a:r>
              <a:rPr lang="ru-RU" sz="2800" b="1" dirty="0">
                <a:solidFill>
                  <a:srgbClr val="FF0000"/>
                </a:solidFill>
              </a:rPr>
              <a:t>ӨЧҮРҮ</a:t>
            </a:r>
            <a:r>
              <a:rPr lang="ky-KG" sz="2800" b="1" dirty="0">
                <a:solidFill>
                  <a:srgbClr val="FF0000"/>
                </a:solidFill>
              </a:rPr>
              <a:t>П САЛЫ</a:t>
            </a:r>
            <a:r>
              <a:rPr lang="ru-RU" sz="2800" b="1" dirty="0">
                <a:solidFill>
                  <a:srgbClr val="FF0000"/>
                </a:solidFill>
              </a:rPr>
              <a:t>ҢЫЗ.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2400" y="244157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518F3C0-CB86-4363-8C1E-1F32D139DED0}"/>
              </a:ext>
            </a:extLst>
          </p:cNvPr>
          <p:cNvSpPr txBox="1"/>
          <p:nvPr/>
        </p:nvSpPr>
        <p:spPr>
          <a:xfrm>
            <a:off x="1547067" y="2084252"/>
            <a:ext cx="71797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бир жоопту ТОРЧОдон табыңыз!</a:t>
            </a:r>
            <a:endParaRPr kumimoji="0" lang="en-GB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8152C6-FA9B-CCEA-65A2-D9050ECC73CD}"/>
              </a:ext>
            </a:extLst>
          </p:cNvPr>
          <p:cNvSpPr txBox="1"/>
          <p:nvPr/>
        </p:nvSpPr>
        <p:spPr>
          <a:xfrm>
            <a:off x="1270000" y="412596"/>
            <a:ext cx="73558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haroni" panose="02010803020104030203" pitchFamily="2" charset="-79"/>
              </a:rPr>
              <a:t>Жооп ТОРЧОсу</a:t>
            </a: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ript MT Bold" panose="03040602040607080904" pitchFamily="66" charset="0"/>
              <a:ea typeface="+mn-ea"/>
              <a:cs typeface="Aharoni" panose="02010803020104030203" pitchFamily="2" charset="-7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79104F-92BB-7AEB-E9EF-40B6DEB0B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68" y="3151655"/>
            <a:ext cx="8178102" cy="283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189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ECEF9F-434E-4379-BE8F-FC57D6668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602706"/>
              </p:ext>
            </p:extLst>
          </p:nvPr>
        </p:nvGraphicFramePr>
        <p:xfrm>
          <a:off x="6668870" y="51516"/>
          <a:ext cx="3177185" cy="228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437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2,928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22,94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0,648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3,12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5,8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4,4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0,728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1,65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0,112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3,66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1,302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6,72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1,56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1,575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1,653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0,68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3,08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6,63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2,72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5,25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0,296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0,58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0,235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10,25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0,2016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48990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4CACCE-EE06-4252-A99D-23B46901304D}"/>
              </a:ext>
            </a:extLst>
          </p:cNvPr>
          <p:cNvGraphicFramePr>
            <a:graphicFrameLocks noGrp="1"/>
          </p:cNvGraphicFramePr>
          <p:nvPr/>
        </p:nvGraphicFramePr>
        <p:xfrm>
          <a:off x="61545" y="617195"/>
          <a:ext cx="6506680" cy="274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336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0,52 × 1,4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2,5 × 4,1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14,5 × 0,4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0,37 × 0,8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15,6 × 0,1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12,2 × 0,3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0,8 × 0,81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1,4 × 2,2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13,6 × 0,2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0,62 × 2,1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0,16 × 0,7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0,61 × 4,8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0,5 × 0,47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0,87 × 1,9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5,1 × 1,3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10,5 × 0,5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6,2 × 3,7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0,45 × 3,5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2,4 × 2,8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0,96 × 0,21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AD24C9A-01A7-4E5D-A407-60D51806BB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365195"/>
              </p:ext>
            </p:extLst>
          </p:nvPr>
        </p:nvGraphicFramePr>
        <p:xfrm>
          <a:off x="6696583" y="2732296"/>
          <a:ext cx="3121758" cy="602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758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</a:tblGrid>
              <a:tr h="602962">
                <a:tc>
                  <a:txBody>
                    <a:bodyPr/>
                    <a:lstStyle/>
                    <a:p>
                      <a:pPr algn="ctr"/>
                      <a:endParaRPr lang="en-GB" sz="3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E2957F7-99F0-4B3A-B72D-884CCB8B23AD}"/>
              </a:ext>
            </a:extLst>
          </p:cNvPr>
          <p:cNvSpPr/>
          <p:nvPr/>
        </p:nvSpPr>
        <p:spPr>
          <a:xfrm>
            <a:off x="6739812" y="2348110"/>
            <a:ext cx="30353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Бардыгы:</a:t>
            </a:r>
            <a:endParaRPr lang="en-GB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9F3885-40A0-4971-85BC-67C02F8382C4}"/>
              </a:ext>
            </a:extLst>
          </p:cNvPr>
          <p:cNvSpPr/>
          <p:nvPr/>
        </p:nvSpPr>
        <p:spPr>
          <a:xfrm>
            <a:off x="2306864" y="0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анан калган </a:t>
            </a:r>
            <a:r>
              <a:rPr lang="ky-KG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беш сандын суммасын тап</a:t>
            </a:r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0B1360-F897-5219-ACF2-E7BE115E8396}"/>
              </a:ext>
            </a:extLst>
          </p:cNvPr>
          <p:cNvSpPr txBox="1"/>
          <p:nvPr/>
        </p:nvSpPr>
        <p:spPr>
          <a:xfrm>
            <a:off x="59945" y="72552"/>
            <a:ext cx="42275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cs typeface="Aharoni" panose="02010803020104030203" pitchFamily="2" charset="-79"/>
              </a:rPr>
              <a:t>Жооп </a:t>
            </a:r>
            <a:r>
              <a:rPr lang="ru-RU" sz="24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sz="2400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452720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84ECA8B-14DA-D001-4323-43C993A632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2184498"/>
              </p:ext>
            </p:extLst>
          </p:nvPr>
        </p:nvGraphicFramePr>
        <p:xfrm>
          <a:off x="6668870" y="51516"/>
          <a:ext cx="3177185" cy="228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437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2,928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22,94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0,648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3,12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5,8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4,4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0,728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1,65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0,112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3,66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1,302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6,72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1,56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1,575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1,653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0,68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3,08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6,63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2,72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5,25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0,296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0,58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0,235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10,25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0,2016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48990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5776807-9805-F1DF-7A37-5271F9515BDE}"/>
              </a:ext>
            </a:extLst>
          </p:cNvPr>
          <p:cNvGraphicFramePr>
            <a:graphicFrameLocks noGrp="1"/>
          </p:cNvGraphicFramePr>
          <p:nvPr/>
        </p:nvGraphicFramePr>
        <p:xfrm>
          <a:off x="61545" y="617195"/>
          <a:ext cx="6506680" cy="274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336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0,52 × 1,4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2,5 × 4,1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14,5 × 0,4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0,37 × 0,8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15,6 × 0,1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12,2 × 0,3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0,8 × 0,81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1,4 × 2,2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13,6 × 0,2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0,62 × 2,1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0,16 × 0,7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0,61 × 4,8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0,5 × 0,47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0,87 × 1,9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5,1 × 1,3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10,5 × 0,5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6,2 × 3,7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0,45 × 3,5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2,4 × 2,8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0,96 × 0,21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DA66D51-4348-B076-45A9-74CFE61851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1250623"/>
              </p:ext>
            </p:extLst>
          </p:nvPr>
        </p:nvGraphicFramePr>
        <p:xfrm>
          <a:off x="6696583" y="2732296"/>
          <a:ext cx="3121758" cy="602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758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</a:tblGrid>
              <a:tr h="602962">
                <a:tc>
                  <a:txBody>
                    <a:bodyPr/>
                    <a:lstStyle/>
                    <a:p>
                      <a:pPr algn="ctr"/>
                      <a:endParaRPr lang="en-GB" sz="3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9FDFD927-2B6A-8DFC-F5CD-E6647BC15CBB}"/>
              </a:ext>
            </a:extLst>
          </p:cNvPr>
          <p:cNvSpPr/>
          <p:nvPr/>
        </p:nvSpPr>
        <p:spPr>
          <a:xfrm>
            <a:off x="6739812" y="2348110"/>
            <a:ext cx="30353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Бардыгы:</a:t>
            </a:r>
            <a:endParaRPr lang="en-GB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369C96-7BE1-DF0B-C1DC-53C98E3F05BB}"/>
              </a:ext>
            </a:extLst>
          </p:cNvPr>
          <p:cNvSpPr/>
          <p:nvPr/>
        </p:nvSpPr>
        <p:spPr>
          <a:xfrm>
            <a:off x="2306864" y="0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анан калган </a:t>
            </a:r>
            <a:r>
              <a:rPr lang="ky-KG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беш сандын суммасын тап</a:t>
            </a:r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2E1833-9BE1-C9B0-78E8-475B6C6479A7}"/>
              </a:ext>
            </a:extLst>
          </p:cNvPr>
          <p:cNvSpPr txBox="1"/>
          <p:nvPr/>
        </p:nvSpPr>
        <p:spPr>
          <a:xfrm>
            <a:off x="59945" y="72552"/>
            <a:ext cx="42275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cs typeface="Aharoni" panose="02010803020104030203" pitchFamily="2" charset="-79"/>
              </a:rPr>
              <a:t>Жооп </a:t>
            </a:r>
            <a:r>
              <a:rPr lang="ru-RU" sz="24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sz="2400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19D14397-B337-714B-067D-A03CA8D8B2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4806165"/>
              </p:ext>
            </p:extLst>
          </p:nvPr>
        </p:nvGraphicFramePr>
        <p:xfrm>
          <a:off x="6668870" y="3520915"/>
          <a:ext cx="3177185" cy="228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437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2,928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22,94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0,648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3,12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5,8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4,4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0,728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1,65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0,112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3,66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1,302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6,72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1,56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1,575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1,653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0,68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3,08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6,63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2,72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5,25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0,296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0,58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0,235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10,25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0,2016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489906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6E26CDDD-7EB4-3B4A-9250-9A84A52E53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019211"/>
              </p:ext>
            </p:extLst>
          </p:nvPr>
        </p:nvGraphicFramePr>
        <p:xfrm>
          <a:off x="61545" y="4086594"/>
          <a:ext cx="6506680" cy="274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336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0,52 × 1,4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2,5 × 4,1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14,5 × 0,4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0,37 × 0,8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15,6 × 0,1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12,2 × 0,3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0,8 × 0,81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1,4 × 2,2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13,6 × 0,2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0,62 × 2,1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0,16 × 0,7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0,61 × 4,8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0,5 × 0,47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0,87 × 1,9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5,1 × 1,3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10,5 × 0,5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6,2 × 3,7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0,45 × 3,5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2,4 × 2,8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0,96 × 0,21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3EB872E4-5F2F-89DB-836C-7F590BF951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0947228"/>
              </p:ext>
            </p:extLst>
          </p:nvPr>
        </p:nvGraphicFramePr>
        <p:xfrm>
          <a:off x="6696583" y="6201695"/>
          <a:ext cx="3121758" cy="602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758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</a:tblGrid>
              <a:tr h="602962">
                <a:tc>
                  <a:txBody>
                    <a:bodyPr/>
                    <a:lstStyle/>
                    <a:p>
                      <a:pPr algn="ctr"/>
                      <a:endParaRPr lang="en-GB" sz="3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</a:tbl>
          </a:graphicData>
        </a:graphic>
      </p:graphicFrame>
      <p:sp>
        <p:nvSpPr>
          <p:cNvPr id="23" name="Rectangle 22">
            <a:extLst>
              <a:ext uri="{FF2B5EF4-FFF2-40B4-BE49-F238E27FC236}">
                <a16:creationId xmlns:a16="http://schemas.microsoft.com/office/drawing/2014/main" id="{F74C5587-0B3D-5E06-9E9F-78234A9F06C0}"/>
              </a:ext>
            </a:extLst>
          </p:cNvPr>
          <p:cNvSpPr/>
          <p:nvPr/>
        </p:nvSpPr>
        <p:spPr>
          <a:xfrm>
            <a:off x="6739812" y="5817509"/>
            <a:ext cx="30353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Бардыгы:</a:t>
            </a:r>
            <a:endParaRPr lang="en-GB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94FB8C-A148-DCDE-7D46-048F04A28AFB}"/>
              </a:ext>
            </a:extLst>
          </p:cNvPr>
          <p:cNvSpPr/>
          <p:nvPr/>
        </p:nvSpPr>
        <p:spPr>
          <a:xfrm>
            <a:off x="2306864" y="3469399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анан калган </a:t>
            </a:r>
            <a:r>
              <a:rPr lang="ky-KG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беш сандын суммасын тап</a:t>
            </a:r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BC09DC-F844-8330-291B-0992741CE719}"/>
              </a:ext>
            </a:extLst>
          </p:cNvPr>
          <p:cNvSpPr txBox="1"/>
          <p:nvPr/>
        </p:nvSpPr>
        <p:spPr>
          <a:xfrm>
            <a:off x="59945" y="3541951"/>
            <a:ext cx="42275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cs typeface="Aharoni" panose="02010803020104030203" pitchFamily="2" charset="-79"/>
              </a:rPr>
              <a:t>Жооп </a:t>
            </a:r>
            <a:r>
              <a:rPr lang="ru-RU" sz="24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sz="2400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640975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ECEF9F-434E-4379-BE8F-FC57D6668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433829"/>
              </p:ext>
            </p:extLst>
          </p:nvPr>
        </p:nvGraphicFramePr>
        <p:xfrm>
          <a:off x="6668870" y="51516"/>
          <a:ext cx="3177185" cy="228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437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2,928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22,94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0,648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3,12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5,8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4,4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0,728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1,65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0,112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3,66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1,302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6,72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1,56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1,575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1,653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0,68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3,08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6,63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2,72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5,25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0,296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0,58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0,235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10,25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0,2016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48990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4CACCE-EE06-4252-A99D-23B469013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581508"/>
              </p:ext>
            </p:extLst>
          </p:nvPr>
        </p:nvGraphicFramePr>
        <p:xfrm>
          <a:off x="61545" y="617195"/>
          <a:ext cx="6506680" cy="274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336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0,52 × 1,4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2,5 × 4,1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14,5 × 0,4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0,37 × 0,8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15,6 × 0,1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12,2 × 0,3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0,8 × 0,81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1,4 × 2,2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13,6 × 0,2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0,62 × 2,1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0,16 × 0,7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0,61 × 4,8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0,5 × 0,47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0,87 × 1,9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5,1 × 1,3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10,5 × 0,5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6,2 × 3,7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0,45 × 3,5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2,4 × 2,8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0,96 × 0,21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AD24C9A-01A7-4E5D-A407-60D51806BB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800009"/>
              </p:ext>
            </p:extLst>
          </p:nvPr>
        </p:nvGraphicFramePr>
        <p:xfrm>
          <a:off x="6696583" y="2732296"/>
          <a:ext cx="3121758" cy="602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758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</a:tblGrid>
              <a:tr h="60296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ysClr val="windowText" lastClr="000000"/>
                          </a:solidFill>
                        </a:rPr>
                        <a:t>10,43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E2957F7-99F0-4B3A-B72D-884CCB8B23AD}"/>
              </a:ext>
            </a:extLst>
          </p:cNvPr>
          <p:cNvSpPr/>
          <p:nvPr/>
        </p:nvSpPr>
        <p:spPr>
          <a:xfrm>
            <a:off x="6739812" y="2348110"/>
            <a:ext cx="30353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Бардыгы:</a:t>
            </a:r>
            <a:endParaRPr lang="en-GB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9F3885-40A0-4971-85BC-67C02F8382C4}"/>
              </a:ext>
            </a:extLst>
          </p:cNvPr>
          <p:cNvSpPr/>
          <p:nvPr/>
        </p:nvSpPr>
        <p:spPr>
          <a:xfrm>
            <a:off x="2163706" y="32420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анан калган </a:t>
            </a:r>
            <a:r>
              <a:rPr lang="ky-KG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беш сандын суммасын тап</a:t>
            </a:r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86D735-EF3E-4AE4-A6B3-95A3EE61F723}"/>
              </a:ext>
            </a:extLst>
          </p:cNvPr>
          <p:cNvSpPr/>
          <p:nvPr/>
        </p:nvSpPr>
        <p:spPr>
          <a:xfrm>
            <a:off x="6707198" y="3411714"/>
            <a:ext cx="31005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" panose="020B0502040204020203" pitchFamily="34" charset="0"/>
              </a:rPr>
              <a:t>Жооптор</a:t>
            </a:r>
            <a:endParaRPr lang="en-GB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34AB27-B6E6-CA06-E423-A683F6A6F9C6}"/>
              </a:ext>
            </a:extLst>
          </p:cNvPr>
          <p:cNvSpPr txBox="1"/>
          <p:nvPr/>
        </p:nvSpPr>
        <p:spPr>
          <a:xfrm>
            <a:off x="59945" y="72552"/>
            <a:ext cx="2295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cs typeface="Aharoni" panose="02010803020104030203" pitchFamily="2" charset="-79"/>
              </a:rPr>
              <a:t>Жооп </a:t>
            </a:r>
            <a:r>
              <a:rPr lang="ru-RU" sz="24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sz="2400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251307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1BBE2C-C4D2-0CA6-1D75-57E92B6FB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657204" y="926385"/>
            <a:ext cx="6589257" cy="50052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27B810-85A6-69D1-340F-3CCAD3F9B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282115" y="1234554"/>
            <a:ext cx="6589257" cy="4388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862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551" y="848185"/>
            <a:ext cx="8543925" cy="353546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2400" dirty="0"/>
              <a:t>Суроолор барбы?</a:t>
            </a:r>
          </a:p>
          <a:p>
            <a:pPr marL="0" indent="0" algn="ctr">
              <a:buNone/>
            </a:pPr>
            <a:r>
              <a:rPr lang="ru-RU" sz="2400" dirty="0"/>
              <a:t>Комментарийлер?</a:t>
            </a:r>
          </a:p>
          <a:p>
            <a:pPr marL="0" indent="0" algn="ctr">
              <a:buNone/>
            </a:pPr>
            <a:r>
              <a:rPr lang="ru-RU" sz="2400" dirty="0"/>
              <a:t>Сунуштар?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…же ката таптыңызбы!?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en-US" sz="24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8420</TotalTime>
  <Words>489</Words>
  <Application>Microsoft Office PowerPoint</Application>
  <PresentationFormat>A4 Paper (210x297 mm)</PresentationFormat>
  <Paragraphs>215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Script MT Bold</vt:lpstr>
      <vt:lpstr>Aharoni</vt:lpstr>
      <vt:lpstr>Calibri</vt:lpstr>
      <vt:lpstr>Bahnschrift</vt:lpstr>
      <vt:lpstr>Arial</vt:lpstr>
      <vt:lpstr>Calibri Light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368</cp:revision>
  <cp:lastPrinted>2024-05-23T10:49:54Z</cp:lastPrinted>
  <dcterms:created xsi:type="dcterms:W3CDTF">2017-01-17T16:57:04Z</dcterms:created>
  <dcterms:modified xsi:type="dcterms:W3CDTF">2024-05-23T10:51:01Z</dcterms:modified>
</cp:coreProperties>
</file>