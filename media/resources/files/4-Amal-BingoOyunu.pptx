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23"/>
  </p:notesMasterIdLst>
  <p:sldIdLst>
    <p:sldId id="939" r:id="rId3"/>
    <p:sldId id="941" r:id="rId4"/>
    <p:sldId id="851" r:id="rId5"/>
    <p:sldId id="948" r:id="rId6"/>
    <p:sldId id="949" r:id="rId7"/>
    <p:sldId id="950" r:id="rId8"/>
    <p:sldId id="951" r:id="rId9"/>
    <p:sldId id="952" r:id="rId10"/>
    <p:sldId id="953" r:id="rId11"/>
    <p:sldId id="954" r:id="rId12"/>
    <p:sldId id="956" r:id="rId13"/>
    <p:sldId id="955" r:id="rId14"/>
    <p:sldId id="957" r:id="rId15"/>
    <p:sldId id="958" r:id="rId16"/>
    <p:sldId id="959" r:id="rId17"/>
    <p:sldId id="960" r:id="rId18"/>
    <p:sldId id="961" r:id="rId19"/>
    <p:sldId id="962" r:id="rId20"/>
    <p:sldId id="963" r:id="rId21"/>
    <p:sldId id="274" r:id="rId22"/>
  </p:sldIdLst>
  <p:sldSz cx="9906000" cy="6858000" type="A4"/>
  <p:notesSz cx="6669088" cy="9926638"/>
  <p:embeddedFontLs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Calibri Light" panose="020F0302020204030204" pitchFamily="34" charset="0"/>
      <p:regular r:id="rId28"/>
      <p:italic r:id="rId29"/>
    </p:embeddedFont>
    <p:embeddedFont>
      <p:font typeface="Cambria Math" panose="02040503050406030204" pitchFamily="18" charset="0"/>
      <p:regular r:id="rId3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3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4.fntdata"/><Relationship Id="rId30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26/09/2023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9/26/2023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565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9/26/2023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96715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9/26/2023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196080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752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9/26/2023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666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9/26/2023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7289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9/26/2023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303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2625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9/26/2023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544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597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9/26/2023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59577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6743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3434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5825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9/26/2023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3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650240" y="1148081"/>
            <a:ext cx="8605520" cy="3179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Амалдардын тартиби</a:t>
            </a:r>
            <a:r>
              <a:rPr lang="en-US" dirty="0"/>
              <a:t> – </a:t>
            </a:r>
            <a:r>
              <a:rPr lang="en-US" dirty="0" err="1"/>
              <a:t>Бинго</a:t>
            </a:r>
            <a:r>
              <a:rPr lang="en-US" dirty="0"/>
              <a:t> </a:t>
            </a:r>
            <a:r>
              <a:rPr lang="en-US" dirty="0" err="1"/>
              <a:t>жооптору</a:t>
            </a:r>
            <a:r>
              <a:rPr lang="en-US" dirty="0"/>
              <a:t> </a:t>
            </a:r>
            <a:r>
              <a:rPr lang="en-US" dirty="0" err="1"/>
              <a:t>гана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Окуучулар тордон тогуз жоопту тандап, китептеги 3х3 чакмакка каалагандай коюшат.</a:t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err="1"/>
              <a:t>Сиз</a:t>
            </a:r>
            <a:r>
              <a:rPr lang="en-US" dirty="0"/>
              <a:t> </a:t>
            </a:r>
            <a:r>
              <a:rPr lang="en-US" dirty="0" err="1"/>
              <a:t>дисплейиңизди</a:t>
            </a:r>
            <a:r>
              <a:rPr lang="en-US" dirty="0"/>
              <a:t> </a:t>
            </a:r>
            <a:r>
              <a:rPr lang="en-US" dirty="0" err="1"/>
              <a:t>тындырып</a:t>
            </a:r>
            <a:r>
              <a:rPr lang="en-US" dirty="0"/>
              <a:t>, </a:t>
            </a:r>
            <a:r>
              <a:rPr lang="en-US" dirty="0" err="1"/>
              <a:t>оюн</a:t>
            </a:r>
            <a:r>
              <a:rPr lang="en-US" dirty="0"/>
              <a:t> </a:t>
            </a:r>
            <a:r>
              <a:rPr lang="en-US" dirty="0" err="1"/>
              <a:t>учурундагы</a:t>
            </a:r>
            <a:r>
              <a:rPr lang="en-US" dirty="0"/>
              <a:t> </a:t>
            </a:r>
            <a:r>
              <a:rPr lang="en-US" dirty="0" err="1"/>
              <a:t>кыйынчылыкка</a:t>
            </a:r>
            <a:r>
              <a:rPr lang="en-US" dirty="0"/>
              <a:t> </a:t>
            </a:r>
            <a:r>
              <a:rPr lang="en-US" dirty="0" err="1"/>
              <a:t>жараша</a:t>
            </a:r>
            <a:r>
              <a:rPr lang="en-US" dirty="0"/>
              <a:t> </a:t>
            </a:r>
            <a:r>
              <a:rPr lang="en-US" dirty="0" err="1"/>
              <a:t>суроолорду</a:t>
            </a:r>
            <a:r>
              <a:rPr lang="en-US" dirty="0"/>
              <a:t> </a:t>
            </a:r>
            <a:r>
              <a:rPr lang="en-US" dirty="0" err="1"/>
              <a:t>тандасаңыз</a:t>
            </a:r>
            <a:r>
              <a:rPr lang="en-US" dirty="0"/>
              <a:t> </a:t>
            </a:r>
            <a:r>
              <a:rPr lang="en-US" dirty="0" err="1"/>
              <a:t>болот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Убакытка жараша окуучулар сызык, X же бүт тор («бардыгы») менен жеңе алат.</a:t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531378"/>
              </p:ext>
            </p:extLst>
          </p:nvPr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16600" b="1" cap="none" spc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Бинго</a:t>
            </a:r>
            <a:r>
              <a:rPr lang="en-US" sz="16600" b="1" cap="none" spc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515553" y="2814995"/>
            <a:ext cx="9811954" cy="378565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9600" b="1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Амалдардын тартиби</a:t>
            </a:r>
            <a:endParaRPr lang="en-US" sz="9600" b="1" dirty="0">
              <a:ln w="38100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  <a:p>
            <a:pPr algn="ctr"/>
            <a:r>
              <a:rPr lang="en-US" sz="4800" b="1" cap="none" spc="0" dirty="0">
                <a:ln w="38100">
                  <a:solidFill>
                    <a:sysClr val="windowText" lastClr="000000"/>
                  </a:solidFill>
                </a:ln>
                <a:solidFill>
                  <a:srgbClr val="FFC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    </a:t>
            </a:r>
            <a:r>
              <a:rPr lang="ru-RU" sz="4800" b="1" cap="none" spc="0" dirty="0">
                <a:ln w="38100">
                  <a:solidFill>
                    <a:sysClr val="windowText" lastClr="000000"/>
                  </a:solidFill>
                </a:ln>
                <a:solidFill>
                  <a:srgbClr val="FFC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кошуу, кемитүү, көбөйтүү, бөлүү</a:t>
            </a:r>
            <a:endParaRPr lang="en-US" sz="4800" b="1" cap="none" spc="0" dirty="0">
              <a:ln w="38100">
                <a:solidFill>
                  <a:sysClr val="windowText" lastClr="000000"/>
                </a:solidFill>
              </a:ln>
              <a:solidFill>
                <a:srgbClr val="FFC00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83214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1494629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2420112" y="6041522"/>
            <a:ext cx="2929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Draw a 3x3 grid in your book.</a:t>
            </a:r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394550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3×4+4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394550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639400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4639400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E39E441-B3B2-DCD7-DD36-CA2F67BAFB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754" y="346463"/>
            <a:ext cx="2233966" cy="2264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109820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10−4×2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109820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456179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456179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F038820-B2FB-1888-83B6-CA8E88071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464" y="189495"/>
            <a:ext cx="2587015" cy="236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28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4576546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(5+4)×2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4576546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5834338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5834338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ED65F1F-82F1-F0DA-B62A-E356CD191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236" y="269265"/>
            <a:ext cx="2346363" cy="221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66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8814978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4×2−3+2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78814978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4156644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4156644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B67755B-1E97-DCCE-EBFF-0D94C9496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147" y="162533"/>
            <a:ext cx="1971705" cy="1895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49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726751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GB" sz="7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z="7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2+5</m:t>
                                    </m:r>
                                  </m:e>
                                </m:d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×4−1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726751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788062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27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788062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B6151E12-DD82-4EAD-9FFD-4A1A45D150C5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6314" y="344135"/>
            <a:ext cx="2448259" cy="194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28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724578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5+12÷4−4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724578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8586077-6F0B-46A2-88E5-1414E883E298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1575" y="379292"/>
            <a:ext cx="2299290" cy="1846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71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404317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6×4÷2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404317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10214747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10214747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A2BC300-7DC0-45C9-B7C6-7D8E5711282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721" y="348476"/>
            <a:ext cx="1686971" cy="192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066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704422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5×2×(1+4)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7044225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9276188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9276188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290177D-5366-4260-A115-C9F2FE6A7C0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5068" y="263021"/>
            <a:ext cx="2586403" cy="216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36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8872222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10−2×4+6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8872222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930024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930024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70A09D0-C35A-498D-AD0F-9333CCCC8FB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9030" y="366836"/>
            <a:ext cx="1847880" cy="1880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9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7078795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7+9−4×4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7078795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633260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633260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A31D784-996F-4214-983B-4A943BF28ED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2387" y="375547"/>
            <a:ext cx="1623174" cy="185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22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881092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(7−2)×4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881092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74165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74165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51A1034-5034-4B9C-BECE-7C14E021DE78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9746" y="222968"/>
            <a:ext cx="2897276" cy="226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15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648965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6×4−3×5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648965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8836106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8836106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D63835F-4E62-4C4F-A123-666EBC84651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7388" y="343805"/>
            <a:ext cx="2418404" cy="194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447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292784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(8−6)×3+4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292784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183159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1831591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5E566F9-3D8F-4478-B160-9A14DE6B90A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772" y="322655"/>
            <a:ext cx="1765005" cy="199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90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77792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5×4+10÷5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777927"/>
                  </p:ext>
                </p:extLst>
              </p:nvPr>
            </p:nvGraphicFramePr>
            <p:xfrm>
              <a:off x="1651000" y="2681908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92" t="-444" r="-369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3452722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3452722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B3181747-7728-4CC2-962F-CD41EF90FEB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0175" y="367999"/>
            <a:ext cx="1844793" cy="18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719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9112682"/>
                  </p:ext>
                </p:extLst>
              </p:nvPr>
            </p:nvGraphicFramePr>
            <p:xfrm>
              <a:off x="190500" y="2681908"/>
              <a:ext cx="9525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525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17−2×(4+1×4)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9112682"/>
                  </p:ext>
                </p:extLst>
              </p:nvPr>
            </p:nvGraphicFramePr>
            <p:xfrm>
              <a:off x="190500" y="2681908"/>
              <a:ext cx="9525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525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4" t="-444" r="-256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6895057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6895057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F83554-A6C6-4508-89B6-295F0CECE9D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8066" y="359694"/>
            <a:ext cx="1850475" cy="189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644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3984604" y="84853"/>
            <a:ext cx="19368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Эсептеңиз </a:t>
            </a:r>
            <a:r>
              <a:rPr lang="en-GB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4273802"/>
                  </p:ext>
                </p:extLst>
              </p:nvPr>
            </p:nvGraphicFramePr>
            <p:xfrm>
              <a:off x="269631" y="2681908"/>
              <a:ext cx="9366738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66738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12÷</m:t>
                                </m:r>
                                <m:d>
                                  <m:dPr>
                                    <m:ctrlPr>
                                      <a:rPr lang="en-GB" sz="7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GB" sz="72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2×</m:t>
                                    </m:r>
                                    <m:d>
                                      <m:dPr>
                                        <m:ctrlPr>
                                          <a:rPr lang="en-GB" sz="72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GB" sz="7200" b="0" i="1" dirty="0" smtClean="0">
                                            <a:solidFill>
                                              <a:sysClr val="windowText" lastClr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4−1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+3 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A0405E71-8180-4E86-8696-19490567FE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4273802"/>
                  </p:ext>
                </p:extLst>
              </p:nvPr>
            </p:nvGraphicFramePr>
            <p:xfrm>
              <a:off x="269631" y="2681908"/>
              <a:ext cx="9366738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66738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5" t="-444" r="-260" b="-1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4957972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72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sz="4000" b="0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4">
                <a:extLst>
                  <a:ext uri="{FF2B5EF4-FFF2-40B4-BE49-F238E27FC236}">
                    <a16:creationId xmlns:a16="http://schemas.microsoft.com/office/drawing/2014/main" id="{434CD96E-5C94-41B2-8F8D-9AF73DBA04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4957972"/>
                  </p:ext>
                </p:extLst>
              </p:nvPr>
            </p:nvGraphicFramePr>
            <p:xfrm>
              <a:off x="1651000" y="4818439"/>
              <a:ext cx="6604000" cy="13628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2767324460"/>
                        </a:ext>
                      </a:extLst>
                    </a:gridCol>
                  </a:tblGrid>
                  <a:tr h="136280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92" t="-446" r="-369" b="-22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008920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0635376-29AF-4C80-B2E3-795AD669A15B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1056" y="168897"/>
            <a:ext cx="3459846" cy="241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35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mathtrainer2023@gmail.com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8769</TotalTime>
  <Words>235</Words>
  <Application>Microsoft Office PowerPoint</Application>
  <PresentationFormat>A4 Paper (210x297 mm)</PresentationFormat>
  <Paragraphs>97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Cambria Math</vt:lpstr>
      <vt:lpstr>Calibri Light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396</cp:revision>
  <cp:lastPrinted>2017-12-31T22:38:51Z</cp:lastPrinted>
  <dcterms:created xsi:type="dcterms:W3CDTF">2017-01-17T16:57:04Z</dcterms:created>
  <dcterms:modified xsi:type="dcterms:W3CDTF">2023-09-26T10:34:51Z</dcterms:modified>
</cp:coreProperties>
</file>