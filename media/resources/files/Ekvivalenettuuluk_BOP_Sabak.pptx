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2"/>
  </p:notesMasterIdLst>
  <p:handoutMasterIdLst>
    <p:handoutMasterId r:id="rId33"/>
  </p:handoutMasterIdLst>
  <p:sldIdLst>
    <p:sldId id="1004" r:id="rId2"/>
    <p:sldId id="965" r:id="rId3"/>
    <p:sldId id="967" r:id="rId4"/>
    <p:sldId id="968" r:id="rId5"/>
    <p:sldId id="970" r:id="rId6"/>
    <p:sldId id="972" r:id="rId7"/>
    <p:sldId id="978" r:id="rId8"/>
    <p:sldId id="971" r:id="rId9"/>
    <p:sldId id="977" r:id="rId10"/>
    <p:sldId id="979" r:id="rId11"/>
    <p:sldId id="980" r:id="rId12"/>
    <p:sldId id="981" r:id="rId13"/>
    <p:sldId id="982" r:id="rId14"/>
    <p:sldId id="983" r:id="rId15"/>
    <p:sldId id="991" r:id="rId16"/>
    <p:sldId id="992" r:id="rId17"/>
    <p:sldId id="993" r:id="rId18"/>
    <p:sldId id="995" r:id="rId19"/>
    <p:sldId id="998" r:id="rId20"/>
    <p:sldId id="994" r:id="rId21"/>
    <p:sldId id="996" r:id="rId22"/>
    <p:sldId id="997" r:id="rId23"/>
    <p:sldId id="1000" r:id="rId24"/>
    <p:sldId id="1001" r:id="rId25"/>
    <p:sldId id="1002" r:id="rId26"/>
    <p:sldId id="1005" r:id="rId27"/>
    <p:sldId id="1003" r:id="rId28"/>
    <p:sldId id="1007" r:id="rId29"/>
    <p:sldId id="1006" r:id="rId30"/>
    <p:sldId id="1008" r:id="rId3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FCC38FB-7118-4555-ACF5-0BD5AF27F91A}">
          <p14:sldIdLst>
            <p14:sldId id="1004"/>
          </p14:sldIdLst>
        </p14:section>
        <p14:section name="Сабак-түшүндүрмөлөр" id="{059544AC-2C27-45B1-9F95-F87DF8854DD6}">
          <p14:sldIdLst>
            <p14:sldId id="965"/>
            <p14:sldId id="967"/>
            <p14:sldId id="968"/>
            <p14:sldId id="970"/>
          </p14:sldIdLst>
        </p14:section>
        <p14:section name="Бөлчөктөрдү айландыруу" id="{88AABBD9-2BCA-4CF9-A1F9-330B5278EC9D}">
          <p14:sldIdLst>
            <p14:sldId id="972"/>
            <p14:sldId id="978"/>
            <p14:sldId id="971"/>
            <p14:sldId id="977"/>
            <p14:sldId id="979"/>
          </p14:sldIdLst>
        </p14:section>
        <p14:section name="Пайызды айландыруу" id="{CE29DBE1-8062-4990-848E-16D5BF6DC226}">
          <p14:sldIdLst>
            <p14:sldId id="980"/>
            <p14:sldId id="981"/>
            <p14:sldId id="982"/>
            <p14:sldId id="983"/>
          </p14:sldIdLst>
        </p14:section>
        <p14:section name="Сабак-түшүндүрмөлөр" id="{CE23F0FA-8F19-456A-8196-B047ACC1C98F}">
          <p14:sldIdLst>
            <p14:sldId id="991"/>
            <p14:sldId id="992"/>
            <p14:sldId id="993"/>
            <p14:sldId id="995"/>
            <p14:sldId id="998"/>
            <p14:sldId id="994"/>
            <p14:sldId id="996"/>
            <p14:sldId id="997"/>
          </p14:sldIdLst>
        </p14:section>
        <p14:section name="Текшерүү иши" id="{1FEDB314-42DC-4694-9B04-D4A4AAE625F7}">
          <p14:sldIdLst>
            <p14:sldId id="1000"/>
            <p14:sldId id="1001"/>
            <p14:sldId id="1002"/>
          </p14:sldIdLst>
        </p14:section>
        <p14:section name="Текшерүү иши" id="{B76D8924-C44E-42CD-AC42-48CA54B22A39}">
          <p14:sldIdLst>
            <p14:sldId id="1005"/>
            <p14:sldId id="1003"/>
            <p14:sldId id="1007"/>
            <p14:sldId id="1006"/>
          </p14:sldIdLst>
        </p14:section>
        <p14:section name="Кайтарым байланыш" id="{44593A35-489B-47C3-9FD2-BAFF3AF9952F}">
          <p14:sldIdLst>
            <p14:sldId id="10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Бөлчөк, ондук жана пайыздык эквиваленттүүлүк</a:t>
            </a:r>
            <a:r>
              <a:rPr lang="en-US" dirty="0"/>
              <a:t> </a:t>
            </a:r>
            <a:r>
              <a:rPr lang="ru-RU" dirty="0"/>
              <a:t>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3">
            <a:extLst>
              <a:ext uri="{FF2B5EF4-FFF2-40B4-BE49-F238E27FC236}">
                <a16:creationId xmlns:a16="http://schemas.microsoft.com/office/drawing/2014/main" id="{612E0E4C-5B82-4A00-B990-52113E41C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811452"/>
              </p:ext>
            </p:extLst>
          </p:nvPr>
        </p:nvGraphicFramePr>
        <p:xfrm>
          <a:off x="4047545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2DA593A-DE39-4790-A90B-9F31BD0F8E3C}"/>
              </a:ext>
            </a:extLst>
          </p:cNvPr>
          <p:cNvSpPr txBox="1"/>
          <p:nvPr/>
        </p:nvSpPr>
        <p:spPr>
          <a:xfrm>
            <a:off x="361305" y="1333795"/>
            <a:ext cx="27478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... </a:t>
            </a:r>
            <a:r>
              <a:rPr lang="ky-KG" sz="2200" b="1" dirty="0"/>
              <a:t>б</a:t>
            </a:r>
            <a:r>
              <a:rPr lang="ru-RU" sz="2200" b="1" dirty="0"/>
              <a:t>өлчөк </a:t>
            </a:r>
            <a:r>
              <a:rPr lang="ru-RU" sz="2200" dirty="0"/>
              <a:t>...</a:t>
            </a:r>
            <a:endParaRPr lang="en-US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(бүтүндүн бөлүктөрү)</a:t>
            </a:r>
            <a:endParaRPr lang="en-GB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65E6BD-A39B-4316-8B02-8503B3C2ED5B}"/>
              </a:ext>
            </a:extLst>
          </p:cNvPr>
          <p:cNvSpPr txBox="1"/>
          <p:nvPr/>
        </p:nvSpPr>
        <p:spPr>
          <a:xfrm>
            <a:off x="2530841" y="833275"/>
            <a:ext cx="4861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200" dirty="0"/>
              <a:t>Аны </a:t>
            </a:r>
            <a:r>
              <a:rPr lang="en-US" sz="2200" dirty="0"/>
              <a:t>… </a:t>
            </a:r>
            <a:r>
              <a:rPr lang="ru-RU" sz="2200" dirty="0"/>
              <a:t>катары кантип сүрөттөсө болот?</a:t>
            </a:r>
            <a:endParaRPr lang="en-GB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0A232FD-2810-482B-B67E-91A061FEC574}"/>
                  </a:ext>
                </a:extLst>
              </p:cNvPr>
              <p:cNvSpPr txBox="1"/>
              <p:nvPr/>
            </p:nvSpPr>
            <p:spPr>
              <a:xfrm>
                <a:off x="2710123" y="9729"/>
                <a:ext cx="4472635" cy="801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y-KG" sz="2200" dirty="0"/>
                  <a:t>Сайкал пиццанын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32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ky-KG" sz="2200" dirty="0"/>
                  <a:t>  бөлүгүн жеди.</a:t>
                </a:r>
                <a:endParaRPr lang="en-GB" sz="22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0A232FD-2810-482B-B67E-91A061FEC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123" y="9729"/>
                <a:ext cx="4472635" cy="801310"/>
              </a:xfrm>
              <a:prstGeom prst="rect">
                <a:avLst/>
              </a:prstGeom>
              <a:blipFill>
                <a:blip r:embed="rId2"/>
                <a:stretch>
                  <a:fillRect l="-1364" r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4A416F43-F5B6-4283-834D-8A613216FAE9}"/>
              </a:ext>
            </a:extLst>
          </p:cNvPr>
          <p:cNvSpPr txBox="1"/>
          <p:nvPr/>
        </p:nvSpPr>
        <p:spPr>
          <a:xfrm>
            <a:off x="6903740" y="1333795"/>
            <a:ext cx="2512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… </a:t>
            </a:r>
            <a:r>
              <a:rPr lang="ky-KG" sz="2200" b="1" dirty="0"/>
              <a:t>пайыз </a:t>
            </a:r>
            <a:r>
              <a:rPr lang="ky-KG" sz="2200" dirty="0"/>
              <a:t>...</a:t>
            </a:r>
            <a:endParaRPr lang="en-GB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(100дүн бөлүктөрү)</a:t>
            </a:r>
            <a:endParaRPr lang="en-GB" sz="2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7EFFFA-4E41-4B55-B2F3-2911B2D18CB3}"/>
              </a:ext>
            </a:extLst>
          </p:cNvPr>
          <p:cNvSpPr txBox="1"/>
          <p:nvPr/>
        </p:nvSpPr>
        <p:spPr>
          <a:xfrm>
            <a:off x="3555428" y="1333795"/>
            <a:ext cx="28034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… </a:t>
            </a:r>
            <a:r>
              <a:rPr lang="ky-KG" sz="2200" b="1" dirty="0"/>
              <a:t>ондук</a:t>
            </a:r>
            <a:r>
              <a:rPr lang="ky-KG" sz="2200" dirty="0"/>
              <a:t> ...</a:t>
            </a:r>
            <a:endParaRPr lang="en-GB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(ондуктардан канчоо)</a:t>
            </a:r>
            <a:endParaRPr lang="en-GB" sz="2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30E27A-0C17-4D9D-B4B4-44883878418D}"/>
              </a:ext>
            </a:extLst>
          </p:cNvPr>
          <p:cNvSpPr txBox="1"/>
          <p:nvPr/>
        </p:nvSpPr>
        <p:spPr>
          <a:xfrm>
            <a:off x="1725079" y="4938958"/>
            <a:ext cx="69307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200" b="1" dirty="0"/>
              <a:t>Бир бүтүн сандын бөлүктөрүн көрсөтүүнүн ар кандай жолдору бар. Ал үчүн Бөлчөктөрдү, Ондуктарды жана Пайыздарды колдонобуз.</a:t>
            </a:r>
          </a:p>
          <a:p>
            <a:pPr algn="ctr"/>
            <a:endParaRPr lang="en-GB" sz="1000" dirty="0"/>
          </a:p>
          <a:p>
            <a:pPr algn="ctr"/>
            <a:r>
              <a:rPr lang="ky-KG" sz="2200" dirty="0"/>
              <a:t>Эмне үчүн биз бир эле санды ар кандай түрдө колдонууну каалайбыз?</a:t>
            </a:r>
            <a:endParaRPr lang="en-GB" sz="2200" dirty="0"/>
          </a:p>
        </p:txBody>
      </p:sp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349BDBCB-25BA-4004-84AA-A53787D34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181476"/>
              </p:ext>
            </p:extLst>
          </p:nvPr>
        </p:nvGraphicFramePr>
        <p:xfrm>
          <a:off x="825079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41" name="Table 3">
            <a:extLst>
              <a:ext uri="{FF2B5EF4-FFF2-40B4-BE49-F238E27FC236}">
                <a16:creationId xmlns:a16="http://schemas.microsoft.com/office/drawing/2014/main" id="{F6346E84-A5E7-4DC4-8D5D-A88E56F6C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721018"/>
              </p:ext>
            </p:extLst>
          </p:nvPr>
        </p:nvGraphicFramePr>
        <p:xfrm>
          <a:off x="4047545" y="2327479"/>
          <a:ext cx="1799996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98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798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798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798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798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798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798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798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798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72814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/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/>
              <p:nvPr/>
            </p:nvSpPr>
            <p:spPr>
              <a:xfrm>
                <a:off x="1494628" y="4160346"/>
                <a:ext cx="481222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28" y="4160346"/>
                <a:ext cx="481222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/>
              <p:nvPr/>
            </p:nvSpPr>
            <p:spPr>
              <a:xfrm>
                <a:off x="4531974" y="4348218"/>
                <a:ext cx="8295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974" y="4348218"/>
                <a:ext cx="8295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3">
            <a:extLst>
              <a:ext uri="{FF2B5EF4-FFF2-40B4-BE49-F238E27FC236}">
                <a16:creationId xmlns:a16="http://schemas.microsoft.com/office/drawing/2014/main" id="{A1F9C088-E1F1-415F-B142-D5836FFC1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060558"/>
              </p:ext>
            </p:extLst>
          </p:nvPr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4C64BFE8-8635-45DA-9F71-8E6A1561E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004649"/>
              </p:ext>
            </p:extLst>
          </p:nvPr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pic>
        <p:nvPicPr>
          <p:cNvPr id="57" name="Picture 56">
            <a:extLst>
              <a:ext uri="{FF2B5EF4-FFF2-40B4-BE49-F238E27FC236}">
                <a16:creationId xmlns:a16="http://schemas.microsoft.com/office/drawing/2014/main" id="{CD295DAC-D453-49C8-8588-C74B866AB4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420" y="308074"/>
            <a:ext cx="1481287" cy="74064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E72D46B-0A2F-4E10-A0A8-0960811547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93" y="44164"/>
            <a:ext cx="1266827" cy="100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1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2" grpId="0"/>
      <p:bldP spid="43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3">
            <a:extLst>
              <a:ext uri="{FF2B5EF4-FFF2-40B4-BE49-F238E27FC236}">
                <a16:creationId xmlns:a16="http://schemas.microsoft.com/office/drawing/2014/main" id="{612E0E4C-5B82-4A00-B990-52113E41C9A8}"/>
              </a:ext>
            </a:extLst>
          </p:cNvPr>
          <p:cNvGraphicFramePr>
            <a:graphicFrameLocks noGrp="1"/>
          </p:cNvGraphicFramePr>
          <p:nvPr/>
        </p:nvGraphicFramePr>
        <p:xfrm>
          <a:off x="4047545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349BDBCB-25BA-4004-84AA-A53787D34CA3}"/>
              </a:ext>
            </a:extLst>
          </p:cNvPr>
          <p:cNvGraphicFramePr>
            <a:graphicFrameLocks noGrp="1"/>
          </p:cNvGraphicFramePr>
          <p:nvPr/>
        </p:nvGraphicFramePr>
        <p:xfrm>
          <a:off x="825079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41" name="Table 3">
            <a:extLst>
              <a:ext uri="{FF2B5EF4-FFF2-40B4-BE49-F238E27FC236}">
                <a16:creationId xmlns:a16="http://schemas.microsoft.com/office/drawing/2014/main" id="{F6346E84-A5E7-4DC4-8D5D-A88E56F6C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54432"/>
              </p:ext>
            </p:extLst>
          </p:nvPr>
        </p:nvGraphicFramePr>
        <p:xfrm>
          <a:off x="4047545" y="2327479"/>
          <a:ext cx="1800001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86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72927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/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/>
              <p:nvPr/>
            </p:nvSpPr>
            <p:spPr>
              <a:xfrm>
                <a:off x="1494628" y="4160346"/>
                <a:ext cx="481222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28" y="4160346"/>
                <a:ext cx="481222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/>
              <p:nvPr/>
            </p:nvSpPr>
            <p:spPr>
              <a:xfrm>
                <a:off x="4531974" y="4348218"/>
                <a:ext cx="8295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974" y="4348218"/>
                <a:ext cx="8295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3">
            <a:extLst>
              <a:ext uri="{FF2B5EF4-FFF2-40B4-BE49-F238E27FC236}">
                <a16:creationId xmlns:a16="http://schemas.microsoft.com/office/drawing/2014/main" id="{A1F9C088-E1F1-415F-B142-D5836FFC1B82}"/>
              </a:ext>
            </a:extLst>
          </p:cNvPr>
          <p:cNvGraphicFramePr>
            <a:graphicFrameLocks noGrp="1"/>
          </p:cNvGraphicFramePr>
          <p:nvPr/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4C64BFE8-8635-45DA-9F71-8E6A1561EFC5}"/>
              </a:ext>
            </a:extLst>
          </p:cNvPr>
          <p:cNvGraphicFramePr>
            <a:graphicFrameLocks noGrp="1"/>
          </p:cNvGraphicFramePr>
          <p:nvPr/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pic>
        <p:nvPicPr>
          <p:cNvPr id="57" name="Picture 56">
            <a:extLst>
              <a:ext uri="{FF2B5EF4-FFF2-40B4-BE49-F238E27FC236}">
                <a16:creationId xmlns:a16="http://schemas.microsoft.com/office/drawing/2014/main" id="{CD295DAC-D453-49C8-8588-C74B866AB4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368" y="294605"/>
            <a:ext cx="1481287" cy="74064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E72D46B-0A2F-4E10-A0A8-0960811547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72" y="79267"/>
            <a:ext cx="1266827" cy="10045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177341-0A27-489D-864F-E55B3BCFB281}"/>
              </a:ext>
            </a:extLst>
          </p:cNvPr>
          <p:cNvSpPr txBox="1"/>
          <p:nvPr/>
        </p:nvSpPr>
        <p:spPr>
          <a:xfrm>
            <a:off x="-93922" y="6354200"/>
            <a:ext cx="100577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Буларды түрдүү, бирок </a:t>
            </a:r>
            <a:r>
              <a:rPr lang="ky-KG" sz="2200" dirty="0"/>
              <a:t>эквиваленттүү </a:t>
            </a:r>
            <a:r>
              <a:rPr lang="ky-KG" sz="2200" b="1" dirty="0"/>
              <a:t>бөлчөктөр</a:t>
            </a:r>
            <a:r>
              <a:rPr lang="ky-KG" sz="2200" dirty="0"/>
              <a:t> катары кантип сүрөттөсө болот?</a:t>
            </a:r>
            <a:endParaRPr lang="en-GB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0B3AB-6B14-4900-B512-85F9001E136F}"/>
                  </a:ext>
                </a:extLst>
              </p:cNvPr>
              <p:cNvSpPr txBox="1"/>
              <p:nvPr/>
            </p:nvSpPr>
            <p:spPr>
              <a:xfrm>
                <a:off x="1494628" y="5145084"/>
                <a:ext cx="481222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0B3AB-6B14-4900-B512-85F9001E1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28" y="5145084"/>
                <a:ext cx="481222" cy="8989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3B114F-ADB4-406C-B8E1-191655D89B5A}"/>
                  </a:ext>
                </a:extLst>
              </p:cNvPr>
              <p:cNvSpPr txBox="1"/>
              <p:nvPr/>
            </p:nvSpPr>
            <p:spPr>
              <a:xfrm>
                <a:off x="4622796" y="5145084"/>
                <a:ext cx="696023" cy="910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3B114F-ADB4-406C-B8E1-191655D8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796" y="5145084"/>
                <a:ext cx="696023" cy="9105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85ACE4-3D06-49AF-8ECF-4C18FEC75C0C}"/>
                  </a:ext>
                </a:extLst>
              </p:cNvPr>
              <p:cNvSpPr txBox="1"/>
              <p:nvPr/>
            </p:nvSpPr>
            <p:spPr>
              <a:xfrm>
                <a:off x="7770935" y="5145084"/>
                <a:ext cx="910827" cy="910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85ACE4-3D06-49AF-8ECF-4C18FEC75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935" y="5145084"/>
                <a:ext cx="910827" cy="9105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quals 1">
            <a:extLst>
              <a:ext uri="{FF2B5EF4-FFF2-40B4-BE49-F238E27FC236}">
                <a16:creationId xmlns:a16="http://schemas.microsoft.com/office/drawing/2014/main" id="{15663D13-4427-4EA5-95F6-CF164CD3D572}"/>
              </a:ext>
            </a:extLst>
          </p:cNvPr>
          <p:cNvSpPr/>
          <p:nvPr/>
        </p:nvSpPr>
        <p:spPr>
          <a:xfrm>
            <a:off x="2794000" y="5212080"/>
            <a:ext cx="822960" cy="822960"/>
          </a:xfrm>
          <a:prstGeom prst="mathEqual">
            <a:avLst>
              <a:gd name="adj1" fmla="val 14631"/>
              <a:gd name="adj2" fmla="val 1176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Equals 23">
            <a:extLst>
              <a:ext uri="{FF2B5EF4-FFF2-40B4-BE49-F238E27FC236}">
                <a16:creationId xmlns:a16="http://schemas.microsoft.com/office/drawing/2014/main" id="{23269352-EC62-4861-BF28-CE0F44D5DE73}"/>
              </a:ext>
            </a:extLst>
          </p:cNvPr>
          <p:cNvSpPr/>
          <p:nvPr/>
        </p:nvSpPr>
        <p:spPr>
          <a:xfrm>
            <a:off x="6197600" y="5212080"/>
            <a:ext cx="822960" cy="822960"/>
          </a:xfrm>
          <a:prstGeom prst="mathEqual">
            <a:avLst>
              <a:gd name="adj1" fmla="val 14631"/>
              <a:gd name="adj2" fmla="val 1176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73E4A3-D003-E947-445D-BDA3D9C03296}"/>
              </a:ext>
            </a:extLst>
          </p:cNvPr>
          <p:cNvSpPr txBox="1"/>
          <p:nvPr/>
        </p:nvSpPr>
        <p:spPr>
          <a:xfrm>
            <a:off x="361305" y="1333795"/>
            <a:ext cx="27478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... </a:t>
            </a:r>
            <a:r>
              <a:rPr lang="ky-KG" sz="2200" b="1" dirty="0"/>
              <a:t>б</a:t>
            </a:r>
            <a:r>
              <a:rPr lang="ru-RU" sz="2200" b="1" dirty="0"/>
              <a:t>өлчөк </a:t>
            </a:r>
            <a:r>
              <a:rPr lang="ru-RU" sz="2200" dirty="0"/>
              <a:t>...</a:t>
            </a:r>
            <a:endParaRPr lang="en-US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(бүтүндүн бөлүктөрү)</a:t>
            </a:r>
            <a:endParaRPr lang="en-GB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29616-26D2-EFC5-25B2-7914431012A7}"/>
              </a:ext>
            </a:extLst>
          </p:cNvPr>
          <p:cNvSpPr txBox="1"/>
          <p:nvPr/>
        </p:nvSpPr>
        <p:spPr>
          <a:xfrm>
            <a:off x="2530841" y="833275"/>
            <a:ext cx="4861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200" dirty="0"/>
              <a:t>Аны </a:t>
            </a:r>
            <a:r>
              <a:rPr lang="en-US" sz="2200" dirty="0"/>
              <a:t>… </a:t>
            </a:r>
            <a:r>
              <a:rPr lang="ru-RU" sz="2200" dirty="0"/>
              <a:t>катары кантип сүрөттөсө болот?</a:t>
            </a:r>
            <a:endParaRPr lang="en-GB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CC658B-8392-58DA-1719-5926E00F6761}"/>
                  </a:ext>
                </a:extLst>
              </p:cNvPr>
              <p:cNvSpPr txBox="1"/>
              <p:nvPr/>
            </p:nvSpPr>
            <p:spPr>
              <a:xfrm>
                <a:off x="2710123" y="9729"/>
                <a:ext cx="4472635" cy="801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y-KG" sz="2200" dirty="0"/>
                  <a:t>Сайкал пиццанын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32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ky-KG" sz="2200" dirty="0"/>
                  <a:t>  бөлүгүн жеди.</a:t>
                </a:r>
                <a:endParaRPr lang="en-GB" sz="2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CC658B-8392-58DA-1719-5926E00F6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123" y="9729"/>
                <a:ext cx="4472635" cy="801310"/>
              </a:xfrm>
              <a:prstGeom prst="rect">
                <a:avLst/>
              </a:prstGeom>
              <a:blipFill>
                <a:blip r:embed="rId11"/>
                <a:stretch>
                  <a:fillRect l="-1364" r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106530F-681F-80A9-9D90-0773C3BA9705}"/>
              </a:ext>
            </a:extLst>
          </p:cNvPr>
          <p:cNvSpPr txBox="1"/>
          <p:nvPr/>
        </p:nvSpPr>
        <p:spPr>
          <a:xfrm>
            <a:off x="6903740" y="1333795"/>
            <a:ext cx="2512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… </a:t>
            </a:r>
            <a:r>
              <a:rPr lang="ky-KG" sz="2200" b="1" dirty="0"/>
              <a:t>пайыз</a:t>
            </a:r>
            <a:r>
              <a:rPr lang="ky-KG" sz="2200" dirty="0"/>
              <a:t> ...</a:t>
            </a:r>
            <a:endParaRPr lang="en-GB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(100дүн бөлүктөрү)</a:t>
            </a:r>
            <a:endParaRPr lang="en-GB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B40A9-9C80-238D-E536-09EF688F7D98}"/>
              </a:ext>
            </a:extLst>
          </p:cNvPr>
          <p:cNvSpPr txBox="1"/>
          <p:nvPr/>
        </p:nvSpPr>
        <p:spPr>
          <a:xfrm>
            <a:off x="3555428" y="1333795"/>
            <a:ext cx="28034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… </a:t>
            </a:r>
            <a:r>
              <a:rPr lang="ky-KG" sz="2200" b="1" dirty="0"/>
              <a:t>ондук</a:t>
            </a:r>
            <a:r>
              <a:rPr lang="ky-KG" sz="2200" dirty="0"/>
              <a:t> ...</a:t>
            </a:r>
            <a:endParaRPr lang="en-GB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(ондуктардан канчоо)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30985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19" grpId="0"/>
      <p:bldP spid="20" grpId="0"/>
      <p:bldP spid="21" grpId="0"/>
      <p:bldP spid="2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3">
            <a:extLst>
              <a:ext uri="{FF2B5EF4-FFF2-40B4-BE49-F238E27FC236}">
                <a16:creationId xmlns:a16="http://schemas.microsoft.com/office/drawing/2014/main" id="{612E0E4C-5B82-4A00-B990-52113E41C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41984"/>
              </p:ext>
            </p:extLst>
          </p:nvPr>
        </p:nvGraphicFramePr>
        <p:xfrm>
          <a:off x="4047545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560092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623543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647930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0A232FD-2810-482B-B67E-91A061FEC574}"/>
                  </a:ext>
                </a:extLst>
              </p:cNvPr>
              <p:cNvSpPr txBox="1"/>
              <p:nvPr/>
            </p:nvSpPr>
            <p:spPr>
              <a:xfrm>
                <a:off x="2565021" y="9729"/>
                <a:ext cx="4762842" cy="8036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ru-RU" sz="2200" dirty="0"/>
                  <a:t>Азамат кытырактын</a:t>
                </a:r>
                <a:r>
                  <a:rPr lang="en-GB" sz="22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GB" sz="32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200" dirty="0"/>
                  <a:t>бөлүгүн жеди</a:t>
                </a:r>
                <a:r>
                  <a:rPr lang="en-GB" sz="2200" dirty="0"/>
                  <a:t>.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0A232FD-2810-482B-B67E-91A061FEC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021" y="9729"/>
                <a:ext cx="4762842" cy="803682"/>
              </a:xfrm>
              <a:prstGeom prst="rect">
                <a:avLst/>
              </a:prstGeom>
              <a:blipFill>
                <a:blip r:embed="rId2"/>
                <a:stretch>
                  <a:fillRect l="-1280" r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349BDBCB-25BA-4004-84AA-A53787D34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324444"/>
              </p:ext>
            </p:extLst>
          </p:nvPr>
        </p:nvGraphicFramePr>
        <p:xfrm>
          <a:off x="825079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097719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28730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94012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41" name="Table 3">
            <a:extLst>
              <a:ext uri="{FF2B5EF4-FFF2-40B4-BE49-F238E27FC236}">
                <a16:creationId xmlns:a16="http://schemas.microsoft.com/office/drawing/2014/main" id="{F6346E84-A5E7-4DC4-8D5D-A88E56F6C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026905"/>
              </p:ext>
            </p:extLst>
          </p:nvPr>
        </p:nvGraphicFramePr>
        <p:xfrm>
          <a:off x="4047545" y="2327479"/>
          <a:ext cx="1800001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86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72927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/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/>
              <p:nvPr/>
            </p:nvSpPr>
            <p:spPr>
              <a:xfrm>
                <a:off x="1494628" y="4160346"/>
                <a:ext cx="481222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28" y="4160346"/>
                <a:ext cx="481222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/>
              <p:nvPr/>
            </p:nvSpPr>
            <p:spPr>
              <a:xfrm>
                <a:off x="4531974" y="4348218"/>
                <a:ext cx="8295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974" y="4348218"/>
                <a:ext cx="82958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3">
            <a:extLst>
              <a:ext uri="{FF2B5EF4-FFF2-40B4-BE49-F238E27FC236}">
                <a16:creationId xmlns:a16="http://schemas.microsoft.com/office/drawing/2014/main" id="{A1F9C088-E1F1-415F-B142-D5836FFC1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846860"/>
              </p:ext>
            </p:extLst>
          </p:nvPr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278626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129951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7433101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4C64BFE8-8635-45DA-9F71-8E6A1561E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989078"/>
              </p:ext>
            </p:extLst>
          </p:nvPr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4177341-0A27-489D-864F-E55B3BCFB281}"/>
              </a:ext>
            </a:extLst>
          </p:cNvPr>
          <p:cNvSpPr txBox="1"/>
          <p:nvPr/>
        </p:nvSpPr>
        <p:spPr>
          <a:xfrm>
            <a:off x="-112358" y="6354200"/>
            <a:ext cx="100946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Буларды түрдүү, бирок </a:t>
            </a:r>
            <a:r>
              <a:rPr lang="ky-KG" sz="2200" dirty="0"/>
              <a:t>эквиваленттүү </a:t>
            </a:r>
            <a:r>
              <a:rPr lang="ky-KG" sz="2200" b="1" dirty="0"/>
              <a:t>бөлчөктөр</a:t>
            </a:r>
            <a:r>
              <a:rPr lang="ky-KG" sz="2200" dirty="0"/>
              <a:t> катары кантип сүрөттөсө болот?</a:t>
            </a:r>
            <a:endParaRPr lang="en-GB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0B3AB-6B14-4900-B512-85F9001E136F}"/>
                  </a:ext>
                </a:extLst>
              </p:cNvPr>
              <p:cNvSpPr txBox="1"/>
              <p:nvPr/>
            </p:nvSpPr>
            <p:spPr>
              <a:xfrm>
                <a:off x="1494628" y="5145084"/>
                <a:ext cx="481222" cy="9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0B3AB-6B14-4900-B512-85F9001E1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28" y="5145084"/>
                <a:ext cx="481222" cy="9077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3B114F-ADB4-406C-B8E1-191655D89B5A}"/>
                  </a:ext>
                </a:extLst>
              </p:cNvPr>
              <p:cNvSpPr txBox="1"/>
              <p:nvPr/>
            </p:nvSpPr>
            <p:spPr>
              <a:xfrm>
                <a:off x="4622796" y="5145084"/>
                <a:ext cx="696023" cy="910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3B114F-ADB4-406C-B8E1-191655D8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796" y="5145084"/>
                <a:ext cx="696023" cy="910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85ACE4-3D06-49AF-8ECF-4C18FEC75C0C}"/>
                  </a:ext>
                </a:extLst>
              </p:cNvPr>
              <p:cNvSpPr txBox="1"/>
              <p:nvPr/>
            </p:nvSpPr>
            <p:spPr>
              <a:xfrm>
                <a:off x="7770935" y="5145084"/>
                <a:ext cx="910827" cy="910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𝟒𝟎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85ACE4-3D06-49AF-8ECF-4C18FEC75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935" y="5145084"/>
                <a:ext cx="910827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4D909AED-4623-457E-82AB-C3D22FCD04E9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30142">
            <a:off x="7738022" y="92326"/>
            <a:ext cx="919285" cy="10684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1E88A06-E5A3-4BCA-AB84-F75EEE2948B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19" y="33403"/>
            <a:ext cx="997319" cy="1140812"/>
          </a:xfrm>
          <a:prstGeom prst="rect">
            <a:avLst/>
          </a:prstGeom>
        </p:spPr>
      </p:pic>
      <p:sp>
        <p:nvSpPr>
          <p:cNvPr id="27" name="Equals 26">
            <a:extLst>
              <a:ext uri="{FF2B5EF4-FFF2-40B4-BE49-F238E27FC236}">
                <a16:creationId xmlns:a16="http://schemas.microsoft.com/office/drawing/2014/main" id="{1A3CA1C4-55AF-4281-8678-D5F02CB399B0}"/>
              </a:ext>
            </a:extLst>
          </p:cNvPr>
          <p:cNvSpPr/>
          <p:nvPr/>
        </p:nvSpPr>
        <p:spPr>
          <a:xfrm>
            <a:off x="2794000" y="5212080"/>
            <a:ext cx="822960" cy="822960"/>
          </a:xfrm>
          <a:prstGeom prst="mathEqual">
            <a:avLst>
              <a:gd name="adj1" fmla="val 14631"/>
              <a:gd name="adj2" fmla="val 1176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Equals 27">
            <a:extLst>
              <a:ext uri="{FF2B5EF4-FFF2-40B4-BE49-F238E27FC236}">
                <a16:creationId xmlns:a16="http://schemas.microsoft.com/office/drawing/2014/main" id="{A4B93C64-0ACB-4CFC-907F-644B4BFD1CBA}"/>
              </a:ext>
            </a:extLst>
          </p:cNvPr>
          <p:cNvSpPr/>
          <p:nvPr/>
        </p:nvSpPr>
        <p:spPr>
          <a:xfrm>
            <a:off x="6197600" y="5212080"/>
            <a:ext cx="822960" cy="822960"/>
          </a:xfrm>
          <a:prstGeom prst="mathEqual">
            <a:avLst>
              <a:gd name="adj1" fmla="val 14631"/>
              <a:gd name="adj2" fmla="val 1176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80392-7433-2F9D-5173-9114AAFD77E9}"/>
              </a:ext>
            </a:extLst>
          </p:cNvPr>
          <p:cNvSpPr txBox="1"/>
          <p:nvPr/>
        </p:nvSpPr>
        <p:spPr>
          <a:xfrm>
            <a:off x="361305" y="1333795"/>
            <a:ext cx="27478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... </a:t>
            </a:r>
            <a:r>
              <a:rPr lang="ky-KG" sz="2200" b="1" dirty="0"/>
              <a:t>б</a:t>
            </a:r>
            <a:r>
              <a:rPr lang="ru-RU" sz="2200" b="1" dirty="0"/>
              <a:t>өлчөк </a:t>
            </a:r>
            <a:r>
              <a:rPr lang="ru-RU" sz="2200" dirty="0"/>
              <a:t>...</a:t>
            </a:r>
            <a:endParaRPr lang="en-US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(бүтүндүн бөлүктөрү)</a:t>
            </a:r>
            <a:endParaRPr lang="en-GB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9A05C-5C0D-5C28-287C-C322C921FD74}"/>
              </a:ext>
            </a:extLst>
          </p:cNvPr>
          <p:cNvSpPr txBox="1"/>
          <p:nvPr/>
        </p:nvSpPr>
        <p:spPr>
          <a:xfrm>
            <a:off x="2530841" y="833275"/>
            <a:ext cx="4861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200" dirty="0"/>
              <a:t>Аны </a:t>
            </a:r>
            <a:r>
              <a:rPr lang="en-US" sz="2200" dirty="0"/>
              <a:t>… </a:t>
            </a:r>
            <a:r>
              <a:rPr lang="ru-RU" sz="2200" dirty="0"/>
              <a:t>катары кантип сүрөттөсө болот?</a:t>
            </a:r>
            <a:endParaRPr lang="en-GB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2E75B-D6DF-3C0E-1501-C12E5B932BF0}"/>
              </a:ext>
            </a:extLst>
          </p:cNvPr>
          <p:cNvSpPr txBox="1"/>
          <p:nvPr/>
        </p:nvSpPr>
        <p:spPr>
          <a:xfrm>
            <a:off x="6903740" y="1333795"/>
            <a:ext cx="2512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… пайыз ...</a:t>
            </a:r>
            <a:endParaRPr lang="en-GB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(100дүн бөлүктөрү)</a:t>
            </a:r>
            <a:endParaRPr lang="en-GB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387C3-A737-D9F5-C013-D02CCE168459}"/>
              </a:ext>
            </a:extLst>
          </p:cNvPr>
          <p:cNvSpPr txBox="1"/>
          <p:nvPr/>
        </p:nvSpPr>
        <p:spPr>
          <a:xfrm>
            <a:off x="3555428" y="1333795"/>
            <a:ext cx="28034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… </a:t>
            </a:r>
            <a:r>
              <a:rPr lang="ky-KG" sz="2200" b="1" dirty="0"/>
              <a:t>ондук</a:t>
            </a:r>
            <a:r>
              <a:rPr lang="ky-KG" sz="2200" dirty="0"/>
              <a:t> ...</a:t>
            </a:r>
            <a:endParaRPr lang="en-GB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(ондуктардан канчоо)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15991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3" grpId="1"/>
      <p:bldP spid="44" grpId="0"/>
      <p:bldP spid="19" grpId="0"/>
      <p:bldP spid="20" grpId="0"/>
      <p:bldP spid="21" grpId="0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3">
            <a:extLst>
              <a:ext uri="{FF2B5EF4-FFF2-40B4-BE49-F238E27FC236}">
                <a16:creationId xmlns:a16="http://schemas.microsoft.com/office/drawing/2014/main" id="{612E0E4C-5B82-4A00-B990-52113E41C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646043"/>
              </p:ext>
            </p:extLst>
          </p:nvPr>
        </p:nvGraphicFramePr>
        <p:xfrm>
          <a:off x="4047545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5600929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623543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3464793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0098578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7539564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024885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7819568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68134337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72986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0A232FD-2810-482B-B67E-91A061FEC574}"/>
                  </a:ext>
                </a:extLst>
              </p:cNvPr>
              <p:cNvSpPr txBox="1"/>
              <p:nvPr/>
            </p:nvSpPr>
            <p:spPr>
              <a:xfrm>
                <a:off x="2406870" y="9729"/>
                <a:ext cx="5079147" cy="8013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y-KG" sz="2200" dirty="0"/>
                  <a:t>Айя газдалган суунун</a:t>
                </a:r>
                <a:r>
                  <a:rPr lang="en-GB" sz="22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3200" b="1" i="1" dirty="0" smtClean="0"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GB" sz="2800" dirty="0"/>
                  <a:t>  </a:t>
                </a:r>
                <a:r>
                  <a:rPr lang="ky-KG" sz="2200" dirty="0"/>
                  <a:t> бөлүгүң ичти</a:t>
                </a:r>
                <a:r>
                  <a:rPr lang="en-GB" sz="2200" dirty="0"/>
                  <a:t>.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0A232FD-2810-482B-B67E-91A061FEC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870" y="9729"/>
                <a:ext cx="5079147" cy="801373"/>
              </a:xfrm>
              <a:prstGeom prst="rect">
                <a:avLst/>
              </a:prstGeom>
              <a:blipFill>
                <a:blip r:embed="rId2"/>
                <a:stretch>
                  <a:fillRect l="-1200" r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349BDBCB-25BA-4004-84AA-A53787D34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714795"/>
              </p:ext>
            </p:extLst>
          </p:nvPr>
        </p:nvGraphicFramePr>
        <p:xfrm>
          <a:off x="825079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0977193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2873083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494012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282415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4521971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2090025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5033464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20415479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56463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/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𝟑𝟓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/>
              <p:nvPr/>
            </p:nvSpPr>
            <p:spPr>
              <a:xfrm>
                <a:off x="1387227" y="4160346"/>
                <a:ext cx="69602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227" y="4160346"/>
                <a:ext cx="696024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/>
              <p:nvPr/>
            </p:nvSpPr>
            <p:spPr>
              <a:xfrm>
                <a:off x="3306771" y="4348218"/>
                <a:ext cx="32800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𝟎𝟓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𝟑𝟓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771" y="4348218"/>
                <a:ext cx="32800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3">
            <a:extLst>
              <a:ext uri="{FF2B5EF4-FFF2-40B4-BE49-F238E27FC236}">
                <a16:creationId xmlns:a16="http://schemas.microsoft.com/office/drawing/2014/main" id="{A1F9C088-E1F1-415F-B142-D5836FFC1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557137"/>
              </p:ext>
            </p:extLst>
          </p:nvPr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278626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1299513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74331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6088788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1734048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355096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9249487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2114672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2878"/>
                  </a:ext>
                </a:extLst>
              </a:tr>
            </a:tbl>
          </a:graphicData>
        </a:graphic>
      </p:graphicFrame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4C64BFE8-8635-45DA-9F71-8E6A1561E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342260"/>
              </p:ext>
            </p:extLst>
          </p:nvPr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4177341-0A27-489D-864F-E55B3BCFB281}"/>
              </a:ext>
            </a:extLst>
          </p:cNvPr>
          <p:cNvSpPr txBox="1"/>
          <p:nvPr/>
        </p:nvSpPr>
        <p:spPr>
          <a:xfrm>
            <a:off x="-112358" y="6354200"/>
            <a:ext cx="100946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Буларды түрдүү, бирок </a:t>
            </a:r>
            <a:r>
              <a:rPr lang="ky-KG" sz="2200" dirty="0"/>
              <a:t>эквиваленттүү </a:t>
            </a:r>
            <a:r>
              <a:rPr lang="ky-KG" sz="2200" b="1" dirty="0"/>
              <a:t>бөлчөктөр</a:t>
            </a:r>
            <a:r>
              <a:rPr lang="ky-KG" sz="2200" dirty="0"/>
              <a:t> катары кантип сүрөттөсө болот?</a:t>
            </a:r>
            <a:endParaRPr lang="en-GB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0B3AB-6B14-4900-B512-85F9001E136F}"/>
                  </a:ext>
                </a:extLst>
              </p:cNvPr>
              <p:cNvSpPr txBox="1"/>
              <p:nvPr/>
            </p:nvSpPr>
            <p:spPr>
              <a:xfrm>
                <a:off x="1387228" y="5145084"/>
                <a:ext cx="696023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C0B3AB-6B14-4900-B512-85F9001E1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228" y="5145084"/>
                <a:ext cx="696023" cy="8989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3B114F-ADB4-406C-B8E1-191655D89B5A}"/>
                  </a:ext>
                </a:extLst>
              </p:cNvPr>
              <p:cNvSpPr txBox="1"/>
              <p:nvPr/>
            </p:nvSpPr>
            <p:spPr>
              <a:xfrm>
                <a:off x="4515394" y="5145084"/>
                <a:ext cx="910827" cy="910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𝟑𝟓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3B114F-ADB4-406C-B8E1-191655D8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394" y="5145084"/>
                <a:ext cx="910827" cy="910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85ACE4-3D06-49AF-8ECF-4C18FEC75C0C}"/>
                  </a:ext>
                </a:extLst>
              </p:cNvPr>
              <p:cNvSpPr txBox="1"/>
              <p:nvPr/>
            </p:nvSpPr>
            <p:spPr>
              <a:xfrm>
                <a:off x="7770935" y="5145084"/>
                <a:ext cx="910827" cy="910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𝟑𝟓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485ACE4-3D06-49AF-8ECF-4C18FEC75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935" y="5145084"/>
                <a:ext cx="910827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Equals 26">
            <a:extLst>
              <a:ext uri="{FF2B5EF4-FFF2-40B4-BE49-F238E27FC236}">
                <a16:creationId xmlns:a16="http://schemas.microsoft.com/office/drawing/2014/main" id="{1A3CA1C4-55AF-4281-8678-D5F02CB399B0}"/>
              </a:ext>
            </a:extLst>
          </p:cNvPr>
          <p:cNvSpPr/>
          <p:nvPr/>
        </p:nvSpPr>
        <p:spPr>
          <a:xfrm>
            <a:off x="2794000" y="5212080"/>
            <a:ext cx="822960" cy="822960"/>
          </a:xfrm>
          <a:prstGeom prst="mathEqual">
            <a:avLst>
              <a:gd name="adj1" fmla="val 14631"/>
              <a:gd name="adj2" fmla="val 1176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Equals 27">
            <a:extLst>
              <a:ext uri="{FF2B5EF4-FFF2-40B4-BE49-F238E27FC236}">
                <a16:creationId xmlns:a16="http://schemas.microsoft.com/office/drawing/2014/main" id="{A4B93C64-0ACB-4CFC-907F-644B4BFD1CBA}"/>
              </a:ext>
            </a:extLst>
          </p:cNvPr>
          <p:cNvSpPr/>
          <p:nvPr/>
        </p:nvSpPr>
        <p:spPr>
          <a:xfrm>
            <a:off x="6197600" y="5212080"/>
            <a:ext cx="822960" cy="822960"/>
          </a:xfrm>
          <a:prstGeom prst="mathEqual">
            <a:avLst>
              <a:gd name="adj1" fmla="val 14631"/>
              <a:gd name="adj2" fmla="val 1176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23" name="Table 3">
            <a:extLst>
              <a:ext uri="{FF2B5EF4-FFF2-40B4-BE49-F238E27FC236}">
                <a16:creationId xmlns:a16="http://schemas.microsoft.com/office/drawing/2014/main" id="{AB191794-E2A7-48BC-A96F-45C24FFFB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647819"/>
              </p:ext>
            </p:extLst>
          </p:nvPr>
        </p:nvGraphicFramePr>
        <p:xfrm>
          <a:off x="4047545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43137CCB-D4C1-4604-B063-5E1E1D802544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04" y="40219"/>
            <a:ext cx="1424813" cy="11443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00AE897-85BC-42A9-9545-CF5579D3386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49"/>
          <a:stretch/>
        </p:blipFill>
        <p:spPr>
          <a:xfrm rot="3071218">
            <a:off x="8010320" y="-173498"/>
            <a:ext cx="532669" cy="17345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848B81-6B35-AA1D-EF0D-A4935E16383A}"/>
              </a:ext>
            </a:extLst>
          </p:cNvPr>
          <p:cNvSpPr txBox="1"/>
          <p:nvPr/>
        </p:nvSpPr>
        <p:spPr>
          <a:xfrm>
            <a:off x="361305" y="1333795"/>
            <a:ext cx="27478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... б</a:t>
            </a:r>
            <a:r>
              <a:rPr lang="ru-RU" sz="2200" b="1" dirty="0"/>
              <a:t>өлчөк ...</a:t>
            </a:r>
            <a:endParaRPr lang="en-US" sz="2200" b="1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(бүтүндүн бөлүктөрү)</a:t>
            </a:r>
            <a:endParaRPr lang="en-GB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621EE-F942-36A6-EEFD-4A262824C423}"/>
              </a:ext>
            </a:extLst>
          </p:cNvPr>
          <p:cNvSpPr txBox="1"/>
          <p:nvPr/>
        </p:nvSpPr>
        <p:spPr>
          <a:xfrm>
            <a:off x="2530841" y="833275"/>
            <a:ext cx="4861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200" dirty="0"/>
              <a:t>Аны </a:t>
            </a:r>
            <a:r>
              <a:rPr lang="en-US" sz="2200" b="1" dirty="0"/>
              <a:t>…</a:t>
            </a:r>
            <a:r>
              <a:rPr lang="en-US" sz="2200" dirty="0"/>
              <a:t> </a:t>
            </a:r>
            <a:r>
              <a:rPr lang="ru-RU" sz="2200" dirty="0"/>
              <a:t>катары кантип сүрөттөсө болот?</a:t>
            </a:r>
            <a:endParaRPr lang="en-GB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B1BB7-BC11-E399-F0AD-4ACF0276F54E}"/>
              </a:ext>
            </a:extLst>
          </p:cNvPr>
          <p:cNvSpPr txBox="1"/>
          <p:nvPr/>
        </p:nvSpPr>
        <p:spPr>
          <a:xfrm>
            <a:off x="6903740" y="1333795"/>
            <a:ext cx="2512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… пайыз ...</a:t>
            </a:r>
            <a:endParaRPr lang="en-GB" sz="2200" b="1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(100дүн бөлүктөрү)</a:t>
            </a:r>
            <a:endParaRPr lang="en-GB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48E3C-AEBB-E647-FC31-1A64307485F7}"/>
              </a:ext>
            </a:extLst>
          </p:cNvPr>
          <p:cNvSpPr txBox="1"/>
          <p:nvPr/>
        </p:nvSpPr>
        <p:spPr>
          <a:xfrm>
            <a:off x="3555428" y="1333795"/>
            <a:ext cx="28034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… ондук ...</a:t>
            </a:r>
            <a:endParaRPr lang="en-GB" sz="2200" b="1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(ондуктардан канчоо)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10378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3" grpId="1"/>
      <p:bldP spid="44" grpId="0"/>
      <p:bldP spid="19" grpId="0"/>
      <p:bldP spid="20" grpId="0"/>
      <p:bldP spid="21" grpId="0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3">
            <a:extLst>
              <a:ext uri="{FF2B5EF4-FFF2-40B4-BE49-F238E27FC236}">
                <a16:creationId xmlns:a16="http://schemas.microsoft.com/office/drawing/2014/main" id="{612E0E4C-5B82-4A00-B990-52113E41C9A8}"/>
              </a:ext>
            </a:extLst>
          </p:cNvPr>
          <p:cNvGraphicFramePr>
            <a:graphicFrameLocks noGrp="1"/>
          </p:cNvGraphicFramePr>
          <p:nvPr/>
        </p:nvGraphicFramePr>
        <p:xfrm>
          <a:off x="4047545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40" name="Table 3">
            <a:extLst>
              <a:ext uri="{FF2B5EF4-FFF2-40B4-BE49-F238E27FC236}">
                <a16:creationId xmlns:a16="http://schemas.microsoft.com/office/drawing/2014/main" id="{349BDBCB-25BA-4004-84AA-A53787D34CA3}"/>
              </a:ext>
            </a:extLst>
          </p:cNvPr>
          <p:cNvGraphicFramePr>
            <a:graphicFrameLocks noGrp="1"/>
          </p:cNvGraphicFramePr>
          <p:nvPr/>
        </p:nvGraphicFramePr>
        <p:xfrm>
          <a:off x="825079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41" name="Table 3">
            <a:extLst>
              <a:ext uri="{FF2B5EF4-FFF2-40B4-BE49-F238E27FC236}">
                <a16:creationId xmlns:a16="http://schemas.microsoft.com/office/drawing/2014/main" id="{F6346E84-A5E7-4DC4-8D5D-A88E56F6C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055891"/>
              </p:ext>
            </p:extLst>
          </p:nvPr>
        </p:nvGraphicFramePr>
        <p:xfrm>
          <a:off x="4047545" y="2327479"/>
          <a:ext cx="1800001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86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786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72927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/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D61685-EDBC-43EF-90A4-6F86D849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502" y="4348218"/>
                <a:ext cx="101502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/>
              <p:nvPr/>
            </p:nvSpPr>
            <p:spPr>
              <a:xfrm>
                <a:off x="1494628" y="4160346"/>
                <a:ext cx="481222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EBA2BD-BF76-4261-B5B2-A4EB4A802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628" y="4160346"/>
                <a:ext cx="481222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/>
              <p:nvPr/>
            </p:nvSpPr>
            <p:spPr>
              <a:xfrm>
                <a:off x="4531974" y="4348218"/>
                <a:ext cx="8295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B0D29F3-60B1-4BF6-A745-D633606D9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974" y="4348218"/>
                <a:ext cx="8295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3">
            <a:extLst>
              <a:ext uri="{FF2B5EF4-FFF2-40B4-BE49-F238E27FC236}">
                <a16:creationId xmlns:a16="http://schemas.microsoft.com/office/drawing/2014/main" id="{A1F9C088-E1F1-415F-B142-D5836FFC1B82}"/>
              </a:ext>
            </a:extLst>
          </p:cNvPr>
          <p:cNvGraphicFramePr>
            <a:graphicFrameLocks noGrp="1"/>
          </p:cNvGraphicFramePr>
          <p:nvPr/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graphicFrame>
        <p:nvGraphicFramePr>
          <p:cNvPr id="54" name="Table 3">
            <a:extLst>
              <a:ext uri="{FF2B5EF4-FFF2-40B4-BE49-F238E27FC236}">
                <a16:creationId xmlns:a16="http://schemas.microsoft.com/office/drawing/2014/main" id="{4C64BFE8-8635-45DA-9F71-8E6A1561EFC5}"/>
              </a:ext>
            </a:extLst>
          </p:cNvPr>
          <p:cNvGraphicFramePr>
            <a:graphicFrameLocks noGrp="1"/>
          </p:cNvGraphicFramePr>
          <p:nvPr/>
        </p:nvGraphicFramePr>
        <p:xfrm>
          <a:off x="7270012" y="2327479"/>
          <a:ext cx="1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r>
                        <a:rPr lang="en-GB" sz="200" dirty="0"/>
                        <a:t>5</a:t>
                      </a:r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 marL="29732" marR="29732" marT="14866" marB="148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C220BD9E-E1D7-46AE-B226-AFFE00877A0E}"/>
              </a:ext>
            </a:extLst>
          </p:cNvPr>
          <p:cNvSpPr txBox="1"/>
          <p:nvPr/>
        </p:nvSpPr>
        <p:spPr>
          <a:xfrm>
            <a:off x="1369195" y="-11431"/>
            <a:ext cx="71667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Бөлчөктөрдү, ондуктарды жана пайыздарды </a:t>
            </a:r>
            <a:r>
              <a:rPr lang="ky-KG" sz="2000" b="1" dirty="0"/>
              <a:t>салыштыруу үчүн</a:t>
            </a:r>
            <a:r>
              <a:rPr lang="ky-KG" sz="2000" dirty="0"/>
              <a:t>,</a:t>
            </a:r>
          </a:p>
          <a:p>
            <a:pPr algn="ctr"/>
            <a:r>
              <a:rPr lang="ky-KG" sz="2000" dirty="0"/>
              <a:t> биз алардын бир – бирине айландырууну билишибиз керек.</a:t>
            </a:r>
            <a:endParaRPr lang="en-GB" sz="2000" dirty="0"/>
          </a:p>
        </p:txBody>
      </p:sp>
      <p:sp>
        <p:nvSpPr>
          <p:cNvPr id="25" name="Equals 24">
            <a:extLst>
              <a:ext uri="{FF2B5EF4-FFF2-40B4-BE49-F238E27FC236}">
                <a16:creationId xmlns:a16="http://schemas.microsoft.com/office/drawing/2014/main" id="{8A48550E-242B-4396-B462-5708724C3CFB}"/>
              </a:ext>
            </a:extLst>
          </p:cNvPr>
          <p:cNvSpPr/>
          <p:nvPr/>
        </p:nvSpPr>
        <p:spPr>
          <a:xfrm>
            <a:off x="2934677" y="2925242"/>
            <a:ext cx="822960" cy="822960"/>
          </a:xfrm>
          <a:prstGeom prst="mathEqual">
            <a:avLst>
              <a:gd name="adj1" fmla="val 14631"/>
              <a:gd name="adj2" fmla="val 1176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Equals 25">
            <a:extLst>
              <a:ext uri="{FF2B5EF4-FFF2-40B4-BE49-F238E27FC236}">
                <a16:creationId xmlns:a16="http://schemas.microsoft.com/office/drawing/2014/main" id="{CF783B96-2929-4C4A-A02B-ED8D5B1EF378}"/>
              </a:ext>
            </a:extLst>
          </p:cNvPr>
          <p:cNvSpPr/>
          <p:nvPr/>
        </p:nvSpPr>
        <p:spPr>
          <a:xfrm>
            <a:off x="6136054" y="2925242"/>
            <a:ext cx="822960" cy="822960"/>
          </a:xfrm>
          <a:prstGeom prst="mathEqual">
            <a:avLst>
              <a:gd name="adj1" fmla="val 14631"/>
              <a:gd name="adj2" fmla="val 1176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618253-8B0F-8C5F-6C70-AA73831C3093}"/>
              </a:ext>
            </a:extLst>
          </p:cNvPr>
          <p:cNvSpPr txBox="1"/>
          <p:nvPr/>
        </p:nvSpPr>
        <p:spPr>
          <a:xfrm>
            <a:off x="361305" y="987977"/>
            <a:ext cx="27478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... </a:t>
            </a:r>
            <a:r>
              <a:rPr lang="ky-KG" sz="2200" b="1" dirty="0"/>
              <a:t>б</a:t>
            </a:r>
            <a:r>
              <a:rPr lang="ru-RU" sz="2200" b="1" dirty="0"/>
              <a:t>өлчөк </a:t>
            </a:r>
            <a:r>
              <a:rPr lang="ru-RU" sz="2200" dirty="0"/>
              <a:t>...</a:t>
            </a:r>
            <a:endParaRPr lang="en-US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(бүтүндүн бөлүктөрү)</a:t>
            </a:r>
            <a:endParaRPr lang="en-GB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D7D47-20DF-748B-434D-1C2427B09A0A}"/>
              </a:ext>
            </a:extLst>
          </p:cNvPr>
          <p:cNvSpPr txBox="1"/>
          <p:nvPr/>
        </p:nvSpPr>
        <p:spPr>
          <a:xfrm>
            <a:off x="6913899" y="1111304"/>
            <a:ext cx="2512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… пайыз ...</a:t>
            </a:r>
            <a:endParaRPr lang="en-GB" sz="2200" b="1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(100дүн бөлүктөрү)</a:t>
            </a:r>
            <a:endParaRPr lang="en-GB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ED656-A3ED-5883-0C9B-561D24E0A908}"/>
              </a:ext>
            </a:extLst>
          </p:cNvPr>
          <p:cNvSpPr txBox="1"/>
          <p:nvPr/>
        </p:nvSpPr>
        <p:spPr>
          <a:xfrm>
            <a:off x="3505764" y="1006134"/>
            <a:ext cx="288200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dirty="0"/>
              <a:t>… </a:t>
            </a:r>
            <a:r>
              <a:rPr lang="ky-KG" sz="2200" b="1" dirty="0"/>
              <a:t>ондук</a:t>
            </a:r>
            <a:r>
              <a:rPr lang="ky-KG" sz="2200" dirty="0"/>
              <a:t> ...</a:t>
            </a:r>
            <a:endParaRPr lang="en-GB" sz="2200" dirty="0"/>
          </a:p>
          <a:p>
            <a:pPr algn="ctr"/>
            <a:endParaRPr lang="en-GB" sz="1200" dirty="0"/>
          </a:p>
          <a:p>
            <a:pPr algn="ctr"/>
            <a:r>
              <a:rPr lang="ky-KG" sz="2200" dirty="0"/>
              <a:t>(ондуктардан,</a:t>
            </a:r>
          </a:p>
          <a:p>
            <a:pPr algn="ctr"/>
            <a:r>
              <a:rPr lang="ky-KG" sz="2200" dirty="0"/>
              <a:t>жүздүктөрдөн канчоо)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434901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">
            <a:extLst>
              <a:ext uri="{FF2B5EF4-FFF2-40B4-BE49-F238E27FC236}">
                <a16:creationId xmlns:a16="http://schemas.microsoft.com/office/drawing/2014/main" id="{01FC7937-C3CB-43C7-A0B2-1B4F5DBA9390}"/>
              </a:ext>
            </a:extLst>
          </p:cNvPr>
          <p:cNvGraphicFramePr>
            <a:graphicFrameLocks noGrp="1"/>
          </p:cNvGraphicFramePr>
          <p:nvPr/>
        </p:nvGraphicFramePr>
        <p:xfrm>
          <a:off x="348448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E58395-6262-4155-AF2F-F73EBD371012}"/>
              </a:ext>
            </a:extLst>
          </p:cNvPr>
          <p:cNvSpPr/>
          <p:nvPr/>
        </p:nvSpPr>
        <p:spPr>
          <a:xfrm>
            <a:off x="7015560" y="195331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A5D709-4D5C-4356-9A81-A61E26820F2D}"/>
              </a:ext>
            </a:extLst>
          </p:cNvPr>
          <p:cNvSpPr/>
          <p:nvPr/>
        </p:nvSpPr>
        <p:spPr>
          <a:xfrm>
            <a:off x="894355" y="4152711"/>
            <a:ext cx="626715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5B7925E6-66A0-45A7-8B19-6CCDBFE04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26546"/>
              </p:ext>
            </p:extLst>
          </p:nvPr>
        </p:nvGraphicFramePr>
        <p:xfrm>
          <a:off x="540086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93161544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2640441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91645113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2843112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05567559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599383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10597454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577373725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52CB84-D1E7-4C15-842E-FD9A416ACE97}"/>
              </a:ext>
            </a:extLst>
          </p:cNvPr>
          <p:cNvSpPr txBox="1"/>
          <p:nvPr/>
        </p:nvSpPr>
        <p:spPr>
          <a:xfrm>
            <a:off x="1820762" y="2181"/>
            <a:ext cx="6302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 </a:t>
            </a:r>
            <a:r>
              <a:rPr lang="ky-KG" sz="2000" b="1" dirty="0"/>
              <a:t>ондуктарга жана пайыздарга </a:t>
            </a:r>
            <a:r>
              <a:rPr lang="ky-KG" sz="2000" dirty="0"/>
              <a:t>айландыруу</a:t>
            </a:r>
            <a:endParaRPr lang="en-GB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/>
              <p:nvPr/>
            </p:nvSpPr>
            <p:spPr>
              <a:xfrm>
                <a:off x="912075" y="4133395"/>
                <a:ext cx="696023" cy="900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75" y="4133395"/>
                <a:ext cx="696023" cy="9002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/>
              <p:nvPr/>
            </p:nvSpPr>
            <p:spPr>
              <a:xfrm>
                <a:off x="3749069" y="4127592"/>
                <a:ext cx="910827" cy="938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69" y="4127592"/>
                <a:ext cx="910827" cy="938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3287E2A9-A283-43DB-A4EB-B58DDF63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820293"/>
              </p:ext>
            </p:extLst>
          </p:nvPr>
        </p:nvGraphicFramePr>
        <p:xfrm>
          <a:off x="348448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B111318-DAD9-42A0-8F7B-52BA28F6B53A}"/>
              </a:ext>
            </a:extLst>
          </p:cNvPr>
          <p:cNvSpPr txBox="1"/>
          <p:nvPr/>
        </p:nvSpPr>
        <p:spPr>
          <a:xfrm>
            <a:off x="1765917" y="489982"/>
            <a:ext cx="6373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Бөлчөктү 100 жалпы бөлүүчүгө (бөлчөк) айландырыңыз.</a:t>
            </a:r>
            <a:endParaRPr lang="en-GB" sz="2000" dirty="0"/>
          </a:p>
        </p:txBody>
      </p:sp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CC6C70E-9431-4C5B-B0DE-896DF011EF36}"/>
              </a:ext>
            </a:extLst>
          </p:cNvPr>
          <p:cNvSpPr/>
          <p:nvPr/>
        </p:nvSpPr>
        <p:spPr>
          <a:xfrm rot="10800000" flipH="1">
            <a:off x="1169376" y="5112823"/>
            <a:ext cx="3074963" cy="2796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249033A8-F0BA-481B-96DD-BD977A05D1F7}"/>
              </a:ext>
            </a:extLst>
          </p:cNvPr>
          <p:cNvSpPr/>
          <p:nvPr/>
        </p:nvSpPr>
        <p:spPr>
          <a:xfrm rot="10800000" flipH="1" flipV="1">
            <a:off x="1169376" y="3825291"/>
            <a:ext cx="3063533" cy="27876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25649-4755-4FD1-80B4-F2DAD4EE0939}"/>
              </a:ext>
            </a:extLst>
          </p:cNvPr>
          <p:cNvSpPr txBox="1"/>
          <p:nvPr/>
        </p:nvSpPr>
        <p:spPr>
          <a:xfrm>
            <a:off x="2243289" y="335421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6E63-DF52-4757-AED1-6359ABF83C5C}"/>
              </a:ext>
            </a:extLst>
          </p:cNvPr>
          <p:cNvSpPr txBox="1"/>
          <p:nvPr/>
        </p:nvSpPr>
        <p:spPr>
          <a:xfrm>
            <a:off x="2243289" y="5403700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FA80A3-D2BE-4CBA-8135-A5A3CB884328}"/>
              </a:ext>
            </a:extLst>
          </p:cNvPr>
          <p:cNvSpPr txBox="1"/>
          <p:nvPr/>
        </p:nvSpPr>
        <p:spPr>
          <a:xfrm>
            <a:off x="5642026" y="1457890"/>
            <a:ext cx="3810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Биз "100дөн" % дегенди билебиз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C304D-3395-46C7-9E51-817CF5C82384}"/>
              </a:ext>
            </a:extLst>
          </p:cNvPr>
          <p:cNvSpPr txBox="1"/>
          <p:nvPr/>
        </p:nvSpPr>
        <p:spPr>
          <a:xfrm>
            <a:off x="7143944" y="2148903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E0DC75-10CE-413B-B1E7-FBD75DF3FA91}"/>
              </a:ext>
            </a:extLst>
          </p:cNvPr>
          <p:cNvSpPr txBox="1"/>
          <p:nvPr/>
        </p:nvSpPr>
        <p:spPr>
          <a:xfrm>
            <a:off x="6088750" y="3828008"/>
            <a:ext cx="29170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Бизде канча ондук бар?</a:t>
            </a:r>
          </a:p>
          <a:p>
            <a:pPr algn="ctr"/>
            <a:r>
              <a:rPr lang="ru-RU" sz="2000" dirty="0"/>
              <a:t>Бизде канча жүздүк бар?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015220-9F48-482C-A293-C0417556D120}"/>
              </a:ext>
            </a:extLst>
          </p:cNvPr>
          <p:cNvSpPr txBox="1"/>
          <p:nvPr/>
        </p:nvSpPr>
        <p:spPr>
          <a:xfrm>
            <a:off x="723720" y="1346846"/>
            <a:ext cx="1072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</a:t>
            </a:r>
            <a:endParaRPr lang="en-GB" sz="2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4386C0-3D9C-4B91-A730-538F57B11738}"/>
              </a:ext>
            </a:extLst>
          </p:cNvPr>
          <p:cNvSpPr txBox="1"/>
          <p:nvPr/>
        </p:nvSpPr>
        <p:spPr>
          <a:xfrm>
            <a:off x="7057381" y="1051119"/>
            <a:ext cx="9797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Пайыз</a:t>
            </a:r>
            <a:endParaRPr lang="en-GB" sz="2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923509-1E86-428F-A1F8-B8198ED046D0}"/>
              </a:ext>
            </a:extLst>
          </p:cNvPr>
          <p:cNvSpPr txBox="1"/>
          <p:nvPr/>
        </p:nvSpPr>
        <p:spPr>
          <a:xfrm>
            <a:off x="7066646" y="3417062"/>
            <a:ext cx="9612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Ондук</a:t>
            </a:r>
            <a:endParaRPr lang="en-GB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/>
              <p:nvPr/>
            </p:nvSpPr>
            <p:spPr>
              <a:xfrm>
                <a:off x="3858482" y="4163348"/>
                <a:ext cx="696023" cy="9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</m:num>
                        <m:den/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82" y="4163348"/>
                <a:ext cx="696023" cy="907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B37845E-C1FF-49DE-BA84-E3FB8742F978}"/>
              </a:ext>
            </a:extLst>
          </p:cNvPr>
          <p:cNvSpPr txBox="1"/>
          <p:nvPr/>
        </p:nvSpPr>
        <p:spPr>
          <a:xfrm>
            <a:off x="900485" y="5983366"/>
            <a:ext cx="3404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Бөлүүчүнү эмнеге көбөйттүк?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381BED-6096-4600-80C6-B0DC91526F56}"/>
              </a:ext>
            </a:extLst>
          </p:cNvPr>
          <p:cNvSpPr txBox="1"/>
          <p:nvPr/>
        </p:nvSpPr>
        <p:spPr>
          <a:xfrm>
            <a:off x="5346336" y="4796353"/>
            <a:ext cx="1618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 </a:t>
            </a:r>
            <a:r>
              <a:rPr lang="ky-KG" sz="2800" dirty="0"/>
              <a:t>ондук</a:t>
            </a:r>
            <a:r>
              <a:rPr lang="en-GB" sz="2800" dirty="0"/>
              <a:t> 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DE26DB-1486-40DA-8E51-10A13DC31D60}"/>
              </a:ext>
            </a:extLst>
          </p:cNvPr>
          <p:cNvSpPr/>
          <p:nvPr/>
        </p:nvSpPr>
        <p:spPr>
          <a:xfrm>
            <a:off x="7015560" y="460076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983B25-FD80-4EED-9282-54464A957754}"/>
              </a:ext>
            </a:extLst>
          </p:cNvPr>
          <p:cNvSpPr txBox="1"/>
          <p:nvPr/>
        </p:nvSpPr>
        <p:spPr>
          <a:xfrm>
            <a:off x="7226498" y="4796353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0.3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A64E9B4-0ED2-44FE-8BCA-A047C2D08D9A}"/>
              </a:ext>
            </a:extLst>
          </p:cNvPr>
          <p:cNvSpPr/>
          <p:nvPr/>
        </p:nvSpPr>
        <p:spPr>
          <a:xfrm>
            <a:off x="2459659" y="2244398"/>
            <a:ext cx="593649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2DAB78-2D7E-4EDE-9021-EC290DB508FC}"/>
              </a:ext>
            </a:extLst>
          </p:cNvPr>
          <p:cNvSpPr txBox="1"/>
          <p:nvPr/>
        </p:nvSpPr>
        <p:spPr>
          <a:xfrm>
            <a:off x="5782330" y="6063208"/>
            <a:ext cx="3529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Пайызды ондукка айландыруу</a:t>
            </a: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 үчүн кыска жол барбы?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63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9" grpId="0"/>
      <p:bldP spid="12" grpId="0" animBg="1"/>
      <p:bldP spid="16" grpId="0" animBg="1"/>
      <p:bldP spid="17" grpId="0"/>
      <p:bldP spid="18" grpId="0"/>
      <p:bldP spid="19" grpId="0"/>
      <p:bldP spid="20" grpId="0"/>
      <p:bldP spid="22" grpId="0"/>
      <p:bldP spid="26" grpId="0"/>
      <p:bldP spid="27" grpId="0"/>
      <p:bldP spid="28" grpId="0"/>
      <p:bldP spid="30" grpId="0" animBg="1"/>
      <p:bldP spid="31" grpId="0"/>
      <p:bldP spid="33" grpId="0" animBg="1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">
            <a:extLst>
              <a:ext uri="{FF2B5EF4-FFF2-40B4-BE49-F238E27FC236}">
                <a16:creationId xmlns:a16="http://schemas.microsoft.com/office/drawing/2014/main" id="{01FC7937-C3CB-43C7-A0B2-1B4F5DBA9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198717"/>
              </p:ext>
            </p:extLst>
          </p:nvPr>
        </p:nvGraphicFramePr>
        <p:xfrm>
          <a:off x="348448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E58395-6262-4155-AF2F-F73EBD371012}"/>
              </a:ext>
            </a:extLst>
          </p:cNvPr>
          <p:cNvSpPr/>
          <p:nvPr/>
        </p:nvSpPr>
        <p:spPr>
          <a:xfrm>
            <a:off x="7015560" y="195331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A5D709-4D5C-4356-9A81-A61E26820F2D}"/>
              </a:ext>
            </a:extLst>
          </p:cNvPr>
          <p:cNvSpPr/>
          <p:nvPr/>
        </p:nvSpPr>
        <p:spPr>
          <a:xfrm>
            <a:off x="894355" y="4152711"/>
            <a:ext cx="626715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5B7925E6-66A0-45A7-8B19-6CCDBFE04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951351"/>
              </p:ext>
            </p:extLst>
          </p:nvPr>
        </p:nvGraphicFramePr>
        <p:xfrm>
          <a:off x="540086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93161544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2640441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577373725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/>
              <p:nvPr/>
            </p:nvSpPr>
            <p:spPr>
              <a:xfrm>
                <a:off x="1019475" y="4133395"/>
                <a:ext cx="481222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75" y="4133395"/>
                <a:ext cx="481222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/>
              <p:nvPr/>
            </p:nvSpPr>
            <p:spPr>
              <a:xfrm>
                <a:off x="3749069" y="4127592"/>
                <a:ext cx="910827" cy="938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69" y="4127592"/>
                <a:ext cx="910827" cy="938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3287E2A9-A283-43DB-A4EB-B58DDF63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405303"/>
              </p:ext>
            </p:extLst>
          </p:nvPr>
        </p:nvGraphicFramePr>
        <p:xfrm>
          <a:off x="348448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CC6C70E-9431-4C5B-B0DE-896DF011EF36}"/>
              </a:ext>
            </a:extLst>
          </p:cNvPr>
          <p:cNvSpPr/>
          <p:nvPr/>
        </p:nvSpPr>
        <p:spPr>
          <a:xfrm rot="10800000" flipH="1">
            <a:off x="1169376" y="5112823"/>
            <a:ext cx="3074963" cy="2796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249033A8-F0BA-481B-96DD-BD977A05D1F7}"/>
              </a:ext>
            </a:extLst>
          </p:cNvPr>
          <p:cNvSpPr/>
          <p:nvPr/>
        </p:nvSpPr>
        <p:spPr>
          <a:xfrm rot="10800000" flipH="1" flipV="1">
            <a:off x="1169376" y="3825291"/>
            <a:ext cx="3063533" cy="27876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25649-4755-4FD1-80B4-F2DAD4EE0939}"/>
              </a:ext>
            </a:extLst>
          </p:cNvPr>
          <p:cNvSpPr txBox="1"/>
          <p:nvPr/>
        </p:nvSpPr>
        <p:spPr>
          <a:xfrm>
            <a:off x="2243289" y="335421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6E63-DF52-4757-AED1-6359ABF83C5C}"/>
              </a:ext>
            </a:extLst>
          </p:cNvPr>
          <p:cNvSpPr txBox="1"/>
          <p:nvPr/>
        </p:nvSpPr>
        <p:spPr>
          <a:xfrm>
            <a:off x="2243289" y="5403700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C304D-3395-46C7-9E51-817CF5C82384}"/>
              </a:ext>
            </a:extLst>
          </p:cNvPr>
          <p:cNvSpPr txBox="1"/>
          <p:nvPr/>
        </p:nvSpPr>
        <p:spPr>
          <a:xfrm>
            <a:off x="7143944" y="2148903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/>
              <p:nvPr/>
            </p:nvSpPr>
            <p:spPr>
              <a:xfrm>
                <a:off x="3858482" y="4163348"/>
                <a:ext cx="696023" cy="9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𝟒𝟎</m:t>
                          </m:r>
                        </m:num>
                        <m:den/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82" y="4163348"/>
                <a:ext cx="696023" cy="907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C381BED-6096-4600-80C6-B0DC91526F56}"/>
              </a:ext>
            </a:extLst>
          </p:cNvPr>
          <p:cNvSpPr txBox="1"/>
          <p:nvPr/>
        </p:nvSpPr>
        <p:spPr>
          <a:xfrm>
            <a:off x="5334826" y="4796353"/>
            <a:ext cx="1641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 </a:t>
            </a:r>
            <a:r>
              <a:rPr lang="ky-KG" sz="2800" dirty="0"/>
              <a:t>ондук</a:t>
            </a:r>
            <a:r>
              <a:rPr lang="en-GB" sz="2800" dirty="0"/>
              <a:t> 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DE26DB-1486-40DA-8E51-10A13DC31D60}"/>
              </a:ext>
            </a:extLst>
          </p:cNvPr>
          <p:cNvSpPr/>
          <p:nvPr/>
        </p:nvSpPr>
        <p:spPr>
          <a:xfrm>
            <a:off x="7015560" y="460076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983B25-FD80-4EED-9282-54464A957754}"/>
              </a:ext>
            </a:extLst>
          </p:cNvPr>
          <p:cNvSpPr txBox="1"/>
          <p:nvPr/>
        </p:nvSpPr>
        <p:spPr>
          <a:xfrm>
            <a:off x="7226498" y="4796353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0.4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A64E9B4-0ED2-44FE-8BCA-A047C2D08D9A}"/>
              </a:ext>
            </a:extLst>
          </p:cNvPr>
          <p:cNvSpPr/>
          <p:nvPr/>
        </p:nvSpPr>
        <p:spPr>
          <a:xfrm>
            <a:off x="2459659" y="2244398"/>
            <a:ext cx="593649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A9AE74-3633-EDDB-8845-1CAA863FD99D}"/>
              </a:ext>
            </a:extLst>
          </p:cNvPr>
          <p:cNvSpPr txBox="1"/>
          <p:nvPr/>
        </p:nvSpPr>
        <p:spPr>
          <a:xfrm>
            <a:off x="5642026" y="1457890"/>
            <a:ext cx="3810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Биз "100дөн" % дегенди билебиз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B87C7-96FA-CB2F-90CE-B7B4F3425CF4}"/>
              </a:ext>
            </a:extLst>
          </p:cNvPr>
          <p:cNvSpPr txBox="1"/>
          <p:nvPr/>
        </p:nvSpPr>
        <p:spPr>
          <a:xfrm>
            <a:off x="6088750" y="3828008"/>
            <a:ext cx="29170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Бизде канча ондук бар?</a:t>
            </a:r>
          </a:p>
          <a:p>
            <a:pPr algn="ctr"/>
            <a:r>
              <a:rPr lang="ru-RU" sz="2000" dirty="0"/>
              <a:t>Бизде канча жүздүк бар?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ADE58-548E-83BB-1E8C-162D2EDAEFE8}"/>
              </a:ext>
            </a:extLst>
          </p:cNvPr>
          <p:cNvSpPr txBox="1"/>
          <p:nvPr/>
        </p:nvSpPr>
        <p:spPr>
          <a:xfrm>
            <a:off x="723720" y="1346846"/>
            <a:ext cx="1072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</a:t>
            </a:r>
            <a:endParaRPr lang="en-GB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98D9E-BEC7-8CBF-99AE-5CE52365550F}"/>
              </a:ext>
            </a:extLst>
          </p:cNvPr>
          <p:cNvSpPr txBox="1"/>
          <p:nvPr/>
        </p:nvSpPr>
        <p:spPr>
          <a:xfrm>
            <a:off x="7057381" y="1051119"/>
            <a:ext cx="9797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Пайыз</a:t>
            </a:r>
            <a:endParaRPr lang="en-GB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CE284B-5AD9-33B4-B9EA-47B2D1BC2E04}"/>
              </a:ext>
            </a:extLst>
          </p:cNvPr>
          <p:cNvSpPr txBox="1"/>
          <p:nvPr/>
        </p:nvSpPr>
        <p:spPr>
          <a:xfrm>
            <a:off x="7066646" y="3417062"/>
            <a:ext cx="9612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Ондук</a:t>
            </a:r>
            <a:endParaRPr lang="en-GB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95907F-723C-52CC-3C46-6DE89A18858B}"/>
              </a:ext>
            </a:extLst>
          </p:cNvPr>
          <p:cNvSpPr txBox="1"/>
          <p:nvPr/>
        </p:nvSpPr>
        <p:spPr>
          <a:xfrm>
            <a:off x="5782330" y="6063208"/>
            <a:ext cx="3529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Пайызды ондукка айландыруу</a:t>
            </a: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 үчүн кыска жол барбы?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06AD03-136B-E234-9779-A3B980AFF8FD}"/>
              </a:ext>
            </a:extLst>
          </p:cNvPr>
          <p:cNvSpPr txBox="1"/>
          <p:nvPr/>
        </p:nvSpPr>
        <p:spPr>
          <a:xfrm>
            <a:off x="1820762" y="2181"/>
            <a:ext cx="6302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 </a:t>
            </a:r>
            <a:r>
              <a:rPr lang="ky-KG" sz="2000" b="1" dirty="0"/>
              <a:t>ондуктарга жана пайыздарга </a:t>
            </a:r>
            <a:r>
              <a:rPr lang="ky-KG" sz="2000" dirty="0"/>
              <a:t>айландыруу</a:t>
            </a:r>
            <a:endParaRPr lang="en-GB" sz="2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0F9667-06AB-2D28-545D-DBDD7A9F0958}"/>
              </a:ext>
            </a:extLst>
          </p:cNvPr>
          <p:cNvSpPr txBox="1"/>
          <p:nvPr/>
        </p:nvSpPr>
        <p:spPr>
          <a:xfrm>
            <a:off x="1765917" y="489982"/>
            <a:ext cx="6373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Бөлчөктү 100 жалпы бөлүүчүгө (бөлчөк) айландырыңыз.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F77D6C-1D1F-EC5F-452B-AC64D60937F2}"/>
              </a:ext>
            </a:extLst>
          </p:cNvPr>
          <p:cNvSpPr txBox="1"/>
          <p:nvPr/>
        </p:nvSpPr>
        <p:spPr>
          <a:xfrm>
            <a:off x="900485" y="5983366"/>
            <a:ext cx="3404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Бөлүүчүнү эмнеге көбөйттүк?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738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9" grpId="0"/>
      <p:bldP spid="12" grpId="0" animBg="1"/>
      <p:bldP spid="16" grpId="0" animBg="1"/>
      <p:bldP spid="17" grpId="0"/>
      <p:bldP spid="18" grpId="0"/>
      <p:bldP spid="20" grpId="0"/>
      <p:bldP spid="26" grpId="0"/>
      <p:bldP spid="28" grpId="0"/>
      <p:bldP spid="30" grpId="0" animBg="1"/>
      <p:bldP spid="31" grpId="0"/>
      <p:bldP spid="33" grpId="0" animBg="1"/>
      <p:bldP spid="2" grpId="0"/>
      <p:bldP spid="3" grpId="0"/>
      <p:bldP spid="15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">
            <a:extLst>
              <a:ext uri="{FF2B5EF4-FFF2-40B4-BE49-F238E27FC236}">
                <a16:creationId xmlns:a16="http://schemas.microsoft.com/office/drawing/2014/main" id="{01FC7937-C3CB-43C7-A0B2-1B4F5DBA9390}"/>
              </a:ext>
            </a:extLst>
          </p:cNvPr>
          <p:cNvGraphicFramePr>
            <a:graphicFrameLocks noGrp="1"/>
          </p:cNvGraphicFramePr>
          <p:nvPr/>
        </p:nvGraphicFramePr>
        <p:xfrm>
          <a:off x="348448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E58395-6262-4155-AF2F-F73EBD371012}"/>
              </a:ext>
            </a:extLst>
          </p:cNvPr>
          <p:cNvSpPr/>
          <p:nvPr/>
        </p:nvSpPr>
        <p:spPr>
          <a:xfrm>
            <a:off x="7015560" y="195331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A5D709-4D5C-4356-9A81-A61E26820F2D}"/>
              </a:ext>
            </a:extLst>
          </p:cNvPr>
          <p:cNvSpPr/>
          <p:nvPr/>
        </p:nvSpPr>
        <p:spPr>
          <a:xfrm>
            <a:off x="894355" y="4152711"/>
            <a:ext cx="626715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5B7925E6-66A0-45A7-8B19-6CCDBFE04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206940"/>
              </p:ext>
            </p:extLst>
          </p:nvPr>
        </p:nvGraphicFramePr>
        <p:xfrm>
          <a:off x="540086" y="1821432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57737372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11969024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4193721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87871634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7048350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74251833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7043993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76394252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37458283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18604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/>
              <p:nvPr/>
            </p:nvSpPr>
            <p:spPr>
              <a:xfrm>
                <a:off x="912075" y="4133395"/>
                <a:ext cx="696023" cy="900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75" y="4133395"/>
                <a:ext cx="696023" cy="9002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/>
              <p:nvPr/>
            </p:nvSpPr>
            <p:spPr>
              <a:xfrm>
                <a:off x="3749069" y="4127592"/>
                <a:ext cx="910827" cy="938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69" y="4127592"/>
                <a:ext cx="910827" cy="938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3287E2A9-A283-43DB-A4EB-B58DDF63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17387"/>
              </p:ext>
            </p:extLst>
          </p:nvPr>
        </p:nvGraphicFramePr>
        <p:xfrm>
          <a:off x="348448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CC6C70E-9431-4C5B-B0DE-896DF011EF36}"/>
              </a:ext>
            </a:extLst>
          </p:cNvPr>
          <p:cNvSpPr/>
          <p:nvPr/>
        </p:nvSpPr>
        <p:spPr>
          <a:xfrm rot="10800000" flipH="1">
            <a:off x="1169376" y="5112823"/>
            <a:ext cx="3074963" cy="2796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249033A8-F0BA-481B-96DD-BD977A05D1F7}"/>
              </a:ext>
            </a:extLst>
          </p:cNvPr>
          <p:cNvSpPr/>
          <p:nvPr/>
        </p:nvSpPr>
        <p:spPr>
          <a:xfrm rot="10800000" flipH="1" flipV="1">
            <a:off x="1169376" y="3825291"/>
            <a:ext cx="3063533" cy="27876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25649-4755-4FD1-80B4-F2DAD4EE0939}"/>
              </a:ext>
            </a:extLst>
          </p:cNvPr>
          <p:cNvSpPr txBox="1"/>
          <p:nvPr/>
        </p:nvSpPr>
        <p:spPr>
          <a:xfrm>
            <a:off x="2321034" y="335421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6E63-DF52-4757-AED1-6359ABF83C5C}"/>
              </a:ext>
            </a:extLst>
          </p:cNvPr>
          <p:cNvSpPr txBox="1"/>
          <p:nvPr/>
        </p:nvSpPr>
        <p:spPr>
          <a:xfrm>
            <a:off x="2321034" y="5403700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C304D-3395-46C7-9E51-817CF5C82384}"/>
              </a:ext>
            </a:extLst>
          </p:cNvPr>
          <p:cNvSpPr txBox="1"/>
          <p:nvPr/>
        </p:nvSpPr>
        <p:spPr>
          <a:xfrm>
            <a:off x="7143944" y="2148903"/>
            <a:ext cx="8066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/>
              <p:nvPr/>
            </p:nvSpPr>
            <p:spPr>
              <a:xfrm>
                <a:off x="3858481" y="4155728"/>
                <a:ext cx="696024" cy="9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𝟓𝟓</m:t>
                          </m:r>
                        </m:num>
                        <m:den/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81" y="4155728"/>
                <a:ext cx="696024" cy="907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C381BED-6096-4600-80C6-B0DC91526F56}"/>
              </a:ext>
            </a:extLst>
          </p:cNvPr>
          <p:cNvSpPr txBox="1"/>
          <p:nvPr/>
        </p:nvSpPr>
        <p:spPr>
          <a:xfrm>
            <a:off x="5887088" y="4651182"/>
            <a:ext cx="2411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</a:t>
            </a:r>
            <a:r>
              <a:rPr lang="ky-KG" sz="2000" dirty="0"/>
              <a:t>ондук</a:t>
            </a:r>
            <a:r>
              <a:rPr lang="en-GB" sz="2000" dirty="0"/>
              <a:t> + 5 </a:t>
            </a:r>
            <a:r>
              <a:rPr lang="ky-KG" sz="2000" dirty="0"/>
              <a:t>жүздүк</a:t>
            </a:r>
            <a:r>
              <a:rPr lang="en-GB" sz="2000" dirty="0"/>
              <a:t> 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DE26DB-1486-40DA-8E51-10A13DC31D60}"/>
              </a:ext>
            </a:extLst>
          </p:cNvPr>
          <p:cNvSpPr/>
          <p:nvPr/>
        </p:nvSpPr>
        <p:spPr>
          <a:xfrm>
            <a:off x="8732600" y="460076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983B25-FD80-4EED-9282-54464A957754}"/>
              </a:ext>
            </a:extLst>
          </p:cNvPr>
          <p:cNvSpPr txBox="1"/>
          <p:nvPr/>
        </p:nvSpPr>
        <p:spPr>
          <a:xfrm>
            <a:off x="8852167" y="4796353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0.55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A64E9B4-0ED2-44FE-8BCA-A047C2D08D9A}"/>
              </a:ext>
            </a:extLst>
          </p:cNvPr>
          <p:cNvSpPr/>
          <p:nvPr/>
        </p:nvSpPr>
        <p:spPr>
          <a:xfrm>
            <a:off x="2459659" y="2244398"/>
            <a:ext cx="593649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1DEDF6-65BE-4671-9C7A-9FDD504B362C}"/>
              </a:ext>
            </a:extLst>
          </p:cNvPr>
          <p:cNvSpPr txBox="1"/>
          <p:nvPr/>
        </p:nvSpPr>
        <p:spPr>
          <a:xfrm>
            <a:off x="7134254" y="5138862"/>
            <a:ext cx="1391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 + 0.05 =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623D18-E905-1E0A-9126-2D7B54B5817B}"/>
              </a:ext>
            </a:extLst>
          </p:cNvPr>
          <p:cNvSpPr txBox="1"/>
          <p:nvPr/>
        </p:nvSpPr>
        <p:spPr>
          <a:xfrm>
            <a:off x="5642026" y="1457890"/>
            <a:ext cx="3810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Биз "100дөн" % дегенди билебиз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6CC2-CB1D-F211-0B12-FB388F79E3D6}"/>
              </a:ext>
            </a:extLst>
          </p:cNvPr>
          <p:cNvSpPr txBox="1"/>
          <p:nvPr/>
        </p:nvSpPr>
        <p:spPr>
          <a:xfrm>
            <a:off x="6088750" y="3828008"/>
            <a:ext cx="29170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Бизде канча ондук бар?</a:t>
            </a:r>
          </a:p>
          <a:p>
            <a:pPr algn="ctr"/>
            <a:r>
              <a:rPr lang="ru-RU" sz="2000" dirty="0"/>
              <a:t>Бизде канча жүздүк бар?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3F466F-E32C-815D-B2B7-F9351552D726}"/>
              </a:ext>
            </a:extLst>
          </p:cNvPr>
          <p:cNvSpPr txBox="1"/>
          <p:nvPr/>
        </p:nvSpPr>
        <p:spPr>
          <a:xfrm>
            <a:off x="723720" y="1346846"/>
            <a:ext cx="1072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</a:t>
            </a:r>
            <a:endParaRPr lang="en-GB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C65A51-04DD-F585-7011-D029752C78F7}"/>
              </a:ext>
            </a:extLst>
          </p:cNvPr>
          <p:cNvSpPr txBox="1"/>
          <p:nvPr/>
        </p:nvSpPr>
        <p:spPr>
          <a:xfrm>
            <a:off x="7057381" y="1051119"/>
            <a:ext cx="9797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Пайыз</a:t>
            </a:r>
            <a:endParaRPr lang="en-GB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768A31-0D95-6258-E2E0-8FC500E9E3C0}"/>
              </a:ext>
            </a:extLst>
          </p:cNvPr>
          <p:cNvSpPr txBox="1"/>
          <p:nvPr/>
        </p:nvSpPr>
        <p:spPr>
          <a:xfrm>
            <a:off x="7066646" y="3417062"/>
            <a:ext cx="9612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Ондук</a:t>
            </a:r>
            <a:endParaRPr lang="en-GB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33FF-258C-6767-3283-1429C990A55D}"/>
              </a:ext>
            </a:extLst>
          </p:cNvPr>
          <p:cNvSpPr txBox="1"/>
          <p:nvPr/>
        </p:nvSpPr>
        <p:spPr>
          <a:xfrm>
            <a:off x="900485" y="5983366"/>
            <a:ext cx="3404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Бөлүүчүнү эмнеге көбөйттүк?</a:t>
            </a:r>
            <a:endParaRPr lang="en-GB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02A4E9-7C97-BC8B-10F1-C7FD8F3CB9B0}"/>
              </a:ext>
            </a:extLst>
          </p:cNvPr>
          <p:cNvSpPr txBox="1"/>
          <p:nvPr/>
        </p:nvSpPr>
        <p:spPr>
          <a:xfrm>
            <a:off x="5782330" y="6063208"/>
            <a:ext cx="3529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Пайызды ондукка айландыруу</a:t>
            </a: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 үчүн кыска жол барбы?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FD9A48-5519-C252-CBBA-972C8CC30B89}"/>
              </a:ext>
            </a:extLst>
          </p:cNvPr>
          <p:cNvSpPr txBox="1"/>
          <p:nvPr/>
        </p:nvSpPr>
        <p:spPr>
          <a:xfrm>
            <a:off x="1820762" y="2181"/>
            <a:ext cx="6302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 </a:t>
            </a:r>
            <a:r>
              <a:rPr lang="ky-KG" sz="2000" b="1" dirty="0"/>
              <a:t>ондуктарга жана пайыздарга </a:t>
            </a:r>
            <a:r>
              <a:rPr lang="ky-KG" sz="2000" dirty="0"/>
              <a:t>айландыруу</a:t>
            </a:r>
            <a:endParaRPr lang="en-GB" sz="2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CC5E95-D938-C63C-B7B4-0E09FE7FB893}"/>
              </a:ext>
            </a:extLst>
          </p:cNvPr>
          <p:cNvSpPr txBox="1"/>
          <p:nvPr/>
        </p:nvSpPr>
        <p:spPr>
          <a:xfrm>
            <a:off x="1765917" y="489982"/>
            <a:ext cx="6373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Бөлчөктү 100 жалпы бөлүүчүгө (бөлчөк) айландырыңыз.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6714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9" grpId="0"/>
      <p:bldP spid="12" grpId="0" animBg="1"/>
      <p:bldP spid="16" grpId="0" animBg="1"/>
      <p:bldP spid="17" grpId="0"/>
      <p:bldP spid="18" grpId="0"/>
      <p:bldP spid="20" grpId="0"/>
      <p:bldP spid="26" grpId="0"/>
      <p:bldP spid="28" grpId="0"/>
      <p:bldP spid="30" grpId="0" animBg="1"/>
      <p:bldP spid="31" grpId="0"/>
      <p:bldP spid="33" grpId="0" animBg="1"/>
      <p:bldP spid="34" grpId="0"/>
      <p:bldP spid="2" grpId="0"/>
      <p:bldP spid="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">
            <a:extLst>
              <a:ext uri="{FF2B5EF4-FFF2-40B4-BE49-F238E27FC236}">
                <a16:creationId xmlns:a16="http://schemas.microsoft.com/office/drawing/2014/main" id="{01FC7937-C3CB-43C7-A0B2-1B4F5DBA9390}"/>
              </a:ext>
            </a:extLst>
          </p:cNvPr>
          <p:cNvGraphicFramePr>
            <a:graphicFrameLocks noGrp="1"/>
          </p:cNvGraphicFramePr>
          <p:nvPr/>
        </p:nvGraphicFramePr>
        <p:xfrm>
          <a:off x="348448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E58395-6262-4155-AF2F-F73EBD371012}"/>
              </a:ext>
            </a:extLst>
          </p:cNvPr>
          <p:cNvSpPr/>
          <p:nvPr/>
        </p:nvSpPr>
        <p:spPr>
          <a:xfrm>
            <a:off x="7015560" y="195331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A5D709-4D5C-4356-9A81-A61E26820F2D}"/>
              </a:ext>
            </a:extLst>
          </p:cNvPr>
          <p:cNvSpPr/>
          <p:nvPr/>
        </p:nvSpPr>
        <p:spPr>
          <a:xfrm>
            <a:off x="894355" y="4152711"/>
            <a:ext cx="626715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5B7925E6-66A0-45A7-8B19-6CCDBFE04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281818"/>
              </p:ext>
            </p:extLst>
          </p:nvPr>
        </p:nvGraphicFramePr>
        <p:xfrm>
          <a:off x="540086" y="1821432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57737372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196902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419372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3878716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18604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578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355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8238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/>
              <p:nvPr/>
            </p:nvSpPr>
            <p:spPr>
              <a:xfrm>
                <a:off x="912075" y="4133395"/>
                <a:ext cx="696023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75" y="4133395"/>
                <a:ext cx="696023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/>
              <p:nvPr/>
            </p:nvSpPr>
            <p:spPr>
              <a:xfrm>
                <a:off x="3749069" y="4127592"/>
                <a:ext cx="910827" cy="938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69" y="4127592"/>
                <a:ext cx="910827" cy="938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3287E2A9-A283-43DB-A4EB-B58DDF63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39711"/>
              </p:ext>
            </p:extLst>
          </p:nvPr>
        </p:nvGraphicFramePr>
        <p:xfrm>
          <a:off x="348448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CC6C70E-9431-4C5B-B0DE-896DF011EF36}"/>
              </a:ext>
            </a:extLst>
          </p:cNvPr>
          <p:cNvSpPr/>
          <p:nvPr/>
        </p:nvSpPr>
        <p:spPr>
          <a:xfrm rot="10800000" flipH="1">
            <a:off x="1169376" y="5112823"/>
            <a:ext cx="3074963" cy="2796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249033A8-F0BA-481B-96DD-BD977A05D1F7}"/>
              </a:ext>
            </a:extLst>
          </p:cNvPr>
          <p:cNvSpPr/>
          <p:nvPr/>
        </p:nvSpPr>
        <p:spPr>
          <a:xfrm rot="10800000" flipH="1" flipV="1">
            <a:off x="1169376" y="3825291"/>
            <a:ext cx="3063533" cy="27876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25649-4755-4FD1-80B4-F2DAD4EE0939}"/>
              </a:ext>
            </a:extLst>
          </p:cNvPr>
          <p:cNvSpPr txBox="1"/>
          <p:nvPr/>
        </p:nvSpPr>
        <p:spPr>
          <a:xfrm>
            <a:off x="2321034" y="335421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6E63-DF52-4757-AED1-6359ABF83C5C}"/>
              </a:ext>
            </a:extLst>
          </p:cNvPr>
          <p:cNvSpPr txBox="1"/>
          <p:nvPr/>
        </p:nvSpPr>
        <p:spPr>
          <a:xfrm>
            <a:off x="2321034" y="5403700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C304D-3395-46C7-9E51-817CF5C82384}"/>
              </a:ext>
            </a:extLst>
          </p:cNvPr>
          <p:cNvSpPr txBox="1"/>
          <p:nvPr/>
        </p:nvSpPr>
        <p:spPr>
          <a:xfrm>
            <a:off x="7143944" y="2148903"/>
            <a:ext cx="8066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28%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/>
              <p:nvPr/>
            </p:nvSpPr>
            <p:spPr>
              <a:xfrm>
                <a:off x="3858481" y="4163348"/>
                <a:ext cx="69602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𝟐𝟖</m:t>
                          </m:r>
                        </m:num>
                        <m:den/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81" y="4163348"/>
                <a:ext cx="696024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C381BED-6096-4600-80C6-B0DC91526F56}"/>
              </a:ext>
            </a:extLst>
          </p:cNvPr>
          <p:cNvSpPr txBox="1"/>
          <p:nvPr/>
        </p:nvSpPr>
        <p:spPr>
          <a:xfrm>
            <a:off x="5887087" y="4598428"/>
            <a:ext cx="2411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 </a:t>
            </a:r>
            <a:r>
              <a:rPr lang="ky-KG" sz="2000" dirty="0"/>
              <a:t>ондук</a:t>
            </a:r>
            <a:r>
              <a:rPr lang="en-GB" sz="2000" dirty="0"/>
              <a:t> + 8 </a:t>
            </a:r>
            <a:r>
              <a:rPr lang="ky-KG" sz="2000" dirty="0"/>
              <a:t>жүздүк</a:t>
            </a:r>
            <a:r>
              <a:rPr lang="en-GB" sz="2000" dirty="0"/>
              <a:t> 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DE26DB-1486-40DA-8E51-10A13DC31D60}"/>
              </a:ext>
            </a:extLst>
          </p:cNvPr>
          <p:cNvSpPr/>
          <p:nvPr/>
        </p:nvSpPr>
        <p:spPr>
          <a:xfrm>
            <a:off x="8732600" y="460076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983B25-FD80-4EED-9282-54464A957754}"/>
              </a:ext>
            </a:extLst>
          </p:cNvPr>
          <p:cNvSpPr txBox="1"/>
          <p:nvPr/>
        </p:nvSpPr>
        <p:spPr>
          <a:xfrm>
            <a:off x="8852167" y="4796353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0.28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A64E9B4-0ED2-44FE-8BCA-A047C2D08D9A}"/>
              </a:ext>
            </a:extLst>
          </p:cNvPr>
          <p:cNvSpPr/>
          <p:nvPr/>
        </p:nvSpPr>
        <p:spPr>
          <a:xfrm>
            <a:off x="2459659" y="2244398"/>
            <a:ext cx="593649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1DEDF6-65BE-4671-9C7A-9FDD504B362C}"/>
              </a:ext>
            </a:extLst>
          </p:cNvPr>
          <p:cNvSpPr txBox="1"/>
          <p:nvPr/>
        </p:nvSpPr>
        <p:spPr>
          <a:xfrm>
            <a:off x="7076547" y="5086108"/>
            <a:ext cx="14494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 + 0.08 =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1C65C-9D60-562B-BFBF-6D58C204DF28}"/>
              </a:ext>
            </a:extLst>
          </p:cNvPr>
          <p:cNvSpPr txBox="1"/>
          <p:nvPr/>
        </p:nvSpPr>
        <p:spPr>
          <a:xfrm>
            <a:off x="5642026" y="1457890"/>
            <a:ext cx="3810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Биз "100дөн" % дегенди билебиз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EDDA8-7AFE-C313-9FED-A240382A5A18}"/>
              </a:ext>
            </a:extLst>
          </p:cNvPr>
          <p:cNvSpPr txBox="1"/>
          <p:nvPr/>
        </p:nvSpPr>
        <p:spPr>
          <a:xfrm>
            <a:off x="6088750" y="3828008"/>
            <a:ext cx="29170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Бизде канча ондук бар?</a:t>
            </a:r>
          </a:p>
          <a:p>
            <a:pPr algn="ctr"/>
            <a:r>
              <a:rPr lang="ru-RU" sz="2000" dirty="0"/>
              <a:t>Бизде канча жүздүк бар?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2C7C6-5E30-EEF8-BF06-90E790C75F50}"/>
              </a:ext>
            </a:extLst>
          </p:cNvPr>
          <p:cNvSpPr txBox="1"/>
          <p:nvPr/>
        </p:nvSpPr>
        <p:spPr>
          <a:xfrm>
            <a:off x="723720" y="1346846"/>
            <a:ext cx="10727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</a:t>
            </a:r>
            <a:endParaRPr lang="en-GB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9CAF0-200F-20FE-09B1-E802F7D09F44}"/>
              </a:ext>
            </a:extLst>
          </p:cNvPr>
          <p:cNvSpPr txBox="1"/>
          <p:nvPr/>
        </p:nvSpPr>
        <p:spPr>
          <a:xfrm>
            <a:off x="7057381" y="1051119"/>
            <a:ext cx="9797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Пайыз</a:t>
            </a:r>
            <a:endParaRPr lang="en-GB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BF073-3E7E-074C-3616-A987D21F8BF5}"/>
              </a:ext>
            </a:extLst>
          </p:cNvPr>
          <p:cNvSpPr txBox="1"/>
          <p:nvPr/>
        </p:nvSpPr>
        <p:spPr>
          <a:xfrm>
            <a:off x="7066646" y="3417062"/>
            <a:ext cx="9612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Ондук</a:t>
            </a:r>
            <a:endParaRPr lang="en-GB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12E47-6B94-042D-7D03-3AF3068AF472}"/>
              </a:ext>
            </a:extLst>
          </p:cNvPr>
          <p:cNvSpPr txBox="1"/>
          <p:nvPr/>
        </p:nvSpPr>
        <p:spPr>
          <a:xfrm>
            <a:off x="900485" y="5983366"/>
            <a:ext cx="3404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Бөлүүчүнү эмнеге көбөйттүк?</a:t>
            </a:r>
            <a:endParaRPr lang="en-GB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F4EC1F-7E3A-3AEC-01EF-37FF2A091320}"/>
              </a:ext>
            </a:extLst>
          </p:cNvPr>
          <p:cNvSpPr txBox="1"/>
          <p:nvPr/>
        </p:nvSpPr>
        <p:spPr>
          <a:xfrm>
            <a:off x="5782330" y="6063208"/>
            <a:ext cx="3529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Пайызды ондукка айландыруу</a:t>
            </a: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 үчүн кыска жол барбы?</a:t>
            </a:r>
            <a:endParaRPr lang="en-GB" sz="20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50FBE4-DF7E-9242-CD7C-9C4E3C2881BF}"/>
              </a:ext>
            </a:extLst>
          </p:cNvPr>
          <p:cNvSpPr txBox="1"/>
          <p:nvPr/>
        </p:nvSpPr>
        <p:spPr>
          <a:xfrm>
            <a:off x="1820762" y="2181"/>
            <a:ext cx="6302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Бөлчөктөрдү </a:t>
            </a:r>
            <a:r>
              <a:rPr lang="ky-KG" sz="2000" b="1" dirty="0"/>
              <a:t>ондуктарга жана пайыздарга </a:t>
            </a:r>
            <a:r>
              <a:rPr lang="ky-KG" sz="2000" dirty="0"/>
              <a:t>айландыруу</a:t>
            </a:r>
            <a:endParaRPr lang="en-GB" sz="2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AA6FC6-41EE-0B89-2620-C062414E31C6}"/>
              </a:ext>
            </a:extLst>
          </p:cNvPr>
          <p:cNvSpPr txBox="1"/>
          <p:nvPr/>
        </p:nvSpPr>
        <p:spPr>
          <a:xfrm>
            <a:off x="1765917" y="489982"/>
            <a:ext cx="6373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Бөлчөктү 100 жалпы бөлүүчүгө (бөлчөк) айландырыңыз.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4705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9" grpId="0"/>
      <p:bldP spid="12" grpId="0" animBg="1"/>
      <p:bldP spid="16" grpId="0" animBg="1"/>
      <p:bldP spid="17" grpId="0"/>
      <p:bldP spid="18" grpId="0"/>
      <p:bldP spid="20" grpId="0"/>
      <p:bldP spid="26" grpId="0"/>
      <p:bldP spid="28" grpId="0"/>
      <p:bldP spid="30" grpId="0" animBg="1"/>
      <p:bldP spid="31" grpId="0"/>
      <p:bldP spid="33" grpId="0" animBg="1"/>
      <p:bldP spid="34" grpId="0"/>
      <p:bldP spid="2" grpId="0"/>
      <p:bldP spid="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3287E2A9-A283-43DB-A4EB-B58DDF63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043882"/>
              </p:ext>
            </p:extLst>
          </p:nvPr>
        </p:nvGraphicFramePr>
        <p:xfrm>
          <a:off x="540086" y="1821432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E58395-6262-4155-AF2F-F73EBD371012}"/>
              </a:ext>
            </a:extLst>
          </p:cNvPr>
          <p:cNvSpPr/>
          <p:nvPr/>
        </p:nvSpPr>
        <p:spPr>
          <a:xfrm>
            <a:off x="7015560" y="195331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A5D709-4D5C-4356-9A81-A61E26820F2D}"/>
              </a:ext>
            </a:extLst>
          </p:cNvPr>
          <p:cNvSpPr/>
          <p:nvPr/>
        </p:nvSpPr>
        <p:spPr>
          <a:xfrm>
            <a:off x="1348625" y="4152711"/>
            <a:ext cx="99833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2CB84-D1E7-4C15-842E-FD9A416ACE97}"/>
              </a:ext>
            </a:extLst>
          </p:cNvPr>
          <p:cNvSpPr txBox="1"/>
          <p:nvPr/>
        </p:nvSpPr>
        <p:spPr>
          <a:xfrm>
            <a:off x="2025888" y="2181"/>
            <a:ext cx="5891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Пайыздарды </a:t>
            </a:r>
            <a:r>
              <a:rPr lang="ru-RU" sz="2000" b="1" dirty="0"/>
              <a:t>бөлчөк жана ондук </a:t>
            </a:r>
            <a:r>
              <a:rPr lang="ru-RU" sz="2000" dirty="0"/>
              <a:t>санга айландыруу</a:t>
            </a:r>
            <a:endParaRPr lang="en-GB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/>
              <p:nvPr/>
            </p:nvSpPr>
            <p:spPr>
              <a:xfrm>
                <a:off x="1444753" y="4133395"/>
                <a:ext cx="910826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753" y="4133395"/>
                <a:ext cx="910826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/>
              <p:nvPr/>
            </p:nvSpPr>
            <p:spPr>
              <a:xfrm>
                <a:off x="4546243" y="4127592"/>
                <a:ext cx="596638" cy="936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243" y="4127592"/>
                <a:ext cx="596638" cy="9361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B111318-DAD9-42A0-8F7B-52BA28F6B53A}"/>
              </a:ext>
            </a:extLst>
          </p:cNvPr>
          <p:cNvSpPr txBox="1"/>
          <p:nvPr/>
        </p:nvSpPr>
        <p:spPr>
          <a:xfrm>
            <a:off x="1297073" y="489982"/>
            <a:ext cx="7310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Процентти 100 жалпы бөлүктөн турган бөлчөккө айландырыңыз </a:t>
            </a:r>
          </a:p>
          <a:p>
            <a:pPr algn="ctr"/>
            <a:r>
              <a:rPr lang="ky-KG" sz="2000" dirty="0"/>
              <a:t>(бөлүүчү) жана жөнөкөйлөтүңүз.</a:t>
            </a:r>
            <a:endParaRPr lang="en-GB" sz="2000" dirty="0"/>
          </a:p>
        </p:txBody>
      </p:sp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CC6C70E-9431-4C5B-B0DE-896DF011EF36}"/>
              </a:ext>
            </a:extLst>
          </p:cNvPr>
          <p:cNvSpPr/>
          <p:nvPr/>
        </p:nvSpPr>
        <p:spPr>
          <a:xfrm rot="10800000" flipH="1">
            <a:off x="1809456" y="5112823"/>
            <a:ext cx="3074963" cy="2796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249033A8-F0BA-481B-96DD-BD977A05D1F7}"/>
              </a:ext>
            </a:extLst>
          </p:cNvPr>
          <p:cNvSpPr/>
          <p:nvPr/>
        </p:nvSpPr>
        <p:spPr>
          <a:xfrm rot="10800000" flipH="1" flipV="1">
            <a:off x="1809456" y="3825291"/>
            <a:ext cx="3063533" cy="27876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25649-4755-4FD1-80B4-F2DAD4EE0939}"/>
              </a:ext>
            </a:extLst>
          </p:cNvPr>
          <p:cNvSpPr txBox="1"/>
          <p:nvPr/>
        </p:nvSpPr>
        <p:spPr>
          <a:xfrm>
            <a:off x="2883369" y="335421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50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6E63-DF52-4757-AED1-6359ABF83C5C}"/>
              </a:ext>
            </a:extLst>
          </p:cNvPr>
          <p:cNvSpPr txBox="1"/>
          <p:nvPr/>
        </p:nvSpPr>
        <p:spPr>
          <a:xfrm>
            <a:off x="2883369" y="5403700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FA80A3-D2BE-4CBA-8135-A5A3CB884328}"/>
              </a:ext>
            </a:extLst>
          </p:cNvPr>
          <p:cNvSpPr txBox="1"/>
          <p:nvPr/>
        </p:nvSpPr>
        <p:spPr>
          <a:xfrm>
            <a:off x="5616166" y="1455408"/>
            <a:ext cx="4155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Мүмкүн болушунча жөнөкөйлөштүр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CC304D-3395-46C7-9E51-817CF5C82384}"/>
                  </a:ext>
                </a:extLst>
              </p:cNvPr>
              <p:cNvSpPr txBox="1"/>
              <p:nvPr/>
            </p:nvSpPr>
            <p:spPr>
              <a:xfrm>
                <a:off x="7385786" y="1925383"/>
                <a:ext cx="465191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CC304D-3395-46C7-9E51-817CF5C82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786" y="1925383"/>
                <a:ext cx="465191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EE0DC75-10CE-413B-B1E7-FBD75DF3FA91}"/>
              </a:ext>
            </a:extLst>
          </p:cNvPr>
          <p:cNvSpPr txBox="1"/>
          <p:nvPr/>
        </p:nvSpPr>
        <p:spPr>
          <a:xfrm>
            <a:off x="6433016" y="3828008"/>
            <a:ext cx="2228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% ды 100гө көбөйт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015220-9F48-482C-A293-C0417556D120}"/>
              </a:ext>
            </a:extLst>
          </p:cNvPr>
          <p:cNvSpPr txBox="1"/>
          <p:nvPr/>
        </p:nvSpPr>
        <p:spPr>
          <a:xfrm>
            <a:off x="770211" y="1346846"/>
            <a:ext cx="9797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Пайыз</a:t>
            </a:r>
            <a:endParaRPr lang="en-GB" sz="2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4386C0-3D9C-4B91-A730-538F57B11738}"/>
              </a:ext>
            </a:extLst>
          </p:cNvPr>
          <p:cNvSpPr txBox="1"/>
          <p:nvPr/>
        </p:nvSpPr>
        <p:spPr>
          <a:xfrm>
            <a:off x="7010896" y="1051119"/>
            <a:ext cx="1072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</a:t>
            </a:r>
            <a:endParaRPr lang="en-GB" sz="2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923509-1E86-428F-A1F8-B8198ED046D0}"/>
              </a:ext>
            </a:extLst>
          </p:cNvPr>
          <p:cNvSpPr txBox="1"/>
          <p:nvPr/>
        </p:nvSpPr>
        <p:spPr>
          <a:xfrm>
            <a:off x="7066648" y="3417062"/>
            <a:ext cx="9612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Ондук</a:t>
            </a:r>
            <a:endParaRPr lang="en-GB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/>
              <p:nvPr/>
            </p:nvSpPr>
            <p:spPr>
              <a:xfrm>
                <a:off x="4616122" y="4163348"/>
                <a:ext cx="481221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122" y="4163348"/>
                <a:ext cx="481221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Right 32">
            <a:extLst>
              <a:ext uri="{FF2B5EF4-FFF2-40B4-BE49-F238E27FC236}">
                <a16:creationId xmlns:a16="http://schemas.microsoft.com/office/drawing/2014/main" id="{0A64E9B4-0ED2-44FE-8BCA-A047C2D08D9A}"/>
              </a:ext>
            </a:extLst>
          </p:cNvPr>
          <p:cNvSpPr/>
          <p:nvPr/>
        </p:nvSpPr>
        <p:spPr>
          <a:xfrm>
            <a:off x="2805099" y="2244398"/>
            <a:ext cx="593649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38" name="Table 3">
            <a:extLst>
              <a:ext uri="{FF2B5EF4-FFF2-40B4-BE49-F238E27FC236}">
                <a16:creationId xmlns:a16="http://schemas.microsoft.com/office/drawing/2014/main" id="{2F18157E-EA1A-4FD2-8061-DB704F80D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32806"/>
              </p:ext>
            </p:extLst>
          </p:nvPr>
        </p:nvGraphicFramePr>
        <p:xfrm>
          <a:off x="416520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77373725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A8E7568-8A84-4CEA-8524-8C7D5DDC3ACC}"/>
              </a:ext>
            </a:extLst>
          </p:cNvPr>
          <p:cNvSpPr/>
          <p:nvPr/>
        </p:nvSpPr>
        <p:spPr>
          <a:xfrm>
            <a:off x="7015560" y="460076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DD1E12-B91E-4E66-8B1B-4EA4A3123A4E}"/>
              </a:ext>
            </a:extLst>
          </p:cNvPr>
          <p:cNvSpPr txBox="1"/>
          <p:nvPr/>
        </p:nvSpPr>
        <p:spPr>
          <a:xfrm>
            <a:off x="7226499" y="4796353"/>
            <a:ext cx="641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EBA510-FC3C-42AA-BC59-569445A46F9C}"/>
                  </a:ext>
                </a:extLst>
              </p:cNvPr>
              <p:cNvSpPr txBox="1"/>
              <p:nvPr/>
            </p:nvSpPr>
            <p:spPr>
              <a:xfrm>
                <a:off x="181395" y="4327898"/>
                <a:ext cx="1162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GB" sz="28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sz="2800" dirty="0"/>
                  <a:t> =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EBA510-FC3C-42AA-BC59-569445A46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5" y="4327898"/>
                <a:ext cx="1162499" cy="523220"/>
              </a:xfrm>
              <a:prstGeom prst="rect">
                <a:avLst/>
              </a:prstGeom>
              <a:blipFill>
                <a:blip r:embed="rId6"/>
                <a:stretch>
                  <a:fillRect t="-11628" r="-10000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42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8" grpId="0"/>
      <p:bldP spid="9" grpId="0"/>
      <p:bldP spid="12" grpId="0" animBg="1"/>
      <p:bldP spid="16" grpId="0" animBg="1"/>
      <p:bldP spid="17" grpId="0"/>
      <p:bldP spid="18" grpId="0"/>
      <p:bldP spid="19" grpId="0"/>
      <p:bldP spid="20" grpId="0"/>
      <p:bldP spid="22" grpId="0"/>
      <p:bldP spid="26" grpId="0"/>
      <p:bldP spid="39" grpId="0" animBg="1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3287E2A9-A283-43DB-A4EB-B58DDF63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10275"/>
              </p:ext>
            </p:extLst>
          </p:nvPr>
        </p:nvGraphicFramePr>
        <p:xfrm>
          <a:off x="540086" y="1821432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E58395-6262-4155-AF2F-F73EBD371012}"/>
              </a:ext>
            </a:extLst>
          </p:cNvPr>
          <p:cNvSpPr/>
          <p:nvPr/>
        </p:nvSpPr>
        <p:spPr>
          <a:xfrm>
            <a:off x="7015560" y="195331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A5D709-4D5C-4356-9A81-A61E26820F2D}"/>
              </a:ext>
            </a:extLst>
          </p:cNvPr>
          <p:cNvSpPr/>
          <p:nvPr/>
        </p:nvSpPr>
        <p:spPr>
          <a:xfrm>
            <a:off x="1348625" y="4152711"/>
            <a:ext cx="99833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/>
              <p:nvPr/>
            </p:nvSpPr>
            <p:spPr>
              <a:xfrm>
                <a:off x="1444753" y="4133395"/>
                <a:ext cx="910826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753" y="4133395"/>
                <a:ext cx="910826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/>
              <p:nvPr/>
            </p:nvSpPr>
            <p:spPr>
              <a:xfrm>
                <a:off x="4546243" y="4127592"/>
                <a:ext cx="596638" cy="936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243" y="4127592"/>
                <a:ext cx="596638" cy="9361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CC6C70E-9431-4C5B-B0DE-896DF011EF36}"/>
              </a:ext>
            </a:extLst>
          </p:cNvPr>
          <p:cNvSpPr/>
          <p:nvPr/>
        </p:nvSpPr>
        <p:spPr>
          <a:xfrm rot="10800000" flipH="1">
            <a:off x="1809456" y="5112823"/>
            <a:ext cx="3074963" cy="2796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249033A8-F0BA-481B-96DD-BD977A05D1F7}"/>
              </a:ext>
            </a:extLst>
          </p:cNvPr>
          <p:cNvSpPr/>
          <p:nvPr/>
        </p:nvSpPr>
        <p:spPr>
          <a:xfrm rot="10800000" flipH="1" flipV="1">
            <a:off x="1809456" y="3825291"/>
            <a:ext cx="3063533" cy="27876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25649-4755-4FD1-80B4-F2DAD4EE0939}"/>
              </a:ext>
            </a:extLst>
          </p:cNvPr>
          <p:cNvSpPr txBox="1"/>
          <p:nvPr/>
        </p:nvSpPr>
        <p:spPr>
          <a:xfrm>
            <a:off x="2883369" y="3354212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6E63-DF52-4757-AED1-6359ABF83C5C}"/>
              </a:ext>
            </a:extLst>
          </p:cNvPr>
          <p:cNvSpPr txBox="1"/>
          <p:nvPr/>
        </p:nvSpPr>
        <p:spPr>
          <a:xfrm>
            <a:off x="2883369" y="5403700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CC304D-3395-46C7-9E51-817CF5C82384}"/>
                  </a:ext>
                </a:extLst>
              </p:cNvPr>
              <p:cNvSpPr txBox="1"/>
              <p:nvPr/>
            </p:nvSpPr>
            <p:spPr>
              <a:xfrm>
                <a:off x="7286400" y="1925383"/>
                <a:ext cx="663964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CC304D-3395-46C7-9E51-817CF5C82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400" y="1925383"/>
                <a:ext cx="663964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/>
              <p:nvPr/>
            </p:nvSpPr>
            <p:spPr>
              <a:xfrm>
                <a:off x="4508722" y="4163348"/>
                <a:ext cx="696023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722" y="4163348"/>
                <a:ext cx="696023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Right 32">
            <a:extLst>
              <a:ext uri="{FF2B5EF4-FFF2-40B4-BE49-F238E27FC236}">
                <a16:creationId xmlns:a16="http://schemas.microsoft.com/office/drawing/2014/main" id="{0A64E9B4-0ED2-44FE-8BCA-A047C2D08D9A}"/>
              </a:ext>
            </a:extLst>
          </p:cNvPr>
          <p:cNvSpPr/>
          <p:nvPr/>
        </p:nvSpPr>
        <p:spPr>
          <a:xfrm>
            <a:off x="2805099" y="2244398"/>
            <a:ext cx="593649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38" name="Table 3">
            <a:extLst>
              <a:ext uri="{FF2B5EF4-FFF2-40B4-BE49-F238E27FC236}">
                <a16:creationId xmlns:a16="http://schemas.microsoft.com/office/drawing/2014/main" id="{2F18157E-EA1A-4FD2-8061-DB704F80D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450658"/>
              </p:ext>
            </p:extLst>
          </p:nvPr>
        </p:nvGraphicFramePr>
        <p:xfrm>
          <a:off x="416520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57737372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11969024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4193721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87871634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9010156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76037005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9051075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2153815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24148547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18604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578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355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823803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A8E7568-8A84-4CEA-8524-8C7D5DDC3ACC}"/>
              </a:ext>
            </a:extLst>
          </p:cNvPr>
          <p:cNvSpPr/>
          <p:nvPr/>
        </p:nvSpPr>
        <p:spPr>
          <a:xfrm>
            <a:off x="7015560" y="460076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DD1E12-B91E-4E66-8B1B-4EA4A3123A4E}"/>
              </a:ext>
            </a:extLst>
          </p:cNvPr>
          <p:cNvSpPr txBox="1"/>
          <p:nvPr/>
        </p:nvSpPr>
        <p:spPr>
          <a:xfrm>
            <a:off x="7226499" y="4796353"/>
            <a:ext cx="641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EBA510-FC3C-42AA-BC59-569445A46F9C}"/>
                  </a:ext>
                </a:extLst>
              </p:cNvPr>
              <p:cNvSpPr txBox="1"/>
              <p:nvPr/>
            </p:nvSpPr>
            <p:spPr>
              <a:xfrm>
                <a:off x="181395" y="4327898"/>
                <a:ext cx="1162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GB" sz="28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sz="2800" dirty="0"/>
                  <a:t> =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EBA510-FC3C-42AA-BC59-569445A46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5" y="4327898"/>
                <a:ext cx="1162499" cy="523220"/>
              </a:xfrm>
              <a:prstGeom prst="rect">
                <a:avLst/>
              </a:prstGeom>
              <a:blipFill>
                <a:blip r:embed="rId6"/>
                <a:stretch>
                  <a:fillRect t="-11628" r="-10000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4E392C8-1E53-C2D4-55BF-A62CDB246C3E}"/>
              </a:ext>
            </a:extLst>
          </p:cNvPr>
          <p:cNvSpPr txBox="1"/>
          <p:nvPr/>
        </p:nvSpPr>
        <p:spPr>
          <a:xfrm>
            <a:off x="2025888" y="2181"/>
            <a:ext cx="5891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Пайыздарды </a:t>
            </a:r>
            <a:r>
              <a:rPr lang="ru-RU" sz="2000" b="1" dirty="0"/>
              <a:t>бөлчөк жана ондук </a:t>
            </a:r>
            <a:r>
              <a:rPr lang="ru-RU" sz="2000" dirty="0"/>
              <a:t>санга айландыруу</a:t>
            </a: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E8C40-708A-17A0-0DAA-65F3E56D00B5}"/>
              </a:ext>
            </a:extLst>
          </p:cNvPr>
          <p:cNvSpPr txBox="1"/>
          <p:nvPr/>
        </p:nvSpPr>
        <p:spPr>
          <a:xfrm>
            <a:off x="1297073" y="489982"/>
            <a:ext cx="7310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Процентти 100 жалпы бөлүктөн турган бөлчөккө айландырыңыз </a:t>
            </a:r>
          </a:p>
          <a:p>
            <a:pPr algn="ctr"/>
            <a:r>
              <a:rPr lang="ky-KG" sz="2000" dirty="0"/>
              <a:t>(бөлүүчү) жана жөнөкөйлөтүңүз.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40230-53E2-5483-885C-3E92E193D076}"/>
              </a:ext>
            </a:extLst>
          </p:cNvPr>
          <p:cNvSpPr txBox="1"/>
          <p:nvPr/>
        </p:nvSpPr>
        <p:spPr>
          <a:xfrm>
            <a:off x="5616166" y="1455408"/>
            <a:ext cx="4155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Мүмкүн болушунча жөнөкөйлөштүр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E017E-8170-9E91-FC22-8704B3DB4A31}"/>
              </a:ext>
            </a:extLst>
          </p:cNvPr>
          <p:cNvSpPr txBox="1"/>
          <p:nvPr/>
        </p:nvSpPr>
        <p:spPr>
          <a:xfrm>
            <a:off x="6433016" y="3828008"/>
            <a:ext cx="2228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% ды 100гө көбөйт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636DB-BCFB-BD04-F316-866A7D60B4AF}"/>
              </a:ext>
            </a:extLst>
          </p:cNvPr>
          <p:cNvSpPr txBox="1"/>
          <p:nvPr/>
        </p:nvSpPr>
        <p:spPr>
          <a:xfrm>
            <a:off x="770211" y="1346846"/>
            <a:ext cx="9797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Пайыз</a:t>
            </a:r>
            <a:endParaRPr lang="en-GB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5CC33-5E23-AE95-668B-4CABBDFCE38F}"/>
              </a:ext>
            </a:extLst>
          </p:cNvPr>
          <p:cNvSpPr txBox="1"/>
          <p:nvPr/>
        </p:nvSpPr>
        <p:spPr>
          <a:xfrm>
            <a:off x="7010896" y="1051119"/>
            <a:ext cx="1072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</a:t>
            </a:r>
            <a:endParaRPr lang="en-GB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C9291-B786-4F1D-09B9-BD05E0120E3C}"/>
              </a:ext>
            </a:extLst>
          </p:cNvPr>
          <p:cNvSpPr txBox="1"/>
          <p:nvPr/>
        </p:nvSpPr>
        <p:spPr>
          <a:xfrm>
            <a:off x="7066648" y="3417062"/>
            <a:ext cx="9612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Ондук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1510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8" grpId="0"/>
      <p:bldP spid="9" grpId="0"/>
      <p:bldP spid="12" grpId="0" animBg="1"/>
      <p:bldP spid="16" grpId="0" animBg="1"/>
      <p:bldP spid="17" grpId="0"/>
      <p:bldP spid="18" grpId="0"/>
      <p:bldP spid="20" grpId="0"/>
      <p:bldP spid="26" grpId="0"/>
      <p:bldP spid="39" grpId="0" animBg="1"/>
      <p:bldP spid="40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3287E2A9-A283-43DB-A4EB-B58DDF63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85873"/>
              </p:ext>
            </p:extLst>
          </p:nvPr>
        </p:nvGraphicFramePr>
        <p:xfrm>
          <a:off x="540086" y="1821432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E58395-6262-4155-AF2F-F73EBD371012}"/>
              </a:ext>
            </a:extLst>
          </p:cNvPr>
          <p:cNvSpPr/>
          <p:nvPr/>
        </p:nvSpPr>
        <p:spPr>
          <a:xfrm>
            <a:off x="7015560" y="195331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A5D709-4D5C-4356-9A81-A61E26820F2D}"/>
              </a:ext>
            </a:extLst>
          </p:cNvPr>
          <p:cNvSpPr/>
          <p:nvPr/>
        </p:nvSpPr>
        <p:spPr>
          <a:xfrm>
            <a:off x="1348625" y="4152711"/>
            <a:ext cx="99833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/>
              <p:nvPr/>
            </p:nvSpPr>
            <p:spPr>
              <a:xfrm>
                <a:off x="1444753" y="4133395"/>
                <a:ext cx="910826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𝟔𝟓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753" y="4133395"/>
                <a:ext cx="910826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/>
              <p:nvPr/>
            </p:nvSpPr>
            <p:spPr>
              <a:xfrm>
                <a:off x="4546243" y="4127592"/>
                <a:ext cx="596638" cy="936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243" y="4127592"/>
                <a:ext cx="596638" cy="9361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CC6C70E-9431-4C5B-B0DE-896DF011EF36}"/>
              </a:ext>
            </a:extLst>
          </p:cNvPr>
          <p:cNvSpPr/>
          <p:nvPr/>
        </p:nvSpPr>
        <p:spPr>
          <a:xfrm rot="10800000" flipH="1">
            <a:off x="1809456" y="5112823"/>
            <a:ext cx="3074963" cy="2796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249033A8-F0BA-481B-96DD-BD977A05D1F7}"/>
              </a:ext>
            </a:extLst>
          </p:cNvPr>
          <p:cNvSpPr/>
          <p:nvPr/>
        </p:nvSpPr>
        <p:spPr>
          <a:xfrm rot="10800000" flipH="1" flipV="1">
            <a:off x="1809456" y="3825291"/>
            <a:ext cx="3063533" cy="27876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25649-4755-4FD1-80B4-F2DAD4EE0939}"/>
              </a:ext>
            </a:extLst>
          </p:cNvPr>
          <p:cNvSpPr txBox="1"/>
          <p:nvPr/>
        </p:nvSpPr>
        <p:spPr>
          <a:xfrm>
            <a:off x="2961115" y="335421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6E63-DF52-4757-AED1-6359ABF83C5C}"/>
              </a:ext>
            </a:extLst>
          </p:cNvPr>
          <p:cNvSpPr txBox="1"/>
          <p:nvPr/>
        </p:nvSpPr>
        <p:spPr>
          <a:xfrm>
            <a:off x="2961114" y="5403700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CC304D-3395-46C7-9E51-817CF5C82384}"/>
                  </a:ext>
                </a:extLst>
              </p:cNvPr>
              <p:cNvSpPr txBox="1"/>
              <p:nvPr/>
            </p:nvSpPr>
            <p:spPr>
              <a:xfrm>
                <a:off x="7286400" y="1925383"/>
                <a:ext cx="663964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CC304D-3395-46C7-9E51-817CF5C82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400" y="1925383"/>
                <a:ext cx="663964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/>
              <p:nvPr/>
            </p:nvSpPr>
            <p:spPr>
              <a:xfrm>
                <a:off x="4508722" y="4163348"/>
                <a:ext cx="696023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722" y="4163348"/>
                <a:ext cx="696023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Right 32">
            <a:extLst>
              <a:ext uri="{FF2B5EF4-FFF2-40B4-BE49-F238E27FC236}">
                <a16:creationId xmlns:a16="http://schemas.microsoft.com/office/drawing/2014/main" id="{0A64E9B4-0ED2-44FE-8BCA-A047C2D08D9A}"/>
              </a:ext>
            </a:extLst>
          </p:cNvPr>
          <p:cNvSpPr/>
          <p:nvPr/>
        </p:nvSpPr>
        <p:spPr>
          <a:xfrm>
            <a:off x="2805099" y="2244398"/>
            <a:ext cx="593649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38" name="Table 3">
            <a:extLst>
              <a:ext uri="{FF2B5EF4-FFF2-40B4-BE49-F238E27FC236}">
                <a16:creationId xmlns:a16="http://schemas.microsoft.com/office/drawing/2014/main" id="{2F18157E-EA1A-4FD2-8061-DB704F80D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033583"/>
              </p:ext>
            </p:extLst>
          </p:nvPr>
        </p:nvGraphicFramePr>
        <p:xfrm>
          <a:off x="416520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57737372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11969024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4193721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87871634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9010156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76037005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9051075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2153815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24148547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186049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A8E7568-8A84-4CEA-8524-8C7D5DDC3ACC}"/>
              </a:ext>
            </a:extLst>
          </p:cNvPr>
          <p:cNvSpPr/>
          <p:nvPr/>
        </p:nvSpPr>
        <p:spPr>
          <a:xfrm>
            <a:off x="7015560" y="460076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DD1E12-B91E-4E66-8B1B-4EA4A3123A4E}"/>
              </a:ext>
            </a:extLst>
          </p:cNvPr>
          <p:cNvSpPr txBox="1"/>
          <p:nvPr/>
        </p:nvSpPr>
        <p:spPr>
          <a:xfrm>
            <a:off x="7135127" y="4796353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0.65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EBA510-FC3C-42AA-BC59-569445A46F9C}"/>
                  </a:ext>
                </a:extLst>
              </p:cNvPr>
              <p:cNvSpPr txBox="1"/>
              <p:nvPr/>
            </p:nvSpPr>
            <p:spPr>
              <a:xfrm>
                <a:off x="181395" y="4327898"/>
                <a:ext cx="1162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65</m:t>
                    </m:r>
                    <m:r>
                      <a:rPr lang="en-GB" sz="28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sz="2800" dirty="0"/>
                  <a:t> =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EBA510-FC3C-42AA-BC59-569445A46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5" y="4327898"/>
                <a:ext cx="1162499" cy="523220"/>
              </a:xfrm>
              <a:prstGeom prst="rect">
                <a:avLst/>
              </a:prstGeom>
              <a:blipFill>
                <a:blip r:embed="rId6"/>
                <a:stretch>
                  <a:fillRect t="-11628" r="-10000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2AEAB8D-118B-BF05-1D17-BEA719AC1C9D}"/>
              </a:ext>
            </a:extLst>
          </p:cNvPr>
          <p:cNvSpPr txBox="1"/>
          <p:nvPr/>
        </p:nvSpPr>
        <p:spPr>
          <a:xfrm>
            <a:off x="2025888" y="2181"/>
            <a:ext cx="5891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Пайыздарды </a:t>
            </a:r>
            <a:r>
              <a:rPr lang="ru-RU" sz="2000" b="1" dirty="0"/>
              <a:t>бөлчөк жана ондук </a:t>
            </a:r>
            <a:r>
              <a:rPr lang="ru-RU" sz="2000" dirty="0"/>
              <a:t>санга айландыруу</a:t>
            </a: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36229-C75F-3378-4292-93C026BC7BF1}"/>
              </a:ext>
            </a:extLst>
          </p:cNvPr>
          <p:cNvSpPr txBox="1"/>
          <p:nvPr/>
        </p:nvSpPr>
        <p:spPr>
          <a:xfrm>
            <a:off x="1297073" y="489982"/>
            <a:ext cx="7310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Процентти 100 жалпы бөлүктөн турган бөлчөккө айландырыңыз </a:t>
            </a:r>
          </a:p>
          <a:p>
            <a:pPr algn="ctr"/>
            <a:r>
              <a:rPr lang="ky-KG" sz="2000" dirty="0"/>
              <a:t>(бөлүүчү) жана жөнөкөйлөтүңүз.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56E10-B753-72D0-C523-BA04978964A4}"/>
              </a:ext>
            </a:extLst>
          </p:cNvPr>
          <p:cNvSpPr txBox="1"/>
          <p:nvPr/>
        </p:nvSpPr>
        <p:spPr>
          <a:xfrm>
            <a:off x="5616166" y="1455408"/>
            <a:ext cx="4155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Мүмкүн болушунча жөнөкөйлөштүр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8CB32-A43C-1134-CBE9-82217C4769C5}"/>
              </a:ext>
            </a:extLst>
          </p:cNvPr>
          <p:cNvSpPr txBox="1"/>
          <p:nvPr/>
        </p:nvSpPr>
        <p:spPr>
          <a:xfrm>
            <a:off x="6433016" y="3828008"/>
            <a:ext cx="2228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% ды 100гө көбөйт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38525-D079-D128-835E-36C75D74E089}"/>
              </a:ext>
            </a:extLst>
          </p:cNvPr>
          <p:cNvSpPr txBox="1"/>
          <p:nvPr/>
        </p:nvSpPr>
        <p:spPr>
          <a:xfrm>
            <a:off x="770211" y="1346846"/>
            <a:ext cx="9797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Пайыз</a:t>
            </a:r>
            <a:endParaRPr lang="en-GB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6FE675-FEBC-1E39-6EE5-57710D06F98B}"/>
              </a:ext>
            </a:extLst>
          </p:cNvPr>
          <p:cNvSpPr txBox="1"/>
          <p:nvPr/>
        </p:nvSpPr>
        <p:spPr>
          <a:xfrm>
            <a:off x="7010896" y="1051119"/>
            <a:ext cx="1072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</a:t>
            </a:r>
            <a:endParaRPr lang="en-GB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97238-7EE9-4EF7-A437-10119FABD364}"/>
              </a:ext>
            </a:extLst>
          </p:cNvPr>
          <p:cNvSpPr txBox="1"/>
          <p:nvPr/>
        </p:nvSpPr>
        <p:spPr>
          <a:xfrm>
            <a:off x="7066648" y="3417062"/>
            <a:ext cx="9612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Ондук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08933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8" grpId="0"/>
      <p:bldP spid="9" grpId="0"/>
      <p:bldP spid="12" grpId="0" animBg="1"/>
      <p:bldP spid="16" grpId="0" animBg="1"/>
      <p:bldP spid="17" grpId="0"/>
      <p:bldP spid="18" grpId="0"/>
      <p:bldP spid="20" grpId="0"/>
      <p:bldP spid="26" grpId="0"/>
      <p:bldP spid="39" grpId="0" animBg="1"/>
      <p:bldP spid="40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3287E2A9-A283-43DB-A4EB-B58DDF63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161298"/>
              </p:ext>
            </p:extLst>
          </p:nvPr>
        </p:nvGraphicFramePr>
        <p:xfrm>
          <a:off x="540086" y="1821432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5820904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31961248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57748359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56737525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06630137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0457203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223087120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9696672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3902539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6557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6294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695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71574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7933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499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04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45433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2240" marR="22240" marT="11120" marB="111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633365"/>
                  </a:ext>
                </a:extLst>
              </a:tr>
            </a:tbl>
          </a:graphicData>
        </a:graphic>
      </p:graphicFrame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E58395-6262-4155-AF2F-F73EBD371012}"/>
              </a:ext>
            </a:extLst>
          </p:cNvPr>
          <p:cNvSpPr/>
          <p:nvPr/>
        </p:nvSpPr>
        <p:spPr>
          <a:xfrm>
            <a:off x="7015560" y="195331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A5D709-4D5C-4356-9A81-A61E26820F2D}"/>
              </a:ext>
            </a:extLst>
          </p:cNvPr>
          <p:cNvSpPr/>
          <p:nvPr/>
        </p:nvSpPr>
        <p:spPr>
          <a:xfrm>
            <a:off x="1348625" y="4152711"/>
            <a:ext cx="99833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/>
              <p:nvPr/>
            </p:nvSpPr>
            <p:spPr>
              <a:xfrm>
                <a:off x="1444753" y="4133395"/>
                <a:ext cx="910826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𝟐𝟖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EA525-4CC3-4815-BDA7-13E48BB6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753" y="4133395"/>
                <a:ext cx="910826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/>
              <p:nvPr/>
            </p:nvSpPr>
            <p:spPr>
              <a:xfrm>
                <a:off x="4546243" y="4127592"/>
                <a:ext cx="596638" cy="936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C4CF83-0554-4EE7-9F3C-5D0AC523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243" y="4127592"/>
                <a:ext cx="596638" cy="9361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CC6C70E-9431-4C5B-B0DE-896DF011EF36}"/>
              </a:ext>
            </a:extLst>
          </p:cNvPr>
          <p:cNvSpPr/>
          <p:nvPr/>
        </p:nvSpPr>
        <p:spPr>
          <a:xfrm rot="10800000" flipH="1">
            <a:off x="1809456" y="5112823"/>
            <a:ext cx="3074963" cy="27964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Arrow: U-Turn 15">
            <a:extLst>
              <a:ext uri="{FF2B5EF4-FFF2-40B4-BE49-F238E27FC236}">
                <a16:creationId xmlns:a16="http://schemas.microsoft.com/office/drawing/2014/main" id="{249033A8-F0BA-481B-96DD-BD977A05D1F7}"/>
              </a:ext>
            </a:extLst>
          </p:cNvPr>
          <p:cNvSpPr/>
          <p:nvPr/>
        </p:nvSpPr>
        <p:spPr>
          <a:xfrm rot="10800000" flipH="1" flipV="1">
            <a:off x="1809456" y="3825291"/>
            <a:ext cx="3063533" cy="27876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025649-4755-4FD1-80B4-F2DAD4EE0939}"/>
              </a:ext>
            </a:extLst>
          </p:cNvPr>
          <p:cNvSpPr txBox="1"/>
          <p:nvPr/>
        </p:nvSpPr>
        <p:spPr>
          <a:xfrm>
            <a:off x="2961115" y="335421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D6E63-DF52-4757-AED1-6359ABF83C5C}"/>
              </a:ext>
            </a:extLst>
          </p:cNvPr>
          <p:cNvSpPr txBox="1"/>
          <p:nvPr/>
        </p:nvSpPr>
        <p:spPr>
          <a:xfrm>
            <a:off x="2961114" y="5403700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CC304D-3395-46C7-9E51-817CF5C82384}"/>
                  </a:ext>
                </a:extLst>
              </p:cNvPr>
              <p:cNvSpPr txBox="1"/>
              <p:nvPr/>
            </p:nvSpPr>
            <p:spPr>
              <a:xfrm>
                <a:off x="7286400" y="1925383"/>
                <a:ext cx="663964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1CC304D-3395-46C7-9E51-817CF5C82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400" y="1925383"/>
                <a:ext cx="663964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/>
              <p:nvPr/>
            </p:nvSpPr>
            <p:spPr>
              <a:xfrm>
                <a:off x="4508722" y="4163348"/>
                <a:ext cx="696023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GB" sz="2800" b="1" i="1" dirty="0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19AB73-211D-47FA-A4CC-F43479649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722" y="4163348"/>
                <a:ext cx="696023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Right 32">
            <a:extLst>
              <a:ext uri="{FF2B5EF4-FFF2-40B4-BE49-F238E27FC236}">
                <a16:creationId xmlns:a16="http://schemas.microsoft.com/office/drawing/2014/main" id="{0A64E9B4-0ED2-44FE-8BCA-A047C2D08D9A}"/>
              </a:ext>
            </a:extLst>
          </p:cNvPr>
          <p:cNvSpPr/>
          <p:nvPr/>
        </p:nvSpPr>
        <p:spPr>
          <a:xfrm>
            <a:off x="2805099" y="2244398"/>
            <a:ext cx="593649" cy="48463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aphicFrame>
        <p:nvGraphicFramePr>
          <p:cNvPr id="38" name="Table 3">
            <a:extLst>
              <a:ext uri="{FF2B5EF4-FFF2-40B4-BE49-F238E27FC236}">
                <a16:creationId xmlns:a16="http://schemas.microsoft.com/office/drawing/2014/main" id="{2F18157E-EA1A-4FD2-8061-DB704F80D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624385"/>
              </p:ext>
            </p:extLst>
          </p:nvPr>
        </p:nvGraphicFramePr>
        <p:xfrm>
          <a:off x="4165204" y="1821433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52312561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57737372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196902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4193721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3878716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GB" sz="100" dirty="0"/>
                        <a:t>5</a:t>
                      </a:r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0131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18604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4769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2174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20355" marR="20355" marT="10178" marB="1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333460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A8E7568-8A84-4CEA-8524-8C7D5DDC3ACC}"/>
              </a:ext>
            </a:extLst>
          </p:cNvPr>
          <p:cNvSpPr/>
          <p:nvPr/>
        </p:nvSpPr>
        <p:spPr>
          <a:xfrm>
            <a:off x="7015560" y="4600763"/>
            <a:ext cx="1063398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DD1E12-B91E-4E66-8B1B-4EA4A3123A4E}"/>
              </a:ext>
            </a:extLst>
          </p:cNvPr>
          <p:cNvSpPr txBox="1"/>
          <p:nvPr/>
        </p:nvSpPr>
        <p:spPr>
          <a:xfrm>
            <a:off x="7135127" y="4796353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0.28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EBA510-FC3C-42AA-BC59-569445A46F9C}"/>
                  </a:ext>
                </a:extLst>
              </p:cNvPr>
              <p:cNvSpPr txBox="1"/>
              <p:nvPr/>
            </p:nvSpPr>
            <p:spPr>
              <a:xfrm>
                <a:off x="181395" y="4327898"/>
                <a:ext cx="11624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28</m:t>
                    </m:r>
                    <m:r>
                      <a:rPr lang="en-GB" sz="28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GB" sz="2800" dirty="0"/>
                  <a:t> =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EBA510-FC3C-42AA-BC59-569445A46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5" y="4327898"/>
                <a:ext cx="1162499" cy="523220"/>
              </a:xfrm>
              <a:prstGeom prst="rect">
                <a:avLst/>
              </a:prstGeom>
              <a:blipFill>
                <a:blip r:embed="rId6"/>
                <a:stretch>
                  <a:fillRect t="-11628" r="-10000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3D66C0C-46E1-9167-39FE-E5AD3598992D}"/>
              </a:ext>
            </a:extLst>
          </p:cNvPr>
          <p:cNvSpPr txBox="1"/>
          <p:nvPr/>
        </p:nvSpPr>
        <p:spPr>
          <a:xfrm>
            <a:off x="2025888" y="2181"/>
            <a:ext cx="5891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Пайыздарды </a:t>
            </a:r>
            <a:r>
              <a:rPr lang="ru-RU" sz="2000" b="1" dirty="0"/>
              <a:t>бөлчөк жана ондук </a:t>
            </a:r>
            <a:r>
              <a:rPr lang="ru-RU" sz="2000" dirty="0"/>
              <a:t>санга айландыруу</a:t>
            </a: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AFB27A-3991-5092-7D17-04F717323C5E}"/>
              </a:ext>
            </a:extLst>
          </p:cNvPr>
          <p:cNvSpPr txBox="1"/>
          <p:nvPr/>
        </p:nvSpPr>
        <p:spPr>
          <a:xfrm>
            <a:off x="1297073" y="489982"/>
            <a:ext cx="7310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Процентти 100 жалпы бөлүктөн турган бөлчөккө айландырыңыз </a:t>
            </a:r>
          </a:p>
          <a:p>
            <a:pPr algn="ctr"/>
            <a:r>
              <a:rPr lang="ky-KG" sz="2000" dirty="0"/>
              <a:t>(бөлүүчү) жана жөнөкөйлөтүңүз.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7F55-AAC3-3B45-F7EF-CDF09735F9DD}"/>
              </a:ext>
            </a:extLst>
          </p:cNvPr>
          <p:cNvSpPr txBox="1"/>
          <p:nvPr/>
        </p:nvSpPr>
        <p:spPr>
          <a:xfrm>
            <a:off x="5616166" y="1455408"/>
            <a:ext cx="4155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Мүмкүн болушунча жөнөкөйлөштүр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76DF7-2963-AEAF-38DD-102DB17CDE1A}"/>
              </a:ext>
            </a:extLst>
          </p:cNvPr>
          <p:cNvSpPr txBox="1"/>
          <p:nvPr/>
        </p:nvSpPr>
        <p:spPr>
          <a:xfrm>
            <a:off x="6433016" y="3828008"/>
            <a:ext cx="22284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% ды 100гө көбөйт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4C890F-9BA2-FC50-AC78-B8496F10DECA}"/>
              </a:ext>
            </a:extLst>
          </p:cNvPr>
          <p:cNvSpPr txBox="1"/>
          <p:nvPr/>
        </p:nvSpPr>
        <p:spPr>
          <a:xfrm>
            <a:off x="770211" y="1346846"/>
            <a:ext cx="9797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Пайыз</a:t>
            </a:r>
            <a:endParaRPr lang="en-GB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5819B2-8ED4-AFB0-1717-DCA1B44B14FA}"/>
              </a:ext>
            </a:extLst>
          </p:cNvPr>
          <p:cNvSpPr txBox="1"/>
          <p:nvPr/>
        </p:nvSpPr>
        <p:spPr>
          <a:xfrm>
            <a:off x="7010896" y="1051119"/>
            <a:ext cx="1072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Бөлчөк</a:t>
            </a:r>
            <a:endParaRPr lang="en-GB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B8F3B-25C4-A906-B74A-688D2A738D9A}"/>
              </a:ext>
            </a:extLst>
          </p:cNvPr>
          <p:cNvSpPr txBox="1"/>
          <p:nvPr/>
        </p:nvSpPr>
        <p:spPr>
          <a:xfrm>
            <a:off x="7066648" y="3417062"/>
            <a:ext cx="9612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200" b="1" dirty="0"/>
              <a:t>Ондук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04815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8" grpId="0"/>
      <p:bldP spid="9" grpId="0"/>
      <p:bldP spid="12" grpId="0" animBg="1"/>
      <p:bldP spid="16" grpId="0" animBg="1"/>
      <p:bldP spid="17" grpId="0"/>
      <p:bldP spid="18" grpId="0"/>
      <p:bldP spid="20" grpId="0"/>
      <p:bldP spid="26" grpId="0"/>
      <p:bldP spid="39" grpId="0" animBg="1"/>
      <p:bldP spid="40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0F659-E9B0-4A2F-AD8D-02730E37209F}"/>
              </a:ext>
            </a:extLst>
          </p:cNvPr>
          <p:cNvSpPr txBox="1"/>
          <p:nvPr/>
        </p:nvSpPr>
        <p:spPr>
          <a:xfrm>
            <a:off x="3925520" y="116582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Пайыз</a:t>
            </a:r>
            <a:endParaRPr lang="en-GB" sz="28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/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B99D221D-E7A2-4DD4-8782-51A5407ADA0D}"/>
              </a:ext>
            </a:extLst>
          </p:cNvPr>
          <p:cNvSpPr/>
          <p:nvPr/>
        </p:nvSpPr>
        <p:spPr>
          <a:xfrm rot="16200000">
            <a:off x="3894699" y="2195267"/>
            <a:ext cx="2127739" cy="357311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B497-D3CC-4CE1-BA1B-8FFFA67E8551}"/>
              </a:ext>
            </a:extLst>
          </p:cNvPr>
          <p:cNvSpPr txBox="1"/>
          <p:nvPr/>
        </p:nvSpPr>
        <p:spPr>
          <a:xfrm>
            <a:off x="8031525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Ондук</a:t>
            </a:r>
            <a:endParaRPr lang="en-GB" sz="28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/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682AF02-3F3A-4889-957D-4872ED26B209}"/>
              </a:ext>
            </a:extLst>
          </p:cNvPr>
          <p:cNvSpPr txBox="1"/>
          <p:nvPr/>
        </p:nvSpPr>
        <p:spPr>
          <a:xfrm>
            <a:off x="-74982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Бөлчөк</a:t>
            </a:r>
            <a:endParaRPr lang="en-GB" sz="28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/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F206C1-227E-481F-9C87-12BA3DDAB611}"/>
              </a:ext>
            </a:extLst>
          </p:cNvPr>
          <p:cNvSpPr/>
          <p:nvPr/>
        </p:nvSpPr>
        <p:spPr>
          <a:xfrm>
            <a:off x="2402105" y="3341971"/>
            <a:ext cx="1643442" cy="7033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Жөнөкөй-</a:t>
            </a:r>
          </a:p>
          <a:p>
            <a:pPr algn="ctr"/>
            <a:r>
              <a:rPr lang="ky-KG" sz="2200" dirty="0">
                <a:solidFill>
                  <a:prstClr val="black"/>
                </a:solidFill>
              </a:rPr>
              <a:t>лөштүр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F1CF4C-3107-46D8-B5D4-65B3FB4163F3}"/>
              </a:ext>
            </a:extLst>
          </p:cNvPr>
          <p:cNvSpPr/>
          <p:nvPr/>
        </p:nvSpPr>
        <p:spPr>
          <a:xfrm>
            <a:off x="5820508" y="3200400"/>
            <a:ext cx="2303268" cy="7033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Жүздүк катары жаз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5462EA8-61C4-4752-B1C9-6444BD080F79}"/>
              </a:ext>
            </a:extLst>
          </p:cNvPr>
          <p:cNvSpPr/>
          <p:nvPr/>
        </p:nvSpPr>
        <p:spPr>
          <a:xfrm>
            <a:off x="1890155" y="3552092"/>
            <a:ext cx="6116062" cy="1731000"/>
          </a:xfrm>
          <a:custGeom>
            <a:avLst/>
            <a:gdLst>
              <a:gd name="connsiteX0" fmla="*/ 3058031 w 6116062"/>
              <a:gd name="connsiteY0" fmla="*/ 0 h 1731000"/>
              <a:gd name="connsiteX1" fmla="*/ 3855517 w 6116062"/>
              <a:gd name="connsiteY1" fmla="*/ 528609 h 1731000"/>
              <a:gd name="connsiteX2" fmla="*/ 3861576 w 6116062"/>
              <a:gd name="connsiteY2" fmla="*/ 548128 h 1731000"/>
              <a:gd name="connsiteX3" fmla="*/ 5937406 w 6116062"/>
              <a:gd name="connsiteY3" fmla="*/ 548128 h 1731000"/>
              <a:gd name="connsiteX4" fmla="*/ 5937406 w 6116062"/>
              <a:gd name="connsiteY4" fmla="*/ 442610 h 1731000"/>
              <a:gd name="connsiteX5" fmla="*/ 6116062 w 6116062"/>
              <a:gd name="connsiteY5" fmla="*/ 621266 h 1731000"/>
              <a:gd name="connsiteX6" fmla="*/ 5937406 w 6116062"/>
              <a:gd name="connsiteY6" fmla="*/ 799921 h 1731000"/>
              <a:gd name="connsiteX7" fmla="*/ 5937406 w 6116062"/>
              <a:gd name="connsiteY7" fmla="*/ 694403 h 1731000"/>
              <a:gd name="connsiteX8" fmla="*/ 3906284 w 6116062"/>
              <a:gd name="connsiteY8" fmla="*/ 694403 h 1731000"/>
              <a:gd name="connsiteX9" fmla="*/ 3923532 w 6116062"/>
              <a:gd name="connsiteY9" fmla="*/ 865500 h 1731000"/>
              <a:gd name="connsiteX10" fmla="*/ 3058031 w 6116062"/>
              <a:gd name="connsiteY10" fmla="*/ 1731000 h 1731000"/>
              <a:gd name="connsiteX11" fmla="*/ 2192530 w 6116062"/>
              <a:gd name="connsiteY11" fmla="*/ 865500 h 1731000"/>
              <a:gd name="connsiteX12" fmla="*/ 2209778 w 6116062"/>
              <a:gd name="connsiteY12" fmla="*/ 694404 h 1731000"/>
              <a:gd name="connsiteX13" fmla="*/ 178656 w 6116062"/>
              <a:gd name="connsiteY13" fmla="*/ 694404 h 1731000"/>
              <a:gd name="connsiteX14" fmla="*/ 178656 w 6116062"/>
              <a:gd name="connsiteY14" fmla="*/ 799922 h 1731000"/>
              <a:gd name="connsiteX15" fmla="*/ 0 w 6116062"/>
              <a:gd name="connsiteY15" fmla="*/ 621266 h 1731000"/>
              <a:gd name="connsiteX16" fmla="*/ 178656 w 6116062"/>
              <a:gd name="connsiteY16" fmla="*/ 442611 h 1731000"/>
              <a:gd name="connsiteX17" fmla="*/ 178656 w 6116062"/>
              <a:gd name="connsiteY17" fmla="*/ 548129 h 1731000"/>
              <a:gd name="connsiteX18" fmla="*/ 2254486 w 6116062"/>
              <a:gd name="connsiteY18" fmla="*/ 548129 h 1731000"/>
              <a:gd name="connsiteX19" fmla="*/ 2260545 w 6116062"/>
              <a:gd name="connsiteY19" fmla="*/ 528609 h 1731000"/>
              <a:gd name="connsiteX20" fmla="*/ 3058031 w 6116062"/>
              <a:gd name="connsiteY20" fmla="*/ 0 h 173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116062" h="1731000">
                <a:moveTo>
                  <a:pt x="3058031" y="0"/>
                </a:moveTo>
                <a:cubicBezTo>
                  <a:pt x="3416534" y="0"/>
                  <a:pt x="3724127" y="217968"/>
                  <a:pt x="3855517" y="528609"/>
                </a:cubicBezTo>
                <a:lnTo>
                  <a:pt x="3861576" y="548128"/>
                </a:lnTo>
                <a:lnTo>
                  <a:pt x="5937406" y="548128"/>
                </a:lnTo>
                <a:lnTo>
                  <a:pt x="5937406" y="442610"/>
                </a:lnTo>
                <a:lnTo>
                  <a:pt x="6116062" y="621266"/>
                </a:lnTo>
                <a:lnTo>
                  <a:pt x="5937406" y="799921"/>
                </a:lnTo>
                <a:lnTo>
                  <a:pt x="5937406" y="694403"/>
                </a:lnTo>
                <a:lnTo>
                  <a:pt x="3906284" y="694403"/>
                </a:lnTo>
                <a:lnTo>
                  <a:pt x="3923532" y="865500"/>
                </a:lnTo>
                <a:cubicBezTo>
                  <a:pt x="3923532" y="1343502"/>
                  <a:pt x="3536034" y="1731000"/>
                  <a:pt x="3058031" y="1731000"/>
                </a:cubicBezTo>
                <a:cubicBezTo>
                  <a:pt x="2580028" y="1731000"/>
                  <a:pt x="2192530" y="1343502"/>
                  <a:pt x="2192530" y="865500"/>
                </a:cubicBezTo>
                <a:lnTo>
                  <a:pt x="2209778" y="694404"/>
                </a:lnTo>
                <a:lnTo>
                  <a:pt x="178656" y="694404"/>
                </a:lnTo>
                <a:lnTo>
                  <a:pt x="178656" y="799922"/>
                </a:lnTo>
                <a:lnTo>
                  <a:pt x="0" y="621266"/>
                </a:lnTo>
                <a:lnTo>
                  <a:pt x="178656" y="442611"/>
                </a:lnTo>
                <a:lnTo>
                  <a:pt x="178656" y="548129"/>
                </a:lnTo>
                <a:lnTo>
                  <a:pt x="2254486" y="548129"/>
                </a:lnTo>
                <a:lnTo>
                  <a:pt x="2260545" y="528609"/>
                </a:lnTo>
                <a:cubicBezTo>
                  <a:pt x="2391936" y="217968"/>
                  <a:pt x="2699529" y="0"/>
                  <a:pt x="305803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/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288EF47-8C85-45D4-9D88-94E97E0C973C}"/>
              </a:ext>
            </a:extLst>
          </p:cNvPr>
          <p:cNvSpPr/>
          <p:nvPr/>
        </p:nvSpPr>
        <p:spPr>
          <a:xfrm>
            <a:off x="3703350" y="1659067"/>
            <a:ext cx="2510437" cy="122545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400" dirty="0">
                <a:solidFill>
                  <a:prstClr val="black"/>
                </a:solidFill>
              </a:rPr>
              <a:t>% "100дүн бөлүктөрүн" билдирет</a:t>
            </a:r>
            <a:endParaRPr lang="en-GB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59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4" grpId="0"/>
      <p:bldP spid="26" grpId="0" animBg="1"/>
      <p:bldP spid="29" grpId="0" animBg="1"/>
      <p:bldP spid="15" grpId="0"/>
      <p:bldP spid="5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/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30%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B99D221D-E7A2-4DD4-8782-51A5407ADA0D}"/>
              </a:ext>
            </a:extLst>
          </p:cNvPr>
          <p:cNvSpPr/>
          <p:nvPr/>
        </p:nvSpPr>
        <p:spPr>
          <a:xfrm rot="16200000">
            <a:off x="3894699" y="2195267"/>
            <a:ext cx="2127739" cy="357311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/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0.30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/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E23BB32-C9AE-4B22-9CCD-E3262964F8EA}"/>
              </a:ext>
            </a:extLst>
          </p:cNvPr>
          <p:cNvSpPr/>
          <p:nvPr/>
        </p:nvSpPr>
        <p:spPr>
          <a:xfrm>
            <a:off x="2217867" y="5041650"/>
            <a:ext cx="1594000" cy="4828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Айландыр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73225E66-2F94-4108-A0EE-409941E4D2C6}"/>
              </a:ext>
            </a:extLst>
          </p:cNvPr>
          <p:cNvSpPr/>
          <p:nvPr/>
        </p:nvSpPr>
        <p:spPr>
          <a:xfrm rot="5400000">
            <a:off x="2755843" y="3728482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5462EA8-61C4-4752-B1C9-6444BD080F79}"/>
              </a:ext>
            </a:extLst>
          </p:cNvPr>
          <p:cNvSpPr/>
          <p:nvPr/>
        </p:nvSpPr>
        <p:spPr>
          <a:xfrm>
            <a:off x="1890155" y="3552092"/>
            <a:ext cx="6116062" cy="1731000"/>
          </a:xfrm>
          <a:custGeom>
            <a:avLst/>
            <a:gdLst>
              <a:gd name="connsiteX0" fmla="*/ 3058031 w 6116062"/>
              <a:gd name="connsiteY0" fmla="*/ 0 h 1731000"/>
              <a:gd name="connsiteX1" fmla="*/ 3855517 w 6116062"/>
              <a:gd name="connsiteY1" fmla="*/ 528609 h 1731000"/>
              <a:gd name="connsiteX2" fmla="*/ 3861576 w 6116062"/>
              <a:gd name="connsiteY2" fmla="*/ 548128 h 1731000"/>
              <a:gd name="connsiteX3" fmla="*/ 5937406 w 6116062"/>
              <a:gd name="connsiteY3" fmla="*/ 548128 h 1731000"/>
              <a:gd name="connsiteX4" fmla="*/ 5937406 w 6116062"/>
              <a:gd name="connsiteY4" fmla="*/ 442610 h 1731000"/>
              <a:gd name="connsiteX5" fmla="*/ 6116062 w 6116062"/>
              <a:gd name="connsiteY5" fmla="*/ 621266 h 1731000"/>
              <a:gd name="connsiteX6" fmla="*/ 5937406 w 6116062"/>
              <a:gd name="connsiteY6" fmla="*/ 799921 h 1731000"/>
              <a:gd name="connsiteX7" fmla="*/ 5937406 w 6116062"/>
              <a:gd name="connsiteY7" fmla="*/ 694403 h 1731000"/>
              <a:gd name="connsiteX8" fmla="*/ 3906284 w 6116062"/>
              <a:gd name="connsiteY8" fmla="*/ 694403 h 1731000"/>
              <a:gd name="connsiteX9" fmla="*/ 3923532 w 6116062"/>
              <a:gd name="connsiteY9" fmla="*/ 865500 h 1731000"/>
              <a:gd name="connsiteX10" fmla="*/ 3058031 w 6116062"/>
              <a:gd name="connsiteY10" fmla="*/ 1731000 h 1731000"/>
              <a:gd name="connsiteX11" fmla="*/ 2192530 w 6116062"/>
              <a:gd name="connsiteY11" fmla="*/ 865500 h 1731000"/>
              <a:gd name="connsiteX12" fmla="*/ 2209778 w 6116062"/>
              <a:gd name="connsiteY12" fmla="*/ 694404 h 1731000"/>
              <a:gd name="connsiteX13" fmla="*/ 178656 w 6116062"/>
              <a:gd name="connsiteY13" fmla="*/ 694404 h 1731000"/>
              <a:gd name="connsiteX14" fmla="*/ 178656 w 6116062"/>
              <a:gd name="connsiteY14" fmla="*/ 799922 h 1731000"/>
              <a:gd name="connsiteX15" fmla="*/ 0 w 6116062"/>
              <a:gd name="connsiteY15" fmla="*/ 621266 h 1731000"/>
              <a:gd name="connsiteX16" fmla="*/ 178656 w 6116062"/>
              <a:gd name="connsiteY16" fmla="*/ 442611 h 1731000"/>
              <a:gd name="connsiteX17" fmla="*/ 178656 w 6116062"/>
              <a:gd name="connsiteY17" fmla="*/ 548129 h 1731000"/>
              <a:gd name="connsiteX18" fmla="*/ 2254486 w 6116062"/>
              <a:gd name="connsiteY18" fmla="*/ 548129 h 1731000"/>
              <a:gd name="connsiteX19" fmla="*/ 2260545 w 6116062"/>
              <a:gd name="connsiteY19" fmla="*/ 528609 h 1731000"/>
              <a:gd name="connsiteX20" fmla="*/ 3058031 w 6116062"/>
              <a:gd name="connsiteY20" fmla="*/ 0 h 173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116062" h="1731000">
                <a:moveTo>
                  <a:pt x="3058031" y="0"/>
                </a:moveTo>
                <a:cubicBezTo>
                  <a:pt x="3416534" y="0"/>
                  <a:pt x="3724127" y="217968"/>
                  <a:pt x="3855517" y="528609"/>
                </a:cubicBezTo>
                <a:lnTo>
                  <a:pt x="3861576" y="548128"/>
                </a:lnTo>
                <a:lnTo>
                  <a:pt x="5937406" y="548128"/>
                </a:lnTo>
                <a:lnTo>
                  <a:pt x="5937406" y="442610"/>
                </a:lnTo>
                <a:lnTo>
                  <a:pt x="6116062" y="621266"/>
                </a:lnTo>
                <a:lnTo>
                  <a:pt x="5937406" y="799921"/>
                </a:lnTo>
                <a:lnTo>
                  <a:pt x="5937406" y="694403"/>
                </a:lnTo>
                <a:lnTo>
                  <a:pt x="3906284" y="694403"/>
                </a:lnTo>
                <a:lnTo>
                  <a:pt x="3923532" y="865500"/>
                </a:lnTo>
                <a:cubicBezTo>
                  <a:pt x="3923532" y="1343502"/>
                  <a:pt x="3536034" y="1731000"/>
                  <a:pt x="3058031" y="1731000"/>
                </a:cubicBezTo>
                <a:cubicBezTo>
                  <a:pt x="2580028" y="1731000"/>
                  <a:pt x="2192530" y="1343502"/>
                  <a:pt x="2192530" y="865500"/>
                </a:cubicBezTo>
                <a:lnTo>
                  <a:pt x="2209778" y="694404"/>
                </a:lnTo>
                <a:lnTo>
                  <a:pt x="178656" y="694404"/>
                </a:lnTo>
                <a:lnTo>
                  <a:pt x="178656" y="799922"/>
                </a:lnTo>
                <a:lnTo>
                  <a:pt x="0" y="621266"/>
                </a:lnTo>
                <a:lnTo>
                  <a:pt x="178656" y="442611"/>
                </a:lnTo>
                <a:lnTo>
                  <a:pt x="178656" y="548129"/>
                </a:lnTo>
                <a:lnTo>
                  <a:pt x="2254486" y="548129"/>
                </a:lnTo>
                <a:lnTo>
                  <a:pt x="2260545" y="528609"/>
                </a:lnTo>
                <a:cubicBezTo>
                  <a:pt x="2391936" y="217968"/>
                  <a:pt x="2699529" y="0"/>
                  <a:pt x="305803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/>
              <p:nvPr/>
            </p:nvSpPr>
            <p:spPr>
              <a:xfrm>
                <a:off x="4424664" y="3857682"/>
                <a:ext cx="11525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664" y="3857682"/>
                <a:ext cx="1152548" cy="1014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9E6D8-9A4A-4EAF-9025-24D8065A110A}"/>
                  </a:ext>
                </a:extLst>
              </p:cNvPr>
              <p:cNvSpPr txBox="1"/>
              <p:nvPr/>
            </p:nvSpPr>
            <p:spPr>
              <a:xfrm>
                <a:off x="8354825" y="5063893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C9E6D8-9A4A-4EAF-9025-24D8065A1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825" y="5063893"/>
                <a:ext cx="1152548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773C745-915A-1903-6488-10B39F4EE400}"/>
              </a:ext>
            </a:extLst>
          </p:cNvPr>
          <p:cNvSpPr txBox="1"/>
          <p:nvPr/>
        </p:nvSpPr>
        <p:spPr>
          <a:xfrm>
            <a:off x="3925520" y="116582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Пайыз</a:t>
            </a:r>
            <a:endParaRPr lang="en-GB" sz="28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BFC40-1714-91A6-2FED-69607398D2C3}"/>
              </a:ext>
            </a:extLst>
          </p:cNvPr>
          <p:cNvSpPr txBox="1"/>
          <p:nvPr/>
        </p:nvSpPr>
        <p:spPr>
          <a:xfrm>
            <a:off x="8031525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Ондук</a:t>
            </a:r>
            <a:endParaRPr lang="en-GB" sz="28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8A378-19DB-00E0-3D5E-C959E0F78ECA}"/>
              </a:ext>
            </a:extLst>
          </p:cNvPr>
          <p:cNvSpPr txBox="1"/>
          <p:nvPr/>
        </p:nvSpPr>
        <p:spPr>
          <a:xfrm>
            <a:off x="-74982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Бөлчөк</a:t>
            </a:r>
            <a:endParaRPr lang="en-GB" sz="2800" b="1" u="sng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9FCA37-B38C-7683-4EE2-09980A6931F3}"/>
              </a:ext>
            </a:extLst>
          </p:cNvPr>
          <p:cNvSpPr/>
          <p:nvPr/>
        </p:nvSpPr>
        <p:spPr>
          <a:xfrm>
            <a:off x="2402105" y="3341971"/>
            <a:ext cx="1643442" cy="7033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Жөнөкөй-</a:t>
            </a:r>
          </a:p>
          <a:p>
            <a:pPr algn="ctr"/>
            <a:r>
              <a:rPr lang="ky-KG" sz="2200" dirty="0">
                <a:solidFill>
                  <a:prstClr val="black"/>
                </a:solidFill>
              </a:rPr>
              <a:t>лөштүр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2431FA2-4B9F-37A2-977B-930004F45310}"/>
              </a:ext>
            </a:extLst>
          </p:cNvPr>
          <p:cNvSpPr/>
          <p:nvPr/>
        </p:nvSpPr>
        <p:spPr>
          <a:xfrm>
            <a:off x="5820508" y="3200400"/>
            <a:ext cx="2303268" cy="7033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Жүздүк катары жаз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F78B58-4521-3886-A10C-756D32BE5D26}"/>
              </a:ext>
            </a:extLst>
          </p:cNvPr>
          <p:cNvSpPr/>
          <p:nvPr/>
        </p:nvSpPr>
        <p:spPr>
          <a:xfrm>
            <a:off x="3703350" y="1659067"/>
            <a:ext cx="2510437" cy="122545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400" dirty="0">
                <a:solidFill>
                  <a:prstClr val="black"/>
                </a:solidFill>
              </a:rPr>
              <a:t>% "100дүн бөлүктөрүн" билдирет</a:t>
            </a:r>
            <a:endParaRPr lang="en-GB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21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24" grpId="0" animBg="1"/>
      <p:bldP spid="39" grpId="0" animBg="1"/>
      <p:bldP spid="15" grpId="0"/>
      <p:bldP spid="17" grpId="0"/>
      <p:bldP spid="16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/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32%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B99D221D-E7A2-4DD4-8782-51A5407ADA0D}"/>
              </a:ext>
            </a:extLst>
          </p:cNvPr>
          <p:cNvSpPr/>
          <p:nvPr/>
        </p:nvSpPr>
        <p:spPr>
          <a:xfrm rot="16200000">
            <a:off x="3894699" y="2195267"/>
            <a:ext cx="2127739" cy="357311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/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0.32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/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Up 33">
            <a:extLst>
              <a:ext uri="{FF2B5EF4-FFF2-40B4-BE49-F238E27FC236}">
                <a16:creationId xmlns:a16="http://schemas.microsoft.com/office/drawing/2014/main" id="{4CEFCEA2-CA13-42F1-969F-CF0A7348D095}"/>
              </a:ext>
            </a:extLst>
          </p:cNvPr>
          <p:cNvSpPr/>
          <p:nvPr/>
        </p:nvSpPr>
        <p:spPr>
          <a:xfrm rot="16200000">
            <a:off x="6773928" y="3728481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73225E66-2F94-4108-A0EE-409941E4D2C6}"/>
              </a:ext>
            </a:extLst>
          </p:cNvPr>
          <p:cNvSpPr/>
          <p:nvPr/>
        </p:nvSpPr>
        <p:spPr>
          <a:xfrm rot="5400000">
            <a:off x="2755843" y="3728482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5462EA8-61C4-4752-B1C9-6444BD080F79}"/>
              </a:ext>
            </a:extLst>
          </p:cNvPr>
          <p:cNvSpPr/>
          <p:nvPr/>
        </p:nvSpPr>
        <p:spPr>
          <a:xfrm>
            <a:off x="1890155" y="3552092"/>
            <a:ext cx="6116062" cy="1731000"/>
          </a:xfrm>
          <a:custGeom>
            <a:avLst/>
            <a:gdLst>
              <a:gd name="connsiteX0" fmla="*/ 3058031 w 6116062"/>
              <a:gd name="connsiteY0" fmla="*/ 0 h 1731000"/>
              <a:gd name="connsiteX1" fmla="*/ 3855517 w 6116062"/>
              <a:gd name="connsiteY1" fmla="*/ 528609 h 1731000"/>
              <a:gd name="connsiteX2" fmla="*/ 3861576 w 6116062"/>
              <a:gd name="connsiteY2" fmla="*/ 548128 h 1731000"/>
              <a:gd name="connsiteX3" fmla="*/ 5937406 w 6116062"/>
              <a:gd name="connsiteY3" fmla="*/ 548128 h 1731000"/>
              <a:gd name="connsiteX4" fmla="*/ 5937406 w 6116062"/>
              <a:gd name="connsiteY4" fmla="*/ 442610 h 1731000"/>
              <a:gd name="connsiteX5" fmla="*/ 6116062 w 6116062"/>
              <a:gd name="connsiteY5" fmla="*/ 621266 h 1731000"/>
              <a:gd name="connsiteX6" fmla="*/ 5937406 w 6116062"/>
              <a:gd name="connsiteY6" fmla="*/ 799921 h 1731000"/>
              <a:gd name="connsiteX7" fmla="*/ 5937406 w 6116062"/>
              <a:gd name="connsiteY7" fmla="*/ 694403 h 1731000"/>
              <a:gd name="connsiteX8" fmla="*/ 3906284 w 6116062"/>
              <a:gd name="connsiteY8" fmla="*/ 694403 h 1731000"/>
              <a:gd name="connsiteX9" fmla="*/ 3923532 w 6116062"/>
              <a:gd name="connsiteY9" fmla="*/ 865500 h 1731000"/>
              <a:gd name="connsiteX10" fmla="*/ 3058031 w 6116062"/>
              <a:gd name="connsiteY10" fmla="*/ 1731000 h 1731000"/>
              <a:gd name="connsiteX11" fmla="*/ 2192530 w 6116062"/>
              <a:gd name="connsiteY11" fmla="*/ 865500 h 1731000"/>
              <a:gd name="connsiteX12" fmla="*/ 2209778 w 6116062"/>
              <a:gd name="connsiteY12" fmla="*/ 694404 h 1731000"/>
              <a:gd name="connsiteX13" fmla="*/ 178656 w 6116062"/>
              <a:gd name="connsiteY13" fmla="*/ 694404 h 1731000"/>
              <a:gd name="connsiteX14" fmla="*/ 178656 w 6116062"/>
              <a:gd name="connsiteY14" fmla="*/ 799922 h 1731000"/>
              <a:gd name="connsiteX15" fmla="*/ 0 w 6116062"/>
              <a:gd name="connsiteY15" fmla="*/ 621266 h 1731000"/>
              <a:gd name="connsiteX16" fmla="*/ 178656 w 6116062"/>
              <a:gd name="connsiteY16" fmla="*/ 442611 h 1731000"/>
              <a:gd name="connsiteX17" fmla="*/ 178656 w 6116062"/>
              <a:gd name="connsiteY17" fmla="*/ 548129 h 1731000"/>
              <a:gd name="connsiteX18" fmla="*/ 2254486 w 6116062"/>
              <a:gd name="connsiteY18" fmla="*/ 548129 h 1731000"/>
              <a:gd name="connsiteX19" fmla="*/ 2260545 w 6116062"/>
              <a:gd name="connsiteY19" fmla="*/ 528609 h 1731000"/>
              <a:gd name="connsiteX20" fmla="*/ 3058031 w 6116062"/>
              <a:gd name="connsiteY20" fmla="*/ 0 h 173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116062" h="1731000">
                <a:moveTo>
                  <a:pt x="3058031" y="0"/>
                </a:moveTo>
                <a:cubicBezTo>
                  <a:pt x="3416534" y="0"/>
                  <a:pt x="3724127" y="217968"/>
                  <a:pt x="3855517" y="528609"/>
                </a:cubicBezTo>
                <a:lnTo>
                  <a:pt x="3861576" y="548128"/>
                </a:lnTo>
                <a:lnTo>
                  <a:pt x="5937406" y="548128"/>
                </a:lnTo>
                <a:lnTo>
                  <a:pt x="5937406" y="442610"/>
                </a:lnTo>
                <a:lnTo>
                  <a:pt x="6116062" y="621266"/>
                </a:lnTo>
                <a:lnTo>
                  <a:pt x="5937406" y="799921"/>
                </a:lnTo>
                <a:lnTo>
                  <a:pt x="5937406" y="694403"/>
                </a:lnTo>
                <a:lnTo>
                  <a:pt x="3906284" y="694403"/>
                </a:lnTo>
                <a:lnTo>
                  <a:pt x="3923532" y="865500"/>
                </a:lnTo>
                <a:cubicBezTo>
                  <a:pt x="3923532" y="1343502"/>
                  <a:pt x="3536034" y="1731000"/>
                  <a:pt x="3058031" y="1731000"/>
                </a:cubicBezTo>
                <a:cubicBezTo>
                  <a:pt x="2580028" y="1731000"/>
                  <a:pt x="2192530" y="1343502"/>
                  <a:pt x="2192530" y="865500"/>
                </a:cubicBezTo>
                <a:lnTo>
                  <a:pt x="2209778" y="694404"/>
                </a:lnTo>
                <a:lnTo>
                  <a:pt x="178656" y="694404"/>
                </a:lnTo>
                <a:lnTo>
                  <a:pt x="178656" y="799922"/>
                </a:lnTo>
                <a:lnTo>
                  <a:pt x="0" y="621266"/>
                </a:lnTo>
                <a:lnTo>
                  <a:pt x="178656" y="442611"/>
                </a:lnTo>
                <a:lnTo>
                  <a:pt x="178656" y="548129"/>
                </a:lnTo>
                <a:lnTo>
                  <a:pt x="2254486" y="548129"/>
                </a:lnTo>
                <a:lnTo>
                  <a:pt x="2260545" y="528609"/>
                </a:lnTo>
                <a:cubicBezTo>
                  <a:pt x="2391936" y="217968"/>
                  <a:pt x="2699529" y="0"/>
                  <a:pt x="305803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/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D3FCEB9-EC7E-F2AB-16FB-D0EC94C53C5E}"/>
              </a:ext>
            </a:extLst>
          </p:cNvPr>
          <p:cNvSpPr txBox="1"/>
          <p:nvPr/>
        </p:nvSpPr>
        <p:spPr>
          <a:xfrm>
            <a:off x="3925520" y="116582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Пайыз</a:t>
            </a:r>
            <a:endParaRPr lang="en-GB" sz="28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BD22D-F3E0-A98F-BCCB-290FA8AE5E12}"/>
              </a:ext>
            </a:extLst>
          </p:cNvPr>
          <p:cNvSpPr txBox="1"/>
          <p:nvPr/>
        </p:nvSpPr>
        <p:spPr>
          <a:xfrm>
            <a:off x="8031525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Ондук</a:t>
            </a:r>
            <a:endParaRPr lang="en-GB" sz="28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3B1FE-2D35-BDA0-CE4D-021980DE6747}"/>
              </a:ext>
            </a:extLst>
          </p:cNvPr>
          <p:cNvSpPr txBox="1"/>
          <p:nvPr/>
        </p:nvSpPr>
        <p:spPr>
          <a:xfrm>
            <a:off x="-74982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Бөлчөк</a:t>
            </a:r>
            <a:endParaRPr lang="en-GB" sz="2800" b="1" u="sng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A5454B0-E858-C6DC-F02E-6CB85762F784}"/>
              </a:ext>
            </a:extLst>
          </p:cNvPr>
          <p:cNvSpPr/>
          <p:nvPr/>
        </p:nvSpPr>
        <p:spPr>
          <a:xfrm>
            <a:off x="2402105" y="3341971"/>
            <a:ext cx="1643442" cy="7033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Жөнөкөй-</a:t>
            </a:r>
          </a:p>
          <a:p>
            <a:pPr algn="ctr"/>
            <a:r>
              <a:rPr lang="ky-KG" sz="2200" dirty="0">
                <a:solidFill>
                  <a:prstClr val="black"/>
                </a:solidFill>
              </a:rPr>
              <a:t>лөштүр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B55B13F-6D15-AB52-996E-7D8EA6B1615B}"/>
              </a:ext>
            </a:extLst>
          </p:cNvPr>
          <p:cNvSpPr/>
          <p:nvPr/>
        </p:nvSpPr>
        <p:spPr>
          <a:xfrm>
            <a:off x="5820508" y="3200400"/>
            <a:ext cx="2303268" cy="7033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Жүздүк катары жаз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7993DE-2131-A4F8-D277-00C2235829CD}"/>
              </a:ext>
            </a:extLst>
          </p:cNvPr>
          <p:cNvSpPr/>
          <p:nvPr/>
        </p:nvSpPr>
        <p:spPr>
          <a:xfrm>
            <a:off x="3703350" y="1659067"/>
            <a:ext cx="2510437" cy="122545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400" dirty="0">
                <a:solidFill>
                  <a:prstClr val="black"/>
                </a:solidFill>
              </a:rPr>
              <a:t>% "100дүн бөлүктөрүн" билдирет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3A45BD-8C40-C3F1-CD6E-452B40888C3C}"/>
              </a:ext>
            </a:extLst>
          </p:cNvPr>
          <p:cNvSpPr/>
          <p:nvPr/>
        </p:nvSpPr>
        <p:spPr>
          <a:xfrm>
            <a:off x="2217867" y="5041650"/>
            <a:ext cx="1594000" cy="4828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Айландыр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C7D320A-164F-C6DD-20BD-30F809D16D34}"/>
              </a:ext>
            </a:extLst>
          </p:cNvPr>
          <p:cNvSpPr/>
          <p:nvPr/>
        </p:nvSpPr>
        <p:spPr>
          <a:xfrm>
            <a:off x="6159053" y="5012543"/>
            <a:ext cx="3108040" cy="93984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Бөлчөк катары жаз </a:t>
            </a:r>
            <a:endParaRPr lang="en-GB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73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34" grpId="0" animBg="1"/>
      <p:bldP spid="15" grpId="0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/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80%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B99D221D-E7A2-4DD4-8782-51A5407ADA0D}"/>
              </a:ext>
            </a:extLst>
          </p:cNvPr>
          <p:cNvSpPr/>
          <p:nvPr/>
        </p:nvSpPr>
        <p:spPr>
          <a:xfrm rot="16200000">
            <a:off x="3894699" y="2195267"/>
            <a:ext cx="2127739" cy="357311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/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/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Up 33">
            <a:extLst>
              <a:ext uri="{FF2B5EF4-FFF2-40B4-BE49-F238E27FC236}">
                <a16:creationId xmlns:a16="http://schemas.microsoft.com/office/drawing/2014/main" id="{4CEFCEA2-CA13-42F1-969F-CF0A7348D095}"/>
              </a:ext>
            </a:extLst>
          </p:cNvPr>
          <p:cNvSpPr/>
          <p:nvPr/>
        </p:nvSpPr>
        <p:spPr>
          <a:xfrm rot="16200000">
            <a:off x="6773928" y="3728481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73225E66-2F94-4108-A0EE-409941E4D2C6}"/>
              </a:ext>
            </a:extLst>
          </p:cNvPr>
          <p:cNvSpPr/>
          <p:nvPr/>
        </p:nvSpPr>
        <p:spPr>
          <a:xfrm rot="5400000">
            <a:off x="2755843" y="3728482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5462EA8-61C4-4752-B1C9-6444BD080F79}"/>
              </a:ext>
            </a:extLst>
          </p:cNvPr>
          <p:cNvSpPr/>
          <p:nvPr/>
        </p:nvSpPr>
        <p:spPr>
          <a:xfrm>
            <a:off x="1890155" y="3552092"/>
            <a:ext cx="6116062" cy="1731000"/>
          </a:xfrm>
          <a:custGeom>
            <a:avLst/>
            <a:gdLst>
              <a:gd name="connsiteX0" fmla="*/ 3058031 w 6116062"/>
              <a:gd name="connsiteY0" fmla="*/ 0 h 1731000"/>
              <a:gd name="connsiteX1" fmla="*/ 3855517 w 6116062"/>
              <a:gd name="connsiteY1" fmla="*/ 528609 h 1731000"/>
              <a:gd name="connsiteX2" fmla="*/ 3861576 w 6116062"/>
              <a:gd name="connsiteY2" fmla="*/ 548128 h 1731000"/>
              <a:gd name="connsiteX3" fmla="*/ 5937406 w 6116062"/>
              <a:gd name="connsiteY3" fmla="*/ 548128 h 1731000"/>
              <a:gd name="connsiteX4" fmla="*/ 5937406 w 6116062"/>
              <a:gd name="connsiteY4" fmla="*/ 442610 h 1731000"/>
              <a:gd name="connsiteX5" fmla="*/ 6116062 w 6116062"/>
              <a:gd name="connsiteY5" fmla="*/ 621266 h 1731000"/>
              <a:gd name="connsiteX6" fmla="*/ 5937406 w 6116062"/>
              <a:gd name="connsiteY6" fmla="*/ 799921 h 1731000"/>
              <a:gd name="connsiteX7" fmla="*/ 5937406 w 6116062"/>
              <a:gd name="connsiteY7" fmla="*/ 694403 h 1731000"/>
              <a:gd name="connsiteX8" fmla="*/ 3906284 w 6116062"/>
              <a:gd name="connsiteY8" fmla="*/ 694403 h 1731000"/>
              <a:gd name="connsiteX9" fmla="*/ 3923532 w 6116062"/>
              <a:gd name="connsiteY9" fmla="*/ 865500 h 1731000"/>
              <a:gd name="connsiteX10" fmla="*/ 3058031 w 6116062"/>
              <a:gd name="connsiteY10" fmla="*/ 1731000 h 1731000"/>
              <a:gd name="connsiteX11" fmla="*/ 2192530 w 6116062"/>
              <a:gd name="connsiteY11" fmla="*/ 865500 h 1731000"/>
              <a:gd name="connsiteX12" fmla="*/ 2209778 w 6116062"/>
              <a:gd name="connsiteY12" fmla="*/ 694404 h 1731000"/>
              <a:gd name="connsiteX13" fmla="*/ 178656 w 6116062"/>
              <a:gd name="connsiteY13" fmla="*/ 694404 h 1731000"/>
              <a:gd name="connsiteX14" fmla="*/ 178656 w 6116062"/>
              <a:gd name="connsiteY14" fmla="*/ 799922 h 1731000"/>
              <a:gd name="connsiteX15" fmla="*/ 0 w 6116062"/>
              <a:gd name="connsiteY15" fmla="*/ 621266 h 1731000"/>
              <a:gd name="connsiteX16" fmla="*/ 178656 w 6116062"/>
              <a:gd name="connsiteY16" fmla="*/ 442611 h 1731000"/>
              <a:gd name="connsiteX17" fmla="*/ 178656 w 6116062"/>
              <a:gd name="connsiteY17" fmla="*/ 548129 h 1731000"/>
              <a:gd name="connsiteX18" fmla="*/ 2254486 w 6116062"/>
              <a:gd name="connsiteY18" fmla="*/ 548129 h 1731000"/>
              <a:gd name="connsiteX19" fmla="*/ 2260545 w 6116062"/>
              <a:gd name="connsiteY19" fmla="*/ 528609 h 1731000"/>
              <a:gd name="connsiteX20" fmla="*/ 3058031 w 6116062"/>
              <a:gd name="connsiteY20" fmla="*/ 0 h 173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116062" h="1731000">
                <a:moveTo>
                  <a:pt x="3058031" y="0"/>
                </a:moveTo>
                <a:cubicBezTo>
                  <a:pt x="3416534" y="0"/>
                  <a:pt x="3724127" y="217968"/>
                  <a:pt x="3855517" y="528609"/>
                </a:cubicBezTo>
                <a:lnTo>
                  <a:pt x="3861576" y="548128"/>
                </a:lnTo>
                <a:lnTo>
                  <a:pt x="5937406" y="548128"/>
                </a:lnTo>
                <a:lnTo>
                  <a:pt x="5937406" y="442610"/>
                </a:lnTo>
                <a:lnTo>
                  <a:pt x="6116062" y="621266"/>
                </a:lnTo>
                <a:lnTo>
                  <a:pt x="5937406" y="799921"/>
                </a:lnTo>
                <a:lnTo>
                  <a:pt x="5937406" y="694403"/>
                </a:lnTo>
                <a:lnTo>
                  <a:pt x="3906284" y="694403"/>
                </a:lnTo>
                <a:lnTo>
                  <a:pt x="3923532" y="865500"/>
                </a:lnTo>
                <a:cubicBezTo>
                  <a:pt x="3923532" y="1343502"/>
                  <a:pt x="3536034" y="1731000"/>
                  <a:pt x="3058031" y="1731000"/>
                </a:cubicBezTo>
                <a:cubicBezTo>
                  <a:pt x="2580028" y="1731000"/>
                  <a:pt x="2192530" y="1343502"/>
                  <a:pt x="2192530" y="865500"/>
                </a:cubicBezTo>
                <a:lnTo>
                  <a:pt x="2209778" y="694404"/>
                </a:lnTo>
                <a:lnTo>
                  <a:pt x="178656" y="694404"/>
                </a:lnTo>
                <a:lnTo>
                  <a:pt x="178656" y="799922"/>
                </a:lnTo>
                <a:lnTo>
                  <a:pt x="0" y="621266"/>
                </a:lnTo>
                <a:lnTo>
                  <a:pt x="178656" y="442611"/>
                </a:lnTo>
                <a:lnTo>
                  <a:pt x="178656" y="548129"/>
                </a:lnTo>
                <a:lnTo>
                  <a:pt x="2254486" y="548129"/>
                </a:lnTo>
                <a:lnTo>
                  <a:pt x="2260545" y="528609"/>
                </a:lnTo>
                <a:cubicBezTo>
                  <a:pt x="2391936" y="217968"/>
                  <a:pt x="2699529" y="0"/>
                  <a:pt x="305803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/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C01B6CB-E062-E5C4-DA5C-BB774B4920E5}"/>
              </a:ext>
            </a:extLst>
          </p:cNvPr>
          <p:cNvSpPr txBox="1"/>
          <p:nvPr/>
        </p:nvSpPr>
        <p:spPr>
          <a:xfrm>
            <a:off x="3925520" y="116582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Пайыз</a:t>
            </a:r>
            <a:endParaRPr lang="en-GB" sz="28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F0FDF-92EC-5C24-D205-AA3FA9E3C40A}"/>
              </a:ext>
            </a:extLst>
          </p:cNvPr>
          <p:cNvSpPr txBox="1"/>
          <p:nvPr/>
        </p:nvSpPr>
        <p:spPr>
          <a:xfrm>
            <a:off x="8031525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Ондук</a:t>
            </a:r>
            <a:endParaRPr lang="en-GB" sz="28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BB6BB-062B-0923-BFBA-6900FCE980EE}"/>
              </a:ext>
            </a:extLst>
          </p:cNvPr>
          <p:cNvSpPr txBox="1"/>
          <p:nvPr/>
        </p:nvSpPr>
        <p:spPr>
          <a:xfrm>
            <a:off x="-74982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Бөлчөк</a:t>
            </a:r>
            <a:endParaRPr lang="en-GB" sz="2800" b="1" u="sng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181844-6F83-7A9B-AAAE-9B536ECDADD8}"/>
              </a:ext>
            </a:extLst>
          </p:cNvPr>
          <p:cNvSpPr/>
          <p:nvPr/>
        </p:nvSpPr>
        <p:spPr>
          <a:xfrm>
            <a:off x="2217867" y="5041650"/>
            <a:ext cx="1594000" cy="4828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Айландыр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10BC7B-B8FB-29D4-F52E-FAC471E38C4D}"/>
              </a:ext>
            </a:extLst>
          </p:cNvPr>
          <p:cNvSpPr/>
          <p:nvPr/>
        </p:nvSpPr>
        <p:spPr>
          <a:xfrm>
            <a:off x="2402105" y="3341971"/>
            <a:ext cx="1643442" cy="7033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Жөнөкөй-</a:t>
            </a:r>
          </a:p>
          <a:p>
            <a:pPr algn="ctr"/>
            <a:r>
              <a:rPr lang="ky-KG" sz="2200" dirty="0">
                <a:solidFill>
                  <a:prstClr val="black"/>
                </a:solidFill>
              </a:rPr>
              <a:t>лөштүр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822038-4A76-EB46-56DC-93E55635058A}"/>
              </a:ext>
            </a:extLst>
          </p:cNvPr>
          <p:cNvSpPr/>
          <p:nvPr/>
        </p:nvSpPr>
        <p:spPr>
          <a:xfrm>
            <a:off x="5820508" y="3200400"/>
            <a:ext cx="2303268" cy="7033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Жүздүк катары жаз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2AC4A3-D9E5-96C9-F29D-1D3FEEADB6F0}"/>
              </a:ext>
            </a:extLst>
          </p:cNvPr>
          <p:cNvSpPr/>
          <p:nvPr/>
        </p:nvSpPr>
        <p:spPr>
          <a:xfrm>
            <a:off x="3703350" y="1659067"/>
            <a:ext cx="2510437" cy="122545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400" dirty="0">
                <a:solidFill>
                  <a:prstClr val="black"/>
                </a:solidFill>
              </a:rPr>
              <a:t>% "100дүн бөлүктөрүн" билдирет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6B7F01-9CA5-47E4-8C70-B0B1CCEECF53}"/>
              </a:ext>
            </a:extLst>
          </p:cNvPr>
          <p:cNvSpPr/>
          <p:nvPr/>
        </p:nvSpPr>
        <p:spPr>
          <a:xfrm>
            <a:off x="6159053" y="5012543"/>
            <a:ext cx="3108040" cy="93984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Бөлчөк катары жаз </a:t>
            </a:r>
            <a:endParaRPr lang="en-GB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76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34" grpId="0" animBg="1"/>
      <p:bldP spid="15" grpId="0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/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B99D221D-E7A2-4DD4-8782-51A5407ADA0D}"/>
              </a:ext>
            </a:extLst>
          </p:cNvPr>
          <p:cNvSpPr/>
          <p:nvPr/>
        </p:nvSpPr>
        <p:spPr>
          <a:xfrm rot="16200000">
            <a:off x="3894699" y="2195267"/>
            <a:ext cx="2127739" cy="357311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/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/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Up 33">
            <a:extLst>
              <a:ext uri="{FF2B5EF4-FFF2-40B4-BE49-F238E27FC236}">
                <a16:creationId xmlns:a16="http://schemas.microsoft.com/office/drawing/2014/main" id="{4CEFCEA2-CA13-42F1-969F-CF0A7348D095}"/>
              </a:ext>
            </a:extLst>
          </p:cNvPr>
          <p:cNvSpPr/>
          <p:nvPr/>
        </p:nvSpPr>
        <p:spPr>
          <a:xfrm rot="16200000">
            <a:off x="6773928" y="3728481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73225E66-2F94-4108-A0EE-409941E4D2C6}"/>
              </a:ext>
            </a:extLst>
          </p:cNvPr>
          <p:cNvSpPr/>
          <p:nvPr/>
        </p:nvSpPr>
        <p:spPr>
          <a:xfrm rot="5400000">
            <a:off x="2755843" y="3728482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5462EA8-61C4-4752-B1C9-6444BD080F79}"/>
              </a:ext>
            </a:extLst>
          </p:cNvPr>
          <p:cNvSpPr/>
          <p:nvPr/>
        </p:nvSpPr>
        <p:spPr>
          <a:xfrm>
            <a:off x="1890155" y="3552092"/>
            <a:ext cx="6116062" cy="1731000"/>
          </a:xfrm>
          <a:custGeom>
            <a:avLst/>
            <a:gdLst>
              <a:gd name="connsiteX0" fmla="*/ 3058031 w 6116062"/>
              <a:gd name="connsiteY0" fmla="*/ 0 h 1731000"/>
              <a:gd name="connsiteX1" fmla="*/ 3855517 w 6116062"/>
              <a:gd name="connsiteY1" fmla="*/ 528609 h 1731000"/>
              <a:gd name="connsiteX2" fmla="*/ 3861576 w 6116062"/>
              <a:gd name="connsiteY2" fmla="*/ 548128 h 1731000"/>
              <a:gd name="connsiteX3" fmla="*/ 5937406 w 6116062"/>
              <a:gd name="connsiteY3" fmla="*/ 548128 h 1731000"/>
              <a:gd name="connsiteX4" fmla="*/ 5937406 w 6116062"/>
              <a:gd name="connsiteY4" fmla="*/ 442610 h 1731000"/>
              <a:gd name="connsiteX5" fmla="*/ 6116062 w 6116062"/>
              <a:gd name="connsiteY5" fmla="*/ 621266 h 1731000"/>
              <a:gd name="connsiteX6" fmla="*/ 5937406 w 6116062"/>
              <a:gd name="connsiteY6" fmla="*/ 799921 h 1731000"/>
              <a:gd name="connsiteX7" fmla="*/ 5937406 w 6116062"/>
              <a:gd name="connsiteY7" fmla="*/ 694403 h 1731000"/>
              <a:gd name="connsiteX8" fmla="*/ 3906284 w 6116062"/>
              <a:gd name="connsiteY8" fmla="*/ 694403 h 1731000"/>
              <a:gd name="connsiteX9" fmla="*/ 3923532 w 6116062"/>
              <a:gd name="connsiteY9" fmla="*/ 865500 h 1731000"/>
              <a:gd name="connsiteX10" fmla="*/ 3058031 w 6116062"/>
              <a:gd name="connsiteY10" fmla="*/ 1731000 h 1731000"/>
              <a:gd name="connsiteX11" fmla="*/ 2192530 w 6116062"/>
              <a:gd name="connsiteY11" fmla="*/ 865500 h 1731000"/>
              <a:gd name="connsiteX12" fmla="*/ 2209778 w 6116062"/>
              <a:gd name="connsiteY12" fmla="*/ 694404 h 1731000"/>
              <a:gd name="connsiteX13" fmla="*/ 178656 w 6116062"/>
              <a:gd name="connsiteY13" fmla="*/ 694404 h 1731000"/>
              <a:gd name="connsiteX14" fmla="*/ 178656 w 6116062"/>
              <a:gd name="connsiteY14" fmla="*/ 799922 h 1731000"/>
              <a:gd name="connsiteX15" fmla="*/ 0 w 6116062"/>
              <a:gd name="connsiteY15" fmla="*/ 621266 h 1731000"/>
              <a:gd name="connsiteX16" fmla="*/ 178656 w 6116062"/>
              <a:gd name="connsiteY16" fmla="*/ 442611 h 1731000"/>
              <a:gd name="connsiteX17" fmla="*/ 178656 w 6116062"/>
              <a:gd name="connsiteY17" fmla="*/ 548129 h 1731000"/>
              <a:gd name="connsiteX18" fmla="*/ 2254486 w 6116062"/>
              <a:gd name="connsiteY18" fmla="*/ 548129 h 1731000"/>
              <a:gd name="connsiteX19" fmla="*/ 2260545 w 6116062"/>
              <a:gd name="connsiteY19" fmla="*/ 528609 h 1731000"/>
              <a:gd name="connsiteX20" fmla="*/ 3058031 w 6116062"/>
              <a:gd name="connsiteY20" fmla="*/ 0 h 173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116062" h="1731000">
                <a:moveTo>
                  <a:pt x="3058031" y="0"/>
                </a:moveTo>
                <a:cubicBezTo>
                  <a:pt x="3416534" y="0"/>
                  <a:pt x="3724127" y="217968"/>
                  <a:pt x="3855517" y="528609"/>
                </a:cubicBezTo>
                <a:lnTo>
                  <a:pt x="3861576" y="548128"/>
                </a:lnTo>
                <a:lnTo>
                  <a:pt x="5937406" y="548128"/>
                </a:lnTo>
                <a:lnTo>
                  <a:pt x="5937406" y="442610"/>
                </a:lnTo>
                <a:lnTo>
                  <a:pt x="6116062" y="621266"/>
                </a:lnTo>
                <a:lnTo>
                  <a:pt x="5937406" y="799921"/>
                </a:lnTo>
                <a:lnTo>
                  <a:pt x="5937406" y="694403"/>
                </a:lnTo>
                <a:lnTo>
                  <a:pt x="3906284" y="694403"/>
                </a:lnTo>
                <a:lnTo>
                  <a:pt x="3923532" y="865500"/>
                </a:lnTo>
                <a:cubicBezTo>
                  <a:pt x="3923532" y="1343502"/>
                  <a:pt x="3536034" y="1731000"/>
                  <a:pt x="3058031" y="1731000"/>
                </a:cubicBezTo>
                <a:cubicBezTo>
                  <a:pt x="2580028" y="1731000"/>
                  <a:pt x="2192530" y="1343502"/>
                  <a:pt x="2192530" y="865500"/>
                </a:cubicBezTo>
                <a:lnTo>
                  <a:pt x="2209778" y="694404"/>
                </a:lnTo>
                <a:lnTo>
                  <a:pt x="178656" y="694404"/>
                </a:lnTo>
                <a:lnTo>
                  <a:pt x="178656" y="799922"/>
                </a:lnTo>
                <a:lnTo>
                  <a:pt x="0" y="621266"/>
                </a:lnTo>
                <a:lnTo>
                  <a:pt x="178656" y="442611"/>
                </a:lnTo>
                <a:lnTo>
                  <a:pt x="178656" y="548129"/>
                </a:lnTo>
                <a:lnTo>
                  <a:pt x="2254486" y="548129"/>
                </a:lnTo>
                <a:lnTo>
                  <a:pt x="2260545" y="528609"/>
                </a:lnTo>
                <a:cubicBezTo>
                  <a:pt x="2391936" y="217968"/>
                  <a:pt x="2699529" y="0"/>
                  <a:pt x="305803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/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B27F9F2-D35C-06F3-1B3A-48A730479468}"/>
              </a:ext>
            </a:extLst>
          </p:cNvPr>
          <p:cNvSpPr txBox="1"/>
          <p:nvPr/>
        </p:nvSpPr>
        <p:spPr>
          <a:xfrm>
            <a:off x="3925520" y="116582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Пайыз</a:t>
            </a:r>
            <a:endParaRPr lang="en-GB" sz="28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0EF18-491F-864C-4085-0522F33A3AF2}"/>
              </a:ext>
            </a:extLst>
          </p:cNvPr>
          <p:cNvSpPr txBox="1"/>
          <p:nvPr/>
        </p:nvSpPr>
        <p:spPr>
          <a:xfrm>
            <a:off x="8031525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Ондук</a:t>
            </a:r>
            <a:endParaRPr lang="en-GB" sz="28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B639B-30C0-AA83-6351-37F1BF264D51}"/>
              </a:ext>
            </a:extLst>
          </p:cNvPr>
          <p:cNvSpPr txBox="1"/>
          <p:nvPr/>
        </p:nvSpPr>
        <p:spPr>
          <a:xfrm>
            <a:off x="-74982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Бөлчөк</a:t>
            </a:r>
            <a:endParaRPr lang="en-GB" sz="2800" b="1" u="sng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B89C15C-E907-973D-8213-769644B50300}"/>
              </a:ext>
            </a:extLst>
          </p:cNvPr>
          <p:cNvSpPr/>
          <p:nvPr/>
        </p:nvSpPr>
        <p:spPr>
          <a:xfrm>
            <a:off x="2217867" y="5041650"/>
            <a:ext cx="1594000" cy="4828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Айландыр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588674-BA2E-0009-FA44-5D8C409C1FF1}"/>
              </a:ext>
            </a:extLst>
          </p:cNvPr>
          <p:cNvSpPr/>
          <p:nvPr/>
        </p:nvSpPr>
        <p:spPr>
          <a:xfrm>
            <a:off x="2402105" y="3341971"/>
            <a:ext cx="1643442" cy="7033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Жөнөкөй-</a:t>
            </a:r>
          </a:p>
          <a:p>
            <a:pPr algn="ctr"/>
            <a:r>
              <a:rPr lang="ky-KG" sz="2200" dirty="0">
                <a:solidFill>
                  <a:prstClr val="black"/>
                </a:solidFill>
              </a:rPr>
              <a:t>лөштүр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596CFD-5EAF-0D4C-0A60-229C5E8B0119}"/>
              </a:ext>
            </a:extLst>
          </p:cNvPr>
          <p:cNvSpPr/>
          <p:nvPr/>
        </p:nvSpPr>
        <p:spPr>
          <a:xfrm>
            <a:off x="5820508" y="3200400"/>
            <a:ext cx="2303268" cy="7033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Жүздүк катары жаз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7897FE3-CB8E-F75B-6FCE-D0868EDF4BD9}"/>
              </a:ext>
            </a:extLst>
          </p:cNvPr>
          <p:cNvSpPr/>
          <p:nvPr/>
        </p:nvSpPr>
        <p:spPr>
          <a:xfrm>
            <a:off x="3703350" y="1659067"/>
            <a:ext cx="2510437" cy="122545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400" dirty="0">
                <a:solidFill>
                  <a:prstClr val="black"/>
                </a:solidFill>
              </a:rPr>
              <a:t>% "100дүн бөлүктөрүн" билдирет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1835CBB-FF5C-48ED-CB46-9950C10DB81A}"/>
              </a:ext>
            </a:extLst>
          </p:cNvPr>
          <p:cNvSpPr/>
          <p:nvPr/>
        </p:nvSpPr>
        <p:spPr>
          <a:xfrm>
            <a:off x="6159053" y="5012543"/>
            <a:ext cx="3108040" cy="93984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Бөлчөк катары жаз </a:t>
            </a:r>
            <a:endParaRPr lang="en-GB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32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34" grpId="0" animBg="1"/>
      <p:bldP spid="15" grpId="0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/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22%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B99D221D-E7A2-4DD4-8782-51A5407ADA0D}"/>
              </a:ext>
            </a:extLst>
          </p:cNvPr>
          <p:cNvSpPr/>
          <p:nvPr/>
        </p:nvSpPr>
        <p:spPr>
          <a:xfrm rot="16200000">
            <a:off x="3894699" y="2195267"/>
            <a:ext cx="2127739" cy="357311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/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0.22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/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Up 33">
            <a:extLst>
              <a:ext uri="{FF2B5EF4-FFF2-40B4-BE49-F238E27FC236}">
                <a16:creationId xmlns:a16="http://schemas.microsoft.com/office/drawing/2014/main" id="{4CEFCEA2-CA13-42F1-969F-CF0A7348D095}"/>
              </a:ext>
            </a:extLst>
          </p:cNvPr>
          <p:cNvSpPr/>
          <p:nvPr/>
        </p:nvSpPr>
        <p:spPr>
          <a:xfrm rot="16200000">
            <a:off x="6773928" y="3728481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73225E66-2F94-4108-A0EE-409941E4D2C6}"/>
              </a:ext>
            </a:extLst>
          </p:cNvPr>
          <p:cNvSpPr/>
          <p:nvPr/>
        </p:nvSpPr>
        <p:spPr>
          <a:xfrm rot="5400000">
            <a:off x="2755843" y="3728482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5462EA8-61C4-4752-B1C9-6444BD080F79}"/>
              </a:ext>
            </a:extLst>
          </p:cNvPr>
          <p:cNvSpPr/>
          <p:nvPr/>
        </p:nvSpPr>
        <p:spPr>
          <a:xfrm>
            <a:off x="1890155" y="3552092"/>
            <a:ext cx="6116062" cy="1731000"/>
          </a:xfrm>
          <a:custGeom>
            <a:avLst/>
            <a:gdLst>
              <a:gd name="connsiteX0" fmla="*/ 3058031 w 6116062"/>
              <a:gd name="connsiteY0" fmla="*/ 0 h 1731000"/>
              <a:gd name="connsiteX1" fmla="*/ 3855517 w 6116062"/>
              <a:gd name="connsiteY1" fmla="*/ 528609 h 1731000"/>
              <a:gd name="connsiteX2" fmla="*/ 3861576 w 6116062"/>
              <a:gd name="connsiteY2" fmla="*/ 548128 h 1731000"/>
              <a:gd name="connsiteX3" fmla="*/ 5937406 w 6116062"/>
              <a:gd name="connsiteY3" fmla="*/ 548128 h 1731000"/>
              <a:gd name="connsiteX4" fmla="*/ 5937406 w 6116062"/>
              <a:gd name="connsiteY4" fmla="*/ 442610 h 1731000"/>
              <a:gd name="connsiteX5" fmla="*/ 6116062 w 6116062"/>
              <a:gd name="connsiteY5" fmla="*/ 621266 h 1731000"/>
              <a:gd name="connsiteX6" fmla="*/ 5937406 w 6116062"/>
              <a:gd name="connsiteY6" fmla="*/ 799921 h 1731000"/>
              <a:gd name="connsiteX7" fmla="*/ 5937406 w 6116062"/>
              <a:gd name="connsiteY7" fmla="*/ 694403 h 1731000"/>
              <a:gd name="connsiteX8" fmla="*/ 3906284 w 6116062"/>
              <a:gd name="connsiteY8" fmla="*/ 694403 h 1731000"/>
              <a:gd name="connsiteX9" fmla="*/ 3923532 w 6116062"/>
              <a:gd name="connsiteY9" fmla="*/ 865500 h 1731000"/>
              <a:gd name="connsiteX10" fmla="*/ 3058031 w 6116062"/>
              <a:gd name="connsiteY10" fmla="*/ 1731000 h 1731000"/>
              <a:gd name="connsiteX11" fmla="*/ 2192530 w 6116062"/>
              <a:gd name="connsiteY11" fmla="*/ 865500 h 1731000"/>
              <a:gd name="connsiteX12" fmla="*/ 2209778 w 6116062"/>
              <a:gd name="connsiteY12" fmla="*/ 694404 h 1731000"/>
              <a:gd name="connsiteX13" fmla="*/ 178656 w 6116062"/>
              <a:gd name="connsiteY13" fmla="*/ 694404 h 1731000"/>
              <a:gd name="connsiteX14" fmla="*/ 178656 w 6116062"/>
              <a:gd name="connsiteY14" fmla="*/ 799922 h 1731000"/>
              <a:gd name="connsiteX15" fmla="*/ 0 w 6116062"/>
              <a:gd name="connsiteY15" fmla="*/ 621266 h 1731000"/>
              <a:gd name="connsiteX16" fmla="*/ 178656 w 6116062"/>
              <a:gd name="connsiteY16" fmla="*/ 442611 h 1731000"/>
              <a:gd name="connsiteX17" fmla="*/ 178656 w 6116062"/>
              <a:gd name="connsiteY17" fmla="*/ 548129 h 1731000"/>
              <a:gd name="connsiteX18" fmla="*/ 2254486 w 6116062"/>
              <a:gd name="connsiteY18" fmla="*/ 548129 h 1731000"/>
              <a:gd name="connsiteX19" fmla="*/ 2260545 w 6116062"/>
              <a:gd name="connsiteY19" fmla="*/ 528609 h 1731000"/>
              <a:gd name="connsiteX20" fmla="*/ 3058031 w 6116062"/>
              <a:gd name="connsiteY20" fmla="*/ 0 h 173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116062" h="1731000">
                <a:moveTo>
                  <a:pt x="3058031" y="0"/>
                </a:moveTo>
                <a:cubicBezTo>
                  <a:pt x="3416534" y="0"/>
                  <a:pt x="3724127" y="217968"/>
                  <a:pt x="3855517" y="528609"/>
                </a:cubicBezTo>
                <a:lnTo>
                  <a:pt x="3861576" y="548128"/>
                </a:lnTo>
                <a:lnTo>
                  <a:pt x="5937406" y="548128"/>
                </a:lnTo>
                <a:lnTo>
                  <a:pt x="5937406" y="442610"/>
                </a:lnTo>
                <a:lnTo>
                  <a:pt x="6116062" y="621266"/>
                </a:lnTo>
                <a:lnTo>
                  <a:pt x="5937406" y="799921"/>
                </a:lnTo>
                <a:lnTo>
                  <a:pt x="5937406" y="694403"/>
                </a:lnTo>
                <a:lnTo>
                  <a:pt x="3906284" y="694403"/>
                </a:lnTo>
                <a:lnTo>
                  <a:pt x="3923532" y="865500"/>
                </a:lnTo>
                <a:cubicBezTo>
                  <a:pt x="3923532" y="1343502"/>
                  <a:pt x="3536034" y="1731000"/>
                  <a:pt x="3058031" y="1731000"/>
                </a:cubicBezTo>
                <a:cubicBezTo>
                  <a:pt x="2580028" y="1731000"/>
                  <a:pt x="2192530" y="1343502"/>
                  <a:pt x="2192530" y="865500"/>
                </a:cubicBezTo>
                <a:lnTo>
                  <a:pt x="2209778" y="694404"/>
                </a:lnTo>
                <a:lnTo>
                  <a:pt x="178656" y="694404"/>
                </a:lnTo>
                <a:lnTo>
                  <a:pt x="178656" y="799922"/>
                </a:lnTo>
                <a:lnTo>
                  <a:pt x="0" y="621266"/>
                </a:lnTo>
                <a:lnTo>
                  <a:pt x="178656" y="442611"/>
                </a:lnTo>
                <a:lnTo>
                  <a:pt x="178656" y="548129"/>
                </a:lnTo>
                <a:lnTo>
                  <a:pt x="2254486" y="548129"/>
                </a:lnTo>
                <a:lnTo>
                  <a:pt x="2260545" y="528609"/>
                </a:lnTo>
                <a:cubicBezTo>
                  <a:pt x="2391936" y="217968"/>
                  <a:pt x="2699529" y="0"/>
                  <a:pt x="305803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/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8306DFC-A22E-8FA3-CA27-B93349BEA5DD}"/>
              </a:ext>
            </a:extLst>
          </p:cNvPr>
          <p:cNvSpPr txBox="1"/>
          <p:nvPr/>
        </p:nvSpPr>
        <p:spPr>
          <a:xfrm>
            <a:off x="3925520" y="116582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Пайыз</a:t>
            </a:r>
            <a:endParaRPr lang="en-GB" sz="28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BCBC7-3695-E066-2877-F946BCFFF318}"/>
              </a:ext>
            </a:extLst>
          </p:cNvPr>
          <p:cNvSpPr txBox="1"/>
          <p:nvPr/>
        </p:nvSpPr>
        <p:spPr>
          <a:xfrm>
            <a:off x="8031525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Ондук</a:t>
            </a:r>
            <a:endParaRPr lang="en-GB" sz="28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98692-4BA4-5821-6106-00CFFA18FEDF}"/>
              </a:ext>
            </a:extLst>
          </p:cNvPr>
          <p:cNvSpPr txBox="1"/>
          <p:nvPr/>
        </p:nvSpPr>
        <p:spPr>
          <a:xfrm>
            <a:off x="-74982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Бөлчөк</a:t>
            </a:r>
            <a:endParaRPr lang="en-GB" sz="2800" b="1" u="sng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54413A0-F423-EE6A-933E-73F37B0301CC}"/>
              </a:ext>
            </a:extLst>
          </p:cNvPr>
          <p:cNvSpPr/>
          <p:nvPr/>
        </p:nvSpPr>
        <p:spPr>
          <a:xfrm>
            <a:off x="2217867" y="5041650"/>
            <a:ext cx="1594000" cy="4828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Айландыр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9D8A16-1B03-8D79-3D35-E194A9257245}"/>
              </a:ext>
            </a:extLst>
          </p:cNvPr>
          <p:cNvSpPr/>
          <p:nvPr/>
        </p:nvSpPr>
        <p:spPr>
          <a:xfrm>
            <a:off x="2402105" y="3341971"/>
            <a:ext cx="1643442" cy="7033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Жөнөкөй-</a:t>
            </a:r>
          </a:p>
          <a:p>
            <a:pPr algn="ctr"/>
            <a:r>
              <a:rPr lang="ky-KG" sz="2200" dirty="0">
                <a:solidFill>
                  <a:prstClr val="black"/>
                </a:solidFill>
              </a:rPr>
              <a:t>лөштүр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9CAA24-85A6-88F5-3DF5-1EADCF39A034}"/>
              </a:ext>
            </a:extLst>
          </p:cNvPr>
          <p:cNvSpPr/>
          <p:nvPr/>
        </p:nvSpPr>
        <p:spPr>
          <a:xfrm>
            <a:off x="5820508" y="3200400"/>
            <a:ext cx="2303268" cy="7033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Жүздүк катары жаз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8ED4BD2-6218-D6B8-7586-C9BE5E82ADC1}"/>
              </a:ext>
            </a:extLst>
          </p:cNvPr>
          <p:cNvSpPr/>
          <p:nvPr/>
        </p:nvSpPr>
        <p:spPr>
          <a:xfrm>
            <a:off x="3703350" y="1659067"/>
            <a:ext cx="2510437" cy="122545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400" dirty="0">
                <a:solidFill>
                  <a:prstClr val="black"/>
                </a:solidFill>
              </a:rPr>
              <a:t>% "100дүн бөлүктөрүн" билдирет</a:t>
            </a:r>
            <a:endParaRPr lang="en-GB" sz="2400" dirty="0">
              <a:solidFill>
                <a:prstClr val="black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FB6F425-4BE6-ABCF-5654-3371AA08AB3C}"/>
              </a:ext>
            </a:extLst>
          </p:cNvPr>
          <p:cNvSpPr/>
          <p:nvPr/>
        </p:nvSpPr>
        <p:spPr>
          <a:xfrm>
            <a:off x="6159053" y="5012543"/>
            <a:ext cx="3108040" cy="93984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Бөлчөк катары жаз </a:t>
            </a:r>
            <a:endParaRPr lang="en-GB" sz="2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68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5" grpId="0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/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2%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69E37D-1395-47F0-8C70-D1504803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912" y="722600"/>
                <a:ext cx="11525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B99D221D-E7A2-4DD4-8782-51A5407ADA0D}"/>
              </a:ext>
            </a:extLst>
          </p:cNvPr>
          <p:cNvSpPr/>
          <p:nvPr/>
        </p:nvSpPr>
        <p:spPr>
          <a:xfrm rot="16200000">
            <a:off x="3894699" y="2195267"/>
            <a:ext cx="2127739" cy="357311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/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dirty="0" smtClean="0">
                          <a:latin typeface="Cambria Math" panose="02040503050406030204" pitchFamily="18" charset="0"/>
                        </a:rPr>
                        <m:t>0.52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C16EC7-3648-49B8-92CF-437AAB7A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17" y="4342924"/>
                <a:ext cx="1152548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/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F33E73-C81F-4EAE-9BEC-330F8651E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0" y="4128153"/>
                <a:ext cx="1152548" cy="1014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9BFA98F-8CA7-4E8F-A3A3-F3CBE755A792}"/>
              </a:ext>
            </a:extLst>
          </p:cNvPr>
          <p:cNvSpPr/>
          <p:nvPr/>
        </p:nvSpPr>
        <p:spPr>
          <a:xfrm>
            <a:off x="6159053" y="5012543"/>
            <a:ext cx="3108040" cy="93984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Бөлчөк катары жаз 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34" name="Arrow: Up 33">
            <a:extLst>
              <a:ext uri="{FF2B5EF4-FFF2-40B4-BE49-F238E27FC236}">
                <a16:creationId xmlns:a16="http://schemas.microsoft.com/office/drawing/2014/main" id="{4CEFCEA2-CA13-42F1-969F-CF0A7348D095}"/>
              </a:ext>
            </a:extLst>
          </p:cNvPr>
          <p:cNvSpPr/>
          <p:nvPr/>
        </p:nvSpPr>
        <p:spPr>
          <a:xfrm rot="16200000">
            <a:off x="6773928" y="3728481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" name="Arrow: Up 38">
            <a:extLst>
              <a:ext uri="{FF2B5EF4-FFF2-40B4-BE49-F238E27FC236}">
                <a16:creationId xmlns:a16="http://schemas.microsoft.com/office/drawing/2014/main" id="{73225E66-2F94-4108-A0EE-409941E4D2C6}"/>
              </a:ext>
            </a:extLst>
          </p:cNvPr>
          <p:cNvSpPr/>
          <p:nvPr/>
        </p:nvSpPr>
        <p:spPr>
          <a:xfrm rot="5400000">
            <a:off x="2755843" y="3728482"/>
            <a:ext cx="357311" cy="2124850"/>
          </a:xfrm>
          <a:prstGeom prst="upArrow">
            <a:avLst>
              <a:gd name="adj1" fmla="val 40938"/>
              <a:gd name="adj2" fmla="val 5000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5462EA8-61C4-4752-B1C9-6444BD080F79}"/>
              </a:ext>
            </a:extLst>
          </p:cNvPr>
          <p:cNvSpPr/>
          <p:nvPr/>
        </p:nvSpPr>
        <p:spPr>
          <a:xfrm>
            <a:off x="1890155" y="3552092"/>
            <a:ext cx="6116062" cy="1731000"/>
          </a:xfrm>
          <a:custGeom>
            <a:avLst/>
            <a:gdLst>
              <a:gd name="connsiteX0" fmla="*/ 3058031 w 6116062"/>
              <a:gd name="connsiteY0" fmla="*/ 0 h 1731000"/>
              <a:gd name="connsiteX1" fmla="*/ 3855517 w 6116062"/>
              <a:gd name="connsiteY1" fmla="*/ 528609 h 1731000"/>
              <a:gd name="connsiteX2" fmla="*/ 3861576 w 6116062"/>
              <a:gd name="connsiteY2" fmla="*/ 548128 h 1731000"/>
              <a:gd name="connsiteX3" fmla="*/ 5937406 w 6116062"/>
              <a:gd name="connsiteY3" fmla="*/ 548128 h 1731000"/>
              <a:gd name="connsiteX4" fmla="*/ 5937406 w 6116062"/>
              <a:gd name="connsiteY4" fmla="*/ 442610 h 1731000"/>
              <a:gd name="connsiteX5" fmla="*/ 6116062 w 6116062"/>
              <a:gd name="connsiteY5" fmla="*/ 621266 h 1731000"/>
              <a:gd name="connsiteX6" fmla="*/ 5937406 w 6116062"/>
              <a:gd name="connsiteY6" fmla="*/ 799921 h 1731000"/>
              <a:gd name="connsiteX7" fmla="*/ 5937406 w 6116062"/>
              <a:gd name="connsiteY7" fmla="*/ 694403 h 1731000"/>
              <a:gd name="connsiteX8" fmla="*/ 3906284 w 6116062"/>
              <a:gd name="connsiteY8" fmla="*/ 694403 h 1731000"/>
              <a:gd name="connsiteX9" fmla="*/ 3923532 w 6116062"/>
              <a:gd name="connsiteY9" fmla="*/ 865500 h 1731000"/>
              <a:gd name="connsiteX10" fmla="*/ 3058031 w 6116062"/>
              <a:gd name="connsiteY10" fmla="*/ 1731000 h 1731000"/>
              <a:gd name="connsiteX11" fmla="*/ 2192530 w 6116062"/>
              <a:gd name="connsiteY11" fmla="*/ 865500 h 1731000"/>
              <a:gd name="connsiteX12" fmla="*/ 2209778 w 6116062"/>
              <a:gd name="connsiteY12" fmla="*/ 694404 h 1731000"/>
              <a:gd name="connsiteX13" fmla="*/ 178656 w 6116062"/>
              <a:gd name="connsiteY13" fmla="*/ 694404 h 1731000"/>
              <a:gd name="connsiteX14" fmla="*/ 178656 w 6116062"/>
              <a:gd name="connsiteY14" fmla="*/ 799922 h 1731000"/>
              <a:gd name="connsiteX15" fmla="*/ 0 w 6116062"/>
              <a:gd name="connsiteY15" fmla="*/ 621266 h 1731000"/>
              <a:gd name="connsiteX16" fmla="*/ 178656 w 6116062"/>
              <a:gd name="connsiteY16" fmla="*/ 442611 h 1731000"/>
              <a:gd name="connsiteX17" fmla="*/ 178656 w 6116062"/>
              <a:gd name="connsiteY17" fmla="*/ 548129 h 1731000"/>
              <a:gd name="connsiteX18" fmla="*/ 2254486 w 6116062"/>
              <a:gd name="connsiteY18" fmla="*/ 548129 h 1731000"/>
              <a:gd name="connsiteX19" fmla="*/ 2260545 w 6116062"/>
              <a:gd name="connsiteY19" fmla="*/ 528609 h 1731000"/>
              <a:gd name="connsiteX20" fmla="*/ 3058031 w 6116062"/>
              <a:gd name="connsiteY20" fmla="*/ 0 h 173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116062" h="1731000">
                <a:moveTo>
                  <a:pt x="3058031" y="0"/>
                </a:moveTo>
                <a:cubicBezTo>
                  <a:pt x="3416534" y="0"/>
                  <a:pt x="3724127" y="217968"/>
                  <a:pt x="3855517" y="528609"/>
                </a:cubicBezTo>
                <a:lnTo>
                  <a:pt x="3861576" y="548128"/>
                </a:lnTo>
                <a:lnTo>
                  <a:pt x="5937406" y="548128"/>
                </a:lnTo>
                <a:lnTo>
                  <a:pt x="5937406" y="442610"/>
                </a:lnTo>
                <a:lnTo>
                  <a:pt x="6116062" y="621266"/>
                </a:lnTo>
                <a:lnTo>
                  <a:pt x="5937406" y="799921"/>
                </a:lnTo>
                <a:lnTo>
                  <a:pt x="5937406" y="694403"/>
                </a:lnTo>
                <a:lnTo>
                  <a:pt x="3906284" y="694403"/>
                </a:lnTo>
                <a:lnTo>
                  <a:pt x="3923532" y="865500"/>
                </a:lnTo>
                <a:cubicBezTo>
                  <a:pt x="3923532" y="1343502"/>
                  <a:pt x="3536034" y="1731000"/>
                  <a:pt x="3058031" y="1731000"/>
                </a:cubicBezTo>
                <a:cubicBezTo>
                  <a:pt x="2580028" y="1731000"/>
                  <a:pt x="2192530" y="1343502"/>
                  <a:pt x="2192530" y="865500"/>
                </a:cubicBezTo>
                <a:lnTo>
                  <a:pt x="2209778" y="694404"/>
                </a:lnTo>
                <a:lnTo>
                  <a:pt x="178656" y="694404"/>
                </a:lnTo>
                <a:lnTo>
                  <a:pt x="178656" y="799922"/>
                </a:lnTo>
                <a:lnTo>
                  <a:pt x="0" y="621266"/>
                </a:lnTo>
                <a:lnTo>
                  <a:pt x="178656" y="442611"/>
                </a:lnTo>
                <a:lnTo>
                  <a:pt x="178656" y="548129"/>
                </a:lnTo>
                <a:lnTo>
                  <a:pt x="2254486" y="548129"/>
                </a:lnTo>
                <a:lnTo>
                  <a:pt x="2260545" y="528609"/>
                </a:lnTo>
                <a:cubicBezTo>
                  <a:pt x="2391936" y="217968"/>
                  <a:pt x="2699529" y="0"/>
                  <a:pt x="305803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/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52</m:t>
                          </m:r>
                        </m:num>
                        <m:den>
                          <m:r>
                            <a:rPr lang="en-GB" sz="3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0ABA9C-3D9B-4383-9E36-D6ABB1CE2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664" y="3857682"/>
                <a:ext cx="1152548" cy="1027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FA4C2CF-F9B7-A255-D8F8-8B2F8B92CF9F}"/>
              </a:ext>
            </a:extLst>
          </p:cNvPr>
          <p:cNvSpPr txBox="1"/>
          <p:nvPr/>
        </p:nvSpPr>
        <p:spPr>
          <a:xfrm>
            <a:off x="3925520" y="116582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Пайыз</a:t>
            </a:r>
            <a:endParaRPr lang="en-GB" sz="28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A4D59-CEFD-C040-7B97-76C4D3EFB80F}"/>
              </a:ext>
            </a:extLst>
          </p:cNvPr>
          <p:cNvSpPr txBox="1"/>
          <p:nvPr/>
        </p:nvSpPr>
        <p:spPr>
          <a:xfrm>
            <a:off x="8031525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Ондук</a:t>
            </a:r>
            <a:endParaRPr lang="en-GB" sz="28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B6646A-E47C-4C03-2F6C-C2AF253BC6A6}"/>
              </a:ext>
            </a:extLst>
          </p:cNvPr>
          <p:cNvSpPr txBox="1"/>
          <p:nvPr/>
        </p:nvSpPr>
        <p:spPr>
          <a:xfrm>
            <a:off x="-74982" y="3522135"/>
            <a:ext cx="204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800" b="1" u="sng" dirty="0"/>
              <a:t>Бөлчөк</a:t>
            </a:r>
            <a:endParaRPr lang="en-GB" sz="2800" b="1" u="sng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0976DE-93D9-4E3C-416F-2569EB3C576E}"/>
              </a:ext>
            </a:extLst>
          </p:cNvPr>
          <p:cNvSpPr/>
          <p:nvPr/>
        </p:nvSpPr>
        <p:spPr>
          <a:xfrm>
            <a:off x="2217867" y="5041650"/>
            <a:ext cx="1594000" cy="4828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Айландыр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559061-5A92-DFBE-F6CC-7CA36EE0F4FD}"/>
              </a:ext>
            </a:extLst>
          </p:cNvPr>
          <p:cNvSpPr/>
          <p:nvPr/>
        </p:nvSpPr>
        <p:spPr>
          <a:xfrm>
            <a:off x="2402105" y="3341971"/>
            <a:ext cx="1643442" cy="70338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200" dirty="0">
                <a:solidFill>
                  <a:prstClr val="black"/>
                </a:solidFill>
              </a:rPr>
              <a:t>Жөнөкөй-</a:t>
            </a:r>
          </a:p>
          <a:p>
            <a:pPr algn="ctr"/>
            <a:r>
              <a:rPr lang="ky-KG" sz="2200" dirty="0">
                <a:solidFill>
                  <a:prstClr val="black"/>
                </a:solidFill>
              </a:rPr>
              <a:t>лөштүр</a:t>
            </a:r>
            <a:endParaRPr lang="en-GB" sz="22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33DBF64-5C11-0498-ADE6-CA70D03BD2A9}"/>
              </a:ext>
            </a:extLst>
          </p:cNvPr>
          <p:cNvSpPr/>
          <p:nvPr/>
        </p:nvSpPr>
        <p:spPr>
          <a:xfrm>
            <a:off x="5820508" y="3200400"/>
            <a:ext cx="2303268" cy="70338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200" dirty="0">
                <a:solidFill>
                  <a:prstClr val="black"/>
                </a:solidFill>
              </a:rPr>
              <a:t>Жүздүк катары жаз</a:t>
            </a:r>
            <a:endParaRPr lang="en-GB" sz="2200" dirty="0">
              <a:solidFill>
                <a:prstClr val="black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04DA42-EBCF-E694-EB49-20164BB02938}"/>
              </a:ext>
            </a:extLst>
          </p:cNvPr>
          <p:cNvSpPr/>
          <p:nvPr/>
        </p:nvSpPr>
        <p:spPr>
          <a:xfrm>
            <a:off x="3703350" y="1659067"/>
            <a:ext cx="2510437" cy="122545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ky-KG" sz="2400" dirty="0">
                <a:solidFill>
                  <a:prstClr val="black"/>
                </a:solidFill>
              </a:rPr>
              <a:t>% "100дүн бөлүктөрүн" билдирет</a:t>
            </a:r>
            <a:endParaRPr lang="en-GB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94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2FE0DB-5AED-BDA0-57A5-16EFB9E5A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95561" y="4269516"/>
            <a:ext cx="3266585" cy="1910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0BFB38-6DCA-4DB1-F1E7-4148A820C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95561" y="840515"/>
            <a:ext cx="3266585" cy="1910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28453A-F759-7962-1D27-61456C2A9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48163" y="4269515"/>
            <a:ext cx="3266585" cy="1910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E63BC-214B-0E51-F5E2-140F8DC9F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48163" y="840514"/>
            <a:ext cx="3266585" cy="1910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046273-EE70-D846-BCEF-07A994A5E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19708" y="4107102"/>
            <a:ext cx="3266585" cy="19103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A411A0-C7EB-3332-6655-4B55B746C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19708" y="678101"/>
            <a:ext cx="3266585" cy="19103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23190B-B1F8-7C13-72DE-1B5868030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91253" y="4269515"/>
            <a:ext cx="3266585" cy="19103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8FD6FF-11EB-9F8D-D18E-BD75A15B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91253" y="840514"/>
            <a:ext cx="3266585" cy="19103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15339F-CF35-C90A-83DC-8525CA035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334977" y="4107102"/>
            <a:ext cx="3266585" cy="19103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24873C-6030-592E-0341-F89BEFBC9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334977" y="678101"/>
            <a:ext cx="3266585" cy="191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01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EB28AB62-423E-4CA2-A6DB-40D2D8CD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7299059"/>
                  </p:ext>
                </p:extLst>
              </p:nvPr>
            </p:nvGraphicFramePr>
            <p:xfrm>
              <a:off x="56662" y="3505200"/>
              <a:ext cx="3873498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1166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23%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EB28AB62-423E-4CA2-A6DB-40D2D8CD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7299059"/>
                  </p:ext>
                </p:extLst>
              </p:nvPr>
            </p:nvGraphicFramePr>
            <p:xfrm>
              <a:off x="56662" y="3505200"/>
              <a:ext cx="3873498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1166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42138" r="-943" b="-1968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2" t="-145806" r="-200943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2" t="-244231" r="-20094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47C6A2D3-611F-4DE7-B3B9-F028A1CDDA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0088618"/>
                  </p:ext>
                </p:extLst>
              </p:nvPr>
            </p:nvGraphicFramePr>
            <p:xfrm>
              <a:off x="4284163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47C6A2D3-611F-4DE7-B3B9-F028A1CDDA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0088618"/>
                  </p:ext>
                </p:extLst>
              </p:nvPr>
            </p:nvGraphicFramePr>
            <p:xfrm>
              <a:off x="4284163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04" t="-42138" r="-101408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04" t="-145806" r="-1408" b="-101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" t="-244231" r="-201408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2AD66691-D7B0-49DE-A01F-10CCAE59F4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055864"/>
                  </p:ext>
                </p:extLst>
              </p:nvPr>
            </p:nvGraphicFramePr>
            <p:xfrm>
              <a:off x="7229588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2AD66691-D7B0-49DE-A01F-10CCAE59F4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055864"/>
                  </p:ext>
                </p:extLst>
              </p:nvPr>
            </p:nvGraphicFramePr>
            <p:xfrm>
              <a:off x="7229588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408" t="-42138" r="-1408" b="-1968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45806" r="-100699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44231" r="-100699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FB9B0D-AD16-46AC-8F5E-0D9C6721A351}"/>
              </a:ext>
            </a:extLst>
          </p:cNvPr>
          <p:cNvSpPr txBox="1"/>
          <p:nvPr/>
        </p:nvSpPr>
        <p:spPr>
          <a:xfrm>
            <a:off x="1563550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1-таблица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89896-600D-4E16-A1B2-3D13D47865E7}"/>
              </a:ext>
            </a:extLst>
          </p:cNvPr>
          <p:cNvSpPr txBox="1"/>
          <p:nvPr/>
        </p:nvSpPr>
        <p:spPr>
          <a:xfrm>
            <a:off x="5150012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2-таблица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61FF45-DEAC-4C65-8939-3F7E7ED933CB}"/>
              </a:ext>
            </a:extLst>
          </p:cNvPr>
          <p:cNvSpPr txBox="1"/>
          <p:nvPr/>
        </p:nvSpPr>
        <p:spPr>
          <a:xfrm>
            <a:off x="8095437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3-таблица</a:t>
            </a:r>
            <a:endParaRPr lang="en-GB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5442F-A949-44AF-8BBE-DE65A1A6F492}"/>
              </a:ext>
            </a:extLst>
          </p:cNvPr>
          <p:cNvSpPr txBox="1"/>
          <p:nvPr/>
        </p:nvSpPr>
        <p:spPr>
          <a:xfrm>
            <a:off x="376490" y="922994"/>
            <a:ext cx="2827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Таблицаларды көчүрүп, </a:t>
            </a:r>
          </a:p>
          <a:p>
            <a:pPr algn="ctr"/>
            <a:r>
              <a:rPr lang="ky-KG" sz="2000" dirty="0"/>
              <a:t>толтуруңуз.</a:t>
            </a:r>
            <a:endParaRPr lang="en-GB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E5563-55AA-4806-828E-B490E904B8F7}"/>
              </a:ext>
            </a:extLst>
          </p:cNvPr>
          <p:cNvSpPr/>
          <p:nvPr/>
        </p:nvSpPr>
        <p:spPr>
          <a:xfrm>
            <a:off x="3648336" y="30196"/>
            <a:ext cx="4996508" cy="29670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C5C063-1FC7-0636-C7F3-A81D2E6F1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862" y="152385"/>
            <a:ext cx="5029436" cy="272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52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EB28AB62-423E-4CA2-A6DB-40D2D8CD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2060450"/>
                  </p:ext>
                </p:extLst>
              </p:nvPr>
            </p:nvGraphicFramePr>
            <p:xfrm>
              <a:off x="56662" y="3505200"/>
              <a:ext cx="3873498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1166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23%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0.14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14%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EB28AB62-423E-4CA2-A6DB-40D2D8CD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2060450"/>
                  </p:ext>
                </p:extLst>
              </p:nvPr>
            </p:nvGraphicFramePr>
            <p:xfrm>
              <a:off x="56662" y="3505200"/>
              <a:ext cx="3873498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1166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2" t="-42138" r="-200943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2" t="-42138" r="-100943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42138" r="-943" b="-1968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2" t="-145806" r="-200943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2" t="-145806" r="-100943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45806" r="-943" b="-101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2" t="-244231" r="-20094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2" t="-244231" r="-10094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44231" r="-943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FB9B0D-AD16-46AC-8F5E-0D9C6721A351}"/>
              </a:ext>
            </a:extLst>
          </p:cNvPr>
          <p:cNvSpPr txBox="1"/>
          <p:nvPr/>
        </p:nvSpPr>
        <p:spPr>
          <a:xfrm>
            <a:off x="1563550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1-таблица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89896-600D-4E16-A1B2-3D13D47865E7}"/>
              </a:ext>
            </a:extLst>
          </p:cNvPr>
          <p:cNvSpPr txBox="1"/>
          <p:nvPr/>
        </p:nvSpPr>
        <p:spPr>
          <a:xfrm>
            <a:off x="5150012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2-таблица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61FF45-DEAC-4C65-8939-3F7E7ED933CB}"/>
              </a:ext>
            </a:extLst>
          </p:cNvPr>
          <p:cNvSpPr txBox="1"/>
          <p:nvPr/>
        </p:nvSpPr>
        <p:spPr>
          <a:xfrm>
            <a:off x="8095437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3-таблица</a:t>
            </a:r>
            <a:endParaRPr lang="en-GB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E5563-55AA-4806-828E-B490E904B8F7}"/>
              </a:ext>
            </a:extLst>
          </p:cNvPr>
          <p:cNvSpPr/>
          <p:nvPr/>
        </p:nvSpPr>
        <p:spPr>
          <a:xfrm>
            <a:off x="3648336" y="30196"/>
            <a:ext cx="4996508" cy="29670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3CFD0D6F-4BB7-479D-AD82-2760442146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78003"/>
                  </p:ext>
                </p:extLst>
              </p:nvPr>
            </p:nvGraphicFramePr>
            <p:xfrm>
              <a:off x="4284163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3CFD0D6F-4BB7-479D-AD82-2760442146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878003"/>
                  </p:ext>
                </p:extLst>
              </p:nvPr>
            </p:nvGraphicFramePr>
            <p:xfrm>
              <a:off x="4284163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04" t="-42138" r="-101408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04" t="-145806" r="-1408" b="-101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" t="-244231" r="-201408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5">
                <a:extLst>
                  <a:ext uri="{FF2B5EF4-FFF2-40B4-BE49-F238E27FC236}">
                    <a16:creationId xmlns:a16="http://schemas.microsoft.com/office/drawing/2014/main" id="{811E3E60-859E-49F7-8C63-AEB8A1690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0957539"/>
                  </p:ext>
                </p:extLst>
              </p:nvPr>
            </p:nvGraphicFramePr>
            <p:xfrm>
              <a:off x="7229588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5">
                <a:extLst>
                  <a:ext uri="{FF2B5EF4-FFF2-40B4-BE49-F238E27FC236}">
                    <a16:creationId xmlns:a16="http://schemas.microsoft.com/office/drawing/2014/main" id="{811E3E60-859E-49F7-8C63-AEB8A1690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0957539"/>
                  </p:ext>
                </p:extLst>
              </p:nvPr>
            </p:nvGraphicFramePr>
            <p:xfrm>
              <a:off x="7229588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408" t="-42138" r="-1408" b="-1968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45806" r="-100699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44231" r="-100699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42F7E80-D9BC-9459-BCE0-968CC5155D0F}"/>
              </a:ext>
            </a:extLst>
          </p:cNvPr>
          <p:cNvSpPr txBox="1"/>
          <p:nvPr/>
        </p:nvSpPr>
        <p:spPr>
          <a:xfrm>
            <a:off x="376490" y="922994"/>
            <a:ext cx="2827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Таблицаларды көчүрүп, </a:t>
            </a:r>
          </a:p>
          <a:p>
            <a:pPr algn="ctr"/>
            <a:r>
              <a:rPr lang="ky-KG" sz="2000" dirty="0"/>
              <a:t>толтуруңуз.</a:t>
            </a:r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923627-F64B-2CCA-213C-1B7A454E56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862" y="152385"/>
            <a:ext cx="5029436" cy="272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6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EB28AB62-423E-4CA2-A6DB-40D2D8CD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5085716"/>
                  </p:ext>
                </p:extLst>
              </p:nvPr>
            </p:nvGraphicFramePr>
            <p:xfrm>
              <a:off x="56662" y="3505200"/>
              <a:ext cx="3873498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1166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23%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0.14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14%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EB28AB62-423E-4CA2-A6DB-40D2D8CD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5085716"/>
                  </p:ext>
                </p:extLst>
              </p:nvPr>
            </p:nvGraphicFramePr>
            <p:xfrm>
              <a:off x="56662" y="3505200"/>
              <a:ext cx="3873498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1166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291166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2" t="-42138" r="-200943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2" t="-42138" r="-100943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42138" r="-943" b="-1968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2" t="-145806" r="-200943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2" t="-145806" r="-100943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45806" r="-943" b="-101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2" t="-244231" r="-20094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2" t="-244231" r="-10094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44231" r="-943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47C6A2D3-611F-4DE7-B3B9-F028A1CDDA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5134343"/>
                  </p:ext>
                </p:extLst>
              </p:nvPr>
            </p:nvGraphicFramePr>
            <p:xfrm>
              <a:off x="4284163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47C6A2D3-611F-4DE7-B3B9-F028A1CDDA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5134343"/>
                  </p:ext>
                </p:extLst>
              </p:nvPr>
            </p:nvGraphicFramePr>
            <p:xfrm>
              <a:off x="4284163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" t="-42138" r="-201408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04" t="-42138" r="-101408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04" t="-42138" r="-1408" b="-1968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" t="-145806" r="-201408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04" t="-145806" r="-101408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04" t="-145806" r="-1408" b="-101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" t="-244231" r="-201408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04" t="-244231" r="-101408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04" t="-244231" r="-140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2AD66691-D7B0-49DE-A01F-10CCAE59F4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29819"/>
                  </p:ext>
                </p:extLst>
              </p:nvPr>
            </p:nvGraphicFramePr>
            <p:xfrm>
              <a:off x="7229588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68%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0.5%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5">
                <a:extLst>
                  <a:ext uri="{FF2B5EF4-FFF2-40B4-BE49-F238E27FC236}">
                    <a16:creationId xmlns:a16="http://schemas.microsoft.com/office/drawing/2014/main" id="{2AD66691-D7B0-49DE-A01F-10CCAE59F4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29819"/>
                  </p:ext>
                </p:extLst>
              </p:nvPr>
            </p:nvGraphicFramePr>
            <p:xfrm>
              <a:off x="7229588" y="3505200"/>
              <a:ext cx="2591421" cy="32492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807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863807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08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9645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42138" r="-202113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2138" r="-100699" b="-196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408" t="-42138" r="-1408" b="-1968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145806" r="-202113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45806" r="-100699" b="-10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408" t="-145806" r="-1408" b="-101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9469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244231" r="-202113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44231" r="-100699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408" t="-244231" r="-140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DFB9B0D-AD16-46AC-8F5E-0D9C6721A351}"/>
              </a:ext>
            </a:extLst>
          </p:cNvPr>
          <p:cNvSpPr txBox="1"/>
          <p:nvPr/>
        </p:nvSpPr>
        <p:spPr>
          <a:xfrm>
            <a:off x="1563550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1-таблица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89896-600D-4E16-A1B2-3D13D47865E7}"/>
              </a:ext>
            </a:extLst>
          </p:cNvPr>
          <p:cNvSpPr txBox="1"/>
          <p:nvPr/>
        </p:nvSpPr>
        <p:spPr>
          <a:xfrm>
            <a:off x="5150012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2-таблица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61FF45-DEAC-4C65-8939-3F7E7ED933CB}"/>
              </a:ext>
            </a:extLst>
          </p:cNvPr>
          <p:cNvSpPr txBox="1"/>
          <p:nvPr/>
        </p:nvSpPr>
        <p:spPr>
          <a:xfrm>
            <a:off x="8095437" y="3080182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3-таблица</a:t>
            </a:r>
            <a:endParaRPr lang="en-GB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E5563-55AA-4806-828E-B490E904B8F7}"/>
              </a:ext>
            </a:extLst>
          </p:cNvPr>
          <p:cNvSpPr/>
          <p:nvPr/>
        </p:nvSpPr>
        <p:spPr>
          <a:xfrm>
            <a:off x="3648336" y="30196"/>
            <a:ext cx="4996508" cy="29670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25F65-DDDD-5AA7-3906-AC9918DC501E}"/>
              </a:ext>
            </a:extLst>
          </p:cNvPr>
          <p:cNvSpPr txBox="1"/>
          <p:nvPr/>
        </p:nvSpPr>
        <p:spPr>
          <a:xfrm>
            <a:off x="376490" y="922994"/>
            <a:ext cx="2827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Таблицаларды көчүрүп, </a:t>
            </a:r>
          </a:p>
          <a:p>
            <a:pPr algn="ctr"/>
            <a:r>
              <a:rPr lang="ky-KG" sz="2000" dirty="0"/>
              <a:t>толтуруңуз.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34C651-15CD-D782-D417-5F828FC35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862" y="152385"/>
            <a:ext cx="5029436" cy="272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94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0291A8-EE81-49C5-B77A-62FF413150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1563513"/>
                  </p:ext>
                </p:extLst>
              </p:nvPr>
            </p:nvGraphicFramePr>
            <p:xfrm>
              <a:off x="5787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0.17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0.80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0291A8-EE81-49C5-B77A-62FF413150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1563513"/>
                  </p:ext>
                </p:extLst>
              </p:nvPr>
            </p:nvGraphicFramePr>
            <p:xfrm>
              <a:off x="5787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57265" r="-201167" b="-7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157265" r="-778" b="-6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57265" r="-100388" b="-5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54237" r="-100388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458120" r="-201167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558120" r="-778" b="-2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658120" r="-100388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758120" r="-201167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3F81D8-C0A6-4FED-94FC-950DA65F749A}"/>
              </a:ext>
            </a:extLst>
          </p:cNvPr>
          <p:cNvSpPr txBox="1"/>
          <p:nvPr/>
        </p:nvSpPr>
        <p:spPr>
          <a:xfrm>
            <a:off x="269354" y="28935"/>
            <a:ext cx="4599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Таблицаларды эквиваленттүү бөлчөктөр,</a:t>
            </a:r>
          </a:p>
          <a:p>
            <a:r>
              <a:rPr lang="ky-KG" dirty="0"/>
              <a:t> ондуктар жана пайыздар менен толтуруңуз!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DA867-1D0A-404C-B4A6-5FA2F5E44682}"/>
              </a:ext>
            </a:extLst>
          </p:cNvPr>
          <p:cNvSpPr txBox="1"/>
          <p:nvPr/>
        </p:nvSpPr>
        <p:spPr>
          <a:xfrm>
            <a:off x="4275514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EA30A9B6-B0B5-418B-90FB-EB735475F7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096132"/>
                  </p:ext>
                </p:extLst>
              </p:nvPr>
            </p:nvGraphicFramePr>
            <p:xfrm>
              <a:off x="517388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0.84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91%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0.009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2.6%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0.132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EA30A9B6-B0B5-418B-90FB-EB735475F7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096132"/>
                  </p:ext>
                </p:extLst>
              </p:nvPr>
            </p:nvGraphicFramePr>
            <p:xfrm>
              <a:off x="517388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57265" r="-778" b="-7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57265" r="-100388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257265" r="-778" b="-5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354237" r="-201167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458120" r="-201167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558120" r="-100388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658120" r="-778" b="-1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758120" r="-100388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9C39A92-0535-42EE-B8BC-B12CA36ED8BA}"/>
              </a:ext>
            </a:extLst>
          </p:cNvPr>
          <p:cNvSpPr txBox="1"/>
          <p:nvPr/>
        </p:nvSpPr>
        <p:spPr>
          <a:xfrm>
            <a:off x="5359306" y="28935"/>
            <a:ext cx="4546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Таблицаларды эквиваленттүү бөлчөктөр, </a:t>
            </a:r>
          </a:p>
          <a:p>
            <a:r>
              <a:rPr lang="ky-KG" dirty="0"/>
              <a:t>ондуктар жана пайыздар менен толтуруңуз!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810FC-42C7-4B30-9204-47BDF480F635}"/>
              </a:ext>
            </a:extLst>
          </p:cNvPr>
          <p:cNvSpPr txBox="1"/>
          <p:nvPr/>
        </p:nvSpPr>
        <p:spPr>
          <a:xfrm>
            <a:off x="9391524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7957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0291A8-EE81-49C5-B77A-62FF413150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658691"/>
                  </p:ext>
                </p:extLst>
              </p:nvPr>
            </p:nvGraphicFramePr>
            <p:xfrm>
              <a:off x="5787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0.18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0.17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17%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0.80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0.44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44%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0291A8-EE81-49C5-B77A-62FF413150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658691"/>
                  </p:ext>
                </p:extLst>
              </p:nvPr>
            </p:nvGraphicFramePr>
            <p:xfrm>
              <a:off x="5787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57265" r="-201167" b="-7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7265" r="-100388" b="-7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57265" r="-778" b="-7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157265" r="-201167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57265" r="-100388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157265" r="-778" b="-6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257265" r="-201167" b="-5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57265" r="-100388" b="-5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257265" r="-778" b="-5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354237" r="-201167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54237" r="-100388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354237" r="-778" b="-3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458120" r="-201167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58120" r="-100388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458120" r="-778" b="-3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558120" r="-201167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58120" r="-100388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558120" r="-778" b="-2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658120" r="-201167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658120" r="-100388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658120" r="-778" b="-1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758120" r="-201167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758120" r="-100388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758120" r="-778" b="-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3F81D8-C0A6-4FED-94FC-950DA65F749A}"/>
              </a:ext>
            </a:extLst>
          </p:cNvPr>
          <p:cNvSpPr txBox="1"/>
          <p:nvPr/>
        </p:nvSpPr>
        <p:spPr>
          <a:xfrm>
            <a:off x="57873" y="28935"/>
            <a:ext cx="4599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Таблицаларды эквиваленттүү бөлчөктөр,</a:t>
            </a:r>
          </a:p>
          <a:p>
            <a:r>
              <a:rPr lang="ky-KG" dirty="0"/>
              <a:t> ондуктар жана пайыздар менен толтуруңуз!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DA867-1D0A-404C-B4A6-5FA2F5E44682}"/>
              </a:ext>
            </a:extLst>
          </p:cNvPr>
          <p:cNvSpPr txBox="1"/>
          <p:nvPr/>
        </p:nvSpPr>
        <p:spPr>
          <a:xfrm>
            <a:off x="4275514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39A92-0535-42EE-B8BC-B12CA36ED8BA}"/>
              </a:ext>
            </a:extLst>
          </p:cNvPr>
          <p:cNvSpPr txBox="1"/>
          <p:nvPr/>
        </p:nvSpPr>
        <p:spPr>
          <a:xfrm>
            <a:off x="5173883" y="41795"/>
            <a:ext cx="4599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Таблицаларды эквиваленттүү бөлчөктөр,</a:t>
            </a:r>
          </a:p>
          <a:p>
            <a:r>
              <a:rPr lang="ky-KG" dirty="0"/>
              <a:t> ондуктар жана пайыздар менен толтуруңуз!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810FC-42C7-4B30-9204-47BDF480F635}"/>
              </a:ext>
            </a:extLst>
          </p:cNvPr>
          <p:cNvSpPr txBox="1"/>
          <p:nvPr/>
        </p:nvSpPr>
        <p:spPr>
          <a:xfrm>
            <a:off x="9391524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5">
                <a:extLst>
                  <a:ext uri="{FF2B5EF4-FFF2-40B4-BE49-F238E27FC236}">
                    <a16:creationId xmlns:a16="http://schemas.microsoft.com/office/drawing/2014/main" id="{541E0E6C-58A9-4600-836A-1B60DD5BDB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7650402"/>
                  </p:ext>
                </p:extLst>
              </p:nvPr>
            </p:nvGraphicFramePr>
            <p:xfrm>
              <a:off x="517388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0.84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91%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0.009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2.6%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0.132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5">
                <a:extLst>
                  <a:ext uri="{FF2B5EF4-FFF2-40B4-BE49-F238E27FC236}">
                    <a16:creationId xmlns:a16="http://schemas.microsoft.com/office/drawing/2014/main" id="{541E0E6C-58A9-4600-836A-1B60DD5BDB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7650402"/>
                  </p:ext>
                </p:extLst>
              </p:nvPr>
            </p:nvGraphicFramePr>
            <p:xfrm>
              <a:off x="517388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57265" r="-778" b="-7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57265" r="-100388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257265" r="-778" b="-5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354237" r="-201167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458120" r="-201167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558120" r="-100388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658120" r="-778" b="-1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758120" r="-100388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8234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0291A8-EE81-49C5-B77A-62FF413150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7416227"/>
                  </p:ext>
                </p:extLst>
              </p:nvPr>
            </p:nvGraphicFramePr>
            <p:xfrm>
              <a:off x="5787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0.18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0.17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17%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0.80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0.44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44%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0291A8-EE81-49C5-B77A-62FF413150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7416227"/>
                  </p:ext>
                </p:extLst>
              </p:nvPr>
            </p:nvGraphicFramePr>
            <p:xfrm>
              <a:off x="5787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57265" r="-201167" b="-7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7265" r="-100388" b="-7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57265" r="-778" b="-7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157265" r="-201167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57265" r="-100388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157265" r="-778" b="-6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257265" r="-201167" b="-5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57265" r="-100388" b="-5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257265" r="-778" b="-5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354237" r="-201167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54237" r="-100388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354237" r="-778" b="-3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458120" r="-201167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58120" r="-100388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458120" r="-778" b="-3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558120" r="-201167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58120" r="-100388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558120" r="-778" b="-2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658120" r="-201167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658120" r="-100388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658120" r="-778" b="-1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" t="-758120" r="-201167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758120" r="-100388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78" t="-758120" r="-778" b="-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3F81D8-C0A6-4FED-94FC-950DA65F749A}"/>
              </a:ext>
            </a:extLst>
          </p:cNvPr>
          <p:cNvSpPr txBox="1"/>
          <p:nvPr/>
        </p:nvSpPr>
        <p:spPr>
          <a:xfrm>
            <a:off x="157604" y="63660"/>
            <a:ext cx="45995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Таблицаларды эквиваленттүү бөлчөктөр,</a:t>
            </a:r>
          </a:p>
          <a:p>
            <a:r>
              <a:rPr lang="ky-KG" dirty="0"/>
              <a:t> ондуктар жана пайыздар менен толтуруңуз!</a:t>
            </a:r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DA867-1D0A-404C-B4A6-5FA2F5E44682}"/>
              </a:ext>
            </a:extLst>
          </p:cNvPr>
          <p:cNvSpPr txBox="1"/>
          <p:nvPr/>
        </p:nvSpPr>
        <p:spPr>
          <a:xfrm>
            <a:off x="4275514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EA30A9B6-B0B5-418B-90FB-EB735475F7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886369"/>
                  </p:ext>
                </p:extLst>
              </p:nvPr>
            </p:nvGraphicFramePr>
            <p:xfrm>
              <a:off x="517388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0.84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84%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91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0.91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91%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0.36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36%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1.35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135%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0.009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0.9%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0.026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2.6%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kumimoji="0" lang="en-GB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0.132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13.2%</m:t>
                                </m:r>
                              </m:oMath>
                            </m:oMathPara>
                          </a14:m>
                          <a:endParaRPr lang="en-GB" sz="16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EA30A9B6-B0B5-418B-90FB-EB735475F7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886369"/>
                  </p:ext>
                </p:extLst>
              </p:nvPr>
            </p:nvGraphicFramePr>
            <p:xfrm>
              <a:off x="5173883" y="694481"/>
              <a:ext cx="4699323" cy="60998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6441">
                      <a:extLst>
                        <a:ext uri="{9D8B030D-6E8A-4147-A177-3AD203B41FA5}">
                          <a16:colId xmlns:a16="http://schemas.microsoft.com/office/drawing/2014/main" val="16118851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53561975"/>
                        </a:ext>
                      </a:extLst>
                    </a:gridCol>
                    <a:gridCol w="1566441">
                      <a:extLst>
                        <a:ext uri="{9D8B030D-6E8A-4147-A177-3AD203B41FA5}">
                          <a16:colId xmlns:a16="http://schemas.microsoft.com/office/drawing/2014/main" val="961530916"/>
                        </a:ext>
                      </a:extLst>
                    </a:gridCol>
                  </a:tblGrid>
                  <a:tr h="3959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Бөлчөк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Ондук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dirty="0">
                              <a:solidFill>
                                <a:sysClr val="windowText" lastClr="000000"/>
                              </a:solidFill>
                            </a:rPr>
                            <a:t>Пайыз</a:t>
                          </a:r>
                          <a:endParaRPr lang="en-GB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3304831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57265" r="-201167" b="-7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57265" r="-100388" b="-7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57265" r="-778" b="-7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189274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157265" r="-201167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57265" r="-100388" b="-6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157265" r="-778" b="-6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55126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257265" r="-201167" b="-5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57265" r="-100388" b="-5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257265" r="-778" b="-5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665330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354237" r="-201167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54237" r="-100388" b="-3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354237" r="-778" b="-3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387389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458120" r="-201167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58120" r="-100388" b="-3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458120" r="-778" b="-3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085626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558120" r="-201167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558120" r="-100388" b="-2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558120" r="-778" b="-2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306585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658120" r="-201167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658120" r="-100388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658120" r="-778" b="-10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369207"/>
                      </a:ext>
                    </a:extLst>
                  </a:tr>
                  <a:tr h="712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9" t="-758120" r="-201167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758120" r="-100388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78" t="-758120" r="-778" b="-17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9908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9C39A92-0535-42EE-B8BC-B12CA36ED8BA}"/>
              </a:ext>
            </a:extLst>
          </p:cNvPr>
          <p:cNvSpPr txBox="1"/>
          <p:nvPr/>
        </p:nvSpPr>
        <p:spPr>
          <a:xfrm>
            <a:off x="5173883" y="43340"/>
            <a:ext cx="45995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Таблицаларды эквиваленттүү бөлчөктөр,</a:t>
            </a:r>
          </a:p>
          <a:p>
            <a:r>
              <a:rPr lang="ky-KG" dirty="0"/>
              <a:t> ондуктар жана пайыздар менен толтуруңуз!</a:t>
            </a:r>
            <a:endParaRPr lang="en-GB" dirty="0"/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810FC-42C7-4B30-9204-47BDF480F635}"/>
              </a:ext>
            </a:extLst>
          </p:cNvPr>
          <p:cNvSpPr txBox="1"/>
          <p:nvPr/>
        </p:nvSpPr>
        <p:spPr>
          <a:xfrm>
            <a:off x="9391524" y="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83717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83E9B7-8CDE-3CB4-3605-C88460106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29844" y="1202926"/>
            <a:ext cx="6610965" cy="46162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B10C20-D1FA-98AF-4DDA-FF9400EE8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9942" y="1088623"/>
            <a:ext cx="6610965" cy="484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69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10679</TotalTime>
  <Words>1306</Words>
  <Application>Microsoft Office PowerPoint</Application>
  <PresentationFormat>A4 Paper (210x297 mm)</PresentationFormat>
  <Paragraphs>600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514</cp:revision>
  <cp:lastPrinted>2017-12-31T22:38:51Z</cp:lastPrinted>
  <dcterms:created xsi:type="dcterms:W3CDTF">2017-01-17T16:57:04Z</dcterms:created>
  <dcterms:modified xsi:type="dcterms:W3CDTF">2024-09-01T17:06:28Z</dcterms:modified>
</cp:coreProperties>
</file>