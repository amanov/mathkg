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50292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04088" y="502920"/>
            <a:ext cx="82296" cy="50292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9536" y="502920"/>
            <a:ext cx="82296" cy="50292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38912"/>
            <a:ext cx="27432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1D3557"/>
                </a:solidFill>
                <a:latin typeface="Golos Text"/>
              </a:rPr>
              <a:t>MathKG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457200"/>
            <a:ext cx="59436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 i="0">
                <a:solidFill>
                  <a:srgbClr val="4A5A70"/>
                </a:solidFill>
                <a:latin typeface="Golos Text"/>
              </a:rPr>
              <a:t>Арифметика › Төрт амал › Амалдар тартиби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67665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5000" b="1" i="0">
                <a:solidFill>
                  <a:srgbClr val="1D3557"/>
                </a:solidFill>
                <a:latin typeface="Golos Text"/>
              </a:rPr>
              <a:t>Амалдар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67665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5000" b="1" i="0">
                <a:solidFill>
                  <a:srgbClr val="007A5A"/>
                </a:solidFill>
                <a:latin typeface="Golos Text"/>
              </a:rPr>
              <a:t>Өзүң түз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6766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24418C"/>
                </a:solidFill>
                <a:latin typeface="Golos Text"/>
              </a:rPr>
              <a:t>Эсепте · Текшер · Өзүң түз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31920"/>
            <a:ext cx="6583680" cy="2240280"/>
          </a:xfrm>
          <a:prstGeom prst="roundRect">
            <a:avLst>
              <a:gd name="adj" fmla="val 8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62179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24418C"/>
                </a:solidFill>
                <a:latin typeface="Golos Text"/>
              </a:rPr>
              <a:t>Мугалим үчүн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89120"/>
            <a:ext cx="621792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D3557"/>
                </a:solidFill>
                <a:latin typeface="Golos Text"/>
              </a:rPr>
              <a:t>•  4 негизги амалдын тартиби: адегенде кашаа, анан көбөйтүү жана бөлүү, анан кошуу жана кемитүү.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D3557"/>
                </a:solidFill>
                <a:latin typeface="Golos Text"/>
              </a:rPr>
              <a:t>•  Бул суроолорду экранда көрсөтсө болот же көнүгүү катары берсе болот.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D3557"/>
                </a:solidFill>
                <a:latin typeface="Golos Text"/>
              </a:rPr>
              <a:t>•  ⑤-тапшырмада окуучу өзү мисал түзөт.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325880"/>
            <a:ext cx="393192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7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463040"/>
            <a:ext cx="35661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700" b="1" i="0">
                <a:solidFill>
                  <a:srgbClr val="1D3557"/>
                </a:solidFill>
                <a:latin typeface="Golos Text"/>
              </a:rPr>
              <a:t>Амалдардын тартиби</a:t>
            </a:r>
          </a:p>
        </p:txBody>
      </p:sp>
      <p:sp>
        <p:nvSpPr>
          <p:cNvPr id="15" name="Oval 14"/>
          <p:cNvSpPr/>
          <p:nvPr/>
        </p:nvSpPr>
        <p:spPr>
          <a:xfrm>
            <a:off x="7955279" y="2194560"/>
            <a:ext cx="566928" cy="566928"/>
          </a:xfrm>
          <a:prstGeom prst="ellipse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60" b="1">
                <a:solidFill>
                  <a:srgbClr val="FFFFFF"/>
                </a:solidFill>
                <a:latin typeface="Golos Text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2103120"/>
            <a:ext cx="274320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2121408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400" b="1" i="0">
                <a:solidFill>
                  <a:srgbClr val="007A5A"/>
                </a:solidFill>
                <a:latin typeface="Golos Text"/>
              </a:rPr>
              <a:t>( 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578608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 i="0">
                <a:solidFill>
                  <a:srgbClr val="1D3557"/>
                </a:solidFill>
                <a:latin typeface="Golos Text"/>
              </a:rPr>
              <a:t>Кашаа</a:t>
            </a:r>
          </a:p>
        </p:txBody>
      </p:sp>
      <p:sp>
        <p:nvSpPr>
          <p:cNvPr id="19" name="Oval 18"/>
          <p:cNvSpPr/>
          <p:nvPr/>
        </p:nvSpPr>
        <p:spPr>
          <a:xfrm>
            <a:off x="7955279" y="3520440"/>
            <a:ext cx="566928" cy="566928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60" b="1">
                <a:solidFill>
                  <a:srgbClr val="FFFFFF"/>
                </a:solidFill>
                <a:latin typeface="Golos Text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3429000"/>
            <a:ext cx="274320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3447288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400" b="1" i="0">
                <a:solidFill>
                  <a:srgbClr val="A84400"/>
                </a:solidFill>
                <a:latin typeface="Golos Text"/>
              </a:rPr>
              <a:t>× 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904487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 i="0">
                <a:solidFill>
                  <a:srgbClr val="1D3557"/>
                </a:solidFill>
                <a:latin typeface="Golos Text"/>
              </a:rPr>
              <a:t>Көбөйтүү, бөлүү</a:t>
            </a:r>
          </a:p>
        </p:txBody>
      </p:sp>
      <p:sp>
        <p:nvSpPr>
          <p:cNvPr id="23" name="Oval 22"/>
          <p:cNvSpPr/>
          <p:nvPr/>
        </p:nvSpPr>
        <p:spPr>
          <a:xfrm>
            <a:off x="7955279" y="4846319"/>
            <a:ext cx="566928" cy="566928"/>
          </a:xfrm>
          <a:prstGeom prst="ellipse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60" b="1">
                <a:solidFill>
                  <a:srgbClr val="FFFFFF"/>
                </a:solidFill>
                <a:latin typeface="Golos Text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4754879"/>
            <a:ext cx="274320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4773167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400" b="1" i="0">
                <a:solidFill>
                  <a:srgbClr val="24418C"/>
                </a:solidFill>
                <a:latin typeface="Golos Text"/>
              </a:rPr>
              <a:t>+  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5230367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 i="0">
                <a:solidFill>
                  <a:srgbClr val="1D3557"/>
                </a:solidFill>
                <a:latin typeface="Golos Text"/>
              </a:rPr>
              <a:t>Кошуу, кемитүү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92240"/>
            <a:ext cx="687610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8D99AA"/>
                </a:solidFill>
                <a:latin typeface="Golos Text"/>
              </a:rPr>
              <a:t>MathKG · Математика кыргызча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5847" y="6492240"/>
            <a:ext cx="573008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8D99AA"/>
                </a:solidFill>
                <a:latin typeface="Golos Text"/>
              </a:rPr>
              <a:t>Амалдар тартиби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1460175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7784" y="369417"/>
            <a:ext cx="70408" cy="358444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1560" y="369417"/>
            <a:ext cx="70408" cy="358444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5337" y="369417"/>
            <a:ext cx="70408" cy="358444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130" y="228600"/>
            <a:ext cx="6303096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1D3557"/>
                </a:solidFill>
                <a:latin typeface="Golos Text"/>
              </a:rPr>
              <a:t>Эсептеңиз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228600"/>
            <a:ext cx="5538063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4A5A70"/>
                </a:solidFill>
                <a:latin typeface="Golos Text"/>
              </a:rPr>
              <a:t>Арифметика › Төрт амал › Амалдар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4A5A70"/>
                </a:solidFill>
                <a:latin typeface="Golos Text"/>
              </a:rPr>
              <a:t>Адегенде кашаа, анан × жана :, акырында + жана −.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687610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8D99AA"/>
                </a:solidFill>
                <a:latin typeface="Golos Text"/>
              </a:rPr>
              <a:t>MathKG · Математика кыргызча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6492240"/>
            <a:ext cx="573008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8D99AA"/>
                </a:solidFill>
                <a:latin typeface="Golos Text"/>
              </a:rPr>
              <a:t>Амалдар тартиби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54864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1600200"/>
            <a:ext cx="502920" cy="502920"/>
          </a:xfrm>
          <a:prstGeom prst="ellipse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50" b="1">
                <a:solidFill>
                  <a:srgbClr val="FFFFFF"/>
                </a:solidFill>
                <a:latin typeface="Golos Tex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554480"/>
            <a:ext cx="1005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600" b="0" i="0">
                <a:solidFill>
                  <a:srgbClr val="007A5A"/>
                </a:solidFill>
                <a:latin typeface="DejaVu Sans"/>
              </a:rPr>
              <a:t>★☆☆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920240"/>
            <a:ext cx="5486400" cy="1645919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3000" b="0" i="1">
                <a:solidFill>
                  <a:srgbClr val="1D3557"/>
                </a:solidFill>
                <a:latin typeface="Golos Text"/>
              </a:rPr>
              <a:t>10 − 2 × 4</a:t>
            </a:r>
            <a:r>
              <a:rPr sz="3000" b="0" i="0">
                <a:solidFill>
                  <a:srgbClr val="1D3557"/>
                </a:solidFill>
                <a:latin typeface="Golos Text"/>
              </a:rPr>
              <a:t> =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417320"/>
            <a:ext cx="54864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82512" y="1600200"/>
            <a:ext cx="502920" cy="502920"/>
          </a:xfrm>
          <a:prstGeom prst="ellipse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50" b="1">
                <a:solidFill>
                  <a:srgbClr val="FFFFFF"/>
                </a:solidFill>
                <a:latin typeface="Golos Tex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97312" y="1554480"/>
            <a:ext cx="1005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600" b="0" i="0">
                <a:solidFill>
                  <a:srgbClr val="007A5A"/>
                </a:solidFill>
                <a:latin typeface="DejaVu Sans"/>
              </a:rPr>
              <a:t>★☆☆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1920240"/>
            <a:ext cx="5486400" cy="1645919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3000" b="0" i="1">
                <a:solidFill>
                  <a:srgbClr val="1D3557"/>
                </a:solidFill>
                <a:latin typeface="Golos Text"/>
              </a:rPr>
              <a:t>12 : 2 + 4 × 3</a:t>
            </a:r>
            <a:r>
              <a:rPr sz="3000" b="0" i="0">
                <a:solidFill>
                  <a:srgbClr val="1D3557"/>
                </a:solidFill>
                <a:latin typeface="Golos Text"/>
              </a:rPr>
              <a:t> =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31920"/>
            <a:ext cx="54864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4114800"/>
            <a:ext cx="502920" cy="502920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50" b="1">
                <a:solidFill>
                  <a:srgbClr val="FFFFFF"/>
                </a:solidFill>
                <a:latin typeface="Golos Tex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4069080"/>
            <a:ext cx="1005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600" b="0" i="0">
                <a:solidFill>
                  <a:srgbClr val="A84400"/>
                </a:solidFill>
                <a:latin typeface="DejaVu Sans"/>
              </a:rPr>
              <a:t>★★☆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34840"/>
            <a:ext cx="5486400" cy="1645919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3000" b="0" i="1">
                <a:solidFill>
                  <a:srgbClr val="1D3557"/>
                </a:solidFill>
                <a:latin typeface="Golos Text"/>
              </a:rPr>
              <a:t>12 + 8 : (12 − 4 × 2)</a:t>
            </a:r>
            <a:r>
              <a:rPr sz="3000" b="0" i="0">
                <a:solidFill>
                  <a:srgbClr val="1D3557"/>
                </a:solidFill>
                <a:latin typeface="Golos Text"/>
              </a:rPr>
              <a:t> =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931920"/>
            <a:ext cx="54864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82512" y="4114800"/>
            <a:ext cx="502920" cy="502920"/>
          </a:xfrm>
          <a:prstGeom prst="ellipse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50" b="1">
                <a:solidFill>
                  <a:srgbClr val="FFFFFF"/>
                </a:solidFill>
                <a:latin typeface="Golos Tex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97312" y="4069080"/>
            <a:ext cx="1005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600" b="0" i="0">
                <a:solidFill>
                  <a:srgbClr val="24418C"/>
                </a:solidFill>
                <a:latin typeface="DejaVu Sans"/>
              </a:rPr>
              <a:t>★★★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7732" y="4705350"/>
            <a:ext cx="1981200" cy="533400"/>
          </a:xfrm>
          <a:prstGeom prst="rect">
            <a:avLst/>
          </a:prstGeom>
          <a:noFill/>
        </p:spPr>
        <p:txBody>
          <a:bodyPr wrap="none" anchor="b" lIns="45720" rIns="45720">
            <a:spAutoFit/>
          </a:bodyPr>
          <a:lstStyle/>
          <a:p>
            <a:pPr algn="ctr"/>
            <a:r>
              <a:rPr sz="3000" b="0" i="1">
                <a:solidFill>
                  <a:srgbClr val="1D3557"/>
                </a:solidFill>
                <a:latin typeface="Golos Text"/>
              </a:rPr>
              <a:t>3 + 3 × 7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283452" y="5257800"/>
            <a:ext cx="1889759" cy="0"/>
          </a:xfrm>
          <a:prstGeom prst="line">
            <a:avLst/>
          </a:prstGeom>
          <a:ln w="27214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37732" y="5276850"/>
            <a:ext cx="1981200" cy="571500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ctr"/>
            <a:r>
              <a:rPr sz="3000" b="0" i="1">
                <a:solidFill>
                  <a:srgbClr val="1D3557"/>
                </a:solidFill>
                <a:latin typeface="Golos Tex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8932" y="4972050"/>
            <a:ext cx="3429000" cy="57150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3000" b="0" i="1">
                <a:solidFill>
                  <a:srgbClr val="1D3557"/>
                </a:solidFill>
                <a:latin typeface="Golos Text"/>
              </a:rPr>
              <a:t> − 2 × 4 − 3</a:t>
            </a:r>
            <a:r>
              <a:rPr sz="3000" b="0" i="0">
                <a:solidFill>
                  <a:srgbClr val="1D3557"/>
                </a:solidFill>
                <a:latin typeface="Golos Text"/>
              </a:rPr>
              <a:t> =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1460175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7784" y="369417"/>
            <a:ext cx="70408" cy="358444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1560" y="369417"/>
            <a:ext cx="70408" cy="358444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5337" y="369417"/>
            <a:ext cx="70408" cy="358444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130" y="228600"/>
            <a:ext cx="6303096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1D3557"/>
                </a:solidFill>
                <a:latin typeface="Golos Text"/>
              </a:rPr>
              <a:t>⑤ Өзүң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228600"/>
            <a:ext cx="5538063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4A5A70"/>
                </a:solidFill>
                <a:latin typeface="Golos Text"/>
              </a:rPr>
              <a:t>Арифметика › Төрт амал › Амалдар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687610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8D99AA"/>
                </a:solidFill>
                <a:latin typeface="Golos Text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6492240"/>
            <a:ext cx="573008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8D99AA"/>
                </a:solidFill>
                <a:latin typeface="Golos Text"/>
              </a:rPr>
              <a:t>Амалдар тартиби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88720"/>
            <a:ext cx="11183112" cy="1554480"/>
          </a:xfrm>
          <a:prstGeom prst="roundRect">
            <a:avLst>
              <a:gd name="adj" fmla="val 12000"/>
            </a:avLst>
          </a:prstGeom>
          <a:solidFill>
            <a:srgbClr val="D1E7E1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34440"/>
            <a:ext cx="10789920" cy="1463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600" b="1" i="0">
                <a:solidFill>
                  <a:srgbClr val="1D3557"/>
                </a:solidFill>
                <a:latin typeface="Golos Text"/>
              </a:rPr>
              <a:t>4, 2, 3 жана 6 сандарын жана каалаган амалдарды колдонуп, жообу 10 болгон мисал түз.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971800"/>
            <a:ext cx="109728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17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971800"/>
            <a:ext cx="109728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600" b="1" i="1">
                <a:solidFill>
                  <a:srgbClr val="1D3557"/>
                </a:solidFill>
                <a:latin typeface="Golos Text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971800"/>
            <a:ext cx="109728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17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971800"/>
            <a:ext cx="109728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600" b="1" i="1">
                <a:solidFill>
                  <a:srgbClr val="1D3557"/>
                </a:solidFill>
                <a:latin typeface="Golos Text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971800"/>
            <a:ext cx="109728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971800"/>
            <a:ext cx="109728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600" b="1" i="1">
                <a:solidFill>
                  <a:srgbClr val="1D3557"/>
                </a:solidFill>
                <a:latin typeface="Golos Text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2971800"/>
            <a:ext cx="109728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17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2971800"/>
            <a:ext cx="109728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600" b="1" i="1">
                <a:solidFill>
                  <a:srgbClr val="1D3557"/>
                </a:solidFill>
                <a:latin typeface="Golos Text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77639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0" i="1">
                <a:solidFill>
                  <a:srgbClr val="4A5A70"/>
                </a:solidFill>
                <a:latin typeface="Golos Text"/>
              </a:rPr>
              <a:t>Ар бир сан бир жолу гана колдонулат.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68580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 i="0">
                <a:solidFill>
                  <a:srgbClr val="1D3557"/>
                </a:solidFill>
                <a:latin typeface="Golos Text"/>
              </a:rPr>
              <a:t>1.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2960" y="5257800"/>
            <a:ext cx="9601200" cy="0"/>
          </a:xfrm>
          <a:prstGeom prst="line">
            <a:avLst/>
          </a:prstGeom>
          <a:ln w="15875">
            <a:solidFill>
              <a:srgbClr val="8D99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469880" y="4919472"/>
            <a:ext cx="10972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1D3557"/>
                </a:solidFill>
                <a:latin typeface="Golos Text"/>
              </a:rPr>
              <a:t>=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68580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24418C"/>
                </a:solidFill>
                <a:latin typeface="Golos Text"/>
              </a:rPr>
              <a:t>2. Дагы бир мисал түз: кашааларды колдон.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35040" y="6172200"/>
            <a:ext cx="4389120" cy="0"/>
          </a:xfrm>
          <a:prstGeom prst="line">
            <a:avLst/>
          </a:prstGeom>
          <a:ln w="15875">
            <a:solidFill>
              <a:srgbClr val="8D99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469880" y="5833872"/>
            <a:ext cx="10972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1D3557"/>
                </a:solidFill>
                <a:latin typeface="Golos Text"/>
              </a:rPr>
              <a:t>=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164592"/>
            <a:ext cx="5638647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0273" y="261152"/>
            <a:ext cx="48280" cy="24579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2006" y="261152"/>
            <a:ext cx="48280" cy="24579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3738" y="261152"/>
            <a:ext cx="48280" cy="24579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253" y="164592"/>
            <a:ext cx="3101256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1" i="0">
                <a:solidFill>
                  <a:srgbClr val="1D3557"/>
                </a:solidFill>
                <a:latin typeface="Golos Text"/>
              </a:rPr>
              <a:t>Амалдар тартиби: Өзүң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76656"/>
            <a:ext cx="4510918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 i="0">
                <a:solidFill>
                  <a:srgbClr val="4A5A70"/>
                </a:solidFill>
                <a:latin typeface="Golos Text"/>
              </a:rPr>
              <a:t>Аты-жөнү: ______________   Классы: ______   Күнү: __________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02047" y="704088"/>
            <a:ext cx="965200" cy="213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680" b="1">
                <a:solidFill>
                  <a:srgbClr val="1D3557"/>
                </a:solidFill>
                <a:latin typeface="Golos Text"/>
              </a:rPr>
              <a:t>Калькуляторсуз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6547104"/>
            <a:ext cx="3383188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750" b="0" i="0">
                <a:solidFill>
                  <a:srgbClr val="8D99AA"/>
                </a:solidFill>
                <a:latin typeface="Golos Text"/>
              </a:rPr>
              <a:t>MathKG · Математика кыргызча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7923" y="6547104"/>
            <a:ext cx="2819323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750" b="0" i="0">
                <a:solidFill>
                  <a:srgbClr val="8D99AA"/>
                </a:solidFill>
                <a:latin typeface="Golos Text"/>
              </a:rPr>
              <a:t>Амалдар тартиби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960120"/>
            <a:ext cx="563864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0" i="1">
                <a:solidFill>
                  <a:srgbClr val="4A5A70"/>
                </a:solidFill>
                <a:latin typeface="Golos Text"/>
              </a:rPr>
              <a:t>Эсептеңиз. Адегенде кашаа, анан × жана :, акырында + жана −.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" y="1280160"/>
            <a:ext cx="2750743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1371600"/>
            <a:ext cx="329184" cy="329184"/>
          </a:xfrm>
          <a:prstGeom prst="ellipse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80" b="1">
                <a:solidFill>
                  <a:srgbClr val="FFFFFF"/>
                </a:solidFill>
                <a:latin typeface="Golos Tex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02103" y="134416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007A5A"/>
                </a:solidFill>
                <a:latin typeface="DejaVu Sans"/>
              </a:rPr>
              <a:t>★☆☆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1691639"/>
            <a:ext cx="2750743" cy="7315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1500" b="0" i="1">
                <a:solidFill>
                  <a:srgbClr val="1D3557"/>
                </a:solidFill>
                <a:latin typeface="Golos Text"/>
              </a:rPr>
              <a:t>10 − 2 × 4</a:t>
            </a:r>
            <a:r>
              <a:rPr sz="1500" b="0" i="0">
                <a:solidFill>
                  <a:srgbClr val="1D3557"/>
                </a:solidFill>
                <a:latin typeface="Golos Text"/>
              </a:rPr>
              <a:t> =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2606040"/>
            <a:ext cx="2293543" cy="0"/>
          </a:xfrm>
          <a:prstGeom prst="line">
            <a:avLst/>
          </a:prstGeom>
          <a:ln w="12700">
            <a:solidFill>
              <a:srgbClr val="8D99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116503" y="1280160"/>
            <a:ext cx="2750743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207943" y="1371600"/>
            <a:ext cx="329184" cy="329184"/>
          </a:xfrm>
          <a:prstGeom prst="ellipse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80" b="1">
                <a:solidFill>
                  <a:srgbClr val="FFFFFF"/>
                </a:solidFill>
                <a:latin typeface="Golos Text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0007" y="134416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007A5A"/>
                </a:solidFill>
                <a:latin typeface="DejaVu Sans"/>
              </a:rPr>
              <a:t>★☆☆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6503" y="1691639"/>
            <a:ext cx="2750743" cy="7315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1500" b="0" i="1">
                <a:solidFill>
                  <a:srgbClr val="1D3557"/>
                </a:solidFill>
                <a:latin typeface="Golos Text"/>
              </a:rPr>
              <a:t>12 : 2 + 4 × 3</a:t>
            </a:r>
            <a:r>
              <a:rPr sz="1500" b="0" i="0">
                <a:solidFill>
                  <a:srgbClr val="1D3557"/>
                </a:solidFill>
                <a:latin typeface="Golos Text"/>
              </a:rPr>
              <a:t> =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45103" y="2606040"/>
            <a:ext cx="2293544" cy="0"/>
          </a:xfrm>
          <a:prstGeom prst="line">
            <a:avLst/>
          </a:prstGeom>
          <a:ln w="12700">
            <a:solidFill>
              <a:srgbClr val="8D99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28600" y="3017520"/>
            <a:ext cx="2750743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20040" y="3108960"/>
            <a:ext cx="329184" cy="329184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80" b="1">
                <a:solidFill>
                  <a:srgbClr val="FFFFFF"/>
                </a:solidFill>
                <a:latin typeface="Golos Tex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02103" y="3081527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A84400"/>
                </a:solidFill>
                <a:latin typeface="DejaVu Sans"/>
              </a:rPr>
              <a:t>★★☆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" y="3429000"/>
            <a:ext cx="2750743" cy="7315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1500" b="0" i="1">
                <a:solidFill>
                  <a:srgbClr val="1D3557"/>
                </a:solidFill>
                <a:latin typeface="Golos Text"/>
              </a:rPr>
              <a:t>12 + 8 : (12 − 4 × 2)</a:t>
            </a:r>
            <a:r>
              <a:rPr sz="1500" b="0" i="0">
                <a:solidFill>
                  <a:srgbClr val="1D3557"/>
                </a:solidFill>
                <a:latin typeface="Golos Text"/>
              </a:rPr>
              <a:t> =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7200" y="4343400"/>
            <a:ext cx="2293543" cy="0"/>
          </a:xfrm>
          <a:prstGeom prst="line">
            <a:avLst/>
          </a:prstGeom>
          <a:ln w="12700">
            <a:solidFill>
              <a:srgbClr val="8D99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116503" y="3017520"/>
            <a:ext cx="2750743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207943" y="3108960"/>
            <a:ext cx="329184" cy="329184"/>
          </a:xfrm>
          <a:prstGeom prst="ellipse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80" b="1">
                <a:solidFill>
                  <a:srgbClr val="FFFFFF"/>
                </a:solidFill>
                <a:latin typeface="Golos Text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90007" y="3081527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24418C"/>
                </a:solidFill>
                <a:latin typeface="DejaVu Sans"/>
              </a:rPr>
              <a:t>★★★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53625" y="3518535"/>
            <a:ext cx="990600" cy="266700"/>
          </a:xfrm>
          <a:prstGeom prst="rect">
            <a:avLst/>
          </a:prstGeom>
          <a:noFill/>
        </p:spPr>
        <p:txBody>
          <a:bodyPr wrap="none" anchor="b" lIns="45720" rIns="45720">
            <a:spAutoFit/>
          </a:bodyPr>
          <a:lstStyle/>
          <a:p>
            <a:pPr algn="ctr"/>
            <a:r>
              <a:rPr sz="1500" b="0" i="1">
                <a:solidFill>
                  <a:srgbClr val="1D3557"/>
                </a:solidFill>
                <a:latin typeface="Golos Text"/>
              </a:rPr>
              <a:t>3 + 3 × 7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299345" y="3794760"/>
            <a:ext cx="899160" cy="0"/>
          </a:xfrm>
          <a:prstGeom prst="line">
            <a:avLst/>
          </a:prstGeom>
          <a:ln w="13607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253625" y="3804285"/>
            <a:ext cx="990600" cy="285750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1D3557"/>
                </a:solidFill>
                <a:latin typeface="Golos Text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44225" y="3651885"/>
            <a:ext cx="1714500" cy="28575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500" b="0" i="1">
                <a:solidFill>
                  <a:srgbClr val="1D3557"/>
                </a:solidFill>
                <a:latin typeface="Golos Text"/>
              </a:rPr>
              <a:t> − 2 × 4 − 3</a:t>
            </a:r>
            <a:r>
              <a:rPr sz="1500" b="0" i="0">
                <a:solidFill>
                  <a:srgbClr val="1D3557"/>
                </a:solidFill>
                <a:latin typeface="Golos Text"/>
              </a:rPr>
              <a:t> =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345103" y="4343400"/>
            <a:ext cx="2293544" cy="0"/>
          </a:xfrm>
          <a:prstGeom prst="line">
            <a:avLst/>
          </a:prstGeom>
          <a:ln w="12700">
            <a:solidFill>
              <a:srgbClr val="8D99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28600" y="4709160"/>
            <a:ext cx="5638647" cy="1764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20040" y="4800600"/>
            <a:ext cx="329184" cy="329184"/>
          </a:xfrm>
          <a:prstGeom prst="ellipse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80" b="1">
                <a:solidFill>
                  <a:srgbClr val="FFFFFF"/>
                </a:solidFill>
                <a:latin typeface="Golos Text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745736"/>
            <a:ext cx="5090007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1D3557"/>
                </a:solidFill>
                <a:latin typeface="Golos Text"/>
              </a:rPr>
              <a:t>4, 2, 3 жана 6 сандарын жана каалаган амалдарды колдонуп, жообу 10 болгон мисал түз.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138928"/>
            <a:ext cx="5090007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 i="1">
                <a:solidFill>
                  <a:srgbClr val="4A5A70"/>
                </a:solidFill>
                <a:latin typeface="Golos Text"/>
              </a:rPr>
              <a:t>Ар бир сан бир жолу гана колдонулат.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349240"/>
            <a:ext cx="2926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1" i="0">
                <a:solidFill>
                  <a:srgbClr val="24418C"/>
                </a:solidFill>
                <a:latin typeface="Golos Text"/>
              </a:rPr>
              <a:t/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5596128"/>
            <a:ext cx="4678527" cy="0"/>
          </a:xfrm>
          <a:prstGeom prst="line">
            <a:avLst/>
          </a:prstGeom>
          <a:ln w="12700">
            <a:solidFill>
              <a:srgbClr val="8D99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208879" y="5349240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1D3557"/>
                </a:solidFill>
                <a:latin typeface="Golos Text"/>
              </a:rPr>
              <a:t>= 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5650992"/>
            <a:ext cx="2926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1" i="0">
                <a:solidFill>
                  <a:srgbClr val="24418C"/>
                </a:solidFill>
                <a:latin typeface="Golos Text"/>
              </a:rPr>
              <a:t>Дагы бир мисал түз: кашааларды колдон.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246120" y="5897880"/>
            <a:ext cx="1935327" cy="0"/>
          </a:xfrm>
          <a:prstGeom prst="line">
            <a:avLst/>
          </a:prstGeom>
          <a:ln w="12700">
            <a:solidFill>
              <a:srgbClr val="8D99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208879" y="5650992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1D3557"/>
                </a:solidFill>
                <a:latin typeface="Golos Text"/>
              </a:rPr>
              <a:t>= 10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24447" y="164592"/>
            <a:ext cx="5638647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456121" y="261152"/>
            <a:ext cx="48280" cy="24579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547853" y="261152"/>
            <a:ext cx="48280" cy="24579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639586" y="261152"/>
            <a:ext cx="48280" cy="24579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19101" y="164592"/>
            <a:ext cx="3101256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1" i="0">
                <a:solidFill>
                  <a:srgbClr val="1D3557"/>
                </a:solidFill>
                <a:latin typeface="Golos Text"/>
              </a:rPr>
              <a:t>Амалдар тартиби: Өзүң түз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24447" y="676656"/>
            <a:ext cx="4510918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 i="0">
                <a:solidFill>
                  <a:srgbClr val="4A5A70"/>
                </a:solidFill>
                <a:latin typeface="Golos Text"/>
              </a:rPr>
              <a:t>Аты-жөнү: ______________   Классы: ______   Күнү: __________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997895" y="704088"/>
            <a:ext cx="965200" cy="213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680" b="1">
                <a:solidFill>
                  <a:srgbClr val="1D3557"/>
                </a:solidFill>
                <a:latin typeface="Golos Text"/>
              </a:rPr>
              <a:t>Калькуляторсуз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24447" y="6547104"/>
            <a:ext cx="3383188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750" b="0" i="0">
                <a:solidFill>
                  <a:srgbClr val="8D99AA"/>
                </a:solidFill>
                <a:latin typeface="Golos Text"/>
              </a:rPr>
              <a:t>MathKG · Математика кыргызча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3771" y="6547104"/>
            <a:ext cx="2819323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750" b="0" i="0">
                <a:solidFill>
                  <a:srgbClr val="8D99AA"/>
                </a:solidFill>
                <a:latin typeface="Golos Text"/>
              </a:rPr>
              <a:t>Амалдар тартиби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4447" y="960120"/>
            <a:ext cx="563864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0" i="1">
                <a:solidFill>
                  <a:srgbClr val="4A5A70"/>
                </a:solidFill>
                <a:latin typeface="Golos Text"/>
              </a:rPr>
              <a:t>Эсептеңиз. Адегенде кашаа, анан × жана :, акырында + жана −.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24447" y="1280160"/>
            <a:ext cx="2750743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415887" y="1371600"/>
            <a:ext cx="329184" cy="329184"/>
          </a:xfrm>
          <a:prstGeom prst="ellipse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80" b="1">
                <a:solidFill>
                  <a:srgbClr val="FFFFFF"/>
                </a:solidFill>
                <a:latin typeface="Golos Text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97951" y="134416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007A5A"/>
                </a:solidFill>
                <a:latin typeface="DejaVu Sans"/>
              </a:rPr>
              <a:t>★☆☆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24447" y="1691639"/>
            <a:ext cx="2750743" cy="7315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1500" b="0" i="1">
                <a:solidFill>
                  <a:srgbClr val="1D3557"/>
                </a:solidFill>
                <a:latin typeface="Golos Text"/>
              </a:rPr>
              <a:t>10 − 2 × 4</a:t>
            </a:r>
            <a:r>
              <a:rPr sz="1500" b="0" i="0">
                <a:solidFill>
                  <a:srgbClr val="1D3557"/>
                </a:solidFill>
                <a:latin typeface="Golos Text"/>
              </a:rPr>
              <a:t> =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553047" y="2606040"/>
            <a:ext cx="2293544" cy="0"/>
          </a:xfrm>
          <a:prstGeom prst="line">
            <a:avLst/>
          </a:prstGeom>
          <a:ln w="12700">
            <a:solidFill>
              <a:srgbClr val="8D99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9212351" y="1280160"/>
            <a:ext cx="2750743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303791" y="1371600"/>
            <a:ext cx="329184" cy="329184"/>
          </a:xfrm>
          <a:prstGeom prst="ellipse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80" b="1">
                <a:solidFill>
                  <a:srgbClr val="FFFFFF"/>
                </a:solidFill>
                <a:latin typeface="Golos Text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85855" y="134416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007A5A"/>
                </a:solidFill>
                <a:latin typeface="DejaVu Sans"/>
              </a:rPr>
              <a:t>★☆☆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12351" y="1691639"/>
            <a:ext cx="2750743" cy="7315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1500" b="0" i="1">
                <a:solidFill>
                  <a:srgbClr val="1D3557"/>
                </a:solidFill>
                <a:latin typeface="Golos Text"/>
              </a:rPr>
              <a:t>12 : 2 + 4 × 3</a:t>
            </a:r>
            <a:r>
              <a:rPr sz="1500" b="0" i="0">
                <a:solidFill>
                  <a:srgbClr val="1D3557"/>
                </a:solidFill>
                <a:latin typeface="Golos Text"/>
              </a:rPr>
              <a:t> =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440951" y="2606040"/>
            <a:ext cx="2293544" cy="0"/>
          </a:xfrm>
          <a:prstGeom prst="line">
            <a:avLst/>
          </a:prstGeom>
          <a:ln w="12700">
            <a:solidFill>
              <a:srgbClr val="8D99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6324447" y="3017520"/>
            <a:ext cx="2750743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415887" y="3108960"/>
            <a:ext cx="329184" cy="329184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80" b="1">
                <a:solidFill>
                  <a:srgbClr val="FFFFFF"/>
                </a:solidFill>
                <a:latin typeface="Golos Text"/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97951" y="3081527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A84400"/>
                </a:solidFill>
                <a:latin typeface="DejaVu Sans"/>
              </a:rPr>
              <a:t>★★☆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24447" y="3429000"/>
            <a:ext cx="2750743" cy="7315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1500" b="0" i="1">
                <a:solidFill>
                  <a:srgbClr val="1D3557"/>
                </a:solidFill>
                <a:latin typeface="Golos Text"/>
              </a:rPr>
              <a:t>12 + 8 : (12 − 4 × 2)</a:t>
            </a:r>
            <a:r>
              <a:rPr sz="1500" b="0" i="0">
                <a:solidFill>
                  <a:srgbClr val="1D3557"/>
                </a:solidFill>
                <a:latin typeface="Golos Text"/>
              </a:rPr>
              <a:t> =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553047" y="4343400"/>
            <a:ext cx="2293544" cy="0"/>
          </a:xfrm>
          <a:prstGeom prst="line">
            <a:avLst/>
          </a:prstGeom>
          <a:ln w="12700">
            <a:solidFill>
              <a:srgbClr val="8D99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9212351" y="3017520"/>
            <a:ext cx="2750743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03791" y="3108960"/>
            <a:ext cx="329184" cy="329184"/>
          </a:xfrm>
          <a:prstGeom prst="ellipse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80" b="1">
                <a:solidFill>
                  <a:srgbClr val="FFFFFF"/>
                </a:solidFill>
                <a:latin typeface="Golos Text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85855" y="3081527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24418C"/>
                </a:solidFill>
                <a:latin typeface="DejaVu Sans"/>
              </a:rPr>
              <a:t>★★★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49473" y="3518535"/>
            <a:ext cx="990600" cy="266700"/>
          </a:xfrm>
          <a:prstGeom prst="rect">
            <a:avLst/>
          </a:prstGeom>
          <a:noFill/>
        </p:spPr>
        <p:txBody>
          <a:bodyPr wrap="none" anchor="b" lIns="45720" rIns="45720">
            <a:spAutoFit/>
          </a:bodyPr>
          <a:lstStyle/>
          <a:p>
            <a:pPr algn="ctr"/>
            <a:r>
              <a:rPr sz="1500" b="0" i="1">
                <a:solidFill>
                  <a:srgbClr val="1D3557"/>
                </a:solidFill>
                <a:latin typeface="Golos Text"/>
              </a:rPr>
              <a:t>3 + 3 × 7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9395193" y="3794760"/>
            <a:ext cx="899160" cy="0"/>
          </a:xfrm>
          <a:prstGeom prst="line">
            <a:avLst/>
          </a:prstGeom>
          <a:ln w="13607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9349473" y="3804285"/>
            <a:ext cx="990600" cy="285750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1D3557"/>
                </a:solidFill>
                <a:latin typeface="Golos Text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40073" y="3651885"/>
            <a:ext cx="1714500" cy="28575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500" b="0" i="1">
                <a:solidFill>
                  <a:srgbClr val="1D3557"/>
                </a:solidFill>
                <a:latin typeface="Golos Text"/>
              </a:rPr>
              <a:t> − 2 × 4 − 3</a:t>
            </a:r>
            <a:r>
              <a:rPr sz="1500" b="0" i="0">
                <a:solidFill>
                  <a:srgbClr val="1D3557"/>
                </a:solidFill>
                <a:latin typeface="Golos Text"/>
              </a:rPr>
              <a:t> =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9440951" y="4343400"/>
            <a:ext cx="2293544" cy="0"/>
          </a:xfrm>
          <a:prstGeom prst="line">
            <a:avLst/>
          </a:prstGeom>
          <a:ln w="12700">
            <a:solidFill>
              <a:srgbClr val="8D99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6324447" y="4709160"/>
            <a:ext cx="5638647" cy="1764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415887" y="4800600"/>
            <a:ext cx="329184" cy="329184"/>
          </a:xfrm>
          <a:prstGeom prst="ellipse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80" b="1">
                <a:solidFill>
                  <a:srgbClr val="FFFFFF"/>
                </a:solidFill>
                <a:latin typeface="Golos Text"/>
              </a:rPr>
              <a:t>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781647" y="4745736"/>
            <a:ext cx="5090007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1D3557"/>
                </a:solidFill>
                <a:latin typeface="Golos Text"/>
              </a:rPr>
              <a:t>4, 2, 3 жана 6 сандарын жана каалаган амалдарды колдонуп, жообу 10 болгон мисал түз.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81647" y="5138928"/>
            <a:ext cx="5090007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 i="1">
                <a:solidFill>
                  <a:srgbClr val="4A5A70"/>
                </a:solidFill>
                <a:latin typeface="Golos Text"/>
              </a:rPr>
              <a:t>Ар бир сан бир жолу гана колдонулат.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61607" y="5349240"/>
            <a:ext cx="2926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1" i="0">
                <a:solidFill>
                  <a:srgbClr val="24418C"/>
                </a:solidFill>
                <a:latin typeface="Golos Text"/>
              </a:rPr>
              <a:t/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6598767" y="5596128"/>
            <a:ext cx="4678528" cy="0"/>
          </a:xfrm>
          <a:prstGeom prst="line">
            <a:avLst/>
          </a:prstGeom>
          <a:ln w="12700">
            <a:solidFill>
              <a:srgbClr val="8D99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11304727" y="5349240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1D3557"/>
                </a:solidFill>
                <a:latin typeface="Golos Text"/>
              </a:rPr>
              <a:t>= 10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61607" y="5650992"/>
            <a:ext cx="2926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1" i="0">
                <a:solidFill>
                  <a:srgbClr val="24418C"/>
                </a:solidFill>
                <a:latin typeface="Golos Text"/>
              </a:rPr>
              <a:t>Дагы бир мисал түз: кашааларды колдон.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9341967" y="5897880"/>
            <a:ext cx="1935328" cy="0"/>
          </a:xfrm>
          <a:prstGeom prst="line">
            <a:avLst/>
          </a:prstGeom>
          <a:ln w="12700">
            <a:solidFill>
              <a:srgbClr val="8D99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11304727" y="5650992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1D3557"/>
                </a:solidFill>
                <a:latin typeface="Golos Text"/>
              </a:rPr>
              <a:t>= 10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6095847" y="45720"/>
            <a:ext cx="0" cy="6766560"/>
          </a:xfrm>
          <a:prstGeom prst="line">
            <a:avLst/>
          </a:prstGeom>
          <a:ln w="19050">
            <a:solidFill>
              <a:srgbClr val="4A5A7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949543" y="3246120"/>
            <a:ext cx="3200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4A5A70"/>
                </a:solidFill>
                <a:latin typeface="DejaVu Sans"/>
              </a:rPr>
              <a:t>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1460175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7784" y="369417"/>
            <a:ext cx="70408" cy="358444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1560" y="369417"/>
            <a:ext cx="70408" cy="358444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5337" y="369417"/>
            <a:ext cx="70408" cy="358444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130" y="228600"/>
            <a:ext cx="6303096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1D3557"/>
                </a:solidFill>
                <a:latin typeface="Golos Text"/>
              </a:rPr>
              <a:t>Мугалим үчүн: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228600"/>
            <a:ext cx="5538063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4A5A70"/>
                </a:solidFill>
                <a:latin typeface="Golos Text"/>
              </a:rPr>
              <a:t>Арифметика › Төрт амал › Амалдар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687610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8D99AA"/>
                </a:solidFill>
                <a:latin typeface="Golos Text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6492240"/>
            <a:ext cx="573008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8D99AA"/>
                </a:solidFill>
                <a:latin typeface="Golos Text"/>
              </a:rPr>
              <a:t>Амалдар тартиби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43000"/>
            <a:ext cx="5760720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7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34440"/>
            <a:ext cx="53035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24418C"/>
                </a:solidFill>
                <a:latin typeface="Golos Text"/>
              </a:rPr>
              <a:t>Эсептеңиз: жооптор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057400"/>
            <a:ext cx="384048" cy="384048"/>
          </a:xfrm>
          <a:prstGeom prst="ellipse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60" b="1">
                <a:solidFill>
                  <a:srgbClr val="FFFFFF"/>
                </a:solidFill>
                <a:latin typeface="Golos Tex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783080"/>
            <a:ext cx="4206240" cy="9601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2000" b="0" i="1">
                <a:solidFill>
                  <a:srgbClr val="1D3557"/>
                </a:solidFill>
                <a:latin typeface="Golos Text"/>
              </a:rPr>
              <a:t>10 − 2 × 4</a:t>
            </a:r>
            <a:r>
              <a:rPr sz="2000" b="1" i="0">
                <a:solidFill>
                  <a:srgbClr val="24418C"/>
                </a:solidFill>
                <a:latin typeface="Golos Text"/>
              </a:rPr>
              <a:t> = 2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154679"/>
            <a:ext cx="384048" cy="384048"/>
          </a:xfrm>
          <a:prstGeom prst="ellipse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60" b="1">
                <a:solidFill>
                  <a:srgbClr val="FFFFFF"/>
                </a:solidFill>
                <a:latin typeface="Golos Tex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880360"/>
            <a:ext cx="4206240" cy="9601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2000" b="0" i="1">
                <a:solidFill>
                  <a:srgbClr val="1D3557"/>
                </a:solidFill>
                <a:latin typeface="Golos Text"/>
              </a:rPr>
              <a:t>12 : 2 + 4 × 3</a:t>
            </a:r>
            <a:r>
              <a:rPr sz="2000" b="1" i="0">
                <a:solidFill>
                  <a:srgbClr val="24418C"/>
                </a:solidFill>
                <a:latin typeface="Golos Text"/>
              </a:rPr>
              <a:t> = 18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251959"/>
            <a:ext cx="384048" cy="384048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60" b="1">
                <a:solidFill>
                  <a:srgbClr val="FFFFFF"/>
                </a:solidFill>
                <a:latin typeface="Golos Tex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977639"/>
            <a:ext cx="4206240" cy="9601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2000" b="0" i="1">
                <a:solidFill>
                  <a:srgbClr val="1D3557"/>
                </a:solidFill>
                <a:latin typeface="Golos Text"/>
              </a:rPr>
              <a:t>12 + 8 : (12 − 4 × 2)</a:t>
            </a:r>
            <a:r>
              <a:rPr sz="2000" b="1" i="0">
                <a:solidFill>
                  <a:srgbClr val="24418C"/>
                </a:solidFill>
                <a:latin typeface="Golos Text"/>
              </a:rPr>
              <a:t> = 14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349240"/>
            <a:ext cx="384048" cy="384048"/>
          </a:xfrm>
          <a:prstGeom prst="ellipse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60" b="1">
                <a:solidFill>
                  <a:srgbClr val="FFFFFF"/>
                </a:solidFill>
                <a:latin typeface="Golos Tex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5239" y="5186680"/>
            <a:ext cx="1320800" cy="355600"/>
          </a:xfrm>
          <a:prstGeom prst="rect">
            <a:avLst/>
          </a:prstGeom>
          <a:noFill/>
        </p:spPr>
        <p:txBody>
          <a:bodyPr wrap="none" anchor="b" lIns="45720" rIns="45720">
            <a:spAutoFit/>
          </a:bodyPr>
          <a:lstStyle/>
          <a:p>
            <a:pPr algn="ctr"/>
            <a:r>
              <a:rPr sz="2000" b="0" i="1">
                <a:solidFill>
                  <a:srgbClr val="1D3557"/>
                </a:solidFill>
                <a:latin typeface="Golos Text"/>
              </a:rPr>
              <a:t>3 + 3 × 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30959" y="5554980"/>
            <a:ext cx="1229361" cy="0"/>
          </a:xfrm>
          <a:prstGeom prst="line">
            <a:avLst/>
          </a:prstGeom>
          <a:ln w="18142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285239" y="5567680"/>
            <a:ext cx="1320800" cy="381000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ctr"/>
            <a:r>
              <a:rPr sz="2000" b="0" i="1">
                <a:solidFill>
                  <a:srgbClr val="1D3557"/>
                </a:solidFill>
                <a:latin typeface="Golos Text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39" y="5364480"/>
            <a:ext cx="2692400" cy="38100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2000" b="0" i="1">
                <a:solidFill>
                  <a:srgbClr val="1D3557"/>
                </a:solidFill>
                <a:latin typeface="Golos Text"/>
              </a:rPr>
              <a:t> − 2 × 4 − 3</a:t>
            </a:r>
            <a:r>
              <a:rPr sz="2000" b="1" i="0">
                <a:solidFill>
                  <a:srgbClr val="24418C"/>
                </a:solidFill>
                <a:latin typeface="Golos Text"/>
              </a:rPr>
              <a:t> = −3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1143000"/>
            <a:ext cx="519379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1234440"/>
            <a:ext cx="47548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07A5A"/>
                </a:solidFill>
                <a:latin typeface="Golos Text"/>
              </a:rPr>
              <a:t>⑤ Өзүң түз: үлгү чечимдер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783080"/>
            <a:ext cx="45720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900" b="0" i="1">
                <a:solidFill>
                  <a:srgbClr val="1D3557"/>
                </a:solidFill>
                <a:latin typeface="Golos Text"/>
              </a:rPr>
              <a:t>4 × 2 + 6 : 3</a:t>
            </a:r>
            <a:r>
              <a:rPr sz="1900" b="1" i="0">
                <a:solidFill>
                  <a:srgbClr val="24418C"/>
                </a:solidFill>
                <a:latin typeface="Golos Text"/>
              </a:rPr>
              <a:t> =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31720"/>
            <a:ext cx="45720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900" b="0" i="1">
                <a:solidFill>
                  <a:srgbClr val="1D3557"/>
                </a:solidFill>
                <a:latin typeface="Golos Text"/>
              </a:rPr>
              <a:t>3 × 6 − 4 × 2</a:t>
            </a:r>
            <a:r>
              <a:rPr sz="1900" b="1" i="0">
                <a:solidFill>
                  <a:srgbClr val="24418C"/>
                </a:solidFill>
                <a:latin typeface="Golos Text"/>
              </a:rPr>
              <a:t> = 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880360"/>
            <a:ext cx="45720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900" b="0" i="1">
                <a:solidFill>
                  <a:srgbClr val="1D3557"/>
                </a:solidFill>
                <a:latin typeface="Golos Text"/>
              </a:rPr>
              <a:t>2 + 4 × 6 : 3</a:t>
            </a:r>
            <a:r>
              <a:rPr sz="1900" b="1" i="0">
                <a:solidFill>
                  <a:srgbClr val="24418C"/>
                </a:solidFill>
                <a:latin typeface="Golos Text"/>
              </a:rPr>
              <a:t> = 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429000"/>
            <a:ext cx="45720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900" b="0" i="1">
                <a:solidFill>
                  <a:srgbClr val="1D3557"/>
                </a:solidFill>
                <a:latin typeface="Golos Text"/>
              </a:rPr>
              <a:t>4 + 3 + 6 : 2</a:t>
            </a:r>
            <a:r>
              <a:rPr sz="1900" b="1" i="0">
                <a:solidFill>
                  <a:srgbClr val="24418C"/>
                </a:solidFill>
                <a:latin typeface="Golos Text"/>
              </a:rPr>
              <a:t> =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977639"/>
            <a:ext cx="45720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900" b="0" i="1">
                <a:solidFill>
                  <a:srgbClr val="1D3557"/>
                </a:solidFill>
                <a:latin typeface="Golos Text"/>
              </a:rPr>
              <a:t>6 + 4 × (3 − 2)</a:t>
            </a:r>
            <a:r>
              <a:rPr sz="1900" b="1" i="0">
                <a:solidFill>
                  <a:srgbClr val="24418C"/>
                </a:solidFill>
                <a:latin typeface="Golos Text"/>
              </a:rPr>
              <a:t> = 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526280"/>
            <a:ext cx="45720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900" b="0" i="1">
                <a:solidFill>
                  <a:srgbClr val="1D3557"/>
                </a:solidFill>
                <a:latin typeface="Golos Text"/>
              </a:rPr>
              <a:t>(6 − 3) × 2 + 4</a:t>
            </a:r>
            <a:r>
              <a:rPr sz="1900" b="1" i="0">
                <a:solidFill>
                  <a:srgbClr val="24418C"/>
                </a:solidFill>
                <a:latin typeface="Golos Text"/>
              </a:rPr>
              <a:t> =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074920"/>
            <a:ext cx="45720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900" b="0" i="1">
                <a:solidFill>
                  <a:srgbClr val="1D3557"/>
                </a:solidFill>
                <a:latin typeface="Golos Text"/>
              </a:rPr>
              <a:t>6 : (3 − 2) + 4</a:t>
            </a:r>
            <a:r>
              <a:rPr sz="1900" b="1" i="0">
                <a:solidFill>
                  <a:srgbClr val="24418C"/>
                </a:solidFill>
                <a:latin typeface="Golos Text"/>
              </a:rPr>
              <a:t> = 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623560"/>
            <a:ext cx="45720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900" b="0" i="1">
                <a:solidFill>
                  <a:srgbClr val="1D3557"/>
                </a:solidFill>
                <a:latin typeface="Golos Text"/>
              </a:rPr>
              <a:t>2 × (6 + 3 − 4)</a:t>
            </a:r>
            <a:r>
              <a:rPr sz="1900" b="1" i="0">
                <a:solidFill>
                  <a:srgbClr val="24418C"/>
                </a:solidFill>
                <a:latin typeface="Golos Text"/>
              </a:rPr>
              <a:t> =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1460175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7784" y="369417"/>
            <a:ext cx="70408" cy="358444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1560" y="369417"/>
            <a:ext cx="70408" cy="358444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5337" y="369417"/>
            <a:ext cx="70408" cy="358444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130" y="228600"/>
            <a:ext cx="6303096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1D3557"/>
                </a:solidFill>
                <a:latin typeface="Golos Text"/>
              </a:rPr>
              <a:t>Пикир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228600"/>
            <a:ext cx="5538063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4A5A70"/>
                </a:solidFill>
                <a:latin typeface="Golos Text"/>
              </a:rPr>
              <a:t>Арифметика › Төрт амал › Амалдар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687610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8D99AA"/>
                </a:solidFill>
                <a:latin typeface="Golos Text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6492240"/>
            <a:ext cx="573008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8D99AA"/>
                </a:solidFill>
                <a:latin typeface="Golos Text"/>
              </a:rPr>
              <a:t>Амалдар тартиби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234440"/>
            <a:ext cx="9235440" cy="498348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 w="19050">
            <a:solidFill>
              <a:srgbClr val="E7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417320"/>
            <a:ext cx="86868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600" b="1" i="0">
                <a:solidFill>
                  <a:srgbClr val="1D3557"/>
                </a:solidFill>
                <a:latin typeface="Golos Text"/>
              </a:rPr>
              <a:t>Суроолор барбы?</a:t>
            </a:r>
          </a:p>
          <a:p>
            <a:pPr algn="ctr"/>
            <a:r>
              <a:rPr sz="2600" b="1" i="0">
                <a:solidFill>
                  <a:srgbClr val="1D3557"/>
                </a:solidFill>
                <a:latin typeface="Golos Text"/>
              </a:rPr>
              <a:t>Комментарийлер?</a:t>
            </a:r>
          </a:p>
          <a:p>
            <a:pPr algn="ctr"/>
            <a:r>
              <a:rPr sz="2600" b="1" i="0">
                <a:solidFill>
                  <a:srgbClr val="1D3557"/>
                </a:solidFill>
                <a:latin typeface="Golos Text"/>
              </a:rPr>
              <a:t>Сунуштар?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926080"/>
            <a:ext cx="8686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1" i="0">
                <a:solidFill>
                  <a:srgbClr val="A84400"/>
                </a:solidFill>
                <a:latin typeface="Golos Text"/>
              </a:rPr>
              <a:t>…же ката таптыңызбы?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566160"/>
            <a:ext cx="8686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1" i="0">
                <a:solidFill>
                  <a:srgbClr val="007A5A"/>
                </a:solidFill>
                <a:latin typeface="Golos Text"/>
              </a:rPr>
              <a:t>Баарыңызга рахмат!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206240"/>
            <a:ext cx="8686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0" i="0">
                <a:solidFill>
                  <a:srgbClr val="4A5A70"/>
                </a:solidFill>
                <a:latin typeface="Golos Text"/>
              </a:rPr>
              <a:t>Сураныч, электрондук кат жөнөтүңүз: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4846320"/>
            <a:ext cx="466344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39" y="4846320"/>
            <a:ext cx="466344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200" b="1" i="0">
                <a:solidFill>
                  <a:srgbClr val="24418C"/>
                </a:solidFill>
                <a:latin typeface="Golos Text"/>
              </a:rPr>
              <a:t>mathematicskgz@gmail.com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