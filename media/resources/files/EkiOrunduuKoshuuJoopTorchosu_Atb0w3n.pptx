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0"/>
  </p:notesMasterIdLst>
  <p:sldIdLst>
    <p:sldId id="257" r:id="rId3"/>
    <p:sldId id="915" r:id="rId4"/>
    <p:sldId id="917" r:id="rId5"/>
    <p:sldId id="912" r:id="rId6"/>
    <p:sldId id="918" r:id="rId7"/>
    <p:sldId id="919" r:id="rId8"/>
    <p:sldId id="274" r:id="rId9"/>
  </p:sldIdLst>
  <p:sldSz cx="9906000" cy="6858000" type="A4"/>
  <p:notesSz cx="7104063" cy="10234613"/>
  <p:embeddedFontLst>
    <p:embeddedFont>
      <p:font typeface="Aharoni" panose="02010803020104030203" pitchFamily="2" charset="-79"/>
      <p:bold r:id="rId11"/>
    </p:embeddedFont>
    <p:embeddedFont>
      <p:font typeface="Bahnschrift" panose="020B0502040204020203" pitchFamily="34" charset="0"/>
      <p:regular r:id="rId12"/>
      <p:bold r:id="rId13"/>
    </p:embeddedFont>
    <p:embeddedFont>
      <p:font typeface="Script MT Bold" panose="03040602040607080904" pitchFamily="66" charset="0"/>
      <p:bold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1"/>
            <a:ext cx="3078427" cy="513508"/>
          </a:xfrm>
          <a:prstGeom prst="rect">
            <a:avLst/>
          </a:prstGeom>
        </p:spPr>
        <p:txBody>
          <a:bodyPr vert="horz" lIns="94636" tIns="47318" rIns="94636" bIns="47318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15/05/2024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8863" y="1281113"/>
            <a:ext cx="4986337" cy="3452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6" tIns="47318" rIns="94636" bIns="47318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09"/>
            <a:ext cx="5683250" cy="4029878"/>
          </a:xfrm>
          <a:prstGeom prst="rect">
            <a:avLst/>
          </a:prstGeom>
        </p:spPr>
        <p:txBody>
          <a:bodyPr vert="horz" lIns="94636" tIns="47318" rIns="94636" bIns="4731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6" tIns="47318" rIns="94636" bIns="47318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1282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10898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36093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938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5/15/2024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532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5/15/2024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3363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5/15/2024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1307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0038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5/15/2024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630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11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5/15/2024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18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3932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1685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9470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5/15/2024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437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1037" y="1510665"/>
            <a:ext cx="8543925" cy="4351338"/>
          </a:xfrm>
        </p:spPr>
        <p:txBody>
          <a:bodyPr>
            <a:normAutofit/>
          </a:bodyPr>
          <a:lstStyle/>
          <a:p>
            <a:r>
              <a:rPr lang="ru-RU" sz="2400"/>
              <a:t>2 Орундуу </a:t>
            </a:r>
            <a:r>
              <a:rPr lang="ru-RU" sz="2400" dirty="0"/>
              <a:t>Ондуктар – Кошуу – Жооптор торчосу</a:t>
            </a:r>
            <a:endParaRPr lang="en-US" sz="2400" dirty="0"/>
          </a:p>
          <a:p>
            <a:endParaRPr lang="en-US" sz="2400" dirty="0"/>
          </a:p>
          <a:p>
            <a:r>
              <a:rPr lang="ru-RU" sz="2400" dirty="0"/>
              <a:t>Окуучулар жооптор торчосунда жоопторду сызып, калган беш сандардын суммасын чыгарышы керек.</a:t>
            </a:r>
            <a:endParaRPr lang="en-US" sz="2400" dirty="0"/>
          </a:p>
          <a:p>
            <a:endParaRPr lang="ru-RU" sz="2400" dirty="0"/>
          </a:p>
          <a:p>
            <a:r>
              <a:rPr lang="ru-RU" sz="2400" dirty="0"/>
              <a:t>Иш баракчасы ар кандай өлчөмдө/форматтарда берилет.</a:t>
            </a:r>
          </a:p>
          <a:p>
            <a:endParaRPr lang="ru-RU" sz="2400" dirty="0"/>
          </a:p>
          <a:p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2400" y="244157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518F3C0-CB86-4363-8C1E-1F32D139DED0}"/>
              </a:ext>
            </a:extLst>
          </p:cNvPr>
          <p:cNvSpPr txBox="1"/>
          <p:nvPr/>
        </p:nvSpPr>
        <p:spPr>
          <a:xfrm>
            <a:off x="1547067" y="2084252"/>
            <a:ext cx="71797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Ар бир жоопту ТОРЧОдон табыңыз!</a:t>
            </a:r>
            <a:endParaRPr kumimoji="0" lang="en-GB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8152C6-FA9B-CCEA-65A2-D9050ECC73CD}"/>
              </a:ext>
            </a:extLst>
          </p:cNvPr>
          <p:cNvSpPr txBox="1"/>
          <p:nvPr/>
        </p:nvSpPr>
        <p:spPr>
          <a:xfrm>
            <a:off x="1270000" y="412596"/>
            <a:ext cx="73558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haroni" panose="02010803020104030203" pitchFamily="2" charset="-79"/>
              </a:rPr>
              <a:t>Жооп ТОРЧОсу</a:t>
            </a:r>
            <a:endParaRPr kumimoji="0" lang="en-US" sz="8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cript MT Bold" panose="03040602040607080904" pitchFamily="66" charset="0"/>
              <a:ea typeface="+mn-ea"/>
              <a:cs typeface="Aharoni" panose="02010803020104030203" pitchFamily="2" charset="-79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79104F-92BB-7AEB-E9EF-40B6DEB0B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68" y="3151655"/>
            <a:ext cx="8178102" cy="2835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524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69378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0367056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+ 3,7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+ 5,81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5,2 + 4,62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3,48 + 2,37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8,21 + 7,06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4,90 + 10,3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1,11 + 5,62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8,07 + 0,05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4,99 + 7,2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 + 3,3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6,07 + 0,09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7,9 + 6,31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6,67 + 4,14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1,9 + 4,3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0,58 + 4,06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7,32 + 4,49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13,07 + 0,95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0,73 + 4,07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12,4 + 3,57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754739"/>
              </p:ext>
            </p:extLst>
          </p:nvPr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GB" sz="24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Бардыгы:</a:t>
            </a:r>
            <a:endParaRPr lang="en-GB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304044" y="12149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D1C392-7230-263F-BA87-8164891C9154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55056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6ECEF9F-434E-4379-BE8F-FC57D6668F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1888592"/>
              </p:ext>
            </p:extLst>
          </p:nvPr>
        </p:nvGraphicFramePr>
        <p:xfrm>
          <a:off x="6668870" y="51516"/>
          <a:ext cx="3177185" cy="2281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437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635437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4,64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9,82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15,97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14,02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6,73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9,1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15,27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6,16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11,81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  <a:tr h="45634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5,85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7,78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10,81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489906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44CACCE-EE06-4252-A99D-23B4690130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484081"/>
              </p:ext>
            </p:extLst>
          </p:nvPr>
        </p:nvGraphicFramePr>
        <p:xfrm>
          <a:off x="61545" y="617195"/>
          <a:ext cx="6506680" cy="2745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1336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272731682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4094935927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1717181824"/>
                    </a:ext>
                  </a:extLst>
                </a:gridCol>
                <a:gridCol w="1301336">
                  <a:extLst>
                    <a:ext uri="{9D8B030D-6E8A-4147-A177-3AD203B41FA5}">
                      <a16:colId xmlns:a16="http://schemas.microsoft.com/office/drawing/2014/main" val="2866367759"/>
                    </a:ext>
                  </a:extLst>
                </a:gridCol>
              </a:tblGrid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2,4 + 3,7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 + 5,81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5,2 + 4,62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3,48 + 2,37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8,21 + 7,06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4,90 + 10,3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1,11 + 5,62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8,07 + 0,05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4,99 + 7,2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5,8 + 3,3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8032225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6,07 + 0,09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7,9 + 6,31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6,67 + 4,14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1,9 + 4,3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0,58 + 4,06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3340403"/>
                  </a:ext>
                </a:extLst>
              </a:tr>
              <a:tr h="686388"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7,32 + 4,49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2,1 + 3,6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13,07 + 0,95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0,73 + 4,07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000" b="0" dirty="0">
                          <a:solidFill>
                            <a:sysClr val="windowText" lastClr="000000"/>
                          </a:solidFill>
                          <a:latin typeface="Bahnschrift" panose="020B0502040204020203" pitchFamily="34" charset="0"/>
                        </a:rPr>
                        <a:t>12,4 + 3,57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5741864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AD24C9A-01A7-4E5D-A407-60D51806BBAA}"/>
              </a:ext>
            </a:extLst>
          </p:cNvPr>
          <p:cNvGraphicFramePr>
            <a:graphicFrameLocks noGrp="1"/>
          </p:cNvGraphicFramePr>
          <p:nvPr/>
        </p:nvGraphicFramePr>
        <p:xfrm>
          <a:off x="6696583" y="2878058"/>
          <a:ext cx="3121758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1758">
                  <a:extLst>
                    <a:ext uri="{9D8B030D-6E8A-4147-A177-3AD203B41FA5}">
                      <a16:colId xmlns:a16="http://schemas.microsoft.com/office/drawing/2014/main" val="25141067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2400" b="0" dirty="0">
                          <a:solidFill>
                            <a:sysClr val="windowText" lastClr="000000"/>
                          </a:solidFill>
                        </a:rPr>
                        <a:t>32,36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94484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3E2957F7-99F0-4B3A-B72D-884CCB8B23AD}"/>
              </a:ext>
            </a:extLst>
          </p:cNvPr>
          <p:cNvSpPr/>
          <p:nvPr/>
        </p:nvSpPr>
        <p:spPr>
          <a:xfrm>
            <a:off x="6739812" y="2497580"/>
            <a:ext cx="30353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Total: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C9F3885-40A0-4971-85BC-67C02F8382C4}"/>
              </a:ext>
            </a:extLst>
          </p:cNvPr>
          <p:cNvSpPr/>
          <p:nvPr/>
        </p:nvSpPr>
        <p:spPr>
          <a:xfrm>
            <a:off x="2163706" y="26847"/>
            <a:ext cx="462364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Ар бир жоопту сызып, анан калган </a:t>
            </a:r>
            <a:r>
              <a:rPr lang="ky-KG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беш сандын суммасын тап</a:t>
            </a:r>
            <a:r>
              <a:rPr lang="ru-RU" sz="1600" dirty="0">
                <a:solidFill>
                  <a:sysClr val="windowText" lastClr="000000"/>
                </a:solidFill>
                <a:latin typeface="Bahnschrift" panose="020B0502040204020203" pitchFamily="34" charset="0"/>
              </a:rPr>
              <a:t>.</a:t>
            </a:r>
            <a:endParaRPr lang="en-GB" sz="1600" dirty="0">
              <a:solidFill>
                <a:sysClr val="windowText" lastClr="000000"/>
              </a:solidFill>
              <a:latin typeface="Bahnschrif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86D735-EF3E-4AE4-A6B3-95A3EE61F723}"/>
              </a:ext>
            </a:extLst>
          </p:cNvPr>
          <p:cNvSpPr/>
          <p:nvPr/>
        </p:nvSpPr>
        <p:spPr>
          <a:xfrm>
            <a:off x="6707197" y="3411714"/>
            <a:ext cx="310052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hnschrift" panose="020B0502040204020203" pitchFamily="34" charset="0"/>
              </a:rPr>
              <a:t>Жооптор</a:t>
            </a:r>
            <a:endParaRPr lang="en-GB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91C84B-E172-BD38-6637-8981B96C71E5}"/>
              </a:ext>
            </a:extLst>
          </p:cNvPr>
          <p:cNvSpPr txBox="1"/>
          <p:nvPr/>
        </p:nvSpPr>
        <p:spPr>
          <a:xfrm>
            <a:off x="0" y="23778"/>
            <a:ext cx="25628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cs typeface="Aharoni" panose="02010803020104030203" pitchFamily="2" charset="-79"/>
              </a:rPr>
              <a:t>Жооп </a:t>
            </a:r>
            <a:r>
              <a:rPr lang="ru-RU" sz="2800" b="1" dirty="0">
                <a:latin typeface="Bahnschrift" panose="020B0502040204020203" pitchFamily="34" charset="0"/>
                <a:cs typeface="Aharoni" panose="02010803020104030203" pitchFamily="2" charset="-79"/>
              </a:rPr>
              <a:t>ТОРЧОсу</a:t>
            </a:r>
            <a:endParaRPr lang="en-US" sz="2800" b="1" dirty="0">
              <a:latin typeface="Bahnschrift" panose="020B0502040204020203" pitchFamily="34" charset="0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13574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AB5123-19EF-F62F-5AC4-0B7DCB76D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5" y="65954"/>
            <a:ext cx="9713567" cy="336304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F9D059-A9DB-2CC2-4AC0-B489835D6B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4" y="3606800"/>
            <a:ext cx="9713567" cy="325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184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BBFC6B-BE59-0E80-8192-70DBC0C216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2153545" y="2316853"/>
            <a:ext cx="6806451" cy="22758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15C0BA-57F6-299D-F22D-FE335C562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7075" y="2265303"/>
            <a:ext cx="6806451" cy="227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B00CFEB-1F53-5E54-7450-430B5C808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687696" y="2291078"/>
            <a:ext cx="6806451" cy="2275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E34ECA3-D44B-DE13-283B-1FA779A4F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166736" y="2178944"/>
            <a:ext cx="6806451" cy="2448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91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1551" y="848185"/>
            <a:ext cx="8543925" cy="3535462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ru-RU" sz="2400" dirty="0"/>
              <a:t>Суроолор барбы?</a:t>
            </a:r>
          </a:p>
          <a:p>
            <a:pPr marL="0" indent="0" algn="ctr">
              <a:buNone/>
            </a:pPr>
            <a:r>
              <a:rPr lang="ru-RU" sz="2400" dirty="0"/>
              <a:t>Комментарийлер?</a:t>
            </a:r>
          </a:p>
          <a:p>
            <a:pPr marL="0" indent="0" algn="ctr">
              <a:buNone/>
            </a:pPr>
            <a:r>
              <a:rPr lang="ru-RU" sz="2400" dirty="0"/>
              <a:t>Сунуштар?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…же ката таптыңызбы!?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ru-RU" sz="24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400" dirty="0"/>
          </a:p>
          <a:p>
            <a:pPr marL="0" indent="0" algn="ctr">
              <a:buNone/>
            </a:pPr>
            <a:r>
              <a:rPr lang="en-US" sz="24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8402</TotalTime>
  <Words>288</Words>
  <Application>Microsoft Office PowerPoint</Application>
  <PresentationFormat>A4 Paper (210x297 mm)</PresentationFormat>
  <Paragraphs>120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Bahnschrift</vt:lpstr>
      <vt:lpstr>Arial</vt:lpstr>
      <vt:lpstr>Calibri Light</vt:lpstr>
      <vt:lpstr>Script MT Bold</vt:lpstr>
      <vt:lpstr>Aharoni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368</cp:revision>
  <cp:lastPrinted>2020-10-07T11:43:04Z</cp:lastPrinted>
  <dcterms:created xsi:type="dcterms:W3CDTF">2017-01-17T16:57:04Z</dcterms:created>
  <dcterms:modified xsi:type="dcterms:W3CDTF">2024-05-15T07:46:14Z</dcterms:modified>
</cp:coreProperties>
</file>