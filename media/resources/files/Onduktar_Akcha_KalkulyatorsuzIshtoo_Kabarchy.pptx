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4"/>
  </p:notesMasterIdLst>
  <p:sldIdLst>
    <p:sldId id="955" r:id="rId2"/>
    <p:sldId id="956" r:id="rId3"/>
    <p:sldId id="957" r:id="rId4"/>
    <p:sldId id="958" r:id="rId5"/>
    <p:sldId id="944" r:id="rId6"/>
    <p:sldId id="881" r:id="rId7"/>
    <p:sldId id="943" r:id="rId8"/>
    <p:sldId id="948" r:id="rId9"/>
    <p:sldId id="871" r:id="rId10"/>
    <p:sldId id="945" r:id="rId11"/>
    <p:sldId id="882" r:id="rId12"/>
    <p:sldId id="949" r:id="rId13"/>
    <p:sldId id="883" r:id="rId14"/>
    <p:sldId id="884" r:id="rId15"/>
    <p:sldId id="946" r:id="rId16"/>
    <p:sldId id="888" r:id="rId17"/>
    <p:sldId id="947" r:id="rId18"/>
    <p:sldId id="940" r:id="rId19"/>
    <p:sldId id="959" r:id="rId20"/>
    <p:sldId id="951" r:id="rId21"/>
    <p:sldId id="952" r:id="rId22"/>
    <p:sldId id="960" r:id="rId23"/>
  </p:sldIdLst>
  <p:sldSz cx="9906000" cy="6858000" type="A4"/>
  <p:notesSz cx="6669088" cy="9926638"/>
  <p:embeddedFontLst>
    <p:embeddedFont>
      <p:font typeface="Arial Rounded MT Bold" panose="020F0704030504030204" pitchFamily="34" charset="0"/>
      <p:regular r:id="rId25"/>
    </p:embeddedFont>
    <p:embeddedFont>
      <p:font typeface="Forte" panose="03060902040502070203" pitchFamily="66" charset="0"/>
      <p:regular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EF9AA782-7305-4EF0-826B-496B748B9DFA}">
          <p14:sldIdLst>
            <p14:sldId id="955"/>
            <p14:sldId id="956"/>
          </p14:sldIdLst>
        </p14:section>
        <p14:section name="Башкы слайд" id="{706AD6E9-1F84-4568-B614-B861379D010B}">
          <p14:sldIdLst>
            <p14:sldId id="957"/>
            <p14:sldId id="958"/>
          </p14:sldIdLst>
        </p14:section>
        <p14:section name="A5 Суроолор" id="{7AB822BA-3FD1-4214-B6A3-0CC2B5594D37}">
          <p14:sldIdLst>
            <p14:sldId id="944"/>
            <p14:sldId id="881"/>
            <p14:sldId id="943"/>
            <p14:sldId id="948"/>
            <p14:sldId id="871"/>
            <p14:sldId id="945"/>
            <p14:sldId id="882"/>
            <p14:sldId id="949"/>
            <p14:sldId id="883"/>
            <p14:sldId id="884"/>
            <p14:sldId id="946"/>
            <p14:sldId id="888"/>
            <p14:sldId id="947"/>
          </p14:sldIdLst>
        </p14:section>
        <p14:section name="Жооптор" id="{76F00656-3C7B-48B1-AB40-B28CB114CE94}">
          <p14:sldIdLst>
            <p14:sldId id="940"/>
          </p14:sldIdLst>
        </p14:section>
        <p14:section name="Окуучулардын жооп кагазы" id="{90998206-5EAB-46D6-B15C-C92B952ABF8F}">
          <p14:sldIdLst>
            <p14:sldId id="959"/>
            <p14:sldId id="951"/>
            <p14:sldId id="952"/>
          </p14:sldIdLst>
        </p14:section>
        <p14:section name="Кайтарым байланыш" id="{5CEDF54B-67BB-44A6-A080-F68F267EFC37}">
          <p14:sldIdLst>
            <p14:sldId id="9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C280BA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91" autoAdjust="0"/>
    <p:restoredTop sz="94343" autoAdjust="0"/>
  </p:normalViewPr>
  <p:slideViewPr>
    <p:cSldViewPr snapToGrid="0" showGuides="1">
      <p:cViewPr varScale="1">
        <p:scale>
          <a:sx n="59" d="100"/>
          <a:sy n="59" d="100"/>
        </p:scale>
        <p:origin x="1508" y="56"/>
      </p:cViewPr>
      <p:guideLst>
        <p:guide orient="horz" pos="2137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1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Title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53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Optional rules slide to show the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00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y-KG" dirty="0"/>
              <a:t>Жооптор окуучулардын өздөрүнүн же башка команданын ишин текшерүү\салыштыруу  үчүн көрсөтүлөт.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7595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5101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830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5" Type="http://schemas.microsoft.com/office/2007/relationships/hdphoto" Target="../media/hdphoto2.wdp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4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21920" y="1218533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–Тур</a:t>
            </a:r>
            <a:r>
              <a:rPr lang="ky-KG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уштан эсептер– Калькулятор</a:t>
            </a:r>
            <a:r>
              <a:rPr lang="ky-KG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суз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иштөө – Кабарчы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конкурстук иш-чарада бир окуучу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же андан көп студенттен турган команданын кабарчысы болуп саналат.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Чуркап тынчтыкты бузбастан(!), алар суроолор тууралуу маалыматты (бөлмөнүн айланасында жайгаштырылган) командалаштарына кабар беришет, командалаштары кабарчыдан алган суроолорго жооп беришет.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кабарчынын суроонсун жана жообун жазып алышы керек, алар иш-чаранын аягындагы жооп слайдын колдонуу менен өз иштерин текшере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Упайлар системасы менен окуучулар тиешелүү суроолорго жооп берүүгө аракет кыла алышат..)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22825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2459504"/>
            <a:ext cx="9906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 Чыныгы жашоо – Калькуляторсыз – Кабарчы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Упайлар системасы менен студенттер тиешелүү суроолорго аракет кыла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Башкаларды жеңүү жана утуу үчүн плакаттарды/суроолорду тандасаңыз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[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Мугалимге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]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(Классыңыздын айланасындагы таза пластик капчыктар(файлдар) плакаттарды тез жана оңой көрсөтүүгө жардам берет.)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8535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2AF318-ED68-4721-B7D4-144CC7D05C78}"/>
              </a:ext>
            </a:extLst>
          </p:cNvPr>
          <p:cNvSpPr/>
          <p:nvPr/>
        </p:nvSpPr>
        <p:spPr>
          <a:xfrm>
            <a:off x="0" y="-22761"/>
            <a:ext cx="9906000" cy="3733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2F6E04-3F6C-4C48-A588-8EA19169BFCE}"/>
              </a:ext>
            </a:extLst>
          </p:cNvPr>
          <p:cNvSpPr/>
          <p:nvPr/>
        </p:nvSpPr>
        <p:spPr>
          <a:xfrm>
            <a:off x="0" y="3124200"/>
            <a:ext cx="9906000" cy="3733800"/>
          </a:xfrm>
          <a:prstGeom prst="rect">
            <a:avLst/>
          </a:prstGeom>
          <a:solidFill>
            <a:srgbClr val="C280B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Smiley Face 1">
            <a:extLst>
              <a:ext uri="{FF2B5EF4-FFF2-40B4-BE49-F238E27FC236}">
                <a16:creationId xmlns:a16="http://schemas.microsoft.com/office/drawing/2014/main" id="{B661F1CD-E199-407A-AE68-0F73B3BE5EDA}"/>
              </a:ext>
            </a:extLst>
          </p:cNvPr>
          <p:cNvSpPr/>
          <p:nvPr/>
        </p:nvSpPr>
        <p:spPr>
          <a:xfrm>
            <a:off x="219530" y="673883"/>
            <a:ext cx="4518562" cy="4518562"/>
          </a:xfrm>
          <a:prstGeom prst="smileyFace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8672EA1B-E3A3-4065-8517-37D11824351C}"/>
              </a:ext>
            </a:extLst>
          </p:cNvPr>
          <p:cNvSpPr/>
          <p:nvPr/>
        </p:nvSpPr>
        <p:spPr>
          <a:xfrm>
            <a:off x="6021327" y="3308350"/>
            <a:ext cx="3365500" cy="3365500"/>
          </a:xfrm>
          <a:prstGeom prst="smileyFace">
            <a:avLst>
              <a:gd name="adj" fmla="val 34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Speech Bubble: Oval 4">
            <a:extLst>
              <a:ext uri="{FF2B5EF4-FFF2-40B4-BE49-F238E27FC236}">
                <a16:creationId xmlns:a16="http://schemas.microsoft.com/office/drawing/2014/main" id="{287653A8-406B-418D-89C5-1E120F7EED34}"/>
              </a:ext>
            </a:extLst>
          </p:cNvPr>
          <p:cNvSpPr/>
          <p:nvPr/>
        </p:nvSpPr>
        <p:spPr>
          <a:xfrm>
            <a:off x="4165104" y="358094"/>
            <a:ext cx="5549900" cy="3070905"/>
          </a:xfrm>
          <a:prstGeom prst="wedgeEllipseCallout">
            <a:avLst>
              <a:gd name="adj1" fmla="val -52477"/>
              <a:gd name="adj2" fmla="val 63556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EC065B-171E-4F9A-8F05-9B6C8FC14CA7}"/>
              </a:ext>
            </a:extLst>
          </p:cNvPr>
          <p:cNvSpPr/>
          <p:nvPr/>
        </p:nvSpPr>
        <p:spPr>
          <a:xfrm>
            <a:off x="4831517" y="1173843"/>
            <a:ext cx="4305153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Кабарчы</a:t>
            </a:r>
            <a:r>
              <a:rPr lang="en-US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!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C4B942-231F-4F87-8A4D-5BBBCE871074}"/>
              </a:ext>
            </a:extLst>
          </p:cNvPr>
          <p:cNvSpPr/>
          <p:nvPr/>
        </p:nvSpPr>
        <p:spPr>
          <a:xfrm>
            <a:off x="6534150" y="5443775"/>
            <a:ext cx="2232479" cy="6621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9D84321-D7C4-4F20-9FE2-D8669F3CF308}"/>
              </a:ext>
            </a:extLst>
          </p:cNvPr>
          <p:cNvSpPr/>
          <p:nvPr/>
        </p:nvSpPr>
        <p:spPr>
          <a:xfrm>
            <a:off x="6769100" y="5502267"/>
            <a:ext cx="1997529" cy="272579"/>
          </a:xfrm>
          <a:custGeom>
            <a:avLst/>
            <a:gdLst>
              <a:gd name="connsiteX0" fmla="*/ 0 w 3207657"/>
              <a:gd name="connsiteY0" fmla="*/ 144225 h 437711"/>
              <a:gd name="connsiteX1" fmla="*/ 1001485 w 3207657"/>
              <a:gd name="connsiteY1" fmla="*/ 13596 h 437711"/>
              <a:gd name="connsiteX2" fmla="*/ 2061028 w 3207657"/>
              <a:gd name="connsiteY2" fmla="*/ 434511 h 437711"/>
              <a:gd name="connsiteX3" fmla="*/ 3207657 w 3207657"/>
              <a:gd name="connsiteY3" fmla="*/ 173254 h 437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7657" h="437711">
                <a:moveTo>
                  <a:pt x="0" y="144225"/>
                </a:moveTo>
                <a:cubicBezTo>
                  <a:pt x="328990" y="54720"/>
                  <a:pt x="657980" y="-34785"/>
                  <a:pt x="1001485" y="13596"/>
                </a:cubicBezTo>
                <a:cubicBezTo>
                  <a:pt x="1344990" y="61977"/>
                  <a:pt x="1693333" y="407901"/>
                  <a:pt x="2061028" y="434511"/>
                </a:cubicBezTo>
                <a:cubicBezTo>
                  <a:pt x="2428723" y="461121"/>
                  <a:pt x="2818190" y="317187"/>
                  <a:pt x="3207657" y="173254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050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2AF318-ED68-4721-B7D4-144CC7D05C78}"/>
              </a:ext>
            </a:extLst>
          </p:cNvPr>
          <p:cNvSpPr/>
          <p:nvPr/>
        </p:nvSpPr>
        <p:spPr>
          <a:xfrm>
            <a:off x="0" y="-22761"/>
            <a:ext cx="9906000" cy="3733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2F6E04-3F6C-4C48-A588-8EA19169BFCE}"/>
              </a:ext>
            </a:extLst>
          </p:cNvPr>
          <p:cNvSpPr/>
          <p:nvPr/>
        </p:nvSpPr>
        <p:spPr>
          <a:xfrm>
            <a:off x="0" y="3124200"/>
            <a:ext cx="9906000" cy="3733800"/>
          </a:xfrm>
          <a:prstGeom prst="rect">
            <a:avLst/>
          </a:prstGeom>
          <a:solidFill>
            <a:srgbClr val="C280B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Smiley Face 1">
            <a:extLst>
              <a:ext uri="{FF2B5EF4-FFF2-40B4-BE49-F238E27FC236}">
                <a16:creationId xmlns:a16="http://schemas.microsoft.com/office/drawing/2014/main" id="{B661F1CD-E199-407A-AE68-0F73B3BE5EDA}"/>
              </a:ext>
            </a:extLst>
          </p:cNvPr>
          <p:cNvSpPr/>
          <p:nvPr/>
        </p:nvSpPr>
        <p:spPr>
          <a:xfrm>
            <a:off x="219530" y="673883"/>
            <a:ext cx="4518562" cy="4518562"/>
          </a:xfrm>
          <a:prstGeom prst="smileyFace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8672EA1B-E3A3-4065-8517-37D11824351C}"/>
              </a:ext>
            </a:extLst>
          </p:cNvPr>
          <p:cNvSpPr/>
          <p:nvPr/>
        </p:nvSpPr>
        <p:spPr>
          <a:xfrm>
            <a:off x="6021327" y="3308350"/>
            <a:ext cx="3365500" cy="3365500"/>
          </a:xfrm>
          <a:prstGeom prst="smileyFace">
            <a:avLst>
              <a:gd name="adj" fmla="val 34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C4B942-231F-4F87-8A4D-5BBBCE871074}"/>
              </a:ext>
            </a:extLst>
          </p:cNvPr>
          <p:cNvSpPr/>
          <p:nvPr/>
        </p:nvSpPr>
        <p:spPr>
          <a:xfrm>
            <a:off x="6534150" y="5443775"/>
            <a:ext cx="2232479" cy="6621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9D84321-D7C4-4F20-9FE2-D8669F3CF308}"/>
              </a:ext>
            </a:extLst>
          </p:cNvPr>
          <p:cNvSpPr/>
          <p:nvPr/>
        </p:nvSpPr>
        <p:spPr>
          <a:xfrm>
            <a:off x="6769100" y="5502267"/>
            <a:ext cx="1997529" cy="272579"/>
          </a:xfrm>
          <a:custGeom>
            <a:avLst/>
            <a:gdLst>
              <a:gd name="connsiteX0" fmla="*/ 0 w 3207657"/>
              <a:gd name="connsiteY0" fmla="*/ 144225 h 437711"/>
              <a:gd name="connsiteX1" fmla="*/ 1001485 w 3207657"/>
              <a:gd name="connsiteY1" fmla="*/ 13596 h 437711"/>
              <a:gd name="connsiteX2" fmla="*/ 2061028 w 3207657"/>
              <a:gd name="connsiteY2" fmla="*/ 434511 h 437711"/>
              <a:gd name="connsiteX3" fmla="*/ 3207657 w 3207657"/>
              <a:gd name="connsiteY3" fmla="*/ 173254 h 437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7657" h="437711">
                <a:moveTo>
                  <a:pt x="0" y="144225"/>
                </a:moveTo>
                <a:cubicBezTo>
                  <a:pt x="328990" y="54720"/>
                  <a:pt x="657980" y="-34785"/>
                  <a:pt x="1001485" y="13596"/>
                </a:cubicBezTo>
                <a:cubicBezTo>
                  <a:pt x="1344990" y="61977"/>
                  <a:pt x="1693333" y="407901"/>
                  <a:pt x="2061028" y="434511"/>
                </a:cubicBezTo>
                <a:cubicBezTo>
                  <a:pt x="2428723" y="461121"/>
                  <a:pt x="2818190" y="317187"/>
                  <a:pt x="3207657" y="173254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383BB24-5B82-4478-8447-5BE5FED85D73}"/>
              </a:ext>
            </a:extLst>
          </p:cNvPr>
          <p:cNvSpPr/>
          <p:nvPr/>
        </p:nvSpPr>
        <p:spPr>
          <a:xfrm>
            <a:off x="2129051" y="184151"/>
            <a:ext cx="7369791" cy="640260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232389-8C5B-4FA8-AD54-7F4A37007CD6}"/>
              </a:ext>
            </a:extLst>
          </p:cNvPr>
          <p:cNvSpPr txBox="1"/>
          <p:nvPr/>
        </p:nvSpPr>
        <p:spPr>
          <a:xfrm>
            <a:off x="2318627" y="529045"/>
            <a:ext cx="6879511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Командаларда кабарчыларды тандаңыз!</a:t>
            </a:r>
          </a:p>
          <a:p>
            <a:pPr algn="ctr"/>
            <a:endParaRPr lang="ky-KG" sz="2400" dirty="0"/>
          </a:p>
          <a:p>
            <a:pPr algn="ctr"/>
            <a:r>
              <a:rPr lang="ky-KG" sz="2400" dirty="0"/>
              <a:t>Калган командага жооп берүү үчүн суроолорду </a:t>
            </a:r>
          </a:p>
          <a:p>
            <a:pPr algn="ctr"/>
            <a:r>
              <a:rPr lang="ky-KG" sz="2400" dirty="0"/>
              <a:t>чогултуу кабарчылардын милдети.</a:t>
            </a:r>
          </a:p>
          <a:p>
            <a:pPr algn="ctr"/>
            <a:endParaRPr lang="ky-KG" sz="2400" dirty="0"/>
          </a:p>
          <a:p>
            <a:pPr algn="ctr"/>
            <a:r>
              <a:rPr lang="ky-KG" sz="2400" dirty="0"/>
              <a:t>Кабарчыларды оюн учурунда өзгөртсөңүз  болот, </a:t>
            </a:r>
          </a:p>
          <a:p>
            <a:pPr algn="ctr"/>
            <a:r>
              <a:rPr lang="ky-KG" sz="2400" dirty="0"/>
              <a:t>бирок бир эле адам ордунан тура алат жана алар </a:t>
            </a:r>
          </a:p>
          <a:p>
            <a:pPr algn="ctr"/>
            <a:r>
              <a:rPr lang="ky-KG" sz="2400" dirty="0"/>
              <a:t>суроого калем же кагаз колдоно алышпайт!</a:t>
            </a:r>
          </a:p>
          <a:p>
            <a:pPr algn="ctr"/>
            <a:endParaRPr lang="ky-KG" sz="2400" dirty="0"/>
          </a:p>
          <a:p>
            <a:pPr algn="ctr"/>
            <a:r>
              <a:rPr lang="ky-KG" sz="2400" dirty="0"/>
              <a:t>Ар бир суроо ар кандай упайга ээ!</a:t>
            </a:r>
          </a:p>
          <a:p>
            <a:pPr algn="ctr"/>
            <a:endParaRPr lang="ky-KG" sz="2400" dirty="0"/>
          </a:p>
          <a:p>
            <a:pPr algn="ctr"/>
            <a:r>
              <a:rPr lang="ky-KG" sz="2400" dirty="0"/>
              <a:t>Суроо катты жана жообуңузду бир кагазга </a:t>
            </a:r>
          </a:p>
          <a:p>
            <a:pPr algn="ctr"/>
            <a:r>
              <a:rPr lang="ky-KG" sz="2400" dirty="0"/>
              <a:t>жазыңыз.</a:t>
            </a:r>
          </a:p>
          <a:p>
            <a:pPr algn="ctr"/>
            <a:endParaRPr lang="ky-KG" sz="2400" dirty="0"/>
          </a:p>
          <a:p>
            <a:pPr algn="ctr"/>
            <a:r>
              <a:rPr lang="ky-KG" sz="2400" dirty="0"/>
              <a:t>Суроолор чыгарылгандан кийин, </a:t>
            </a:r>
          </a:p>
          <a:p>
            <a:pPr algn="ctr"/>
            <a:r>
              <a:rPr lang="ky-KG" sz="2400" dirty="0"/>
              <a:t>эң көп упай топтогон команда жеңет!</a:t>
            </a:r>
            <a:endParaRPr lang="en-GB" sz="2400" dirty="0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7C5B2F5A-57D0-4D14-B349-03415C9B8D36}"/>
              </a:ext>
            </a:extLst>
          </p:cNvPr>
          <p:cNvSpPr/>
          <p:nvPr/>
        </p:nvSpPr>
        <p:spPr>
          <a:xfrm>
            <a:off x="8273024" y="4024602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332167-EDBD-4E90-ACA2-26FA117384DC}"/>
              </a:ext>
            </a:extLst>
          </p:cNvPr>
          <p:cNvSpPr/>
          <p:nvPr/>
        </p:nvSpPr>
        <p:spPr>
          <a:xfrm>
            <a:off x="8623383" y="4394787"/>
            <a:ext cx="886781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35838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Суроо А</a:t>
              </a:r>
              <a:endParaRPr lang="en-GB" sz="3200" b="1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Суроо Б</a:t>
              </a:r>
              <a:endParaRPr lang="en-GB" sz="3200" b="1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11DAD0-E272-4435-B1EE-2C21D4DC416A}"/>
              </a:ext>
            </a:extLst>
          </p:cNvPr>
          <p:cNvSpPr txBox="1"/>
          <p:nvPr/>
        </p:nvSpPr>
        <p:spPr>
          <a:xfrm>
            <a:off x="472802" y="1992083"/>
            <a:ext cx="391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Акылайдын жалпы канча акчасы бар?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229AE8B-A454-46CE-BEC8-030508EF7F8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57" y="2583052"/>
            <a:ext cx="1065539" cy="119744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B08D66F-A448-4B03-8346-736AFA5D5A6C}"/>
              </a:ext>
            </a:extLst>
          </p:cNvPr>
          <p:cNvSpPr txBox="1"/>
          <p:nvPr/>
        </p:nvSpPr>
        <p:spPr>
          <a:xfrm>
            <a:off x="5528063" y="1992083"/>
            <a:ext cx="3733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Актандын жалпы канча акчасы бар?</a:t>
            </a:r>
            <a:endParaRPr lang="en-GB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9FB11BB9-DD70-4920-BFB7-358610B484B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43" y="2546439"/>
            <a:ext cx="913284" cy="10345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7C5FD5-89D0-4352-FEB5-2D4F3B809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936" y="3990646"/>
            <a:ext cx="3977365" cy="22898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600424-9DA8-581F-948C-2A2568A631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2847" y="2637410"/>
            <a:ext cx="1023755" cy="102375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883D94-1E13-88A7-12C3-D039EA5AE0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9353" y="2767421"/>
            <a:ext cx="929333" cy="95163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D8D9020-E6DD-5669-B5CF-C9E5FD1AA6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9960" y="3719058"/>
            <a:ext cx="913284" cy="90116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6E5F90C-F199-D90F-DEEA-A7507EE7DD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1710" y="3765755"/>
            <a:ext cx="929333" cy="8197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488AD52-9198-322C-2DA1-D4DDCDA10C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86363" y="3778067"/>
            <a:ext cx="737940" cy="67778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4BE7563-462F-6EC8-A261-031CBDAD158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4859" y="4652961"/>
            <a:ext cx="718735" cy="713674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99DFB260-D311-FC9F-2606-872EABB6D1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7594" y="4606264"/>
            <a:ext cx="913284" cy="901161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A589ED4F-723A-57BF-A209-3327838C1A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9344" y="4652961"/>
            <a:ext cx="929333" cy="81971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491E03F3-E757-7341-F7FE-584903D3D6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8653" y="4814011"/>
            <a:ext cx="737940" cy="67778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5A3878C7-C087-6DC1-F68B-4609A1AC78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32676" y="5554122"/>
            <a:ext cx="718735" cy="713674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D2DB0366-E083-9916-8C93-C93E42F3E8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6676" y="5593751"/>
            <a:ext cx="913284" cy="901161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273F27C4-5338-C7BD-37C4-9A28A4FDE0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0832" y="5597566"/>
            <a:ext cx="929333" cy="81971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FCBE97F5-7E37-6E04-B467-090DF02A5D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1111" y="4606264"/>
            <a:ext cx="737940" cy="677781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A34FF106-3B8C-15CE-1318-8B50D297CE7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14019" y="3768227"/>
            <a:ext cx="718735" cy="71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242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077467C-D967-4228-B65B-5DC4FB4E9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623" y="2301098"/>
            <a:ext cx="1234943" cy="136504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В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Суроо Г</a:t>
              </a:r>
              <a:endParaRPr lang="en-GB" sz="3200" b="1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1EBDF0-5084-466F-A9F6-4D0E95C5221B}"/>
              </a:ext>
            </a:extLst>
          </p:cNvPr>
          <p:cNvSpPr txBox="1"/>
          <p:nvPr/>
        </p:nvSpPr>
        <p:spPr>
          <a:xfrm>
            <a:off x="921493" y="5004151"/>
            <a:ext cx="3140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2 балмуздактын баасы канча?</a:t>
            </a:r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4536A34-5E0B-4298-94A8-7C73B01DD32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636" y="1845284"/>
            <a:ext cx="1112042" cy="2491391"/>
          </a:xfrm>
          <a:prstGeom prst="rect">
            <a:avLst/>
          </a:prstGeom>
        </p:spPr>
      </p:pic>
      <p:sp>
        <p:nvSpPr>
          <p:cNvPr id="3" name="Star: 5 Points 2">
            <a:extLst>
              <a:ext uri="{FF2B5EF4-FFF2-40B4-BE49-F238E27FC236}">
                <a16:creationId xmlns:a16="http://schemas.microsoft.com/office/drawing/2014/main" id="{D5FECD07-8335-4534-B1D4-010C3D39B643}"/>
              </a:ext>
            </a:extLst>
          </p:cNvPr>
          <p:cNvSpPr/>
          <p:nvPr/>
        </p:nvSpPr>
        <p:spPr>
          <a:xfrm>
            <a:off x="1934282" y="2223189"/>
            <a:ext cx="1895213" cy="1895213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44355D-12C5-4CDA-9D57-95ACE798ED87}"/>
              </a:ext>
            </a:extLst>
          </p:cNvPr>
          <p:cNvSpPr txBox="1"/>
          <p:nvPr/>
        </p:nvSpPr>
        <p:spPr>
          <a:xfrm>
            <a:off x="2434130" y="293758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47.4</a:t>
            </a:r>
            <a:endParaRPr lang="en-GB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0B8BC4-5946-4286-8CB2-230E052DF3FE}"/>
              </a:ext>
            </a:extLst>
          </p:cNvPr>
          <p:cNvSpPr txBox="1"/>
          <p:nvPr/>
        </p:nvSpPr>
        <p:spPr>
          <a:xfrm>
            <a:off x="6184760" y="5004151"/>
            <a:ext cx="2616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3 алманын баасы канча?</a:t>
            </a:r>
            <a:endParaRPr lang="en-GB" dirty="0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26AC6DCD-98B9-413F-B6E6-AB807BCD29BC}"/>
              </a:ext>
            </a:extLst>
          </p:cNvPr>
          <p:cNvSpPr/>
          <p:nvPr/>
        </p:nvSpPr>
        <p:spPr>
          <a:xfrm>
            <a:off x="6935490" y="2223189"/>
            <a:ext cx="1895213" cy="1895213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4D4D60-3A05-47E9-A090-0F9A9DD619DA}"/>
              </a:ext>
            </a:extLst>
          </p:cNvPr>
          <p:cNvSpPr txBox="1"/>
          <p:nvPr/>
        </p:nvSpPr>
        <p:spPr>
          <a:xfrm>
            <a:off x="7222781" y="2844225"/>
            <a:ext cx="12955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30.87с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510125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94FA6F1E-6340-4F44-9CA8-950A8C5933E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2933" y="2958766"/>
            <a:ext cx="1684666" cy="117926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6EF7F4B-5604-428C-9CA0-0F1E325A7FB2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857" y="3114034"/>
            <a:ext cx="2307021" cy="115351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Д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Е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1EBDF0-5084-466F-A9F6-4D0E95C5221B}"/>
              </a:ext>
            </a:extLst>
          </p:cNvPr>
          <p:cNvSpPr txBox="1"/>
          <p:nvPr/>
        </p:nvSpPr>
        <p:spPr>
          <a:xfrm>
            <a:off x="1368249" y="5004151"/>
            <a:ext cx="2246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2 пицца канча турат?</a:t>
            </a:r>
            <a:endParaRPr lang="en-GB" dirty="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D5FECD07-8335-4534-B1D4-010C3D39B643}"/>
              </a:ext>
            </a:extLst>
          </p:cNvPr>
          <p:cNvSpPr/>
          <p:nvPr/>
        </p:nvSpPr>
        <p:spPr>
          <a:xfrm>
            <a:off x="1899558" y="2037994"/>
            <a:ext cx="2445952" cy="2327177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44355D-12C5-4CDA-9D57-95ACE798ED87}"/>
              </a:ext>
            </a:extLst>
          </p:cNvPr>
          <p:cNvSpPr txBox="1"/>
          <p:nvPr/>
        </p:nvSpPr>
        <p:spPr>
          <a:xfrm>
            <a:off x="2375307" y="2856562"/>
            <a:ext cx="15039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312.01</a:t>
            </a:r>
            <a:r>
              <a:rPr lang="ky-KG" sz="3200" dirty="0"/>
              <a:t>с</a:t>
            </a:r>
            <a:endParaRPr lang="en-GB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C2047-6A94-4E38-9591-BA10DA5661EC}"/>
              </a:ext>
            </a:extLst>
          </p:cNvPr>
          <p:cNvSpPr txBox="1"/>
          <p:nvPr/>
        </p:nvSpPr>
        <p:spPr>
          <a:xfrm>
            <a:off x="6113966" y="5004151"/>
            <a:ext cx="2964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3 даана бургер канча турат?</a:t>
            </a:r>
            <a:endParaRPr lang="en-GB" dirty="0"/>
          </a:p>
        </p:txBody>
      </p:sp>
      <p:sp>
        <p:nvSpPr>
          <p:cNvPr id="25" name="Star: 5 Points 24">
            <a:extLst>
              <a:ext uri="{FF2B5EF4-FFF2-40B4-BE49-F238E27FC236}">
                <a16:creationId xmlns:a16="http://schemas.microsoft.com/office/drawing/2014/main" id="{104E0E5C-D164-45BA-90FB-AC9ED579856F}"/>
              </a:ext>
            </a:extLst>
          </p:cNvPr>
          <p:cNvSpPr/>
          <p:nvPr/>
        </p:nvSpPr>
        <p:spPr>
          <a:xfrm>
            <a:off x="7248114" y="2027453"/>
            <a:ext cx="2532732" cy="2265830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1A88E9-A2EB-4532-9825-B0F104776684}"/>
              </a:ext>
            </a:extLst>
          </p:cNvPr>
          <p:cNvSpPr txBox="1"/>
          <p:nvPr/>
        </p:nvSpPr>
        <p:spPr>
          <a:xfrm>
            <a:off x="7627599" y="2797053"/>
            <a:ext cx="15969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214.99</a:t>
            </a:r>
            <a:r>
              <a:rPr lang="ky-KG" sz="3200" dirty="0"/>
              <a:t> с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566023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D1A82E5F-1412-4C8B-A907-92CA7093F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966" y="2311600"/>
            <a:ext cx="1606947" cy="160694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4A7630C-0FEE-48DD-8098-1F7F5C66A45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03" y="2300634"/>
            <a:ext cx="1540731" cy="122172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Е</a:t>
              </a:r>
              <a:endParaRPr lang="en-GB" sz="3200" b="1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Ж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1EBDF0-5084-466F-A9F6-4D0E95C5221B}"/>
              </a:ext>
            </a:extLst>
          </p:cNvPr>
          <p:cNvSpPr txBox="1"/>
          <p:nvPr/>
        </p:nvSpPr>
        <p:spPr>
          <a:xfrm>
            <a:off x="1049093" y="5004151"/>
            <a:ext cx="2885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5 даана  кепка канча турат?</a:t>
            </a:r>
            <a:endParaRPr lang="en-GB" dirty="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D5FECD07-8335-4534-B1D4-010C3D39B643}"/>
              </a:ext>
            </a:extLst>
          </p:cNvPr>
          <p:cNvSpPr/>
          <p:nvPr/>
        </p:nvSpPr>
        <p:spPr>
          <a:xfrm>
            <a:off x="1582172" y="2080901"/>
            <a:ext cx="2617948" cy="2359696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44355D-12C5-4CDA-9D57-95ACE798ED87}"/>
              </a:ext>
            </a:extLst>
          </p:cNvPr>
          <p:cNvSpPr txBox="1"/>
          <p:nvPr/>
        </p:nvSpPr>
        <p:spPr>
          <a:xfrm>
            <a:off x="2092690" y="2937585"/>
            <a:ext cx="15969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299.57 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0B8BC4-5946-4286-8CB2-230E052DF3FE}"/>
              </a:ext>
            </a:extLst>
          </p:cNvPr>
          <p:cNvSpPr txBox="1"/>
          <p:nvPr/>
        </p:nvSpPr>
        <p:spPr>
          <a:xfrm>
            <a:off x="5933449" y="5004151"/>
            <a:ext cx="3118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7 даана памперс канча турат?</a:t>
            </a:r>
            <a:endParaRPr lang="en-GB" dirty="0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26AC6DCD-98B9-413F-B6E6-AB807BCD29BC}"/>
              </a:ext>
            </a:extLst>
          </p:cNvPr>
          <p:cNvSpPr/>
          <p:nvPr/>
        </p:nvSpPr>
        <p:spPr>
          <a:xfrm>
            <a:off x="6718299" y="2101891"/>
            <a:ext cx="2313733" cy="2338706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4D4D60-3A05-47E9-A090-0F9A9DD619DA}"/>
              </a:ext>
            </a:extLst>
          </p:cNvPr>
          <p:cNvSpPr txBox="1"/>
          <p:nvPr/>
        </p:nvSpPr>
        <p:spPr>
          <a:xfrm>
            <a:off x="7244581" y="2937585"/>
            <a:ext cx="12955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32.78</a:t>
            </a:r>
            <a:r>
              <a:rPr lang="ky-KG" sz="3200" dirty="0"/>
              <a:t>с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149983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З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И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11DAD0-E272-4435-B1EE-2C21D4DC416A}"/>
              </a:ext>
            </a:extLst>
          </p:cNvPr>
          <p:cNvSpPr txBox="1"/>
          <p:nvPr/>
        </p:nvSpPr>
        <p:spPr>
          <a:xfrm>
            <a:off x="263544" y="1992083"/>
            <a:ext cx="433458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Акылай 5 кекс сатып алат.</a:t>
            </a:r>
          </a:p>
          <a:p>
            <a:pPr algn="ctr"/>
            <a:r>
              <a:rPr lang="ky-KG" dirty="0"/>
              <a:t>Ар бир кекс 63.64 сом турат.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Акылай 500 сомдук купюра менен төлөйт.</a:t>
            </a:r>
          </a:p>
          <a:p>
            <a:pPr algn="ctr"/>
            <a:r>
              <a:rPr lang="ky-KG" dirty="0"/>
              <a:t>Ал канча кайтарым алат?</a:t>
            </a:r>
            <a:endParaRPr lang="en-GB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B82B253-060C-4A56-BBAF-B2E1D7933251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353291" y="4030703"/>
            <a:ext cx="1977738" cy="230533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CAFBFDA-E911-45BF-9D2A-8BCFBB748440}"/>
              </a:ext>
            </a:extLst>
          </p:cNvPr>
          <p:cNvSpPr txBox="1"/>
          <p:nvPr/>
        </p:nvSpPr>
        <p:spPr>
          <a:xfrm>
            <a:off x="5669486" y="1992083"/>
            <a:ext cx="367440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Актан 3 пончик сатып алат.</a:t>
            </a:r>
          </a:p>
          <a:p>
            <a:pPr algn="ctr"/>
            <a:r>
              <a:rPr lang="ru-RU" dirty="0"/>
              <a:t>Ар бир пончиктин баасы 47.18 сом.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Актан  200 сом менен төлөйт.</a:t>
            </a:r>
          </a:p>
          <a:p>
            <a:pPr algn="ctr"/>
            <a:r>
              <a:rPr lang="ru-RU" dirty="0"/>
              <a:t>Ал канча кайтарым алат?</a:t>
            </a:r>
            <a:endParaRPr lang="en-GB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D54DF48-47B1-47B0-922D-0DE0A3D62C30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182" y="3858474"/>
            <a:ext cx="2816876" cy="2495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206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Й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К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11DAD0-E272-4435-B1EE-2C21D4DC416A}"/>
              </a:ext>
            </a:extLst>
          </p:cNvPr>
          <p:cNvSpPr txBox="1"/>
          <p:nvPr/>
        </p:nvSpPr>
        <p:spPr>
          <a:xfrm>
            <a:off x="400482" y="1992083"/>
            <a:ext cx="406072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Акылайдай төмөнкүдөй  акчалары бар: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1000 сомдук акча</a:t>
            </a:r>
          </a:p>
          <a:p>
            <a:pPr algn="ctr"/>
            <a:r>
              <a:rPr lang="ky-KG" dirty="0"/>
              <a:t>500 сомдук акча</a:t>
            </a:r>
          </a:p>
          <a:p>
            <a:pPr algn="ctr"/>
            <a:r>
              <a:rPr lang="ky-KG" dirty="0"/>
              <a:t>10 сомдук  тыйындар 5 лаана</a:t>
            </a:r>
          </a:p>
          <a:p>
            <a:pPr algn="ctr"/>
            <a:r>
              <a:rPr lang="ky-KG" dirty="0"/>
              <a:t>20 сомдук акча 3 даана жана</a:t>
            </a:r>
          </a:p>
          <a:p>
            <a:pPr algn="ctr"/>
            <a:r>
              <a:rPr lang="ky-KG" dirty="0"/>
              <a:t>5сомдук  тыйындар 5 даана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Анын жалпысынан канча акчасы бар?</a:t>
            </a:r>
            <a:endParaRPr lang="en-GB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C37DDE0-19A7-446D-BF2F-B580A5309E7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178" y="4986965"/>
            <a:ext cx="1906849" cy="1592517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FC7D728B-5EA6-4774-B3AC-9B3C6E52F65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440" y="759828"/>
            <a:ext cx="1355826" cy="1379537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56478367-594B-44FF-ABD5-5679FFE2B635}"/>
              </a:ext>
            </a:extLst>
          </p:cNvPr>
          <p:cNvSpPr txBox="1"/>
          <p:nvPr/>
        </p:nvSpPr>
        <p:spPr>
          <a:xfrm>
            <a:off x="5579120" y="2366903"/>
            <a:ext cx="398538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Актандын төмөнкүдөй акчалары бар: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1000 сомдук банкнот.</a:t>
            </a:r>
          </a:p>
          <a:p>
            <a:pPr algn="ctr"/>
            <a:r>
              <a:rPr lang="ky-KG" dirty="0"/>
              <a:t>10 сомдук тыйындардан 6 даана.</a:t>
            </a:r>
          </a:p>
          <a:p>
            <a:pPr algn="ctr"/>
            <a:r>
              <a:rPr lang="ky-KG" dirty="0"/>
              <a:t>50тыйындан 7  даана</a:t>
            </a:r>
          </a:p>
          <a:p>
            <a:pPr algn="ctr"/>
            <a:r>
              <a:rPr lang="ky-KG" dirty="0"/>
              <a:t>10тыйындан 5  даана</a:t>
            </a:r>
          </a:p>
          <a:p>
            <a:pPr algn="ctr"/>
            <a:r>
              <a:rPr lang="ky-KG" dirty="0"/>
              <a:t> 20тыйындан 4 даана</a:t>
            </a:r>
          </a:p>
          <a:p>
            <a:pPr algn="ctr"/>
            <a:r>
              <a:rPr lang="ky-KG" dirty="0"/>
              <a:t>2 тыйындан 1 даана</a:t>
            </a:r>
          </a:p>
          <a:p>
            <a:pPr algn="ctr"/>
            <a:r>
              <a:rPr lang="ky-KG" dirty="0"/>
              <a:t>жана</a:t>
            </a:r>
          </a:p>
          <a:p>
            <a:pPr algn="ctr"/>
            <a:r>
              <a:rPr lang="ky-KG" dirty="0"/>
              <a:t>1 тыйын 9 даана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Анын жалпысынан канча акчасы бар?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8002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492F29D1-DF41-46A9-ADFA-98FA6471A20C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7195" y="4206447"/>
            <a:ext cx="2365512" cy="100003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Л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М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498A70-DED5-4733-BB17-42461285D816}"/>
              </a:ext>
            </a:extLst>
          </p:cNvPr>
          <p:cNvSpPr txBox="1"/>
          <p:nvPr/>
        </p:nvSpPr>
        <p:spPr>
          <a:xfrm>
            <a:off x="263134" y="1992083"/>
            <a:ext cx="43354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Акылай достору менен ресторанга барды.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5 кесим пицца канча турат?</a:t>
            </a:r>
            <a:endParaRPr lang="en-GB" dirty="0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C9F121AD-6BC6-4686-B1A0-C7165B9D511A}"/>
              </a:ext>
            </a:extLst>
          </p:cNvPr>
          <p:cNvSpPr/>
          <p:nvPr/>
        </p:nvSpPr>
        <p:spPr>
          <a:xfrm>
            <a:off x="1922106" y="3343962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D4FC478-F5FD-49C0-B141-F79CEB5FD1EB}"/>
              </a:ext>
            </a:extLst>
          </p:cNvPr>
          <p:cNvSpPr/>
          <p:nvPr/>
        </p:nvSpPr>
        <p:spPr>
          <a:xfrm>
            <a:off x="2048546" y="4288971"/>
            <a:ext cx="2340144" cy="161157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dirty="0">
                <a:solidFill>
                  <a:prstClr val="black"/>
                </a:solidFill>
              </a:rPr>
              <a:t>158.01 сом</a:t>
            </a:r>
          </a:p>
          <a:p>
            <a:pPr lvl="0" algn="ctr"/>
            <a:r>
              <a:rPr lang="ru-RU" b="1" dirty="0">
                <a:solidFill>
                  <a:prstClr val="black"/>
                </a:solidFill>
              </a:rPr>
              <a:t>1 тилим сатып алсаңыз,</a:t>
            </a:r>
          </a:p>
          <a:p>
            <a:pPr lvl="0" algn="ctr"/>
            <a:r>
              <a:rPr lang="ru-RU" b="1" dirty="0">
                <a:solidFill>
                  <a:prstClr val="black"/>
                </a:solidFill>
              </a:rPr>
              <a:t>2-кесим жарым баада!</a:t>
            </a:r>
            <a:endParaRPr lang="en-GB" sz="195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36D973-6571-4058-9289-9199203E42EB}"/>
              </a:ext>
            </a:extLst>
          </p:cNvPr>
          <p:cNvSpPr txBox="1"/>
          <p:nvPr/>
        </p:nvSpPr>
        <p:spPr>
          <a:xfrm>
            <a:off x="4978143" y="1992083"/>
            <a:ext cx="48145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Актан жана анын 3 досу кинотеатрга барышты.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Ар бир билеттин баасы : </a:t>
            </a:r>
            <a:r>
              <a:rPr lang="ky-KG" b="1" dirty="0"/>
              <a:t>293.79 сом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Эгерде алар дагы 4 попкорн сатып алышса, </a:t>
            </a:r>
          </a:p>
          <a:p>
            <a:pPr algn="ctr"/>
            <a:r>
              <a:rPr lang="ky-KG" dirty="0"/>
              <a:t>жалпысынан канча төлөшөт?</a:t>
            </a:r>
            <a:endParaRPr lang="en-GB" dirty="0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E9C77390-B82A-4855-8B82-22AA64A55BEB}"/>
              </a:ext>
            </a:extLst>
          </p:cNvPr>
          <p:cNvSpPr/>
          <p:nvPr/>
        </p:nvSpPr>
        <p:spPr>
          <a:xfrm>
            <a:off x="6746032" y="4034428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FDB8E08-F124-47B7-8497-283D6B005D58}"/>
              </a:ext>
            </a:extLst>
          </p:cNvPr>
          <p:cNvSpPr/>
          <p:nvPr/>
        </p:nvSpPr>
        <p:spPr>
          <a:xfrm>
            <a:off x="6988658" y="4854591"/>
            <a:ext cx="2220656" cy="120831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b="1" dirty="0">
                <a:solidFill>
                  <a:prstClr val="black"/>
                </a:solidFill>
              </a:rPr>
              <a:t>Ар бири 60.21 сом</a:t>
            </a:r>
          </a:p>
          <a:p>
            <a:pPr lvl="0" algn="ctr"/>
            <a:r>
              <a:rPr lang="ru-RU" b="1" dirty="0">
                <a:solidFill>
                  <a:prstClr val="black"/>
                </a:solidFill>
              </a:rPr>
              <a:t>2 алсаң, 1 бекер!</a:t>
            </a:r>
            <a:endParaRPr lang="en-GB" sz="1950" b="1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AB4A83D-FE08-4CCE-A63A-4EF6C5B57655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769" y="4395725"/>
            <a:ext cx="1486071" cy="210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208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Н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Ң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498A70-DED5-4733-BB17-42461285D816}"/>
              </a:ext>
            </a:extLst>
          </p:cNvPr>
          <p:cNvSpPr txBox="1"/>
          <p:nvPr/>
        </p:nvSpPr>
        <p:spPr>
          <a:xfrm>
            <a:off x="98666" y="1992083"/>
            <a:ext cx="46643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Дүкөндө чупачупстар үчүн атайын сунуш бар.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12 чупачупс сатып алуу канча турат?</a:t>
            </a:r>
            <a:endParaRPr lang="en-GB" dirty="0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C9F121AD-6BC6-4686-B1A0-C7165B9D511A}"/>
              </a:ext>
            </a:extLst>
          </p:cNvPr>
          <p:cNvSpPr/>
          <p:nvPr/>
        </p:nvSpPr>
        <p:spPr>
          <a:xfrm>
            <a:off x="1791477" y="3577228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63CAF9-85AE-40B2-8103-7D7D3A1A9B3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41" y="3869448"/>
            <a:ext cx="1169952" cy="2339904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D4FC478-F5FD-49C0-B141-F79CEB5FD1EB}"/>
              </a:ext>
            </a:extLst>
          </p:cNvPr>
          <p:cNvSpPr/>
          <p:nvPr/>
        </p:nvSpPr>
        <p:spPr>
          <a:xfrm>
            <a:off x="2014405" y="4495800"/>
            <a:ext cx="2091064" cy="8682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dirty="0">
                <a:solidFill>
                  <a:prstClr val="black"/>
                </a:solidFill>
              </a:rPr>
              <a:t>ар бири 30.72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ky-KG" dirty="0">
                <a:solidFill>
                  <a:prstClr val="black"/>
                </a:solidFill>
              </a:rPr>
              <a:t>сом</a:t>
            </a:r>
            <a:endParaRPr lang="ru-RU" dirty="0">
              <a:solidFill>
                <a:prstClr val="black"/>
              </a:solidFill>
            </a:endParaRPr>
          </a:p>
          <a:p>
            <a:pPr lvl="0" algn="ctr"/>
            <a:r>
              <a:rPr lang="ru-RU" dirty="0">
                <a:solidFill>
                  <a:prstClr val="black"/>
                </a:solidFill>
              </a:rPr>
              <a:t>1 сатып алганга</a:t>
            </a:r>
          </a:p>
          <a:p>
            <a:pPr lvl="0" algn="ctr"/>
            <a:r>
              <a:rPr lang="ru-RU" dirty="0">
                <a:solidFill>
                  <a:prstClr val="black"/>
                </a:solidFill>
              </a:rPr>
              <a:t> 1  бекер!</a:t>
            </a:r>
            <a:endParaRPr lang="en-GB" sz="195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36D973-6571-4058-9289-9199203E42EB}"/>
              </a:ext>
            </a:extLst>
          </p:cNvPr>
          <p:cNvSpPr txBox="1"/>
          <p:nvPr/>
        </p:nvSpPr>
        <p:spPr>
          <a:xfrm>
            <a:off x="5655949" y="1992083"/>
            <a:ext cx="34588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Таттууларга атайын сунуш бар.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22 таттуу сатып алуу канча турат?</a:t>
            </a:r>
            <a:endParaRPr lang="en-GB" dirty="0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E9C77390-B82A-4855-8B82-22AA64A55BEB}"/>
              </a:ext>
            </a:extLst>
          </p:cNvPr>
          <p:cNvSpPr/>
          <p:nvPr/>
        </p:nvSpPr>
        <p:spPr>
          <a:xfrm>
            <a:off x="6746032" y="3577228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FDB8E08-F124-47B7-8497-283D6B005D58}"/>
              </a:ext>
            </a:extLst>
          </p:cNvPr>
          <p:cNvSpPr/>
          <p:nvPr/>
        </p:nvSpPr>
        <p:spPr>
          <a:xfrm>
            <a:off x="6978794" y="4471443"/>
            <a:ext cx="2091064" cy="89262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dirty="0">
                <a:solidFill>
                  <a:prstClr val="black"/>
                </a:solidFill>
              </a:rPr>
              <a:t>ар бири 18.65 сом</a:t>
            </a:r>
          </a:p>
          <a:p>
            <a:pPr lvl="0" algn="ctr"/>
            <a:r>
              <a:rPr lang="ru-RU" dirty="0">
                <a:solidFill>
                  <a:prstClr val="black"/>
                </a:solidFill>
              </a:rPr>
              <a:t>2 сатып алганга</a:t>
            </a:r>
          </a:p>
          <a:p>
            <a:pPr lvl="0" algn="ctr"/>
            <a:r>
              <a:rPr lang="ru-RU" dirty="0">
                <a:solidFill>
                  <a:prstClr val="black"/>
                </a:solidFill>
              </a:rPr>
              <a:t>1 бекер!</a:t>
            </a:r>
            <a:endParaRPr lang="en-GB" sz="195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B3688C2-B464-4162-AA71-167493F82FB6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463" y="3880023"/>
            <a:ext cx="1072215" cy="80416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CC52109-2ACC-47FD-BEFB-B1CEE5B56A96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198514">
            <a:off x="6008549" y="4291217"/>
            <a:ext cx="1072215" cy="80416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35F43E2-2FF9-44A3-8D3F-D11DA43F9B2A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287995">
            <a:off x="5294356" y="4982103"/>
            <a:ext cx="1072215" cy="80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999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О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Ө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013D9A-A728-4412-B21D-0A1984C8EE26}"/>
              </a:ext>
            </a:extLst>
          </p:cNvPr>
          <p:cNvSpPr txBox="1"/>
          <p:nvPr/>
        </p:nvSpPr>
        <p:spPr>
          <a:xfrm>
            <a:off x="383334" y="1992083"/>
            <a:ext cx="40950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Жаныбек</a:t>
            </a:r>
            <a:r>
              <a:rPr lang="ru-RU" dirty="0"/>
              <a:t> 500 г сыр сатып алгысы келет.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Анын баасы канча болот?</a:t>
            </a:r>
            <a:endParaRPr lang="en-GB" dirty="0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8BCF685E-1E31-410A-8452-7A5A442EA5E2}"/>
              </a:ext>
            </a:extLst>
          </p:cNvPr>
          <p:cNvSpPr/>
          <p:nvPr/>
        </p:nvSpPr>
        <p:spPr>
          <a:xfrm>
            <a:off x="1791477" y="3577228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DE42E23-C853-447C-87E1-F82E58548B6A}"/>
              </a:ext>
            </a:extLst>
          </p:cNvPr>
          <p:cNvSpPr/>
          <p:nvPr/>
        </p:nvSpPr>
        <p:spPr>
          <a:xfrm>
            <a:off x="2014405" y="4702628"/>
            <a:ext cx="2091064" cy="66144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y-KG" dirty="0">
                <a:solidFill>
                  <a:prstClr val="black"/>
                </a:solidFill>
              </a:rPr>
              <a:t>200 г сыр 140.59 сом</a:t>
            </a:r>
            <a:endParaRPr lang="en-GB" dirty="0">
              <a:solidFill>
                <a:prstClr val="black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AC15561-76AD-482D-90CD-C3364BBDE75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33" y="4538909"/>
            <a:ext cx="1494287" cy="12088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EC2DC15-D874-4D41-B05E-0D3DB04794E8}"/>
              </a:ext>
            </a:extLst>
          </p:cNvPr>
          <p:cNvSpPr txBox="1"/>
          <p:nvPr/>
        </p:nvSpPr>
        <p:spPr>
          <a:xfrm>
            <a:off x="5137455" y="1992083"/>
            <a:ext cx="45892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Жаныбек</a:t>
            </a:r>
            <a:r>
              <a:rPr lang="ru-RU" dirty="0"/>
              <a:t> 150 г шоколад сатып алгысы келет.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Анын баасы канча болот?</a:t>
            </a:r>
            <a:endParaRPr lang="en-GB" dirty="0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AA844896-14A9-4AC0-919E-804901189F38}"/>
              </a:ext>
            </a:extLst>
          </p:cNvPr>
          <p:cNvSpPr/>
          <p:nvPr/>
        </p:nvSpPr>
        <p:spPr>
          <a:xfrm>
            <a:off x="6792685" y="3577228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1F4EF36-10BF-4334-A5FA-D4289142FDEE}"/>
              </a:ext>
            </a:extLst>
          </p:cNvPr>
          <p:cNvSpPr/>
          <p:nvPr/>
        </p:nvSpPr>
        <p:spPr>
          <a:xfrm>
            <a:off x="7015613" y="4702628"/>
            <a:ext cx="2091064" cy="66144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y-KG" dirty="0">
                <a:solidFill>
                  <a:prstClr val="black"/>
                </a:solidFill>
              </a:rPr>
              <a:t>100 г үчүн 305.34 сом</a:t>
            </a:r>
            <a:endParaRPr lang="en-GB" dirty="0">
              <a:solidFill>
                <a:prstClr val="black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EE222DD-6B9A-4D5D-8E94-6E3FAB00499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8493" y="4406285"/>
            <a:ext cx="1440175" cy="135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56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П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Р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553A6F2-DEC5-481B-822C-A27FA7BD45D8}"/>
              </a:ext>
            </a:extLst>
          </p:cNvPr>
          <p:cNvSpPr/>
          <p:nvPr/>
        </p:nvSpPr>
        <p:spPr>
          <a:xfrm>
            <a:off x="261257" y="2921631"/>
            <a:ext cx="2004360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950" b="1" dirty="0">
                <a:solidFill>
                  <a:schemeClr val="tx1"/>
                </a:solidFill>
              </a:rPr>
              <a:t>Супер арзан</a:t>
            </a:r>
          </a:p>
          <a:p>
            <a:pPr algn="ctr"/>
            <a:endParaRPr lang="ru-RU" sz="1950" b="1" dirty="0">
              <a:solidFill>
                <a:schemeClr val="tx1"/>
              </a:solidFill>
            </a:endParaRPr>
          </a:p>
          <a:p>
            <a:pPr algn="ctr"/>
            <a:r>
              <a:rPr lang="ru-RU" sz="1950" b="1" dirty="0">
                <a:solidFill>
                  <a:schemeClr val="tx1"/>
                </a:solidFill>
              </a:rPr>
              <a:t>1 транспортир  үчүн 24.16 сом</a:t>
            </a:r>
          </a:p>
          <a:p>
            <a:pPr algn="ctr"/>
            <a:endParaRPr lang="ru-RU" sz="1950" b="1" dirty="0">
              <a:solidFill>
                <a:schemeClr val="tx1"/>
              </a:solidFill>
            </a:endParaRPr>
          </a:p>
          <a:p>
            <a:pPr algn="ctr"/>
            <a:r>
              <a:rPr lang="ru-RU" sz="1950" b="1" dirty="0">
                <a:solidFill>
                  <a:schemeClr val="tx1"/>
                </a:solidFill>
              </a:rPr>
              <a:t>10 транспортир үчүн 155.96 сом 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BA8270F-89F9-4A3A-9C04-62E63B59925C}"/>
              </a:ext>
            </a:extLst>
          </p:cNvPr>
          <p:cNvSpPr/>
          <p:nvPr/>
        </p:nvSpPr>
        <p:spPr>
          <a:xfrm>
            <a:off x="2629666" y="2921631"/>
            <a:ext cx="2005282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950" b="1" dirty="0">
                <a:solidFill>
                  <a:schemeClr val="tx1"/>
                </a:solidFill>
              </a:rPr>
              <a:t>Арзан Баалар</a:t>
            </a:r>
            <a:endParaRPr lang="en-GB" sz="1950" b="1" dirty="0">
              <a:solidFill>
                <a:schemeClr val="tx1"/>
              </a:solidFill>
            </a:endParaRPr>
          </a:p>
          <a:p>
            <a:pPr algn="ctr"/>
            <a:endParaRPr lang="en-GB" sz="1950" b="1" dirty="0">
              <a:solidFill>
                <a:schemeClr val="tx1"/>
              </a:solidFill>
            </a:endParaRPr>
          </a:p>
          <a:p>
            <a:pPr algn="ctr"/>
            <a:r>
              <a:rPr lang="ky-KG" sz="1950" b="1" dirty="0">
                <a:solidFill>
                  <a:schemeClr val="tx1"/>
                </a:solidFill>
              </a:rPr>
              <a:t>1 транспортир үчүн 16.48 сом</a:t>
            </a:r>
          </a:p>
          <a:p>
            <a:pPr algn="ctr"/>
            <a:endParaRPr lang="ky-KG" sz="1950" b="1" dirty="0">
              <a:solidFill>
                <a:schemeClr val="tx1"/>
              </a:solidFill>
            </a:endParaRPr>
          </a:p>
          <a:p>
            <a:pPr algn="ctr"/>
            <a:r>
              <a:rPr lang="ky-KG" sz="1950" b="1" dirty="0">
                <a:solidFill>
                  <a:schemeClr val="tx1"/>
                </a:solidFill>
              </a:rPr>
              <a:t>20 транспортир үчүн 329.50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7C7288-093D-4649-8514-A4E500EC794E}"/>
              </a:ext>
            </a:extLst>
          </p:cNvPr>
          <p:cNvSpPr txBox="1"/>
          <p:nvPr/>
        </p:nvSpPr>
        <p:spPr>
          <a:xfrm>
            <a:off x="596572" y="1992083"/>
            <a:ext cx="36685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/>
              <a:t>32 транспортирди </a:t>
            </a:r>
            <a:r>
              <a:rPr lang="ru-RU" dirty="0"/>
              <a:t>кайсы дүкөндөн </a:t>
            </a:r>
          </a:p>
          <a:p>
            <a:pPr algn="ctr"/>
            <a:r>
              <a:rPr lang="ru-RU" dirty="0"/>
              <a:t>эң арзан сатып алууга болот?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73EAFD8-9027-42C4-BFF3-08D3B348519F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94" y="5241928"/>
            <a:ext cx="2730066" cy="1505891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11BE730-94D0-4CF2-9022-3BB44C3AE6CD}"/>
              </a:ext>
            </a:extLst>
          </p:cNvPr>
          <p:cNvSpPr/>
          <p:nvPr/>
        </p:nvSpPr>
        <p:spPr>
          <a:xfrm>
            <a:off x="5318449" y="2921631"/>
            <a:ext cx="2004360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000" b="1" dirty="0">
                <a:solidFill>
                  <a:schemeClr val="tx1"/>
                </a:solidFill>
              </a:rPr>
              <a:t>Супер арзан</a:t>
            </a:r>
          </a:p>
          <a:p>
            <a:pPr algn="ctr"/>
            <a:endParaRPr lang="ru-RU" sz="2000" b="1" dirty="0">
              <a:solidFill>
                <a:schemeClr val="tx1"/>
              </a:solidFill>
            </a:endParaRPr>
          </a:p>
          <a:p>
            <a:pPr algn="ctr"/>
            <a:r>
              <a:rPr lang="ru-RU" sz="2000" b="1" dirty="0">
                <a:solidFill>
                  <a:schemeClr val="tx1"/>
                </a:solidFill>
              </a:rPr>
              <a:t>1 сызгыч 19.77сом</a:t>
            </a:r>
          </a:p>
          <a:p>
            <a:pPr algn="ctr"/>
            <a:endParaRPr lang="ru-RU" sz="2000" b="1" dirty="0">
              <a:solidFill>
                <a:schemeClr val="tx1"/>
              </a:solidFill>
            </a:endParaRPr>
          </a:p>
          <a:p>
            <a:pPr algn="ctr"/>
            <a:r>
              <a:rPr lang="ru-RU" sz="2000" b="1" dirty="0">
                <a:solidFill>
                  <a:schemeClr val="tx1"/>
                </a:solidFill>
              </a:rPr>
              <a:t>15 сызгыч 252.62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00AE92B-E92B-4980-84D5-26BB1EFA38A5}"/>
              </a:ext>
            </a:extLst>
          </p:cNvPr>
          <p:cNvSpPr/>
          <p:nvPr/>
        </p:nvSpPr>
        <p:spPr>
          <a:xfrm>
            <a:off x="7686858" y="2921631"/>
            <a:ext cx="2005282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000" b="1" dirty="0">
                <a:solidFill>
                  <a:schemeClr val="tx1"/>
                </a:solidFill>
              </a:rPr>
              <a:t>Арзан Баалар</a:t>
            </a:r>
            <a:endParaRPr lang="en-GB" sz="1950" b="1" dirty="0">
              <a:solidFill>
                <a:schemeClr val="tx1"/>
              </a:solidFill>
            </a:endParaRPr>
          </a:p>
          <a:p>
            <a:pPr algn="ctr"/>
            <a:endParaRPr lang="ky-KG" sz="1950" dirty="0">
              <a:solidFill>
                <a:schemeClr val="tx1"/>
              </a:solidFill>
            </a:endParaRPr>
          </a:p>
          <a:p>
            <a:pPr algn="ctr"/>
            <a:r>
              <a:rPr lang="ky-KG" sz="1950" dirty="0">
                <a:solidFill>
                  <a:schemeClr val="tx1"/>
                </a:solidFill>
              </a:rPr>
              <a:t>1 сызгыч </a:t>
            </a:r>
          </a:p>
          <a:p>
            <a:pPr algn="ctr"/>
            <a:r>
              <a:rPr lang="en-GB" sz="1950" dirty="0">
                <a:solidFill>
                  <a:schemeClr val="tx1"/>
                </a:solidFill>
              </a:rPr>
              <a:t>23.07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r>
              <a:rPr lang="en-GB" sz="1950" dirty="0">
                <a:solidFill>
                  <a:schemeClr val="tx1"/>
                </a:solidFill>
              </a:rPr>
              <a:t> </a:t>
            </a:r>
            <a:endParaRPr lang="ky-KG" sz="1950" dirty="0">
              <a:solidFill>
                <a:schemeClr val="tx1"/>
              </a:solidFill>
            </a:endParaRPr>
          </a:p>
          <a:p>
            <a:pPr algn="ctr"/>
            <a:endParaRPr lang="ky-KG" sz="1950" dirty="0">
              <a:solidFill>
                <a:schemeClr val="tx1"/>
              </a:solidFill>
            </a:endParaRPr>
          </a:p>
          <a:p>
            <a:pPr algn="ctr"/>
            <a:r>
              <a:rPr lang="ky-KG" sz="1950" dirty="0">
                <a:solidFill>
                  <a:schemeClr val="tx1"/>
                </a:solidFill>
              </a:rPr>
              <a:t>30 сызгыч 499.75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6DD04C-250D-45B9-8D6A-BC8EB2F1CF5C}"/>
              </a:ext>
            </a:extLst>
          </p:cNvPr>
          <p:cNvSpPr txBox="1"/>
          <p:nvPr/>
        </p:nvSpPr>
        <p:spPr>
          <a:xfrm>
            <a:off x="5454112" y="1868077"/>
            <a:ext cx="41014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>
                <a:solidFill>
                  <a:schemeClr val="tx1"/>
                </a:solidFill>
              </a:rPr>
              <a:t>Супер арзан </a:t>
            </a:r>
            <a:r>
              <a:rPr lang="en-GB" b="1" dirty="0"/>
              <a:t>65 </a:t>
            </a:r>
            <a:r>
              <a:rPr lang="ky-KG" b="1" dirty="0"/>
              <a:t>сызгыч </a:t>
            </a:r>
            <a:r>
              <a:rPr lang="ky-KG" dirty="0"/>
              <a:t>сатып алуу </a:t>
            </a:r>
          </a:p>
          <a:p>
            <a:pPr algn="ctr"/>
            <a:r>
              <a:rPr lang="ky-KG" dirty="0"/>
              <a:t>үчүн Арзан Баалар дүкөнүнө караганда </a:t>
            </a:r>
          </a:p>
          <a:p>
            <a:pPr algn="ctr"/>
            <a:r>
              <a:rPr lang="ky-KG" dirty="0"/>
              <a:t>канчага арзан?</a:t>
            </a:r>
            <a:endParaRPr lang="en-GB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8403FAF-46DD-4D90-BFBF-5D4AB09973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56" b="32558"/>
          <a:stretch/>
        </p:blipFill>
        <p:spPr>
          <a:xfrm>
            <a:off x="5333672" y="5934270"/>
            <a:ext cx="4152182" cy="72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209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С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Т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553A6F2-DEC5-481B-822C-A27FA7BD45D8}"/>
              </a:ext>
            </a:extLst>
          </p:cNvPr>
          <p:cNvSpPr/>
          <p:nvPr/>
        </p:nvSpPr>
        <p:spPr>
          <a:xfrm>
            <a:off x="201387" y="2921630"/>
            <a:ext cx="2108719" cy="2564791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950" b="1" dirty="0">
                <a:solidFill>
                  <a:schemeClr val="tx1"/>
                </a:solidFill>
              </a:rPr>
              <a:t>Укмуш жабдыктар</a:t>
            </a:r>
            <a:endParaRPr lang="en-GB" sz="1950" b="1" dirty="0">
              <a:solidFill>
                <a:schemeClr val="tx1"/>
              </a:solidFill>
            </a:endParaRPr>
          </a:p>
          <a:p>
            <a:pPr algn="ctr"/>
            <a:endParaRPr lang="en-GB" sz="1950" b="1" dirty="0">
              <a:solidFill>
                <a:schemeClr val="tx1"/>
              </a:solidFill>
            </a:endParaRPr>
          </a:p>
          <a:p>
            <a:pPr algn="ctr"/>
            <a:r>
              <a:rPr lang="ky-KG" sz="1950" b="1" dirty="0">
                <a:solidFill>
                  <a:schemeClr val="tx1"/>
                </a:solidFill>
              </a:rPr>
              <a:t>1 калем </a:t>
            </a:r>
          </a:p>
          <a:p>
            <a:pPr algn="ctr"/>
            <a:r>
              <a:rPr lang="en-GB" sz="1950" b="1" dirty="0">
                <a:solidFill>
                  <a:schemeClr val="tx1"/>
                </a:solidFill>
              </a:rPr>
              <a:t>57.11</a:t>
            </a:r>
            <a:r>
              <a:rPr lang="ky-KG" sz="1950" b="1" dirty="0">
                <a:solidFill>
                  <a:schemeClr val="tx1"/>
                </a:solidFill>
              </a:rPr>
              <a:t> сом</a:t>
            </a:r>
          </a:p>
          <a:p>
            <a:pPr algn="ctr"/>
            <a:endParaRPr lang="ky-KG" sz="1950" b="1" dirty="0">
              <a:solidFill>
                <a:schemeClr val="tx1"/>
              </a:solidFill>
            </a:endParaRPr>
          </a:p>
          <a:p>
            <a:pPr algn="ctr"/>
            <a:r>
              <a:rPr lang="ky-KG" sz="1950" b="1" dirty="0">
                <a:solidFill>
                  <a:schemeClr val="tx1"/>
                </a:solidFill>
              </a:rPr>
              <a:t>1 алганга, </a:t>
            </a:r>
          </a:p>
          <a:p>
            <a:pPr algn="ctr"/>
            <a:r>
              <a:rPr lang="ky-KG" sz="1950" b="1" dirty="0">
                <a:solidFill>
                  <a:schemeClr val="tx1"/>
                </a:solidFill>
              </a:rPr>
              <a:t>1 бекер!</a:t>
            </a:r>
            <a:endParaRPr lang="en-GB" sz="1950" b="1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BA8270F-89F9-4A3A-9C04-62E63B59925C}"/>
              </a:ext>
            </a:extLst>
          </p:cNvPr>
          <p:cNvSpPr/>
          <p:nvPr/>
        </p:nvSpPr>
        <p:spPr>
          <a:xfrm>
            <a:off x="2569796" y="2921631"/>
            <a:ext cx="2109689" cy="256479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950" b="1" dirty="0">
                <a:solidFill>
                  <a:schemeClr val="tx1"/>
                </a:solidFill>
              </a:rPr>
              <a:t>Мектеп жабдуулары.</a:t>
            </a:r>
          </a:p>
          <a:p>
            <a:pPr algn="ctr"/>
            <a:endParaRPr lang="en-GB" sz="1950" dirty="0">
              <a:solidFill>
                <a:schemeClr val="tx1"/>
              </a:solidFill>
            </a:endParaRPr>
          </a:p>
          <a:p>
            <a:pPr algn="ctr"/>
            <a:r>
              <a:rPr lang="ky-KG" sz="1950" b="1" dirty="0">
                <a:solidFill>
                  <a:schemeClr val="tx1"/>
                </a:solidFill>
              </a:rPr>
              <a:t>1 калем </a:t>
            </a:r>
          </a:p>
          <a:p>
            <a:pPr algn="ctr"/>
            <a:r>
              <a:rPr lang="en-GB" sz="1950" b="1" dirty="0">
                <a:solidFill>
                  <a:schemeClr val="tx1"/>
                </a:solidFill>
              </a:rPr>
              <a:t>47.23</a:t>
            </a:r>
            <a:r>
              <a:rPr lang="ky-KG" sz="1950" b="1" dirty="0">
                <a:solidFill>
                  <a:schemeClr val="tx1"/>
                </a:solidFill>
              </a:rPr>
              <a:t> сом</a:t>
            </a:r>
            <a:endParaRPr lang="ky-KG" sz="1950" dirty="0">
              <a:solidFill>
                <a:schemeClr val="tx1"/>
              </a:solidFill>
            </a:endParaRPr>
          </a:p>
          <a:p>
            <a:pPr algn="ctr"/>
            <a:endParaRPr lang="ky-KG" sz="1950" b="1" dirty="0">
              <a:solidFill>
                <a:schemeClr val="tx1"/>
              </a:solidFill>
            </a:endParaRPr>
          </a:p>
          <a:p>
            <a:pPr algn="ctr"/>
            <a:r>
              <a:rPr lang="ky-KG" sz="1950" b="1" dirty="0">
                <a:solidFill>
                  <a:schemeClr val="tx1"/>
                </a:solidFill>
              </a:rPr>
              <a:t>2 алганга, </a:t>
            </a:r>
          </a:p>
          <a:p>
            <a:pPr algn="ctr"/>
            <a:r>
              <a:rPr lang="ky-KG" sz="1950" b="1" dirty="0">
                <a:solidFill>
                  <a:schemeClr val="tx1"/>
                </a:solidFill>
              </a:rPr>
              <a:t>1 бекер!</a:t>
            </a:r>
            <a:endParaRPr lang="en-GB" sz="1950" b="1" dirty="0">
              <a:solidFill>
                <a:schemeClr val="tx1"/>
              </a:solidFill>
            </a:endParaRPr>
          </a:p>
          <a:p>
            <a:pPr algn="ctr"/>
            <a:endParaRPr lang="en-GB" sz="1950" b="1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7C7288-093D-4649-8514-A4E500EC794E}"/>
              </a:ext>
            </a:extLst>
          </p:cNvPr>
          <p:cNvSpPr txBox="1"/>
          <p:nvPr/>
        </p:nvSpPr>
        <p:spPr>
          <a:xfrm>
            <a:off x="1090201" y="1992083"/>
            <a:ext cx="26813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Кайсы дүкөндөн 9 калем </a:t>
            </a:r>
          </a:p>
          <a:p>
            <a:pPr algn="ctr"/>
            <a:r>
              <a:rPr lang="ky-KG" dirty="0"/>
              <a:t>сатып алуу эң арзан?</a:t>
            </a:r>
            <a:endParaRPr lang="en-GB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4E35327-3F1D-4C46-9296-EBA3325647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00" b="31891"/>
          <a:stretch/>
        </p:blipFill>
        <p:spPr>
          <a:xfrm rot="9906612">
            <a:off x="648393" y="5836939"/>
            <a:ext cx="3588340" cy="601201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228D2B3-BECD-4DFB-91CE-224273522B6D}"/>
              </a:ext>
            </a:extLst>
          </p:cNvPr>
          <p:cNvSpPr/>
          <p:nvPr/>
        </p:nvSpPr>
        <p:spPr>
          <a:xfrm>
            <a:off x="5193264" y="2921631"/>
            <a:ext cx="2108719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000" b="1" dirty="0">
                <a:solidFill>
                  <a:schemeClr val="tx1"/>
                </a:solidFill>
              </a:rPr>
              <a:t>Арзан</a:t>
            </a:r>
          </a:p>
          <a:p>
            <a:pPr algn="ctr"/>
            <a:endParaRPr lang="en-GB" sz="1950" b="1" dirty="0">
              <a:solidFill>
                <a:schemeClr val="tx1"/>
              </a:solidFill>
            </a:endParaRPr>
          </a:p>
          <a:p>
            <a:pPr algn="ctr"/>
            <a:r>
              <a:rPr lang="ru-RU" sz="1950" dirty="0">
                <a:solidFill>
                  <a:schemeClr val="tx1"/>
                </a:solidFill>
              </a:rPr>
              <a:t>1 калькулятор 496.45 сом</a:t>
            </a:r>
          </a:p>
          <a:p>
            <a:pPr algn="ctr"/>
            <a:endParaRPr lang="ru-RU" sz="1950" dirty="0">
              <a:solidFill>
                <a:schemeClr val="tx1"/>
              </a:solidFill>
            </a:endParaRPr>
          </a:p>
          <a:p>
            <a:pPr algn="ctr"/>
            <a:r>
              <a:rPr lang="ru-RU" sz="1950" dirty="0">
                <a:solidFill>
                  <a:schemeClr val="tx1"/>
                </a:solidFill>
              </a:rPr>
              <a:t>1 алганга, 2-сине 50% арзандатуу!</a:t>
            </a:r>
            <a:endParaRPr lang="en-GB" sz="1950" b="1" dirty="0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B715C83-8117-47F3-84FC-F28204779DDD}"/>
              </a:ext>
            </a:extLst>
          </p:cNvPr>
          <p:cNvSpPr/>
          <p:nvPr/>
        </p:nvSpPr>
        <p:spPr>
          <a:xfrm>
            <a:off x="7561673" y="2921631"/>
            <a:ext cx="2109689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000" b="1" dirty="0">
                <a:solidFill>
                  <a:schemeClr val="tx1"/>
                </a:solidFill>
              </a:rPr>
              <a:t>Супер </a:t>
            </a:r>
            <a:r>
              <a:rPr lang="ru-RU" sz="2000" b="1" dirty="0">
                <a:solidFill>
                  <a:schemeClr val="tx1"/>
                </a:solidFill>
              </a:rPr>
              <a:t>Арзан</a:t>
            </a:r>
          </a:p>
          <a:p>
            <a:pPr algn="ctr"/>
            <a:endParaRPr lang="en-GB" sz="1950" b="1" dirty="0">
              <a:solidFill>
                <a:schemeClr val="tx1"/>
              </a:solidFill>
            </a:endParaRPr>
          </a:p>
          <a:p>
            <a:pPr algn="ctr"/>
            <a:r>
              <a:rPr lang="ru-RU" sz="1950" dirty="0">
                <a:solidFill>
                  <a:schemeClr val="tx1"/>
                </a:solidFill>
              </a:rPr>
              <a:t>1 калькулятор 417.37</a:t>
            </a:r>
          </a:p>
          <a:p>
            <a:pPr algn="ctr"/>
            <a:endParaRPr lang="ru-RU" sz="1950" dirty="0">
              <a:solidFill>
                <a:schemeClr val="tx1"/>
              </a:solidFill>
            </a:endParaRPr>
          </a:p>
          <a:p>
            <a:pPr algn="ctr"/>
            <a:r>
              <a:rPr lang="ru-RU" sz="1950" dirty="0">
                <a:solidFill>
                  <a:schemeClr val="tx1"/>
                </a:solidFill>
              </a:rPr>
              <a:t>5ти алганга </a:t>
            </a:r>
          </a:p>
          <a:p>
            <a:pPr algn="ctr"/>
            <a:r>
              <a:rPr lang="ru-RU" sz="1950" dirty="0">
                <a:solidFill>
                  <a:schemeClr val="tx1"/>
                </a:solidFill>
              </a:rPr>
              <a:t>1  бекер!</a:t>
            </a:r>
            <a:endParaRPr lang="en-GB" sz="1950" b="1" dirty="0">
              <a:solidFill>
                <a:schemeClr val="tx1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7F3D9F5-EE3D-4A97-B408-6C71D7828E38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012" y="5486422"/>
            <a:ext cx="946677" cy="111169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1EA1254-90AE-49B0-8349-AE67C2DFBEEF}"/>
              </a:ext>
            </a:extLst>
          </p:cNvPr>
          <p:cNvSpPr txBox="1"/>
          <p:nvPr/>
        </p:nvSpPr>
        <p:spPr>
          <a:xfrm>
            <a:off x="5322607" y="1705720"/>
            <a:ext cx="43487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7 калькуляторду сатып алуу үчүн </a:t>
            </a:r>
            <a:endParaRPr lang="en-US" dirty="0"/>
          </a:p>
          <a:p>
            <a:pPr algn="ctr"/>
            <a:r>
              <a:rPr lang="ky-KG" dirty="0"/>
              <a:t>Арзан дүкөнүнө</a:t>
            </a:r>
            <a:r>
              <a:rPr lang="ru-RU" dirty="0"/>
              <a:t> караганда </a:t>
            </a:r>
          </a:p>
          <a:p>
            <a:pPr algn="ctr"/>
            <a:r>
              <a:rPr lang="ky-KG" dirty="0"/>
              <a:t>Супер </a:t>
            </a:r>
            <a:r>
              <a:rPr lang="ru-RU" dirty="0"/>
              <a:t>Арзан </a:t>
            </a:r>
            <a:r>
              <a:rPr lang="ky-KG" dirty="0"/>
              <a:t>дүкөнү</a:t>
            </a:r>
            <a:r>
              <a:rPr lang="ru-RU" dirty="0"/>
              <a:t>  канчага арзан болот?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4901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У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Ү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sp>
        <p:nvSpPr>
          <p:cNvPr id="3" name="Wave 2">
            <a:extLst>
              <a:ext uri="{FF2B5EF4-FFF2-40B4-BE49-F238E27FC236}">
                <a16:creationId xmlns:a16="http://schemas.microsoft.com/office/drawing/2014/main" id="{EA81ABEC-28CB-4761-9FC4-8CF997F6B093}"/>
              </a:ext>
            </a:extLst>
          </p:cNvPr>
          <p:cNvSpPr/>
          <p:nvPr/>
        </p:nvSpPr>
        <p:spPr>
          <a:xfrm>
            <a:off x="587830" y="1801223"/>
            <a:ext cx="4158960" cy="2210940"/>
          </a:xfrm>
          <a:prstGeom prst="wave">
            <a:avLst>
              <a:gd name="adj1" fmla="val 7094"/>
              <a:gd name="adj2" fmla="val 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14F2C2A-BD5F-4A15-81F6-82AAA56FE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030435"/>
              </p:ext>
            </p:extLst>
          </p:nvPr>
        </p:nvGraphicFramePr>
        <p:xfrm>
          <a:off x="733074" y="2101344"/>
          <a:ext cx="3868471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1823">
                  <a:extLst>
                    <a:ext uri="{9D8B030D-6E8A-4147-A177-3AD203B41FA5}">
                      <a16:colId xmlns:a16="http://schemas.microsoft.com/office/drawing/2014/main" val="850467736"/>
                    </a:ext>
                  </a:extLst>
                </a:gridCol>
                <a:gridCol w="1786648">
                  <a:extLst>
                    <a:ext uri="{9D8B030D-6E8A-4147-A177-3AD203B41FA5}">
                      <a16:colId xmlns:a16="http://schemas.microsoft.com/office/drawing/2014/main" val="1931761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Бургер 136.75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Макарон 188.91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035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dirty="0"/>
                        <a:t>фри</a:t>
                      </a:r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 96.65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Алма 29.10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92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Газдалган суусундук 81.28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Шире 88.97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30155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9BEF4AD-F3F9-44A7-9EC9-C7DC08187C76}"/>
              </a:ext>
            </a:extLst>
          </p:cNvPr>
          <p:cNvSpPr txBox="1"/>
          <p:nvPr/>
        </p:nvSpPr>
        <p:spPr>
          <a:xfrm>
            <a:off x="351391" y="4296744"/>
            <a:ext cx="41589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Түшкү тамакка Канат бургер, алма жана </a:t>
            </a:r>
          </a:p>
          <a:p>
            <a:pPr algn="ctr"/>
            <a:r>
              <a:rPr lang="ky-KG" dirty="0"/>
              <a:t>газдалган суусундук сатып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Тамагына канча төлөйт?</a:t>
            </a:r>
            <a:endParaRPr lang="en-GB" dirty="0"/>
          </a:p>
        </p:txBody>
      </p:sp>
      <p:sp>
        <p:nvSpPr>
          <p:cNvPr id="17" name="Wave 16">
            <a:extLst>
              <a:ext uri="{FF2B5EF4-FFF2-40B4-BE49-F238E27FC236}">
                <a16:creationId xmlns:a16="http://schemas.microsoft.com/office/drawing/2014/main" id="{E9E719DD-62AD-4296-9DBC-0BC6F164FCE8}"/>
              </a:ext>
            </a:extLst>
          </p:cNvPr>
          <p:cNvSpPr/>
          <p:nvPr/>
        </p:nvSpPr>
        <p:spPr>
          <a:xfrm>
            <a:off x="5645021" y="1801223"/>
            <a:ext cx="3947003" cy="2210940"/>
          </a:xfrm>
          <a:prstGeom prst="wave">
            <a:avLst>
              <a:gd name="adj1" fmla="val 7094"/>
              <a:gd name="adj2" fmla="val 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8" name="Table 5">
            <a:extLst>
              <a:ext uri="{FF2B5EF4-FFF2-40B4-BE49-F238E27FC236}">
                <a16:creationId xmlns:a16="http://schemas.microsoft.com/office/drawing/2014/main" id="{F9A59C19-B026-4389-AA8C-0EDA2E5EA6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421216"/>
              </p:ext>
            </p:extLst>
          </p:nvPr>
        </p:nvGraphicFramePr>
        <p:xfrm>
          <a:off x="5685610" y="2199752"/>
          <a:ext cx="3906414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9864">
                  <a:extLst>
                    <a:ext uri="{9D8B030D-6E8A-4147-A177-3AD203B41FA5}">
                      <a16:colId xmlns:a16="http://schemas.microsoft.com/office/drawing/2014/main" val="850467736"/>
                    </a:ext>
                  </a:extLst>
                </a:gridCol>
                <a:gridCol w="1896550">
                  <a:extLst>
                    <a:ext uri="{9D8B030D-6E8A-4147-A177-3AD203B41FA5}">
                      <a16:colId xmlns:a16="http://schemas.microsoft.com/office/drawing/2014/main" val="1931761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Бургер 136.75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Макарон 188.91с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035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dirty="0"/>
                        <a:t>фри</a:t>
                      </a:r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 96.65с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Алма 29.10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92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Газдалган суусундук 81.28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Шире 88.97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30155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458B9E8E-A7CC-40DB-A074-056E169F8D8A}"/>
              </a:ext>
            </a:extLst>
          </p:cNvPr>
          <p:cNvSpPr txBox="1"/>
          <p:nvPr/>
        </p:nvSpPr>
        <p:spPr>
          <a:xfrm>
            <a:off x="5267175" y="4296744"/>
            <a:ext cx="444179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Таку өзүнө жана досуна түшкү тамак сатып </a:t>
            </a:r>
          </a:p>
          <a:p>
            <a:pPr algn="ctr"/>
            <a:r>
              <a:rPr lang="ky-KG" dirty="0"/>
              <a:t>алат. Ал бир макарон, бир бургер, </a:t>
            </a:r>
          </a:p>
          <a:p>
            <a:pPr algn="ctr"/>
            <a:r>
              <a:rPr lang="ky-KG" dirty="0"/>
              <a:t>2 фри жана 2 шире суусундук сатып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Ал 10</a:t>
            </a:r>
            <a:r>
              <a:rPr lang="en-US" dirty="0"/>
              <a:t>00</a:t>
            </a:r>
            <a:r>
              <a:rPr lang="ky-KG" dirty="0"/>
              <a:t> сомдон канча кайтарым акча алат?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9833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Ф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Х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3" name="Wave 2">
            <a:extLst>
              <a:ext uri="{FF2B5EF4-FFF2-40B4-BE49-F238E27FC236}">
                <a16:creationId xmlns:a16="http://schemas.microsoft.com/office/drawing/2014/main" id="{EA81ABEC-28CB-4761-9FC4-8CF997F6B093}"/>
              </a:ext>
            </a:extLst>
          </p:cNvPr>
          <p:cNvSpPr/>
          <p:nvPr/>
        </p:nvSpPr>
        <p:spPr>
          <a:xfrm>
            <a:off x="587830" y="2146041"/>
            <a:ext cx="3704252" cy="1866122"/>
          </a:xfrm>
          <a:prstGeom prst="wave">
            <a:avLst>
              <a:gd name="adj1" fmla="val 7094"/>
              <a:gd name="adj2" fmla="val 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14F2C2A-BD5F-4A15-81F6-82AAA56FE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01823"/>
              </p:ext>
            </p:extLst>
          </p:nvPr>
        </p:nvGraphicFramePr>
        <p:xfrm>
          <a:off x="445590" y="2348119"/>
          <a:ext cx="4054994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497">
                  <a:extLst>
                    <a:ext uri="{9D8B030D-6E8A-4147-A177-3AD203B41FA5}">
                      <a16:colId xmlns:a16="http://schemas.microsoft.com/office/drawing/2014/main" val="850467736"/>
                    </a:ext>
                  </a:extLst>
                </a:gridCol>
                <a:gridCol w="2027497">
                  <a:extLst>
                    <a:ext uri="{9D8B030D-6E8A-4147-A177-3AD203B41FA5}">
                      <a16:colId xmlns:a16="http://schemas.microsoft.com/office/drawing/2014/main" val="1931761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Бургер 136.75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Макарон 188.91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035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dirty="0"/>
                        <a:t>фри</a:t>
                      </a:r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 96.65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Алма 29.10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92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Газдалган суусундук 81.28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Шире 88.97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30155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9BEF4AD-F3F9-44A7-9EC9-C7DC08187C76}"/>
              </a:ext>
            </a:extLst>
          </p:cNvPr>
          <p:cNvSpPr txBox="1"/>
          <p:nvPr/>
        </p:nvSpPr>
        <p:spPr>
          <a:xfrm>
            <a:off x="445590" y="4296744"/>
            <a:ext cx="397057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Түшкү тамакка Максат бир  макарон</a:t>
            </a:r>
          </a:p>
          <a:p>
            <a:pPr algn="ctr"/>
            <a:r>
              <a:rPr lang="ky-KG" dirty="0"/>
              <a:t> жана газдалган суусундук сатып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Ал 500 сомдук  менен төлөп, </a:t>
            </a:r>
          </a:p>
          <a:p>
            <a:pPr algn="ctr"/>
            <a:r>
              <a:rPr lang="ky-KG" dirty="0"/>
              <a:t>255.94 сом кайтарым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Газдалган суусундук канча турат?</a:t>
            </a:r>
            <a:r>
              <a:rPr lang="en-GB" dirty="0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AD7FEB4-4D21-412F-B169-E1DBDE333C47}"/>
              </a:ext>
            </a:extLst>
          </p:cNvPr>
          <p:cNvCxnSpPr>
            <a:cxnSpLocks/>
          </p:cNvCxnSpPr>
          <p:nvPr/>
        </p:nvCxnSpPr>
        <p:spPr>
          <a:xfrm>
            <a:off x="3223778" y="2853939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8953EE6-7200-43E4-BE16-7357AFDCFE3E}"/>
              </a:ext>
            </a:extLst>
          </p:cNvPr>
          <p:cNvCxnSpPr>
            <a:cxnSpLocks/>
          </p:cNvCxnSpPr>
          <p:nvPr/>
        </p:nvCxnSpPr>
        <p:spPr>
          <a:xfrm flipV="1">
            <a:off x="3260789" y="2825238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EAA9A94-C4B2-4ED0-9979-7B00A4004F6E}"/>
              </a:ext>
            </a:extLst>
          </p:cNvPr>
          <p:cNvCxnSpPr>
            <a:cxnSpLocks/>
          </p:cNvCxnSpPr>
          <p:nvPr/>
        </p:nvCxnSpPr>
        <p:spPr>
          <a:xfrm>
            <a:off x="1653513" y="3446918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9FF162-0E82-4A37-90AF-1F0C9D76834E}"/>
              </a:ext>
            </a:extLst>
          </p:cNvPr>
          <p:cNvCxnSpPr>
            <a:cxnSpLocks/>
          </p:cNvCxnSpPr>
          <p:nvPr/>
        </p:nvCxnSpPr>
        <p:spPr>
          <a:xfrm flipV="1">
            <a:off x="1620823" y="3428591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570AD3B-AB24-42C1-9943-D2D23587AD9E}"/>
              </a:ext>
            </a:extLst>
          </p:cNvPr>
          <p:cNvCxnSpPr>
            <a:cxnSpLocks/>
          </p:cNvCxnSpPr>
          <p:nvPr/>
        </p:nvCxnSpPr>
        <p:spPr>
          <a:xfrm>
            <a:off x="1445843" y="2441253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FC519E1-318A-4E6C-8CA4-892B4201E909}"/>
              </a:ext>
            </a:extLst>
          </p:cNvPr>
          <p:cNvCxnSpPr>
            <a:cxnSpLocks/>
          </p:cNvCxnSpPr>
          <p:nvPr/>
        </p:nvCxnSpPr>
        <p:spPr>
          <a:xfrm flipV="1">
            <a:off x="1453199" y="2460712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B10FFA2-B33A-43FC-B866-6B9B1DD35705}"/>
              </a:ext>
            </a:extLst>
          </p:cNvPr>
          <p:cNvSpPr txBox="1"/>
          <p:nvPr/>
        </p:nvSpPr>
        <p:spPr>
          <a:xfrm rot="493720">
            <a:off x="1987501" y="1901127"/>
            <a:ext cx="1598515" cy="420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b="1" baseline="6000" dirty="0">
                <a:latin typeface="Forte" panose="03060902040502070203" pitchFamily="66" charset="0"/>
              </a:rPr>
              <a:t>Жаңы баа!</a:t>
            </a:r>
            <a:endParaRPr lang="en-GB" sz="3200" b="1" baseline="6000" dirty="0">
              <a:latin typeface="Forte" panose="03060902040502070203" pitchFamily="66" charset="0"/>
            </a:endParaRPr>
          </a:p>
        </p:txBody>
      </p:sp>
      <p:sp>
        <p:nvSpPr>
          <p:cNvPr id="29" name="Wave 28">
            <a:extLst>
              <a:ext uri="{FF2B5EF4-FFF2-40B4-BE49-F238E27FC236}">
                <a16:creationId xmlns:a16="http://schemas.microsoft.com/office/drawing/2014/main" id="{4EBB8CB3-C0F5-4327-8AED-5BC2C78B4201}"/>
              </a:ext>
            </a:extLst>
          </p:cNvPr>
          <p:cNvSpPr/>
          <p:nvPr/>
        </p:nvSpPr>
        <p:spPr>
          <a:xfrm>
            <a:off x="5607699" y="2146041"/>
            <a:ext cx="3704252" cy="1866122"/>
          </a:xfrm>
          <a:prstGeom prst="wave">
            <a:avLst>
              <a:gd name="adj1" fmla="val 7094"/>
              <a:gd name="adj2" fmla="val 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30" name="Table 5">
            <a:extLst>
              <a:ext uri="{FF2B5EF4-FFF2-40B4-BE49-F238E27FC236}">
                <a16:creationId xmlns:a16="http://schemas.microsoft.com/office/drawing/2014/main" id="{FBE613A6-C7A8-4CC6-8630-DF9B657FA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272083"/>
              </p:ext>
            </p:extLst>
          </p:nvPr>
        </p:nvGraphicFramePr>
        <p:xfrm>
          <a:off x="5548935" y="2396196"/>
          <a:ext cx="387465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7325">
                  <a:extLst>
                    <a:ext uri="{9D8B030D-6E8A-4147-A177-3AD203B41FA5}">
                      <a16:colId xmlns:a16="http://schemas.microsoft.com/office/drawing/2014/main" val="850467736"/>
                    </a:ext>
                  </a:extLst>
                </a:gridCol>
                <a:gridCol w="1937325">
                  <a:extLst>
                    <a:ext uri="{9D8B030D-6E8A-4147-A177-3AD203B41FA5}">
                      <a16:colId xmlns:a16="http://schemas.microsoft.com/office/drawing/2014/main" val="1931761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Бургер 136.75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Макарон 188.91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035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dirty="0"/>
                        <a:t>фри</a:t>
                      </a:r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 96.65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Алма 29.10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92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Газдалган суусундук 81.28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Шире 88.97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301558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D1F50112-E388-4054-83BB-E821E7E9B8D0}"/>
              </a:ext>
            </a:extLst>
          </p:cNvPr>
          <p:cNvSpPr txBox="1"/>
          <p:nvPr/>
        </p:nvSpPr>
        <p:spPr>
          <a:xfrm>
            <a:off x="5371269" y="4296744"/>
            <a:ext cx="415895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Түшкү тамакка Женни 2 макарон тамак, </a:t>
            </a:r>
          </a:p>
          <a:p>
            <a:pPr algn="ctr"/>
            <a:r>
              <a:rPr lang="ky-KG" dirty="0"/>
              <a:t>3 алма жана шире суусундук сатып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Ал 1000сомдук  менен төлөп, </a:t>
            </a:r>
          </a:p>
          <a:p>
            <a:pPr algn="ctr"/>
            <a:r>
              <a:rPr lang="ky-KG" dirty="0"/>
              <a:t>500 сом кайтарым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Бир алма канча турат?</a:t>
            </a:r>
            <a:r>
              <a:rPr lang="en-GB" dirty="0"/>
              <a:t> 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247C1D-ADE9-4954-A5D0-418CD334390A}"/>
              </a:ext>
            </a:extLst>
          </p:cNvPr>
          <p:cNvCxnSpPr>
            <a:cxnSpLocks/>
          </p:cNvCxnSpPr>
          <p:nvPr/>
        </p:nvCxnSpPr>
        <p:spPr>
          <a:xfrm>
            <a:off x="8202798" y="2843872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CAB4AFA-E5C3-4D55-B37C-1D6E123C7A45}"/>
              </a:ext>
            </a:extLst>
          </p:cNvPr>
          <p:cNvCxnSpPr>
            <a:cxnSpLocks/>
          </p:cNvCxnSpPr>
          <p:nvPr/>
        </p:nvCxnSpPr>
        <p:spPr>
          <a:xfrm flipV="1">
            <a:off x="8239809" y="2892856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0DC99EE-DC7E-4204-8F5D-04C5096E0EED}"/>
              </a:ext>
            </a:extLst>
          </p:cNvPr>
          <p:cNvCxnSpPr>
            <a:cxnSpLocks/>
          </p:cNvCxnSpPr>
          <p:nvPr/>
        </p:nvCxnSpPr>
        <p:spPr>
          <a:xfrm>
            <a:off x="6718298" y="3547180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7498136-D15D-435A-8B00-0F1D9E427BB2}"/>
              </a:ext>
            </a:extLst>
          </p:cNvPr>
          <p:cNvCxnSpPr>
            <a:cxnSpLocks/>
          </p:cNvCxnSpPr>
          <p:nvPr/>
        </p:nvCxnSpPr>
        <p:spPr>
          <a:xfrm flipV="1">
            <a:off x="6718298" y="3541370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7E0784B-BAE4-498B-88F6-2E35150314D5}"/>
              </a:ext>
            </a:extLst>
          </p:cNvPr>
          <p:cNvCxnSpPr>
            <a:cxnSpLocks/>
          </p:cNvCxnSpPr>
          <p:nvPr/>
        </p:nvCxnSpPr>
        <p:spPr>
          <a:xfrm>
            <a:off x="6508885" y="2499899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1EC9003-943B-44DA-BA04-B8F211EAD337}"/>
              </a:ext>
            </a:extLst>
          </p:cNvPr>
          <p:cNvCxnSpPr>
            <a:cxnSpLocks/>
          </p:cNvCxnSpPr>
          <p:nvPr/>
        </p:nvCxnSpPr>
        <p:spPr>
          <a:xfrm flipV="1">
            <a:off x="6545896" y="2538816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77FA401-210D-4EEE-8FC5-41AE98A51F09}"/>
              </a:ext>
            </a:extLst>
          </p:cNvPr>
          <p:cNvSpPr txBox="1"/>
          <p:nvPr/>
        </p:nvSpPr>
        <p:spPr>
          <a:xfrm rot="493720">
            <a:off x="7007370" y="1901127"/>
            <a:ext cx="1598515" cy="420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b="1" baseline="6000" dirty="0">
                <a:latin typeface="Forte" panose="03060902040502070203" pitchFamily="66" charset="0"/>
              </a:rPr>
              <a:t>Жаңы баа!</a:t>
            </a:r>
            <a:endParaRPr lang="en-GB" sz="3200" b="1" baseline="6000" dirty="0">
              <a:latin typeface="Forte" panose="0306090204050207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378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03D9BE1-E101-4FB3-A5E5-A858BEA8E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174035"/>
              </p:ext>
            </p:extLst>
          </p:nvPr>
        </p:nvGraphicFramePr>
        <p:xfrm>
          <a:off x="131123" y="44918"/>
          <a:ext cx="4672889" cy="676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47">
                  <a:extLst>
                    <a:ext uri="{9D8B030D-6E8A-4147-A177-3AD203B41FA5}">
                      <a16:colId xmlns:a16="http://schemas.microsoft.com/office/drawing/2014/main" val="999528523"/>
                    </a:ext>
                  </a:extLst>
                </a:gridCol>
                <a:gridCol w="3057099">
                  <a:extLst>
                    <a:ext uri="{9D8B030D-6E8A-4147-A177-3AD203B41FA5}">
                      <a16:colId xmlns:a16="http://schemas.microsoft.com/office/drawing/2014/main" val="4233635885"/>
                    </a:ext>
                  </a:extLst>
                </a:gridCol>
                <a:gridCol w="955343">
                  <a:extLst>
                    <a:ext uri="{9D8B030D-6E8A-4147-A177-3AD203B41FA5}">
                      <a16:colId xmlns:a16="http://schemas.microsoft.com/office/drawing/2014/main" val="368119011"/>
                    </a:ext>
                  </a:extLst>
                </a:gridCol>
              </a:tblGrid>
              <a:tr h="424620"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Сур.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Жооптор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Упай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005034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А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3200" dirty="0"/>
                        <a:t>19сом 60 тыйын</a:t>
                      </a:r>
                      <a:endParaRPr lang="en-GB" sz="3200" baseline="30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828738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Б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28.80сом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37646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В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94.80с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68799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Г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92.61с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7175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Д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624.02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8289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Е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644.97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80707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Е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1,497.85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624037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Ж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250.46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7736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З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182.8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72902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И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58.46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670860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Й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1,635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0698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К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1,065.9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7767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Л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632.04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86305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E6A4FF7-331C-41A8-9FF5-12FEF974C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909791"/>
              </p:ext>
            </p:extLst>
          </p:nvPr>
        </p:nvGraphicFramePr>
        <p:xfrm>
          <a:off x="5101988" y="47360"/>
          <a:ext cx="4672889" cy="676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47">
                  <a:extLst>
                    <a:ext uri="{9D8B030D-6E8A-4147-A177-3AD203B41FA5}">
                      <a16:colId xmlns:a16="http://schemas.microsoft.com/office/drawing/2014/main" val="999528523"/>
                    </a:ext>
                  </a:extLst>
                </a:gridCol>
                <a:gridCol w="3057099">
                  <a:extLst>
                    <a:ext uri="{9D8B030D-6E8A-4147-A177-3AD203B41FA5}">
                      <a16:colId xmlns:a16="http://schemas.microsoft.com/office/drawing/2014/main" val="4233635885"/>
                    </a:ext>
                  </a:extLst>
                </a:gridCol>
                <a:gridCol w="955343">
                  <a:extLst>
                    <a:ext uri="{9D8B030D-6E8A-4147-A177-3AD203B41FA5}">
                      <a16:colId xmlns:a16="http://schemas.microsoft.com/office/drawing/2014/main" val="368119011"/>
                    </a:ext>
                  </a:extLst>
                </a:gridCol>
              </a:tblGrid>
              <a:tr h="424620"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Сур.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Жооптор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Упай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005034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1,355.79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сом</a:t>
                      </a:r>
                      <a:endParaRPr lang="en-GB" sz="3200" baseline="30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dirty="0"/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828738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Н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184.32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37646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Ң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277.65 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68799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О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351.47сом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7175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Ө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458.01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8289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П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>
                          <a:solidFill>
                            <a:schemeClr val="tx1"/>
                          </a:solidFill>
                        </a:rPr>
                        <a:t>Супер арзан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80707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Р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5.52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624037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С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chemeClr val="tx1"/>
                          </a:solidFill>
                        </a:rPr>
                        <a:t>Мектеп жабдуулары.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7736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Т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147.32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72902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У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ky-KG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247.13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670860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Ү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303.1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0698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Ф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55.15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7767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Х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11.07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863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4111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AD17504-C126-C5A8-36D6-E71A281E0DFC}"/>
              </a:ext>
            </a:extLst>
          </p:cNvPr>
          <p:cNvGraphicFramePr>
            <a:graphicFrameLocks noGrp="1"/>
          </p:cNvGraphicFramePr>
          <p:nvPr/>
        </p:nvGraphicFramePr>
        <p:xfrm>
          <a:off x="131123" y="44918"/>
          <a:ext cx="4672889" cy="676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47">
                  <a:extLst>
                    <a:ext uri="{9D8B030D-6E8A-4147-A177-3AD203B41FA5}">
                      <a16:colId xmlns:a16="http://schemas.microsoft.com/office/drawing/2014/main" val="999528523"/>
                    </a:ext>
                  </a:extLst>
                </a:gridCol>
                <a:gridCol w="3057099">
                  <a:extLst>
                    <a:ext uri="{9D8B030D-6E8A-4147-A177-3AD203B41FA5}">
                      <a16:colId xmlns:a16="http://schemas.microsoft.com/office/drawing/2014/main" val="4233635885"/>
                    </a:ext>
                  </a:extLst>
                </a:gridCol>
                <a:gridCol w="955343">
                  <a:extLst>
                    <a:ext uri="{9D8B030D-6E8A-4147-A177-3AD203B41FA5}">
                      <a16:colId xmlns:a16="http://schemas.microsoft.com/office/drawing/2014/main" val="368119011"/>
                    </a:ext>
                  </a:extLst>
                </a:gridCol>
              </a:tblGrid>
              <a:tr h="424620"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Сур.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Жооптор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Упай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005034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А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3200" baseline="30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3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828738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Б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37646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В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68799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Г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7175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Д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8289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Е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80707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Е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624037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Ж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7736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З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72902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И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670860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Й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0698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К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7767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Л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86305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679D52-5DED-F80C-02BE-DF698E982C26}"/>
              </a:ext>
            </a:extLst>
          </p:cNvPr>
          <p:cNvGraphicFramePr>
            <a:graphicFrameLocks noGrp="1"/>
          </p:cNvGraphicFramePr>
          <p:nvPr/>
        </p:nvGraphicFramePr>
        <p:xfrm>
          <a:off x="5101988" y="47360"/>
          <a:ext cx="4672889" cy="676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47">
                  <a:extLst>
                    <a:ext uri="{9D8B030D-6E8A-4147-A177-3AD203B41FA5}">
                      <a16:colId xmlns:a16="http://schemas.microsoft.com/office/drawing/2014/main" val="999528523"/>
                    </a:ext>
                  </a:extLst>
                </a:gridCol>
                <a:gridCol w="3057099">
                  <a:extLst>
                    <a:ext uri="{9D8B030D-6E8A-4147-A177-3AD203B41FA5}">
                      <a16:colId xmlns:a16="http://schemas.microsoft.com/office/drawing/2014/main" val="4233635885"/>
                    </a:ext>
                  </a:extLst>
                </a:gridCol>
                <a:gridCol w="955343">
                  <a:extLst>
                    <a:ext uri="{9D8B030D-6E8A-4147-A177-3AD203B41FA5}">
                      <a16:colId xmlns:a16="http://schemas.microsoft.com/office/drawing/2014/main" val="368119011"/>
                    </a:ext>
                  </a:extLst>
                </a:gridCol>
              </a:tblGrid>
              <a:tr h="424620"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Сур.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Жооптор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Упай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005034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3200" baseline="30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3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828738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Н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37646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Ң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68799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О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7175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Ө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8289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П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80707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Р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624037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С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y-KG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7736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Т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72902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У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670860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Ү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0698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Ф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7767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Х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863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49217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01E105-F68E-9DB2-E3D9-A84109669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864841" y="1040158"/>
            <a:ext cx="6825063" cy="48106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681A01-3BD2-E2D6-3351-AAFBF6A1D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88158" y="1040158"/>
            <a:ext cx="6825063" cy="481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8036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325432-0058-28FC-A2A5-C5C5BA785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321"/>
            <a:ext cx="4953000" cy="33324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E33004-288F-B4F0-84A1-724149055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794" y="0"/>
            <a:ext cx="4719628" cy="33324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240101-D838-9418-20F3-72E5D1A5E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05202"/>
            <a:ext cx="4953000" cy="33324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0376C8-E163-1576-F830-1D9ACF077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794" y="3484881"/>
            <a:ext cx="4719628" cy="333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795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8846</TotalTime>
  <Words>1147</Words>
  <Application>Microsoft Office PowerPoint</Application>
  <PresentationFormat>A4 Paper (210x297 mm)</PresentationFormat>
  <Paragraphs>407</Paragraphs>
  <Slides>22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Arial Rounded MT Bold</vt:lpstr>
      <vt:lpstr>Calibri Light</vt:lpstr>
      <vt:lpstr>Forte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404</cp:revision>
  <cp:lastPrinted>2024-09-12T15:59:35Z</cp:lastPrinted>
  <dcterms:created xsi:type="dcterms:W3CDTF">2017-01-17T16:57:04Z</dcterms:created>
  <dcterms:modified xsi:type="dcterms:W3CDTF">2024-09-12T16:00:09Z</dcterms:modified>
</cp:coreProperties>
</file>