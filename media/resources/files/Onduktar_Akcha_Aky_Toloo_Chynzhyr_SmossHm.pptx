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1004" r:id="rId2"/>
    <p:sldId id="843" r:id="rId3"/>
    <p:sldId id="948" r:id="rId4"/>
    <p:sldId id="1009" r:id="rId5"/>
    <p:sldId id="1010" r:id="rId6"/>
    <p:sldId id="950" r:id="rId7"/>
    <p:sldId id="951" r:id="rId8"/>
    <p:sldId id="952" r:id="rId9"/>
    <p:sldId id="1008" r:id="rId10"/>
  </p:sldIdLst>
  <p:sldSz cx="9906000" cy="6858000" type="A4"/>
  <p:notesSz cx="6669088" cy="9926638"/>
  <p:embeddedFontLst>
    <p:embeddedFont>
      <p:font typeface="Eras Bold ITC" panose="020B0907030504020204" pitchFamily="34" charset="0"/>
      <p:regular r:id="rId12"/>
    </p:embeddedFont>
    <p:embeddedFont>
      <p:font typeface="Impact" panose="020B0806030902050204" pitchFamily="34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8E445F75-D6F1-4321-BABA-672DDC42F47B}">
          <p14:sldIdLst>
            <p14:sldId id="1004"/>
          </p14:sldIdLst>
        </p14:section>
        <p14:section name="Титулдук слайд" id="{197FF5E7-57A8-40D7-8FA0-8A089C366947}">
          <p14:sldIdLst>
            <p14:sldId id="843"/>
          </p14:sldIdLst>
        </p14:section>
        <p14:section name="Көрсөтүү үчүн" id="{1D603440-345C-43D3-9D68-8DE5B56EBD70}">
          <p14:sldIdLst>
            <p14:sldId id="948"/>
          </p14:sldIdLst>
        </p14:section>
        <p14:section name="Жооптор" id="{AC5FE208-EBB4-4602-A478-063138983F16}">
          <p14:sldIdLst>
            <p14:sldId id="1009"/>
            <p14:sldId id="1010"/>
          </p14:sldIdLst>
        </p14:section>
        <p14:section name="Таркатма иш кагаздар" id="{92B26257-79B9-4727-B75E-D22C546D1965}">
          <p14:sldIdLst>
            <p14:sldId id="950"/>
            <p14:sldId id="951"/>
            <p14:sldId id="952"/>
          </p14:sldIdLst>
        </p14:section>
        <p14:section name="Кайтарым байланыш" id="{44593A35-489B-47C3-9FD2-BAFF3AF9952F}">
          <p14:sldIdLst>
            <p14:sldId id="10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FF0A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17/09/2024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0091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70AB8EA-EE90-54AD-333F-C9B060BBDA87}"/>
              </a:ext>
            </a:extLst>
          </p:cNvPr>
          <p:cNvSpPr txBox="1">
            <a:spLocks/>
          </p:cNvSpPr>
          <p:nvPr/>
        </p:nvSpPr>
        <p:spPr>
          <a:xfrm>
            <a:off x="0" y="1625600"/>
            <a:ext cx="9831070" cy="4629151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y-KG" sz="2400" dirty="0">
                <a:latin typeface="Arial" panose="020B0604020202020204" pitchFamily="34" charset="0"/>
                <a:cs typeface="Arial" panose="020B0604020202020204" pitchFamily="34" charset="0"/>
              </a:rPr>
              <a:t>Акы төлөмдөрү  </a:t>
            </a:r>
            <a:r>
              <a:rPr lang="ru-RU" sz="2400" dirty="0"/>
              <a:t>– ЧЫНЖЫР! </a:t>
            </a:r>
          </a:p>
          <a:p>
            <a:endParaRPr lang="ru-RU" sz="2400" dirty="0"/>
          </a:p>
          <a:p>
            <a:r>
              <a:rPr lang="ru-RU" sz="2400" dirty="0"/>
              <a:t>Окуучулар сол жактагы суроолорду оң жактагы жооптор менен дал келтириши керек.</a:t>
            </a:r>
          </a:p>
          <a:p>
            <a:endParaRPr lang="ru-RU" sz="2400" dirty="0"/>
          </a:p>
          <a:p>
            <a:r>
              <a:rPr lang="ru-RU" sz="2400" dirty="0"/>
              <a:t>Окуучулар оң жактагы кутучаларга тиешелүү тамгаларды коюшу керек.</a:t>
            </a:r>
          </a:p>
          <a:p>
            <a:endParaRPr lang="ru-RU" sz="2400" dirty="0"/>
          </a:p>
          <a:p>
            <a:r>
              <a:rPr lang="ru-RU" sz="2400" dirty="0"/>
              <a:t>Иш баракчасы ар кандай өлчөмдө/форматтарда берилет.</a:t>
            </a:r>
          </a:p>
          <a:p>
            <a:endParaRPr lang="ru-RU" sz="2400" dirty="0"/>
          </a:p>
          <a:p>
            <a:r>
              <a:rPr lang="ru-RU" sz="2400" dirty="0"/>
              <a:t>Бул ресурс математикалык ыкманын жандуу демонстрацияларын камсыз кылат.</a:t>
            </a:r>
          </a:p>
          <a:p>
            <a:endParaRPr lang="ru-RU" sz="2400" dirty="0"/>
          </a:p>
          <a:p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2400" b="1" dirty="0">
                <a:solidFill>
                  <a:srgbClr val="FF0000"/>
                </a:solidFill>
              </a:rPr>
              <a:t>ӨЧҮРҮ</a:t>
            </a:r>
            <a:r>
              <a:rPr lang="ky-KG" sz="2400" b="1" dirty="0">
                <a:solidFill>
                  <a:srgbClr val="FF0000"/>
                </a:solidFill>
              </a:rPr>
              <a:t>П САЛЫ</a:t>
            </a:r>
            <a:r>
              <a:rPr lang="ru-RU" sz="2400" b="1" dirty="0">
                <a:solidFill>
                  <a:srgbClr val="FF0000"/>
                </a:solidFill>
              </a:rPr>
              <a:t>ҢЫЗ.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33578990-6CDC-83E1-7E5A-C95904FE7CA7}"/>
              </a:ext>
            </a:extLst>
          </p:cNvPr>
          <p:cNvSpPr txBox="1">
            <a:spLocks/>
          </p:cNvSpPr>
          <p:nvPr/>
        </p:nvSpPr>
        <p:spPr>
          <a:xfrm>
            <a:off x="426720" y="5032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046856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88D6DE-2E30-4CB7-9B76-4DBE2D1054AE}"/>
              </a:ext>
            </a:extLst>
          </p:cNvPr>
          <p:cNvSpPr txBox="1"/>
          <p:nvPr/>
        </p:nvSpPr>
        <p:spPr>
          <a:xfrm>
            <a:off x="2114729" y="5075978"/>
            <a:ext cx="5676554" cy="10156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y-KG" sz="6000" dirty="0">
                <a:solidFill>
                  <a:srgbClr val="02FF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Акы төлөмдөрү</a:t>
            </a:r>
            <a:endParaRPr lang="en-GB" sz="6000" dirty="0">
              <a:solidFill>
                <a:srgbClr val="02FF0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ABD7EA-7F7D-428D-90E3-71FCB321A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453" y="2405873"/>
            <a:ext cx="5535491" cy="23307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F573CC-B404-D672-A975-FE0CF8139DB2}"/>
              </a:ext>
            </a:extLst>
          </p:cNvPr>
          <p:cNvSpPr txBox="1"/>
          <p:nvPr/>
        </p:nvSpPr>
        <p:spPr>
          <a:xfrm>
            <a:off x="445022" y="0"/>
            <a:ext cx="7835377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800" dirty="0" err="1">
                <a:solidFill>
                  <a:srgbClr val="02FF0A"/>
                </a:solidFill>
                <a:latin typeface="Impact" panose="020B0806030902050204" pitchFamily="34" charset="0"/>
              </a:rPr>
              <a:t>чынжыр</a:t>
            </a:r>
            <a:endParaRPr lang="en-US" sz="13800" dirty="0">
              <a:solidFill>
                <a:srgbClr val="02FF0A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947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BDB712A-C452-41ED-90F7-D305A1F4F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4584987"/>
              </p:ext>
            </p:extLst>
          </p:nvPr>
        </p:nvGraphicFramePr>
        <p:xfrm>
          <a:off x="25391" y="914400"/>
          <a:ext cx="4845655" cy="5890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92">
                  <a:extLst>
                    <a:ext uri="{9D8B030D-6E8A-4147-A177-3AD203B41FA5}">
                      <a16:colId xmlns:a16="http://schemas.microsoft.com/office/drawing/2014/main" val="557908182"/>
                    </a:ext>
                  </a:extLst>
                </a:gridCol>
                <a:gridCol w="3070894">
                  <a:extLst>
                    <a:ext uri="{9D8B030D-6E8A-4147-A177-3AD203B41FA5}">
                      <a16:colId xmlns:a16="http://schemas.microsoft.com/office/drawing/2014/main" val="2566807194"/>
                    </a:ext>
                  </a:extLst>
                </a:gridCol>
                <a:gridCol w="1059776">
                  <a:extLst>
                    <a:ext uri="{9D8B030D-6E8A-4147-A177-3AD203B41FA5}">
                      <a16:colId xmlns:a16="http://schemas.microsoft.com/office/drawing/2014/main" val="3713742504"/>
                    </a:ext>
                  </a:extLst>
                </a:gridCol>
                <a:gridCol w="355893">
                  <a:extLst>
                    <a:ext uri="{9D8B030D-6E8A-4147-A177-3AD203B41FA5}">
                      <a16:colId xmlns:a16="http://schemas.microsoft.com/office/drawing/2014/main" val="3400059252"/>
                    </a:ext>
                  </a:extLst>
                </a:gridCol>
              </a:tblGrid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А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 саатка саатына 8.50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201517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Б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 сааттык иш үчүн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40.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446.25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98369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В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£59,85 саатына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8,55.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117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238911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Г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 сааттык жумуш үчүн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36.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1359.38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770501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Д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113,49 саатына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12,61.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037762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Е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3 күн жана күнүнө 6 саат бою саатына </a:t>
                      </a:r>
                      <a:endParaRPr lang="en-US" sz="14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6,50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42.50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642224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Ж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7 күн бою саатына 8,50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жана күнүнө 7,5 саат.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7.50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48773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З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59,93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саатына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9,22.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913.68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412134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И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күнүнө 8 жарым саат менен беш күндүк жумасына 318.75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47835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Й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 жума бою жумасына 5 күн жана күнүнө 6 ¼ саат саатына 7,25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6.5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684495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 жума бою саатына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11,28 жумасына 3 күн толук эмес иштөө (күнүнө 4 ½ саат).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107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A64CB46-E999-4BCD-BD14-8DDAD2F9D5F3}"/>
              </a:ext>
            </a:extLst>
          </p:cNvPr>
          <p:cNvSpPr txBox="1"/>
          <p:nvPr/>
        </p:nvSpPr>
        <p:spPr>
          <a:xfrm>
            <a:off x="716387" y="202223"/>
            <a:ext cx="35289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Ар бир эсепти жооп менен дал келтириңиз.</a:t>
            </a:r>
          </a:p>
          <a:p>
            <a:pPr algn="ctr"/>
            <a:r>
              <a:rPr lang="ky-KG" sz="1400" dirty="0"/>
              <a:t>Бирдигин көрсөт</a:t>
            </a:r>
            <a:r>
              <a:rPr lang="en-US" sz="1400" dirty="0"/>
              <a:t> </a:t>
            </a:r>
            <a:r>
              <a:rPr lang="ky-KG" sz="1400" dirty="0"/>
              <a:t> (</a:t>
            </a:r>
            <a:r>
              <a:rPr lang="ky-KG" sz="1400" b="1" dirty="0"/>
              <a:t>убакыт / акча / жалпы </a:t>
            </a:r>
            <a:r>
              <a:rPr lang="ky-KG" sz="1400" dirty="0"/>
              <a:t>).</a:t>
            </a:r>
            <a:endParaRPr lang="en-GB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A9B4C7-9867-F628-CE49-E7753149580A}"/>
              </a:ext>
            </a:extLst>
          </p:cNvPr>
          <p:cNvSpPr txBox="1"/>
          <p:nvPr/>
        </p:nvSpPr>
        <p:spPr>
          <a:xfrm>
            <a:off x="171414" y="-153960"/>
            <a:ext cx="1853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latin typeface="Impact" panose="020B0806030902050204" pitchFamily="34" charset="0"/>
              </a:rPr>
              <a:t>чынжыр</a:t>
            </a:r>
            <a:endParaRPr lang="en-US" sz="4000" dirty="0">
              <a:latin typeface="Impact" panose="020B080603090205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079124-2A4B-EF8A-7886-76FA3A8DDB2F}"/>
              </a:ext>
            </a:extLst>
          </p:cNvPr>
          <p:cNvSpPr txBox="1"/>
          <p:nvPr/>
        </p:nvSpPr>
        <p:spPr>
          <a:xfrm>
            <a:off x="2292314" y="-114325"/>
            <a:ext cx="2660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2400" dirty="0">
                <a:latin typeface="Impact" panose="020B0806030902050204" pitchFamily="34" charset="0"/>
              </a:rPr>
              <a:t>оҢ жак </a:t>
            </a:r>
            <a:r>
              <a:rPr lang="en-US" sz="2400" dirty="0">
                <a:latin typeface="Impact" panose="020B0806030902050204" pitchFamily="34" charset="0"/>
              </a:rPr>
              <a:t>&amp; </a:t>
            </a:r>
            <a:r>
              <a:rPr lang="ky-KG" sz="2400" dirty="0">
                <a:latin typeface="Impact" panose="020B0806030902050204" pitchFamily="34" charset="0"/>
              </a:rPr>
              <a:t>сол жак</a:t>
            </a:r>
            <a:endParaRPr lang="en-US" sz="36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867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BDB712A-C452-41ED-90F7-D305A1F4F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627223"/>
              </p:ext>
            </p:extLst>
          </p:nvPr>
        </p:nvGraphicFramePr>
        <p:xfrm>
          <a:off x="25391" y="914400"/>
          <a:ext cx="4845655" cy="5890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92">
                  <a:extLst>
                    <a:ext uri="{9D8B030D-6E8A-4147-A177-3AD203B41FA5}">
                      <a16:colId xmlns:a16="http://schemas.microsoft.com/office/drawing/2014/main" val="557908182"/>
                    </a:ext>
                  </a:extLst>
                </a:gridCol>
                <a:gridCol w="3070894">
                  <a:extLst>
                    <a:ext uri="{9D8B030D-6E8A-4147-A177-3AD203B41FA5}">
                      <a16:colId xmlns:a16="http://schemas.microsoft.com/office/drawing/2014/main" val="2566807194"/>
                    </a:ext>
                  </a:extLst>
                </a:gridCol>
                <a:gridCol w="1059776">
                  <a:extLst>
                    <a:ext uri="{9D8B030D-6E8A-4147-A177-3AD203B41FA5}">
                      <a16:colId xmlns:a16="http://schemas.microsoft.com/office/drawing/2014/main" val="3713742504"/>
                    </a:ext>
                  </a:extLst>
                </a:gridCol>
                <a:gridCol w="355893">
                  <a:extLst>
                    <a:ext uri="{9D8B030D-6E8A-4147-A177-3AD203B41FA5}">
                      <a16:colId xmlns:a16="http://schemas.microsoft.com/office/drawing/2014/main" val="3400059252"/>
                    </a:ext>
                  </a:extLst>
                </a:gridCol>
              </a:tblGrid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А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 саатка саатына 8.50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 </a:t>
                      </a:r>
                      <a:r>
                        <a:rPr kumimoji="0" lang="ky-KG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саат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В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201517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Б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 сааттык иш үчүн 40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446.25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98369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В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59,85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 саатына 8,55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117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238911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Г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 сааттык жумуш үчүн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36.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1359.38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770501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Д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113,49 саатына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12,61.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саатына</a:t>
                      </a: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6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Г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037762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Е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3 күн жана күнүнө 6 саат бою саатына </a:t>
                      </a:r>
                      <a:endParaRPr lang="en-US" sz="14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6,50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Жалпысынан</a:t>
                      </a: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42,50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$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А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642224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Ж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7 күн бою саатына 8,50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жана күнүнө 7,5 саат.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7.50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48773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З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59,93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саатына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9,22.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913.68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412134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И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күнүнө 8 жарым саат менен беш күндүк жумасына 318.75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саатына</a:t>
                      </a: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8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Б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47835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Й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 жума бою жумасына 5 күн жана күнүнө 6 ¼ саат саатына 7,25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6.5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684495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 жума бою саатына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11,28 жумасына 3 күн толук эмес иштөө (күнүнө 4 ½ саат).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 </a:t>
                      </a:r>
                      <a:r>
                        <a:rPr kumimoji="0" lang="ky-KG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саат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Д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107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A64CB46-E999-4BCD-BD14-8DDAD2F9D5F3}"/>
              </a:ext>
            </a:extLst>
          </p:cNvPr>
          <p:cNvSpPr txBox="1"/>
          <p:nvPr/>
        </p:nvSpPr>
        <p:spPr>
          <a:xfrm>
            <a:off x="716387" y="202223"/>
            <a:ext cx="35289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Ар бир эсепти жооп менен дал келтириңиз.</a:t>
            </a:r>
          </a:p>
          <a:p>
            <a:pPr algn="ctr"/>
            <a:r>
              <a:rPr lang="ky-KG" sz="1400" dirty="0"/>
              <a:t>Бирдигин көрсөт</a:t>
            </a:r>
            <a:r>
              <a:rPr lang="en-US" sz="1400" dirty="0"/>
              <a:t> </a:t>
            </a:r>
            <a:r>
              <a:rPr lang="ky-KG" sz="1400" dirty="0"/>
              <a:t> (</a:t>
            </a:r>
            <a:r>
              <a:rPr lang="ky-KG" sz="1400" b="1" dirty="0"/>
              <a:t>убакыт / акча / жалпы </a:t>
            </a:r>
            <a:r>
              <a:rPr lang="ky-KG" sz="1400" dirty="0"/>
              <a:t>).</a:t>
            </a:r>
            <a:endParaRPr lang="en-GB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A9B4C7-9867-F628-CE49-E7753149580A}"/>
              </a:ext>
            </a:extLst>
          </p:cNvPr>
          <p:cNvSpPr txBox="1"/>
          <p:nvPr/>
        </p:nvSpPr>
        <p:spPr>
          <a:xfrm>
            <a:off x="171414" y="-153960"/>
            <a:ext cx="1853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latin typeface="Impact" panose="020B0806030902050204" pitchFamily="34" charset="0"/>
              </a:rPr>
              <a:t>чынжыр</a:t>
            </a:r>
            <a:endParaRPr lang="en-US" sz="4000" dirty="0">
              <a:latin typeface="Impact" panose="020B080603090205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079124-2A4B-EF8A-7886-76FA3A8DDB2F}"/>
              </a:ext>
            </a:extLst>
          </p:cNvPr>
          <p:cNvSpPr txBox="1"/>
          <p:nvPr/>
        </p:nvSpPr>
        <p:spPr>
          <a:xfrm>
            <a:off x="2292314" y="-114325"/>
            <a:ext cx="2660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2400" dirty="0">
                <a:latin typeface="Impact" panose="020B0806030902050204" pitchFamily="34" charset="0"/>
              </a:rPr>
              <a:t>оҢ жак </a:t>
            </a:r>
            <a:r>
              <a:rPr lang="en-US" sz="2400" dirty="0">
                <a:latin typeface="Impact" panose="020B0806030902050204" pitchFamily="34" charset="0"/>
              </a:rPr>
              <a:t>&amp; </a:t>
            </a:r>
            <a:r>
              <a:rPr lang="ky-KG" sz="2400" dirty="0">
                <a:latin typeface="Impact" panose="020B0806030902050204" pitchFamily="34" charset="0"/>
              </a:rPr>
              <a:t>сол жак</a:t>
            </a:r>
            <a:endParaRPr lang="en-US" sz="3600" dirty="0">
              <a:latin typeface="Impact" panose="020B080603090205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1DEFA6-713A-4063-B00C-5DB1A7DB83AE}"/>
              </a:ext>
            </a:extLst>
          </p:cNvPr>
          <p:cNvSpPr/>
          <p:nvPr/>
        </p:nvSpPr>
        <p:spPr>
          <a:xfrm>
            <a:off x="5660700" y="347340"/>
            <a:ext cx="2890600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Кээбир</a:t>
            </a:r>
          </a:p>
          <a:p>
            <a:pPr algn="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53019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BDB712A-C452-41ED-90F7-D305A1F4F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23727"/>
              </p:ext>
            </p:extLst>
          </p:nvPr>
        </p:nvGraphicFramePr>
        <p:xfrm>
          <a:off x="25391" y="914400"/>
          <a:ext cx="4845655" cy="5890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92">
                  <a:extLst>
                    <a:ext uri="{9D8B030D-6E8A-4147-A177-3AD203B41FA5}">
                      <a16:colId xmlns:a16="http://schemas.microsoft.com/office/drawing/2014/main" val="557908182"/>
                    </a:ext>
                  </a:extLst>
                </a:gridCol>
                <a:gridCol w="3070894">
                  <a:extLst>
                    <a:ext uri="{9D8B030D-6E8A-4147-A177-3AD203B41FA5}">
                      <a16:colId xmlns:a16="http://schemas.microsoft.com/office/drawing/2014/main" val="2566807194"/>
                    </a:ext>
                  </a:extLst>
                </a:gridCol>
                <a:gridCol w="1059776">
                  <a:extLst>
                    <a:ext uri="{9D8B030D-6E8A-4147-A177-3AD203B41FA5}">
                      <a16:colId xmlns:a16="http://schemas.microsoft.com/office/drawing/2014/main" val="3713742504"/>
                    </a:ext>
                  </a:extLst>
                </a:gridCol>
                <a:gridCol w="355893">
                  <a:extLst>
                    <a:ext uri="{9D8B030D-6E8A-4147-A177-3AD203B41FA5}">
                      <a16:colId xmlns:a16="http://schemas.microsoft.com/office/drawing/2014/main" val="3400059252"/>
                    </a:ext>
                  </a:extLst>
                </a:gridCol>
              </a:tblGrid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А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 саатка саатына 8.50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 </a:t>
                      </a:r>
                      <a:r>
                        <a:rPr kumimoji="0" lang="ky-KG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саат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В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201517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Б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 сааттык иш үчүн 40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Жалпысынан</a:t>
                      </a: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446,25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Ж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98369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В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59,85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 саатына 8,55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Жалпысынан</a:t>
                      </a: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117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Е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238911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Г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 сааттык жумуш үчүн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36.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Жалпысынан 1359,38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Й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770501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Д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113,49 саатына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12,61.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саатына</a:t>
                      </a: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6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Г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037762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Е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3 күн жана күнүнө 6 саат бою саатына </a:t>
                      </a:r>
                      <a:endParaRPr lang="en-US" sz="14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6,50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Жалпысынан</a:t>
                      </a: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42,50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$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А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642224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Ж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7 күн бою саатына 8,50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жана күнүнө 7,5 саат.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саатына</a:t>
                      </a: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£7.50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И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48773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З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59,93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саатына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9,22.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Жалпысынан</a:t>
                      </a: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£913,68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К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412134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И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күнүнө 8 жарым саат менен беш күндүк жумасына 318.75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саатына</a:t>
                      </a: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8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Б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47835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Й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 жума бою жумасына 5 күн жана күнүнө 6 ¼ саат саатына 7,25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6,5 </a:t>
                      </a:r>
                      <a:r>
                        <a:rPr kumimoji="0" lang="ky-KG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саат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З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684495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 жума бою саатына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11,28 жумасына 3 күн толук эмес иштөө (күнүнө 4 ½ саат).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y-KG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 </a:t>
                      </a:r>
                      <a:r>
                        <a:rPr kumimoji="0" lang="ky-KG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саат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solidFill>
                            <a:srgbClr val="0070C0"/>
                          </a:solidFill>
                          <a:latin typeface="Eras Bold ITC" panose="020B0907030504020204" pitchFamily="34" charset="0"/>
                        </a:rPr>
                        <a:t>Д</a:t>
                      </a:r>
                      <a:endParaRPr lang="en-GB" sz="2400" b="1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107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A64CB46-E999-4BCD-BD14-8DDAD2F9D5F3}"/>
              </a:ext>
            </a:extLst>
          </p:cNvPr>
          <p:cNvSpPr txBox="1"/>
          <p:nvPr/>
        </p:nvSpPr>
        <p:spPr>
          <a:xfrm>
            <a:off x="716387" y="202223"/>
            <a:ext cx="35289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Ар бир эсепти жооп менен дал келтириңиз.</a:t>
            </a:r>
          </a:p>
          <a:p>
            <a:pPr algn="ctr"/>
            <a:r>
              <a:rPr lang="ky-KG" sz="1400" dirty="0"/>
              <a:t>Бирдигин көрсөт</a:t>
            </a:r>
            <a:r>
              <a:rPr lang="en-US" sz="1400" dirty="0"/>
              <a:t> </a:t>
            </a:r>
            <a:r>
              <a:rPr lang="ky-KG" sz="1400" dirty="0"/>
              <a:t> (</a:t>
            </a:r>
            <a:r>
              <a:rPr lang="ky-KG" sz="1400" b="1" dirty="0"/>
              <a:t>убакыт / акча / жалпы </a:t>
            </a:r>
            <a:r>
              <a:rPr lang="ky-KG" sz="1400" dirty="0"/>
              <a:t>).</a:t>
            </a:r>
            <a:endParaRPr lang="en-GB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A9B4C7-9867-F628-CE49-E7753149580A}"/>
              </a:ext>
            </a:extLst>
          </p:cNvPr>
          <p:cNvSpPr txBox="1"/>
          <p:nvPr/>
        </p:nvSpPr>
        <p:spPr>
          <a:xfrm>
            <a:off x="171414" y="-153960"/>
            <a:ext cx="1853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latin typeface="Impact" panose="020B0806030902050204" pitchFamily="34" charset="0"/>
              </a:rPr>
              <a:t>чынжыр</a:t>
            </a:r>
            <a:endParaRPr lang="en-US" sz="4000" dirty="0">
              <a:latin typeface="Impact" panose="020B080603090205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079124-2A4B-EF8A-7886-76FA3A8DDB2F}"/>
              </a:ext>
            </a:extLst>
          </p:cNvPr>
          <p:cNvSpPr txBox="1"/>
          <p:nvPr/>
        </p:nvSpPr>
        <p:spPr>
          <a:xfrm>
            <a:off x="2292314" y="-114325"/>
            <a:ext cx="2660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2400" dirty="0">
                <a:latin typeface="Impact" panose="020B0806030902050204" pitchFamily="34" charset="0"/>
              </a:rPr>
              <a:t>оҢ жак </a:t>
            </a:r>
            <a:r>
              <a:rPr lang="en-US" sz="2400" dirty="0">
                <a:latin typeface="Impact" panose="020B0806030902050204" pitchFamily="34" charset="0"/>
              </a:rPr>
              <a:t>&amp; </a:t>
            </a:r>
            <a:r>
              <a:rPr lang="ky-KG" sz="2400" dirty="0">
                <a:latin typeface="Impact" panose="020B0806030902050204" pitchFamily="34" charset="0"/>
              </a:rPr>
              <a:t>сол жак</a:t>
            </a:r>
            <a:endParaRPr lang="en-US" sz="3600" dirty="0">
              <a:latin typeface="Impact" panose="020B080603090205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F86FA8-5421-B3CC-CBF8-DCE2B52933C7}"/>
              </a:ext>
            </a:extLst>
          </p:cNvPr>
          <p:cNvSpPr/>
          <p:nvPr/>
        </p:nvSpPr>
        <p:spPr>
          <a:xfrm>
            <a:off x="6436295" y="304800"/>
            <a:ext cx="28104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31528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549BD8-077B-2130-FEAF-E0EB2B02D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685385"/>
              </p:ext>
            </p:extLst>
          </p:nvPr>
        </p:nvGraphicFramePr>
        <p:xfrm>
          <a:off x="25391" y="914400"/>
          <a:ext cx="4845655" cy="5890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92">
                  <a:extLst>
                    <a:ext uri="{9D8B030D-6E8A-4147-A177-3AD203B41FA5}">
                      <a16:colId xmlns:a16="http://schemas.microsoft.com/office/drawing/2014/main" val="557908182"/>
                    </a:ext>
                  </a:extLst>
                </a:gridCol>
                <a:gridCol w="3070894">
                  <a:extLst>
                    <a:ext uri="{9D8B030D-6E8A-4147-A177-3AD203B41FA5}">
                      <a16:colId xmlns:a16="http://schemas.microsoft.com/office/drawing/2014/main" val="2566807194"/>
                    </a:ext>
                  </a:extLst>
                </a:gridCol>
                <a:gridCol w="1059776">
                  <a:extLst>
                    <a:ext uri="{9D8B030D-6E8A-4147-A177-3AD203B41FA5}">
                      <a16:colId xmlns:a16="http://schemas.microsoft.com/office/drawing/2014/main" val="3713742504"/>
                    </a:ext>
                  </a:extLst>
                </a:gridCol>
                <a:gridCol w="355893">
                  <a:extLst>
                    <a:ext uri="{9D8B030D-6E8A-4147-A177-3AD203B41FA5}">
                      <a16:colId xmlns:a16="http://schemas.microsoft.com/office/drawing/2014/main" val="3400059252"/>
                    </a:ext>
                  </a:extLst>
                </a:gridCol>
              </a:tblGrid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А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 саатка саатына 8.50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201517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Б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 сааттык иш үчүн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40.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446.25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98369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В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£59,85 саатына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8,55.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117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238911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Г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 сааттык жумуш үчүн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36.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1359.38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770501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Д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113,49 саатына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12,61.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037762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Е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3 күн жана күнүнө 6 саат бою саатына </a:t>
                      </a:r>
                      <a:endParaRPr lang="en-US" sz="14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6,50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42.50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642224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Ж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7 күн бою саатына 8,50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жана күнүнө 7,5 саат.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7.50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48773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З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59,93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саатына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9,22.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913.68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412134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И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күнүнө 8 жарым саат менен беш күндүк жумасына 318.75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47835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Й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 жума бою жумасына 5 күн жана күнүнө 6 ¼ саат саатына 7,25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6.5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684495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 жума бою саатына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11,28 жумасына 3 күн толук эмес иштөө (күнүнө 4 ½ саат).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1070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C9A5013-3F93-F1B8-837F-798A2DDABDE1}"/>
              </a:ext>
            </a:extLst>
          </p:cNvPr>
          <p:cNvSpPr txBox="1"/>
          <p:nvPr/>
        </p:nvSpPr>
        <p:spPr>
          <a:xfrm>
            <a:off x="716387" y="202223"/>
            <a:ext cx="35289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Ар бир эсепти жооп менен дал келтириңиз.</a:t>
            </a:r>
          </a:p>
          <a:p>
            <a:pPr algn="ctr"/>
            <a:r>
              <a:rPr lang="ky-KG" sz="1400" dirty="0"/>
              <a:t>Бирдигин көрсөт</a:t>
            </a:r>
            <a:r>
              <a:rPr lang="en-US" sz="1400" dirty="0"/>
              <a:t> </a:t>
            </a:r>
            <a:r>
              <a:rPr lang="ky-KG" sz="1400" dirty="0"/>
              <a:t> (</a:t>
            </a:r>
            <a:r>
              <a:rPr lang="ky-KG" sz="1400" b="1" dirty="0"/>
              <a:t>убакыт / акча / жалпы </a:t>
            </a:r>
            <a:r>
              <a:rPr lang="ky-KG" sz="1400" dirty="0"/>
              <a:t>).</a:t>
            </a:r>
            <a:endParaRPr lang="en-GB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370B93-1238-94AC-76ED-8D6D8A841F93}"/>
              </a:ext>
            </a:extLst>
          </p:cNvPr>
          <p:cNvSpPr txBox="1"/>
          <p:nvPr/>
        </p:nvSpPr>
        <p:spPr>
          <a:xfrm>
            <a:off x="171414" y="-153960"/>
            <a:ext cx="1853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latin typeface="Impact" panose="020B0806030902050204" pitchFamily="34" charset="0"/>
              </a:rPr>
              <a:t>чынжыр</a:t>
            </a:r>
            <a:endParaRPr lang="en-US" sz="4000" dirty="0">
              <a:latin typeface="Impact" panose="020B080603090205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9BAD9C-E6AB-3927-A0BA-EA0368F2C965}"/>
              </a:ext>
            </a:extLst>
          </p:cNvPr>
          <p:cNvSpPr txBox="1"/>
          <p:nvPr/>
        </p:nvSpPr>
        <p:spPr>
          <a:xfrm>
            <a:off x="2292314" y="-114325"/>
            <a:ext cx="2660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2400" dirty="0">
                <a:latin typeface="Impact" panose="020B0806030902050204" pitchFamily="34" charset="0"/>
              </a:rPr>
              <a:t>оҢ жак </a:t>
            </a:r>
            <a:r>
              <a:rPr lang="en-US" sz="2400" dirty="0">
                <a:latin typeface="Impact" panose="020B0806030902050204" pitchFamily="34" charset="0"/>
              </a:rPr>
              <a:t>&amp; </a:t>
            </a:r>
            <a:r>
              <a:rPr lang="ky-KG" sz="2400" dirty="0">
                <a:latin typeface="Impact" panose="020B0806030902050204" pitchFamily="34" charset="0"/>
              </a:rPr>
              <a:t>сол жак</a:t>
            </a:r>
            <a:endParaRPr lang="en-US" sz="3600" dirty="0">
              <a:latin typeface="Impact" panose="020B0806030902050204" pitchFamily="34" charset="0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A0A81BD-1482-7398-7EA2-21C68BA83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786203"/>
              </p:ext>
            </p:extLst>
          </p:nvPr>
        </p:nvGraphicFramePr>
        <p:xfrm>
          <a:off x="4969168" y="914400"/>
          <a:ext cx="4845655" cy="5890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92">
                  <a:extLst>
                    <a:ext uri="{9D8B030D-6E8A-4147-A177-3AD203B41FA5}">
                      <a16:colId xmlns:a16="http://schemas.microsoft.com/office/drawing/2014/main" val="557908182"/>
                    </a:ext>
                  </a:extLst>
                </a:gridCol>
                <a:gridCol w="3070894">
                  <a:extLst>
                    <a:ext uri="{9D8B030D-6E8A-4147-A177-3AD203B41FA5}">
                      <a16:colId xmlns:a16="http://schemas.microsoft.com/office/drawing/2014/main" val="2566807194"/>
                    </a:ext>
                  </a:extLst>
                </a:gridCol>
                <a:gridCol w="1059776">
                  <a:extLst>
                    <a:ext uri="{9D8B030D-6E8A-4147-A177-3AD203B41FA5}">
                      <a16:colId xmlns:a16="http://schemas.microsoft.com/office/drawing/2014/main" val="3713742504"/>
                    </a:ext>
                  </a:extLst>
                </a:gridCol>
                <a:gridCol w="355893">
                  <a:extLst>
                    <a:ext uri="{9D8B030D-6E8A-4147-A177-3AD203B41FA5}">
                      <a16:colId xmlns:a16="http://schemas.microsoft.com/office/drawing/2014/main" val="3400059252"/>
                    </a:ext>
                  </a:extLst>
                </a:gridCol>
              </a:tblGrid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А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 саатка саатына 8.50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201517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Б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 сааттык иш үчүн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40.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446.25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98369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В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£59,85 саатына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8,55.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117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238911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Г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 сааттык жумуш үчүн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36.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1359.38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770501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Д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113,49 саатына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12,61.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037762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Е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3 күн жана күнүнө 6 саат бою саатына </a:t>
                      </a:r>
                      <a:endParaRPr lang="en-US" sz="14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6,50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42.50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642224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Ж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7 күн бою саатына 8,50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жана күнүнө 7,5 саат.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7.50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48773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З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59,93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 саатына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9,22.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913.68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412134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И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күнүнө 8 жарым саат менен беш күндүк жумасына 318.75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 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47835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Й</a:t>
                      </a:r>
                      <a:endParaRPr lang="en-GB" sz="1600" b="1" dirty="0">
                        <a:solidFill>
                          <a:sysClr val="windowText" lastClr="00000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 жума бою жумасына 5 күн жана күнүнө 6 ¼ саат саатына 7,25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6.5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684495"/>
                  </a:ext>
                </a:extLst>
              </a:tr>
              <a:tr h="5355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solidFill>
                            <a:sysClr val="windowText" lastClr="000000"/>
                          </a:solidFill>
                          <a:latin typeface="Eras Bold ITC" panose="020B0907030504020204" pitchFamily="34" charset="0"/>
                        </a:rPr>
                        <a:t>K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6 жума бою саатына </a:t>
                      </a: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r>
                        <a:rPr lang="ky-KG" sz="1400" b="0" dirty="0">
                          <a:solidFill>
                            <a:sysClr val="windowText" lastClr="000000"/>
                          </a:solidFill>
                        </a:rPr>
                        <a:t>11,28 жумасына 3 күн толук эмес иштөө (күнүнө 4 ½ саат).</a:t>
                      </a:r>
                      <a:endParaRPr lang="en-GB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rgbClr val="0070C0"/>
                        </a:solidFill>
                        <a:latin typeface="Eras Bold ITC" panose="020B0907030504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10704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8BE2ADFE-D26F-F8D7-4E88-C34CBFC1EE4C}"/>
              </a:ext>
            </a:extLst>
          </p:cNvPr>
          <p:cNvSpPr txBox="1"/>
          <p:nvPr/>
        </p:nvSpPr>
        <p:spPr>
          <a:xfrm>
            <a:off x="5660164" y="202223"/>
            <a:ext cx="35289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dirty="0"/>
              <a:t>Ар бир эсепти жооп менен дал келтириңиз.</a:t>
            </a:r>
          </a:p>
          <a:p>
            <a:pPr algn="ctr"/>
            <a:r>
              <a:rPr lang="ky-KG" sz="1400" dirty="0"/>
              <a:t>Бирдигин көрсөт</a:t>
            </a:r>
            <a:r>
              <a:rPr lang="en-US" sz="1400" dirty="0"/>
              <a:t> </a:t>
            </a:r>
            <a:r>
              <a:rPr lang="ky-KG" sz="1400" dirty="0"/>
              <a:t> (</a:t>
            </a:r>
            <a:r>
              <a:rPr lang="ky-KG" sz="1400" b="1" dirty="0"/>
              <a:t>убакыт / акча / жалпы </a:t>
            </a:r>
            <a:r>
              <a:rPr lang="ky-KG" sz="1400" dirty="0"/>
              <a:t>).</a:t>
            </a:r>
            <a:endParaRPr lang="en-GB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C15B7F-1F3F-6957-15FE-E7C7F49FA681}"/>
              </a:ext>
            </a:extLst>
          </p:cNvPr>
          <p:cNvSpPr txBox="1"/>
          <p:nvPr/>
        </p:nvSpPr>
        <p:spPr>
          <a:xfrm>
            <a:off x="5115191" y="-153960"/>
            <a:ext cx="1853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latin typeface="Impact" panose="020B0806030902050204" pitchFamily="34" charset="0"/>
              </a:rPr>
              <a:t>чынжыр</a:t>
            </a:r>
            <a:endParaRPr lang="en-US" sz="4000" dirty="0">
              <a:latin typeface="Impact" panose="020B080603090205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18AAB6-BBC8-5E4C-8F7D-6F671AABD499}"/>
              </a:ext>
            </a:extLst>
          </p:cNvPr>
          <p:cNvSpPr txBox="1"/>
          <p:nvPr/>
        </p:nvSpPr>
        <p:spPr>
          <a:xfrm>
            <a:off x="7236091" y="-114325"/>
            <a:ext cx="26606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2400" dirty="0">
                <a:latin typeface="Impact" panose="020B0806030902050204" pitchFamily="34" charset="0"/>
              </a:rPr>
              <a:t>оҢ жак </a:t>
            </a:r>
            <a:r>
              <a:rPr lang="en-US" sz="2400" dirty="0">
                <a:latin typeface="Impact" panose="020B0806030902050204" pitchFamily="34" charset="0"/>
              </a:rPr>
              <a:t>&amp; </a:t>
            </a:r>
            <a:r>
              <a:rPr lang="ky-KG" sz="2400" dirty="0">
                <a:latin typeface="Impact" panose="020B0806030902050204" pitchFamily="34" charset="0"/>
              </a:rPr>
              <a:t>сол жак</a:t>
            </a:r>
            <a:endParaRPr lang="en-US" sz="36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604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B54FEA7-F794-F224-E488-C360F7726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77019" y="1049470"/>
            <a:ext cx="6835697" cy="47345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DDF601-9991-DF19-7052-C45BE0AE0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20871" y="1072871"/>
            <a:ext cx="6835697" cy="473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741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300462E-CBC1-8993-88FF-E08D5BF29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5401"/>
            <a:ext cx="4873572" cy="3327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B34CA4-CD07-2BE1-129D-2E916321E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714" y="25401"/>
            <a:ext cx="4873572" cy="3327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1033CF-11F4-5A25-7599-0AB9A9486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30600"/>
            <a:ext cx="4873572" cy="3327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03A3C0-FEA2-8D1A-4865-3321773F5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713" y="3530600"/>
            <a:ext cx="4873572" cy="332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423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35188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62346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8554</TotalTime>
  <Words>879</Words>
  <Application>Microsoft Office PowerPoint</Application>
  <PresentationFormat>A4 Paper (210x297 mm)</PresentationFormat>
  <Paragraphs>234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</vt:lpstr>
      <vt:lpstr>Impact</vt:lpstr>
      <vt:lpstr>Arial</vt:lpstr>
      <vt:lpstr>Calibri Light</vt:lpstr>
      <vt:lpstr>Eras Bold ITC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372</cp:revision>
  <cp:lastPrinted>2024-09-17T16:03:21Z</cp:lastPrinted>
  <dcterms:created xsi:type="dcterms:W3CDTF">2017-01-17T16:57:04Z</dcterms:created>
  <dcterms:modified xsi:type="dcterms:W3CDTF">2024-09-17T16:04:12Z</dcterms:modified>
</cp:coreProperties>
</file>