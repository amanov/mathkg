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894" r:id="rId4"/>
    <p:sldId id="895" r:id="rId5"/>
    <p:sldId id="900" r:id="rId6"/>
    <p:sldId id="939" r:id="rId7"/>
    <p:sldId id="904" r:id="rId8"/>
    <p:sldId id="899" r:id="rId9"/>
    <p:sldId id="887" r:id="rId10"/>
    <p:sldId id="898" r:id="rId11"/>
    <p:sldId id="891" r:id="rId12"/>
    <p:sldId id="897" r:id="rId13"/>
    <p:sldId id="901" r:id="rId14"/>
    <p:sldId id="902" r:id="rId15"/>
    <p:sldId id="903" r:id="rId16"/>
    <p:sldId id="892" r:id="rId17"/>
    <p:sldId id="896" r:id="rId18"/>
    <p:sldId id="893" r:id="rId19"/>
    <p:sldId id="890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894"/>
            <p14:sldId id="895"/>
            <p14:sldId id="900"/>
            <p14:sldId id="939"/>
            <p14:sldId id="904"/>
            <p14:sldId id="899"/>
            <p14:sldId id="887"/>
            <p14:sldId id="898"/>
            <p14:sldId id="891"/>
            <p14:sldId id="897"/>
            <p14:sldId id="901"/>
            <p14:sldId id="902"/>
            <p14:sldId id="903"/>
            <p14:sldId id="892"/>
            <p14:sldId id="896"/>
            <p14:sldId id="893"/>
          </p14:sldIdLst>
        </p14:section>
        <p14:section name="Мугалимдин жооп баракчасы" id="{64D9EF62-CF08-4BFF-B5AD-DEFE555334F2}">
          <p14:sldIdLst>
            <p14:sldId id="890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Ондуктар – Турмуштан эсептер – Калькуляторсуз  иштөө – Казына Издөө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250825" y="-167322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Чыныгы - турмуштук маселелер</a:t>
            </a:r>
            <a:endParaRPr lang="en-US" sz="60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356577" y="199870"/>
            <a:ext cx="8643713" cy="156966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9600" b="0" i="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B3EBA-D104-473B-ABA8-2E0364CBA8A1}"/>
              </a:ext>
            </a:extLst>
          </p:cNvPr>
          <p:cNvSpPr txBox="1"/>
          <p:nvPr/>
        </p:nvSpPr>
        <p:spPr>
          <a:xfrm>
            <a:off x="1393414" y="0"/>
            <a:ext cx="56156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dirty="0"/>
              <a:t>674,24сом</a:t>
            </a:r>
            <a:endParaRPr lang="en-GB" sz="1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9DA28-C23E-45DE-8A11-AE116627DDDC}"/>
              </a:ext>
            </a:extLst>
          </p:cNvPr>
          <p:cNvSpPr txBox="1"/>
          <p:nvPr/>
        </p:nvSpPr>
        <p:spPr>
          <a:xfrm>
            <a:off x="958867" y="2700638"/>
            <a:ext cx="784900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Чоңдор үчүн,футбол оюнуна билеттин </a:t>
            </a:r>
          </a:p>
          <a:p>
            <a:pPr algn="ctr"/>
            <a:r>
              <a:rPr lang="ky-KG" sz="3200" dirty="0"/>
              <a:t>баасы 1500 сом турат.</a:t>
            </a:r>
          </a:p>
          <a:p>
            <a:pPr algn="ctr"/>
            <a:r>
              <a:rPr lang="ky-KG" sz="3200" dirty="0"/>
              <a:t>Футбол оюнуна балдардын билет </a:t>
            </a:r>
          </a:p>
          <a:p>
            <a:pPr algn="ctr"/>
            <a:r>
              <a:rPr lang="ky-KG" sz="3200" dirty="0"/>
              <a:t>баасы 827,39 сом турат.</a:t>
            </a:r>
          </a:p>
          <a:p>
            <a:pPr algn="ctr"/>
            <a:r>
              <a:rPr lang="ky-KG" sz="3200" dirty="0"/>
              <a:t>Үй-бүлөлүк билет (2 чоң киши жана 2 бала) </a:t>
            </a:r>
          </a:p>
          <a:p>
            <a:pPr algn="ctr"/>
            <a:r>
              <a:rPr lang="ky-KG" sz="3200" dirty="0"/>
              <a:t>Баасы 3309,55 сом турат.</a:t>
            </a:r>
          </a:p>
          <a:p>
            <a:pPr algn="ctr"/>
            <a:r>
              <a:rPr lang="ky-KG" sz="3200" dirty="0"/>
              <a:t>12 чоң киши жана 17 бала футбол оюнуна </a:t>
            </a:r>
          </a:p>
          <a:p>
            <a:pPr algn="ctr"/>
            <a:r>
              <a:rPr lang="ky-KG" sz="3200" dirty="0"/>
              <a:t>баруунун эң арзан баасы канча?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6308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33588-A471-4C89-894F-EA701E4D535F}"/>
              </a:ext>
            </a:extLst>
          </p:cNvPr>
          <p:cNvSpPr txBox="1"/>
          <p:nvPr/>
        </p:nvSpPr>
        <p:spPr>
          <a:xfrm>
            <a:off x="996673" y="0"/>
            <a:ext cx="640912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23 988,25c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60DD6-177E-4607-8971-AF242E49C699}"/>
              </a:ext>
            </a:extLst>
          </p:cNvPr>
          <p:cNvSpPr txBox="1"/>
          <p:nvPr/>
        </p:nvSpPr>
        <p:spPr>
          <a:xfrm>
            <a:off x="390144" y="2981992"/>
            <a:ext cx="877547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Том 76 295,75 сомго жаңы компьютер сатып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28 389,12 сомду алдын ала төлөп, </a:t>
            </a:r>
            <a:endParaRPr lang="en-US" sz="3200" dirty="0"/>
          </a:p>
          <a:p>
            <a:pPr algn="ctr"/>
            <a:r>
              <a:rPr lang="ky-KG" sz="3200" dirty="0"/>
              <a:t>калганын 12 ай сайын бирдей бөлүп төлөйт.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Ай сайын төлөнүүчү төлөм канчадан?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736293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6142E-2874-4D8D-A20E-5142C3567929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E3E4C-9B53-40D8-A1A2-754BE6FFDF62}"/>
              </a:ext>
            </a:extLst>
          </p:cNvPr>
          <p:cNvSpPr txBox="1"/>
          <p:nvPr/>
        </p:nvSpPr>
        <p:spPr>
          <a:xfrm>
            <a:off x="554285" y="2743615"/>
            <a:ext cx="862960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Бир бургер 155,43 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12 гамбургердин бир таңгагы 1663,42 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12 гамбургерди бирден эмес, </a:t>
            </a:r>
          </a:p>
          <a:p>
            <a:pPr algn="ctr"/>
            <a:r>
              <a:rPr lang="ky-KG" sz="3200" dirty="0"/>
              <a:t>таңгактан сатып алуу канчага арзан?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9284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A1B44-AF30-4865-AE57-0B428B80C3B9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</a:t>
            </a:r>
            <a:r>
              <a:rPr lang="ky-KG" sz="11500" dirty="0"/>
              <a:t>1</a:t>
            </a:r>
            <a:endParaRPr lang="en-GB" sz="1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EA69A-AAE9-4D8D-9477-0B4AAB225439}"/>
              </a:ext>
            </a:extLst>
          </p:cNvPr>
          <p:cNvSpPr txBox="1"/>
          <p:nvPr/>
        </p:nvSpPr>
        <p:spPr>
          <a:xfrm>
            <a:off x="1230127" y="2355278"/>
            <a:ext cx="740433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Даниар 62,10 сомдон турган </a:t>
            </a:r>
          </a:p>
          <a:p>
            <a:pPr algn="ctr"/>
            <a:r>
              <a:rPr lang="ky-KG" sz="3200" dirty="0"/>
              <a:t>пакет таттууларды сатып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Аларды 83,17 сомдон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бир күндө 32 пачка таттууларды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Даниар канча пайда табат?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04796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1A047-AA76-4329-9C77-AC9BCC7D28DE}"/>
              </a:ext>
            </a:extLst>
          </p:cNvPr>
          <p:cNvSpPr txBox="1"/>
          <p:nvPr/>
        </p:nvSpPr>
        <p:spPr>
          <a:xfrm>
            <a:off x="951614" y="16477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b="0" dirty="0">
                <a:solidFill>
                  <a:sysClr val="windowText" lastClr="000000"/>
                </a:solidFill>
              </a:rPr>
              <a:t>5402,82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279DC-EDE6-47BB-B046-7CA5D5856BDA}"/>
              </a:ext>
            </a:extLst>
          </p:cNvPr>
          <p:cNvSpPr txBox="1"/>
          <p:nvPr/>
        </p:nvSpPr>
        <p:spPr>
          <a:xfrm>
            <a:off x="854175" y="2700638"/>
            <a:ext cx="798885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Жеңишгүл шуруларды жасап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532,30 сомго,ал 8 мончок жасоого керектүү </a:t>
            </a:r>
          </a:p>
          <a:p>
            <a:pPr algn="ctr"/>
            <a:r>
              <a:rPr lang="ky-KG" sz="3200" dirty="0"/>
              <a:t>материалдарды сатып алса болот.</a:t>
            </a:r>
          </a:p>
          <a:p>
            <a:pPr algn="ctr"/>
            <a:r>
              <a:rPr lang="ky-KG" sz="3200" dirty="0"/>
              <a:t>Ал бир айда 72 мончоктун </a:t>
            </a:r>
          </a:p>
          <a:p>
            <a:pPr algn="ctr"/>
            <a:r>
              <a:rPr lang="ky-KG" sz="3200" dirty="0"/>
              <a:t>ар бирин 121,79 сомдон 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Жеңишгүл канча пайда тапты?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4245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92ECE-0B5A-4654-9B56-C9066964CDA1}"/>
              </a:ext>
            </a:extLst>
          </p:cNvPr>
          <p:cNvSpPr txBox="1"/>
          <p:nvPr/>
        </p:nvSpPr>
        <p:spPr>
          <a:xfrm>
            <a:off x="942168" y="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b="0" dirty="0">
                <a:solidFill>
                  <a:sysClr val="windowText" lastClr="000000"/>
                </a:solidFill>
              </a:rPr>
              <a:t>2991,12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F043C-585D-4BA7-8B7F-69132FAAB697}"/>
              </a:ext>
            </a:extLst>
          </p:cNvPr>
          <p:cNvSpPr txBox="1"/>
          <p:nvPr/>
        </p:nvSpPr>
        <p:spPr>
          <a:xfrm>
            <a:off x="759275" y="2700638"/>
            <a:ext cx="838748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Ак-Талаа башталгыч мектебинде 29 окуучудан </a:t>
            </a:r>
          </a:p>
          <a:p>
            <a:pPr algn="ctr"/>
            <a:r>
              <a:rPr lang="ky-KG" sz="3200" dirty="0"/>
              <a:t>турган 14 класс бар.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Ар бир 12 окуучуга бир мугалим </a:t>
            </a:r>
          </a:p>
          <a:p>
            <a:pPr algn="ctr"/>
            <a:r>
              <a:rPr lang="ky-KG" sz="3200" dirty="0"/>
              <a:t>туура келиши керек.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Мектепте канча мугалим иштеши керек?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1500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58B74-769F-48D8-9D75-E0B86DA918B3}"/>
              </a:ext>
            </a:extLst>
          </p:cNvPr>
          <p:cNvSpPr txBox="1"/>
          <p:nvPr/>
        </p:nvSpPr>
        <p:spPr>
          <a:xfrm>
            <a:off x="1117401" y="2700638"/>
            <a:ext cx="767120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Азамат 426 окуучуга, тематикалык паркка </a:t>
            </a:r>
          </a:p>
          <a:p>
            <a:pPr algn="ctr"/>
            <a:r>
              <a:rPr lang="ky-KG" sz="3200" dirty="0"/>
              <a:t>саякат уюштурууну пландап жатат.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Бир автобуска 35 кишини батат.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Эгерде 8 мугалим дагы барса,</a:t>
            </a:r>
          </a:p>
          <a:p>
            <a:pPr algn="ctr"/>
            <a:r>
              <a:rPr lang="ky-KG" sz="3200" dirty="0"/>
              <a:t> Азамат канча автобус жалдашы керек?</a:t>
            </a:r>
            <a:endParaRPr lang="en-GB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ADEB01-5E15-49E8-BB20-934295E335A7}"/>
              </a:ext>
            </a:extLst>
          </p:cNvPr>
          <p:cNvSpPr txBox="1"/>
          <p:nvPr/>
        </p:nvSpPr>
        <p:spPr>
          <a:xfrm>
            <a:off x="1000634" y="18509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8768,88</a:t>
            </a:r>
            <a:r>
              <a:rPr lang="ky-KG" sz="9600" dirty="0"/>
              <a:t> сом</a:t>
            </a:r>
            <a:endParaRPr lang="en-GB" sz="9600" dirty="0"/>
          </a:p>
        </p:txBody>
      </p:sp>
    </p:spTree>
    <p:extLst>
      <p:ext uri="{BB962C8B-B14F-4D97-AF65-F5344CB8AC3E}">
        <p14:creationId xmlns:p14="http://schemas.microsoft.com/office/powerpoint/2010/main" val="175432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210FB5-499C-4B60-BA62-38E289795A9F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A176A-7B85-4688-9A2B-ACEDCDAE2DD3}"/>
              </a:ext>
            </a:extLst>
          </p:cNvPr>
          <p:cNvSpPr txBox="1"/>
          <p:nvPr/>
        </p:nvSpPr>
        <p:spPr>
          <a:xfrm>
            <a:off x="211615" y="3113876"/>
            <a:ext cx="930844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Жаку 316 калемди ар бирин 22,18 сомго сатып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аларды жалпысынан 10 000 сомго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Жаку канча пайда табат?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849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06C23A-67C5-4294-A69D-D4D81D6A6AA1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B9E67D-EDE8-4911-B8A4-027E36758254}"/>
              </a:ext>
            </a:extLst>
          </p:cNvPr>
          <p:cNvSpPr txBox="1"/>
          <p:nvPr/>
        </p:nvSpPr>
        <p:spPr>
          <a:xfrm>
            <a:off x="1334195" y="2700638"/>
            <a:ext cx="723762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Кутуга 24 шире банкасы батат.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Супермаркет 25 куту </a:t>
            </a:r>
            <a:r>
              <a:rPr lang="ky-KG" sz="3200" dirty="0"/>
              <a:t>шире</a:t>
            </a:r>
            <a:r>
              <a:rPr lang="ru-RU" sz="3200" dirty="0"/>
              <a:t> заказ кылат.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Банкалардын 10%ы бузулган.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Алардын канчасы бүтүн,бузулган эмес?</a:t>
            </a:r>
            <a:endParaRPr lang="en-GB" sz="3200" dirty="0"/>
          </a:p>
        </p:txBody>
      </p: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8B65ED12-E2A1-94CA-DA8F-618B65083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158" y="2168432"/>
            <a:ext cx="1330313" cy="1330313"/>
          </a:xfrm>
          <a:prstGeom prst="rect">
            <a:avLst/>
          </a:prstGeom>
        </p:spPr>
      </p:pic>
      <p:pic>
        <p:nvPicPr>
          <p:cNvPr id="13" name="Graphic 12" descr="Paint with solid fill">
            <a:extLst>
              <a:ext uri="{FF2B5EF4-FFF2-40B4-BE49-F238E27FC236}">
                <a16:creationId xmlns:a16="http://schemas.microsoft.com/office/drawing/2014/main" id="{D096DE41-B394-2C91-65D7-4CCBF64A9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9745" y="45165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6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449CF-8E86-45CE-B441-7CA682FA2F23}"/>
              </a:ext>
            </a:extLst>
          </p:cNvPr>
          <p:cNvSpPr txBox="1"/>
          <p:nvPr/>
        </p:nvSpPr>
        <p:spPr>
          <a:xfrm>
            <a:off x="976590" y="188401"/>
            <a:ext cx="65662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b="0" dirty="0">
                <a:solidFill>
                  <a:sysClr val="windowText" lastClr="000000"/>
                </a:solidFill>
              </a:rPr>
              <a:t>13 972,</a:t>
            </a:r>
            <a:r>
              <a:rPr lang="ky-KG" sz="8800" b="0" dirty="0">
                <a:solidFill>
                  <a:sysClr val="windowText" lastClr="000000"/>
                </a:solidFill>
              </a:rPr>
              <a:t>35 сом</a:t>
            </a:r>
            <a:endParaRPr lang="en-GB" sz="8800" b="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78012B-1BC4-4E09-AF7D-48F2A3F463DB}"/>
                  </a:ext>
                </a:extLst>
              </p:cNvPr>
              <p:cNvSpPr txBox="1"/>
              <p:nvPr/>
            </p:nvSpPr>
            <p:spPr>
              <a:xfrm>
                <a:off x="644853" y="2647886"/>
                <a:ext cx="8477129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y-KG" sz="3200" dirty="0"/>
                  <a:t>Максат уктоочу бөлмөсүн сырдайын деп жатат.</a:t>
                </a:r>
              </a:p>
              <a:p>
                <a:pPr algn="ctr"/>
                <a:endParaRPr lang="ky-KG" sz="3200" dirty="0"/>
              </a:p>
              <a:p>
                <a:pPr algn="ctr"/>
                <a:r>
                  <a:rPr lang="ky-KG" sz="3200" dirty="0"/>
                  <a:t>Ал дубалдардын аянты 452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y-KG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y-KG" sz="3200" b="0" i="1" smtClean="0">
                            <a:latin typeface="Cambria Math" panose="02040503050406030204" pitchFamily="18" charset="0"/>
                          </a:rPr>
                          <m:t>м</m:t>
                        </m:r>
                      </m:e>
                      <m:sup>
                        <m:r>
                          <a:rPr lang="ky-KG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y-KG" sz="3200" dirty="0"/>
                  <a:t> деп эсептейт.</a:t>
                </a:r>
              </a:p>
              <a:p>
                <a:pPr algn="ctr"/>
                <a:endParaRPr lang="ky-KG" sz="3200" dirty="0"/>
              </a:p>
              <a:p>
                <a:pPr algn="ctr"/>
                <a:r>
                  <a:rPr lang="ky-KG" sz="3200" dirty="0"/>
                  <a:t>Бир банка боёк 16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y-KG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y-KG" sz="3200" b="0" i="1" smtClean="0">
                            <a:latin typeface="Cambria Math" panose="02040503050406030204" pitchFamily="18" charset="0"/>
                          </a:rPr>
                          <m:t>м</m:t>
                        </m:r>
                      </m:e>
                      <m:sup>
                        <m:r>
                          <a:rPr lang="ky-KG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y-KG" sz="3200" dirty="0"/>
                  <a:t> аянтты камтыйт.</a:t>
                </a:r>
              </a:p>
              <a:p>
                <a:pPr algn="ctr"/>
                <a:endParaRPr lang="ky-KG" sz="3200" dirty="0"/>
              </a:p>
              <a:p>
                <a:pPr algn="ctr"/>
                <a:r>
                  <a:rPr lang="ky-KG" sz="3200" dirty="0"/>
                  <a:t>Максат канча банка боёк сатып алышы керек?</a:t>
                </a:r>
                <a:endParaRPr lang="en-GB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78012B-1BC4-4E09-AF7D-48F2A3F46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53" y="2647886"/>
                <a:ext cx="8477129" cy="3539430"/>
              </a:xfrm>
              <a:prstGeom prst="rect">
                <a:avLst/>
              </a:prstGeom>
              <a:blipFill>
                <a:blip r:embed="rId2"/>
                <a:stretch>
                  <a:fillRect l="-1439" t="-2238" r="-1367" b="-4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34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43905-0A6C-41AC-A4A9-356C4F8A13BA}"/>
              </a:ext>
            </a:extLst>
          </p:cNvPr>
          <p:cNvSpPr txBox="1"/>
          <p:nvPr/>
        </p:nvSpPr>
        <p:spPr>
          <a:xfrm>
            <a:off x="1253952" y="125489"/>
            <a:ext cx="58945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b="0" dirty="0">
                <a:solidFill>
                  <a:sysClr val="windowText" lastClr="000000"/>
                </a:solidFill>
              </a:rPr>
              <a:t>201,74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BC413-7D9A-49EE-9A93-4CF38E79D2F1}"/>
              </a:ext>
            </a:extLst>
          </p:cNvPr>
          <p:cNvSpPr txBox="1"/>
          <p:nvPr/>
        </p:nvSpPr>
        <p:spPr>
          <a:xfrm>
            <a:off x="1037767" y="2700638"/>
            <a:ext cx="783054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128 адам театрга экскурсияга баратышат.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56 адам автобус менен, калгандары жеңил </a:t>
            </a:r>
          </a:p>
          <a:p>
            <a:pPr algn="ctr"/>
            <a:r>
              <a:rPr lang="ky-KG" sz="3200" dirty="0"/>
              <a:t>унаалары менен барат.</a:t>
            </a:r>
          </a:p>
          <a:p>
            <a:pPr algn="ctr"/>
            <a:r>
              <a:rPr lang="ky-KG" sz="3200" dirty="0"/>
              <a:t>Ар бир машинага 5 киши туура келет.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Жеңил унаалардын минималдуу </a:t>
            </a:r>
          </a:p>
          <a:p>
            <a:pPr algn="ctr"/>
            <a:r>
              <a:rPr lang="ky-KG" sz="3200" dirty="0"/>
              <a:t>саны канча болушу керек?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44231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9C5B8-C8AF-4DE0-84D9-2FE30EA7BFC5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213E2-362C-43DA-BF92-CF25862EF78B}"/>
              </a:ext>
            </a:extLst>
          </p:cNvPr>
          <p:cNvSpPr txBox="1"/>
          <p:nvPr/>
        </p:nvSpPr>
        <p:spPr>
          <a:xfrm>
            <a:off x="1140280" y="2700638"/>
            <a:ext cx="74576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Сайкал телевизор сатып алды.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ошол күнү 23 620,63 сом төлөп </a:t>
            </a:r>
          </a:p>
          <a:p>
            <a:pPr algn="ctr"/>
            <a:r>
              <a:rPr lang="ky-KG" sz="3200" dirty="0"/>
              <a:t>жана 2606,03 сомдон 12 ай бөлүп төлөйт.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Сайкал телевизор үчүн </a:t>
            </a:r>
            <a:endParaRPr lang="en-US" sz="3200" dirty="0"/>
          </a:p>
          <a:p>
            <a:pPr algn="ctr"/>
            <a:r>
              <a:rPr lang="ky-KG" sz="3200" dirty="0"/>
              <a:t>жалпысынан канча төлөйт?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28547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50F85A-FFDD-4362-A35D-81B3F0603522}"/>
              </a:ext>
            </a:extLst>
          </p:cNvPr>
          <p:cNvSpPr txBox="1"/>
          <p:nvPr/>
        </p:nvSpPr>
        <p:spPr>
          <a:xfrm>
            <a:off x="976590" y="200786"/>
            <a:ext cx="65662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8800" b="0" dirty="0">
                <a:solidFill>
                  <a:sysClr val="windowText" lastClr="000000"/>
                </a:solidFill>
              </a:rPr>
              <a:t>54 892,99 сом</a:t>
            </a:r>
            <a:endParaRPr lang="en-GB" sz="88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46CBE1-0887-4856-81B5-B89F653E8D4F}"/>
              </a:ext>
            </a:extLst>
          </p:cNvPr>
          <p:cNvSpPr txBox="1"/>
          <p:nvPr/>
        </p:nvSpPr>
        <p:spPr>
          <a:xfrm>
            <a:off x="455776" y="2619766"/>
            <a:ext cx="899445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Ресторанга күнүнө 500 калама керектелет.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Наабайчы 6 каламадан турган таңгак үчүн</a:t>
            </a:r>
          </a:p>
          <a:p>
            <a:pPr algn="ctr"/>
            <a:r>
              <a:rPr lang="ky-KG" sz="3200" dirty="0"/>
              <a:t>110,89 сом 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Ресторан каламаларга күнүнө канча акча коротот?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294420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56118-8C95-47F7-845D-C86758538A03}"/>
              </a:ext>
            </a:extLst>
          </p:cNvPr>
          <p:cNvSpPr txBox="1"/>
          <p:nvPr/>
        </p:nvSpPr>
        <p:spPr>
          <a:xfrm>
            <a:off x="1000635" y="18509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b="0" dirty="0">
                <a:solidFill>
                  <a:sysClr val="windowText" lastClr="000000"/>
                </a:solidFill>
              </a:rPr>
              <a:t>9240,83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2CF4FC-2B8B-43B0-A434-788DB1735A21}"/>
              </a:ext>
            </a:extLst>
          </p:cNvPr>
          <p:cNvSpPr txBox="1"/>
          <p:nvPr/>
        </p:nvSpPr>
        <p:spPr>
          <a:xfrm>
            <a:off x="780704" y="2930460"/>
            <a:ext cx="774782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Кинотеатр балдар билети үчүн 300,53 сом, </a:t>
            </a:r>
          </a:p>
          <a:p>
            <a:pPr algn="ctr"/>
            <a:r>
              <a:rPr lang="ky-KG" sz="3200" dirty="0"/>
              <a:t>Чоңдор билети үчүн 599,94  сом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Кинотеатрга 6 чоң киши, 6 бала барса,</a:t>
            </a:r>
          </a:p>
          <a:p>
            <a:pPr algn="ctr"/>
            <a:r>
              <a:rPr lang="ky-KG" sz="3200" dirty="0"/>
              <a:t> баасы канча турат?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2317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0CEFB-C59E-44FF-A3FB-ED5A50EEFE88}"/>
              </a:ext>
            </a:extLst>
          </p:cNvPr>
          <p:cNvSpPr txBox="1"/>
          <p:nvPr/>
        </p:nvSpPr>
        <p:spPr>
          <a:xfrm>
            <a:off x="942168" y="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b="0" dirty="0">
                <a:solidFill>
                  <a:sysClr val="windowText" lastClr="000000"/>
                </a:solidFill>
              </a:rPr>
              <a:t>3992,22</a:t>
            </a:r>
            <a:r>
              <a:rPr lang="ky-KG" sz="9600" b="0" dirty="0">
                <a:solidFill>
                  <a:sysClr val="windowText" lastClr="000000"/>
                </a:solidFill>
              </a:rPr>
              <a:t>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28645-24F8-4D6F-A520-0AF261122C1F}"/>
              </a:ext>
            </a:extLst>
          </p:cNvPr>
          <p:cNvSpPr txBox="1"/>
          <p:nvPr/>
        </p:nvSpPr>
        <p:spPr>
          <a:xfrm>
            <a:off x="104775" y="2743615"/>
            <a:ext cx="931447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Дүйшөмбүдөн жекшембиге чейин орто эсеп менен</a:t>
            </a:r>
          </a:p>
          <a:p>
            <a:pPr algn="ctr"/>
            <a:r>
              <a:rPr lang="ky-KG" sz="3200" dirty="0"/>
              <a:t> бир дүкөн күн сайын 15 суусундук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Дүкөн ар бир суусундуктан 133,07 сом </a:t>
            </a:r>
          </a:p>
          <a:p>
            <a:pPr algn="ctr"/>
            <a:r>
              <a:rPr lang="ky-KG" sz="3200" dirty="0"/>
              <a:t>пайда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Дүкөн бир жумада канча киреше табат?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2144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94C1E-E532-4F3F-8A0B-36C3492927F1}"/>
              </a:ext>
            </a:extLst>
          </p:cNvPr>
          <p:cNvSpPr txBox="1"/>
          <p:nvPr/>
        </p:nvSpPr>
        <p:spPr>
          <a:xfrm>
            <a:off x="2988401" y="0"/>
            <a:ext cx="242566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B1638-4A44-44F8-B0DE-2CA7DF17195D}"/>
              </a:ext>
            </a:extLst>
          </p:cNvPr>
          <p:cNvSpPr txBox="1"/>
          <p:nvPr/>
        </p:nvSpPr>
        <p:spPr>
          <a:xfrm>
            <a:off x="865935" y="2454416"/>
            <a:ext cx="832760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Айшада</a:t>
            </a:r>
            <a:r>
              <a:rPr lang="ru-RU" sz="3200" dirty="0"/>
              <a:t> 1000 сом бар.</a:t>
            </a:r>
          </a:p>
          <a:p>
            <a:pPr algn="ctr"/>
            <a:r>
              <a:rPr lang="ru-RU" sz="3200" dirty="0"/>
              <a:t>Ал ар бири 25,51сомдон турган </a:t>
            </a:r>
          </a:p>
          <a:p>
            <a:pPr algn="ctr"/>
            <a:r>
              <a:rPr lang="ru-RU" sz="3200" dirty="0"/>
              <a:t>22 чаптама сатып алгысы келет.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Ал калганын ар бири 38,81 сом турган </a:t>
            </a:r>
            <a:endParaRPr lang="en-US" sz="3200" dirty="0"/>
          </a:p>
          <a:p>
            <a:pPr algn="ctr"/>
            <a:r>
              <a:rPr lang="ru-RU" sz="3200" dirty="0"/>
              <a:t>шоколад батончиктерине короткусу келет.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Ал канча шоколад батончик сатып алса болот?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793310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09327"/>
              </p:ext>
            </p:extLst>
          </p:nvPr>
        </p:nvGraphicFramePr>
        <p:xfrm>
          <a:off x="273000" y="797879"/>
          <a:ext cx="9360000" cy="5757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</a:tblGrid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2991,12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540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201,74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674,24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23 988,25</a:t>
                      </a:r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54 892,99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025085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3992,22</a:t>
                      </a:r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9240,83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63836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13 972,</a:t>
                      </a:r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35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5402,82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09596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29 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8 768,88</a:t>
                      </a:r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314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3626258" y="209013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баракчасы</a:t>
            </a:r>
            <a:endParaRPr lang="en-GB" sz="2000" u="sng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0EE09F7-E788-4441-94EC-EA9B3DBD2DAE}"/>
              </a:ext>
            </a:extLst>
          </p:cNvPr>
          <p:cNvCxnSpPr>
            <a:cxnSpLocks/>
          </p:cNvCxnSpPr>
          <p:nvPr/>
        </p:nvCxnSpPr>
        <p:spPr>
          <a:xfrm>
            <a:off x="376397" y="1441854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45B0F2-09B4-4CFD-B186-7892BAC13BE3}"/>
              </a:ext>
            </a:extLst>
          </p:cNvPr>
          <p:cNvCxnSpPr>
            <a:cxnSpLocks/>
          </p:cNvCxnSpPr>
          <p:nvPr/>
        </p:nvCxnSpPr>
        <p:spPr>
          <a:xfrm>
            <a:off x="5074420" y="1444785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756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07455"/>
              </p:ext>
            </p:extLst>
          </p:nvPr>
        </p:nvGraphicFramePr>
        <p:xfrm>
          <a:off x="1524440" y="1162106"/>
          <a:ext cx="6857120" cy="549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 err="1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B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O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366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C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p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j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m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04962" y="54354"/>
            <a:ext cx="369607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8567</TotalTime>
  <Words>714</Words>
  <Application>Microsoft Office PowerPoint</Application>
  <PresentationFormat>A4 Paper (210x297 mm)</PresentationFormat>
  <Paragraphs>228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 Light</vt:lpstr>
      <vt:lpstr>Cambria Math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357</cp:revision>
  <cp:lastPrinted>2024-09-13T05:04:40Z</cp:lastPrinted>
  <dcterms:created xsi:type="dcterms:W3CDTF">2017-01-17T16:57:04Z</dcterms:created>
  <dcterms:modified xsi:type="dcterms:W3CDTF">2024-09-13T05:06:28Z</dcterms:modified>
</cp:coreProperties>
</file>