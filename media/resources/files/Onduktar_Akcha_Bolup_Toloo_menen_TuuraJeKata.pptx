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13"/>
  </p:notesMasterIdLst>
  <p:sldIdLst>
    <p:sldId id="952" r:id="rId3"/>
    <p:sldId id="947" r:id="rId4"/>
    <p:sldId id="948" r:id="rId5"/>
    <p:sldId id="944" r:id="rId6"/>
    <p:sldId id="946" r:id="rId7"/>
    <p:sldId id="945" r:id="rId8"/>
    <p:sldId id="953" r:id="rId9"/>
    <p:sldId id="950" r:id="rId10"/>
    <p:sldId id="951" r:id="rId11"/>
    <p:sldId id="274" r:id="rId12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52"/>
          </p14:sldIdLst>
        </p14:section>
        <p14:section name="Көрсөтүү үчүн" id="{059544AC-2C27-45B1-9F95-F87DF8854DD6}">
          <p14:sldIdLst>
            <p14:sldId id="947"/>
            <p14:sldId id="948"/>
          </p14:sldIdLst>
        </p14:section>
        <p14:section name="Жооптор" id="{1FEDB314-42DC-4694-9B04-D4A4AAE625F7}">
          <p14:sldIdLst>
            <p14:sldId id="944"/>
            <p14:sldId id="946"/>
            <p14:sldId id="945"/>
          </p14:sldIdLst>
        </p14:section>
        <p14:section name="Таркатма иш кагаздар" id="{A78D9305-6AAE-4715-A210-52F6908F30F7}">
          <p14:sldIdLst>
            <p14:sldId id="953"/>
            <p14:sldId id="950"/>
            <p14:sldId id="951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9/16/2024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927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06791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87036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78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8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04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850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49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24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055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815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99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94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9627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9/16/2024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62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Ижарага</a:t>
            </a:r>
            <a:r>
              <a:rPr lang="en-US" dirty="0"/>
              <a:t>/</a:t>
            </a:r>
            <a:r>
              <a:rPr lang="ky-KG" dirty="0"/>
              <a:t>Бөлүп төлөө менен</a:t>
            </a:r>
            <a:r>
              <a:rPr lang="ru-RU" dirty="0"/>
              <a:t> сатып алуу –  </a:t>
            </a:r>
            <a:r>
              <a:rPr lang="ky-KG" dirty="0"/>
              <a:t>Чечим чыгаруу </a:t>
            </a:r>
            <a:endParaRPr lang="en-US" dirty="0"/>
          </a:p>
          <a:p>
            <a:endParaRPr lang="en-US" dirty="0"/>
          </a:p>
          <a:p>
            <a:r>
              <a:rPr lang="ky-KG" dirty="0"/>
              <a:t>-  Туура же Ката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4148" y="4806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85024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D143F40-C3CE-FF12-94A6-0080EC0F1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"/>
            <a:ext cx="9724507" cy="623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698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598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88E44BA-8734-41BD-999F-9B56202BB2A6}"/>
              </a:ext>
            </a:extLst>
          </p:cNvPr>
          <p:cNvSpPr txBox="1"/>
          <p:nvPr/>
        </p:nvSpPr>
        <p:spPr>
          <a:xfrm>
            <a:off x="722659" y="-61546"/>
            <a:ext cx="8441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Тик бурчтукта продукт үчүн төлөм планы берилген. Боз тик бурчтуктардагы маалымат </a:t>
            </a:r>
            <a:r>
              <a:rPr lang="ky-KG" sz="1400" dirty="0">
                <a:solidFill>
                  <a:srgbClr val="FF0000"/>
                </a:solidFill>
              </a:rPr>
              <a:t>ТУУРАбы</a:t>
            </a:r>
            <a:r>
              <a:rPr lang="ky-KG" sz="1400" dirty="0"/>
              <a:t> же </a:t>
            </a:r>
            <a:r>
              <a:rPr lang="ky-KG" sz="1400" dirty="0">
                <a:solidFill>
                  <a:srgbClr val="FF0000"/>
                </a:solidFill>
              </a:rPr>
              <a:t>КАТАбы</a:t>
            </a:r>
            <a:r>
              <a:rPr lang="ky-KG" sz="1400" dirty="0"/>
              <a:t>?</a:t>
            </a:r>
            <a:endParaRPr lang="en-GB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17339" y="163732"/>
            <a:ext cx="3236142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Ноутбук: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Депозит: 9445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5000 сомдон  12 айлык төлөм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3D7407-BD0E-478D-A6DE-2D67D4A4122D}"/>
              </a:ext>
            </a:extLst>
          </p:cNvPr>
          <p:cNvSpPr txBox="1"/>
          <p:nvPr/>
        </p:nvSpPr>
        <p:spPr>
          <a:xfrm>
            <a:off x="3291716" y="502133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69 44</a:t>
            </a:r>
            <a:r>
              <a:rPr lang="ky-KG" sz="1600" dirty="0"/>
              <a:t>5 сом</a:t>
            </a:r>
            <a:endParaRPr lang="en-GB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E321E9-83ED-407E-991E-D73F89EC42B2}"/>
              </a:ext>
            </a:extLst>
          </p:cNvPr>
          <p:cNvSpPr txBox="1"/>
          <p:nvPr/>
        </p:nvSpPr>
        <p:spPr>
          <a:xfrm>
            <a:off x="4943237" y="1512680"/>
            <a:ext cx="352046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dirty="0"/>
              <a:t>Жаңы ашкана: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Депозит: 50 000 сом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6278 сомдон 36 ай сайын төлөм</a:t>
            </a:r>
            <a:endParaRPr lang="en-GB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6E83EF-4F4C-4196-B1A5-0D397FE18B79}"/>
              </a:ext>
            </a:extLst>
          </p:cNvPr>
          <p:cNvSpPr txBox="1"/>
          <p:nvPr/>
        </p:nvSpPr>
        <p:spPr>
          <a:xfrm>
            <a:off x="8183587" y="1775657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 276 0</a:t>
            </a:r>
            <a:r>
              <a:rPr lang="ky-KG" sz="1600" dirty="0"/>
              <a:t>08 сом</a:t>
            </a:r>
            <a:endParaRPr lang="en-GB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DEDE52-1C60-4F09-BD44-8FFF25407205}"/>
              </a:ext>
            </a:extLst>
          </p:cNvPr>
          <p:cNvSpPr txBox="1"/>
          <p:nvPr/>
        </p:nvSpPr>
        <p:spPr>
          <a:xfrm>
            <a:off x="5063995" y="184248"/>
            <a:ext cx="2967479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Телефон: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49 450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1666  сом 24 ай бөлүп төлөө</a:t>
            </a:r>
            <a:endParaRPr lang="en-GB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6AD429-F76E-4120-A83E-E64D87D39AC9}"/>
              </a:ext>
            </a:extLst>
          </p:cNvPr>
          <p:cNvSpPr txBox="1"/>
          <p:nvPr/>
        </p:nvSpPr>
        <p:spPr>
          <a:xfrm>
            <a:off x="8463697" y="509565"/>
            <a:ext cx="102143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Аманат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8333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F74676-7B9C-4AE0-9013-99343C6B48B0}"/>
              </a:ext>
            </a:extLst>
          </p:cNvPr>
          <p:cNvSpPr txBox="1"/>
          <p:nvPr/>
        </p:nvSpPr>
        <p:spPr>
          <a:xfrm>
            <a:off x="204702" y="2832159"/>
            <a:ext cx="3061416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Диван: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79 80</a:t>
            </a:r>
            <a:r>
              <a:rPr lang="en-US" dirty="0"/>
              <a:t>0 </a:t>
            </a:r>
            <a:r>
              <a:rPr lang="ky-KG" dirty="0"/>
              <a:t>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2570 сомдон 18 айлык төлөм</a:t>
            </a:r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8B3D6C-531D-4BE1-9031-033A60CADAA6}"/>
              </a:ext>
            </a:extLst>
          </p:cNvPr>
          <p:cNvSpPr txBox="1"/>
          <p:nvPr/>
        </p:nvSpPr>
        <p:spPr>
          <a:xfrm>
            <a:off x="3608894" y="3157476"/>
            <a:ext cx="110639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Депозит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36 900</a:t>
            </a:r>
            <a:r>
              <a:rPr lang="ky-KG" sz="1600" dirty="0"/>
              <a:t/>
            </a:r>
            <a:endParaRPr lang="en-GB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59A496-BFDC-4A68-9522-B2330B298FB6}"/>
              </a:ext>
            </a:extLst>
          </p:cNvPr>
          <p:cNvSpPr txBox="1"/>
          <p:nvPr/>
        </p:nvSpPr>
        <p:spPr>
          <a:xfrm>
            <a:off x="262147" y="1601237"/>
            <a:ext cx="26475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Велосипед:</a:t>
            </a:r>
          </a:p>
          <a:p>
            <a:pPr algn="ctr"/>
            <a:r>
              <a:rPr lang="ky-KG" dirty="0"/>
              <a:t>Жалпы баасы: 61 115 сом</a:t>
            </a:r>
          </a:p>
          <a:p>
            <a:pPr algn="ctr"/>
            <a:r>
              <a:rPr lang="ky-KG" dirty="0"/>
              <a:t>Депозит: 6667 сом</a:t>
            </a:r>
          </a:p>
          <a:p>
            <a:pPr algn="ctr"/>
            <a:r>
              <a:rPr lang="ky-KG" dirty="0"/>
              <a:t>20 айлык төлөм</a:t>
            </a:r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87CB92-5FF7-49E5-BE8E-4E93531BCCC3}"/>
              </a:ext>
            </a:extLst>
          </p:cNvPr>
          <p:cNvSpPr txBox="1"/>
          <p:nvPr/>
        </p:nvSpPr>
        <p:spPr>
          <a:xfrm>
            <a:off x="3165518" y="1847423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төлөм =</a:t>
            </a:r>
          </a:p>
          <a:p>
            <a:pPr algn="ctr"/>
            <a:r>
              <a:rPr lang="en-GB" sz="1600" dirty="0"/>
              <a:t>2722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6EC3D0-ED57-4343-87E8-83131A539FC7}"/>
              </a:ext>
            </a:extLst>
          </p:cNvPr>
          <p:cNvSpPr txBox="1"/>
          <p:nvPr/>
        </p:nvSpPr>
        <p:spPr>
          <a:xfrm>
            <a:off x="5171138" y="4175085"/>
            <a:ext cx="2647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Муздаткыч:</a:t>
            </a:r>
          </a:p>
          <a:p>
            <a:pPr algn="ctr"/>
            <a:r>
              <a:rPr lang="ky-KG" dirty="0"/>
              <a:t>Жалпы баасы: 44 596 сом</a:t>
            </a:r>
          </a:p>
          <a:p>
            <a:pPr algn="ctr"/>
            <a:r>
              <a:rPr lang="ky-KG" dirty="0"/>
              <a:t>Депозит: 16 430 сом</a:t>
            </a:r>
          </a:p>
          <a:p>
            <a:pPr algn="ctr"/>
            <a:r>
              <a:rPr lang="ky-KG" dirty="0"/>
              <a:t>6 айлык төлөм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219F36-861E-499E-AB8B-BACCA4FA85E7}"/>
              </a:ext>
            </a:extLst>
          </p:cNvPr>
          <p:cNvSpPr txBox="1"/>
          <p:nvPr/>
        </p:nvSpPr>
        <p:spPr>
          <a:xfrm>
            <a:off x="7948697" y="4449974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төлөм =</a:t>
            </a:r>
          </a:p>
          <a:p>
            <a:pPr algn="ctr"/>
            <a:r>
              <a:rPr lang="en-GB" sz="1600" dirty="0"/>
              <a:t>4694,30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CC4CA9-4952-47F7-8707-1C8D267F5D9F}"/>
              </a:ext>
            </a:extLst>
          </p:cNvPr>
          <p:cNvSpPr txBox="1"/>
          <p:nvPr/>
        </p:nvSpPr>
        <p:spPr>
          <a:xfrm>
            <a:off x="5077295" y="2891652"/>
            <a:ext cx="27061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Электро скутер:</a:t>
            </a:r>
          </a:p>
          <a:p>
            <a:pPr algn="ctr"/>
            <a:r>
              <a:rPr lang="ky-KG" dirty="0"/>
              <a:t>Жалпы баасы: 87 179 сом</a:t>
            </a:r>
          </a:p>
          <a:p>
            <a:pPr algn="ctr"/>
            <a:r>
              <a:rPr lang="ky-KG" dirty="0"/>
              <a:t>Депозит: 25 706 сом</a:t>
            </a:r>
          </a:p>
          <a:p>
            <a:pPr algn="ctr"/>
            <a:r>
              <a:rPr lang="ky-KG" dirty="0"/>
              <a:t>2795 сом ай сайын төлөө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B2E054-C84D-4850-A9B7-C5A3F53AD281}"/>
              </a:ext>
            </a:extLst>
          </p:cNvPr>
          <p:cNvSpPr txBox="1"/>
          <p:nvPr/>
        </p:nvSpPr>
        <p:spPr>
          <a:xfrm>
            <a:off x="7884580" y="3330403"/>
            <a:ext cx="1646605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2 жылдык төлөм</a:t>
            </a:r>
            <a:endParaRPr lang="en-GB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0A8BC67-C7E4-4559-A29B-ECB1CE66A690}"/>
              </a:ext>
            </a:extLst>
          </p:cNvPr>
          <p:cNvSpPr txBox="1"/>
          <p:nvPr/>
        </p:nvSpPr>
        <p:spPr>
          <a:xfrm>
            <a:off x="275650" y="5559170"/>
            <a:ext cx="27646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Машина:</a:t>
            </a:r>
          </a:p>
          <a:p>
            <a:pPr algn="ctr"/>
            <a:r>
              <a:rPr lang="ky-KG" dirty="0"/>
              <a:t>Жалпы баасы: 724 488 сом</a:t>
            </a:r>
          </a:p>
          <a:p>
            <a:pPr algn="ctr"/>
            <a:r>
              <a:rPr lang="ky-KG" dirty="0"/>
              <a:t>Депозит: 139 712 сом</a:t>
            </a:r>
          </a:p>
          <a:p>
            <a:pPr algn="ctr"/>
            <a:r>
              <a:rPr lang="ky-KG" dirty="0"/>
              <a:t>12 183 сом айлык төлөм</a:t>
            </a:r>
            <a:endParaRPr lang="en-GB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963338-EB44-48E4-95A1-174D76888FC8}"/>
              </a:ext>
            </a:extLst>
          </p:cNvPr>
          <p:cNvSpPr txBox="1"/>
          <p:nvPr/>
        </p:nvSpPr>
        <p:spPr>
          <a:xfrm>
            <a:off x="3077918" y="5968619"/>
            <a:ext cx="1513556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48 бөлүп төлөө</a:t>
            </a:r>
            <a:endParaRPr lang="en-GB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A6274E-99A5-409B-B378-0320041E81D1}"/>
              </a:ext>
            </a:extLst>
          </p:cNvPr>
          <p:cNvSpPr txBox="1"/>
          <p:nvPr/>
        </p:nvSpPr>
        <p:spPr>
          <a:xfrm>
            <a:off x="125054" y="4072749"/>
            <a:ext cx="27366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dirty="0"/>
              <a:t>ПК</a:t>
            </a:r>
            <a:r>
              <a:rPr lang="ru-RU" dirty="0"/>
              <a:t>:</a:t>
            </a:r>
          </a:p>
          <a:p>
            <a:pPr algn="ctr"/>
            <a:r>
              <a:rPr lang="ru-RU" dirty="0"/>
              <a:t>Баасы = 62 590 сом</a:t>
            </a:r>
          </a:p>
          <a:p>
            <a:pPr algn="ctr"/>
            <a:r>
              <a:rPr lang="ru-RU" dirty="0"/>
              <a:t>ЖЕ Депозит 12 294 сом</a:t>
            </a:r>
          </a:p>
          <a:p>
            <a:pPr algn="ctr"/>
            <a:r>
              <a:rPr lang="ru-RU" dirty="0"/>
              <a:t>&amp; 3911 сомдон 14 </a:t>
            </a:r>
            <a:r>
              <a:rPr lang="ky-KG" dirty="0"/>
              <a:t>айлык төлөм</a:t>
            </a:r>
            <a:endParaRPr lang="en-GB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318413-832C-4133-9EEA-660945CF4C6B}"/>
              </a:ext>
            </a:extLst>
          </p:cNvPr>
          <p:cNvSpPr txBox="1"/>
          <p:nvPr/>
        </p:nvSpPr>
        <p:spPr>
          <a:xfrm>
            <a:off x="2855840" y="4201366"/>
            <a:ext cx="2010487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Төлөө планы </a:t>
            </a:r>
          </a:p>
          <a:p>
            <a:pPr algn="ctr"/>
            <a:r>
              <a:rPr lang="ru-RU" sz="1600" dirty="0"/>
              <a:t>баштапкы наркынан </a:t>
            </a:r>
          </a:p>
          <a:p>
            <a:pPr algn="ctr"/>
            <a:r>
              <a:rPr lang="ru-RU" sz="1600" dirty="0"/>
              <a:t>6706 сомго</a:t>
            </a:r>
          </a:p>
          <a:p>
            <a:pPr algn="ctr"/>
            <a:r>
              <a:rPr lang="ru-RU" sz="1600" dirty="0"/>
              <a:t>кымбатыраак.</a:t>
            </a:r>
            <a:endParaRPr lang="en-GB" sz="16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21AEB4-90C3-46B5-A626-AA486DB3E0E2}"/>
              </a:ext>
            </a:extLst>
          </p:cNvPr>
          <p:cNvSpPr txBox="1"/>
          <p:nvPr/>
        </p:nvSpPr>
        <p:spPr>
          <a:xfrm>
            <a:off x="4973574" y="5605219"/>
            <a:ext cx="32672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Мотоцикл:</a:t>
            </a:r>
          </a:p>
          <a:p>
            <a:pPr algn="ctr"/>
            <a:r>
              <a:rPr lang="ru-RU" dirty="0"/>
              <a:t>Баасы = 458 253 сом</a:t>
            </a:r>
          </a:p>
          <a:p>
            <a:pPr algn="ctr"/>
            <a:r>
              <a:rPr lang="ru-RU" dirty="0"/>
              <a:t>ЖЕ Депозит: 98 356 сом</a:t>
            </a:r>
          </a:p>
          <a:p>
            <a:pPr algn="ctr"/>
            <a:r>
              <a:rPr lang="ru-RU" dirty="0"/>
              <a:t>&amp; 16 542 сом 24 ай сайын төлөө</a:t>
            </a:r>
            <a:endParaRPr lang="en-GB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435191-5982-43CB-97E5-637621C54EEE}"/>
              </a:ext>
            </a:extLst>
          </p:cNvPr>
          <p:cNvSpPr txBox="1"/>
          <p:nvPr/>
        </p:nvSpPr>
        <p:spPr>
          <a:xfrm>
            <a:off x="8313201" y="5571137"/>
            <a:ext cx="1343638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Төлөм планы</a:t>
            </a:r>
          </a:p>
          <a:p>
            <a:pPr algn="ctr"/>
            <a:r>
              <a:rPr lang="ru-RU" sz="1600" dirty="0"/>
              <a:t> баштапкы </a:t>
            </a:r>
          </a:p>
          <a:p>
            <a:pPr algn="ctr"/>
            <a:r>
              <a:rPr lang="ru-RU" sz="1600" dirty="0"/>
              <a:t>наркынан </a:t>
            </a:r>
          </a:p>
          <a:p>
            <a:pPr algn="ctr"/>
            <a:r>
              <a:rPr lang="ru-RU" sz="1600" dirty="0"/>
              <a:t>6% кымбат.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147529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FE4CCCE3-2F5A-E467-7658-58AED962D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089905"/>
              </p:ext>
            </p:extLst>
          </p:nvPr>
        </p:nvGraphicFramePr>
        <p:xfrm>
          <a:off x="35168" y="198120"/>
          <a:ext cx="9803424" cy="3870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290125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290125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290125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43B5AE4-DA81-DD30-0D0C-327A665F2053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2D9071-28DD-1BC9-BF22-A84CD18AA99D}"/>
              </a:ext>
            </a:extLst>
          </p:cNvPr>
          <p:cNvSpPr txBox="1"/>
          <p:nvPr/>
        </p:nvSpPr>
        <p:spPr>
          <a:xfrm>
            <a:off x="722659" y="-61546"/>
            <a:ext cx="8441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Тик бурчтукта продукт үчүн төлөм планы берилген. Боз тик бурчтуктардагы маалымат </a:t>
            </a:r>
            <a:r>
              <a:rPr lang="ky-KG" sz="1400" dirty="0">
                <a:solidFill>
                  <a:srgbClr val="FF0000"/>
                </a:solidFill>
              </a:rPr>
              <a:t>ТУУРАбы</a:t>
            </a:r>
            <a:r>
              <a:rPr lang="ky-KG" sz="1400" dirty="0"/>
              <a:t> же </a:t>
            </a:r>
            <a:r>
              <a:rPr lang="ky-KG" sz="1400" dirty="0">
                <a:solidFill>
                  <a:srgbClr val="FF0000"/>
                </a:solidFill>
              </a:rPr>
              <a:t>КАТАбы</a:t>
            </a:r>
            <a:r>
              <a:rPr lang="ky-KG" sz="1400" dirty="0"/>
              <a:t>?</a:t>
            </a:r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F217F3-572C-7F49-1501-D98296717D3E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A299FF-8521-A974-75E9-DEAA5FBC3454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DEDCA4-E157-DF3A-13DC-8B22F46347D3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A80655-B429-E924-38FD-C08B49853F83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5DFA58-EF2A-52AC-6F90-F904BBECA83B}"/>
              </a:ext>
            </a:extLst>
          </p:cNvPr>
          <p:cNvSpPr txBox="1"/>
          <p:nvPr/>
        </p:nvSpPr>
        <p:spPr>
          <a:xfrm>
            <a:off x="4901187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24115A-78A0-BE3A-40A4-5CBB666F08D5}"/>
              </a:ext>
            </a:extLst>
          </p:cNvPr>
          <p:cNvSpPr txBox="1"/>
          <p:nvPr/>
        </p:nvSpPr>
        <p:spPr>
          <a:xfrm>
            <a:off x="117339" y="163732"/>
            <a:ext cx="3236142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Ноутбук: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Депозит: 9445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5000 сомдон  12 айлык төлөм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372330-C976-63FE-6E35-3C63146F7EFE}"/>
              </a:ext>
            </a:extLst>
          </p:cNvPr>
          <p:cNvSpPr txBox="1"/>
          <p:nvPr/>
        </p:nvSpPr>
        <p:spPr>
          <a:xfrm>
            <a:off x="3291716" y="502133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69 44</a:t>
            </a:r>
            <a:r>
              <a:rPr lang="ky-KG" sz="1600" dirty="0"/>
              <a:t>5 сом</a:t>
            </a:r>
            <a:endParaRPr lang="en-GB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A8869B-BB2B-54B9-E1E4-9CB0350F09C2}"/>
              </a:ext>
            </a:extLst>
          </p:cNvPr>
          <p:cNvSpPr txBox="1"/>
          <p:nvPr/>
        </p:nvSpPr>
        <p:spPr>
          <a:xfrm>
            <a:off x="4943237" y="1512680"/>
            <a:ext cx="352046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dirty="0"/>
              <a:t>Жаңы ашкана: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Депозит: 50 000 сом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6278 сомдон 36 ай сайын төлөм</a:t>
            </a:r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C3FD90-E969-A070-978A-F738D936C111}"/>
              </a:ext>
            </a:extLst>
          </p:cNvPr>
          <p:cNvSpPr txBox="1"/>
          <p:nvPr/>
        </p:nvSpPr>
        <p:spPr>
          <a:xfrm>
            <a:off x="8183587" y="1775657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 276 0</a:t>
            </a:r>
            <a:r>
              <a:rPr lang="ky-KG" sz="1600" dirty="0"/>
              <a:t>08 сом</a:t>
            </a:r>
            <a:endParaRPr lang="en-GB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1CA15D-9D9D-59C3-D88D-57AF4BE3251D}"/>
              </a:ext>
            </a:extLst>
          </p:cNvPr>
          <p:cNvSpPr txBox="1"/>
          <p:nvPr/>
        </p:nvSpPr>
        <p:spPr>
          <a:xfrm>
            <a:off x="5063995" y="184248"/>
            <a:ext cx="2967479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Телефон: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49 450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1666  сом 24 ай бөлүп төлөө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6BE2D1-B7A2-23FD-97CE-7AEB5189230D}"/>
              </a:ext>
            </a:extLst>
          </p:cNvPr>
          <p:cNvSpPr txBox="1"/>
          <p:nvPr/>
        </p:nvSpPr>
        <p:spPr>
          <a:xfrm>
            <a:off x="8463697" y="509565"/>
            <a:ext cx="102143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Аманат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8333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BD0651-0570-3A3E-C1AF-AD5A5A1FA11D}"/>
              </a:ext>
            </a:extLst>
          </p:cNvPr>
          <p:cNvSpPr txBox="1"/>
          <p:nvPr/>
        </p:nvSpPr>
        <p:spPr>
          <a:xfrm>
            <a:off x="204702" y="2832159"/>
            <a:ext cx="3061416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Диван: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79 80</a:t>
            </a:r>
            <a:r>
              <a:rPr lang="en-US" dirty="0"/>
              <a:t>0 </a:t>
            </a:r>
            <a:r>
              <a:rPr lang="ky-KG" dirty="0"/>
              <a:t>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2570 сомдон 18 айлык төлөм</a:t>
            </a:r>
            <a:endParaRPr lang="en-GB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BAE660-2552-97B0-7472-64122C66DB74}"/>
              </a:ext>
            </a:extLst>
          </p:cNvPr>
          <p:cNvSpPr txBox="1"/>
          <p:nvPr/>
        </p:nvSpPr>
        <p:spPr>
          <a:xfrm>
            <a:off x="3608894" y="3157476"/>
            <a:ext cx="110639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Депозит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36 900</a:t>
            </a:r>
            <a:r>
              <a:rPr lang="ky-KG" sz="1600" dirty="0"/>
              <a:t/>
            </a:r>
            <a:endParaRPr lang="en-GB" sz="160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F8C4659E-A0F1-8CA8-F31C-11B5587046CC}"/>
              </a:ext>
            </a:extLst>
          </p:cNvPr>
          <p:cNvSpPr txBox="1"/>
          <p:nvPr/>
        </p:nvSpPr>
        <p:spPr>
          <a:xfrm>
            <a:off x="262147" y="1601237"/>
            <a:ext cx="26475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Велосипед:</a:t>
            </a:r>
          </a:p>
          <a:p>
            <a:pPr algn="ctr"/>
            <a:r>
              <a:rPr lang="ky-KG" dirty="0"/>
              <a:t>Жалпы баасы: 61 115 сом</a:t>
            </a:r>
          </a:p>
          <a:p>
            <a:pPr algn="ctr"/>
            <a:r>
              <a:rPr lang="ky-KG" dirty="0"/>
              <a:t>Депозит: 6667 сом</a:t>
            </a:r>
          </a:p>
          <a:p>
            <a:pPr algn="ctr"/>
            <a:r>
              <a:rPr lang="ky-KG" dirty="0"/>
              <a:t>20 айлык төлөм</a:t>
            </a:r>
            <a:endParaRPr lang="en-GB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5BE9922C-0116-8ADF-252A-D956A6FEE284}"/>
              </a:ext>
            </a:extLst>
          </p:cNvPr>
          <p:cNvSpPr txBox="1"/>
          <p:nvPr/>
        </p:nvSpPr>
        <p:spPr>
          <a:xfrm>
            <a:off x="3165518" y="1847423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төлөм =</a:t>
            </a:r>
          </a:p>
          <a:p>
            <a:pPr algn="ctr"/>
            <a:r>
              <a:rPr lang="en-GB" sz="1600" dirty="0"/>
              <a:t>2722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F8664F97-F9B7-9ABF-9FC4-0AD08CCD65C0}"/>
              </a:ext>
            </a:extLst>
          </p:cNvPr>
          <p:cNvSpPr txBox="1"/>
          <p:nvPr/>
        </p:nvSpPr>
        <p:spPr>
          <a:xfrm>
            <a:off x="5077295" y="2891652"/>
            <a:ext cx="27061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Электро скутер:</a:t>
            </a:r>
          </a:p>
          <a:p>
            <a:pPr algn="ctr"/>
            <a:r>
              <a:rPr lang="ky-KG" dirty="0"/>
              <a:t>Жалпы баасы: 87 179 сом</a:t>
            </a:r>
          </a:p>
          <a:p>
            <a:pPr algn="ctr"/>
            <a:r>
              <a:rPr lang="ky-KG" dirty="0"/>
              <a:t>Депозит: 25 706 сом</a:t>
            </a:r>
          </a:p>
          <a:p>
            <a:pPr algn="ctr"/>
            <a:r>
              <a:rPr lang="ky-KG" dirty="0"/>
              <a:t>2795 сом ай сайын төлөө</a:t>
            </a:r>
            <a:endParaRPr lang="en-GB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CA3CE63B-16C2-00DC-EC6F-3C06DB0B63E6}"/>
              </a:ext>
            </a:extLst>
          </p:cNvPr>
          <p:cNvSpPr txBox="1"/>
          <p:nvPr/>
        </p:nvSpPr>
        <p:spPr>
          <a:xfrm>
            <a:off x="7884580" y="3330403"/>
            <a:ext cx="1646605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2 жылдык төлөм</a:t>
            </a:r>
            <a:endParaRPr lang="en-GB" sz="16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8A31A5B-C7F1-4C8D-9A70-BBE61F386F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00996" y="1079211"/>
            <a:ext cx="408033" cy="40803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C74B17B-2D52-4C78-9D23-F982735B8E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98673" y="1074463"/>
            <a:ext cx="408033" cy="40803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FF37A4F-09AC-41F0-BC98-C991941AD0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500642" y="2418573"/>
            <a:ext cx="408033" cy="40803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C9150DC-E9BE-473C-8F9F-90E062A2438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9165" y="2418573"/>
            <a:ext cx="408033" cy="40803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A64764D-9B2B-4B6A-9901-23FFF6C25CA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60326" y="3706294"/>
            <a:ext cx="408033" cy="40803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CBB7D4-DB5A-46A6-8AA0-19D75D905710}"/>
              </a:ext>
            </a:extLst>
          </p:cNvPr>
          <p:cNvSpPr/>
          <p:nvPr/>
        </p:nvSpPr>
        <p:spPr>
          <a:xfrm>
            <a:off x="4715287" y="4774055"/>
            <a:ext cx="49873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Кээбир</a:t>
            </a:r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0853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5C0FA99-337F-32C1-3B46-1AFBAE15A5C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598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03A313B-B6B9-D085-8DC1-1CA6E6C06F13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872997-2166-6744-C437-E586C55159C3}"/>
              </a:ext>
            </a:extLst>
          </p:cNvPr>
          <p:cNvSpPr txBox="1"/>
          <p:nvPr/>
        </p:nvSpPr>
        <p:spPr>
          <a:xfrm>
            <a:off x="722659" y="-61546"/>
            <a:ext cx="8441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Тик бурчтукта продукт үчүн төлөм планы берилген. Боз тик бурчтуктардагы маалымат </a:t>
            </a:r>
            <a:r>
              <a:rPr lang="ky-KG" sz="1400" dirty="0">
                <a:solidFill>
                  <a:srgbClr val="FF0000"/>
                </a:solidFill>
              </a:rPr>
              <a:t>ТУУРАбы</a:t>
            </a:r>
            <a:r>
              <a:rPr lang="ky-KG" sz="1400" dirty="0"/>
              <a:t> же </a:t>
            </a:r>
            <a:r>
              <a:rPr lang="ky-KG" sz="1400" dirty="0">
                <a:solidFill>
                  <a:srgbClr val="FF0000"/>
                </a:solidFill>
              </a:rPr>
              <a:t>КАТАбы</a:t>
            </a:r>
            <a:r>
              <a:rPr lang="ky-KG" sz="1400" dirty="0"/>
              <a:t>?</a:t>
            </a:r>
            <a:endParaRPr lang="en-GB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E35AF-0BDC-6E43-0986-8D842D6DCFD9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E2C773-7A2C-36F0-6A4F-8C6168FD7F7E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7FB2A7-5F25-F716-4558-FD2AEE6D034A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A3FEEE-3BDC-CDD1-A7DA-C90D8E8F0778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D55CF-1706-52CC-2560-97BF73DF82C0}"/>
              </a:ext>
            </a:extLst>
          </p:cNvPr>
          <p:cNvSpPr txBox="1"/>
          <p:nvPr/>
        </p:nvSpPr>
        <p:spPr>
          <a:xfrm>
            <a:off x="4901187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429DF1-193B-50C8-353F-0D1250A80A52}"/>
              </a:ext>
            </a:extLst>
          </p:cNvPr>
          <p:cNvSpPr txBox="1"/>
          <p:nvPr/>
        </p:nvSpPr>
        <p:spPr>
          <a:xfrm>
            <a:off x="-1990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10211F-2CB4-88AD-30F1-BF8E6B46310B}"/>
              </a:ext>
            </a:extLst>
          </p:cNvPr>
          <p:cNvSpPr txBox="1"/>
          <p:nvPr/>
        </p:nvSpPr>
        <p:spPr>
          <a:xfrm>
            <a:off x="4901187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70AE89-BEDA-DAC2-8D52-A00DA0130409}"/>
              </a:ext>
            </a:extLst>
          </p:cNvPr>
          <p:cNvSpPr txBox="1"/>
          <p:nvPr/>
        </p:nvSpPr>
        <p:spPr>
          <a:xfrm>
            <a:off x="-1990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B60B51-05BC-0B95-DAF2-F275173E75F9}"/>
              </a:ext>
            </a:extLst>
          </p:cNvPr>
          <p:cNvSpPr txBox="1"/>
          <p:nvPr/>
        </p:nvSpPr>
        <p:spPr>
          <a:xfrm>
            <a:off x="4901187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AFE67E-A8E3-1BCC-4831-5F62B6C1AF6C}"/>
              </a:ext>
            </a:extLst>
          </p:cNvPr>
          <p:cNvSpPr txBox="1"/>
          <p:nvPr/>
        </p:nvSpPr>
        <p:spPr>
          <a:xfrm>
            <a:off x="117339" y="163732"/>
            <a:ext cx="3236142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Ноутбук: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Депозит: 9445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5000 сомдон  12 айлык төлөм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FC8F6A-CD6F-04FC-5419-AD9C2B5C4DC8}"/>
              </a:ext>
            </a:extLst>
          </p:cNvPr>
          <p:cNvSpPr txBox="1"/>
          <p:nvPr/>
        </p:nvSpPr>
        <p:spPr>
          <a:xfrm>
            <a:off x="3291716" y="502133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69 44</a:t>
            </a:r>
            <a:r>
              <a:rPr lang="ky-KG" sz="1600" dirty="0"/>
              <a:t>5 сом</a:t>
            </a:r>
            <a:endParaRPr lang="en-GB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38077-15AB-19C6-684C-0942AE66B7CF}"/>
              </a:ext>
            </a:extLst>
          </p:cNvPr>
          <p:cNvSpPr txBox="1"/>
          <p:nvPr/>
        </p:nvSpPr>
        <p:spPr>
          <a:xfrm>
            <a:off x="4943237" y="1512680"/>
            <a:ext cx="352046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dirty="0"/>
              <a:t>Жаңы ашкана: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Депозит: 50 000 сом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6278 сомдон 36 ай сайын төлөм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8D16F8-A844-13A7-85BA-AF7EB0F39FEB}"/>
              </a:ext>
            </a:extLst>
          </p:cNvPr>
          <p:cNvSpPr txBox="1"/>
          <p:nvPr/>
        </p:nvSpPr>
        <p:spPr>
          <a:xfrm>
            <a:off x="8183587" y="1775657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 276 0</a:t>
            </a:r>
            <a:r>
              <a:rPr lang="ky-KG" sz="1600" dirty="0"/>
              <a:t>08 сом</a:t>
            </a:r>
            <a:endParaRPr lang="en-GB" sz="160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785D5547-4BC5-6772-F74B-C300B870AB66}"/>
              </a:ext>
            </a:extLst>
          </p:cNvPr>
          <p:cNvSpPr txBox="1"/>
          <p:nvPr/>
        </p:nvSpPr>
        <p:spPr>
          <a:xfrm>
            <a:off x="5063995" y="184248"/>
            <a:ext cx="2967479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Телефон: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49 450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1666  сом 24 ай бөлүп төлөө</a:t>
            </a:r>
            <a:endParaRPr lang="en-GB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D9265172-99A1-B5B5-9DBE-0255B9AC8EF3}"/>
              </a:ext>
            </a:extLst>
          </p:cNvPr>
          <p:cNvSpPr txBox="1"/>
          <p:nvPr/>
        </p:nvSpPr>
        <p:spPr>
          <a:xfrm>
            <a:off x="8463697" y="509565"/>
            <a:ext cx="102143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Аманат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8333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8EE521AB-C757-3AA2-829D-56E0F9835276}"/>
              </a:ext>
            </a:extLst>
          </p:cNvPr>
          <p:cNvSpPr txBox="1"/>
          <p:nvPr/>
        </p:nvSpPr>
        <p:spPr>
          <a:xfrm>
            <a:off x="204702" y="2832159"/>
            <a:ext cx="3061416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Диван: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79 80</a:t>
            </a:r>
            <a:r>
              <a:rPr lang="en-US" dirty="0"/>
              <a:t>0 </a:t>
            </a:r>
            <a:r>
              <a:rPr lang="ky-KG" dirty="0"/>
              <a:t>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2570 сомдон 18 айлык төлөм</a:t>
            </a:r>
            <a:endParaRPr lang="en-GB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013EAAB5-6982-AFD9-915A-7D0BE8B27A93}"/>
              </a:ext>
            </a:extLst>
          </p:cNvPr>
          <p:cNvSpPr txBox="1"/>
          <p:nvPr/>
        </p:nvSpPr>
        <p:spPr>
          <a:xfrm>
            <a:off x="3608894" y="3157476"/>
            <a:ext cx="110639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Депозит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36 900</a:t>
            </a:r>
            <a:r>
              <a:rPr lang="ky-KG" sz="1600" dirty="0"/>
              <a:t/>
            </a:r>
            <a:endParaRPr lang="en-GB" sz="16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2EBDFFEF-1AD0-5DD1-3961-E1E46A39DFDD}"/>
              </a:ext>
            </a:extLst>
          </p:cNvPr>
          <p:cNvSpPr txBox="1"/>
          <p:nvPr/>
        </p:nvSpPr>
        <p:spPr>
          <a:xfrm>
            <a:off x="262147" y="1601237"/>
            <a:ext cx="26475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Велосипед:</a:t>
            </a:r>
          </a:p>
          <a:p>
            <a:pPr algn="ctr"/>
            <a:r>
              <a:rPr lang="ky-KG" dirty="0"/>
              <a:t>Жалпы баасы: 61 115 сом</a:t>
            </a:r>
          </a:p>
          <a:p>
            <a:pPr algn="ctr"/>
            <a:r>
              <a:rPr lang="ky-KG" dirty="0"/>
              <a:t>Депозит: 6667 сом</a:t>
            </a:r>
          </a:p>
          <a:p>
            <a:pPr algn="ctr"/>
            <a:r>
              <a:rPr lang="ky-KG" dirty="0"/>
              <a:t>20 айлык төлөм</a:t>
            </a:r>
            <a:endParaRPr lang="en-GB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DB230C1-FE48-F89F-27F8-79E9B6CD4611}"/>
              </a:ext>
            </a:extLst>
          </p:cNvPr>
          <p:cNvSpPr txBox="1"/>
          <p:nvPr/>
        </p:nvSpPr>
        <p:spPr>
          <a:xfrm>
            <a:off x="3165518" y="1847423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төлөм =</a:t>
            </a:r>
          </a:p>
          <a:p>
            <a:pPr algn="ctr"/>
            <a:r>
              <a:rPr lang="en-GB" sz="1600" dirty="0"/>
              <a:t>2722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8642F172-D236-39C0-E8B7-3FB17B0E1500}"/>
              </a:ext>
            </a:extLst>
          </p:cNvPr>
          <p:cNvSpPr txBox="1"/>
          <p:nvPr/>
        </p:nvSpPr>
        <p:spPr>
          <a:xfrm>
            <a:off x="5171138" y="4175085"/>
            <a:ext cx="2647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Муздаткыч:</a:t>
            </a:r>
          </a:p>
          <a:p>
            <a:pPr algn="ctr"/>
            <a:r>
              <a:rPr lang="ky-KG" dirty="0"/>
              <a:t>Жалпы баасы: 44 596 сом</a:t>
            </a:r>
          </a:p>
          <a:p>
            <a:pPr algn="ctr"/>
            <a:r>
              <a:rPr lang="ky-KG" dirty="0"/>
              <a:t>Депозит: 16 430 сом</a:t>
            </a:r>
          </a:p>
          <a:p>
            <a:pPr algn="ctr"/>
            <a:r>
              <a:rPr lang="ky-KG" dirty="0"/>
              <a:t>6 айлык төлөм</a:t>
            </a:r>
            <a:endParaRPr lang="en-GB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EF6BEDD6-36BB-ADBF-517B-5084675F0FAD}"/>
              </a:ext>
            </a:extLst>
          </p:cNvPr>
          <p:cNvSpPr txBox="1"/>
          <p:nvPr/>
        </p:nvSpPr>
        <p:spPr>
          <a:xfrm>
            <a:off x="7948697" y="4449974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төлөм =</a:t>
            </a:r>
          </a:p>
          <a:p>
            <a:pPr algn="ctr"/>
            <a:r>
              <a:rPr lang="en-GB" sz="1600" dirty="0"/>
              <a:t>4694,30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45F67F88-EA92-F7D4-4B17-29D714A7C501}"/>
              </a:ext>
            </a:extLst>
          </p:cNvPr>
          <p:cNvSpPr txBox="1"/>
          <p:nvPr/>
        </p:nvSpPr>
        <p:spPr>
          <a:xfrm>
            <a:off x="5077295" y="2891652"/>
            <a:ext cx="27061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Электро скутер:</a:t>
            </a:r>
          </a:p>
          <a:p>
            <a:pPr algn="ctr"/>
            <a:r>
              <a:rPr lang="ky-KG" dirty="0"/>
              <a:t>Жалпы баасы: 87 179 сом</a:t>
            </a:r>
          </a:p>
          <a:p>
            <a:pPr algn="ctr"/>
            <a:r>
              <a:rPr lang="ky-KG" dirty="0"/>
              <a:t>Депозит: 25 706 сом</a:t>
            </a:r>
          </a:p>
          <a:p>
            <a:pPr algn="ctr"/>
            <a:r>
              <a:rPr lang="ky-KG" dirty="0"/>
              <a:t>2795 сом ай сайын төлөө</a:t>
            </a:r>
            <a:endParaRPr lang="en-GB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9B482E7A-4115-34C7-B794-604D986D1556}"/>
              </a:ext>
            </a:extLst>
          </p:cNvPr>
          <p:cNvSpPr txBox="1"/>
          <p:nvPr/>
        </p:nvSpPr>
        <p:spPr>
          <a:xfrm>
            <a:off x="7884580" y="3330403"/>
            <a:ext cx="1646605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2 жылдык төлөм</a:t>
            </a:r>
            <a:endParaRPr lang="en-GB" sz="160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F36F66CF-21FB-8373-C593-A37F058FCFC3}"/>
              </a:ext>
            </a:extLst>
          </p:cNvPr>
          <p:cNvSpPr txBox="1"/>
          <p:nvPr/>
        </p:nvSpPr>
        <p:spPr>
          <a:xfrm>
            <a:off x="275650" y="5559170"/>
            <a:ext cx="27646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Машина:</a:t>
            </a:r>
          </a:p>
          <a:p>
            <a:pPr algn="ctr"/>
            <a:r>
              <a:rPr lang="ky-KG" dirty="0"/>
              <a:t>Жалпы баасы: 724 488 сом</a:t>
            </a:r>
          </a:p>
          <a:p>
            <a:pPr algn="ctr"/>
            <a:r>
              <a:rPr lang="ky-KG" dirty="0"/>
              <a:t>Депозит: 139 712 сом</a:t>
            </a:r>
          </a:p>
          <a:p>
            <a:pPr algn="ctr"/>
            <a:r>
              <a:rPr lang="ky-KG" dirty="0"/>
              <a:t>12 183 сом айлык төлөм</a:t>
            </a:r>
            <a:endParaRPr lang="en-GB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49A4833C-6ACA-A413-1FD2-F9A5AF843BCF}"/>
              </a:ext>
            </a:extLst>
          </p:cNvPr>
          <p:cNvSpPr txBox="1"/>
          <p:nvPr/>
        </p:nvSpPr>
        <p:spPr>
          <a:xfrm>
            <a:off x="3077918" y="5968619"/>
            <a:ext cx="1513556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48 бөлүп төлөө</a:t>
            </a:r>
            <a:endParaRPr lang="en-GB" sz="16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51802B4-A03F-534C-B837-316F7352A716}"/>
              </a:ext>
            </a:extLst>
          </p:cNvPr>
          <p:cNvSpPr txBox="1"/>
          <p:nvPr/>
        </p:nvSpPr>
        <p:spPr>
          <a:xfrm>
            <a:off x="125054" y="4072749"/>
            <a:ext cx="27366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dirty="0"/>
              <a:t>ПК</a:t>
            </a:r>
            <a:r>
              <a:rPr lang="ru-RU" dirty="0"/>
              <a:t>:</a:t>
            </a:r>
          </a:p>
          <a:p>
            <a:pPr algn="ctr"/>
            <a:r>
              <a:rPr lang="ru-RU" dirty="0"/>
              <a:t>Баасы = 62 590 сом</a:t>
            </a:r>
          </a:p>
          <a:p>
            <a:pPr algn="ctr"/>
            <a:r>
              <a:rPr lang="ru-RU" dirty="0"/>
              <a:t>ЖЕ Депозит 12 294 сом</a:t>
            </a:r>
          </a:p>
          <a:p>
            <a:pPr algn="ctr"/>
            <a:r>
              <a:rPr lang="ru-RU" dirty="0"/>
              <a:t>&amp; 3911 сомдон 14 </a:t>
            </a:r>
            <a:r>
              <a:rPr lang="ky-KG" dirty="0"/>
              <a:t>айлык төлөм</a:t>
            </a:r>
            <a:endParaRPr lang="en-GB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98B7A2A4-9D8F-908C-D810-47CCC40724AF}"/>
              </a:ext>
            </a:extLst>
          </p:cNvPr>
          <p:cNvSpPr txBox="1"/>
          <p:nvPr/>
        </p:nvSpPr>
        <p:spPr>
          <a:xfrm>
            <a:off x="2855840" y="4201366"/>
            <a:ext cx="2010487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Төлөө планы </a:t>
            </a:r>
          </a:p>
          <a:p>
            <a:pPr algn="ctr"/>
            <a:r>
              <a:rPr lang="ru-RU" sz="1600" dirty="0"/>
              <a:t>баштапкы наркынан </a:t>
            </a:r>
          </a:p>
          <a:p>
            <a:pPr algn="ctr"/>
            <a:r>
              <a:rPr lang="ru-RU" sz="1600" dirty="0"/>
              <a:t>6706 сомго</a:t>
            </a:r>
          </a:p>
          <a:p>
            <a:pPr algn="ctr"/>
            <a:r>
              <a:rPr lang="ru-RU" sz="1600" dirty="0"/>
              <a:t>кымбатыраак.</a:t>
            </a:r>
            <a:endParaRPr lang="en-GB" sz="1600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93F58F0E-7461-C93D-6D11-A806E7B69A93}"/>
              </a:ext>
            </a:extLst>
          </p:cNvPr>
          <p:cNvSpPr txBox="1"/>
          <p:nvPr/>
        </p:nvSpPr>
        <p:spPr>
          <a:xfrm>
            <a:off x="4973574" y="5605219"/>
            <a:ext cx="32672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Мотоцикл:</a:t>
            </a:r>
          </a:p>
          <a:p>
            <a:pPr algn="ctr"/>
            <a:r>
              <a:rPr lang="ru-RU" dirty="0"/>
              <a:t>Баасы = 458 253 сом</a:t>
            </a:r>
          </a:p>
          <a:p>
            <a:pPr algn="ctr"/>
            <a:r>
              <a:rPr lang="ru-RU" dirty="0"/>
              <a:t>ЖЕ Депозит: 98 356 сом</a:t>
            </a:r>
          </a:p>
          <a:p>
            <a:pPr algn="ctr"/>
            <a:r>
              <a:rPr lang="ru-RU" dirty="0"/>
              <a:t>&amp; 16 542 сом 24 ай сайын төлөө</a:t>
            </a:r>
            <a:endParaRPr lang="en-GB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0D721EA5-3BBB-3CFB-41E5-7A101C9A6CF8}"/>
              </a:ext>
            </a:extLst>
          </p:cNvPr>
          <p:cNvSpPr txBox="1"/>
          <p:nvPr/>
        </p:nvSpPr>
        <p:spPr>
          <a:xfrm>
            <a:off x="8313201" y="5571137"/>
            <a:ext cx="1343638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Төлөм планы</a:t>
            </a:r>
          </a:p>
          <a:p>
            <a:pPr algn="ctr"/>
            <a:r>
              <a:rPr lang="ru-RU" sz="1600" dirty="0"/>
              <a:t> баштапкы </a:t>
            </a:r>
          </a:p>
          <a:p>
            <a:pPr algn="ctr"/>
            <a:r>
              <a:rPr lang="ru-RU" sz="1600" dirty="0"/>
              <a:t>наркынан </a:t>
            </a:r>
          </a:p>
          <a:p>
            <a:pPr algn="ctr"/>
            <a:r>
              <a:rPr lang="ru-RU" sz="1600" dirty="0"/>
              <a:t>6% кымбат.</a:t>
            </a:r>
            <a:endParaRPr lang="en-GB" sz="16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8A31A5B-C7F1-4C8D-9A70-BBE61F386F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00996" y="1079211"/>
            <a:ext cx="408033" cy="40803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C74B17B-2D52-4C78-9D23-F982735B8E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98673" y="1074463"/>
            <a:ext cx="408033" cy="40803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FF37A4F-09AC-41F0-BC98-C991941AD0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500642" y="2418573"/>
            <a:ext cx="408033" cy="40803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C9150DC-E9BE-473C-8F9F-90E062A2438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9165" y="2418573"/>
            <a:ext cx="408033" cy="40803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A64764D-9B2B-4B6A-9901-23FFF6C25CA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60326" y="3706294"/>
            <a:ext cx="408033" cy="40803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424EE67D-29B8-45B1-9092-ECEF42B42B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27980" y="3706294"/>
            <a:ext cx="408033" cy="40803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22C2629-83A6-4DD1-82DC-0143ED6ED5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500642" y="6357527"/>
            <a:ext cx="408033" cy="40803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6FA1ACEE-99F3-43B8-BEFF-3DFC2AC3E6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60326" y="5060310"/>
            <a:ext cx="408033" cy="40803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E66CAFC6-51E5-4D78-8A54-E062269ADE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9165" y="5065058"/>
            <a:ext cx="408033" cy="40803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EFB80D6-8718-4908-A235-1AE91262517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27980" y="6352779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446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FA26ABAE-9E4D-5B24-2584-CCF558373364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598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FED9ABB-FCD4-BEB4-6387-1C14BE4215A9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34AE2-B437-B871-BA52-141541111DBE}"/>
              </a:ext>
            </a:extLst>
          </p:cNvPr>
          <p:cNvSpPr txBox="1"/>
          <p:nvPr/>
        </p:nvSpPr>
        <p:spPr>
          <a:xfrm>
            <a:off x="722659" y="-61546"/>
            <a:ext cx="8441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Тик бурчтукта продукт үчүн төлөм планы берилген. Боз тик бурчтуктардагы маалымат </a:t>
            </a:r>
            <a:r>
              <a:rPr lang="ky-KG" sz="1400" dirty="0">
                <a:solidFill>
                  <a:srgbClr val="FF0000"/>
                </a:solidFill>
              </a:rPr>
              <a:t>ТУУРАбы</a:t>
            </a:r>
            <a:r>
              <a:rPr lang="ky-KG" sz="1400" dirty="0"/>
              <a:t> же </a:t>
            </a:r>
            <a:r>
              <a:rPr lang="ky-KG" sz="1400" dirty="0">
                <a:solidFill>
                  <a:srgbClr val="FF0000"/>
                </a:solidFill>
              </a:rPr>
              <a:t>КАТАбы</a:t>
            </a:r>
            <a:r>
              <a:rPr lang="ky-KG" sz="1400" dirty="0"/>
              <a:t>?</a:t>
            </a:r>
            <a:endParaRPr lang="en-GB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95DA5-2183-1006-207E-EAAA5373C77E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60B7FC-0D13-C5C8-34C3-0809E730F5D4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57B426-6290-B6D2-1165-AD063D70DCCC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DAA2E6-1CF5-EBE8-0915-EBA1989BF9CA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FFEB6B-9C8F-72CB-0903-F2EB5F131431}"/>
              </a:ext>
            </a:extLst>
          </p:cNvPr>
          <p:cNvSpPr txBox="1"/>
          <p:nvPr/>
        </p:nvSpPr>
        <p:spPr>
          <a:xfrm>
            <a:off x="4901187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3D297A-A11A-24DF-033F-55A12C1C6FDB}"/>
              </a:ext>
            </a:extLst>
          </p:cNvPr>
          <p:cNvSpPr txBox="1"/>
          <p:nvPr/>
        </p:nvSpPr>
        <p:spPr>
          <a:xfrm>
            <a:off x="-1990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0FFC79-B5B1-058C-0021-3FA7189560E6}"/>
              </a:ext>
            </a:extLst>
          </p:cNvPr>
          <p:cNvSpPr txBox="1"/>
          <p:nvPr/>
        </p:nvSpPr>
        <p:spPr>
          <a:xfrm>
            <a:off x="4901187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68C450-4885-1B21-3F5D-4314FE7E4D58}"/>
              </a:ext>
            </a:extLst>
          </p:cNvPr>
          <p:cNvSpPr txBox="1"/>
          <p:nvPr/>
        </p:nvSpPr>
        <p:spPr>
          <a:xfrm>
            <a:off x="-1990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57FA78-8103-94A0-383D-866DF3973741}"/>
              </a:ext>
            </a:extLst>
          </p:cNvPr>
          <p:cNvSpPr txBox="1"/>
          <p:nvPr/>
        </p:nvSpPr>
        <p:spPr>
          <a:xfrm>
            <a:off x="4901187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AE4847-6009-12FD-05E9-B4280AD270D8}"/>
              </a:ext>
            </a:extLst>
          </p:cNvPr>
          <p:cNvSpPr txBox="1"/>
          <p:nvPr/>
        </p:nvSpPr>
        <p:spPr>
          <a:xfrm>
            <a:off x="117339" y="163732"/>
            <a:ext cx="3236142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Ноутбук: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Депозит: 9445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5000 сомдон  12 айлык төлөм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4EE716-A4BA-AFD2-86F0-808107B24EA3}"/>
              </a:ext>
            </a:extLst>
          </p:cNvPr>
          <p:cNvSpPr txBox="1"/>
          <p:nvPr/>
        </p:nvSpPr>
        <p:spPr>
          <a:xfrm>
            <a:off x="3291716" y="502133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69</a:t>
            </a:r>
            <a:r>
              <a:rPr lang="ky-KG" sz="1600" dirty="0"/>
              <a:t> </a:t>
            </a:r>
            <a:r>
              <a:rPr lang="en-GB" sz="1600" dirty="0"/>
              <a:t>44</a:t>
            </a:r>
            <a:r>
              <a:rPr lang="ky-KG" sz="1600" dirty="0"/>
              <a:t>5 сом</a:t>
            </a:r>
            <a:endParaRPr lang="en-GB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700F9B-B481-9821-8374-A915A5EC19F1}"/>
              </a:ext>
            </a:extLst>
          </p:cNvPr>
          <p:cNvSpPr txBox="1"/>
          <p:nvPr/>
        </p:nvSpPr>
        <p:spPr>
          <a:xfrm>
            <a:off x="4943237" y="1512680"/>
            <a:ext cx="352046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dirty="0"/>
              <a:t>Жаңы ашкана: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Депозит: 50 000 сом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6278 сомдон 36 ай сайын төлөм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95B67D-E188-4B3C-7194-04D4ED97D5D9}"/>
              </a:ext>
            </a:extLst>
          </p:cNvPr>
          <p:cNvSpPr txBox="1"/>
          <p:nvPr/>
        </p:nvSpPr>
        <p:spPr>
          <a:xfrm>
            <a:off x="8183587" y="1775657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Жалпы наркы </a:t>
            </a:r>
            <a:r>
              <a:rPr lang="en-GB" sz="1600" dirty="0"/>
              <a:t>= </a:t>
            </a:r>
          </a:p>
          <a:p>
            <a:pPr algn="ctr"/>
            <a:r>
              <a:rPr lang="en-GB" sz="1600" dirty="0"/>
              <a:t> 276 0</a:t>
            </a:r>
            <a:r>
              <a:rPr lang="ky-KG" sz="1600" dirty="0"/>
              <a:t>08 сом</a:t>
            </a:r>
            <a:endParaRPr lang="en-GB" sz="160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DDA7A94A-11AA-C0FE-5157-5C0D4CD21D5A}"/>
              </a:ext>
            </a:extLst>
          </p:cNvPr>
          <p:cNvSpPr txBox="1"/>
          <p:nvPr/>
        </p:nvSpPr>
        <p:spPr>
          <a:xfrm>
            <a:off x="5063995" y="184248"/>
            <a:ext cx="2967479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Телефон: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49 450 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1666  сом 24 ай бөлүп төлөө</a:t>
            </a:r>
            <a:endParaRPr lang="en-GB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C7ACC741-D6F3-2D8E-7975-9018D43F572F}"/>
              </a:ext>
            </a:extLst>
          </p:cNvPr>
          <p:cNvSpPr txBox="1"/>
          <p:nvPr/>
        </p:nvSpPr>
        <p:spPr>
          <a:xfrm>
            <a:off x="8463697" y="509565"/>
            <a:ext cx="102143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Аманат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8333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299B1CC4-D542-614D-7D81-094347DF7EDB}"/>
              </a:ext>
            </a:extLst>
          </p:cNvPr>
          <p:cNvSpPr txBox="1"/>
          <p:nvPr/>
        </p:nvSpPr>
        <p:spPr>
          <a:xfrm>
            <a:off x="204702" y="2832159"/>
            <a:ext cx="3061416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dirty="0"/>
              <a:t>Диван: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Жалпы баасы: 79 80</a:t>
            </a:r>
            <a:r>
              <a:rPr lang="en-US" dirty="0"/>
              <a:t>0 </a:t>
            </a:r>
            <a:r>
              <a:rPr lang="ky-KG" dirty="0"/>
              <a:t>сом</a:t>
            </a:r>
          </a:p>
          <a:p>
            <a:pPr algn="ctr">
              <a:lnSpc>
                <a:spcPct val="150000"/>
              </a:lnSpc>
            </a:pPr>
            <a:r>
              <a:rPr lang="ky-KG" dirty="0"/>
              <a:t>2570 сомдон 18 айлык төлөм</a:t>
            </a:r>
            <a:endParaRPr lang="en-GB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FC7246C-EF7E-62D1-4F17-828ABB8DEB9C}"/>
              </a:ext>
            </a:extLst>
          </p:cNvPr>
          <p:cNvSpPr txBox="1"/>
          <p:nvPr/>
        </p:nvSpPr>
        <p:spPr>
          <a:xfrm>
            <a:off x="3608894" y="3157476"/>
            <a:ext cx="110639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Депозит</a:t>
            </a:r>
            <a:r>
              <a:rPr lang="en-GB" sz="1600" dirty="0"/>
              <a:t> = </a:t>
            </a:r>
          </a:p>
          <a:p>
            <a:pPr algn="ctr"/>
            <a:r>
              <a:rPr lang="en-GB" sz="1600" dirty="0"/>
              <a:t>36 900</a:t>
            </a:r>
            <a:r>
              <a:rPr lang="ky-KG" sz="1600" dirty="0"/>
              <a:t/>
            </a:r>
            <a:endParaRPr lang="en-GB" sz="16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B1DBEF3B-EF87-207A-C6E4-4A37FAB029FA}"/>
              </a:ext>
            </a:extLst>
          </p:cNvPr>
          <p:cNvSpPr txBox="1"/>
          <p:nvPr/>
        </p:nvSpPr>
        <p:spPr>
          <a:xfrm>
            <a:off x="262147" y="1601237"/>
            <a:ext cx="26475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Велосипед:</a:t>
            </a:r>
          </a:p>
          <a:p>
            <a:pPr algn="ctr"/>
            <a:r>
              <a:rPr lang="ky-KG" dirty="0"/>
              <a:t>Жалпы баасы: 61 115 сом</a:t>
            </a:r>
          </a:p>
          <a:p>
            <a:pPr algn="ctr"/>
            <a:r>
              <a:rPr lang="ky-KG" dirty="0"/>
              <a:t>Депозит: 6667 сом</a:t>
            </a:r>
          </a:p>
          <a:p>
            <a:pPr algn="ctr"/>
            <a:r>
              <a:rPr lang="ky-KG" dirty="0"/>
              <a:t>20 айлык төлөм</a:t>
            </a:r>
            <a:endParaRPr lang="en-GB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5BB51CC2-C6B4-324D-BD62-0A7D97F5DFA3}"/>
              </a:ext>
            </a:extLst>
          </p:cNvPr>
          <p:cNvSpPr txBox="1"/>
          <p:nvPr/>
        </p:nvSpPr>
        <p:spPr>
          <a:xfrm>
            <a:off x="3165518" y="1847423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төлөм =</a:t>
            </a:r>
          </a:p>
          <a:p>
            <a:pPr algn="ctr"/>
            <a:r>
              <a:rPr lang="en-GB" sz="1600" dirty="0"/>
              <a:t>2</a:t>
            </a:r>
            <a:r>
              <a:rPr lang="ky-KG" sz="1600" dirty="0"/>
              <a:t> </a:t>
            </a:r>
            <a:r>
              <a:rPr lang="en-GB" sz="1600" dirty="0"/>
              <a:t>722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36E02E6D-C9D3-821F-E621-F891BEB7417C}"/>
              </a:ext>
            </a:extLst>
          </p:cNvPr>
          <p:cNvSpPr txBox="1"/>
          <p:nvPr/>
        </p:nvSpPr>
        <p:spPr>
          <a:xfrm>
            <a:off x="5171138" y="4175085"/>
            <a:ext cx="2647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Муздаткыч:</a:t>
            </a:r>
          </a:p>
          <a:p>
            <a:pPr algn="ctr"/>
            <a:r>
              <a:rPr lang="ky-KG" dirty="0"/>
              <a:t>Жалпы баасы: 44 596 сом</a:t>
            </a:r>
          </a:p>
          <a:p>
            <a:pPr algn="ctr"/>
            <a:r>
              <a:rPr lang="ky-KG" dirty="0"/>
              <a:t>Депозит: 16 430 сом</a:t>
            </a:r>
          </a:p>
          <a:p>
            <a:pPr algn="ctr"/>
            <a:r>
              <a:rPr lang="ky-KG" dirty="0"/>
              <a:t>6 айлык төлөм</a:t>
            </a:r>
            <a:endParaRPr lang="en-GB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25BB2CAC-A327-6279-0031-AE22C22B6B0C}"/>
              </a:ext>
            </a:extLst>
          </p:cNvPr>
          <p:cNvSpPr txBox="1"/>
          <p:nvPr/>
        </p:nvSpPr>
        <p:spPr>
          <a:xfrm>
            <a:off x="7948697" y="4449974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төлөм =</a:t>
            </a:r>
          </a:p>
          <a:p>
            <a:pPr algn="ctr"/>
            <a:r>
              <a:rPr lang="en-GB" sz="1600" dirty="0"/>
              <a:t>4694,30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3860BAF-6B0C-C028-6F38-50D3AB2D4044}"/>
              </a:ext>
            </a:extLst>
          </p:cNvPr>
          <p:cNvSpPr txBox="1"/>
          <p:nvPr/>
        </p:nvSpPr>
        <p:spPr>
          <a:xfrm>
            <a:off x="5077295" y="2891652"/>
            <a:ext cx="27061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Электро скутер:</a:t>
            </a:r>
          </a:p>
          <a:p>
            <a:pPr algn="ctr"/>
            <a:r>
              <a:rPr lang="ky-KG" dirty="0"/>
              <a:t>Жалпы баасы: 87 179 сом</a:t>
            </a:r>
          </a:p>
          <a:p>
            <a:pPr algn="ctr"/>
            <a:r>
              <a:rPr lang="ky-KG" dirty="0"/>
              <a:t>Депозит: 25 706 сом</a:t>
            </a:r>
          </a:p>
          <a:p>
            <a:pPr algn="ctr"/>
            <a:r>
              <a:rPr lang="ky-KG" dirty="0"/>
              <a:t>2795 сом ай сайын төлөө</a:t>
            </a:r>
            <a:endParaRPr lang="en-GB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DBE8027E-B24B-5698-0DDD-9B5A7B78B644}"/>
              </a:ext>
            </a:extLst>
          </p:cNvPr>
          <p:cNvSpPr txBox="1"/>
          <p:nvPr/>
        </p:nvSpPr>
        <p:spPr>
          <a:xfrm>
            <a:off x="7884580" y="3330403"/>
            <a:ext cx="1646605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2 жылдык төлөм</a:t>
            </a:r>
            <a:endParaRPr lang="en-GB" sz="160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BA6AB1BB-AA79-1B71-A0A2-D6C599A7997C}"/>
              </a:ext>
            </a:extLst>
          </p:cNvPr>
          <p:cNvSpPr txBox="1"/>
          <p:nvPr/>
        </p:nvSpPr>
        <p:spPr>
          <a:xfrm>
            <a:off x="275650" y="5559170"/>
            <a:ext cx="27646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Машина:</a:t>
            </a:r>
          </a:p>
          <a:p>
            <a:pPr algn="ctr"/>
            <a:r>
              <a:rPr lang="ky-KG" dirty="0"/>
              <a:t>Жалпы баасы: 724 488 сом</a:t>
            </a:r>
          </a:p>
          <a:p>
            <a:pPr algn="ctr"/>
            <a:r>
              <a:rPr lang="ky-KG" dirty="0"/>
              <a:t>Депозит: 139 712 сом</a:t>
            </a:r>
          </a:p>
          <a:p>
            <a:pPr algn="ctr"/>
            <a:r>
              <a:rPr lang="ky-KG" dirty="0"/>
              <a:t>12 183 сом айлык төлөм</a:t>
            </a:r>
            <a:endParaRPr lang="en-GB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8BCF1290-C795-8EC2-8EB5-4963B389C51E}"/>
              </a:ext>
            </a:extLst>
          </p:cNvPr>
          <p:cNvSpPr txBox="1"/>
          <p:nvPr/>
        </p:nvSpPr>
        <p:spPr>
          <a:xfrm>
            <a:off x="3077918" y="5968619"/>
            <a:ext cx="1513556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48 бөлүп төлөө</a:t>
            </a:r>
            <a:endParaRPr lang="en-GB" sz="16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FA0484E-280A-2511-1C4F-5FB04B879A5F}"/>
              </a:ext>
            </a:extLst>
          </p:cNvPr>
          <p:cNvSpPr txBox="1"/>
          <p:nvPr/>
        </p:nvSpPr>
        <p:spPr>
          <a:xfrm>
            <a:off x="125054" y="4072749"/>
            <a:ext cx="27366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dirty="0"/>
              <a:t>ПК</a:t>
            </a:r>
            <a:r>
              <a:rPr lang="ru-RU" dirty="0"/>
              <a:t>:</a:t>
            </a:r>
          </a:p>
          <a:p>
            <a:pPr algn="ctr"/>
            <a:r>
              <a:rPr lang="ru-RU" dirty="0"/>
              <a:t>Баасы = 62 590 сом</a:t>
            </a:r>
          </a:p>
          <a:p>
            <a:pPr algn="ctr"/>
            <a:r>
              <a:rPr lang="ru-RU" dirty="0"/>
              <a:t>ЖЕ Депозит 12 294 сом</a:t>
            </a:r>
          </a:p>
          <a:p>
            <a:pPr algn="ctr"/>
            <a:r>
              <a:rPr lang="ru-RU" dirty="0"/>
              <a:t>&amp; 3911 сомдон 14 </a:t>
            </a:r>
            <a:r>
              <a:rPr lang="ky-KG" dirty="0"/>
              <a:t>айлык төлөм</a:t>
            </a:r>
            <a:endParaRPr lang="en-GB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DEE629F3-C274-8522-A8AD-7104C413FCEB}"/>
              </a:ext>
            </a:extLst>
          </p:cNvPr>
          <p:cNvSpPr txBox="1"/>
          <p:nvPr/>
        </p:nvSpPr>
        <p:spPr>
          <a:xfrm>
            <a:off x="2855840" y="4201366"/>
            <a:ext cx="2010487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Төлөө планы </a:t>
            </a:r>
          </a:p>
          <a:p>
            <a:pPr algn="ctr"/>
            <a:r>
              <a:rPr lang="ru-RU" sz="1600" dirty="0"/>
              <a:t>баштапкы наркынан </a:t>
            </a:r>
          </a:p>
          <a:p>
            <a:pPr algn="ctr"/>
            <a:r>
              <a:rPr lang="ru-RU" sz="1600" dirty="0"/>
              <a:t>6706 сомго</a:t>
            </a:r>
          </a:p>
          <a:p>
            <a:pPr algn="ctr"/>
            <a:r>
              <a:rPr lang="ru-RU" sz="1600" dirty="0"/>
              <a:t>кымбатыраак.</a:t>
            </a:r>
            <a:endParaRPr lang="en-GB" sz="1600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D6A607B-3B9F-6A87-916E-EE20FA49ED9A}"/>
              </a:ext>
            </a:extLst>
          </p:cNvPr>
          <p:cNvSpPr txBox="1"/>
          <p:nvPr/>
        </p:nvSpPr>
        <p:spPr>
          <a:xfrm>
            <a:off x="4973574" y="5605219"/>
            <a:ext cx="32672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Мотоцикл:</a:t>
            </a:r>
          </a:p>
          <a:p>
            <a:pPr algn="ctr"/>
            <a:r>
              <a:rPr lang="ru-RU" dirty="0"/>
              <a:t>Баасы = 458 253 сом</a:t>
            </a:r>
          </a:p>
          <a:p>
            <a:pPr algn="ctr"/>
            <a:r>
              <a:rPr lang="ru-RU" dirty="0"/>
              <a:t>ЖЕ Депозит: 98 356 сом</a:t>
            </a:r>
          </a:p>
          <a:p>
            <a:pPr algn="ctr"/>
            <a:r>
              <a:rPr lang="ru-RU" dirty="0"/>
              <a:t>&amp; 16 542 сом 24 ай сайын төлөө</a:t>
            </a:r>
            <a:endParaRPr lang="en-GB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714FEF38-8F01-B1B4-2131-4DCA10CEBB94}"/>
              </a:ext>
            </a:extLst>
          </p:cNvPr>
          <p:cNvSpPr txBox="1"/>
          <p:nvPr/>
        </p:nvSpPr>
        <p:spPr>
          <a:xfrm>
            <a:off x="8313201" y="5571137"/>
            <a:ext cx="1343638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Төлөм планы</a:t>
            </a:r>
          </a:p>
          <a:p>
            <a:pPr algn="ctr"/>
            <a:r>
              <a:rPr lang="ru-RU" sz="1600" dirty="0"/>
              <a:t> баштапкы </a:t>
            </a:r>
          </a:p>
          <a:p>
            <a:pPr algn="ctr"/>
            <a:r>
              <a:rPr lang="ru-RU" sz="1600" dirty="0"/>
              <a:t>наркынан </a:t>
            </a:r>
          </a:p>
          <a:p>
            <a:pPr algn="ctr"/>
            <a:r>
              <a:rPr lang="ru-RU" sz="1600" dirty="0"/>
              <a:t>6% кымбат.</a:t>
            </a:r>
            <a:endParaRPr lang="en-GB" sz="16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8A31A5B-C7F1-4C8D-9A70-BBE61F386F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00996" y="1079211"/>
            <a:ext cx="408033" cy="40803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C74B17B-2D52-4C78-9D23-F982735B8E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98673" y="1074463"/>
            <a:ext cx="408033" cy="40803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FF37A4F-09AC-41F0-BC98-C991941AD0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500642" y="2418573"/>
            <a:ext cx="408033" cy="40803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C9150DC-E9BE-473C-8F9F-90E062A2438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9165" y="2418573"/>
            <a:ext cx="408033" cy="40803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A64764D-9B2B-4B6A-9901-23FFF6C25CA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60326" y="3706294"/>
            <a:ext cx="408033" cy="40803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424EE67D-29B8-45B1-9092-ECEF42B42B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27980" y="3706294"/>
            <a:ext cx="408033" cy="40803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22C2629-83A6-4DD1-82DC-0143ED6ED5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500642" y="6357527"/>
            <a:ext cx="408033" cy="40803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6FA1ACEE-99F3-43B8-BEFF-3DFC2AC3E6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60326" y="5060310"/>
            <a:ext cx="408033" cy="40803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E66CAFC6-51E5-4D78-8A54-E062269ADE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9165" y="5065058"/>
            <a:ext cx="408033" cy="40803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EFB80D6-8718-4908-A235-1AE91262517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27980" y="6352779"/>
            <a:ext cx="408033" cy="408033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F7CAEC6-15E6-437C-8BAC-C98159D8352D}"/>
              </a:ext>
            </a:extLst>
          </p:cNvPr>
          <p:cNvSpPr txBox="1"/>
          <p:nvPr/>
        </p:nvSpPr>
        <p:spPr>
          <a:xfrm>
            <a:off x="3586479" y="3720184"/>
            <a:ext cx="1133645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33</a:t>
            </a:r>
            <a:r>
              <a:rPr lang="ky-KG" sz="1600" dirty="0"/>
              <a:t> </a:t>
            </a:r>
            <a:r>
              <a:rPr lang="en-GB" sz="1600" dirty="0"/>
              <a:t>540</a:t>
            </a:r>
            <a:r>
              <a:rPr lang="ky-KG" sz="1600" dirty="0"/>
              <a:t> сом</a:t>
            </a:r>
            <a:endParaRPr lang="en-GB" sz="16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E147C6B-5C74-4A16-956B-0555DE433069}"/>
              </a:ext>
            </a:extLst>
          </p:cNvPr>
          <p:cNvSpPr txBox="1"/>
          <p:nvPr/>
        </p:nvSpPr>
        <p:spPr>
          <a:xfrm>
            <a:off x="8334127" y="3764146"/>
            <a:ext cx="694422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22</a:t>
            </a:r>
            <a:r>
              <a:rPr lang="ky-KG" sz="1600" dirty="0"/>
              <a:t> ай </a:t>
            </a:r>
            <a:endParaRPr lang="en-GB" sz="16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EC7615C-C353-4129-AF1B-97095FDD1F6A}"/>
              </a:ext>
            </a:extLst>
          </p:cNvPr>
          <p:cNvSpPr txBox="1"/>
          <p:nvPr/>
        </p:nvSpPr>
        <p:spPr>
          <a:xfrm>
            <a:off x="3547977" y="5074200"/>
            <a:ext cx="647934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4</a:t>
            </a:r>
            <a:r>
              <a:rPr lang="ky-KG" sz="1600" dirty="0"/>
              <a:t> </a:t>
            </a:r>
            <a:r>
              <a:rPr lang="en-GB" sz="1600" dirty="0"/>
              <a:t>458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4090927-D438-4E70-A42C-1FD2E377AB74}"/>
              </a:ext>
            </a:extLst>
          </p:cNvPr>
          <p:cNvSpPr txBox="1"/>
          <p:nvPr/>
        </p:nvSpPr>
        <p:spPr>
          <a:xfrm>
            <a:off x="9129486" y="6427396"/>
            <a:ext cx="591830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8,1%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1174F94-2737-4387-B03F-DD01F0EB4F45}"/>
              </a:ext>
            </a:extLst>
          </p:cNvPr>
          <p:cNvSpPr txBox="1"/>
          <p:nvPr/>
        </p:nvSpPr>
        <p:spPr>
          <a:xfrm>
            <a:off x="8486067" y="1059046"/>
            <a:ext cx="1029449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9 466 сом</a:t>
            </a:r>
            <a:endParaRPr lang="en-GB" sz="16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9DF473-D9A0-4184-9984-7A099CE49A48}"/>
              </a:ext>
            </a:extLst>
          </p:cNvPr>
          <p:cNvSpPr txBox="1"/>
          <p:nvPr/>
        </p:nvSpPr>
        <p:spPr>
          <a:xfrm>
            <a:off x="8133217" y="6419423"/>
            <a:ext cx="902811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495</a:t>
            </a:r>
            <a:r>
              <a:rPr lang="ky-KG" sz="1600" dirty="0"/>
              <a:t> </a:t>
            </a:r>
            <a:r>
              <a:rPr lang="en-GB" sz="1600" dirty="0"/>
              <a:t>364</a:t>
            </a:r>
            <a:r>
              <a:rPr lang="ky-KG" sz="1600" dirty="0"/>
              <a:t> 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682734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598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88E44BA-8734-41BD-999F-9B56202BB2A6}"/>
              </a:ext>
            </a:extLst>
          </p:cNvPr>
          <p:cNvSpPr txBox="1"/>
          <p:nvPr/>
        </p:nvSpPr>
        <p:spPr>
          <a:xfrm>
            <a:off x="722659" y="-61546"/>
            <a:ext cx="8441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Тик бурчтукта продукт үчүн төлөм планы берилген. Боз тик бурчтуктардагы маалымат </a:t>
            </a: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ТУУРАбы</a:t>
            </a: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же </a:t>
            </a: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КАТАбы</a:t>
            </a: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Е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Й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17339" y="163732"/>
            <a:ext cx="3236142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Ноутбук: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Депозит: 9445 сом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5000 сомдон  12 айлык төлөм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3D7407-BD0E-478D-A6DE-2D67D4A4122D}"/>
              </a:ext>
            </a:extLst>
          </p:cNvPr>
          <p:cNvSpPr txBox="1"/>
          <p:nvPr/>
        </p:nvSpPr>
        <p:spPr>
          <a:xfrm>
            <a:off x="3291716" y="502133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наркы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69 44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сом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E321E9-83ED-407E-991E-D73F89EC42B2}"/>
              </a:ext>
            </a:extLst>
          </p:cNvPr>
          <p:cNvSpPr txBox="1"/>
          <p:nvPr/>
        </p:nvSpPr>
        <p:spPr>
          <a:xfrm>
            <a:off x="4943237" y="1512680"/>
            <a:ext cx="352046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Жаңы ашкана: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Депозит: 50 000 сом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6278 сомдон 36 ай сайын төлөм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6E83EF-4F4C-4196-B1A5-0D397FE18B79}"/>
              </a:ext>
            </a:extLst>
          </p:cNvPr>
          <p:cNvSpPr txBox="1"/>
          <p:nvPr/>
        </p:nvSpPr>
        <p:spPr>
          <a:xfrm>
            <a:off x="8183587" y="1775657"/>
            <a:ext cx="1581651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наркы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276 0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08 сом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DEDE52-1C60-4F09-BD44-8FFF25407205}"/>
              </a:ext>
            </a:extLst>
          </p:cNvPr>
          <p:cNvSpPr txBox="1"/>
          <p:nvPr/>
        </p:nvSpPr>
        <p:spPr>
          <a:xfrm>
            <a:off x="5063995" y="184248"/>
            <a:ext cx="2967479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Телефон: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баасы: 49 450 сом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1666  сом 24 ай бөлүп төлөө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6AD429-F76E-4120-A83E-E64D87D39AC9}"/>
              </a:ext>
            </a:extLst>
          </p:cNvPr>
          <p:cNvSpPr txBox="1"/>
          <p:nvPr/>
        </p:nvSpPr>
        <p:spPr>
          <a:xfrm>
            <a:off x="8463697" y="509565"/>
            <a:ext cx="102143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Аманат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8333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сом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F74676-7B9C-4AE0-9013-99343C6B48B0}"/>
              </a:ext>
            </a:extLst>
          </p:cNvPr>
          <p:cNvSpPr txBox="1"/>
          <p:nvPr/>
        </p:nvSpPr>
        <p:spPr>
          <a:xfrm>
            <a:off x="204702" y="2832159"/>
            <a:ext cx="3061416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Диван: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баасы: 79 80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сом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2570 сомдон 18 айлык төлөм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8B3D6C-531D-4BE1-9031-033A60CADAA6}"/>
              </a:ext>
            </a:extLst>
          </p:cNvPr>
          <p:cNvSpPr txBox="1"/>
          <p:nvPr/>
        </p:nvSpPr>
        <p:spPr>
          <a:xfrm>
            <a:off x="3608894" y="3157476"/>
            <a:ext cx="1106393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Депозит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36 900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59A496-BFDC-4A68-9522-B2330B298FB6}"/>
              </a:ext>
            </a:extLst>
          </p:cNvPr>
          <p:cNvSpPr txBox="1"/>
          <p:nvPr/>
        </p:nvSpPr>
        <p:spPr>
          <a:xfrm>
            <a:off x="262147" y="1601237"/>
            <a:ext cx="26475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Велосипед: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баасы: 61 115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Депозит: 6667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айлык төлөм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87CB92-5FF7-49E5-BE8E-4E93531BCCC3}"/>
              </a:ext>
            </a:extLst>
          </p:cNvPr>
          <p:cNvSpPr txBox="1"/>
          <p:nvPr/>
        </p:nvSpPr>
        <p:spPr>
          <a:xfrm>
            <a:off x="3165518" y="1847423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төлөм =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2722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сом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6EC3D0-ED57-4343-87E8-83131A539FC7}"/>
              </a:ext>
            </a:extLst>
          </p:cNvPr>
          <p:cNvSpPr txBox="1"/>
          <p:nvPr/>
        </p:nvSpPr>
        <p:spPr>
          <a:xfrm>
            <a:off x="5171138" y="4175085"/>
            <a:ext cx="2647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Муздаткыч: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баасы: 44 596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Депозит: 16 430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айлык төлөм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219F36-861E-499E-AB8B-BACCA4FA85E7}"/>
              </a:ext>
            </a:extLst>
          </p:cNvPr>
          <p:cNvSpPr txBox="1"/>
          <p:nvPr/>
        </p:nvSpPr>
        <p:spPr>
          <a:xfrm>
            <a:off x="7948697" y="4449974"/>
            <a:ext cx="1518364" cy="58477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төлөм =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4694,30</a:t>
            </a: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сом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CC4CA9-4952-47F7-8707-1C8D267F5D9F}"/>
              </a:ext>
            </a:extLst>
          </p:cNvPr>
          <p:cNvSpPr txBox="1"/>
          <p:nvPr/>
        </p:nvSpPr>
        <p:spPr>
          <a:xfrm>
            <a:off x="5077295" y="2891652"/>
            <a:ext cx="27061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Электро скутер: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баасы: 87 179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Депозит: 25 706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2795 сом ай сайын төлөө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B2E054-C84D-4850-A9B7-C5A3F53AD281}"/>
              </a:ext>
            </a:extLst>
          </p:cNvPr>
          <p:cNvSpPr txBox="1"/>
          <p:nvPr/>
        </p:nvSpPr>
        <p:spPr>
          <a:xfrm>
            <a:off x="7884580" y="3330403"/>
            <a:ext cx="1646605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жылдык төлөм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0A8BC67-C7E4-4559-A29B-ECB1CE66A690}"/>
              </a:ext>
            </a:extLst>
          </p:cNvPr>
          <p:cNvSpPr txBox="1"/>
          <p:nvPr/>
        </p:nvSpPr>
        <p:spPr>
          <a:xfrm>
            <a:off x="275650" y="5559170"/>
            <a:ext cx="27646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Машина: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Жалпы баасы: 724 488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Депозит: 139 712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12 183 сом айлык төлөм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963338-EB44-48E4-95A1-174D76888FC8}"/>
              </a:ext>
            </a:extLst>
          </p:cNvPr>
          <p:cNvSpPr txBox="1"/>
          <p:nvPr/>
        </p:nvSpPr>
        <p:spPr>
          <a:xfrm>
            <a:off x="3077918" y="5968619"/>
            <a:ext cx="1513556" cy="338554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48 бөлүп төлөө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A6274E-99A5-409B-B378-0320041E81D1}"/>
              </a:ext>
            </a:extLst>
          </p:cNvPr>
          <p:cNvSpPr txBox="1"/>
          <p:nvPr/>
        </p:nvSpPr>
        <p:spPr>
          <a:xfrm>
            <a:off x="125054" y="4072749"/>
            <a:ext cx="27366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ПК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Баасы = 62 590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 Депозит 12 294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&amp; 3911 сомдон 14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айлык төлөм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318413-832C-4133-9EEA-660945CF4C6B}"/>
              </a:ext>
            </a:extLst>
          </p:cNvPr>
          <p:cNvSpPr txBox="1"/>
          <p:nvPr/>
        </p:nvSpPr>
        <p:spPr>
          <a:xfrm>
            <a:off x="2855840" y="4201366"/>
            <a:ext cx="2010487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Төлөө планы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баштапкы наркынан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6706 сомго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кымбатыраак.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21AEB4-90C3-46B5-A626-AA486DB3E0E2}"/>
              </a:ext>
            </a:extLst>
          </p:cNvPr>
          <p:cNvSpPr txBox="1"/>
          <p:nvPr/>
        </p:nvSpPr>
        <p:spPr>
          <a:xfrm>
            <a:off x="4973574" y="5605219"/>
            <a:ext cx="32672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Мотоцикл: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Баасы = 458 253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 Депозит: 98 356 сом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&amp; 16 542 сом 24 ай сайын төлөө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435191-5982-43CB-97E5-637621C54EEE}"/>
              </a:ext>
            </a:extLst>
          </p:cNvPr>
          <p:cNvSpPr txBox="1"/>
          <p:nvPr/>
        </p:nvSpPr>
        <p:spPr>
          <a:xfrm>
            <a:off x="8313201" y="5571137"/>
            <a:ext cx="1343638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Төлөм планы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баштапкы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наркынан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6% кымбат.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178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2AE3BA-BC58-40A1-D271-38D034136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99977" y="1001538"/>
            <a:ext cx="6856437" cy="48564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0A1377-0D9C-9EBF-EC5F-317503BD4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49540" y="999976"/>
            <a:ext cx="6856437" cy="485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342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471B42-073C-90A5-9F79-0BB726C71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3" y="1"/>
            <a:ext cx="4878037" cy="33426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13396D-4DB7-FB28-4D24-DCC825861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"/>
            <a:ext cx="4878037" cy="33426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21BD32-5A18-52AE-E462-74C0B8DA4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3" y="3515360"/>
            <a:ext cx="4878037" cy="33324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515118-D8CD-816C-DB12-BEDC67185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515360"/>
            <a:ext cx="4878037" cy="333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58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480" y="660400"/>
            <a:ext cx="9337040" cy="61264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b="0" i="0" dirty="0" err="1">
                <a:solidFill>
                  <a:srgbClr val="FF0000"/>
                </a:solidFill>
                <a:effectLst/>
                <a:latin typeface="Google Sans"/>
              </a:rPr>
              <a:t>mathematicskgz@gmail.com</a:t>
            </a:r>
            <a:r>
              <a:rPr lang="en-US" dirty="0" err="1">
                <a:solidFill>
                  <a:srgbClr val="FF0000"/>
                </a:solidFill>
              </a:rPr>
              <a:t>@gmail.com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10847</TotalTime>
  <Words>1127</Words>
  <Application>Microsoft Office PowerPoint</Application>
  <PresentationFormat>A4 Paper (210x297 mm)</PresentationFormat>
  <Paragraphs>341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 Light</vt:lpstr>
      <vt:lpstr>Calibri</vt:lpstr>
      <vt:lpstr>Google Sans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507</cp:revision>
  <cp:lastPrinted>2024-09-16T14:56:14Z</cp:lastPrinted>
  <dcterms:created xsi:type="dcterms:W3CDTF">2017-01-17T16:57:04Z</dcterms:created>
  <dcterms:modified xsi:type="dcterms:W3CDTF">2024-09-16T14:56:49Z</dcterms:modified>
</cp:coreProperties>
</file>