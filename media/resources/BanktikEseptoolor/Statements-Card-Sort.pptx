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848" r:id="rId2"/>
    <p:sldId id="902" r:id="rId3"/>
    <p:sldId id="954" r:id="rId4"/>
    <p:sldId id="952" r:id="rId5"/>
    <p:sldId id="953" r:id="rId6"/>
    <p:sldId id="955" r:id="rId7"/>
    <p:sldId id="956" r:id="rId8"/>
    <p:sldId id="957" r:id="rId9"/>
    <p:sldId id="938" r:id="rId10"/>
  </p:sldIdLst>
  <p:sldSz cx="9906000" cy="6858000" type="A4"/>
  <p:notesSz cx="7104063" cy="10234613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  <p14:sldId id="902"/>
          </p14:sldIdLst>
        </p14:section>
        <p14:section name="To Display" id="{059544AC-2C27-45B1-9F95-F87DF8854DD6}">
          <p14:sldIdLst>
            <p14:sldId id="954"/>
          </p14:sldIdLst>
        </p14:section>
        <p14:section name="Answers" id="{1FEDB314-42DC-4694-9B04-D4A4AAE625F7}">
          <p14:sldIdLst>
            <p14:sldId id="952"/>
            <p14:sldId id="953"/>
          </p14:sldIdLst>
        </p14:section>
        <p14:section name="Cards" id="{A78D9305-6AAE-4715-A210-52F6908F30F7}">
          <p14:sldIdLst>
            <p14:sldId id="955"/>
            <p14:sldId id="956"/>
            <p14:sldId id="957"/>
          </p14:sldIdLst>
        </p14:section>
        <p14:section name="goteachmaths" id="{F3D720CF-F566-46A6-9361-125255B68FA6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6" d="100"/>
          <a:sy n="66" d="100"/>
        </p:scale>
        <p:origin x="1954" y="52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13/05/2021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335AA3-462A-4907-9555-95B0B0296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Statements – Card Sort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Students need to sort the set of cards in different configurations.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no definite answers, students could justify 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debits or credits in many different ways.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cards are in 3 sizes.</a:t>
            </a: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764972C-63BF-4B84-AFB8-EC29F85A8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210472" y="2126321"/>
            <a:ext cx="753322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handouts from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the slide from the left.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Current Slide’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multiple slides -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a section title to highlight all those slides,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press ‘Ctrl’ at the same time as selecting slides to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more than one. Then click: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 &gt; Print &gt; ‘Print Selection’</a:t>
            </a:r>
          </a:p>
          <a:p>
            <a:pPr defTabSz="478226">
              <a:defRPr/>
            </a:pPr>
            <a:endParaRPr lang="en-GB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print double-sided handouts - 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Highlight both slides before using ‘Print Selection’.</a:t>
            </a:r>
          </a:p>
          <a:p>
            <a:pPr defTabSz="478226">
              <a:defRPr/>
            </a:pPr>
            <a:r>
              <a:rPr lang="en-GB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‘Print on Both Sides’ and ‘Flip on Short Edge’.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0E7C82-8B5E-40B3-ACD5-C80DE8EEE855}"/>
              </a:ext>
            </a:extLst>
          </p:cNvPr>
          <p:cNvSpPr/>
          <p:nvPr/>
        </p:nvSpPr>
        <p:spPr>
          <a:xfrm>
            <a:off x="3469037" y="690999"/>
            <a:ext cx="296792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</a:t>
            </a:r>
            <a:endParaRPr lang="en-GB" sz="20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437FD-9F4F-41EA-9412-DE68150C21BC}"/>
              </a:ext>
            </a:extLst>
          </p:cNvPr>
          <p:cNvGrpSpPr/>
          <p:nvPr/>
        </p:nvGrpSpPr>
        <p:grpSpPr>
          <a:xfrm>
            <a:off x="6430519" y="1091109"/>
            <a:ext cx="2148777" cy="2336014"/>
            <a:chOff x="5766924" y="1696481"/>
            <a:chExt cx="1560068" cy="169600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41B48E-065D-4605-9C37-9A365330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6924" y="1696481"/>
              <a:ext cx="1560068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7690C48-9FE4-4CD3-8FC0-81048646B450}"/>
                </a:ext>
              </a:extLst>
            </p:cNvPr>
            <p:cNvSpPr/>
            <p:nvPr/>
          </p:nvSpPr>
          <p:spPr>
            <a:xfrm>
              <a:off x="5799596" y="1889392"/>
              <a:ext cx="150495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F016330-9855-487E-807A-58F9FF452F39}"/>
              </a:ext>
            </a:extLst>
          </p:cNvPr>
          <p:cNvGrpSpPr/>
          <p:nvPr/>
        </p:nvGrpSpPr>
        <p:grpSpPr>
          <a:xfrm>
            <a:off x="6475520" y="3704167"/>
            <a:ext cx="2166608" cy="2336014"/>
            <a:chOff x="6882074" y="3455150"/>
            <a:chExt cx="1573014" cy="169600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C6297CB-DBE1-4C5F-8A88-6B185EEC6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82074" y="3455150"/>
              <a:ext cx="1573014" cy="1696007"/>
            </a:xfrm>
            <a:prstGeom prst="rect">
              <a:avLst/>
            </a:prstGeom>
            <a:effectLst>
              <a:outerShdw blurRad="50800" dist="1397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1F335E3-CEC2-4B3A-8F8E-3B4AAAF83BE2}"/>
                </a:ext>
              </a:extLst>
            </p:cNvPr>
            <p:cNvSpPr/>
            <p:nvPr/>
          </p:nvSpPr>
          <p:spPr>
            <a:xfrm>
              <a:off x="6917196" y="3652023"/>
              <a:ext cx="1498600" cy="2868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766360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9" y="681318"/>
          <a:ext cx="9829800" cy="611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580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580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580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580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AC3CBD-17A9-4400-B08C-23C55AF7CD64}"/>
              </a:ext>
            </a:extLst>
          </p:cNvPr>
          <p:cNvSpPr txBox="1"/>
          <p:nvPr/>
        </p:nvSpPr>
        <p:spPr>
          <a:xfrm>
            <a:off x="327842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A45C0-0850-4DD7-BAC2-1470ADA1313E}"/>
              </a:ext>
            </a:extLst>
          </p:cNvPr>
          <p:cNvSpPr txBox="1"/>
          <p:nvPr/>
        </p:nvSpPr>
        <p:spPr>
          <a:xfrm>
            <a:off x="327842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BA886-43C1-4E31-9CEA-1C18443715BC}"/>
              </a:ext>
            </a:extLst>
          </p:cNvPr>
          <p:cNvSpPr txBox="1"/>
          <p:nvPr/>
        </p:nvSpPr>
        <p:spPr>
          <a:xfrm>
            <a:off x="327842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5C13BD-FF98-4253-93B1-26C9B1AE606E}"/>
              </a:ext>
            </a:extLst>
          </p:cNvPr>
          <p:cNvSpPr txBox="1"/>
          <p:nvPr/>
        </p:nvSpPr>
        <p:spPr>
          <a:xfrm>
            <a:off x="327842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BB4A4-0CE8-4913-ACF2-F32423F4CFB4}"/>
              </a:ext>
            </a:extLst>
          </p:cNvPr>
          <p:cNvSpPr txBox="1"/>
          <p:nvPr/>
        </p:nvSpPr>
        <p:spPr>
          <a:xfrm>
            <a:off x="6549158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A4F2C3-F5AC-447D-BFB0-57A2CFB2B860}"/>
              </a:ext>
            </a:extLst>
          </p:cNvPr>
          <p:cNvSpPr txBox="1"/>
          <p:nvPr/>
        </p:nvSpPr>
        <p:spPr>
          <a:xfrm>
            <a:off x="6549158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418E3F-8DA0-43E4-8F65-AB3BAAFE67CD}"/>
              </a:ext>
            </a:extLst>
          </p:cNvPr>
          <p:cNvSpPr txBox="1"/>
          <p:nvPr/>
        </p:nvSpPr>
        <p:spPr>
          <a:xfrm>
            <a:off x="6549158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B4D498-024F-4DBC-AD84-7E6514B7FE66}"/>
              </a:ext>
            </a:extLst>
          </p:cNvPr>
          <p:cNvSpPr txBox="1"/>
          <p:nvPr/>
        </p:nvSpPr>
        <p:spPr>
          <a:xfrm>
            <a:off x="6549158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5DCA0-35CF-4048-BDA1-074798DA049A}"/>
              </a:ext>
            </a:extLst>
          </p:cNvPr>
          <p:cNvSpPr txBox="1"/>
          <p:nvPr/>
        </p:nvSpPr>
        <p:spPr>
          <a:xfrm>
            <a:off x="458276" y="1141047"/>
            <a:ext cx="2330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ATM: Woodham Green</a:t>
            </a:r>
          </a:p>
          <a:p>
            <a:pPr algn="ctr"/>
            <a:r>
              <a:rPr lang="en-GB" dirty="0"/>
              <a:t>£50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EB32B-427A-4B12-94AC-B6B524406F72}"/>
              </a:ext>
            </a:extLst>
          </p:cNvPr>
          <p:cNvSpPr txBox="1"/>
          <p:nvPr/>
        </p:nvSpPr>
        <p:spPr>
          <a:xfrm>
            <a:off x="1584281" y="-61546"/>
            <a:ext cx="6717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All these cards are items on a monthly bank statement. Sort them into </a:t>
            </a:r>
            <a:r>
              <a:rPr lang="en-GB" sz="1400" b="1" dirty="0"/>
              <a:t>CREDITS </a:t>
            </a:r>
            <a:r>
              <a:rPr lang="en-GB" sz="1400" dirty="0"/>
              <a:t>&amp;</a:t>
            </a:r>
            <a:r>
              <a:rPr lang="en-GB" sz="1400" b="1" dirty="0"/>
              <a:t> DEBITS</a:t>
            </a:r>
            <a:r>
              <a:rPr lang="en-GB" sz="1400" dirty="0"/>
              <a:t>.</a:t>
            </a:r>
            <a:r>
              <a:rPr lang="en-GB" sz="1400" b="1" dirty="0"/>
              <a:t> </a:t>
            </a:r>
          </a:p>
          <a:p>
            <a:pPr algn="ctr"/>
            <a:r>
              <a:rPr lang="en-GB" sz="1400" dirty="0"/>
              <a:t>If someone had a </a:t>
            </a:r>
            <a:r>
              <a:rPr lang="en-GB" sz="1400" b="1" dirty="0"/>
              <a:t>£500 starting balance </a:t>
            </a:r>
            <a:r>
              <a:rPr lang="en-GB" sz="1400" dirty="0"/>
              <a:t>at the beginning of the month, </a:t>
            </a:r>
          </a:p>
          <a:p>
            <a:pPr algn="ctr"/>
            <a:r>
              <a:rPr lang="en-GB" sz="1400" dirty="0"/>
              <a:t>what is the </a:t>
            </a:r>
            <a:r>
              <a:rPr lang="en-GB" sz="1400" b="1" dirty="0"/>
              <a:t>maximum</a:t>
            </a:r>
            <a:r>
              <a:rPr lang="en-GB" sz="1400" dirty="0"/>
              <a:t> or </a:t>
            </a:r>
            <a:r>
              <a:rPr lang="en-GB" sz="1400" b="1" dirty="0"/>
              <a:t>minimum</a:t>
            </a:r>
            <a:r>
              <a:rPr lang="en-GB" sz="1400" dirty="0"/>
              <a:t> they could have at the end of the month?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194BB-3BF9-425B-84CC-678431DA454D}"/>
              </a:ext>
            </a:extLst>
          </p:cNvPr>
          <p:cNvSpPr txBox="1"/>
          <p:nvPr/>
        </p:nvSpPr>
        <p:spPr>
          <a:xfrm>
            <a:off x="4203020" y="1141047"/>
            <a:ext cx="149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Salary Income</a:t>
            </a:r>
          </a:p>
          <a:p>
            <a:pPr algn="ctr"/>
            <a:r>
              <a:rPr lang="en-GB" dirty="0"/>
              <a:t>£625,50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840A8-969E-46E3-91A7-8F0E414E4A7B}"/>
              </a:ext>
            </a:extLst>
          </p:cNvPr>
          <p:cNvSpPr txBox="1"/>
          <p:nvPr/>
        </p:nvSpPr>
        <p:spPr>
          <a:xfrm>
            <a:off x="7602466" y="1141047"/>
            <a:ext cx="120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Electric Bill</a:t>
            </a:r>
          </a:p>
          <a:p>
            <a:pPr algn="ctr"/>
            <a:r>
              <a:rPr lang="en-GB" dirty="0"/>
              <a:t>£72,30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3C821-D835-4F31-A46F-D898589E35F1}"/>
              </a:ext>
            </a:extLst>
          </p:cNvPr>
          <p:cNvSpPr txBox="1"/>
          <p:nvPr/>
        </p:nvSpPr>
        <p:spPr>
          <a:xfrm>
            <a:off x="7733624" y="2653090"/>
            <a:ext cx="945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Internet</a:t>
            </a:r>
          </a:p>
          <a:p>
            <a:pPr algn="ctr"/>
            <a:r>
              <a:rPr lang="en-GB" dirty="0"/>
              <a:t>£32,99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F52F1-3C4C-4DBC-A328-9BA10483EDF8}"/>
              </a:ext>
            </a:extLst>
          </p:cNvPr>
          <p:cNvSpPr txBox="1"/>
          <p:nvPr/>
        </p:nvSpPr>
        <p:spPr>
          <a:xfrm>
            <a:off x="3947078" y="2653090"/>
            <a:ext cx="1992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Interest on Balance</a:t>
            </a:r>
          </a:p>
          <a:p>
            <a:pPr algn="ctr"/>
            <a:r>
              <a:rPr lang="en-GB" dirty="0"/>
              <a:t>£5,66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94C15-AF5B-43B5-813C-6BE4E26624B6}"/>
              </a:ext>
            </a:extLst>
          </p:cNvPr>
          <p:cNvSpPr txBox="1"/>
          <p:nvPr/>
        </p:nvSpPr>
        <p:spPr>
          <a:xfrm>
            <a:off x="4152775" y="5715976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Online Auction</a:t>
            </a:r>
          </a:p>
          <a:p>
            <a:pPr algn="ctr"/>
            <a:r>
              <a:rPr lang="en-GB" dirty="0"/>
              <a:t>£144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AD7B1-199E-41B7-91D8-F0CF69DEE742}"/>
              </a:ext>
            </a:extLst>
          </p:cNvPr>
          <p:cNvSpPr txBox="1"/>
          <p:nvPr/>
        </p:nvSpPr>
        <p:spPr>
          <a:xfrm>
            <a:off x="533874" y="2653090"/>
            <a:ext cx="217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Birthday Gift Transfer</a:t>
            </a:r>
          </a:p>
          <a:p>
            <a:pPr algn="ctr"/>
            <a:r>
              <a:rPr lang="en-GB" dirty="0"/>
              <a:t>£30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2086CF-3F42-4893-8601-B0167188401E}"/>
              </a:ext>
            </a:extLst>
          </p:cNvPr>
          <p:cNvSpPr txBox="1"/>
          <p:nvPr/>
        </p:nvSpPr>
        <p:spPr>
          <a:xfrm>
            <a:off x="894645" y="4177322"/>
            <a:ext cx="1458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‘Kool </a:t>
            </a:r>
            <a:r>
              <a:rPr lang="en-GB" dirty="0" err="1"/>
              <a:t>Klothes</a:t>
            </a:r>
            <a:r>
              <a:rPr lang="en-GB" dirty="0"/>
              <a:t>’</a:t>
            </a:r>
          </a:p>
          <a:p>
            <a:pPr algn="ctr"/>
            <a:r>
              <a:rPr lang="en-GB" dirty="0"/>
              <a:t>£82,45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668206-7355-424E-9BFF-141C3F6CB8C4}"/>
              </a:ext>
            </a:extLst>
          </p:cNvPr>
          <p:cNvSpPr txBox="1"/>
          <p:nvPr/>
        </p:nvSpPr>
        <p:spPr>
          <a:xfrm>
            <a:off x="560099" y="5685299"/>
            <a:ext cx="212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‘Auntie Jen’</a:t>
            </a:r>
          </a:p>
          <a:p>
            <a:pPr algn="ctr"/>
            <a:r>
              <a:rPr lang="en-GB" dirty="0"/>
              <a:t>£65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72A63-6D12-42CB-B11D-3B33437C3F55}"/>
              </a:ext>
            </a:extLst>
          </p:cNvPr>
          <p:cNvSpPr txBox="1"/>
          <p:nvPr/>
        </p:nvSpPr>
        <p:spPr>
          <a:xfrm>
            <a:off x="7242047" y="4156770"/>
            <a:ext cx="1928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Books.com Refund</a:t>
            </a:r>
          </a:p>
          <a:p>
            <a:pPr algn="ctr"/>
            <a:r>
              <a:rPr lang="en-GB" dirty="0"/>
              <a:t>£45,20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11887-0AA6-4CD7-B0D0-9EA755EECA35}"/>
              </a:ext>
            </a:extLst>
          </p:cNvPr>
          <p:cNvSpPr txBox="1"/>
          <p:nvPr/>
        </p:nvSpPr>
        <p:spPr>
          <a:xfrm>
            <a:off x="7474194" y="5690930"/>
            <a:ext cx="1463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 Insurance</a:t>
            </a:r>
          </a:p>
          <a:p>
            <a:pPr algn="ctr"/>
            <a:r>
              <a:rPr lang="en-GB" dirty="0"/>
              <a:t>£133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3F570F-8877-4417-B1C7-9F3969A5D724}"/>
              </a:ext>
            </a:extLst>
          </p:cNvPr>
          <p:cNvSpPr txBox="1"/>
          <p:nvPr/>
        </p:nvSpPr>
        <p:spPr>
          <a:xfrm>
            <a:off x="3643727" y="4164229"/>
            <a:ext cx="2598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‘Kelly’s Catering’</a:t>
            </a:r>
          </a:p>
          <a:p>
            <a:pPr algn="ctr"/>
            <a:r>
              <a:rPr lang="en-GB" dirty="0"/>
              <a:t>£165,80</a:t>
            </a:r>
          </a:p>
        </p:txBody>
      </p:sp>
    </p:spTree>
    <p:extLst>
      <p:ext uri="{BB962C8B-B14F-4D97-AF65-F5344CB8AC3E}">
        <p14:creationId xmlns:p14="http://schemas.microsoft.com/office/powerpoint/2010/main" val="46463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203380"/>
              </p:ext>
            </p:extLst>
          </p:nvPr>
        </p:nvGraphicFramePr>
        <p:xfrm>
          <a:off x="35169" y="681318"/>
          <a:ext cx="9829800" cy="3057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580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580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AC3CBD-17A9-4400-B08C-23C55AF7CD64}"/>
              </a:ext>
            </a:extLst>
          </p:cNvPr>
          <p:cNvSpPr txBox="1"/>
          <p:nvPr/>
        </p:nvSpPr>
        <p:spPr>
          <a:xfrm>
            <a:off x="327842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A45C0-0850-4DD7-BAC2-1470ADA1313E}"/>
              </a:ext>
            </a:extLst>
          </p:cNvPr>
          <p:cNvSpPr txBox="1"/>
          <p:nvPr/>
        </p:nvSpPr>
        <p:spPr>
          <a:xfrm>
            <a:off x="327842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BB4A4-0CE8-4913-ACF2-F32423F4CFB4}"/>
              </a:ext>
            </a:extLst>
          </p:cNvPr>
          <p:cNvSpPr txBox="1"/>
          <p:nvPr/>
        </p:nvSpPr>
        <p:spPr>
          <a:xfrm>
            <a:off x="6549158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A4F2C3-F5AC-447D-BFB0-57A2CFB2B860}"/>
              </a:ext>
            </a:extLst>
          </p:cNvPr>
          <p:cNvSpPr txBox="1"/>
          <p:nvPr/>
        </p:nvSpPr>
        <p:spPr>
          <a:xfrm>
            <a:off x="6549158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5DCA0-35CF-4048-BDA1-074798DA049A}"/>
              </a:ext>
            </a:extLst>
          </p:cNvPr>
          <p:cNvSpPr txBox="1"/>
          <p:nvPr/>
        </p:nvSpPr>
        <p:spPr>
          <a:xfrm>
            <a:off x="458276" y="1141047"/>
            <a:ext cx="2330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ATM: Woodham Green</a:t>
            </a:r>
          </a:p>
          <a:p>
            <a:pPr algn="ctr"/>
            <a:r>
              <a:rPr lang="en-GB" dirty="0"/>
              <a:t>£50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EB32B-427A-4B12-94AC-B6B524406F72}"/>
              </a:ext>
            </a:extLst>
          </p:cNvPr>
          <p:cNvSpPr txBox="1"/>
          <p:nvPr/>
        </p:nvSpPr>
        <p:spPr>
          <a:xfrm>
            <a:off x="1584281" y="-61546"/>
            <a:ext cx="6717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All these cards are items on a monthly bank statement. Sort them into </a:t>
            </a:r>
            <a:r>
              <a:rPr lang="en-GB" sz="1400" b="1" dirty="0"/>
              <a:t>CREDITS </a:t>
            </a:r>
            <a:r>
              <a:rPr lang="en-GB" sz="1400" dirty="0"/>
              <a:t>&amp;</a:t>
            </a:r>
            <a:r>
              <a:rPr lang="en-GB" sz="1400" b="1" dirty="0"/>
              <a:t> DEBITS</a:t>
            </a:r>
            <a:r>
              <a:rPr lang="en-GB" sz="1400" dirty="0"/>
              <a:t>.</a:t>
            </a:r>
            <a:r>
              <a:rPr lang="en-GB" sz="1400" b="1" dirty="0"/>
              <a:t> </a:t>
            </a:r>
          </a:p>
          <a:p>
            <a:pPr algn="ctr"/>
            <a:r>
              <a:rPr lang="en-GB" sz="1400" dirty="0"/>
              <a:t>If someone had a </a:t>
            </a:r>
            <a:r>
              <a:rPr lang="en-GB" sz="1400" b="1" dirty="0"/>
              <a:t>£500 starting balance </a:t>
            </a:r>
            <a:r>
              <a:rPr lang="en-GB" sz="1400" dirty="0"/>
              <a:t>at the beginning of the month, </a:t>
            </a:r>
          </a:p>
          <a:p>
            <a:pPr algn="ctr"/>
            <a:r>
              <a:rPr lang="en-GB" sz="1400" dirty="0"/>
              <a:t>what is the </a:t>
            </a:r>
            <a:r>
              <a:rPr lang="en-GB" sz="1400" b="1" dirty="0"/>
              <a:t>maximum</a:t>
            </a:r>
            <a:r>
              <a:rPr lang="en-GB" sz="1400" dirty="0"/>
              <a:t> or </a:t>
            </a:r>
            <a:r>
              <a:rPr lang="en-GB" sz="1400" b="1" dirty="0"/>
              <a:t>minimum</a:t>
            </a:r>
            <a:r>
              <a:rPr lang="en-GB" sz="1400" dirty="0"/>
              <a:t> they could have at the end of the month?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194BB-3BF9-425B-84CC-678431DA454D}"/>
              </a:ext>
            </a:extLst>
          </p:cNvPr>
          <p:cNvSpPr txBox="1"/>
          <p:nvPr/>
        </p:nvSpPr>
        <p:spPr>
          <a:xfrm>
            <a:off x="4203020" y="1141047"/>
            <a:ext cx="149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Salary Income</a:t>
            </a:r>
          </a:p>
          <a:p>
            <a:pPr algn="ctr"/>
            <a:r>
              <a:rPr lang="en-GB" dirty="0"/>
              <a:t>£625,50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840A8-969E-46E3-91A7-8F0E414E4A7B}"/>
              </a:ext>
            </a:extLst>
          </p:cNvPr>
          <p:cNvSpPr txBox="1"/>
          <p:nvPr/>
        </p:nvSpPr>
        <p:spPr>
          <a:xfrm>
            <a:off x="7602466" y="1141047"/>
            <a:ext cx="120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Electric Bill</a:t>
            </a:r>
          </a:p>
          <a:p>
            <a:pPr algn="ctr"/>
            <a:r>
              <a:rPr lang="en-GB" dirty="0"/>
              <a:t>£72,30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3C821-D835-4F31-A46F-D898589E35F1}"/>
              </a:ext>
            </a:extLst>
          </p:cNvPr>
          <p:cNvSpPr txBox="1"/>
          <p:nvPr/>
        </p:nvSpPr>
        <p:spPr>
          <a:xfrm>
            <a:off x="7733624" y="2653090"/>
            <a:ext cx="945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Internet</a:t>
            </a:r>
          </a:p>
          <a:p>
            <a:pPr algn="ctr"/>
            <a:r>
              <a:rPr lang="en-GB" dirty="0"/>
              <a:t>£32,99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F52F1-3C4C-4DBC-A328-9BA10483EDF8}"/>
              </a:ext>
            </a:extLst>
          </p:cNvPr>
          <p:cNvSpPr txBox="1"/>
          <p:nvPr/>
        </p:nvSpPr>
        <p:spPr>
          <a:xfrm>
            <a:off x="3947078" y="2653090"/>
            <a:ext cx="1992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Interest on Balance</a:t>
            </a:r>
          </a:p>
          <a:p>
            <a:pPr algn="ctr"/>
            <a:r>
              <a:rPr lang="en-GB" dirty="0"/>
              <a:t>£5,66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AD7B1-199E-41B7-91D8-F0CF69DEE742}"/>
              </a:ext>
            </a:extLst>
          </p:cNvPr>
          <p:cNvSpPr txBox="1"/>
          <p:nvPr/>
        </p:nvSpPr>
        <p:spPr>
          <a:xfrm>
            <a:off x="533874" y="2653090"/>
            <a:ext cx="217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Birthday Gift Transfer</a:t>
            </a:r>
          </a:p>
          <a:p>
            <a:pPr algn="ctr"/>
            <a:r>
              <a:rPr lang="en-GB" dirty="0"/>
              <a:t>£30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F1A9681-333A-411A-B253-601A293AFC0C}"/>
              </a:ext>
            </a:extLst>
          </p:cNvPr>
          <p:cNvSpPr/>
          <p:nvPr/>
        </p:nvSpPr>
        <p:spPr>
          <a:xfrm>
            <a:off x="2732247" y="1231899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80DF5D45-6594-4CF6-A639-13B708F74F3A}"/>
              </a:ext>
            </a:extLst>
          </p:cNvPr>
          <p:cNvSpPr/>
          <p:nvPr/>
        </p:nvSpPr>
        <p:spPr>
          <a:xfrm rot="10800000">
            <a:off x="5718115" y="1168399"/>
            <a:ext cx="479485" cy="518241"/>
          </a:xfrm>
          <a:prstGeom prst="downArrow">
            <a:avLst/>
          </a:prstGeom>
          <a:solidFill>
            <a:srgbClr val="00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F8E598DF-1A86-4540-98CD-A2B542D034EB}"/>
              </a:ext>
            </a:extLst>
          </p:cNvPr>
          <p:cNvSpPr/>
          <p:nvPr/>
        </p:nvSpPr>
        <p:spPr>
          <a:xfrm>
            <a:off x="2646680" y="2413000"/>
            <a:ext cx="484632" cy="1032490"/>
          </a:xfrm>
          <a:prstGeom prst="upDownArrow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DE2670E9-4829-4887-9E73-5F283C96D5D2}"/>
              </a:ext>
            </a:extLst>
          </p:cNvPr>
          <p:cNvSpPr/>
          <p:nvPr/>
        </p:nvSpPr>
        <p:spPr>
          <a:xfrm>
            <a:off x="9070915" y="1231899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846BAAFE-D073-4E29-A535-7DF72ED15D79}"/>
              </a:ext>
            </a:extLst>
          </p:cNvPr>
          <p:cNvSpPr/>
          <p:nvPr/>
        </p:nvSpPr>
        <p:spPr>
          <a:xfrm>
            <a:off x="9070915" y="2691422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E9B6195A-EC15-412B-9633-75DCE47AA272}"/>
              </a:ext>
            </a:extLst>
          </p:cNvPr>
          <p:cNvSpPr/>
          <p:nvPr/>
        </p:nvSpPr>
        <p:spPr>
          <a:xfrm rot="10800000">
            <a:off x="5957857" y="2626713"/>
            <a:ext cx="479485" cy="518241"/>
          </a:xfrm>
          <a:prstGeom prst="downArrow">
            <a:avLst/>
          </a:prstGeom>
          <a:solidFill>
            <a:srgbClr val="00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600875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9" y="681318"/>
          <a:ext cx="9829800" cy="611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580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580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580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580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AC3CBD-17A9-4400-B08C-23C55AF7CD64}"/>
              </a:ext>
            </a:extLst>
          </p:cNvPr>
          <p:cNvSpPr txBox="1"/>
          <p:nvPr/>
        </p:nvSpPr>
        <p:spPr>
          <a:xfrm>
            <a:off x="327842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A45C0-0850-4DD7-BAC2-1470ADA1313E}"/>
              </a:ext>
            </a:extLst>
          </p:cNvPr>
          <p:cNvSpPr txBox="1"/>
          <p:nvPr/>
        </p:nvSpPr>
        <p:spPr>
          <a:xfrm>
            <a:off x="327842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BA886-43C1-4E31-9CEA-1C18443715BC}"/>
              </a:ext>
            </a:extLst>
          </p:cNvPr>
          <p:cNvSpPr txBox="1"/>
          <p:nvPr/>
        </p:nvSpPr>
        <p:spPr>
          <a:xfrm>
            <a:off x="327842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5C13BD-FF98-4253-93B1-26C9B1AE606E}"/>
              </a:ext>
            </a:extLst>
          </p:cNvPr>
          <p:cNvSpPr txBox="1"/>
          <p:nvPr/>
        </p:nvSpPr>
        <p:spPr>
          <a:xfrm>
            <a:off x="327842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BB4A4-0CE8-4913-ACF2-F32423F4CFB4}"/>
              </a:ext>
            </a:extLst>
          </p:cNvPr>
          <p:cNvSpPr txBox="1"/>
          <p:nvPr/>
        </p:nvSpPr>
        <p:spPr>
          <a:xfrm>
            <a:off x="6549158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A4F2C3-F5AC-447D-BFB0-57A2CFB2B860}"/>
              </a:ext>
            </a:extLst>
          </p:cNvPr>
          <p:cNvSpPr txBox="1"/>
          <p:nvPr/>
        </p:nvSpPr>
        <p:spPr>
          <a:xfrm>
            <a:off x="6549158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418E3F-8DA0-43E4-8F65-AB3BAAFE67CD}"/>
              </a:ext>
            </a:extLst>
          </p:cNvPr>
          <p:cNvSpPr txBox="1"/>
          <p:nvPr/>
        </p:nvSpPr>
        <p:spPr>
          <a:xfrm>
            <a:off x="6549158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B4D498-024F-4DBC-AD84-7E6514B7FE66}"/>
              </a:ext>
            </a:extLst>
          </p:cNvPr>
          <p:cNvSpPr txBox="1"/>
          <p:nvPr/>
        </p:nvSpPr>
        <p:spPr>
          <a:xfrm>
            <a:off x="6549158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5DCA0-35CF-4048-BDA1-074798DA049A}"/>
              </a:ext>
            </a:extLst>
          </p:cNvPr>
          <p:cNvSpPr txBox="1"/>
          <p:nvPr/>
        </p:nvSpPr>
        <p:spPr>
          <a:xfrm>
            <a:off x="458276" y="1141047"/>
            <a:ext cx="2330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ATM: Woodham Green</a:t>
            </a:r>
          </a:p>
          <a:p>
            <a:pPr algn="ctr"/>
            <a:r>
              <a:rPr lang="en-GB" dirty="0"/>
              <a:t>£50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EB32B-427A-4B12-94AC-B6B524406F72}"/>
              </a:ext>
            </a:extLst>
          </p:cNvPr>
          <p:cNvSpPr txBox="1"/>
          <p:nvPr/>
        </p:nvSpPr>
        <p:spPr>
          <a:xfrm>
            <a:off x="1584281" y="-61546"/>
            <a:ext cx="6717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All these cards are items on a monthly bank statement. Sort them into </a:t>
            </a:r>
            <a:r>
              <a:rPr lang="en-GB" sz="1400" b="1" dirty="0"/>
              <a:t>CREDITS </a:t>
            </a:r>
            <a:r>
              <a:rPr lang="en-GB" sz="1400" dirty="0"/>
              <a:t>&amp;</a:t>
            </a:r>
            <a:r>
              <a:rPr lang="en-GB" sz="1400" b="1" dirty="0"/>
              <a:t> DEBITS</a:t>
            </a:r>
            <a:r>
              <a:rPr lang="en-GB" sz="1400" dirty="0"/>
              <a:t>.</a:t>
            </a:r>
            <a:r>
              <a:rPr lang="en-GB" sz="1400" b="1" dirty="0"/>
              <a:t> </a:t>
            </a:r>
          </a:p>
          <a:p>
            <a:pPr algn="ctr"/>
            <a:r>
              <a:rPr lang="en-GB" sz="1400" dirty="0"/>
              <a:t>If someone had a </a:t>
            </a:r>
            <a:r>
              <a:rPr lang="en-GB" sz="1400" b="1" dirty="0"/>
              <a:t>£500 starting balance </a:t>
            </a:r>
            <a:r>
              <a:rPr lang="en-GB" sz="1400" dirty="0"/>
              <a:t>at the beginning of the month, </a:t>
            </a:r>
          </a:p>
          <a:p>
            <a:pPr algn="ctr"/>
            <a:r>
              <a:rPr lang="en-GB" sz="1400" dirty="0"/>
              <a:t>what is the </a:t>
            </a:r>
            <a:r>
              <a:rPr lang="en-GB" sz="1400" b="1" dirty="0"/>
              <a:t>maximum</a:t>
            </a:r>
            <a:r>
              <a:rPr lang="en-GB" sz="1400" dirty="0"/>
              <a:t> or </a:t>
            </a:r>
            <a:r>
              <a:rPr lang="en-GB" sz="1400" b="1" dirty="0"/>
              <a:t>minimum</a:t>
            </a:r>
            <a:r>
              <a:rPr lang="en-GB" sz="1400" dirty="0"/>
              <a:t> they could have at the end of the month?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194BB-3BF9-425B-84CC-678431DA454D}"/>
              </a:ext>
            </a:extLst>
          </p:cNvPr>
          <p:cNvSpPr txBox="1"/>
          <p:nvPr/>
        </p:nvSpPr>
        <p:spPr>
          <a:xfrm>
            <a:off x="4203020" y="1141047"/>
            <a:ext cx="149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Salary Income</a:t>
            </a:r>
          </a:p>
          <a:p>
            <a:pPr algn="ctr"/>
            <a:r>
              <a:rPr lang="en-GB" dirty="0"/>
              <a:t>£625,50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840A8-969E-46E3-91A7-8F0E414E4A7B}"/>
              </a:ext>
            </a:extLst>
          </p:cNvPr>
          <p:cNvSpPr txBox="1"/>
          <p:nvPr/>
        </p:nvSpPr>
        <p:spPr>
          <a:xfrm>
            <a:off x="7602466" y="1141047"/>
            <a:ext cx="120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Electric Bill</a:t>
            </a:r>
          </a:p>
          <a:p>
            <a:pPr algn="ctr"/>
            <a:r>
              <a:rPr lang="en-GB" dirty="0"/>
              <a:t>£72,30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3C821-D835-4F31-A46F-D898589E35F1}"/>
              </a:ext>
            </a:extLst>
          </p:cNvPr>
          <p:cNvSpPr txBox="1"/>
          <p:nvPr/>
        </p:nvSpPr>
        <p:spPr>
          <a:xfrm>
            <a:off x="7733624" y="2653090"/>
            <a:ext cx="945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Internet</a:t>
            </a:r>
          </a:p>
          <a:p>
            <a:pPr algn="ctr"/>
            <a:r>
              <a:rPr lang="en-GB" dirty="0"/>
              <a:t>£32,99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F52F1-3C4C-4DBC-A328-9BA10483EDF8}"/>
              </a:ext>
            </a:extLst>
          </p:cNvPr>
          <p:cNvSpPr txBox="1"/>
          <p:nvPr/>
        </p:nvSpPr>
        <p:spPr>
          <a:xfrm>
            <a:off x="3947078" y="2653090"/>
            <a:ext cx="1992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Interest on Balance</a:t>
            </a:r>
          </a:p>
          <a:p>
            <a:pPr algn="ctr"/>
            <a:r>
              <a:rPr lang="en-GB" dirty="0"/>
              <a:t>£5,66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94C15-AF5B-43B5-813C-6BE4E26624B6}"/>
              </a:ext>
            </a:extLst>
          </p:cNvPr>
          <p:cNvSpPr txBox="1"/>
          <p:nvPr/>
        </p:nvSpPr>
        <p:spPr>
          <a:xfrm>
            <a:off x="4152775" y="5715976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Online Auction</a:t>
            </a:r>
          </a:p>
          <a:p>
            <a:pPr algn="ctr"/>
            <a:r>
              <a:rPr lang="en-GB" dirty="0"/>
              <a:t>£144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AD7B1-199E-41B7-91D8-F0CF69DEE742}"/>
              </a:ext>
            </a:extLst>
          </p:cNvPr>
          <p:cNvSpPr txBox="1"/>
          <p:nvPr/>
        </p:nvSpPr>
        <p:spPr>
          <a:xfrm>
            <a:off x="533874" y="2653090"/>
            <a:ext cx="217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Birthday Gift Transfer</a:t>
            </a:r>
          </a:p>
          <a:p>
            <a:pPr algn="ctr"/>
            <a:r>
              <a:rPr lang="en-GB" dirty="0"/>
              <a:t>£30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2086CF-3F42-4893-8601-B0167188401E}"/>
              </a:ext>
            </a:extLst>
          </p:cNvPr>
          <p:cNvSpPr txBox="1"/>
          <p:nvPr/>
        </p:nvSpPr>
        <p:spPr>
          <a:xfrm>
            <a:off x="894645" y="4177322"/>
            <a:ext cx="1458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‘Kool </a:t>
            </a:r>
            <a:r>
              <a:rPr lang="en-GB" dirty="0" err="1"/>
              <a:t>Klothes</a:t>
            </a:r>
            <a:r>
              <a:rPr lang="en-GB" dirty="0"/>
              <a:t>’</a:t>
            </a:r>
          </a:p>
          <a:p>
            <a:pPr algn="ctr"/>
            <a:r>
              <a:rPr lang="en-GB" dirty="0"/>
              <a:t>£82,45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668206-7355-424E-9BFF-141C3F6CB8C4}"/>
              </a:ext>
            </a:extLst>
          </p:cNvPr>
          <p:cNvSpPr txBox="1"/>
          <p:nvPr/>
        </p:nvSpPr>
        <p:spPr>
          <a:xfrm>
            <a:off x="560099" y="5685299"/>
            <a:ext cx="212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‘Auntie Jen’</a:t>
            </a:r>
          </a:p>
          <a:p>
            <a:pPr algn="ctr"/>
            <a:r>
              <a:rPr lang="en-GB" dirty="0"/>
              <a:t>£65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72A63-6D12-42CB-B11D-3B33437C3F55}"/>
              </a:ext>
            </a:extLst>
          </p:cNvPr>
          <p:cNvSpPr txBox="1"/>
          <p:nvPr/>
        </p:nvSpPr>
        <p:spPr>
          <a:xfrm>
            <a:off x="7242047" y="4156770"/>
            <a:ext cx="1928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Books.com Refund</a:t>
            </a:r>
          </a:p>
          <a:p>
            <a:pPr algn="ctr"/>
            <a:r>
              <a:rPr lang="en-GB" dirty="0"/>
              <a:t>£45,20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11887-0AA6-4CD7-B0D0-9EA755EECA35}"/>
              </a:ext>
            </a:extLst>
          </p:cNvPr>
          <p:cNvSpPr txBox="1"/>
          <p:nvPr/>
        </p:nvSpPr>
        <p:spPr>
          <a:xfrm>
            <a:off x="7474194" y="5690930"/>
            <a:ext cx="1463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 Insurance</a:t>
            </a:r>
          </a:p>
          <a:p>
            <a:pPr algn="ctr"/>
            <a:r>
              <a:rPr lang="en-GB" dirty="0"/>
              <a:t>£133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9F1A9681-333A-411A-B253-601A293AFC0C}"/>
              </a:ext>
            </a:extLst>
          </p:cNvPr>
          <p:cNvSpPr/>
          <p:nvPr/>
        </p:nvSpPr>
        <p:spPr>
          <a:xfrm>
            <a:off x="2732247" y="1231899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80DF5D45-6594-4CF6-A639-13B708F74F3A}"/>
              </a:ext>
            </a:extLst>
          </p:cNvPr>
          <p:cNvSpPr/>
          <p:nvPr/>
        </p:nvSpPr>
        <p:spPr>
          <a:xfrm rot="10800000">
            <a:off x="5718115" y="1168399"/>
            <a:ext cx="479485" cy="518241"/>
          </a:xfrm>
          <a:prstGeom prst="downArrow">
            <a:avLst/>
          </a:prstGeom>
          <a:solidFill>
            <a:srgbClr val="00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Arrow: Up-Down 2">
            <a:extLst>
              <a:ext uri="{FF2B5EF4-FFF2-40B4-BE49-F238E27FC236}">
                <a16:creationId xmlns:a16="http://schemas.microsoft.com/office/drawing/2014/main" id="{F8E598DF-1A86-4540-98CD-A2B542D034EB}"/>
              </a:ext>
            </a:extLst>
          </p:cNvPr>
          <p:cNvSpPr/>
          <p:nvPr/>
        </p:nvSpPr>
        <p:spPr>
          <a:xfrm>
            <a:off x="2646680" y="2413000"/>
            <a:ext cx="484632" cy="1032490"/>
          </a:xfrm>
          <a:prstGeom prst="upDownArrow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6" name="Arrow: Down 45">
            <a:extLst>
              <a:ext uri="{FF2B5EF4-FFF2-40B4-BE49-F238E27FC236}">
                <a16:creationId xmlns:a16="http://schemas.microsoft.com/office/drawing/2014/main" id="{DE2670E9-4829-4887-9E73-5F283C96D5D2}"/>
              </a:ext>
            </a:extLst>
          </p:cNvPr>
          <p:cNvSpPr/>
          <p:nvPr/>
        </p:nvSpPr>
        <p:spPr>
          <a:xfrm>
            <a:off x="9070915" y="1231899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1" name="Arrow: Up-Down 50">
            <a:extLst>
              <a:ext uri="{FF2B5EF4-FFF2-40B4-BE49-F238E27FC236}">
                <a16:creationId xmlns:a16="http://schemas.microsoft.com/office/drawing/2014/main" id="{8D383ED0-52F5-4F99-988D-8392DE5E771F}"/>
              </a:ext>
            </a:extLst>
          </p:cNvPr>
          <p:cNvSpPr/>
          <p:nvPr/>
        </p:nvSpPr>
        <p:spPr>
          <a:xfrm>
            <a:off x="5859975" y="5490308"/>
            <a:ext cx="484632" cy="1032490"/>
          </a:xfrm>
          <a:prstGeom prst="upDownArrow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2" name="Arrow: Up-Down 51">
            <a:extLst>
              <a:ext uri="{FF2B5EF4-FFF2-40B4-BE49-F238E27FC236}">
                <a16:creationId xmlns:a16="http://schemas.microsoft.com/office/drawing/2014/main" id="{D4AA8F78-7E93-43C5-8D6D-AA75C9339D92}"/>
              </a:ext>
            </a:extLst>
          </p:cNvPr>
          <p:cNvSpPr/>
          <p:nvPr/>
        </p:nvSpPr>
        <p:spPr>
          <a:xfrm>
            <a:off x="2646680" y="5534269"/>
            <a:ext cx="484632" cy="1032490"/>
          </a:xfrm>
          <a:prstGeom prst="upDownArrow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83C91BF3-CE56-4234-8D2C-0FCD70EC74F1}"/>
              </a:ext>
            </a:extLst>
          </p:cNvPr>
          <p:cNvSpPr/>
          <p:nvPr/>
        </p:nvSpPr>
        <p:spPr>
          <a:xfrm>
            <a:off x="2609155" y="4238868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B5AD54EE-5AB8-4FE6-978D-BECCF0678C5B}"/>
              </a:ext>
            </a:extLst>
          </p:cNvPr>
          <p:cNvSpPr/>
          <p:nvPr/>
        </p:nvSpPr>
        <p:spPr>
          <a:xfrm>
            <a:off x="9070915" y="5795107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6" name="Arrow: Down 55">
            <a:extLst>
              <a:ext uri="{FF2B5EF4-FFF2-40B4-BE49-F238E27FC236}">
                <a16:creationId xmlns:a16="http://schemas.microsoft.com/office/drawing/2014/main" id="{846BAAFE-D073-4E29-A535-7DF72ED15D79}"/>
              </a:ext>
            </a:extLst>
          </p:cNvPr>
          <p:cNvSpPr/>
          <p:nvPr/>
        </p:nvSpPr>
        <p:spPr>
          <a:xfrm>
            <a:off x="9070915" y="2691422"/>
            <a:ext cx="479485" cy="518241"/>
          </a:xfrm>
          <a:prstGeom prst="downArrow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8" name="Arrow: Up-Down 57">
            <a:extLst>
              <a:ext uri="{FF2B5EF4-FFF2-40B4-BE49-F238E27FC236}">
                <a16:creationId xmlns:a16="http://schemas.microsoft.com/office/drawing/2014/main" id="{7A35DDE7-90F2-4FF5-BAD5-D2CBB5E96859}"/>
              </a:ext>
            </a:extLst>
          </p:cNvPr>
          <p:cNvSpPr/>
          <p:nvPr/>
        </p:nvSpPr>
        <p:spPr>
          <a:xfrm>
            <a:off x="6062198" y="3934069"/>
            <a:ext cx="484632" cy="1032490"/>
          </a:xfrm>
          <a:prstGeom prst="upDownArrow">
            <a:avLst/>
          </a:prstGeom>
          <a:solidFill>
            <a:srgbClr val="0070C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84AEF7E6-390F-4895-A08B-F4F89E1A643E}"/>
              </a:ext>
            </a:extLst>
          </p:cNvPr>
          <p:cNvSpPr/>
          <p:nvPr/>
        </p:nvSpPr>
        <p:spPr>
          <a:xfrm rot="10800000">
            <a:off x="9237968" y="4195884"/>
            <a:ext cx="479485" cy="518241"/>
          </a:xfrm>
          <a:prstGeom prst="downArrow">
            <a:avLst/>
          </a:prstGeom>
          <a:solidFill>
            <a:srgbClr val="00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2" name="Arrow: Down 61">
            <a:extLst>
              <a:ext uri="{FF2B5EF4-FFF2-40B4-BE49-F238E27FC236}">
                <a16:creationId xmlns:a16="http://schemas.microsoft.com/office/drawing/2014/main" id="{E9B6195A-EC15-412B-9633-75DCE47AA272}"/>
              </a:ext>
            </a:extLst>
          </p:cNvPr>
          <p:cNvSpPr/>
          <p:nvPr/>
        </p:nvSpPr>
        <p:spPr>
          <a:xfrm rot="10800000">
            <a:off x="5957857" y="2626713"/>
            <a:ext cx="479485" cy="518241"/>
          </a:xfrm>
          <a:prstGeom prst="downArrow">
            <a:avLst/>
          </a:prstGeom>
          <a:solidFill>
            <a:srgbClr val="00FF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22D8D-63B0-4264-B753-08EF9534AA3A}"/>
              </a:ext>
            </a:extLst>
          </p:cNvPr>
          <p:cNvSpPr txBox="1"/>
          <p:nvPr/>
        </p:nvSpPr>
        <p:spPr>
          <a:xfrm>
            <a:off x="158262" y="60914"/>
            <a:ext cx="3728521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Most items could be credits or debits:</a:t>
            </a:r>
          </a:p>
          <a:p>
            <a:pPr algn="ctr"/>
            <a:r>
              <a:rPr lang="en-GB" dirty="0"/>
              <a:t>What if you ran your own business?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3F570F-8877-4417-B1C7-9F3969A5D724}"/>
              </a:ext>
            </a:extLst>
          </p:cNvPr>
          <p:cNvSpPr txBox="1"/>
          <p:nvPr/>
        </p:nvSpPr>
        <p:spPr>
          <a:xfrm>
            <a:off x="3643727" y="4164229"/>
            <a:ext cx="2598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‘Kelly’s Catering’</a:t>
            </a:r>
          </a:p>
          <a:p>
            <a:pPr algn="ctr"/>
            <a:r>
              <a:rPr lang="en-GB" dirty="0"/>
              <a:t>£165,80</a:t>
            </a:r>
          </a:p>
        </p:txBody>
      </p:sp>
    </p:spTree>
    <p:extLst>
      <p:ext uri="{BB962C8B-B14F-4D97-AF65-F5344CB8AC3E}">
        <p14:creationId xmlns:p14="http://schemas.microsoft.com/office/powerpoint/2010/main" val="4049327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9" y="681318"/>
          <a:ext cx="9829800" cy="6115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52878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580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580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580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580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AC3CBD-17A9-4400-B08C-23C55AF7CD64}"/>
              </a:ext>
            </a:extLst>
          </p:cNvPr>
          <p:cNvSpPr txBox="1"/>
          <p:nvPr/>
        </p:nvSpPr>
        <p:spPr>
          <a:xfrm>
            <a:off x="3278420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EA45C0-0850-4DD7-BAC2-1470ADA1313E}"/>
              </a:ext>
            </a:extLst>
          </p:cNvPr>
          <p:cNvSpPr txBox="1"/>
          <p:nvPr/>
        </p:nvSpPr>
        <p:spPr>
          <a:xfrm>
            <a:off x="3278420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2BA886-43C1-4E31-9CEA-1C18443715BC}"/>
              </a:ext>
            </a:extLst>
          </p:cNvPr>
          <p:cNvSpPr txBox="1"/>
          <p:nvPr/>
        </p:nvSpPr>
        <p:spPr>
          <a:xfrm>
            <a:off x="3278420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5C13BD-FF98-4253-93B1-26C9B1AE606E}"/>
              </a:ext>
            </a:extLst>
          </p:cNvPr>
          <p:cNvSpPr txBox="1"/>
          <p:nvPr/>
        </p:nvSpPr>
        <p:spPr>
          <a:xfrm>
            <a:off x="3278420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1BB4A4-0CE8-4913-ACF2-F32423F4CFB4}"/>
              </a:ext>
            </a:extLst>
          </p:cNvPr>
          <p:cNvSpPr txBox="1"/>
          <p:nvPr/>
        </p:nvSpPr>
        <p:spPr>
          <a:xfrm>
            <a:off x="6549158" y="71344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A4F2C3-F5AC-447D-BFB0-57A2CFB2B860}"/>
              </a:ext>
            </a:extLst>
          </p:cNvPr>
          <p:cNvSpPr txBox="1"/>
          <p:nvPr/>
        </p:nvSpPr>
        <p:spPr>
          <a:xfrm>
            <a:off x="6549158" y="2236050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418E3F-8DA0-43E4-8F65-AB3BAAFE67CD}"/>
              </a:ext>
            </a:extLst>
          </p:cNvPr>
          <p:cNvSpPr txBox="1"/>
          <p:nvPr/>
        </p:nvSpPr>
        <p:spPr>
          <a:xfrm>
            <a:off x="6549158" y="376424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B4D498-024F-4DBC-AD84-7E6514B7FE66}"/>
              </a:ext>
            </a:extLst>
          </p:cNvPr>
          <p:cNvSpPr txBox="1"/>
          <p:nvPr/>
        </p:nvSpPr>
        <p:spPr>
          <a:xfrm>
            <a:off x="6549158" y="529713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5DCA0-35CF-4048-BDA1-074798DA049A}"/>
              </a:ext>
            </a:extLst>
          </p:cNvPr>
          <p:cNvSpPr txBox="1"/>
          <p:nvPr/>
        </p:nvSpPr>
        <p:spPr>
          <a:xfrm>
            <a:off x="458276" y="1141047"/>
            <a:ext cx="2330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ATM: Woodham Green</a:t>
            </a:r>
          </a:p>
          <a:p>
            <a:pPr algn="ctr"/>
            <a:r>
              <a:rPr lang="en-GB" dirty="0"/>
              <a:t>£50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78EB32B-427A-4B12-94AC-B6B524406F72}"/>
              </a:ext>
            </a:extLst>
          </p:cNvPr>
          <p:cNvSpPr txBox="1"/>
          <p:nvPr/>
        </p:nvSpPr>
        <p:spPr>
          <a:xfrm>
            <a:off x="1584281" y="-61546"/>
            <a:ext cx="6717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All these cards are items on a monthly bank statement. Sort them into </a:t>
            </a:r>
            <a:r>
              <a:rPr lang="en-GB" sz="1400" b="1" dirty="0"/>
              <a:t>CREDITS </a:t>
            </a:r>
            <a:r>
              <a:rPr lang="en-GB" sz="1400" dirty="0"/>
              <a:t>&amp;</a:t>
            </a:r>
            <a:r>
              <a:rPr lang="en-GB" sz="1400" b="1" dirty="0"/>
              <a:t> DEBITS</a:t>
            </a:r>
            <a:r>
              <a:rPr lang="en-GB" sz="1400" dirty="0"/>
              <a:t>.</a:t>
            </a:r>
            <a:r>
              <a:rPr lang="en-GB" sz="1400" b="1" dirty="0"/>
              <a:t> </a:t>
            </a:r>
          </a:p>
          <a:p>
            <a:pPr algn="ctr"/>
            <a:r>
              <a:rPr lang="en-GB" sz="1400" dirty="0"/>
              <a:t>If someone had a </a:t>
            </a:r>
            <a:r>
              <a:rPr lang="en-GB" sz="1400" b="1" dirty="0"/>
              <a:t>£500 starting balance </a:t>
            </a:r>
            <a:r>
              <a:rPr lang="en-GB" sz="1400" dirty="0"/>
              <a:t>at the beginning of the month, </a:t>
            </a:r>
          </a:p>
          <a:p>
            <a:pPr algn="ctr"/>
            <a:r>
              <a:rPr lang="en-GB" sz="1400" dirty="0"/>
              <a:t>what is the </a:t>
            </a:r>
            <a:r>
              <a:rPr lang="en-GB" sz="1400" b="1" dirty="0"/>
              <a:t>maximum</a:t>
            </a:r>
            <a:r>
              <a:rPr lang="en-GB" sz="1400" dirty="0"/>
              <a:t> or </a:t>
            </a:r>
            <a:r>
              <a:rPr lang="en-GB" sz="1400" b="1" dirty="0"/>
              <a:t>minimum</a:t>
            </a:r>
            <a:r>
              <a:rPr lang="en-GB" sz="1400" dirty="0"/>
              <a:t> they could have at the end of the month?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8194BB-3BF9-425B-84CC-678431DA454D}"/>
              </a:ext>
            </a:extLst>
          </p:cNvPr>
          <p:cNvSpPr txBox="1"/>
          <p:nvPr/>
        </p:nvSpPr>
        <p:spPr>
          <a:xfrm>
            <a:off x="4203020" y="1141047"/>
            <a:ext cx="14999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Salary Income</a:t>
            </a:r>
          </a:p>
          <a:p>
            <a:pPr algn="ctr"/>
            <a:r>
              <a:rPr lang="en-GB" dirty="0"/>
              <a:t>£625,50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840A8-969E-46E3-91A7-8F0E414E4A7B}"/>
              </a:ext>
            </a:extLst>
          </p:cNvPr>
          <p:cNvSpPr txBox="1"/>
          <p:nvPr/>
        </p:nvSpPr>
        <p:spPr>
          <a:xfrm>
            <a:off x="7602466" y="1141047"/>
            <a:ext cx="1207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Electric Bill</a:t>
            </a:r>
          </a:p>
          <a:p>
            <a:pPr algn="ctr"/>
            <a:r>
              <a:rPr lang="en-GB" dirty="0"/>
              <a:t>£72,30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3C821-D835-4F31-A46F-D898589E35F1}"/>
              </a:ext>
            </a:extLst>
          </p:cNvPr>
          <p:cNvSpPr txBox="1"/>
          <p:nvPr/>
        </p:nvSpPr>
        <p:spPr>
          <a:xfrm>
            <a:off x="7733624" y="2653090"/>
            <a:ext cx="945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Internet</a:t>
            </a:r>
          </a:p>
          <a:p>
            <a:pPr algn="ctr"/>
            <a:r>
              <a:rPr lang="en-GB" dirty="0"/>
              <a:t>£32,99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BF52F1-3C4C-4DBC-A328-9BA10483EDF8}"/>
              </a:ext>
            </a:extLst>
          </p:cNvPr>
          <p:cNvSpPr txBox="1"/>
          <p:nvPr/>
        </p:nvSpPr>
        <p:spPr>
          <a:xfrm>
            <a:off x="3947078" y="2653090"/>
            <a:ext cx="1992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Interest on Balance</a:t>
            </a:r>
          </a:p>
          <a:p>
            <a:pPr algn="ctr"/>
            <a:r>
              <a:rPr lang="en-GB" dirty="0"/>
              <a:t>£5,66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694C15-AF5B-43B5-813C-6BE4E26624B6}"/>
              </a:ext>
            </a:extLst>
          </p:cNvPr>
          <p:cNvSpPr txBox="1"/>
          <p:nvPr/>
        </p:nvSpPr>
        <p:spPr>
          <a:xfrm>
            <a:off x="4152775" y="5715976"/>
            <a:ext cx="15808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Online Auction</a:t>
            </a:r>
          </a:p>
          <a:p>
            <a:pPr algn="ctr"/>
            <a:r>
              <a:rPr lang="en-GB" dirty="0"/>
              <a:t>£144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AD7B1-199E-41B7-91D8-F0CF69DEE742}"/>
              </a:ext>
            </a:extLst>
          </p:cNvPr>
          <p:cNvSpPr txBox="1"/>
          <p:nvPr/>
        </p:nvSpPr>
        <p:spPr>
          <a:xfrm>
            <a:off x="533874" y="2653090"/>
            <a:ext cx="2179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Birthday Gift Transfer</a:t>
            </a:r>
          </a:p>
          <a:p>
            <a:pPr algn="ctr"/>
            <a:r>
              <a:rPr lang="en-GB" dirty="0"/>
              <a:t>£30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2086CF-3F42-4893-8601-B0167188401E}"/>
              </a:ext>
            </a:extLst>
          </p:cNvPr>
          <p:cNvSpPr txBox="1"/>
          <p:nvPr/>
        </p:nvSpPr>
        <p:spPr>
          <a:xfrm>
            <a:off x="894645" y="4177322"/>
            <a:ext cx="1458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‘Kool </a:t>
            </a:r>
            <a:r>
              <a:rPr lang="en-GB" dirty="0" err="1"/>
              <a:t>Klothes</a:t>
            </a:r>
            <a:r>
              <a:rPr lang="en-GB" dirty="0"/>
              <a:t>’</a:t>
            </a:r>
          </a:p>
          <a:p>
            <a:pPr algn="ctr"/>
            <a:r>
              <a:rPr lang="en-GB" dirty="0"/>
              <a:t>£82,45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D668206-7355-424E-9BFF-141C3F6CB8C4}"/>
              </a:ext>
            </a:extLst>
          </p:cNvPr>
          <p:cNvSpPr txBox="1"/>
          <p:nvPr/>
        </p:nvSpPr>
        <p:spPr>
          <a:xfrm>
            <a:off x="560099" y="5685299"/>
            <a:ext cx="2127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‘Auntie Jen’</a:t>
            </a:r>
          </a:p>
          <a:p>
            <a:pPr algn="ctr"/>
            <a:r>
              <a:rPr lang="en-GB" dirty="0"/>
              <a:t>£65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72A63-6D12-42CB-B11D-3B33437C3F55}"/>
              </a:ext>
            </a:extLst>
          </p:cNvPr>
          <p:cNvSpPr txBox="1"/>
          <p:nvPr/>
        </p:nvSpPr>
        <p:spPr>
          <a:xfrm>
            <a:off x="7242047" y="4156770"/>
            <a:ext cx="19282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Books.com Refund</a:t>
            </a:r>
          </a:p>
          <a:p>
            <a:pPr algn="ctr"/>
            <a:r>
              <a:rPr lang="en-GB" dirty="0"/>
              <a:t>£45,20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511887-0AA6-4CD7-B0D0-9EA755EECA35}"/>
              </a:ext>
            </a:extLst>
          </p:cNvPr>
          <p:cNvSpPr txBox="1"/>
          <p:nvPr/>
        </p:nvSpPr>
        <p:spPr>
          <a:xfrm>
            <a:off x="7474194" y="5690930"/>
            <a:ext cx="1463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Car Insurance</a:t>
            </a:r>
          </a:p>
          <a:p>
            <a:pPr algn="ctr"/>
            <a:r>
              <a:rPr lang="en-GB" dirty="0"/>
              <a:t>£133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3F570F-8877-4417-B1C7-9F3969A5D724}"/>
              </a:ext>
            </a:extLst>
          </p:cNvPr>
          <p:cNvSpPr txBox="1"/>
          <p:nvPr/>
        </p:nvSpPr>
        <p:spPr>
          <a:xfrm>
            <a:off x="3643727" y="4164229"/>
            <a:ext cx="25989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Transfer: ‘Kelly’s Catering’</a:t>
            </a:r>
          </a:p>
          <a:p>
            <a:pPr algn="ctr"/>
            <a:r>
              <a:rPr lang="en-GB" dirty="0"/>
              <a:t>£165,80</a:t>
            </a:r>
          </a:p>
        </p:txBody>
      </p:sp>
    </p:spTree>
    <p:extLst>
      <p:ext uri="{BB962C8B-B14F-4D97-AF65-F5344CB8AC3E}">
        <p14:creationId xmlns:p14="http://schemas.microsoft.com/office/powerpoint/2010/main" val="284259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3607F3-48EE-48FE-BD34-24955C09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51035" y="1071354"/>
            <a:ext cx="6856949" cy="475488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E8F0352-42A6-40F4-BA1B-189899F05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59446" y="1071356"/>
            <a:ext cx="6856949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502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D3607F3-48EE-48FE-BD34-24955C099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64331" cy="33731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8DD0DCB-FF7E-440C-838A-A6FBF1FBC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"/>
            <a:ext cx="4864331" cy="337312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C04288-0AB2-47E2-8A88-A191F5647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46195"/>
            <a:ext cx="4864331" cy="3373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54F515-94AE-4BE1-9B83-53D6B39B0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46195"/>
            <a:ext cx="4864331" cy="337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24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7B910B-C749-42FC-A390-4E0D54A9E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1530440"/>
            <a:ext cx="9240883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Comments?</a:t>
            </a: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Suggestions?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…or have you found a mistake!?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feedback would be appreciated 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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feel free to email: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tom@goteachmaths.co.uk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10428</TotalTime>
  <Words>643</Words>
  <Application>Microsoft Office PowerPoint</Application>
  <PresentationFormat>A4 Paper (210x297 mm)</PresentationFormat>
  <Paragraphs>174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kite</cp:lastModifiedBy>
  <cp:revision>506</cp:revision>
  <cp:lastPrinted>2021-05-13T01:25:36Z</cp:lastPrinted>
  <dcterms:created xsi:type="dcterms:W3CDTF">2017-01-17T16:57:04Z</dcterms:created>
  <dcterms:modified xsi:type="dcterms:W3CDTF">2021-05-13T01:25:54Z</dcterms:modified>
</cp:coreProperties>
</file>