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704" r:id="rId1"/>
  </p:sldMasterIdLst>
  <p:notesMasterIdLst>
    <p:notesMasterId r:id="rId9"/>
  </p:notesMasterIdLst>
  <p:sldIdLst>
    <p:sldId id="940" r:id="rId2"/>
    <p:sldId id="941" r:id="rId3"/>
    <p:sldId id="942" r:id="rId4"/>
    <p:sldId id="833" r:id="rId5"/>
    <p:sldId id="832" r:id="rId6"/>
    <p:sldId id="943" r:id="rId7"/>
    <p:sldId id="944" r:id="rId8"/>
  </p:sldIdLst>
  <p:sldSz cx="9906000" cy="6858000" type="A4"/>
  <p:notesSz cx="7104063" cy="10234613"/>
  <p:embeddedFontLst>
    <p:embeddedFont>
      <p:font typeface="Fira Code" panose="020B0809050000020004" pitchFamily="49" charset="0"/>
      <p:regular r:id="rId10"/>
    </p:embeddedFont>
  </p:embeddedFontLst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12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3300"/>
    <a:srgbClr val="FF0066"/>
    <a:srgbClr val="00FF00"/>
    <a:srgbClr val="4472C4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1691" autoAdjust="0"/>
    <p:restoredTop sz="87774" autoAdjust="0"/>
  </p:normalViewPr>
  <p:slideViewPr>
    <p:cSldViewPr snapToGrid="0" showGuides="1">
      <p:cViewPr varScale="1">
        <p:scale>
          <a:sx n="63" d="100"/>
          <a:sy n="63" d="100"/>
        </p:scale>
        <p:origin x="632" y="56"/>
      </p:cViewPr>
      <p:guideLst>
        <p:guide orient="horz" pos="2160"/>
        <p:guide pos="3120"/>
      </p:guideLst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25" d="100"/>
        <a:sy n="25" d="100"/>
      </p:scale>
      <p:origin x="0" y="0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font" Target="fonts/font1.fntdata"/><Relationship Id="rId4" Type="http://schemas.openxmlformats.org/officeDocument/2006/relationships/slide" Target="slides/slide3.xml"/><Relationship Id="rId9" Type="http://schemas.openxmlformats.org/officeDocument/2006/relationships/notesMaster" Target="notesMasters/notesMaster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1" y="0"/>
            <a:ext cx="3078427" cy="513508"/>
          </a:xfrm>
          <a:prstGeom prst="rect">
            <a:avLst/>
          </a:prstGeom>
        </p:spPr>
        <p:txBody>
          <a:bodyPr vert="horz" lIns="94638" tIns="47319" rIns="94638" bIns="47319" rtlCol="0"/>
          <a:lstStyle>
            <a:lvl1pPr algn="l">
              <a:defRPr sz="13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4023992" y="0"/>
            <a:ext cx="3078427" cy="513508"/>
          </a:xfrm>
          <a:prstGeom prst="rect">
            <a:avLst/>
          </a:prstGeom>
        </p:spPr>
        <p:txBody>
          <a:bodyPr vert="horz" lIns="94638" tIns="47319" rIns="94638" bIns="47319" rtlCol="0"/>
          <a:lstStyle>
            <a:lvl1pPr algn="r">
              <a:defRPr sz="1300"/>
            </a:lvl1pPr>
          </a:lstStyle>
          <a:p>
            <a:fld id="{9C6A85EB-AF26-437E-8488-94E19A13AA79}" type="datetimeFigureOut">
              <a:rPr lang="en-GB" smtClean="0"/>
              <a:t>06/05/2024</a:t>
            </a:fld>
            <a:endParaRPr lang="en-GB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057275" y="1279525"/>
            <a:ext cx="4989513" cy="34544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4638" tIns="47319" rIns="94638" bIns="47319" rtlCol="0" anchor="ctr"/>
          <a:lstStyle/>
          <a:p>
            <a:endParaRPr lang="en-GB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710407" y="4925410"/>
            <a:ext cx="5683250" cy="4029878"/>
          </a:xfrm>
          <a:prstGeom prst="rect">
            <a:avLst/>
          </a:prstGeom>
        </p:spPr>
        <p:txBody>
          <a:bodyPr vert="horz" lIns="94638" tIns="47319" rIns="94638" bIns="47319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1" y="9721110"/>
            <a:ext cx="3078427" cy="513507"/>
          </a:xfrm>
          <a:prstGeom prst="rect">
            <a:avLst/>
          </a:prstGeom>
        </p:spPr>
        <p:txBody>
          <a:bodyPr vert="horz" lIns="94638" tIns="47319" rIns="94638" bIns="47319" rtlCol="0" anchor="b"/>
          <a:lstStyle>
            <a:lvl1pPr algn="l">
              <a:defRPr sz="1300"/>
            </a:lvl1pPr>
          </a:lstStyle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4023992" y="9721110"/>
            <a:ext cx="3078427" cy="513507"/>
          </a:xfrm>
          <a:prstGeom prst="rect">
            <a:avLst/>
          </a:prstGeom>
        </p:spPr>
        <p:txBody>
          <a:bodyPr vert="horz" lIns="94638" tIns="47319" rIns="94638" bIns="47319" rtlCol="0" anchor="b"/>
          <a:lstStyle>
            <a:lvl1pPr algn="r">
              <a:defRPr sz="1300"/>
            </a:lvl1pPr>
          </a:lstStyle>
          <a:p>
            <a:fld id="{DD4EDCD2-601A-461C-9AB5-639C33E3F98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949271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Two worksheets to print.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D4EDCD2-601A-461C-9AB5-639C33E3F986}" type="slidenum">
              <a:rPr lang="en-GB" smtClean="0"/>
              <a:t>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3103570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742950" y="1122363"/>
            <a:ext cx="84201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238250" y="3602038"/>
            <a:ext cx="74295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5/6/2024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4914716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5/6/2024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7299539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5879" y="1709740"/>
            <a:ext cx="8543925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5879" y="4589465"/>
            <a:ext cx="8543925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5/6/2024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7483106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81038" y="1825625"/>
            <a:ext cx="421005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014913" y="1825625"/>
            <a:ext cx="421005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5/6/2024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8989402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328" y="365127"/>
            <a:ext cx="8543925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2329" y="1681163"/>
            <a:ext cx="4190702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82329" y="2505075"/>
            <a:ext cx="4190702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014913" y="1681163"/>
            <a:ext cx="4211340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014913" y="2505075"/>
            <a:ext cx="4211340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5/6/2024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5105042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5/6/2024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067655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5/6/2024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0677498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328" y="457200"/>
            <a:ext cx="3194943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211340" y="987427"/>
            <a:ext cx="5014913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2328" y="2057400"/>
            <a:ext cx="3194943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5/6/2024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3568098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328" y="457200"/>
            <a:ext cx="3194943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4211340" y="987427"/>
            <a:ext cx="5014913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2328" y="2057400"/>
            <a:ext cx="3194943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5/6/2024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8621591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5/6/2024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1801746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7088982" y="365125"/>
            <a:ext cx="2135981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81038" y="365125"/>
            <a:ext cx="6284119" cy="5811838"/>
          </a:xfrm>
        </p:spPr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5/6/2024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35142738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07398827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81038" y="365127"/>
            <a:ext cx="8543925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1038" y="1825625"/>
            <a:ext cx="8543925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81038" y="6356352"/>
            <a:ext cx="222885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764DE79-268F-4C1A-8933-263129D2AF90}" type="datetimeFigureOut">
              <a:rPr lang="en-US" smtClean="0"/>
              <a:t>5/6/2024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281363" y="6356352"/>
            <a:ext cx="334327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996113" y="6356352"/>
            <a:ext cx="222885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300797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05" r:id="rId1"/>
    <p:sldLayoutId id="2147483706" r:id="rId2"/>
    <p:sldLayoutId id="2147483707" r:id="rId3"/>
    <p:sldLayoutId id="2147483708" r:id="rId4"/>
    <p:sldLayoutId id="2147483709" r:id="rId5"/>
    <p:sldLayoutId id="2147483710" r:id="rId6"/>
    <p:sldLayoutId id="2147483711" r:id="rId7"/>
    <p:sldLayoutId id="2147483712" r:id="rId8"/>
    <p:sldLayoutId id="2147483713" r:id="rId9"/>
    <p:sldLayoutId id="2147483714" r:id="rId10"/>
    <p:sldLayoutId id="2147483715" r:id="rId11"/>
    <p:sldLayoutId id="2147483716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4">
            <a:extLst>
              <a:ext uri="{FF2B5EF4-FFF2-40B4-BE49-F238E27FC236}">
                <a16:creationId xmlns:a16="http://schemas.microsoft.com/office/drawing/2014/main" id="{6B89D2DF-F554-4C2A-CE1D-D373E74E5B72}"/>
              </a:ext>
            </a:extLst>
          </p:cNvPr>
          <p:cNvSpPr txBox="1">
            <a:spLocks/>
          </p:cNvSpPr>
          <p:nvPr/>
        </p:nvSpPr>
        <p:spPr>
          <a:xfrm>
            <a:off x="116840" y="1754505"/>
            <a:ext cx="10490200" cy="4351338"/>
          </a:xfrm>
          <a:prstGeom prst="rect">
            <a:avLst/>
          </a:prstGeom>
        </p:spPr>
        <p:txBody>
          <a:bodyPr>
            <a:normAutofit fontScale="92500" lnSpcReduction="2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228600" marR="0" lvl="0" indent="-22860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1 Сандуу Ондуктар </a:t>
            </a:r>
            <a:r>
              <a:rPr kumimoji="0" lang="ru-RU" sz="2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– Кошуу жана Кемитүү </a:t>
            </a:r>
            <a:r>
              <a:rPr kumimoji="0" lang="ru-RU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– Катаны тап</a:t>
            </a:r>
            <a:endParaRPr kumimoji="0" lang="en-US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228600" marR="0" lvl="0" indent="-22860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ru-RU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228600" marR="0" lvl="0" indent="-22860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Окуучулар жанындагы суроолорду жана жооптордун каталарын текшериши керек анан окуучулар аларды оңдошу керек.</a:t>
            </a:r>
          </a:p>
          <a:p>
            <a:pPr marL="228600" marR="0" lvl="0" indent="-22860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ru-RU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228600" marR="0" lvl="0" indent="-22860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Окуучуларга канча ката табуу керек экенин айтуунун кажети жок.</a:t>
            </a:r>
          </a:p>
          <a:p>
            <a:pPr marL="228600" marR="0" lvl="0" indent="-22860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ru-RU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228600" marR="0" lvl="0" indent="-22860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Иш барагы </a:t>
            </a:r>
            <a:r>
              <a:rPr kumimoji="0" lang="ky-KG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ар кандай</a:t>
            </a:r>
            <a:r>
              <a:rPr kumimoji="0" lang="ru-RU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өлчөмдө жана форматта.</a:t>
            </a:r>
          </a:p>
          <a:p>
            <a:pPr marL="228600" marR="0" lvl="0" indent="-22860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ru-RU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228600" marR="0" lvl="0" indent="-22860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Анимацияларды текшерип, </a:t>
            </a:r>
            <a:r>
              <a:rPr kumimoji="0" lang="ky-KG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сабагы</a:t>
            </a:r>
            <a:r>
              <a:rPr kumimoji="0" lang="ru-RU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ң</a:t>
            </a:r>
            <a:r>
              <a:rPr kumimoji="0" lang="ky-KG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ызга </a:t>
            </a:r>
            <a:r>
              <a:rPr kumimoji="0" lang="ru-RU" sz="28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КЕРЕГИ ЖОК </a:t>
            </a:r>
            <a:r>
              <a:rPr kumimoji="0" lang="ru-RU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слайддарды </a:t>
            </a:r>
            <a:r>
              <a:rPr kumimoji="0" lang="ru-RU" sz="32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ӨЧҮРҮ</a:t>
            </a:r>
            <a:r>
              <a:rPr kumimoji="0" lang="ky-KG" sz="32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П САЛЫ</a:t>
            </a:r>
            <a:r>
              <a:rPr kumimoji="0" lang="ru-RU" sz="32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ҢЫЗ.</a:t>
            </a:r>
            <a:endParaRPr kumimoji="0" lang="en-US" sz="2800" b="1" i="0" u="none" strike="noStrike" kern="1200" cap="none" spc="0" normalizeH="0" baseline="0" noProof="0" dirty="0">
              <a:ln>
                <a:noFill/>
              </a:ln>
              <a:solidFill>
                <a:srgbClr val="FF0000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" name="Title 3">
            <a:extLst>
              <a:ext uri="{FF2B5EF4-FFF2-40B4-BE49-F238E27FC236}">
                <a16:creationId xmlns:a16="http://schemas.microsoft.com/office/drawing/2014/main" id="{0899BD10-45E1-4B1B-06C3-4D1ECCB52487}"/>
              </a:ext>
            </a:extLst>
          </p:cNvPr>
          <p:cNvSpPr txBox="1">
            <a:spLocks/>
          </p:cNvSpPr>
          <p:nvPr/>
        </p:nvSpPr>
        <p:spPr>
          <a:xfrm>
            <a:off x="0" y="452438"/>
            <a:ext cx="9404350" cy="140017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6600" b="0" i="0" u="none" strike="noStrike" kern="1200" cap="none" spc="0" normalizeH="0" baseline="0" noProof="0" dirty="0" err="1">
                <a:ln>
                  <a:noFill/>
                </a:ln>
                <a:solidFill>
                  <a:srgbClr val="00B0F0"/>
                </a:solidFill>
                <a:effectLst/>
                <a:uLnTx/>
                <a:uFillTx/>
                <a:latin typeface="Calibri Light" panose="020F0302020204030204"/>
                <a:ea typeface="+mj-ea"/>
                <a:cs typeface="+mj-cs"/>
              </a:rPr>
              <a:t>MathKGZ</a:t>
            </a:r>
            <a:r>
              <a:rPr kumimoji="0" lang="en-US" sz="5200" b="0" i="0" u="none" strike="noStrike" kern="1200" cap="none" spc="0" normalizeH="0" baseline="0" noProof="0" dirty="0">
                <a:ln>
                  <a:noFill/>
                </a:ln>
                <a:solidFill>
                  <a:srgbClr val="00B0F0"/>
                </a:solidFill>
                <a:effectLst/>
                <a:uLnTx/>
                <a:uFillTx/>
                <a:latin typeface="Calibri Light" panose="020F0302020204030204"/>
                <a:ea typeface="+mj-ea"/>
                <a:cs typeface="+mj-cs"/>
              </a:rPr>
              <a:t>  -- </a:t>
            </a:r>
          </a:p>
        </p:txBody>
      </p:sp>
    </p:spTree>
    <p:extLst>
      <p:ext uri="{BB962C8B-B14F-4D97-AF65-F5344CB8AC3E}">
        <p14:creationId xmlns:p14="http://schemas.microsoft.com/office/powerpoint/2010/main" val="259635348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Group 3">
            <a:extLst>
              <a:ext uri="{FF2B5EF4-FFF2-40B4-BE49-F238E27FC236}">
                <a16:creationId xmlns:a16="http://schemas.microsoft.com/office/drawing/2014/main" id="{2FC410AA-59FC-4615-9780-3FC3ECD91E78}"/>
              </a:ext>
            </a:extLst>
          </p:cNvPr>
          <p:cNvGrpSpPr/>
          <p:nvPr/>
        </p:nvGrpSpPr>
        <p:grpSpPr>
          <a:xfrm>
            <a:off x="3461511" y="1302570"/>
            <a:ext cx="6444489" cy="5571586"/>
            <a:chOff x="1420561" y="0"/>
            <a:chExt cx="7091350" cy="6130832"/>
          </a:xfrm>
        </p:grpSpPr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73161848-2715-40E3-B5AA-94155D127F7E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2272836" y="0"/>
              <a:ext cx="5360328" cy="4588077"/>
            </a:xfrm>
            <a:prstGeom prst="rect">
              <a:avLst/>
            </a:prstGeom>
          </p:spPr>
        </p:pic>
        <p:pic>
          <p:nvPicPr>
            <p:cNvPr id="6" name="Picture 5">
              <a:extLst>
                <a:ext uri="{FF2B5EF4-FFF2-40B4-BE49-F238E27FC236}">
                  <a16:creationId xmlns:a16="http://schemas.microsoft.com/office/drawing/2014/main" id="{9169D55E-8782-4380-A82A-10E94A3015C0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420561" y="4561949"/>
              <a:ext cx="7091350" cy="1568883"/>
            </a:xfrm>
            <a:prstGeom prst="rect">
              <a:avLst/>
            </a:prstGeom>
          </p:spPr>
        </p:pic>
      </p:grpSp>
      <p:sp>
        <p:nvSpPr>
          <p:cNvPr id="7" name="Oval 6">
            <a:extLst>
              <a:ext uri="{FF2B5EF4-FFF2-40B4-BE49-F238E27FC236}">
                <a16:creationId xmlns:a16="http://schemas.microsoft.com/office/drawing/2014/main" id="{439CDF84-16EA-482C-BDCB-DEFCD04B93A3}"/>
              </a:ext>
            </a:extLst>
          </p:cNvPr>
          <p:cNvSpPr/>
          <p:nvPr/>
        </p:nvSpPr>
        <p:spPr>
          <a:xfrm>
            <a:off x="6552318" y="2808059"/>
            <a:ext cx="1237129" cy="1173852"/>
          </a:xfrm>
          <a:prstGeom prst="ellipse">
            <a:avLst/>
          </a:prstGeom>
          <a:noFill/>
          <a:ln w="762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95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BCAD6BA9-22F2-49B3-9FF9-47A39C5DF1F2}"/>
              </a:ext>
            </a:extLst>
          </p:cNvPr>
          <p:cNvSpPr/>
          <p:nvPr/>
        </p:nvSpPr>
        <p:spPr>
          <a:xfrm>
            <a:off x="4139240" y="5569812"/>
            <a:ext cx="1237129" cy="1173852"/>
          </a:xfrm>
          <a:prstGeom prst="ellipse">
            <a:avLst/>
          </a:prstGeom>
          <a:noFill/>
          <a:ln w="762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95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406367DB-C808-9BE8-3A27-5C08EF882810}"/>
              </a:ext>
            </a:extLst>
          </p:cNvPr>
          <p:cNvSpPr txBox="1"/>
          <p:nvPr/>
        </p:nvSpPr>
        <p:spPr>
          <a:xfrm>
            <a:off x="356981" y="114336"/>
            <a:ext cx="8453120" cy="1477328"/>
          </a:xfrm>
          <a:prstGeom prst="rect">
            <a:avLst/>
          </a:prstGeom>
          <a:noFill/>
          <a:ln w="28575">
            <a:noFill/>
          </a:ln>
        </p:spPr>
        <p:txBody>
          <a:bodyPr wrap="squar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7200" b="1" i="0" u="none" strike="noStrike" kern="1200" cap="none" spc="0" normalizeH="0" baseline="0" noProof="0" dirty="0">
                <a:ln w="22225">
                  <a:solidFill>
                    <a:srgbClr val="ED7D31"/>
                  </a:solidFill>
                  <a:prstDash val="solid"/>
                </a:ln>
                <a:solidFill>
                  <a:srgbClr val="ED7D31">
                    <a:lumMod val="40000"/>
                    <a:lumOff val="60000"/>
                  </a:srgbClr>
                </a:solidFill>
                <a:effectLst>
                  <a:glow rad="228600">
                    <a:srgbClr val="70AD47">
                      <a:satMod val="175000"/>
                      <a:alpha val="40000"/>
                    </a:srgbClr>
                  </a:glow>
                  <a:reflection blurRad="6350" stA="55000" endA="50" endPos="85000" dist="29997" dir="5400000" sy="-100000" algn="bl" rotWithShape="0"/>
                </a:effectLst>
                <a:uLnTx/>
                <a:uFillTx/>
                <a:latin typeface="Calibri Light" panose="020F0302020204030204"/>
                <a:ea typeface="+mn-ea"/>
                <a:cs typeface="+mn-cs"/>
              </a:rPr>
              <a:t>Катаны тап</a:t>
            </a: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1800" b="0" i="0" u="none" strike="noStrike" kern="1200" cap="none" spc="0" normalizeH="0" baseline="0" noProof="0" dirty="0">
              <a:ln>
                <a:noFill/>
              </a:ln>
              <a:solidFill>
                <a:srgbClr val="FF0000"/>
              </a:solidFill>
              <a:effectLst>
                <a:reflection blurRad="6350" stA="55000" endA="50" endPos="85000" dist="29997" dir="5400000" sy="-100000" algn="bl" rotWithShape="0"/>
              </a:effectLst>
              <a:uLnTx/>
              <a:uFillTx/>
              <a:latin typeface="Fira Code" panose="020F0502020204030204" pitchFamily="49" charset="0"/>
              <a:ea typeface="+mn-ea"/>
              <a:cs typeface="+mn-cs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9D2652E0-CD09-656D-4C62-8FD8F9C42BD8}"/>
              </a:ext>
            </a:extLst>
          </p:cNvPr>
          <p:cNvSpPr txBox="1"/>
          <p:nvPr/>
        </p:nvSpPr>
        <p:spPr>
          <a:xfrm>
            <a:off x="595140" y="2214673"/>
            <a:ext cx="3881191" cy="35394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Үч бурчтукта </a:t>
            </a:r>
            <a:endParaRPr kumimoji="0" lang="en-US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айрым каталар бар!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Сен алардын </a:t>
            </a:r>
            <a:endParaRPr kumimoji="0" lang="en-US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баарын таба аласынбы?</a:t>
            </a:r>
            <a:endParaRPr kumimoji="0" lang="en-GB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19959414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EAD8DDD1-406F-9877-DE5E-C95B00D1B9A8}"/>
              </a:ext>
            </a:extLst>
          </p:cNvPr>
          <p:cNvSpPr txBox="1"/>
          <p:nvPr/>
        </p:nvSpPr>
        <p:spPr>
          <a:xfrm>
            <a:off x="0" y="10883"/>
            <a:ext cx="502920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32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>
                  <a:outerShdw blurRad="838200" dist="1638300" dir="16440000" sx="53000" sy="53000" algn="ctr" rotWithShape="0">
                    <a:srgbClr val="000000">
                      <a:alpha val="5000"/>
                    </a:srgbClr>
                  </a:outerShdw>
                  <a:reflection blurRad="76200" stA="45000" endPos="0" dist="50800" dir="5400000" sy="-100000" algn="bl" rotWithShape="0"/>
                </a:effectLst>
                <a:uLnTx/>
                <a:uFillTx/>
                <a:latin typeface="Calibri" panose="020F0502020204030204"/>
                <a:ea typeface="+mn-ea"/>
                <a:cs typeface="+mn-cs"/>
              </a:rPr>
              <a:t>Каталарды издеп - тап</a:t>
            </a:r>
            <a:endParaRPr kumimoji="0" lang="en-US" sz="32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>
                <a:outerShdw blurRad="838200" dist="1638300" dir="16440000" sx="53000" sy="53000" algn="ctr" rotWithShape="0">
                  <a:srgbClr val="000000">
                    <a:alpha val="5000"/>
                  </a:srgbClr>
                </a:outerShdw>
                <a:reflection blurRad="76200" stA="45000" endPos="0" dist="50800" dir="5400000" sy="-100000" algn="bl" rotWithShape="0"/>
              </a:effectLst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960430C-2ED9-2CAC-B0CF-A11FE963DDD5}"/>
              </a:ext>
            </a:extLst>
          </p:cNvPr>
          <p:cNvSpPr txBox="1"/>
          <p:nvPr/>
        </p:nvSpPr>
        <p:spPr>
          <a:xfrm>
            <a:off x="613340" y="1015249"/>
            <a:ext cx="2857642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Каталарды таба аласызбы?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Аларды оңдоңуз!</a:t>
            </a:r>
            <a:endParaRPr kumimoji="0" lang="en-GB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grpSp>
        <p:nvGrpSpPr>
          <p:cNvPr id="2" name="Group 1">
            <a:extLst>
              <a:ext uri="{FF2B5EF4-FFF2-40B4-BE49-F238E27FC236}">
                <a16:creationId xmlns:a16="http://schemas.microsoft.com/office/drawing/2014/main" id="{E97D8F64-39B6-1F0D-A1D0-00BBE9822488}"/>
              </a:ext>
            </a:extLst>
          </p:cNvPr>
          <p:cNvGrpSpPr/>
          <p:nvPr/>
        </p:nvGrpSpPr>
        <p:grpSpPr>
          <a:xfrm>
            <a:off x="2001520" y="39661"/>
            <a:ext cx="7904480" cy="6818339"/>
            <a:chOff x="2976580" y="2008682"/>
            <a:chExt cx="5524500" cy="4765388"/>
          </a:xfrm>
        </p:grpSpPr>
        <p:pic>
          <p:nvPicPr>
            <p:cNvPr id="3" name="Picture 2">
              <a:extLst>
                <a:ext uri="{FF2B5EF4-FFF2-40B4-BE49-F238E27FC236}">
                  <a16:creationId xmlns:a16="http://schemas.microsoft.com/office/drawing/2014/main" id="{F01B917E-9A09-82B1-7879-D35DCC7E3315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4273659" y="2008682"/>
              <a:ext cx="2873901" cy="2397692"/>
            </a:xfrm>
            <a:prstGeom prst="rect">
              <a:avLst/>
            </a:prstGeom>
          </p:spPr>
        </p:pic>
        <p:pic>
          <p:nvPicPr>
            <p:cNvPr id="4" name="Picture 3">
              <a:extLst>
                <a:ext uri="{FF2B5EF4-FFF2-40B4-BE49-F238E27FC236}">
                  <a16:creationId xmlns:a16="http://schemas.microsoft.com/office/drawing/2014/main" id="{A754B29A-76D0-ED55-05D9-94DBAD75DDC4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2976580" y="4376457"/>
              <a:ext cx="5524500" cy="2397613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404144630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Group 4">
            <a:extLst>
              <a:ext uri="{FF2B5EF4-FFF2-40B4-BE49-F238E27FC236}">
                <a16:creationId xmlns:a16="http://schemas.microsoft.com/office/drawing/2014/main" id="{A33BA733-9108-41AD-A13F-19954F2AF5EB}"/>
              </a:ext>
            </a:extLst>
          </p:cNvPr>
          <p:cNvGrpSpPr/>
          <p:nvPr/>
        </p:nvGrpSpPr>
        <p:grpSpPr>
          <a:xfrm>
            <a:off x="2001520" y="39661"/>
            <a:ext cx="7904480" cy="6818339"/>
            <a:chOff x="2976580" y="2008682"/>
            <a:chExt cx="5524500" cy="4765388"/>
          </a:xfrm>
        </p:grpSpPr>
        <p:pic>
          <p:nvPicPr>
            <p:cNvPr id="3" name="Picture 2">
              <a:extLst>
                <a:ext uri="{FF2B5EF4-FFF2-40B4-BE49-F238E27FC236}">
                  <a16:creationId xmlns:a16="http://schemas.microsoft.com/office/drawing/2014/main" id="{331D0E56-DF21-4F8B-985C-F61899A4CE61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4273659" y="2008682"/>
              <a:ext cx="2873901" cy="2397692"/>
            </a:xfrm>
            <a:prstGeom prst="rect">
              <a:avLst/>
            </a:prstGeom>
          </p:spPr>
        </p:pic>
        <p:pic>
          <p:nvPicPr>
            <p:cNvPr id="4" name="Picture 3">
              <a:extLst>
                <a:ext uri="{FF2B5EF4-FFF2-40B4-BE49-F238E27FC236}">
                  <a16:creationId xmlns:a16="http://schemas.microsoft.com/office/drawing/2014/main" id="{2C58724E-94F3-458B-A004-C0B55065E320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2976580" y="4376457"/>
              <a:ext cx="5524500" cy="2397613"/>
            </a:xfrm>
            <a:prstGeom prst="rect">
              <a:avLst/>
            </a:prstGeom>
          </p:spPr>
        </p:pic>
      </p:grpSp>
      <p:sp>
        <p:nvSpPr>
          <p:cNvPr id="16" name="Oval 15">
            <a:extLst>
              <a:ext uri="{FF2B5EF4-FFF2-40B4-BE49-F238E27FC236}">
                <a16:creationId xmlns:a16="http://schemas.microsoft.com/office/drawing/2014/main" id="{B3955A4D-0509-4550-BC6B-C46A16E1AF2E}"/>
              </a:ext>
            </a:extLst>
          </p:cNvPr>
          <p:cNvSpPr/>
          <p:nvPr/>
        </p:nvSpPr>
        <p:spPr>
          <a:xfrm>
            <a:off x="4906831" y="1931682"/>
            <a:ext cx="1237129" cy="1173852"/>
          </a:xfrm>
          <a:prstGeom prst="ellipse">
            <a:avLst/>
          </a:prstGeom>
          <a:noFill/>
          <a:ln w="762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7" name="Oval 16">
            <a:extLst>
              <a:ext uri="{FF2B5EF4-FFF2-40B4-BE49-F238E27FC236}">
                <a16:creationId xmlns:a16="http://schemas.microsoft.com/office/drawing/2014/main" id="{87B72457-24FB-4CA8-A750-8B2CECF51C53}"/>
              </a:ext>
            </a:extLst>
          </p:cNvPr>
          <p:cNvSpPr/>
          <p:nvPr/>
        </p:nvSpPr>
        <p:spPr>
          <a:xfrm>
            <a:off x="7743640" y="5420360"/>
            <a:ext cx="1237129" cy="1173852"/>
          </a:xfrm>
          <a:prstGeom prst="ellipse">
            <a:avLst/>
          </a:prstGeom>
          <a:noFill/>
          <a:ln w="762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8" name="Oval 17">
            <a:extLst>
              <a:ext uri="{FF2B5EF4-FFF2-40B4-BE49-F238E27FC236}">
                <a16:creationId xmlns:a16="http://schemas.microsoft.com/office/drawing/2014/main" id="{02E34BBF-68C4-4436-A15E-D87B9552907B}"/>
              </a:ext>
            </a:extLst>
          </p:cNvPr>
          <p:cNvSpPr/>
          <p:nvPr/>
        </p:nvSpPr>
        <p:spPr>
          <a:xfrm>
            <a:off x="5735519" y="3744882"/>
            <a:ext cx="1237129" cy="1173852"/>
          </a:xfrm>
          <a:prstGeom prst="ellipse">
            <a:avLst/>
          </a:prstGeom>
          <a:noFill/>
          <a:ln w="762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746B0C1C-CE7D-4B26-8C7B-77AE7F5253E4}"/>
              </a:ext>
            </a:extLst>
          </p:cNvPr>
          <p:cNvSpPr/>
          <p:nvPr/>
        </p:nvSpPr>
        <p:spPr>
          <a:xfrm>
            <a:off x="3909439" y="3627670"/>
            <a:ext cx="1237129" cy="1173852"/>
          </a:xfrm>
          <a:prstGeom prst="ellipse">
            <a:avLst/>
          </a:prstGeom>
          <a:noFill/>
          <a:ln w="762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29" name="Oval 28">
            <a:extLst>
              <a:ext uri="{FF2B5EF4-FFF2-40B4-BE49-F238E27FC236}">
                <a16:creationId xmlns:a16="http://schemas.microsoft.com/office/drawing/2014/main" id="{B2C5FBDA-1083-4457-A84E-0383319636D9}"/>
              </a:ext>
            </a:extLst>
          </p:cNvPr>
          <p:cNvSpPr/>
          <p:nvPr/>
        </p:nvSpPr>
        <p:spPr>
          <a:xfrm>
            <a:off x="7300809" y="4616288"/>
            <a:ext cx="1237129" cy="1173852"/>
          </a:xfrm>
          <a:prstGeom prst="ellipse">
            <a:avLst/>
          </a:prstGeom>
          <a:noFill/>
          <a:ln w="762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8BD1BFE-8201-34D7-5EE6-020E53F00A6D}"/>
              </a:ext>
            </a:extLst>
          </p:cNvPr>
          <p:cNvSpPr txBox="1"/>
          <p:nvPr/>
        </p:nvSpPr>
        <p:spPr>
          <a:xfrm>
            <a:off x="261351" y="263010"/>
            <a:ext cx="4226560" cy="110799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y-KG" sz="6600" b="1" spc="600" dirty="0">
                <a:ln w="0">
                  <a:solidFill>
                    <a:schemeClr val="bg2">
                      <a:lumMod val="10000"/>
                    </a:schemeClr>
                  </a:solidFill>
                </a:ln>
                <a:solidFill>
                  <a:srgbClr val="92D050"/>
                </a:solidFill>
                <a:effectLst>
                  <a:outerShdw blurRad="50800" dist="38100" dir="5400000" algn="t" rotWithShape="0">
                    <a:prstClr val="black">
                      <a:alpha val="40000"/>
                    </a:prstClr>
                  </a:outerShdw>
                  <a:reflection blurRad="6350" stA="53000" endA="300" endPos="35500" dir="5400000" sy="-90000" algn="bl" rotWithShape="0"/>
                </a:effectLst>
              </a:rPr>
              <a:t>ЖООБУ</a:t>
            </a:r>
            <a:endParaRPr lang="en-US" sz="1600" b="1" spc="600" dirty="0">
              <a:ln w="0">
                <a:solidFill>
                  <a:schemeClr val="bg2">
                    <a:lumMod val="10000"/>
                  </a:schemeClr>
                </a:solidFill>
              </a:ln>
              <a:solidFill>
                <a:srgbClr val="92D050"/>
              </a:solidFill>
              <a:effectLst>
                <a:outerShdw blurRad="50800" dist="38100" dir="5400000" algn="t" rotWithShape="0">
                  <a:prstClr val="black">
                    <a:alpha val="40000"/>
                  </a:prstClr>
                </a:outerShdw>
                <a:reflection blurRad="6350" stA="53000" endA="300" endPos="35500" dir="5400000" sy="-90000" algn="bl" rotWithShape="0"/>
              </a:effectLst>
            </a:endParaRPr>
          </a:p>
        </p:txBody>
      </p:sp>
    </p:spTree>
    <p:extLst>
      <p:ext uri="{BB962C8B-B14F-4D97-AF65-F5344CB8AC3E}">
        <p14:creationId xmlns:p14="http://schemas.microsoft.com/office/powerpoint/2010/main" val="88598404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4FD8FFA8-80AA-9299-4D72-C57F8940B27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rot="16200000">
            <a:off x="-778692" y="1124132"/>
            <a:ext cx="6627653" cy="4582588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D4F04D39-AEA5-C083-372F-261A5423C0C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rot="16200000">
            <a:off x="4211027" y="1124126"/>
            <a:ext cx="6627656" cy="458259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9758789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F2B3C76F-3D6C-1145-9F62-18FCE0ACDD6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268" y="0"/>
            <a:ext cx="4643332" cy="3210560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16D7BCAB-BB37-CFBF-473D-469FD35571D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32827" y="0"/>
            <a:ext cx="4643333" cy="3210561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2B64A26A-A2C9-EEA6-EAAA-126194EB617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867" y="3429000"/>
            <a:ext cx="4880133" cy="3374292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75DB7957-B6E5-689F-3EE5-155D305F713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32827" y="3314726"/>
            <a:ext cx="5045401" cy="34885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1679602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049DD828-9816-48D5-8793-DAFED5357886}"/>
              </a:ext>
            </a:extLst>
          </p:cNvPr>
          <p:cNvSpPr/>
          <p:nvPr/>
        </p:nvSpPr>
        <p:spPr>
          <a:xfrm>
            <a:off x="403678" y="674400"/>
            <a:ext cx="9240883" cy="550920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Суроолор барбы?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Комментарийлер?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Сунуштар?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3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…же ката таптыңызбы!?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3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Турдуу пикирлер учун ыраазычылык билдиребиз.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3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Сураныч, электрондук кат жөнөтүңүз: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3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mathematicskgz@gmail.com</a:t>
            </a:r>
          </a:p>
        </p:txBody>
      </p:sp>
    </p:spTree>
    <p:extLst>
      <p:ext uri="{BB962C8B-B14F-4D97-AF65-F5344CB8AC3E}">
        <p14:creationId xmlns:p14="http://schemas.microsoft.com/office/powerpoint/2010/main" val="375758780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noFill/>
        <a:ln w="28575">
          <a:solidFill>
            <a:schemeClr val="tx1"/>
          </a:solidFill>
        </a:ln>
      </a:spPr>
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<a:prstTxWarp prst="textNoShape">
          <a:avLst/>
        </a:prstTxWarp>
        <a:noAutofit/>
      </a:bodyPr>
      <a:lstStyle>
        <a:defPPr algn="ctr">
          <a:defRPr sz="1950"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TM04033937[[fn=Vapor Trail]]</Template>
  <TotalTime>8324</TotalTime>
  <Words>119</Words>
  <Application>Microsoft Office PowerPoint</Application>
  <PresentationFormat>A4 Paper (210x297 mm)</PresentationFormat>
  <Paragraphs>35</Paragraphs>
  <Slides>7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2" baseType="lpstr">
      <vt:lpstr>Calibri</vt:lpstr>
      <vt:lpstr>Fira Code</vt:lpstr>
      <vt:lpstr>Arial</vt:lpstr>
      <vt:lpstr>Calibri Light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Kite</dc:creator>
  <cp:lastModifiedBy>Isa Amanov</cp:lastModifiedBy>
  <cp:revision>360</cp:revision>
  <cp:lastPrinted>2019-05-06T03:17:56Z</cp:lastPrinted>
  <dcterms:created xsi:type="dcterms:W3CDTF">2017-01-17T16:57:04Z</dcterms:created>
  <dcterms:modified xsi:type="dcterms:W3CDTF">2024-05-06T05:29:10Z</dcterms:modified>
</cp:coreProperties>
</file>