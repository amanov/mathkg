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0"/>
  </p:notesMasterIdLst>
  <p:sldIdLst>
    <p:sldId id="257" r:id="rId3"/>
    <p:sldId id="918" r:id="rId4"/>
    <p:sldId id="912" r:id="rId5"/>
    <p:sldId id="838" r:id="rId6"/>
    <p:sldId id="916" r:id="rId7"/>
    <p:sldId id="917" r:id="rId8"/>
    <p:sldId id="274" r:id="rId9"/>
  </p:sldIdLst>
  <p:sldSz cx="9906000" cy="6858000" type="A4"/>
  <p:notesSz cx="6889750" cy="10021888"/>
  <p:embeddedFontLst>
    <p:embeddedFont>
      <p:font typeface="Aharoni" panose="02010803020104030203" pitchFamily="2" charset="-79"/>
      <p:bold r:id="rId11"/>
    </p:embeddedFont>
    <p:embeddedFont>
      <p:font typeface="Bahnschrift" panose="020B0502040204020203" pitchFamily="34" charset="0"/>
      <p:regular r:id="rId12"/>
      <p:bold r:id="rId13"/>
    </p:embeddedFont>
    <p:embeddedFont>
      <p:font typeface="Script MT Bold" panose="03040602040607080904" pitchFamily="66" charset="0"/>
      <p:bold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632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85558" cy="502835"/>
          </a:xfrm>
          <a:prstGeom prst="rect">
            <a:avLst/>
          </a:prstGeom>
        </p:spPr>
        <p:txBody>
          <a:bodyPr vert="horz" lIns="92310" tIns="46155" rIns="92310" bIns="46155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598" y="0"/>
            <a:ext cx="2985558" cy="502835"/>
          </a:xfrm>
          <a:prstGeom prst="rect">
            <a:avLst/>
          </a:prstGeom>
        </p:spPr>
        <p:txBody>
          <a:bodyPr vert="horz" lIns="92310" tIns="46155" rIns="92310" bIns="46155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06/05/2024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3300" y="1254125"/>
            <a:ext cx="4883150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310" tIns="46155" rIns="92310" bIns="46155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5" y="4823035"/>
            <a:ext cx="5511800" cy="3946118"/>
          </a:xfrm>
          <a:prstGeom prst="rect">
            <a:avLst/>
          </a:prstGeom>
        </p:spPr>
        <p:txBody>
          <a:bodyPr vert="horz" lIns="92310" tIns="46155" rIns="92310" bIns="46155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519058"/>
            <a:ext cx="2985558" cy="502834"/>
          </a:xfrm>
          <a:prstGeom prst="rect">
            <a:avLst/>
          </a:prstGeom>
        </p:spPr>
        <p:txBody>
          <a:bodyPr vert="horz" lIns="92310" tIns="46155" rIns="92310" bIns="46155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598" y="9519058"/>
            <a:ext cx="2985558" cy="502834"/>
          </a:xfrm>
          <a:prstGeom prst="rect">
            <a:avLst/>
          </a:prstGeom>
        </p:spPr>
        <p:txBody>
          <a:bodyPr vert="horz" lIns="92310" tIns="46155" rIns="92310" bIns="46155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0299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52514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12449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9988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2229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6738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957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5607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6333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8340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8357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49488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02783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77629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149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7" y="1510665"/>
            <a:ext cx="8543925" cy="4351338"/>
          </a:xfrm>
        </p:spPr>
        <p:txBody>
          <a:bodyPr>
            <a:normAutofit/>
          </a:bodyPr>
          <a:lstStyle/>
          <a:p>
            <a:r>
              <a:rPr lang="ru-RU" sz="2400" dirty="0"/>
              <a:t>1 орундуу ондуктар – кошуу жана кемитүү – жооптор торчосу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r>
              <a:rPr lang="ru-RU" sz="2400" dirty="0"/>
              <a:t>Окуучулар жооптор торчосунда жоопторду сызып, калган беш сандардын суммасын чыгарышы керек.</a:t>
            </a:r>
            <a:endParaRPr lang="en-US" sz="2400" dirty="0"/>
          </a:p>
          <a:p>
            <a:endParaRPr lang="ru-RU" sz="2400" dirty="0"/>
          </a:p>
          <a:p>
            <a:r>
              <a:rPr lang="ru-RU" sz="2400" dirty="0"/>
              <a:t>Иш баракчасы ар кандай өлчөмдө/форматтарда берилет.</a:t>
            </a:r>
          </a:p>
          <a:p>
            <a:endParaRPr lang="ru-RU" sz="2400" dirty="0"/>
          </a:p>
          <a:p>
            <a:r>
              <a:rPr lang="ru-RU" sz="2400" dirty="0"/>
              <a:t>Анимацияларды текшерип, </a:t>
            </a:r>
            <a:r>
              <a:rPr lang="ky-KG" sz="2400" dirty="0"/>
              <a:t>сабагы</a:t>
            </a:r>
            <a:r>
              <a:rPr lang="ru-RU" sz="2400" dirty="0"/>
              <a:t>ң</a:t>
            </a:r>
            <a:r>
              <a:rPr lang="ky-KG" sz="2400" dirty="0"/>
              <a:t>ызга </a:t>
            </a:r>
            <a:r>
              <a:rPr lang="ru-RU" sz="2400" b="1" dirty="0">
                <a:solidFill>
                  <a:srgbClr val="FF0000"/>
                </a:solidFill>
              </a:rPr>
              <a:t>КЕРЕГИ ЖОК </a:t>
            </a:r>
            <a:r>
              <a:rPr lang="ru-RU" sz="2400" dirty="0"/>
              <a:t>слайддарды </a:t>
            </a:r>
            <a:r>
              <a:rPr lang="ru-RU" sz="2800" b="1" dirty="0">
                <a:solidFill>
                  <a:srgbClr val="FF0000"/>
                </a:solidFill>
              </a:rPr>
              <a:t>ӨЧҮРҮ</a:t>
            </a:r>
            <a:r>
              <a:rPr lang="ky-KG" sz="2800" b="1" dirty="0">
                <a:solidFill>
                  <a:srgbClr val="FF0000"/>
                </a:solidFill>
              </a:rPr>
              <a:t>П САЛЫ</a:t>
            </a:r>
            <a:r>
              <a:rPr lang="ru-RU" sz="2800" b="1" dirty="0">
                <a:solidFill>
                  <a:srgbClr val="FF0000"/>
                </a:solidFill>
              </a:rPr>
              <a:t>ҢЫЗ.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2400" y="244157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518F3C0-CB86-4363-8C1E-1F32D139DED0}"/>
              </a:ext>
            </a:extLst>
          </p:cNvPr>
          <p:cNvSpPr txBox="1"/>
          <p:nvPr/>
        </p:nvSpPr>
        <p:spPr>
          <a:xfrm>
            <a:off x="1547067" y="2084252"/>
            <a:ext cx="71797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бир жоопту ТОРЧОдон табыңыз!</a:t>
            </a:r>
            <a:endParaRPr kumimoji="0" lang="en-GB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8152C6-FA9B-CCEA-65A2-D9050ECC73CD}"/>
              </a:ext>
            </a:extLst>
          </p:cNvPr>
          <p:cNvSpPr txBox="1"/>
          <p:nvPr/>
        </p:nvSpPr>
        <p:spPr>
          <a:xfrm>
            <a:off x="1270000" y="412596"/>
            <a:ext cx="73558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haroni" panose="02010803020104030203" pitchFamily="2" charset="-79"/>
              </a:rPr>
              <a:t>Жооп ТОРЧОсу</a:t>
            </a:r>
            <a:endParaRPr kumimoji="0" lang="en-US" sz="8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ript MT Bold" panose="03040602040607080904" pitchFamily="66" charset="0"/>
              <a:ea typeface="+mn-ea"/>
              <a:cs typeface="Aharoni" panose="02010803020104030203" pitchFamily="2" charset="-79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79104F-92BB-7AEB-E9EF-40B6DEB0B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68" y="3151655"/>
            <a:ext cx="8178102" cy="2835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189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4F7A382-855B-472D-B2EB-B5D74EDF3F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913999"/>
              </p:ext>
            </p:extLst>
          </p:nvPr>
        </p:nvGraphicFramePr>
        <p:xfrm>
          <a:off x="6668870" y="51516"/>
          <a:ext cx="3177185" cy="228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437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2,2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1,5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9,9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3,5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17,2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4,3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2,5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4,4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7,8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4,8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3,7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2,8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4,7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3,2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5,8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8,9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48990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96CDC37-9FD7-4492-AF90-6BCEF0FDFD23}"/>
              </a:ext>
            </a:extLst>
          </p:cNvPr>
          <p:cNvGraphicFramePr>
            <a:graphicFrameLocks noGrp="1"/>
          </p:cNvGraphicFramePr>
          <p:nvPr/>
        </p:nvGraphicFramePr>
        <p:xfrm>
          <a:off x="61545" y="617195"/>
          <a:ext cx="6506680" cy="2745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336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400" b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1,1 + 2,5</a:t>
                      </a:r>
                      <a:endParaRPr lang="en-GB" sz="2400" b="0" dirty="0">
                        <a:solidFill>
                          <a:sysClr val="windowText" lastClr="000000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3,9 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2,4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7,3 + 1,6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5,6 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2,8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3,0 + 0,7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7,2 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3,7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4,2 + 3,6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0,7 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0,2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4,0 + 1,8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2,2 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0,6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0,7 + 0,7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2,3 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1,9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0,9 + 2,9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4,5 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2,0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11,4 + 5,8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 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1,7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3,3 + 6,6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3,8 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2,2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4,1 + 0,6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 </a:t>
                      </a:r>
                      <a:r>
                        <a:rPr lang="en-GB" sz="2400" b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lang="en-GB" sz="2400" b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2,8</a:t>
                      </a:r>
                      <a:endParaRPr lang="en-GB" sz="2400" b="0" dirty="0">
                        <a:solidFill>
                          <a:sysClr val="windowText" lastClr="000000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1E62FF1-275E-4D47-971A-B8EAFCADD9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5808265"/>
              </p:ext>
            </p:extLst>
          </p:nvPr>
        </p:nvGraphicFramePr>
        <p:xfrm>
          <a:off x="6696583" y="2878058"/>
          <a:ext cx="312175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758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877FCB71-9441-41BD-A556-9768FFBE1C56}"/>
              </a:ext>
            </a:extLst>
          </p:cNvPr>
          <p:cNvSpPr/>
          <p:nvPr/>
        </p:nvSpPr>
        <p:spPr>
          <a:xfrm>
            <a:off x="6739812" y="2497580"/>
            <a:ext cx="30353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Бардыгы:</a:t>
            </a:r>
            <a:endParaRPr lang="en-GB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783B75-2595-404D-8896-6E97E6604418}"/>
              </a:ext>
            </a:extLst>
          </p:cNvPr>
          <p:cNvSpPr/>
          <p:nvPr/>
        </p:nvSpPr>
        <p:spPr>
          <a:xfrm>
            <a:off x="2116170" y="0"/>
            <a:ext cx="46236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Ар бир жоопту сызып, анан калган </a:t>
            </a:r>
            <a:r>
              <a:rPr lang="ky-KG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беш сандын суммасын тап</a:t>
            </a:r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.</a:t>
            </a:r>
            <a:endParaRPr lang="en-GB" sz="1600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C6A90E-0D2F-29F0-EF93-961540F6C742}"/>
              </a:ext>
            </a:extLst>
          </p:cNvPr>
          <p:cNvSpPr txBox="1"/>
          <p:nvPr/>
        </p:nvSpPr>
        <p:spPr>
          <a:xfrm>
            <a:off x="222505" y="123026"/>
            <a:ext cx="42275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cs typeface="Aharoni" panose="02010803020104030203" pitchFamily="2" charset="-79"/>
              </a:rPr>
              <a:t>Жооп </a:t>
            </a:r>
            <a:r>
              <a:rPr lang="ru-RU" sz="2400" b="1" dirty="0">
                <a:latin typeface="Bahnschrift" panose="020B0502040204020203" pitchFamily="34" charset="0"/>
                <a:cs typeface="Aharoni" panose="02010803020104030203" pitchFamily="2" charset="-79"/>
              </a:rPr>
              <a:t>ТОРЧОсу</a:t>
            </a:r>
            <a:endParaRPr lang="en-US" sz="2400" b="1" dirty="0"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783404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ECEF9F-434E-4379-BE8F-FC57D6668F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568427"/>
              </p:ext>
            </p:extLst>
          </p:nvPr>
        </p:nvGraphicFramePr>
        <p:xfrm>
          <a:off x="6668870" y="51516"/>
          <a:ext cx="3177185" cy="228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437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2,2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1,5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9,9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3,5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17,2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4,3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2,5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4,4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7,8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4,8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3,7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2,8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4,7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3,2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5,8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8,9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48990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44CACCE-EE06-4252-A99D-23B469013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7761836"/>
              </p:ext>
            </p:extLst>
          </p:nvPr>
        </p:nvGraphicFramePr>
        <p:xfrm>
          <a:off x="61545" y="617195"/>
          <a:ext cx="6506680" cy="2745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336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400" b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1,1 + 2,5</a:t>
                      </a:r>
                      <a:endParaRPr lang="en-GB" sz="2400" b="0" dirty="0">
                        <a:solidFill>
                          <a:sysClr val="windowText" lastClr="000000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3,9 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2,4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7,3 + 1,6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5,6 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2,8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3,0 + 0,7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7,2 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3,7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4,2 + 3,6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0,7 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0,2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4,0 + 1,8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2,2 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0,6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0,7 + 0,7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2,3 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1,9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0,9 + 2,9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4,5 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2,0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11,4 + 5,8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 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1,7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3,3 + 6,6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3,8 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2,2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4,1 + 0,6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 </a:t>
                      </a:r>
                      <a:r>
                        <a:rPr lang="en-GB" sz="2400" b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lang="en-GB" sz="2400" b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2,8</a:t>
                      </a:r>
                      <a:endParaRPr lang="en-GB" sz="2400" b="0" dirty="0">
                        <a:solidFill>
                          <a:sysClr val="windowText" lastClr="000000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AD24C9A-01A7-4E5D-A407-60D51806BB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0440662"/>
              </p:ext>
            </p:extLst>
          </p:nvPr>
        </p:nvGraphicFramePr>
        <p:xfrm>
          <a:off x="6696583" y="2878058"/>
          <a:ext cx="312175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758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</a:rPr>
                        <a:t>11,1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3E2957F7-99F0-4B3A-B72D-884CCB8B23AD}"/>
              </a:ext>
            </a:extLst>
          </p:cNvPr>
          <p:cNvSpPr/>
          <p:nvPr/>
        </p:nvSpPr>
        <p:spPr>
          <a:xfrm>
            <a:off x="6739812" y="2497580"/>
            <a:ext cx="30353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Бардыгы:</a:t>
            </a:r>
            <a:endParaRPr lang="en-GB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9F3885-40A0-4971-85BC-67C02F8382C4}"/>
              </a:ext>
            </a:extLst>
          </p:cNvPr>
          <p:cNvSpPr/>
          <p:nvPr/>
        </p:nvSpPr>
        <p:spPr>
          <a:xfrm>
            <a:off x="2116170" y="51516"/>
            <a:ext cx="46236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Ар бир жоопту сызып, анан калган </a:t>
            </a:r>
            <a:r>
              <a:rPr lang="ky-KG" sz="1600" b="1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беш</a:t>
            </a:r>
            <a:r>
              <a:rPr lang="ky-KG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 сандын суммасын тап</a:t>
            </a:r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.</a:t>
            </a:r>
            <a:endParaRPr lang="en-GB" sz="1600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9EAF8E-31F8-7964-956C-F50705E4B7D3}"/>
              </a:ext>
            </a:extLst>
          </p:cNvPr>
          <p:cNvSpPr txBox="1"/>
          <p:nvPr/>
        </p:nvSpPr>
        <p:spPr>
          <a:xfrm>
            <a:off x="5697220" y="3230357"/>
            <a:ext cx="4953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" panose="020B0502040204020203" pitchFamily="34" charset="0"/>
              </a:rPr>
              <a:t>Жооптор</a:t>
            </a:r>
            <a:endParaRPr lang="en-GB" sz="40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C9C036-2E6E-7344-8BE8-5F2C3A520019}"/>
              </a:ext>
            </a:extLst>
          </p:cNvPr>
          <p:cNvSpPr txBox="1"/>
          <p:nvPr/>
        </p:nvSpPr>
        <p:spPr>
          <a:xfrm>
            <a:off x="59945" y="107637"/>
            <a:ext cx="5323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cs typeface="Aharoni" panose="02010803020104030203" pitchFamily="2" charset="-79"/>
              </a:rPr>
              <a:t>Жооп </a:t>
            </a:r>
            <a:r>
              <a:rPr lang="ru-RU" sz="2400" b="1" dirty="0">
                <a:latin typeface="Bahnschrift" panose="020B0502040204020203" pitchFamily="34" charset="0"/>
                <a:cs typeface="Aharoni" panose="02010803020104030203" pitchFamily="2" charset="-79"/>
              </a:rPr>
              <a:t>ТОРЧОсу</a:t>
            </a:r>
            <a:endParaRPr lang="en-US" sz="2400" b="1" dirty="0"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828983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520637-BE92-9274-7C66-D61B1A468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66" y="71700"/>
            <a:ext cx="9716294" cy="33189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2BF07E5-91D8-816F-DAD3-0782319AC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53" y="3536729"/>
            <a:ext cx="9513093" cy="3249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289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59919C-EC39-F2BE-BBF2-BBDF67952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92584" y="1080437"/>
            <a:ext cx="6849821" cy="46889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1476F0-FF58-4C5F-CC3C-AEB1CA06E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12043" y="1076904"/>
            <a:ext cx="6738505" cy="4704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23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1551" y="848185"/>
            <a:ext cx="8543925" cy="3535462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2400" dirty="0"/>
              <a:t>Суроолор барбы?</a:t>
            </a:r>
          </a:p>
          <a:p>
            <a:pPr marL="0" indent="0" algn="ctr">
              <a:buNone/>
            </a:pPr>
            <a:r>
              <a:rPr lang="ru-RU" sz="2400" dirty="0"/>
              <a:t>Комментарийлер?</a:t>
            </a:r>
          </a:p>
          <a:p>
            <a:pPr marL="0" indent="0" algn="ctr">
              <a:buNone/>
            </a:pPr>
            <a:r>
              <a:rPr lang="ru-RU" sz="2400" dirty="0"/>
              <a:t>Сунуштар?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…же ката таптыңызбы!?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Турдуу пикирлер үчүн ыраазычылык билдиребиз.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en-US" sz="24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8454</TotalTime>
  <Words>289</Words>
  <Application>Microsoft Office PowerPoint</Application>
  <PresentationFormat>A4 Paper (210x297 mm)</PresentationFormat>
  <Paragraphs>119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Script MT Bold</vt:lpstr>
      <vt:lpstr>Aharoni</vt:lpstr>
      <vt:lpstr>Calibri</vt:lpstr>
      <vt:lpstr>Bahnschrift</vt:lpstr>
      <vt:lpstr>Calibri Light</vt:lpstr>
      <vt:lpstr>Arial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378</cp:revision>
  <cp:lastPrinted>2019-01-12T14:07:10Z</cp:lastPrinted>
  <dcterms:created xsi:type="dcterms:W3CDTF">2017-01-17T16:57:04Z</dcterms:created>
  <dcterms:modified xsi:type="dcterms:W3CDTF">2024-05-06T04:56:58Z</dcterms:modified>
</cp:coreProperties>
</file>