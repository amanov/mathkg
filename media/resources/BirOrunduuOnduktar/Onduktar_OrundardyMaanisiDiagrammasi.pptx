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6"/>
  </p:notesMasterIdLst>
  <p:sldIdLst>
    <p:sldId id="257" r:id="rId3"/>
    <p:sldId id="964" r:id="rId4"/>
    <p:sldId id="1014" r:id="rId5"/>
    <p:sldId id="998" r:id="rId6"/>
    <p:sldId id="999" r:id="rId7"/>
    <p:sldId id="1000" r:id="rId8"/>
    <p:sldId id="1001" r:id="rId9"/>
    <p:sldId id="1015" r:id="rId10"/>
    <p:sldId id="1025" r:id="rId11"/>
    <p:sldId id="1017" r:id="rId12"/>
    <p:sldId id="1018" r:id="rId13"/>
    <p:sldId id="1019" r:id="rId14"/>
    <p:sldId id="938" r:id="rId15"/>
  </p:sldIdLst>
  <p:sldSz cx="9906000" cy="6858000" type="A4"/>
  <p:notesSz cx="7104063" cy="10234613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Calibri Light" panose="020F0302020204030204" pitchFamily="34" charset="0"/>
      <p:regular r:id="rId21"/>
      <p:italic r:id="rId22"/>
    </p:embeddedFont>
    <p:embeddedFont>
      <p:font typeface="Cambria Math" panose="02040503050406030204" pitchFamily="18" charset="0"/>
      <p:regular r:id="rId23"/>
    </p:embeddedFont>
    <p:embeddedFont>
      <p:font typeface="Cooper Black" panose="0208090404030B020404" pitchFamily="18" charset="0"/>
      <p:regular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257"/>
          </p14:sldIdLst>
        </p14:section>
        <p14:section name="Чоң формат" id="{803DC415-1C83-4A46-99E3-13164292B7B3}">
          <p14:sldIdLst>
            <p14:sldId id="964"/>
            <p14:sldId id="1014"/>
            <p14:sldId id="998"/>
            <p14:sldId id="999"/>
            <p14:sldId id="1000"/>
            <p14:sldId id="1001"/>
          </p14:sldIdLst>
        </p14:section>
        <p14:section name="стандарт" id="{93570AC2-84FB-4CED-803E-9D75801B3986}">
          <p14:sldIdLst>
            <p14:sldId id="1015"/>
            <p14:sldId id="1025"/>
            <p14:sldId id="1017"/>
            <p14:sldId id="1018"/>
            <p14:sldId id="1019"/>
          </p14:sldIdLst>
        </p14:section>
        <p14:section name="mathkgz" id="{167EA875-B90C-41DF-9DED-461F9B751D9D}">
          <p14:sldIdLst>
            <p14:sldId id="93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>
        <p:scale>
          <a:sx n="60" d="100"/>
          <a:sy n="60" d="100"/>
        </p:scale>
        <p:origin x="1464" y="11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font" Target="fonts/font5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8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03/10/2023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10/3/2023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361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753480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70829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10/3/2023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755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10/3/2023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203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10/3/2023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451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10/3/2023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347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10/3/2023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778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10/3/2023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956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10/3/2023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8036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10/3/2023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786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724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7100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03861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10/3/2023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1570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y-KG" sz="2400" dirty="0"/>
              <a:t>Ондуктар </a:t>
            </a:r>
            <a:r>
              <a:rPr lang="en-US" sz="2400" dirty="0"/>
              <a:t>–</a:t>
            </a:r>
            <a:r>
              <a:rPr lang="ky-KG" sz="2400" dirty="0"/>
              <a:t> </a:t>
            </a:r>
            <a:r>
              <a:rPr lang="ru-RU" sz="2400" dirty="0"/>
              <a:t>Орундардын мааниси диаграммасы </a:t>
            </a:r>
            <a:endParaRPr lang="ru-RU" dirty="0"/>
          </a:p>
          <a:p>
            <a:endParaRPr lang="ru-RU" dirty="0"/>
          </a:p>
          <a:p>
            <a:r>
              <a:rPr lang="ru-RU" sz="2400" dirty="0"/>
              <a:t>Орундардын мааниси диаграммасы - бул сан системасына ылайык, анын абалына негизделген сандагы ар бир цифранын маанисин табуу үчүн колдонулган таблица.</a:t>
            </a:r>
          </a:p>
          <a:p>
            <a:endParaRPr lang="ky-KG" sz="2400" dirty="0"/>
          </a:p>
          <a:p>
            <a:r>
              <a:rPr lang="ky-KG" dirty="0"/>
              <a:t>Диаграммалар </a:t>
            </a:r>
            <a:r>
              <a:rPr lang="ru-RU" dirty="0"/>
              <a:t> </a:t>
            </a:r>
            <a:r>
              <a:rPr lang="en-US" dirty="0"/>
              <a:t>2</a:t>
            </a:r>
            <a:r>
              <a:rPr lang="ru-RU" dirty="0"/>
              <a:t> өлчөмдө болот.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sz="2600" b="1" dirty="0">
              <a:solidFill>
                <a:srgbClr val="FF0000"/>
              </a:solidFill>
            </a:endParaRPr>
          </a:p>
          <a:p>
            <a:endParaRPr lang="en-US" sz="2600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65760" y="299344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CEB514B-10E1-4F51-96D1-6B94CF6E82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6787919"/>
                  </p:ext>
                </p:extLst>
              </p:nvPr>
            </p:nvGraphicFramePr>
            <p:xfrm>
              <a:off x="41563" y="307570"/>
              <a:ext cx="9817332" cy="65141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72444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3272444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3272444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5782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578289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5357565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CEB514B-10E1-4F51-96D1-6B94CF6E82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6787919"/>
                  </p:ext>
                </p:extLst>
              </p:nvPr>
            </p:nvGraphicFramePr>
            <p:xfrm>
              <a:off x="41563" y="307570"/>
              <a:ext cx="9817332" cy="65141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72444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3272444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3272444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5782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57828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86" t="-101053" r="-200559" b="-92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01053" r="-100186" b="-92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372" t="-101053" r="-372" b="-9284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5357565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BA4B096-3C95-4243-AAE3-699EB4D3A1F2}"/>
              </a:ext>
            </a:extLst>
          </p:cNvPr>
          <p:cNvSpPr txBox="1"/>
          <p:nvPr/>
        </p:nvSpPr>
        <p:spPr>
          <a:xfrm>
            <a:off x="3518610" y="-26377"/>
            <a:ext cx="3870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Орундардын мааниси диаграммасы</a:t>
            </a:r>
            <a:endParaRPr lang="en-GB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1BBA31-8F09-469A-AD30-8FF5117512AB}"/>
              </a:ext>
            </a:extLst>
          </p:cNvPr>
          <p:cNvSpPr/>
          <p:nvPr/>
        </p:nvSpPr>
        <p:spPr>
          <a:xfrm>
            <a:off x="3257724" y="1119466"/>
            <a:ext cx="110404" cy="110404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BEA5763-2C27-49EE-ADFD-2C897EC0DE16}"/>
              </a:ext>
            </a:extLst>
          </p:cNvPr>
          <p:cNvSpPr/>
          <p:nvPr/>
        </p:nvSpPr>
        <p:spPr>
          <a:xfrm>
            <a:off x="3257724" y="543204"/>
            <a:ext cx="110404" cy="110404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5853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CEB514B-10E1-4F51-96D1-6B94CF6E82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6368048"/>
                  </p:ext>
                </p:extLst>
              </p:nvPr>
            </p:nvGraphicFramePr>
            <p:xfrm>
              <a:off x="33389" y="543891"/>
              <a:ext cx="2290710" cy="62664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57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</a:tblGrid>
                  <a:tr h="3954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95426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0693555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5533541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7035394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0786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CEB514B-10E1-4F51-96D1-6B94CF6E82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6368048"/>
                  </p:ext>
                </p:extLst>
              </p:nvPr>
            </p:nvGraphicFramePr>
            <p:xfrm>
              <a:off x="33389" y="543891"/>
              <a:ext cx="2290710" cy="62664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57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</a:tblGrid>
                  <a:tr h="3954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9542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94" t="-101538" r="-200794" b="-138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600" t="-101538" r="-102400" b="-138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101538" r="-1587" b="-138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0693555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5533541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7035394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0786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BA4B096-3C95-4243-AAE3-699EB4D3A1F2}"/>
              </a:ext>
            </a:extLst>
          </p:cNvPr>
          <p:cNvSpPr txBox="1"/>
          <p:nvPr/>
        </p:nvSpPr>
        <p:spPr>
          <a:xfrm>
            <a:off x="44277" y="20671"/>
            <a:ext cx="19560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Орундардын мааниси </a:t>
            </a:r>
            <a:endParaRPr lang="en-US" sz="1400" b="1" dirty="0"/>
          </a:p>
          <a:p>
            <a:r>
              <a:rPr lang="ru-RU" sz="1400" b="1" dirty="0"/>
              <a:t>диаграммасы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3642D21-9253-48F3-8C7C-6754DA23DCAC}"/>
              </a:ext>
            </a:extLst>
          </p:cNvPr>
          <p:cNvSpPr/>
          <p:nvPr/>
        </p:nvSpPr>
        <p:spPr>
          <a:xfrm>
            <a:off x="761377" y="445912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0042C5F-03D8-431F-95A5-6B7AEE46E7AE}"/>
              </a:ext>
            </a:extLst>
          </p:cNvPr>
          <p:cNvSpPr/>
          <p:nvPr/>
        </p:nvSpPr>
        <p:spPr>
          <a:xfrm>
            <a:off x="761377" y="857869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2" name="Table 5">
                <a:extLst>
                  <a:ext uri="{FF2B5EF4-FFF2-40B4-BE49-F238E27FC236}">
                    <a16:creationId xmlns:a16="http://schemas.microsoft.com/office/drawing/2014/main" id="{A4246F6E-9A2B-4B0B-9291-87F63E79EAA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76812587"/>
                  </p:ext>
                </p:extLst>
              </p:nvPr>
            </p:nvGraphicFramePr>
            <p:xfrm>
              <a:off x="2567039" y="518495"/>
              <a:ext cx="2290710" cy="629187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57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</a:tblGrid>
                  <a:tr h="3970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97029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0693555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5533541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7035394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0786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2" name="Table 5">
                <a:extLst>
                  <a:ext uri="{FF2B5EF4-FFF2-40B4-BE49-F238E27FC236}">
                    <a16:creationId xmlns:a16="http://schemas.microsoft.com/office/drawing/2014/main" id="{A4246F6E-9A2B-4B0B-9291-87F63E79EAA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76812587"/>
                  </p:ext>
                </p:extLst>
              </p:nvPr>
            </p:nvGraphicFramePr>
            <p:xfrm>
              <a:off x="2567039" y="518495"/>
              <a:ext cx="2290710" cy="629187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57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</a:tblGrid>
                  <a:tr h="3970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970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00" t="-101538" r="-202400" b="-1392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101538" r="-100794" b="-1392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600" t="-101538" r="-1600" b="-13923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0693555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5533541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7035394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0786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939CC875-A0BF-442A-B33C-BE8B18D8CD38}"/>
              </a:ext>
            </a:extLst>
          </p:cNvPr>
          <p:cNvSpPr txBox="1"/>
          <p:nvPr/>
        </p:nvSpPr>
        <p:spPr>
          <a:xfrm>
            <a:off x="2668747" y="0"/>
            <a:ext cx="19560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Орундардын мааниси </a:t>
            </a:r>
            <a:endParaRPr lang="en-US" sz="1400" b="1" dirty="0"/>
          </a:p>
          <a:p>
            <a:r>
              <a:rPr lang="ru-RU" sz="1400" b="1" dirty="0"/>
              <a:t>диаграммасы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79619F8-F05C-48B5-B102-E130BF5BE9C1}"/>
              </a:ext>
            </a:extLst>
          </p:cNvPr>
          <p:cNvSpPr/>
          <p:nvPr/>
        </p:nvSpPr>
        <p:spPr>
          <a:xfrm>
            <a:off x="3295027" y="445912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8DD77B2-CFCC-47D7-BA32-D02D725201EA}"/>
              </a:ext>
            </a:extLst>
          </p:cNvPr>
          <p:cNvSpPr/>
          <p:nvPr/>
        </p:nvSpPr>
        <p:spPr>
          <a:xfrm>
            <a:off x="3295027" y="857869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6" name="Table 5">
                <a:extLst>
                  <a:ext uri="{FF2B5EF4-FFF2-40B4-BE49-F238E27FC236}">
                    <a16:creationId xmlns:a16="http://schemas.microsoft.com/office/drawing/2014/main" id="{80058E4A-BE3D-45EE-AF7E-D674B0EEFDC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4920585"/>
                  </p:ext>
                </p:extLst>
              </p:nvPr>
            </p:nvGraphicFramePr>
            <p:xfrm>
              <a:off x="5053064" y="518495"/>
              <a:ext cx="2290710" cy="629187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57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</a:tblGrid>
                  <a:tr h="3970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97029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0693555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5533541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7035394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0786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6" name="Table 5">
                <a:extLst>
                  <a:ext uri="{FF2B5EF4-FFF2-40B4-BE49-F238E27FC236}">
                    <a16:creationId xmlns:a16="http://schemas.microsoft.com/office/drawing/2014/main" id="{80058E4A-BE3D-45EE-AF7E-D674B0EEFDC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4920585"/>
                  </p:ext>
                </p:extLst>
              </p:nvPr>
            </p:nvGraphicFramePr>
            <p:xfrm>
              <a:off x="5053064" y="518495"/>
              <a:ext cx="2290710" cy="629187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57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</a:tblGrid>
                  <a:tr h="3970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970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94" t="-101538" r="-200794" b="-1392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1600" t="-101538" r="-102400" b="-1392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101538" r="-1587" b="-13923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0693555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5533541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7035394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0786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9714DA34-7E2D-41AE-A878-7DF14E0DEA2F}"/>
              </a:ext>
            </a:extLst>
          </p:cNvPr>
          <p:cNvSpPr txBox="1"/>
          <p:nvPr/>
        </p:nvSpPr>
        <p:spPr>
          <a:xfrm>
            <a:off x="5191509" y="-26377"/>
            <a:ext cx="19560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Орундардын мааниси </a:t>
            </a:r>
            <a:endParaRPr lang="en-US" sz="1400" b="1" dirty="0"/>
          </a:p>
          <a:p>
            <a:r>
              <a:rPr lang="ru-RU" sz="1400" b="1" dirty="0"/>
              <a:t>диаграммасы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E625EC7-0B26-4930-A295-D6FEB217C0FA}"/>
              </a:ext>
            </a:extLst>
          </p:cNvPr>
          <p:cNvSpPr/>
          <p:nvPr/>
        </p:nvSpPr>
        <p:spPr>
          <a:xfrm>
            <a:off x="5781052" y="445912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4D67EC6-5D2D-4F16-BA2F-FA5F3B71C76B}"/>
              </a:ext>
            </a:extLst>
          </p:cNvPr>
          <p:cNvSpPr/>
          <p:nvPr/>
        </p:nvSpPr>
        <p:spPr>
          <a:xfrm>
            <a:off x="5781052" y="857869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0" name="Table 5">
                <a:extLst>
                  <a:ext uri="{FF2B5EF4-FFF2-40B4-BE49-F238E27FC236}">
                    <a16:creationId xmlns:a16="http://schemas.microsoft.com/office/drawing/2014/main" id="{FE9FF78A-E026-47D3-9407-A7C9203F5F1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7157532"/>
                  </p:ext>
                </p:extLst>
              </p:nvPr>
            </p:nvGraphicFramePr>
            <p:xfrm>
              <a:off x="7586714" y="518495"/>
              <a:ext cx="2290710" cy="629187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57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</a:tblGrid>
                  <a:tr h="3970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97029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0693555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5533541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7035394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0786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0" name="Table 5">
                <a:extLst>
                  <a:ext uri="{FF2B5EF4-FFF2-40B4-BE49-F238E27FC236}">
                    <a16:creationId xmlns:a16="http://schemas.microsoft.com/office/drawing/2014/main" id="{FE9FF78A-E026-47D3-9407-A7C9203F5F1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7157532"/>
                  </p:ext>
                </p:extLst>
              </p:nvPr>
            </p:nvGraphicFramePr>
            <p:xfrm>
              <a:off x="7586714" y="518495"/>
              <a:ext cx="2290710" cy="629187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57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</a:tblGrid>
                  <a:tr h="3970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970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94" t="-101538" r="-200794" b="-1392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600" t="-101538" r="-102400" b="-1392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000" t="-101538" r="-1587" b="-13923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0693555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5533541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7035394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0786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C38084F7-D10B-40AC-9B4B-467D402884BC}"/>
              </a:ext>
            </a:extLst>
          </p:cNvPr>
          <p:cNvSpPr txBox="1"/>
          <p:nvPr/>
        </p:nvSpPr>
        <p:spPr>
          <a:xfrm>
            <a:off x="7725159" y="-26377"/>
            <a:ext cx="19560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Орундардын мааниси </a:t>
            </a:r>
            <a:endParaRPr lang="en-US" sz="1400" b="1" dirty="0"/>
          </a:p>
          <a:p>
            <a:r>
              <a:rPr lang="ru-RU" sz="1400" b="1" dirty="0"/>
              <a:t>диаграммасы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20C2D7C-7D37-460D-A08C-3EC07C70E209}"/>
              </a:ext>
            </a:extLst>
          </p:cNvPr>
          <p:cNvSpPr/>
          <p:nvPr/>
        </p:nvSpPr>
        <p:spPr>
          <a:xfrm>
            <a:off x="8314702" y="445912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4E85C03-87F1-4E31-8507-E664E699569D}"/>
              </a:ext>
            </a:extLst>
          </p:cNvPr>
          <p:cNvSpPr/>
          <p:nvPr/>
        </p:nvSpPr>
        <p:spPr>
          <a:xfrm>
            <a:off x="8314702" y="857869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6429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CEB514B-10E1-4F51-96D1-6B94CF6E82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12700776"/>
                  </p:ext>
                </p:extLst>
              </p:nvPr>
            </p:nvGraphicFramePr>
            <p:xfrm>
              <a:off x="33390" y="520876"/>
              <a:ext cx="2290710" cy="62990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570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</a:tblGrid>
                  <a:tr h="3974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97480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CEB514B-10E1-4F51-96D1-6B94CF6E82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12700776"/>
                  </p:ext>
                </p:extLst>
              </p:nvPr>
            </p:nvGraphicFramePr>
            <p:xfrm>
              <a:off x="33390" y="520876"/>
              <a:ext cx="2290710" cy="62990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570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</a:tblGrid>
                  <a:tr h="3974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97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94" t="-101538" r="-200794" b="-139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600" t="-101538" r="-102400" b="-139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101538" r="-1587" b="-139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BA4B096-3C95-4243-AAE3-699EB4D3A1F2}"/>
              </a:ext>
            </a:extLst>
          </p:cNvPr>
          <p:cNvSpPr txBox="1"/>
          <p:nvPr/>
        </p:nvSpPr>
        <p:spPr>
          <a:xfrm>
            <a:off x="400888" y="-26377"/>
            <a:ext cx="19560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Орундардын мааниси </a:t>
            </a:r>
            <a:endParaRPr lang="en-US" sz="1400" b="1" dirty="0"/>
          </a:p>
          <a:p>
            <a:r>
              <a:rPr lang="ru-RU" sz="1400" b="1" dirty="0"/>
              <a:t>диаграммасы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3642D21-9253-48F3-8C7C-6754DA23DCAC}"/>
              </a:ext>
            </a:extLst>
          </p:cNvPr>
          <p:cNvSpPr/>
          <p:nvPr/>
        </p:nvSpPr>
        <p:spPr>
          <a:xfrm>
            <a:off x="1524965" y="448294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0042C5F-03D8-431F-95A5-6B7AEE46E7AE}"/>
              </a:ext>
            </a:extLst>
          </p:cNvPr>
          <p:cNvSpPr/>
          <p:nvPr/>
        </p:nvSpPr>
        <p:spPr>
          <a:xfrm>
            <a:off x="1524965" y="862632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9" name="Table 5">
                <a:extLst>
                  <a:ext uri="{FF2B5EF4-FFF2-40B4-BE49-F238E27FC236}">
                    <a16:creationId xmlns:a16="http://schemas.microsoft.com/office/drawing/2014/main" id="{1915BE3D-BD00-4066-88F1-9910B6BF96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79641985"/>
                  </p:ext>
                </p:extLst>
              </p:nvPr>
            </p:nvGraphicFramePr>
            <p:xfrm>
              <a:off x="2535290" y="520876"/>
              <a:ext cx="2290710" cy="62990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570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</a:tblGrid>
                  <a:tr h="3974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97480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9" name="Table 5">
                <a:extLst>
                  <a:ext uri="{FF2B5EF4-FFF2-40B4-BE49-F238E27FC236}">
                    <a16:creationId xmlns:a16="http://schemas.microsoft.com/office/drawing/2014/main" id="{1915BE3D-BD00-4066-88F1-9910B6BF96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79641985"/>
                  </p:ext>
                </p:extLst>
              </p:nvPr>
            </p:nvGraphicFramePr>
            <p:xfrm>
              <a:off x="2535290" y="520876"/>
              <a:ext cx="2290710" cy="62990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570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</a:tblGrid>
                  <a:tr h="3974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97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94" t="-101538" r="-200794" b="-139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600" t="-101538" r="-102400" b="-139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101538" r="-1587" b="-139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9DF4D7DD-CEA4-4F68-95AF-7320685C3ACB}"/>
              </a:ext>
            </a:extLst>
          </p:cNvPr>
          <p:cNvSpPr txBox="1"/>
          <p:nvPr/>
        </p:nvSpPr>
        <p:spPr>
          <a:xfrm>
            <a:off x="2902788" y="-26377"/>
            <a:ext cx="19560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Орундардын мааниси </a:t>
            </a:r>
            <a:endParaRPr lang="en-US" sz="1400" b="1" dirty="0"/>
          </a:p>
          <a:p>
            <a:r>
              <a:rPr lang="ru-RU" sz="1400" b="1" dirty="0"/>
              <a:t>диаграммасы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78CCDBE-9B54-4FEA-96C9-98DC31D1D364}"/>
              </a:ext>
            </a:extLst>
          </p:cNvPr>
          <p:cNvSpPr/>
          <p:nvPr/>
        </p:nvSpPr>
        <p:spPr>
          <a:xfrm>
            <a:off x="4026865" y="448294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9DC2D29-D1BE-4DC3-A040-9FA55B30F984}"/>
              </a:ext>
            </a:extLst>
          </p:cNvPr>
          <p:cNvSpPr/>
          <p:nvPr/>
        </p:nvSpPr>
        <p:spPr>
          <a:xfrm>
            <a:off x="4026865" y="862632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3" name="Table 5">
                <a:extLst>
                  <a:ext uri="{FF2B5EF4-FFF2-40B4-BE49-F238E27FC236}">
                    <a16:creationId xmlns:a16="http://schemas.microsoft.com/office/drawing/2014/main" id="{CBBEF174-9CC4-46FE-ACD6-CC879BE4B0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9821899"/>
                  </p:ext>
                </p:extLst>
              </p:nvPr>
            </p:nvGraphicFramePr>
            <p:xfrm>
              <a:off x="5075290" y="520876"/>
              <a:ext cx="2290710" cy="62990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570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</a:tblGrid>
                  <a:tr h="3974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97480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3" name="Table 5">
                <a:extLst>
                  <a:ext uri="{FF2B5EF4-FFF2-40B4-BE49-F238E27FC236}">
                    <a16:creationId xmlns:a16="http://schemas.microsoft.com/office/drawing/2014/main" id="{CBBEF174-9CC4-46FE-ACD6-CC879BE4B0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9821899"/>
                  </p:ext>
                </p:extLst>
              </p:nvPr>
            </p:nvGraphicFramePr>
            <p:xfrm>
              <a:off x="5075290" y="520876"/>
              <a:ext cx="2290710" cy="62990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570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</a:tblGrid>
                  <a:tr h="3974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97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94" t="-101538" r="-200794" b="-139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1600" t="-101538" r="-102400" b="-139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101538" r="-1587" b="-139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B2165035-2E7F-4A08-A358-050EF17D63EB}"/>
              </a:ext>
            </a:extLst>
          </p:cNvPr>
          <p:cNvSpPr txBox="1"/>
          <p:nvPr/>
        </p:nvSpPr>
        <p:spPr>
          <a:xfrm>
            <a:off x="5442788" y="-26377"/>
            <a:ext cx="19560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Орундардын мааниси </a:t>
            </a:r>
            <a:endParaRPr lang="en-US" sz="1400" b="1" dirty="0"/>
          </a:p>
          <a:p>
            <a:r>
              <a:rPr lang="ru-RU" sz="1400" b="1" dirty="0"/>
              <a:t>диаграммасы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2452CBF-44FB-45DA-88E8-EF140BCCDDC4}"/>
              </a:ext>
            </a:extLst>
          </p:cNvPr>
          <p:cNvSpPr/>
          <p:nvPr/>
        </p:nvSpPr>
        <p:spPr>
          <a:xfrm>
            <a:off x="6566865" y="448294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4B8D576-F837-4AE5-BD06-E9CE177D1258}"/>
              </a:ext>
            </a:extLst>
          </p:cNvPr>
          <p:cNvSpPr/>
          <p:nvPr/>
        </p:nvSpPr>
        <p:spPr>
          <a:xfrm>
            <a:off x="6566865" y="862632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7" name="Table 5">
                <a:extLst>
                  <a:ext uri="{FF2B5EF4-FFF2-40B4-BE49-F238E27FC236}">
                    <a16:creationId xmlns:a16="http://schemas.microsoft.com/office/drawing/2014/main" id="{5EC42D23-74EF-4296-BFE8-5ED812A384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8986478"/>
                  </p:ext>
                </p:extLst>
              </p:nvPr>
            </p:nvGraphicFramePr>
            <p:xfrm>
              <a:off x="7577190" y="496842"/>
              <a:ext cx="2290710" cy="63230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570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</a:tblGrid>
                  <a:tr h="3989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98996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7" name="Table 5">
                <a:extLst>
                  <a:ext uri="{FF2B5EF4-FFF2-40B4-BE49-F238E27FC236}">
                    <a16:creationId xmlns:a16="http://schemas.microsoft.com/office/drawing/2014/main" id="{5EC42D23-74EF-4296-BFE8-5ED812A384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8986478"/>
                  </p:ext>
                </p:extLst>
              </p:nvPr>
            </p:nvGraphicFramePr>
            <p:xfrm>
              <a:off x="7577190" y="496842"/>
              <a:ext cx="2290710" cy="63230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570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</a:tblGrid>
                  <a:tr h="3989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9899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94" t="-100000" r="-200794" b="-137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600" t="-100000" r="-102400" b="-137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000" t="-100000" r="-1587" b="-13772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C480E9FC-86EA-44FE-B2EA-885940F8F4E6}"/>
              </a:ext>
            </a:extLst>
          </p:cNvPr>
          <p:cNvSpPr txBox="1"/>
          <p:nvPr/>
        </p:nvSpPr>
        <p:spPr>
          <a:xfrm>
            <a:off x="7944688" y="-26377"/>
            <a:ext cx="19560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Орундардын мааниси </a:t>
            </a:r>
            <a:endParaRPr lang="en-US" sz="1400" b="1" dirty="0"/>
          </a:p>
          <a:p>
            <a:r>
              <a:rPr lang="ru-RU" sz="1400" b="1" dirty="0"/>
              <a:t>диаграммасы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8FD7247-E5E2-44C3-AA35-D1B5C0F6F75D}"/>
              </a:ext>
            </a:extLst>
          </p:cNvPr>
          <p:cNvSpPr/>
          <p:nvPr/>
        </p:nvSpPr>
        <p:spPr>
          <a:xfrm>
            <a:off x="9068765" y="448294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F7ADC5F-BCA2-41DD-892C-D80CDA25D17F}"/>
              </a:ext>
            </a:extLst>
          </p:cNvPr>
          <p:cNvSpPr/>
          <p:nvPr/>
        </p:nvSpPr>
        <p:spPr>
          <a:xfrm>
            <a:off x="9068765" y="862632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0110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CEB514B-10E1-4F51-96D1-6B94CF6E82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1734465"/>
                  </p:ext>
                </p:extLst>
              </p:nvPr>
            </p:nvGraphicFramePr>
            <p:xfrm>
              <a:off x="33390" y="274443"/>
              <a:ext cx="4814380" cy="65454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03595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1203595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03595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1203595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</a:tblGrid>
                  <a:tr h="4130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413029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CEB514B-10E1-4F51-96D1-6B94CF6E82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1734465"/>
                  </p:ext>
                </p:extLst>
              </p:nvPr>
            </p:nvGraphicFramePr>
            <p:xfrm>
              <a:off x="33390" y="274443"/>
              <a:ext cx="4814380" cy="65454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03595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1203595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03595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1203595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</a:tblGrid>
                  <a:tr h="4130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4130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5" t="-102941" r="-300505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05" t="-102941" r="-200505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23" t="-102941" r="-101523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102941" r="-1010" b="-138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BA4B096-3C95-4243-AAE3-699EB4D3A1F2}"/>
              </a:ext>
            </a:extLst>
          </p:cNvPr>
          <p:cNvSpPr txBox="1"/>
          <p:nvPr/>
        </p:nvSpPr>
        <p:spPr>
          <a:xfrm>
            <a:off x="1076960" y="-26377"/>
            <a:ext cx="32816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/>
              <a:t>Орундардын мааниси</a:t>
            </a:r>
            <a:r>
              <a:rPr lang="en-US" sz="1400" b="1" dirty="0"/>
              <a:t> </a:t>
            </a:r>
            <a:r>
              <a:rPr lang="ru-RU" sz="1400" b="1" dirty="0"/>
              <a:t>диаграммасы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3642D21-9253-48F3-8C7C-6754DA23DCAC}"/>
              </a:ext>
            </a:extLst>
          </p:cNvPr>
          <p:cNvSpPr/>
          <p:nvPr/>
        </p:nvSpPr>
        <p:spPr>
          <a:xfrm>
            <a:off x="2404441" y="448294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0042C5F-03D8-431F-95A5-6B7AEE46E7AE}"/>
              </a:ext>
            </a:extLst>
          </p:cNvPr>
          <p:cNvSpPr/>
          <p:nvPr/>
        </p:nvSpPr>
        <p:spPr>
          <a:xfrm>
            <a:off x="2404441" y="869775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6" name="Table 5">
                <a:extLst>
                  <a:ext uri="{FF2B5EF4-FFF2-40B4-BE49-F238E27FC236}">
                    <a16:creationId xmlns:a16="http://schemas.microsoft.com/office/drawing/2014/main" id="{7A6BD416-DD63-4E17-9F5D-8AC5E1616AD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23752626"/>
                  </p:ext>
                </p:extLst>
              </p:nvPr>
            </p:nvGraphicFramePr>
            <p:xfrm>
              <a:off x="5053065" y="274443"/>
              <a:ext cx="4814380" cy="65454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03595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1203595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03595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1203595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</a:tblGrid>
                  <a:tr h="4130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413029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6" name="Table 5">
                <a:extLst>
                  <a:ext uri="{FF2B5EF4-FFF2-40B4-BE49-F238E27FC236}">
                    <a16:creationId xmlns:a16="http://schemas.microsoft.com/office/drawing/2014/main" id="{7A6BD416-DD63-4E17-9F5D-8AC5E1616AD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23752626"/>
                  </p:ext>
                </p:extLst>
              </p:nvPr>
            </p:nvGraphicFramePr>
            <p:xfrm>
              <a:off x="5053065" y="274443"/>
              <a:ext cx="4814380" cy="65454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03595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1203595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03595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1203595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</a:tblGrid>
                  <a:tr h="4130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4130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5" t="-102941" r="-300505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505" t="-102941" r="-200505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523" t="-102941" r="-101523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000" t="-102941" r="-1010" b="-138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E366707F-802D-499A-8E7C-1992CFEABE91}"/>
              </a:ext>
            </a:extLst>
          </p:cNvPr>
          <p:cNvSpPr txBox="1"/>
          <p:nvPr/>
        </p:nvSpPr>
        <p:spPr>
          <a:xfrm>
            <a:off x="6206466" y="-7115"/>
            <a:ext cx="30444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Орундардын мааниси</a:t>
            </a:r>
            <a:r>
              <a:rPr lang="en-US" sz="1400" b="1" dirty="0"/>
              <a:t> </a:t>
            </a:r>
            <a:r>
              <a:rPr lang="ru-RU" sz="1400" b="1" dirty="0"/>
              <a:t>диаграммасы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728AA7A-6646-497B-96BE-73F2C313701A}"/>
              </a:ext>
            </a:extLst>
          </p:cNvPr>
          <p:cNvSpPr/>
          <p:nvPr/>
        </p:nvSpPr>
        <p:spPr>
          <a:xfrm>
            <a:off x="7424116" y="448294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FC59AA5-07D8-4848-A066-360E1F909E09}"/>
              </a:ext>
            </a:extLst>
          </p:cNvPr>
          <p:cNvSpPr/>
          <p:nvPr/>
        </p:nvSpPr>
        <p:spPr>
          <a:xfrm>
            <a:off x="7424116" y="869775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5252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CEB514B-10E1-4F51-96D1-6B94CF6E82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68362548"/>
                  </p:ext>
                </p:extLst>
              </p:nvPr>
            </p:nvGraphicFramePr>
            <p:xfrm>
              <a:off x="33390" y="274443"/>
              <a:ext cx="4828895" cy="65454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65779">
                      <a:extLst>
                        <a:ext uri="{9D8B030D-6E8A-4147-A177-3AD203B41FA5}">
                          <a16:colId xmlns:a16="http://schemas.microsoft.com/office/drawing/2014/main" val="3432822781"/>
                        </a:ext>
                      </a:extLst>
                    </a:gridCol>
                    <a:gridCol w="965779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965779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965779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965779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</a:tblGrid>
                  <a:tr h="41302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413029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100" b="0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CEB514B-10E1-4F51-96D1-6B94CF6E82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68362548"/>
                  </p:ext>
                </p:extLst>
              </p:nvPr>
            </p:nvGraphicFramePr>
            <p:xfrm>
              <a:off x="33390" y="274443"/>
              <a:ext cx="4828895" cy="65454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65779">
                      <a:extLst>
                        <a:ext uri="{9D8B030D-6E8A-4147-A177-3AD203B41FA5}">
                          <a16:colId xmlns:a16="http://schemas.microsoft.com/office/drawing/2014/main" val="3432822781"/>
                        </a:ext>
                      </a:extLst>
                    </a:gridCol>
                    <a:gridCol w="965779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965779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965779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965779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</a:tblGrid>
                  <a:tr h="41302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4130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29" t="-102941" r="-400000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266" t="-102941" r="-302532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102941" r="-200629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899" t="-102941" r="-101899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9371" t="-102941" r="-1258" b="-138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BA4B096-3C95-4243-AAE3-699EB4D3A1F2}"/>
              </a:ext>
            </a:extLst>
          </p:cNvPr>
          <p:cNvSpPr txBox="1"/>
          <p:nvPr/>
        </p:nvSpPr>
        <p:spPr>
          <a:xfrm>
            <a:off x="1238747" y="-70299"/>
            <a:ext cx="30444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Орундардын мааниси</a:t>
            </a:r>
            <a:r>
              <a:rPr lang="en-US" sz="1400" b="1" dirty="0"/>
              <a:t> </a:t>
            </a:r>
            <a:r>
              <a:rPr lang="ru-RU" sz="1400" b="1" dirty="0"/>
              <a:t>диаграммасы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3642D21-9253-48F3-8C7C-6754DA23DCAC}"/>
              </a:ext>
            </a:extLst>
          </p:cNvPr>
          <p:cNvSpPr/>
          <p:nvPr/>
        </p:nvSpPr>
        <p:spPr>
          <a:xfrm>
            <a:off x="2897361" y="443531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0042C5F-03D8-431F-95A5-6B7AEE46E7AE}"/>
              </a:ext>
            </a:extLst>
          </p:cNvPr>
          <p:cNvSpPr/>
          <p:nvPr/>
        </p:nvSpPr>
        <p:spPr>
          <a:xfrm>
            <a:off x="2897361" y="853107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6" name="Table 5">
                <a:extLst>
                  <a:ext uri="{FF2B5EF4-FFF2-40B4-BE49-F238E27FC236}">
                    <a16:creationId xmlns:a16="http://schemas.microsoft.com/office/drawing/2014/main" id="{EA398854-0676-48F1-898E-A93774F6A8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2400522"/>
                  </p:ext>
                </p:extLst>
              </p:nvPr>
            </p:nvGraphicFramePr>
            <p:xfrm>
              <a:off x="5037190" y="274443"/>
              <a:ext cx="4828895" cy="65454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65779">
                      <a:extLst>
                        <a:ext uri="{9D8B030D-6E8A-4147-A177-3AD203B41FA5}">
                          <a16:colId xmlns:a16="http://schemas.microsoft.com/office/drawing/2014/main" val="3432822781"/>
                        </a:ext>
                      </a:extLst>
                    </a:gridCol>
                    <a:gridCol w="965779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965779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965779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965779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</a:tblGrid>
                  <a:tr h="41302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413029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100" b="0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6" name="Table 5">
                <a:extLst>
                  <a:ext uri="{FF2B5EF4-FFF2-40B4-BE49-F238E27FC236}">
                    <a16:creationId xmlns:a16="http://schemas.microsoft.com/office/drawing/2014/main" id="{EA398854-0676-48F1-898E-A93774F6A8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2400522"/>
                  </p:ext>
                </p:extLst>
              </p:nvPr>
            </p:nvGraphicFramePr>
            <p:xfrm>
              <a:off x="5037190" y="274443"/>
              <a:ext cx="4828895" cy="65454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65779">
                      <a:extLst>
                        <a:ext uri="{9D8B030D-6E8A-4147-A177-3AD203B41FA5}">
                          <a16:colId xmlns:a16="http://schemas.microsoft.com/office/drawing/2014/main" val="3432822781"/>
                        </a:ext>
                      </a:extLst>
                    </a:gridCol>
                    <a:gridCol w="965779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965779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965779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965779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</a:tblGrid>
                  <a:tr h="41302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4130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29" t="-102941" r="-400000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66" t="-102941" r="-302532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102941" r="-200629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1899" t="-102941" r="-101899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9371" t="-102941" r="-1258" b="-138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56D7FDC0-44E5-418F-B065-803AF705AF8D}"/>
              </a:ext>
            </a:extLst>
          </p:cNvPr>
          <p:cNvSpPr txBox="1"/>
          <p:nvPr/>
        </p:nvSpPr>
        <p:spPr>
          <a:xfrm>
            <a:off x="6055608" y="-33334"/>
            <a:ext cx="30444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Орундардын мааниси</a:t>
            </a:r>
            <a:r>
              <a:rPr lang="en-US" sz="1400" b="1" dirty="0"/>
              <a:t> </a:t>
            </a:r>
            <a:r>
              <a:rPr lang="ru-RU" sz="1400" b="1" dirty="0"/>
              <a:t>диаграммасы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13EE526-2403-430D-9D25-A811B9E32D9F}"/>
              </a:ext>
            </a:extLst>
          </p:cNvPr>
          <p:cNvSpPr/>
          <p:nvPr/>
        </p:nvSpPr>
        <p:spPr>
          <a:xfrm>
            <a:off x="7901161" y="443531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5076B75-5535-402C-9730-12AE0C43AF29}"/>
              </a:ext>
            </a:extLst>
          </p:cNvPr>
          <p:cNvSpPr/>
          <p:nvPr/>
        </p:nvSpPr>
        <p:spPr>
          <a:xfrm>
            <a:off x="7901161" y="853107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7014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CEB514B-10E1-4F51-96D1-6B94CF6E82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89343432"/>
                  </p:ext>
                </p:extLst>
              </p:nvPr>
            </p:nvGraphicFramePr>
            <p:xfrm>
              <a:off x="33391" y="274444"/>
              <a:ext cx="4857923" cy="65454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93989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3432822781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4130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0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10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1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413029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000" b="0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00</m:t>
                                </m:r>
                              </m:oMath>
                            </m:oMathPara>
                          </a14:m>
                          <a:endParaRPr kumimoji="0" lang="en-GB" sz="1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000" b="0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0" lang="en-GB" sz="1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CEB514B-10E1-4F51-96D1-6B94CF6E82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89343432"/>
                  </p:ext>
                </p:extLst>
              </p:nvPr>
            </p:nvGraphicFramePr>
            <p:xfrm>
              <a:off x="33391" y="274444"/>
              <a:ext cx="4857923" cy="65454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93989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3432822781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4130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0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10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1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4130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77" t="-102941" r="-601754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877" t="-102941" r="-501754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77" t="-102941" r="-401754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877" t="-102941" r="-301754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877" t="-102941" r="-201754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0877" t="-102941" r="-101754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0877" t="-102941" r="-1754" b="-138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BA4B096-3C95-4243-AAE3-699EB4D3A1F2}"/>
              </a:ext>
            </a:extLst>
          </p:cNvPr>
          <p:cNvSpPr txBox="1"/>
          <p:nvPr/>
        </p:nvSpPr>
        <p:spPr>
          <a:xfrm>
            <a:off x="1584483" y="-26377"/>
            <a:ext cx="30444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Орундардын мааниси</a:t>
            </a:r>
            <a:r>
              <a:rPr lang="en-US" sz="1400" b="1" dirty="0"/>
              <a:t> </a:t>
            </a:r>
            <a:r>
              <a:rPr lang="ru-RU" sz="1400" b="1" dirty="0"/>
              <a:t>диаграммасы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3642D21-9253-48F3-8C7C-6754DA23DCAC}"/>
              </a:ext>
            </a:extLst>
          </p:cNvPr>
          <p:cNvSpPr/>
          <p:nvPr/>
        </p:nvSpPr>
        <p:spPr>
          <a:xfrm>
            <a:off x="2772741" y="455437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0042C5F-03D8-431F-95A5-6B7AEE46E7AE}"/>
              </a:ext>
            </a:extLst>
          </p:cNvPr>
          <p:cNvSpPr/>
          <p:nvPr/>
        </p:nvSpPr>
        <p:spPr>
          <a:xfrm>
            <a:off x="2772741" y="865013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" name="Table 5">
                <a:extLst>
                  <a:ext uri="{FF2B5EF4-FFF2-40B4-BE49-F238E27FC236}">
                    <a16:creationId xmlns:a16="http://schemas.microsoft.com/office/drawing/2014/main" id="{ECDD8A77-C57A-41AC-BBCB-07B5C36E53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09300374"/>
                  </p:ext>
                </p:extLst>
              </p:nvPr>
            </p:nvGraphicFramePr>
            <p:xfrm>
              <a:off x="5011791" y="274444"/>
              <a:ext cx="4857923" cy="65454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93989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3432822781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41302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10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10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413029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000" b="0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00</m:t>
                                </m:r>
                              </m:oMath>
                            </m:oMathPara>
                          </a14:m>
                          <a:endParaRPr kumimoji="0" lang="en-GB" sz="1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000" b="0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0" lang="en-GB" sz="1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2" name="Table 5">
                <a:extLst>
                  <a:ext uri="{FF2B5EF4-FFF2-40B4-BE49-F238E27FC236}">
                    <a16:creationId xmlns:a16="http://schemas.microsoft.com/office/drawing/2014/main" id="{ECDD8A77-C57A-41AC-BBCB-07B5C36E53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09300374"/>
                  </p:ext>
                </p:extLst>
              </p:nvPr>
            </p:nvGraphicFramePr>
            <p:xfrm>
              <a:off x="5011791" y="274444"/>
              <a:ext cx="4857923" cy="65454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93989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3432822781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41302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10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10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4130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77" t="-102941" r="-601754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877" t="-102941" r="-501754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877" t="-102941" r="-401754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877" t="-102941" r="-301754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0877" t="-102941" r="-201754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0877" t="-102941" r="-101754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00877" t="-102941" r="-1754" b="-138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1833CD2C-9BB9-4A13-8AF0-4BBDD2094A0A}"/>
              </a:ext>
            </a:extLst>
          </p:cNvPr>
          <p:cNvSpPr txBox="1"/>
          <p:nvPr/>
        </p:nvSpPr>
        <p:spPr>
          <a:xfrm>
            <a:off x="6562883" y="-26377"/>
            <a:ext cx="30444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Орундардын мааниси</a:t>
            </a:r>
            <a:r>
              <a:rPr lang="en-US" sz="1400" b="1" dirty="0"/>
              <a:t> </a:t>
            </a:r>
            <a:r>
              <a:rPr lang="ru-RU" sz="1400" b="1" dirty="0"/>
              <a:t>диаграммасы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158BE1E-5CEA-4BB0-A3AC-D09036ADC599}"/>
              </a:ext>
            </a:extLst>
          </p:cNvPr>
          <p:cNvSpPr/>
          <p:nvPr/>
        </p:nvSpPr>
        <p:spPr>
          <a:xfrm>
            <a:off x="7751141" y="455437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1850021-0082-4530-9AF6-75D25CD7BC7C}"/>
              </a:ext>
            </a:extLst>
          </p:cNvPr>
          <p:cNvSpPr/>
          <p:nvPr/>
        </p:nvSpPr>
        <p:spPr>
          <a:xfrm>
            <a:off x="7751141" y="865013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8460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AF0E45-2D9F-E310-9C87-B7E8A4F51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49073" y="1184363"/>
            <a:ext cx="6614638" cy="44726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CFB955-D3D6-69C9-6177-D64E168CC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94717" y="1138644"/>
            <a:ext cx="6614636" cy="4564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371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82A445-FBD7-D32A-B5BE-8ABB39BDD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38399" y="1038463"/>
            <a:ext cx="6783227" cy="47063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F1687D-FFCB-03E9-C3DC-D9685CDF7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61172" y="1038461"/>
            <a:ext cx="6783229" cy="4706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621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981497-7379-CAF8-8B42-4B59C6339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57621" y="1104843"/>
            <a:ext cx="6690548" cy="46483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7DF94A-CA39-6BB1-AEA3-8176DA45D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98758" y="1179158"/>
            <a:ext cx="6719795" cy="4528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368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05FF35-0673-15F2-173E-6D402C55C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23526" y="1079713"/>
            <a:ext cx="6853040" cy="47444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2EA34E-AC7B-1AA1-2B66-05E93EFBD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73475" y="1076567"/>
            <a:ext cx="6832602" cy="4730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603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50E6E79-ADF7-6EE6-6CD8-FF34317E9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99634" y="1045865"/>
            <a:ext cx="6858352" cy="48590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B68CF1E-F648-48A1-9920-993DA2951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95767" y="1050800"/>
            <a:ext cx="6858352" cy="4756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3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68D8B6-C6B9-CCC8-9DCA-FCCAFE0AE5A0}"/>
              </a:ext>
            </a:extLst>
          </p:cNvPr>
          <p:cNvSpPr txBox="1">
            <a:spLocks/>
          </p:cNvSpPr>
          <p:nvPr/>
        </p:nvSpPr>
        <p:spPr>
          <a:xfrm>
            <a:off x="-609600" y="1253331"/>
            <a:ext cx="10515600" cy="435133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/>
              <a:t>Суроолор барбы?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/>
              <a:t>Комментарийлер?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/>
              <a:t>Сунуштар?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/>
              <a:t>…же ката таптыңызбы!?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/>
              <a:t>Турдуу пикирлер үчүн ыраазычылык билдиребиз.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/>
              <a:t>Сураныч, электрондук кат жөнөтүңүз: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/>
              <a:t>mathematicskgz@gmail.com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10687</TotalTime>
  <Words>250</Words>
  <Application>Microsoft Office PowerPoint</Application>
  <PresentationFormat>A4 Paper (210x297 mm)</PresentationFormat>
  <Paragraphs>160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Cambria Math</vt:lpstr>
      <vt:lpstr>Calibri Light</vt:lpstr>
      <vt:lpstr>Cooper Black</vt:lpstr>
      <vt:lpstr>Calibri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544</cp:revision>
  <cp:lastPrinted>2023-10-02T19:52:57Z</cp:lastPrinted>
  <dcterms:created xsi:type="dcterms:W3CDTF">2017-01-17T16:57:04Z</dcterms:created>
  <dcterms:modified xsi:type="dcterms:W3CDTF">2023-10-02T19:55:41Z</dcterms:modified>
</cp:coreProperties>
</file>