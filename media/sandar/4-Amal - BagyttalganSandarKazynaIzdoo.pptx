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25"/>
  </p:notesMasterIdLst>
  <p:sldIdLst>
    <p:sldId id="1059" r:id="rId2"/>
    <p:sldId id="939" r:id="rId3"/>
    <p:sldId id="952" r:id="rId4"/>
    <p:sldId id="954" r:id="rId5"/>
    <p:sldId id="955" r:id="rId6"/>
    <p:sldId id="958" r:id="rId7"/>
    <p:sldId id="950" r:id="rId8"/>
    <p:sldId id="959" r:id="rId9"/>
    <p:sldId id="960" r:id="rId10"/>
    <p:sldId id="961" r:id="rId11"/>
    <p:sldId id="953" r:id="rId12"/>
    <p:sldId id="951" r:id="rId13"/>
    <p:sldId id="957" r:id="rId14"/>
    <p:sldId id="963" r:id="rId15"/>
    <p:sldId id="962" r:id="rId16"/>
    <p:sldId id="964" r:id="rId17"/>
    <p:sldId id="956" r:id="rId18"/>
    <p:sldId id="965" r:id="rId19"/>
    <p:sldId id="1058" r:id="rId20"/>
    <p:sldId id="889" r:id="rId21"/>
    <p:sldId id="948" r:id="rId22"/>
    <p:sldId id="946" r:id="rId23"/>
    <p:sldId id="938" r:id="rId24"/>
  </p:sldIdLst>
  <p:sldSz cx="9906000" cy="6858000" type="A4"/>
  <p:notesSz cx="6669088" cy="9926638"/>
  <p:embeddedFontLst>
    <p:embeddedFont>
      <p:font typeface="Algerian" panose="04020705040A02060702" pitchFamily="82" charset="0"/>
      <p:regular r:id="rId26"/>
    </p:embeddedFont>
    <p:embeddedFont>
      <p:font typeface="Calibri" panose="020F0502020204030204" pitchFamily="34" charset="0"/>
      <p:regular r:id="rId27"/>
      <p:bold r:id="rId28"/>
      <p:italic r:id="rId29"/>
      <p:boldItalic r:id="rId30"/>
    </p:embeddedFont>
    <p:embeddedFont>
      <p:font typeface="Calibri Light" panose="020F0302020204030204" pitchFamily="34" charset="0"/>
      <p:regular r:id="rId31"/>
      <p:italic r:id="rId3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000"/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636" autoAdjust="0"/>
    <p:restoredTop sz="94660"/>
  </p:normalViewPr>
  <p:slideViewPr>
    <p:cSldViewPr snapToGrid="0" showGuides="1">
      <p:cViewPr varScale="1">
        <p:scale>
          <a:sx n="63" d="100"/>
          <a:sy n="63" d="100"/>
        </p:scale>
        <p:origin x="1304" y="5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-88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7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3.fntdata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2.fntdata"/><Relationship Id="rId30" Type="http://schemas.openxmlformats.org/officeDocument/2006/relationships/font" Target="fonts/font5.fntdata"/><Relationship Id="rId35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30/09/2023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9/30/2023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9/30/2023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9/30/2023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9/30/2023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9/30/2023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9/30/2023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9/30/2023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9/30/2023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9/30/2023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9/30/2023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9/30/2023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9/30/2023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7.png"/><Relationship Id="rId4" Type="http://schemas.openxmlformats.org/officeDocument/2006/relationships/image" Target="../media/image6.jpe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0196A19-4AB1-E647-240D-F68B9B60A45B}"/>
              </a:ext>
            </a:extLst>
          </p:cNvPr>
          <p:cNvSpPr txBox="1"/>
          <p:nvPr/>
        </p:nvSpPr>
        <p:spPr>
          <a:xfrm>
            <a:off x="314960" y="856357"/>
            <a:ext cx="9591040" cy="6001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endParaRPr lang="ky-KG" sz="24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ky-KG" sz="24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y-KG" sz="2400" b="1" dirty="0"/>
              <a:t>Амалдарды аткаруу тартиби</a:t>
            </a:r>
            <a:r>
              <a:rPr lang="en-US" sz="2400" b="1" dirty="0"/>
              <a:t> </a:t>
            </a:r>
            <a:r>
              <a:rPr lang="en-US" sz="2400" dirty="0"/>
              <a:t>– </a:t>
            </a:r>
            <a:r>
              <a:rPr lang="en-US" sz="2400" dirty="0" err="1"/>
              <a:t>Багытталган</a:t>
            </a:r>
            <a:r>
              <a:rPr lang="en-US" sz="2400" dirty="0"/>
              <a:t> </a:t>
            </a:r>
            <a:r>
              <a:rPr lang="en-US" sz="2400" dirty="0" err="1"/>
              <a:t>сандар</a:t>
            </a:r>
            <a:r>
              <a:rPr lang="en-US" sz="2400" dirty="0"/>
              <a:t> – </a:t>
            </a:r>
            <a:r>
              <a:rPr lang="ky-KG" sz="2400" dirty="0"/>
              <a:t>Казынанын Изи менен</a:t>
            </a: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y-KG" sz="2400" dirty="0"/>
              <a:t>Окуучулар ж</a:t>
            </a:r>
            <a:r>
              <a:rPr lang="en-US" sz="2400" dirty="0" err="1"/>
              <a:t>еке</a:t>
            </a:r>
            <a:r>
              <a:rPr lang="en-US" sz="2400" dirty="0"/>
              <a:t>  (</a:t>
            </a:r>
            <a:r>
              <a:rPr lang="en-US" sz="2400" dirty="0" err="1"/>
              <a:t>же</a:t>
            </a:r>
            <a:r>
              <a:rPr lang="en-US" sz="2400" dirty="0"/>
              <a:t> </a:t>
            </a:r>
            <a:r>
              <a:rPr lang="en-US" sz="2400" dirty="0" err="1"/>
              <a:t>жуп</a:t>
            </a:r>
            <a:r>
              <a:rPr lang="ky-KG" sz="2400" dirty="0"/>
              <a:t> болуп</a:t>
            </a:r>
            <a:r>
              <a:rPr lang="en-US" sz="2400" dirty="0"/>
              <a:t>) </a:t>
            </a:r>
            <a:r>
              <a:rPr lang="en-US" sz="2400" dirty="0" err="1"/>
              <a:t>каалаган</a:t>
            </a:r>
            <a:r>
              <a:rPr lang="en-US" sz="2400" dirty="0"/>
              <a:t> </a:t>
            </a:r>
            <a:r>
              <a:rPr lang="en-US" sz="2400" dirty="0" err="1"/>
              <a:t>суроо</a:t>
            </a:r>
            <a:r>
              <a:rPr lang="en-US" sz="2400" dirty="0"/>
              <a:t> </a:t>
            </a:r>
            <a:r>
              <a:rPr lang="en-US" sz="2400" dirty="0" err="1"/>
              <a:t>плакатта</a:t>
            </a:r>
            <a:r>
              <a:rPr lang="ky-KG" sz="2400" dirty="0"/>
              <a:t>н</a:t>
            </a:r>
            <a:r>
              <a:rPr lang="en-US" sz="2400" dirty="0"/>
              <a:t> </a:t>
            </a:r>
            <a:r>
              <a:rPr lang="en-US" sz="2400" dirty="0" err="1"/>
              <a:t>баштай</a:t>
            </a:r>
            <a:r>
              <a:rPr lang="en-US" sz="2400" dirty="0"/>
              <a:t> </a:t>
            </a:r>
            <a:r>
              <a:rPr lang="en-US" sz="2400" dirty="0" err="1"/>
              <a:t>алышат</a:t>
            </a:r>
            <a:r>
              <a:rPr lang="en-US" sz="2400" dirty="0"/>
              <a:t>.</a:t>
            </a:r>
          </a:p>
          <a:p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err="1"/>
              <a:t>Алар</a:t>
            </a:r>
            <a:r>
              <a:rPr lang="en-US" sz="2400" dirty="0"/>
              <a:t> </a:t>
            </a:r>
            <a:r>
              <a:rPr lang="en-US" sz="2400" dirty="0" err="1"/>
              <a:t>жоопту</a:t>
            </a:r>
            <a:r>
              <a:rPr lang="en-US" sz="2400" dirty="0"/>
              <a:t> </a:t>
            </a:r>
            <a:r>
              <a:rPr lang="en-US" sz="2400" dirty="0" err="1"/>
              <a:t>эсептеп</a:t>
            </a:r>
            <a:r>
              <a:rPr lang="en-US" sz="2400" dirty="0"/>
              <a:t> </a:t>
            </a:r>
            <a:r>
              <a:rPr lang="en-US" sz="2400" dirty="0" err="1"/>
              <a:t>чыккандан</a:t>
            </a:r>
            <a:r>
              <a:rPr lang="en-US" sz="2400" dirty="0"/>
              <a:t> </a:t>
            </a:r>
            <a:r>
              <a:rPr lang="en-US" sz="2400" dirty="0" err="1"/>
              <a:t>кийин</a:t>
            </a:r>
            <a:r>
              <a:rPr lang="en-US" sz="2400" dirty="0"/>
              <a:t>,  </a:t>
            </a:r>
            <a:r>
              <a:rPr lang="en-US" sz="2400" dirty="0" err="1"/>
              <a:t>ошол</a:t>
            </a:r>
            <a:r>
              <a:rPr lang="en-US" sz="2400" dirty="0"/>
              <a:t> </a:t>
            </a:r>
            <a:r>
              <a:rPr lang="en-US" sz="2400" dirty="0" err="1"/>
              <a:t>жооп</a:t>
            </a:r>
            <a:r>
              <a:rPr lang="en-US" sz="2400" dirty="0"/>
              <a:t> </a:t>
            </a:r>
            <a:r>
              <a:rPr lang="en-US" sz="2400" dirty="0" err="1"/>
              <a:t>бар</a:t>
            </a:r>
            <a:r>
              <a:rPr lang="en-US" sz="2400" dirty="0"/>
              <a:t> </a:t>
            </a:r>
            <a:r>
              <a:rPr lang="en-US" sz="2400" dirty="0" err="1"/>
              <a:t>плакатты</a:t>
            </a:r>
            <a:r>
              <a:rPr lang="en-US" sz="2400" dirty="0"/>
              <a:t> </a:t>
            </a:r>
            <a:r>
              <a:rPr lang="en-US" sz="2400" dirty="0" err="1"/>
              <a:t>табышы</a:t>
            </a:r>
            <a:r>
              <a:rPr lang="en-US" sz="2400" dirty="0"/>
              <a:t> </a:t>
            </a:r>
            <a:r>
              <a:rPr lang="en-US" sz="2400" dirty="0" err="1"/>
              <a:t>керек</a:t>
            </a:r>
            <a:r>
              <a:rPr lang="en-US" sz="2400" dirty="0"/>
              <a:t>. </a:t>
            </a:r>
            <a:r>
              <a:rPr lang="ky-KG" sz="2400" dirty="0"/>
              <a:t>Окуучулар</a:t>
            </a:r>
            <a:r>
              <a:rPr lang="en-US" sz="2400" dirty="0"/>
              <a:t> </a:t>
            </a:r>
            <a:r>
              <a:rPr lang="en-US" sz="2400" dirty="0" err="1"/>
              <a:t>бир</a:t>
            </a:r>
            <a:r>
              <a:rPr lang="en-US" sz="2400" dirty="0"/>
              <a:t> </a:t>
            </a:r>
            <a:r>
              <a:rPr lang="en-US" sz="2400" dirty="0" err="1"/>
              <a:t>суроодон</a:t>
            </a:r>
            <a:r>
              <a:rPr lang="en-US" sz="2400" dirty="0"/>
              <a:t> </a:t>
            </a:r>
            <a:r>
              <a:rPr lang="en-US" sz="2400" dirty="0" err="1"/>
              <a:t>экинчи</a:t>
            </a:r>
            <a:r>
              <a:rPr lang="en-US" sz="2400" dirty="0"/>
              <a:t> </a:t>
            </a:r>
            <a:r>
              <a:rPr lang="en-US" sz="2400" dirty="0" err="1"/>
              <a:t>суроого</a:t>
            </a:r>
            <a:r>
              <a:rPr lang="en-US" sz="2400" dirty="0"/>
              <a:t> </a:t>
            </a:r>
            <a:r>
              <a:rPr lang="en-US" sz="2400" dirty="0" err="1"/>
              <a:t>толук</a:t>
            </a:r>
            <a:r>
              <a:rPr lang="en-US" sz="2400" dirty="0"/>
              <a:t> </a:t>
            </a:r>
            <a:r>
              <a:rPr lang="en-US" sz="2400" dirty="0" err="1"/>
              <a:t>тегере</a:t>
            </a:r>
            <a:r>
              <a:rPr lang="ky-KG" sz="2400" dirty="0"/>
              <a:t>нип</a:t>
            </a:r>
            <a:r>
              <a:rPr lang="en-US" sz="2400" dirty="0"/>
              <a:t> </a:t>
            </a:r>
            <a:r>
              <a:rPr lang="en-US" sz="2400" dirty="0" err="1"/>
              <a:t>жолду</a:t>
            </a:r>
            <a:r>
              <a:rPr lang="en-US" sz="2400" dirty="0"/>
              <a:t> </a:t>
            </a:r>
            <a:r>
              <a:rPr lang="en-US" sz="2400" dirty="0" err="1"/>
              <a:t>бүтүргөнгө</a:t>
            </a:r>
            <a:r>
              <a:rPr lang="en-US" sz="2400" dirty="0"/>
              <a:t> </a:t>
            </a:r>
            <a:r>
              <a:rPr lang="en-US" sz="2400" dirty="0" err="1"/>
              <a:t>чейин</a:t>
            </a:r>
            <a:r>
              <a:rPr lang="en-US" sz="2400" dirty="0"/>
              <a:t> </a:t>
            </a:r>
            <a:r>
              <a:rPr lang="ky-KG" sz="2400" dirty="0"/>
              <a:t>улантышат</a:t>
            </a:r>
            <a:r>
              <a:rPr lang="en-US" sz="2400" dirty="0"/>
              <a:t>.</a:t>
            </a:r>
          </a:p>
          <a:p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y-KG" sz="2400" dirty="0"/>
              <a:t>Окуучулар</a:t>
            </a:r>
            <a:r>
              <a:rPr lang="en-US" sz="2400" dirty="0"/>
              <a:t> </a:t>
            </a:r>
            <a:r>
              <a:rPr lang="ky-KG" sz="2400" dirty="0"/>
              <a:t>чыгарган </a:t>
            </a:r>
            <a:r>
              <a:rPr lang="en-US" sz="2400" dirty="0" err="1"/>
              <a:t>суроолорунун</a:t>
            </a:r>
            <a:r>
              <a:rPr lang="en-US" sz="2400" dirty="0"/>
              <a:t> </a:t>
            </a:r>
            <a:r>
              <a:rPr lang="en-US" sz="2400" dirty="0" err="1"/>
              <a:t>тамгаларын</a:t>
            </a:r>
            <a:r>
              <a:rPr lang="en-US" sz="2400" dirty="0"/>
              <a:t> </a:t>
            </a:r>
            <a:r>
              <a:rPr lang="en-US" sz="2400" dirty="0" err="1"/>
              <a:t>жазып</a:t>
            </a:r>
            <a:r>
              <a:rPr lang="en-US" sz="2400" dirty="0"/>
              <a:t> </a:t>
            </a:r>
            <a:r>
              <a:rPr lang="en-US" sz="2400" dirty="0" err="1"/>
              <a:t>алышы</a:t>
            </a:r>
            <a:r>
              <a:rPr lang="en-US" sz="2400" dirty="0"/>
              <a:t> </a:t>
            </a:r>
            <a:r>
              <a:rPr lang="en-US" sz="2400" dirty="0" err="1"/>
              <a:t>керек</a:t>
            </a:r>
            <a:r>
              <a:rPr lang="en-US" sz="2400" dirty="0"/>
              <a:t>.</a:t>
            </a:r>
            <a:r>
              <a:rPr lang="ky-KG" sz="2400" dirty="0"/>
              <a:t>Унутуп калбаш учун</a:t>
            </a:r>
            <a:endParaRPr lang="en-US" sz="2400" dirty="0"/>
          </a:p>
          <a:p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(</a:t>
            </a:r>
            <a:r>
              <a:rPr lang="ru-RU" sz="2400" dirty="0"/>
              <a:t>ачык пластик файлдар </a:t>
            </a:r>
            <a:r>
              <a:rPr lang="en-US" sz="2400" dirty="0" err="1"/>
              <a:t>капчыктар</a:t>
            </a:r>
            <a:r>
              <a:rPr lang="ky-KG" sz="2400" dirty="0"/>
              <a:t>га</a:t>
            </a:r>
            <a:r>
              <a:rPr lang="en-US" sz="2400" dirty="0"/>
              <a:t> </a:t>
            </a:r>
            <a:r>
              <a:rPr lang="en-US" sz="2400" dirty="0" err="1"/>
              <a:t>плакаттарды</a:t>
            </a:r>
            <a:r>
              <a:rPr lang="ky-KG" sz="2400" dirty="0"/>
              <a:t> салып кою</a:t>
            </a:r>
            <a:r>
              <a:rPr lang="en-US" sz="2400" dirty="0"/>
              <a:t>ң</a:t>
            </a:r>
            <a:r>
              <a:rPr lang="ky-KG" sz="2400" dirty="0"/>
              <a:t>уз алар сизге</a:t>
            </a:r>
            <a:r>
              <a:rPr lang="en-US" sz="2400" dirty="0"/>
              <a:t> </a:t>
            </a:r>
            <a:r>
              <a:rPr lang="en-US" sz="2400" dirty="0" err="1"/>
              <a:t>тез</a:t>
            </a:r>
            <a:r>
              <a:rPr lang="en-US" sz="2400" dirty="0"/>
              <a:t> </a:t>
            </a:r>
            <a:r>
              <a:rPr lang="en-US" sz="2400" dirty="0" err="1"/>
              <a:t>жана</a:t>
            </a:r>
            <a:r>
              <a:rPr lang="en-US" sz="2400" dirty="0"/>
              <a:t> </a:t>
            </a:r>
            <a:r>
              <a:rPr lang="en-US" sz="2400" dirty="0" err="1"/>
              <a:t>оңой</a:t>
            </a:r>
            <a:r>
              <a:rPr lang="en-US" sz="2400" dirty="0"/>
              <a:t> </a:t>
            </a:r>
            <a:r>
              <a:rPr lang="en-US" sz="2400" dirty="0" err="1"/>
              <a:t>көрсөтүүгө</a:t>
            </a:r>
            <a:r>
              <a:rPr lang="en-US" sz="2400" dirty="0"/>
              <a:t> </a:t>
            </a:r>
            <a:r>
              <a:rPr lang="en-US" sz="2400" dirty="0" err="1"/>
              <a:t>жардам</a:t>
            </a:r>
            <a:r>
              <a:rPr lang="en-US" sz="2400" dirty="0"/>
              <a:t> </a:t>
            </a:r>
            <a:r>
              <a:rPr lang="en-US" sz="2400" dirty="0" err="1"/>
              <a:t>берет</a:t>
            </a:r>
            <a:r>
              <a:rPr lang="en-US" sz="2400" dirty="0"/>
              <a:t>.)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AD99591-3D8C-E2DD-A4E5-9EA7F9F029AB}"/>
              </a:ext>
            </a:extLst>
          </p:cNvPr>
          <p:cNvSpPr txBox="1">
            <a:spLocks/>
          </p:cNvSpPr>
          <p:nvPr/>
        </p:nvSpPr>
        <p:spPr>
          <a:xfrm>
            <a:off x="314960" y="31019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6600" dirty="0" err="1">
                <a:solidFill>
                  <a:srgbClr val="00B0F0"/>
                </a:solidFill>
              </a:rPr>
              <a:t>MathKGZ</a:t>
            </a:r>
            <a:r>
              <a:rPr lang="en-US" sz="5200" dirty="0">
                <a:solidFill>
                  <a:srgbClr val="00B0F0"/>
                </a:solidFill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8994635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653FC034-B826-556E-1B47-80E7D52AEE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-1"/>
            <a:ext cx="9906001" cy="685800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5720089-C4D2-45A2-90BB-F14332D2BA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3386" y="412577"/>
            <a:ext cx="3764281" cy="5379158"/>
          </a:xfrm>
          <a:prstGeom prst="rect">
            <a:avLst/>
          </a:prstGeom>
        </p:spPr>
      </p:pic>
      <p:pic>
        <p:nvPicPr>
          <p:cNvPr id="7" name="Picture 6" descr="A cartoon of a treasure chest full of gold coins&#10;&#10;Description automatically generated">
            <a:extLst>
              <a:ext uri="{FF2B5EF4-FFF2-40B4-BE49-F238E27FC236}">
                <a16:creationId xmlns:a16="http://schemas.microsoft.com/office/drawing/2014/main" id="{C7AEF298-B359-CD11-8A5E-729A2F41524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95223" y="1444141"/>
            <a:ext cx="3444610" cy="3316029"/>
          </a:xfrm>
          <a:prstGeom prst="rect">
            <a:avLst/>
          </a:prstGeom>
        </p:spPr>
      </p:pic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634F97C9-029A-46C3-9ABE-0D249844CA89}"/>
              </a:ext>
            </a:extLst>
          </p:cNvPr>
          <p:cNvSpPr/>
          <p:nvPr/>
        </p:nvSpPr>
        <p:spPr>
          <a:xfrm>
            <a:off x="1227082" y="3541971"/>
            <a:ext cx="8736389" cy="3316029"/>
          </a:xfrm>
          <a:prstGeom prst="roundRect">
            <a:avLst/>
          </a:prstGeom>
          <a:blipFill>
            <a:blip r:embed="rId5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7200" b="1" dirty="0">
                <a:ln w="28575">
                  <a:solidFill>
                    <a:schemeClr val="tx1">
                      <a:lumMod val="85000"/>
                      <a:lumOff val="15000"/>
                    </a:schemeClr>
                  </a:solidFill>
                  <a:prstDash val="solid"/>
                </a:ln>
                <a:solidFill>
                  <a:srgbClr val="FFFF00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Algerian" panose="04020705040A02060702" pitchFamily="82" charset="0"/>
              </a:rPr>
              <a:t>Амалдардын аткаруу тартиби</a:t>
            </a:r>
            <a:endParaRPr lang="en-US" sz="7200" b="1" cap="none" spc="0" dirty="0">
              <a:ln w="28575">
                <a:solidFill>
                  <a:schemeClr val="tx1">
                    <a:lumMod val="85000"/>
                    <a:lumOff val="15000"/>
                  </a:schemeClr>
                </a:solidFill>
                <a:prstDash val="solid"/>
              </a:ln>
              <a:solidFill>
                <a:srgbClr val="FFFF00"/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  <a:latin typeface="Algerian" panose="04020705040A02060702" pitchFamily="82" charset="0"/>
            </a:endParaRPr>
          </a:p>
          <a:p>
            <a:pPr algn="ctr"/>
            <a:r>
              <a:rPr lang="ky-KG" sz="6600" b="1" dirty="0">
                <a:ln w="28575">
                  <a:solidFill>
                    <a:schemeClr val="tx1">
                      <a:lumMod val="85000"/>
                      <a:lumOff val="15000"/>
                    </a:schemeClr>
                  </a:solidFill>
                  <a:prstDash val="solid"/>
                </a:ln>
                <a:solidFill>
                  <a:srgbClr val="FFC000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Algerian" panose="04020705040A02060702" pitchFamily="82" charset="0"/>
              </a:rPr>
              <a:t>Терс сандар менен</a:t>
            </a:r>
            <a:endParaRPr lang="en-US" sz="1600" b="1" cap="none" spc="0" dirty="0">
              <a:ln w="28575">
                <a:solidFill>
                  <a:schemeClr val="tx1">
                    <a:lumMod val="85000"/>
                    <a:lumOff val="15000"/>
                  </a:schemeClr>
                </a:solidFill>
                <a:prstDash val="solid"/>
              </a:ln>
              <a:solidFill>
                <a:srgbClr val="FFC000"/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  <a:latin typeface="Algerian" panose="04020705040A02060702" pitchFamily="82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AC994BF-C0EE-2891-6CE3-6C337DD8CF21}"/>
              </a:ext>
            </a:extLst>
          </p:cNvPr>
          <p:cNvSpPr/>
          <p:nvPr/>
        </p:nvSpPr>
        <p:spPr>
          <a:xfrm>
            <a:off x="387323" y="63421"/>
            <a:ext cx="7931980" cy="1446550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8800" b="0" i="0" dirty="0">
                <a:solidFill>
                  <a:srgbClr val="FFDE59"/>
                </a:solidFill>
                <a:effectLst>
                  <a:glow rad="228600">
                    <a:schemeClr val="accent2">
                      <a:satMod val="175000"/>
                      <a:alpha val="40000"/>
                    </a:schemeClr>
                  </a:glow>
                </a:effectLst>
              </a:rPr>
              <a:t>КАЗЫНА ИЗДӨӨ</a:t>
            </a:r>
            <a:endParaRPr lang="en-US" sz="8800" b="1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>
                <a:glow rad="228600">
                  <a:schemeClr val="accent2">
                    <a:satMod val="175000"/>
                    <a:alpha val="40000"/>
                  </a:schemeClr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0976703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D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D1D65F-B45F-A6A7-7C5E-0DA73EED92C4}"/>
              </a:ext>
            </a:extLst>
          </p:cNvPr>
          <p:cNvSpPr txBox="1"/>
          <p:nvPr/>
        </p:nvSpPr>
        <p:spPr>
          <a:xfrm>
            <a:off x="3875599" y="504540"/>
            <a:ext cx="57419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0" lang="en-GB" sz="6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6</a:t>
            </a:r>
            <a:endParaRPr lang="en-GB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03CF1AE-A559-193F-5938-D1493A05DB16}"/>
              </a:ext>
            </a:extLst>
          </p:cNvPr>
          <p:cNvSpPr txBox="1"/>
          <p:nvPr/>
        </p:nvSpPr>
        <p:spPr>
          <a:xfrm>
            <a:off x="1281421" y="3779057"/>
            <a:ext cx="6816289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8 + −</a:t>
            </a:r>
            <a:r>
              <a:rPr lang="en-GB" sz="8800" dirty="0"/>
              <a:t>3 </a:t>
            </a: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× </a:t>
            </a:r>
            <a:r>
              <a:rPr lang="en-GB" sz="8800" dirty="0"/>
              <a:t>4 </a:t>
            </a: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+ −6</a:t>
            </a:r>
            <a:endParaRPr kumimoji="0" lang="en-GB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414451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G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1D68DF-8C2A-0A19-E201-8A7565BE39AD}"/>
              </a:ext>
            </a:extLst>
          </p:cNvPr>
          <p:cNvSpPr txBox="1"/>
          <p:nvPr/>
        </p:nvSpPr>
        <p:spPr>
          <a:xfrm>
            <a:off x="3875599" y="504540"/>
            <a:ext cx="57419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0" lang="en-GB" sz="6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</a:t>
            </a:r>
            <a:endParaRPr lang="en-GB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732A5C3-C52B-BC71-11B8-4223EB86B411}"/>
              </a:ext>
            </a:extLst>
          </p:cNvPr>
          <p:cNvSpPr txBox="1"/>
          <p:nvPr/>
        </p:nvSpPr>
        <p:spPr>
          <a:xfrm>
            <a:off x="872654" y="3779057"/>
            <a:ext cx="763382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−4 × −</a:t>
            </a:r>
            <a:r>
              <a:rPr lang="en-GB" sz="8800" dirty="0"/>
              <a:t>4 </a:t>
            </a: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+ </a:t>
            </a:r>
            <a:r>
              <a:rPr lang="en-GB" sz="8800" dirty="0"/>
              <a:t>8 + </a:t>
            </a: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−3</a:t>
            </a:r>
            <a:endParaRPr kumimoji="0" lang="en-GB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307995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R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BB6BE9-F268-0B84-DC5C-3C0F1FFE0CB8}"/>
              </a:ext>
            </a:extLst>
          </p:cNvPr>
          <p:cNvSpPr txBox="1"/>
          <p:nvPr/>
        </p:nvSpPr>
        <p:spPr>
          <a:xfrm>
            <a:off x="3680835" y="504540"/>
            <a:ext cx="96372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0" lang="en-GB" sz="6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21</a:t>
            </a:r>
            <a:endParaRPr lang="en-GB" sz="2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167819C-BC06-113F-B911-816E81831750}"/>
              </a:ext>
            </a:extLst>
          </p:cNvPr>
          <p:cNvSpPr txBox="1"/>
          <p:nvPr/>
        </p:nvSpPr>
        <p:spPr>
          <a:xfrm>
            <a:off x="995283" y="3779057"/>
            <a:ext cx="7388562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−18 ÷ </a:t>
            </a:r>
            <a:r>
              <a:rPr lang="en-GB" sz="8800" dirty="0"/>
              <a:t>9 </a:t>
            </a: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+ −</a:t>
            </a:r>
            <a:r>
              <a:rPr lang="en-GB" sz="8800" dirty="0"/>
              <a:t>4 × </a:t>
            </a: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</a:t>
            </a:r>
            <a:endParaRPr kumimoji="0" lang="en-GB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7853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Q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B47222D-1530-B83C-7C39-7A0E038E3135}"/>
              </a:ext>
            </a:extLst>
          </p:cNvPr>
          <p:cNvSpPr txBox="1"/>
          <p:nvPr/>
        </p:nvSpPr>
        <p:spPr>
          <a:xfrm>
            <a:off x="3875599" y="504540"/>
            <a:ext cx="57419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0" lang="en-GB" sz="6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8</a:t>
            </a:r>
            <a:endParaRPr lang="en-GB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883927-21A1-060F-AC31-946A795D86EB}"/>
              </a:ext>
            </a:extLst>
          </p:cNvPr>
          <p:cNvSpPr txBox="1"/>
          <p:nvPr/>
        </p:nvSpPr>
        <p:spPr>
          <a:xfrm>
            <a:off x="653844" y="3779057"/>
            <a:ext cx="807144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24 ÷ (−</a:t>
            </a:r>
            <a:r>
              <a:rPr lang="en-GB" sz="8800" dirty="0"/>
              <a:t>3 </a:t>
            </a: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− </a:t>
            </a:r>
            <a:r>
              <a:rPr lang="en-GB" sz="8800" dirty="0"/>
              <a:t>3) × </a:t>
            </a: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−3</a:t>
            </a:r>
            <a:endParaRPr kumimoji="0" lang="en-GB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582397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F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8D42DE-75A0-1A26-2DCF-B3DC5DAEDE21}"/>
              </a:ext>
            </a:extLst>
          </p:cNvPr>
          <p:cNvSpPr txBox="1"/>
          <p:nvPr/>
        </p:nvSpPr>
        <p:spPr>
          <a:xfrm>
            <a:off x="3489275" y="504540"/>
            <a:ext cx="134684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0" lang="en-GB" sz="6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−29</a:t>
            </a:r>
            <a:endParaRPr lang="en-GB" sz="2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F22AD88-4148-96D9-5E8D-090CA3F0544B}"/>
              </a:ext>
            </a:extLst>
          </p:cNvPr>
          <p:cNvSpPr txBox="1"/>
          <p:nvPr/>
        </p:nvSpPr>
        <p:spPr>
          <a:xfrm>
            <a:off x="713957" y="3779057"/>
            <a:ext cx="795121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−15 ÷ −</a:t>
            </a:r>
            <a:r>
              <a:rPr lang="en-GB" sz="8800" dirty="0"/>
              <a:t>3 </a:t>
            </a: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+ </a:t>
            </a:r>
            <a:r>
              <a:rPr lang="en-GB" sz="8800" dirty="0"/>
              <a:t>2 × </a:t>
            </a: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−4</a:t>
            </a:r>
            <a:endParaRPr kumimoji="0" lang="en-GB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927743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S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7A96BF9-95E6-6FCB-9D38-C4E72E313F47}"/>
              </a:ext>
            </a:extLst>
          </p:cNvPr>
          <p:cNvSpPr txBox="1"/>
          <p:nvPr/>
        </p:nvSpPr>
        <p:spPr>
          <a:xfrm>
            <a:off x="3680835" y="504540"/>
            <a:ext cx="96372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0" lang="en-GB" sz="6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12</a:t>
            </a:r>
            <a:endParaRPr lang="en-GB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61E171-8184-CFF2-65A5-0C88422A38F9}"/>
              </a:ext>
            </a:extLst>
          </p:cNvPr>
          <p:cNvSpPr txBox="1"/>
          <p:nvPr/>
        </p:nvSpPr>
        <p:spPr>
          <a:xfrm>
            <a:off x="872655" y="3779057"/>
            <a:ext cx="763382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−8 + −</a:t>
            </a:r>
            <a:r>
              <a:rPr lang="en-GB" sz="8800" dirty="0"/>
              <a:t>4 </a:t>
            </a: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÷ </a:t>
            </a:r>
            <a:r>
              <a:rPr lang="en-GB" sz="8800" dirty="0"/>
              <a:t>2 </a:t>
            </a: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+ −7</a:t>
            </a:r>
            <a:endParaRPr kumimoji="0" lang="en-GB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668725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O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BE8911-536D-61A7-4C7D-A362C915E074}"/>
              </a:ext>
            </a:extLst>
          </p:cNvPr>
          <p:cNvSpPr txBox="1"/>
          <p:nvPr/>
        </p:nvSpPr>
        <p:spPr>
          <a:xfrm>
            <a:off x="3489275" y="504540"/>
            <a:ext cx="134684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0" lang="en-GB" sz="6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−17</a:t>
            </a:r>
            <a:endParaRPr lang="en-GB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475E2A-21A2-C080-B09F-9673808690EF}"/>
              </a:ext>
            </a:extLst>
          </p:cNvPr>
          <p:cNvSpPr txBox="1"/>
          <p:nvPr/>
        </p:nvSpPr>
        <p:spPr>
          <a:xfrm>
            <a:off x="939982" y="3779057"/>
            <a:ext cx="7499168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9 − (−</a:t>
            </a:r>
            <a:r>
              <a:rPr lang="en-GB" sz="8800" dirty="0"/>
              <a:t>7 </a:t>
            </a: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+ −</a:t>
            </a:r>
            <a:r>
              <a:rPr lang="en-GB" sz="8800" dirty="0"/>
              <a:t>8) </a:t>
            </a: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÷ 3</a:t>
            </a:r>
            <a:endParaRPr kumimoji="0" lang="en-GB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844759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J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429021-82C0-AB86-729A-1DBC6BF744AB}"/>
              </a:ext>
            </a:extLst>
          </p:cNvPr>
          <p:cNvSpPr txBox="1"/>
          <p:nvPr/>
        </p:nvSpPr>
        <p:spPr>
          <a:xfrm>
            <a:off x="3680835" y="504540"/>
            <a:ext cx="96372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0" lang="en-GB" sz="6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14</a:t>
            </a:r>
            <a:endParaRPr lang="en-GB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B4E6534-D6BE-5F36-0636-B23D23E49001}"/>
              </a:ext>
            </a:extLst>
          </p:cNvPr>
          <p:cNvSpPr txBox="1"/>
          <p:nvPr/>
        </p:nvSpPr>
        <p:spPr>
          <a:xfrm>
            <a:off x="1331" y="3779057"/>
            <a:ext cx="9326592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10 ÷ (−1</a:t>
            </a:r>
            <a:r>
              <a:rPr lang="en-GB" sz="8800" dirty="0"/>
              <a:t>0) </a:t>
            </a: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+ (−</a:t>
            </a:r>
            <a:r>
              <a:rPr lang="en-GB" sz="8800" dirty="0"/>
              <a:t>5) × </a:t>
            </a: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</a:t>
            </a:r>
            <a:endParaRPr kumimoji="0" lang="en-GB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66169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L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8922B6-8604-EAF6-BE5D-9F6B7673227F}"/>
              </a:ext>
            </a:extLst>
          </p:cNvPr>
          <p:cNvSpPr txBox="1"/>
          <p:nvPr/>
        </p:nvSpPr>
        <p:spPr>
          <a:xfrm>
            <a:off x="3489275" y="504540"/>
            <a:ext cx="134684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0" lang="en-GB" sz="6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−1</a:t>
            </a:r>
            <a:r>
              <a:rPr lang="en-GB" sz="6000" dirty="0"/>
              <a:t>0</a:t>
            </a:r>
            <a:endParaRPr lang="en-GB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250DF4-3AC2-9FEF-C574-58E5F94DDA1D}"/>
              </a:ext>
            </a:extLst>
          </p:cNvPr>
          <p:cNvSpPr txBox="1"/>
          <p:nvPr/>
        </p:nvSpPr>
        <p:spPr>
          <a:xfrm>
            <a:off x="653845" y="3779057"/>
            <a:ext cx="807144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25 ÷ −</a:t>
            </a:r>
            <a:r>
              <a:rPr lang="en-GB" sz="8800" dirty="0"/>
              <a:t>5 </a:t>
            </a: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× (</a:t>
            </a:r>
            <a:r>
              <a:rPr lang="en-GB" sz="8800" dirty="0"/>
              <a:t>3 </a:t>
            </a: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+ −4)</a:t>
            </a:r>
            <a:endParaRPr kumimoji="0" lang="en-GB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110808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X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5798C61-6649-A6BA-A230-BB4DACDF6B17}"/>
              </a:ext>
            </a:extLst>
          </p:cNvPr>
          <p:cNvSpPr txBox="1"/>
          <p:nvPr/>
        </p:nvSpPr>
        <p:spPr>
          <a:xfrm>
            <a:off x="3684040" y="504540"/>
            <a:ext cx="95731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0" lang="en-GB" sz="6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−3</a:t>
            </a:r>
            <a:endParaRPr lang="en-GB" sz="2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9C3F2D9-A939-2C52-147C-DAC4EE73D09E}"/>
              </a:ext>
            </a:extLst>
          </p:cNvPr>
          <p:cNvSpPr txBox="1"/>
          <p:nvPr/>
        </p:nvSpPr>
        <p:spPr>
          <a:xfrm>
            <a:off x="867845" y="3779057"/>
            <a:ext cx="7643439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20 ÷ −</a:t>
            </a:r>
            <a:r>
              <a:rPr lang="en-GB" sz="8800" dirty="0"/>
              <a:t>5 </a:t>
            </a: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− −</a:t>
            </a:r>
            <a:r>
              <a:rPr lang="en-GB" sz="8800" dirty="0"/>
              <a:t>5 × </a:t>
            </a: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</a:t>
            </a:r>
            <a:endParaRPr kumimoji="0" lang="en-GB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148243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C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1B5E56-0C32-F337-D8AB-FEA8DD36DB49}"/>
              </a:ext>
            </a:extLst>
          </p:cNvPr>
          <p:cNvSpPr txBox="1"/>
          <p:nvPr/>
        </p:nvSpPr>
        <p:spPr>
          <a:xfrm>
            <a:off x="3875598" y="504540"/>
            <a:ext cx="57419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0" lang="en-GB" sz="6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4</a:t>
            </a:r>
            <a:endParaRPr lang="en-GB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222DAA-363F-217B-B21F-3FED92A4E934}"/>
              </a:ext>
            </a:extLst>
          </p:cNvPr>
          <p:cNvSpPr txBox="1"/>
          <p:nvPr/>
        </p:nvSpPr>
        <p:spPr>
          <a:xfrm>
            <a:off x="713958" y="3779057"/>
            <a:ext cx="795121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14 ÷ −</a:t>
            </a:r>
            <a:r>
              <a:rPr lang="en-GB" sz="8800" dirty="0"/>
              <a:t>7 </a:t>
            </a: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+ −</a:t>
            </a:r>
            <a:r>
              <a:rPr lang="en-GB" sz="8800" dirty="0"/>
              <a:t>5 </a:t>
            </a: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× −2</a:t>
            </a:r>
            <a:endParaRPr kumimoji="0" lang="en-GB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252267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P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DD5D69C-DB40-454C-B1B2-5C2657E9BBFC}"/>
              </a:ext>
            </a:extLst>
          </p:cNvPr>
          <p:cNvSpPr txBox="1"/>
          <p:nvPr/>
        </p:nvSpPr>
        <p:spPr>
          <a:xfrm>
            <a:off x="3489275" y="504540"/>
            <a:ext cx="134684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0" lang="en-GB" sz="6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−11</a:t>
            </a:r>
            <a:endParaRPr lang="en-GB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3198C2-B109-B717-6E69-545B7B49FE41}"/>
              </a:ext>
            </a:extLst>
          </p:cNvPr>
          <p:cNvSpPr txBox="1"/>
          <p:nvPr/>
        </p:nvSpPr>
        <p:spPr>
          <a:xfrm>
            <a:off x="1281420" y="3779057"/>
            <a:ext cx="681629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−8 × </a:t>
            </a:r>
            <a:r>
              <a:rPr lang="en-GB" sz="8800" dirty="0"/>
              <a:t>3 </a:t>
            </a: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÷ </a:t>
            </a:r>
            <a:r>
              <a:rPr lang="en-GB" sz="8800" dirty="0"/>
              <a:t>6 </a:t>
            </a: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− −2</a:t>
            </a:r>
            <a:endParaRPr kumimoji="0" lang="en-GB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363373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M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A46584-B3CB-A7C2-5C30-7D0DD9D79965}"/>
              </a:ext>
            </a:extLst>
          </p:cNvPr>
          <p:cNvSpPr txBox="1"/>
          <p:nvPr/>
        </p:nvSpPr>
        <p:spPr>
          <a:xfrm>
            <a:off x="3489275" y="504540"/>
            <a:ext cx="134684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0" lang="en-GB" sz="6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−16</a:t>
            </a:r>
            <a:endParaRPr lang="en-GB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FB3F19-C5ED-678A-A1C0-0385970CF362}"/>
              </a:ext>
            </a:extLst>
          </p:cNvPr>
          <p:cNvSpPr txBox="1"/>
          <p:nvPr/>
        </p:nvSpPr>
        <p:spPr>
          <a:xfrm>
            <a:off x="658654" y="3779057"/>
            <a:ext cx="8061823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7 + (−</a:t>
            </a:r>
            <a:r>
              <a:rPr lang="en-GB" sz="8800" dirty="0"/>
              <a:t>2 </a:t>
            </a: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− −</a:t>
            </a:r>
            <a:r>
              <a:rPr lang="en-GB" sz="8800" dirty="0"/>
              <a:t>5) </a:t>
            </a: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× −6</a:t>
            </a:r>
            <a:endParaRPr kumimoji="0" lang="en-GB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612924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E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CA424A-8458-27C1-CA3D-997085A94419}"/>
              </a:ext>
            </a:extLst>
          </p:cNvPr>
          <p:cNvSpPr txBox="1"/>
          <p:nvPr/>
        </p:nvSpPr>
        <p:spPr>
          <a:xfrm>
            <a:off x="3684040" y="504540"/>
            <a:ext cx="95731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0" lang="en-GB" sz="6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−2</a:t>
            </a:r>
            <a:endParaRPr lang="en-GB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003DEB-DC3A-0E14-1610-43777C6F545B}"/>
              </a:ext>
            </a:extLst>
          </p:cNvPr>
          <p:cNvSpPr txBox="1"/>
          <p:nvPr/>
        </p:nvSpPr>
        <p:spPr>
          <a:xfrm>
            <a:off x="367710" y="3779057"/>
            <a:ext cx="8643713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(−20 − </a:t>
            </a:r>
            <a:r>
              <a:rPr lang="en-GB" sz="8800" dirty="0"/>
              <a:t>10) </a:t>
            </a: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÷ </a:t>
            </a:r>
            <a:r>
              <a:rPr lang="en-GB" sz="8800" dirty="0"/>
              <a:t>5 </a:t>
            </a: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− −5</a:t>
            </a:r>
            <a:endParaRPr kumimoji="0" lang="en-GB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96935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H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8F2005-B48E-3DF2-5466-8A24F9744B3A}"/>
              </a:ext>
            </a:extLst>
          </p:cNvPr>
          <p:cNvSpPr txBox="1"/>
          <p:nvPr/>
        </p:nvSpPr>
        <p:spPr>
          <a:xfrm>
            <a:off x="3489275" y="504540"/>
            <a:ext cx="134684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0" lang="en-GB" sz="6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−14</a:t>
            </a:r>
            <a:endParaRPr lang="en-GB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A03239-6586-E0CE-502E-7F61D8B5E819}"/>
              </a:ext>
            </a:extLst>
          </p:cNvPr>
          <p:cNvSpPr txBox="1"/>
          <p:nvPr/>
        </p:nvSpPr>
        <p:spPr>
          <a:xfrm>
            <a:off x="531216" y="3779057"/>
            <a:ext cx="831670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−6 × −</a:t>
            </a:r>
            <a:r>
              <a:rPr lang="en-GB" sz="8800" dirty="0"/>
              <a:t>4 </a:t>
            </a: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÷ (</a:t>
            </a:r>
            <a:r>
              <a:rPr lang="en-GB" sz="8800" dirty="0"/>
              <a:t>3 </a:t>
            </a: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− −3)</a:t>
            </a:r>
            <a:endParaRPr kumimoji="0" lang="en-GB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262728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>
                <a:solidFill>
                  <a:schemeClr val="tx1"/>
                </a:solidFill>
                <a:latin typeface="Algerian" panose="04020705040A02060702" pitchFamily="82" charset="0"/>
              </a:rPr>
              <a:t>N</a:t>
            </a:r>
            <a:endParaRPr lang="en-GB" sz="8000" dirty="0">
              <a:solidFill>
                <a:schemeClr val="tx1"/>
              </a:solidFill>
              <a:latin typeface="Algerian" panose="04020705040A02060702" pitchFamily="82" charset="0"/>
            </a:endParaRP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6B2A31-8C04-936D-1AA9-BAE0656D1916}"/>
              </a:ext>
            </a:extLst>
          </p:cNvPr>
          <p:cNvSpPr txBox="1"/>
          <p:nvPr/>
        </p:nvSpPr>
        <p:spPr>
          <a:xfrm>
            <a:off x="3684040" y="504540"/>
            <a:ext cx="95731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0" lang="en-GB" sz="6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−1</a:t>
            </a:r>
            <a:endParaRPr lang="en-GB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7F96422-ADA3-7655-5F43-E2165295B43C}"/>
              </a:ext>
            </a:extLst>
          </p:cNvPr>
          <p:cNvSpPr txBox="1"/>
          <p:nvPr/>
        </p:nvSpPr>
        <p:spPr>
          <a:xfrm>
            <a:off x="377328" y="3779057"/>
            <a:ext cx="8624477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−8 − (−</a:t>
            </a:r>
            <a:r>
              <a:rPr lang="en-GB" sz="8800" dirty="0"/>
              <a:t>5 </a:t>
            </a: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+ −</a:t>
            </a:r>
            <a:r>
              <a:rPr lang="en-GB" sz="8800" dirty="0"/>
              <a:t>2) </a:t>
            </a: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× −3</a:t>
            </a:r>
            <a:endParaRPr kumimoji="0" lang="en-GB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3599610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04D95A3-C619-4B98-A2F7-AC88B07141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5311099"/>
              </p:ext>
            </p:extLst>
          </p:nvPr>
        </p:nvGraphicFramePr>
        <p:xfrm>
          <a:off x="87087" y="391887"/>
          <a:ext cx="9649090" cy="6334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5498">
                  <a:extLst>
                    <a:ext uri="{9D8B030D-6E8A-4147-A177-3AD203B41FA5}">
                      <a16:colId xmlns:a16="http://schemas.microsoft.com/office/drawing/2014/main" val="4241353267"/>
                    </a:ext>
                  </a:extLst>
                </a:gridCol>
                <a:gridCol w="1517973">
                  <a:extLst>
                    <a:ext uri="{9D8B030D-6E8A-4147-A177-3AD203B41FA5}">
                      <a16:colId xmlns:a16="http://schemas.microsoft.com/office/drawing/2014/main" val="2660725730"/>
                    </a:ext>
                  </a:extLst>
                </a:gridCol>
                <a:gridCol w="895498">
                  <a:extLst>
                    <a:ext uri="{9D8B030D-6E8A-4147-A177-3AD203B41FA5}">
                      <a16:colId xmlns:a16="http://schemas.microsoft.com/office/drawing/2014/main" val="151696040"/>
                    </a:ext>
                  </a:extLst>
                </a:gridCol>
                <a:gridCol w="1516375">
                  <a:extLst>
                    <a:ext uri="{9D8B030D-6E8A-4147-A177-3AD203B41FA5}">
                      <a16:colId xmlns:a16="http://schemas.microsoft.com/office/drawing/2014/main" val="2268253823"/>
                    </a:ext>
                  </a:extLst>
                </a:gridCol>
                <a:gridCol w="895498">
                  <a:extLst>
                    <a:ext uri="{9D8B030D-6E8A-4147-A177-3AD203B41FA5}">
                      <a16:colId xmlns:a16="http://schemas.microsoft.com/office/drawing/2014/main" val="2903375927"/>
                    </a:ext>
                  </a:extLst>
                </a:gridCol>
                <a:gridCol w="1516375">
                  <a:extLst>
                    <a:ext uri="{9D8B030D-6E8A-4147-A177-3AD203B41FA5}">
                      <a16:colId xmlns:a16="http://schemas.microsoft.com/office/drawing/2014/main" val="581000434"/>
                    </a:ext>
                  </a:extLst>
                </a:gridCol>
                <a:gridCol w="895498">
                  <a:extLst>
                    <a:ext uri="{9D8B030D-6E8A-4147-A177-3AD203B41FA5}">
                      <a16:colId xmlns:a16="http://schemas.microsoft.com/office/drawing/2014/main" val="358275657"/>
                    </a:ext>
                  </a:extLst>
                </a:gridCol>
                <a:gridCol w="1516375">
                  <a:extLst>
                    <a:ext uri="{9D8B030D-6E8A-4147-A177-3AD203B41FA5}">
                      <a16:colId xmlns:a16="http://schemas.microsoft.com/office/drawing/2014/main" val="2756706607"/>
                    </a:ext>
                  </a:extLst>
                </a:gridCol>
              </a:tblGrid>
              <a:tr h="446784">
                <a:tc>
                  <a:txBody>
                    <a:bodyPr/>
                    <a:lstStyle/>
                    <a:p>
                      <a:pPr algn="ctr"/>
                      <a:r>
                        <a:rPr lang="ru-RU" b="1" dirty="0">
                          <a:solidFill>
                            <a:sysClr val="windowText" lastClr="000000"/>
                          </a:solidFill>
                        </a:rPr>
                        <a:t>Барак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1">
                          <a:solidFill>
                            <a:sysClr val="windowText" lastClr="000000"/>
                          </a:solidFill>
                        </a:rPr>
                        <a:t>Жооп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1" dirty="0">
                          <a:solidFill>
                            <a:sysClr val="windowText" lastClr="000000"/>
                          </a:solidFill>
                        </a:rPr>
                        <a:t>Барак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1" dirty="0">
                          <a:solidFill>
                            <a:sysClr val="windowText" lastClr="000000"/>
                          </a:solidFill>
                        </a:rPr>
                        <a:t>Жооп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1" dirty="0">
                          <a:solidFill>
                            <a:sysClr val="windowText" lastClr="000000"/>
                          </a:solidFill>
                        </a:rPr>
                        <a:t>Барак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1" dirty="0">
                          <a:solidFill>
                            <a:sysClr val="windowText" lastClr="000000"/>
                          </a:solidFill>
                        </a:rPr>
                        <a:t>Жооп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1" dirty="0">
                          <a:solidFill>
                            <a:sysClr val="windowText" lastClr="000000"/>
                          </a:solidFill>
                        </a:rPr>
                        <a:t>Барак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1" dirty="0">
                          <a:solidFill>
                            <a:sysClr val="windowText" lastClr="000000"/>
                          </a:solidFill>
                        </a:rPr>
                        <a:t>Жооп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9351622"/>
                  </a:ext>
                </a:extLst>
              </a:tr>
              <a:tr h="1471812">
                <a:tc>
                  <a:txBody>
                    <a:bodyPr/>
                    <a:lstStyle/>
                    <a:p>
                      <a:pPr algn="ctr"/>
                      <a:r>
                        <a:rPr lang="en-GB" sz="3200" b="1" dirty="0">
                          <a:solidFill>
                            <a:sysClr val="windowText" lastClr="000000"/>
                          </a:solidFill>
                        </a:rPr>
                        <a:t>F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−3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200" b="1" dirty="0"/>
                        <a:t>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21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200" b="1" dirty="0">
                          <a:solidFill>
                            <a:sysClr val="windowText" lastClr="000000"/>
                          </a:solidFill>
                        </a:rPr>
                        <a:t>Q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200" b="1" dirty="0">
                          <a:solidFill>
                            <a:sysClr val="windowText" lastClr="000000"/>
                          </a:solidFill>
                        </a:rPr>
                        <a:t>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−11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9080002"/>
                  </a:ext>
                </a:extLst>
              </a:tr>
              <a:tr h="1471812">
                <a:tc>
                  <a:txBody>
                    <a:bodyPr/>
                    <a:lstStyle/>
                    <a:p>
                      <a:pPr algn="ctr"/>
                      <a:r>
                        <a:rPr lang="en-GB" sz="3200" b="1" dirty="0">
                          <a:solidFill>
                            <a:sysClr val="windowText" lastClr="000000"/>
                          </a:solidFill>
                        </a:rPr>
                        <a:t>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200" b="1" dirty="0"/>
                        <a:t>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−14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200" b="1" dirty="0">
                          <a:solidFill>
                            <a:sysClr val="windowText" lastClr="000000"/>
                          </a:solidFill>
                        </a:rPr>
                        <a:t>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−17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200" b="1" dirty="0">
                          <a:solidFill>
                            <a:sysClr val="windowText" lastClr="000000"/>
                          </a:solidFill>
                        </a:rPr>
                        <a:t>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−2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4699499"/>
                  </a:ext>
                </a:extLst>
              </a:tr>
              <a:tr h="1471812">
                <a:tc>
                  <a:txBody>
                    <a:bodyPr/>
                    <a:lstStyle/>
                    <a:p>
                      <a:pPr algn="ctr"/>
                      <a:r>
                        <a:rPr lang="en-GB" sz="3200" b="1" dirty="0">
                          <a:solidFill>
                            <a:sysClr val="windowText" lastClr="000000"/>
                          </a:solidFill>
                        </a:rPr>
                        <a:t>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−10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200" b="1" dirty="0">
                          <a:solidFill>
                            <a:sysClr val="windowText" lastClr="000000"/>
                          </a:solidFill>
                        </a:rPr>
                        <a:t>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200" b="1" dirty="0">
                          <a:solidFill>
                            <a:sysClr val="windowText" lastClr="000000"/>
                          </a:solidFill>
                        </a:rPr>
                        <a:t>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200" b="1" dirty="0">
                          <a:solidFill>
                            <a:sysClr val="windowText" lastClr="000000"/>
                          </a:solidFill>
                        </a:rPr>
                        <a:t>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−1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2976582"/>
                  </a:ext>
                </a:extLst>
              </a:tr>
              <a:tr h="1471812">
                <a:tc>
                  <a:txBody>
                    <a:bodyPr/>
                    <a:lstStyle/>
                    <a:p>
                      <a:pPr algn="ctr"/>
                      <a:r>
                        <a:rPr lang="en-GB" sz="3200" b="1" dirty="0">
                          <a:solidFill>
                            <a:sysClr val="windowText" lastClr="000000"/>
                          </a:solidFill>
                        </a:rPr>
                        <a:t>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200" b="1" dirty="0">
                          <a:solidFill>
                            <a:sysClr val="windowText" lastClr="000000"/>
                          </a:solidFill>
                        </a:rPr>
                        <a:t>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200" b="1" dirty="0">
                          <a:solidFill>
                            <a:sysClr val="windowText" lastClr="000000"/>
                          </a:solidFill>
                        </a:rPr>
                        <a:t>J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−16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200" b="1" dirty="0">
                          <a:solidFill>
                            <a:sysClr val="windowText" lastClr="000000"/>
                          </a:solidFill>
                        </a:rPr>
                        <a:t>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−29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8588563"/>
                  </a:ext>
                </a:extLst>
              </a:tr>
            </a:tbl>
          </a:graphicData>
        </a:graphic>
      </p:graphicFrame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0761BAE-9412-451C-8B90-09E585CA2ACA}"/>
              </a:ext>
            </a:extLst>
          </p:cNvPr>
          <p:cNvCxnSpPr>
            <a:cxnSpLocks/>
          </p:cNvCxnSpPr>
          <p:nvPr/>
        </p:nvCxnSpPr>
        <p:spPr>
          <a:xfrm>
            <a:off x="174174" y="923108"/>
            <a:ext cx="0" cy="16546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5C25F2F-F81E-4959-B866-200B280E8311}"/>
              </a:ext>
            </a:extLst>
          </p:cNvPr>
          <p:cNvCxnSpPr>
            <a:cxnSpLocks/>
          </p:cNvCxnSpPr>
          <p:nvPr/>
        </p:nvCxnSpPr>
        <p:spPr>
          <a:xfrm>
            <a:off x="5004528" y="923108"/>
            <a:ext cx="0" cy="16546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2E41258-949A-45B5-B9DA-CEAC5643E0FE}"/>
              </a:ext>
            </a:extLst>
          </p:cNvPr>
          <p:cNvCxnSpPr>
            <a:cxnSpLocks/>
          </p:cNvCxnSpPr>
          <p:nvPr/>
        </p:nvCxnSpPr>
        <p:spPr>
          <a:xfrm>
            <a:off x="2589351" y="923108"/>
            <a:ext cx="0" cy="16546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484486A-82F5-4658-8436-AD4CAEBBC1CE}"/>
              </a:ext>
            </a:extLst>
          </p:cNvPr>
          <p:cNvCxnSpPr>
            <a:cxnSpLocks/>
          </p:cNvCxnSpPr>
          <p:nvPr/>
        </p:nvCxnSpPr>
        <p:spPr>
          <a:xfrm>
            <a:off x="7419706" y="923108"/>
            <a:ext cx="0" cy="16546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A2543F6E-4978-46E1-B062-F1D3A5125429}"/>
              </a:ext>
            </a:extLst>
          </p:cNvPr>
          <p:cNvSpPr txBox="1"/>
          <p:nvPr/>
        </p:nvSpPr>
        <p:spPr>
          <a:xfrm>
            <a:off x="-31342" y="-26118"/>
            <a:ext cx="3059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u="sng" dirty="0"/>
              <a:t>Мугалимдин жооп барагы</a:t>
            </a:r>
            <a:endParaRPr lang="en-GB" sz="2000" u="sng" dirty="0"/>
          </a:p>
        </p:txBody>
      </p:sp>
    </p:spTree>
    <p:extLst>
      <p:ext uri="{BB962C8B-B14F-4D97-AF65-F5344CB8AC3E}">
        <p14:creationId xmlns:p14="http://schemas.microsoft.com/office/powerpoint/2010/main" val="17458074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929F260A-33A7-44B1-B56C-F2E27011A86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28" r="13437" b="13507"/>
          <a:stretch/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5720089-C4D2-45A2-90BB-F14332D2BA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3386" y="412577"/>
            <a:ext cx="3764281" cy="5379158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305EF85-5BA6-4C13-B25F-C8137E5277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0029731"/>
              </p:ext>
            </p:extLst>
          </p:nvPr>
        </p:nvGraphicFramePr>
        <p:xfrm>
          <a:off x="1524440" y="1162106"/>
          <a:ext cx="6857120" cy="54976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424">
                  <a:extLst>
                    <a:ext uri="{9D8B030D-6E8A-4147-A177-3AD203B41FA5}">
                      <a16:colId xmlns:a16="http://schemas.microsoft.com/office/drawing/2014/main" val="3761786079"/>
                    </a:ext>
                  </a:extLst>
                </a:gridCol>
                <a:gridCol w="1371424">
                  <a:extLst>
                    <a:ext uri="{9D8B030D-6E8A-4147-A177-3AD203B41FA5}">
                      <a16:colId xmlns:a16="http://schemas.microsoft.com/office/drawing/2014/main" val="281624370"/>
                    </a:ext>
                  </a:extLst>
                </a:gridCol>
                <a:gridCol w="1371424">
                  <a:extLst>
                    <a:ext uri="{9D8B030D-6E8A-4147-A177-3AD203B41FA5}">
                      <a16:colId xmlns:a16="http://schemas.microsoft.com/office/drawing/2014/main" val="3424541694"/>
                    </a:ext>
                  </a:extLst>
                </a:gridCol>
                <a:gridCol w="1371424">
                  <a:extLst>
                    <a:ext uri="{9D8B030D-6E8A-4147-A177-3AD203B41FA5}">
                      <a16:colId xmlns:a16="http://schemas.microsoft.com/office/drawing/2014/main" val="2437265853"/>
                    </a:ext>
                  </a:extLst>
                </a:gridCol>
                <a:gridCol w="1371424">
                  <a:extLst>
                    <a:ext uri="{9D8B030D-6E8A-4147-A177-3AD203B41FA5}">
                      <a16:colId xmlns:a16="http://schemas.microsoft.com/office/drawing/2014/main" val="4059675182"/>
                    </a:ext>
                  </a:extLst>
                </a:gridCol>
              </a:tblGrid>
              <a:tr h="916268">
                <a:tc>
                  <a:txBody>
                    <a:bodyPr/>
                    <a:lstStyle/>
                    <a:p>
                      <a:pPr algn="ctr"/>
                      <a:r>
                        <a:rPr lang="en-GB" sz="5400" b="0" dirty="0">
                          <a:solidFill>
                            <a:schemeClr val="tx1"/>
                          </a:solidFill>
                          <a:latin typeface="Algerian" panose="04020705040A02060702" pitchFamily="82" charset="0"/>
                        </a:rPr>
                        <a:t>F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solidFill>
                            <a:schemeClr val="tx1"/>
                          </a:solidFill>
                          <a:latin typeface="Algerian" panose="04020705040A02060702" pitchFamily="82" charset="0"/>
                        </a:rPr>
                        <a:t>X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solidFill>
                            <a:schemeClr val="tx1"/>
                          </a:solidFill>
                          <a:latin typeface="Algerian" panose="04020705040A02060702" pitchFamily="82" charset="0"/>
                        </a:rPr>
                        <a:t>D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solidFill>
                            <a:schemeClr val="tx1"/>
                          </a:solidFill>
                          <a:latin typeface="Algerian" panose="04020705040A02060702" pitchFamily="82" charset="0"/>
                        </a:rPr>
                        <a:t>L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solidFill>
                            <a:schemeClr val="tx1"/>
                          </a:solidFill>
                          <a:latin typeface="Algerian" panose="04020705040A02060702" pitchFamily="82" charset="0"/>
                        </a:rPr>
                        <a:t>G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3299326996"/>
                  </a:ext>
                </a:extLst>
              </a:tr>
              <a:tr h="91626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5400" b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5400" b="0" dirty="0">
                          <a:latin typeface="Algerian" panose="04020705040A02060702" pitchFamily="82" charset="0"/>
                        </a:rPr>
                        <a:t>R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754123776"/>
                  </a:ext>
                </a:extLst>
              </a:tr>
              <a:tr h="91626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5400" b="0" dirty="0">
                          <a:latin typeface="Algerian" panose="04020705040A02060702" pitchFamily="82" charset="0"/>
                        </a:rPr>
                        <a:t>H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4123062466"/>
                  </a:ext>
                </a:extLst>
              </a:tr>
              <a:tr h="91626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latin typeface="Algerian" panose="04020705040A02060702" pitchFamily="82" charset="0"/>
                        </a:rPr>
                        <a:t>N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5400" b="0" dirty="0">
                          <a:latin typeface="Algerian" panose="04020705040A02060702" pitchFamily="82" charset="0"/>
                        </a:rPr>
                        <a:t>C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2180976631"/>
                  </a:ext>
                </a:extLst>
              </a:tr>
              <a:tr h="91626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latin typeface="Algerian" panose="04020705040A02060702" pitchFamily="82" charset="0"/>
                        </a:rPr>
                        <a:t>E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5400" b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5400" b="0" dirty="0">
                          <a:latin typeface="Algerian" panose="04020705040A02060702" pitchFamily="82" charset="0"/>
                        </a:rPr>
                        <a:t>Q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46795287"/>
                  </a:ext>
                </a:extLst>
              </a:tr>
              <a:tr h="91626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latin typeface="Algerian" panose="04020705040A02060702" pitchFamily="82" charset="0"/>
                        </a:rPr>
                        <a:t>P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latin typeface="Algerian" panose="04020705040A02060702" pitchFamily="82" charset="0"/>
                        </a:rPr>
                        <a:t>M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latin typeface="Algerian" panose="04020705040A02060702" pitchFamily="82" charset="0"/>
                        </a:rPr>
                        <a:t>J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latin typeface="Algerian" panose="04020705040A02060702" pitchFamily="82" charset="0"/>
                        </a:rPr>
                        <a:t>O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latin typeface="Algerian" panose="04020705040A02060702" pitchFamily="82" charset="0"/>
                        </a:rPr>
                        <a:t>S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2644428158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42D475E4-94A0-49DA-8DB9-89357D0DB676}"/>
              </a:ext>
            </a:extLst>
          </p:cNvPr>
          <p:cNvSpPr/>
          <p:nvPr/>
        </p:nvSpPr>
        <p:spPr>
          <a:xfrm>
            <a:off x="3104964" y="54354"/>
            <a:ext cx="3696076" cy="110799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ky-KG" sz="6600" cap="none" spc="0" dirty="0">
                <a:ln w="19050">
                  <a:solidFill>
                    <a:schemeClr val="tx1">
                      <a:lumMod val="85000"/>
                      <a:lumOff val="15000"/>
                    </a:schemeClr>
                  </a:solidFill>
                  <a:prstDash val="solid"/>
                </a:ln>
                <a:solidFill>
                  <a:srgbClr val="FFC000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Algerian" panose="04020705040A02060702" pitchFamily="82" charset="0"/>
              </a:rPr>
              <a:t>Жооптор</a:t>
            </a:r>
            <a:endParaRPr lang="en-US" sz="6600" cap="none" spc="0" dirty="0">
              <a:ln w="19050">
                <a:solidFill>
                  <a:schemeClr val="tx1">
                    <a:lumMod val="85000"/>
                    <a:lumOff val="15000"/>
                  </a:schemeClr>
                </a:solidFill>
                <a:prstDash val="solid"/>
              </a:ln>
              <a:solidFill>
                <a:srgbClr val="FFC000"/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  <a:latin typeface="Algerian" panose="04020705040A02060702" pitchFamily="82" charset="0"/>
            </a:endParaRPr>
          </a:p>
        </p:txBody>
      </p:sp>
      <p:sp>
        <p:nvSpPr>
          <p:cNvPr id="2" name="Arrow: Up 1">
            <a:extLst>
              <a:ext uri="{FF2B5EF4-FFF2-40B4-BE49-F238E27FC236}">
                <a16:creationId xmlns:a16="http://schemas.microsoft.com/office/drawing/2014/main" id="{74A553F8-1667-4FA5-AB72-4BA850A300ED}"/>
              </a:ext>
            </a:extLst>
          </p:cNvPr>
          <p:cNvSpPr/>
          <p:nvPr/>
        </p:nvSpPr>
        <p:spPr>
          <a:xfrm>
            <a:off x="1780645" y="2299063"/>
            <a:ext cx="910304" cy="1448672"/>
          </a:xfrm>
          <a:prstGeom prst="upArrow">
            <a:avLst/>
          </a:prstGeom>
          <a:solidFill>
            <a:srgbClr val="FFC0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F6F3053-918E-491C-ABAD-C495771EBDE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7544" y="2804160"/>
            <a:ext cx="2850912" cy="27083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79275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04D95A3-C619-4B98-A2F7-AC88B07141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2901153"/>
              </p:ext>
            </p:extLst>
          </p:nvPr>
        </p:nvGraphicFramePr>
        <p:xfrm>
          <a:off x="87087" y="391887"/>
          <a:ext cx="9649090" cy="6334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5498">
                  <a:extLst>
                    <a:ext uri="{9D8B030D-6E8A-4147-A177-3AD203B41FA5}">
                      <a16:colId xmlns:a16="http://schemas.microsoft.com/office/drawing/2014/main" val="4241353267"/>
                    </a:ext>
                  </a:extLst>
                </a:gridCol>
                <a:gridCol w="1517973">
                  <a:extLst>
                    <a:ext uri="{9D8B030D-6E8A-4147-A177-3AD203B41FA5}">
                      <a16:colId xmlns:a16="http://schemas.microsoft.com/office/drawing/2014/main" val="2660725730"/>
                    </a:ext>
                  </a:extLst>
                </a:gridCol>
                <a:gridCol w="895498">
                  <a:extLst>
                    <a:ext uri="{9D8B030D-6E8A-4147-A177-3AD203B41FA5}">
                      <a16:colId xmlns:a16="http://schemas.microsoft.com/office/drawing/2014/main" val="151696040"/>
                    </a:ext>
                  </a:extLst>
                </a:gridCol>
                <a:gridCol w="1516375">
                  <a:extLst>
                    <a:ext uri="{9D8B030D-6E8A-4147-A177-3AD203B41FA5}">
                      <a16:colId xmlns:a16="http://schemas.microsoft.com/office/drawing/2014/main" val="2268253823"/>
                    </a:ext>
                  </a:extLst>
                </a:gridCol>
                <a:gridCol w="895498">
                  <a:extLst>
                    <a:ext uri="{9D8B030D-6E8A-4147-A177-3AD203B41FA5}">
                      <a16:colId xmlns:a16="http://schemas.microsoft.com/office/drawing/2014/main" val="2903375927"/>
                    </a:ext>
                  </a:extLst>
                </a:gridCol>
                <a:gridCol w="1516375">
                  <a:extLst>
                    <a:ext uri="{9D8B030D-6E8A-4147-A177-3AD203B41FA5}">
                      <a16:colId xmlns:a16="http://schemas.microsoft.com/office/drawing/2014/main" val="581000434"/>
                    </a:ext>
                  </a:extLst>
                </a:gridCol>
                <a:gridCol w="895498">
                  <a:extLst>
                    <a:ext uri="{9D8B030D-6E8A-4147-A177-3AD203B41FA5}">
                      <a16:colId xmlns:a16="http://schemas.microsoft.com/office/drawing/2014/main" val="358275657"/>
                    </a:ext>
                  </a:extLst>
                </a:gridCol>
                <a:gridCol w="1516375">
                  <a:extLst>
                    <a:ext uri="{9D8B030D-6E8A-4147-A177-3AD203B41FA5}">
                      <a16:colId xmlns:a16="http://schemas.microsoft.com/office/drawing/2014/main" val="2756706607"/>
                    </a:ext>
                  </a:extLst>
                </a:gridCol>
              </a:tblGrid>
              <a:tr h="446784">
                <a:tc>
                  <a:txBody>
                    <a:bodyPr/>
                    <a:lstStyle/>
                    <a:p>
                      <a:pPr algn="ctr"/>
                      <a:r>
                        <a:rPr lang="ru-RU" b="1" dirty="0">
                          <a:solidFill>
                            <a:sysClr val="windowText" lastClr="000000"/>
                          </a:solidFill>
                        </a:rPr>
                        <a:t>Барак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1" dirty="0">
                          <a:solidFill>
                            <a:sysClr val="windowText" lastClr="000000"/>
                          </a:solidFill>
                        </a:rPr>
                        <a:t>Жооп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1" dirty="0">
                          <a:solidFill>
                            <a:sysClr val="windowText" lastClr="000000"/>
                          </a:solidFill>
                        </a:rPr>
                        <a:t>Барак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1" dirty="0">
                          <a:solidFill>
                            <a:sysClr val="windowText" lastClr="000000"/>
                          </a:solidFill>
                        </a:rPr>
                        <a:t>Жооп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1" dirty="0">
                          <a:solidFill>
                            <a:sysClr val="windowText" lastClr="000000"/>
                          </a:solidFill>
                        </a:rPr>
                        <a:t>Барак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1" dirty="0">
                          <a:solidFill>
                            <a:sysClr val="windowText" lastClr="000000"/>
                          </a:solidFill>
                        </a:rPr>
                        <a:t>Жооп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1" dirty="0">
                          <a:solidFill>
                            <a:sysClr val="windowText" lastClr="000000"/>
                          </a:solidFill>
                        </a:rPr>
                        <a:t>Барак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1" dirty="0">
                          <a:solidFill>
                            <a:sysClr val="windowText" lastClr="000000"/>
                          </a:solidFill>
                        </a:rPr>
                        <a:t>Жооп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9351622"/>
                  </a:ext>
                </a:extLst>
              </a:tr>
              <a:tr h="1471812">
                <a:tc>
                  <a:txBody>
                    <a:bodyPr/>
                    <a:lstStyle/>
                    <a:p>
                      <a:pPr algn="ctr"/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9080002"/>
                  </a:ext>
                </a:extLst>
              </a:tr>
              <a:tr h="1471812">
                <a:tc>
                  <a:txBody>
                    <a:bodyPr/>
                    <a:lstStyle/>
                    <a:p>
                      <a:pPr algn="ctr"/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4699499"/>
                  </a:ext>
                </a:extLst>
              </a:tr>
              <a:tr h="1471812">
                <a:tc>
                  <a:txBody>
                    <a:bodyPr/>
                    <a:lstStyle/>
                    <a:p>
                      <a:pPr algn="ctr"/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2976582"/>
                  </a:ext>
                </a:extLst>
              </a:tr>
              <a:tr h="1471812">
                <a:tc>
                  <a:txBody>
                    <a:bodyPr/>
                    <a:lstStyle/>
                    <a:p>
                      <a:pPr algn="ctr"/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8588563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89BF481E-DFCA-4BA6-9DBD-F16F6705123C}"/>
              </a:ext>
            </a:extLst>
          </p:cNvPr>
          <p:cNvSpPr txBox="1"/>
          <p:nvPr/>
        </p:nvSpPr>
        <p:spPr>
          <a:xfrm>
            <a:off x="-31342" y="-26118"/>
            <a:ext cx="157575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000" u="sng" dirty="0"/>
              <a:t>Жооп кагазы</a:t>
            </a:r>
            <a:endParaRPr lang="en-GB" sz="2000" u="sng" dirty="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0761BAE-9412-451C-8B90-09E585CA2ACA}"/>
              </a:ext>
            </a:extLst>
          </p:cNvPr>
          <p:cNvCxnSpPr>
            <a:cxnSpLocks/>
          </p:cNvCxnSpPr>
          <p:nvPr/>
        </p:nvCxnSpPr>
        <p:spPr>
          <a:xfrm>
            <a:off x="174174" y="923108"/>
            <a:ext cx="0" cy="16546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5C25F2F-F81E-4959-B866-200B280E8311}"/>
              </a:ext>
            </a:extLst>
          </p:cNvPr>
          <p:cNvCxnSpPr>
            <a:cxnSpLocks/>
          </p:cNvCxnSpPr>
          <p:nvPr/>
        </p:nvCxnSpPr>
        <p:spPr>
          <a:xfrm>
            <a:off x="5004528" y="923108"/>
            <a:ext cx="0" cy="16546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2E41258-949A-45B5-B9DA-CEAC5643E0FE}"/>
              </a:ext>
            </a:extLst>
          </p:cNvPr>
          <p:cNvCxnSpPr>
            <a:cxnSpLocks/>
          </p:cNvCxnSpPr>
          <p:nvPr/>
        </p:nvCxnSpPr>
        <p:spPr>
          <a:xfrm>
            <a:off x="2589351" y="923108"/>
            <a:ext cx="0" cy="16546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484486A-82F5-4658-8436-AD4CAEBBC1CE}"/>
              </a:ext>
            </a:extLst>
          </p:cNvPr>
          <p:cNvCxnSpPr>
            <a:cxnSpLocks/>
          </p:cNvCxnSpPr>
          <p:nvPr/>
        </p:nvCxnSpPr>
        <p:spPr>
          <a:xfrm>
            <a:off x="7419706" y="923108"/>
            <a:ext cx="0" cy="16546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8056366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8E843E5-E20B-27A5-0EF6-438930B381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800540" cy="343646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FD499B6-61E1-C995-8BE5-F6201B4541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9332" y="-1"/>
            <a:ext cx="4953000" cy="343646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F36B6FE-93E6-3F7D-0BCA-8741F2731D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3429000"/>
            <a:ext cx="4800541" cy="34290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7F1CD97-7EF8-E3E2-7205-51D00BEB01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540" y="3429000"/>
            <a:ext cx="4953000" cy="3436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232980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727800"/>
            <a:ext cx="9240883" cy="58785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ru-RU" sz="3200" dirty="0"/>
              <a:t>Суроолор барбы?</a:t>
            </a:r>
          </a:p>
          <a:p>
            <a:pPr marL="0" indent="0" algn="ctr">
              <a:buNone/>
            </a:pPr>
            <a:r>
              <a:rPr lang="ru-RU" sz="3200" dirty="0"/>
              <a:t>Комментарийлер?</a:t>
            </a:r>
          </a:p>
          <a:p>
            <a:pPr marL="0" indent="0" algn="ctr">
              <a:buNone/>
            </a:pPr>
            <a:r>
              <a:rPr lang="ru-RU" sz="3200" dirty="0"/>
              <a:t>Сунуштар?</a:t>
            </a:r>
          </a:p>
          <a:p>
            <a:pPr marL="0" indent="0" algn="ctr">
              <a:buNone/>
            </a:pPr>
            <a:endParaRPr lang="ru-RU" sz="3200" dirty="0"/>
          </a:p>
          <a:p>
            <a:pPr marL="0" indent="0" algn="ctr">
              <a:buNone/>
            </a:pPr>
            <a:r>
              <a:rPr lang="ru-RU" sz="3200" dirty="0"/>
              <a:t>…же ката таптыңызбы!?</a:t>
            </a:r>
          </a:p>
          <a:p>
            <a:pPr marL="0" indent="0" algn="ctr">
              <a:buNone/>
            </a:pPr>
            <a:endParaRPr lang="ru-RU" sz="3200" dirty="0"/>
          </a:p>
          <a:p>
            <a:pPr marL="0" indent="0" algn="ctr">
              <a:buNone/>
            </a:pPr>
            <a:r>
              <a:rPr lang="ru-RU" sz="3200" dirty="0"/>
              <a:t>Турдуу пикирлер учун ыраазычылык билдиребиз.</a:t>
            </a:r>
          </a:p>
          <a:p>
            <a:pPr marL="0" indent="0" algn="ctr">
              <a:buNone/>
            </a:pPr>
            <a:endParaRPr lang="ru-RU" sz="3200" dirty="0"/>
          </a:p>
          <a:p>
            <a:pPr marL="0" indent="0" algn="ctr">
              <a:buNone/>
            </a:pPr>
            <a:r>
              <a:rPr lang="ru-RU" sz="3200" dirty="0"/>
              <a:t>Сураныч, электрондук кат жөнөтүңүз:</a:t>
            </a:r>
          </a:p>
          <a:p>
            <a:pPr marL="0" indent="0" algn="ctr">
              <a:buNone/>
            </a:pPr>
            <a:endParaRPr lang="ru-RU" sz="3200" dirty="0"/>
          </a:p>
          <a:p>
            <a:pPr marL="0" indent="0" algn="ctr">
              <a:buNone/>
            </a:pPr>
            <a:r>
              <a:rPr lang="en-US" sz="3200" dirty="0"/>
              <a:t>mathematicskgz@gmail.com</a:t>
            </a:r>
          </a:p>
          <a:p>
            <a:pPr algn="ctr" defTabSz="478226">
              <a:defRPr/>
            </a:pPr>
            <a:endParaRPr lang="en-GB" sz="240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82971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8404</TotalTime>
  <Words>411</Words>
  <Application>Microsoft Office PowerPoint</Application>
  <PresentationFormat>A4 Paper (210x297 mm)</PresentationFormat>
  <Paragraphs>140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8" baseType="lpstr">
      <vt:lpstr>Calibri</vt:lpstr>
      <vt:lpstr>Algerian</vt:lpstr>
      <vt:lpstr>Arial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376</cp:revision>
  <cp:lastPrinted>2023-05-12T08:55:27Z</cp:lastPrinted>
  <dcterms:created xsi:type="dcterms:W3CDTF">2017-01-17T16:57:04Z</dcterms:created>
  <dcterms:modified xsi:type="dcterms:W3CDTF">2023-09-29T17:55:11Z</dcterms:modified>
</cp:coreProperties>
</file>