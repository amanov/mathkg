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31"/>
  </p:notesMasterIdLst>
  <p:sldIdLst>
    <p:sldId id="972" r:id="rId2"/>
    <p:sldId id="962" r:id="rId3"/>
    <p:sldId id="963" r:id="rId4"/>
    <p:sldId id="964" r:id="rId5"/>
    <p:sldId id="939" r:id="rId6"/>
    <p:sldId id="953" r:id="rId7"/>
    <p:sldId id="952" r:id="rId8"/>
    <p:sldId id="942" r:id="rId9"/>
    <p:sldId id="943" r:id="rId10"/>
    <p:sldId id="961" r:id="rId11"/>
    <p:sldId id="944" r:id="rId12"/>
    <p:sldId id="968" r:id="rId13"/>
    <p:sldId id="960" r:id="rId14"/>
    <p:sldId id="945" r:id="rId15"/>
    <p:sldId id="954" r:id="rId16"/>
    <p:sldId id="955" r:id="rId17"/>
    <p:sldId id="956" r:id="rId18"/>
    <p:sldId id="946" r:id="rId19"/>
    <p:sldId id="947" r:id="rId20"/>
    <p:sldId id="948" r:id="rId21"/>
    <p:sldId id="949" r:id="rId22"/>
    <p:sldId id="950" r:id="rId23"/>
    <p:sldId id="951" r:id="rId24"/>
    <p:sldId id="971" r:id="rId25"/>
    <p:sldId id="970" r:id="rId26"/>
    <p:sldId id="959" r:id="rId27"/>
    <p:sldId id="967" r:id="rId28"/>
    <p:sldId id="969" r:id="rId29"/>
    <p:sldId id="938" r:id="rId30"/>
  </p:sldIdLst>
  <p:sldSz cx="9906000" cy="6858000" type="A4"/>
  <p:notesSz cx="7104063" cy="10234613"/>
  <p:embeddedFontLst>
    <p:embeddedFont>
      <p:font typeface="Calibri" panose="020F0502020204030204" pitchFamily="34" charset="0"/>
      <p:regular r:id="rId32"/>
      <p:bold r:id="rId33"/>
      <p:italic r:id="rId34"/>
      <p:boldItalic r:id="rId35"/>
    </p:embeddedFont>
    <p:embeddedFont>
      <p:font typeface="Calibri Light" panose="020F0302020204030204" pitchFamily="34" charset="0"/>
      <p:regular r:id="rId36"/>
      <p:italic r:id="rId37"/>
    </p:embeddedFont>
    <p:embeddedFont>
      <p:font typeface="Cambria Math" panose="02040503050406030204" pitchFamily="18" charset="0"/>
      <p:regular r:id="rId3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font" Target="fonts/font3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2.fntdata"/><Relationship Id="rId38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1.fntdata"/><Relationship Id="rId37" Type="http://schemas.openxmlformats.org/officeDocument/2006/relationships/font" Target="fonts/font6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28/09/2023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3">
            <a:extLst>
              <a:ext uri="{FF2B5EF4-FFF2-40B4-BE49-F238E27FC236}">
                <a16:creationId xmlns:a16="http://schemas.microsoft.com/office/drawing/2014/main" id="{E8DA03BD-0D10-881F-68DF-55A084B44400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600" dirty="0" err="1">
                <a:solidFill>
                  <a:srgbClr val="00B0F0"/>
                </a:solidFill>
              </a:rPr>
              <a:t>MathKGZ</a:t>
            </a:r>
            <a:r>
              <a:rPr lang="en-US" sz="5200" dirty="0">
                <a:solidFill>
                  <a:srgbClr val="00B0F0"/>
                </a:solidFill>
              </a:rPr>
              <a:t>  --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6736DD-D2AD-61E3-58E2-BEBBEB44F31C}"/>
              </a:ext>
            </a:extLst>
          </p:cNvPr>
          <p:cNvSpPr txBox="1"/>
          <p:nvPr/>
        </p:nvSpPr>
        <p:spPr>
          <a:xfrm>
            <a:off x="162560" y="1778000"/>
            <a:ext cx="9743440" cy="45550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/>
              <a:t>Амалдарды аткаруу тартиби</a:t>
            </a:r>
            <a:r>
              <a:rPr lang="en-US" sz="2400" dirty="0"/>
              <a:t>  - </a:t>
            </a:r>
            <a:r>
              <a:rPr lang="ky-KG" sz="2400" b="1" dirty="0">
                <a:solidFill>
                  <a:srgbClr val="FF0000"/>
                </a:solidFill>
              </a:rPr>
              <a:t>Мисал көрсөт</a:t>
            </a:r>
            <a:r>
              <a:rPr lang="ru-RU" sz="2400" b="1" dirty="0">
                <a:solidFill>
                  <a:srgbClr val="FF0000"/>
                </a:solidFill>
              </a:rPr>
              <a:t>...</a:t>
            </a:r>
            <a:endParaRPr lang="ru-RU" sz="2000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/>
              <a:t>Бул көнүгүү</a:t>
            </a:r>
            <a:r>
              <a:rPr lang="en-US" sz="2400" dirty="0"/>
              <a:t> </a:t>
            </a:r>
            <a:r>
              <a:rPr lang="ru-RU" sz="2400" dirty="0"/>
              <a:t>окуучуну ойлондуруу үчүн иштелип чыккан, эч кандай жооп жок.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/>
              <a:t>Студенттер өз жоопторун эки - экиден же мугалимге  көрсөтүп текшере алышы керек.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/>
              <a:t>Студенттер мини-тактада же дептер аркылуу жооп бере алышат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/>
              <a:t>Анимацияларды текшерип, </a:t>
            </a:r>
            <a:r>
              <a:rPr lang="ky-KG" sz="2400" dirty="0"/>
              <a:t>сабагы</a:t>
            </a:r>
            <a:r>
              <a:rPr lang="ru-RU" sz="2400" dirty="0"/>
              <a:t>ң</a:t>
            </a:r>
            <a:r>
              <a:rPr lang="ky-KG" sz="2400" dirty="0"/>
              <a:t>ызга </a:t>
            </a:r>
            <a:r>
              <a:rPr lang="ru-RU" sz="2400" b="1" dirty="0">
                <a:solidFill>
                  <a:srgbClr val="FF0000"/>
                </a:solidFill>
              </a:rPr>
              <a:t>КЕРЕГИ ЖОК </a:t>
            </a:r>
            <a:r>
              <a:rPr lang="ru-RU" sz="2400" dirty="0"/>
              <a:t>слайддарды </a:t>
            </a:r>
            <a:r>
              <a:rPr lang="ru-RU" sz="2800" b="1" dirty="0">
                <a:solidFill>
                  <a:srgbClr val="FF0000"/>
                </a:solidFill>
              </a:rPr>
              <a:t>ӨЧҮРҮ</a:t>
            </a:r>
            <a:r>
              <a:rPr lang="ky-KG" sz="2800" b="1" dirty="0">
                <a:solidFill>
                  <a:srgbClr val="FF0000"/>
                </a:solidFill>
              </a:rPr>
              <a:t>П САЛЫ</a:t>
            </a:r>
            <a:r>
              <a:rPr lang="ru-RU" sz="2800" b="1" dirty="0">
                <a:solidFill>
                  <a:srgbClr val="FF0000"/>
                </a:solidFill>
              </a:rPr>
              <a:t>ҢЫЗ.</a:t>
            </a:r>
            <a:endParaRPr lang="en-US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70965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1010571" y="3044279"/>
            <a:ext cx="7884915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амалдардын аткаруу тартиби</a:t>
            </a:r>
            <a:r>
              <a:rPr lang="en-US" sz="4400" dirty="0"/>
              <a:t> </a:t>
            </a:r>
            <a:endParaRPr lang="ru-RU" sz="4400" dirty="0"/>
          </a:p>
          <a:p>
            <a:pPr algn="ctr"/>
            <a:r>
              <a:rPr lang="ru-RU" sz="4400" dirty="0"/>
              <a:t>сакталган бир мисал </a:t>
            </a:r>
            <a:r>
              <a:rPr lang="en-GB" sz="4400" dirty="0"/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0C0123-583F-38CC-D0A3-8A7351ED7533}"/>
              </a:ext>
            </a:extLst>
          </p:cNvPr>
          <p:cNvSpPr txBox="1"/>
          <p:nvPr/>
        </p:nvSpPr>
        <p:spPr>
          <a:xfrm>
            <a:off x="1005840" y="467360"/>
            <a:ext cx="6898640" cy="1107996"/>
          </a:xfrm>
          <a:prstGeom prst="rect">
            <a:avLst/>
          </a:prstGeom>
          <a:noFill/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3206688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1010564" y="3044279"/>
            <a:ext cx="7884915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амалдардын аткаруу тартиби</a:t>
            </a:r>
            <a:r>
              <a:rPr lang="en-US" sz="4400" dirty="0"/>
              <a:t> </a:t>
            </a:r>
            <a:endParaRPr lang="ru-RU" sz="4400" dirty="0"/>
          </a:p>
          <a:p>
            <a:pPr algn="ctr"/>
            <a:r>
              <a:rPr lang="ru-RU" sz="4400" dirty="0"/>
              <a:t>сактал</a:t>
            </a:r>
            <a:r>
              <a:rPr lang="ru-RU" sz="4400" dirty="0">
                <a:solidFill>
                  <a:srgbClr val="FF0000"/>
                </a:solidFill>
              </a:rPr>
              <a:t>БА</a:t>
            </a:r>
            <a:r>
              <a:rPr lang="ru-RU" sz="4400" dirty="0"/>
              <a:t>ган бир мисал </a:t>
            </a:r>
            <a:r>
              <a:rPr lang="en-GB" sz="4400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7ED588-5CD2-674C-0722-74F3B71DCE97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7690165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612513" y="3044279"/>
            <a:ext cx="8681031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амалдардын аткаруу эрежесин </a:t>
            </a:r>
            <a:endParaRPr lang="en-US" sz="4400" dirty="0"/>
          </a:p>
          <a:p>
            <a:pPr algn="ctr"/>
            <a:r>
              <a:rPr lang="ru-RU" sz="4400" dirty="0"/>
              <a:t>сактоодо кетирилген </a:t>
            </a:r>
          </a:p>
          <a:p>
            <a:pPr algn="ctr"/>
            <a:r>
              <a:rPr lang="ru-RU" sz="4400" dirty="0"/>
              <a:t>кеңири таралган каталардан бирди</a:t>
            </a:r>
            <a:endParaRPr lang="en-GB" sz="4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37DCCA-C59A-8036-002B-779139B1736A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4138711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362956" y="2367171"/>
            <a:ext cx="9180142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амалдардын аткаруу тартиби</a:t>
            </a:r>
            <a:r>
              <a:rPr lang="en-US" sz="4400" dirty="0"/>
              <a:t> </a:t>
            </a:r>
            <a:r>
              <a:rPr lang="ky-KG" sz="4400" dirty="0"/>
              <a:t>туура</a:t>
            </a:r>
            <a:endParaRPr lang="ru-RU" sz="4400" dirty="0"/>
          </a:p>
          <a:p>
            <a:pPr algn="ctr"/>
            <a:r>
              <a:rPr lang="ru-RU" sz="4400" dirty="0"/>
              <a:t> колдонулган эсептин жыйынтыгы.</a:t>
            </a:r>
            <a:endParaRPr lang="en-GB" sz="4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C50B89-E8AC-F257-1C7E-2EE1040BDF62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7072457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684487" y="2367171"/>
            <a:ext cx="8537081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амалдардын аткаруу тартиби</a:t>
            </a:r>
            <a:r>
              <a:rPr lang="en-US" sz="4400" dirty="0"/>
              <a:t> </a:t>
            </a:r>
            <a:endParaRPr lang="ky-KG" sz="4400" dirty="0"/>
          </a:p>
          <a:p>
            <a:pPr algn="ctr"/>
            <a:r>
              <a:rPr lang="ky-KG" sz="4400" dirty="0">
                <a:solidFill>
                  <a:srgbClr val="FF0000"/>
                </a:solidFill>
              </a:rPr>
              <a:t>туура эмес</a:t>
            </a:r>
            <a:endParaRPr lang="ru-RU" sz="4400" dirty="0">
              <a:solidFill>
                <a:srgbClr val="FF0000"/>
              </a:solidFill>
            </a:endParaRPr>
          </a:p>
          <a:p>
            <a:pPr algn="ctr"/>
            <a:r>
              <a:rPr lang="ru-RU" sz="4400" dirty="0"/>
              <a:t> колдонулган эсептин жыйынтыгы.</a:t>
            </a:r>
            <a:endParaRPr lang="en-GB" sz="4400" dirty="0"/>
          </a:p>
          <a:p>
            <a:pPr algn="ctr"/>
            <a:r>
              <a:rPr lang="en-GB" sz="4400" dirty="0"/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740A8D-85A8-73DE-EAEC-16C9BBA8D35E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2091996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2034270" y="2705725"/>
            <a:ext cx="5837495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2 түрдүү амал менен </a:t>
            </a:r>
          </a:p>
          <a:p>
            <a:pPr algn="ctr"/>
            <a:r>
              <a:rPr lang="ru-RU" sz="4400" dirty="0"/>
              <a:t>бир мисал.</a:t>
            </a:r>
            <a:endParaRPr lang="en-GB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09D3EC-ABE6-944B-672E-B3D149A81233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5781250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2034267" y="2705725"/>
            <a:ext cx="5837495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3 түрдүү амал менен </a:t>
            </a:r>
          </a:p>
          <a:p>
            <a:pPr algn="ctr"/>
            <a:r>
              <a:rPr lang="ru-RU" sz="4400" dirty="0"/>
              <a:t>бир мисал.</a:t>
            </a:r>
            <a:endParaRPr lang="en-GB" sz="4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2A2BC9-48FD-C30F-2219-FC134049FF9E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82524456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2162506" y="2705725"/>
            <a:ext cx="5581015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</a:t>
            </a:r>
            <a:r>
              <a:rPr lang="ru-RU" sz="4400" dirty="0"/>
              <a:t>4 түрдүү амал менен</a:t>
            </a:r>
          </a:p>
          <a:p>
            <a:pPr algn="ctr"/>
            <a:r>
              <a:rPr lang="ru-RU" sz="4400" dirty="0"/>
              <a:t> бир мисал.</a:t>
            </a:r>
            <a:endParaRPr lang="en-GB" sz="4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F527B4-2116-BE8E-4DFD-12AF9943665A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2511977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2263178" y="2705725"/>
            <a:ext cx="5379679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сен билген бардык </a:t>
            </a:r>
          </a:p>
          <a:p>
            <a:pPr algn="ctr"/>
            <a:r>
              <a:rPr lang="ru-RU" sz="4400" dirty="0"/>
              <a:t>амал менен</a:t>
            </a:r>
          </a:p>
          <a:p>
            <a:pPr algn="ctr"/>
            <a:r>
              <a:rPr lang="ru-RU" sz="4400" dirty="0"/>
              <a:t> бир мисал.</a:t>
            </a:r>
            <a:endParaRPr lang="en-GB" sz="4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B5CC44-98BC-04D7-9EA8-D92F0C5F98EC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9871165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1217543" y="3044279"/>
            <a:ext cx="747095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ky-KG" sz="4400" dirty="0"/>
              <a:t>амалдар менен </a:t>
            </a:r>
          </a:p>
          <a:p>
            <a:pPr algn="ctr"/>
            <a:r>
              <a:rPr lang="ru-RU" sz="4400" dirty="0"/>
              <a:t>кашааны камтыган бир мисал.</a:t>
            </a:r>
            <a:endParaRPr lang="en-GB" sz="4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BA081C-0808-2677-9697-3803467D96AB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4886988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2043217" y="2705725"/>
            <a:ext cx="5819605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ашыкча кашааларды </a:t>
            </a:r>
          </a:p>
          <a:p>
            <a:pPr algn="ctr"/>
            <a:r>
              <a:rPr lang="ru-RU" sz="4400" dirty="0"/>
              <a:t>камтыган бир мисал.</a:t>
            </a:r>
            <a:endParaRPr lang="en-GB" sz="4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C97E90-5C4A-5FE9-E5EB-0B15A1FC1BE5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2208683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769985" y="2705725"/>
            <a:ext cx="8366073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кашаалардын ичинде</a:t>
            </a:r>
          </a:p>
          <a:p>
            <a:pPr algn="ctr"/>
            <a:r>
              <a:rPr lang="ru-RU" sz="4400" dirty="0"/>
              <a:t>кашааларды камтыган бир мисал.</a:t>
            </a:r>
            <a:endParaRPr lang="en-GB" sz="4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2642D4-BF5E-EA79-6AB6-4E19AC154294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6522086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2203717" y="3044279"/>
            <a:ext cx="5498621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амалдар тартиби </a:t>
            </a:r>
          </a:p>
          <a:p>
            <a:pPr algn="ctr"/>
            <a:r>
              <a:rPr lang="ru-RU" sz="4400" dirty="0"/>
              <a:t>менен </a:t>
            </a:r>
            <a:r>
              <a:rPr lang="ru-RU" sz="4400" dirty="0">
                <a:solidFill>
                  <a:srgbClr val="FF0000"/>
                </a:solidFill>
              </a:rPr>
              <a:t>нөлгө</a:t>
            </a:r>
            <a:r>
              <a:rPr lang="ru-RU" sz="4400" dirty="0"/>
              <a:t> барабар </a:t>
            </a:r>
          </a:p>
          <a:p>
            <a:pPr algn="ctr"/>
            <a:r>
              <a:rPr lang="ru-RU" sz="4400" dirty="0"/>
              <a:t>болгон бир мисал.</a:t>
            </a:r>
            <a:endParaRPr lang="en-GB" sz="4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9D20A5-3381-2386-E456-A6421802BA0E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4649194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2024970" y="2705725"/>
            <a:ext cx="5856091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15ке барабар </a:t>
            </a:r>
          </a:p>
          <a:p>
            <a:pPr algn="ctr"/>
            <a:r>
              <a:rPr lang="ru-RU" sz="4400" dirty="0"/>
              <a:t>болгон 2 түрдүү </a:t>
            </a:r>
          </a:p>
          <a:p>
            <a:pPr algn="ctr"/>
            <a:r>
              <a:rPr lang="ru-RU" sz="4400" dirty="0"/>
              <a:t>амал менен бир мисал</a:t>
            </a:r>
            <a:r>
              <a:rPr lang="en-GB" sz="4400" dirty="0"/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4E2854-8ABE-FE40-4F91-556CC9DCF342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8374289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2194153" y="2705725"/>
            <a:ext cx="5517728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400" dirty="0"/>
              <a:t>… </a:t>
            </a:r>
            <a:r>
              <a:rPr lang="ru-RU" sz="4400" dirty="0"/>
              <a:t>8ге барабар болгон </a:t>
            </a:r>
            <a:endParaRPr lang="en-US" sz="4400" dirty="0"/>
          </a:p>
          <a:p>
            <a:pPr algn="ctr"/>
            <a:r>
              <a:rPr lang="ru-RU" sz="4400" dirty="0"/>
              <a:t>3 түрдүү амал менен </a:t>
            </a:r>
          </a:p>
          <a:p>
            <a:pPr algn="ctr"/>
            <a:r>
              <a:rPr lang="ru-RU" sz="4400" dirty="0"/>
              <a:t>бир мисал.</a:t>
            </a:r>
            <a:endParaRPr lang="en-GB" sz="4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616912-DC79-7C0C-4123-01EA13D7BD1F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5381222"/>
      </p:ext>
    </p:extLst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1286401" y="2604125"/>
            <a:ext cx="7333198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/>
              <a:t>…</a:t>
            </a:r>
            <a:r>
              <a:rPr lang="ru-RU" sz="4400" dirty="0"/>
              <a:t>12ге барабар болгон </a:t>
            </a:r>
            <a:endParaRPr lang="en-US" sz="4400" dirty="0"/>
          </a:p>
          <a:p>
            <a:pPr algn="ctr"/>
            <a:r>
              <a:rPr lang="ru-RU" sz="4400" dirty="0"/>
              <a:t>4 түрдүү амал менен </a:t>
            </a:r>
          </a:p>
          <a:p>
            <a:pPr algn="ctr"/>
            <a:r>
              <a:rPr lang="ru-RU" sz="4400" dirty="0"/>
              <a:t>бир мисал.</a:t>
            </a:r>
            <a:endParaRPr lang="en-GB" sz="4400" dirty="0"/>
          </a:p>
          <a:p>
            <a:pPr algn="ctr"/>
            <a:endParaRPr lang="en-GB" sz="4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C60148-D45F-2DDD-A55A-7091E05B1881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27438483"/>
      </p:ext>
    </p:extLst>
  </p:cSld>
  <p:clrMapOvr>
    <a:masterClrMapping/>
  </p:clrMapOvr>
  <p:transition spd="slow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752180" y="2628643"/>
            <a:ext cx="840165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</a:t>
            </a:r>
            <a:r>
              <a:rPr lang="ru-RU" sz="4400" dirty="0"/>
              <a:t>төмөнкү формадагы бир мисал:</a:t>
            </a:r>
            <a:endParaRPr lang="en-GB" sz="4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9DEB42-DFA7-9C34-FB13-DBC37BA3E652}"/>
                  </a:ext>
                </a:extLst>
              </p:cNvPr>
              <p:cNvSpPr txBox="1"/>
              <p:nvPr/>
            </p:nvSpPr>
            <p:spPr>
              <a:xfrm>
                <a:off x="3401343" y="4033494"/>
                <a:ext cx="3103350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GB" sz="5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9DEB42-DFA7-9C34-FB13-DBC37BA3E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1343" y="4033494"/>
                <a:ext cx="3103350" cy="9233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A1102201-D505-5E0B-04D4-36D989B6185E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9695183"/>
      </p:ext>
    </p:extLst>
  </p:cSld>
  <p:clrMapOvr>
    <a:masterClrMapping/>
  </p:clrMapOvr>
  <p:transition spd="slow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823521" y="2628643"/>
            <a:ext cx="82589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</a:t>
            </a:r>
            <a:r>
              <a:rPr lang="ru-RU" sz="4400" dirty="0"/>
              <a:t>төмөнкү формадагы бир мисал:</a:t>
            </a:r>
            <a:endParaRPr lang="en-GB" sz="4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9DEB42-DFA7-9C34-FB13-DBC37BA3E652}"/>
                  </a:ext>
                </a:extLst>
              </p:cNvPr>
              <p:cNvSpPr txBox="1"/>
              <p:nvPr/>
            </p:nvSpPr>
            <p:spPr>
              <a:xfrm>
                <a:off x="3401343" y="4033494"/>
                <a:ext cx="3103350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GB" sz="5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9DEB42-DFA7-9C34-FB13-DBC37BA3E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1343" y="4033494"/>
                <a:ext cx="3103350" cy="9233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DD0B5C15-CAAA-58DF-7BE8-B0E8099E11FF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17206"/>
      </p:ext>
    </p:extLst>
  </p:cSld>
  <p:clrMapOvr>
    <a:masterClrMapping/>
  </p:clrMapOvr>
  <p:transition spd="slow"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823521" y="2628643"/>
            <a:ext cx="82589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</a:t>
            </a:r>
            <a:r>
              <a:rPr lang="ru-RU" sz="4400" dirty="0"/>
              <a:t>төмөнкү формадагы бир мисал:</a:t>
            </a:r>
            <a:endParaRPr lang="en-GB" sz="4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9DEB42-DFA7-9C34-FB13-DBC37BA3E652}"/>
                  </a:ext>
                </a:extLst>
              </p:cNvPr>
              <p:cNvSpPr txBox="1"/>
              <p:nvPr/>
            </p:nvSpPr>
            <p:spPr>
              <a:xfrm>
                <a:off x="3401343" y="4033494"/>
                <a:ext cx="3103350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GB" sz="5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9DEB42-DFA7-9C34-FB13-DBC37BA3E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1343" y="4033494"/>
                <a:ext cx="3103350" cy="9233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39C40B0E-53EA-92B0-59AE-1726DFB5F3CB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8531415"/>
      </p:ext>
    </p:extLst>
  </p:cSld>
  <p:clrMapOvr>
    <a:masterClrMapping/>
  </p:clrMapOvr>
  <p:transition spd="slow">
    <p:push dir="u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823521" y="2628643"/>
            <a:ext cx="82589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</a:t>
            </a:r>
            <a:r>
              <a:rPr lang="ru-RU" sz="4400" dirty="0"/>
              <a:t>төмөнкү формадагы бир мисал:</a:t>
            </a:r>
            <a:endParaRPr lang="en-GB" sz="4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9DEB42-DFA7-9C34-FB13-DBC37BA3E652}"/>
                  </a:ext>
                </a:extLst>
              </p:cNvPr>
              <p:cNvSpPr txBox="1"/>
              <p:nvPr/>
            </p:nvSpPr>
            <p:spPr>
              <a:xfrm>
                <a:off x="3401343" y="4033494"/>
                <a:ext cx="3103350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GB" sz="5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9DEB42-DFA7-9C34-FB13-DBC37BA3E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1343" y="4033494"/>
                <a:ext cx="3103350" cy="9233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72493AB8-713C-18B9-1D05-2CE0369F37A9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5633260"/>
      </p:ext>
    </p:extLst>
  </p:cSld>
  <p:clrMapOvr>
    <a:masterClrMapping/>
  </p:clrMapOvr>
  <p:transition spd="slow">
    <p:push dir="u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823521" y="2628643"/>
            <a:ext cx="82589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</a:t>
            </a:r>
            <a:r>
              <a:rPr lang="ru-RU" sz="4400" dirty="0"/>
              <a:t>төмөнкү формадагы бир мисал:</a:t>
            </a:r>
            <a:endParaRPr lang="en-GB" sz="4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9DEB42-DFA7-9C34-FB13-DBC37BA3E652}"/>
                  </a:ext>
                </a:extLst>
              </p:cNvPr>
              <p:cNvSpPr txBox="1"/>
              <p:nvPr/>
            </p:nvSpPr>
            <p:spPr>
              <a:xfrm>
                <a:off x="2777199" y="4033494"/>
                <a:ext cx="4351640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i="1" dirty="0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GB" sz="5400" i="1" dirty="0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5400" i="1" dirty="0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GB" sz="5400" i="1" dirty="0"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en-GB" sz="5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9DEB42-DFA7-9C34-FB13-DBC37BA3E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7199" y="4033494"/>
                <a:ext cx="4351640" cy="9233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55182E91-929A-923C-6E66-E640F0447C7E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160993"/>
      </p:ext>
    </p:extLst>
  </p:cSld>
  <p:clrMapOvr>
    <a:masterClrMapping/>
  </p:clrMapOvr>
  <p:transition spd="slow">
    <p:push dir="u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823521" y="2628643"/>
            <a:ext cx="82589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</a:t>
            </a:r>
            <a:r>
              <a:rPr lang="ru-RU" sz="4400" dirty="0"/>
              <a:t>төмөнкү формадагы бир мисал:</a:t>
            </a:r>
            <a:endParaRPr lang="en-GB" sz="4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9DEB42-DFA7-9C34-FB13-DBC37BA3E652}"/>
                  </a:ext>
                </a:extLst>
              </p:cNvPr>
              <p:cNvSpPr txBox="1"/>
              <p:nvPr/>
            </p:nvSpPr>
            <p:spPr>
              <a:xfrm>
                <a:off x="2490261" y="4033494"/>
                <a:ext cx="4925516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i="1" dirty="0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GB" sz="5400" i="1" dirty="0" smtClean="0">
                          <a:latin typeface="Cambria Math" panose="02040503050406030204" pitchFamily="18" charset="0"/>
                        </a:rPr>
                        <m:t>×(</m:t>
                      </m:r>
                      <m:r>
                        <a:rPr lang="en-GB" sz="5400" i="1" dirty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5400" i="1" dirty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GB" sz="5400" i="1" dirty="0"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en-GB" sz="5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9DEB42-DFA7-9C34-FB13-DBC37BA3E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0261" y="4033494"/>
                <a:ext cx="4925516" cy="9233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8B06004E-4D2D-F463-80E5-860242646619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3386445"/>
      </p:ext>
    </p:extLst>
  </p:cSld>
  <p:clrMapOvr>
    <a:masterClrMapping/>
  </p:clrMapOvr>
  <p:transition spd="slow">
    <p:push dir="u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823521" y="2628643"/>
            <a:ext cx="82589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</a:t>
            </a:r>
            <a:r>
              <a:rPr lang="ru-RU" sz="4400" dirty="0"/>
              <a:t>төмөнкү формадагы бир мисал:</a:t>
            </a:r>
            <a:endParaRPr lang="en-GB" sz="4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9DEB42-DFA7-9C34-FB13-DBC37BA3E652}"/>
                  </a:ext>
                </a:extLst>
              </p:cNvPr>
              <p:cNvSpPr txBox="1"/>
              <p:nvPr/>
            </p:nvSpPr>
            <p:spPr>
              <a:xfrm>
                <a:off x="2402898" y="4033494"/>
                <a:ext cx="5100242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i="1" dirty="0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GB" sz="5400" i="1" dirty="0"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5400" i="1" dirty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sz="5400" i="1" dirty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GB" sz="5400" i="1" dirty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en-GB" sz="5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9DEB42-DFA7-9C34-FB13-DBC37BA3E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2898" y="4033494"/>
                <a:ext cx="5100242" cy="9233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7A4A23EF-C6D0-3CE8-8E84-F373FB639114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8247042"/>
      </p:ext>
    </p:extLst>
  </p:cSld>
  <p:clrMapOvr>
    <a:masterClrMapping/>
  </p:clrMapOvr>
  <p:transition spd="slow">
    <p:push dir="u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823521" y="2628643"/>
            <a:ext cx="82589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</a:t>
            </a:r>
            <a:r>
              <a:rPr lang="ru-RU" sz="4400" dirty="0"/>
              <a:t>төмөнкү формадагы бир мисал:</a:t>
            </a:r>
            <a:endParaRPr lang="en-GB" sz="4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9DEB42-DFA7-9C34-FB13-DBC37BA3E652}"/>
                  </a:ext>
                </a:extLst>
              </p:cNvPr>
              <p:cNvSpPr txBox="1"/>
              <p:nvPr/>
            </p:nvSpPr>
            <p:spPr>
              <a:xfrm>
                <a:off x="2777198" y="3917115"/>
                <a:ext cx="4351640" cy="15155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5400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num>
                        <m:den>
                          <m: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den>
                      </m:f>
                      <m:r>
                        <a:rPr lang="en-GB" sz="5400" i="1" dirty="0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GB" sz="5400" i="1" dirty="0"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𝑒</m:t>
                      </m:r>
                    </m:oMath>
                  </m:oMathPara>
                </a14:m>
                <a:endParaRPr lang="en-GB" sz="5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9DEB42-DFA7-9C34-FB13-DBC37BA3E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7198" y="3917115"/>
                <a:ext cx="4351640" cy="151554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BAA48FDE-D256-E0B0-F71F-39D801087EF6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8339727"/>
      </p:ext>
    </p:extLst>
  </p:cSld>
  <p:clrMapOvr>
    <a:masterClrMapping/>
  </p:clrMapOvr>
  <p:transition spd="slow">
    <p:push dir="u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1661989" y="2367171"/>
            <a:ext cx="6582059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a calculation that </a:t>
            </a:r>
          </a:p>
          <a:p>
            <a:pPr algn="ctr"/>
            <a:r>
              <a:rPr lang="en-GB" sz="4400" dirty="0"/>
              <a:t>includes an operation as </a:t>
            </a:r>
          </a:p>
          <a:p>
            <a:pPr algn="ctr"/>
            <a:r>
              <a:rPr lang="en-GB" sz="4400" dirty="0"/>
              <a:t>the numerator of a fraction.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0A7127-F9FB-EB9A-441D-5DB75E2B0E3B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39451765"/>
      </p:ext>
    </p:extLst>
  </p:cSld>
  <p:clrMapOvr>
    <a:masterClrMapping/>
  </p:clrMapOvr>
  <p:transition spd="slow">
    <p:push dir="u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964271" y="2367171"/>
            <a:ext cx="7977505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терс натыйжасы берген </a:t>
            </a:r>
          </a:p>
          <a:p>
            <a:pPr algn="ctr"/>
            <a:r>
              <a:rPr lang="ru-RU" sz="4400" dirty="0"/>
              <a:t>4 түрдүү амал менен бир мисал.</a:t>
            </a:r>
            <a:endParaRPr lang="en-GB" sz="4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9461A1-90C0-3650-66A6-FDA5BC8F211D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004665"/>
      </p:ext>
    </p:extLst>
  </p:cSld>
  <p:clrMapOvr>
    <a:masterClrMapping/>
  </p:clrMapOvr>
  <p:transition spd="slow">
    <p:push dir="u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964269" y="2367171"/>
            <a:ext cx="7977504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</a:t>
            </a:r>
            <a:r>
              <a:rPr lang="ru-RU" sz="4400" dirty="0"/>
              <a:t>ондук натыйжасы берген </a:t>
            </a:r>
          </a:p>
          <a:p>
            <a:pPr algn="ctr"/>
            <a:r>
              <a:rPr lang="ru-RU" sz="4400" dirty="0"/>
              <a:t>4 түрдүү амал менен бир мисал.</a:t>
            </a:r>
            <a:endParaRPr lang="en-GB" sz="4400" dirty="0"/>
          </a:p>
          <a:p>
            <a:pPr algn="ctr"/>
            <a:endParaRPr lang="en-GB" sz="4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27B72B-7EC9-6BDD-452D-2FF864A3A4FA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4913802"/>
      </p:ext>
    </p:extLst>
  </p:cSld>
  <p:clrMapOvr>
    <a:masterClrMapping/>
  </p:clrMapOvr>
  <p:transition spd="slow">
    <p:push dir="u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230958" y="67440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3200" dirty="0"/>
              <a:t>Суроолор барбы?</a:t>
            </a:r>
          </a:p>
          <a:p>
            <a:pPr marL="0" indent="0" algn="ctr">
              <a:buNone/>
            </a:pPr>
            <a:r>
              <a:rPr lang="ru-RU" sz="3200" dirty="0"/>
              <a:t>Комментарийлер?</a:t>
            </a:r>
          </a:p>
          <a:p>
            <a:pPr marL="0" indent="0" algn="ctr">
              <a:buNone/>
            </a:pPr>
            <a:r>
              <a:rPr lang="ru-RU" sz="3200" dirty="0"/>
              <a:t>Сунуштар?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…же ката таптыңызбы!?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Турдуу пикирлер учун ыраазычылык билдиребиз.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en-US" sz="3200" dirty="0">
                <a:solidFill>
                  <a:srgbClr val="FF0000"/>
                </a:solidFill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3982971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10499</TotalTime>
  <Words>475</Words>
  <Application>Microsoft Office PowerPoint</Application>
  <PresentationFormat>A4 Paper (210x297 mm)</PresentationFormat>
  <Paragraphs>112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Calibri</vt:lpstr>
      <vt:lpstr>Calibri Light</vt:lpstr>
      <vt:lpstr>Cambria Math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498</cp:revision>
  <cp:lastPrinted>2017-12-31T22:38:51Z</cp:lastPrinted>
  <dcterms:created xsi:type="dcterms:W3CDTF">2017-01-17T16:57:04Z</dcterms:created>
  <dcterms:modified xsi:type="dcterms:W3CDTF">2023-09-28T08:20:26Z</dcterms:modified>
</cp:coreProperties>
</file>