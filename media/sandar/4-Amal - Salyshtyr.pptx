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60" r:id="rId2"/>
    <p:sldId id="848" r:id="rId3"/>
    <p:sldId id="958" r:id="rId4"/>
    <p:sldId id="927" r:id="rId5"/>
    <p:sldId id="950" r:id="rId6"/>
    <p:sldId id="953" r:id="rId7"/>
    <p:sldId id="954" r:id="rId8"/>
    <p:sldId id="957" r:id="rId9"/>
    <p:sldId id="959" r:id="rId10"/>
  </p:sldIdLst>
  <p:sldSz cx="9906000" cy="6858000" type="A4"/>
  <p:notesSz cx="6889750" cy="10021888"/>
  <p:embeddedFontLst>
    <p:embeddedFont>
      <p:font typeface="Aharoni" panose="02010803020104030203" pitchFamily="2" charset="-79"/>
      <p:bold r:id="rId12"/>
    </p:embeddedFont>
    <p:embeddedFont>
      <p:font typeface="Cambria Math" panose="02040503050406030204" pitchFamily="18" charset="0"/>
      <p:regular r:id="rId13"/>
    </p:embeddedFont>
    <p:embeddedFont>
      <p:font typeface="Snap ITC" panose="04040A07060A02020202" pitchFamily="82" charset="0"/>
      <p:regular r:id="rId14"/>
    </p:embeddedFont>
    <p:embeddedFont>
      <p:font typeface="Verdana" panose="020B060403050404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FF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252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601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13/01/2024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86" tIns="46143" rIns="92286" bIns="4614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286" tIns="46143" rIns="92286" bIns="4614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601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50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microsoft.com/office/2007/relationships/hdphoto" Target="../media/hdphoto1.wdp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microsoft.com/office/2007/relationships/hdphoto" Target="../media/hdphoto3.wdp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2" Type="http://schemas.openxmlformats.org/officeDocument/2006/relationships/image" Target="../media/image7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5" Type="http://schemas.microsoft.com/office/2007/relationships/hdphoto" Target="../media/hdphoto2.wdp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44.png"/><Relationship Id="rId3" Type="http://schemas.microsoft.com/office/2007/relationships/hdphoto" Target="../media/hdphoto1.wdp"/><Relationship Id="rId21" Type="http://schemas.openxmlformats.org/officeDocument/2006/relationships/image" Target="../media/image39.png"/><Relationship Id="rId34" Type="http://schemas.openxmlformats.org/officeDocument/2006/relationships/image" Target="../media/image52.png"/><Relationship Id="rId7" Type="http://schemas.microsoft.com/office/2007/relationships/hdphoto" Target="../media/hdphoto3.wdp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43.png"/><Relationship Id="rId33" Type="http://schemas.openxmlformats.org/officeDocument/2006/relationships/image" Target="../media/image51.png"/><Relationship Id="rId2" Type="http://schemas.openxmlformats.org/officeDocument/2006/relationships/image" Target="../media/image7.png"/><Relationship Id="rId16" Type="http://schemas.openxmlformats.org/officeDocument/2006/relationships/image" Target="../media/image18.png"/><Relationship Id="rId20" Type="http://schemas.openxmlformats.org/officeDocument/2006/relationships/image" Target="../media/image38.png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24" Type="http://schemas.openxmlformats.org/officeDocument/2006/relationships/image" Target="../media/image42.png"/><Relationship Id="rId32" Type="http://schemas.openxmlformats.org/officeDocument/2006/relationships/image" Target="../media/image50.png"/><Relationship Id="rId5" Type="http://schemas.microsoft.com/office/2007/relationships/hdphoto" Target="../media/hdphoto2.wdp"/><Relationship Id="rId15" Type="http://schemas.openxmlformats.org/officeDocument/2006/relationships/image" Target="../media/image17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49.png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Relationship Id="rId35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 </a:t>
            </a:r>
            <a:r>
              <a:rPr lang="ru-RU" dirty="0"/>
              <a:t>Салыштыруу оюну</a:t>
            </a:r>
            <a:r>
              <a:rPr lang="ky-KG" dirty="0"/>
              <a:t> 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</a:t>
            </a:r>
            <a:r>
              <a:rPr lang="en-US" dirty="0"/>
              <a:t>көр</a:t>
            </a:r>
            <a:r>
              <a:rPr lang="ru-RU" dirty="0"/>
              <a:t>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86080" y="612844"/>
            <a:ext cx="990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Төрт амал – баалулуктар жарышы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сынактык иш-чарада окуучулар карталардагы атрибуттардын баалуулуктарын салыштырышат.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Эң чоң мааниге ээ окуучу же топ жеңет.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1-10, 11-20, 21-30 жана 31-40 барган сайын татаалдашат.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Карталарды татаалдыгына жараша чогуу же өзүнчө бөлүп колдонсо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иш бүтүндөй класс (ар бири бир карта), топтордун ичинде (2+) 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аткарылышы мүмкүн.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мугалим бүт класска каршы ойнойт (ар бири бирден карта менен).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класс экиге бөлүнүп, эки тарап болуп ойносо болот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(мини-тактай жана/же калькулятор менен).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D06286-0CFB-3052-7CA6-AA9DFAA174C6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3008F517-FE13-B4F0-BF9D-D37BCA9E8A9C}"/>
              </a:ext>
            </a:extLst>
          </p:cNvPr>
          <p:cNvGrpSpPr/>
          <p:nvPr/>
        </p:nvGrpSpPr>
        <p:grpSpPr>
          <a:xfrm>
            <a:off x="461246" y="1901654"/>
            <a:ext cx="7214058" cy="4711513"/>
            <a:chOff x="346710" y="356888"/>
            <a:chExt cx="6845313" cy="481029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60E6CB-E743-B507-63B1-8F72B08C4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10" y="356888"/>
              <a:ext cx="1488545" cy="1230376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6CF7553-C4DE-E0B2-02D6-8D3861722A39}"/>
                </a:ext>
              </a:extLst>
            </p:cNvPr>
            <p:cNvGrpSpPr/>
            <p:nvPr/>
          </p:nvGrpSpPr>
          <p:grpSpPr>
            <a:xfrm>
              <a:off x="498258" y="1616177"/>
              <a:ext cx="6693765" cy="3551005"/>
              <a:chOff x="2778386" y="1401995"/>
              <a:chExt cx="6693765" cy="3551005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D2B48BB-2EF7-F1CF-FF32-173D9BA9313E}"/>
                  </a:ext>
                </a:extLst>
              </p:cNvPr>
              <p:cNvGrpSpPr/>
              <p:nvPr/>
            </p:nvGrpSpPr>
            <p:grpSpPr>
              <a:xfrm>
                <a:off x="2778386" y="1401995"/>
                <a:ext cx="5300375" cy="3551005"/>
                <a:chOff x="2778386" y="1401995"/>
                <a:chExt cx="5300375" cy="3551005"/>
              </a:xfrm>
            </p:grpSpPr>
            <p:sp>
              <p:nvSpPr>
                <p:cNvPr id="2" name="Rectangle: Rounded Corners 1">
                  <a:extLst>
                    <a:ext uri="{FF2B5EF4-FFF2-40B4-BE49-F238E27FC236}">
                      <a16:creationId xmlns:a16="http://schemas.microsoft.com/office/drawing/2014/main" id="{03ECB896-1B55-CDCA-1631-ECE769BCCB17}"/>
                    </a:ext>
                  </a:extLst>
                </p:cNvPr>
                <p:cNvSpPr/>
                <p:nvPr/>
              </p:nvSpPr>
              <p:spPr>
                <a:xfrm>
                  <a:off x="2837699" y="1401995"/>
                  <a:ext cx="3423920" cy="3550916"/>
                </a:xfrm>
                <a:custGeom>
                  <a:avLst/>
                  <a:gdLst>
                    <a:gd name="connsiteX0" fmla="*/ 0 w 3423920"/>
                    <a:gd name="connsiteY0" fmla="*/ 570665 h 3550916"/>
                    <a:gd name="connsiteX1" fmla="*/ 570665 w 3423920"/>
                    <a:gd name="connsiteY1" fmla="*/ 0 h 3550916"/>
                    <a:gd name="connsiteX2" fmla="*/ 1141313 w 3423920"/>
                    <a:gd name="connsiteY2" fmla="*/ 0 h 3550916"/>
                    <a:gd name="connsiteX3" fmla="*/ 1666308 w 3423920"/>
                    <a:gd name="connsiteY3" fmla="*/ 0 h 3550916"/>
                    <a:gd name="connsiteX4" fmla="*/ 2259782 w 3423920"/>
                    <a:gd name="connsiteY4" fmla="*/ 0 h 3550916"/>
                    <a:gd name="connsiteX5" fmla="*/ 2853255 w 3423920"/>
                    <a:gd name="connsiteY5" fmla="*/ 0 h 3550916"/>
                    <a:gd name="connsiteX6" fmla="*/ 3423920 w 3423920"/>
                    <a:gd name="connsiteY6" fmla="*/ 570665 h 3550916"/>
                    <a:gd name="connsiteX7" fmla="*/ 3423920 w 3423920"/>
                    <a:gd name="connsiteY7" fmla="*/ 1052582 h 3550916"/>
                    <a:gd name="connsiteX8" fmla="*/ 3423920 w 3423920"/>
                    <a:gd name="connsiteY8" fmla="*/ 1486308 h 3550916"/>
                    <a:gd name="connsiteX9" fmla="*/ 3423920 w 3423920"/>
                    <a:gd name="connsiteY9" fmla="*/ 1895937 h 3550916"/>
                    <a:gd name="connsiteX10" fmla="*/ 3423920 w 3423920"/>
                    <a:gd name="connsiteY10" fmla="*/ 2329663 h 3550916"/>
                    <a:gd name="connsiteX11" fmla="*/ 3423920 w 3423920"/>
                    <a:gd name="connsiteY11" fmla="*/ 2980251 h 3550916"/>
                    <a:gd name="connsiteX12" fmla="*/ 2853255 w 3423920"/>
                    <a:gd name="connsiteY12" fmla="*/ 3550916 h 3550916"/>
                    <a:gd name="connsiteX13" fmla="*/ 2328259 w 3423920"/>
                    <a:gd name="connsiteY13" fmla="*/ 3550916 h 3550916"/>
                    <a:gd name="connsiteX14" fmla="*/ 1780438 w 3423920"/>
                    <a:gd name="connsiteY14" fmla="*/ 3550916 h 3550916"/>
                    <a:gd name="connsiteX15" fmla="*/ 1209790 w 3423920"/>
                    <a:gd name="connsiteY15" fmla="*/ 3550916 h 3550916"/>
                    <a:gd name="connsiteX16" fmla="*/ 570665 w 3423920"/>
                    <a:gd name="connsiteY16" fmla="*/ 3550916 h 3550916"/>
                    <a:gd name="connsiteX17" fmla="*/ 0 w 3423920"/>
                    <a:gd name="connsiteY17" fmla="*/ 2980251 h 3550916"/>
                    <a:gd name="connsiteX18" fmla="*/ 0 w 3423920"/>
                    <a:gd name="connsiteY18" fmla="*/ 2498334 h 3550916"/>
                    <a:gd name="connsiteX19" fmla="*/ 0 w 3423920"/>
                    <a:gd name="connsiteY19" fmla="*/ 1992321 h 3550916"/>
                    <a:gd name="connsiteX20" fmla="*/ 0 w 3423920"/>
                    <a:gd name="connsiteY20" fmla="*/ 1534499 h 3550916"/>
                    <a:gd name="connsiteX21" fmla="*/ 0 w 3423920"/>
                    <a:gd name="connsiteY21" fmla="*/ 1028486 h 3550916"/>
                    <a:gd name="connsiteX22" fmla="*/ 0 w 3423920"/>
                    <a:gd name="connsiteY22" fmla="*/ 570665 h 3550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423920" h="3550916" fill="none" extrusionOk="0">
                      <a:moveTo>
                        <a:pt x="0" y="570665"/>
                      </a:moveTo>
                      <a:cubicBezTo>
                        <a:pt x="-29610" y="253819"/>
                        <a:pt x="267827" y="10617"/>
                        <a:pt x="570665" y="0"/>
                      </a:cubicBezTo>
                      <a:cubicBezTo>
                        <a:pt x="819472" y="-6014"/>
                        <a:pt x="929442" y="44990"/>
                        <a:pt x="1141313" y="0"/>
                      </a:cubicBezTo>
                      <a:cubicBezTo>
                        <a:pt x="1353184" y="-44990"/>
                        <a:pt x="1481601" y="60425"/>
                        <a:pt x="1666308" y="0"/>
                      </a:cubicBezTo>
                      <a:cubicBezTo>
                        <a:pt x="1851015" y="-60425"/>
                        <a:pt x="2111081" y="53525"/>
                        <a:pt x="2259782" y="0"/>
                      </a:cubicBezTo>
                      <a:cubicBezTo>
                        <a:pt x="2408483" y="-53525"/>
                        <a:pt x="2600016" y="1979"/>
                        <a:pt x="2853255" y="0"/>
                      </a:cubicBezTo>
                      <a:cubicBezTo>
                        <a:pt x="3166374" y="6393"/>
                        <a:pt x="3397112" y="171072"/>
                        <a:pt x="3423920" y="570665"/>
                      </a:cubicBezTo>
                      <a:cubicBezTo>
                        <a:pt x="3460516" y="737873"/>
                        <a:pt x="3417877" y="889447"/>
                        <a:pt x="3423920" y="1052582"/>
                      </a:cubicBezTo>
                      <a:cubicBezTo>
                        <a:pt x="3429963" y="1215717"/>
                        <a:pt x="3384047" y="1290742"/>
                        <a:pt x="3423920" y="1486308"/>
                      </a:cubicBezTo>
                      <a:cubicBezTo>
                        <a:pt x="3463793" y="1681874"/>
                        <a:pt x="3383829" y="1764785"/>
                        <a:pt x="3423920" y="1895937"/>
                      </a:cubicBezTo>
                      <a:cubicBezTo>
                        <a:pt x="3464011" y="2027089"/>
                        <a:pt x="3395496" y="2115202"/>
                        <a:pt x="3423920" y="2329663"/>
                      </a:cubicBezTo>
                      <a:cubicBezTo>
                        <a:pt x="3452344" y="2544124"/>
                        <a:pt x="3389770" y="2783904"/>
                        <a:pt x="3423920" y="2980251"/>
                      </a:cubicBezTo>
                      <a:cubicBezTo>
                        <a:pt x="3440929" y="3290919"/>
                        <a:pt x="3157088" y="3629445"/>
                        <a:pt x="2853255" y="3550916"/>
                      </a:cubicBezTo>
                      <a:cubicBezTo>
                        <a:pt x="2675416" y="3596528"/>
                        <a:pt x="2533690" y="3495880"/>
                        <a:pt x="2328259" y="3550916"/>
                      </a:cubicBezTo>
                      <a:cubicBezTo>
                        <a:pt x="2122828" y="3605952"/>
                        <a:pt x="1961174" y="3526594"/>
                        <a:pt x="1780438" y="3550916"/>
                      </a:cubicBezTo>
                      <a:cubicBezTo>
                        <a:pt x="1599702" y="3575238"/>
                        <a:pt x="1482250" y="3526844"/>
                        <a:pt x="1209790" y="3550916"/>
                      </a:cubicBezTo>
                      <a:cubicBezTo>
                        <a:pt x="937330" y="3574988"/>
                        <a:pt x="834541" y="3475913"/>
                        <a:pt x="570665" y="3550916"/>
                      </a:cubicBezTo>
                      <a:cubicBezTo>
                        <a:pt x="278627" y="3610374"/>
                        <a:pt x="50688" y="3319001"/>
                        <a:pt x="0" y="2980251"/>
                      </a:cubicBezTo>
                      <a:cubicBezTo>
                        <a:pt x="-8003" y="2816643"/>
                        <a:pt x="42008" y="2610494"/>
                        <a:pt x="0" y="2498334"/>
                      </a:cubicBezTo>
                      <a:cubicBezTo>
                        <a:pt x="-42008" y="2386174"/>
                        <a:pt x="1795" y="2237285"/>
                        <a:pt x="0" y="1992321"/>
                      </a:cubicBezTo>
                      <a:cubicBezTo>
                        <a:pt x="-1795" y="1747357"/>
                        <a:pt x="37088" y="1672647"/>
                        <a:pt x="0" y="1534499"/>
                      </a:cubicBezTo>
                      <a:cubicBezTo>
                        <a:pt x="-37088" y="1396351"/>
                        <a:pt x="13778" y="1236015"/>
                        <a:pt x="0" y="1028486"/>
                      </a:cubicBezTo>
                      <a:cubicBezTo>
                        <a:pt x="-13778" y="820957"/>
                        <a:pt x="43009" y="693639"/>
                        <a:pt x="0" y="570665"/>
                      </a:cubicBezTo>
                      <a:close/>
                    </a:path>
                    <a:path w="3423920" h="3550916" stroke="0" extrusionOk="0">
                      <a:moveTo>
                        <a:pt x="0" y="570665"/>
                      </a:moveTo>
                      <a:cubicBezTo>
                        <a:pt x="-27231" y="238699"/>
                        <a:pt x="243739" y="4412"/>
                        <a:pt x="570665" y="0"/>
                      </a:cubicBezTo>
                      <a:cubicBezTo>
                        <a:pt x="773291" y="-20899"/>
                        <a:pt x="1016732" y="15463"/>
                        <a:pt x="1186964" y="0"/>
                      </a:cubicBezTo>
                      <a:cubicBezTo>
                        <a:pt x="1357196" y="-15463"/>
                        <a:pt x="1492923" y="11459"/>
                        <a:pt x="1734786" y="0"/>
                      </a:cubicBezTo>
                      <a:cubicBezTo>
                        <a:pt x="1976649" y="-11459"/>
                        <a:pt x="2134610" y="34532"/>
                        <a:pt x="2259782" y="0"/>
                      </a:cubicBezTo>
                      <a:cubicBezTo>
                        <a:pt x="2384954" y="-34532"/>
                        <a:pt x="2604945" y="24797"/>
                        <a:pt x="2853255" y="0"/>
                      </a:cubicBezTo>
                      <a:cubicBezTo>
                        <a:pt x="3198043" y="-60954"/>
                        <a:pt x="3382139" y="249097"/>
                        <a:pt x="3423920" y="570665"/>
                      </a:cubicBezTo>
                      <a:cubicBezTo>
                        <a:pt x="3472102" y="800004"/>
                        <a:pt x="3381995" y="933797"/>
                        <a:pt x="3423920" y="1052582"/>
                      </a:cubicBezTo>
                      <a:cubicBezTo>
                        <a:pt x="3465845" y="1171367"/>
                        <a:pt x="3416306" y="1318385"/>
                        <a:pt x="3423920" y="1582691"/>
                      </a:cubicBezTo>
                      <a:cubicBezTo>
                        <a:pt x="3431534" y="1846997"/>
                        <a:pt x="3393856" y="1904367"/>
                        <a:pt x="3423920" y="1992321"/>
                      </a:cubicBezTo>
                      <a:cubicBezTo>
                        <a:pt x="3453984" y="2080275"/>
                        <a:pt x="3411399" y="2319382"/>
                        <a:pt x="3423920" y="2474238"/>
                      </a:cubicBezTo>
                      <a:cubicBezTo>
                        <a:pt x="3436441" y="2629094"/>
                        <a:pt x="3364480" y="2756605"/>
                        <a:pt x="3423920" y="2980251"/>
                      </a:cubicBezTo>
                      <a:cubicBezTo>
                        <a:pt x="3486717" y="3233367"/>
                        <a:pt x="3227599" y="3512760"/>
                        <a:pt x="2853255" y="3550916"/>
                      </a:cubicBezTo>
                      <a:cubicBezTo>
                        <a:pt x="2686888" y="3615793"/>
                        <a:pt x="2539793" y="3498495"/>
                        <a:pt x="2282608" y="3550916"/>
                      </a:cubicBezTo>
                      <a:cubicBezTo>
                        <a:pt x="2025423" y="3603337"/>
                        <a:pt x="1910377" y="3522299"/>
                        <a:pt x="1757612" y="3550916"/>
                      </a:cubicBezTo>
                      <a:cubicBezTo>
                        <a:pt x="1604847" y="3579533"/>
                        <a:pt x="1311779" y="3511102"/>
                        <a:pt x="1186964" y="3550916"/>
                      </a:cubicBezTo>
                      <a:cubicBezTo>
                        <a:pt x="1062149" y="3590730"/>
                        <a:pt x="865594" y="3483379"/>
                        <a:pt x="570665" y="3550916"/>
                      </a:cubicBezTo>
                      <a:cubicBezTo>
                        <a:pt x="227339" y="3466217"/>
                        <a:pt x="28933" y="3289543"/>
                        <a:pt x="0" y="2980251"/>
                      </a:cubicBezTo>
                      <a:cubicBezTo>
                        <a:pt x="-18786" y="2885012"/>
                        <a:pt x="39025" y="2654457"/>
                        <a:pt x="0" y="2570621"/>
                      </a:cubicBezTo>
                      <a:cubicBezTo>
                        <a:pt x="-39025" y="2486785"/>
                        <a:pt x="59888" y="2231031"/>
                        <a:pt x="0" y="2040512"/>
                      </a:cubicBezTo>
                      <a:cubicBezTo>
                        <a:pt x="-59888" y="1849993"/>
                        <a:pt x="52540" y="1735148"/>
                        <a:pt x="0" y="1558595"/>
                      </a:cubicBezTo>
                      <a:cubicBezTo>
                        <a:pt x="-52540" y="1382042"/>
                        <a:pt x="8994" y="1271855"/>
                        <a:pt x="0" y="1124870"/>
                      </a:cubicBezTo>
                      <a:cubicBezTo>
                        <a:pt x="-8994" y="977886"/>
                        <a:pt x="24271" y="817946"/>
                        <a:pt x="0" y="570665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0879603-9A75-AAC1-EDDB-5D734375DC47}"/>
                    </a:ext>
                  </a:extLst>
                </p:cNvPr>
                <p:cNvSpPr txBox="1"/>
                <p:nvPr/>
              </p:nvSpPr>
              <p:spPr>
                <a:xfrm>
                  <a:off x="3125761" y="3356490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68FAA28D-24F7-8C60-E4B3-1687BD0275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0040" y="2237642"/>
                  <a:ext cx="3430795" cy="1619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02CB878-F12E-388B-1805-CFCCB6F1BB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14320" y="3075186"/>
                  <a:ext cx="342392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0835366F-B29B-9ADD-8BF7-4E962D060F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0040" y="4097774"/>
                  <a:ext cx="33782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B1D2E00-8201-B732-282A-22CACAE7ECAE}"/>
                    </a:ext>
                  </a:extLst>
                </p:cNvPr>
                <p:cNvCxnSpPr>
                  <a:cxnSpLocks/>
                  <a:stCxn id="2" idx="0"/>
                </p:cNvCxnSpPr>
                <p:nvPr/>
              </p:nvCxnSpPr>
              <p:spPr>
                <a:xfrm flipH="1">
                  <a:off x="4549140" y="1401995"/>
                  <a:ext cx="519" cy="355100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79D8B2F-A398-5AC7-B7BC-B1960AB0CA6D}"/>
                    </a:ext>
                  </a:extLst>
                </p:cNvPr>
                <p:cNvSpPr txBox="1"/>
                <p:nvPr/>
              </p:nvSpPr>
              <p:spPr>
                <a:xfrm>
                  <a:off x="2778386" y="1692695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77AFCB7-56DB-0DD5-8A3D-C18DE1DA8D0D}"/>
                    </a:ext>
                  </a:extLst>
                </p:cNvPr>
                <p:cNvSpPr txBox="1"/>
                <p:nvPr/>
              </p:nvSpPr>
              <p:spPr>
                <a:xfrm>
                  <a:off x="3180382" y="2451504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36B0AB0-3EAF-1E16-2B9E-36461BDAED9A}"/>
                    </a:ext>
                  </a:extLst>
                </p:cNvPr>
                <p:cNvSpPr txBox="1"/>
                <p:nvPr/>
              </p:nvSpPr>
              <p:spPr>
                <a:xfrm>
                  <a:off x="3125761" y="4304883"/>
                  <a:ext cx="2123437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Эстүү</a:t>
                  </a:r>
                  <a:endParaRPr lang="en-US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6D8812A-4FCE-2160-4B37-1D8554869530}"/>
                    </a:ext>
                  </a:extLst>
                </p:cNvPr>
                <p:cNvSpPr txBox="1"/>
                <p:nvPr/>
              </p:nvSpPr>
              <p:spPr>
                <a:xfrm>
                  <a:off x="4540900" y="1660927"/>
                  <a:ext cx="207264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1+2 × 2</a:t>
                  </a:r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8DB4FF-C758-4267-55E2-B9AAF90EC5A1}"/>
                  </a:ext>
                </a:extLst>
              </p:cNvPr>
              <p:cNvSpPr txBox="1"/>
              <p:nvPr/>
            </p:nvSpPr>
            <p:spPr>
              <a:xfrm>
                <a:off x="4526279" y="2521105"/>
                <a:ext cx="3981388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3 × 2 ÷ 2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DECCABE-A98C-8C4D-40A8-A9089CAD8B94}"/>
                  </a:ext>
                </a:extLst>
              </p:cNvPr>
              <p:cNvSpPr txBox="1"/>
              <p:nvPr/>
            </p:nvSpPr>
            <p:spPr>
              <a:xfrm>
                <a:off x="4519151" y="3379303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8 ÷ 2 +10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EFDF9C1-7885-13DB-7864-327EDB3BDE87}"/>
                  </a:ext>
                </a:extLst>
              </p:cNvPr>
              <p:cNvSpPr txBox="1"/>
              <p:nvPr/>
            </p:nvSpPr>
            <p:spPr>
              <a:xfrm>
                <a:off x="4511453" y="4271827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20 ÷(3-2)</a:t>
                </a:r>
              </a:p>
            </p:txBody>
          </p:sp>
        </p:grp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3B4E849-4312-77BE-D9D2-B590BFF4DF58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Үч</a:t>
              </a:r>
              <a:r>
                <a:rPr lang="en-US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 </a:t>
              </a:r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Көз</a:t>
              </a:r>
              <a:endParaRPr lang="en-US" sz="2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CCCEC0-564E-009A-E5EA-9F9AB85C4645}"/>
              </a:ext>
            </a:extLst>
          </p:cNvPr>
          <p:cNvGrpSpPr/>
          <p:nvPr/>
        </p:nvGrpSpPr>
        <p:grpSpPr>
          <a:xfrm>
            <a:off x="5696766" y="2307152"/>
            <a:ext cx="7101389" cy="4308130"/>
            <a:chOff x="534192" y="843280"/>
            <a:chExt cx="6738403" cy="4398454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9106D2A-E4B1-A752-AF7E-D59AF5C9B879}"/>
                </a:ext>
              </a:extLst>
            </p:cNvPr>
            <p:cNvGrpSpPr/>
            <p:nvPr/>
          </p:nvGrpSpPr>
          <p:grpSpPr>
            <a:xfrm>
              <a:off x="534192" y="1690818"/>
              <a:ext cx="6738403" cy="3550916"/>
              <a:chOff x="2814320" y="1476636"/>
              <a:chExt cx="6738403" cy="3550916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A75B4CA-6A2D-DD30-7ECB-69428033E662}"/>
                  </a:ext>
                </a:extLst>
              </p:cNvPr>
              <p:cNvGrpSpPr/>
              <p:nvPr/>
            </p:nvGrpSpPr>
            <p:grpSpPr>
              <a:xfrm>
                <a:off x="2814320" y="1476636"/>
                <a:ext cx="5300236" cy="3550916"/>
                <a:chOff x="2814320" y="1476636"/>
                <a:chExt cx="5300236" cy="3550916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F9D8A813-F62F-1B5C-A353-3A8DC794D809}"/>
                    </a:ext>
                  </a:extLst>
                </p:cNvPr>
                <p:cNvSpPr/>
                <p:nvPr/>
              </p:nvSpPr>
              <p:spPr>
                <a:xfrm>
                  <a:off x="2866915" y="1476636"/>
                  <a:ext cx="3423920" cy="3550916"/>
                </a:xfrm>
                <a:custGeom>
                  <a:avLst/>
                  <a:gdLst>
                    <a:gd name="connsiteX0" fmla="*/ 0 w 3423920"/>
                    <a:gd name="connsiteY0" fmla="*/ 570665 h 3550916"/>
                    <a:gd name="connsiteX1" fmla="*/ 570665 w 3423920"/>
                    <a:gd name="connsiteY1" fmla="*/ 0 h 3550916"/>
                    <a:gd name="connsiteX2" fmla="*/ 1141313 w 3423920"/>
                    <a:gd name="connsiteY2" fmla="*/ 0 h 3550916"/>
                    <a:gd name="connsiteX3" fmla="*/ 1666308 w 3423920"/>
                    <a:gd name="connsiteY3" fmla="*/ 0 h 3550916"/>
                    <a:gd name="connsiteX4" fmla="*/ 2259782 w 3423920"/>
                    <a:gd name="connsiteY4" fmla="*/ 0 h 3550916"/>
                    <a:gd name="connsiteX5" fmla="*/ 2853255 w 3423920"/>
                    <a:gd name="connsiteY5" fmla="*/ 0 h 3550916"/>
                    <a:gd name="connsiteX6" fmla="*/ 3423920 w 3423920"/>
                    <a:gd name="connsiteY6" fmla="*/ 570665 h 3550916"/>
                    <a:gd name="connsiteX7" fmla="*/ 3423920 w 3423920"/>
                    <a:gd name="connsiteY7" fmla="*/ 1052582 h 3550916"/>
                    <a:gd name="connsiteX8" fmla="*/ 3423920 w 3423920"/>
                    <a:gd name="connsiteY8" fmla="*/ 1486308 h 3550916"/>
                    <a:gd name="connsiteX9" fmla="*/ 3423920 w 3423920"/>
                    <a:gd name="connsiteY9" fmla="*/ 1895937 h 3550916"/>
                    <a:gd name="connsiteX10" fmla="*/ 3423920 w 3423920"/>
                    <a:gd name="connsiteY10" fmla="*/ 2329663 h 3550916"/>
                    <a:gd name="connsiteX11" fmla="*/ 3423920 w 3423920"/>
                    <a:gd name="connsiteY11" fmla="*/ 2980251 h 3550916"/>
                    <a:gd name="connsiteX12" fmla="*/ 2853255 w 3423920"/>
                    <a:gd name="connsiteY12" fmla="*/ 3550916 h 3550916"/>
                    <a:gd name="connsiteX13" fmla="*/ 2328259 w 3423920"/>
                    <a:gd name="connsiteY13" fmla="*/ 3550916 h 3550916"/>
                    <a:gd name="connsiteX14" fmla="*/ 1780438 w 3423920"/>
                    <a:gd name="connsiteY14" fmla="*/ 3550916 h 3550916"/>
                    <a:gd name="connsiteX15" fmla="*/ 1209790 w 3423920"/>
                    <a:gd name="connsiteY15" fmla="*/ 3550916 h 3550916"/>
                    <a:gd name="connsiteX16" fmla="*/ 570665 w 3423920"/>
                    <a:gd name="connsiteY16" fmla="*/ 3550916 h 3550916"/>
                    <a:gd name="connsiteX17" fmla="*/ 0 w 3423920"/>
                    <a:gd name="connsiteY17" fmla="*/ 2980251 h 3550916"/>
                    <a:gd name="connsiteX18" fmla="*/ 0 w 3423920"/>
                    <a:gd name="connsiteY18" fmla="*/ 2498334 h 3550916"/>
                    <a:gd name="connsiteX19" fmla="*/ 0 w 3423920"/>
                    <a:gd name="connsiteY19" fmla="*/ 1992321 h 3550916"/>
                    <a:gd name="connsiteX20" fmla="*/ 0 w 3423920"/>
                    <a:gd name="connsiteY20" fmla="*/ 1534499 h 3550916"/>
                    <a:gd name="connsiteX21" fmla="*/ 0 w 3423920"/>
                    <a:gd name="connsiteY21" fmla="*/ 1028486 h 3550916"/>
                    <a:gd name="connsiteX22" fmla="*/ 0 w 3423920"/>
                    <a:gd name="connsiteY22" fmla="*/ 570665 h 3550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423920" h="3550916" fill="none" extrusionOk="0">
                      <a:moveTo>
                        <a:pt x="0" y="570665"/>
                      </a:moveTo>
                      <a:cubicBezTo>
                        <a:pt x="-29610" y="253819"/>
                        <a:pt x="267827" y="10617"/>
                        <a:pt x="570665" y="0"/>
                      </a:cubicBezTo>
                      <a:cubicBezTo>
                        <a:pt x="819472" y="-6014"/>
                        <a:pt x="929442" y="44990"/>
                        <a:pt x="1141313" y="0"/>
                      </a:cubicBezTo>
                      <a:cubicBezTo>
                        <a:pt x="1353184" y="-44990"/>
                        <a:pt x="1481601" y="60425"/>
                        <a:pt x="1666308" y="0"/>
                      </a:cubicBezTo>
                      <a:cubicBezTo>
                        <a:pt x="1851015" y="-60425"/>
                        <a:pt x="2111081" y="53525"/>
                        <a:pt x="2259782" y="0"/>
                      </a:cubicBezTo>
                      <a:cubicBezTo>
                        <a:pt x="2408483" y="-53525"/>
                        <a:pt x="2600016" y="1979"/>
                        <a:pt x="2853255" y="0"/>
                      </a:cubicBezTo>
                      <a:cubicBezTo>
                        <a:pt x="3166374" y="6393"/>
                        <a:pt x="3397112" y="171072"/>
                        <a:pt x="3423920" y="570665"/>
                      </a:cubicBezTo>
                      <a:cubicBezTo>
                        <a:pt x="3460516" y="737873"/>
                        <a:pt x="3417877" y="889447"/>
                        <a:pt x="3423920" y="1052582"/>
                      </a:cubicBezTo>
                      <a:cubicBezTo>
                        <a:pt x="3429963" y="1215717"/>
                        <a:pt x="3384047" y="1290742"/>
                        <a:pt x="3423920" y="1486308"/>
                      </a:cubicBezTo>
                      <a:cubicBezTo>
                        <a:pt x="3463793" y="1681874"/>
                        <a:pt x="3383829" y="1764785"/>
                        <a:pt x="3423920" y="1895937"/>
                      </a:cubicBezTo>
                      <a:cubicBezTo>
                        <a:pt x="3464011" y="2027089"/>
                        <a:pt x="3395496" y="2115202"/>
                        <a:pt x="3423920" y="2329663"/>
                      </a:cubicBezTo>
                      <a:cubicBezTo>
                        <a:pt x="3452344" y="2544124"/>
                        <a:pt x="3389770" y="2783904"/>
                        <a:pt x="3423920" y="2980251"/>
                      </a:cubicBezTo>
                      <a:cubicBezTo>
                        <a:pt x="3440929" y="3290919"/>
                        <a:pt x="3157088" y="3629445"/>
                        <a:pt x="2853255" y="3550916"/>
                      </a:cubicBezTo>
                      <a:cubicBezTo>
                        <a:pt x="2675416" y="3596528"/>
                        <a:pt x="2533690" y="3495880"/>
                        <a:pt x="2328259" y="3550916"/>
                      </a:cubicBezTo>
                      <a:cubicBezTo>
                        <a:pt x="2122828" y="3605952"/>
                        <a:pt x="1961174" y="3526594"/>
                        <a:pt x="1780438" y="3550916"/>
                      </a:cubicBezTo>
                      <a:cubicBezTo>
                        <a:pt x="1599702" y="3575238"/>
                        <a:pt x="1482250" y="3526844"/>
                        <a:pt x="1209790" y="3550916"/>
                      </a:cubicBezTo>
                      <a:cubicBezTo>
                        <a:pt x="937330" y="3574988"/>
                        <a:pt x="834541" y="3475913"/>
                        <a:pt x="570665" y="3550916"/>
                      </a:cubicBezTo>
                      <a:cubicBezTo>
                        <a:pt x="278627" y="3610374"/>
                        <a:pt x="50688" y="3319001"/>
                        <a:pt x="0" y="2980251"/>
                      </a:cubicBezTo>
                      <a:cubicBezTo>
                        <a:pt x="-8003" y="2816643"/>
                        <a:pt x="42008" y="2610494"/>
                        <a:pt x="0" y="2498334"/>
                      </a:cubicBezTo>
                      <a:cubicBezTo>
                        <a:pt x="-42008" y="2386174"/>
                        <a:pt x="1795" y="2237285"/>
                        <a:pt x="0" y="1992321"/>
                      </a:cubicBezTo>
                      <a:cubicBezTo>
                        <a:pt x="-1795" y="1747357"/>
                        <a:pt x="37088" y="1672647"/>
                        <a:pt x="0" y="1534499"/>
                      </a:cubicBezTo>
                      <a:cubicBezTo>
                        <a:pt x="-37088" y="1396351"/>
                        <a:pt x="13778" y="1236015"/>
                        <a:pt x="0" y="1028486"/>
                      </a:cubicBezTo>
                      <a:cubicBezTo>
                        <a:pt x="-13778" y="820957"/>
                        <a:pt x="43009" y="693639"/>
                        <a:pt x="0" y="570665"/>
                      </a:cubicBezTo>
                      <a:close/>
                    </a:path>
                    <a:path w="3423920" h="3550916" stroke="0" extrusionOk="0">
                      <a:moveTo>
                        <a:pt x="0" y="570665"/>
                      </a:moveTo>
                      <a:cubicBezTo>
                        <a:pt x="-27231" y="238699"/>
                        <a:pt x="243739" y="4412"/>
                        <a:pt x="570665" y="0"/>
                      </a:cubicBezTo>
                      <a:cubicBezTo>
                        <a:pt x="773291" y="-20899"/>
                        <a:pt x="1016732" y="15463"/>
                        <a:pt x="1186964" y="0"/>
                      </a:cubicBezTo>
                      <a:cubicBezTo>
                        <a:pt x="1357196" y="-15463"/>
                        <a:pt x="1492923" y="11459"/>
                        <a:pt x="1734786" y="0"/>
                      </a:cubicBezTo>
                      <a:cubicBezTo>
                        <a:pt x="1976649" y="-11459"/>
                        <a:pt x="2134610" y="34532"/>
                        <a:pt x="2259782" y="0"/>
                      </a:cubicBezTo>
                      <a:cubicBezTo>
                        <a:pt x="2384954" y="-34532"/>
                        <a:pt x="2604945" y="24797"/>
                        <a:pt x="2853255" y="0"/>
                      </a:cubicBezTo>
                      <a:cubicBezTo>
                        <a:pt x="3198043" y="-60954"/>
                        <a:pt x="3382139" y="249097"/>
                        <a:pt x="3423920" y="570665"/>
                      </a:cubicBezTo>
                      <a:cubicBezTo>
                        <a:pt x="3472102" y="800004"/>
                        <a:pt x="3381995" y="933797"/>
                        <a:pt x="3423920" y="1052582"/>
                      </a:cubicBezTo>
                      <a:cubicBezTo>
                        <a:pt x="3465845" y="1171367"/>
                        <a:pt x="3416306" y="1318385"/>
                        <a:pt x="3423920" y="1582691"/>
                      </a:cubicBezTo>
                      <a:cubicBezTo>
                        <a:pt x="3431534" y="1846997"/>
                        <a:pt x="3393856" y="1904367"/>
                        <a:pt x="3423920" y="1992321"/>
                      </a:cubicBezTo>
                      <a:cubicBezTo>
                        <a:pt x="3453984" y="2080275"/>
                        <a:pt x="3411399" y="2319382"/>
                        <a:pt x="3423920" y="2474238"/>
                      </a:cubicBezTo>
                      <a:cubicBezTo>
                        <a:pt x="3436441" y="2629094"/>
                        <a:pt x="3364480" y="2756605"/>
                        <a:pt x="3423920" y="2980251"/>
                      </a:cubicBezTo>
                      <a:cubicBezTo>
                        <a:pt x="3486717" y="3233367"/>
                        <a:pt x="3227599" y="3512760"/>
                        <a:pt x="2853255" y="3550916"/>
                      </a:cubicBezTo>
                      <a:cubicBezTo>
                        <a:pt x="2686888" y="3615793"/>
                        <a:pt x="2539793" y="3498495"/>
                        <a:pt x="2282608" y="3550916"/>
                      </a:cubicBezTo>
                      <a:cubicBezTo>
                        <a:pt x="2025423" y="3603337"/>
                        <a:pt x="1910377" y="3522299"/>
                        <a:pt x="1757612" y="3550916"/>
                      </a:cubicBezTo>
                      <a:cubicBezTo>
                        <a:pt x="1604847" y="3579533"/>
                        <a:pt x="1311779" y="3511102"/>
                        <a:pt x="1186964" y="3550916"/>
                      </a:cubicBezTo>
                      <a:cubicBezTo>
                        <a:pt x="1062149" y="3590730"/>
                        <a:pt x="865594" y="3483379"/>
                        <a:pt x="570665" y="3550916"/>
                      </a:cubicBezTo>
                      <a:cubicBezTo>
                        <a:pt x="227339" y="3466217"/>
                        <a:pt x="28933" y="3289543"/>
                        <a:pt x="0" y="2980251"/>
                      </a:cubicBezTo>
                      <a:cubicBezTo>
                        <a:pt x="-18786" y="2885012"/>
                        <a:pt x="39025" y="2654457"/>
                        <a:pt x="0" y="2570621"/>
                      </a:cubicBezTo>
                      <a:cubicBezTo>
                        <a:pt x="-39025" y="2486785"/>
                        <a:pt x="59888" y="2231031"/>
                        <a:pt x="0" y="2040512"/>
                      </a:cubicBezTo>
                      <a:cubicBezTo>
                        <a:pt x="-59888" y="1849993"/>
                        <a:pt x="52540" y="1735148"/>
                        <a:pt x="0" y="1558595"/>
                      </a:cubicBezTo>
                      <a:cubicBezTo>
                        <a:pt x="-52540" y="1382042"/>
                        <a:pt x="8994" y="1271855"/>
                        <a:pt x="0" y="1124870"/>
                      </a:cubicBezTo>
                      <a:cubicBezTo>
                        <a:pt x="-8994" y="977886"/>
                        <a:pt x="24271" y="817946"/>
                        <a:pt x="0" y="570665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2F344C8-B62A-94A8-8316-0F1B45C5106B}"/>
                    </a:ext>
                  </a:extLst>
                </p:cNvPr>
                <p:cNvSpPr txBox="1"/>
                <p:nvPr/>
              </p:nvSpPr>
              <p:spPr>
                <a:xfrm>
                  <a:off x="3161556" y="3408464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98F6649-FE9F-E471-0AF4-C417B25F79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6118" y="2231068"/>
                  <a:ext cx="3382122" cy="277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8DA08E5-5BEB-9658-4916-B52AA6E856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14320" y="3075186"/>
                  <a:ext cx="3476515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1E0DB6E1-67BE-3BA5-881D-4BB80078EF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0040" y="4097774"/>
                  <a:ext cx="33782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3E1D989-0330-59AE-36A6-5E2453F505A9}"/>
                    </a:ext>
                  </a:extLst>
                </p:cNvPr>
                <p:cNvCxnSpPr>
                  <a:cxnSpLocks/>
                  <a:stCxn id="42" idx="0"/>
                </p:cNvCxnSpPr>
                <p:nvPr/>
              </p:nvCxnSpPr>
              <p:spPr>
                <a:xfrm flipH="1">
                  <a:off x="4549140" y="1476636"/>
                  <a:ext cx="29735" cy="347636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217801D-DDC9-EE20-1DDD-30CD4D23857E}"/>
                    </a:ext>
                  </a:extLst>
                </p:cNvPr>
                <p:cNvSpPr txBox="1"/>
                <p:nvPr/>
              </p:nvSpPr>
              <p:spPr>
                <a:xfrm>
                  <a:off x="2829718" y="1744153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45AD7CE-8705-71C5-44DE-63315AB32A08}"/>
                    </a:ext>
                  </a:extLst>
                </p:cNvPr>
                <p:cNvSpPr txBox="1"/>
                <p:nvPr/>
              </p:nvSpPr>
              <p:spPr>
                <a:xfrm>
                  <a:off x="3093291" y="2493557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2336DD4-1BCF-7DE5-6AA0-6E157F7378B8}"/>
                    </a:ext>
                  </a:extLst>
                </p:cNvPr>
                <p:cNvSpPr txBox="1"/>
                <p:nvPr/>
              </p:nvSpPr>
              <p:spPr>
                <a:xfrm>
                  <a:off x="3093291" y="4286133"/>
                  <a:ext cx="2123437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Эстүү</a:t>
                  </a:r>
                  <a:endParaRPr lang="en-US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0400D44-5803-BD02-644A-B42BB23E6D15}"/>
                    </a:ext>
                  </a:extLst>
                </p:cNvPr>
                <p:cNvSpPr txBox="1"/>
                <p:nvPr/>
              </p:nvSpPr>
              <p:spPr>
                <a:xfrm>
                  <a:off x="4589777" y="1711143"/>
                  <a:ext cx="201645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30÷2+13</a:t>
                  </a:r>
                </a:p>
              </p:txBody>
            </p: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E3D4D69-C8D0-38A3-1BA6-A9BE2FBAACEB}"/>
                  </a:ext>
                </a:extLst>
              </p:cNvPr>
              <p:cNvSpPr txBox="1"/>
              <p:nvPr/>
            </p:nvSpPr>
            <p:spPr>
              <a:xfrm>
                <a:off x="4547179" y="2447390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1</a:t>
                </a:r>
                <a:r>
                  <a:rPr lang="ru-RU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0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+2</a:t>
                </a:r>
                <a:r>
                  <a:rPr lang="ru-RU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0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×2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F2361C6-063A-C238-357E-9E19FE9207F7}"/>
                  </a:ext>
                </a:extLst>
              </p:cNvPr>
              <p:cNvSpPr txBox="1"/>
              <p:nvPr/>
            </p:nvSpPr>
            <p:spPr>
              <a:xfrm>
                <a:off x="4564007" y="3369285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17 - 4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 × 2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D3F9E27-2707-5A95-D221-83EDA0460842}"/>
                  </a:ext>
                </a:extLst>
              </p:cNvPr>
              <p:cNvSpPr txBox="1"/>
              <p:nvPr/>
            </p:nvSpPr>
            <p:spPr>
              <a:xfrm>
                <a:off x="4599723" y="4302660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3×(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2</a:t>
                </a:r>
                <a:r>
                  <a:rPr lang="ru-RU" sz="2400" b="1" dirty="0">
                    <a:latin typeface="Verdana" panose="020B0604030504040204" pitchFamily="34" charset="0"/>
                    <a:ea typeface="Verdana" panose="020B0604030504040204" pitchFamily="34" charset="0"/>
                  </a:rPr>
                  <a:t>+4)</a:t>
                </a:r>
                <a:endParaRPr lang="en-US" sz="2400" b="1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E223FFF-BAFF-2925-090C-CBE162024B46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400" b="1" dirty="0">
                  <a:latin typeface="Verdana" panose="020B0604030504040204" pitchFamily="34" charset="0"/>
                  <a:ea typeface="Verdana" panose="020B0604030504040204" pitchFamily="34" charset="0"/>
                </a:rPr>
                <a:t>Узун Көз</a:t>
              </a:r>
              <a:endParaRPr lang="en-US" sz="24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5AA447FC-9291-0E24-5720-6BEB61E3F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797" y="1901654"/>
            <a:ext cx="1332610" cy="1173158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03639675-BA74-87D4-2BB0-61E3B969486E}"/>
              </a:ext>
            </a:extLst>
          </p:cNvPr>
          <p:cNvSpPr/>
          <p:nvPr/>
        </p:nvSpPr>
        <p:spPr>
          <a:xfrm>
            <a:off x="3785102" y="2843737"/>
            <a:ext cx="629920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51223AE-AD51-55A9-6AC4-CE86C0B8E951}"/>
              </a:ext>
            </a:extLst>
          </p:cNvPr>
          <p:cNvSpPr/>
          <p:nvPr/>
        </p:nvSpPr>
        <p:spPr>
          <a:xfrm>
            <a:off x="8964141" y="2734981"/>
            <a:ext cx="792823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15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A9758D6-C2EB-86C6-9DF6-E0D07E629195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8F231B-6B8B-D8FF-392D-74222EBA9EEA}"/>
              </a:ext>
            </a:extLst>
          </p:cNvPr>
          <p:cNvSpPr txBox="1"/>
          <p:nvPr/>
        </p:nvSpPr>
        <p:spPr>
          <a:xfrm>
            <a:off x="804265" y="0"/>
            <a:ext cx="8014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6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Салыштыр</a:t>
            </a:r>
            <a:endParaRPr lang="en-US" sz="19900" b="1" cap="none" spc="0" dirty="0">
              <a:ln w="28575">
                <a:solidFill>
                  <a:schemeClr val="tx1"/>
                </a:solidFill>
              </a:ln>
              <a:solidFill>
                <a:srgbClr val="FF0000"/>
              </a:solidFill>
              <a:effectLst>
                <a:innerShdw blurRad="63500" dist="50800" dir="5400000">
                  <a:prstClr val="black">
                    <a:alpha val="50000"/>
                  </a:prstClr>
                </a:innerShdw>
                <a:reflection blurRad="6350" stA="60000" endA="900" endPos="60000" dist="29997" dir="5400000" sy="-100000" algn="bl" rotWithShape="0"/>
              </a:effectLst>
              <a:latin typeface="Snap ITC" panose="04040A07060A02020202" pitchFamily="82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4189081-1DAC-8D45-39DA-AEB49D58DB88}"/>
              </a:ext>
            </a:extLst>
          </p:cNvPr>
          <p:cNvSpPr/>
          <p:nvPr/>
        </p:nvSpPr>
        <p:spPr>
          <a:xfrm>
            <a:off x="3783080" y="1529228"/>
            <a:ext cx="2702660" cy="1015663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6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15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A9B3A3-C115-FE29-B5E3-E16CEFB40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557" y="136166"/>
            <a:ext cx="2540131" cy="290209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1321B-B454-4F34-B6DB-7ACEF61B9B45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165974-F268-40FF-9D3B-F406890BCF31}"/>
              </a:ext>
            </a:extLst>
          </p:cNvPr>
          <p:cNvSpPr txBox="1"/>
          <p:nvPr/>
        </p:nvSpPr>
        <p:spPr>
          <a:xfrm>
            <a:off x="1258833" y="3567105"/>
            <a:ext cx="860633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Салыштыруу үчүн бирөөнү тап!</a:t>
            </a:r>
          </a:p>
          <a:p>
            <a:endParaRPr lang="ru-RU" sz="2000" dirty="0"/>
          </a:p>
          <a:p>
            <a:r>
              <a:rPr lang="ru-RU" sz="2000" dirty="0"/>
              <a:t>Акыркы (же эң төмөнкү санды жыйынтык алган) утулган окуучу салыштыруу </a:t>
            </a:r>
          </a:p>
          <a:p>
            <a:r>
              <a:rPr lang="ru-RU" sz="2000" dirty="0"/>
              <a:t>үчүн сыпатты  тандайт.</a:t>
            </a:r>
          </a:p>
          <a:p>
            <a:endParaRPr lang="ru-RU" sz="2000" dirty="0"/>
          </a:p>
          <a:p>
            <a:r>
              <a:rPr lang="ru-RU" sz="2000" dirty="0"/>
              <a:t>Ким жеңди? (Эгер бул тең болсо, башка окуучу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Карталарды алмаштырып,  башка окуучу менен салыштыр!</a:t>
            </a:r>
          </a:p>
          <a:p>
            <a:endParaRPr lang="ru-RU" sz="2000" dirty="0"/>
          </a:p>
          <a:p>
            <a:r>
              <a:rPr lang="ru-RU" sz="2000" dirty="0"/>
              <a:t>Утуштардын суммасын каттап, жыйынтыгын чыгар!</a:t>
            </a:r>
            <a:endParaRPr lang="en-GB" sz="2000" dirty="0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C8479125-B58C-430F-A32D-D4EC3DF40C47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DC4275D-68F4-4B14-8A20-C737FE1BFF76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B302DCD7-5546-4F4A-8059-05F7C7D3DABD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EC7D5CC8-0B45-4F8F-89EB-06E2EA5AB1B1}"/>
              </a:ext>
            </a:extLst>
          </p:cNvPr>
          <p:cNvSpPr/>
          <p:nvPr/>
        </p:nvSpPr>
        <p:spPr>
          <a:xfrm>
            <a:off x="757774" y="53588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05D58129-3966-4445-BCA7-DE9F953F4D83}"/>
              </a:ext>
            </a:extLst>
          </p:cNvPr>
          <p:cNvSpPr/>
          <p:nvPr/>
        </p:nvSpPr>
        <p:spPr>
          <a:xfrm>
            <a:off x="757774" y="596848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B599B-EA1C-4C66-AFDB-696A2EDF4318}"/>
              </a:ext>
            </a:extLst>
          </p:cNvPr>
          <p:cNvSpPr/>
          <p:nvPr/>
        </p:nvSpPr>
        <p:spPr>
          <a:xfrm>
            <a:off x="3509173" y="89660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F13F2F-0637-42EE-A679-578CD4DDA4DC}"/>
              </a:ext>
            </a:extLst>
          </p:cNvPr>
          <p:cNvGrpSpPr/>
          <p:nvPr/>
        </p:nvGrpSpPr>
        <p:grpSpPr>
          <a:xfrm>
            <a:off x="5525253" y="2870881"/>
            <a:ext cx="4324902" cy="1211988"/>
            <a:chOff x="5274653" y="2954215"/>
            <a:chExt cx="4324902" cy="121198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4A9287A-0D94-4559-B6B6-45E9AACB972F}"/>
                </a:ext>
              </a:extLst>
            </p:cNvPr>
            <p:cNvSpPr/>
            <p:nvPr/>
          </p:nvSpPr>
          <p:spPr>
            <a:xfrm>
              <a:off x="5316973" y="2954215"/>
              <a:ext cx="4240265" cy="1211988"/>
            </a:xfrm>
            <a:prstGeom prst="roundRect">
              <a:avLst>
                <a:gd name="adj" fmla="val 988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C5E9211-CCDA-4A24-9C2B-091E11E367D3}"/>
                </a:ext>
              </a:extLst>
            </p:cNvPr>
            <p:cNvSpPr txBox="1"/>
            <p:nvPr/>
          </p:nvSpPr>
          <p:spPr>
            <a:xfrm>
              <a:off x="5274653" y="3052378"/>
              <a:ext cx="432490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2000" dirty="0"/>
                <a:t>Акыркы жолу утулуп калсаңыз, </a:t>
              </a:r>
            </a:p>
            <a:p>
              <a:pPr algn="ctr"/>
              <a:r>
                <a:rPr lang="ru-RU" sz="2000" dirty="0"/>
                <a:t>жаңы картаңыз менен </a:t>
              </a:r>
            </a:p>
            <a:p>
              <a:pPr algn="ctr"/>
              <a:r>
                <a:rPr lang="ru-RU" sz="2000" dirty="0"/>
                <a:t>ошол эле сыпатты колдоно албайсыз!</a:t>
              </a:r>
              <a:endParaRPr lang="en-GB" sz="2000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2F0F699-2636-A7EC-8B90-260A72274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74" y="266495"/>
            <a:ext cx="2514729" cy="30100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99897B-D185-CF6E-12CB-EFD84BB7ED72}"/>
              </a:ext>
            </a:extLst>
          </p:cNvPr>
          <p:cNvSpPr txBox="1"/>
          <p:nvPr/>
        </p:nvSpPr>
        <p:spPr>
          <a:xfrm>
            <a:off x="0" y="142148"/>
            <a:ext cx="907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СЫПАТ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335F19BE-7199-328D-E7CA-F060593F2F8B}"/>
              </a:ext>
            </a:extLst>
          </p:cNvPr>
          <p:cNvCxnSpPr>
            <a:cxnSpLocks/>
          </p:cNvCxnSpPr>
          <p:nvPr/>
        </p:nvCxnSpPr>
        <p:spPr>
          <a:xfrm rot="16200000" flipH="1">
            <a:off x="-549567" y="1365466"/>
            <a:ext cx="2438900" cy="643625"/>
          </a:xfrm>
          <a:prstGeom prst="curvedConnector3">
            <a:avLst>
              <a:gd name="adj1" fmla="val 10707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79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93FC0A-5DC5-4F49-8F43-BFA3C349A0BF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8E9F1-6DA8-4219-A25B-32201CC5B7DC}"/>
              </a:ext>
            </a:extLst>
          </p:cNvPr>
          <p:cNvSpPr txBox="1"/>
          <p:nvPr/>
        </p:nvSpPr>
        <p:spPr>
          <a:xfrm>
            <a:off x="1258833" y="3567105"/>
            <a:ext cx="847821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Карталарды өз топторуна бөлүштүрүңүз. Үстүнкү картаны гана ачып караңыз.</a:t>
            </a:r>
          </a:p>
          <a:p>
            <a:endParaRPr lang="ru-RU" sz="2000" dirty="0"/>
          </a:p>
          <a:p>
            <a:r>
              <a:rPr lang="ru-RU" sz="2000" dirty="0"/>
              <a:t>Эң жаш оюнчу биринчи салыштыруу үчүн сыпатты тандайт.</a:t>
            </a:r>
          </a:p>
          <a:p>
            <a:endParaRPr lang="ru-RU" sz="2000" dirty="0"/>
          </a:p>
          <a:p>
            <a:r>
              <a:rPr lang="ru-RU" sz="2000" dirty="0"/>
              <a:t>Ким жеңгенин карайбыз! (Эгер бул тең чыгуу болсо, сол жактагы </a:t>
            </a:r>
          </a:p>
          <a:p>
            <a:r>
              <a:rPr lang="ru-RU" sz="2000" dirty="0"/>
              <a:t>адам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Кимдин балы эң жогору болсо, ал башка окуучулардагы карталарды алат.</a:t>
            </a:r>
          </a:p>
          <a:p>
            <a:endParaRPr lang="ru-RU" sz="2000" dirty="0"/>
          </a:p>
          <a:p>
            <a:r>
              <a:rPr lang="ru-RU" sz="2000" dirty="0"/>
              <a:t>Бир оюнчуда бардык карталар болгонго чейин улантыңыз!</a:t>
            </a:r>
            <a:endParaRPr lang="en-GB" sz="2000" dirty="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CC589642-F510-49FB-8336-8BEB8454AA10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87F627D5-3242-4216-B5A2-D8F9BC54EA7E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384D25C6-EB38-4FCA-A164-C59BC66AFD0C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2E554427-1595-45F5-851F-E647B41C4679}"/>
              </a:ext>
            </a:extLst>
          </p:cNvPr>
          <p:cNvSpPr/>
          <p:nvPr/>
        </p:nvSpPr>
        <p:spPr>
          <a:xfrm>
            <a:off x="783291" y="5546651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643FC93-3E46-4E76-B66F-D82DD507466F}"/>
              </a:ext>
            </a:extLst>
          </p:cNvPr>
          <p:cNvSpPr/>
          <p:nvPr/>
        </p:nvSpPr>
        <p:spPr>
          <a:xfrm>
            <a:off x="762971" y="625280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73EA5A-2B21-20F0-7978-05209F0FC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66" y="129700"/>
            <a:ext cx="2579669" cy="31559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5116D64-148D-BB0C-D86E-6FE593DB9E02}"/>
              </a:ext>
            </a:extLst>
          </p:cNvPr>
          <p:cNvSpPr/>
          <p:nvPr/>
        </p:nvSpPr>
        <p:spPr>
          <a:xfrm>
            <a:off x="3600613" y="67308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2D8EC5-0CD7-EDFD-CAFF-634C9E850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008" y="109736"/>
            <a:ext cx="2696911" cy="305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684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63979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2CF1A0F-E435-47E8-B043-68CDD7701B68}"/>
              </a:ext>
            </a:extLst>
          </p:cNvPr>
          <p:cNvSpPr/>
          <p:nvPr/>
        </p:nvSpPr>
        <p:spPr>
          <a:xfrm>
            <a:off x="78769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Илгир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502173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AC6DB5E-E80D-4863-B2BC-FB26BC033813}"/>
              </a:ext>
            </a:extLst>
          </p:cNvPr>
          <p:cNvSpPr/>
          <p:nvPr/>
        </p:nvSpPr>
        <p:spPr>
          <a:xfrm>
            <a:off x="8650075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р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г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54097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DB9530D-1DF1-4E12-A187-DA5600AAE52B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Алгыр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7098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AA9783E-C2E9-4215-A1D5-84EC8276C54E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Чилтен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60978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8D49AC4-FD57-49E0-9D8D-A95FD08D06C2}"/>
              </a:ext>
            </a:extLst>
          </p:cNvPr>
          <p:cNvSpPr/>
          <p:nvPr/>
        </p:nvSpPr>
        <p:spPr>
          <a:xfrm>
            <a:off x="275768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Зирек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63979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FE857015-572C-4100-82D0-D1DFC981A8B2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Шып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F4B57DC-5476-48CF-9B84-73CB0574DBD7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Билек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54097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5E28D9CB-6807-4519-80FA-1B0FB7E3291C}"/>
              </a:ext>
            </a:extLst>
          </p:cNvPr>
          <p:cNvSpPr/>
          <p:nvPr/>
        </p:nvSpPr>
        <p:spPr>
          <a:xfrm>
            <a:off x="6677382" y="2684894"/>
            <a:ext cx="1177087" cy="2956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Тыншаар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7098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50548B8-E173-4AD8-896F-B3BEE53B0EAD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Жайдар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60978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B2F8461-CE68-4F22-9024-11F64D5D52E1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Шайдар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11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9C0C6D0-53AD-49EC-8640-3A7934BCA3FA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Тапкыч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126A3B4-AA19-424F-A952-57E0A9825E42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Күлкүч</a:t>
            </a:r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ү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14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E675DA02-B5B0-436F-839E-2E0DB213A063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Тапалак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E5377AD-EB6C-4E40-86FA-B0499A742829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Тирек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12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551466C-FA4D-4C50-A9A1-85943F3DFFB0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Чечен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F24760CB-1E90-4198-B704-3E256B0402F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60A3C69F-656F-46A6-ADAB-A983C48CD73C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5F07CD83-3A31-4BC3-B467-997B7B2A6DF1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75F6E133-1EDD-482D-B468-A7C31018B083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1EA3E0FB-F670-4956-A37C-49A32579C947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9D051A53-2D03-4617-A167-DBAE0741BF94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7C17BEA4-1A81-45ED-A667-A167645B6FE7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BFA619FF-A048-4CD8-9282-A7719D28DCE8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90B46FC4-2A45-45DC-B2CB-41A3739F50AE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F4B3F51E-C066-4874-A6BD-67264125C4AE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B541363A-E265-4ABC-A97D-59F65971F23C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55DEE82E-53F6-4260-A28B-387B7228E1C9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291C6B13-B7E8-448F-B9E9-F3E13E49BF17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CF32C547-1E88-42A6-9B36-89232B4A3E78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2CF3BC75-44A8-4575-A830-2EC6DB604384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82FA427F-F868-432B-807C-0BF1843C07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8513247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2+1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30÷(2−1)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82FA427F-F868-432B-807C-0BF1843C07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8513247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00000" r="-65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203448" r="-658" b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298305" r="-658" b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BE8BF9E4-42EE-4AE5-BA39-FEAF5D03AE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3773584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×(4−3)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9+3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BE8BF9E4-42EE-4AE5-BA39-FEAF5D03AE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3773584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1D678AE-17A3-4929-8F51-37B4E2DDA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0767472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1+3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1D678AE-17A3-4929-8F51-37B4E2DDA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0767472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E7E9C57D-F8A1-440D-970B-57112DDCEB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9048371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×(12−2)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10+4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E7E9C57D-F8A1-440D-970B-57112DDCEB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9048371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r="-654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01724" r="-654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98305" r="-654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303448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C4A7693-7B4E-42F7-AEBF-36B07EABDA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6898980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(7−5)×5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C4A7693-7B4E-42F7-AEBF-36B07EABDA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6898980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FFCBAFED-0CC1-4B14-87C8-B6A24BE00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430963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(3+2)×4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×(4+1)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FFCBAFED-0CC1-4B14-87C8-B6A24BE00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430963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80F72253-CFF1-4469-ABEB-610F52429E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2592599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4+2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80F72253-CFF1-4469-ABEB-610F52429E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2592599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1280BED9-3DB0-42D7-83E6-F78475496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5742103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−40÷2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1280BED9-3DB0-42D7-83E6-F78475496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5742103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F39BD9DE-BF8C-4716-9EE2-B43240396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2275349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22−4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F39BD9DE-BF8C-4716-9EE2-B43240396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2275349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25D96DA3-6AF9-4400-BA6C-A6D0F17CE4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4398334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(12+18)÷3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25D96DA3-6AF9-4400-BA6C-A6D0F17CE4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4398334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7E71C4F-BBF6-4204-AA69-5E1CA4E4BA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7105706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(50−5)÷3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7E71C4F-BBF6-4204-AA69-5E1CA4E4BA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7105706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1363A09F-6CBF-4329-AFF0-867DF5A547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5600443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32÷(10−2)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1363A09F-6CBF-4329-AFF0-867DF5A547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5600443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1DBF55ED-99C8-4E49-8071-D5E6BE1E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194738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1DBF55ED-99C8-4E49-8071-D5E6BE1E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194738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5BD80F5A-2DDB-4EB3-877E-31ADB2BA40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203536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−6÷3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÷4×6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÷4+2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5BD80F5A-2DDB-4EB3-877E-31ADB2BA40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203536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B756BCF0-C008-4C52-869A-12BFD57E01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9445382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×(1+4)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B756BCF0-C008-4C52-869A-12BFD57E01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9445382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6124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96205F-0A4E-42B7-97D5-A7E5D2AEC68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58128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A1CB5EA-585F-4D32-9660-8C0B8D670721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443664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20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2EBC3D-0424-41B8-AE34-C706C79EE6F2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48246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19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31037F9-88CD-4F78-A954-05B970FA4828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1247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18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E6D21A4-A290-4A9B-8A3A-790ABCE49D81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55127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17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EA00586-63B9-488E-9319-0526DD5D8530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58128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21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361F2FE-1F70-429D-B02A-B0D3B304A1D4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28133CA-6380-422F-AB23-489B1A899914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48246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D32D113-D116-49B1-B9B4-3FC915917359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1247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23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2CEE66F-74D4-4FCD-9443-F44A11F93C76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55127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22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738F7A6-A033-4CF5-9048-90A9098CE9F6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26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480109B-47EC-4FD9-A037-3191938CCB6B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30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D6C5F1D-3A01-44CE-A370-F9DD013AD3C3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29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2875DE7-66EF-4FFD-9689-40193D6DC4F2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28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3FBFE76-DBEF-47EB-A7D9-B7E5B89D4235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129822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60÷(2+1)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129822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r="-65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100000" r="-65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203448" r="-658" b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298305" r="-658" b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018787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×(15−10)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4+5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018787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6137101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5+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6137101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714750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×6−20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×(20−15)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÷8+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714750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r="-654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101724" r="-654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198305" r="-654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303448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808438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(7−3)×3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808438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2982166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(2+1)×3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×(6+2)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2982166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1663493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3+4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+15÷5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×6−21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1663493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4318509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×9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4318509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4033413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4033413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3954995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60−10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(20+4)÷3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×5−22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÷5−1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3954995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5590665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÷3×10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(50−10)÷2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5590665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9762391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40÷(8−6)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9762391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555050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60−25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555050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663229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663229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5906183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÷9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35−6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×(6+0)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5906183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Эстүү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6E26B4A-995D-44AB-B108-F854C37E3CD0}"/>
              </a:ext>
            </a:extLst>
          </p:cNvPr>
          <p:cNvSpPr/>
          <p:nvPr/>
        </p:nvSpPr>
        <p:spPr>
          <a:xfrm>
            <a:off x="655602" y="480229"/>
            <a:ext cx="1269926" cy="30310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Шамдагай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A5CF9DF-8679-4EC0-A118-0DFF234AA807}"/>
              </a:ext>
            </a:extLst>
          </p:cNvPr>
          <p:cNvSpPr/>
          <p:nvPr/>
        </p:nvSpPr>
        <p:spPr>
          <a:xfrm>
            <a:off x="8490322" y="427899"/>
            <a:ext cx="1354378" cy="3263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Баракелде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CAAB8D03-6293-4ECE-A2B4-AC4C1EF24934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Ой-Ой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14CC6FE-94FD-4AF7-A55F-EABC9F479E81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Ай-Ай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F88451C4-F5E4-4BB9-8867-30DD7286988C}"/>
              </a:ext>
            </a:extLst>
          </p:cNvPr>
          <p:cNvSpPr/>
          <p:nvPr/>
        </p:nvSpPr>
        <p:spPr>
          <a:xfrm>
            <a:off x="2657196" y="521560"/>
            <a:ext cx="1280482" cy="22043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Чыдамкай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2CFDAFE1-6DED-4D76-A958-046E240C5C80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Балбан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6CD86AE3-0DAA-48F6-A2CB-285D1BA5BAAE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Зер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8338621F-334A-4996-92FB-E48012379954}"/>
              </a:ext>
            </a:extLst>
          </p:cNvPr>
          <p:cNvSpPr/>
          <p:nvPr/>
        </p:nvSpPr>
        <p:spPr>
          <a:xfrm>
            <a:off x="668887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Уста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CCF788D5-BAEA-4355-B860-FE94AC5D46F3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Дыйкан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5A31EF50-0827-47B1-AED9-3172CF4FE443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Багбан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D018939-D1FB-4AFB-B9FF-E7FDA3542694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Тапалак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B585BE43-3325-4371-A684-55D6FF04BECE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Адам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2C55A339-D70D-4847-9C57-B7E2F332F026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Байкуш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AE064236-3F47-4838-BAFA-1816DCD0FEFB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с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м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4BF6C087-29AA-4EAF-A2B1-405BC6B192CB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Чыр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8724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72F9F4-DFA1-3E52-2D76-A6E77B044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14437" y="1039117"/>
            <a:ext cx="6806552" cy="47283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FE321D-EE13-7655-38B7-AC1249104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18003" y="1070002"/>
            <a:ext cx="6847673" cy="472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13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7E3972-07FE-258A-FD64-751016D92144}"/>
              </a:ext>
            </a:extLst>
          </p:cNvPr>
          <p:cNvSpPr txBox="1">
            <a:spLocks/>
          </p:cNvSpPr>
          <p:nvPr/>
        </p:nvSpPr>
        <p:spPr>
          <a:xfrm>
            <a:off x="-304800" y="1165225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Турдуу пикирлер үчүн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26501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10706</TotalTime>
  <Words>800</Words>
  <Application>Microsoft Office PowerPoint</Application>
  <PresentationFormat>A4 Paper (210x297 mm)</PresentationFormat>
  <Paragraphs>383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Verdana</vt:lpstr>
      <vt:lpstr>Aharoni</vt:lpstr>
      <vt:lpstr>Calibri</vt:lpstr>
      <vt:lpstr>Snap ITC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522</cp:revision>
  <cp:lastPrinted>2023-09-25T18:13:31Z</cp:lastPrinted>
  <dcterms:created xsi:type="dcterms:W3CDTF">2017-01-17T16:57:04Z</dcterms:created>
  <dcterms:modified xsi:type="dcterms:W3CDTF">2024-01-13T03:42:38Z</dcterms:modified>
</cp:coreProperties>
</file>