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wav" ContentType="audio/x-wav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704" r:id="rId1"/>
  </p:sldMasterIdLst>
  <p:notesMasterIdLst>
    <p:notesMasterId r:id="rId39"/>
  </p:notesMasterIdLst>
  <p:sldIdLst>
    <p:sldId id="974" r:id="rId2"/>
    <p:sldId id="831" r:id="rId3"/>
    <p:sldId id="976" r:id="rId4"/>
    <p:sldId id="977" r:id="rId5"/>
    <p:sldId id="947" r:id="rId6"/>
    <p:sldId id="978" r:id="rId7"/>
    <p:sldId id="942" r:id="rId8"/>
    <p:sldId id="979" r:id="rId9"/>
    <p:sldId id="951" r:id="rId10"/>
    <p:sldId id="980" r:id="rId11"/>
    <p:sldId id="954" r:id="rId12"/>
    <p:sldId id="981" r:id="rId13"/>
    <p:sldId id="944" r:id="rId14"/>
    <p:sldId id="982" r:id="rId15"/>
    <p:sldId id="955" r:id="rId16"/>
    <p:sldId id="983" r:id="rId17"/>
    <p:sldId id="945" r:id="rId18"/>
    <p:sldId id="984" r:id="rId19"/>
    <p:sldId id="946" r:id="rId20"/>
    <p:sldId id="985" r:id="rId21"/>
    <p:sldId id="952" r:id="rId22"/>
    <p:sldId id="986" r:id="rId23"/>
    <p:sldId id="948" r:id="rId24"/>
    <p:sldId id="987" r:id="rId25"/>
    <p:sldId id="957" r:id="rId26"/>
    <p:sldId id="988" r:id="rId27"/>
    <p:sldId id="953" r:id="rId28"/>
    <p:sldId id="989" r:id="rId29"/>
    <p:sldId id="949" r:id="rId30"/>
    <p:sldId id="990" r:id="rId31"/>
    <p:sldId id="956" r:id="rId32"/>
    <p:sldId id="991" r:id="rId33"/>
    <p:sldId id="950" r:id="rId34"/>
    <p:sldId id="992" r:id="rId35"/>
    <p:sldId id="958" r:id="rId36"/>
    <p:sldId id="833" r:id="rId37"/>
    <p:sldId id="993" r:id="rId38"/>
  </p:sldIdLst>
  <p:sldSz cx="9906000" cy="6858000" type="A4"/>
  <p:notesSz cx="6669088" cy="9926638"/>
  <p:embeddedFontLst>
    <p:embeddedFont>
      <p:font typeface="Berlin Sans FB Demi" panose="020E0802020502020306" pitchFamily="34" charset="0"/>
      <p:bold r:id="rId40"/>
    </p:embeddedFont>
    <p:embeddedFont>
      <p:font typeface="Bernard MT Condensed" panose="02050806060905020404" pitchFamily="18" charset="0"/>
      <p:regular r:id="rId41"/>
    </p:embeddedFont>
    <p:embeddedFont>
      <p:font typeface="Cambria Math" panose="02040503050406030204" pitchFamily="18" charset="0"/>
      <p:regular r:id="rId42"/>
    </p:embeddedFont>
  </p:embeddedFont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12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8CBAD"/>
    <a:srgbClr val="FF3300"/>
    <a:srgbClr val="FF0066"/>
    <a:srgbClr val="00FF00"/>
    <a:srgbClr val="4472C4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691" autoAdjust="0"/>
    <p:restoredTop sz="94660"/>
  </p:normalViewPr>
  <p:slideViewPr>
    <p:cSldViewPr snapToGrid="0" showGuides="1">
      <p:cViewPr varScale="1">
        <p:scale>
          <a:sx n="63" d="100"/>
          <a:sy n="63" d="100"/>
        </p:scale>
        <p:origin x="1380" y="56"/>
      </p:cViewPr>
      <p:guideLst>
        <p:guide orient="horz" pos="2160"/>
        <p:guide pos="312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font" Target="fonts/font2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font" Target="fonts/font1.fntdata"/><Relationship Id="rId45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777607" y="0"/>
            <a:ext cx="2889938" cy="498056"/>
          </a:xfrm>
          <a:prstGeom prst="rect">
            <a:avLst/>
          </a:prstGeom>
        </p:spPr>
        <p:txBody>
          <a:bodyPr vert="horz" lIns="90589" tIns="45294" rIns="90589" bIns="45294" rtlCol="0"/>
          <a:lstStyle>
            <a:lvl1pPr algn="r">
              <a:defRPr sz="1200"/>
            </a:lvl1pPr>
          </a:lstStyle>
          <a:p>
            <a:fld id="{9C6A85EB-AF26-437E-8488-94E19A13AA79}" type="datetimeFigureOut">
              <a:rPr lang="en-GB" smtClean="0"/>
              <a:t>22/10/2024</a:t>
            </a:fld>
            <a:endParaRPr lang="en-GB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15988" y="1241425"/>
            <a:ext cx="4837112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0589" tIns="45294" rIns="90589" bIns="45294" rtlCol="0" anchor="ctr"/>
          <a:lstStyle/>
          <a:p>
            <a:endParaRPr lang="en-GB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66909" y="4777196"/>
            <a:ext cx="5335270" cy="3908613"/>
          </a:xfrm>
          <a:prstGeom prst="rect">
            <a:avLst/>
          </a:prstGeom>
        </p:spPr>
        <p:txBody>
          <a:bodyPr vert="horz" lIns="90589" tIns="45294" rIns="90589" bIns="45294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l">
              <a:defRPr sz="1200"/>
            </a:lvl1pPr>
          </a:lstStyle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777607" y="9428586"/>
            <a:ext cx="2889938" cy="498055"/>
          </a:xfrm>
          <a:prstGeom prst="rect">
            <a:avLst/>
          </a:prstGeom>
        </p:spPr>
        <p:txBody>
          <a:bodyPr vert="horz" lIns="90589" tIns="45294" rIns="90589" bIns="45294" rtlCol="0" anchor="b"/>
          <a:lstStyle>
            <a:lvl1pPr algn="r">
              <a:defRPr sz="1200"/>
            </a:lvl1pPr>
          </a:lstStyle>
          <a:p>
            <a:fld id="{DD4EDCD2-601A-461C-9AB5-639C33E3F98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949271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91471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729953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48310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8989402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510504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067655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677498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3568098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862159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1801746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514273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739882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smtClean="0"/>
              <a:t>10/22/2024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00797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5" r:id="rId1"/>
    <p:sldLayoutId id="2147483706" r:id="rId2"/>
    <p:sldLayoutId id="2147483707" r:id="rId3"/>
    <p:sldLayoutId id="2147483708" r:id="rId4"/>
    <p:sldLayoutId id="2147483709" r:id="rId5"/>
    <p:sldLayoutId id="2147483710" r:id="rId6"/>
    <p:sldLayoutId id="2147483711" r:id="rId7"/>
    <p:sldLayoutId id="2147483712" r:id="rId8"/>
    <p:sldLayoutId id="2147483713" r:id="rId9"/>
    <p:sldLayoutId id="2147483714" r:id="rId10"/>
    <p:sldLayoutId id="2147483715" r:id="rId11"/>
    <p:sldLayoutId id="2147483716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audio" Target="../media/audio2.wav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6.png"/><Relationship Id="rId4" Type="http://schemas.openxmlformats.org/officeDocument/2006/relationships/image" Target="../media/image4.jp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7.png"/><Relationship Id="rId4" Type="http://schemas.openxmlformats.org/officeDocument/2006/relationships/image" Target="../media/image4.jp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8.png"/><Relationship Id="rId4" Type="http://schemas.openxmlformats.org/officeDocument/2006/relationships/image" Target="../media/image4.jp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9.png"/><Relationship Id="rId4" Type="http://schemas.openxmlformats.org/officeDocument/2006/relationships/image" Target="../media/image4.jp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0.png"/><Relationship Id="rId4" Type="http://schemas.openxmlformats.org/officeDocument/2006/relationships/image" Target="../media/image4.jp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1.png"/><Relationship Id="rId4" Type="http://schemas.openxmlformats.org/officeDocument/2006/relationships/image" Target="../media/image4.jp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2.png"/><Relationship Id="rId4" Type="http://schemas.openxmlformats.org/officeDocument/2006/relationships/image" Target="../media/image4.jp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3.png"/><Relationship Id="rId4" Type="http://schemas.openxmlformats.org/officeDocument/2006/relationships/image" Target="../media/image4.jp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4.png"/><Relationship Id="rId4" Type="http://schemas.openxmlformats.org/officeDocument/2006/relationships/image" Target="../media/image4.jp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5.png"/><Relationship Id="rId4" Type="http://schemas.openxmlformats.org/officeDocument/2006/relationships/image" Target="../media/image4.jp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6.png"/><Relationship Id="rId4" Type="http://schemas.openxmlformats.org/officeDocument/2006/relationships/image" Target="../media/image4.jp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7.png"/><Relationship Id="rId4" Type="http://schemas.openxmlformats.org/officeDocument/2006/relationships/image" Target="../media/image4.jp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8.png"/><Relationship Id="rId4" Type="http://schemas.openxmlformats.org/officeDocument/2006/relationships/image" Target="../media/image4.jpg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19.png"/><Relationship Id="rId4" Type="http://schemas.openxmlformats.org/officeDocument/2006/relationships/image" Target="../media/image4.jp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0.png"/><Relationship Id="rId4" Type="http://schemas.openxmlformats.org/officeDocument/2006/relationships/image" Target="../media/image4.jp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audio" Target="../media/audio1.wav"/><Relationship Id="rId1" Type="http://schemas.openxmlformats.org/officeDocument/2006/relationships/slideLayout" Target="../slideLayouts/slideLayout12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audio" Target="NULL"/><Relationship Id="rId2" Type="http://schemas.openxmlformats.org/officeDocument/2006/relationships/audio" Target="../media/audio2.wav"/><Relationship Id="rId1" Type="http://schemas.openxmlformats.org/officeDocument/2006/relationships/slideLayout" Target="../slideLayouts/slideLayout12.xml"/><Relationship Id="rId5" Type="http://schemas.openxmlformats.org/officeDocument/2006/relationships/image" Target="../media/image21.png"/><Relationship Id="rId4" Type="http://schemas.openxmlformats.org/officeDocument/2006/relationships/image" Target="../media/image4.jpg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1" y="1904919"/>
            <a:ext cx="9906000" cy="409342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1 орундуу ондуктар – Көбөйтүү &amp; Бөлүү– Жыдымай!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суроолорго эң тез жооп берүү үчүн мелдешет (бирге бир</a:t>
            </a:r>
            <a:r>
              <a:rPr kumimoji="0" lang="en-GB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, </a:t>
            </a: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командалары менен, өз орундарында же алдыңкы орунда).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Окуучулар доскага же өз дептерге жазып корсото алышат.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Өтө татаал/жеңил суроо слайддарын алдын ала өчүрүп салыңыз.</a:t>
            </a: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ru-RU" sz="2000" b="0" i="0" u="sng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  <a:p>
            <a:pPr marL="342900" marR="0" lvl="0" indent="-342900" algn="l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ru-RU" sz="2000" b="0" i="0" u="sng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Музыканы баштоо үчүн каалаган жерди чыкылдатыңыз, андан кийин суроону көрсөтүү үчүн "Өттү" чыкылдатыңыз, анан жоопту көрсөтүү үчүн кайра басыңыз.</a:t>
            </a:r>
            <a:endParaRPr kumimoji="0" lang="en-GB" sz="20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FC7BD33-7F93-409E-A7C6-9D40C1AB016D}"/>
              </a:ext>
            </a:extLst>
          </p:cNvPr>
          <p:cNvPicPr>
            <a:picLocks noChangeAspect="1"/>
          </p:cNvPicPr>
          <p:nvPr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41924" y="5600147"/>
            <a:ext cx="938974" cy="938974"/>
          </a:xfrm>
          <a:prstGeom prst="rect">
            <a:avLst/>
          </a:prstGeo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82D2E104-4597-4DDF-B563-3C40DEA17797}"/>
              </a:ext>
            </a:extLst>
          </p:cNvPr>
          <p:cNvSpPr/>
          <p:nvPr/>
        </p:nvSpPr>
        <p:spPr>
          <a:xfrm>
            <a:off x="3024659" y="5856140"/>
            <a:ext cx="3856681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24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Бул оюнда үн бар!</a:t>
            </a:r>
            <a:endParaRPr kumimoji="0" lang="en-GB" sz="2800" b="0" i="0" u="none" strike="noStrike" kern="120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3">
            <a:extLst>
              <a:ext uri="{FF2B5EF4-FFF2-40B4-BE49-F238E27FC236}">
                <a16:creationId xmlns:a16="http://schemas.microsoft.com/office/drawing/2014/main" id="{DA6E8381-F74F-ACA7-E535-4ACA0F07CCFB}"/>
              </a:ext>
            </a:extLst>
          </p:cNvPr>
          <p:cNvSpPr txBox="1">
            <a:spLocks/>
          </p:cNvSpPr>
          <p:nvPr/>
        </p:nvSpPr>
        <p:spPr>
          <a:xfrm>
            <a:off x="0" y="221873"/>
            <a:ext cx="9404350" cy="140017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6600" b="0" i="0" u="none" strike="noStrike" kern="1200" cap="none" spc="0" normalizeH="0" baseline="0" noProof="0" dirty="0" err="1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MathKGZ</a:t>
            </a:r>
            <a:r>
              <a:rPr kumimoji="0" lang="en-US" sz="5200" b="0" i="0" u="none" strike="noStrike" kern="1200" cap="none" spc="0" normalizeH="0" baseline="0" noProof="0" dirty="0">
                <a:ln>
                  <a:noFill/>
                </a:ln>
                <a:solidFill>
                  <a:srgbClr val="00B0F0"/>
                </a:solidFill>
                <a:effectLst/>
                <a:uLnTx/>
                <a:uFillTx/>
                <a:latin typeface="Calibri Light" panose="020F0302020204030204"/>
                <a:ea typeface="+mj-ea"/>
                <a:cs typeface="+mj-cs"/>
              </a:rPr>
              <a:t>  -- </a:t>
            </a:r>
          </a:p>
        </p:txBody>
      </p:sp>
    </p:spTree>
    <p:extLst>
      <p:ext uri="{BB962C8B-B14F-4D97-AF65-F5344CB8AC3E}">
        <p14:creationId xmlns:p14="http://schemas.microsoft.com/office/powerpoint/2010/main" val="228510001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>
            <a:extLst>
              <a:ext uri="{FF2B5EF4-FFF2-40B4-BE49-F238E27FC236}">
                <a16:creationId xmlns:a16="http://schemas.microsoft.com/office/drawing/2014/main" id="{5585FB2B-39FD-4723-8079-C4EA7B000B97}"/>
              </a:ext>
            </a:extLst>
          </p:cNvPr>
          <p:cNvGrpSpPr/>
          <p:nvPr/>
        </p:nvGrpSpPr>
        <p:grpSpPr>
          <a:xfrm>
            <a:off x="-744931" y="965566"/>
            <a:ext cx="11560506" cy="2304689"/>
            <a:chOff x="-744931" y="2289005"/>
            <a:chExt cx="11560506" cy="2304689"/>
          </a:xfrm>
        </p:grpSpPr>
        <p:sp>
          <p:nvSpPr>
            <p:cNvPr id="6" name="Rectangle: Rounded Corners 5">
              <a:extLst>
                <a:ext uri="{FF2B5EF4-FFF2-40B4-BE49-F238E27FC236}">
                  <a16:creationId xmlns:a16="http://schemas.microsoft.com/office/drawing/2014/main" id="{BACE1698-B04E-47BD-84A0-931C2125C107}"/>
                </a:ext>
              </a:extLst>
            </p:cNvPr>
            <p:cNvSpPr/>
            <p:nvPr/>
          </p:nvSpPr>
          <p:spPr>
            <a:xfrm>
              <a:off x="907898" y="2338806"/>
              <a:ext cx="8722208" cy="2254888"/>
            </a:xfrm>
            <a:prstGeom prst="roundRect">
              <a:avLst/>
            </a:prstGeom>
            <a:blipFill>
              <a:blip r:embed="rId4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3" name="Rectangle 2">
              <a:extLst>
                <a:ext uri="{FF2B5EF4-FFF2-40B4-BE49-F238E27FC236}">
                  <a16:creationId xmlns:a16="http://schemas.microsoft.com/office/drawing/2014/main" id="{CFEFA718-BA57-4C22-967C-DA711B22D315}"/>
                </a:ext>
              </a:extLst>
            </p:cNvPr>
            <p:cNvSpPr/>
            <p:nvPr/>
          </p:nvSpPr>
          <p:spPr>
            <a:xfrm>
              <a:off x="-744931" y="2289005"/>
              <a:ext cx="11560506" cy="1569660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ky-KG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Жыдымай</a:t>
              </a:r>
              <a:r>
                <a:rPr kumimoji="0" lang="en-US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 !</a:t>
              </a:r>
              <a:endParaRPr kumimoji="0" lang="en-US" sz="16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pic>
        <p:nvPicPr>
          <p:cNvPr id="5" name="Picture 4">
            <a:extLst>
              <a:ext uri="{FF2B5EF4-FFF2-40B4-BE49-F238E27FC236}">
                <a16:creationId xmlns:a16="http://schemas.microsoft.com/office/drawing/2014/main" id="{F0D5EEEE-4088-4440-8CA7-8122FC719FA0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3413412" y="2260816"/>
            <a:ext cx="948538" cy="1096391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F493708B-EB60-4993-AE99-63613F7295D3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613605" y="654005"/>
            <a:ext cx="948538" cy="1096391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48425AD7-3E4B-472E-A82B-E616ADCEE837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94" t="39393" r="77582" b="15981"/>
          <a:stretch/>
        </p:blipFill>
        <p:spPr>
          <a:xfrm>
            <a:off x="7297521" y="782122"/>
            <a:ext cx="948538" cy="1096391"/>
          </a:xfrm>
          <a:prstGeom prst="rect">
            <a:avLst/>
          </a:prstGeom>
        </p:spPr>
      </p:pic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489438" y="3662481"/>
            <a:ext cx="8927124" cy="2646878"/>
          </a:xfrm>
          <a:prstGeom prst="roundRect">
            <a:avLst/>
          </a:prstGeom>
          <a:blipFill>
            <a:blip r:embed="rId4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lvl="0" algn="ctr"/>
            <a:r>
              <a:rPr lang="ru-RU" sz="8000" b="1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latin typeface="Bernard MT Condensed" panose="02050806060905020404" pitchFamily="18" charset="0"/>
              </a:rPr>
              <a:t>Көбөйтүү &amp; Бөлүү</a:t>
            </a:r>
            <a:endParaRPr kumimoji="0" lang="en-US" sz="44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370730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decel="3500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4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  <p:par>
                                <p:cTn id="9" presetID="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4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18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1" presetClass="entr" presetSubtype="0" fill="hold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21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3" name="44Magnum1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: Rounded Corners 14">
            <a:extLst>
              <a:ext uri="{FF2B5EF4-FFF2-40B4-BE49-F238E27FC236}">
                <a16:creationId xmlns:a16="http://schemas.microsoft.com/office/drawing/2014/main" id="{3562BA6A-7F52-46D5-9A8E-A4E9CA88D29F}"/>
              </a:ext>
            </a:extLst>
          </p:cNvPr>
          <p:cNvSpPr/>
          <p:nvPr/>
        </p:nvSpPr>
        <p:spPr>
          <a:xfrm>
            <a:off x="594574" y="2209772"/>
            <a:ext cx="8716852" cy="2554545"/>
          </a:xfrm>
          <a:prstGeom prst="roundRect">
            <a:avLst/>
          </a:prstGeom>
          <a:blipFill>
            <a:blip r:embed="rId2"/>
            <a:tile tx="0" ty="0" sx="100000" sy="100000" flip="none" algn="tl"/>
          </a:blip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95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20C8FFC-32B9-46EA-B931-685CF455866B}"/>
              </a:ext>
            </a:extLst>
          </p:cNvPr>
          <p:cNvSpPr/>
          <p:nvPr/>
        </p:nvSpPr>
        <p:spPr>
          <a:xfrm>
            <a:off x="349876" y="2151727"/>
            <a:ext cx="9206248" cy="2308324"/>
          </a:xfrm>
          <a:prstGeom prst="rect">
            <a:avLst/>
          </a:prstGeom>
          <a:noFill/>
        </p:spPr>
        <p:txBody>
          <a:bodyPr wrap="square" lIns="91440" tIns="45720" rIns="91440" bIns="45720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Туура жооп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nard MT Condensed" panose="02050806060905020404" pitchFamily="18" charset="0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72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nard MT Condensed" panose="02050806060905020404" pitchFamily="18" charset="0"/>
                <a:ea typeface="+mn-ea"/>
                <a:cs typeface="+mn-cs"/>
              </a:rPr>
              <a:t>Эң тез! = 1 упай</a:t>
            </a:r>
            <a:endParaRPr kumimoji="0" lang="en-US" sz="7200" b="1" i="0" u="none" strike="noStrike" kern="1200" cap="none" spc="0" normalizeH="0" baseline="0" noProof="0" dirty="0">
              <a:ln w="38100">
                <a:solidFill>
                  <a:prstClr val="black"/>
                </a:solidFill>
              </a:ln>
              <a:solidFill>
                <a:srgbClr val="FF0000"/>
              </a:solidFill>
              <a:effectLst>
                <a:outerShdw blurRad="50800" dist="38100" dir="18900000" algn="bl" rotWithShape="0">
                  <a:prstClr val="black">
                    <a:alpha val="40000"/>
                  </a:prstClr>
                </a:outerShdw>
              </a:effectLst>
              <a:uLnTx/>
              <a:uFillTx/>
              <a:latin typeface="Berlin Sans FB Demi" panose="020E0802020502020306" pitchFamily="34" charset="0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5489785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9617123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0.18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746284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0.2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0.9=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7746284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08430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3218711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0.32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5903330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0.8=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915903330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407824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672650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6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1661181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3.6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0.6=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171661181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41759041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7603041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8121007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4.5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0.9=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158121007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1900449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2317591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0.06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8374798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0.1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0.6=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68374798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547820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9446688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9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14955596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7.2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0.8=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214955596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3819722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54374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0.45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3551069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0.9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73551069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7885301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0043158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0.49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6142951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0.7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0.7=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466142951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8655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86027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3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1106606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2.4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0.8=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531106606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7369855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9472573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0.48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552456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1.2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42552456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7483092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56626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17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50095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5.1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0.3=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92500954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6559775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06007885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24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05814079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4.8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0.2=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805814079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4722345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545167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1.2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2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3458759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2.4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0.5=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873458759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39153691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1482748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23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5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8979067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9.2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1758979067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2970633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7782984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2.38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4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6177595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1.7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×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1.4=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3316177595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290338263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>
            <a:extLst>
              <a:ext uri="{FF2B5EF4-FFF2-40B4-BE49-F238E27FC236}">
                <a16:creationId xmlns:a16="http://schemas.microsoft.com/office/drawing/2014/main" id="{ED14A0F2-76FD-4A17-BF19-8A093F763F9C}"/>
              </a:ext>
            </a:extLst>
          </p:cNvPr>
          <p:cNvGrpSpPr/>
          <p:nvPr/>
        </p:nvGrpSpPr>
        <p:grpSpPr>
          <a:xfrm>
            <a:off x="948538" y="978117"/>
            <a:ext cx="8008924" cy="3316442"/>
            <a:chOff x="948538" y="2301556"/>
            <a:chExt cx="8008924" cy="3316442"/>
          </a:xfrm>
        </p:grpSpPr>
        <p:sp>
          <p:nvSpPr>
            <p:cNvPr id="4" name="Rectangle: Rounded Corners 3">
              <a:extLst>
                <a:ext uri="{FF2B5EF4-FFF2-40B4-BE49-F238E27FC236}">
                  <a16:creationId xmlns:a16="http://schemas.microsoft.com/office/drawing/2014/main" id="{5907DFA4-D75F-4700-92D8-602B5E1F9089}"/>
                </a:ext>
              </a:extLst>
            </p:cNvPr>
            <p:cNvSpPr/>
            <p:nvPr/>
          </p:nvSpPr>
          <p:spPr>
            <a:xfrm>
              <a:off x="948538" y="2301556"/>
              <a:ext cx="8008924" cy="2254888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B2E302A0-6F39-48F1-8AEB-7D067C6DF68E}"/>
                </a:ext>
              </a:extLst>
            </p:cNvPr>
            <p:cNvSpPr/>
            <p:nvPr/>
          </p:nvSpPr>
          <p:spPr>
            <a:xfrm>
              <a:off x="1214637" y="2571010"/>
              <a:ext cx="7476726" cy="3046988"/>
            </a:xfrm>
            <a:prstGeom prst="rect">
              <a:avLst/>
            </a:prstGeom>
            <a:noFill/>
          </p:spPr>
          <p:txBody>
            <a:bodyPr wrap="non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9600" b="1" i="0" u="none" strike="noStrike" kern="1200" cap="none" spc="0" normalizeH="0" baseline="0" noProof="0" dirty="0">
                  <a:ln w="762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nard MT Condensed" panose="02050806060905020404" pitchFamily="18" charset="0"/>
                  <a:ea typeface="+mn-ea"/>
                  <a:cs typeface="+mn-cs"/>
                </a:rPr>
                <a:t>Даярсызбы?</a:t>
              </a: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9600" b="1" i="0" u="none" strike="noStrike" kern="1200" cap="none" spc="0" normalizeH="0" baseline="0" noProof="0" dirty="0">
                <a:ln w="762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9ACB6C0-5BE8-47C8-835B-714D4ED6EE5F}"/>
              </a:ext>
            </a:extLst>
          </p:cNvPr>
          <p:cNvGrpSpPr/>
          <p:nvPr/>
        </p:nvGrpSpPr>
        <p:grpSpPr>
          <a:xfrm>
            <a:off x="2692480" y="5395509"/>
            <a:ext cx="4521040" cy="1346398"/>
            <a:chOff x="3823448" y="5021008"/>
            <a:chExt cx="3283132" cy="1346398"/>
          </a:xfrm>
        </p:grpSpPr>
        <p:sp>
          <p:nvSpPr>
            <p:cNvPr id="12" name="Rectangle: Rounded Corners 11">
              <a:extLst>
                <a:ext uri="{FF2B5EF4-FFF2-40B4-BE49-F238E27FC236}">
                  <a16:creationId xmlns:a16="http://schemas.microsoft.com/office/drawing/2014/main" id="{2ADE7AF7-FFB6-485A-A4A4-A3EE38B9BE6A}"/>
                </a:ext>
              </a:extLst>
            </p:cNvPr>
            <p:cNvSpPr/>
            <p:nvPr/>
          </p:nvSpPr>
          <p:spPr>
            <a:xfrm>
              <a:off x="3823448" y="5160060"/>
              <a:ext cx="3166149" cy="1207346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GB" sz="1950" b="0" i="0" u="none" strike="noStrike" kern="120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endParaRPr>
            </a:p>
          </p:txBody>
        </p:sp>
        <p:sp>
          <p:nvSpPr>
            <p:cNvPr id="13" name="Rectangle 12">
              <a:hlinkClick r:id="" action="ppaction://hlinkshowjump?jump=nextslide"/>
              <a:extLst>
                <a:ext uri="{FF2B5EF4-FFF2-40B4-BE49-F238E27FC236}">
                  <a16:creationId xmlns:a16="http://schemas.microsoft.com/office/drawing/2014/main" id="{8671DE17-70E4-4F5B-BF46-609B5A505F82}"/>
                </a:ext>
              </a:extLst>
            </p:cNvPr>
            <p:cNvSpPr/>
            <p:nvPr/>
          </p:nvSpPr>
          <p:spPr>
            <a:xfrm>
              <a:off x="3823448" y="5021008"/>
              <a:ext cx="3283132" cy="1323439"/>
            </a:xfrm>
            <a:prstGeom prst="rect">
              <a:avLst/>
            </a:prstGeom>
            <a:noFill/>
          </p:spPr>
          <p:txBody>
            <a:bodyPr wrap="square" lIns="91440" tIns="45720" rIns="91440" bIns="45720">
              <a:spAutoFit/>
            </a:bodyPr>
            <a:lstStyle/>
            <a:p>
              <a:pPr marL="0" marR="0" lvl="0" indent="0" algn="ctr" defTabSz="4572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ru-RU" sz="8000" b="1" i="0" u="none" strike="noStrike" kern="1200" cap="none" spc="0" normalizeH="0" baseline="0" noProof="0" dirty="0">
                  <a:ln w="38100">
                    <a:solidFill>
                      <a:prstClr val="black"/>
                    </a:solidFill>
                  </a:ln>
                  <a:solidFill>
                    <a:srgbClr val="FF0000"/>
                  </a:solidFill>
                  <a:effectLst>
                    <a:outerShdw blurRad="50800" dist="38100" dir="18900000" algn="bl" rotWithShape="0">
                      <a:prstClr val="black">
                        <a:alpha val="40000"/>
                      </a:prstClr>
                    </a:outerShdw>
                  </a:effectLst>
                  <a:uLnTx/>
                  <a:uFillTx/>
                  <a:latin typeface="Berlin Sans FB Demi" panose="020E0802020502020306" pitchFamily="34" charset="0"/>
                  <a:ea typeface="+mn-ea"/>
                  <a:cs typeface="+mn-cs"/>
                </a:rPr>
                <a:t>Кеттик</a:t>
              </a:r>
              <a:endParaRPr kumimoji="0" lang="en-US" sz="8000" b="1" i="0" u="none" strike="noStrike" kern="1200" cap="none" spc="0" normalizeH="0" baseline="0" noProof="0" dirty="0">
                <a:ln w="38100">
                  <a:solidFill>
                    <a:prstClr val="black"/>
                  </a:solidFill>
                </a:ln>
                <a:solidFill>
                  <a:srgbClr val="FF0000"/>
                </a:solidFill>
                <a:effectLst>
                  <a:outerShdw blurRad="50800" dist="38100" dir="18900000" algn="bl" rotWithShape="0">
                    <a:prstClr val="black">
                      <a:alpha val="40000"/>
                    </a:prstClr>
                  </a:outerShdw>
                </a:effectLst>
                <a:uLnTx/>
                <a:uFillTx/>
                <a:latin typeface="Berlin Sans FB Demi" panose="020E0802020502020306" pitchFamily="34" charset="0"/>
                <a:ea typeface="+mn-ea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22340126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7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30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3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  <p:subTnLst>
                                    <p:audio>
                                      <p:cMediaNode>
                                        <p:cTn display="0" masterRel="sameClick">
                                          <p:stCondLst>
                                            <p:cond evt="begin" delay="0">
                                              <p:tn val="5"/>
                                            </p:cond>
                                          </p:stCondLst>
                                          <p:endCondLst>
                                            <p:cond evt="onStopAudio" delay="0">
                                              <p:tgtEl>
                                                <p:sldTgt/>
                                              </p:tgtEl>
                                            </p:cond>
                                          </p:endCondLst>
                                        </p:cTn>
                                        <p:tgtEl>
                                          <p:sndTgt r:embed="rId2" name="Shootout_Theme.wav"/>
                                        </p:tgtEl>
                                      </p:cMediaNode>
                                    </p:audio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A8383A5D-510B-4643-8945-0807A12235CD}"/>
              </a:ext>
            </a:extLst>
          </p:cNvPr>
          <p:cNvGrpSpPr/>
          <p:nvPr/>
        </p:nvGrpSpPr>
        <p:grpSpPr>
          <a:xfrm>
            <a:off x="0" y="0"/>
            <a:ext cx="9573245" cy="7029927"/>
            <a:chOff x="0" y="0"/>
            <a:chExt cx="9573245" cy="7029927"/>
          </a:xfrm>
        </p:grpSpPr>
        <p:sp>
          <p:nvSpPr>
            <p:cNvPr id="7" name="Rectangle: Rounded Corners 6">
              <a:extLst>
                <a:ext uri="{FF2B5EF4-FFF2-40B4-BE49-F238E27FC236}">
                  <a16:creationId xmlns:a16="http://schemas.microsoft.com/office/drawing/2014/main" id="{70A11CB8-2EBC-427B-B756-76F7CB0E2711}"/>
                </a:ext>
              </a:extLst>
            </p:cNvPr>
            <p:cNvSpPr/>
            <p:nvPr/>
          </p:nvSpPr>
          <p:spPr>
            <a:xfrm>
              <a:off x="332754" y="224315"/>
              <a:ext cx="9240491" cy="6409370"/>
            </a:xfrm>
            <a:prstGeom prst="roundRect">
              <a:avLst/>
            </a:prstGeom>
            <a:blipFill>
              <a:blip r:embed="rId3"/>
              <a:tile tx="0" ty="0" sx="100000" sy="100000" flip="none" algn="tl"/>
            </a:blipFill>
            <a:ln w="2857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  <a:prstTxWarp prst="textNoShape">
                <a:avLst/>
              </a:prstTxWarp>
              <a:noAutofit/>
            </a:bodyPr>
            <a:lstStyle/>
            <a:p>
              <a:pPr algn="ctr"/>
              <a:endParaRPr lang="en-GB" sz="1950"/>
            </a:p>
          </p:txBody>
        </p:sp>
        <p:pic>
          <p:nvPicPr>
            <p:cNvPr id="8" name="Picture 7">
              <a:extLst>
                <a:ext uri="{FF2B5EF4-FFF2-40B4-BE49-F238E27FC236}">
                  <a16:creationId xmlns:a16="http://schemas.microsoft.com/office/drawing/2014/main" id="{B68078B5-DD88-44B9-BD32-82D38324FF3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>
              <a:off x="8172732" y="0"/>
              <a:ext cx="1195993" cy="1382418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92CEE89-5788-4D3C-8D8A-0BCA001434D6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32357">
              <a:off x="0" y="2320835"/>
              <a:ext cx="1195993" cy="1382418"/>
            </a:xfrm>
            <a:prstGeom prst="rect">
              <a:avLst/>
            </a:prstGeom>
          </p:spPr>
        </p:pic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A42CB5C3-A053-40F0-9C9E-6A371897F897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3694" t="39393" r="77582" b="15981"/>
            <a:stretch/>
          </p:blipFill>
          <p:spPr>
            <a:xfrm rot="2386575">
              <a:off x="6976739" y="5647509"/>
              <a:ext cx="1195993" cy="1382418"/>
            </a:xfrm>
            <a:prstGeom prst="rect">
              <a:avLst/>
            </a:prstGeom>
          </p:spPr>
        </p:pic>
      </p:grp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7CA19743-A9E1-496F-8865-566AC2DAE4C1}"/>
              </a:ext>
            </a:extLst>
          </p:cNvPr>
          <p:cNvSpPr/>
          <p:nvPr/>
        </p:nvSpPr>
        <p:spPr>
          <a:xfrm>
            <a:off x="3391988" y="5265928"/>
            <a:ext cx="3122023" cy="1227909"/>
          </a:xfrm>
          <a:prstGeom prst="roundRect">
            <a:avLst/>
          </a:prstGeom>
          <a:solidFill>
            <a:schemeClr val="bg1">
              <a:lumMod val="7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r>
              <a:rPr lang="en-GB" sz="7200" dirty="0">
                <a:solidFill>
                  <a:schemeClr val="tx1"/>
                </a:solidFill>
              </a:rPr>
              <a:t>41</a:t>
            </a:r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C2754893-38C7-43B2-B13B-54CC2FB22899}"/>
              </a:ext>
            </a:extLst>
          </p:cNvPr>
          <p:cNvSpPr/>
          <p:nvPr/>
        </p:nvSpPr>
        <p:spPr>
          <a:xfrm>
            <a:off x="1474175" y="1514552"/>
            <a:ext cx="6957647" cy="2620108"/>
          </a:xfrm>
          <a:prstGeom prst="roundRect">
            <a:avLst/>
          </a:prstGeom>
          <a:solidFill>
            <a:schemeClr val="accent6">
              <a:lumMod val="60000"/>
              <a:lumOff val="40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GB" sz="1950"/>
          </a:p>
        </p:txBody>
      </p:sp>
      <mc:AlternateContent xmlns:mc="http://schemas.openxmlformats.org/markup-compatibility/2006" xmlns:a14="http://schemas.microsoft.com/office/drawing/2010/main">
        <mc:Choice Requires="a14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3161917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pPr algn="ctr"/>
                          <a14:m>
                            <m:oMathPara xmlns:m="http://schemas.openxmlformats.org/officeDocument/2006/math">
                              <m:oMathParaPr>
                                <m:jc m:val="centerGroup"/>
                              </m:oMathParaPr>
                              <m:oMath xmlns:m="http://schemas.openxmlformats.org/officeDocument/2006/math"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16.4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  <a:ea typeface="Cambria Math" panose="02040503050406030204" pitchFamily="18" charset="0"/>
                                  </a:rPr>
                                  <m:t>÷</m:t>
                                </m:r>
                                <m:r>
                                  <a:rPr lang="en-GB" sz="8000" b="0" i="1" dirty="0" smtClean="0">
                                    <a:solidFill>
                                      <a:sysClr val="windowText" lastClr="000000"/>
                                    </a:solidFill>
                                    <a:latin typeface="Cambria Math" panose="02040503050406030204" pitchFamily="18" charset="0"/>
                                  </a:rPr>
                                  <m:t>0.4=</m:t>
                                </m:r>
                              </m:oMath>
                            </m:oMathPara>
                          </a14:m>
                          <a:endParaRPr lang="en-GB" sz="2800" b="0" dirty="0">
                            <a:solidFill>
                              <a:sysClr val="windowText" lastClr="000000"/>
                            </a:solidFill>
                          </a:endParaRPr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noFill/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Choice>
        <mc:Fallback xmlns="">
          <p:graphicFrame>
            <p:nvGraphicFramePr>
              <p:cNvPr id="13" name="Table 12">
                <a:extLst>
                  <a:ext uri="{FF2B5EF4-FFF2-40B4-BE49-F238E27FC236}">
                    <a16:creationId xmlns:a16="http://schemas.microsoft.com/office/drawing/2014/main" id="{56794378-5229-466D-B1E6-2B1D091FC8B0}"/>
                  </a:ext>
                </a:extLst>
              </p:cNvPr>
              <p:cNvGraphicFramePr>
                <a:graphicFrameLocks noGrp="1"/>
              </p:cNvGraphicFramePr>
              <p:nvPr>
                <p:extLst>
                  <p:ext uri="{D42A27DB-BD31-4B8C-83A1-F6EECF244321}">
                    <p14:modId xmlns:p14="http://schemas.microsoft.com/office/powerpoint/2010/main" val="2693161917"/>
                  </p:ext>
                </p:extLst>
              </p:nvPr>
            </p:nvGraphicFramePr>
            <p:xfrm>
              <a:off x="1651000" y="1606733"/>
              <a:ext cx="6604000" cy="2411352"/>
            </p:xfrm>
            <a:graphic>
              <a:graphicData uri="http://schemas.openxmlformats.org/drawingml/2006/table">
                <a:tbl>
                  <a:tblPr firstRow="1" bandRow="1">
                    <a:tableStyleId>{5C22544A-7EE6-4342-B048-85BDC9FD1C3A}</a:tableStyleId>
                  </a:tblPr>
                  <a:tblGrid>
                    <a:gridCol w="6604000">
                      <a:extLst>
                        <a:ext uri="{9D8B030D-6E8A-4147-A177-3AD203B41FA5}">
                          <a16:colId xmlns:a16="http://schemas.microsoft.com/office/drawing/2014/main" val="1471835817"/>
                        </a:ext>
                      </a:extLst>
                    </a:gridCol>
                  </a:tblGrid>
                  <a:tr h="2411352">
                    <a:tc>
                      <a:txBody>
                        <a:bodyPr/>
                        <a:lstStyle/>
                        <a:p>
                          <a:endParaRPr lang="en-US"/>
                        </a:p>
                      </a:txBody>
                      <a:tcPr anchor="ctr">
                        <a:lnL w="12700" cmpd="sng">
                          <a:noFill/>
                        </a:lnL>
                        <a:lnR w="12700" cmpd="sng">
                          <a:noFill/>
                        </a:lnR>
                        <a:lnT w="12700" cmpd="sng">
                          <a:noFill/>
                        </a:lnT>
                        <a:lnB w="38100" cmpd="sng">
                          <a:noFill/>
                        </a:lnB>
                        <a:lnTlToBr w="12700" cmpd="sng">
                          <a:noFill/>
                          <a:prstDash val="solid"/>
                        </a:lnTlToBr>
                        <a:lnBlToTr w="12700" cmpd="sng">
                          <a:noFill/>
                          <a:prstDash val="solid"/>
                        </a:lnBlToTr>
                        <a:blipFill>
                          <a:blip r:embed="rId5"/>
                          <a:stretch>
                            <a:fillRect/>
                          </a:stretch>
                        </a:blipFill>
                      </a:tcPr>
                    </a:tc>
                    <a:extLst>
                      <a:ext uri="{0D108BD9-81ED-4DB2-BD59-A6C34878D82A}">
                        <a16:rowId xmlns:a16="http://schemas.microsoft.com/office/drawing/2014/main" val="3340430794"/>
                      </a:ext>
                    </a:extLst>
                  </a:tr>
                </a:tbl>
              </a:graphicData>
            </a:graphic>
          </p:graphicFrame>
        </mc:Fallback>
      </mc:AlternateContent>
    </p:spTree>
    <p:extLst>
      <p:ext uri="{BB962C8B-B14F-4D97-AF65-F5344CB8AC3E}">
        <p14:creationId xmlns:p14="http://schemas.microsoft.com/office/powerpoint/2010/main" val="16290188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>
        <p:sndAc>
          <p:stSnd>
            <p:snd r:embed="rId2" name="44Magnum1.wav"/>
          </p:stSnd>
        </p:sndAc>
      </p:transition>
    </mc:Choice>
    <mc:Fallback xmlns="">
      <p:transition spd="slow">
        <p:sndAc>
          <p:stSnd>
            <p:snd r:embed="rId7" name="44Magnum1.wav"/>
          </p:stSnd>
        </p:sndAc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144062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049DD828-9816-48D5-8793-DAFED5357886}"/>
              </a:ext>
            </a:extLst>
          </p:cNvPr>
          <p:cNvSpPr/>
          <p:nvPr/>
        </p:nvSpPr>
        <p:spPr>
          <a:xfrm>
            <a:off x="403678" y="979468"/>
            <a:ext cx="9240883" cy="58785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Суроолор барбы?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Комментарийлер?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Сунуштар?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…же ката таптыңызбы!?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Турдуу пикирлер учун ыраазычылык билдиребиз.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ru-RU" sz="3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Сураныч, электрондук кат жөнөтүңүз: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ru-RU" sz="32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mathematicskgz@gmail.com</a:t>
            </a:r>
          </a:p>
          <a:p>
            <a:pPr marL="0" marR="0" lvl="0" indent="0" algn="ctr" defTabSz="478226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113817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28575">
          <a:solidFill>
            <a:schemeClr val="tx1"/>
          </a:solidFill>
        </a:ln>
      </a:spPr>
      <a:bodyPr rot="0" spcFirstLastPara="0" vertOverflow="overflow" horzOverflow="overflow" vert="horz" wrap="square" lIns="99060" tIns="49530" rIns="99060" bIns="49530" numCol="1" spcCol="0" rtlCol="0" fromWordArt="0" anchor="ctr" anchorCtr="0" forceAA="0" compatLnSpc="1">
        <a:prstTxWarp prst="textNoShape">
          <a:avLst/>
        </a:prstTxWarp>
        <a:noAutofit/>
      </a:bodyPr>
      <a:lstStyle>
        <a:defPPr algn="ctr">
          <a:defRPr sz="1950"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TM04033937[[fn=Vapor Trail]]</Template>
  <TotalTime>8458</TotalTime>
  <Words>223</Words>
  <Application>Microsoft Office PowerPoint</Application>
  <PresentationFormat>A4 Paper (210x297 mm)</PresentationFormat>
  <Paragraphs>91</Paragraphs>
  <Slides>37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4" baseType="lpstr">
      <vt:lpstr>Bernard MT Condensed</vt:lpstr>
      <vt:lpstr>Arial</vt:lpstr>
      <vt:lpstr>Calibri</vt:lpstr>
      <vt:lpstr>Berlin Sans FB Demi</vt:lpstr>
      <vt:lpstr>Calibri Light</vt:lpstr>
      <vt:lpstr>Cambria Math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Kite</dc:creator>
  <cp:lastModifiedBy>Isa Amanov</cp:lastModifiedBy>
  <cp:revision>364</cp:revision>
  <cp:lastPrinted>2017-12-31T22:38:51Z</cp:lastPrinted>
  <dcterms:created xsi:type="dcterms:W3CDTF">2017-01-17T16:57:04Z</dcterms:created>
  <dcterms:modified xsi:type="dcterms:W3CDTF">2024-10-22T08:54:26Z</dcterms:modified>
</cp:coreProperties>
</file>