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8"/>
  </p:notesMasterIdLst>
  <p:sldIdLst>
    <p:sldId id="978" r:id="rId2"/>
    <p:sldId id="962" r:id="rId3"/>
    <p:sldId id="963" r:id="rId4"/>
    <p:sldId id="964" r:id="rId5"/>
    <p:sldId id="939" r:id="rId6"/>
    <p:sldId id="953" r:id="rId7"/>
    <p:sldId id="942" r:id="rId8"/>
    <p:sldId id="977" r:id="rId9"/>
    <p:sldId id="976" r:id="rId10"/>
    <p:sldId id="943" r:id="rId11"/>
    <p:sldId id="972" r:id="rId12"/>
    <p:sldId id="961" r:id="rId13"/>
    <p:sldId id="944" r:id="rId14"/>
    <p:sldId id="968" r:id="rId15"/>
    <p:sldId id="960" r:id="rId16"/>
    <p:sldId id="973" r:id="rId17"/>
    <p:sldId id="975" r:id="rId18"/>
    <p:sldId id="974" r:id="rId19"/>
    <p:sldId id="945" r:id="rId20"/>
    <p:sldId id="954" r:id="rId21"/>
    <p:sldId id="955" r:id="rId22"/>
    <p:sldId id="956" r:id="rId23"/>
    <p:sldId id="946" r:id="rId24"/>
    <p:sldId id="947" r:id="rId25"/>
    <p:sldId id="948" r:id="rId26"/>
    <p:sldId id="949" r:id="rId27"/>
    <p:sldId id="950" r:id="rId28"/>
    <p:sldId id="951" r:id="rId29"/>
    <p:sldId id="971" r:id="rId30"/>
    <p:sldId id="970" r:id="rId31"/>
    <p:sldId id="959" r:id="rId32"/>
    <p:sldId id="965" r:id="rId33"/>
    <p:sldId id="958" r:id="rId34"/>
    <p:sldId id="967" r:id="rId35"/>
    <p:sldId id="969" r:id="rId36"/>
    <p:sldId id="938" r:id="rId37"/>
  </p:sldIdLst>
  <p:sldSz cx="9906000" cy="6858000" type="A4"/>
  <p:notesSz cx="7104063" cy="10234613"/>
  <p:embeddedFontLst>
    <p:embeddedFont>
      <p:font typeface="Cambria Math" panose="02040503050406030204" pitchFamily="18" charset="0"/>
      <p:regular r:id="rId3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9" d="100"/>
          <a:sy n="69" d="100"/>
        </p:scale>
        <p:origin x="1410" y="60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30/04/2024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E8DA03BD-0D10-881F-68DF-55A084B44400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736DD-D2AD-61E3-58E2-BEBBEB44F31C}"/>
              </a:ext>
            </a:extLst>
          </p:cNvPr>
          <p:cNvSpPr txBox="1"/>
          <p:nvPr/>
        </p:nvSpPr>
        <p:spPr>
          <a:xfrm>
            <a:off x="162560" y="1778000"/>
            <a:ext cx="9743440" cy="45550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y-KG" sz="2400" dirty="0"/>
              <a:t>Баардык а</a:t>
            </a:r>
            <a:r>
              <a:rPr lang="ru-RU" sz="2400" dirty="0"/>
              <a:t>малдарды аткаруу тартиби</a:t>
            </a:r>
            <a:r>
              <a:rPr lang="en-US" sz="2400" dirty="0"/>
              <a:t>  - </a:t>
            </a:r>
            <a:r>
              <a:rPr lang="ky-KG" sz="2400" b="1" dirty="0">
                <a:solidFill>
                  <a:srgbClr val="FF0000"/>
                </a:solidFill>
              </a:rPr>
              <a:t>Мисал көрсөт</a:t>
            </a:r>
            <a:r>
              <a:rPr lang="ru-RU" sz="2400" b="1" dirty="0">
                <a:solidFill>
                  <a:srgbClr val="FF0000"/>
                </a:solidFill>
              </a:rPr>
              <a:t>...</a:t>
            </a:r>
            <a:endParaRPr lang="ru-RU" sz="2000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Бул көнүгүү</a:t>
            </a:r>
            <a:r>
              <a:rPr lang="en-US" sz="2400" dirty="0"/>
              <a:t> </a:t>
            </a:r>
            <a:r>
              <a:rPr lang="ru-RU" sz="2400" dirty="0"/>
              <a:t>окуучуну ойлондуруу үчүн иштелип чыккан, эч кандай жооп жок.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Студенттер өз жоопторун эки - экиден же мугалимге  көрсөтүп текшере алышы керек.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Студенттер мини-тактада же дептер аркылуу жооп бере алышат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400" dirty="0"/>
              <a:t>Анимацияларды текшерип, </a:t>
            </a:r>
            <a:r>
              <a:rPr lang="ky-KG" sz="2400" dirty="0"/>
              <a:t>сабагы</a:t>
            </a:r>
            <a:r>
              <a:rPr lang="ru-RU" sz="2400" dirty="0"/>
              <a:t>ң</a:t>
            </a:r>
            <a:r>
              <a:rPr lang="ky-KG" sz="2400" dirty="0"/>
              <a:t>ызга </a:t>
            </a:r>
            <a:r>
              <a:rPr lang="ru-RU" sz="2400" b="1" dirty="0">
                <a:solidFill>
                  <a:srgbClr val="FF0000"/>
                </a:solidFill>
              </a:rPr>
              <a:t>КЕРЕГИ ЖОК </a:t>
            </a:r>
            <a:r>
              <a:rPr lang="ru-RU" sz="2400" dirty="0"/>
              <a:t>слайддарды </a:t>
            </a:r>
            <a:r>
              <a:rPr lang="ru-RU" sz="2800" b="1" dirty="0">
                <a:solidFill>
                  <a:srgbClr val="FF0000"/>
                </a:solidFill>
              </a:rPr>
              <a:t>ӨЧҮРҮ</a:t>
            </a:r>
            <a:r>
              <a:rPr lang="ky-KG" sz="2800" b="1" dirty="0">
                <a:solidFill>
                  <a:srgbClr val="FF0000"/>
                </a:solidFill>
              </a:rPr>
              <a:t>П САЛЫ</a:t>
            </a:r>
            <a:r>
              <a:rPr lang="ru-RU" sz="2800" b="1" dirty="0">
                <a:solidFill>
                  <a:srgbClr val="FF0000"/>
                </a:solidFill>
              </a:rPr>
              <a:t>ҢЫЗ.</a:t>
            </a:r>
            <a:endParaRPr 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70965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33025" y="2424519"/>
            <a:ext cx="8626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800" dirty="0"/>
              <a:t>… </a:t>
            </a:r>
            <a:r>
              <a:rPr lang="ky-KG" sz="48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800" dirty="0"/>
              <a:t> </a:t>
            </a:r>
            <a:r>
              <a:rPr lang="ru-RU" sz="4800" dirty="0"/>
              <a:t>туура колдонулган.</a:t>
            </a:r>
            <a:endParaRPr lang="en-GB" sz="4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B21523-2F0B-284B-B0CA-860FC18E6C27}"/>
              </a:ext>
            </a:extLst>
          </p:cNvPr>
          <p:cNvSpPr txBox="1"/>
          <p:nvPr/>
        </p:nvSpPr>
        <p:spPr>
          <a:xfrm>
            <a:off x="302260" y="101491"/>
            <a:ext cx="664355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269F53-04AB-995E-5BF5-5F28B6A9D541}"/>
              </a:ext>
            </a:extLst>
          </p:cNvPr>
          <p:cNvSpPr txBox="1"/>
          <p:nvPr/>
        </p:nvSpPr>
        <p:spPr>
          <a:xfrm>
            <a:off x="1351280" y="5262880"/>
            <a:ext cx="43753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Кашаа,даража, тамыр, бөлүү</a:t>
            </a:r>
            <a:r>
              <a:rPr lang="en-US" dirty="0"/>
              <a:t>,</a:t>
            </a:r>
            <a:r>
              <a:rPr lang="ru-RU" dirty="0"/>
              <a:t> көбөйтүү</a:t>
            </a:r>
            <a:r>
              <a:rPr lang="ky-KG" dirty="0"/>
              <a:t>, кошуу кемит</a:t>
            </a:r>
            <a:r>
              <a:rPr lang="ru-RU" dirty="0"/>
              <a:t>үү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06688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51061" y="3044279"/>
            <a:ext cx="920393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туура эмес </a:t>
            </a:r>
            <a:r>
              <a:rPr lang="ru-RU" sz="4400" dirty="0"/>
              <a:t>колдонулган.</a:t>
            </a:r>
            <a:endParaRPr lang="en-GB" sz="4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9C5149-0F05-321F-02B7-166F9D4AC005}"/>
              </a:ext>
            </a:extLst>
          </p:cNvPr>
          <p:cNvSpPr txBox="1"/>
          <p:nvPr/>
        </p:nvSpPr>
        <p:spPr>
          <a:xfrm>
            <a:off x="0" y="152291"/>
            <a:ext cx="7195820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ky-KG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Мисал көрсөт</a:t>
            </a:r>
            <a:r>
              <a:rPr kumimoji="0" lang="ru-RU" sz="6600" b="1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...</a:t>
            </a:r>
            <a:endParaRPr kumimoji="0" lang="en-US" sz="6600" b="1" i="0" u="none" strike="noStrike" kern="1200" cap="none" spc="0" normalizeH="0" baseline="0" noProof="0" dirty="0">
              <a:ln>
                <a:noFill/>
              </a:ln>
              <a:solidFill>
                <a:srgbClr val="00B0F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7690165"/>
      </p:ext>
    </p:extLst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758244" y="3044279"/>
            <a:ext cx="6389571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ky-KG" sz="44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FF0000"/>
                </a:solidFill>
              </a:rPr>
              <a:t>КД ТБ ККК</a:t>
            </a:r>
            <a:r>
              <a:rPr lang="en-GB" sz="4400" dirty="0"/>
              <a:t> </a:t>
            </a:r>
            <a:r>
              <a:rPr lang="ru-RU" sz="4400" dirty="0">
                <a:solidFill>
                  <a:srgbClr val="FF0000"/>
                </a:solidFill>
                <a:highlight>
                  <a:srgbClr val="FFFF00"/>
                </a:highlight>
              </a:rPr>
              <a:t>көбү кылган </a:t>
            </a:r>
          </a:p>
          <a:p>
            <a:pPr algn="ctr"/>
            <a:r>
              <a:rPr lang="ru-RU" sz="4400" dirty="0"/>
              <a:t>каталардан бир канча.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8CBB28-3A76-B1FB-4148-EE37B9546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60971" y="-793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138711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82848" y="2367171"/>
            <a:ext cx="69403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бар </a:t>
            </a:r>
          </a:p>
          <a:p>
            <a:pPr algn="ctr"/>
            <a:r>
              <a:rPr lang="ru-RU" sz="4400" dirty="0"/>
              <a:t>эсептөөнүн натыйжасы</a:t>
            </a:r>
          </a:p>
          <a:p>
            <a:pPr algn="ctr"/>
            <a:r>
              <a:rPr lang="ru-RU" sz="4400" dirty="0"/>
              <a:t>туура колдонулган.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44AF6B-A28B-8A29-89F6-4215C7EB55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37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72457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41167" y="2367171"/>
            <a:ext cx="7023718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амалдардын тартиби </a:t>
            </a:r>
          </a:p>
          <a:p>
            <a:pPr algn="ctr"/>
            <a:r>
              <a:rPr lang="ru-RU" sz="4400" dirty="0"/>
              <a:t>бар эсептөөнүн натыйжасы</a:t>
            </a:r>
          </a:p>
          <a:p>
            <a:pPr algn="ctr"/>
            <a:r>
              <a:rPr lang="ru-RU" sz="4400" dirty="0"/>
              <a:t>туура эмес колдонулган.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D7D728-D2C4-51B9-7460-6F9788C94C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882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091996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350737" y="2705725"/>
            <a:ext cx="520456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экинчи даражаны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5348AF-75AC-B6F1-D215-E435ACEB0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984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2524456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34969" y="2705725"/>
            <a:ext cx="683610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тамырды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AA1FA1-670F-2F8B-7745-749E70F968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4761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245336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893412" y="2705725"/>
            <a:ext cx="811921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3 түрдүү амалдар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DED0538-CD37-11CF-0582-F5E7B8CE5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49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284444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0713" y="2705725"/>
            <a:ext cx="792460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4 түрдүү 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5EF4BE-7244-B1E1-F675-1E96661E1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7809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2511977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431538" y="2705725"/>
            <a:ext cx="704295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EB7E231-5DDB-58E3-1663-3621195358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8731" y="1746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09249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282413" y="2705725"/>
            <a:ext cx="534120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сиз билген бардык </a:t>
            </a:r>
          </a:p>
          <a:p>
            <a:pPr algn="ctr"/>
            <a:r>
              <a:rPr lang="ru-RU" sz="4400" dirty="0"/>
              <a:t>амалдар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B11F59-ABF6-1DA2-F478-E5FFB5036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871165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37256" y="3044279"/>
            <a:ext cx="743152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… кашааларды 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CECBABE-3D86-087C-E651-55CBD6DB7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4886988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94874" y="2705725"/>
            <a:ext cx="611629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керексиз кашааларды </a:t>
            </a:r>
          </a:p>
          <a:p>
            <a:pPr algn="ctr"/>
            <a:r>
              <a:rPr lang="ru-RU" sz="4400" dirty="0"/>
              <a:t>камтыган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6A679D4-86F1-B654-A034-A44FB9EDD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67931" y="6412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20868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334721" y="2705725"/>
            <a:ext cx="7236596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кашаалардын ичинде</a:t>
            </a:r>
          </a:p>
          <a:p>
            <a:pPr algn="ctr"/>
            <a:r>
              <a:rPr lang="ru-RU" sz="4400" dirty="0"/>
              <a:t> кашааларды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2F70E9-DE22-79F2-160B-B64FAFCF2A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320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52208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105812" y="2705725"/>
            <a:ext cx="76944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чарчы кашаа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6D34A3-9B69-F65F-9F00-27DC234937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013164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733469" y="2705725"/>
            <a:ext cx="843910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сандын </a:t>
            </a:r>
          </a:p>
          <a:p>
            <a:pPr algn="ctr"/>
            <a:r>
              <a:rPr lang="ru-RU" sz="4400" dirty="0"/>
              <a:t>экинчи даражасын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51C998-626A-C290-F721-C2261361E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796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835215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886669" y="2705725"/>
            <a:ext cx="61327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 тамыр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7F0C1-C4ED-C211-B7A2-92C2E7EC18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16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197704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159624" y="3044279"/>
            <a:ext cx="55867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400" dirty="0"/>
              <a:t>... нөлгө барабар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536451-023D-6544-71EE-B654C3CDA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4649194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10го барабар болгон </a:t>
            </a:r>
          </a:p>
          <a:p>
            <a:pPr algn="ctr"/>
            <a:r>
              <a:rPr lang="ru-RU" sz="4400" dirty="0"/>
              <a:t>3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17CF4B-D152-7FA6-1B62-7542AB558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52411" y="3364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374289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593124" y="2705725"/>
            <a:ext cx="671978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6га барабар болгон </a:t>
            </a:r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CEC90B-B503-3A02-2B61-5DB0718E2C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304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381222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24" y="2705725"/>
            <a:ext cx="652518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12ге барабар болгон </a:t>
            </a:r>
          </a:p>
          <a:p>
            <a:pPr algn="ctr"/>
            <a:r>
              <a:rPr lang="ru-RU" sz="4400" dirty="0"/>
              <a:t>5 түрдүү амал менен эсеп.</a:t>
            </a:r>
            <a:endParaRPr lang="en-GB" sz="4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700E62A-7A87-16DD-0F1B-A09934541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593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7438483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38870" y="2628643"/>
            <a:ext cx="3828292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1107" y="4033494"/>
                <a:ext cx="3423821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F97BAAB-216C-400C-75E4-A207EE9354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40651" y="1238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9695183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3008414" y="2628643"/>
            <a:ext cx="388920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dirty="0"/>
              <a:t>…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3942" y="4033494"/>
                <a:ext cx="3558154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2534E797-64DB-2117-8E57-8C59F4BB6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206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US" sz="4400" dirty="0"/>
              <a:t>: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3955" y="4033494"/>
                <a:ext cx="3458126" cy="92333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4C091D0-2ECC-C45A-825B-E3EE6BF71A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503211" y="68323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531415"/>
      </p:ext>
    </p:extLst>
  </p:cSld>
  <p:clrMapOvr>
    <a:masterClrMapping/>
  </p:clrMapOvr>
  <p:transition spd="slow">
    <p:push dir="u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9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96554" y="4033494"/>
                <a:ext cx="3912931" cy="93249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6A11247-D794-841C-52BF-C498CDA682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6537" y="206186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633260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</m:rad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𝑒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97670" y="4033494"/>
                <a:ext cx="6310702" cy="103765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93DAEFED-8699-2256-0E60-E4193FD488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32091" y="-33277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60993"/>
      </p:ext>
    </p:extLst>
  </p:cSld>
  <p:clrMapOvr>
    <a:masterClrMapping/>
  </p:clrMapOvr>
  <p:transition spd="slow">
    <p:push dir="u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899404" y="2628643"/>
            <a:ext cx="410721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:</a:t>
            </a:r>
            <a:r>
              <a:rPr lang="ru-RU" sz="4400" dirty="0"/>
              <a:t> түрүндө эсеп</a:t>
            </a:r>
            <a:endParaRPr lang="en-GB" sz="4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×(</m:t>
                          </m:r>
                          <m:sSup>
                            <m:sSupPr>
                              <m:ctrlP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p>
                              <m:r>
                                <a:rPr lang="en-GB" sz="5400" i="1" dirty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𝑑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9507" y="4033494"/>
                <a:ext cx="5767028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6F674B46-A6EB-2DE4-0FD0-754BB0EBD47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42193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386445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sSup>
                        <m:sSup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 + </m:t>
                      </m:r>
                      <m:rad>
                        <m:radPr>
                          <m:degHide m:val="on"/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</m:rad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2" y="4033494"/>
                <a:ext cx="8389541" cy="109857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32DDA8E7-D7DB-AB45-7E5E-19156AEA0E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898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247042"/>
      </p:ext>
    </p:extLst>
  </p:cSld>
  <p:clrMapOvr>
    <a:masterClrMapping/>
  </p:clrMapOvr>
  <p:transition spd="slow">
    <p:push dir="u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2963524" y="2628643"/>
            <a:ext cx="397897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түрүндө эсеп</a:t>
            </a:r>
            <a:r>
              <a:rPr lang="en-GB" sz="4400" dirty="0"/>
              <a:t>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/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5400" i="1" dirty="0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p>
                              <m:r>
                                <a:rPr lang="en-GB" sz="5400" b="0" i="1" dirty="0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en-GB" sz="5400" i="1" dirty="0" smtClean="0">
                          <a:latin typeface="Cambria Math" panose="02040503050406030204" pitchFamily="18" charset="0"/>
                        </a:rPr>
                        <m:t>×</m:t>
                      </m:r>
                      <m:rad>
                        <m:radPr>
                          <m:degHide m:val="on"/>
                          <m:ctrlPr>
                            <a:rPr lang="en-GB" sz="54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𝑐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GB" sz="5400" i="1" dirty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×</m:t>
                          </m:r>
                          <m:r>
                            <a:rPr lang="en-GB" sz="5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</m:rad>
                      <m:r>
                        <a:rPr lang="en-GB" sz="5400" i="1" dirty="0">
                          <a:latin typeface="Cambria Math" panose="02040503050406030204" pitchFamily="18" charset="0"/>
                        </a:rPr>
                        <m:t>÷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sz="5400" b="0" i="1" dirty="0" smtClean="0">
                          <a:latin typeface="Cambria Math" panose="02040503050406030204" pitchFamily="18" charset="0"/>
                        </a:rPr>
                        <m:t>𝑔</m:t>
                      </m:r>
                    </m:oMath>
                  </m:oMathPara>
                </a14:m>
                <a:endParaRPr lang="en-GB" sz="540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E9DEB42-DFA7-9C34-FB13-DBC37BA3E6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359" y="3917115"/>
                <a:ext cx="8195320" cy="175977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13BFD0-1B40-07FD-0F26-1CD997D6E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0811" y="8323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8339727"/>
      </p:ext>
    </p:extLst>
  </p:cSld>
  <p:clrMapOvr>
    <a:masterClrMapping/>
  </p:clrMapOvr>
  <p:transition spd="slow">
    <p:push dir="u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96358" y="2367171"/>
            <a:ext cx="791332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алымы </a:t>
            </a:r>
            <a:endParaRPr lang="en-US" sz="4400" dirty="0"/>
          </a:p>
          <a:p>
            <a:pPr algn="ctr"/>
            <a:r>
              <a:rPr lang="ru-RU" sz="4400" dirty="0"/>
              <a:t>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F4289F7-661D-F6C5-F464-4462B8065C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16451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9451765"/>
      </p:ext>
    </p:extLst>
  </p:cSld>
  <p:clrMapOvr>
    <a:masterClrMapping/>
  </p:clrMapOvr>
  <p:transition spd="slow">
    <p:push dir="u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932238" y="2367171"/>
            <a:ext cx="804156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бөлүктүн бөлүүчүсү</a:t>
            </a:r>
            <a:endParaRPr lang="en-US" sz="4400" dirty="0"/>
          </a:p>
          <a:p>
            <a:pPr algn="ctr"/>
            <a:r>
              <a:rPr lang="ru-RU" sz="4400" dirty="0"/>
              <a:t> катары амалды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D4100C-6BCF-FAAE-E516-7CFB8CC125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8129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625669"/>
      </p:ext>
    </p:extLst>
  </p:cSld>
  <p:clrMapOvr>
    <a:masterClrMapping/>
  </p:clrMapOvr>
  <p:transition spd="slow">
    <p:push dir="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15441" y="2028616"/>
            <a:ext cx="6675161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бөлчөктүн алуучу </a:t>
            </a:r>
            <a:endParaRPr lang="en-US" sz="4400" dirty="0"/>
          </a:p>
          <a:p>
            <a:pPr algn="ctr"/>
            <a:r>
              <a:rPr lang="ru-RU" sz="4400" dirty="0"/>
              <a:t>жана бөлүүчүсү сыяктуу </a:t>
            </a:r>
            <a:endParaRPr lang="en-US" sz="4400" dirty="0"/>
          </a:p>
          <a:p>
            <a:pPr algn="ctr"/>
            <a:r>
              <a:rPr lang="ru-RU" sz="4400" dirty="0"/>
              <a:t>амалдарды камтыган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E4BE27-9ACE-9A30-6E20-7C019F388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065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1629736"/>
      </p:ext>
    </p:extLst>
  </p:cSld>
  <p:clrMapOvr>
    <a:masterClrMapping/>
  </p:clrMapOvr>
  <p:transition spd="slow">
    <p:push dir="u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690431" y="2367171"/>
            <a:ext cx="6525183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терс натыйжасы бар </a:t>
            </a:r>
            <a:endParaRPr lang="en-US" sz="4400" dirty="0"/>
          </a:p>
          <a:p>
            <a:pPr algn="ctr"/>
            <a:r>
              <a:rPr lang="ru-RU" sz="4400" dirty="0"/>
              <a:t>4 түрдүү амал менен эсеп.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59CAEB-8AB0-19C4-7D82-2884ACFB8B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10171" y="0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004665"/>
      </p:ext>
    </p:extLst>
  </p:cSld>
  <p:clrMapOvr>
    <a:masterClrMapping/>
  </p:clrMapOvr>
  <p:transition spd="slow">
    <p:push dir="u"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B5A15C2-F349-472E-9EB0-C9A9F11939B1}"/>
              </a:ext>
            </a:extLst>
          </p:cNvPr>
          <p:cNvSpPr txBox="1"/>
          <p:nvPr/>
        </p:nvSpPr>
        <p:spPr>
          <a:xfrm>
            <a:off x="1256977" y="2367171"/>
            <a:ext cx="73920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4400" dirty="0"/>
              <a:t>… </a:t>
            </a:r>
            <a:r>
              <a:rPr lang="ru-RU" sz="4400" dirty="0"/>
              <a:t>ондук натыйжага ээ болгон </a:t>
            </a:r>
          </a:p>
          <a:p>
            <a:pPr algn="ctr"/>
            <a:r>
              <a:rPr lang="ru-RU" sz="4400" dirty="0"/>
              <a:t>4 түрдүү амал менен эсептөө.</a:t>
            </a:r>
            <a:endParaRPr lang="en-GB" sz="44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8D48E-14EC-5B1C-8654-F0A90BB7E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50811" y="73075"/>
            <a:ext cx="6706181" cy="1774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913802"/>
      </p:ext>
    </p:extLst>
  </p:cSld>
  <p:clrMapOvr>
    <a:masterClrMapping/>
  </p:clrMapOvr>
  <p:transition spd="slow">
    <p:push dir="u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A1B09E3-FB1B-418E-8296-C75D3293A2FA}"/>
              </a:ext>
            </a:extLst>
          </p:cNvPr>
          <p:cNvSpPr txBox="1"/>
          <p:nvPr/>
        </p:nvSpPr>
        <p:spPr>
          <a:xfrm>
            <a:off x="254000" y="1310640"/>
            <a:ext cx="939800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2800" dirty="0"/>
              <a:t>Суроолор барбы?</a:t>
            </a:r>
          </a:p>
          <a:p>
            <a:pPr marL="0" indent="0" algn="ctr">
              <a:buNone/>
            </a:pPr>
            <a:r>
              <a:rPr lang="ru-RU" sz="2800" dirty="0"/>
              <a:t>Комментарийлер?</a:t>
            </a:r>
          </a:p>
          <a:p>
            <a:pPr marL="0" indent="0" algn="ctr">
              <a:buNone/>
            </a:pPr>
            <a:r>
              <a:rPr lang="ru-RU" sz="2800" dirty="0"/>
              <a:t>Сунуштар?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…же ката таптыңызбы!?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Турдуу пикирлер учун ыраазычылык билдиребиз.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ru-RU" sz="28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2800" dirty="0"/>
          </a:p>
          <a:p>
            <a:pPr marL="0" indent="0" algn="ctr">
              <a:buNone/>
            </a:pPr>
            <a:r>
              <a:rPr lang="en-US" sz="2800" dirty="0">
                <a:solidFill>
                  <a:srgbClr val="FF0000"/>
                </a:solidFill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10449</TotalTime>
  <Words>387</Words>
  <Application>Microsoft Office PowerPoint</Application>
  <PresentationFormat>A4 Paper (210x297 mm)</PresentationFormat>
  <Paragraphs>86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Cambria Math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503</cp:revision>
  <cp:lastPrinted>2017-12-31T22:38:51Z</cp:lastPrinted>
  <dcterms:created xsi:type="dcterms:W3CDTF">2017-01-17T16:57:04Z</dcterms:created>
  <dcterms:modified xsi:type="dcterms:W3CDTF">2024-04-30T08:10:35Z</dcterms:modified>
</cp:coreProperties>
</file>