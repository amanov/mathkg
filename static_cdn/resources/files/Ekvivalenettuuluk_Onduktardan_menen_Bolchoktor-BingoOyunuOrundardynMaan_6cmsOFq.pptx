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</p:sldMasterIdLst>
  <p:notesMasterIdLst>
    <p:notesMasterId r:id="rId23"/>
  </p:notesMasterIdLst>
  <p:sldIdLst>
    <p:sldId id="967" r:id="rId2"/>
    <p:sldId id="968" r:id="rId3"/>
    <p:sldId id="851" r:id="rId4"/>
    <p:sldId id="952" r:id="rId5"/>
    <p:sldId id="949" r:id="rId6"/>
    <p:sldId id="955" r:id="rId7"/>
    <p:sldId id="958" r:id="rId8"/>
    <p:sldId id="960" r:id="rId9"/>
    <p:sldId id="954" r:id="rId10"/>
    <p:sldId id="956" r:id="rId11"/>
    <p:sldId id="963" r:id="rId12"/>
    <p:sldId id="953" r:id="rId13"/>
    <p:sldId id="959" r:id="rId14"/>
    <p:sldId id="957" r:id="rId15"/>
    <p:sldId id="961" r:id="rId16"/>
    <p:sldId id="964" r:id="rId17"/>
    <p:sldId id="966" r:id="rId18"/>
    <p:sldId id="962" r:id="rId19"/>
    <p:sldId id="965" r:id="rId20"/>
    <p:sldId id="940" r:id="rId21"/>
    <p:sldId id="274" r:id="rId22"/>
  </p:sldIdLst>
  <p:sldSz cx="9906000" cy="6858000" type="A4"/>
  <p:notesSz cx="6669088" cy="9926638"/>
  <p:embeddedFontLst>
    <p:embeddedFont>
      <p:font typeface="Cambria Math" panose="02040503050406030204" pitchFamily="18" charset="0"/>
      <p:regular r:id="rId24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Капкак слайд" id="{2D9398D8-16D6-4FAE-AB19-1864741E6792}">
          <p14:sldIdLst>
            <p14:sldId id="967"/>
          </p14:sldIdLst>
        </p14:section>
        <p14:section name="Титулдук слайд" id="{28D32456-82CD-4E03-8080-B43C3300C4CE}">
          <p14:sldIdLst>
            <p14:sldId id="968"/>
          </p14:sldIdLst>
        </p14:section>
        <p14:section name="Сандарды тандаңыз…" id="{C9905531-21F4-4739-9781-312E283928B4}">
          <p14:sldIdLst>
            <p14:sldId id="851"/>
          </p14:sldIdLst>
        </p14:section>
        <p14:section name="Суроолор" id="{27E8BDD4-AEF9-42D7-8653-0FA4B14A353C}">
          <p14:sldIdLst>
            <p14:sldId id="952"/>
            <p14:sldId id="949"/>
            <p14:sldId id="955"/>
            <p14:sldId id="958"/>
            <p14:sldId id="960"/>
            <p14:sldId id="954"/>
            <p14:sldId id="956"/>
            <p14:sldId id="963"/>
            <p14:sldId id="953"/>
            <p14:sldId id="959"/>
            <p14:sldId id="957"/>
            <p14:sldId id="961"/>
            <p14:sldId id="964"/>
            <p14:sldId id="966"/>
            <p14:sldId id="962"/>
            <p14:sldId id="965"/>
          </p14:sldIdLst>
        </p14:section>
        <p14:section name="Бош торчолор" id="{6E755883-6069-420B-9780-208DEDF6E016}">
          <p14:sldIdLst>
            <p14:sldId id="940"/>
          </p14:sldIdLst>
        </p14:section>
        <p14:section name="Кайтарым байланыш" id="{79E87442-ACDA-4976-B8DC-4981A11D14CB}">
          <p14:sldIdLst>
            <p14:sldId id="274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66"/>
    <a:srgbClr val="00FF00"/>
    <a:srgbClr val="C55A11"/>
    <a:srgbClr val="FF3300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691" autoAdjust="0"/>
    <p:restoredTop sz="94660"/>
  </p:normalViewPr>
  <p:slideViewPr>
    <p:cSldViewPr snapToGrid="0" showGuides="1">
      <p:cViewPr varScale="1">
        <p:scale>
          <a:sx n="63" d="100"/>
          <a:sy n="63" d="100"/>
        </p:scale>
        <p:origin x="1380" y="36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25" d="100"/>
        <a:sy n="125" d="100"/>
      </p:scale>
      <p:origin x="0" y="-5004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777607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r">
              <a:defRPr sz="1200"/>
            </a:lvl1pPr>
          </a:lstStyle>
          <a:p>
            <a:fld id="{9C6A85EB-AF26-437E-8488-94E19A13AA79}" type="datetimeFigureOut">
              <a:rPr lang="en-GB" smtClean="0"/>
              <a:t>29/08/2024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15988" y="1241425"/>
            <a:ext cx="4837112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0589" tIns="45294" rIns="90589" bIns="45294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66909" y="4777196"/>
            <a:ext cx="5335270" cy="3908613"/>
          </a:xfrm>
          <a:prstGeom prst="rect">
            <a:avLst/>
          </a:prstGeom>
        </p:spPr>
        <p:txBody>
          <a:bodyPr vert="horz" lIns="90589" tIns="45294" rIns="90589" bIns="45294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777607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r">
              <a:defRPr sz="12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91471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29953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48310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8/29/2024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98940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8/29/2024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0504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8/29/2024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67655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8/29/2024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67749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8/29/2024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56809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8/29/2024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62159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80174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51427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5F08A-1E71-4B2B-BB49-E743F2903911}" type="datetime1">
              <a:rPr lang="en-US" smtClean="0"/>
              <a:t>8/29/2024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56332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8/29/2024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10" r:id="rId6"/>
    <p:sldLayoutId id="2147483711" r:id="rId7"/>
    <p:sldLayoutId id="2147483712" r:id="rId8"/>
    <p:sldLayoutId id="2147483713" r:id="rId9"/>
    <p:sldLayoutId id="2147483714" r:id="rId10"/>
    <p:sldLayoutId id="2147483715" r:id="rId11"/>
    <p:sldLayoutId id="2147483716" r:id="rId12"/>
    <p:sldLayoutId id="2147483717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025EA81-A56A-F313-A57E-1902D826223E}"/>
              </a:ext>
            </a:extLst>
          </p:cNvPr>
          <p:cNvSpPr txBox="1"/>
          <p:nvPr/>
        </p:nvSpPr>
        <p:spPr>
          <a:xfrm>
            <a:off x="538480" y="1391920"/>
            <a:ext cx="8788400" cy="55707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Ондуктан Бөлчөккө – орун</a:t>
            </a:r>
            <a:r>
              <a:rPr kumimoji="0" lang="ky-KG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дук</a:t>
            </a: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мааниси менен– Бинго ,жооптору менен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Окуучулар 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суроо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тордон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тогуз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жоопту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тандап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,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аларды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дептериндеги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3х3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квадратка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туш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келди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жайгаштырышы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керек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Мугалим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оюн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учурундагы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кыйынчылыкка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жараша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суроолорду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тандаса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болот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Убакыттын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өтүшүнө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жараша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, </a:t>
            </a: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окуучулар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сызык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, X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же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О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(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бардыгы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)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менен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жеңе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алышат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</a:t>
            </a: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Анимацияларды текшерип, </a:t>
            </a:r>
            <a:r>
              <a:rPr kumimoji="0" lang="ky-KG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сабагы</a:t>
            </a: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ң</a:t>
            </a:r>
            <a:r>
              <a:rPr kumimoji="0" lang="ky-KG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ызга </a:t>
            </a:r>
            <a:r>
              <a:rPr kumimoji="0" lang="ru-RU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КЕРЕГИ ЖОК </a:t>
            </a: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слайддарды </a:t>
            </a:r>
            <a:r>
              <a:rPr kumimoji="0" lang="ru-RU" sz="4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ӨЧҮРҮ</a:t>
            </a:r>
            <a:r>
              <a:rPr kumimoji="0" lang="ky-KG" sz="4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П САЛЫ</a:t>
            </a:r>
            <a:r>
              <a:rPr kumimoji="0" lang="ru-RU" sz="4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ҢЫЗ.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itle 3">
            <a:extLst>
              <a:ext uri="{FF2B5EF4-FFF2-40B4-BE49-F238E27FC236}">
                <a16:creationId xmlns:a16="http://schemas.microsoft.com/office/drawing/2014/main" id="{A5549679-E227-A24B-8160-3267950C6BC5}"/>
              </a:ext>
            </a:extLst>
          </p:cNvPr>
          <p:cNvSpPr txBox="1">
            <a:spLocks/>
          </p:cNvSpPr>
          <p:nvPr/>
        </p:nvSpPr>
        <p:spPr>
          <a:xfrm>
            <a:off x="71120" y="279718"/>
            <a:ext cx="9404350" cy="14001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MathKGZ</a:t>
            </a:r>
            <a:r>
              <a:rPr kumimoji="0" lang="en-US" sz="52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 -- </a:t>
            </a:r>
          </a:p>
        </p:txBody>
      </p:sp>
    </p:spTree>
    <p:extLst>
      <p:ext uri="{BB962C8B-B14F-4D97-AF65-F5344CB8AC3E}">
        <p14:creationId xmlns:p14="http://schemas.microsoft.com/office/powerpoint/2010/main" val="17856292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34A0ED1-3629-4CDD-A58D-B95B3284C69E}"/>
              </a:ext>
            </a:extLst>
          </p:cNvPr>
          <p:cNvGraphicFramePr>
            <a:graphicFrameLocks noGrp="1"/>
          </p:cNvGraphicFramePr>
          <p:nvPr/>
        </p:nvGraphicFramePr>
        <p:xfrm>
          <a:off x="5400040" y="495497"/>
          <a:ext cx="3896361" cy="38963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8787">
                  <a:extLst>
                    <a:ext uri="{9D8B030D-6E8A-4147-A177-3AD203B41FA5}">
                      <a16:colId xmlns:a16="http://schemas.microsoft.com/office/drawing/2014/main" val="115635351"/>
                    </a:ext>
                  </a:extLst>
                </a:gridCol>
                <a:gridCol w="1298787">
                  <a:extLst>
                    <a:ext uri="{9D8B030D-6E8A-4147-A177-3AD203B41FA5}">
                      <a16:colId xmlns:a16="http://schemas.microsoft.com/office/drawing/2014/main" val="2834483198"/>
                    </a:ext>
                  </a:extLst>
                </a:gridCol>
                <a:gridCol w="1298787">
                  <a:extLst>
                    <a:ext uri="{9D8B030D-6E8A-4147-A177-3AD203B41FA5}">
                      <a16:colId xmlns:a16="http://schemas.microsoft.com/office/drawing/2014/main" val="3183003522"/>
                    </a:ext>
                  </a:extLst>
                </a:gridCol>
              </a:tblGrid>
              <a:tr h="1298787">
                <a:tc>
                  <a:txBody>
                    <a:bodyPr/>
                    <a:lstStyle/>
                    <a:p>
                      <a:pPr algn="ctr"/>
                      <a:r>
                        <a:rPr lang="en-GB" sz="6600" b="1" dirty="0">
                          <a:solidFill>
                            <a:schemeClr val="tx1"/>
                          </a:solidFill>
                        </a:rPr>
                        <a:t>45</a:t>
                      </a:r>
                    </a:p>
                  </a:txBody>
                  <a:tcPr marL="197935" marR="197935" marT="98968" marB="98968" anchor="ctr">
                    <a:lnL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6600" b="1" dirty="0">
                          <a:solidFill>
                            <a:schemeClr val="tx1"/>
                          </a:solidFill>
                        </a:rPr>
                        <a:t>54</a:t>
                      </a:r>
                    </a:p>
                  </a:txBody>
                  <a:tcPr marL="197935" marR="197935" marT="98968" marB="98968" anchor="ctr">
                    <a:lnL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6600" b="1" dirty="0">
                          <a:solidFill>
                            <a:schemeClr val="tx1"/>
                          </a:solidFill>
                        </a:rPr>
                        <a:t>23</a:t>
                      </a:r>
                    </a:p>
                  </a:txBody>
                  <a:tcPr marL="197935" marR="197935" marT="98968" marB="98968" anchor="ctr">
                    <a:lnL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2735878"/>
                  </a:ext>
                </a:extLst>
              </a:tr>
              <a:tr h="1298787">
                <a:tc>
                  <a:txBody>
                    <a:bodyPr/>
                    <a:lstStyle/>
                    <a:p>
                      <a:pPr algn="ctr"/>
                      <a:r>
                        <a:rPr lang="en-GB" sz="6600" b="1" dirty="0">
                          <a:solidFill>
                            <a:schemeClr val="tx1"/>
                          </a:solidFill>
                        </a:rPr>
                        <a:t>82</a:t>
                      </a:r>
                    </a:p>
                  </a:txBody>
                  <a:tcPr marL="197935" marR="197935" marT="98968" marB="98968" anchor="ctr">
                    <a:lnL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6600" b="1" dirty="0">
                          <a:solidFill>
                            <a:schemeClr val="tx1"/>
                          </a:solidFill>
                        </a:rPr>
                        <a:t>37</a:t>
                      </a:r>
                    </a:p>
                  </a:txBody>
                  <a:tcPr marL="197935" marR="197935" marT="98968" marB="98968" anchor="ctr">
                    <a:lnL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6600" b="1" dirty="0">
                          <a:solidFill>
                            <a:schemeClr val="tx1"/>
                          </a:solidFill>
                        </a:rPr>
                        <a:t>12</a:t>
                      </a:r>
                    </a:p>
                  </a:txBody>
                  <a:tcPr marL="197935" marR="197935" marT="98968" marB="98968" anchor="ctr">
                    <a:lnL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7044118"/>
                  </a:ext>
                </a:extLst>
              </a:tr>
              <a:tr h="1298787">
                <a:tc>
                  <a:txBody>
                    <a:bodyPr/>
                    <a:lstStyle/>
                    <a:p>
                      <a:pPr algn="ctr"/>
                      <a:r>
                        <a:rPr lang="en-GB" sz="6600" b="1" dirty="0">
                          <a:solidFill>
                            <a:schemeClr val="tx1"/>
                          </a:solidFill>
                        </a:rPr>
                        <a:t>76</a:t>
                      </a:r>
                    </a:p>
                  </a:txBody>
                  <a:tcPr marL="197935" marR="197935" marT="98968" marB="98968" anchor="ctr">
                    <a:lnL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6600" b="1" dirty="0">
                          <a:solidFill>
                            <a:schemeClr val="tx1"/>
                          </a:solidFill>
                        </a:rPr>
                        <a:t>25</a:t>
                      </a:r>
                    </a:p>
                  </a:txBody>
                  <a:tcPr marL="197935" marR="197935" marT="98968" marB="98968" anchor="ctr">
                    <a:lnL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6600" b="1" dirty="0">
                          <a:solidFill>
                            <a:schemeClr val="tx1"/>
                          </a:solidFill>
                        </a:rPr>
                        <a:t>91</a:t>
                      </a:r>
                    </a:p>
                  </a:txBody>
                  <a:tcPr marL="197935" marR="197935" marT="98968" marB="98968" anchor="ctr">
                    <a:lnL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5527153"/>
                  </a:ext>
                </a:extLst>
              </a:tr>
            </a:tbl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A7B2AA45-FF2C-4A34-9A81-5A8EBE133E9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00040" y="495497"/>
            <a:ext cx="1328420" cy="132842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5FCF7CF-6A6C-4477-AEEE-930530D464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446367">
            <a:off x="6721372" y="1804985"/>
            <a:ext cx="1189215" cy="118921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A51917A-7ABA-4CF9-9A1E-DE9D9BF533C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817761">
            <a:off x="8065365" y="3076658"/>
            <a:ext cx="1328420" cy="132842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A58D772-7203-4047-B730-8A75F50264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817761" flipH="1" flipV="1">
            <a:off x="5322490" y="2932737"/>
            <a:ext cx="1526948" cy="152694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D5FBB59-7545-4187-BFB5-71AAC1644FA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870123">
            <a:off x="6753612" y="523758"/>
            <a:ext cx="1189215" cy="1189215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FBF76227-595D-492B-8E21-FFB692418519}"/>
              </a:ext>
            </a:extLst>
          </p:cNvPr>
          <p:cNvSpPr/>
          <p:nvPr/>
        </p:nvSpPr>
        <p:spPr>
          <a:xfrm>
            <a:off x="0" y="297064"/>
            <a:ext cx="7221249" cy="2646878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6600" b="1" i="0" u="none" strike="noStrike" kern="1200" cap="none" spc="0" normalizeH="0" baseline="0" noProof="0" dirty="0">
                <a:ln w="57150">
                  <a:solidFill>
                    <a:sysClr val="windowText" lastClr="000000"/>
                  </a:solidFill>
                </a:ln>
                <a:solidFill>
                  <a:srgbClr val="00B050"/>
                </a:solidFill>
                <a:effectLst>
                  <a:reflection blurRad="6350" stA="53000" endA="300" endPos="35500" dir="5400000" sy="-90000" algn="bl" rotWithShape="0"/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Бинго</a:t>
            </a:r>
            <a:r>
              <a:rPr kumimoji="0" lang="en-US" sz="16600" b="1" i="0" u="none" strike="noStrike" kern="1200" cap="none" spc="0" normalizeH="0" baseline="0" noProof="0" dirty="0">
                <a:ln w="57150">
                  <a:solidFill>
                    <a:sysClr val="windowText" lastClr="000000"/>
                  </a:solidFill>
                </a:ln>
                <a:solidFill>
                  <a:srgbClr val="00B050"/>
                </a:solidFill>
                <a:effectLst>
                  <a:reflection blurRad="6350" stA="53000" endA="300" endPos="35500" dir="5400000" sy="-90000" algn="bl" rotWithShape="0"/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!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EE67413-2406-441B-89DC-A1394BD34636}"/>
              </a:ext>
            </a:extLst>
          </p:cNvPr>
          <p:cNvSpPr/>
          <p:nvPr/>
        </p:nvSpPr>
        <p:spPr>
          <a:xfrm>
            <a:off x="-434273" y="3429000"/>
            <a:ext cx="9811954" cy="3046988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9600" b="1" i="0" u="none" strike="noStrike" kern="1200" cap="none" spc="0" normalizeH="0" baseline="0" noProof="0" dirty="0">
                <a:ln w="38100">
                  <a:solidFill>
                    <a:sysClr val="windowText" lastClr="000000"/>
                  </a:solidFill>
                </a:ln>
                <a:solidFill>
                  <a:srgbClr val="00B050"/>
                </a:solidFill>
                <a:effectLst>
                  <a:reflection blurRad="6350" stA="53000" endA="300" endPos="35500" dir="5400000" sy="-90000" algn="bl" rotWithShape="0"/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Ондук сандык маанилер</a:t>
            </a:r>
          </a:p>
        </p:txBody>
      </p:sp>
    </p:spTree>
    <p:extLst>
      <p:ext uri="{BB962C8B-B14F-4D97-AF65-F5344CB8AC3E}">
        <p14:creationId xmlns:p14="http://schemas.microsoft.com/office/powerpoint/2010/main" val="18102149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77595893"/>
                  </p:ext>
                </p:extLst>
              </p:nvPr>
            </p:nvGraphicFramePr>
            <p:xfrm>
              <a:off x="292100" y="904875"/>
              <a:ext cx="9321800" cy="479107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330450">
                      <a:extLst>
                        <a:ext uri="{9D8B030D-6E8A-4147-A177-3AD203B41FA5}">
                          <a16:colId xmlns:a16="http://schemas.microsoft.com/office/drawing/2014/main" val="62045395"/>
                        </a:ext>
                      </a:extLst>
                    </a:gridCol>
                    <a:gridCol w="2330450">
                      <a:extLst>
                        <a:ext uri="{9D8B030D-6E8A-4147-A177-3AD203B41FA5}">
                          <a16:colId xmlns:a16="http://schemas.microsoft.com/office/drawing/2014/main" val="2161216684"/>
                        </a:ext>
                      </a:extLst>
                    </a:gridCol>
                    <a:gridCol w="2330450">
                      <a:extLst>
                        <a:ext uri="{9D8B030D-6E8A-4147-A177-3AD203B41FA5}">
                          <a16:colId xmlns:a16="http://schemas.microsoft.com/office/drawing/2014/main" val="2924408573"/>
                        </a:ext>
                      </a:extLst>
                    </a:gridCol>
                    <a:gridCol w="2330450">
                      <a:extLst>
                        <a:ext uri="{9D8B030D-6E8A-4147-A177-3AD203B41FA5}">
                          <a16:colId xmlns:a16="http://schemas.microsoft.com/office/drawing/2014/main" val="2772295460"/>
                        </a:ext>
                      </a:extLst>
                    </a:gridCol>
                  </a:tblGrid>
                  <a:tr h="1224876"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32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32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3</m:t>
                                    </m:r>
                                  </m:num>
                                  <m:den>
                                    <m:r>
                                      <a:rPr kumimoji="0" lang="en-GB" sz="32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4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32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32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3</m:t>
                                    </m:r>
                                  </m:num>
                                  <m:den>
                                    <m:r>
                                      <a:rPr kumimoji="0" lang="en-GB" sz="32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500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4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32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32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7</m:t>
                                    </m:r>
                                  </m:num>
                                  <m:den>
                                    <m:r>
                                      <a:rPr kumimoji="0" lang="en-GB" sz="32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500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4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32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32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5</m:t>
                                    </m:r>
                                  </m:num>
                                  <m:den>
                                    <m:r>
                                      <a:rPr kumimoji="0" lang="en-GB" sz="32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2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4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44658278"/>
                      </a:ext>
                    </a:extLst>
                  </a:tr>
                  <a:tr h="1188733"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32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32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11</m:t>
                                    </m:r>
                                  </m:num>
                                  <m:den>
                                    <m:r>
                                      <a:rPr kumimoji="0" lang="en-GB" sz="32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50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4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32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32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23</m:t>
                                    </m:r>
                                  </m:num>
                                  <m:den>
                                    <m:r>
                                      <a:rPr kumimoji="0" lang="en-GB" sz="32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50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4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32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32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31</m:t>
                                    </m:r>
                                  </m:num>
                                  <m:den>
                                    <m:r>
                                      <a:rPr kumimoji="0" lang="en-GB" sz="32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250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4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32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32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kumimoji="0" lang="en-GB" sz="32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2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4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20458257"/>
                      </a:ext>
                    </a:extLst>
                  </a:tr>
                  <a:tr h="1188733"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32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32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3</m:t>
                                    </m:r>
                                  </m:num>
                                  <m:den>
                                    <m:r>
                                      <a:rPr kumimoji="0" lang="en-GB" sz="32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50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4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32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32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2</m:t>
                                    </m:r>
                                  </m:num>
                                  <m:den>
                                    <m:r>
                                      <a:rPr kumimoji="0" lang="en-GB" sz="32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4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32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32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6</m:t>
                                    </m:r>
                                  </m:num>
                                  <m:den>
                                    <m:r>
                                      <a:rPr kumimoji="0" lang="en-GB" sz="32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4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32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32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kumimoji="0" lang="en-GB" sz="32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50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4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32040813"/>
                      </a:ext>
                    </a:extLst>
                  </a:tr>
                  <a:tr h="1188733"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32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32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kumimoji="0" lang="en-GB" sz="32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500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4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32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32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27</m:t>
                                    </m:r>
                                  </m:num>
                                  <m:den>
                                    <m:r>
                                      <a:rPr kumimoji="0" lang="en-GB" sz="32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500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4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32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32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19</m:t>
                                    </m:r>
                                  </m:num>
                                  <m:den>
                                    <m:r>
                                      <a:rPr kumimoji="0" lang="en-GB" sz="32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50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4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32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32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4</m:t>
                                    </m:r>
                                  </m:num>
                                  <m:den>
                                    <m:r>
                                      <a:rPr kumimoji="0" lang="en-GB" sz="32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4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2898647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77595893"/>
                  </p:ext>
                </p:extLst>
              </p:nvPr>
            </p:nvGraphicFramePr>
            <p:xfrm>
              <a:off x="292100" y="904875"/>
              <a:ext cx="9321800" cy="479107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330450">
                      <a:extLst>
                        <a:ext uri="{9D8B030D-6E8A-4147-A177-3AD203B41FA5}">
                          <a16:colId xmlns:a16="http://schemas.microsoft.com/office/drawing/2014/main" val="62045395"/>
                        </a:ext>
                      </a:extLst>
                    </a:gridCol>
                    <a:gridCol w="2330450">
                      <a:extLst>
                        <a:ext uri="{9D8B030D-6E8A-4147-A177-3AD203B41FA5}">
                          <a16:colId xmlns:a16="http://schemas.microsoft.com/office/drawing/2014/main" val="2161216684"/>
                        </a:ext>
                      </a:extLst>
                    </a:gridCol>
                    <a:gridCol w="2330450">
                      <a:extLst>
                        <a:ext uri="{9D8B030D-6E8A-4147-A177-3AD203B41FA5}">
                          <a16:colId xmlns:a16="http://schemas.microsoft.com/office/drawing/2014/main" val="2924408573"/>
                        </a:ext>
                      </a:extLst>
                    </a:gridCol>
                    <a:gridCol w="2330450">
                      <a:extLst>
                        <a:ext uri="{9D8B030D-6E8A-4147-A177-3AD203B41FA5}">
                          <a16:colId xmlns:a16="http://schemas.microsoft.com/office/drawing/2014/main" val="2772295460"/>
                        </a:ext>
                      </a:extLst>
                    </a:gridCol>
                  </a:tblGrid>
                  <a:tr h="122487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61" t="-498" r="-300261" b="-29253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0261" t="-498" r="-200261" b="-29253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0785" t="-498" r="-100785" b="-29253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00000" t="-498" r="-522" b="-29253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44658278"/>
                      </a:ext>
                    </a:extLst>
                  </a:tr>
                  <a:tr h="118873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61" t="-103590" r="-300261" b="-20153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0261" t="-103590" r="-200261" b="-20153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0785" t="-103590" r="-100785" b="-20153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00000" t="-103590" r="-522" b="-20153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20458257"/>
                      </a:ext>
                    </a:extLst>
                  </a:tr>
                  <a:tr h="118873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61" t="-202551" r="-300261" b="-10051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0261" t="-202551" r="-200261" b="-10051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0785" t="-202551" r="-100785" b="-10051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00000" t="-202551" r="-522" b="-10051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32040813"/>
                      </a:ext>
                    </a:extLst>
                  </a:tr>
                  <a:tr h="118873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61" t="-304103" r="-300261" b="-102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0261" t="-304103" r="-200261" b="-102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0785" t="-304103" r="-100785" b="-102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00000" t="-304103" r="-522" b="-102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28986472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3" name="Rectangle 2"/>
          <p:cNvSpPr/>
          <p:nvPr/>
        </p:nvSpPr>
        <p:spPr>
          <a:xfrm>
            <a:off x="793463" y="137451"/>
            <a:ext cx="8319073" cy="110799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ky-KG" sz="6600" b="1" cap="none" spc="0" dirty="0">
                <a:ln w="9525">
                  <a:solidFill>
                    <a:sysClr val="windowText" lastClr="000000"/>
                  </a:solidFill>
                </a:ln>
                <a:solidFill>
                  <a:srgbClr val="00B050"/>
                </a:solidFill>
                <a:effectLst>
                  <a:reflection blurRad="6350" stA="53000" endA="300" endPos="35500" dir="5400000" sy="-90000" algn="bl" rotWithShape="0"/>
                </a:effectLst>
              </a:rPr>
              <a:t>Сандарды тандаңыз…</a:t>
            </a:r>
            <a:endParaRPr lang="en-US" sz="6600" b="1" cap="none" spc="0" dirty="0">
              <a:ln w="9525">
                <a:solidFill>
                  <a:sysClr val="windowText" lastClr="000000"/>
                </a:solidFill>
              </a:ln>
              <a:solidFill>
                <a:srgbClr val="00B050"/>
              </a:solidFill>
              <a:effectLst>
                <a:reflection blurRad="6350" stA="53000" endA="300" endPos="35500" dir="5400000" sy="-90000" algn="bl" rotWithShape="0"/>
              </a:effectLst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5F6707C-594E-4BE7-9A2A-69EC69C30D43}"/>
              </a:ext>
            </a:extLst>
          </p:cNvPr>
          <p:cNvGraphicFramePr>
            <a:graphicFrameLocks noGrp="1"/>
          </p:cNvGraphicFramePr>
          <p:nvPr/>
        </p:nvGraphicFramePr>
        <p:xfrm>
          <a:off x="5530918" y="5786675"/>
          <a:ext cx="879027" cy="87902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3009">
                  <a:extLst>
                    <a:ext uri="{9D8B030D-6E8A-4147-A177-3AD203B41FA5}">
                      <a16:colId xmlns:a16="http://schemas.microsoft.com/office/drawing/2014/main" val="62045395"/>
                    </a:ext>
                  </a:extLst>
                </a:gridCol>
                <a:gridCol w="293009">
                  <a:extLst>
                    <a:ext uri="{9D8B030D-6E8A-4147-A177-3AD203B41FA5}">
                      <a16:colId xmlns:a16="http://schemas.microsoft.com/office/drawing/2014/main" val="2161216684"/>
                    </a:ext>
                  </a:extLst>
                </a:gridCol>
                <a:gridCol w="293009">
                  <a:extLst>
                    <a:ext uri="{9D8B030D-6E8A-4147-A177-3AD203B41FA5}">
                      <a16:colId xmlns:a16="http://schemas.microsoft.com/office/drawing/2014/main" val="2924408573"/>
                    </a:ext>
                  </a:extLst>
                </a:gridCol>
              </a:tblGrid>
              <a:tr h="29300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5818" marR="55818" marT="27909" marB="27909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5818" marR="55818" marT="27909" marB="27909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5818" marR="55818" marT="27909" marB="27909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4658278"/>
                  </a:ext>
                </a:extLst>
              </a:tr>
              <a:tr h="29300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100" dirty="0"/>
                    </a:p>
                  </a:txBody>
                  <a:tcPr marL="55818" marR="55818" marT="27909" marB="27909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100" dirty="0"/>
                    </a:p>
                  </a:txBody>
                  <a:tcPr marL="55818" marR="55818" marT="27909" marB="27909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100" dirty="0"/>
                    </a:p>
                  </a:txBody>
                  <a:tcPr marL="55818" marR="55818" marT="27909" marB="27909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0458257"/>
                  </a:ext>
                </a:extLst>
              </a:tr>
              <a:tr h="29300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5818" marR="55818" marT="27909" marB="27909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5818" marR="55818" marT="27909" marB="27909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5818" marR="55818" marT="27909" marB="27909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2040813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8EDEA543-F1EE-4312-B1A0-843C76004B58}"/>
              </a:ext>
            </a:extLst>
          </p:cNvPr>
          <p:cNvSpPr txBox="1"/>
          <p:nvPr/>
        </p:nvSpPr>
        <p:spPr>
          <a:xfrm>
            <a:off x="1525719" y="6041522"/>
            <a:ext cx="40051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Китепке/дептерге 3х3 торчо тартыңыз.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436885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2924250" y="472607"/>
            <a:ext cx="4057521" cy="18620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1500" spc="800" dirty="0"/>
              <a:t>6.681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F900EE2-72C9-4390-92F9-26E78AB31680}"/>
              </a:ext>
            </a:extLst>
          </p:cNvPr>
          <p:cNvSpPr txBox="1"/>
          <p:nvPr/>
        </p:nvSpPr>
        <p:spPr>
          <a:xfrm>
            <a:off x="512761" y="2904774"/>
            <a:ext cx="8897179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3200" dirty="0"/>
              <a:t>Белгиленген сандын маанисин жөнөкөйлөтүлгөн </a:t>
            </a:r>
          </a:p>
          <a:p>
            <a:pPr algn="ctr"/>
            <a:r>
              <a:rPr lang="ky-KG" sz="3200" dirty="0"/>
              <a:t>бөлчөк катары сүрөттөп бериңиз.</a:t>
            </a:r>
            <a:endParaRPr lang="en-GB" sz="3200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C5EC7DE-E46E-46F2-808E-EB05470AD980}"/>
              </a:ext>
            </a:extLst>
          </p:cNvPr>
          <p:cNvSpPr/>
          <p:nvPr/>
        </p:nvSpPr>
        <p:spPr>
          <a:xfrm>
            <a:off x="4242434" y="790574"/>
            <a:ext cx="948691" cy="1304926"/>
          </a:xfrm>
          <a:prstGeom prst="roundRect">
            <a:avLst/>
          </a:prstGeom>
          <a:noFill/>
          <a:ln w="5715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2B1CDCE-360A-404B-A9B3-63840AE7FD99}"/>
                  </a:ext>
                </a:extLst>
              </p:cNvPr>
              <p:cNvSpPr txBox="1"/>
              <p:nvPr/>
            </p:nvSpPr>
            <p:spPr>
              <a:xfrm>
                <a:off x="3640601" y="4574716"/>
                <a:ext cx="2641492" cy="18269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60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6000" b="0" i="1" dirty="0" smtClean="0">
                              <a:latin typeface="Cambria Math" panose="02040503050406030204" pitchFamily="18" charset="0"/>
                            </a:rPr>
                            <m:t>6</m:t>
                          </m:r>
                        </m:num>
                        <m:den>
                          <m:r>
                            <a:rPr lang="en-GB" sz="6000" b="0" i="1" dirty="0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  <m:r>
                        <a:rPr lang="en-GB" sz="60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60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60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GB" sz="6000" b="0" i="1" dirty="0" smtClean="0"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</m:oMath>
                  </m:oMathPara>
                </a14:m>
                <a:endParaRPr lang="en-GB" sz="60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2B1CDCE-360A-404B-A9B3-63840AE7FD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40601" y="4574716"/>
                <a:ext cx="2641492" cy="182697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6416388E-ADFF-49F3-9134-E49B0AD49F9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rgbClr val="00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</p:spTree>
    <p:extLst>
      <p:ext uri="{BB962C8B-B14F-4D97-AF65-F5344CB8AC3E}">
        <p14:creationId xmlns:p14="http://schemas.microsoft.com/office/powerpoint/2010/main" val="15920414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2924250" y="472607"/>
            <a:ext cx="4057521" cy="18620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1500" spc="800" dirty="0"/>
              <a:t>4.519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F900EE2-72C9-4390-92F9-26E78AB31680}"/>
              </a:ext>
            </a:extLst>
          </p:cNvPr>
          <p:cNvSpPr txBox="1"/>
          <p:nvPr/>
        </p:nvSpPr>
        <p:spPr>
          <a:xfrm>
            <a:off x="512757" y="2904774"/>
            <a:ext cx="8897179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3200" dirty="0"/>
              <a:t>Белгиленген сандын маанисин жөнөкөйлөтүлгөн </a:t>
            </a:r>
          </a:p>
          <a:p>
            <a:pPr algn="ctr"/>
            <a:r>
              <a:rPr lang="ky-KG" sz="3200" dirty="0"/>
              <a:t>бөлчөк катары сүрөттөп бериңиз.</a:t>
            </a:r>
            <a:endParaRPr lang="en-GB" sz="3200" dirty="0"/>
          </a:p>
          <a:p>
            <a:pPr algn="ctr"/>
            <a:endParaRPr lang="en-GB" sz="3200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C5EC7DE-E46E-46F2-808E-EB05470AD980}"/>
              </a:ext>
            </a:extLst>
          </p:cNvPr>
          <p:cNvSpPr/>
          <p:nvPr/>
        </p:nvSpPr>
        <p:spPr>
          <a:xfrm>
            <a:off x="4242434" y="790574"/>
            <a:ext cx="948691" cy="1304926"/>
          </a:xfrm>
          <a:prstGeom prst="roundRect">
            <a:avLst/>
          </a:prstGeom>
          <a:noFill/>
          <a:ln w="5715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2B1CDCE-360A-404B-A9B3-63840AE7FD99}"/>
                  </a:ext>
                </a:extLst>
              </p:cNvPr>
              <p:cNvSpPr txBox="1"/>
              <p:nvPr/>
            </p:nvSpPr>
            <p:spPr>
              <a:xfrm>
                <a:off x="3640601" y="4574716"/>
                <a:ext cx="2641492" cy="184576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60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6000" b="0" i="1" dirty="0" smtClean="0">
                              <a:latin typeface="Cambria Math" panose="02040503050406030204" pitchFamily="18" charset="0"/>
                            </a:rPr>
                            <m:t>5</m:t>
                          </m:r>
                        </m:num>
                        <m:den>
                          <m:r>
                            <a:rPr lang="en-GB" sz="6000" b="0" i="1" dirty="0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  <m:r>
                        <a:rPr lang="en-GB" sz="60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60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60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60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GB" sz="60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2B1CDCE-360A-404B-A9B3-63840AE7FD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40601" y="4574716"/>
                <a:ext cx="2641492" cy="184576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AE6D8995-32AA-4332-8C63-DE1697A33DD8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rgbClr val="FF00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</p:spTree>
    <p:extLst>
      <p:ext uri="{BB962C8B-B14F-4D97-AF65-F5344CB8AC3E}">
        <p14:creationId xmlns:p14="http://schemas.microsoft.com/office/powerpoint/2010/main" val="2459093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2924250" y="472607"/>
            <a:ext cx="4057521" cy="18620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1500" spc="800" dirty="0"/>
              <a:t>3.029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F900EE2-72C9-4390-92F9-26E78AB31680}"/>
              </a:ext>
            </a:extLst>
          </p:cNvPr>
          <p:cNvSpPr txBox="1"/>
          <p:nvPr/>
        </p:nvSpPr>
        <p:spPr>
          <a:xfrm>
            <a:off x="512757" y="2904774"/>
            <a:ext cx="8897179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3200" dirty="0"/>
              <a:t>Белгиленген сандын маанисин жөнөкөйлөтүлгөн </a:t>
            </a:r>
          </a:p>
          <a:p>
            <a:pPr algn="ctr"/>
            <a:r>
              <a:rPr lang="ky-KG" sz="3200" dirty="0"/>
              <a:t>бөлчөк катары сүрөттөп бериңиз.</a:t>
            </a:r>
            <a:endParaRPr lang="en-GB" sz="3200" dirty="0"/>
          </a:p>
          <a:p>
            <a:pPr algn="ctr"/>
            <a:endParaRPr lang="en-GB" sz="3200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C5EC7DE-E46E-46F2-808E-EB05470AD980}"/>
              </a:ext>
            </a:extLst>
          </p:cNvPr>
          <p:cNvSpPr/>
          <p:nvPr/>
        </p:nvSpPr>
        <p:spPr>
          <a:xfrm>
            <a:off x="5080634" y="790574"/>
            <a:ext cx="948691" cy="1304926"/>
          </a:xfrm>
          <a:prstGeom prst="roundRect">
            <a:avLst/>
          </a:prstGeom>
          <a:noFill/>
          <a:ln w="5715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2B1CDCE-360A-404B-A9B3-63840AE7FD99}"/>
                  </a:ext>
                </a:extLst>
              </p:cNvPr>
              <p:cNvSpPr txBox="1"/>
              <p:nvPr/>
            </p:nvSpPr>
            <p:spPr>
              <a:xfrm>
                <a:off x="3214203" y="4574716"/>
                <a:ext cx="3494290" cy="18269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60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60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GB" sz="6000" b="0" i="1" dirty="0" smtClean="0">
                              <a:latin typeface="Cambria Math" panose="02040503050406030204" pitchFamily="18" charset="0"/>
                            </a:rPr>
                            <m:t>100</m:t>
                          </m:r>
                        </m:den>
                      </m:f>
                      <m:r>
                        <a:rPr lang="en-GB" sz="60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60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60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6000" b="0" i="1" dirty="0" smtClean="0">
                              <a:latin typeface="Cambria Math" panose="02040503050406030204" pitchFamily="18" charset="0"/>
                            </a:rPr>
                            <m:t>50</m:t>
                          </m:r>
                        </m:den>
                      </m:f>
                    </m:oMath>
                  </m:oMathPara>
                </a14:m>
                <a:endParaRPr lang="en-GB" sz="60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2B1CDCE-360A-404B-A9B3-63840AE7FD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14203" y="4574716"/>
                <a:ext cx="3494290" cy="182697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14C6CC12-6BB0-466E-AEAF-4FD8AE7AA9F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rgbClr val="00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</p:spTree>
    <p:extLst>
      <p:ext uri="{BB962C8B-B14F-4D97-AF65-F5344CB8AC3E}">
        <p14:creationId xmlns:p14="http://schemas.microsoft.com/office/powerpoint/2010/main" val="134413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2924250" y="472607"/>
            <a:ext cx="4057521" cy="18620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1500" spc="800" dirty="0"/>
              <a:t>0.423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F900EE2-72C9-4390-92F9-26E78AB31680}"/>
              </a:ext>
            </a:extLst>
          </p:cNvPr>
          <p:cNvSpPr txBox="1"/>
          <p:nvPr/>
        </p:nvSpPr>
        <p:spPr>
          <a:xfrm>
            <a:off x="512757" y="2904774"/>
            <a:ext cx="8897179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3200" dirty="0"/>
              <a:t>Белгиленген сандын маанисин жөнөкөйлөтүлгөн </a:t>
            </a:r>
          </a:p>
          <a:p>
            <a:pPr algn="ctr"/>
            <a:r>
              <a:rPr lang="ky-KG" sz="3200" dirty="0"/>
              <a:t>бөлчөк катары сүрөттөп бериңиз.</a:t>
            </a:r>
            <a:endParaRPr lang="en-GB" sz="3200" dirty="0"/>
          </a:p>
          <a:p>
            <a:pPr algn="ctr"/>
            <a:endParaRPr lang="en-GB" sz="3200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C5EC7DE-E46E-46F2-808E-EB05470AD980}"/>
              </a:ext>
            </a:extLst>
          </p:cNvPr>
          <p:cNvSpPr/>
          <p:nvPr/>
        </p:nvSpPr>
        <p:spPr>
          <a:xfrm>
            <a:off x="4242434" y="790574"/>
            <a:ext cx="948691" cy="1304926"/>
          </a:xfrm>
          <a:prstGeom prst="roundRect">
            <a:avLst/>
          </a:prstGeom>
          <a:noFill/>
          <a:ln w="5715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2B1CDCE-360A-404B-A9B3-63840AE7FD99}"/>
                  </a:ext>
                </a:extLst>
              </p:cNvPr>
              <p:cNvSpPr txBox="1"/>
              <p:nvPr/>
            </p:nvSpPr>
            <p:spPr>
              <a:xfrm>
                <a:off x="3640601" y="4574716"/>
                <a:ext cx="2641492" cy="18269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60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6000" b="0" i="1" dirty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num>
                        <m:den>
                          <m:r>
                            <a:rPr lang="en-GB" sz="6000" b="0" i="1" dirty="0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  <m:r>
                        <a:rPr lang="en-GB" sz="60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60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60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GB" sz="6000" b="0" i="1" dirty="0" smtClean="0"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</m:oMath>
                  </m:oMathPara>
                </a14:m>
                <a:endParaRPr lang="en-GB" sz="60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2B1CDCE-360A-404B-A9B3-63840AE7FD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40601" y="4574716"/>
                <a:ext cx="2641492" cy="182697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C687CB8F-E201-4F72-BE68-92104B37A248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rgbClr val="FF00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</p:spTree>
    <p:extLst>
      <p:ext uri="{BB962C8B-B14F-4D97-AF65-F5344CB8AC3E}">
        <p14:creationId xmlns:p14="http://schemas.microsoft.com/office/powerpoint/2010/main" val="1270113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2924250" y="472607"/>
            <a:ext cx="4057521" cy="18620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1500" spc="800" dirty="0"/>
              <a:t>2.577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F900EE2-72C9-4390-92F9-26E78AB31680}"/>
              </a:ext>
            </a:extLst>
          </p:cNvPr>
          <p:cNvSpPr txBox="1"/>
          <p:nvPr/>
        </p:nvSpPr>
        <p:spPr>
          <a:xfrm>
            <a:off x="512759" y="2904774"/>
            <a:ext cx="8897179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3200" dirty="0"/>
              <a:t>Белгиленген сандын маанисин жөнөкөйлөтүлгөн </a:t>
            </a:r>
          </a:p>
          <a:p>
            <a:pPr algn="ctr"/>
            <a:r>
              <a:rPr lang="ky-KG" sz="3200" dirty="0"/>
              <a:t>бөлчөк катары сүрөттөп бериңиз.</a:t>
            </a:r>
            <a:endParaRPr lang="en-GB" sz="3200" dirty="0"/>
          </a:p>
          <a:p>
            <a:pPr algn="ctr"/>
            <a:endParaRPr lang="en-GB" sz="3200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C5EC7DE-E46E-46F2-808E-EB05470AD980}"/>
              </a:ext>
            </a:extLst>
          </p:cNvPr>
          <p:cNvSpPr/>
          <p:nvPr/>
        </p:nvSpPr>
        <p:spPr>
          <a:xfrm>
            <a:off x="2985134" y="790574"/>
            <a:ext cx="2110741" cy="1304926"/>
          </a:xfrm>
          <a:prstGeom prst="roundRect">
            <a:avLst/>
          </a:prstGeom>
          <a:noFill/>
          <a:ln w="5715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2B1CDCE-360A-404B-A9B3-63840AE7FD99}"/>
                  </a:ext>
                </a:extLst>
              </p:cNvPr>
              <p:cNvSpPr txBox="1"/>
              <p:nvPr/>
            </p:nvSpPr>
            <p:spPr>
              <a:xfrm>
                <a:off x="3640601" y="4574716"/>
                <a:ext cx="2641492" cy="184576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60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6000" b="0" i="1" dirty="0" smtClean="0">
                              <a:latin typeface="Cambria Math" panose="02040503050406030204" pitchFamily="18" charset="0"/>
                            </a:rPr>
                            <m:t>25</m:t>
                          </m:r>
                        </m:num>
                        <m:den>
                          <m:r>
                            <a:rPr lang="en-GB" sz="6000" b="0" i="1" dirty="0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  <m:r>
                        <a:rPr lang="en-GB" sz="60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60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6000" b="0" i="1" dirty="0" smtClean="0">
                              <a:latin typeface="Cambria Math" panose="02040503050406030204" pitchFamily="18" charset="0"/>
                            </a:rPr>
                            <m:t>5</m:t>
                          </m:r>
                        </m:num>
                        <m:den>
                          <m:r>
                            <a:rPr lang="en-GB" sz="60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GB" sz="60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2B1CDCE-360A-404B-A9B3-63840AE7FD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40601" y="4574716"/>
                <a:ext cx="2641492" cy="184576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D378300A-DD32-4893-A516-2A629954272D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rgbClr val="00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</p:spTree>
    <p:extLst>
      <p:ext uri="{BB962C8B-B14F-4D97-AF65-F5344CB8AC3E}">
        <p14:creationId xmlns:p14="http://schemas.microsoft.com/office/powerpoint/2010/main" val="30298104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2924250" y="472607"/>
            <a:ext cx="4057521" cy="18620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1500" spc="800" dirty="0"/>
              <a:t>0.464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F900EE2-72C9-4390-92F9-26E78AB31680}"/>
              </a:ext>
            </a:extLst>
          </p:cNvPr>
          <p:cNvSpPr txBox="1"/>
          <p:nvPr/>
        </p:nvSpPr>
        <p:spPr>
          <a:xfrm>
            <a:off x="512757" y="2904774"/>
            <a:ext cx="8897179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3200" dirty="0"/>
              <a:t>Белгиленген сандын маанисин жөнөкөйлөтүлгөн </a:t>
            </a:r>
          </a:p>
          <a:p>
            <a:pPr algn="ctr"/>
            <a:r>
              <a:rPr lang="ky-KG" sz="3200" dirty="0"/>
              <a:t>бөлчөк катары сүрөттөп бериңиз.</a:t>
            </a:r>
            <a:endParaRPr lang="en-GB" sz="3200" dirty="0"/>
          </a:p>
          <a:p>
            <a:pPr algn="ctr"/>
            <a:endParaRPr lang="en-GB" sz="3200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C5EC7DE-E46E-46F2-808E-EB05470AD980}"/>
              </a:ext>
            </a:extLst>
          </p:cNvPr>
          <p:cNvSpPr/>
          <p:nvPr/>
        </p:nvSpPr>
        <p:spPr>
          <a:xfrm>
            <a:off x="5080634" y="790574"/>
            <a:ext cx="948691" cy="1304926"/>
          </a:xfrm>
          <a:prstGeom prst="roundRect">
            <a:avLst/>
          </a:prstGeom>
          <a:noFill/>
          <a:ln w="5715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2B1CDCE-360A-404B-A9B3-63840AE7FD99}"/>
                  </a:ext>
                </a:extLst>
              </p:cNvPr>
              <p:cNvSpPr txBox="1"/>
              <p:nvPr/>
            </p:nvSpPr>
            <p:spPr>
              <a:xfrm>
                <a:off x="3214203" y="4574716"/>
                <a:ext cx="3494290" cy="18269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60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6000" b="0" i="1" dirty="0" smtClean="0">
                              <a:latin typeface="Cambria Math" panose="02040503050406030204" pitchFamily="18" charset="0"/>
                            </a:rPr>
                            <m:t>6</m:t>
                          </m:r>
                        </m:num>
                        <m:den>
                          <m:r>
                            <a:rPr lang="en-GB" sz="6000" b="0" i="1" dirty="0" smtClean="0">
                              <a:latin typeface="Cambria Math" panose="02040503050406030204" pitchFamily="18" charset="0"/>
                            </a:rPr>
                            <m:t>100</m:t>
                          </m:r>
                        </m:den>
                      </m:f>
                      <m:r>
                        <a:rPr lang="en-GB" sz="60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60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60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GB" sz="6000" b="0" i="1" dirty="0" smtClean="0">
                              <a:latin typeface="Cambria Math" panose="02040503050406030204" pitchFamily="18" charset="0"/>
                            </a:rPr>
                            <m:t>50</m:t>
                          </m:r>
                        </m:den>
                      </m:f>
                    </m:oMath>
                  </m:oMathPara>
                </a14:m>
                <a:endParaRPr lang="en-GB" sz="60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2B1CDCE-360A-404B-A9B3-63840AE7FD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14203" y="4574716"/>
                <a:ext cx="3494290" cy="182697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DEE2C276-0486-4CB6-A43B-FBAA6D116A36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rgbClr val="FF00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</p:spTree>
    <p:extLst>
      <p:ext uri="{BB962C8B-B14F-4D97-AF65-F5344CB8AC3E}">
        <p14:creationId xmlns:p14="http://schemas.microsoft.com/office/powerpoint/2010/main" val="20046305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2924250" y="472607"/>
            <a:ext cx="4057521" cy="18620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1500" spc="800" dirty="0"/>
              <a:t>8.132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F900EE2-72C9-4390-92F9-26E78AB31680}"/>
              </a:ext>
            </a:extLst>
          </p:cNvPr>
          <p:cNvSpPr txBox="1"/>
          <p:nvPr/>
        </p:nvSpPr>
        <p:spPr>
          <a:xfrm>
            <a:off x="512757" y="2904774"/>
            <a:ext cx="8897179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3200" dirty="0"/>
              <a:t>Белгиленген сандын маанисин жөнөкөйлөтүлгөн </a:t>
            </a:r>
          </a:p>
          <a:p>
            <a:pPr algn="ctr"/>
            <a:r>
              <a:rPr lang="ky-KG" sz="3200" dirty="0"/>
              <a:t>бөлчөк катары сүрөттөп бериңиз.</a:t>
            </a:r>
            <a:endParaRPr lang="en-GB" sz="3200" dirty="0"/>
          </a:p>
          <a:p>
            <a:pPr algn="ctr"/>
            <a:endParaRPr lang="en-GB" sz="3200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C5EC7DE-E46E-46F2-808E-EB05470AD980}"/>
              </a:ext>
            </a:extLst>
          </p:cNvPr>
          <p:cNvSpPr/>
          <p:nvPr/>
        </p:nvSpPr>
        <p:spPr>
          <a:xfrm>
            <a:off x="5956934" y="790574"/>
            <a:ext cx="948691" cy="1304926"/>
          </a:xfrm>
          <a:prstGeom prst="roundRect">
            <a:avLst/>
          </a:prstGeom>
          <a:noFill/>
          <a:ln w="5715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2B1CDCE-360A-404B-A9B3-63840AE7FD99}"/>
                  </a:ext>
                </a:extLst>
              </p:cNvPr>
              <p:cNvSpPr txBox="1"/>
              <p:nvPr/>
            </p:nvSpPr>
            <p:spPr>
              <a:xfrm>
                <a:off x="2787805" y="4574716"/>
                <a:ext cx="4347087" cy="18269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60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60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GB" sz="6000" b="0" i="1" dirty="0" smtClean="0">
                              <a:latin typeface="Cambria Math" panose="02040503050406030204" pitchFamily="18" charset="0"/>
                            </a:rPr>
                            <m:t>1000</m:t>
                          </m:r>
                        </m:den>
                      </m:f>
                      <m:r>
                        <a:rPr lang="en-GB" sz="60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60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60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6000" b="0" i="1" dirty="0" smtClean="0">
                              <a:latin typeface="Cambria Math" panose="02040503050406030204" pitchFamily="18" charset="0"/>
                            </a:rPr>
                            <m:t>500</m:t>
                          </m:r>
                        </m:den>
                      </m:f>
                    </m:oMath>
                  </m:oMathPara>
                </a14:m>
                <a:endParaRPr lang="en-GB" sz="60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2B1CDCE-360A-404B-A9B3-63840AE7FD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87805" y="4574716"/>
                <a:ext cx="4347087" cy="182697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A6E16814-892D-4F1F-87E8-A5895100B870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rgbClr val="00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</p:spTree>
    <p:extLst>
      <p:ext uri="{BB962C8B-B14F-4D97-AF65-F5344CB8AC3E}">
        <p14:creationId xmlns:p14="http://schemas.microsoft.com/office/powerpoint/2010/main" val="10389821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2924250" y="472607"/>
            <a:ext cx="4057521" cy="18620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1500" spc="800" dirty="0"/>
              <a:t>5.461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F900EE2-72C9-4390-92F9-26E78AB31680}"/>
              </a:ext>
            </a:extLst>
          </p:cNvPr>
          <p:cNvSpPr txBox="1"/>
          <p:nvPr/>
        </p:nvSpPr>
        <p:spPr>
          <a:xfrm>
            <a:off x="512759" y="2904774"/>
            <a:ext cx="8897179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3200" dirty="0"/>
              <a:t>Белгиленген сандын маанисин жөнөкөйлөтүлгөн </a:t>
            </a:r>
          </a:p>
          <a:p>
            <a:pPr algn="ctr"/>
            <a:r>
              <a:rPr lang="ky-KG" sz="3200" dirty="0"/>
              <a:t>бөлчөк катары сүрөттөп бериңиз.</a:t>
            </a:r>
            <a:endParaRPr lang="en-GB" sz="3200" dirty="0"/>
          </a:p>
          <a:p>
            <a:pPr algn="ctr"/>
            <a:endParaRPr lang="en-GB" sz="3200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C5EC7DE-E46E-46F2-808E-EB05470AD980}"/>
              </a:ext>
            </a:extLst>
          </p:cNvPr>
          <p:cNvSpPr/>
          <p:nvPr/>
        </p:nvSpPr>
        <p:spPr>
          <a:xfrm>
            <a:off x="4290059" y="790574"/>
            <a:ext cx="1710691" cy="1304926"/>
          </a:xfrm>
          <a:prstGeom prst="roundRect">
            <a:avLst/>
          </a:prstGeom>
          <a:noFill/>
          <a:ln w="5715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2B1CDCE-360A-404B-A9B3-63840AE7FD99}"/>
                  </a:ext>
                </a:extLst>
              </p:cNvPr>
              <p:cNvSpPr txBox="1"/>
              <p:nvPr/>
            </p:nvSpPr>
            <p:spPr>
              <a:xfrm>
                <a:off x="3214203" y="4574716"/>
                <a:ext cx="3494290" cy="18269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60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6000" b="0" i="1" dirty="0" smtClean="0">
                              <a:latin typeface="Cambria Math" panose="02040503050406030204" pitchFamily="18" charset="0"/>
                            </a:rPr>
                            <m:t>46</m:t>
                          </m:r>
                        </m:num>
                        <m:den>
                          <m:r>
                            <a:rPr lang="en-GB" sz="6000" b="0" i="1" dirty="0" smtClean="0">
                              <a:latin typeface="Cambria Math" panose="02040503050406030204" pitchFamily="18" charset="0"/>
                            </a:rPr>
                            <m:t>100</m:t>
                          </m:r>
                        </m:den>
                      </m:f>
                      <m:r>
                        <a:rPr lang="en-GB" sz="60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60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6000" b="0" i="1" dirty="0" smtClean="0">
                              <a:latin typeface="Cambria Math" panose="02040503050406030204" pitchFamily="18" charset="0"/>
                            </a:rPr>
                            <m:t>23</m:t>
                          </m:r>
                        </m:num>
                        <m:den>
                          <m:r>
                            <a:rPr lang="en-GB" sz="6000" b="0" i="1" dirty="0" smtClean="0">
                              <a:latin typeface="Cambria Math" panose="02040503050406030204" pitchFamily="18" charset="0"/>
                            </a:rPr>
                            <m:t>50</m:t>
                          </m:r>
                        </m:den>
                      </m:f>
                    </m:oMath>
                  </m:oMathPara>
                </a14:m>
                <a:endParaRPr lang="en-GB" sz="60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2B1CDCE-360A-404B-A9B3-63840AE7FD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14203" y="4574716"/>
                <a:ext cx="3494290" cy="182697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40CE9DAF-360C-4D30-97E8-18DFDB66A9F1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rgbClr val="FF00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</p:spTree>
    <p:extLst>
      <p:ext uri="{BB962C8B-B14F-4D97-AF65-F5344CB8AC3E}">
        <p14:creationId xmlns:p14="http://schemas.microsoft.com/office/powerpoint/2010/main" val="22491859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2924250" y="472607"/>
            <a:ext cx="4057522" cy="18620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1500" spc="800" dirty="0"/>
              <a:t>1.897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F900EE2-72C9-4390-92F9-26E78AB31680}"/>
              </a:ext>
            </a:extLst>
          </p:cNvPr>
          <p:cNvSpPr txBox="1"/>
          <p:nvPr/>
        </p:nvSpPr>
        <p:spPr>
          <a:xfrm>
            <a:off x="512757" y="2904774"/>
            <a:ext cx="8897179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3200" dirty="0"/>
              <a:t>Белгиленген сандын маанисин жөнөкөйлөтүлгөн </a:t>
            </a:r>
          </a:p>
          <a:p>
            <a:pPr algn="ctr"/>
            <a:r>
              <a:rPr lang="ky-KG" sz="3200" dirty="0"/>
              <a:t>бөлчөк катары сүрөттөп бериңиз.</a:t>
            </a:r>
            <a:endParaRPr lang="en-GB" sz="3200" dirty="0"/>
          </a:p>
          <a:p>
            <a:pPr algn="ctr"/>
            <a:endParaRPr lang="en-GB" sz="3200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C5EC7DE-E46E-46F2-808E-EB05470AD980}"/>
              </a:ext>
            </a:extLst>
          </p:cNvPr>
          <p:cNvSpPr/>
          <p:nvPr/>
        </p:nvSpPr>
        <p:spPr>
          <a:xfrm>
            <a:off x="4242434" y="790574"/>
            <a:ext cx="948691" cy="1304926"/>
          </a:xfrm>
          <a:prstGeom prst="roundRect">
            <a:avLst/>
          </a:prstGeom>
          <a:noFill/>
          <a:ln w="5715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2B1CDCE-360A-404B-A9B3-63840AE7FD99}"/>
                  </a:ext>
                </a:extLst>
              </p:cNvPr>
              <p:cNvSpPr txBox="1"/>
              <p:nvPr/>
            </p:nvSpPr>
            <p:spPr>
              <a:xfrm>
                <a:off x="3640601" y="4574716"/>
                <a:ext cx="2641492" cy="18269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60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6000" b="0" i="1" dirty="0" smtClean="0">
                              <a:latin typeface="Cambria Math" panose="02040503050406030204" pitchFamily="18" charset="0"/>
                            </a:rPr>
                            <m:t>8</m:t>
                          </m:r>
                        </m:num>
                        <m:den>
                          <m:r>
                            <a:rPr lang="en-GB" sz="6000" b="0" i="1" dirty="0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  <m:r>
                        <a:rPr lang="en-GB" sz="60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60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6000" b="0" i="1" dirty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num>
                        <m:den>
                          <m:r>
                            <a:rPr lang="en-GB" sz="6000" b="0" i="1" dirty="0" smtClean="0"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</m:oMath>
                  </m:oMathPara>
                </a14:m>
                <a:endParaRPr lang="en-GB" sz="60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2B1CDCE-360A-404B-A9B3-63840AE7FD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40601" y="4574716"/>
                <a:ext cx="2641492" cy="182697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247E3A58-7CCA-4B77-B740-891D21CC7BF7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rgbClr val="00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</p:spTree>
    <p:extLst>
      <p:ext uri="{BB962C8B-B14F-4D97-AF65-F5344CB8AC3E}">
        <p14:creationId xmlns:p14="http://schemas.microsoft.com/office/powerpoint/2010/main" val="10024794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2924250" y="472607"/>
            <a:ext cx="4057521" cy="18620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1500" spc="800" dirty="0"/>
              <a:t>1.245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F900EE2-72C9-4390-92F9-26E78AB31680}"/>
              </a:ext>
            </a:extLst>
          </p:cNvPr>
          <p:cNvSpPr txBox="1"/>
          <p:nvPr/>
        </p:nvSpPr>
        <p:spPr>
          <a:xfrm>
            <a:off x="512759" y="2904774"/>
            <a:ext cx="8897179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3200" dirty="0"/>
              <a:t>Белгиленген сандын маанисин жөнөкөйлөтүлгөн </a:t>
            </a:r>
          </a:p>
          <a:p>
            <a:pPr algn="ctr"/>
            <a:r>
              <a:rPr lang="ky-KG" sz="3200" dirty="0"/>
              <a:t>бөлчөк катары сүрөттөп бериңиз.</a:t>
            </a:r>
            <a:endParaRPr lang="en-GB" sz="3200" dirty="0"/>
          </a:p>
          <a:p>
            <a:pPr algn="ctr"/>
            <a:endParaRPr lang="en-GB" sz="3200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C5EC7DE-E46E-46F2-808E-EB05470AD980}"/>
              </a:ext>
            </a:extLst>
          </p:cNvPr>
          <p:cNvSpPr/>
          <p:nvPr/>
        </p:nvSpPr>
        <p:spPr>
          <a:xfrm>
            <a:off x="2985134" y="790574"/>
            <a:ext cx="2110741" cy="1304926"/>
          </a:xfrm>
          <a:prstGeom prst="roundRect">
            <a:avLst/>
          </a:prstGeom>
          <a:noFill/>
          <a:ln w="5715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2B1CDCE-360A-404B-A9B3-63840AE7FD99}"/>
                  </a:ext>
                </a:extLst>
              </p:cNvPr>
              <p:cNvSpPr txBox="1"/>
              <p:nvPr/>
            </p:nvSpPr>
            <p:spPr>
              <a:xfrm>
                <a:off x="3640601" y="4574716"/>
                <a:ext cx="2641492" cy="18269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60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6000" b="0" i="1" dirty="0" smtClean="0">
                              <a:latin typeface="Cambria Math" panose="02040503050406030204" pitchFamily="18" charset="0"/>
                            </a:rPr>
                            <m:t>12</m:t>
                          </m:r>
                        </m:num>
                        <m:den>
                          <m:r>
                            <a:rPr lang="en-GB" sz="6000" b="0" i="1" dirty="0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  <m:r>
                        <a:rPr lang="en-GB" sz="60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60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6000" b="0" i="1" dirty="0" smtClean="0">
                              <a:latin typeface="Cambria Math" panose="02040503050406030204" pitchFamily="18" charset="0"/>
                            </a:rPr>
                            <m:t>6</m:t>
                          </m:r>
                        </m:num>
                        <m:den>
                          <m:r>
                            <a:rPr lang="en-GB" sz="6000" b="0" i="1" dirty="0" smtClean="0"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</m:oMath>
                  </m:oMathPara>
                </a14:m>
                <a:endParaRPr lang="en-GB" sz="60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2B1CDCE-360A-404B-A9B3-63840AE7FD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40601" y="4574716"/>
                <a:ext cx="2641492" cy="182697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B348A35A-6856-49CC-AC1D-451F77D59B66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rgbClr val="FF00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</p:spTree>
    <p:extLst>
      <p:ext uri="{BB962C8B-B14F-4D97-AF65-F5344CB8AC3E}">
        <p14:creationId xmlns:p14="http://schemas.microsoft.com/office/powerpoint/2010/main" val="31769436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2924250" y="472607"/>
            <a:ext cx="4057521" cy="18620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1500" spc="800" dirty="0"/>
              <a:t>3.726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F900EE2-72C9-4390-92F9-26E78AB31680}"/>
              </a:ext>
            </a:extLst>
          </p:cNvPr>
          <p:cNvSpPr txBox="1"/>
          <p:nvPr/>
        </p:nvSpPr>
        <p:spPr>
          <a:xfrm>
            <a:off x="512757" y="2904774"/>
            <a:ext cx="8897179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3200" dirty="0"/>
              <a:t>Белгиленген сандын маанисин жөнөкөйлөтүлгөн </a:t>
            </a:r>
          </a:p>
          <a:p>
            <a:pPr algn="ctr"/>
            <a:r>
              <a:rPr lang="ky-KG" sz="3200" dirty="0"/>
              <a:t>бөлчөк катары сүрөттөп бериңиз.</a:t>
            </a:r>
            <a:endParaRPr lang="en-GB" sz="3200" dirty="0"/>
          </a:p>
          <a:p>
            <a:pPr algn="ctr"/>
            <a:endParaRPr lang="en-GB" sz="3200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C5EC7DE-E46E-46F2-808E-EB05470AD980}"/>
              </a:ext>
            </a:extLst>
          </p:cNvPr>
          <p:cNvSpPr/>
          <p:nvPr/>
        </p:nvSpPr>
        <p:spPr>
          <a:xfrm>
            <a:off x="5956934" y="790574"/>
            <a:ext cx="948691" cy="1304926"/>
          </a:xfrm>
          <a:prstGeom prst="roundRect">
            <a:avLst/>
          </a:prstGeom>
          <a:noFill/>
          <a:ln w="5715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2B1CDCE-360A-404B-A9B3-63840AE7FD99}"/>
                  </a:ext>
                </a:extLst>
              </p:cNvPr>
              <p:cNvSpPr txBox="1"/>
              <p:nvPr/>
            </p:nvSpPr>
            <p:spPr>
              <a:xfrm>
                <a:off x="2787805" y="4574716"/>
                <a:ext cx="4347087" cy="18269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60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6000" b="0" i="1" dirty="0" smtClean="0">
                              <a:latin typeface="Cambria Math" panose="02040503050406030204" pitchFamily="18" charset="0"/>
                            </a:rPr>
                            <m:t>6</m:t>
                          </m:r>
                        </m:num>
                        <m:den>
                          <m:r>
                            <a:rPr lang="en-GB" sz="6000" b="0" i="1" dirty="0" smtClean="0">
                              <a:latin typeface="Cambria Math" panose="02040503050406030204" pitchFamily="18" charset="0"/>
                            </a:rPr>
                            <m:t>1000</m:t>
                          </m:r>
                        </m:den>
                      </m:f>
                      <m:r>
                        <a:rPr lang="en-GB" sz="60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60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60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GB" sz="6000" b="0" i="1" dirty="0" smtClean="0">
                              <a:latin typeface="Cambria Math" panose="02040503050406030204" pitchFamily="18" charset="0"/>
                            </a:rPr>
                            <m:t>500</m:t>
                          </m:r>
                        </m:den>
                      </m:f>
                    </m:oMath>
                  </m:oMathPara>
                </a14:m>
                <a:endParaRPr lang="en-GB" sz="60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2B1CDCE-360A-404B-A9B3-63840AE7FD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87805" y="4574716"/>
                <a:ext cx="4347087" cy="182697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C3296A7E-1AD6-4823-BE6B-625C94289865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rgbClr val="00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</p:spTree>
    <p:extLst>
      <p:ext uri="{BB962C8B-B14F-4D97-AF65-F5344CB8AC3E}">
        <p14:creationId xmlns:p14="http://schemas.microsoft.com/office/powerpoint/2010/main" val="22650758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2924250" y="472607"/>
            <a:ext cx="4057521" cy="18620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1500" spc="800" dirty="0"/>
              <a:t>4.221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F900EE2-72C9-4390-92F9-26E78AB31680}"/>
              </a:ext>
            </a:extLst>
          </p:cNvPr>
          <p:cNvSpPr txBox="1"/>
          <p:nvPr/>
        </p:nvSpPr>
        <p:spPr>
          <a:xfrm>
            <a:off x="512759" y="2904774"/>
            <a:ext cx="8897179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3200" dirty="0"/>
              <a:t>Белгиленген сандын маанисин жөнөкөйлөтүлгөн </a:t>
            </a:r>
          </a:p>
          <a:p>
            <a:pPr algn="ctr"/>
            <a:r>
              <a:rPr lang="ky-KG" sz="3200" dirty="0"/>
              <a:t>бөлчөк катары сүрөттөп бериңиз.</a:t>
            </a:r>
            <a:endParaRPr lang="en-GB" sz="3200" dirty="0"/>
          </a:p>
          <a:p>
            <a:pPr algn="ctr"/>
            <a:endParaRPr lang="en-GB" sz="3200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C5EC7DE-E46E-46F2-808E-EB05470AD980}"/>
              </a:ext>
            </a:extLst>
          </p:cNvPr>
          <p:cNvSpPr/>
          <p:nvPr/>
        </p:nvSpPr>
        <p:spPr>
          <a:xfrm>
            <a:off x="4290059" y="790574"/>
            <a:ext cx="1710691" cy="1304926"/>
          </a:xfrm>
          <a:prstGeom prst="roundRect">
            <a:avLst/>
          </a:prstGeom>
          <a:noFill/>
          <a:ln w="5715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2B1CDCE-360A-404B-A9B3-63840AE7FD99}"/>
                  </a:ext>
                </a:extLst>
              </p:cNvPr>
              <p:cNvSpPr txBox="1"/>
              <p:nvPr/>
            </p:nvSpPr>
            <p:spPr>
              <a:xfrm>
                <a:off x="3214203" y="4574716"/>
                <a:ext cx="3494290" cy="184576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60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6000" b="0" i="1" dirty="0" smtClean="0">
                              <a:latin typeface="Cambria Math" panose="02040503050406030204" pitchFamily="18" charset="0"/>
                            </a:rPr>
                            <m:t>22</m:t>
                          </m:r>
                        </m:num>
                        <m:den>
                          <m:r>
                            <a:rPr lang="en-GB" sz="6000" b="0" i="1" dirty="0" smtClean="0">
                              <a:latin typeface="Cambria Math" panose="02040503050406030204" pitchFamily="18" charset="0"/>
                            </a:rPr>
                            <m:t>100</m:t>
                          </m:r>
                        </m:den>
                      </m:f>
                      <m:r>
                        <a:rPr lang="en-GB" sz="60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60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6000" b="0" i="1" dirty="0" smtClean="0">
                              <a:latin typeface="Cambria Math" panose="02040503050406030204" pitchFamily="18" charset="0"/>
                            </a:rPr>
                            <m:t>11</m:t>
                          </m:r>
                        </m:num>
                        <m:den>
                          <m:r>
                            <a:rPr lang="en-GB" sz="6000" b="0" i="1" dirty="0" smtClean="0">
                              <a:latin typeface="Cambria Math" panose="02040503050406030204" pitchFamily="18" charset="0"/>
                            </a:rPr>
                            <m:t>50</m:t>
                          </m:r>
                        </m:den>
                      </m:f>
                    </m:oMath>
                  </m:oMathPara>
                </a14:m>
                <a:endParaRPr lang="en-GB" sz="60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2B1CDCE-360A-404B-A9B3-63840AE7FD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14203" y="4574716"/>
                <a:ext cx="3494290" cy="184576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8D2C555-E1D5-4C50-9898-46784D3D40D0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rgbClr val="FF00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</p:spTree>
    <p:extLst>
      <p:ext uri="{BB962C8B-B14F-4D97-AF65-F5344CB8AC3E}">
        <p14:creationId xmlns:p14="http://schemas.microsoft.com/office/powerpoint/2010/main" val="30022755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2924250" y="472607"/>
            <a:ext cx="4057521" cy="18620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1500" spc="800" dirty="0"/>
              <a:t>7.214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F900EE2-72C9-4390-92F9-26E78AB31680}"/>
              </a:ext>
            </a:extLst>
          </p:cNvPr>
          <p:cNvSpPr txBox="1"/>
          <p:nvPr/>
        </p:nvSpPr>
        <p:spPr>
          <a:xfrm>
            <a:off x="512759" y="2904774"/>
            <a:ext cx="8897179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3200" dirty="0"/>
              <a:t>Белгиленген сандын маанисин жөнөкөйлөтүлгөн </a:t>
            </a:r>
          </a:p>
          <a:p>
            <a:pPr algn="ctr"/>
            <a:r>
              <a:rPr lang="ky-KG" sz="3200" dirty="0"/>
              <a:t>бөлчөк катары сүрөттөп бериңиз.</a:t>
            </a:r>
            <a:endParaRPr lang="en-GB" sz="3200" dirty="0"/>
          </a:p>
          <a:p>
            <a:pPr algn="ctr"/>
            <a:endParaRPr lang="en-GB" sz="3200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C5EC7DE-E46E-46F2-808E-EB05470AD980}"/>
              </a:ext>
            </a:extLst>
          </p:cNvPr>
          <p:cNvSpPr/>
          <p:nvPr/>
        </p:nvSpPr>
        <p:spPr>
          <a:xfrm>
            <a:off x="5118734" y="790574"/>
            <a:ext cx="1710691" cy="1304926"/>
          </a:xfrm>
          <a:prstGeom prst="roundRect">
            <a:avLst/>
          </a:prstGeom>
          <a:noFill/>
          <a:ln w="5715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2B1CDCE-360A-404B-A9B3-63840AE7FD99}"/>
                  </a:ext>
                </a:extLst>
              </p:cNvPr>
              <p:cNvSpPr txBox="1"/>
              <p:nvPr/>
            </p:nvSpPr>
            <p:spPr>
              <a:xfrm>
                <a:off x="2787805" y="4574716"/>
                <a:ext cx="4347087" cy="18269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60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6000" b="0" i="1" dirty="0" smtClean="0">
                              <a:latin typeface="Cambria Math" panose="02040503050406030204" pitchFamily="18" charset="0"/>
                            </a:rPr>
                            <m:t>14</m:t>
                          </m:r>
                        </m:num>
                        <m:den>
                          <m:r>
                            <a:rPr lang="en-GB" sz="6000" b="0" i="1" dirty="0" smtClean="0">
                              <a:latin typeface="Cambria Math" panose="02040503050406030204" pitchFamily="18" charset="0"/>
                            </a:rPr>
                            <m:t>1000</m:t>
                          </m:r>
                        </m:den>
                      </m:f>
                      <m:r>
                        <a:rPr lang="en-GB" sz="60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60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6000" b="0" i="1" dirty="0" smtClean="0">
                              <a:latin typeface="Cambria Math" panose="02040503050406030204" pitchFamily="18" charset="0"/>
                            </a:rPr>
                            <m:t>7</m:t>
                          </m:r>
                        </m:num>
                        <m:den>
                          <m:r>
                            <a:rPr lang="en-GB" sz="6000" b="0" i="1" dirty="0" smtClean="0">
                              <a:latin typeface="Cambria Math" panose="02040503050406030204" pitchFamily="18" charset="0"/>
                            </a:rPr>
                            <m:t>500</m:t>
                          </m:r>
                        </m:den>
                      </m:f>
                    </m:oMath>
                  </m:oMathPara>
                </a14:m>
                <a:endParaRPr lang="en-GB" sz="60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2B1CDCE-360A-404B-A9B3-63840AE7FD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87805" y="4574716"/>
                <a:ext cx="4347087" cy="182697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41C70CF0-79AD-46BC-A28A-2781156B95F7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rgbClr val="00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</p:spTree>
    <p:extLst>
      <p:ext uri="{BB962C8B-B14F-4D97-AF65-F5344CB8AC3E}">
        <p14:creationId xmlns:p14="http://schemas.microsoft.com/office/powerpoint/2010/main" val="39972788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2924250" y="472607"/>
            <a:ext cx="4057521" cy="18620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1500" spc="800" dirty="0"/>
              <a:t>8.124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F900EE2-72C9-4390-92F9-26E78AB31680}"/>
              </a:ext>
            </a:extLst>
          </p:cNvPr>
          <p:cNvSpPr txBox="1"/>
          <p:nvPr/>
        </p:nvSpPr>
        <p:spPr>
          <a:xfrm>
            <a:off x="512759" y="2904774"/>
            <a:ext cx="8897179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3200" dirty="0"/>
              <a:t>Белгиленген сандын маанисин жөнөкөйлөтүлгөн </a:t>
            </a:r>
          </a:p>
          <a:p>
            <a:pPr algn="ctr"/>
            <a:r>
              <a:rPr lang="ky-KG" sz="3200" dirty="0"/>
              <a:t>бөлчөк катары сүрөттөп бериңиз.</a:t>
            </a:r>
            <a:endParaRPr lang="en-GB" sz="3200" dirty="0"/>
          </a:p>
          <a:p>
            <a:pPr algn="ctr"/>
            <a:endParaRPr lang="en-GB" sz="3200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C5EC7DE-E46E-46F2-808E-EB05470AD980}"/>
              </a:ext>
            </a:extLst>
          </p:cNvPr>
          <p:cNvSpPr/>
          <p:nvPr/>
        </p:nvSpPr>
        <p:spPr>
          <a:xfrm>
            <a:off x="4248150" y="790574"/>
            <a:ext cx="2581275" cy="1304926"/>
          </a:xfrm>
          <a:prstGeom prst="roundRect">
            <a:avLst/>
          </a:prstGeom>
          <a:noFill/>
          <a:ln w="5715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2B1CDCE-360A-404B-A9B3-63840AE7FD99}"/>
                  </a:ext>
                </a:extLst>
              </p:cNvPr>
              <p:cNvSpPr txBox="1"/>
              <p:nvPr/>
            </p:nvSpPr>
            <p:spPr>
              <a:xfrm>
                <a:off x="2787805" y="4574716"/>
                <a:ext cx="4347087" cy="18269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60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6000" b="0" i="1" dirty="0" smtClean="0">
                              <a:latin typeface="Cambria Math" panose="02040503050406030204" pitchFamily="18" charset="0"/>
                            </a:rPr>
                            <m:t>124</m:t>
                          </m:r>
                        </m:num>
                        <m:den>
                          <m:r>
                            <a:rPr lang="en-GB" sz="6000" b="0" i="1" dirty="0" smtClean="0">
                              <a:latin typeface="Cambria Math" panose="02040503050406030204" pitchFamily="18" charset="0"/>
                            </a:rPr>
                            <m:t>1000</m:t>
                          </m:r>
                        </m:den>
                      </m:f>
                      <m:r>
                        <a:rPr lang="en-GB" sz="60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60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6000" b="0" i="1" dirty="0" smtClean="0">
                              <a:latin typeface="Cambria Math" panose="02040503050406030204" pitchFamily="18" charset="0"/>
                            </a:rPr>
                            <m:t>31</m:t>
                          </m:r>
                        </m:num>
                        <m:den>
                          <m:r>
                            <a:rPr lang="en-GB" sz="6000" b="0" i="1" dirty="0" smtClean="0">
                              <a:latin typeface="Cambria Math" panose="02040503050406030204" pitchFamily="18" charset="0"/>
                            </a:rPr>
                            <m:t>250</m:t>
                          </m:r>
                        </m:den>
                      </m:f>
                    </m:oMath>
                  </m:oMathPara>
                </a14:m>
                <a:endParaRPr lang="en-GB" sz="60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2B1CDCE-360A-404B-A9B3-63840AE7FD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87805" y="4574716"/>
                <a:ext cx="4347087" cy="182697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B8729190-AF74-4EBD-A36A-65D4043C33AD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rgbClr val="FF00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</p:spTree>
    <p:extLst>
      <p:ext uri="{BB962C8B-B14F-4D97-AF65-F5344CB8AC3E}">
        <p14:creationId xmlns:p14="http://schemas.microsoft.com/office/powerpoint/2010/main" val="17432923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2924250" y="472607"/>
            <a:ext cx="4057521" cy="18620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1500" spc="800" dirty="0"/>
              <a:t>3.384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F900EE2-72C9-4390-92F9-26E78AB31680}"/>
              </a:ext>
            </a:extLst>
          </p:cNvPr>
          <p:cNvSpPr txBox="1"/>
          <p:nvPr/>
        </p:nvSpPr>
        <p:spPr>
          <a:xfrm>
            <a:off x="512759" y="2904774"/>
            <a:ext cx="8897179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3200" dirty="0"/>
              <a:t>Белгиленген сандын маанисин жөнөкөйлөтүлгөн </a:t>
            </a:r>
          </a:p>
          <a:p>
            <a:pPr algn="ctr"/>
            <a:r>
              <a:rPr lang="ky-KG" sz="3200" dirty="0"/>
              <a:t>бөлчөк катары сүрөттөп бериңиз.</a:t>
            </a:r>
            <a:endParaRPr lang="en-GB" sz="3200" dirty="0"/>
          </a:p>
          <a:p>
            <a:pPr algn="ctr"/>
            <a:endParaRPr lang="en-GB" sz="3200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C5EC7DE-E46E-46F2-808E-EB05470AD980}"/>
              </a:ext>
            </a:extLst>
          </p:cNvPr>
          <p:cNvSpPr/>
          <p:nvPr/>
        </p:nvSpPr>
        <p:spPr>
          <a:xfrm>
            <a:off x="4290059" y="790574"/>
            <a:ext cx="1710691" cy="1304926"/>
          </a:xfrm>
          <a:prstGeom prst="roundRect">
            <a:avLst/>
          </a:prstGeom>
          <a:noFill/>
          <a:ln w="5715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2B1CDCE-360A-404B-A9B3-63840AE7FD99}"/>
                  </a:ext>
                </a:extLst>
              </p:cNvPr>
              <p:cNvSpPr txBox="1"/>
              <p:nvPr/>
            </p:nvSpPr>
            <p:spPr>
              <a:xfrm>
                <a:off x="3214203" y="4574716"/>
                <a:ext cx="3494290" cy="18269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60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6000" b="0" i="1" dirty="0" smtClean="0">
                              <a:latin typeface="Cambria Math" panose="02040503050406030204" pitchFamily="18" charset="0"/>
                            </a:rPr>
                            <m:t>38</m:t>
                          </m:r>
                        </m:num>
                        <m:den>
                          <m:r>
                            <a:rPr lang="en-GB" sz="6000" b="0" i="1" dirty="0" smtClean="0">
                              <a:latin typeface="Cambria Math" panose="02040503050406030204" pitchFamily="18" charset="0"/>
                            </a:rPr>
                            <m:t>100</m:t>
                          </m:r>
                        </m:den>
                      </m:f>
                      <m:r>
                        <a:rPr lang="en-GB" sz="60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60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6000" b="0" i="1" dirty="0" smtClean="0">
                              <a:latin typeface="Cambria Math" panose="02040503050406030204" pitchFamily="18" charset="0"/>
                            </a:rPr>
                            <m:t>19</m:t>
                          </m:r>
                        </m:num>
                        <m:den>
                          <m:r>
                            <a:rPr lang="en-GB" sz="6000" b="0" i="1" dirty="0" smtClean="0">
                              <a:latin typeface="Cambria Math" panose="02040503050406030204" pitchFamily="18" charset="0"/>
                            </a:rPr>
                            <m:t>50</m:t>
                          </m:r>
                        </m:den>
                      </m:f>
                    </m:oMath>
                  </m:oMathPara>
                </a14:m>
                <a:endParaRPr lang="en-GB" sz="60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2B1CDCE-360A-404B-A9B3-63840AE7FD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14203" y="4574716"/>
                <a:ext cx="3494290" cy="182697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C9400D42-8146-4FB3-9B73-AB80EA5DE3D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rgbClr val="00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</p:spTree>
    <p:extLst>
      <p:ext uri="{BB962C8B-B14F-4D97-AF65-F5344CB8AC3E}">
        <p14:creationId xmlns:p14="http://schemas.microsoft.com/office/powerpoint/2010/main" val="4635615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2924250" y="472607"/>
            <a:ext cx="4057521" cy="18620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1500" spc="800" dirty="0"/>
              <a:t>6.354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F900EE2-72C9-4390-92F9-26E78AB31680}"/>
              </a:ext>
            </a:extLst>
          </p:cNvPr>
          <p:cNvSpPr txBox="1"/>
          <p:nvPr/>
        </p:nvSpPr>
        <p:spPr>
          <a:xfrm>
            <a:off x="512759" y="2904774"/>
            <a:ext cx="8897179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3200" dirty="0"/>
              <a:t>Белгиленген сандын маанисин жөнөкөйлөтүлгөн </a:t>
            </a:r>
          </a:p>
          <a:p>
            <a:pPr algn="ctr"/>
            <a:r>
              <a:rPr lang="ky-KG" sz="3200" dirty="0"/>
              <a:t>бөлчөк катары сүрөттөп бериңиз.</a:t>
            </a:r>
            <a:endParaRPr lang="en-GB" sz="3200" dirty="0"/>
          </a:p>
          <a:p>
            <a:pPr algn="ctr"/>
            <a:endParaRPr lang="en-GB" sz="3200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C5EC7DE-E46E-46F2-808E-EB05470AD980}"/>
              </a:ext>
            </a:extLst>
          </p:cNvPr>
          <p:cNvSpPr/>
          <p:nvPr/>
        </p:nvSpPr>
        <p:spPr>
          <a:xfrm>
            <a:off x="5118734" y="790574"/>
            <a:ext cx="1710691" cy="1304926"/>
          </a:xfrm>
          <a:prstGeom prst="roundRect">
            <a:avLst/>
          </a:prstGeom>
          <a:noFill/>
          <a:ln w="5715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2B1CDCE-360A-404B-A9B3-63840AE7FD99}"/>
                  </a:ext>
                </a:extLst>
              </p:cNvPr>
              <p:cNvSpPr txBox="1"/>
              <p:nvPr/>
            </p:nvSpPr>
            <p:spPr>
              <a:xfrm>
                <a:off x="2787805" y="4574716"/>
                <a:ext cx="4347087" cy="184576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60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6000" b="0" i="1" dirty="0" smtClean="0">
                              <a:latin typeface="Cambria Math" panose="02040503050406030204" pitchFamily="18" charset="0"/>
                            </a:rPr>
                            <m:t>54</m:t>
                          </m:r>
                        </m:num>
                        <m:den>
                          <m:r>
                            <a:rPr lang="en-GB" sz="6000" b="0" i="1" dirty="0" smtClean="0">
                              <a:latin typeface="Cambria Math" panose="02040503050406030204" pitchFamily="18" charset="0"/>
                            </a:rPr>
                            <m:t>1000</m:t>
                          </m:r>
                        </m:den>
                      </m:f>
                      <m:r>
                        <a:rPr lang="en-GB" sz="60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60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6000" b="0" i="1" dirty="0" smtClean="0">
                              <a:latin typeface="Cambria Math" panose="02040503050406030204" pitchFamily="18" charset="0"/>
                            </a:rPr>
                            <m:t>27</m:t>
                          </m:r>
                        </m:num>
                        <m:den>
                          <m:r>
                            <a:rPr lang="en-GB" sz="6000" b="0" i="1" dirty="0" smtClean="0">
                              <a:latin typeface="Cambria Math" panose="02040503050406030204" pitchFamily="18" charset="0"/>
                            </a:rPr>
                            <m:t>500</m:t>
                          </m:r>
                        </m:den>
                      </m:f>
                    </m:oMath>
                  </m:oMathPara>
                </a14:m>
                <a:endParaRPr lang="en-GB" sz="60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2B1CDCE-360A-404B-A9B3-63840AE7FD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87805" y="4574716"/>
                <a:ext cx="4347087" cy="184576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3DE75CBB-60F1-469B-9A0D-1BDF56F681F4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rgbClr val="FF00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</p:spTree>
    <p:extLst>
      <p:ext uri="{BB962C8B-B14F-4D97-AF65-F5344CB8AC3E}">
        <p14:creationId xmlns:p14="http://schemas.microsoft.com/office/powerpoint/2010/main" val="5041302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9455F9FF-A775-44DB-99DD-42DDB47487D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2929352"/>
              </p:ext>
            </p:extLst>
          </p:nvPr>
        </p:nvGraphicFramePr>
        <p:xfrm>
          <a:off x="59945" y="73152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3AD8C36C-2AB2-44CF-BF97-992F65F82F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41891624"/>
              </p:ext>
            </p:extLst>
          </p:nvPr>
        </p:nvGraphicFramePr>
        <p:xfrm>
          <a:off x="2042419" y="73152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2773A22-7D82-4A6C-9386-8C73822F862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58005975"/>
              </p:ext>
            </p:extLst>
          </p:nvPr>
        </p:nvGraphicFramePr>
        <p:xfrm>
          <a:off x="4024893" y="73152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EACA04EB-1AF0-4BA4-B56C-D92E4B8FC6C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88737508"/>
              </p:ext>
            </p:extLst>
          </p:nvPr>
        </p:nvGraphicFramePr>
        <p:xfrm>
          <a:off x="6007367" y="73152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FDD0CEA2-BF13-4F1F-BDF8-723774394BF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72065140"/>
              </p:ext>
            </p:extLst>
          </p:nvPr>
        </p:nvGraphicFramePr>
        <p:xfrm>
          <a:off x="7989841" y="73152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5217ECC1-187E-45C6-AAD9-69FCF451F42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9819278"/>
              </p:ext>
            </p:extLst>
          </p:nvPr>
        </p:nvGraphicFramePr>
        <p:xfrm>
          <a:off x="59945" y="2493597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D8F2A369-4849-4D8C-9C48-42AC19EAC67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93002619"/>
              </p:ext>
            </p:extLst>
          </p:nvPr>
        </p:nvGraphicFramePr>
        <p:xfrm>
          <a:off x="2042419" y="2493597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8CC34FD8-28B7-4290-89FF-C844EE6A1A7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5619173"/>
              </p:ext>
            </p:extLst>
          </p:nvPr>
        </p:nvGraphicFramePr>
        <p:xfrm>
          <a:off x="4024893" y="2493597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BEE0B481-E5E6-4A56-A167-F7909231AE2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4741186"/>
              </p:ext>
            </p:extLst>
          </p:nvPr>
        </p:nvGraphicFramePr>
        <p:xfrm>
          <a:off x="6007367" y="2493597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504524C6-1AA7-41E4-A1BD-52B735BCF1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08690728"/>
              </p:ext>
            </p:extLst>
          </p:nvPr>
        </p:nvGraphicFramePr>
        <p:xfrm>
          <a:off x="7989841" y="2493597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FD378E7F-888B-451D-A437-1143E900F4C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2700732"/>
              </p:ext>
            </p:extLst>
          </p:nvPr>
        </p:nvGraphicFramePr>
        <p:xfrm>
          <a:off x="59945" y="4914042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DD9438F2-5F7B-453A-9852-A5D953E2673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57154783"/>
              </p:ext>
            </p:extLst>
          </p:nvPr>
        </p:nvGraphicFramePr>
        <p:xfrm>
          <a:off x="2042419" y="4914042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8E97513C-7184-48FD-B483-FD49969CA27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49329546"/>
              </p:ext>
            </p:extLst>
          </p:nvPr>
        </p:nvGraphicFramePr>
        <p:xfrm>
          <a:off x="4024893" y="4914042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4FE2DA72-78F4-437E-AA8B-E7D5DF47DE3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7355289"/>
              </p:ext>
            </p:extLst>
          </p:nvPr>
        </p:nvGraphicFramePr>
        <p:xfrm>
          <a:off x="6007367" y="4914042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6BB7F846-3757-45E8-B86C-628E47A78F7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74402805"/>
              </p:ext>
            </p:extLst>
          </p:nvPr>
        </p:nvGraphicFramePr>
        <p:xfrm>
          <a:off x="7989841" y="4914042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1884495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94EE51F-7A9F-BBA6-4D52-96A950D8E4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3200" y="538480"/>
            <a:ext cx="9337040" cy="6522720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ru-RU" dirty="0"/>
              <a:t>Суроолор барбы?</a:t>
            </a:r>
          </a:p>
          <a:p>
            <a:pPr marL="0" indent="0" algn="ctr">
              <a:buNone/>
            </a:pPr>
            <a:r>
              <a:rPr lang="ru-RU" dirty="0"/>
              <a:t>Комментарийлер?</a:t>
            </a:r>
          </a:p>
          <a:p>
            <a:pPr marL="0" indent="0" algn="ctr">
              <a:buNone/>
            </a:pPr>
            <a:r>
              <a:rPr lang="ru-RU" dirty="0"/>
              <a:t>Сунуштар?</a:t>
            </a:r>
          </a:p>
          <a:p>
            <a:pPr marL="0" indent="0" algn="ctr">
              <a:buNone/>
            </a:pPr>
            <a:endParaRPr lang="ru-RU" dirty="0"/>
          </a:p>
          <a:p>
            <a:pPr marL="0" indent="0" algn="ctr">
              <a:buNone/>
            </a:pPr>
            <a:r>
              <a:rPr lang="ru-RU" dirty="0"/>
              <a:t>…же ката таптыңызбы!?</a:t>
            </a:r>
          </a:p>
          <a:p>
            <a:pPr marL="0" indent="0" algn="ctr">
              <a:buNone/>
            </a:pPr>
            <a:endParaRPr lang="ru-RU" dirty="0"/>
          </a:p>
          <a:p>
            <a:pPr marL="0" indent="0" algn="ctr">
              <a:buNone/>
            </a:pPr>
            <a:r>
              <a:rPr lang="ru-RU" dirty="0"/>
              <a:t>Турдуу пикирлер учун ыраазычылык билдиребиз.</a:t>
            </a:r>
          </a:p>
          <a:p>
            <a:pPr marL="0" indent="0" algn="ctr">
              <a:buNone/>
            </a:pPr>
            <a:endParaRPr lang="ru-RU" dirty="0"/>
          </a:p>
          <a:p>
            <a:pPr marL="0" indent="0" algn="ctr">
              <a:buNone/>
            </a:pPr>
            <a:r>
              <a:rPr lang="ru-RU" dirty="0"/>
              <a:t>Сураныч, электрондук кат жөнөтүңүз:</a:t>
            </a:r>
          </a:p>
          <a:p>
            <a:pPr marL="0" indent="0" algn="ctr">
              <a:buNone/>
            </a:pPr>
            <a:endParaRPr lang="ru-RU" dirty="0"/>
          </a:p>
          <a:p>
            <a:pPr marL="0" indent="0" algn="ctr">
              <a:buNone/>
            </a:pPr>
            <a:r>
              <a:rPr lang="en-US" dirty="0">
                <a:solidFill>
                  <a:srgbClr val="FF0000"/>
                </a:solidFill>
              </a:rPr>
              <a:t>mathematicskgz@gmail.com</a:t>
            </a:r>
          </a:p>
        </p:txBody>
      </p:sp>
    </p:spTree>
    <p:extLst>
      <p:ext uri="{BB962C8B-B14F-4D97-AF65-F5344CB8AC3E}">
        <p14:creationId xmlns:p14="http://schemas.microsoft.com/office/powerpoint/2010/main" val="15155844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28575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8798</TotalTime>
  <Words>347</Words>
  <Application>Microsoft Office PowerPoint</Application>
  <PresentationFormat>A4 Paper (210x297 mm)</PresentationFormat>
  <Paragraphs>113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6" baseType="lpstr">
      <vt:lpstr>Calibri</vt:lpstr>
      <vt:lpstr>Calibri Light</vt:lpstr>
      <vt:lpstr>Cambria Math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399</cp:revision>
  <cp:lastPrinted>2017-12-31T22:38:51Z</cp:lastPrinted>
  <dcterms:created xsi:type="dcterms:W3CDTF">2017-01-17T16:57:04Z</dcterms:created>
  <dcterms:modified xsi:type="dcterms:W3CDTF">2024-08-29T15:29:56Z</dcterms:modified>
</cp:coreProperties>
</file>