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3" r:id="rId1"/>
  </p:sldMasterIdLst>
  <p:sldIdLst>
    <p:sldId id="257" r:id="rId2"/>
    <p:sldId id="278" r:id="rId3"/>
    <p:sldId id="276" r:id="rId4"/>
    <p:sldId id="277" r:id="rId5"/>
    <p:sldId id="279" r:id="rId6"/>
    <p:sldId id="280" r:id="rId7"/>
    <p:sldId id="274" r:id="rId8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447" autoAdjust="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5/13/2024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972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806959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99764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5/13/2024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832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5/13/2024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06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5/13/2024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854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5/13/2024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600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5/13/2024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849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5/13/2024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969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5/13/2024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486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5/13/2024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0128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4884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765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91506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5/13/2024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720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4" r:id="rId1"/>
    <p:sldLayoutId id="2147484035" r:id="rId2"/>
    <p:sldLayoutId id="2147484036" r:id="rId3"/>
    <p:sldLayoutId id="2147484037" r:id="rId4"/>
    <p:sldLayoutId id="2147484038" r:id="rId5"/>
    <p:sldLayoutId id="2147484039" r:id="rId6"/>
    <p:sldLayoutId id="2147484040" r:id="rId7"/>
    <p:sldLayoutId id="2147484041" r:id="rId8"/>
    <p:sldLayoutId id="2147484042" r:id="rId9"/>
    <p:sldLayoutId id="2147484043" r:id="rId10"/>
    <p:sldLayoutId id="2147484044" r:id="rId11"/>
    <p:sldLayoutId id="2147484045" r:id="rId12"/>
    <p:sldLayoutId id="2147484054" r:id="rId13"/>
    <p:sldLayoutId id="2147484018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Амалдарды аткаруу тартиби</a:t>
            </a:r>
            <a:r>
              <a:rPr lang="en-US" dirty="0"/>
              <a:t>  –</a:t>
            </a:r>
            <a:r>
              <a:rPr lang="ky-KG" dirty="0"/>
              <a:t> Чечим чыгаруу -  Туура же Ката</a:t>
            </a:r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Бул ресурс математикалык ыкманын жандуу демонстрацияларын камсыз кылат.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3200" b="1" dirty="0">
                <a:solidFill>
                  <a:srgbClr val="FF0000"/>
                </a:solidFill>
              </a:rPr>
              <a:t>ӨЧҮРҮ</a:t>
            </a:r>
            <a:r>
              <a:rPr lang="ky-KG" sz="3200" b="1" dirty="0">
                <a:solidFill>
                  <a:srgbClr val="FF0000"/>
                </a:solidFill>
              </a:rPr>
              <a:t>П САЛЫ</a:t>
            </a:r>
            <a:r>
              <a:rPr lang="ru-RU" sz="32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48342" y="425450"/>
            <a:ext cx="9404350" cy="1400175"/>
          </a:xfrm>
        </p:spPr>
        <p:txBody>
          <a:bodyPr>
            <a:normAutofit/>
          </a:bodyPr>
          <a:lstStyle/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8C2E0AE-7EBE-F981-D20A-0535B0324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y-KG" sz="6000" dirty="0"/>
              <a:t>Көнүгүүлөр топтомун текшерип, аларды </a:t>
            </a:r>
            <a:r>
              <a:rPr lang="ky-KG" sz="6000" dirty="0">
                <a:solidFill>
                  <a:srgbClr val="00B050"/>
                </a:solidFill>
              </a:rPr>
              <a:t>Туура</a:t>
            </a:r>
            <a:r>
              <a:rPr lang="ky-KG" sz="6000" dirty="0"/>
              <a:t> же </a:t>
            </a:r>
            <a:r>
              <a:rPr lang="ky-KG" sz="6000" dirty="0">
                <a:solidFill>
                  <a:srgbClr val="FF0000"/>
                </a:solidFill>
              </a:rPr>
              <a:t>Ката</a:t>
            </a:r>
            <a:r>
              <a:rPr lang="ky-KG" sz="6000" dirty="0"/>
              <a:t> деп эки топко бөлүңүз</a:t>
            </a:r>
            <a:endParaRPr lang="en-US" sz="6000" dirty="0"/>
          </a:p>
          <a:p>
            <a:endParaRPr lang="en-US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EEC873A1-32F3-9DD6-047E-F5A5F854AEA1}"/>
              </a:ext>
            </a:extLst>
          </p:cNvPr>
          <p:cNvSpPr txBox="1">
            <a:spLocks/>
          </p:cNvSpPr>
          <p:nvPr/>
        </p:nvSpPr>
        <p:spPr>
          <a:xfrm>
            <a:off x="348342" y="425450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>
                <a:solidFill>
                  <a:srgbClr val="00B0F0"/>
                </a:solidFill>
              </a:rPr>
              <a:t>MathKGZ</a:t>
            </a:r>
            <a:r>
              <a:rPr lang="en-US" sz="5200">
                <a:solidFill>
                  <a:srgbClr val="00B0F0"/>
                </a:solidFill>
              </a:rPr>
              <a:t>  -- </a:t>
            </a:r>
            <a:endParaRPr lang="en-US" sz="52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8230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57D44320-F010-7A89-4A0B-6744B24CEAE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30121930"/>
                  </p:ext>
                </p:extLst>
              </p:nvPr>
            </p:nvGraphicFramePr>
            <p:xfrm>
              <a:off x="487836" y="576943"/>
              <a:ext cx="11511280" cy="6070467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5728869">
                      <a:extLst>
                        <a:ext uri="{9D8B030D-6E8A-4147-A177-3AD203B41FA5}">
                          <a16:colId xmlns:a16="http://schemas.microsoft.com/office/drawing/2014/main" val="3071567433"/>
                        </a:ext>
                      </a:extLst>
                    </a:gridCol>
                    <a:gridCol w="5782411">
                      <a:extLst>
                        <a:ext uri="{9D8B030D-6E8A-4147-A177-3AD203B41FA5}">
                          <a16:colId xmlns:a16="http://schemas.microsoft.com/office/drawing/2014/main" val="3711799240"/>
                        </a:ext>
                      </a:extLst>
                    </a:gridCol>
                  </a:tblGrid>
                  <a:tr h="400767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250000"/>
                            </a:lnSpc>
                          </a:pPr>
                          <a:r>
                            <a:rPr lang="ru-RU" sz="2400" b="1" dirty="0"/>
                            <a:t> </a:t>
                          </a:r>
                          <a:r>
                            <a:rPr lang="en-US" sz="2400" b="1" dirty="0"/>
                            <a:t>6 − 2 + 3  = 7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2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𝟑𝟎</m:t>
                              </m:r>
                            </m:oMath>
                          </a14:m>
                          <a:r>
                            <a:rPr lang="en-GB" sz="2400" b="1" dirty="0"/>
                            <a:t>  </a:t>
                          </a:r>
                        </a:p>
                      </a:txBody>
                      <a:tcPr marL="0" marR="0" marT="0" marB="0" anchor="ctr" anchorCtr="1"/>
                    </a:tc>
                    <a:extLst>
                      <a:ext uri="{0D108BD9-81ED-4DB2-BD59-A6C34878D82A}">
                        <a16:rowId xmlns:a16="http://schemas.microsoft.com/office/drawing/2014/main" val="1500761008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4 + 2 × 5 = 30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2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𝟏𝟐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𝟖</m:t>
                              </m:r>
                            </m:oMath>
                          </a14:m>
                          <a:r>
                            <a:rPr lang="en-GB" sz="2400" b="1" dirty="0"/>
                            <a:t>    </a:t>
                          </a:r>
                        </a:p>
                      </a:txBody>
                      <a:tcPr marL="0" marR="0" marT="0" marB="0" anchor="ctr" anchorCtr="1"/>
                    </a:tc>
                    <a:extLst>
                      <a:ext uri="{0D108BD9-81ED-4DB2-BD59-A6C34878D82A}">
                        <a16:rowId xmlns:a16="http://schemas.microsoft.com/office/drawing/2014/main" val="260831191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20 − 3 − 4 + 9  = 22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2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𝟔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𝟏𝟐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𝟗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𝟏𝟏</m:t>
                              </m:r>
                            </m:oMath>
                          </a14:m>
                          <a:r>
                            <a:rPr lang="en-GB" sz="2400" b="1" dirty="0"/>
                            <a:t> </a:t>
                          </a:r>
                        </a:p>
                      </a:txBody>
                      <a:tcPr marL="0" marR="0" marT="0" marB="0" anchor="ctr" anchorCtr="1"/>
                    </a:tc>
                    <a:extLst>
                      <a:ext uri="{0D108BD9-81ED-4DB2-BD59-A6C34878D82A}">
                        <a16:rowId xmlns:a16="http://schemas.microsoft.com/office/drawing/2014/main" val="924215750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18 − 3 × 4  =  60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2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𝟓𝟎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𝟏𝟎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𝟏𝟎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𝟓𝟎</m:t>
                              </m:r>
                            </m:oMath>
                          </a14:m>
                          <a:r>
                            <a:rPr lang="en-GB" sz="2400" b="1" dirty="0"/>
                            <a:t>  </a:t>
                          </a:r>
                        </a:p>
                      </a:txBody>
                      <a:tcPr marL="0" marR="0" marT="0" marB="0" anchor="ctr" anchorCtr="1"/>
                    </a:tc>
                    <a:extLst>
                      <a:ext uri="{0D108BD9-81ED-4DB2-BD59-A6C34878D82A}">
                        <a16:rowId xmlns:a16="http://schemas.microsoft.com/office/drawing/2014/main" val="2403492274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6 − 10 ÷ 2 = -2   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2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𝟏𝟖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)=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𝟕𝟐</m:t>
                              </m:r>
                            </m:oMath>
                          </a14:m>
                          <a:r>
                            <a:rPr lang="en-GB" sz="2400" b="1" dirty="0"/>
                            <a:t>  </a:t>
                          </a:r>
                        </a:p>
                      </a:txBody>
                      <a:tcPr marL="0" marR="0" marT="0" marB="0" anchor="ctr" anchorCtr="1"/>
                    </a:tc>
                    <a:extLst>
                      <a:ext uri="{0D108BD9-81ED-4DB2-BD59-A6C34878D82A}">
                        <a16:rowId xmlns:a16="http://schemas.microsoft.com/office/drawing/2014/main" val="2967501531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6 × 5 ÷ 2 = 15  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2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</a:rPr>
                                  <m:t>𝟐𝟓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</a:rPr>
                                  <m:t>𝟏𝟓</m:t>
                                </m:r>
                                <m:r>
                                  <a:rPr lang="en-GB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2400" b="1" i="1" dirty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GB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sz="2400" b="1" dirty="0"/>
                        </a:p>
                      </a:txBody>
                      <a:tcPr marL="0" marR="0" marT="0" marB="0" anchor="ctr" anchorCtr="1"/>
                    </a:tc>
                    <a:extLst>
                      <a:ext uri="{0D108BD9-81ED-4DB2-BD59-A6C34878D82A}">
                        <a16:rowId xmlns:a16="http://schemas.microsoft.com/office/drawing/2014/main" val="2102635567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6 + 12 ÷ 3 − 5  =  1   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2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𝟐𝟒</m:t>
                                </m:r>
                                <m:r>
                                  <a:rPr lang="en-GB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GB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−(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𝟖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)=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GB" sz="2400" b="1" dirty="0"/>
                        </a:p>
                      </a:txBody>
                      <a:tcPr marL="0" marR="0" marT="0" marB="0" anchor="ctr" anchorCtr="1"/>
                    </a:tc>
                    <a:extLst>
                      <a:ext uri="{0D108BD9-81ED-4DB2-BD59-A6C34878D82A}">
                        <a16:rowId xmlns:a16="http://schemas.microsoft.com/office/drawing/2014/main" val="37478385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57D44320-F010-7A89-4A0B-6744B24CEAE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30121930"/>
                  </p:ext>
                </p:extLst>
              </p:nvPr>
            </p:nvGraphicFramePr>
            <p:xfrm>
              <a:off x="487836" y="576943"/>
              <a:ext cx="11511280" cy="6070467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5728869">
                      <a:extLst>
                        <a:ext uri="{9D8B030D-6E8A-4147-A177-3AD203B41FA5}">
                          <a16:colId xmlns:a16="http://schemas.microsoft.com/office/drawing/2014/main" val="3071567433"/>
                        </a:ext>
                      </a:extLst>
                    </a:gridCol>
                    <a:gridCol w="5782411">
                      <a:extLst>
                        <a:ext uri="{9D8B030D-6E8A-4147-A177-3AD203B41FA5}">
                          <a16:colId xmlns:a16="http://schemas.microsoft.com/office/drawing/2014/main" val="3711799240"/>
                        </a:ext>
                      </a:extLst>
                    </a:gridCol>
                  </a:tblGrid>
                  <a:tr h="766255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250000"/>
                            </a:lnSpc>
                          </a:pPr>
                          <a:r>
                            <a:rPr lang="ru-RU" sz="2400" b="1" dirty="0"/>
                            <a:t> </a:t>
                          </a:r>
                          <a:r>
                            <a:rPr lang="en-US" sz="2400" b="1" dirty="0"/>
                            <a:t>6 − 2 + 3  = 7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 anchorCtr="1">
                        <a:blipFill>
                          <a:blip r:embed="rId2"/>
                          <a:stretch>
                            <a:fillRect l="-99262" t="-794" r="-211" b="-70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00761008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4 + 2 × 5 = 30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 anchorCtr="1">
                        <a:blipFill>
                          <a:blip r:embed="rId2"/>
                          <a:stretch>
                            <a:fillRect l="-99262" t="-88811" r="-211" b="-5216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831191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20 − 3 − 4 + 9  = 22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 anchorCtr="1">
                        <a:blipFill>
                          <a:blip r:embed="rId2"/>
                          <a:stretch>
                            <a:fillRect l="-99262" t="-190141" r="-211" b="-4253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4215750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18 − 3 × 4  =  60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 anchorCtr="1">
                        <a:blipFill>
                          <a:blip r:embed="rId2"/>
                          <a:stretch>
                            <a:fillRect l="-99262" t="-288112" r="-211" b="-3223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03492274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6 − 10 ÷ 2 = -2   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 anchorCtr="1">
                        <a:blipFill>
                          <a:blip r:embed="rId2"/>
                          <a:stretch>
                            <a:fillRect l="-99262" t="-388112" r="-211" b="-2223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7501531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6 × 5 ÷ 2 = 15  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 anchorCtr="1">
                        <a:blipFill>
                          <a:blip r:embed="rId2"/>
                          <a:stretch>
                            <a:fillRect l="-99262" t="-465333" r="-211" b="-11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2635567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6 + 12 ÷ 3 − 5  =  1   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 anchorCtr="1">
                        <a:blipFill>
                          <a:blip r:embed="rId2"/>
                          <a:stretch>
                            <a:fillRect l="-99262" t="-565333" r="-211" b="-1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4783856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69EA01C6-41AF-5CDA-19BC-7110EF074946}"/>
              </a:ext>
            </a:extLst>
          </p:cNvPr>
          <p:cNvSpPr/>
          <p:nvPr/>
        </p:nvSpPr>
        <p:spPr>
          <a:xfrm>
            <a:off x="400391" y="469179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DA42EAA-363C-1113-C568-AD5AA2CB79A2}"/>
              </a:ext>
            </a:extLst>
          </p:cNvPr>
          <p:cNvSpPr/>
          <p:nvPr/>
        </p:nvSpPr>
        <p:spPr>
          <a:xfrm>
            <a:off x="426301" y="1349671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8DD32B5-6F7D-C2AF-42AB-BE6C53A91547}"/>
              </a:ext>
            </a:extLst>
          </p:cNvPr>
          <p:cNvSpPr/>
          <p:nvPr/>
        </p:nvSpPr>
        <p:spPr>
          <a:xfrm>
            <a:off x="428151" y="2129158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89ABB7A-7A27-15D2-B6E5-C9F4D72D8EE0}"/>
              </a:ext>
            </a:extLst>
          </p:cNvPr>
          <p:cNvSpPr/>
          <p:nvPr/>
        </p:nvSpPr>
        <p:spPr>
          <a:xfrm>
            <a:off x="6218629" y="469179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31EFF9-AB46-EA94-FE97-8E9C9A6B0AB1}"/>
              </a:ext>
            </a:extLst>
          </p:cNvPr>
          <p:cNvSpPr/>
          <p:nvPr/>
        </p:nvSpPr>
        <p:spPr>
          <a:xfrm>
            <a:off x="6212708" y="1349671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E0B018C-9D2D-95FD-1FD8-E5987FF78DC5}"/>
              </a:ext>
            </a:extLst>
          </p:cNvPr>
          <p:cNvSpPr/>
          <p:nvPr/>
        </p:nvSpPr>
        <p:spPr>
          <a:xfrm>
            <a:off x="6165731" y="2122399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662D950-DA19-82CB-A602-F1BC1ADD8F62}"/>
              </a:ext>
            </a:extLst>
          </p:cNvPr>
          <p:cNvSpPr/>
          <p:nvPr/>
        </p:nvSpPr>
        <p:spPr>
          <a:xfrm>
            <a:off x="417350" y="3033094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80893DA-ABB3-B632-24C1-7C71BC8102F7}"/>
              </a:ext>
            </a:extLst>
          </p:cNvPr>
          <p:cNvSpPr/>
          <p:nvPr/>
        </p:nvSpPr>
        <p:spPr>
          <a:xfrm>
            <a:off x="6165731" y="3033094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313270E-5E08-3E58-26AD-53F4CA2B8337}"/>
              </a:ext>
            </a:extLst>
          </p:cNvPr>
          <p:cNvSpPr/>
          <p:nvPr/>
        </p:nvSpPr>
        <p:spPr>
          <a:xfrm>
            <a:off x="438143" y="3853544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C0ED2C-019D-0338-75BC-876F61263BB3}"/>
              </a:ext>
            </a:extLst>
          </p:cNvPr>
          <p:cNvSpPr/>
          <p:nvPr/>
        </p:nvSpPr>
        <p:spPr>
          <a:xfrm>
            <a:off x="6165732" y="3875315"/>
            <a:ext cx="49564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D05F110-CD33-AB74-8BC6-D4FFAA38BA0B}"/>
              </a:ext>
            </a:extLst>
          </p:cNvPr>
          <p:cNvSpPr/>
          <p:nvPr/>
        </p:nvSpPr>
        <p:spPr>
          <a:xfrm>
            <a:off x="426620" y="4753914"/>
            <a:ext cx="49564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11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B4D1FB7-BE66-5E10-0302-64DB57356E20}"/>
              </a:ext>
            </a:extLst>
          </p:cNvPr>
          <p:cNvSpPr/>
          <p:nvPr/>
        </p:nvSpPr>
        <p:spPr>
          <a:xfrm>
            <a:off x="6161962" y="4753914"/>
            <a:ext cx="49564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224F1AC-F703-5C07-AA70-32B3B616A287}"/>
              </a:ext>
            </a:extLst>
          </p:cNvPr>
          <p:cNvSpPr/>
          <p:nvPr/>
        </p:nvSpPr>
        <p:spPr>
          <a:xfrm>
            <a:off x="422114" y="5657850"/>
            <a:ext cx="49564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13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FCBC795-70BC-3A72-F511-1A33515E3800}"/>
              </a:ext>
            </a:extLst>
          </p:cNvPr>
          <p:cNvSpPr/>
          <p:nvPr/>
        </p:nvSpPr>
        <p:spPr>
          <a:xfrm>
            <a:off x="6165731" y="5693092"/>
            <a:ext cx="49564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14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FE84601-3A1B-80F9-2476-B6480D9AE8BC}"/>
              </a:ext>
            </a:extLst>
          </p:cNvPr>
          <p:cNvSpPr txBox="1"/>
          <p:nvPr/>
        </p:nvSpPr>
        <p:spPr>
          <a:xfrm>
            <a:off x="827993" y="92658"/>
            <a:ext cx="108986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2400" dirty="0"/>
              <a:t>Көнүгүүлөр топтомун текшерип, аларды </a:t>
            </a:r>
            <a:r>
              <a:rPr lang="ky-KG" sz="2400" dirty="0">
                <a:solidFill>
                  <a:srgbClr val="FF0000"/>
                </a:solidFill>
              </a:rPr>
              <a:t>Туура же Ката</a:t>
            </a:r>
            <a:r>
              <a:rPr lang="ky-KG" sz="2400" dirty="0"/>
              <a:t> деп эки топко бөлүңүз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03297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57D44320-F010-7A89-4A0B-6744B24CEAE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76190592"/>
                  </p:ext>
                </p:extLst>
              </p:nvPr>
            </p:nvGraphicFramePr>
            <p:xfrm>
              <a:off x="487836" y="342467"/>
              <a:ext cx="11511280" cy="6173065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5728869">
                      <a:extLst>
                        <a:ext uri="{9D8B030D-6E8A-4147-A177-3AD203B41FA5}">
                          <a16:colId xmlns:a16="http://schemas.microsoft.com/office/drawing/2014/main" val="3071567433"/>
                        </a:ext>
                      </a:extLst>
                    </a:gridCol>
                    <a:gridCol w="5782411">
                      <a:extLst>
                        <a:ext uri="{9D8B030D-6E8A-4147-A177-3AD203B41FA5}">
                          <a16:colId xmlns:a16="http://schemas.microsoft.com/office/drawing/2014/main" val="3711799240"/>
                        </a:ext>
                      </a:extLst>
                    </a:gridCol>
                  </a:tblGrid>
                  <a:tr h="868853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250000"/>
                            </a:lnSpc>
                          </a:pPr>
                          <a:r>
                            <a:rPr lang="ru-RU" sz="2400" b="1" dirty="0"/>
                            <a:t> </a:t>
                          </a:r>
                          <a:r>
                            <a:rPr lang="en-US" sz="2400" b="1" dirty="0"/>
                            <a:t>6 − 2 + 3  = 7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2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𝟑𝟎</m:t>
                              </m:r>
                            </m:oMath>
                          </a14:m>
                          <a:r>
                            <a:rPr lang="en-GB" sz="2400" b="1" dirty="0"/>
                            <a:t>  </a:t>
                          </a:r>
                        </a:p>
                      </a:txBody>
                      <a:tcPr marL="0" marR="0" marT="0" marB="0" anchor="ctr" anchorCtr="1"/>
                    </a:tc>
                    <a:extLst>
                      <a:ext uri="{0D108BD9-81ED-4DB2-BD59-A6C34878D82A}">
                        <a16:rowId xmlns:a16="http://schemas.microsoft.com/office/drawing/2014/main" val="1500761008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4 + 2 × 5 = 30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2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𝟏𝟐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𝟖</m:t>
                              </m:r>
                            </m:oMath>
                          </a14:m>
                          <a:r>
                            <a:rPr lang="en-GB" sz="2400" b="1" dirty="0"/>
                            <a:t>    </a:t>
                          </a:r>
                        </a:p>
                      </a:txBody>
                      <a:tcPr marL="0" marR="0" marT="0" marB="0" anchor="ctr" anchorCtr="1"/>
                    </a:tc>
                    <a:extLst>
                      <a:ext uri="{0D108BD9-81ED-4DB2-BD59-A6C34878D82A}">
                        <a16:rowId xmlns:a16="http://schemas.microsoft.com/office/drawing/2014/main" val="260831191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20 − 3 − 4 + 9  = 22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2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𝟔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𝟏𝟐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𝟗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𝟏𝟏</m:t>
                              </m:r>
                            </m:oMath>
                          </a14:m>
                          <a:r>
                            <a:rPr lang="en-GB" sz="2400" b="1" dirty="0"/>
                            <a:t> </a:t>
                          </a:r>
                        </a:p>
                      </a:txBody>
                      <a:tcPr marL="0" marR="0" marT="0" marB="0" anchor="ctr" anchorCtr="1"/>
                    </a:tc>
                    <a:extLst>
                      <a:ext uri="{0D108BD9-81ED-4DB2-BD59-A6C34878D82A}">
                        <a16:rowId xmlns:a16="http://schemas.microsoft.com/office/drawing/2014/main" val="924215750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18 − 3 × 4  =  60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2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𝟓𝟎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𝟏𝟎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𝟏𝟎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𝟓𝟎</m:t>
                              </m:r>
                            </m:oMath>
                          </a14:m>
                          <a:r>
                            <a:rPr lang="en-GB" sz="2400" b="1" dirty="0"/>
                            <a:t>  </a:t>
                          </a:r>
                        </a:p>
                      </a:txBody>
                      <a:tcPr marL="0" marR="0" marT="0" marB="0" anchor="ctr" anchorCtr="1"/>
                    </a:tc>
                    <a:extLst>
                      <a:ext uri="{0D108BD9-81ED-4DB2-BD59-A6C34878D82A}">
                        <a16:rowId xmlns:a16="http://schemas.microsoft.com/office/drawing/2014/main" val="2403492274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6 − 10 ÷ 2 = -2   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2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𝟏𝟖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)=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𝟕𝟐</m:t>
                              </m:r>
                            </m:oMath>
                          </a14:m>
                          <a:r>
                            <a:rPr lang="en-GB" sz="2400" b="1" dirty="0"/>
                            <a:t>  </a:t>
                          </a:r>
                        </a:p>
                      </a:txBody>
                      <a:tcPr marL="0" marR="0" marT="0" marB="0" anchor="ctr" anchorCtr="1"/>
                    </a:tc>
                    <a:extLst>
                      <a:ext uri="{0D108BD9-81ED-4DB2-BD59-A6C34878D82A}">
                        <a16:rowId xmlns:a16="http://schemas.microsoft.com/office/drawing/2014/main" val="2967501531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6 × 5 ÷ 2 = 15  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2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</a:rPr>
                                  <m:t>𝟐𝟓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</a:rPr>
                                  <m:t>𝟏𝟓</m:t>
                                </m:r>
                                <m:r>
                                  <a:rPr lang="en-GB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2400" b="1" i="1" dirty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GB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sz="2400" b="1" dirty="0"/>
                        </a:p>
                      </a:txBody>
                      <a:tcPr marL="0" marR="0" marT="0" marB="0" anchor="ctr" anchorCtr="1"/>
                    </a:tc>
                    <a:extLst>
                      <a:ext uri="{0D108BD9-81ED-4DB2-BD59-A6C34878D82A}">
                        <a16:rowId xmlns:a16="http://schemas.microsoft.com/office/drawing/2014/main" val="2102635567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6 + 12 ÷ 3 − 5  =  1   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2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𝟐𝟒</m:t>
                                </m:r>
                                <m:r>
                                  <a:rPr lang="en-GB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GB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−(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𝟖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)=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GB" sz="2400" b="1" dirty="0"/>
                        </a:p>
                      </a:txBody>
                      <a:tcPr marL="0" marR="0" marT="0" marB="0" anchor="ctr" anchorCtr="1"/>
                    </a:tc>
                    <a:extLst>
                      <a:ext uri="{0D108BD9-81ED-4DB2-BD59-A6C34878D82A}">
                        <a16:rowId xmlns:a16="http://schemas.microsoft.com/office/drawing/2014/main" val="37478385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57D44320-F010-7A89-4A0B-6744B24CEAE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76190592"/>
                  </p:ext>
                </p:extLst>
              </p:nvPr>
            </p:nvGraphicFramePr>
            <p:xfrm>
              <a:off x="487836" y="342467"/>
              <a:ext cx="11511280" cy="6173065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5728869">
                      <a:extLst>
                        <a:ext uri="{9D8B030D-6E8A-4147-A177-3AD203B41FA5}">
                          <a16:colId xmlns:a16="http://schemas.microsoft.com/office/drawing/2014/main" val="3071567433"/>
                        </a:ext>
                      </a:extLst>
                    </a:gridCol>
                    <a:gridCol w="5782411">
                      <a:extLst>
                        <a:ext uri="{9D8B030D-6E8A-4147-A177-3AD203B41FA5}">
                          <a16:colId xmlns:a16="http://schemas.microsoft.com/office/drawing/2014/main" val="3711799240"/>
                        </a:ext>
                      </a:extLst>
                    </a:gridCol>
                  </a:tblGrid>
                  <a:tr h="868853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250000"/>
                            </a:lnSpc>
                          </a:pPr>
                          <a:r>
                            <a:rPr lang="ru-RU" sz="2400" b="1" dirty="0"/>
                            <a:t> </a:t>
                          </a:r>
                          <a:r>
                            <a:rPr lang="en-US" sz="2400" b="1" dirty="0"/>
                            <a:t>6 − 2 + 3  = 7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 anchorCtr="1">
                        <a:blipFill>
                          <a:blip r:embed="rId2"/>
                          <a:stretch>
                            <a:fillRect l="-99262" t="-699" r="-211" b="-6209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00761008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4 + 2 × 5 = 30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 anchorCtr="1">
                        <a:blipFill>
                          <a:blip r:embed="rId2"/>
                          <a:stretch>
                            <a:fillRect l="-99262" t="-101408" r="-211" b="-5253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831191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20 − 3 − 4 + 9  = 22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 anchorCtr="1">
                        <a:blipFill>
                          <a:blip r:embed="rId2"/>
                          <a:stretch>
                            <a:fillRect l="-99262" t="-200000" r="-211" b="-4216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4215750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18 − 3 × 4  =  60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 anchorCtr="1">
                        <a:blipFill>
                          <a:blip r:embed="rId2"/>
                          <a:stretch>
                            <a:fillRect l="-99262" t="-302113" r="-211" b="-3246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03492274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6 − 10 ÷ 2 = -2   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 anchorCtr="1">
                        <a:blipFill>
                          <a:blip r:embed="rId2"/>
                          <a:stretch>
                            <a:fillRect l="-99262" t="-399301" r="-211" b="-2223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7501531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6 × 5 ÷ 2 = 15  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 anchorCtr="1">
                        <a:blipFill>
                          <a:blip r:embed="rId2"/>
                          <a:stretch>
                            <a:fillRect l="-99262" t="-476000" r="-211" b="-11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2635567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6 + 12 ÷ 3 − 5  =  1   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 anchorCtr="1">
                        <a:blipFill>
                          <a:blip r:embed="rId2"/>
                          <a:stretch>
                            <a:fillRect l="-99262" t="-576000" r="-211" b="-1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4783856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Graphic 2" descr="Checkmark with solid fill">
            <a:extLst>
              <a:ext uri="{FF2B5EF4-FFF2-40B4-BE49-F238E27FC236}">
                <a16:creationId xmlns:a16="http://schemas.microsoft.com/office/drawing/2014/main" id="{9B41EA5A-7367-CD79-5140-B3666F69EA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8828" y="286174"/>
            <a:ext cx="914400" cy="914400"/>
          </a:xfrm>
          <a:prstGeom prst="rect">
            <a:avLst/>
          </a:prstGeom>
        </p:spPr>
      </p:pic>
      <p:pic>
        <p:nvPicPr>
          <p:cNvPr id="5" name="Graphic 4" descr="Close with solid fill">
            <a:extLst>
              <a:ext uri="{FF2B5EF4-FFF2-40B4-BE49-F238E27FC236}">
                <a16:creationId xmlns:a16="http://schemas.microsoft.com/office/drawing/2014/main" id="{E5401B3C-D145-134C-4996-B1DE190C6E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78828" y="1258148"/>
            <a:ext cx="914400" cy="914400"/>
          </a:xfrm>
          <a:prstGeom prst="rect">
            <a:avLst/>
          </a:prstGeom>
        </p:spPr>
      </p:pic>
      <p:pic>
        <p:nvPicPr>
          <p:cNvPr id="7" name="Graphic 6" descr="Checkmark with solid fill">
            <a:extLst>
              <a:ext uri="{FF2B5EF4-FFF2-40B4-BE49-F238E27FC236}">
                <a16:creationId xmlns:a16="http://schemas.microsoft.com/office/drawing/2014/main" id="{82C32122-B0D6-82D1-90FC-D3064213EE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8828" y="2057400"/>
            <a:ext cx="914400" cy="914400"/>
          </a:xfrm>
          <a:prstGeom prst="rect">
            <a:avLst/>
          </a:prstGeom>
        </p:spPr>
      </p:pic>
      <p:pic>
        <p:nvPicPr>
          <p:cNvPr id="8" name="Graphic 7" descr="Close with solid fill">
            <a:extLst>
              <a:ext uri="{FF2B5EF4-FFF2-40B4-BE49-F238E27FC236}">
                <a16:creationId xmlns:a16="http://schemas.microsoft.com/office/drawing/2014/main" id="{3950BE95-E88A-85A0-87D2-2968233BB0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44" y="2935551"/>
            <a:ext cx="914400" cy="914400"/>
          </a:xfrm>
          <a:prstGeom prst="rect">
            <a:avLst/>
          </a:prstGeom>
        </p:spPr>
      </p:pic>
      <p:pic>
        <p:nvPicPr>
          <p:cNvPr id="9" name="Graphic 8" descr="Close with solid fill">
            <a:extLst>
              <a:ext uri="{FF2B5EF4-FFF2-40B4-BE49-F238E27FC236}">
                <a16:creationId xmlns:a16="http://schemas.microsoft.com/office/drawing/2014/main" id="{54F2007A-7777-F9AA-66AC-85126A5C6B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56236" y="3769124"/>
            <a:ext cx="914400" cy="914400"/>
          </a:xfrm>
          <a:prstGeom prst="rect">
            <a:avLst/>
          </a:prstGeom>
        </p:spPr>
      </p:pic>
      <p:pic>
        <p:nvPicPr>
          <p:cNvPr id="10" name="Graphic 9" descr="Checkmark with solid fill">
            <a:extLst>
              <a:ext uri="{FF2B5EF4-FFF2-40B4-BE49-F238E27FC236}">
                <a16:creationId xmlns:a16="http://schemas.microsoft.com/office/drawing/2014/main" id="{00F1408D-E616-402F-46D3-3BC6E2F2F5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4817" y="4734520"/>
            <a:ext cx="914400" cy="914400"/>
          </a:xfrm>
          <a:prstGeom prst="rect">
            <a:avLst/>
          </a:prstGeom>
        </p:spPr>
      </p:pic>
      <p:pic>
        <p:nvPicPr>
          <p:cNvPr id="11" name="Graphic 10" descr="Close with solid fill">
            <a:extLst>
              <a:ext uri="{FF2B5EF4-FFF2-40B4-BE49-F238E27FC236}">
                <a16:creationId xmlns:a16="http://schemas.microsoft.com/office/drawing/2014/main" id="{94FBE9D0-3B09-B8C8-AC04-5B468AEBA6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78828" y="5568093"/>
            <a:ext cx="914400" cy="914400"/>
          </a:xfrm>
          <a:prstGeom prst="rect">
            <a:avLst/>
          </a:prstGeom>
        </p:spPr>
      </p:pic>
      <p:pic>
        <p:nvPicPr>
          <p:cNvPr id="12" name="Graphic 11" descr="Close with solid fill">
            <a:extLst>
              <a:ext uri="{FF2B5EF4-FFF2-40B4-BE49-F238E27FC236}">
                <a16:creationId xmlns:a16="http://schemas.microsoft.com/office/drawing/2014/main" id="{A8D8B4AD-3477-23D3-AF32-038A5A6578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78885" y="328714"/>
            <a:ext cx="914400" cy="914400"/>
          </a:xfrm>
          <a:prstGeom prst="rect">
            <a:avLst/>
          </a:prstGeom>
        </p:spPr>
      </p:pic>
      <p:pic>
        <p:nvPicPr>
          <p:cNvPr id="13" name="Graphic 12" descr="Checkmark with solid fill">
            <a:extLst>
              <a:ext uri="{FF2B5EF4-FFF2-40B4-BE49-F238E27FC236}">
                <a16:creationId xmlns:a16="http://schemas.microsoft.com/office/drawing/2014/main" id="{710ED67E-A69C-B9D5-454C-2E7E4915FA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78885" y="1200574"/>
            <a:ext cx="914400" cy="914400"/>
          </a:xfrm>
          <a:prstGeom prst="rect">
            <a:avLst/>
          </a:prstGeom>
        </p:spPr>
      </p:pic>
      <p:pic>
        <p:nvPicPr>
          <p:cNvPr id="14" name="Graphic 13" descr="Close with solid fill">
            <a:extLst>
              <a:ext uri="{FF2B5EF4-FFF2-40B4-BE49-F238E27FC236}">
                <a16:creationId xmlns:a16="http://schemas.microsoft.com/office/drawing/2014/main" id="{E0983494-1D1C-1A6C-8535-EEC67AD899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10091" y="2057400"/>
            <a:ext cx="914400" cy="914400"/>
          </a:xfrm>
          <a:prstGeom prst="rect">
            <a:avLst/>
          </a:prstGeom>
        </p:spPr>
      </p:pic>
      <p:pic>
        <p:nvPicPr>
          <p:cNvPr id="15" name="Graphic 14" descr="Checkmark with solid fill">
            <a:extLst>
              <a:ext uri="{FF2B5EF4-FFF2-40B4-BE49-F238E27FC236}">
                <a16:creationId xmlns:a16="http://schemas.microsoft.com/office/drawing/2014/main" id="{63D705C5-2750-52EF-75B4-D22A7D7348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23666" y="2929260"/>
            <a:ext cx="914400" cy="914400"/>
          </a:xfrm>
          <a:prstGeom prst="rect">
            <a:avLst/>
          </a:prstGeom>
        </p:spPr>
      </p:pic>
      <p:pic>
        <p:nvPicPr>
          <p:cNvPr id="16" name="Graphic 15" descr="Close with solid fill">
            <a:extLst>
              <a:ext uri="{FF2B5EF4-FFF2-40B4-BE49-F238E27FC236}">
                <a16:creationId xmlns:a16="http://schemas.microsoft.com/office/drawing/2014/main" id="{713E3756-B8A0-71C5-ED9C-05B399B203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3666" y="3743546"/>
            <a:ext cx="914400" cy="914400"/>
          </a:xfrm>
          <a:prstGeom prst="rect">
            <a:avLst/>
          </a:prstGeom>
        </p:spPr>
      </p:pic>
      <p:pic>
        <p:nvPicPr>
          <p:cNvPr id="17" name="Graphic 16" descr="Checkmark with solid fill">
            <a:extLst>
              <a:ext uri="{FF2B5EF4-FFF2-40B4-BE49-F238E27FC236}">
                <a16:creationId xmlns:a16="http://schemas.microsoft.com/office/drawing/2014/main" id="{8259CABE-4B61-616C-AF73-82A62C5AD8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80453" y="4657946"/>
            <a:ext cx="914400" cy="914400"/>
          </a:xfrm>
          <a:prstGeom prst="rect">
            <a:avLst/>
          </a:prstGeom>
        </p:spPr>
      </p:pic>
      <p:pic>
        <p:nvPicPr>
          <p:cNvPr id="18" name="Graphic 17" descr="Close with solid fill">
            <a:extLst>
              <a:ext uri="{FF2B5EF4-FFF2-40B4-BE49-F238E27FC236}">
                <a16:creationId xmlns:a16="http://schemas.microsoft.com/office/drawing/2014/main" id="{3DA9E686-310F-815B-E055-B91EDA2657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65634" y="5551879"/>
            <a:ext cx="914400" cy="9144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69EA01C6-41AF-5CDA-19BC-7110EF074946}"/>
              </a:ext>
            </a:extLst>
          </p:cNvPr>
          <p:cNvSpPr/>
          <p:nvPr/>
        </p:nvSpPr>
        <p:spPr>
          <a:xfrm>
            <a:off x="540704" y="228600"/>
            <a:ext cx="1847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US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DA42EAA-363C-1113-C568-AD5AA2CB79A2}"/>
              </a:ext>
            </a:extLst>
          </p:cNvPr>
          <p:cNvSpPr/>
          <p:nvPr/>
        </p:nvSpPr>
        <p:spPr>
          <a:xfrm>
            <a:off x="552726" y="1151930"/>
            <a:ext cx="1847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US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8DD32B5-6F7D-C2AF-42AB-BE6C53A91547}"/>
              </a:ext>
            </a:extLst>
          </p:cNvPr>
          <p:cNvSpPr/>
          <p:nvPr/>
        </p:nvSpPr>
        <p:spPr>
          <a:xfrm>
            <a:off x="515144" y="2039727"/>
            <a:ext cx="1847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US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662D950-DA19-82CB-A602-F1BC1ADD8F62}"/>
              </a:ext>
            </a:extLst>
          </p:cNvPr>
          <p:cNvSpPr/>
          <p:nvPr/>
        </p:nvSpPr>
        <p:spPr>
          <a:xfrm>
            <a:off x="527880" y="2951985"/>
            <a:ext cx="1847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US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313270E-5E08-3E58-26AD-53F4CA2B8337}"/>
              </a:ext>
            </a:extLst>
          </p:cNvPr>
          <p:cNvSpPr/>
          <p:nvPr/>
        </p:nvSpPr>
        <p:spPr>
          <a:xfrm>
            <a:off x="515858" y="3853544"/>
            <a:ext cx="1847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US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D05F110-CD33-AB74-8BC6-D4FFAA38BA0B}"/>
              </a:ext>
            </a:extLst>
          </p:cNvPr>
          <p:cNvSpPr/>
          <p:nvPr/>
        </p:nvSpPr>
        <p:spPr>
          <a:xfrm>
            <a:off x="530055" y="4744031"/>
            <a:ext cx="1847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US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21F769-B216-92CB-8A41-36DA84DD672D}"/>
              </a:ext>
            </a:extLst>
          </p:cNvPr>
          <p:cNvSpPr/>
          <p:nvPr/>
        </p:nvSpPr>
        <p:spPr>
          <a:xfrm>
            <a:off x="462989" y="270000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5014E7-35CD-1056-4D53-2E618BA53EB4}"/>
              </a:ext>
            </a:extLst>
          </p:cNvPr>
          <p:cNvSpPr/>
          <p:nvPr/>
        </p:nvSpPr>
        <p:spPr>
          <a:xfrm>
            <a:off x="475011" y="1193330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F9CD5F3-9761-3F8C-8B98-9B8EDADEF6C3}"/>
              </a:ext>
            </a:extLst>
          </p:cNvPr>
          <p:cNvSpPr/>
          <p:nvPr/>
        </p:nvSpPr>
        <p:spPr>
          <a:xfrm>
            <a:off x="437429" y="2081127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15CB64F-3D9F-5FE9-0B1D-0A0D01E4E894}"/>
              </a:ext>
            </a:extLst>
          </p:cNvPr>
          <p:cNvSpPr/>
          <p:nvPr/>
        </p:nvSpPr>
        <p:spPr>
          <a:xfrm>
            <a:off x="6218629" y="228600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54F276D-35E6-C7D7-D4C2-6D14785D36D0}"/>
              </a:ext>
            </a:extLst>
          </p:cNvPr>
          <p:cNvSpPr/>
          <p:nvPr/>
        </p:nvSpPr>
        <p:spPr>
          <a:xfrm>
            <a:off x="6220326" y="1151930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F205E42-5D8B-0CE1-895A-478D96752CFB}"/>
              </a:ext>
            </a:extLst>
          </p:cNvPr>
          <p:cNvSpPr/>
          <p:nvPr/>
        </p:nvSpPr>
        <p:spPr>
          <a:xfrm>
            <a:off x="6218629" y="2012088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997808C-3B7B-D3B3-A818-BF7CA162A8B9}"/>
              </a:ext>
            </a:extLst>
          </p:cNvPr>
          <p:cNvSpPr/>
          <p:nvPr/>
        </p:nvSpPr>
        <p:spPr>
          <a:xfrm>
            <a:off x="450165" y="2993385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450644E-AA30-9563-8AC5-B5F8BE23B01B}"/>
              </a:ext>
            </a:extLst>
          </p:cNvPr>
          <p:cNvSpPr/>
          <p:nvPr/>
        </p:nvSpPr>
        <p:spPr>
          <a:xfrm>
            <a:off x="6243476" y="2970660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AA6C320-C20B-417F-7D04-E57266AFD629}"/>
              </a:ext>
            </a:extLst>
          </p:cNvPr>
          <p:cNvSpPr/>
          <p:nvPr/>
        </p:nvSpPr>
        <p:spPr>
          <a:xfrm>
            <a:off x="438143" y="3894944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7DECB89-B489-C61F-A565-BB5DA501A360}"/>
              </a:ext>
            </a:extLst>
          </p:cNvPr>
          <p:cNvSpPr/>
          <p:nvPr/>
        </p:nvSpPr>
        <p:spPr>
          <a:xfrm>
            <a:off x="6165732" y="3916715"/>
            <a:ext cx="49564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37CB4B2-C9A0-9947-895B-F3728A806CC6}"/>
              </a:ext>
            </a:extLst>
          </p:cNvPr>
          <p:cNvSpPr/>
          <p:nvPr/>
        </p:nvSpPr>
        <p:spPr>
          <a:xfrm>
            <a:off x="374596" y="4785431"/>
            <a:ext cx="49564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11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8002B94-4398-AEF4-D698-310F6744D760}"/>
              </a:ext>
            </a:extLst>
          </p:cNvPr>
          <p:cNvSpPr/>
          <p:nvPr/>
        </p:nvSpPr>
        <p:spPr>
          <a:xfrm>
            <a:off x="6147238" y="4775920"/>
            <a:ext cx="49564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6026DD3-A10E-7C68-5FDF-CFED8E7AA596}"/>
              </a:ext>
            </a:extLst>
          </p:cNvPr>
          <p:cNvSpPr/>
          <p:nvPr/>
        </p:nvSpPr>
        <p:spPr>
          <a:xfrm>
            <a:off x="422114" y="5699250"/>
            <a:ext cx="49564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13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CD4C395-DE27-50CC-5672-78FD09C2D0F7}"/>
              </a:ext>
            </a:extLst>
          </p:cNvPr>
          <p:cNvSpPr/>
          <p:nvPr/>
        </p:nvSpPr>
        <p:spPr>
          <a:xfrm>
            <a:off x="6165731" y="5734492"/>
            <a:ext cx="49564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14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A23B9F7-B543-C3C7-B98D-5F6FE309A8B1}"/>
              </a:ext>
            </a:extLst>
          </p:cNvPr>
          <p:cNvSpPr txBox="1"/>
          <p:nvPr/>
        </p:nvSpPr>
        <p:spPr>
          <a:xfrm>
            <a:off x="1360555" y="-33741"/>
            <a:ext cx="8935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1800" dirty="0"/>
              <a:t>Көнүгүүлөр топтомун текшерип, аларды Туура же Ката деп эки топко бөлүңүз</a:t>
            </a:r>
            <a:endParaRPr lang="en-US" sz="18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B4B9610-0063-1D74-4D78-9FCBBC33B9FD}"/>
              </a:ext>
            </a:extLst>
          </p:cNvPr>
          <p:cNvSpPr/>
          <p:nvPr/>
        </p:nvSpPr>
        <p:spPr>
          <a:xfrm>
            <a:off x="7243292" y="6196157"/>
            <a:ext cx="693359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</a:rPr>
              <a:t>ЖООПТОР</a:t>
            </a:r>
            <a:endParaRPr lang="en-US" sz="66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231575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1" grpId="0"/>
      <p:bldP spid="39" grpId="0"/>
      <p:bldP spid="40" grpId="0"/>
      <p:bldP spid="41" grpId="0"/>
      <p:bldP spid="42" grpId="0"/>
      <p:bldP spid="43" grpId="0"/>
      <p:bldP spid="4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6558974-2A49-DB6C-917A-5549109BA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408141" y="878290"/>
            <a:ext cx="6709439" cy="51014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4DC6EA-E99F-A55C-C678-6090E40C4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5890705" y="952569"/>
            <a:ext cx="6709439" cy="5101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470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4AEA020-F47C-4D8F-B20C-E5BDB814AF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558974-2A49-DB6C-917A-5549109BAA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57" b="-1"/>
          <a:stretch/>
        </p:blipFill>
        <p:spPr>
          <a:xfrm>
            <a:off x="391886" y="200305"/>
            <a:ext cx="5604306" cy="31465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4DC6EA-E99F-A55C-C678-6090E40C45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57" b="-1"/>
          <a:stretch/>
        </p:blipFill>
        <p:spPr>
          <a:xfrm>
            <a:off x="6184526" y="193971"/>
            <a:ext cx="5615588" cy="315285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9DC066E-4FDF-159E-4DFA-96A439E8ED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" b="203"/>
          <a:stretch/>
        </p:blipFill>
        <p:spPr>
          <a:xfrm>
            <a:off x="379192" y="3518539"/>
            <a:ext cx="5617000" cy="313915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F8DF345-F9F1-68C0-ACFD-FB59E1418A1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" b="203"/>
          <a:stretch/>
        </p:blipFill>
        <p:spPr>
          <a:xfrm>
            <a:off x="6184526" y="3518539"/>
            <a:ext cx="5628282" cy="314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373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Турдуу пикирлер учун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b="0" i="0" dirty="0" err="1">
                <a:solidFill>
                  <a:srgbClr val="FF0000"/>
                </a:solidFill>
                <a:effectLst/>
                <a:latin typeface="Google Sans"/>
              </a:rPr>
              <a:t>mathematicskgz@gmail.com</a:t>
            </a:r>
            <a:r>
              <a:rPr lang="en-US" dirty="0" err="1">
                <a:solidFill>
                  <a:srgbClr val="FF0000"/>
                </a:solidFill>
              </a:rPr>
              <a:t>@gmail.com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623B826-A9BD-45CD-BD80-D91447968C8E}">
  <we:reference id="wa104380907" version="3.1.0.0" store="en-US" storeType="OMEX"/>
  <we:alternateReferences>
    <we:reference id="wa104380907" version="3.1.0.0" store="WA104380907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665</TotalTime>
  <Words>391</Words>
  <Application>Microsoft Office PowerPoint</Application>
  <PresentationFormat>Widescreen</PresentationFormat>
  <Paragraphs>79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Google Sans</vt:lpstr>
      <vt:lpstr>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MathKG  --</dc:title>
  <dc:creator>Isa Amanov</dc:creator>
  <cp:lastModifiedBy>Isa Amanov</cp:lastModifiedBy>
  <cp:revision>16</cp:revision>
  <cp:lastPrinted>2023-09-21T08:00:32Z</cp:lastPrinted>
  <dcterms:created xsi:type="dcterms:W3CDTF">2023-06-07T11:18:56Z</dcterms:created>
  <dcterms:modified xsi:type="dcterms:W3CDTF">2024-05-13T16:21:49Z</dcterms:modified>
</cp:coreProperties>
</file>