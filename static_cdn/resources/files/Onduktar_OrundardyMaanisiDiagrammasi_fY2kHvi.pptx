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  <p:sldMasterId id="2147483717" r:id="rId2"/>
  </p:sldMasterIdLst>
  <p:notesMasterIdLst>
    <p:notesMasterId r:id="rId16"/>
  </p:notesMasterIdLst>
  <p:sldIdLst>
    <p:sldId id="257" r:id="rId3"/>
    <p:sldId id="964" r:id="rId4"/>
    <p:sldId id="1014" r:id="rId5"/>
    <p:sldId id="998" r:id="rId6"/>
    <p:sldId id="999" r:id="rId7"/>
    <p:sldId id="1000" r:id="rId8"/>
    <p:sldId id="1001" r:id="rId9"/>
    <p:sldId id="1015" r:id="rId10"/>
    <p:sldId id="1025" r:id="rId11"/>
    <p:sldId id="1017" r:id="rId12"/>
    <p:sldId id="1018" r:id="rId13"/>
    <p:sldId id="1019" r:id="rId14"/>
    <p:sldId id="938" r:id="rId15"/>
  </p:sldIdLst>
  <p:sldSz cx="9906000" cy="6858000" type="A4"/>
  <p:notesSz cx="7104063" cy="10234613"/>
  <p:embeddedFontLst>
    <p:embeddedFont>
      <p:font typeface="Calibri" panose="020F0502020204030204" pitchFamily="34" charset="0"/>
      <p:regular r:id="rId17"/>
      <p:bold r:id="rId18"/>
      <p:italic r:id="rId19"/>
      <p:boldItalic r:id="rId20"/>
    </p:embeddedFont>
    <p:embeddedFont>
      <p:font typeface="Calibri Light" panose="020F0302020204030204" pitchFamily="34" charset="0"/>
      <p:regular r:id="rId21"/>
      <p:italic r:id="rId22"/>
    </p:embeddedFont>
    <p:embeddedFont>
      <p:font typeface="Cambria Math" panose="02040503050406030204" pitchFamily="18" charset="0"/>
      <p:regular r:id="rId23"/>
    </p:embeddedFont>
    <p:embeddedFont>
      <p:font typeface="Cooper Black" panose="0208090404030B020404" pitchFamily="18" charset="0"/>
      <p:regular r:id="rId2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257"/>
          </p14:sldIdLst>
        </p14:section>
        <p14:section name="Чоң формат" id="{803DC415-1C83-4A46-99E3-13164292B7B3}">
          <p14:sldIdLst>
            <p14:sldId id="964"/>
            <p14:sldId id="1014"/>
            <p14:sldId id="998"/>
            <p14:sldId id="999"/>
            <p14:sldId id="1000"/>
            <p14:sldId id="1001"/>
          </p14:sldIdLst>
        </p14:section>
        <p14:section name="стандарт" id="{93570AC2-84FB-4CED-803E-9D75801B3986}">
          <p14:sldIdLst>
            <p14:sldId id="1015"/>
            <p14:sldId id="1025"/>
            <p14:sldId id="1017"/>
            <p14:sldId id="1018"/>
            <p14:sldId id="1019"/>
          </p14:sldIdLst>
        </p14:section>
        <p14:section name="mathkgz" id="{167EA875-B90C-41DF-9DED-461F9B751D9D}">
          <p14:sldIdLst>
            <p14:sldId id="93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2935" autoAdjust="0"/>
  </p:normalViewPr>
  <p:slideViewPr>
    <p:cSldViewPr snapToGrid="0" showGuides="1">
      <p:cViewPr>
        <p:scale>
          <a:sx n="60" d="100"/>
          <a:sy n="60" d="100"/>
        </p:scale>
        <p:origin x="1464" y="116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font" Target="fonts/font2.fntdata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font" Target="fonts/font5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1.fntdata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8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7.fntdata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font" Target="fonts/font3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6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03/10/2023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293F4D-D01F-93A3-9EB0-D06BC57F79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</p:spPr>
        <p:txBody>
          <a:bodyPr anchor="b"/>
          <a:lstStyle>
            <a:lvl1pPr algn="ctr"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12B11-7E4E-839A-04E0-02C24D9550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1950"/>
            </a:lvl1pPr>
            <a:lvl2pPr marL="371475" indent="0" algn="ctr">
              <a:buNone/>
              <a:defRPr sz="1625"/>
            </a:lvl2pPr>
            <a:lvl3pPr marL="742950" indent="0" algn="ctr">
              <a:buNone/>
              <a:defRPr sz="1463"/>
            </a:lvl3pPr>
            <a:lvl4pPr marL="1114425" indent="0" algn="ctr">
              <a:buNone/>
              <a:defRPr sz="1300"/>
            </a:lvl4pPr>
            <a:lvl5pPr marL="1485900" indent="0" algn="ctr">
              <a:buNone/>
              <a:defRPr sz="1300"/>
            </a:lvl5pPr>
            <a:lvl6pPr marL="1857375" indent="0" algn="ctr">
              <a:buNone/>
              <a:defRPr sz="1300"/>
            </a:lvl6pPr>
            <a:lvl7pPr marL="2228850" indent="0" algn="ctr">
              <a:buNone/>
              <a:defRPr sz="1300"/>
            </a:lvl7pPr>
            <a:lvl8pPr marL="2600325" indent="0" algn="ctr">
              <a:buNone/>
              <a:defRPr sz="1300"/>
            </a:lvl8pPr>
            <a:lvl9pPr marL="2971800" indent="0" algn="ctr">
              <a:buNone/>
              <a:defRPr sz="13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ABD867-CBFE-B60E-94FE-5E77AFA1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6662E-FAF4-44BC-88B5-85A7CBFB6D30}" type="datetime1">
              <a:rPr lang="en-US" smtClean="0"/>
              <a:pPr/>
              <a:t>10/3/2023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92923-5691-201D-9863-7C30507532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7E006-83CA-71CA-8D81-D81C549A4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361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B602F-6E81-0690-42B3-F31996130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3CCCDD-EFAD-983F-26E9-4DF01E94A6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6BEF54-E3A6-3438-FB70-CA9F72840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DC804C-59EB-58AD-19D6-DD91BE1A2D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2E3ABE-C108-D63B-0C80-FF56F17F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53480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461F2-375D-397C-903D-1C9A6DC94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879" y="1709741"/>
            <a:ext cx="8543925" cy="2852737"/>
          </a:xfrm>
        </p:spPr>
        <p:txBody>
          <a:bodyPr anchor="b"/>
          <a:lstStyle>
            <a:lvl1pPr>
              <a:defRPr sz="4875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55F7C1-DA44-F885-7F76-6AEF872F4E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5879" y="4589466"/>
            <a:ext cx="8543925" cy="1500187"/>
          </a:xfrm>
        </p:spPr>
        <p:txBody>
          <a:bodyPr/>
          <a:lstStyle>
            <a:lvl1pPr marL="0" indent="0">
              <a:buNone/>
              <a:defRPr sz="1950">
                <a:solidFill>
                  <a:schemeClr val="tx1">
                    <a:tint val="75000"/>
                  </a:schemeClr>
                </a:solidFill>
              </a:defRPr>
            </a:lvl1pPr>
            <a:lvl2pPr marL="371475" indent="0">
              <a:buNone/>
              <a:defRPr sz="1625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8A5E7A-3C4E-B0FF-6048-2428F13D7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10/3/2023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EF43D-AA59-6F72-6E99-24BACA4DB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0488E-9575-AA10-6650-5EFF64A31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770829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4C236-4D6A-F50F-F96A-0B33FAF75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B67EB-5934-4033-C48B-523183C75E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970EE30-BC22-BA32-5555-2D92711BB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7A8EA1-F6CD-6BFF-8918-10BD9D7CB1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10/3/2023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A52A51-170D-0A97-76E8-C96E6E36F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4E1132-9890-0200-7169-348F438F0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755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23700-5056-34AA-A2B1-5A0B192AE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365128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E887B-58EA-8D7A-9294-12B7F549D8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2AF15E-9662-63E9-7EFD-AAF9E53714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4A126DF-2F27-AAE9-509B-33B91D26E72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1950" b="1"/>
            </a:lvl1pPr>
            <a:lvl2pPr marL="371475" indent="0">
              <a:buNone/>
              <a:defRPr sz="1625" b="1"/>
            </a:lvl2pPr>
            <a:lvl3pPr marL="742950" indent="0">
              <a:buNone/>
              <a:defRPr sz="1463" b="1"/>
            </a:lvl3pPr>
            <a:lvl4pPr marL="1114425" indent="0">
              <a:buNone/>
              <a:defRPr sz="1300" b="1"/>
            </a:lvl4pPr>
            <a:lvl5pPr marL="1485900" indent="0">
              <a:buNone/>
              <a:defRPr sz="1300" b="1"/>
            </a:lvl5pPr>
            <a:lvl6pPr marL="1857375" indent="0">
              <a:buNone/>
              <a:defRPr sz="1300" b="1"/>
            </a:lvl6pPr>
            <a:lvl7pPr marL="2228850" indent="0">
              <a:buNone/>
              <a:defRPr sz="1300" b="1"/>
            </a:lvl7pPr>
            <a:lvl8pPr marL="2600325" indent="0">
              <a:buNone/>
              <a:defRPr sz="1300" b="1"/>
            </a:lvl8pPr>
            <a:lvl9pPr marL="2971800" indent="0">
              <a:buNone/>
              <a:defRPr sz="1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A3A8AA-F2AC-1915-04A9-63EC756842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0AD720E-DDCF-A042-525A-A95B33AF83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10/3/2023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1CC3DD1-3866-8861-C983-17EB374372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F36F28-5B8B-A0E8-06F7-3F5B93025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2039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66B005-13E9-BCAA-22F3-54833121B4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7409B5-5904-AB68-A3D2-EEE55612C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10/3/2023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65F024-0351-150D-CE65-CA2A74137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FD2D2-622D-EAB7-F9F1-A6687F2A6D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9451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5E6D05-C3FE-5D83-ABAE-5EA740EFA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10/3/2023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248A5EF-28C1-DD13-2869-594EA5A3D2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D7AFC8-9655-DD74-E767-245E9A7B17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3475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3982C-0085-BA19-333E-A71327042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201765-BF41-54B2-CCAB-9A893B528A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>
              <a:defRPr sz="2600"/>
            </a:lvl1pPr>
            <a:lvl2pPr>
              <a:defRPr sz="2275"/>
            </a:lvl2pPr>
            <a:lvl3pPr>
              <a:defRPr sz="1950"/>
            </a:lvl3pPr>
            <a:lvl4pPr>
              <a:defRPr sz="1625"/>
            </a:lvl4pPr>
            <a:lvl5pPr>
              <a:defRPr sz="1625"/>
            </a:lvl5pPr>
            <a:lvl6pPr>
              <a:defRPr sz="1625"/>
            </a:lvl6pPr>
            <a:lvl7pPr>
              <a:defRPr sz="1625"/>
            </a:lvl7pPr>
            <a:lvl8pPr>
              <a:defRPr sz="1625"/>
            </a:lvl8pPr>
            <a:lvl9pPr>
              <a:defRPr sz="162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4472CA-71AC-D0BD-DA67-C0026E7E70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2DE5CC-1DCA-74E9-1894-D78E49D29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10/3/2023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BBF998-C4E1-7D1D-7798-8E64EF355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D4DEEC-F443-F9CC-3C71-43B43309D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778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275CA-C16C-F543-5FBE-94BA8E7485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2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05EFBD-08DC-FEC5-DB7F-889F30898BB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211340" y="987428"/>
            <a:ext cx="5014913" cy="4873625"/>
          </a:xfrm>
        </p:spPr>
        <p:txBody>
          <a:bodyPr/>
          <a:lstStyle>
            <a:lvl1pPr marL="0" indent="0">
              <a:buNone/>
              <a:defRPr sz="2600"/>
            </a:lvl1pPr>
            <a:lvl2pPr marL="371475" indent="0">
              <a:buNone/>
              <a:defRPr sz="2275"/>
            </a:lvl2pPr>
            <a:lvl3pPr marL="742950" indent="0">
              <a:buNone/>
              <a:defRPr sz="1950"/>
            </a:lvl3pPr>
            <a:lvl4pPr marL="1114425" indent="0">
              <a:buNone/>
              <a:defRPr sz="1625"/>
            </a:lvl4pPr>
            <a:lvl5pPr marL="1485900" indent="0">
              <a:buNone/>
              <a:defRPr sz="1625"/>
            </a:lvl5pPr>
            <a:lvl6pPr marL="1857375" indent="0">
              <a:buNone/>
              <a:defRPr sz="1625"/>
            </a:lvl6pPr>
            <a:lvl7pPr marL="2228850" indent="0">
              <a:buNone/>
              <a:defRPr sz="1625"/>
            </a:lvl7pPr>
            <a:lvl8pPr marL="2600325" indent="0">
              <a:buNone/>
              <a:defRPr sz="1625"/>
            </a:lvl8pPr>
            <a:lvl9pPr marL="2971800" indent="0">
              <a:buNone/>
              <a:defRPr sz="1625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55E3FE-8205-A0D3-E364-AE2329A9A7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300"/>
            </a:lvl1pPr>
            <a:lvl2pPr marL="371475" indent="0">
              <a:buNone/>
              <a:defRPr sz="1138"/>
            </a:lvl2pPr>
            <a:lvl3pPr marL="742950" indent="0">
              <a:buNone/>
              <a:defRPr sz="975"/>
            </a:lvl3pPr>
            <a:lvl4pPr marL="1114425" indent="0">
              <a:buNone/>
              <a:defRPr sz="813"/>
            </a:lvl4pPr>
            <a:lvl5pPr marL="1485900" indent="0">
              <a:buNone/>
              <a:defRPr sz="813"/>
            </a:lvl5pPr>
            <a:lvl6pPr marL="1857375" indent="0">
              <a:buNone/>
              <a:defRPr sz="813"/>
            </a:lvl6pPr>
            <a:lvl7pPr marL="2228850" indent="0">
              <a:buNone/>
              <a:defRPr sz="813"/>
            </a:lvl7pPr>
            <a:lvl8pPr marL="2600325" indent="0">
              <a:buNone/>
              <a:defRPr sz="813"/>
            </a:lvl8pPr>
            <a:lvl9pPr marL="2971800" indent="0">
              <a:buNone/>
              <a:defRPr sz="8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73538-62E9-2462-AC52-41FA61FD5E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10/3/2023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D01BD5-559A-AC1D-5F9F-FFE05E5E7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7CE6E5-78E7-6241-E001-F0C758D0C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9564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613D88-2BF6-614B-3079-2C6D332154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328EC6-2893-E93C-61E9-FBB8B8BEFF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8F509-5F7D-165D-0064-2BDE7D928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10/3/2023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AE5BE3-6897-E183-83EE-24E2A66D8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6FFAB-F65C-AA1B-F804-E5137C3FF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803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B1A297-8AFF-A561-0BCF-DFDC841143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8CB72B-897C-F259-A022-BD779EA2AC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C401B-ED7F-8920-B7DE-5D74C0C21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10/3/2023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596E29-87BB-96E5-3FFA-F963A867B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EF2CD-2735-30BE-2465-466EEE1C4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86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724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10/3/2023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71003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8401" y="4777381"/>
            <a:ext cx="7170848" cy="860400"/>
          </a:xfrm>
        </p:spPr>
        <p:txBody>
          <a:bodyPr anchor="t"/>
          <a:lstStyle>
            <a:lvl1pPr marL="0" indent="0" algn="l">
              <a:buNone/>
              <a:defRPr sz="1625" cap="all">
                <a:solidFill>
                  <a:schemeClr val="accent1"/>
                </a:solidFill>
              </a:defRPr>
            </a:lvl1pPr>
            <a:lvl2pPr marL="371475" indent="0">
              <a:buNone/>
              <a:defRPr sz="1463">
                <a:solidFill>
                  <a:schemeClr val="tx1">
                    <a:tint val="75000"/>
                  </a:schemeClr>
                </a:solidFill>
              </a:defRPr>
            </a:lvl2pPr>
            <a:lvl3pPr marL="742950" indent="0">
              <a:buNone/>
              <a:defRPr sz="1300">
                <a:solidFill>
                  <a:schemeClr val="tx1">
                    <a:tint val="75000"/>
                  </a:schemeClr>
                </a:solidFill>
              </a:defRPr>
            </a:lvl3pPr>
            <a:lvl4pPr marL="11144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4pPr>
            <a:lvl5pPr marL="14859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5pPr>
            <a:lvl6pPr marL="185737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6pPr>
            <a:lvl7pPr marL="222885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7pPr>
            <a:lvl8pPr marL="2600325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8pPr>
            <a:lvl9pPr marL="2971800" indent="0">
              <a:buNone/>
              <a:defRPr sz="113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03861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4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slideLayout" Target="../slideLayouts/slideLayout13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83609-0CE5-670D-75C4-4EB473A03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1038" y="365128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96DF15-2EE1-DB9D-BDD5-2BEDF4A946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09A8A0-7FAC-CC94-B820-32410EC442E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81038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0CF6C-748E-4B7A-BC8B-3011EF78ED13}" type="datetime1">
              <a:rPr lang="en-US" smtClean="0"/>
              <a:pPr/>
              <a:t>10/3/2023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ED8C11-3CED-972F-4CCA-6920830ACC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281363" y="6356353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3F2AE-352A-A10E-B208-93514C0EF2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996113" y="6356353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1570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19" r:id="rId2"/>
    <p:sldLayoutId id="2147483720" r:id="rId3"/>
    <p:sldLayoutId id="2147483721" r:id="rId4"/>
    <p:sldLayoutId id="2147483722" r:id="rId5"/>
    <p:sldLayoutId id="2147483723" r:id="rId6"/>
    <p:sldLayoutId id="2147483724" r:id="rId7"/>
    <p:sldLayoutId id="2147483725" r:id="rId8"/>
    <p:sldLayoutId id="2147483726" r:id="rId9"/>
    <p:sldLayoutId id="2147483727" r:id="rId10"/>
    <p:sldLayoutId id="2147483728" r:id="rId11"/>
    <p:sldLayoutId id="2147483729" r:id="rId12"/>
    <p:sldLayoutId id="2147483730" r:id="rId13"/>
    <p:sldLayoutId id="2147483731" r:id="rId14"/>
  </p:sldLayoutIdLst>
  <p:hf sldNum="0" hdr="0" ftr="0" dt="0"/>
  <p:txStyles>
    <p:titleStyle>
      <a:lvl1pPr algn="l" defTabSz="742950" rtl="0" eaLnBrk="1" latinLnBrk="0" hangingPunct="1">
        <a:lnSpc>
          <a:spcPct val="90000"/>
        </a:lnSpc>
        <a:spcBef>
          <a:spcPct val="0"/>
        </a:spcBef>
        <a:buNone/>
        <a:defRPr sz="357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38" indent="-185738" algn="l" defTabSz="742950" rtl="0" eaLnBrk="1" latinLnBrk="0" hangingPunct="1">
        <a:lnSpc>
          <a:spcPct val="90000"/>
        </a:lnSpc>
        <a:spcBef>
          <a:spcPts val="813"/>
        </a:spcBef>
        <a:buFont typeface="Arial" panose="020B0604020202020204" pitchFamily="34" charset="0"/>
        <a:buChar char="•"/>
        <a:defRPr sz="2275" kern="12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950" kern="1200">
          <a:solidFill>
            <a:schemeClr val="tx1"/>
          </a:solidFill>
          <a:latin typeface="+mn-lt"/>
          <a:ea typeface="+mn-ea"/>
          <a:cs typeface="+mn-cs"/>
        </a:defRPr>
      </a:lvl2pPr>
      <a:lvl3pPr marL="9286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625" kern="1200">
          <a:solidFill>
            <a:schemeClr val="tx1"/>
          </a:solidFill>
          <a:latin typeface="+mn-lt"/>
          <a:ea typeface="+mn-ea"/>
          <a:cs typeface="+mn-cs"/>
        </a:defRPr>
      </a:lvl3pPr>
      <a:lvl4pPr marL="13001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6716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204311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41458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786063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3157538" indent="-185738" algn="l" defTabSz="742950" rtl="0" eaLnBrk="1" latinLnBrk="0" hangingPunct="1">
        <a:lnSpc>
          <a:spcPct val="90000"/>
        </a:lnSpc>
        <a:spcBef>
          <a:spcPts val="406"/>
        </a:spcBef>
        <a:buFont typeface="Arial" panose="020B0604020202020204" pitchFamily="34" charset="0"/>
        <a:buChar char="•"/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3pPr>
      <a:lvl4pPr marL="11144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4pPr>
      <a:lvl5pPr marL="14859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5pPr>
      <a:lvl6pPr marL="185737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7pPr>
      <a:lvl8pPr marL="2600325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8pPr>
      <a:lvl9pPr marL="2971800" algn="l" defTabSz="742950" rtl="0" eaLnBrk="1" latinLnBrk="0" hangingPunct="1">
        <a:defRPr sz="146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C884C22-E567-2E46-13CA-C26DA13A27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y-KG" sz="2400" dirty="0"/>
              <a:t>Ондуктар </a:t>
            </a:r>
            <a:r>
              <a:rPr lang="en-US" sz="2400" dirty="0"/>
              <a:t>–</a:t>
            </a:r>
            <a:r>
              <a:rPr lang="ky-KG" sz="2400" dirty="0"/>
              <a:t> </a:t>
            </a:r>
            <a:r>
              <a:rPr lang="ru-RU" sz="2400" dirty="0"/>
              <a:t>Орундардын мааниси диаграммасы </a:t>
            </a:r>
            <a:endParaRPr lang="ru-RU" dirty="0"/>
          </a:p>
          <a:p>
            <a:endParaRPr lang="ru-RU" dirty="0"/>
          </a:p>
          <a:p>
            <a:r>
              <a:rPr lang="ru-RU" sz="2400" dirty="0"/>
              <a:t>Орундардын мааниси диаграммасы - бул сан системасына ылайык, анын абалына негизделген сандагы ар бир цифранын маанисин табуу үчүн колдонулган таблица.</a:t>
            </a:r>
          </a:p>
          <a:p>
            <a:endParaRPr lang="ky-KG" sz="2400" dirty="0"/>
          </a:p>
          <a:p>
            <a:r>
              <a:rPr lang="ky-KG" dirty="0"/>
              <a:t>Диаграммалар </a:t>
            </a:r>
            <a:r>
              <a:rPr lang="ru-RU" dirty="0"/>
              <a:t> </a:t>
            </a:r>
            <a:r>
              <a:rPr lang="en-US" dirty="0"/>
              <a:t>2</a:t>
            </a:r>
            <a:r>
              <a:rPr lang="ru-RU" dirty="0"/>
              <a:t> өлчөмдө болот.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2600" b="1" dirty="0">
                <a:solidFill>
                  <a:srgbClr val="FF0000"/>
                </a:solidFill>
              </a:rPr>
              <a:t>ӨЧҮРҮ</a:t>
            </a:r>
            <a:r>
              <a:rPr lang="ky-KG" sz="2600" b="1" dirty="0">
                <a:solidFill>
                  <a:srgbClr val="FF0000"/>
                </a:solidFill>
              </a:rPr>
              <a:t>П САЛЫ</a:t>
            </a:r>
            <a:r>
              <a:rPr lang="ru-RU" sz="2600" b="1" dirty="0">
                <a:solidFill>
                  <a:srgbClr val="FF0000"/>
                </a:solidFill>
              </a:rPr>
              <a:t>ҢЫЗ.</a:t>
            </a:r>
            <a:endParaRPr lang="en-US" sz="2600" b="1" dirty="0">
              <a:solidFill>
                <a:srgbClr val="FF0000"/>
              </a:solidFill>
            </a:endParaRPr>
          </a:p>
          <a:p>
            <a:endParaRPr lang="en-US" sz="2600" b="1" dirty="0">
              <a:solidFill>
                <a:srgbClr val="FF0000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9C32CF0-A8B2-1442-8506-9CB94EBCF53A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365760" y="299344"/>
            <a:ext cx="7641034" cy="1137642"/>
          </a:xfrm>
        </p:spPr>
        <p:txBody>
          <a:bodyPr>
            <a:normAutofit/>
          </a:bodyPr>
          <a:lstStyle/>
          <a:p>
            <a:r>
              <a:rPr lang="en-US" sz="5363" dirty="0" err="1">
                <a:solidFill>
                  <a:srgbClr val="00B0F0"/>
                </a:solidFill>
              </a:rPr>
              <a:t>MathKGZ</a:t>
            </a:r>
            <a:r>
              <a:rPr lang="en-US" sz="4225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407568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6787919"/>
                  </p:ext>
                </p:extLst>
              </p:nvPr>
            </p:nvGraphicFramePr>
            <p:xfrm>
              <a:off x="41563" y="307570"/>
              <a:ext cx="9817332" cy="65141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7244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578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57828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6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6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6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357565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86787919"/>
                  </p:ext>
                </p:extLst>
              </p:nvPr>
            </p:nvGraphicFramePr>
            <p:xfrm>
              <a:off x="41563" y="307570"/>
              <a:ext cx="9817332" cy="651414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272444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3272444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57828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8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8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57828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86" t="-101053" r="-200559" b="-92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000" t="-101053" r="-100186" b="-9284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372" t="-101053" r="-372" b="-92842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5357565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BA4B096-3C95-4243-AAE3-699EB4D3A1F2}"/>
              </a:ext>
            </a:extLst>
          </p:cNvPr>
          <p:cNvSpPr txBox="1"/>
          <p:nvPr/>
        </p:nvSpPr>
        <p:spPr>
          <a:xfrm>
            <a:off x="3518610" y="-26377"/>
            <a:ext cx="38702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Орундардын мааниси диаграммасы</a:t>
            </a:r>
            <a:endParaRPr lang="en-GB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1BBA31-8F09-469A-AD30-8FF5117512AB}"/>
              </a:ext>
            </a:extLst>
          </p:cNvPr>
          <p:cNvSpPr/>
          <p:nvPr/>
        </p:nvSpPr>
        <p:spPr>
          <a:xfrm>
            <a:off x="3257724" y="1119466"/>
            <a:ext cx="110404" cy="110404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BEA5763-2C27-49EE-ADFD-2C897EC0DE16}"/>
              </a:ext>
            </a:extLst>
          </p:cNvPr>
          <p:cNvSpPr/>
          <p:nvPr/>
        </p:nvSpPr>
        <p:spPr>
          <a:xfrm>
            <a:off x="3257724" y="543204"/>
            <a:ext cx="110404" cy="110404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758537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6368048"/>
                  </p:ext>
                </p:extLst>
              </p:nvPr>
            </p:nvGraphicFramePr>
            <p:xfrm>
              <a:off x="33389" y="543891"/>
              <a:ext cx="2290710" cy="6266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39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542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0693555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5533541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035394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0786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6368048"/>
                  </p:ext>
                </p:extLst>
              </p:nvPr>
            </p:nvGraphicFramePr>
            <p:xfrm>
              <a:off x="33389" y="543891"/>
              <a:ext cx="2290710" cy="626649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39542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542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94" t="-101538" r="-200794" b="-138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101538" r="-102400" b="-138615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01538" r="-1587" b="-138615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0693555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5533541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035394"/>
                      </a:ext>
                    </a:extLst>
                  </a:tr>
                  <a:tr h="273782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078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BA4B096-3C95-4243-AAE3-699EB4D3A1F2}"/>
              </a:ext>
            </a:extLst>
          </p:cNvPr>
          <p:cNvSpPr txBox="1"/>
          <p:nvPr/>
        </p:nvSpPr>
        <p:spPr>
          <a:xfrm>
            <a:off x="44277" y="20671"/>
            <a:ext cx="1956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 </a:t>
            </a:r>
            <a:endParaRPr lang="en-US" sz="1400" b="1" dirty="0"/>
          </a:p>
          <a:p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3642D21-9253-48F3-8C7C-6754DA23DCAC}"/>
              </a:ext>
            </a:extLst>
          </p:cNvPr>
          <p:cNvSpPr/>
          <p:nvPr/>
        </p:nvSpPr>
        <p:spPr>
          <a:xfrm>
            <a:off x="761377" y="445912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042C5F-03D8-431F-95A5-6B7AEE46E7AE}"/>
              </a:ext>
            </a:extLst>
          </p:cNvPr>
          <p:cNvSpPr/>
          <p:nvPr/>
        </p:nvSpPr>
        <p:spPr>
          <a:xfrm>
            <a:off x="761377" y="857869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2" name="Table 5">
                <a:extLst>
                  <a:ext uri="{FF2B5EF4-FFF2-40B4-BE49-F238E27FC236}">
                    <a16:creationId xmlns:a16="http://schemas.microsoft.com/office/drawing/2014/main" id="{A4246F6E-9A2B-4B0B-9291-87F63E79EA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6812587"/>
                  </p:ext>
                </p:extLst>
              </p:nvPr>
            </p:nvGraphicFramePr>
            <p:xfrm>
              <a:off x="2567039" y="518495"/>
              <a:ext cx="2290710" cy="62918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397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02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06935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553354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03539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0786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2" name="Table 5">
                <a:extLst>
                  <a:ext uri="{FF2B5EF4-FFF2-40B4-BE49-F238E27FC236}">
                    <a16:creationId xmlns:a16="http://schemas.microsoft.com/office/drawing/2014/main" id="{A4246F6E-9A2B-4B0B-9291-87F63E79EAA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76812587"/>
                  </p:ext>
                </p:extLst>
              </p:nvPr>
            </p:nvGraphicFramePr>
            <p:xfrm>
              <a:off x="2567039" y="518495"/>
              <a:ext cx="2290710" cy="62918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397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00" t="-101538" r="-202400" b="-139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000" t="-101538" r="-100794" b="-139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600" t="-101538" r="-1600" b="-1392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06935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553354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03539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078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939CC875-A0BF-442A-B33C-BE8B18D8CD38}"/>
              </a:ext>
            </a:extLst>
          </p:cNvPr>
          <p:cNvSpPr txBox="1"/>
          <p:nvPr/>
        </p:nvSpPr>
        <p:spPr>
          <a:xfrm>
            <a:off x="2668747" y="0"/>
            <a:ext cx="1956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 </a:t>
            </a:r>
            <a:endParaRPr lang="en-US" sz="1400" b="1" dirty="0"/>
          </a:p>
          <a:p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C79619F8-F05C-48B5-B102-E130BF5BE9C1}"/>
              </a:ext>
            </a:extLst>
          </p:cNvPr>
          <p:cNvSpPr/>
          <p:nvPr/>
        </p:nvSpPr>
        <p:spPr>
          <a:xfrm>
            <a:off x="3295027" y="445912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8DD77B2-CFCC-47D7-BA32-D02D725201EA}"/>
              </a:ext>
            </a:extLst>
          </p:cNvPr>
          <p:cNvSpPr/>
          <p:nvPr/>
        </p:nvSpPr>
        <p:spPr>
          <a:xfrm>
            <a:off x="3295027" y="857869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6" name="Table 5">
                <a:extLst>
                  <a:ext uri="{FF2B5EF4-FFF2-40B4-BE49-F238E27FC236}">
                    <a16:creationId xmlns:a16="http://schemas.microsoft.com/office/drawing/2014/main" id="{80058E4A-BE3D-45EE-AF7E-D674B0EEFD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4920585"/>
                  </p:ext>
                </p:extLst>
              </p:nvPr>
            </p:nvGraphicFramePr>
            <p:xfrm>
              <a:off x="5053064" y="518495"/>
              <a:ext cx="2290710" cy="62918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397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02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06935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553354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03539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0786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6" name="Table 5">
                <a:extLst>
                  <a:ext uri="{FF2B5EF4-FFF2-40B4-BE49-F238E27FC236}">
                    <a16:creationId xmlns:a16="http://schemas.microsoft.com/office/drawing/2014/main" id="{80058E4A-BE3D-45EE-AF7E-D674B0EEFDC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64920585"/>
                  </p:ext>
                </p:extLst>
              </p:nvPr>
            </p:nvGraphicFramePr>
            <p:xfrm>
              <a:off x="5053064" y="518495"/>
              <a:ext cx="2290710" cy="62918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397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94" t="-101538" r="-200794" b="-139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600" t="-101538" r="-102400" b="-139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101538" r="-1587" b="-1392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06935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553354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03539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078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9714DA34-7E2D-41AE-A878-7DF14E0DEA2F}"/>
              </a:ext>
            </a:extLst>
          </p:cNvPr>
          <p:cNvSpPr txBox="1"/>
          <p:nvPr/>
        </p:nvSpPr>
        <p:spPr>
          <a:xfrm>
            <a:off x="5191509" y="-26377"/>
            <a:ext cx="1956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 </a:t>
            </a:r>
            <a:endParaRPr lang="en-US" sz="1400" b="1" dirty="0"/>
          </a:p>
          <a:p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6E625EC7-0B26-4930-A295-D6FEB217C0FA}"/>
              </a:ext>
            </a:extLst>
          </p:cNvPr>
          <p:cNvSpPr/>
          <p:nvPr/>
        </p:nvSpPr>
        <p:spPr>
          <a:xfrm>
            <a:off x="5781052" y="445912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4D67EC6-5D2D-4F16-BA2F-FA5F3B71C76B}"/>
              </a:ext>
            </a:extLst>
          </p:cNvPr>
          <p:cNvSpPr/>
          <p:nvPr/>
        </p:nvSpPr>
        <p:spPr>
          <a:xfrm>
            <a:off x="5781052" y="857869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0" name="Table 5">
                <a:extLst>
                  <a:ext uri="{FF2B5EF4-FFF2-40B4-BE49-F238E27FC236}">
                    <a16:creationId xmlns:a16="http://schemas.microsoft.com/office/drawing/2014/main" id="{FE9FF78A-E026-47D3-9407-A7C9203F5F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7157532"/>
                  </p:ext>
                </p:extLst>
              </p:nvPr>
            </p:nvGraphicFramePr>
            <p:xfrm>
              <a:off x="7586714" y="518495"/>
              <a:ext cx="2290710" cy="62918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397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02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06935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553354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03539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07860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0" name="Table 5">
                <a:extLst>
                  <a:ext uri="{FF2B5EF4-FFF2-40B4-BE49-F238E27FC236}">
                    <a16:creationId xmlns:a16="http://schemas.microsoft.com/office/drawing/2014/main" id="{FE9FF78A-E026-47D3-9407-A7C9203F5F14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917157532"/>
                  </p:ext>
                </p:extLst>
              </p:nvPr>
            </p:nvGraphicFramePr>
            <p:xfrm>
              <a:off x="7586714" y="518495"/>
              <a:ext cx="2290710" cy="629187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397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94" t="-101538" r="-200794" b="-139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600" t="-101538" r="-102400" b="-13923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101538" r="-1587" b="-139230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60693555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65533541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17035394"/>
                      </a:ext>
                    </a:extLst>
                  </a:tr>
                  <a:tr h="274891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807860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C38084F7-D10B-40AC-9B4B-467D402884BC}"/>
              </a:ext>
            </a:extLst>
          </p:cNvPr>
          <p:cNvSpPr txBox="1"/>
          <p:nvPr/>
        </p:nvSpPr>
        <p:spPr>
          <a:xfrm>
            <a:off x="7725159" y="-26377"/>
            <a:ext cx="1956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 </a:t>
            </a:r>
            <a:endParaRPr lang="en-US" sz="1400" b="1" dirty="0"/>
          </a:p>
          <a:p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420C2D7C-7D37-460D-A08C-3EC07C70E209}"/>
              </a:ext>
            </a:extLst>
          </p:cNvPr>
          <p:cNvSpPr/>
          <p:nvPr/>
        </p:nvSpPr>
        <p:spPr>
          <a:xfrm>
            <a:off x="8314702" y="445912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04E85C03-87F1-4E31-8507-E664E699569D}"/>
              </a:ext>
            </a:extLst>
          </p:cNvPr>
          <p:cNvSpPr/>
          <p:nvPr/>
        </p:nvSpPr>
        <p:spPr>
          <a:xfrm>
            <a:off x="8314702" y="857869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6429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2700776"/>
                  </p:ext>
                </p:extLst>
              </p:nvPr>
            </p:nvGraphicFramePr>
            <p:xfrm>
              <a:off x="33390" y="520876"/>
              <a:ext cx="2290710" cy="62990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</a:tblGrid>
                  <a:tr h="397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480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12700776"/>
                  </p:ext>
                </p:extLst>
              </p:nvPr>
            </p:nvGraphicFramePr>
            <p:xfrm>
              <a:off x="33390" y="520876"/>
              <a:ext cx="2290710" cy="62990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</a:tblGrid>
                  <a:tr h="397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794" t="-101538" r="-200794" b="-139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600" t="-101538" r="-102400" b="-139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01538" r="-1587" b="-139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BA4B096-3C95-4243-AAE3-699EB4D3A1F2}"/>
              </a:ext>
            </a:extLst>
          </p:cNvPr>
          <p:cNvSpPr txBox="1"/>
          <p:nvPr/>
        </p:nvSpPr>
        <p:spPr>
          <a:xfrm>
            <a:off x="400888" y="-26377"/>
            <a:ext cx="1956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 </a:t>
            </a:r>
            <a:endParaRPr lang="en-US" sz="1400" b="1" dirty="0"/>
          </a:p>
          <a:p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3642D21-9253-48F3-8C7C-6754DA23DCAC}"/>
              </a:ext>
            </a:extLst>
          </p:cNvPr>
          <p:cNvSpPr/>
          <p:nvPr/>
        </p:nvSpPr>
        <p:spPr>
          <a:xfrm>
            <a:off x="1524965" y="448294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042C5F-03D8-431F-95A5-6B7AEE46E7AE}"/>
              </a:ext>
            </a:extLst>
          </p:cNvPr>
          <p:cNvSpPr/>
          <p:nvPr/>
        </p:nvSpPr>
        <p:spPr>
          <a:xfrm>
            <a:off x="1524965" y="862632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9" name="Table 5">
                <a:extLst>
                  <a:ext uri="{FF2B5EF4-FFF2-40B4-BE49-F238E27FC236}">
                    <a16:creationId xmlns:a16="http://schemas.microsoft.com/office/drawing/2014/main" id="{1915BE3D-BD00-4066-88F1-9910B6BF96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9641985"/>
                  </p:ext>
                </p:extLst>
              </p:nvPr>
            </p:nvGraphicFramePr>
            <p:xfrm>
              <a:off x="2535290" y="520876"/>
              <a:ext cx="2290710" cy="62990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</a:tblGrid>
                  <a:tr h="397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480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9" name="Table 5">
                <a:extLst>
                  <a:ext uri="{FF2B5EF4-FFF2-40B4-BE49-F238E27FC236}">
                    <a16:creationId xmlns:a16="http://schemas.microsoft.com/office/drawing/2014/main" id="{1915BE3D-BD00-4066-88F1-9910B6BF96B3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79641985"/>
                  </p:ext>
                </p:extLst>
              </p:nvPr>
            </p:nvGraphicFramePr>
            <p:xfrm>
              <a:off x="2535290" y="520876"/>
              <a:ext cx="2290710" cy="62990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</a:tblGrid>
                  <a:tr h="397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794" t="-101538" r="-200794" b="-139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600" t="-101538" r="-102400" b="-139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01538" r="-1587" b="-139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9DF4D7DD-CEA4-4F68-95AF-7320685C3ACB}"/>
              </a:ext>
            </a:extLst>
          </p:cNvPr>
          <p:cNvSpPr txBox="1"/>
          <p:nvPr/>
        </p:nvSpPr>
        <p:spPr>
          <a:xfrm>
            <a:off x="2902788" y="-26377"/>
            <a:ext cx="1956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 </a:t>
            </a:r>
            <a:endParaRPr lang="en-US" sz="1400" b="1" dirty="0"/>
          </a:p>
          <a:p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B78CCDBE-9B54-4FEA-96C9-98DC31D1D364}"/>
              </a:ext>
            </a:extLst>
          </p:cNvPr>
          <p:cNvSpPr/>
          <p:nvPr/>
        </p:nvSpPr>
        <p:spPr>
          <a:xfrm>
            <a:off x="4026865" y="448294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9DC2D29-D1BE-4DC3-A040-9FA55B30F984}"/>
              </a:ext>
            </a:extLst>
          </p:cNvPr>
          <p:cNvSpPr/>
          <p:nvPr/>
        </p:nvSpPr>
        <p:spPr>
          <a:xfrm>
            <a:off x="4026865" y="862632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3" name="Table 5">
                <a:extLst>
                  <a:ext uri="{FF2B5EF4-FFF2-40B4-BE49-F238E27FC236}">
                    <a16:creationId xmlns:a16="http://schemas.microsoft.com/office/drawing/2014/main" id="{CBBEF174-9CC4-46FE-ACD6-CC879BE4B0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9821899"/>
                  </p:ext>
                </p:extLst>
              </p:nvPr>
            </p:nvGraphicFramePr>
            <p:xfrm>
              <a:off x="5075290" y="520876"/>
              <a:ext cx="2290710" cy="62990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</a:tblGrid>
                  <a:tr h="397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480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3" name="Table 5">
                <a:extLst>
                  <a:ext uri="{FF2B5EF4-FFF2-40B4-BE49-F238E27FC236}">
                    <a16:creationId xmlns:a16="http://schemas.microsoft.com/office/drawing/2014/main" id="{CBBEF174-9CC4-46FE-ACD6-CC879BE4B08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59821899"/>
                  </p:ext>
                </p:extLst>
              </p:nvPr>
            </p:nvGraphicFramePr>
            <p:xfrm>
              <a:off x="5075290" y="520876"/>
              <a:ext cx="2290710" cy="62990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</a:tblGrid>
                  <a:tr h="39748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74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794" t="-101538" r="-200794" b="-139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101600" t="-101538" r="-102400" b="-139384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200000" t="-101538" r="-1587" b="-139384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520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B2165035-2E7F-4A08-A358-050EF17D63EB}"/>
              </a:ext>
            </a:extLst>
          </p:cNvPr>
          <p:cNvSpPr txBox="1"/>
          <p:nvPr/>
        </p:nvSpPr>
        <p:spPr>
          <a:xfrm>
            <a:off x="5442788" y="-26377"/>
            <a:ext cx="1956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 </a:t>
            </a:r>
            <a:endParaRPr lang="en-US" sz="1400" b="1" dirty="0"/>
          </a:p>
          <a:p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B2452CBF-44FB-45DA-88E8-EF140BCCDDC4}"/>
              </a:ext>
            </a:extLst>
          </p:cNvPr>
          <p:cNvSpPr/>
          <p:nvPr/>
        </p:nvSpPr>
        <p:spPr>
          <a:xfrm>
            <a:off x="6566865" y="448294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44B8D576-F837-4AE5-BD06-E9CE177D1258}"/>
              </a:ext>
            </a:extLst>
          </p:cNvPr>
          <p:cNvSpPr/>
          <p:nvPr/>
        </p:nvSpPr>
        <p:spPr>
          <a:xfrm>
            <a:off x="6566865" y="862632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7" name="Table 5">
                <a:extLst>
                  <a:ext uri="{FF2B5EF4-FFF2-40B4-BE49-F238E27FC236}">
                    <a16:creationId xmlns:a16="http://schemas.microsoft.com/office/drawing/2014/main" id="{5EC42D23-74EF-4296-BFE8-5ED812A384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8986478"/>
                  </p:ext>
                </p:extLst>
              </p:nvPr>
            </p:nvGraphicFramePr>
            <p:xfrm>
              <a:off x="7577190" y="496842"/>
              <a:ext cx="2290710" cy="63230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</a:tblGrid>
                  <a:tr h="3989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8996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7" name="Table 5">
                <a:extLst>
                  <a:ext uri="{FF2B5EF4-FFF2-40B4-BE49-F238E27FC236}">
                    <a16:creationId xmlns:a16="http://schemas.microsoft.com/office/drawing/2014/main" id="{5EC42D23-74EF-4296-BFE8-5ED812A384A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98986478"/>
                  </p:ext>
                </p:extLst>
              </p:nvPr>
            </p:nvGraphicFramePr>
            <p:xfrm>
              <a:off x="7577190" y="496842"/>
              <a:ext cx="2290710" cy="63230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63570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763570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</a:tblGrid>
                  <a:tr h="398996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398996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794" t="-100000" r="-200794" b="-13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101600" t="-100000" r="-102400" b="-1377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5"/>
                          <a:stretch>
                            <a:fillRect l="-200000" t="-100000" r="-1587" b="-1377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76253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8" name="TextBox 37">
            <a:extLst>
              <a:ext uri="{FF2B5EF4-FFF2-40B4-BE49-F238E27FC236}">
                <a16:creationId xmlns:a16="http://schemas.microsoft.com/office/drawing/2014/main" id="{C480E9FC-86EA-44FE-B2EA-885940F8F4E6}"/>
              </a:ext>
            </a:extLst>
          </p:cNvPr>
          <p:cNvSpPr txBox="1"/>
          <p:nvPr/>
        </p:nvSpPr>
        <p:spPr>
          <a:xfrm>
            <a:off x="7944688" y="-26377"/>
            <a:ext cx="195604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 </a:t>
            </a:r>
            <a:endParaRPr lang="en-US" sz="1400" b="1" dirty="0"/>
          </a:p>
          <a:p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28FD7247-E5E2-44C3-AA35-D1B5C0F6F75D}"/>
              </a:ext>
            </a:extLst>
          </p:cNvPr>
          <p:cNvSpPr/>
          <p:nvPr/>
        </p:nvSpPr>
        <p:spPr>
          <a:xfrm>
            <a:off x="9068765" y="448294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F7ADC5F-BCA2-41DD-892C-D80CDA25D17F}"/>
              </a:ext>
            </a:extLst>
          </p:cNvPr>
          <p:cNvSpPr/>
          <p:nvPr/>
        </p:nvSpPr>
        <p:spPr>
          <a:xfrm>
            <a:off x="9068765" y="862632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01100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1734465"/>
                  </p:ext>
                </p:extLst>
              </p:nvPr>
            </p:nvGraphicFramePr>
            <p:xfrm>
              <a:off x="33390" y="274443"/>
              <a:ext cx="4814380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3595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1734465"/>
                  </p:ext>
                </p:extLst>
              </p:nvPr>
            </p:nvGraphicFramePr>
            <p:xfrm>
              <a:off x="33390" y="274443"/>
              <a:ext cx="4814380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3595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5" t="-102941" r="-300505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505" t="-102941" r="-200505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1523" t="-102941" r="-101523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000" t="-102941" r="-1010" b="-138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BA4B096-3C95-4243-AAE3-699EB4D3A1F2}"/>
              </a:ext>
            </a:extLst>
          </p:cNvPr>
          <p:cNvSpPr txBox="1"/>
          <p:nvPr/>
        </p:nvSpPr>
        <p:spPr>
          <a:xfrm>
            <a:off x="1076960" y="-26377"/>
            <a:ext cx="32816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b="1" dirty="0"/>
              <a:t>Орундардын мааниси</a:t>
            </a:r>
            <a:r>
              <a:rPr lang="en-US" sz="1400" b="1" dirty="0"/>
              <a:t> </a:t>
            </a:r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3642D21-9253-48F3-8C7C-6754DA23DCAC}"/>
              </a:ext>
            </a:extLst>
          </p:cNvPr>
          <p:cNvSpPr/>
          <p:nvPr/>
        </p:nvSpPr>
        <p:spPr>
          <a:xfrm>
            <a:off x="2404441" y="448294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042C5F-03D8-431F-95A5-6B7AEE46E7AE}"/>
              </a:ext>
            </a:extLst>
          </p:cNvPr>
          <p:cNvSpPr/>
          <p:nvPr/>
        </p:nvSpPr>
        <p:spPr>
          <a:xfrm>
            <a:off x="2404441" y="869775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Table 5">
                <a:extLst>
                  <a:ext uri="{FF2B5EF4-FFF2-40B4-BE49-F238E27FC236}">
                    <a16:creationId xmlns:a16="http://schemas.microsoft.com/office/drawing/2014/main" id="{7A6BD416-DD63-4E17-9F5D-8AC5E1616A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3752626"/>
                  </p:ext>
                </p:extLst>
              </p:nvPr>
            </p:nvGraphicFramePr>
            <p:xfrm>
              <a:off x="5053065" y="274443"/>
              <a:ext cx="4814380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3595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Table 5">
                <a:extLst>
                  <a:ext uri="{FF2B5EF4-FFF2-40B4-BE49-F238E27FC236}">
                    <a16:creationId xmlns:a16="http://schemas.microsoft.com/office/drawing/2014/main" id="{7A6BD416-DD63-4E17-9F5D-8AC5E1616AD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23752626"/>
                  </p:ext>
                </p:extLst>
              </p:nvPr>
            </p:nvGraphicFramePr>
            <p:xfrm>
              <a:off x="5053065" y="274443"/>
              <a:ext cx="4814380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203595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1203595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5" t="-102941" r="-300505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505" t="-102941" r="-200505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1523" t="-102941" r="-101523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000" t="-102941" r="-1010" b="-138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E366707F-802D-499A-8E7C-1992CFEABE91}"/>
              </a:ext>
            </a:extLst>
          </p:cNvPr>
          <p:cNvSpPr txBox="1"/>
          <p:nvPr/>
        </p:nvSpPr>
        <p:spPr>
          <a:xfrm>
            <a:off x="6206466" y="-7115"/>
            <a:ext cx="3044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</a:t>
            </a:r>
            <a:r>
              <a:rPr lang="en-US" sz="1400" b="1" dirty="0"/>
              <a:t> </a:t>
            </a:r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728AA7A-6646-497B-96BE-73F2C313701A}"/>
              </a:ext>
            </a:extLst>
          </p:cNvPr>
          <p:cNvSpPr/>
          <p:nvPr/>
        </p:nvSpPr>
        <p:spPr>
          <a:xfrm>
            <a:off x="7424116" y="448294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3FC59AA5-07D8-4848-A066-360E1F909E09}"/>
              </a:ext>
            </a:extLst>
          </p:cNvPr>
          <p:cNvSpPr/>
          <p:nvPr/>
        </p:nvSpPr>
        <p:spPr>
          <a:xfrm>
            <a:off x="7424116" y="869775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52529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8362548"/>
                  </p:ext>
                </p:extLst>
              </p:nvPr>
            </p:nvGraphicFramePr>
            <p:xfrm>
              <a:off x="33390" y="274443"/>
              <a:ext cx="4828895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5779">
                      <a:extLst>
                        <a:ext uri="{9D8B030D-6E8A-4147-A177-3AD203B41FA5}">
                          <a16:colId xmlns:a16="http://schemas.microsoft.com/office/drawing/2014/main" val="3432822781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1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268362548"/>
                  </p:ext>
                </p:extLst>
              </p:nvPr>
            </p:nvGraphicFramePr>
            <p:xfrm>
              <a:off x="33390" y="274443"/>
              <a:ext cx="4828895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5779">
                      <a:extLst>
                        <a:ext uri="{9D8B030D-6E8A-4147-A177-3AD203B41FA5}">
                          <a16:colId xmlns:a16="http://schemas.microsoft.com/office/drawing/2014/main" val="3432822781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29" t="-102941" r="-400000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1266" t="-102941" r="-302532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02941" r="-200629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1899" t="-102941" r="-101899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99371" t="-102941" r="-1258" b="-138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BA4B096-3C95-4243-AAE3-699EB4D3A1F2}"/>
              </a:ext>
            </a:extLst>
          </p:cNvPr>
          <p:cNvSpPr txBox="1"/>
          <p:nvPr/>
        </p:nvSpPr>
        <p:spPr>
          <a:xfrm>
            <a:off x="1238747" y="-70299"/>
            <a:ext cx="3044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</a:t>
            </a:r>
            <a:r>
              <a:rPr lang="en-US" sz="1400" b="1" dirty="0"/>
              <a:t> </a:t>
            </a:r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3642D21-9253-48F3-8C7C-6754DA23DCAC}"/>
              </a:ext>
            </a:extLst>
          </p:cNvPr>
          <p:cNvSpPr/>
          <p:nvPr/>
        </p:nvSpPr>
        <p:spPr>
          <a:xfrm>
            <a:off x="2897361" y="443531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042C5F-03D8-431F-95A5-6B7AEE46E7AE}"/>
              </a:ext>
            </a:extLst>
          </p:cNvPr>
          <p:cNvSpPr/>
          <p:nvPr/>
        </p:nvSpPr>
        <p:spPr>
          <a:xfrm>
            <a:off x="2897361" y="853107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6" name="Table 5">
                <a:extLst>
                  <a:ext uri="{FF2B5EF4-FFF2-40B4-BE49-F238E27FC236}">
                    <a16:creationId xmlns:a16="http://schemas.microsoft.com/office/drawing/2014/main" id="{EA398854-0676-48F1-898E-A93774F6A8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2400522"/>
                  </p:ext>
                </p:extLst>
              </p:nvPr>
            </p:nvGraphicFramePr>
            <p:xfrm>
              <a:off x="5037190" y="274443"/>
              <a:ext cx="4828895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5779">
                      <a:extLst>
                        <a:ext uri="{9D8B030D-6E8A-4147-A177-3AD203B41FA5}">
                          <a16:colId xmlns:a16="http://schemas.microsoft.com/office/drawing/2014/main" val="3432822781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1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1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1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1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6" name="Table 5">
                <a:extLst>
                  <a:ext uri="{FF2B5EF4-FFF2-40B4-BE49-F238E27FC236}">
                    <a16:creationId xmlns:a16="http://schemas.microsoft.com/office/drawing/2014/main" id="{EA398854-0676-48F1-898E-A93774F6A8D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12400522"/>
                  </p:ext>
                </p:extLst>
              </p:nvPr>
            </p:nvGraphicFramePr>
            <p:xfrm>
              <a:off x="5037190" y="274443"/>
              <a:ext cx="4828895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965779">
                      <a:extLst>
                        <a:ext uri="{9D8B030D-6E8A-4147-A177-3AD203B41FA5}">
                          <a16:colId xmlns:a16="http://schemas.microsoft.com/office/drawing/2014/main" val="3432822781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965779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29" t="-102941" r="-400000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1266" t="-102941" r="-302532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000" t="-102941" r="-200629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1899" t="-102941" r="-101899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99371" t="-102941" r="-1258" b="-138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7" name="TextBox 16">
            <a:extLst>
              <a:ext uri="{FF2B5EF4-FFF2-40B4-BE49-F238E27FC236}">
                <a16:creationId xmlns:a16="http://schemas.microsoft.com/office/drawing/2014/main" id="{56D7FDC0-44E5-418F-B065-803AF705AF8D}"/>
              </a:ext>
            </a:extLst>
          </p:cNvPr>
          <p:cNvSpPr txBox="1"/>
          <p:nvPr/>
        </p:nvSpPr>
        <p:spPr>
          <a:xfrm>
            <a:off x="6055608" y="-33334"/>
            <a:ext cx="3044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</a:t>
            </a:r>
            <a:r>
              <a:rPr lang="en-US" sz="1400" b="1" dirty="0"/>
              <a:t> </a:t>
            </a:r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13EE526-2403-430D-9D25-A811B9E32D9F}"/>
              </a:ext>
            </a:extLst>
          </p:cNvPr>
          <p:cNvSpPr/>
          <p:nvPr/>
        </p:nvSpPr>
        <p:spPr>
          <a:xfrm>
            <a:off x="7901161" y="443531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05076B75-5535-402C-9730-12AE0C43AF29}"/>
              </a:ext>
            </a:extLst>
          </p:cNvPr>
          <p:cNvSpPr/>
          <p:nvPr/>
        </p:nvSpPr>
        <p:spPr>
          <a:xfrm>
            <a:off x="7901161" y="853107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70148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9343432"/>
                  </p:ext>
                </p:extLst>
              </p:nvPr>
            </p:nvGraphicFramePr>
            <p:xfrm>
              <a:off x="33391" y="274444"/>
              <a:ext cx="4857923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3989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343282278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0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0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1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0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00</m:t>
                                </m:r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0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2" name="Table 5">
                <a:extLst>
                  <a:ext uri="{FF2B5EF4-FFF2-40B4-BE49-F238E27FC236}">
                    <a16:creationId xmlns:a16="http://schemas.microsoft.com/office/drawing/2014/main" id="{4CEB514B-10E1-4F51-96D1-6B94CF6E82D8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889343432"/>
                  </p:ext>
                </p:extLst>
              </p:nvPr>
            </p:nvGraphicFramePr>
            <p:xfrm>
              <a:off x="33391" y="274444"/>
              <a:ext cx="4857923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3989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343282278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0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0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  <a:endParaRPr lang="en-GB" sz="10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877" t="-102941" r="-6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00877" t="-102941" r="-5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877" t="-102941" r="-4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300877" t="-102941" r="-3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400877" t="-102941" r="-2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0877" t="-102941" r="-1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00877" t="-102941" r="-1754" b="-138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BBA4B096-3C95-4243-AAE3-699EB4D3A1F2}"/>
              </a:ext>
            </a:extLst>
          </p:cNvPr>
          <p:cNvSpPr txBox="1"/>
          <p:nvPr/>
        </p:nvSpPr>
        <p:spPr>
          <a:xfrm>
            <a:off x="1584483" y="-26377"/>
            <a:ext cx="3044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</a:t>
            </a:r>
            <a:r>
              <a:rPr lang="en-US" sz="1400" b="1" dirty="0"/>
              <a:t> </a:t>
            </a:r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43642D21-9253-48F3-8C7C-6754DA23DCAC}"/>
              </a:ext>
            </a:extLst>
          </p:cNvPr>
          <p:cNvSpPr/>
          <p:nvPr/>
        </p:nvSpPr>
        <p:spPr>
          <a:xfrm>
            <a:off x="2772741" y="455437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0042C5F-03D8-431F-95A5-6B7AEE46E7AE}"/>
              </a:ext>
            </a:extLst>
          </p:cNvPr>
          <p:cNvSpPr/>
          <p:nvPr/>
        </p:nvSpPr>
        <p:spPr>
          <a:xfrm>
            <a:off x="2772741" y="865013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2" name="Table 5">
                <a:extLst>
                  <a:ext uri="{FF2B5EF4-FFF2-40B4-BE49-F238E27FC236}">
                    <a16:creationId xmlns:a16="http://schemas.microsoft.com/office/drawing/2014/main" id="{ECDD8A77-C57A-41AC-BBCB-07B5C36E53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9300374"/>
                  </p:ext>
                </p:extLst>
              </p:nvPr>
            </p:nvGraphicFramePr>
            <p:xfrm>
              <a:off x="5011791" y="274444"/>
              <a:ext cx="4857923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3989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343282278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0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0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0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00</m:t>
                                </m:r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  <m:r>
                                  <a:rPr kumimoji="0" lang="en-GB" sz="1000" b="0" i="0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10</m:t>
                                </m:r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kumimoji="0" lang="en-GB" sz="1000" b="0" i="1" u="none" strike="noStrike" kern="1200" cap="none" spc="0" normalizeH="0" baseline="0" noProof="0" smtClean="0">
                                    <a:ln>
                                      <a:noFill/>
                                    </a:ln>
                                    <a:solidFill>
                                      <a:sysClr val="windowText" lastClr="000000"/>
                                    </a:solidFill>
                                    <a:effectLst/>
                                    <a:uLnTx/>
                                    <a:uFillTx/>
                                    <a:latin typeface="Cambria Math" panose="02040503050406030204" pitchFamily="18" charset="0"/>
                                    <a:ea typeface="+mn-ea"/>
                                    <a:cs typeface="+mn-cs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just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</m:ctrlPr>
                                  </m:fPr>
                                  <m:num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kumimoji="0" lang="en-GB" sz="1000" b="0" i="1" u="none" strike="noStrike" kern="1200" cap="none" spc="0" normalizeH="0" baseline="0" noProof="0" smtClean="0">
                                        <a:ln>
                                          <a:noFill/>
                                        </a:ln>
                                        <a:solidFill>
                                          <a:sysClr val="windowText" lastClr="000000"/>
                                        </a:solidFill>
                                        <a:effectLst/>
                                        <a:uLnTx/>
                                        <a:uFillTx/>
                                        <a:latin typeface="Cambria Math" panose="02040503050406030204" pitchFamily="18" charset="0"/>
                                        <a:ea typeface="+mn-ea"/>
                                        <a:cs typeface="+mn-cs"/>
                                      </a:rPr>
                                      <m:t>1000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kumimoji="0" lang="en-GB" sz="1000" b="0" i="0" u="none" strike="noStrike" kern="1200" cap="none" spc="0" normalizeH="0" baseline="0" noProof="0" dirty="0">
                            <a:ln>
                              <a:noFill/>
                            </a:ln>
                            <a:solidFill>
                              <a:sysClr val="windowText" lastClr="000000"/>
                            </a:solidFill>
                            <a:effectLst/>
                            <a:uLnTx/>
                            <a:uFillTx/>
                            <a:latin typeface="Calibri" panose="020F0502020204030204"/>
                            <a:ea typeface="+mn-ea"/>
                            <a:cs typeface="+mn-cs"/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2" name="Table 5">
                <a:extLst>
                  <a:ext uri="{FF2B5EF4-FFF2-40B4-BE49-F238E27FC236}">
                    <a16:creationId xmlns:a16="http://schemas.microsoft.com/office/drawing/2014/main" id="{ECDD8A77-C57A-41AC-BBCB-07B5C36E531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09300374"/>
                  </p:ext>
                </p:extLst>
              </p:nvPr>
            </p:nvGraphicFramePr>
            <p:xfrm>
              <a:off x="5011791" y="274444"/>
              <a:ext cx="4857923" cy="6545438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93989">
                      <a:extLst>
                        <a:ext uri="{9D8B030D-6E8A-4147-A177-3AD203B41FA5}">
                          <a16:colId xmlns:a16="http://schemas.microsoft.com/office/drawing/2014/main" val="193346180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343282278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103547771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84576673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599080118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3558550213"/>
                        </a:ext>
                      </a:extLst>
                    </a:gridCol>
                    <a:gridCol w="693989">
                      <a:extLst>
                        <a:ext uri="{9D8B030D-6E8A-4147-A177-3AD203B41FA5}">
                          <a16:colId xmlns:a16="http://schemas.microsoft.com/office/drawing/2014/main" val="2361824800"/>
                        </a:ext>
                      </a:extLst>
                    </a:gridCol>
                  </a:tblGrid>
                  <a:tr h="413029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0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000" b="0" dirty="0">
                              <a:solidFill>
                                <a:sysClr val="windowText" lastClr="000000"/>
                              </a:solidFill>
                            </a:rPr>
                            <a:t>иңдер</a:t>
                          </a: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өр 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Ондор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Бирдиктер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Ондуктар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Жүздүктөр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М</a:t>
                          </a:r>
                          <a:r>
                            <a:rPr lang="ru-RU" sz="1100" b="0" dirty="0">
                              <a:solidFill>
                                <a:sysClr val="windowText" lastClr="000000"/>
                              </a:solidFill>
                            </a:rPr>
                            <a:t>иңд</a:t>
                          </a:r>
                          <a:r>
                            <a:rPr lang="ky-KG" sz="1100" b="0" dirty="0">
                              <a:solidFill>
                                <a:sysClr val="windowText" lastClr="000000"/>
                              </a:solidFill>
                            </a:rPr>
                            <a:t>иктер</a:t>
                          </a:r>
                          <a:endParaRPr lang="en-GB" sz="11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9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4426118"/>
                      </a:ext>
                    </a:extLst>
                  </a:tr>
                  <a:tr h="41302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877" t="-102941" r="-6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100877" t="-102941" r="-5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00877" t="-102941" r="-4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300877" t="-102941" r="-3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00877" t="-102941" r="-2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500877" t="-102941" r="-101754" b="-13823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600877" t="-102941" r="-1754" b="-138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8811623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3599385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3166321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9709641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964713014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5101985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0977616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1047897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52595908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00031940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0323644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914716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53244680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0389505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923517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9564526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3700721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4841182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51262156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845411758"/>
                      </a:ext>
                    </a:extLst>
                  </a:tr>
                  <a:tr h="285969"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GB" sz="12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marL="0" marR="0" marT="0" marB="0" anchor="ctr">
                        <a:lnL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bg1">
                              <a:lumMod val="50000"/>
                            </a:schemeClr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51319439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1833CD2C-9BB9-4A13-8AF0-4BBDD2094A0A}"/>
              </a:ext>
            </a:extLst>
          </p:cNvPr>
          <p:cNvSpPr txBox="1"/>
          <p:nvPr/>
        </p:nvSpPr>
        <p:spPr>
          <a:xfrm>
            <a:off x="6562883" y="-26377"/>
            <a:ext cx="30444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400" b="1" dirty="0"/>
              <a:t>Орундардын мааниси</a:t>
            </a:r>
            <a:r>
              <a:rPr lang="en-US" sz="1400" b="1" dirty="0"/>
              <a:t> </a:t>
            </a:r>
            <a:r>
              <a:rPr lang="ru-RU" sz="1400" b="1" dirty="0"/>
              <a:t>диаграммасы</a:t>
            </a:r>
            <a:endParaRPr lang="en-GB" sz="1400" b="1" dirty="0">
              <a:solidFill>
                <a:schemeClr val="bg1">
                  <a:lumMod val="50000"/>
                </a:schemeClr>
              </a:solidFill>
              <a:latin typeface="Cooper Black" panose="0208090404030B020404" pitchFamily="18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158BE1E-5CEA-4BB0-A3AC-D09036ADC599}"/>
              </a:ext>
            </a:extLst>
          </p:cNvPr>
          <p:cNvSpPr/>
          <p:nvPr/>
        </p:nvSpPr>
        <p:spPr>
          <a:xfrm>
            <a:off x="7751141" y="455437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1850021-0082-4530-9AF6-75D25CD7BC7C}"/>
              </a:ext>
            </a:extLst>
          </p:cNvPr>
          <p:cNvSpPr/>
          <p:nvPr/>
        </p:nvSpPr>
        <p:spPr>
          <a:xfrm>
            <a:off x="7751141" y="865013"/>
            <a:ext cx="72583" cy="72583"/>
          </a:xfrm>
          <a:prstGeom prst="ellipse">
            <a:avLst/>
          </a:prstGeom>
          <a:solidFill>
            <a:schemeClr val="tx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200" dirty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84604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AF0E45-2D9F-E310-9C87-B7E8A4F51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49073" y="1184363"/>
            <a:ext cx="6614638" cy="447265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CFB955-D3D6-69C9-6177-D64E168CC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194717" y="1138644"/>
            <a:ext cx="6614636" cy="4564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3713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82A445-FBD7-D32A-B5BE-8ABB39BDD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38399" y="1038463"/>
            <a:ext cx="6783227" cy="47063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6F1687D-FFCB-03E9-C3DC-D9685CDF75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61172" y="1038461"/>
            <a:ext cx="6783229" cy="4706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6215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981497-7379-CAF8-8B42-4B59C63392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57621" y="1104843"/>
            <a:ext cx="6690548" cy="464831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F7DF94A-CA39-6BB1-AEA3-8176DA45D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4098758" y="1179158"/>
            <a:ext cx="6719795" cy="4528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3686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05FF35-0673-15F2-173E-6D402C55C3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1023526" y="1079713"/>
            <a:ext cx="6853040" cy="474441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2EA34E-AC7B-1AA1-2B66-05E93EFBD0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73475" y="1076567"/>
            <a:ext cx="6832602" cy="4730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2603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50E6E79-ADF7-6EE6-6CD8-FF34317E9C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-999634" y="1045865"/>
            <a:ext cx="6858352" cy="48590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B68CF1E-F648-48A1-9920-993DA2951B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3995767" y="1050800"/>
            <a:ext cx="6858352" cy="475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356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D68D8B6-C6B9-CCC8-9DCA-FCCAFE0AE5A0}"/>
              </a:ext>
            </a:extLst>
          </p:cNvPr>
          <p:cNvSpPr txBox="1">
            <a:spLocks/>
          </p:cNvSpPr>
          <p:nvPr/>
        </p:nvSpPr>
        <p:spPr>
          <a:xfrm>
            <a:off x="-609600" y="1253331"/>
            <a:ext cx="10515600" cy="4351338"/>
          </a:xfrm>
          <a:prstGeom prst="rect">
            <a:avLst/>
          </a:prstGeom>
        </p:spPr>
        <p:txBody>
          <a:bodyPr>
            <a:normAutofit fontScale="85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ru-RU"/>
              <a:t>Суроолор барбы?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/>
              <a:t>Комментарийлер?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/>
              <a:t>Сунуштар?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/>
              <a:t>…же ката таптыңызбы!?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/>
              <a:t>Турдуу пикирлер учун ыраазычылык билдиребиз.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ru-RU"/>
              <a:t>Сураныч, электрондук кат жөнөтүңүз:</a:t>
            </a:r>
          </a:p>
          <a:p>
            <a:pPr marL="0" indent="0" algn="ctr">
              <a:buFont typeface="Arial" panose="020B0604020202020204" pitchFamily="34" charset="0"/>
              <a:buNone/>
            </a:pPr>
            <a:endParaRPr lang="ru-RU"/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/>
              <a:t>mathematicskgz@gmail.com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297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12700">
          <a:solidFill>
            <a:schemeClr val="bg1">
              <a:lumMod val="50000"/>
            </a:schemeClr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2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sm" len="sm"/>
          <a:tailEnd type="none" w="sm" len="sm"/>
        </a:ln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12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10687</TotalTime>
  <Words>250</Words>
  <Application>Microsoft Office PowerPoint</Application>
  <PresentationFormat>A4 Paper (210x297 mm)</PresentationFormat>
  <Paragraphs>160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Cambria Math</vt:lpstr>
      <vt:lpstr>Calibri Light</vt:lpstr>
      <vt:lpstr>Cooper Black</vt:lpstr>
      <vt:lpstr>Calibri</vt:lpstr>
      <vt:lpstr>Office Theme</vt:lpstr>
      <vt:lpstr>1_Office Theme</vt:lpstr>
      <vt:lpstr>MathKGZ  --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544</cp:revision>
  <cp:lastPrinted>2023-10-02T19:52:57Z</cp:lastPrinted>
  <dcterms:created xsi:type="dcterms:W3CDTF">2017-01-17T16:57:04Z</dcterms:created>
  <dcterms:modified xsi:type="dcterms:W3CDTF">2023-10-02T19:55:41Z</dcterms:modified>
</cp:coreProperties>
</file>