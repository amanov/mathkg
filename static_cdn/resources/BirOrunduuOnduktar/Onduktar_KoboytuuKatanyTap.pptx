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704" r:id="rId1"/>
  </p:sldMasterIdLst>
  <p:notesMasterIdLst>
    <p:notesMasterId r:id="rId8"/>
  </p:notesMasterIdLst>
  <p:sldIdLst>
    <p:sldId id="944" r:id="rId2"/>
    <p:sldId id="831" r:id="rId3"/>
    <p:sldId id="939" r:id="rId4"/>
    <p:sldId id="833" r:id="rId5"/>
    <p:sldId id="832" r:id="rId6"/>
    <p:sldId id="938" r:id="rId7"/>
  </p:sldIdLst>
  <p:sldSz cx="9906000" cy="6858000" type="A4"/>
  <p:notesSz cx="7104063" cy="10234613"/>
  <p:embeddedFontLst>
    <p:embeddedFont>
      <p:font typeface="Calibri" panose="020F0502020204030204" pitchFamily="34" charset="0"/>
      <p:regular r:id="rId9"/>
      <p:bold r:id="rId10"/>
      <p:italic r:id="rId11"/>
      <p:boldItalic r:id="rId12"/>
    </p:embeddedFont>
    <p:embeddedFont>
      <p:font typeface="Calibri Light" panose="020F0302020204030204" pitchFamily="34" charset="0"/>
      <p:regular r:id="rId13"/>
      <p:italic r:id="rId14"/>
    </p:embeddedFont>
    <p:embeddedFont>
      <p:font typeface="Fira Code" panose="020B0809050000020004" pitchFamily="49" charset="0"/>
      <p:regular r:id="rId15"/>
    </p:embeddedFont>
  </p:embeddedFontLst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12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F3300"/>
    <a:srgbClr val="FF0066"/>
    <a:srgbClr val="00FF00"/>
    <a:srgbClr val="4472C4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1691" autoAdjust="0"/>
    <p:restoredTop sz="87774" autoAdjust="0"/>
  </p:normalViewPr>
  <p:slideViewPr>
    <p:cSldViewPr snapToGrid="0" showGuides="1">
      <p:cViewPr varScale="1">
        <p:scale>
          <a:sx n="63" d="100"/>
          <a:sy n="63" d="100"/>
        </p:scale>
        <p:origin x="1380" y="56"/>
      </p:cViewPr>
      <p:guideLst>
        <p:guide orient="horz" pos="2160"/>
        <p:guide pos="3120"/>
      </p:guideLst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25" d="100"/>
        <a:sy n="25" d="100"/>
      </p:scale>
      <p:origin x="0" y="0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notesMaster" Target="notesMasters/notesMaster1.xml"/><Relationship Id="rId13" Type="http://schemas.openxmlformats.org/officeDocument/2006/relationships/font" Target="fonts/font5.fntdata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font" Target="fonts/font4.fntdata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font" Target="fonts/font3.fntdata"/><Relationship Id="rId5" Type="http://schemas.openxmlformats.org/officeDocument/2006/relationships/slide" Target="slides/slide4.xml"/><Relationship Id="rId15" Type="http://schemas.openxmlformats.org/officeDocument/2006/relationships/font" Target="fonts/font7.fntdata"/><Relationship Id="rId10" Type="http://schemas.openxmlformats.org/officeDocument/2006/relationships/font" Target="fonts/font2.fntdata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font" Target="fonts/font1.fntdata"/><Relationship Id="rId14" Type="http://schemas.openxmlformats.org/officeDocument/2006/relationships/font" Target="fonts/font6.fntdata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1" y="0"/>
            <a:ext cx="3078427" cy="513508"/>
          </a:xfrm>
          <a:prstGeom prst="rect">
            <a:avLst/>
          </a:prstGeom>
        </p:spPr>
        <p:txBody>
          <a:bodyPr vert="horz" lIns="94638" tIns="47319" rIns="94638" bIns="47319" rtlCol="0"/>
          <a:lstStyle>
            <a:lvl1pPr algn="l">
              <a:defRPr sz="1300"/>
            </a:lvl1pPr>
          </a:lstStyle>
          <a:p>
            <a:endParaRPr lang="en-GB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4023992" y="0"/>
            <a:ext cx="3078427" cy="513508"/>
          </a:xfrm>
          <a:prstGeom prst="rect">
            <a:avLst/>
          </a:prstGeom>
        </p:spPr>
        <p:txBody>
          <a:bodyPr vert="horz" lIns="94638" tIns="47319" rIns="94638" bIns="47319" rtlCol="0"/>
          <a:lstStyle>
            <a:lvl1pPr algn="r">
              <a:defRPr sz="1300"/>
            </a:lvl1pPr>
          </a:lstStyle>
          <a:p>
            <a:fld id="{9C6A85EB-AF26-437E-8488-94E19A13AA79}" type="datetimeFigureOut">
              <a:rPr lang="en-GB" smtClean="0"/>
              <a:t>06/10/2023</a:t>
            </a:fld>
            <a:endParaRPr lang="en-GB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057275" y="1279525"/>
            <a:ext cx="4989513" cy="34544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4638" tIns="47319" rIns="94638" bIns="47319" rtlCol="0" anchor="ctr"/>
          <a:lstStyle/>
          <a:p>
            <a:endParaRPr lang="en-GB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710407" y="4925410"/>
            <a:ext cx="5683250" cy="4029878"/>
          </a:xfrm>
          <a:prstGeom prst="rect">
            <a:avLst/>
          </a:prstGeom>
        </p:spPr>
        <p:txBody>
          <a:bodyPr vert="horz" lIns="94638" tIns="47319" rIns="94638" bIns="47319" rtlCol="0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1" y="9721110"/>
            <a:ext cx="3078427" cy="513507"/>
          </a:xfrm>
          <a:prstGeom prst="rect">
            <a:avLst/>
          </a:prstGeom>
        </p:spPr>
        <p:txBody>
          <a:bodyPr vert="horz" lIns="94638" tIns="47319" rIns="94638" bIns="47319" rtlCol="0" anchor="b"/>
          <a:lstStyle>
            <a:lvl1pPr algn="l">
              <a:defRPr sz="1300"/>
            </a:lvl1pPr>
          </a:lstStyle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4023992" y="9721110"/>
            <a:ext cx="3078427" cy="513507"/>
          </a:xfrm>
          <a:prstGeom prst="rect">
            <a:avLst/>
          </a:prstGeom>
        </p:spPr>
        <p:txBody>
          <a:bodyPr vert="horz" lIns="94638" tIns="47319" rIns="94638" bIns="47319" rtlCol="0" anchor="b"/>
          <a:lstStyle>
            <a:lvl1pPr algn="r">
              <a:defRPr sz="1300"/>
            </a:lvl1pPr>
          </a:lstStyle>
          <a:p>
            <a:fld id="{DD4EDCD2-601A-461C-9AB5-639C33E3F98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75949271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GB" dirty="0"/>
              <a:t>Two worksheets to print.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D4EDCD2-601A-461C-9AB5-639C33E3F986}" type="slidenum">
              <a:rPr lang="en-GB" smtClean="0"/>
              <a:t>5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3103570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742950" y="1122363"/>
            <a:ext cx="84201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238250" y="3602038"/>
            <a:ext cx="74295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10/6/2023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4914716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10/6/2023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7299539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5879" y="1709740"/>
            <a:ext cx="8543925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5879" y="4589465"/>
            <a:ext cx="8543925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10/6/2023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7483106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81038" y="1825625"/>
            <a:ext cx="421005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014913" y="1825625"/>
            <a:ext cx="421005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10/6/2023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8989402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2328" y="365127"/>
            <a:ext cx="8543925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2329" y="1681163"/>
            <a:ext cx="4190702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82329" y="2505075"/>
            <a:ext cx="4190702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014913" y="1681163"/>
            <a:ext cx="4211340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014913" y="2505075"/>
            <a:ext cx="4211340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10/6/2023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15105042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10/6/2023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067655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10/6/2023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50677498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2328" y="457200"/>
            <a:ext cx="3194943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211340" y="987427"/>
            <a:ext cx="5014913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2328" y="2057400"/>
            <a:ext cx="3194943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10/6/2023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3568098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2328" y="457200"/>
            <a:ext cx="3194943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4211340" y="987427"/>
            <a:ext cx="5014913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2328" y="2057400"/>
            <a:ext cx="3194943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10/6/2023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8621591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10/6/2023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21801746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7088982" y="365125"/>
            <a:ext cx="2135981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81038" y="365125"/>
            <a:ext cx="6284119" cy="5811838"/>
          </a:xfrm>
        </p:spPr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10/6/2023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35142738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07398827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81038" y="365127"/>
            <a:ext cx="8543925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1038" y="1825625"/>
            <a:ext cx="8543925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81038" y="6356352"/>
            <a:ext cx="222885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764DE79-268F-4C1A-8933-263129D2AF90}" type="datetimeFigureOut">
              <a:rPr lang="en-US" smtClean="0"/>
              <a:t>10/6/2023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281363" y="6356352"/>
            <a:ext cx="334327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996113" y="6356352"/>
            <a:ext cx="222885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300797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05" r:id="rId1"/>
    <p:sldLayoutId id="2147483706" r:id="rId2"/>
    <p:sldLayoutId id="2147483707" r:id="rId3"/>
    <p:sldLayoutId id="2147483708" r:id="rId4"/>
    <p:sldLayoutId id="2147483709" r:id="rId5"/>
    <p:sldLayoutId id="2147483710" r:id="rId6"/>
    <p:sldLayoutId id="2147483711" r:id="rId7"/>
    <p:sldLayoutId id="2147483712" r:id="rId8"/>
    <p:sldLayoutId id="2147483713" r:id="rId9"/>
    <p:sldLayoutId id="2147483714" r:id="rId10"/>
    <p:sldLayoutId id="2147483715" r:id="rId11"/>
    <p:sldLayoutId id="2147483716" r:id="rId12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4">
            <a:extLst>
              <a:ext uri="{FF2B5EF4-FFF2-40B4-BE49-F238E27FC236}">
                <a16:creationId xmlns:a16="http://schemas.microsoft.com/office/drawing/2014/main" id="{60F66EF7-ED3B-3D57-4D0F-525F90939091}"/>
              </a:ext>
            </a:extLst>
          </p:cNvPr>
          <p:cNvSpPr txBox="1">
            <a:spLocks/>
          </p:cNvSpPr>
          <p:nvPr/>
        </p:nvSpPr>
        <p:spPr>
          <a:xfrm>
            <a:off x="116840" y="1754505"/>
            <a:ext cx="10490200" cy="4351338"/>
          </a:xfrm>
          <a:prstGeom prst="rect">
            <a:avLst/>
          </a:prstGeom>
        </p:spPr>
        <p:txBody>
          <a:bodyPr>
            <a:normAutofit fontScale="92500" lnSpcReduction="20000"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228600" marR="0" lvl="0" indent="-22860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ru-RU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1 Сандуу Ондуктар – Көбөйтүү – Катаны тапкыла</a:t>
            </a:r>
            <a:endParaRPr kumimoji="0" lang="en-US" sz="2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228600" marR="0" lvl="0" indent="-22860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endParaRPr kumimoji="0" lang="ru-RU" sz="2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228600" marR="0" lvl="0" indent="-22860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ru-RU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Окуучулар жанындагы суроолорду жана жооптордун каталарын текшериши керек анан окуучулар аларды оңдошу керек.</a:t>
            </a:r>
          </a:p>
          <a:p>
            <a:pPr marL="228600" marR="0" lvl="0" indent="-22860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endParaRPr kumimoji="0" lang="ru-RU" sz="2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228600" marR="0" lvl="0" indent="-22860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ru-RU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Окуучуларга канча ката табуу керек экенин айтуунун кажети жок.</a:t>
            </a:r>
          </a:p>
          <a:p>
            <a:pPr marL="228600" marR="0" lvl="0" indent="-22860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endParaRPr kumimoji="0" lang="ru-RU" sz="2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228600" marR="0" lvl="0" indent="-22860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ru-RU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Иш барагы 2 өлчөмдө.</a:t>
            </a:r>
          </a:p>
          <a:p>
            <a:pPr marL="228600" marR="0" lvl="0" indent="-22860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endParaRPr kumimoji="0" lang="ru-RU" sz="2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228600" marR="0" lvl="0" indent="-22860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ru-RU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Анимацияларды текшерип, </a:t>
            </a:r>
            <a:r>
              <a:rPr kumimoji="0" lang="ky-KG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сабагы</a:t>
            </a:r>
            <a:r>
              <a:rPr kumimoji="0" lang="ru-RU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ң</a:t>
            </a:r>
            <a:r>
              <a:rPr kumimoji="0" lang="ky-KG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ызга </a:t>
            </a:r>
            <a:r>
              <a:rPr kumimoji="0" lang="ru-RU" sz="2800" b="1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КЕРЕГИ ЖОК </a:t>
            </a:r>
            <a:r>
              <a:rPr kumimoji="0" lang="ru-RU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слайддарды </a:t>
            </a:r>
            <a:r>
              <a:rPr kumimoji="0" lang="ru-RU" sz="3200" b="1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ӨЧҮРҮ</a:t>
            </a:r>
            <a:r>
              <a:rPr kumimoji="0" lang="ky-KG" sz="3200" b="1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П САЛЫ</a:t>
            </a:r>
            <a:r>
              <a:rPr kumimoji="0" lang="ru-RU" sz="3200" b="1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ҢЫЗ.</a:t>
            </a:r>
            <a:endParaRPr kumimoji="0" lang="en-US" sz="2800" b="1" i="0" u="none" strike="noStrike" kern="1200" cap="none" spc="0" normalizeH="0" baseline="0" noProof="0" dirty="0">
              <a:ln>
                <a:noFill/>
              </a:ln>
              <a:solidFill>
                <a:srgbClr val="FF0000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" name="Title 3">
            <a:extLst>
              <a:ext uri="{FF2B5EF4-FFF2-40B4-BE49-F238E27FC236}">
                <a16:creationId xmlns:a16="http://schemas.microsoft.com/office/drawing/2014/main" id="{0A061C24-690F-D956-1244-FD7EB5DA5C3D}"/>
              </a:ext>
            </a:extLst>
          </p:cNvPr>
          <p:cNvSpPr txBox="1">
            <a:spLocks/>
          </p:cNvSpPr>
          <p:nvPr/>
        </p:nvSpPr>
        <p:spPr>
          <a:xfrm>
            <a:off x="0" y="452438"/>
            <a:ext cx="9404350" cy="140017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6600" b="0" i="0" u="none" strike="noStrike" kern="1200" cap="none" spc="0" normalizeH="0" baseline="0" noProof="0" dirty="0" err="1">
                <a:ln>
                  <a:noFill/>
                </a:ln>
                <a:solidFill>
                  <a:srgbClr val="00B0F0"/>
                </a:solidFill>
                <a:effectLst/>
                <a:uLnTx/>
                <a:uFillTx/>
                <a:latin typeface="Calibri Light" panose="020F0302020204030204"/>
                <a:ea typeface="+mj-ea"/>
                <a:cs typeface="+mj-cs"/>
              </a:rPr>
              <a:t>MathKGZ</a:t>
            </a:r>
            <a:r>
              <a:rPr kumimoji="0" lang="en-US" sz="5200" b="0" i="0" u="none" strike="noStrike" kern="1200" cap="none" spc="0" normalizeH="0" baseline="0" noProof="0" dirty="0">
                <a:ln>
                  <a:noFill/>
                </a:ln>
                <a:solidFill>
                  <a:srgbClr val="00B0F0"/>
                </a:solidFill>
                <a:effectLst/>
                <a:uLnTx/>
                <a:uFillTx/>
                <a:latin typeface="Calibri Light" panose="020F0302020204030204"/>
                <a:ea typeface="+mj-ea"/>
                <a:cs typeface="+mj-cs"/>
              </a:rPr>
              <a:t>  -- </a:t>
            </a:r>
          </a:p>
        </p:txBody>
      </p:sp>
    </p:spTree>
    <p:extLst>
      <p:ext uri="{BB962C8B-B14F-4D97-AF65-F5344CB8AC3E}">
        <p14:creationId xmlns:p14="http://schemas.microsoft.com/office/powerpoint/2010/main" val="191062565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Group 3">
            <a:extLst>
              <a:ext uri="{FF2B5EF4-FFF2-40B4-BE49-F238E27FC236}">
                <a16:creationId xmlns:a16="http://schemas.microsoft.com/office/drawing/2014/main" id="{2FC410AA-59FC-4615-9780-3FC3ECD91E78}"/>
              </a:ext>
            </a:extLst>
          </p:cNvPr>
          <p:cNvGrpSpPr/>
          <p:nvPr/>
        </p:nvGrpSpPr>
        <p:grpSpPr>
          <a:xfrm>
            <a:off x="3461511" y="1302570"/>
            <a:ext cx="6444489" cy="5571586"/>
            <a:chOff x="1420561" y="0"/>
            <a:chExt cx="7091350" cy="6130832"/>
          </a:xfrm>
        </p:grpSpPr>
        <p:pic>
          <p:nvPicPr>
            <p:cNvPr id="5" name="Picture 4">
              <a:extLst>
                <a:ext uri="{FF2B5EF4-FFF2-40B4-BE49-F238E27FC236}">
                  <a16:creationId xmlns:a16="http://schemas.microsoft.com/office/drawing/2014/main" id="{73161848-2715-40E3-B5AA-94155D127F7E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2272836" y="0"/>
              <a:ext cx="5360328" cy="4588077"/>
            </a:xfrm>
            <a:prstGeom prst="rect">
              <a:avLst/>
            </a:prstGeom>
          </p:spPr>
        </p:pic>
        <p:pic>
          <p:nvPicPr>
            <p:cNvPr id="6" name="Picture 5">
              <a:extLst>
                <a:ext uri="{FF2B5EF4-FFF2-40B4-BE49-F238E27FC236}">
                  <a16:creationId xmlns:a16="http://schemas.microsoft.com/office/drawing/2014/main" id="{9169D55E-8782-4380-A82A-10E94A3015C0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1420561" y="4561949"/>
              <a:ext cx="7091350" cy="1568883"/>
            </a:xfrm>
            <a:prstGeom prst="rect">
              <a:avLst/>
            </a:prstGeom>
          </p:spPr>
        </p:pic>
      </p:grpSp>
      <p:sp>
        <p:nvSpPr>
          <p:cNvPr id="3" name="TextBox 2">
            <a:extLst>
              <a:ext uri="{FF2B5EF4-FFF2-40B4-BE49-F238E27FC236}">
                <a16:creationId xmlns:a16="http://schemas.microsoft.com/office/drawing/2014/main" id="{5FB92090-0D6F-43A1-89C7-FCDBDDBA19A6}"/>
              </a:ext>
            </a:extLst>
          </p:cNvPr>
          <p:cNvSpPr txBox="1"/>
          <p:nvPr/>
        </p:nvSpPr>
        <p:spPr>
          <a:xfrm>
            <a:off x="595140" y="2214673"/>
            <a:ext cx="3881191" cy="35394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ru-RU" sz="2800" dirty="0"/>
              <a:t>Үч бурчтукта </a:t>
            </a:r>
            <a:endParaRPr lang="en-US" sz="2800" dirty="0"/>
          </a:p>
          <a:p>
            <a:pPr algn="ctr"/>
            <a:r>
              <a:rPr lang="ru-RU" sz="2800" dirty="0"/>
              <a:t>айрым каталар бар!</a:t>
            </a:r>
          </a:p>
          <a:p>
            <a:pPr algn="ctr"/>
            <a:endParaRPr lang="ru-RU" sz="2800" dirty="0"/>
          </a:p>
          <a:p>
            <a:pPr algn="ctr"/>
            <a:r>
              <a:rPr lang="ru-RU" sz="2800" dirty="0"/>
              <a:t>Сен алардын </a:t>
            </a:r>
            <a:endParaRPr lang="en-US" sz="2800" dirty="0"/>
          </a:p>
          <a:p>
            <a:pPr algn="ctr"/>
            <a:r>
              <a:rPr lang="ru-RU" sz="2800" dirty="0"/>
              <a:t>баарын таба аласынбы?</a:t>
            </a:r>
            <a:endParaRPr lang="en-GB" sz="2800" dirty="0"/>
          </a:p>
          <a:p>
            <a:pPr algn="ctr"/>
            <a:endParaRPr lang="en-GB" sz="2800" dirty="0"/>
          </a:p>
          <a:p>
            <a:pPr algn="ctr"/>
            <a:endParaRPr lang="en-GB" sz="2800" dirty="0"/>
          </a:p>
          <a:p>
            <a:pPr algn="ctr"/>
            <a:endParaRPr lang="en-GB" sz="2800" dirty="0"/>
          </a:p>
        </p:txBody>
      </p:sp>
      <p:sp>
        <p:nvSpPr>
          <p:cNvPr id="7" name="Oval 6">
            <a:extLst>
              <a:ext uri="{FF2B5EF4-FFF2-40B4-BE49-F238E27FC236}">
                <a16:creationId xmlns:a16="http://schemas.microsoft.com/office/drawing/2014/main" id="{439CDF84-16EA-482C-BDCB-DEFCD04B93A3}"/>
              </a:ext>
            </a:extLst>
          </p:cNvPr>
          <p:cNvSpPr/>
          <p:nvPr/>
        </p:nvSpPr>
        <p:spPr>
          <a:xfrm>
            <a:off x="6552318" y="2808059"/>
            <a:ext cx="1237129" cy="1173852"/>
          </a:xfrm>
          <a:prstGeom prst="ellipse">
            <a:avLst/>
          </a:prstGeom>
          <a:noFill/>
          <a:ln w="762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8" name="Oval 7">
            <a:extLst>
              <a:ext uri="{FF2B5EF4-FFF2-40B4-BE49-F238E27FC236}">
                <a16:creationId xmlns:a16="http://schemas.microsoft.com/office/drawing/2014/main" id="{BCAD6BA9-22F2-49B3-9FF9-47A39C5DF1F2}"/>
              </a:ext>
            </a:extLst>
          </p:cNvPr>
          <p:cNvSpPr/>
          <p:nvPr/>
        </p:nvSpPr>
        <p:spPr>
          <a:xfrm>
            <a:off x="4139240" y="5569812"/>
            <a:ext cx="1237129" cy="1173852"/>
          </a:xfrm>
          <a:prstGeom prst="ellipse">
            <a:avLst/>
          </a:prstGeom>
          <a:noFill/>
          <a:ln w="762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699DFD38-76F5-9C8F-1CEB-A1BA100B80B1}"/>
              </a:ext>
            </a:extLst>
          </p:cNvPr>
          <p:cNvSpPr txBox="1"/>
          <p:nvPr/>
        </p:nvSpPr>
        <p:spPr>
          <a:xfrm>
            <a:off x="356981" y="114336"/>
            <a:ext cx="8453120" cy="1815882"/>
          </a:xfrm>
          <a:prstGeom prst="rect">
            <a:avLst/>
          </a:prstGeom>
          <a:noFill/>
          <a:ln w="28575">
            <a:noFill/>
          </a:ln>
        </p:spPr>
        <p:txBody>
          <a:bodyPr wrap="square" rtlCol="0">
            <a:spAutoFit/>
          </a:bodyPr>
          <a:lstStyle/>
          <a:p>
            <a:r>
              <a:rPr lang="ru-RU" sz="8800" b="1" dirty="0">
                <a:ln w="22225">
                  <a:solidFill>
                    <a:schemeClr val="accent2"/>
                  </a:solidFill>
                  <a:prstDash val="solid"/>
                </a:ln>
                <a:solidFill>
                  <a:schemeClr val="accent2">
                    <a:lumMod val="40000"/>
                    <a:lumOff val="60000"/>
                  </a:schemeClr>
                </a:solidFill>
                <a:effectLst>
                  <a:glow rad="228600">
                    <a:schemeClr val="accent6">
                      <a:satMod val="175000"/>
                      <a:alpha val="40000"/>
                    </a:schemeClr>
                  </a:glow>
                  <a:reflection blurRad="6350" stA="55000" endA="50" endPos="85000" dist="29997" dir="5400000" sy="-100000" algn="bl" rotWithShape="0"/>
                </a:effectLst>
                <a:latin typeface="+mj-lt"/>
              </a:rPr>
              <a:t>Катаны тап</a:t>
            </a:r>
          </a:p>
          <a:p>
            <a:endParaRPr lang="ru-RU" sz="2400" b="0" dirty="0">
              <a:solidFill>
                <a:srgbClr val="FF0000"/>
              </a:solidFill>
              <a:effectLst>
                <a:reflection blurRad="6350" stA="55000" endA="50" endPos="85000" dist="29997" dir="5400000" sy="-100000" algn="bl" rotWithShape="0"/>
              </a:effectLst>
              <a:latin typeface="Fira Code" panose="020F05020202040302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07719870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ED6F21C1-34E9-4685-B532-15A60AE3DE99}"/>
              </a:ext>
            </a:extLst>
          </p:cNvPr>
          <p:cNvSpPr txBox="1"/>
          <p:nvPr/>
        </p:nvSpPr>
        <p:spPr>
          <a:xfrm>
            <a:off x="623499" y="2048095"/>
            <a:ext cx="2857642" cy="9233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ru-RU" sz="1800" dirty="0"/>
              <a:t>Каталарды таба аласызбы?</a:t>
            </a:r>
          </a:p>
          <a:p>
            <a:pPr algn="ctr"/>
            <a:endParaRPr lang="ru-RU" sz="1800" dirty="0"/>
          </a:p>
          <a:p>
            <a:pPr algn="ctr"/>
            <a:r>
              <a:rPr lang="ru-RU" sz="1800" dirty="0"/>
              <a:t>Аларды оңдоңуз!</a:t>
            </a:r>
            <a:endParaRPr lang="en-GB" sz="1800" dirty="0"/>
          </a:p>
        </p:txBody>
      </p:sp>
      <p:grpSp>
        <p:nvGrpSpPr>
          <p:cNvPr id="7" name="Group 6">
            <a:extLst>
              <a:ext uri="{FF2B5EF4-FFF2-40B4-BE49-F238E27FC236}">
                <a16:creationId xmlns:a16="http://schemas.microsoft.com/office/drawing/2014/main" id="{D3749A5A-114A-4C17-9E86-B9E7A8990608}"/>
              </a:ext>
            </a:extLst>
          </p:cNvPr>
          <p:cNvGrpSpPr/>
          <p:nvPr/>
        </p:nvGrpSpPr>
        <p:grpSpPr>
          <a:xfrm>
            <a:off x="2052320" y="21171"/>
            <a:ext cx="7853680" cy="6836829"/>
            <a:chOff x="3200400" y="2037287"/>
            <a:chExt cx="5122438" cy="4459213"/>
          </a:xfrm>
        </p:grpSpPr>
        <p:pic>
          <p:nvPicPr>
            <p:cNvPr id="2" name="Picture 1">
              <a:extLst>
                <a:ext uri="{FF2B5EF4-FFF2-40B4-BE49-F238E27FC236}">
                  <a16:creationId xmlns:a16="http://schemas.microsoft.com/office/drawing/2014/main" id="{99031D50-2378-46D6-BA74-E476A47850BE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4421798" y="2037287"/>
              <a:ext cx="2645752" cy="2253095"/>
            </a:xfrm>
            <a:prstGeom prst="rect">
              <a:avLst/>
            </a:prstGeom>
          </p:spPr>
        </p:pic>
        <p:pic>
          <p:nvPicPr>
            <p:cNvPr id="3" name="Picture 2">
              <a:extLst>
                <a:ext uri="{FF2B5EF4-FFF2-40B4-BE49-F238E27FC236}">
                  <a16:creationId xmlns:a16="http://schemas.microsoft.com/office/drawing/2014/main" id="{6A166AE9-C705-4841-BDA3-0236FB5D614E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3200400" y="4251558"/>
              <a:ext cx="5122438" cy="2244942"/>
            </a:xfrm>
            <a:prstGeom prst="rect">
              <a:avLst/>
            </a:prstGeom>
          </p:spPr>
        </p:pic>
      </p:grpSp>
      <p:sp>
        <p:nvSpPr>
          <p:cNvPr id="8" name="TextBox 7">
            <a:extLst>
              <a:ext uri="{FF2B5EF4-FFF2-40B4-BE49-F238E27FC236}">
                <a16:creationId xmlns:a16="http://schemas.microsoft.com/office/drawing/2014/main" id="{F6554A55-23F0-0D2B-F8AF-96BFC68E7230}"/>
              </a:ext>
            </a:extLst>
          </p:cNvPr>
          <p:cNvSpPr txBox="1"/>
          <p:nvPr/>
        </p:nvSpPr>
        <p:spPr>
          <a:xfrm>
            <a:off x="512139" y="118795"/>
            <a:ext cx="4953000" cy="13234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sz="4400" b="1" dirty="0">
                <a:effectLst>
                  <a:outerShdw blurRad="838200" dist="1638300" dir="16440000" sx="53000" sy="53000" algn="ctr" rotWithShape="0">
                    <a:srgbClr val="000000">
                      <a:alpha val="5000"/>
                    </a:srgbClr>
                  </a:outerShdw>
                  <a:reflection blurRad="76200" stA="45000" endPos="0" dist="50800" dir="5400000" sy="-100000" algn="bl" rotWithShape="0"/>
                </a:effectLst>
              </a:rPr>
              <a:t>Каталарды</a:t>
            </a:r>
            <a:r>
              <a:rPr lang="ru-RU" sz="3600" b="1" dirty="0">
                <a:effectLst>
                  <a:outerShdw blurRad="838200" dist="1638300" dir="16440000" sx="53000" sy="53000" algn="ctr" rotWithShape="0">
                    <a:srgbClr val="000000">
                      <a:alpha val="5000"/>
                    </a:srgbClr>
                  </a:outerShdw>
                  <a:reflection blurRad="76200" stA="45000" endPos="0" dist="50800" dir="5400000" sy="-100000" algn="bl" rotWithShape="0"/>
                </a:effectLst>
              </a:rPr>
              <a:t> издеп</a:t>
            </a:r>
          </a:p>
          <a:p>
            <a:r>
              <a:rPr lang="ru-RU" sz="3600" b="1" dirty="0">
                <a:effectLst>
                  <a:outerShdw blurRad="838200" dist="1638300" dir="16440000" sx="53000" sy="53000" algn="ctr" rotWithShape="0">
                    <a:srgbClr val="000000">
                      <a:alpha val="5000"/>
                    </a:srgbClr>
                  </a:outerShdw>
                  <a:reflection blurRad="76200" stA="45000" endPos="0" dist="50800" dir="5400000" sy="-100000" algn="bl" rotWithShape="0"/>
                </a:effectLst>
              </a:rPr>
              <a:t>- тап</a:t>
            </a:r>
            <a:endParaRPr lang="en-US" sz="3600" b="1" dirty="0">
              <a:effectLst>
                <a:outerShdw blurRad="838200" dist="1638300" dir="16440000" sx="53000" sy="53000" algn="ctr" rotWithShape="0">
                  <a:srgbClr val="000000">
                    <a:alpha val="5000"/>
                  </a:srgbClr>
                </a:outerShdw>
                <a:reflection blurRad="76200" stA="45000" endPos="0" dist="50800" dir="5400000" sy="-100000" algn="bl" rotWithShape="0"/>
              </a:effectLst>
            </a:endParaRPr>
          </a:p>
        </p:txBody>
      </p:sp>
    </p:spTree>
    <p:extLst>
      <p:ext uri="{BB962C8B-B14F-4D97-AF65-F5344CB8AC3E}">
        <p14:creationId xmlns:p14="http://schemas.microsoft.com/office/powerpoint/2010/main" val="200344616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" name="Group 7">
            <a:extLst>
              <a:ext uri="{FF2B5EF4-FFF2-40B4-BE49-F238E27FC236}">
                <a16:creationId xmlns:a16="http://schemas.microsoft.com/office/drawing/2014/main" id="{F34B9B79-C1D4-48E7-9EA7-BA6A4C005A66}"/>
              </a:ext>
            </a:extLst>
          </p:cNvPr>
          <p:cNvGrpSpPr/>
          <p:nvPr/>
        </p:nvGrpSpPr>
        <p:grpSpPr>
          <a:xfrm>
            <a:off x="2052320" y="21171"/>
            <a:ext cx="7853680" cy="6836829"/>
            <a:chOff x="3200400" y="2037287"/>
            <a:chExt cx="5122438" cy="4459213"/>
          </a:xfrm>
        </p:grpSpPr>
        <p:pic>
          <p:nvPicPr>
            <p:cNvPr id="9" name="Picture 8">
              <a:extLst>
                <a:ext uri="{FF2B5EF4-FFF2-40B4-BE49-F238E27FC236}">
                  <a16:creationId xmlns:a16="http://schemas.microsoft.com/office/drawing/2014/main" id="{6314153C-7A36-4506-9ACC-5A6C79E84CB8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4421798" y="2037287"/>
              <a:ext cx="2645752" cy="2253095"/>
            </a:xfrm>
            <a:prstGeom prst="rect">
              <a:avLst/>
            </a:prstGeom>
          </p:spPr>
        </p:pic>
        <p:pic>
          <p:nvPicPr>
            <p:cNvPr id="10" name="Picture 9">
              <a:extLst>
                <a:ext uri="{FF2B5EF4-FFF2-40B4-BE49-F238E27FC236}">
                  <a16:creationId xmlns:a16="http://schemas.microsoft.com/office/drawing/2014/main" id="{2786366F-B460-4876-BF74-463F07B23E15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3200400" y="4251558"/>
              <a:ext cx="5122438" cy="2244942"/>
            </a:xfrm>
            <a:prstGeom prst="rect">
              <a:avLst/>
            </a:prstGeom>
          </p:spPr>
        </p:pic>
      </p:grpSp>
      <p:sp>
        <p:nvSpPr>
          <p:cNvPr id="16" name="Oval 15">
            <a:extLst>
              <a:ext uri="{FF2B5EF4-FFF2-40B4-BE49-F238E27FC236}">
                <a16:creationId xmlns:a16="http://schemas.microsoft.com/office/drawing/2014/main" id="{B3955A4D-0509-4550-BC6B-C46A16E1AF2E}"/>
              </a:ext>
            </a:extLst>
          </p:cNvPr>
          <p:cNvSpPr/>
          <p:nvPr/>
        </p:nvSpPr>
        <p:spPr>
          <a:xfrm>
            <a:off x="2945951" y="5345442"/>
            <a:ext cx="1237129" cy="1173852"/>
          </a:xfrm>
          <a:prstGeom prst="ellipse">
            <a:avLst/>
          </a:prstGeom>
          <a:noFill/>
          <a:ln w="762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17" name="Oval 16">
            <a:extLst>
              <a:ext uri="{FF2B5EF4-FFF2-40B4-BE49-F238E27FC236}">
                <a16:creationId xmlns:a16="http://schemas.microsoft.com/office/drawing/2014/main" id="{87B72457-24FB-4CA8-A750-8B2CECF51C53}"/>
              </a:ext>
            </a:extLst>
          </p:cNvPr>
          <p:cNvSpPr/>
          <p:nvPr/>
        </p:nvSpPr>
        <p:spPr>
          <a:xfrm>
            <a:off x="6351720" y="2910840"/>
            <a:ext cx="1237129" cy="1173852"/>
          </a:xfrm>
          <a:prstGeom prst="ellipse">
            <a:avLst/>
          </a:prstGeom>
          <a:noFill/>
          <a:ln w="762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18" name="Oval 17">
            <a:extLst>
              <a:ext uri="{FF2B5EF4-FFF2-40B4-BE49-F238E27FC236}">
                <a16:creationId xmlns:a16="http://schemas.microsoft.com/office/drawing/2014/main" id="{02E34BBF-68C4-4436-A15E-D87B9552907B}"/>
              </a:ext>
            </a:extLst>
          </p:cNvPr>
          <p:cNvSpPr/>
          <p:nvPr/>
        </p:nvSpPr>
        <p:spPr>
          <a:xfrm>
            <a:off x="4821119" y="5411122"/>
            <a:ext cx="1237129" cy="1173852"/>
          </a:xfrm>
          <a:prstGeom prst="ellipse">
            <a:avLst/>
          </a:prstGeom>
          <a:noFill/>
          <a:ln w="762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19" name="Oval 18">
            <a:extLst>
              <a:ext uri="{FF2B5EF4-FFF2-40B4-BE49-F238E27FC236}">
                <a16:creationId xmlns:a16="http://schemas.microsoft.com/office/drawing/2014/main" id="{746B0C1C-CE7D-4B26-8C7B-77AE7F5253E4}"/>
              </a:ext>
            </a:extLst>
          </p:cNvPr>
          <p:cNvSpPr/>
          <p:nvPr/>
        </p:nvSpPr>
        <p:spPr>
          <a:xfrm>
            <a:off x="4894959" y="1991910"/>
            <a:ext cx="1237129" cy="1173852"/>
          </a:xfrm>
          <a:prstGeom prst="ellipse">
            <a:avLst/>
          </a:prstGeom>
          <a:noFill/>
          <a:ln w="762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29" name="Oval 28">
            <a:extLst>
              <a:ext uri="{FF2B5EF4-FFF2-40B4-BE49-F238E27FC236}">
                <a16:creationId xmlns:a16="http://schemas.microsoft.com/office/drawing/2014/main" id="{B2C5FBDA-1083-4457-A84E-0383319636D9}"/>
              </a:ext>
            </a:extLst>
          </p:cNvPr>
          <p:cNvSpPr/>
          <p:nvPr/>
        </p:nvSpPr>
        <p:spPr>
          <a:xfrm>
            <a:off x="5837769" y="3691728"/>
            <a:ext cx="1237129" cy="1173852"/>
          </a:xfrm>
          <a:prstGeom prst="ellipse">
            <a:avLst/>
          </a:prstGeom>
          <a:noFill/>
          <a:ln w="762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A776409E-EDA2-8911-B5A8-2E9AC3B55AB3}"/>
              </a:ext>
            </a:extLst>
          </p:cNvPr>
          <p:cNvSpPr txBox="1"/>
          <p:nvPr/>
        </p:nvSpPr>
        <p:spPr>
          <a:xfrm>
            <a:off x="0" y="377186"/>
            <a:ext cx="4602480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y-KG" sz="8000" b="1" spc="600" dirty="0">
                <a:ln w="0">
                  <a:solidFill>
                    <a:schemeClr val="bg2">
                      <a:lumMod val="10000"/>
                    </a:schemeClr>
                  </a:solidFill>
                </a:ln>
                <a:solidFill>
                  <a:srgbClr val="92D050"/>
                </a:solidFill>
                <a:effectLst>
                  <a:outerShdw blurRad="50800" dist="38100" dir="5400000" algn="t" rotWithShape="0">
                    <a:prstClr val="black">
                      <a:alpha val="40000"/>
                    </a:prstClr>
                  </a:outerShdw>
                  <a:reflection blurRad="6350" stA="53000" endA="300" endPos="35500" dir="5400000" sy="-90000" algn="bl" rotWithShape="0"/>
                </a:effectLst>
              </a:rPr>
              <a:t>ЖООБУ</a:t>
            </a:r>
            <a:endParaRPr lang="en-US" sz="2000" b="1" spc="600" dirty="0">
              <a:ln w="0">
                <a:solidFill>
                  <a:schemeClr val="bg2">
                    <a:lumMod val="10000"/>
                  </a:schemeClr>
                </a:solidFill>
              </a:ln>
              <a:solidFill>
                <a:srgbClr val="92D050"/>
              </a:solidFill>
              <a:effectLst>
                <a:outerShdw blurRad="50800" dist="38100" dir="5400000" algn="t" rotWithShape="0">
                  <a:prstClr val="black">
                    <a:alpha val="40000"/>
                  </a:prstClr>
                </a:outerShdw>
                <a:reflection blurRad="6350" stA="53000" endA="300" endPos="35500" dir="5400000" sy="-90000" algn="bl" rotWithShape="0"/>
              </a:effectLst>
            </a:endParaRPr>
          </a:p>
        </p:txBody>
      </p:sp>
    </p:spTree>
    <p:extLst>
      <p:ext uri="{BB962C8B-B14F-4D97-AF65-F5344CB8AC3E}">
        <p14:creationId xmlns:p14="http://schemas.microsoft.com/office/powerpoint/2010/main" val="88598404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0593D4A6-11F1-9304-B79F-DAE2933DD89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 rot="16200000">
            <a:off x="-861647" y="1164047"/>
            <a:ext cx="6653052" cy="4487515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445ABEFE-A9D3-72B4-4712-3EDB0D692AD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 rot="16200000">
            <a:off x="4196943" y="1142637"/>
            <a:ext cx="6653054" cy="453033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9758789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049DD828-9816-48D5-8793-DAFED5357886}"/>
              </a:ext>
            </a:extLst>
          </p:cNvPr>
          <p:cNvSpPr/>
          <p:nvPr/>
        </p:nvSpPr>
        <p:spPr>
          <a:xfrm>
            <a:off x="454478" y="674400"/>
            <a:ext cx="9240883" cy="550920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3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Суроолор барбы?</a:t>
            </a:r>
          </a:p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3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Комментарийлер?</a:t>
            </a:r>
          </a:p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3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Сунуштар?</a:t>
            </a:r>
          </a:p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ru-RU" sz="3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3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…же ката таптыңызбы!?</a:t>
            </a:r>
          </a:p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ru-RU" sz="3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3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Турдуу пикирлер учун ыраазычылык билдиребиз.</a:t>
            </a:r>
          </a:p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ru-RU" sz="3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3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Сураныч, электрондук кат жөнөтүңүз:</a:t>
            </a:r>
          </a:p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ru-RU" sz="3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3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mathematicskgz@gmail.com</a:t>
            </a:r>
          </a:p>
        </p:txBody>
      </p:sp>
    </p:spTree>
    <p:extLst>
      <p:ext uri="{BB962C8B-B14F-4D97-AF65-F5344CB8AC3E}">
        <p14:creationId xmlns:p14="http://schemas.microsoft.com/office/powerpoint/2010/main" val="398297137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 Them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Them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noFill/>
        <a:ln w="28575">
          <a:solidFill>
            <a:schemeClr val="tx1"/>
          </a:solidFill>
        </a:ln>
      </a:spPr>
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<a:prstTxWarp prst="textNoShape">
          <a:avLst/>
        </a:prstTxWarp>
        <a:noAutofit/>
      </a:bodyPr>
      <a:lstStyle>
        <a:defPPr algn="ctr">
          <a:defRPr sz="1950"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</a:objectDefaults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TM04033937[[fn=Vapor Trail]]</Template>
  <TotalTime>8322</TotalTime>
  <Words>114</Words>
  <Application>Microsoft Office PowerPoint</Application>
  <PresentationFormat>A4 Paper (210x297 mm)</PresentationFormat>
  <Paragraphs>36</Paragraphs>
  <Slides>6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11" baseType="lpstr">
      <vt:lpstr>Calibri Light</vt:lpstr>
      <vt:lpstr>Arial</vt:lpstr>
      <vt:lpstr>Fira Code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Kite</dc:creator>
  <cp:lastModifiedBy>Isa Amanov</cp:lastModifiedBy>
  <cp:revision>360</cp:revision>
  <cp:lastPrinted>2019-05-06T03:22:28Z</cp:lastPrinted>
  <dcterms:created xsi:type="dcterms:W3CDTF">2017-01-17T16:57:04Z</dcterms:created>
  <dcterms:modified xsi:type="dcterms:W3CDTF">2023-10-05T19:54:07Z</dcterms:modified>
</cp:coreProperties>
</file>