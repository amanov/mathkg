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848" r:id="rId2"/>
    <p:sldId id="902" r:id="rId3"/>
    <p:sldId id="949" r:id="rId4"/>
    <p:sldId id="950" r:id="rId5"/>
    <p:sldId id="947" r:id="rId6"/>
    <p:sldId id="948" r:id="rId7"/>
    <p:sldId id="951" r:id="rId8"/>
    <p:sldId id="952" r:id="rId9"/>
    <p:sldId id="938" r:id="rId10"/>
  </p:sldIdLst>
  <p:sldSz cx="9906000" cy="6858000" type="A4"/>
  <p:notesSz cx="7104063" cy="10234613"/>
  <p:embeddedFontLst>
    <p:embeddedFont>
      <p:font typeface="Bahnschrift Condensed" panose="020B0502040204020203" pitchFamily="34" charset="0"/>
      <p:regular r:id="rId12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mbria Math" panose="02040503050406030204" pitchFamily="18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  <p14:sldId id="902"/>
          </p14:sldIdLst>
        </p14:section>
        <p14:section name="To Display" id="{059544AC-2C27-45B1-9F95-F87DF8854DD6}">
          <p14:sldIdLst>
            <p14:sldId id="949"/>
            <p14:sldId id="950"/>
          </p14:sldIdLst>
        </p14:section>
        <p14:section name="Answers" id="{1FEDB314-42DC-4694-9B04-D4A4AAE625F7}">
          <p14:sldIdLst>
            <p14:sldId id="947"/>
            <p14:sldId id="948"/>
          </p14:sldIdLst>
        </p14:section>
        <p14:section name="Worksheets" id="{A78D9305-6AAE-4715-A210-52F6908F30F7}">
          <p14:sldIdLst>
            <p14:sldId id="951"/>
            <p14:sldId id="952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6" d="100"/>
          <a:sy n="66" d="100"/>
        </p:scale>
        <p:origin x="1954" y="52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35AA3-462A-4907-9555-95B0B029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 – Worksheet A</a:t>
            </a: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worksheet is in 2 </a:t>
            </a:r>
            <a:r>
              <a:rPr lang="en-GB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sizes.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764972C-63BF-4B84-AFB8-EC29F85A8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210472" y="2126321"/>
            <a:ext cx="753322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handouts from slides -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slide from the left. Then click: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Print &gt; ‘Print Current Slide’</a:t>
            </a:r>
          </a:p>
          <a:p>
            <a:pPr defTabSz="478226">
              <a:defRPr/>
            </a:pPr>
            <a:endParaRPr lang="en-GB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multiple slides -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a section title to highlight all those slides,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press ‘Ctrl’ at the same time as selecting slides to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 more than one. Then click: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Print &gt; ‘Print Selection’</a:t>
            </a:r>
          </a:p>
          <a:p>
            <a:pPr defTabSz="478226">
              <a:defRPr/>
            </a:pPr>
            <a:endParaRPr lang="en-GB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double-sided handouts -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 both slides before using ‘Print Selection’.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‘Print on Both Sides’ and ‘Flip on Short Edge’.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0E7C82-8B5E-40B3-ACD5-C80DE8EEE855}"/>
              </a:ext>
            </a:extLst>
          </p:cNvPr>
          <p:cNvSpPr/>
          <p:nvPr/>
        </p:nvSpPr>
        <p:spPr>
          <a:xfrm>
            <a:off x="3469037" y="690999"/>
            <a:ext cx="29679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</a:t>
            </a:r>
            <a:endParaRPr lang="en-GB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F437FD-9F4F-41EA-9412-DE68150C21BC}"/>
              </a:ext>
            </a:extLst>
          </p:cNvPr>
          <p:cNvGrpSpPr/>
          <p:nvPr/>
        </p:nvGrpSpPr>
        <p:grpSpPr>
          <a:xfrm>
            <a:off x="6430519" y="1091109"/>
            <a:ext cx="2148777" cy="2336014"/>
            <a:chOff x="5766924" y="1696481"/>
            <a:chExt cx="1560068" cy="169600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E41B48E-065D-4605-9C37-9A365330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6924" y="1696481"/>
              <a:ext cx="1560068" cy="1696007"/>
            </a:xfrm>
            <a:prstGeom prst="rect">
              <a:avLst/>
            </a:prstGeom>
            <a:effectLst>
              <a:outerShdw blurRad="50800" dist="1397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690C48-9FE4-4CD3-8FC0-81048646B450}"/>
                </a:ext>
              </a:extLst>
            </p:cNvPr>
            <p:cNvSpPr/>
            <p:nvPr/>
          </p:nvSpPr>
          <p:spPr>
            <a:xfrm>
              <a:off x="5799596" y="1889392"/>
              <a:ext cx="1504950" cy="286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016330-9855-487E-807A-58F9FF452F39}"/>
              </a:ext>
            </a:extLst>
          </p:cNvPr>
          <p:cNvGrpSpPr/>
          <p:nvPr/>
        </p:nvGrpSpPr>
        <p:grpSpPr>
          <a:xfrm>
            <a:off x="6475520" y="3704167"/>
            <a:ext cx="2166608" cy="2336014"/>
            <a:chOff x="6882074" y="3455150"/>
            <a:chExt cx="1573014" cy="169600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6297CB-DBE1-4C5F-8A88-6B185EEC6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2074" y="3455150"/>
              <a:ext cx="1573014" cy="1696007"/>
            </a:xfrm>
            <a:prstGeom prst="rect">
              <a:avLst/>
            </a:prstGeom>
            <a:effectLst>
              <a:outerShdw blurRad="50800" dist="1397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F335E3-CEC2-4B3A-8F8E-3B4AAAF83BE2}"/>
                </a:ext>
              </a:extLst>
            </p:cNvPr>
            <p:cNvSpPr/>
            <p:nvPr/>
          </p:nvSpPr>
          <p:spPr>
            <a:xfrm>
              <a:off x="6917196" y="3652023"/>
              <a:ext cx="1498600" cy="286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76636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0CCED7-70CF-46FF-9A76-896BA3DD4B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638" b="31904"/>
          <a:stretch/>
        </p:blipFill>
        <p:spPr>
          <a:xfrm>
            <a:off x="8715" y="2751"/>
            <a:ext cx="9897285" cy="673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9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66228" y="27969"/>
            <a:ext cx="7157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These</a:t>
            </a:r>
            <a:r>
              <a:rPr lang="en-GB" sz="1200" b="1" dirty="0"/>
              <a:t> Bank Statements </a:t>
            </a:r>
            <a:r>
              <a:rPr lang="en-GB" sz="1200" dirty="0"/>
              <a:t>are from different banks &amp; for different people. Complete the blanks in each statement.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160020" y="5104422"/>
          <a:ext cx="4877191" cy="168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31791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521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ATM: </a:t>
                      </a:r>
                      <a:r>
                        <a:rPr lang="en-GB" sz="12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Hexford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1285.16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Bill Pay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1486.26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‘Happy Bir…’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1511.26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86108E6-6DD0-467D-881F-536DC346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17" y="27140"/>
            <a:ext cx="315409" cy="370389"/>
          </a:xfrm>
          <a:prstGeom prst="rect">
            <a:avLst/>
          </a:prstGeom>
        </p:spPr>
      </p:pic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CB112C7-DB96-4171-B67D-AB90DEC2A972}"/>
              </a:ext>
            </a:extLst>
          </p:cNvPr>
          <p:cNvGraphicFramePr>
            <a:graphicFrameLocks noGrp="1"/>
          </p:cNvGraphicFramePr>
          <p:nvPr/>
        </p:nvGraphicFramePr>
        <p:xfrm>
          <a:off x="3018692" y="670560"/>
          <a:ext cx="3694529" cy="16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9253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411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01/08/21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248.50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08/08/21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220.50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Rent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713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AD6412A-604F-426D-B2FE-AB01EDE13C1D}"/>
              </a:ext>
            </a:extLst>
          </p:cNvPr>
          <p:cNvGraphicFramePr>
            <a:graphicFrameLocks noGrp="1"/>
          </p:cNvGraphicFramePr>
          <p:nvPr/>
        </p:nvGraphicFramePr>
        <p:xfrm>
          <a:off x="149874" y="2783840"/>
          <a:ext cx="5082526" cy="186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27302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Day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Payment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End-of-Day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1258.41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Electric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161.75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1463.38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Transfer-Sister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2476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25E2285-E7DC-49B3-86EC-3BDAFA5E59D4}"/>
              </a:ext>
            </a:extLst>
          </p:cNvPr>
          <p:cNvGraphicFramePr>
            <a:graphicFrameLocks noGrp="1"/>
          </p:cNvGraphicFramePr>
          <p:nvPr/>
        </p:nvGraphicFramePr>
        <p:xfrm>
          <a:off x="5363308" y="4841070"/>
          <a:ext cx="4378580" cy="195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1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5052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Remaining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40.42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845.75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46.83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757.32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Mortgage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745.72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31921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Car. Ins.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153.14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03175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73ACC33-D240-431E-8B32-E242C55FF8D4}"/>
              </a:ext>
            </a:extLst>
          </p:cNvPr>
          <p:cNvGraphicFramePr>
            <a:graphicFrameLocks noGrp="1"/>
          </p:cNvGraphicFramePr>
          <p:nvPr/>
        </p:nvGraphicFramePr>
        <p:xfrm>
          <a:off x="42023" y="600999"/>
          <a:ext cx="2777376" cy="128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44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60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£520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£240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£185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150BB82-8B97-45A6-86E1-8C3D7C7B86B6}"/>
              </a:ext>
            </a:extLst>
          </p:cNvPr>
          <p:cNvSpPr/>
          <p:nvPr/>
        </p:nvSpPr>
        <p:spPr>
          <a:xfrm>
            <a:off x="7043809" y="2397173"/>
            <a:ext cx="2488811" cy="2130866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ECC3D-1A0C-4D50-A4B1-CC6F0D3890B5}"/>
              </a:ext>
            </a:extLst>
          </p:cNvPr>
          <p:cNvSpPr txBox="1"/>
          <p:nvPr/>
        </p:nvSpPr>
        <p:spPr>
          <a:xfrm>
            <a:off x="7399191" y="2370795"/>
            <a:ext cx="17780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November Summary </a:t>
            </a: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Starting Balance:   £2406.12</a:t>
            </a:r>
          </a:p>
          <a:p>
            <a:endParaRPr lang="en-GB" sz="300" b="1" dirty="0">
              <a:latin typeface="Bahnschrift Condensed" panose="020B0502040204020203" pitchFamily="34" charset="0"/>
            </a:endParaRPr>
          </a:p>
          <a:p>
            <a:r>
              <a:rPr lang="en-GB" sz="1300" dirty="0">
                <a:latin typeface="Bahnschrift Condensed" panose="020B0502040204020203" pitchFamily="34" charset="0"/>
              </a:rPr>
              <a:t>Pay: £561.83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Tax: £251.88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Sales: £56.90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Bills: £280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Interest: £2.54</a:t>
            </a:r>
          </a:p>
          <a:p>
            <a:endParaRPr lang="en-GB" sz="300" dirty="0">
              <a:latin typeface="Bahnschrift Condensed" panose="020B0502040204020203" pitchFamily="34" charset="0"/>
            </a:endParaRP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Final Balance: £</a:t>
            </a:r>
            <a:r>
              <a:rPr lang="en-GB" sz="16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2495.51</a:t>
            </a:r>
            <a:endParaRPr lang="en-GB" sz="13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endParaRPr lang="en-GB" sz="1300" b="1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6E49CF5C-AEA7-4CC4-81E0-6B98E115A388}"/>
              </a:ext>
            </a:extLst>
          </p:cNvPr>
          <p:cNvGraphicFramePr>
            <a:graphicFrameLocks noGrp="1"/>
          </p:cNvGraphicFramePr>
          <p:nvPr/>
        </p:nvGraphicFramePr>
        <p:xfrm>
          <a:off x="6916435" y="671534"/>
          <a:ext cx="2838924" cy="138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3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£1200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£453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£957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5FF10C4-1D4C-4E9F-87D4-801327E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48" y="3015762"/>
            <a:ext cx="1029560" cy="1019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02065A-EEF0-40C1-8206-4B341CACEF2B}"/>
              </a:ext>
            </a:extLst>
          </p:cNvPr>
          <p:cNvSpPr txBox="1"/>
          <p:nvPr/>
        </p:nvSpPr>
        <p:spPr>
          <a:xfrm>
            <a:off x="1836152" y="4782849"/>
            <a:ext cx="138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National East Bank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2EE0B-E9D4-4590-8E89-0AA05CE6D134}"/>
              </a:ext>
            </a:extLst>
          </p:cNvPr>
          <p:cNvSpPr txBox="1"/>
          <p:nvPr/>
        </p:nvSpPr>
        <p:spPr>
          <a:xfrm>
            <a:off x="1837378" y="2456209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Morgan-Merchant Bank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F9AEB-0077-4467-BBA8-42DE1D15F090}"/>
              </a:ext>
            </a:extLst>
          </p:cNvPr>
          <p:cNvSpPr txBox="1"/>
          <p:nvPr/>
        </p:nvSpPr>
        <p:spPr>
          <a:xfrm>
            <a:off x="4046950" y="332769"/>
            <a:ext cx="1638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Southern Savings Bank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792711-85EA-41ED-B8A4-33F0D2579CE5}"/>
              </a:ext>
            </a:extLst>
          </p:cNvPr>
          <p:cNvSpPr txBox="1"/>
          <p:nvPr/>
        </p:nvSpPr>
        <p:spPr>
          <a:xfrm>
            <a:off x="7874845" y="373605"/>
            <a:ext cx="119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Flex Accounting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870CB-B56A-45B7-8FC5-736255318461}"/>
              </a:ext>
            </a:extLst>
          </p:cNvPr>
          <p:cNvSpPr txBox="1"/>
          <p:nvPr/>
        </p:nvSpPr>
        <p:spPr>
          <a:xfrm>
            <a:off x="7876884" y="21441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Sure-Start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0EE0F-CDE8-4F68-951A-47FDDB8A4083}"/>
              </a:ext>
            </a:extLst>
          </p:cNvPr>
          <p:cNvSpPr txBox="1"/>
          <p:nvPr/>
        </p:nvSpPr>
        <p:spPr>
          <a:xfrm>
            <a:off x="5455122" y="4574177"/>
            <a:ext cx="2291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Westfield-Clarke Building Society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C22C9-D888-4286-936D-06CE3930EB50}"/>
              </a:ext>
            </a:extLst>
          </p:cNvPr>
          <p:cNvSpPr txBox="1"/>
          <p:nvPr/>
        </p:nvSpPr>
        <p:spPr>
          <a:xfrm>
            <a:off x="956864" y="373409"/>
            <a:ext cx="947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Buddy Bank</a:t>
            </a:r>
          </a:p>
        </p:txBody>
      </p:sp>
    </p:spTree>
    <p:extLst>
      <p:ext uri="{BB962C8B-B14F-4D97-AF65-F5344CB8AC3E}">
        <p14:creationId xmlns:p14="http://schemas.microsoft.com/office/powerpoint/2010/main" val="2775018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66228" y="27969"/>
            <a:ext cx="7157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These</a:t>
            </a:r>
            <a:r>
              <a:rPr lang="en-GB" sz="1200" b="1" dirty="0"/>
              <a:t> Bank Statements </a:t>
            </a:r>
            <a:r>
              <a:rPr lang="en-GB" sz="1200" dirty="0"/>
              <a:t>are from different banks &amp; for different people. Complete the blanks in each statement.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31432"/>
              </p:ext>
            </p:extLst>
          </p:nvPr>
        </p:nvGraphicFramePr>
        <p:xfrm>
          <a:off x="160020" y="5104422"/>
          <a:ext cx="4877191" cy="168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31791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521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ATM: </a:t>
                      </a:r>
                      <a:r>
                        <a:rPr lang="en-GB" sz="12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Hexford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1285.16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Bill Pay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1486.26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‘Happy Bir…’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1511.26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86108E6-6DD0-467D-881F-536DC346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17" y="27140"/>
            <a:ext cx="315409" cy="370389"/>
          </a:xfrm>
          <a:prstGeom prst="rect">
            <a:avLst/>
          </a:prstGeom>
        </p:spPr>
      </p:pic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CB112C7-DB96-4171-B67D-AB90DEC2A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172543"/>
              </p:ext>
            </p:extLst>
          </p:nvPr>
        </p:nvGraphicFramePr>
        <p:xfrm>
          <a:off x="3018692" y="670560"/>
          <a:ext cx="3694529" cy="16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9253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411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01/08/21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248.50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08/08/21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863.50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220.50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1084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Rent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713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371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AD6412A-604F-426D-B2FE-AB01EDE13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09143"/>
              </p:ext>
            </p:extLst>
          </p:nvPr>
        </p:nvGraphicFramePr>
        <p:xfrm>
          <a:off x="149874" y="2783840"/>
          <a:ext cx="5082526" cy="186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27302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Day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Payment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End-of-Day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1258.41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Electric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161.75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1463.38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Transfer-Sister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2476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25E2285-E7DC-49B3-86EC-3BDAFA5E5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77257"/>
              </p:ext>
            </p:extLst>
          </p:nvPr>
        </p:nvGraphicFramePr>
        <p:xfrm>
          <a:off x="5363308" y="4841070"/>
          <a:ext cx="4378580" cy="195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1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5052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Remaining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40.42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845.75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46.83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757.32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Mortgage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745.72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31921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Car. Ins.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153.14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03175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73ACC33-D240-431E-8B32-E242C55FF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34060"/>
              </p:ext>
            </p:extLst>
          </p:nvPr>
        </p:nvGraphicFramePr>
        <p:xfrm>
          <a:off x="42023" y="600999"/>
          <a:ext cx="2777376" cy="128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44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60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£520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£240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£760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£185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£945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150BB82-8B97-45A6-86E1-8C3D7C7B86B6}"/>
              </a:ext>
            </a:extLst>
          </p:cNvPr>
          <p:cNvSpPr/>
          <p:nvPr/>
        </p:nvSpPr>
        <p:spPr>
          <a:xfrm>
            <a:off x="7043809" y="2397173"/>
            <a:ext cx="2488811" cy="2130866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ECC3D-1A0C-4D50-A4B1-CC6F0D3890B5}"/>
              </a:ext>
            </a:extLst>
          </p:cNvPr>
          <p:cNvSpPr txBox="1"/>
          <p:nvPr/>
        </p:nvSpPr>
        <p:spPr>
          <a:xfrm>
            <a:off x="7399191" y="2370795"/>
            <a:ext cx="17780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November Summary </a:t>
            </a: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Starting Balance:   £2406.12</a:t>
            </a:r>
          </a:p>
          <a:p>
            <a:endParaRPr lang="en-GB" sz="300" b="1" dirty="0">
              <a:latin typeface="Bahnschrift Condensed" panose="020B0502040204020203" pitchFamily="34" charset="0"/>
            </a:endParaRPr>
          </a:p>
          <a:p>
            <a:r>
              <a:rPr lang="en-GB" sz="1300" dirty="0">
                <a:latin typeface="Bahnschrift Condensed" panose="020B0502040204020203" pitchFamily="34" charset="0"/>
              </a:rPr>
              <a:t>Pay: £561.83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Tax: £251.88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Sales: £56.90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Bills: £280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Interest: £2.54</a:t>
            </a:r>
          </a:p>
          <a:p>
            <a:endParaRPr lang="en-GB" sz="300" dirty="0">
              <a:latin typeface="Bahnschrift Condensed" panose="020B0502040204020203" pitchFamily="34" charset="0"/>
            </a:endParaRP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Final Balance: £</a:t>
            </a:r>
            <a:r>
              <a:rPr lang="en-GB" sz="16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2495.51</a:t>
            </a:r>
            <a:endParaRPr lang="en-GB" sz="13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endParaRPr lang="en-GB" sz="1300" b="1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6E49CF5C-AEA7-4CC4-81E0-6B98E115A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13063"/>
              </p:ext>
            </p:extLst>
          </p:nvPr>
        </p:nvGraphicFramePr>
        <p:xfrm>
          <a:off x="6916435" y="671534"/>
          <a:ext cx="2838924" cy="138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3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£1200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£453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£747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£210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£957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5FF10C4-1D4C-4E9F-87D4-801327E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48" y="3015762"/>
            <a:ext cx="1029560" cy="1019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02065A-EEF0-40C1-8206-4B341CACEF2B}"/>
              </a:ext>
            </a:extLst>
          </p:cNvPr>
          <p:cNvSpPr txBox="1"/>
          <p:nvPr/>
        </p:nvSpPr>
        <p:spPr>
          <a:xfrm>
            <a:off x="1836152" y="4782849"/>
            <a:ext cx="138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National East Bank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2EE0B-E9D4-4590-8E89-0AA05CE6D134}"/>
              </a:ext>
            </a:extLst>
          </p:cNvPr>
          <p:cNvSpPr txBox="1"/>
          <p:nvPr/>
        </p:nvSpPr>
        <p:spPr>
          <a:xfrm>
            <a:off x="1837378" y="2456209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Morgan-Merchant Bank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F9AEB-0077-4467-BBA8-42DE1D15F090}"/>
              </a:ext>
            </a:extLst>
          </p:cNvPr>
          <p:cNvSpPr txBox="1"/>
          <p:nvPr/>
        </p:nvSpPr>
        <p:spPr>
          <a:xfrm>
            <a:off x="4046950" y="332769"/>
            <a:ext cx="1638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Southern Savings Bank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792711-85EA-41ED-B8A4-33F0D2579CE5}"/>
              </a:ext>
            </a:extLst>
          </p:cNvPr>
          <p:cNvSpPr txBox="1"/>
          <p:nvPr/>
        </p:nvSpPr>
        <p:spPr>
          <a:xfrm>
            <a:off x="7874845" y="373605"/>
            <a:ext cx="119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Flex Accounting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870CB-B56A-45B7-8FC5-736255318461}"/>
              </a:ext>
            </a:extLst>
          </p:cNvPr>
          <p:cNvSpPr txBox="1"/>
          <p:nvPr/>
        </p:nvSpPr>
        <p:spPr>
          <a:xfrm>
            <a:off x="7876884" y="21441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Sure-Start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0EE0F-CDE8-4F68-951A-47FDDB8A4083}"/>
              </a:ext>
            </a:extLst>
          </p:cNvPr>
          <p:cNvSpPr txBox="1"/>
          <p:nvPr/>
        </p:nvSpPr>
        <p:spPr>
          <a:xfrm>
            <a:off x="5455122" y="4574177"/>
            <a:ext cx="2291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Westfield-Clarke Building Society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C22C9-D888-4286-936D-06CE3930EB50}"/>
              </a:ext>
            </a:extLst>
          </p:cNvPr>
          <p:cNvSpPr txBox="1"/>
          <p:nvPr/>
        </p:nvSpPr>
        <p:spPr>
          <a:xfrm>
            <a:off x="956864" y="373409"/>
            <a:ext cx="947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Buddy Bank</a:t>
            </a:r>
          </a:p>
        </p:txBody>
      </p: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66228" y="27969"/>
            <a:ext cx="7157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These</a:t>
            </a:r>
            <a:r>
              <a:rPr lang="en-GB" sz="1200" b="1" dirty="0"/>
              <a:t> Bank Statements </a:t>
            </a:r>
            <a:r>
              <a:rPr lang="en-GB" sz="1200" dirty="0"/>
              <a:t>are from different banks &amp; for different people. Complete the blanks in each statement.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160020" y="5104422"/>
          <a:ext cx="4877191" cy="168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31791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521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ATM: </a:t>
                      </a:r>
                      <a:r>
                        <a:rPr lang="en-GB" sz="12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Hexford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1285.16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1706.81</a:t>
                      </a:r>
                      <a:endParaRPr lang="en-GB" sz="16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Bill Pay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220.55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1486.26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‘Happy Bir…’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1511.26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86108E6-6DD0-467D-881F-536DC346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17" y="27140"/>
            <a:ext cx="315409" cy="370389"/>
          </a:xfrm>
          <a:prstGeom prst="rect">
            <a:avLst/>
          </a:prstGeom>
        </p:spPr>
      </p:pic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CB112C7-DB96-4171-B67D-AB90DEC2A972}"/>
              </a:ext>
            </a:extLst>
          </p:cNvPr>
          <p:cNvGraphicFramePr>
            <a:graphicFrameLocks noGrp="1"/>
          </p:cNvGraphicFramePr>
          <p:nvPr/>
        </p:nvGraphicFramePr>
        <p:xfrm>
          <a:off x="3018692" y="670560"/>
          <a:ext cx="3694529" cy="16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9253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411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01/08/21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248.50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08/08/21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863.50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220.50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1084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Rent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713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371</a:t>
                      </a:r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AD6412A-604F-426D-B2FE-AB01EDE13C1D}"/>
              </a:ext>
            </a:extLst>
          </p:cNvPr>
          <p:cNvGraphicFramePr>
            <a:graphicFrameLocks noGrp="1"/>
          </p:cNvGraphicFramePr>
          <p:nvPr/>
        </p:nvGraphicFramePr>
        <p:xfrm>
          <a:off x="149874" y="2783840"/>
          <a:ext cx="5082526" cy="186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27302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Day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Payment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End-of-Day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1258.41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1008.41</a:t>
                      </a:r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Electric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161.75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846.66</a:t>
                      </a:r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616.72</a:t>
                      </a:r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1463.38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Transfer-Sister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1563.38</a:t>
                      </a:r>
                      <a:endParaRPr lang="en-GB" sz="12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2476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25E2285-E7DC-49B3-86EC-3BDAFA5E59D4}"/>
              </a:ext>
            </a:extLst>
          </p:cNvPr>
          <p:cNvGraphicFramePr>
            <a:graphicFrameLocks noGrp="1"/>
          </p:cNvGraphicFramePr>
          <p:nvPr/>
        </p:nvGraphicFramePr>
        <p:xfrm>
          <a:off x="5363308" y="4841070"/>
          <a:ext cx="4378580" cy="195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1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5052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Remaining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40.42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845.75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886.17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46.83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839.34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82.02</a:t>
                      </a:r>
                      <a:endParaRPr lang="en-GB" sz="12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757.32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Mortgage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745.72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11.60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31921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Car. Ins.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153.14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kumimoji="0" lang="en-GB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141.54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03175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73ACC33-D240-431E-8B32-E242C55FF8D4}"/>
              </a:ext>
            </a:extLst>
          </p:cNvPr>
          <p:cNvGraphicFramePr>
            <a:graphicFrameLocks noGrp="1"/>
          </p:cNvGraphicFramePr>
          <p:nvPr/>
        </p:nvGraphicFramePr>
        <p:xfrm>
          <a:off x="42023" y="600999"/>
          <a:ext cx="2777376" cy="128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44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60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£520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£240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£760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£185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£945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150BB82-8B97-45A6-86E1-8C3D7C7B86B6}"/>
              </a:ext>
            </a:extLst>
          </p:cNvPr>
          <p:cNvSpPr/>
          <p:nvPr/>
        </p:nvSpPr>
        <p:spPr>
          <a:xfrm>
            <a:off x="7043809" y="2397173"/>
            <a:ext cx="2488811" cy="2130866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ECC3D-1A0C-4D50-A4B1-CC6F0D3890B5}"/>
              </a:ext>
            </a:extLst>
          </p:cNvPr>
          <p:cNvSpPr txBox="1"/>
          <p:nvPr/>
        </p:nvSpPr>
        <p:spPr>
          <a:xfrm>
            <a:off x="7399191" y="2370795"/>
            <a:ext cx="17780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November Summary </a:t>
            </a: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Starting Balance:   £2406.12</a:t>
            </a:r>
          </a:p>
          <a:p>
            <a:endParaRPr lang="en-GB" sz="300" b="1" dirty="0">
              <a:latin typeface="Bahnschrift Condensed" panose="020B0502040204020203" pitchFamily="34" charset="0"/>
            </a:endParaRPr>
          </a:p>
          <a:p>
            <a:r>
              <a:rPr lang="en-GB" sz="1300" dirty="0">
                <a:latin typeface="Bahnschrift Condensed" panose="020B0502040204020203" pitchFamily="34" charset="0"/>
              </a:rPr>
              <a:t>Pay: £561.83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Tax: £251.88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Sales: £56.90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Bills: £280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Interest: £2.54</a:t>
            </a:r>
          </a:p>
          <a:p>
            <a:endParaRPr lang="en-GB" sz="300" dirty="0">
              <a:latin typeface="Bahnschrift Condensed" panose="020B0502040204020203" pitchFamily="34" charset="0"/>
            </a:endParaRP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Final Balance: £</a:t>
            </a:r>
            <a:r>
              <a:rPr lang="en-GB" sz="1600" b="1" dirty="0">
                <a:solidFill>
                  <a:srgbClr val="0070C0"/>
                </a:solidFill>
                <a:latin typeface="Bahnschrift Condensed" panose="020B0502040204020203" pitchFamily="34" charset="0"/>
              </a:rPr>
              <a:t>2495.51</a:t>
            </a:r>
            <a:endParaRPr lang="en-GB" sz="1300" b="1" dirty="0">
              <a:solidFill>
                <a:srgbClr val="0070C0"/>
              </a:solidFill>
              <a:latin typeface="Bahnschrift Condensed" panose="020B0502040204020203" pitchFamily="34" charset="0"/>
            </a:endParaRPr>
          </a:p>
          <a:p>
            <a:endParaRPr lang="en-GB" sz="1300" b="1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6E49CF5C-AEA7-4CC4-81E0-6B98E115A388}"/>
              </a:ext>
            </a:extLst>
          </p:cNvPr>
          <p:cNvGraphicFramePr>
            <a:graphicFrameLocks noGrp="1"/>
          </p:cNvGraphicFramePr>
          <p:nvPr/>
        </p:nvGraphicFramePr>
        <p:xfrm>
          <a:off x="6916435" y="671534"/>
          <a:ext cx="2838924" cy="138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3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£1200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£453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£747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£210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£957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5FF10C4-1D4C-4E9F-87D4-801327E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48" y="3015762"/>
            <a:ext cx="1029560" cy="1019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02065A-EEF0-40C1-8206-4B341CACEF2B}"/>
              </a:ext>
            </a:extLst>
          </p:cNvPr>
          <p:cNvSpPr txBox="1"/>
          <p:nvPr/>
        </p:nvSpPr>
        <p:spPr>
          <a:xfrm>
            <a:off x="1836152" y="4782849"/>
            <a:ext cx="138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National East Bank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2EE0B-E9D4-4590-8E89-0AA05CE6D134}"/>
              </a:ext>
            </a:extLst>
          </p:cNvPr>
          <p:cNvSpPr txBox="1"/>
          <p:nvPr/>
        </p:nvSpPr>
        <p:spPr>
          <a:xfrm>
            <a:off x="1837378" y="2456209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Morgan-Merchant Bank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F9AEB-0077-4467-BBA8-42DE1D15F090}"/>
              </a:ext>
            </a:extLst>
          </p:cNvPr>
          <p:cNvSpPr txBox="1"/>
          <p:nvPr/>
        </p:nvSpPr>
        <p:spPr>
          <a:xfrm>
            <a:off x="4046950" y="332769"/>
            <a:ext cx="1638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Southern Savings Bank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792711-85EA-41ED-B8A4-33F0D2579CE5}"/>
              </a:ext>
            </a:extLst>
          </p:cNvPr>
          <p:cNvSpPr txBox="1"/>
          <p:nvPr/>
        </p:nvSpPr>
        <p:spPr>
          <a:xfrm>
            <a:off x="7874845" y="373605"/>
            <a:ext cx="119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Flex Accounting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870CB-B56A-45B7-8FC5-736255318461}"/>
              </a:ext>
            </a:extLst>
          </p:cNvPr>
          <p:cNvSpPr txBox="1"/>
          <p:nvPr/>
        </p:nvSpPr>
        <p:spPr>
          <a:xfrm>
            <a:off x="7876884" y="21441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Sure-Start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0EE0F-CDE8-4F68-951A-47FDDB8A4083}"/>
              </a:ext>
            </a:extLst>
          </p:cNvPr>
          <p:cNvSpPr txBox="1"/>
          <p:nvPr/>
        </p:nvSpPr>
        <p:spPr>
          <a:xfrm>
            <a:off x="5455122" y="4574177"/>
            <a:ext cx="2291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Westfield-Clarke Building Society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C22C9-D888-4286-936D-06CE3930EB50}"/>
              </a:ext>
            </a:extLst>
          </p:cNvPr>
          <p:cNvSpPr txBox="1"/>
          <p:nvPr/>
        </p:nvSpPr>
        <p:spPr>
          <a:xfrm>
            <a:off x="956864" y="373409"/>
            <a:ext cx="947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Buddy Bank</a:t>
            </a:r>
          </a:p>
        </p:txBody>
      </p:sp>
    </p:spTree>
    <p:extLst>
      <p:ext uri="{BB962C8B-B14F-4D97-AF65-F5344CB8AC3E}">
        <p14:creationId xmlns:p14="http://schemas.microsoft.com/office/powerpoint/2010/main" val="3548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366228" y="27969"/>
            <a:ext cx="7157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These</a:t>
            </a:r>
            <a:r>
              <a:rPr lang="en-GB" sz="1200" b="1" dirty="0"/>
              <a:t> Bank Statements </a:t>
            </a:r>
            <a:r>
              <a:rPr lang="en-GB" sz="1200" dirty="0"/>
              <a:t>are from different banks &amp; for different people. Complete the blanks in each statement.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C4C45624-CD2C-4E3D-BA18-7BEC9A5891C9}"/>
              </a:ext>
            </a:extLst>
          </p:cNvPr>
          <p:cNvGraphicFramePr>
            <a:graphicFrameLocks noGrp="1"/>
          </p:cNvGraphicFramePr>
          <p:nvPr/>
        </p:nvGraphicFramePr>
        <p:xfrm>
          <a:off x="160020" y="5104422"/>
          <a:ext cx="4877191" cy="1688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317919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7273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521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ATM: </a:t>
                      </a:r>
                      <a:r>
                        <a:rPr lang="en-GB" sz="1200" b="0" dirty="0" err="1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Hexford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421.65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1285.16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21-02-21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Bill Pay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1486.26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3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22-02-21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‘Happy Bir…’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</a:t>
                      </a:r>
                      <a:endParaRPr lang="en-GB" sz="1200" b="1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1511.26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F86108E6-6DD0-467D-881F-536DC346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817" y="27140"/>
            <a:ext cx="315409" cy="370389"/>
          </a:xfrm>
          <a:prstGeom prst="rect">
            <a:avLst/>
          </a:prstGeom>
        </p:spPr>
      </p:pic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CB112C7-DB96-4171-B67D-AB90DEC2A972}"/>
              </a:ext>
            </a:extLst>
          </p:cNvPr>
          <p:cNvGraphicFramePr>
            <a:graphicFrameLocks noGrp="1"/>
          </p:cNvGraphicFramePr>
          <p:nvPr/>
        </p:nvGraphicFramePr>
        <p:xfrm>
          <a:off x="3018692" y="670560"/>
          <a:ext cx="3694529" cy="16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925368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76752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411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Credit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Debit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£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01/08/21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248.50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08/08/21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615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09/08/21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220.50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3223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14/08/21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Rent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713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AD6412A-604F-426D-B2FE-AB01EDE13C1D}"/>
              </a:ext>
            </a:extLst>
          </p:cNvPr>
          <p:cNvGraphicFramePr>
            <a:graphicFrameLocks noGrp="1"/>
          </p:cNvGraphicFramePr>
          <p:nvPr/>
        </p:nvGraphicFramePr>
        <p:xfrm>
          <a:off x="149874" y="2783840"/>
          <a:ext cx="5082526" cy="186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50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1273021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931000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15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Day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Payment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End-of-Day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GB" sz="1200" b="0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1258.41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ATM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250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Electric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161.75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Salary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1463.38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99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en-GB" sz="1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Jan 2021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Transfer-Sister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1" dirty="0">
                        <a:solidFill>
                          <a:srgbClr val="0070C0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92476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25E2285-E7DC-49B3-86EC-3BDAFA5E59D4}"/>
              </a:ext>
            </a:extLst>
          </p:cNvPr>
          <p:cNvGraphicFramePr>
            <a:graphicFrameLocks noGrp="1"/>
          </p:cNvGraphicFramePr>
          <p:nvPr/>
        </p:nvGraphicFramePr>
        <p:xfrm>
          <a:off x="5363308" y="4841070"/>
          <a:ext cx="4378580" cy="1957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15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899357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50524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Transaction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Remaining</a:t>
                      </a:r>
                    </a:p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40.42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Wages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845.75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Elec.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46.83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19038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Water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757.32</a:t>
                      </a:r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10956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Mortgage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745.72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31921"/>
                  </a:ext>
                </a:extLst>
              </a:tr>
              <a:tr h="2653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Car. Ins.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153.14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03175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473ACC33-D240-431E-8B32-E242C55FF8D4}"/>
              </a:ext>
            </a:extLst>
          </p:cNvPr>
          <p:cNvGraphicFramePr>
            <a:graphicFrameLocks noGrp="1"/>
          </p:cNvGraphicFramePr>
          <p:nvPr/>
        </p:nvGraphicFramePr>
        <p:xfrm>
          <a:off x="42023" y="600999"/>
          <a:ext cx="2777376" cy="1281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344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694344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66605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Date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£520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£240</a:t>
                      </a:r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299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17/06/21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</a:rPr>
                        <a:t>£185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150BB82-8B97-45A6-86E1-8C3D7C7B86B6}"/>
              </a:ext>
            </a:extLst>
          </p:cNvPr>
          <p:cNvSpPr/>
          <p:nvPr/>
        </p:nvSpPr>
        <p:spPr>
          <a:xfrm>
            <a:off x="7043809" y="2397173"/>
            <a:ext cx="2488811" cy="2130866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0ECC3D-1A0C-4D50-A4B1-CC6F0D3890B5}"/>
              </a:ext>
            </a:extLst>
          </p:cNvPr>
          <p:cNvSpPr txBox="1"/>
          <p:nvPr/>
        </p:nvSpPr>
        <p:spPr>
          <a:xfrm>
            <a:off x="7399191" y="2370795"/>
            <a:ext cx="17780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November Summary </a:t>
            </a: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Starting Balance:   £2406.12</a:t>
            </a:r>
          </a:p>
          <a:p>
            <a:endParaRPr lang="en-GB" sz="300" b="1" dirty="0">
              <a:latin typeface="Bahnschrift Condensed" panose="020B0502040204020203" pitchFamily="34" charset="0"/>
            </a:endParaRPr>
          </a:p>
          <a:p>
            <a:r>
              <a:rPr lang="en-GB" sz="1300" dirty="0">
                <a:latin typeface="Bahnschrift Condensed" panose="020B0502040204020203" pitchFamily="34" charset="0"/>
              </a:rPr>
              <a:t>Pay: £561.83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Tax: £251.88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Sales: £56.90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		Bills: £280</a:t>
            </a:r>
          </a:p>
          <a:p>
            <a:r>
              <a:rPr lang="en-GB" sz="1300" dirty="0">
                <a:latin typeface="Bahnschrift Condensed" panose="020B0502040204020203" pitchFamily="34" charset="0"/>
              </a:rPr>
              <a:t>Interest: £2.54</a:t>
            </a:r>
          </a:p>
          <a:p>
            <a:endParaRPr lang="en-GB" sz="300" dirty="0">
              <a:latin typeface="Bahnschrift Condensed" panose="020B0502040204020203" pitchFamily="34" charset="0"/>
            </a:endParaRPr>
          </a:p>
          <a:p>
            <a:pPr algn="ctr"/>
            <a:r>
              <a:rPr lang="en-GB" sz="1300" b="1" dirty="0">
                <a:latin typeface="Bahnschrift Condensed" panose="020B0502040204020203" pitchFamily="34" charset="0"/>
              </a:rPr>
              <a:t>Final Balance: £</a:t>
            </a:r>
            <a:r>
              <a:rPr lang="en-GB" sz="1600" b="1" dirty="0">
                <a:solidFill>
                  <a:schemeClr val="bg1"/>
                </a:solidFill>
                <a:latin typeface="Bahnschrift Condensed" panose="020B0502040204020203" pitchFamily="34" charset="0"/>
              </a:rPr>
              <a:t>2495.51</a:t>
            </a:r>
            <a:endParaRPr lang="en-GB" sz="1300" b="1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  <a:p>
            <a:endParaRPr lang="en-GB" sz="1300" b="1" dirty="0">
              <a:latin typeface="Bahnschrift Condensed" panose="020B0502040204020203" pitchFamily="34" charset="0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6E49CF5C-AEA7-4CC4-81E0-6B98E115A388}"/>
              </a:ext>
            </a:extLst>
          </p:cNvPr>
          <p:cNvGraphicFramePr>
            <a:graphicFrameLocks noGrp="1"/>
          </p:cNvGraphicFramePr>
          <p:nvPr/>
        </p:nvGraphicFramePr>
        <p:xfrm>
          <a:off x="6916435" y="671534"/>
          <a:ext cx="2838924" cy="1380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31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1274361601"/>
                    </a:ext>
                  </a:extLst>
                </a:gridCol>
                <a:gridCol w="709731">
                  <a:extLst>
                    <a:ext uri="{9D8B030D-6E8A-4147-A177-3AD203B41FA5}">
                      <a16:colId xmlns:a16="http://schemas.microsoft.com/office/drawing/2014/main" val="838049455"/>
                    </a:ext>
                  </a:extLst>
                </a:gridCol>
              </a:tblGrid>
              <a:tr h="399701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Outgoings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£1200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£453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217662"/>
                  </a:ext>
                </a:extLst>
              </a:tr>
              <a:tr h="32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29/03/20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£957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21437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B5FF10C4-1D4C-4E9F-87D4-801327E8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48" y="3015762"/>
            <a:ext cx="1029560" cy="10199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02065A-EEF0-40C1-8206-4B341CACEF2B}"/>
              </a:ext>
            </a:extLst>
          </p:cNvPr>
          <p:cNvSpPr txBox="1"/>
          <p:nvPr/>
        </p:nvSpPr>
        <p:spPr>
          <a:xfrm>
            <a:off x="1836152" y="4782849"/>
            <a:ext cx="1381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National East Bank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B2EE0B-E9D4-4590-8E89-0AA05CE6D134}"/>
              </a:ext>
            </a:extLst>
          </p:cNvPr>
          <p:cNvSpPr txBox="1"/>
          <p:nvPr/>
        </p:nvSpPr>
        <p:spPr>
          <a:xfrm>
            <a:off x="1837378" y="2456209"/>
            <a:ext cx="1707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Morgan-Merchant Bank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9F9AEB-0077-4467-BBA8-42DE1D15F090}"/>
              </a:ext>
            </a:extLst>
          </p:cNvPr>
          <p:cNvSpPr txBox="1"/>
          <p:nvPr/>
        </p:nvSpPr>
        <p:spPr>
          <a:xfrm>
            <a:off x="4046950" y="332769"/>
            <a:ext cx="1638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Southern Savings Bank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792711-85EA-41ED-B8A4-33F0D2579CE5}"/>
              </a:ext>
            </a:extLst>
          </p:cNvPr>
          <p:cNvSpPr txBox="1"/>
          <p:nvPr/>
        </p:nvSpPr>
        <p:spPr>
          <a:xfrm>
            <a:off x="7874845" y="373605"/>
            <a:ext cx="1191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Flex Accounting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870CB-B56A-45B7-8FC5-736255318461}"/>
              </a:ext>
            </a:extLst>
          </p:cNvPr>
          <p:cNvSpPr txBox="1"/>
          <p:nvPr/>
        </p:nvSpPr>
        <p:spPr>
          <a:xfrm>
            <a:off x="7876884" y="2144180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Sure-Start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00EE0F-CDE8-4F68-951A-47FDDB8A4083}"/>
              </a:ext>
            </a:extLst>
          </p:cNvPr>
          <p:cNvSpPr txBox="1"/>
          <p:nvPr/>
        </p:nvSpPr>
        <p:spPr>
          <a:xfrm>
            <a:off x="5455122" y="4574177"/>
            <a:ext cx="2291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Westfield-Clarke Building Society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BC22C9-D888-4286-936D-06CE3930EB50}"/>
              </a:ext>
            </a:extLst>
          </p:cNvPr>
          <p:cNvSpPr txBox="1"/>
          <p:nvPr/>
        </p:nvSpPr>
        <p:spPr>
          <a:xfrm>
            <a:off x="956864" y="373409"/>
            <a:ext cx="9476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1" u="sng" dirty="0"/>
              <a:t>Buddy Bank</a:t>
            </a:r>
          </a:p>
        </p:txBody>
      </p:sp>
    </p:spTree>
    <p:extLst>
      <p:ext uri="{BB962C8B-B14F-4D97-AF65-F5344CB8AC3E}">
        <p14:creationId xmlns:p14="http://schemas.microsoft.com/office/powerpoint/2010/main" val="140918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BE0C91-7D69-4AB4-9734-E4E7D238A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8364" y="1063531"/>
            <a:ext cx="6813366" cy="47214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08F0DC9-8381-4F98-9726-E0103DDF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3929" y="1063531"/>
            <a:ext cx="6813366" cy="472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98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…or have you found a mistake!?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feedback would be appreciated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feel free to email: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10553</TotalTime>
  <Words>1055</Words>
  <Application>Microsoft Office PowerPoint</Application>
  <PresentationFormat>A4 Paper (210x297 mm)</PresentationFormat>
  <Paragraphs>611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Times New Roman</vt:lpstr>
      <vt:lpstr>Bahnschrift Condensed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kite</cp:lastModifiedBy>
  <cp:revision>524</cp:revision>
  <cp:lastPrinted>2021-05-13T01:00:55Z</cp:lastPrinted>
  <dcterms:created xsi:type="dcterms:W3CDTF">2017-01-17T16:57:04Z</dcterms:created>
  <dcterms:modified xsi:type="dcterms:W3CDTF">2021-05-13T01:01:13Z</dcterms:modified>
</cp:coreProperties>
</file>