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7"/>
  </p:notesMasterIdLst>
  <p:sldIdLst>
    <p:sldId id="848" r:id="rId2"/>
    <p:sldId id="945" r:id="rId3"/>
    <p:sldId id="944" r:id="rId4"/>
    <p:sldId id="946" r:id="rId5"/>
    <p:sldId id="938" r:id="rId6"/>
  </p:sldIdLst>
  <p:sldSz cx="9906000" cy="6858000" type="A4"/>
  <p:notesSz cx="7104063" cy="10234613"/>
  <p:embeddedFontLst>
    <p:embeddedFont>
      <p:font typeface="Calibri" panose="020F0502020204030204" pitchFamily="34" charset="0"/>
      <p:regular r:id="rId8"/>
      <p:bold r:id="rId9"/>
      <p:italic r:id="rId10"/>
      <p:boldItalic r:id="rId11"/>
    </p:embeddedFont>
    <p:embeddedFont>
      <p:font typeface="Calibri Light" panose="020F0302020204030204" pitchFamily="34" charset="0"/>
      <p:regular r:id="rId12"/>
      <p:italic r:id="rId13"/>
    </p:embeddedFont>
    <p:embeddedFont>
      <p:font typeface="Cambria Math" panose="02040503050406030204" pitchFamily="18" charset="0"/>
      <p:regular r:id="rId1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197FF5E7-57A8-40D7-8FA0-8A089C366947}">
          <p14:sldIdLst>
            <p14:sldId id="848"/>
          </p14:sldIdLst>
        </p14:section>
        <p14:section name="Көрсөтүү үчүн" id="{059544AC-2C27-45B1-9F95-F87DF8854DD6}">
          <p14:sldIdLst>
            <p14:sldId id="945"/>
          </p14:sldIdLst>
        </p14:section>
        <p14:section name="Жооптор" id="{1FEDB314-42DC-4694-9B04-D4A4AAE625F7}">
          <p14:sldIdLst>
            <p14:sldId id="944"/>
          </p14:sldIdLst>
        </p14:section>
        <p14:section name="Таркатма" id="{A78D9305-6AAE-4715-A210-52F6908F30F7}">
          <p14:sldIdLst>
            <p14:sldId id="946"/>
          </p14:sldIdLst>
        </p14:section>
        <p14:section name="mathkgz" id="{F3D720CF-F566-46A6-9361-125255B68FA6}">
          <p14:sldIdLst>
            <p14:sldId id="93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4999"/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632" y="5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29/09/2023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9.png"/><Relationship Id="rId18" Type="http://schemas.openxmlformats.org/officeDocument/2006/relationships/image" Target="../media/image20.png"/><Relationship Id="rId3" Type="http://schemas.openxmlformats.org/officeDocument/2006/relationships/image" Target="../media/image14.png"/><Relationship Id="rId21" Type="http://schemas.openxmlformats.org/officeDocument/2006/relationships/image" Target="../media/image13.png"/><Relationship Id="rId7" Type="http://schemas.openxmlformats.org/officeDocument/2006/relationships/image" Target="../media/image16.png"/><Relationship Id="rId12" Type="http://schemas.openxmlformats.org/officeDocument/2006/relationships/image" Target="../media/image17.png"/><Relationship Id="rId17" Type="http://schemas.openxmlformats.org/officeDocument/2006/relationships/image" Target="../media/image11.png"/><Relationship Id="rId2" Type="http://schemas.openxmlformats.org/officeDocument/2006/relationships/image" Target="../media/image2.png"/><Relationship Id="rId16" Type="http://schemas.openxmlformats.org/officeDocument/2006/relationships/image" Target="../media/image19.png"/><Relationship Id="rId20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8.png"/><Relationship Id="rId5" Type="http://schemas.openxmlformats.org/officeDocument/2006/relationships/image" Target="../media/image15.png"/><Relationship Id="rId15" Type="http://schemas.openxmlformats.org/officeDocument/2006/relationships/image" Target="../media/image10.png"/><Relationship Id="rId10" Type="http://schemas.openxmlformats.org/officeDocument/2006/relationships/image" Target="../media/image7.png"/><Relationship Id="rId19" Type="http://schemas.openxmlformats.org/officeDocument/2006/relationships/image" Target="../media/image12.png"/><Relationship Id="rId4" Type="http://schemas.openxmlformats.org/officeDocument/2006/relationships/image" Target="../media/image3.png"/><Relationship Id="rId9" Type="http://schemas.openxmlformats.org/officeDocument/2006/relationships/image" Target="../media/image6.png"/><Relationship Id="rId14" Type="http://schemas.openxmlformats.org/officeDocument/2006/relationships/image" Target="../media/image18.png"/><Relationship Id="rId22" Type="http://schemas.openxmlformats.org/officeDocument/2006/relationships/image" Target="../media/image2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423AB513-652E-C3BF-2C4E-383119CB0C3B}"/>
              </a:ext>
            </a:extLst>
          </p:cNvPr>
          <p:cNvSpPr txBox="1">
            <a:spLocks/>
          </p:cNvSpPr>
          <p:nvPr/>
        </p:nvSpPr>
        <p:spPr>
          <a:xfrm>
            <a:off x="74930" y="1767839"/>
            <a:ext cx="9292590" cy="404336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Амалдарды аткаруу тартиби</a:t>
            </a:r>
            <a:r>
              <a:rPr lang="en-US" dirty="0"/>
              <a:t> – </a:t>
            </a:r>
            <a:r>
              <a:rPr lang="ru-RU" dirty="0"/>
              <a:t>Багытталган сандар менен</a:t>
            </a:r>
          </a:p>
          <a:p>
            <a:endParaRPr lang="ru-RU" dirty="0"/>
          </a:p>
          <a:p>
            <a:r>
              <a:rPr lang="ru-RU" dirty="0"/>
              <a:t>Проектордо чагылдырып койсо болот же принтерден чыгарып </a:t>
            </a:r>
            <a:r>
              <a:rPr lang="ky-KG" dirty="0"/>
              <a:t>таркатып койсо болот</a:t>
            </a:r>
            <a:endParaRPr lang="ru-RU" dirty="0"/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Анимацияларды текшерип, </a:t>
            </a:r>
            <a:r>
              <a:rPr lang="ky-KG" dirty="0"/>
              <a:t>сабагы</a:t>
            </a:r>
            <a:r>
              <a:rPr lang="ru-RU" dirty="0"/>
              <a:t>ң</a:t>
            </a:r>
            <a:r>
              <a:rPr lang="ky-KG" dirty="0"/>
              <a:t>ызга </a:t>
            </a:r>
            <a:r>
              <a:rPr lang="ru-RU" b="1" dirty="0">
                <a:solidFill>
                  <a:srgbClr val="FF0000"/>
                </a:solidFill>
              </a:rPr>
              <a:t>КЕРЕГИ ЖОК </a:t>
            </a:r>
            <a:r>
              <a:rPr lang="ru-RU" dirty="0"/>
              <a:t>слайддарды </a:t>
            </a:r>
            <a:r>
              <a:rPr lang="ru-RU" sz="3200" b="1" dirty="0">
                <a:solidFill>
                  <a:srgbClr val="FF0000"/>
                </a:solidFill>
              </a:rPr>
              <a:t>ӨЧҮРҮ</a:t>
            </a:r>
            <a:r>
              <a:rPr lang="ky-KG" sz="3200" b="1" dirty="0">
                <a:solidFill>
                  <a:srgbClr val="FF0000"/>
                </a:solidFill>
              </a:rPr>
              <a:t>П САЛЫ</a:t>
            </a:r>
            <a:r>
              <a:rPr lang="ru-RU" sz="3200" b="1" dirty="0">
                <a:solidFill>
                  <a:srgbClr val="FF0000"/>
                </a:solidFill>
              </a:rPr>
              <a:t>ҢЫЗ.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02B12FE2-8A2D-1F09-EA87-1A4639F06177}"/>
              </a:ext>
            </a:extLst>
          </p:cNvPr>
          <p:cNvSpPr txBox="1">
            <a:spLocks/>
          </p:cNvSpPr>
          <p:nvPr/>
        </p:nvSpPr>
        <p:spPr>
          <a:xfrm>
            <a:off x="426720" y="269558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 dirty="0" err="1">
                <a:solidFill>
                  <a:srgbClr val="00B0F0"/>
                </a:solidFill>
              </a:rPr>
              <a:t>MathKGZ</a:t>
            </a:r>
            <a:r>
              <a:rPr lang="en-US" sz="5200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49839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6BAA9CE-D193-47DD-BE65-1AF84E30DE53}"/>
              </a:ext>
            </a:extLst>
          </p:cNvPr>
          <p:cNvCxnSpPr>
            <a:cxnSpLocks/>
          </p:cNvCxnSpPr>
          <p:nvPr/>
        </p:nvCxnSpPr>
        <p:spPr>
          <a:xfrm>
            <a:off x="4953000" y="-8791"/>
            <a:ext cx="0" cy="6866791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72236D4-0054-4ED5-8FBC-824B234FEBA0}"/>
              </a:ext>
            </a:extLst>
          </p:cNvPr>
          <p:cNvCxnSpPr>
            <a:cxnSpLocks/>
          </p:cNvCxnSpPr>
          <p:nvPr/>
        </p:nvCxnSpPr>
        <p:spPr>
          <a:xfrm flipH="1">
            <a:off x="0" y="3429000"/>
            <a:ext cx="9906000" cy="0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A25D0E11-A039-4717-B475-46A31B5D1EAC}"/>
              </a:ext>
            </a:extLst>
          </p:cNvPr>
          <p:cNvSpPr txBox="1"/>
          <p:nvPr/>
        </p:nvSpPr>
        <p:spPr>
          <a:xfrm>
            <a:off x="11178" y="6707"/>
            <a:ext cx="13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4B59711-1E13-476D-8D5A-656CA39EAB0B}"/>
              </a:ext>
            </a:extLst>
          </p:cNvPr>
          <p:cNvSpPr txBox="1"/>
          <p:nvPr/>
        </p:nvSpPr>
        <p:spPr>
          <a:xfrm>
            <a:off x="-8341" y="3042133"/>
            <a:ext cx="593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①</a:t>
            </a:r>
            <a:endParaRPr lang="en-GB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4755514-76BC-403D-A0F3-6171806C9378}"/>
              </a:ext>
            </a:extLst>
          </p:cNvPr>
          <p:cNvSpPr txBox="1"/>
          <p:nvPr/>
        </p:nvSpPr>
        <p:spPr>
          <a:xfrm>
            <a:off x="4924142" y="3042133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②</a:t>
            </a:r>
            <a:endParaRPr lang="en-GB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AC3B5B4-D0B7-49F2-ABBE-D42CC1F94024}"/>
              </a:ext>
            </a:extLst>
          </p:cNvPr>
          <p:cNvSpPr txBox="1"/>
          <p:nvPr/>
        </p:nvSpPr>
        <p:spPr>
          <a:xfrm>
            <a:off x="4924142" y="647992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④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ECB9742-88CC-40B3-B3DD-9DCD4BC07A47}"/>
                  </a:ext>
                </a:extLst>
              </p:cNvPr>
              <p:cNvSpPr txBox="1"/>
              <p:nvPr/>
            </p:nvSpPr>
            <p:spPr>
              <a:xfrm>
                <a:off x="1045355" y="512662"/>
                <a:ext cx="194104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7+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)=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ECB9742-88CC-40B3-B3DD-9DCD4BC07A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5355" y="512662"/>
                <a:ext cx="1941044" cy="400110"/>
              </a:xfrm>
              <a:prstGeom prst="rect">
                <a:avLst/>
              </a:prstGeom>
              <a:blipFill>
                <a:blip r:embed="rId2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0518D4C-21C2-A5C2-27B5-E01243687017}"/>
                  </a:ext>
                </a:extLst>
              </p:cNvPr>
              <p:cNvSpPr txBox="1"/>
              <p:nvPr/>
            </p:nvSpPr>
            <p:spPr>
              <a:xfrm>
                <a:off x="767234" y="1427062"/>
                <a:ext cx="249728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(−6)+10</m:t>
                      </m:r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÷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)=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0518D4C-21C2-A5C2-27B5-E012436870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234" y="1427062"/>
                <a:ext cx="2497287" cy="400110"/>
              </a:xfrm>
              <a:prstGeom prst="rect">
                <a:avLst/>
              </a:prstGeom>
              <a:blipFill>
                <a:blip r:embed="rId3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8C84552-44A8-1359-A6CA-EA587E798860}"/>
                  </a:ext>
                </a:extLst>
              </p:cNvPr>
              <p:cNvSpPr txBox="1"/>
              <p:nvPr/>
            </p:nvSpPr>
            <p:spPr>
              <a:xfrm>
                <a:off x="843377" y="2341462"/>
                <a:ext cx="2345001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6)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3)=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8C84552-44A8-1359-A6CA-EA587E7988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377" y="2341462"/>
                <a:ext cx="2345001" cy="400110"/>
              </a:xfrm>
              <a:prstGeom prst="rect">
                <a:avLst/>
              </a:prstGeom>
              <a:blipFill>
                <a:blip r:embed="rId4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B17E8E5B-EEC9-4AB4-6AA8-6F98D0D1C6F4}"/>
              </a:ext>
            </a:extLst>
          </p:cNvPr>
          <p:cNvSpPr txBox="1"/>
          <p:nvPr/>
        </p:nvSpPr>
        <p:spPr>
          <a:xfrm>
            <a:off x="2865" y="3439863"/>
            <a:ext cx="44699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Теңдемелерди туура кылуу үчүн ар бир </a:t>
            </a:r>
            <a:endParaRPr lang="en-US" dirty="0"/>
          </a:p>
          <a:p>
            <a:r>
              <a:rPr lang="ru-RU" dirty="0"/>
              <a:t>эсептөөгө кашаалардын топтомун кошуңуз</a:t>
            </a:r>
            <a:r>
              <a:rPr lang="en-GB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9FB91D0-51CC-79BA-4D27-E2A9CD8BA32F}"/>
                  </a:ext>
                </a:extLst>
              </p:cNvPr>
              <p:cNvSpPr txBox="1"/>
              <p:nvPr/>
            </p:nvSpPr>
            <p:spPr>
              <a:xfrm>
                <a:off x="1061809" y="4286640"/>
                <a:ext cx="2672911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2 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2 </m:t>
                      </m:r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 5 −4=2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9FB91D0-51CC-79BA-4D27-E2A9CD8BA3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1809" y="4286640"/>
                <a:ext cx="2672911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E454296-224E-BFB7-E388-C6B248FD5B76}"/>
                  </a:ext>
                </a:extLst>
              </p:cNvPr>
              <p:cNvSpPr txBox="1"/>
              <p:nvPr/>
            </p:nvSpPr>
            <p:spPr>
              <a:xfrm>
                <a:off x="838192" y="5117913"/>
                <a:ext cx="312015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16 ÷ −2 − 3 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2 =4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E454296-224E-BFB7-E388-C6B248FD5B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2" y="5117913"/>
                <a:ext cx="3120150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34564777-06B4-9AE7-46A7-E888A815BCBD}"/>
                  </a:ext>
                </a:extLst>
              </p:cNvPr>
              <p:cNvSpPr txBox="1"/>
              <p:nvPr/>
            </p:nvSpPr>
            <p:spPr>
              <a:xfrm>
                <a:off x="531218" y="5949185"/>
                <a:ext cx="373409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−10</m:t>
                      </m:r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4 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 +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 −2 =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−20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34564777-06B4-9AE7-46A7-E888A815BC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218" y="5949185"/>
                <a:ext cx="3734099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TextBox 44">
            <a:extLst>
              <a:ext uri="{FF2B5EF4-FFF2-40B4-BE49-F238E27FC236}">
                <a16:creationId xmlns:a16="http://schemas.microsoft.com/office/drawing/2014/main" id="{00487932-4BD3-045C-A340-5D3BC76CB755}"/>
              </a:ext>
            </a:extLst>
          </p:cNvPr>
          <p:cNvSpPr txBox="1"/>
          <p:nvPr/>
        </p:nvSpPr>
        <p:spPr>
          <a:xfrm>
            <a:off x="4979296" y="3444501"/>
            <a:ext cx="13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5A7B75ED-873D-8207-C6A6-1732F26B666C}"/>
                  </a:ext>
                </a:extLst>
              </p:cNvPr>
              <p:cNvSpPr txBox="1"/>
              <p:nvPr/>
            </p:nvSpPr>
            <p:spPr>
              <a:xfrm>
                <a:off x="5834930" y="3950456"/>
                <a:ext cx="229813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5−</m:t>
                      </m:r>
                      <m:sSup>
                        <m:sSup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p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×−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2−8=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5A7B75ED-873D-8207-C6A6-1732F26B66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4930" y="3950456"/>
                <a:ext cx="2298130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F928A456-F878-4D28-EC39-B127FE6FB122}"/>
                  </a:ext>
                </a:extLst>
              </p:cNvPr>
              <p:cNvSpPr txBox="1"/>
              <p:nvPr/>
            </p:nvSpPr>
            <p:spPr>
              <a:xfrm>
                <a:off x="5339445" y="4864856"/>
                <a:ext cx="3289106" cy="46102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0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0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000" b="0" i="1" dirty="0" smtClean="0">
                                  <a:latin typeface="Cambria Math" panose="02040503050406030204" pitchFamily="18" charset="0"/>
                                </a:rPr>
                                <m:t>−4</m:t>
                              </m:r>
                            </m:e>
                          </m:d>
                        </m:e>
                        <m:sup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÷</m:t>
                      </m:r>
                      <m:d>
                        <m:dPr>
                          <m:ctrlPr>
                            <a:rPr lang="en-GB" sz="20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−2−</m:t>
                          </m:r>
                          <m:rad>
                            <m:radPr>
                              <m:degHide m:val="on"/>
                              <m:ctrlPr>
                                <a:rPr lang="en-GB" sz="2000" i="1" dirty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000" i="1" dirty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  <m:r>
                                <a:rPr lang="en-GB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÷</m:t>
                              </m:r>
                              <m:r>
                                <a:rPr lang="en-GB" sz="2000" i="1" dirty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rad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F928A456-F878-4D28-EC39-B127FE6FB1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9445" y="4864856"/>
                <a:ext cx="3289106" cy="46102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9E5EA49-68CE-8282-058D-0BFECFE57EF9}"/>
                  </a:ext>
                </a:extLst>
              </p:cNvPr>
              <p:cNvSpPr txBox="1"/>
              <p:nvPr/>
            </p:nvSpPr>
            <p:spPr>
              <a:xfrm>
                <a:off x="5700406" y="5779256"/>
                <a:ext cx="2567177" cy="7280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+6×−2</m:t>
                          </m:r>
                        </m:num>
                        <m:den>
                          <m:r>
                            <a:rPr lang="en-GB" sz="2000" i="1" dirty="0" smtClean="0">
                              <a:latin typeface="Cambria Math" panose="02040503050406030204" pitchFamily="18" charset="0"/>
                            </a:rPr>
                            <m:t>−2</m:t>
                          </m:r>
                          <m:r>
                            <a:rPr lang="en-GB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ad>
                            <m:radPr>
                              <m:ctrlPr>
                                <a:rPr lang="en-GB" sz="2000" i="1" dirty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>
                              <m:r>
                                <m:rPr>
                                  <m:brk m:alnAt="7"/>
                                </m:rPr>
                                <a:rPr lang="en-GB" sz="2000" i="1" dirty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g>
                            <m:e>
                              <m:r>
                                <a:rPr lang="en-GB" sz="20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GB" sz="2000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20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−−4</m:t>
                          </m:r>
                        </m:den>
                      </m:f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9E5EA49-68CE-8282-058D-0BFECFE57E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0406" y="5779256"/>
                <a:ext cx="2567177" cy="72808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F07B6533-5EBA-E8EB-3C03-5F010FCDBC8D}"/>
              </a:ext>
            </a:extLst>
          </p:cNvPr>
          <p:cNvSpPr txBox="1"/>
          <p:nvPr/>
        </p:nvSpPr>
        <p:spPr>
          <a:xfrm>
            <a:off x="4964823" y="-4681"/>
            <a:ext cx="13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F05B039-E356-BC0B-CD38-8F0EBD14E896}"/>
                  </a:ext>
                </a:extLst>
              </p:cNvPr>
              <p:cNvSpPr txBox="1"/>
              <p:nvPr/>
            </p:nvSpPr>
            <p:spPr>
              <a:xfrm>
                <a:off x="5692731" y="501274"/>
                <a:ext cx="255358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×−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×−2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F05B039-E356-BC0B-CD38-8F0EBD14E8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2731" y="501274"/>
                <a:ext cx="2553583" cy="4001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FE39199-C7D1-791C-5417-1A3E0F223EC2}"/>
                  </a:ext>
                </a:extLst>
              </p:cNvPr>
              <p:cNvSpPr txBox="1"/>
              <p:nvPr/>
            </p:nvSpPr>
            <p:spPr>
              <a:xfrm>
                <a:off x="5712767" y="1415674"/>
                <a:ext cx="251350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7+−12</m:t>
                      </m:r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÷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×−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FE39199-C7D1-791C-5417-1A3E0F223E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2767" y="1415674"/>
                <a:ext cx="2513509" cy="4001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3D52933-2E3D-E2F4-F35D-B00BD8FE0B3C}"/>
                  </a:ext>
                </a:extLst>
              </p:cNvPr>
              <p:cNvSpPr txBox="1"/>
              <p:nvPr/>
            </p:nvSpPr>
            <p:spPr>
              <a:xfrm>
                <a:off x="5602161" y="2330074"/>
                <a:ext cx="273472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8−(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8+24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÷−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4)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3D52933-2E3D-E2F4-F35D-B00BD8FE0B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2161" y="2330074"/>
                <a:ext cx="2734723" cy="400110"/>
              </a:xfrm>
              <a:prstGeom prst="rect">
                <a:avLst/>
              </a:prstGeom>
              <a:blipFill>
                <a:blip r:embed="rId13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2FBB09A9-89DA-3330-F873-02240833F235}"/>
              </a:ext>
            </a:extLst>
          </p:cNvPr>
          <p:cNvSpPr txBox="1"/>
          <p:nvPr/>
        </p:nvSpPr>
        <p:spPr>
          <a:xfrm>
            <a:off x="-8341" y="647992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③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763225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6BAA9CE-D193-47DD-BE65-1AF84E30DE53}"/>
              </a:ext>
            </a:extLst>
          </p:cNvPr>
          <p:cNvCxnSpPr>
            <a:cxnSpLocks/>
          </p:cNvCxnSpPr>
          <p:nvPr/>
        </p:nvCxnSpPr>
        <p:spPr>
          <a:xfrm>
            <a:off x="4953000" y="-8791"/>
            <a:ext cx="0" cy="6866791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72236D4-0054-4ED5-8FBC-824B234FEBA0}"/>
              </a:ext>
            </a:extLst>
          </p:cNvPr>
          <p:cNvCxnSpPr>
            <a:cxnSpLocks/>
          </p:cNvCxnSpPr>
          <p:nvPr/>
        </p:nvCxnSpPr>
        <p:spPr>
          <a:xfrm flipH="1">
            <a:off x="0" y="3429000"/>
            <a:ext cx="9906000" cy="0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A25D0E11-A039-4717-B475-46A31B5D1EAC}"/>
              </a:ext>
            </a:extLst>
          </p:cNvPr>
          <p:cNvSpPr txBox="1"/>
          <p:nvPr/>
        </p:nvSpPr>
        <p:spPr>
          <a:xfrm>
            <a:off x="11178" y="6707"/>
            <a:ext cx="13143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  <a:p>
            <a:r>
              <a:rPr lang="en-GB" dirty="0"/>
              <a:t>: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4B59711-1E13-476D-8D5A-656CA39EAB0B}"/>
              </a:ext>
            </a:extLst>
          </p:cNvPr>
          <p:cNvSpPr txBox="1"/>
          <p:nvPr/>
        </p:nvSpPr>
        <p:spPr>
          <a:xfrm>
            <a:off x="-8341" y="3042133"/>
            <a:ext cx="593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①</a:t>
            </a:r>
            <a:endParaRPr lang="en-GB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4755514-76BC-403D-A0F3-6171806C9378}"/>
              </a:ext>
            </a:extLst>
          </p:cNvPr>
          <p:cNvSpPr txBox="1"/>
          <p:nvPr/>
        </p:nvSpPr>
        <p:spPr>
          <a:xfrm>
            <a:off x="4924142" y="3042133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②</a:t>
            </a:r>
            <a:endParaRPr lang="en-GB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270C037-0EE2-4F4C-9F28-A0677567F837}"/>
              </a:ext>
            </a:extLst>
          </p:cNvPr>
          <p:cNvSpPr txBox="1"/>
          <p:nvPr/>
        </p:nvSpPr>
        <p:spPr>
          <a:xfrm>
            <a:off x="-8341" y="647992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③</a:t>
            </a:r>
            <a:endParaRPr lang="en-GB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AC3B5B4-D0B7-49F2-ABBE-D42CC1F94024}"/>
              </a:ext>
            </a:extLst>
          </p:cNvPr>
          <p:cNvSpPr txBox="1"/>
          <p:nvPr/>
        </p:nvSpPr>
        <p:spPr>
          <a:xfrm>
            <a:off x="4924142" y="6479927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④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ECB9742-88CC-40B3-B3DD-9DCD4BC07A47}"/>
                  </a:ext>
                </a:extLst>
              </p:cNvPr>
              <p:cNvSpPr txBox="1"/>
              <p:nvPr/>
            </p:nvSpPr>
            <p:spPr>
              <a:xfrm>
                <a:off x="1045355" y="512662"/>
                <a:ext cx="194104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7+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)=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ECB9742-88CC-40B3-B3DD-9DCD4BC07A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5355" y="512662"/>
                <a:ext cx="1941044" cy="400110"/>
              </a:xfrm>
              <a:prstGeom prst="rect">
                <a:avLst/>
              </a:prstGeom>
              <a:blipFill>
                <a:blip r:embed="rId2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12BB8E9-F020-4BDB-BE08-EC24F9534C91}"/>
                  </a:ext>
                </a:extLst>
              </p:cNvPr>
              <p:cNvSpPr txBox="1"/>
              <p:nvPr/>
            </p:nvSpPr>
            <p:spPr>
              <a:xfrm>
                <a:off x="3303685" y="512662"/>
                <a:ext cx="577402" cy="40011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0" smtClean="0">
                          <a:latin typeface="Cambria Math" panose="02040503050406030204" pitchFamily="18" charset="0"/>
                        </a:rPr>
                        <m:t>−5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12BB8E9-F020-4BDB-BE08-EC24F9534C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3685" y="512662"/>
                <a:ext cx="577402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0518D4C-21C2-A5C2-27B5-E01243687017}"/>
                  </a:ext>
                </a:extLst>
              </p:cNvPr>
              <p:cNvSpPr txBox="1"/>
              <p:nvPr/>
            </p:nvSpPr>
            <p:spPr>
              <a:xfrm>
                <a:off x="767234" y="1427062"/>
                <a:ext cx="249728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(−6)+10</m:t>
                      </m:r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÷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)=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0518D4C-21C2-A5C2-27B5-E012436870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234" y="1427062"/>
                <a:ext cx="2497287" cy="400110"/>
              </a:xfrm>
              <a:prstGeom prst="rect">
                <a:avLst/>
              </a:prstGeom>
              <a:blipFill>
                <a:blip r:embed="rId4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A0FD3B5-3423-4377-DB4D-A3614FDA8769}"/>
                  </a:ext>
                </a:extLst>
              </p:cNvPr>
              <p:cNvSpPr txBox="1"/>
              <p:nvPr/>
            </p:nvSpPr>
            <p:spPr>
              <a:xfrm>
                <a:off x="3232351" y="1427062"/>
                <a:ext cx="720069" cy="40011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0" smtClean="0">
                          <a:latin typeface="Cambria Math" panose="02040503050406030204" pitchFamily="18" charset="0"/>
                        </a:rPr>
                        <m:t>−11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A0FD3B5-3423-4377-DB4D-A3614FDA87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2351" y="1427062"/>
                <a:ext cx="720069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8C84552-44A8-1359-A6CA-EA587E798860}"/>
                  </a:ext>
                </a:extLst>
              </p:cNvPr>
              <p:cNvSpPr txBox="1"/>
              <p:nvPr/>
            </p:nvSpPr>
            <p:spPr>
              <a:xfrm>
                <a:off x="843377" y="2341462"/>
                <a:ext cx="2345001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6)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3)=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8C84552-44A8-1359-A6CA-EA587E7988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377" y="2341462"/>
                <a:ext cx="2345001" cy="400110"/>
              </a:xfrm>
              <a:prstGeom prst="rect">
                <a:avLst/>
              </a:prstGeom>
              <a:blipFill>
                <a:blip r:embed="rId6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20B3E8A-F8A3-E458-0AF1-239EB1DAB667}"/>
                  </a:ext>
                </a:extLst>
              </p:cNvPr>
              <p:cNvSpPr txBox="1"/>
              <p:nvPr/>
            </p:nvSpPr>
            <p:spPr>
              <a:xfrm>
                <a:off x="3232351" y="2341462"/>
                <a:ext cx="720069" cy="40011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0" smtClean="0">
                          <a:latin typeface="Cambria Math" panose="02040503050406030204" pitchFamily="18" charset="0"/>
                        </a:rPr>
                        <m:t>−12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20B3E8A-F8A3-E458-0AF1-239EB1DAB6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2351" y="2341462"/>
                <a:ext cx="720069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B17E8E5B-EEC9-4AB4-6AA8-6F98D0D1C6F4}"/>
              </a:ext>
            </a:extLst>
          </p:cNvPr>
          <p:cNvSpPr txBox="1"/>
          <p:nvPr/>
        </p:nvSpPr>
        <p:spPr>
          <a:xfrm>
            <a:off x="2865" y="3439863"/>
            <a:ext cx="44651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Теңдемелерди туура кылуу үчүн ар бир</a:t>
            </a:r>
            <a:endParaRPr lang="en-US" dirty="0"/>
          </a:p>
          <a:p>
            <a:r>
              <a:rPr lang="ru-RU" dirty="0"/>
              <a:t> эсептөөгө кашаалардын топтомун кошуңуз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9FB91D0-51CC-79BA-4D27-E2A9CD8BA32F}"/>
                  </a:ext>
                </a:extLst>
              </p:cNvPr>
              <p:cNvSpPr txBox="1"/>
              <p:nvPr/>
            </p:nvSpPr>
            <p:spPr>
              <a:xfrm>
                <a:off x="1061809" y="4286640"/>
                <a:ext cx="2672911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2 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2 </m:t>
                      </m:r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 5 −4=2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9FB91D0-51CC-79BA-4D27-E2A9CD8BA3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1809" y="4286640"/>
                <a:ext cx="2672911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736FA9D9-A13F-FFED-0A72-E816FD27D3BD}"/>
              </a:ext>
            </a:extLst>
          </p:cNvPr>
          <p:cNvSpPr txBox="1"/>
          <p:nvPr/>
        </p:nvSpPr>
        <p:spPr>
          <a:xfrm>
            <a:off x="1542413" y="4166304"/>
            <a:ext cx="3129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dirty="0">
                <a:solidFill>
                  <a:srgbClr val="0070C0"/>
                </a:solidFill>
              </a:rPr>
              <a:t>(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B1CB359-60E6-4F4E-2726-2E6A9C6366E6}"/>
              </a:ext>
            </a:extLst>
          </p:cNvPr>
          <p:cNvSpPr txBox="1"/>
          <p:nvPr/>
        </p:nvSpPr>
        <p:spPr>
          <a:xfrm>
            <a:off x="2533966" y="4166304"/>
            <a:ext cx="3129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dirty="0">
                <a:solidFill>
                  <a:srgbClr val="0070C0"/>
                </a:solidFill>
              </a:rPr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E454296-224E-BFB7-E388-C6B248FD5B76}"/>
                  </a:ext>
                </a:extLst>
              </p:cNvPr>
              <p:cNvSpPr txBox="1"/>
              <p:nvPr/>
            </p:nvSpPr>
            <p:spPr>
              <a:xfrm>
                <a:off x="838192" y="5117913"/>
                <a:ext cx="312015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16 ÷ −2 − 3 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2 =4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E454296-224E-BFB7-E388-C6B248FD5B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2" y="5117913"/>
                <a:ext cx="3120150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TextBox 38">
            <a:extLst>
              <a:ext uri="{FF2B5EF4-FFF2-40B4-BE49-F238E27FC236}">
                <a16:creationId xmlns:a16="http://schemas.microsoft.com/office/drawing/2014/main" id="{E4F0ABC1-1779-7B11-81D4-263E9152AF97}"/>
              </a:ext>
            </a:extLst>
          </p:cNvPr>
          <p:cNvSpPr txBox="1"/>
          <p:nvPr/>
        </p:nvSpPr>
        <p:spPr>
          <a:xfrm>
            <a:off x="1452272" y="4997577"/>
            <a:ext cx="3129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dirty="0">
                <a:solidFill>
                  <a:srgbClr val="0070C0"/>
                </a:solidFill>
              </a:rPr>
              <a:t>(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818D620-515C-3C1E-30E1-0AE029F1D789}"/>
              </a:ext>
            </a:extLst>
          </p:cNvPr>
          <p:cNvSpPr txBox="1"/>
          <p:nvPr/>
        </p:nvSpPr>
        <p:spPr>
          <a:xfrm>
            <a:off x="3199071" y="4997577"/>
            <a:ext cx="3129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dirty="0">
                <a:solidFill>
                  <a:srgbClr val="0070C0"/>
                </a:solidFill>
              </a:rPr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34564777-06B4-9AE7-46A7-E888A815BCBD}"/>
                  </a:ext>
                </a:extLst>
              </p:cNvPr>
              <p:cNvSpPr txBox="1"/>
              <p:nvPr/>
            </p:nvSpPr>
            <p:spPr>
              <a:xfrm>
                <a:off x="531218" y="5949185"/>
                <a:ext cx="373409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−10</m:t>
                      </m:r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4 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 +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 −2 =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−20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34564777-06B4-9AE7-46A7-E888A815BC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218" y="5949185"/>
                <a:ext cx="3734099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TextBox 42">
            <a:extLst>
              <a:ext uri="{FF2B5EF4-FFF2-40B4-BE49-F238E27FC236}">
                <a16:creationId xmlns:a16="http://schemas.microsoft.com/office/drawing/2014/main" id="{E774F345-601B-25ED-3CF7-21EED3E3DCC5}"/>
              </a:ext>
            </a:extLst>
          </p:cNvPr>
          <p:cNvSpPr txBox="1"/>
          <p:nvPr/>
        </p:nvSpPr>
        <p:spPr>
          <a:xfrm>
            <a:off x="509298" y="5828849"/>
            <a:ext cx="3129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dirty="0">
                <a:solidFill>
                  <a:srgbClr val="0070C0"/>
                </a:solidFill>
              </a:rPr>
              <a:t>(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BC4DA59-9229-53BA-6911-E3EF758E2C4D}"/>
              </a:ext>
            </a:extLst>
          </p:cNvPr>
          <p:cNvSpPr txBox="1"/>
          <p:nvPr/>
        </p:nvSpPr>
        <p:spPr>
          <a:xfrm>
            <a:off x="1838120" y="5828849"/>
            <a:ext cx="3129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dirty="0">
                <a:solidFill>
                  <a:srgbClr val="0070C0"/>
                </a:solidFill>
              </a:rPr>
              <a:t>)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0487932-4BD3-045C-A340-5D3BC76CB755}"/>
              </a:ext>
            </a:extLst>
          </p:cNvPr>
          <p:cNvSpPr txBox="1"/>
          <p:nvPr/>
        </p:nvSpPr>
        <p:spPr>
          <a:xfrm>
            <a:off x="4979296" y="3444501"/>
            <a:ext cx="13143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  <a:p>
            <a:r>
              <a:rPr lang="en-GB" dirty="0"/>
              <a:t> 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5A7B75ED-873D-8207-C6A6-1732F26B666C}"/>
                  </a:ext>
                </a:extLst>
              </p:cNvPr>
              <p:cNvSpPr txBox="1"/>
              <p:nvPr/>
            </p:nvSpPr>
            <p:spPr>
              <a:xfrm>
                <a:off x="5834930" y="3950456"/>
                <a:ext cx="229813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5−</m:t>
                      </m:r>
                      <m:sSup>
                        <m:sSup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p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×−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2−8=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5A7B75ED-873D-8207-C6A6-1732F26B66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4930" y="3950456"/>
                <a:ext cx="2298130" cy="4001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2070BDFB-93A4-B6C0-0546-2F848ABD5DD3}"/>
                  </a:ext>
                </a:extLst>
              </p:cNvPr>
              <p:cNvSpPr txBox="1"/>
              <p:nvPr/>
            </p:nvSpPr>
            <p:spPr>
              <a:xfrm>
                <a:off x="8180270" y="3950456"/>
                <a:ext cx="527709" cy="40011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0" smtClean="0">
                          <a:latin typeface="Cambria Math" panose="02040503050406030204" pitchFamily="18" charset="0"/>
                        </a:rPr>
                        <m:t>15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2070BDFB-93A4-B6C0-0546-2F848ABD5D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0270" y="3950456"/>
                <a:ext cx="527709" cy="4001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F928A456-F878-4D28-EC39-B127FE6FB122}"/>
                  </a:ext>
                </a:extLst>
              </p:cNvPr>
              <p:cNvSpPr txBox="1"/>
              <p:nvPr/>
            </p:nvSpPr>
            <p:spPr>
              <a:xfrm>
                <a:off x="5339445" y="4864856"/>
                <a:ext cx="3289106" cy="46102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0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0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000" b="0" i="1" dirty="0" smtClean="0">
                                  <a:latin typeface="Cambria Math" panose="02040503050406030204" pitchFamily="18" charset="0"/>
                                </a:rPr>
                                <m:t>−4</m:t>
                              </m:r>
                            </m:e>
                          </m:d>
                        </m:e>
                        <m:sup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÷</m:t>
                      </m:r>
                      <m:d>
                        <m:dPr>
                          <m:ctrlPr>
                            <a:rPr lang="en-GB" sz="20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−2−</m:t>
                          </m:r>
                          <m:rad>
                            <m:radPr>
                              <m:degHide m:val="on"/>
                              <m:ctrlPr>
                                <a:rPr lang="en-GB" sz="2000" i="1" dirty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000" i="1" dirty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  <m:r>
                                <a:rPr lang="en-GB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÷</m:t>
                              </m:r>
                              <m:r>
                                <a:rPr lang="en-GB" sz="2000" i="1" dirty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rad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F928A456-F878-4D28-EC39-B127FE6FB1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9445" y="4864856"/>
                <a:ext cx="3289106" cy="461024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D5C802FF-323E-9241-5535-FE2F5714AB02}"/>
                  </a:ext>
                </a:extLst>
              </p:cNvPr>
              <p:cNvSpPr txBox="1"/>
              <p:nvPr/>
            </p:nvSpPr>
            <p:spPr>
              <a:xfrm>
                <a:off x="8654187" y="4864856"/>
                <a:ext cx="577402" cy="40011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0" smtClean="0">
                          <a:latin typeface="Cambria Math" panose="02040503050406030204" pitchFamily="18" charset="0"/>
                        </a:rPr>
                        <m:t>−4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D5C802FF-323E-9241-5535-FE2F5714AB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54187" y="4864856"/>
                <a:ext cx="577402" cy="40011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9E5EA49-68CE-8282-058D-0BFECFE57EF9}"/>
                  </a:ext>
                </a:extLst>
              </p:cNvPr>
              <p:cNvSpPr txBox="1"/>
              <p:nvPr/>
            </p:nvSpPr>
            <p:spPr>
              <a:xfrm>
                <a:off x="5700406" y="5779256"/>
                <a:ext cx="2567177" cy="7280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+6×−2</m:t>
                          </m:r>
                        </m:num>
                        <m:den>
                          <m:r>
                            <a:rPr lang="en-GB" sz="2000" i="1" dirty="0" smtClean="0">
                              <a:latin typeface="Cambria Math" panose="02040503050406030204" pitchFamily="18" charset="0"/>
                            </a:rPr>
                            <m:t>−2</m:t>
                          </m:r>
                          <m:r>
                            <a:rPr lang="en-GB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ad>
                            <m:radPr>
                              <m:ctrlPr>
                                <a:rPr lang="en-GB" sz="2000" i="1" dirty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>
                              <m:r>
                                <m:rPr>
                                  <m:brk m:alnAt="7"/>
                                </m:rPr>
                                <a:rPr lang="en-GB" sz="2000" i="1" dirty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g>
                            <m:e>
                              <m:r>
                                <a:rPr lang="en-GB" sz="20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GB" sz="2000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20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−−4</m:t>
                          </m:r>
                        </m:den>
                      </m:f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9E5EA49-68CE-8282-058D-0BFECFE57E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0406" y="5779256"/>
                <a:ext cx="2567177" cy="728084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B1D3C2C3-E86E-1D9C-B9DF-4FD6C633AC8B}"/>
                  </a:ext>
                </a:extLst>
              </p:cNvPr>
              <p:cNvSpPr txBox="1"/>
              <p:nvPr/>
            </p:nvSpPr>
            <p:spPr>
              <a:xfrm>
                <a:off x="8280114" y="5937198"/>
                <a:ext cx="577402" cy="40011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0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B1D3C2C3-E86E-1D9C-B9DF-4FD6C633AC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0114" y="5937198"/>
                <a:ext cx="577402" cy="40011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F07B6533-5EBA-E8EB-3C03-5F010FCDBC8D}"/>
              </a:ext>
            </a:extLst>
          </p:cNvPr>
          <p:cNvSpPr txBox="1"/>
          <p:nvPr/>
        </p:nvSpPr>
        <p:spPr>
          <a:xfrm>
            <a:off x="4964823" y="-4681"/>
            <a:ext cx="13143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Эсептеңиз </a:t>
            </a:r>
            <a:r>
              <a:rPr lang="en-GB" dirty="0"/>
              <a:t>:</a:t>
            </a:r>
          </a:p>
          <a:p>
            <a:r>
              <a:rPr lang="en-GB" dirty="0"/>
              <a:t> 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F05B039-E356-BC0B-CD38-8F0EBD14E896}"/>
                  </a:ext>
                </a:extLst>
              </p:cNvPr>
              <p:cNvSpPr txBox="1"/>
              <p:nvPr/>
            </p:nvSpPr>
            <p:spPr>
              <a:xfrm>
                <a:off x="5692731" y="501274"/>
                <a:ext cx="255358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×−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×−2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F05B039-E356-BC0B-CD38-8F0EBD14E8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2731" y="501274"/>
                <a:ext cx="2553583" cy="40011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96C5957-C243-7966-16EA-A08C904FD23A}"/>
                  </a:ext>
                </a:extLst>
              </p:cNvPr>
              <p:cNvSpPr txBox="1"/>
              <p:nvPr/>
            </p:nvSpPr>
            <p:spPr>
              <a:xfrm>
                <a:off x="8307206" y="501274"/>
                <a:ext cx="577402" cy="40011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0" smtClean="0">
                          <a:latin typeface="Cambria Math" panose="02040503050406030204" pitchFamily="18" charset="0"/>
                        </a:rPr>
                        <m:t>−6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96C5957-C243-7966-16EA-A08C904FD2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7206" y="501274"/>
                <a:ext cx="577402" cy="40011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FE39199-C7D1-791C-5417-1A3E0F223EC2}"/>
                  </a:ext>
                </a:extLst>
              </p:cNvPr>
              <p:cNvSpPr txBox="1"/>
              <p:nvPr/>
            </p:nvSpPr>
            <p:spPr>
              <a:xfrm>
                <a:off x="5712767" y="1415674"/>
                <a:ext cx="251350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7+−12</m:t>
                      </m:r>
                      <m:r>
                        <a:rPr lang="en-GB" sz="2000" i="1" dirty="0" smtClean="0">
                          <a:latin typeface="Cambria Math" panose="02040503050406030204" pitchFamily="18" charset="0"/>
                        </a:rPr>
                        <m:t>÷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×−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FE39199-C7D1-791C-5417-1A3E0F223E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2767" y="1415674"/>
                <a:ext cx="2513509" cy="40011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7952593-564E-C441-E133-56C45C5269DF}"/>
                  </a:ext>
                </a:extLst>
              </p:cNvPr>
              <p:cNvSpPr txBox="1"/>
              <p:nvPr/>
            </p:nvSpPr>
            <p:spPr>
              <a:xfrm>
                <a:off x="8332052" y="1415674"/>
                <a:ext cx="527709" cy="40011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0" smtClean="0">
                          <a:latin typeface="Cambria Math" panose="02040503050406030204" pitchFamily="18" charset="0"/>
                        </a:rPr>
                        <m:t>25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7952593-564E-C441-E133-56C45C5269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2052" y="1415674"/>
                <a:ext cx="527709" cy="40011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3D52933-2E3D-E2F4-F35D-B00BD8FE0B3C}"/>
                  </a:ext>
                </a:extLst>
              </p:cNvPr>
              <p:cNvSpPr txBox="1"/>
              <p:nvPr/>
            </p:nvSpPr>
            <p:spPr>
              <a:xfrm>
                <a:off x="5602161" y="2330074"/>
                <a:ext cx="273472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8−(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8+24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÷−</m:t>
                      </m:r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4)</m:t>
                      </m:r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3D52933-2E3D-E2F4-F35D-B00BD8FE0B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2161" y="2330074"/>
                <a:ext cx="2734723" cy="400110"/>
              </a:xfrm>
              <a:prstGeom prst="rect">
                <a:avLst/>
              </a:prstGeom>
              <a:blipFill>
                <a:blip r:embed="rId21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9C214D5-EE30-E83E-673F-2206CC7ABDD4}"/>
                  </a:ext>
                </a:extLst>
              </p:cNvPr>
              <p:cNvSpPr txBox="1"/>
              <p:nvPr/>
            </p:nvSpPr>
            <p:spPr>
              <a:xfrm>
                <a:off x="8332052" y="2330074"/>
                <a:ext cx="527709" cy="40011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0" smtClean="0">
                          <a:latin typeface="Cambria Math" panose="02040503050406030204" pitchFamily="18" charset="0"/>
                        </a:rPr>
                        <m:t>22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9C214D5-EE30-E83E-673F-2206CC7ABD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2052" y="2330074"/>
                <a:ext cx="527709" cy="40011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  <a:ln w="28575">
                <a:solidFill>
                  <a:schemeClr val="accent5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65286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7" grpId="0" animBg="1"/>
      <p:bldP spid="10" grpId="0" animBg="1"/>
      <p:bldP spid="26" grpId="0"/>
      <p:bldP spid="27" grpId="0"/>
      <p:bldP spid="39" grpId="0"/>
      <p:bldP spid="40" grpId="0"/>
      <p:bldP spid="43" grpId="0"/>
      <p:bldP spid="44" grpId="0"/>
      <p:bldP spid="47" grpId="0" animBg="1"/>
      <p:bldP spid="49" grpId="0" animBg="1"/>
      <p:bldP spid="51" grpId="0" animBg="1"/>
      <p:bldP spid="5" grpId="0" animBg="1"/>
      <p:bldP spid="13" grpId="0" animBg="1"/>
      <p:bldP spid="1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11BE3FA7-0D70-4431-814F-D8C40576E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238" y="0"/>
            <a:ext cx="990352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7601D72-BDCE-89E2-CC48-F623108F7B9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3018" b="-2"/>
          <a:stretch/>
        </p:blipFill>
        <p:spPr>
          <a:xfrm rot="16200000">
            <a:off x="-307500" y="1126095"/>
            <a:ext cx="5743618" cy="460580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3C7B80E-50F7-B0A4-BB73-D00796D02B8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3112" b="-2"/>
          <a:stretch/>
        </p:blipFill>
        <p:spPr>
          <a:xfrm rot="16200000">
            <a:off x="4467358" y="1123573"/>
            <a:ext cx="5743618" cy="4610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37575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36204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ru-RU" sz="3200" dirty="0"/>
              <a:t>Суроолор барбы?</a:t>
            </a:r>
          </a:p>
          <a:p>
            <a:pPr marL="0" indent="0" algn="ctr">
              <a:buNone/>
            </a:pPr>
            <a:r>
              <a:rPr lang="ru-RU" sz="3200" dirty="0"/>
              <a:t>Комментарийлер?</a:t>
            </a:r>
          </a:p>
          <a:p>
            <a:pPr marL="0" indent="0" algn="ctr">
              <a:buNone/>
            </a:pPr>
            <a:r>
              <a:rPr lang="ru-RU" sz="3200" dirty="0"/>
              <a:t>Сунуштар?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…же ката таптыңызбы!?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Турдуу пикирлер учун ыраазычылык билдиребиз.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en-US" sz="3200" dirty="0"/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398297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 w="12700">
          <a:solidFill>
            <a:schemeClr val="tx1"/>
          </a:solidFill>
        </a:ln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  <a:headEnd type="none" w="sm" len="sm"/>
          <a:tailEnd type="none" w="sm" len="sm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10593</TotalTime>
  <Words>318</Words>
  <Application>Microsoft Office PowerPoint</Application>
  <PresentationFormat>A4 Paper (210x297 mm)</PresentationFormat>
  <Paragraphs>78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Calibri</vt:lpstr>
      <vt:lpstr>Arial</vt:lpstr>
      <vt:lpstr>Cambria Math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528</cp:revision>
  <cp:lastPrinted>2017-12-31T22:38:51Z</cp:lastPrinted>
  <dcterms:created xsi:type="dcterms:W3CDTF">2017-01-17T16:57:04Z</dcterms:created>
  <dcterms:modified xsi:type="dcterms:W3CDTF">2023-09-29T02:50:09Z</dcterms:modified>
</cp:coreProperties>
</file>