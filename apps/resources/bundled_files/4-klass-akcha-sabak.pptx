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аталышы жана бүгүнкү окуя.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жолу: ар бир бөлүк өз слайды менен ачылат.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Окуяны окуп беремин. Окуучулар болжолдошсун: дептерди бирден алган пайдалуубу же пачка мененби? 500 сом жетеби? Жоопту сабактын аягында (22-слайд) текшеребиз. Проектор жок болсо, баалар тизмесин доскага жазам.</a:t>
            </a:r>
          </a:p>
          <a:p>
            <a:r>
              <a:t>3C (Байланыштыруу): Окуя турмуштан: бул суроого сабактын аягында кайтабыз.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Ой жүгүртүү маданияты (Wenxi Lee, 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Ийгилик критерийлери: сабактын аягында ар бирине ✓ коёбуз.</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Спираль: тема класстан класска тереңдейт.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Мини-тактага жазышат.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Жоопту дароо айтпайбыз. Жупта талкуулашат. Жооп: Бекзат: бир дептер 22 сом &lt; 25 сом (Айдай – М4).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жупка: кагаздан кесилген акчалар (20, 50, 100, 200, 500 сом, үстүнө маанисин жазабыз), капкак тыйындар (1, 3, 5, 10 сом жана 10, 50 тыйын, капкактын үстүнө жазабыз), баа жазылган 3–4 карточка. Бири сатуучу, экинчиси сатып алуучу; анан алмашат. Сатуучу кайтарымды баадан баштап толуктап санайт: «310, 330, 350, 400, 500». 10 капкак тыйынды (10 тыйындан) 1 сомго алмаштырып көрсөтөм (М1). Чыныгы кыргыз акчасы гана: 2, 25 же 40 сомдук акча жок. Проектор жок болсо, ушул сүрөттү доскага чийем.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Тилкени доскага чийем: бүтүнү 500 сом, бөлүктөрү 220 (2 пачка) жана 90 (3 калем), үзүк бөлүк – кайтарым. Анан кассирдин ыкмасы: 310дон баштап кагаз акчаларды кошуп 500гө жетебиз: 20, 20, 50, 100. Кошкон акчалар – кайтарым: 190 сом. Окуучулар чакмак дептерге тилкени чийишет (2 чакмак = 10 сом).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Пойанын 4 кадамы акча маселесинде. Жалпы баа = бир даананын баасы × сан. Бир даананын баасы = пачканын баасы ÷ сан: эң пайдалуусу – бир даанасы арзан болгону (М4). 1 сом = 100 тыйын (М1). Акыркы кадамды өткөрүп жибербейм: кайтарым + жалпы баа = берилген акча.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ыкманы окуучу үн чыгарып айтат: «310дон 400гө 90, 400дөн 500гө 100, баары 190». «Оозеки беш мүнөт» (класста колдонуу картасы) эки апта ушул ыкмаларды кайталайт.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Баары бир убакта манжа менен көрсөтөт (1–4). Туура эмес жооптун коду: А = М2; Б = ✓; В = М5; Г = М3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деңгээл: жалпы баа → бюджет → эң пайдалуу баа. Жооптор: 3 × 35 = 105 сом; 500 − 230 − 75 = 195 сом; 180 − 165 = 15 сом үнөм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Жеңилден баштап, мүмкүн болушунча алдыга.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Бир дептер пачкада 110 ÷ 5 = 22 сом, бирден алса 25 сом: пачка пайдалуу. Жалпы баа: 2 × 110 = 220, 3 × 30 = 90, 220 + 90 = 310. Кайтарым 500 − 310 = 190. Текшерүү: 310 + 190 = 500. Кайтарымды кассирдей толуктап санайбыз: 310 → 330 → 350 → 400 → 500 (12-слайд).</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Блум: Түзүү. Жупта алмашып, бири-биринин маселесин чыгарышат.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Жооптор: 3 литр (53 &lt; 55); 140 сом; 2 сом 30 тыйын</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Бул слайд окуучуларга көрсөтүлбөйт.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3" name="TextBox 2"/>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1/26</a:t>
            </a:r>
          </a:p>
        </p:txBody>
      </p:sp>
      <p:sp>
        <p:nvSpPr>
          <p:cNvPr id="4" name="Rounded Rectangle 3"/>
          <p:cNvSpPr/>
          <p:nvPr/>
        </p:nvSpPr>
        <p:spPr>
          <a:xfrm>
            <a:off x="822960" y="1371600"/>
            <a:ext cx="164592" cy="128016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1371600"/>
            <a:ext cx="164592" cy="128016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71600" y="1371600"/>
            <a:ext cx="164592" cy="128016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1188720"/>
            <a:ext cx="9601200" cy="548640"/>
          </a:xfrm>
          <a:prstGeom prst="rect">
            <a:avLst/>
          </a:prstGeom>
          <a:noFill/>
        </p:spPr>
        <p:txBody>
          <a:bodyPr wrap="square" anchor="t" lIns="45720" rIns="45720" tIns="27432" bIns="27432">
            <a:spAutoFit/>
          </a:bodyPr>
          <a:lstStyle/>
          <a:p>
            <a:pPr algn="l">
              <a:lnSpc>
                <a:spcPct val="105000"/>
              </a:lnSpc>
            </a:pPr>
            <a:r>
              <a:rPr sz="2200" b="0" i="0">
                <a:solidFill>
                  <a:srgbClr val="4A5A70"/>
                </a:solidFill>
                <a:latin typeface="PT Sans"/>
              </a:rPr>
              <a:t>4-класс · Математика</a:t>
            </a:r>
          </a:p>
        </p:txBody>
      </p:sp>
      <p:sp>
        <p:nvSpPr>
          <p:cNvPr id="8" name="TextBox 7"/>
          <p:cNvSpPr txBox="1"/>
          <p:nvPr/>
        </p:nvSpPr>
        <p:spPr>
          <a:xfrm>
            <a:off x="1828800" y="1691640"/>
            <a:ext cx="9601200" cy="1737360"/>
          </a:xfrm>
          <a:prstGeom prst="rect">
            <a:avLst/>
          </a:prstGeom>
          <a:noFill/>
        </p:spPr>
        <p:txBody>
          <a:bodyPr wrap="square" anchor="t" lIns="45720" rIns="45720" tIns="27432" bIns="27432">
            <a:spAutoFit/>
          </a:bodyPr>
          <a:lstStyle/>
          <a:p>
            <a:pPr algn="l">
              <a:lnSpc>
                <a:spcPct val="105000"/>
              </a:lnSpc>
            </a:pPr>
            <a:r>
              <a:rPr sz="4000" b="1" i="0">
                <a:solidFill>
                  <a:srgbClr val="1D3557"/>
                </a:solidFill>
                <a:latin typeface="PT Sans"/>
              </a:rPr>
              <a:t>Акча: сатып алуу, кайтарым жана эң пайдалуу баа</a:t>
            </a:r>
          </a:p>
        </p:txBody>
      </p:sp>
      <p:sp>
        <p:nvSpPr>
          <p:cNvPr id="9" name="Rounded Rectangle 8"/>
          <p:cNvSpPr/>
          <p:nvPr/>
        </p:nvSpPr>
        <p:spPr>
          <a:xfrm>
            <a:off x="1828800" y="3611880"/>
            <a:ext cx="8778240" cy="1463040"/>
          </a:xfrm>
          <a:prstGeom prst="roundRect">
            <a:avLst>
              <a:gd name="adj" fmla="val 12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0"/>
            <a:ext cx="8321040" cy="457200"/>
          </a:xfrm>
          <a:prstGeom prst="rect">
            <a:avLst/>
          </a:prstGeom>
          <a:noFill/>
        </p:spPr>
        <p:txBody>
          <a:bodyPr wrap="square" anchor="t" lIns="45720" rIns="45720" tIns="27432" bIns="27432">
            <a:spAutoFit/>
          </a:bodyPr>
          <a:lstStyle/>
          <a:p>
            <a:pPr algn="l">
              <a:lnSpc>
                <a:spcPct val="105000"/>
              </a:lnSpc>
            </a:pPr>
            <a:r>
              <a:rPr sz="2400" b="1" i="0">
                <a:solidFill>
                  <a:srgbClr val="A84400"/>
                </a:solidFill>
                <a:latin typeface="PT Sans"/>
              </a:rPr>
              <a:t>Бүгүнкү окуя: Жалал-Абаддагы дүкөн</a:t>
            </a:r>
          </a:p>
        </p:txBody>
      </p:sp>
      <p:sp>
        <p:nvSpPr>
          <p:cNvPr id="11" name="TextBox 10"/>
          <p:cNvSpPr txBox="1"/>
          <p:nvPr/>
        </p:nvSpPr>
        <p:spPr>
          <a:xfrm>
            <a:off x="2057400" y="4160520"/>
            <a:ext cx="8321040" cy="914400"/>
          </a:xfrm>
          <a:prstGeom prst="rect">
            <a:avLst/>
          </a:prstGeom>
          <a:noFill/>
        </p:spPr>
        <p:txBody>
          <a:bodyPr wrap="square" anchor="t" lIns="45720" rIns="45720" tIns="27432" bIns="27432">
            <a:spAutoFit/>
          </a:bodyPr>
          <a:lstStyle/>
          <a:p>
            <a:pPr algn="l">
              <a:lnSpc>
                <a:spcPct val="105000"/>
              </a:lnSpc>
            </a:pPr>
            <a:r>
              <a:rPr sz="1900" b="0" i="0">
                <a:solidFill>
                  <a:srgbClr val="1F2430"/>
                </a:solidFill>
                <a:latin typeface="PT Sans"/>
              </a:rPr>
              <a:t>Айдай менен Бекзат 500 сомго мектеп буюмдарын алып, эң пайдалуусун тандашат.</a:t>
            </a:r>
          </a:p>
        </p:txBody>
      </p:sp>
      <p:sp>
        <p:nvSpPr>
          <p:cNvPr id="12" name="TextBox 11"/>
          <p:cNvSpPr txBox="1"/>
          <p:nvPr/>
        </p:nvSpPr>
        <p:spPr>
          <a:xfrm>
            <a:off x="1828800" y="5349240"/>
            <a:ext cx="9601200" cy="457200"/>
          </a:xfrm>
          <a:prstGeom prst="rect">
            <a:avLst/>
          </a:prstGeom>
          <a:noFill/>
        </p:spPr>
        <p:txBody>
          <a:bodyPr wrap="square" anchor="t" lIns="45720" rIns="45720" tIns="27432" bIns="27432">
            <a:spAutoFit/>
          </a:bodyPr>
          <a:lstStyle/>
          <a:p>
            <a:pPr algn="l">
              <a:lnSpc>
                <a:spcPct val="105000"/>
              </a:lnSpc>
            </a:pPr>
            <a:r>
              <a:rPr sz="1300" b="0" i="1">
                <a:solidFill>
                  <a:srgbClr val="6B7280"/>
                </a:solidFill>
                <a:latin typeface="PT Sans"/>
              </a:rPr>
              <a:t>Китеп: Математика стандарты: 2-класс (акча), 4-класс (көп орундуу сандар менен төрт амал, аттуу сандар). Мазмуну, сандары жана окуясы толук жаңы.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Сабактын мазмуну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2/26</a:t>
            </a:r>
          </a:p>
        </p:txBody>
      </p:sp>
      <p:sp>
        <p:nvSpPr>
          <p:cNvPr id="10" name="Rounded Rectangle 9"/>
          <p:cNvSpPr/>
          <p:nvPr/>
        </p:nvSpPr>
        <p:spPr>
          <a:xfrm>
            <a:off x="429768" y="1280160"/>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1463039"/>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80160" y="1280160"/>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Кириш</a:t>
            </a:r>
          </a:p>
        </p:txBody>
      </p:sp>
      <p:sp>
        <p:nvSpPr>
          <p:cNvPr id="13" name="TextBox 12"/>
          <p:cNvSpPr txBox="1"/>
          <p:nvPr/>
        </p:nvSpPr>
        <p:spPr>
          <a:xfrm>
            <a:off x="4480560" y="1280160"/>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 эрежелер, максаттар</a:t>
            </a:r>
          </a:p>
        </p:txBody>
      </p:sp>
      <p:sp>
        <p:nvSpPr>
          <p:cNvPr id="14" name="Rounded Rectangle 13"/>
          <p:cNvSpPr/>
          <p:nvPr/>
        </p:nvSpPr>
        <p:spPr>
          <a:xfrm>
            <a:off x="429768" y="2212848"/>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2395728"/>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80160" y="2212848"/>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Даярдык</a:t>
            </a:r>
          </a:p>
        </p:txBody>
      </p:sp>
      <p:sp>
        <p:nvSpPr>
          <p:cNvPr id="17" name="TextBox 16"/>
          <p:cNvSpPr txBox="1"/>
          <p:nvPr/>
        </p:nvSpPr>
        <p:spPr>
          <a:xfrm>
            <a:off x="4480560" y="2212848"/>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Эстейбиз, «Ким туура?»</a:t>
            </a:r>
          </a:p>
        </p:txBody>
      </p:sp>
      <p:sp>
        <p:nvSpPr>
          <p:cNvPr id="18" name="Rounded Rectangle 17"/>
          <p:cNvSpPr/>
          <p:nvPr/>
        </p:nvSpPr>
        <p:spPr>
          <a:xfrm>
            <a:off x="429768" y="3145536"/>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0080" y="3328416"/>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0" name="TextBox 19"/>
          <p:cNvSpPr txBox="1"/>
          <p:nvPr/>
        </p:nvSpPr>
        <p:spPr>
          <a:xfrm>
            <a:off x="1280160" y="3145536"/>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Түшүнөбүз</a:t>
            </a:r>
          </a:p>
        </p:txBody>
      </p:sp>
      <p:sp>
        <p:nvSpPr>
          <p:cNvPr id="21" name="TextBox 20"/>
          <p:cNvSpPr txBox="1"/>
          <p:nvPr/>
        </p:nvSpPr>
        <p:spPr>
          <a:xfrm>
            <a:off x="4480560" y="3145536"/>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К → С → А: буюм, тилке, эреже</a:t>
            </a:r>
          </a:p>
        </p:txBody>
      </p:sp>
      <p:sp>
        <p:nvSpPr>
          <p:cNvPr id="22" name="Rounded Rectangle 21"/>
          <p:cNvSpPr/>
          <p:nvPr/>
        </p:nvSpPr>
        <p:spPr>
          <a:xfrm>
            <a:off x="429768" y="4078224"/>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426110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4" name="TextBox 23"/>
          <p:cNvSpPr txBox="1"/>
          <p:nvPr/>
        </p:nvSpPr>
        <p:spPr>
          <a:xfrm>
            <a:off x="1280160" y="4078224"/>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Машыгабыз</a:t>
            </a:r>
          </a:p>
        </p:txBody>
      </p:sp>
      <p:sp>
        <p:nvSpPr>
          <p:cNvPr id="25" name="TextBox 24"/>
          <p:cNvSpPr txBox="1"/>
          <p:nvPr/>
        </p:nvSpPr>
        <p:spPr>
          <a:xfrm>
            <a:off x="4480560" y="4078224"/>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Чечүүчү суроо, тилке, өз алдынча иш</a:t>
            </a:r>
          </a:p>
        </p:txBody>
      </p:sp>
      <p:sp>
        <p:nvSpPr>
          <p:cNvPr id="26" name="Rounded Rectangle 25"/>
          <p:cNvSpPr/>
          <p:nvPr/>
        </p:nvSpPr>
        <p:spPr>
          <a:xfrm>
            <a:off x="429768" y="5010912"/>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 y="5193792"/>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8" name="TextBox 27"/>
          <p:cNvSpPr txBox="1"/>
          <p:nvPr/>
        </p:nvSpPr>
        <p:spPr>
          <a:xfrm>
            <a:off x="1280160" y="5010912"/>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Жыйынтык</a:t>
            </a:r>
          </a:p>
        </p:txBody>
      </p:sp>
      <p:sp>
        <p:nvSpPr>
          <p:cNvPr id="29" name="TextBox 28"/>
          <p:cNvSpPr txBox="1"/>
          <p:nvPr/>
        </p:nvSpPr>
        <p:spPr>
          <a:xfrm>
            <a:off x="4480560" y="5010912"/>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Окуяга кайтуу, түзүү, чыгуу билети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 Жалал-Абаддагы дүкөн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3/26</a:t>
            </a:r>
          </a:p>
        </p:txBody>
      </p:sp>
      <p:sp>
        <p:nvSpPr>
          <p:cNvPr id="10" name="Rounded Rectangle 9"/>
          <p:cNvSpPr/>
          <p:nvPr/>
        </p:nvSpPr>
        <p:spPr>
          <a:xfrm>
            <a:off x="429768" y="1225296"/>
            <a:ext cx="6766560" cy="45720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25880"/>
            <a:ext cx="6217920" cy="4389120"/>
          </a:xfrm>
          <a:prstGeom prst="rect">
            <a:avLst/>
          </a:prstGeom>
          <a:noFill/>
        </p:spPr>
        <p:txBody>
          <a:bodyPr wrap="square" anchor="t" lIns="45720" rIns="45720" tIns="27432" bIns="27432">
            <a:spAutoFit/>
          </a:bodyPr>
          <a:lstStyle/>
          <a:p>
            <a:pPr algn="l">
              <a:lnSpc>
                <a:spcPct val="105000"/>
              </a:lnSpc>
            </a:pPr>
            <a:r>
              <a:rPr sz="2100" b="0" i="0">
                <a:solidFill>
                  <a:srgbClr val="1F2430"/>
                </a:solidFill>
                <a:latin typeface="PT Sans"/>
              </a:rPr>
              <a:t>Жалал-Абадда 1-сентябрь жакындады. Апасы Айдайга 500 сомдук бир кагаз акча берди.</a:t>
            </a:r>
          </a:p>
          <a:p>
            <a:pPr algn="l">
              <a:lnSpc>
                <a:spcPct val="105000"/>
              </a:lnSpc>
              <a:spcBef>
                <a:spcPts val="800"/>
              </a:spcBef>
            </a:pPr>
            <a:r>
              <a:rPr sz="2100" b="0" i="0">
                <a:solidFill>
                  <a:srgbClr val="1F2430"/>
                </a:solidFill>
                <a:latin typeface="PT Sans"/>
              </a:rPr>
              <a:t>«Бекзат экөөңө 10 дептер жана 3 калем ал. Кайтарымды мага алып кел».</a:t>
            </a:r>
          </a:p>
          <a:p>
            <a:pPr algn="l">
              <a:lnSpc>
                <a:spcPct val="105000"/>
              </a:lnSpc>
              <a:spcBef>
                <a:spcPts val="800"/>
              </a:spcBef>
            </a:pPr>
            <a:r>
              <a:rPr sz="2100" b="0" i="0">
                <a:solidFill>
                  <a:srgbClr val="1F2430"/>
                </a:solidFill>
                <a:latin typeface="PT Sans"/>
              </a:rPr>
              <a:t>Дүкөндө дептердин бир даанасы 25 сом, ал эми 5 дептер салынган пачка 110 сом. Калем 30 сом.</a:t>
            </a:r>
          </a:p>
          <a:p>
            <a:pPr algn="l">
              <a:lnSpc>
                <a:spcPct val="105000"/>
              </a:lnSpc>
              <a:spcBef>
                <a:spcPts val="800"/>
              </a:spcBef>
            </a:pPr>
            <a:r>
              <a:rPr sz="2100" b="0" i="0">
                <a:solidFill>
                  <a:srgbClr val="1F2430"/>
                </a:solidFill>
                <a:latin typeface="PT Sans"/>
              </a:rPr>
              <a:t>Айдай ойлонду: кантип эң арзан алам? Канча кайтарым алып барам?</a:t>
            </a:r>
          </a:p>
        </p:txBody>
      </p:sp>
      <p:sp>
        <p:nvSpPr>
          <p:cNvPr id="12" name="Rounded Rectangle 11"/>
          <p:cNvSpPr/>
          <p:nvPr/>
        </p:nvSpPr>
        <p:spPr>
          <a:xfrm>
            <a:off x="7406640" y="1225296"/>
            <a:ext cx="4352544" cy="45720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325880"/>
            <a:ext cx="3931920" cy="457200"/>
          </a:xfrm>
          <a:prstGeom prst="rect">
            <a:avLst/>
          </a:prstGeom>
          <a:noFill/>
        </p:spPr>
        <p:txBody>
          <a:bodyPr wrap="square" anchor="t" lIns="45720" rIns="45720" tIns="27432" bIns="27432">
            <a:spAutoFit/>
          </a:bodyPr>
          <a:lstStyle/>
          <a:p>
            <a:pPr algn="l">
              <a:lnSpc>
                <a:spcPct val="105000"/>
              </a:lnSpc>
            </a:pPr>
            <a:r>
              <a:rPr sz="2200" b="1" i="0">
                <a:solidFill>
                  <a:srgbClr val="A84400"/>
                </a:solidFill>
                <a:latin typeface="PT Sans"/>
              </a:rPr>
              <a:t>Суроо</a:t>
            </a:r>
          </a:p>
        </p:txBody>
      </p:sp>
      <p:sp>
        <p:nvSpPr>
          <p:cNvPr id="14" name="TextBox 13"/>
          <p:cNvSpPr txBox="1"/>
          <p:nvPr/>
        </p:nvSpPr>
        <p:spPr>
          <a:xfrm>
            <a:off x="7635240" y="1828800"/>
            <a:ext cx="3931920" cy="2743200"/>
          </a:xfrm>
          <a:prstGeom prst="rect">
            <a:avLst/>
          </a:prstGeom>
          <a:noFill/>
        </p:spPr>
        <p:txBody>
          <a:bodyPr wrap="square" anchor="t" lIns="45720" rIns="45720" tIns="27432" bIns="27432">
            <a:spAutoFit/>
          </a:bodyPr>
          <a:lstStyle/>
          <a:p>
            <a:pPr algn="l">
              <a:lnSpc>
                <a:spcPct val="105000"/>
              </a:lnSpc>
            </a:pPr>
            <a:r>
              <a:rPr sz="2200" b="1" i="0">
                <a:solidFill>
                  <a:srgbClr val="1F2430"/>
                </a:solidFill>
                <a:latin typeface="PT Sans"/>
              </a:rPr>
              <a:t>500 сом бар. 10 дептер жана 3 калем керек. Дептер 25 сом же 5 дептерлүү пачка 110 сом. Калем 30 сом. Эң арзан кантип алат? Кайтарым канча?</a:t>
            </a:r>
          </a:p>
        </p:txBody>
      </p:sp>
      <p:sp>
        <p:nvSpPr>
          <p:cNvPr id="15" name="TextBox 14"/>
          <p:cNvSpPr txBox="1"/>
          <p:nvPr/>
        </p:nvSpPr>
        <p:spPr>
          <a:xfrm>
            <a:off x="7635240" y="4572000"/>
            <a:ext cx="3931920" cy="1097280"/>
          </a:xfrm>
          <a:prstGeom prst="rect">
            <a:avLst/>
          </a:prstGeom>
          <a:noFill/>
        </p:spPr>
        <p:txBody>
          <a:bodyPr wrap="square" anchor="t" lIns="45720" rIns="45720" tIns="27432" bIns="27432">
            <a:spAutoFit/>
          </a:bodyPr>
          <a:lstStyle/>
          <a:p>
            <a:pPr algn="l">
              <a:lnSpc>
                <a:spcPct val="105000"/>
              </a:lnSpc>
            </a:pPr>
            <a:r>
              <a:rPr sz="1700" b="0" i="1">
                <a:solidFill>
                  <a:srgbClr val="6B7280"/>
                </a:solidFill>
                <a:latin typeface="PT Sans"/>
              </a:rPr>
              <a:t>Азыр жообун айтпайбыз. Ойлон: кантип билебиз?</a:t>
            </a:r>
          </a:p>
        </p:txBody>
      </p:sp>
      <p:sp>
        <p:nvSpPr>
          <p:cNvPr id="16" name="Rounded Rectangle 1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Математикада биз…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4/26</a:t>
            </a:r>
          </a:p>
        </p:txBody>
      </p:sp>
      <p:sp>
        <p:nvSpPr>
          <p:cNvPr id="10" name="Rounded Rectangle 9"/>
          <p:cNvSpPr/>
          <p:nvPr/>
        </p:nvSpPr>
        <p:spPr>
          <a:xfrm>
            <a:off x="429768"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600200"/>
            <a:ext cx="3166872" cy="1463040"/>
          </a:xfrm>
          <a:prstGeom prst="roundRect">
            <a:avLst>
              <a:gd name="adj" fmla="val 15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Ката – үйрөнүүнүн бир бөлүгү</a:t>
            </a:r>
          </a:p>
        </p:txBody>
      </p:sp>
      <p:sp>
        <p:nvSpPr>
          <p:cNvPr id="12" name="TextBox 11"/>
          <p:cNvSpPr txBox="1"/>
          <p:nvPr/>
        </p:nvSpPr>
        <p:spPr>
          <a:xfrm>
            <a:off x="658368"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Ката кетсе, эмне үчүн кеткенин издейбиз.</a:t>
            </a:r>
          </a:p>
        </p:txBody>
      </p:sp>
      <p:sp>
        <p:nvSpPr>
          <p:cNvPr id="13" name="Rounded Rectangle 12"/>
          <p:cNvSpPr/>
          <p:nvPr/>
        </p:nvSpPr>
        <p:spPr>
          <a:xfrm>
            <a:off x="4282439"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1039" y="1600200"/>
            <a:ext cx="3166872" cy="1463040"/>
          </a:xfrm>
          <a:prstGeom prst="roundRect">
            <a:avLst>
              <a:gd name="adj" fmla="val 15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«Азырынча билбейм»</a:t>
            </a:r>
          </a:p>
        </p:txBody>
      </p:sp>
      <p:sp>
        <p:nvSpPr>
          <p:cNvPr id="15" name="TextBox 14"/>
          <p:cNvSpPr txBox="1"/>
          <p:nvPr/>
        </p:nvSpPr>
        <p:spPr>
          <a:xfrm>
            <a:off x="4511039"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«Билбейм» эмес, «азырынча». Машыксак, үйрөнөбүз.</a:t>
            </a:r>
          </a:p>
        </p:txBody>
      </p:sp>
      <p:sp>
        <p:nvSpPr>
          <p:cNvPr id="16" name="Rounded Rectangle 15"/>
          <p:cNvSpPr/>
          <p:nvPr/>
        </p:nvSpPr>
        <p:spPr>
          <a:xfrm>
            <a:off x="8135112"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63712" y="1600200"/>
            <a:ext cx="3166872" cy="1463040"/>
          </a:xfrm>
          <a:prstGeom prst="roundRect">
            <a:avLst>
              <a:gd name="adj" fmla="val 15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Адегенде түшүн, анан эсепте</a:t>
            </a:r>
          </a:p>
        </p:txBody>
      </p:sp>
      <p:sp>
        <p:nvSpPr>
          <p:cNvPr id="18" name="TextBox 17"/>
          <p:cNvSpPr txBox="1"/>
          <p:nvPr/>
        </p:nvSpPr>
        <p:spPr>
          <a:xfrm>
            <a:off x="8363712"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Сүрөт же тилке чийип, анан сан менен жазабыз.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Максаттар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5/26</a:t>
            </a:r>
          </a:p>
        </p:txBody>
      </p:sp>
      <p:sp>
        <p:nvSpPr>
          <p:cNvPr id="10" name="Rounded Rectangle 9"/>
          <p:cNvSpPr/>
          <p:nvPr/>
        </p:nvSpPr>
        <p:spPr>
          <a:xfrm>
            <a:off x="429768" y="1225296"/>
            <a:ext cx="6409944"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429768" y="1865376"/>
            <a:ext cx="6409944"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2648" y="1225296"/>
            <a:ext cx="6044184"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Бүгүн биз үйрөнөбүз</a:t>
            </a:r>
          </a:p>
        </p:txBody>
      </p:sp>
      <p:sp>
        <p:nvSpPr>
          <p:cNvPr id="13" name="Oval 12"/>
          <p:cNvSpPr/>
          <p:nvPr/>
        </p:nvSpPr>
        <p:spPr>
          <a:xfrm>
            <a:off x="722376" y="21488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4" name="TextBox 13"/>
          <p:cNvSpPr txBox="1"/>
          <p:nvPr/>
        </p:nvSpPr>
        <p:spPr>
          <a:xfrm>
            <a:off x="1261872" y="211226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Сом менен тыйынды алмаштырам (1 сом = 100 тыйын), чыныгы кагаз акча жана тыйындар менен төлөйм.</a:t>
            </a:r>
          </a:p>
        </p:txBody>
      </p:sp>
      <p:sp>
        <p:nvSpPr>
          <p:cNvPr id="15" name="Oval 14"/>
          <p:cNvSpPr/>
          <p:nvPr/>
        </p:nvSpPr>
        <p:spPr>
          <a:xfrm>
            <a:off x="722376" y="342900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61872" y="339242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Бир нече буюмдун жалпы баасын жана кайтарымды калькуляторсуз эсептеп, текшерем.</a:t>
            </a:r>
          </a:p>
        </p:txBody>
      </p:sp>
      <p:sp>
        <p:nvSpPr>
          <p:cNvPr id="17" name="Oval 16"/>
          <p:cNvSpPr/>
          <p:nvPr/>
        </p:nvSpPr>
        <p:spPr>
          <a:xfrm>
            <a:off x="722376" y="470916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8" name="TextBox 17"/>
          <p:cNvSpPr txBox="1"/>
          <p:nvPr/>
        </p:nvSpPr>
        <p:spPr>
          <a:xfrm>
            <a:off x="1261872" y="467258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Бир даананын баасын таап, эң пайдалуу бааны тандайм; акчаны пландайм (бюджет).</a:t>
            </a:r>
          </a:p>
        </p:txBody>
      </p:sp>
      <p:sp>
        <p:nvSpPr>
          <p:cNvPr id="19" name="Rounded Rectangle 18"/>
          <p:cNvSpPr/>
          <p:nvPr/>
        </p:nvSpPr>
        <p:spPr>
          <a:xfrm>
            <a:off x="7132320" y="1225296"/>
            <a:ext cx="4636008"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7132320" y="1865376"/>
            <a:ext cx="46360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06056" y="1225296"/>
            <a:ext cx="4270248"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Деңгээлдер</a:t>
            </a:r>
          </a:p>
        </p:txBody>
      </p:sp>
      <p:sp>
        <p:nvSpPr>
          <p:cNvPr id="22" name="Rounded Rectangle 21"/>
          <p:cNvSpPr/>
          <p:nvPr/>
        </p:nvSpPr>
        <p:spPr>
          <a:xfrm>
            <a:off x="7360920" y="2103120"/>
            <a:ext cx="1143000" cy="731520"/>
          </a:xfrm>
          <a:prstGeom prst="roundRect">
            <a:avLst>
              <a:gd name="adj" fmla="val 20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007A5A"/>
                </a:solidFill>
                <a:latin typeface="PT Sans"/>
              </a:rPr>
              <a:t>Жеңил</a:t>
            </a:r>
          </a:p>
        </p:txBody>
      </p:sp>
      <p:sp>
        <p:nvSpPr>
          <p:cNvPr id="23" name="TextBox 22"/>
          <p:cNvSpPr txBox="1"/>
          <p:nvPr/>
        </p:nvSpPr>
        <p:spPr>
          <a:xfrm>
            <a:off x="8641080" y="2057400"/>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Сом, тыйын, жалпы баа</a:t>
            </a:r>
          </a:p>
        </p:txBody>
      </p:sp>
      <p:sp>
        <p:nvSpPr>
          <p:cNvPr id="24" name="Rounded Rectangle 23"/>
          <p:cNvSpPr/>
          <p:nvPr/>
        </p:nvSpPr>
        <p:spPr>
          <a:xfrm>
            <a:off x="7360920" y="3127248"/>
            <a:ext cx="1143000" cy="731520"/>
          </a:xfrm>
          <a:prstGeom prst="roundRect">
            <a:avLst>
              <a:gd name="adj" fmla="val 20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Орто</a:t>
            </a:r>
          </a:p>
        </p:txBody>
      </p:sp>
      <p:sp>
        <p:nvSpPr>
          <p:cNvPr id="25" name="TextBox 24"/>
          <p:cNvSpPr txBox="1"/>
          <p:nvPr/>
        </p:nvSpPr>
        <p:spPr>
          <a:xfrm>
            <a:off x="8641080" y="3081528"/>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Кайтарым, текшерүү</a:t>
            </a:r>
          </a:p>
        </p:txBody>
      </p:sp>
      <p:sp>
        <p:nvSpPr>
          <p:cNvPr id="26" name="Rounded Rectangle 25"/>
          <p:cNvSpPr/>
          <p:nvPr/>
        </p:nvSpPr>
        <p:spPr>
          <a:xfrm>
            <a:off x="7360920" y="4151376"/>
            <a:ext cx="1143000" cy="731520"/>
          </a:xfrm>
          <a:prstGeom prst="roundRect">
            <a:avLst>
              <a:gd name="adj" fmla="val 20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4A5A70"/>
                </a:solidFill>
                <a:latin typeface="PT Sans"/>
              </a:rPr>
              <a:t>Оор</a:t>
            </a:r>
          </a:p>
        </p:txBody>
      </p:sp>
      <p:sp>
        <p:nvSpPr>
          <p:cNvPr id="27" name="TextBox 26"/>
          <p:cNvSpPr txBox="1"/>
          <p:nvPr/>
        </p:nvSpPr>
        <p:spPr>
          <a:xfrm>
            <a:off x="8641080" y="4105656"/>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6B7280"/>
                </a:solidFill>
                <a:latin typeface="PT Sans"/>
              </a:rPr>
              <a:t>Эң пайдалуу баа, бюджет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3C: бүгүн кантип ойлонобуз?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6/26</a:t>
            </a:r>
          </a:p>
        </p:txBody>
      </p:sp>
      <p:sp>
        <p:nvSpPr>
          <p:cNvPr id="10" name="Rounded Rectangle 9"/>
          <p:cNvSpPr/>
          <p:nvPr/>
        </p:nvSpPr>
        <p:spPr>
          <a:xfrm>
            <a:off x="429768"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4088" y="1463040"/>
            <a:ext cx="3044952" cy="64008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Сынчыл ой</a:t>
            </a:r>
          </a:p>
        </p:txBody>
      </p:sp>
      <p:sp>
        <p:nvSpPr>
          <p:cNvPr id="12" name="TextBox 11"/>
          <p:cNvSpPr txBox="1"/>
          <p:nvPr/>
        </p:nvSpPr>
        <p:spPr>
          <a:xfrm>
            <a:off x="658368"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Текшеребиз, далилдейбиз, катаны издейбиз.</a:t>
            </a:r>
          </a:p>
        </p:txBody>
      </p:sp>
      <p:cxnSp>
        <p:nvCxnSpPr>
          <p:cNvPr id="13" name="Connector 12"/>
          <p:cNvCxnSpPr/>
          <p:nvPr/>
        </p:nvCxnSpPr>
        <p:spPr>
          <a:xfrm>
            <a:off x="704088"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15" name="TextBox 14"/>
          <p:cNvSpPr txBox="1"/>
          <p:nvPr/>
        </p:nvSpPr>
        <p:spPr>
          <a:xfrm>
            <a:off x="658368"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«Ким туура?»</a:t>
            </a:r>
          </a:p>
          <a:p>
            <a:pPr algn="l">
              <a:lnSpc>
                <a:spcPct val="105000"/>
              </a:lnSpc>
            </a:pPr>
            <a:r>
              <a:rPr sz="1800" b="0" i="0">
                <a:solidFill>
                  <a:srgbClr val="1F2430"/>
                </a:solidFill>
                <a:latin typeface="PT Sans"/>
              </a:rPr>
              <a:t>• Кайтарымды текшерүү</a:t>
            </a:r>
          </a:p>
        </p:txBody>
      </p:sp>
      <p:sp>
        <p:nvSpPr>
          <p:cNvPr id="16" name="Rounded Rectangle 15"/>
          <p:cNvSpPr/>
          <p:nvPr/>
        </p:nvSpPr>
        <p:spPr>
          <a:xfrm>
            <a:off x="4297680"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1463040"/>
            <a:ext cx="3044952" cy="64008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Кызматташуу</a:t>
            </a:r>
          </a:p>
        </p:txBody>
      </p:sp>
      <p:sp>
        <p:nvSpPr>
          <p:cNvPr id="18" name="TextBox 17"/>
          <p:cNvSpPr txBox="1"/>
          <p:nvPr/>
        </p:nvSpPr>
        <p:spPr>
          <a:xfrm>
            <a:off x="4526280"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Жупта жана топто сүйлөшөбүз.</a:t>
            </a:r>
          </a:p>
        </p:txBody>
      </p:sp>
      <p:cxnSp>
        <p:nvCxnSpPr>
          <p:cNvPr id="19" name="Connector 18"/>
          <p:cNvCxnSpPr/>
          <p:nvPr/>
        </p:nvCxnSpPr>
        <p:spPr>
          <a:xfrm>
            <a:off x="4572000"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26280"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1" name="TextBox 20"/>
          <p:cNvSpPr txBox="1"/>
          <p:nvPr/>
        </p:nvSpPr>
        <p:spPr>
          <a:xfrm>
            <a:off x="4526280"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Жупта: «дүкөн» оюну</a:t>
            </a:r>
          </a:p>
        </p:txBody>
      </p:sp>
      <p:sp>
        <p:nvSpPr>
          <p:cNvPr id="22" name="Rounded Rectangle 21"/>
          <p:cNvSpPr/>
          <p:nvPr/>
        </p:nvSpPr>
        <p:spPr>
          <a:xfrm>
            <a:off x="8165592"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39912" y="1463040"/>
            <a:ext cx="3044952" cy="64008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Байланыштыруу</a:t>
            </a:r>
          </a:p>
        </p:txBody>
      </p:sp>
      <p:sp>
        <p:nvSpPr>
          <p:cNvPr id="24" name="TextBox 23"/>
          <p:cNvSpPr txBox="1"/>
          <p:nvPr/>
        </p:nvSpPr>
        <p:spPr>
          <a:xfrm>
            <a:off x="8394192"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Математиканы турмуш менен байланыштырабыз.</a:t>
            </a:r>
          </a:p>
        </p:txBody>
      </p:sp>
      <p:cxnSp>
        <p:nvCxnSpPr>
          <p:cNvPr id="25" name="Connector 24"/>
          <p:cNvCxnSpPr/>
          <p:nvPr/>
        </p:nvCxnSpPr>
        <p:spPr>
          <a:xfrm>
            <a:off x="8439912"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394192"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7" name="TextBox 26"/>
          <p:cNvSpPr txBox="1"/>
          <p:nvPr/>
        </p:nvSpPr>
        <p:spPr>
          <a:xfrm>
            <a:off x="8394192"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Жалал-Абаддагы дүкөн</a:t>
            </a:r>
          </a:p>
          <a:p>
            <a:pPr algn="l">
              <a:lnSpc>
                <a:spcPct val="105000"/>
              </a:lnSpc>
            </a:pPr>
            <a:r>
              <a:rPr sz="1800" b="0" i="0">
                <a:solidFill>
                  <a:srgbClr val="1F2430"/>
                </a:solidFill>
                <a:latin typeface="PT Sans"/>
              </a:rPr>
              <a:t>• Үй-бүлөнүн бюджети</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Мурун – бүгүн – кийин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7/26</a:t>
            </a:r>
          </a:p>
        </p:txBody>
      </p:sp>
      <p:sp>
        <p:nvSpPr>
          <p:cNvPr id="10" name="Rounded Rectangle 9"/>
          <p:cNvSpPr/>
          <p:nvPr/>
        </p:nvSpPr>
        <p:spPr>
          <a:xfrm>
            <a:off x="429768" y="3017520"/>
            <a:ext cx="2660904" cy="27432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1089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2-класс</a:t>
            </a:r>
          </a:p>
        </p:txBody>
      </p:sp>
      <p:cxnSp>
        <p:nvCxnSpPr>
          <p:cNvPr id="12" name="Connector 11"/>
          <p:cNvCxnSpPr/>
          <p:nvPr/>
        </p:nvCxnSpPr>
        <p:spPr>
          <a:xfrm>
            <a:off x="704088" y="3657600"/>
            <a:ext cx="2112264"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7" y="3749039"/>
            <a:ext cx="2295144" cy="19202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Акча</a:t>
            </a:r>
          </a:p>
          <a:p>
            <a:pPr algn="l">
              <a:lnSpc>
                <a:spcPct val="105000"/>
              </a:lnSpc>
              <a:spcBef>
                <a:spcPts val="400"/>
              </a:spcBef>
            </a:pPr>
            <a:r>
              <a:rPr sz="1500" b="0" i="0">
                <a:solidFill>
                  <a:srgbClr val="1F2430"/>
                </a:solidFill>
                <a:latin typeface="PT Sans"/>
              </a:rPr>
              <a:t>• 100 ичинде</a:t>
            </a:r>
          </a:p>
        </p:txBody>
      </p:sp>
      <p:sp>
        <p:nvSpPr>
          <p:cNvPr id="14" name="Rounded Rectangle 13"/>
          <p:cNvSpPr/>
          <p:nvPr/>
        </p:nvSpPr>
        <p:spPr>
          <a:xfrm>
            <a:off x="3319272" y="2560320"/>
            <a:ext cx="2660904" cy="32004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6517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3-класс</a:t>
            </a:r>
          </a:p>
        </p:txBody>
      </p:sp>
      <p:cxnSp>
        <p:nvCxnSpPr>
          <p:cNvPr id="16" name="Connector 15"/>
          <p:cNvCxnSpPr/>
          <p:nvPr/>
        </p:nvCxnSpPr>
        <p:spPr>
          <a:xfrm>
            <a:off x="3593591" y="3200400"/>
            <a:ext cx="2112265"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02152" y="3291839"/>
            <a:ext cx="2295144" cy="23774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Көбөйтүү, бөлүү</a:t>
            </a:r>
          </a:p>
          <a:p>
            <a:pPr algn="l">
              <a:lnSpc>
                <a:spcPct val="105000"/>
              </a:lnSpc>
              <a:spcBef>
                <a:spcPts val="400"/>
              </a:spcBef>
            </a:pPr>
            <a:r>
              <a:rPr sz="1500" b="0" i="0">
                <a:solidFill>
                  <a:srgbClr val="1F2430"/>
                </a:solidFill>
                <a:latin typeface="PT Sans"/>
              </a:rPr>
              <a:t>• Аттуу сандар</a:t>
            </a:r>
          </a:p>
        </p:txBody>
      </p:sp>
      <p:sp>
        <p:nvSpPr>
          <p:cNvPr id="18" name="Rounded Rectangle 17"/>
          <p:cNvSpPr/>
          <p:nvPr/>
        </p:nvSpPr>
        <p:spPr>
          <a:xfrm>
            <a:off x="6208776" y="2103120"/>
            <a:ext cx="2660904" cy="36576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945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A84400"/>
                </a:solidFill>
                <a:latin typeface="PT Sans"/>
              </a:rPr>
              <a:t>4-класс</a:t>
            </a:r>
          </a:p>
        </p:txBody>
      </p:sp>
      <p:cxnSp>
        <p:nvCxnSpPr>
          <p:cNvPr id="20" name="Connector 19"/>
          <p:cNvCxnSpPr/>
          <p:nvPr/>
        </p:nvCxnSpPr>
        <p:spPr>
          <a:xfrm>
            <a:off x="6483096" y="2743200"/>
            <a:ext cx="2112263" cy="0"/>
          </a:xfrm>
          <a:prstGeom prst="line">
            <a:avLst/>
          </a:prstGeom>
          <a:ln w="12700">
            <a:solidFill>
              <a:srgbClr val="A8440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91656" y="2834639"/>
            <a:ext cx="2295144" cy="28346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Кайтарым</a:t>
            </a:r>
          </a:p>
          <a:p>
            <a:pPr algn="l">
              <a:lnSpc>
                <a:spcPct val="105000"/>
              </a:lnSpc>
              <a:spcBef>
                <a:spcPts val="400"/>
              </a:spcBef>
            </a:pPr>
            <a:r>
              <a:rPr sz="1500" b="0" i="0">
                <a:solidFill>
                  <a:srgbClr val="1F2430"/>
                </a:solidFill>
                <a:latin typeface="PT Sans"/>
              </a:rPr>
              <a:t>• Эң пайдалуу баа</a:t>
            </a:r>
          </a:p>
        </p:txBody>
      </p:sp>
      <p:sp>
        <p:nvSpPr>
          <p:cNvPr id="22" name="Rounded Rectangle 21"/>
          <p:cNvSpPr/>
          <p:nvPr/>
        </p:nvSpPr>
        <p:spPr>
          <a:xfrm>
            <a:off x="6807708" y="1600199"/>
            <a:ext cx="1463040" cy="384048"/>
          </a:xfrm>
          <a:prstGeom prst="roundRect">
            <a:avLst>
              <a:gd name="adj" fmla="val 50000"/>
            </a:avLst>
          </a:prstGeom>
          <a:no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Бүгүн</a:t>
            </a:r>
          </a:p>
        </p:txBody>
      </p:sp>
      <p:sp>
        <p:nvSpPr>
          <p:cNvPr id="23" name="Rounded Rectangle 22"/>
          <p:cNvSpPr/>
          <p:nvPr/>
        </p:nvSpPr>
        <p:spPr>
          <a:xfrm>
            <a:off x="9098280" y="1645919"/>
            <a:ext cx="2660904" cy="41148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0" y="17373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5-класс</a:t>
            </a:r>
          </a:p>
        </p:txBody>
      </p:sp>
      <p:cxnSp>
        <p:nvCxnSpPr>
          <p:cNvPr id="25" name="Connector 24"/>
          <p:cNvCxnSpPr/>
          <p:nvPr/>
        </p:nvCxnSpPr>
        <p:spPr>
          <a:xfrm>
            <a:off x="9372600" y="2286000"/>
            <a:ext cx="2112264"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81160" y="2377439"/>
            <a:ext cx="2295144" cy="32918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Ондук бөлчөк</a:t>
            </a:r>
          </a:p>
          <a:p>
            <a:pPr algn="l">
              <a:lnSpc>
                <a:spcPct val="105000"/>
              </a:lnSpc>
              <a:spcBef>
                <a:spcPts val="400"/>
              </a:spcBef>
            </a:pPr>
            <a:r>
              <a:rPr sz="1500" b="0" i="0">
                <a:solidFill>
                  <a:srgbClr val="6B7280"/>
                </a:solidFill>
                <a:latin typeface="PT Sans"/>
              </a:rPr>
              <a:t>• Арзандатуу, %</a:t>
            </a:r>
          </a:p>
        </p:txBody>
      </p:sp>
      <p:sp>
        <p:nvSpPr>
          <p:cNvPr id="27" name="TextBox 26"/>
          <p:cNvSpPr txBox="1"/>
          <p:nvPr/>
        </p:nvSpPr>
        <p:spPr>
          <a:xfrm>
            <a:off x="429768" y="5806440"/>
            <a:ext cx="11329416" cy="365760"/>
          </a:xfrm>
          <a:prstGeom prst="rect">
            <a:avLst/>
          </a:prstGeom>
          <a:noFill/>
        </p:spPr>
        <p:txBody>
          <a:bodyPr wrap="square" anchor="t" lIns="45720" rIns="45720" tIns="27432" bIns="27432">
            <a:spAutoFit/>
          </a:bodyPr>
          <a:lstStyle/>
          <a:p>
            <a:pPr algn="ctr">
              <a:lnSpc>
                <a:spcPct val="105000"/>
              </a:lnSpc>
            </a:pPr>
            <a:r>
              <a:rPr sz="1800" b="0" i="1">
                <a:solidFill>
                  <a:srgbClr val="6B7280"/>
                </a:solidFill>
                <a:latin typeface="PT Sans"/>
              </a:rPr>
              <a:t>Ар бир класс мурункусунун үстүнө курулат.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эстейли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8/26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Мини-тактага жаз. 2 мүнөт.</a:t>
            </a:r>
          </a:p>
        </p:txBody>
      </p:sp>
      <p:sp>
        <p:nvSpPr>
          <p:cNvPr id="11" name="Rounded Rectangle 10"/>
          <p:cNvSpPr/>
          <p:nvPr/>
        </p:nvSpPr>
        <p:spPr>
          <a:xfrm>
            <a:off x="429768"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6 × 30</a:t>
            </a:r>
          </a:p>
        </p:txBody>
      </p:sp>
      <p:sp>
        <p:nvSpPr>
          <p:cNvPr id="14" name="Rounded Rectangle 13"/>
          <p:cNvSpPr/>
          <p:nvPr/>
        </p:nvSpPr>
        <p:spPr>
          <a:xfrm>
            <a:off x="6208776"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1000 − 400</a:t>
            </a:r>
          </a:p>
        </p:txBody>
      </p:sp>
      <p:sp>
        <p:nvSpPr>
          <p:cNvPr id="17" name="Rounded Rectangle 16"/>
          <p:cNvSpPr/>
          <p:nvPr/>
        </p:nvSpPr>
        <p:spPr>
          <a:xfrm>
            <a:off x="429768"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 сом = □ тыйын</a:t>
            </a:r>
          </a:p>
        </p:txBody>
      </p:sp>
      <p:sp>
        <p:nvSpPr>
          <p:cNvPr id="20" name="Rounded Rectangle 19"/>
          <p:cNvSpPr/>
          <p:nvPr/>
        </p:nvSpPr>
        <p:spPr>
          <a:xfrm>
            <a:off x="6208776"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120 ÷ 4</a:t>
            </a:r>
          </a:p>
        </p:txBody>
      </p:sp>
      <p:sp>
        <p:nvSpPr>
          <p:cNvPr id="23" name="Rounded Rectangle 2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24" name="Rounded Rectangle 2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25" name="Rounded Rectangle 2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9/26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6 × 30</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180</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1000 − 400</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600</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 сом = □ тыйын</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100</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120 ÷ 4</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Ким туура?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10/26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Нурлан байке: «3 дептер 75 сом же 5 дептер 110 сом. Кайсы пачка пайдалуу?»</a:t>
            </a:r>
          </a:p>
        </p:txBody>
      </p:sp>
      <p:sp>
        <p:nvSpPr>
          <p:cNvPr id="12" name="Rounded Rectangle 11"/>
          <p:cNvSpPr/>
          <p:nvPr/>
        </p:nvSpPr>
        <p:spPr>
          <a:xfrm>
            <a:off x="429768"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429768"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Айдай</a:t>
            </a:r>
          </a:p>
        </p:txBody>
      </p:sp>
      <p:sp>
        <p:nvSpPr>
          <p:cNvPr id="15" name="TextBox 14"/>
          <p:cNvSpPr txBox="1"/>
          <p:nvPr/>
        </p:nvSpPr>
        <p:spPr>
          <a:xfrm>
            <a:off x="704088"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75 &lt; 110</a:t>
            </a:r>
          </a:p>
          <a:p>
            <a:pPr algn="l">
              <a:lnSpc>
                <a:spcPct val="105000"/>
              </a:lnSpc>
            </a:pPr>
            <a:r>
              <a:rPr sz="2600" b="0" i="0">
                <a:solidFill>
                  <a:srgbClr val="1F2430"/>
                </a:solidFill>
                <a:latin typeface="PT Sans"/>
              </a:rPr>
              <a:t>Демек 3 дептер</a:t>
            </a:r>
          </a:p>
          <a:p>
            <a:pPr algn="l">
              <a:lnSpc>
                <a:spcPct val="105000"/>
              </a:lnSpc>
            </a:pPr>
            <a:r>
              <a:rPr sz="2600" b="0" i="0">
                <a:solidFill>
                  <a:srgbClr val="1F2430"/>
                </a:solidFill>
                <a:latin typeface="PT Sans"/>
              </a:rPr>
              <a:t>пайдалуу</a:t>
            </a:r>
          </a:p>
        </p:txBody>
      </p:sp>
      <p:sp>
        <p:nvSpPr>
          <p:cNvPr id="16" name="Rounded Rectangle 15"/>
          <p:cNvSpPr/>
          <p:nvPr/>
        </p:nvSpPr>
        <p:spPr>
          <a:xfrm>
            <a:off x="6208776"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208776"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08776"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Бекзат</a:t>
            </a:r>
          </a:p>
        </p:txBody>
      </p:sp>
      <p:sp>
        <p:nvSpPr>
          <p:cNvPr id="19" name="TextBox 18"/>
          <p:cNvSpPr txBox="1"/>
          <p:nvPr/>
        </p:nvSpPr>
        <p:spPr>
          <a:xfrm>
            <a:off x="6483096"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75 ÷ 3 = 25 сом</a:t>
            </a:r>
          </a:p>
          <a:p>
            <a:pPr algn="l">
              <a:lnSpc>
                <a:spcPct val="105000"/>
              </a:lnSpc>
            </a:pPr>
            <a:r>
              <a:rPr sz="2600" b="0" i="0">
                <a:solidFill>
                  <a:srgbClr val="1F2430"/>
                </a:solidFill>
                <a:latin typeface="PT Sans"/>
              </a:rPr>
              <a:t>110 ÷ 5 = 22 сом</a:t>
            </a:r>
          </a:p>
          <a:p>
            <a:pPr algn="l">
              <a:lnSpc>
                <a:spcPct val="105000"/>
              </a:lnSpc>
            </a:pPr>
            <a:r>
              <a:rPr sz="2600" b="0" i="0">
                <a:solidFill>
                  <a:srgbClr val="1F2430"/>
                </a:solidFill>
                <a:latin typeface="PT Sans"/>
              </a:rPr>
              <a:t>5 дептер пайдалуу</a:t>
            </a:r>
          </a:p>
        </p:txBody>
      </p:sp>
      <p:sp>
        <p:nvSpPr>
          <p:cNvPr id="20" name="TextBox 19"/>
          <p:cNvSpPr txBox="1"/>
          <p:nvPr/>
        </p:nvSpPr>
        <p:spPr>
          <a:xfrm>
            <a:off x="429768" y="5349240"/>
            <a:ext cx="11329416" cy="548640"/>
          </a:xfrm>
          <a:prstGeom prst="rect">
            <a:avLst/>
          </a:prstGeom>
          <a:noFill/>
        </p:spPr>
        <p:txBody>
          <a:bodyPr wrap="square" anchor="t" lIns="45720" rIns="45720" tIns="27432" bIns="27432">
            <a:spAutoFit/>
          </a:bodyPr>
          <a:lstStyle/>
          <a:p>
            <a:pPr algn="ctr">
              <a:lnSpc>
                <a:spcPct val="105000"/>
              </a:lnSpc>
            </a:pPr>
            <a:r>
              <a:rPr sz="2600" b="1" i="0">
                <a:solidFill>
                  <a:srgbClr val="A84400"/>
                </a:solidFill>
                <a:latin typeface="PT Sans"/>
              </a:rPr>
              <a:t>Ким туура? Бир дептердин баасын салыштыр.</a:t>
            </a:r>
          </a:p>
        </p:txBody>
      </p:sp>
      <p:sp>
        <p:nvSpPr>
          <p:cNvPr id="21" name="Rounded Rectangle 20"/>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 буюм менен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11/26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Жупта «дүкөн» ойнойбуз: кагаз акча жана капкак тыйындар менен сатып ал, кайтарымды санап бер.</a:t>
            </a:r>
          </a:p>
        </p:txBody>
      </p:sp>
      <p:sp>
        <p:nvSpPr>
          <p:cNvPr id="12" name="TextBox 11"/>
          <p:cNvSpPr txBox="1"/>
          <p:nvPr/>
        </p:nvSpPr>
        <p:spPr>
          <a:xfrm>
            <a:off x="502920" y="2103120"/>
            <a:ext cx="3657600" cy="320040"/>
          </a:xfrm>
          <a:prstGeom prst="rect">
            <a:avLst/>
          </a:prstGeom>
          <a:noFill/>
        </p:spPr>
        <p:txBody>
          <a:bodyPr wrap="square" anchor="t" lIns="45720" rIns="45720" tIns="27432" bIns="27432">
            <a:spAutoFit/>
          </a:bodyPr>
          <a:lstStyle/>
          <a:p>
            <a:pPr algn="l">
              <a:lnSpc>
                <a:spcPct val="105000"/>
              </a:lnSpc>
            </a:pPr>
            <a:r>
              <a:rPr sz="1500" b="1" i="0">
                <a:solidFill>
                  <a:srgbClr val="1D3557"/>
                </a:solidFill>
                <a:latin typeface="PT Sans"/>
              </a:rPr>
              <a:t>Кагаз акчалар</a:t>
            </a:r>
          </a:p>
        </p:txBody>
      </p:sp>
      <p:sp>
        <p:nvSpPr>
          <p:cNvPr id="13" name="Rounded Rectangle 12"/>
          <p:cNvSpPr/>
          <p:nvPr/>
        </p:nvSpPr>
        <p:spPr>
          <a:xfrm>
            <a:off x="502920" y="2450592"/>
            <a:ext cx="1325880" cy="640080"/>
          </a:xfrm>
          <a:prstGeom prst="roundRect">
            <a:avLst>
              <a:gd name="adj" fmla="val 8000"/>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57784" y="2505456"/>
            <a:ext cx="1216152" cy="530352"/>
          </a:xfrm>
          <a:prstGeom prst="roundRect">
            <a:avLst>
              <a:gd name="adj" fmla="val 6000"/>
            </a:avLst>
          </a:prstGeom>
          <a:noFill/>
          <a:ln w="7620">
            <a:solidFill>
              <a:srgbClr val="007A5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450592"/>
            <a:ext cx="132588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20 сом</a:t>
            </a:r>
          </a:p>
        </p:txBody>
      </p:sp>
      <p:sp>
        <p:nvSpPr>
          <p:cNvPr id="16" name="Rounded Rectangle 15"/>
          <p:cNvSpPr/>
          <p:nvPr/>
        </p:nvSpPr>
        <p:spPr>
          <a:xfrm>
            <a:off x="1938528" y="2450592"/>
            <a:ext cx="1325880" cy="640080"/>
          </a:xfrm>
          <a:prstGeom prst="roundRect">
            <a:avLst>
              <a:gd name="adj" fmla="val 8000"/>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993392" y="2505456"/>
            <a:ext cx="1216152" cy="530352"/>
          </a:xfrm>
          <a:prstGeom prst="roundRect">
            <a:avLst>
              <a:gd name="adj" fmla="val 6000"/>
            </a:avLst>
          </a:prstGeom>
          <a:noFill/>
          <a:ln w="7620">
            <a:solidFill>
              <a:srgbClr val="007A5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938528" y="2450592"/>
            <a:ext cx="132588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50 сом</a:t>
            </a:r>
          </a:p>
        </p:txBody>
      </p:sp>
      <p:sp>
        <p:nvSpPr>
          <p:cNvPr id="19" name="Rounded Rectangle 18"/>
          <p:cNvSpPr/>
          <p:nvPr/>
        </p:nvSpPr>
        <p:spPr>
          <a:xfrm>
            <a:off x="3374136" y="2450592"/>
            <a:ext cx="1325880" cy="640080"/>
          </a:xfrm>
          <a:prstGeom prst="roundRect">
            <a:avLst>
              <a:gd name="adj" fmla="val 8000"/>
            </a:avLst>
          </a:prstGeom>
          <a:solidFill>
            <a:srgbClr val="F2C9AC"/>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429000" y="2505456"/>
            <a:ext cx="1216152" cy="530352"/>
          </a:xfrm>
          <a:prstGeom prst="roundRect">
            <a:avLst>
              <a:gd name="adj" fmla="val 6000"/>
            </a:avLst>
          </a:prstGeom>
          <a:noFill/>
          <a:ln w="7620">
            <a:solidFill>
              <a:srgbClr val="A844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374136" y="2450592"/>
            <a:ext cx="132588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100 сом</a:t>
            </a:r>
          </a:p>
        </p:txBody>
      </p:sp>
      <p:sp>
        <p:nvSpPr>
          <p:cNvPr id="22" name="Rounded Rectangle 21"/>
          <p:cNvSpPr/>
          <p:nvPr/>
        </p:nvSpPr>
        <p:spPr>
          <a:xfrm>
            <a:off x="4809744" y="2450592"/>
            <a:ext cx="1325880" cy="640080"/>
          </a:xfrm>
          <a:prstGeom prst="roundRect">
            <a:avLst>
              <a:gd name="adj" fmla="val 8000"/>
            </a:avLst>
          </a:prstGeom>
          <a:solidFill>
            <a:srgbClr val="F2C9AC"/>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864608" y="2505456"/>
            <a:ext cx="1216152" cy="530352"/>
          </a:xfrm>
          <a:prstGeom prst="roundRect">
            <a:avLst>
              <a:gd name="adj" fmla="val 6000"/>
            </a:avLst>
          </a:prstGeom>
          <a:noFill/>
          <a:ln w="7620">
            <a:solidFill>
              <a:srgbClr val="A844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809744" y="2450592"/>
            <a:ext cx="132588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200 сом</a:t>
            </a:r>
          </a:p>
        </p:txBody>
      </p:sp>
      <p:sp>
        <p:nvSpPr>
          <p:cNvPr id="25" name="Rounded Rectangle 24"/>
          <p:cNvSpPr/>
          <p:nvPr/>
        </p:nvSpPr>
        <p:spPr>
          <a:xfrm>
            <a:off x="6245352" y="2450592"/>
            <a:ext cx="1325880" cy="640080"/>
          </a:xfrm>
          <a:prstGeom prst="roundRect">
            <a:avLst>
              <a:gd name="adj" fmla="val 8000"/>
            </a:avLst>
          </a:prstGeom>
          <a:solidFill>
            <a:srgbClr val="BFCBE9"/>
          </a:solid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00216" y="2505456"/>
            <a:ext cx="1216152" cy="530352"/>
          </a:xfrm>
          <a:prstGeom prst="roundRect">
            <a:avLst>
              <a:gd name="adj" fmla="val 6000"/>
            </a:avLst>
          </a:prstGeom>
          <a:noFill/>
          <a:ln w="7620">
            <a:solidFill>
              <a:srgbClr val="24418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45352" y="2450592"/>
            <a:ext cx="132588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500" b="1">
                <a:solidFill>
                  <a:srgbClr val="1F2430"/>
                </a:solidFill>
                <a:latin typeface="PT Sans"/>
              </a:rPr>
              <a:t>500 сом</a:t>
            </a:r>
          </a:p>
        </p:txBody>
      </p:sp>
      <p:sp>
        <p:nvSpPr>
          <p:cNvPr id="28" name="TextBox 27"/>
          <p:cNvSpPr txBox="1"/>
          <p:nvPr/>
        </p:nvSpPr>
        <p:spPr>
          <a:xfrm>
            <a:off x="502920" y="3246120"/>
            <a:ext cx="5486400" cy="320040"/>
          </a:xfrm>
          <a:prstGeom prst="rect">
            <a:avLst/>
          </a:prstGeom>
          <a:noFill/>
        </p:spPr>
        <p:txBody>
          <a:bodyPr wrap="square" anchor="t" lIns="45720" rIns="45720" tIns="27432" bIns="27432">
            <a:spAutoFit/>
          </a:bodyPr>
          <a:lstStyle/>
          <a:p>
            <a:pPr algn="l">
              <a:lnSpc>
                <a:spcPct val="105000"/>
              </a:lnSpc>
            </a:pPr>
            <a:r>
              <a:rPr sz="1500" b="1" i="0">
                <a:solidFill>
                  <a:srgbClr val="1D3557"/>
                </a:solidFill>
                <a:latin typeface="PT Sans"/>
              </a:rPr>
              <a:t>Тыйындар (капкактар)</a:t>
            </a:r>
          </a:p>
        </p:txBody>
      </p:sp>
      <p:sp>
        <p:nvSpPr>
          <p:cNvPr id="29" name="Oval 28"/>
          <p:cNvSpPr/>
          <p:nvPr/>
        </p:nvSpPr>
        <p:spPr>
          <a:xfrm>
            <a:off x="502920" y="3584448"/>
            <a:ext cx="713232" cy="713232"/>
          </a:xfrm>
          <a:prstGeom prst="ellipse">
            <a:avLst/>
          </a:prstGeom>
          <a:solidFill>
            <a:srgbClr val="FFFFFF"/>
          </a:solidFill>
          <a:ln w="1905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48640" y="3630168"/>
            <a:ext cx="621792" cy="621792"/>
          </a:xfrm>
          <a:prstGeom prst="ellipse">
            <a:avLst/>
          </a:prstGeom>
          <a:noFill/>
          <a:ln w="762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3694175"/>
            <a:ext cx="896112" cy="27432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1</a:t>
            </a:r>
          </a:p>
        </p:txBody>
      </p:sp>
      <p:sp>
        <p:nvSpPr>
          <p:cNvPr id="32" name="TextBox 31"/>
          <p:cNvSpPr txBox="1"/>
          <p:nvPr/>
        </p:nvSpPr>
        <p:spPr>
          <a:xfrm>
            <a:off x="411480" y="3922776"/>
            <a:ext cx="896112" cy="228600"/>
          </a:xfrm>
          <a:prstGeom prst="rect">
            <a:avLst/>
          </a:prstGeom>
          <a:noFill/>
        </p:spPr>
        <p:txBody>
          <a:bodyPr wrap="square" anchor="t" lIns="45720" rIns="45720" tIns="27432" bIns="27432">
            <a:spAutoFit/>
          </a:bodyPr>
          <a:lstStyle/>
          <a:p>
            <a:pPr algn="ctr">
              <a:lnSpc>
                <a:spcPct val="105000"/>
              </a:lnSpc>
            </a:pPr>
            <a:r>
              <a:rPr sz="900" b="0" i="0">
                <a:solidFill>
                  <a:srgbClr val="4A5A70"/>
                </a:solidFill>
                <a:latin typeface="PT Sans"/>
              </a:rPr>
              <a:t>сом</a:t>
            </a:r>
          </a:p>
        </p:txBody>
      </p:sp>
      <p:sp>
        <p:nvSpPr>
          <p:cNvPr id="33" name="Oval 32"/>
          <p:cNvSpPr/>
          <p:nvPr/>
        </p:nvSpPr>
        <p:spPr>
          <a:xfrm>
            <a:off x="1508760" y="3584448"/>
            <a:ext cx="713232" cy="713232"/>
          </a:xfrm>
          <a:prstGeom prst="ellipse">
            <a:avLst/>
          </a:prstGeom>
          <a:solidFill>
            <a:srgbClr val="FFFFFF"/>
          </a:solidFill>
          <a:ln w="1905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554480" y="3630168"/>
            <a:ext cx="621792" cy="621792"/>
          </a:xfrm>
          <a:prstGeom prst="ellipse">
            <a:avLst/>
          </a:prstGeom>
          <a:noFill/>
          <a:ln w="762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417320" y="3694175"/>
            <a:ext cx="896112" cy="27432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3</a:t>
            </a:r>
          </a:p>
        </p:txBody>
      </p:sp>
      <p:sp>
        <p:nvSpPr>
          <p:cNvPr id="36" name="TextBox 35"/>
          <p:cNvSpPr txBox="1"/>
          <p:nvPr/>
        </p:nvSpPr>
        <p:spPr>
          <a:xfrm>
            <a:off x="1417320" y="3922776"/>
            <a:ext cx="896112" cy="228600"/>
          </a:xfrm>
          <a:prstGeom prst="rect">
            <a:avLst/>
          </a:prstGeom>
          <a:noFill/>
        </p:spPr>
        <p:txBody>
          <a:bodyPr wrap="square" anchor="t" lIns="45720" rIns="45720" tIns="27432" bIns="27432">
            <a:spAutoFit/>
          </a:bodyPr>
          <a:lstStyle/>
          <a:p>
            <a:pPr algn="ctr">
              <a:lnSpc>
                <a:spcPct val="105000"/>
              </a:lnSpc>
            </a:pPr>
            <a:r>
              <a:rPr sz="900" b="0" i="0">
                <a:solidFill>
                  <a:srgbClr val="4A5A70"/>
                </a:solidFill>
                <a:latin typeface="PT Sans"/>
              </a:rPr>
              <a:t>сом</a:t>
            </a:r>
          </a:p>
        </p:txBody>
      </p:sp>
      <p:sp>
        <p:nvSpPr>
          <p:cNvPr id="37" name="Oval 36"/>
          <p:cNvSpPr/>
          <p:nvPr/>
        </p:nvSpPr>
        <p:spPr>
          <a:xfrm>
            <a:off x="2514600" y="3584448"/>
            <a:ext cx="713232" cy="713232"/>
          </a:xfrm>
          <a:prstGeom prst="ellipse">
            <a:avLst/>
          </a:prstGeom>
          <a:solidFill>
            <a:srgbClr val="FFFFFF"/>
          </a:solidFill>
          <a:ln w="1905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560320" y="3630168"/>
            <a:ext cx="621792" cy="621792"/>
          </a:xfrm>
          <a:prstGeom prst="ellipse">
            <a:avLst/>
          </a:prstGeom>
          <a:noFill/>
          <a:ln w="762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423160" y="3694175"/>
            <a:ext cx="896112" cy="27432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5</a:t>
            </a:r>
          </a:p>
        </p:txBody>
      </p:sp>
      <p:sp>
        <p:nvSpPr>
          <p:cNvPr id="40" name="TextBox 39"/>
          <p:cNvSpPr txBox="1"/>
          <p:nvPr/>
        </p:nvSpPr>
        <p:spPr>
          <a:xfrm>
            <a:off x="2423160" y="3922776"/>
            <a:ext cx="896112" cy="228600"/>
          </a:xfrm>
          <a:prstGeom prst="rect">
            <a:avLst/>
          </a:prstGeom>
          <a:noFill/>
        </p:spPr>
        <p:txBody>
          <a:bodyPr wrap="square" anchor="t" lIns="45720" rIns="45720" tIns="27432" bIns="27432">
            <a:spAutoFit/>
          </a:bodyPr>
          <a:lstStyle/>
          <a:p>
            <a:pPr algn="ctr">
              <a:lnSpc>
                <a:spcPct val="105000"/>
              </a:lnSpc>
            </a:pPr>
            <a:r>
              <a:rPr sz="900" b="0" i="0">
                <a:solidFill>
                  <a:srgbClr val="4A5A70"/>
                </a:solidFill>
                <a:latin typeface="PT Sans"/>
              </a:rPr>
              <a:t>сом</a:t>
            </a:r>
          </a:p>
        </p:txBody>
      </p:sp>
      <p:sp>
        <p:nvSpPr>
          <p:cNvPr id="41" name="Oval 40"/>
          <p:cNvSpPr/>
          <p:nvPr/>
        </p:nvSpPr>
        <p:spPr>
          <a:xfrm>
            <a:off x="3520440" y="3584448"/>
            <a:ext cx="713232" cy="713232"/>
          </a:xfrm>
          <a:prstGeom prst="ellipse">
            <a:avLst/>
          </a:prstGeom>
          <a:solidFill>
            <a:srgbClr val="FFFFFF"/>
          </a:solidFill>
          <a:ln w="1905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566160" y="3630168"/>
            <a:ext cx="621792" cy="621792"/>
          </a:xfrm>
          <a:prstGeom prst="ellipse">
            <a:avLst/>
          </a:prstGeom>
          <a:noFill/>
          <a:ln w="7620">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29000" y="3694175"/>
            <a:ext cx="896112" cy="27432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10</a:t>
            </a:r>
          </a:p>
        </p:txBody>
      </p:sp>
      <p:sp>
        <p:nvSpPr>
          <p:cNvPr id="44" name="TextBox 43"/>
          <p:cNvSpPr txBox="1"/>
          <p:nvPr/>
        </p:nvSpPr>
        <p:spPr>
          <a:xfrm>
            <a:off x="3429000" y="3922776"/>
            <a:ext cx="896112" cy="228600"/>
          </a:xfrm>
          <a:prstGeom prst="rect">
            <a:avLst/>
          </a:prstGeom>
          <a:noFill/>
        </p:spPr>
        <p:txBody>
          <a:bodyPr wrap="square" anchor="t" lIns="45720" rIns="45720" tIns="27432" bIns="27432">
            <a:spAutoFit/>
          </a:bodyPr>
          <a:lstStyle/>
          <a:p>
            <a:pPr algn="ctr">
              <a:lnSpc>
                <a:spcPct val="105000"/>
              </a:lnSpc>
            </a:pPr>
            <a:r>
              <a:rPr sz="900" b="0" i="0">
                <a:solidFill>
                  <a:srgbClr val="4A5A70"/>
                </a:solidFill>
                <a:latin typeface="PT Sans"/>
              </a:rPr>
              <a:t>сом</a:t>
            </a:r>
          </a:p>
        </p:txBody>
      </p:sp>
      <p:sp>
        <p:nvSpPr>
          <p:cNvPr id="45" name="Oval 44"/>
          <p:cNvSpPr/>
          <p:nvPr/>
        </p:nvSpPr>
        <p:spPr>
          <a:xfrm>
            <a:off x="4526280" y="3584448"/>
            <a:ext cx="713232" cy="713232"/>
          </a:xfrm>
          <a:prstGeom prst="ellipse">
            <a:avLst/>
          </a:prstGeom>
          <a:solidFill>
            <a:srgbClr val="FFFFFF"/>
          </a:solid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572000" y="3630168"/>
            <a:ext cx="621792" cy="621792"/>
          </a:xfrm>
          <a:prstGeom prst="ellipse">
            <a:avLst/>
          </a:prstGeom>
          <a:noFill/>
          <a:ln w="76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434840" y="3694175"/>
            <a:ext cx="896112" cy="27432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10</a:t>
            </a:r>
          </a:p>
        </p:txBody>
      </p:sp>
      <p:sp>
        <p:nvSpPr>
          <p:cNvPr id="48" name="TextBox 47"/>
          <p:cNvSpPr txBox="1"/>
          <p:nvPr/>
        </p:nvSpPr>
        <p:spPr>
          <a:xfrm>
            <a:off x="4434840" y="3922776"/>
            <a:ext cx="896112" cy="228600"/>
          </a:xfrm>
          <a:prstGeom prst="rect">
            <a:avLst/>
          </a:prstGeom>
          <a:noFill/>
        </p:spPr>
        <p:txBody>
          <a:bodyPr wrap="square" anchor="t" lIns="45720" rIns="45720" tIns="27432" bIns="27432">
            <a:spAutoFit/>
          </a:bodyPr>
          <a:lstStyle/>
          <a:p>
            <a:pPr algn="ctr">
              <a:lnSpc>
                <a:spcPct val="105000"/>
              </a:lnSpc>
            </a:pPr>
            <a:r>
              <a:rPr sz="900" b="0" i="0">
                <a:solidFill>
                  <a:srgbClr val="4A5A70"/>
                </a:solidFill>
                <a:latin typeface="PT Sans"/>
              </a:rPr>
              <a:t>тыйын</a:t>
            </a:r>
          </a:p>
        </p:txBody>
      </p:sp>
      <p:sp>
        <p:nvSpPr>
          <p:cNvPr id="49" name="Oval 48"/>
          <p:cNvSpPr/>
          <p:nvPr/>
        </p:nvSpPr>
        <p:spPr>
          <a:xfrm>
            <a:off x="5532120" y="3584448"/>
            <a:ext cx="713232" cy="713232"/>
          </a:xfrm>
          <a:prstGeom prst="ellipse">
            <a:avLst/>
          </a:prstGeom>
          <a:solidFill>
            <a:srgbClr val="FFFFFF"/>
          </a:solid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577840" y="3630168"/>
            <a:ext cx="621792" cy="621792"/>
          </a:xfrm>
          <a:prstGeom prst="ellipse">
            <a:avLst/>
          </a:prstGeom>
          <a:noFill/>
          <a:ln w="76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40680" y="3694175"/>
            <a:ext cx="896112" cy="274320"/>
          </a:xfrm>
          <a:prstGeom prst="rect">
            <a:avLst/>
          </a:prstGeom>
          <a:noFill/>
        </p:spPr>
        <p:txBody>
          <a:bodyPr wrap="square" anchor="t" lIns="45720" rIns="45720" tIns="27432" bIns="27432">
            <a:spAutoFit/>
          </a:bodyPr>
          <a:lstStyle/>
          <a:p>
            <a:pPr algn="ctr">
              <a:lnSpc>
                <a:spcPct val="105000"/>
              </a:lnSpc>
            </a:pPr>
            <a:r>
              <a:rPr sz="1400" b="1" i="0">
                <a:solidFill>
                  <a:srgbClr val="1F2430"/>
                </a:solidFill>
                <a:latin typeface="PT Sans"/>
              </a:rPr>
              <a:t>50</a:t>
            </a:r>
          </a:p>
        </p:txBody>
      </p:sp>
      <p:sp>
        <p:nvSpPr>
          <p:cNvPr id="52" name="TextBox 51"/>
          <p:cNvSpPr txBox="1"/>
          <p:nvPr/>
        </p:nvSpPr>
        <p:spPr>
          <a:xfrm>
            <a:off x="5440680" y="3922776"/>
            <a:ext cx="896112" cy="228600"/>
          </a:xfrm>
          <a:prstGeom prst="rect">
            <a:avLst/>
          </a:prstGeom>
          <a:noFill/>
        </p:spPr>
        <p:txBody>
          <a:bodyPr wrap="square" anchor="t" lIns="45720" rIns="45720" tIns="27432" bIns="27432">
            <a:spAutoFit/>
          </a:bodyPr>
          <a:lstStyle/>
          <a:p>
            <a:pPr algn="ctr">
              <a:lnSpc>
                <a:spcPct val="105000"/>
              </a:lnSpc>
            </a:pPr>
            <a:r>
              <a:rPr sz="900" b="0" i="0">
                <a:solidFill>
                  <a:srgbClr val="4A5A70"/>
                </a:solidFill>
                <a:latin typeface="PT Sans"/>
              </a:rPr>
              <a:t>тыйын</a:t>
            </a:r>
          </a:p>
        </p:txBody>
      </p:sp>
      <p:sp>
        <p:nvSpPr>
          <p:cNvPr id="53" name="TextBox 52"/>
          <p:cNvSpPr txBox="1"/>
          <p:nvPr/>
        </p:nvSpPr>
        <p:spPr>
          <a:xfrm>
            <a:off x="502920" y="4434840"/>
            <a:ext cx="3657600" cy="320040"/>
          </a:xfrm>
          <a:prstGeom prst="rect">
            <a:avLst/>
          </a:prstGeom>
          <a:noFill/>
        </p:spPr>
        <p:txBody>
          <a:bodyPr wrap="square" anchor="t" lIns="45720" rIns="45720" tIns="27432" bIns="27432">
            <a:spAutoFit/>
          </a:bodyPr>
          <a:lstStyle/>
          <a:p>
            <a:pPr algn="l">
              <a:lnSpc>
                <a:spcPct val="105000"/>
              </a:lnSpc>
            </a:pPr>
            <a:r>
              <a:rPr sz="1500" b="1" i="0">
                <a:solidFill>
                  <a:srgbClr val="1D3557"/>
                </a:solidFill>
                <a:latin typeface="PT Sans"/>
              </a:rPr>
              <a:t>Дүкөндөгү баалар</a:t>
            </a:r>
          </a:p>
        </p:txBody>
      </p:sp>
      <p:sp>
        <p:nvSpPr>
          <p:cNvPr id="54" name="Rounded Rectangle 53"/>
          <p:cNvSpPr/>
          <p:nvPr/>
        </p:nvSpPr>
        <p:spPr>
          <a:xfrm>
            <a:off x="502920" y="4773168"/>
            <a:ext cx="2331720" cy="566928"/>
          </a:xfrm>
          <a:prstGeom prst="roundRect">
            <a:avLst>
              <a:gd name="adj" fmla="val 15000"/>
            </a:avLst>
          </a:prstGeom>
          <a:solidFill>
            <a:srgbClr val="FFFFFF"/>
          </a:solidFill>
          <a:ln w="1587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594360" y="4983480"/>
            <a:ext cx="146304" cy="146304"/>
          </a:xfrm>
          <a:prstGeom prst="ellipse">
            <a:avLst/>
          </a:prstGeom>
          <a:noFill/>
          <a:ln w="127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95528" y="4773168"/>
            <a:ext cx="1965960" cy="566928"/>
          </a:xfrm>
          <a:prstGeom prst="rect">
            <a:avLst/>
          </a:prstGeom>
          <a:noFill/>
        </p:spPr>
        <p:txBody>
          <a:bodyPr wrap="square" anchor="ctr" lIns="45720" rIns="45720" tIns="27432" bIns="27432">
            <a:spAutoFit/>
          </a:bodyPr>
          <a:lstStyle/>
          <a:p>
            <a:pPr algn="l">
              <a:lnSpc>
                <a:spcPct val="95000"/>
              </a:lnSpc>
            </a:pPr>
            <a:r>
              <a:rPr sz="1300" b="0" i="0">
                <a:solidFill>
                  <a:srgbClr val="4A5A70"/>
                </a:solidFill>
                <a:latin typeface="PT Sans"/>
              </a:rPr>
              <a:t>Дептер</a:t>
            </a:r>
          </a:p>
          <a:p>
            <a:pPr algn="l">
              <a:lnSpc>
                <a:spcPct val="95000"/>
              </a:lnSpc>
            </a:pPr>
            <a:r>
              <a:rPr sz="1600" b="1" i="0">
                <a:solidFill>
                  <a:srgbClr val="1D3557"/>
                </a:solidFill>
                <a:latin typeface="PT Sans"/>
              </a:rPr>
              <a:t>25 сом</a:t>
            </a:r>
          </a:p>
        </p:txBody>
      </p:sp>
      <p:sp>
        <p:nvSpPr>
          <p:cNvPr id="57" name="Rounded Rectangle 56"/>
          <p:cNvSpPr/>
          <p:nvPr/>
        </p:nvSpPr>
        <p:spPr>
          <a:xfrm>
            <a:off x="3017520" y="4773168"/>
            <a:ext cx="2331720" cy="566928"/>
          </a:xfrm>
          <a:prstGeom prst="roundRect">
            <a:avLst>
              <a:gd name="adj" fmla="val 15000"/>
            </a:avLst>
          </a:prstGeom>
          <a:solidFill>
            <a:srgbClr val="FFFFFF"/>
          </a:solidFill>
          <a:ln w="1587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3108960" y="4983480"/>
            <a:ext cx="146304" cy="146304"/>
          </a:xfrm>
          <a:prstGeom prst="ellipse">
            <a:avLst/>
          </a:prstGeom>
          <a:noFill/>
          <a:ln w="127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10127" y="4773168"/>
            <a:ext cx="1965960" cy="566928"/>
          </a:xfrm>
          <a:prstGeom prst="rect">
            <a:avLst/>
          </a:prstGeom>
          <a:noFill/>
        </p:spPr>
        <p:txBody>
          <a:bodyPr wrap="square" anchor="ctr" lIns="45720" rIns="45720" tIns="27432" bIns="27432">
            <a:spAutoFit/>
          </a:bodyPr>
          <a:lstStyle/>
          <a:p>
            <a:pPr algn="l">
              <a:lnSpc>
                <a:spcPct val="95000"/>
              </a:lnSpc>
            </a:pPr>
            <a:r>
              <a:rPr sz="1300" b="0" i="0">
                <a:solidFill>
                  <a:srgbClr val="4A5A70"/>
                </a:solidFill>
                <a:latin typeface="PT Sans"/>
              </a:rPr>
              <a:t>Пачка: 5 дептер</a:t>
            </a:r>
          </a:p>
          <a:p>
            <a:pPr algn="l">
              <a:lnSpc>
                <a:spcPct val="95000"/>
              </a:lnSpc>
            </a:pPr>
            <a:r>
              <a:rPr sz="1600" b="1" i="0">
                <a:solidFill>
                  <a:srgbClr val="1D3557"/>
                </a:solidFill>
                <a:latin typeface="PT Sans"/>
              </a:rPr>
              <a:t>110 сом</a:t>
            </a:r>
          </a:p>
        </p:txBody>
      </p:sp>
      <p:sp>
        <p:nvSpPr>
          <p:cNvPr id="60" name="Rounded Rectangle 59"/>
          <p:cNvSpPr/>
          <p:nvPr/>
        </p:nvSpPr>
        <p:spPr>
          <a:xfrm>
            <a:off x="5532120" y="4773168"/>
            <a:ext cx="2331720" cy="566928"/>
          </a:xfrm>
          <a:prstGeom prst="roundRect">
            <a:avLst>
              <a:gd name="adj" fmla="val 15000"/>
            </a:avLst>
          </a:prstGeom>
          <a:solidFill>
            <a:srgbClr val="FFFFFF"/>
          </a:solidFill>
          <a:ln w="1587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623559" y="4983480"/>
            <a:ext cx="146304" cy="146304"/>
          </a:xfrm>
          <a:prstGeom prst="ellipse">
            <a:avLst/>
          </a:prstGeom>
          <a:noFill/>
          <a:ln w="127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824728" y="4773168"/>
            <a:ext cx="1965960" cy="566928"/>
          </a:xfrm>
          <a:prstGeom prst="rect">
            <a:avLst/>
          </a:prstGeom>
          <a:noFill/>
        </p:spPr>
        <p:txBody>
          <a:bodyPr wrap="square" anchor="ctr" lIns="45720" rIns="45720" tIns="27432" bIns="27432">
            <a:spAutoFit/>
          </a:bodyPr>
          <a:lstStyle/>
          <a:p>
            <a:pPr algn="l">
              <a:lnSpc>
                <a:spcPct val="95000"/>
              </a:lnSpc>
            </a:pPr>
            <a:r>
              <a:rPr sz="1300" b="0" i="0">
                <a:solidFill>
                  <a:srgbClr val="4A5A70"/>
                </a:solidFill>
                <a:latin typeface="PT Sans"/>
              </a:rPr>
              <a:t>Калем</a:t>
            </a:r>
          </a:p>
          <a:p>
            <a:pPr algn="l">
              <a:lnSpc>
                <a:spcPct val="95000"/>
              </a:lnSpc>
            </a:pPr>
            <a:r>
              <a:rPr sz="1600" b="1" i="0">
                <a:solidFill>
                  <a:srgbClr val="1D3557"/>
                </a:solidFill>
                <a:latin typeface="PT Sans"/>
              </a:rPr>
              <a:t>30 сом</a:t>
            </a:r>
          </a:p>
        </p:txBody>
      </p:sp>
      <p:sp>
        <p:nvSpPr>
          <p:cNvPr id="63" name="TextBox 62"/>
          <p:cNvSpPr txBox="1"/>
          <p:nvPr/>
        </p:nvSpPr>
        <p:spPr>
          <a:xfrm>
            <a:off x="502920" y="5486400"/>
            <a:ext cx="7863840" cy="365760"/>
          </a:xfrm>
          <a:prstGeom prst="rect">
            <a:avLst/>
          </a:prstGeom>
          <a:noFill/>
        </p:spPr>
        <p:txBody>
          <a:bodyPr wrap="square" anchor="t" lIns="45720" rIns="45720" tIns="27432" bIns="27432">
            <a:spAutoFit/>
          </a:bodyPr>
          <a:lstStyle/>
          <a:p>
            <a:pPr algn="l">
              <a:lnSpc>
                <a:spcPct val="105000"/>
              </a:lnSpc>
            </a:pPr>
            <a:r>
              <a:rPr sz="1600" b="0" i="1">
                <a:solidFill>
                  <a:srgbClr val="4A5A70"/>
                </a:solidFill>
                <a:latin typeface="PT Sans"/>
              </a:rPr>
              <a:t>Сатуучу кайтарымды толуктап санайт: 310 → 330 → 350 → 400 → 500.</a:t>
            </a:r>
          </a:p>
        </p:txBody>
      </p:sp>
      <p:sp>
        <p:nvSpPr>
          <p:cNvPr id="64" name="Rounded Rectangle 63"/>
          <p:cNvSpPr/>
          <p:nvPr/>
        </p:nvSpPr>
        <p:spPr>
          <a:xfrm>
            <a:off x="9006840" y="2103120"/>
            <a:ext cx="2743200" cy="374903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144000" y="2176272"/>
            <a:ext cx="2514600" cy="3611880"/>
          </a:xfrm>
          <a:prstGeom prst="rect">
            <a:avLst/>
          </a:prstGeom>
          <a:noFill/>
        </p:spPr>
        <p:txBody>
          <a:bodyPr wrap="square" anchor="t" lIns="45720" rIns="45720" tIns="27432" bIns="27432">
            <a:spAutoFit/>
          </a:bodyPr>
          <a:lstStyle/>
          <a:p>
            <a:pPr algn="l">
              <a:lnSpc>
                <a:spcPct val="108000"/>
              </a:lnSpc>
            </a:pPr>
            <a:r>
              <a:rPr sz="1800" b="1" i="0">
                <a:solidFill>
                  <a:srgbClr val="1F2430"/>
                </a:solidFill>
                <a:latin typeface="PT Sans"/>
              </a:rPr>
              <a:t>Ар бир жупта:</a:t>
            </a:r>
          </a:p>
          <a:p>
            <a:pPr algn="l">
              <a:lnSpc>
                <a:spcPct val="108000"/>
              </a:lnSpc>
            </a:pPr>
            <a:r>
              <a:rPr sz="1400" b="0" i="0">
                <a:solidFill>
                  <a:srgbClr val="1F2430"/>
                </a:solidFill>
                <a:latin typeface="PT Sans"/>
              </a:rPr>
              <a:t>• кагаздан кесилген акчалар: 20, 50, 100, 200, 500 сом</a:t>
            </a:r>
          </a:p>
          <a:p>
            <a:pPr algn="l">
              <a:lnSpc>
                <a:spcPct val="108000"/>
              </a:lnSpc>
            </a:pPr>
            <a:r>
              <a:rPr sz="1400" b="0" i="0">
                <a:solidFill>
                  <a:srgbClr val="1F2430"/>
                </a:solidFill>
                <a:latin typeface="PT Sans"/>
              </a:rPr>
              <a:t>• капкак тыйындар: 1, 3, 5, 10 сом; 10, 50 тыйын</a:t>
            </a:r>
          </a:p>
          <a:p>
            <a:pPr algn="l">
              <a:lnSpc>
                <a:spcPct val="108000"/>
              </a:lnSpc>
            </a:pPr>
            <a:r>
              <a:rPr sz="1400" b="0" i="0">
                <a:solidFill>
                  <a:srgbClr val="1F2430"/>
                </a:solidFill>
                <a:latin typeface="PT Sans"/>
              </a:rPr>
              <a:t>• баа жазылган 3–4 карточка</a:t>
            </a:r>
          </a:p>
          <a:p>
            <a:pPr algn="l">
              <a:lnSpc>
                <a:spcPct val="108000"/>
              </a:lnSpc>
            </a:pPr>
            <a:r>
              <a:rPr sz="1400" b="0" i="0">
                <a:solidFill>
                  <a:srgbClr val="1F2430"/>
                </a:solidFill>
                <a:latin typeface="PT Sans"/>
              </a:rPr>
              <a:t>• мини-такта</a:t>
            </a:r>
          </a:p>
          <a:p>
            <a:pPr algn="l">
              <a:lnSpc>
                <a:spcPct val="108000"/>
              </a:lnSpc>
            </a:pPr>
            <a:r>
              <a:rPr sz="1700" b="1" i="0">
                <a:solidFill>
                  <a:srgbClr val="24418C"/>
                </a:solidFill>
                <a:latin typeface="PT Sans"/>
              </a:rPr>
              <a:t>1 сом = 100 тыйын</a:t>
            </a:r>
          </a:p>
        </p:txBody>
      </p:sp>
      <p:sp>
        <p:nvSpPr>
          <p:cNvPr id="66" name="Rounded Rectangle 65"/>
          <p:cNvSpPr/>
          <p:nvPr/>
        </p:nvSpPr>
        <p:spPr>
          <a:xfrm>
            <a:off x="8412480"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К</a:t>
            </a:r>
          </a:p>
        </p:txBody>
      </p:sp>
      <p:sp>
        <p:nvSpPr>
          <p:cNvPr id="67" name="Rounded Rectangle 66"/>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68" name="Rounded Rectangle 67"/>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 тилке жана толуктап саноо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500 сом = дептер + калем + кайтарым. Кассир кайтарымды баадан баштап толуктап санайт.</a:t>
            </a:r>
          </a:p>
        </p:txBody>
      </p:sp>
      <p:sp>
        <p:nvSpPr>
          <p:cNvPr id="12" name="TextBox 11"/>
          <p:cNvSpPr txBox="1"/>
          <p:nvPr/>
        </p:nvSpPr>
        <p:spPr>
          <a:xfrm>
            <a:off x="914400" y="2057400"/>
            <a:ext cx="2743200" cy="274320"/>
          </a:xfrm>
          <a:prstGeom prst="rect">
            <a:avLst/>
          </a:prstGeom>
          <a:noFill/>
        </p:spPr>
        <p:txBody>
          <a:bodyPr wrap="square" anchor="t" lIns="45720" rIns="45720" tIns="27432" bIns="27432">
            <a:spAutoFit/>
          </a:bodyPr>
          <a:lstStyle/>
          <a:p>
            <a:pPr algn="l">
              <a:lnSpc>
                <a:spcPct val="105000"/>
              </a:lnSpc>
            </a:pPr>
            <a:r>
              <a:rPr sz="1500" b="1" i="0">
                <a:solidFill>
                  <a:srgbClr val="1D3557"/>
                </a:solidFill>
                <a:latin typeface="PT Sans"/>
              </a:rPr>
              <a:t>Тилке модели</a:t>
            </a:r>
          </a:p>
        </p:txBody>
      </p:sp>
      <p:sp>
        <p:nvSpPr>
          <p:cNvPr id="13" name="Rectangle 12"/>
          <p:cNvSpPr/>
          <p:nvPr/>
        </p:nvSpPr>
        <p:spPr>
          <a:xfrm>
            <a:off x="914400" y="2651760"/>
            <a:ext cx="4546396" cy="56692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F2430"/>
                </a:solidFill>
                <a:latin typeface="PT Sans"/>
              </a:rPr>
              <a:t>2 пачка дептер: 220</a:t>
            </a:r>
          </a:p>
        </p:txBody>
      </p:sp>
      <p:sp>
        <p:nvSpPr>
          <p:cNvPr id="14" name="Rectangle 13"/>
          <p:cNvSpPr/>
          <p:nvPr/>
        </p:nvSpPr>
        <p:spPr>
          <a:xfrm>
            <a:off x="5460796" y="2651760"/>
            <a:ext cx="1859889" cy="56692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F2430"/>
                </a:solidFill>
                <a:latin typeface="PT Sans"/>
              </a:rPr>
              <a:t>3 калем: 90</a:t>
            </a:r>
          </a:p>
        </p:txBody>
      </p:sp>
      <p:sp>
        <p:nvSpPr>
          <p:cNvPr id="15" name="Rectangle 14"/>
          <p:cNvSpPr/>
          <p:nvPr/>
        </p:nvSpPr>
        <p:spPr>
          <a:xfrm>
            <a:off x="7320686" y="2651760"/>
            <a:ext cx="3926433" cy="56692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6B7280"/>
                </a:solidFill>
                <a:latin typeface="PT Sans"/>
              </a:rPr>
              <a:t>кайтарым: ?</a:t>
            </a:r>
          </a:p>
        </p:txBody>
      </p:sp>
      <p:cxnSp>
        <p:nvCxnSpPr>
          <p:cNvPr id="16" name="Connector 15"/>
          <p:cNvCxnSpPr/>
          <p:nvPr/>
        </p:nvCxnSpPr>
        <p:spPr>
          <a:xfrm>
            <a:off x="914400" y="2514600"/>
            <a:ext cx="1033272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14400" y="2423160"/>
            <a:ext cx="0" cy="182879"/>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1247120" y="2423160"/>
            <a:ext cx="0" cy="182879"/>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09160" y="2148839"/>
            <a:ext cx="2743200" cy="320040"/>
          </a:xfrm>
          <a:prstGeom prst="rect">
            <a:avLst/>
          </a:prstGeom>
          <a:noFill/>
        </p:spPr>
        <p:txBody>
          <a:bodyPr wrap="square" anchor="t" lIns="45720" rIns="45720" tIns="27432" bIns="27432">
            <a:spAutoFit/>
          </a:bodyPr>
          <a:lstStyle/>
          <a:p>
            <a:pPr algn="ctr">
              <a:lnSpc>
                <a:spcPct val="105000"/>
              </a:lnSpc>
            </a:pPr>
            <a:r>
              <a:rPr sz="1800" b="1" i="0">
                <a:solidFill>
                  <a:srgbClr val="A84400"/>
                </a:solidFill>
                <a:latin typeface="PT Sans"/>
              </a:rPr>
              <a:t>500 сом</a:t>
            </a:r>
          </a:p>
        </p:txBody>
      </p:sp>
      <p:sp>
        <p:nvSpPr>
          <p:cNvPr id="20" name="TextBox 19"/>
          <p:cNvSpPr txBox="1"/>
          <p:nvPr/>
        </p:nvSpPr>
        <p:spPr>
          <a:xfrm>
            <a:off x="914400" y="3429000"/>
            <a:ext cx="5486400" cy="274320"/>
          </a:xfrm>
          <a:prstGeom prst="rect">
            <a:avLst/>
          </a:prstGeom>
          <a:noFill/>
        </p:spPr>
        <p:txBody>
          <a:bodyPr wrap="square" anchor="t" lIns="45720" rIns="45720" tIns="27432" bIns="27432">
            <a:spAutoFit/>
          </a:bodyPr>
          <a:lstStyle/>
          <a:p>
            <a:pPr algn="l">
              <a:lnSpc>
                <a:spcPct val="105000"/>
              </a:lnSpc>
            </a:pPr>
            <a:r>
              <a:rPr sz="1500" b="1" i="0">
                <a:solidFill>
                  <a:srgbClr val="1D3557"/>
                </a:solidFill>
                <a:latin typeface="PT Sans"/>
              </a:rPr>
              <a:t>Кассир толуктап санайт</a:t>
            </a:r>
          </a:p>
        </p:txBody>
      </p:sp>
      <p:sp>
        <p:nvSpPr>
          <p:cNvPr id="21" name="Rounded Rectangle 20"/>
          <p:cNvSpPr/>
          <p:nvPr/>
        </p:nvSpPr>
        <p:spPr>
          <a:xfrm>
            <a:off x="1005840" y="3840480"/>
            <a:ext cx="914400" cy="502920"/>
          </a:xfrm>
          <a:prstGeom prst="roundRect">
            <a:avLst>
              <a:gd name="adj" fmla="val 3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310</a:t>
            </a:r>
          </a:p>
        </p:txBody>
      </p:sp>
      <p:cxnSp>
        <p:nvCxnSpPr>
          <p:cNvPr id="22" name="Connector 21"/>
          <p:cNvCxnSpPr/>
          <p:nvPr/>
        </p:nvCxnSpPr>
        <p:spPr>
          <a:xfrm>
            <a:off x="1965960" y="4087368"/>
            <a:ext cx="1508760" cy="0"/>
          </a:xfrm>
          <a:prstGeom prst="line">
            <a:avLst/>
          </a:prstGeom>
          <a:ln w="25400">
            <a:solidFill>
              <a:srgbClr val="007A5A"/>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246120" y="3931920"/>
            <a:ext cx="274320" cy="320040"/>
          </a:xfrm>
          <a:prstGeom prst="rect">
            <a:avLst/>
          </a:prstGeom>
          <a:noFill/>
        </p:spPr>
        <p:txBody>
          <a:bodyPr wrap="square" anchor="t" lIns="45720" rIns="45720" tIns="27432" bIns="27432">
            <a:spAutoFit/>
          </a:bodyPr>
          <a:lstStyle/>
          <a:p>
            <a:pPr algn="l">
              <a:lnSpc>
                <a:spcPct val="105000"/>
              </a:lnSpc>
            </a:pPr>
            <a:r>
              <a:rPr sz="1200" b="0" i="0">
                <a:solidFill>
                  <a:srgbClr val="007A5A"/>
                </a:solidFill>
                <a:latin typeface="PT Sans"/>
              </a:rPr>
              <a:t>▶</a:t>
            </a:r>
          </a:p>
        </p:txBody>
      </p:sp>
      <p:sp>
        <p:nvSpPr>
          <p:cNvPr id="24" name="Rounded Rectangle 23"/>
          <p:cNvSpPr/>
          <p:nvPr/>
        </p:nvSpPr>
        <p:spPr>
          <a:xfrm>
            <a:off x="2057400" y="4526280"/>
            <a:ext cx="1325880" cy="566928"/>
          </a:xfrm>
          <a:prstGeom prst="roundRect">
            <a:avLst>
              <a:gd name="adj" fmla="val 8000"/>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112264" y="4581144"/>
            <a:ext cx="1216152" cy="457200"/>
          </a:xfrm>
          <a:prstGeom prst="roundRect">
            <a:avLst>
              <a:gd name="adj" fmla="val 6000"/>
            </a:avLst>
          </a:prstGeom>
          <a:noFill/>
          <a:ln w="7620">
            <a:solidFill>
              <a:srgbClr val="007A5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057400" y="4526280"/>
            <a:ext cx="1325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F2430"/>
                </a:solidFill>
                <a:latin typeface="PT Sans"/>
              </a:rPr>
              <a:t>20 сом</a:t>
            </a:r>
          </a:p>
        </p:txBody>
      </p:sp>
      <p:sp>
        <p:nvSpPr>
          <p:cNvPr id="27" name="Rounded Rectangle 26"/>
          <p:cNvSpPr/>
          <p:nvPr/>
        </p:nvSpPr>
        <p:spPr>
          <a:xfrm>
            <a:off x="3520440" y="3840480"/>
            <a:ext cx="914400" cy="502920"/>
          </a:xfrm>
          <a:prstGeom prst="roundRect">
            <a:avLst>
              <a:gd name="adj" fmla="val 3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330</a:t>
            </a:r>
          </a:p>
        </p:txBody>
      </p:sp>
      <p:cxnSp>
        <p:nvCxnSpPr>
          <p:cNvPr id="28" name="Connector 27"/>
          <p:cNvCxnSpPr/>
          <p:nvPr/>
        </p:nvCxnSpPr>
        <p:spPr>
          <a:xfrm>
            <a:off x="4480560" y="4087368"/>
            <a:ext cx="1508760" cy="0"/>
          </a:xfrm>
          <a:prstGeom prst="line">
            <a:avLst/>
          </a:prstGeom>
          <a:ln w="25400">
            <a:solidFill>
              <a:srgbClr val="007A5A"/>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760720" y="3931920"/>
            <a:ext cx="274320" cy="320040"/>
          </a:xfrm>
          <a:prstGeom prst="rect">
            <a:avLst/>
          </a:prstGeom>
          <a:noFill/>
        </p:spPr>
        <p:txBody>
          <a:bodyPr wrap="square" anchor="t" lIns="45720" rIns="45720" tIns="27432" bIns="27432">
            <a:spAutoFit/>
          </a:bodyPr>
          <a:lstStyle/>
          <a:p>
            <a:pPr algn="l">
              <a:lnSpc>
                <a:spcPct val="105000"/>
              </a:lnSpc>
            </a:pPr>
            <a:r>
              <a:rPr sz="1200" b="0" i="0">
                <a:solidFill>
                  <a:srgbClr val="007A5A"/>
                </a:solidFill>
                <a:latin typeface="PT Sans"/>
              </a:rPr>
              <a:t>▶</a:t>
            </a:r>
          </a:p>
        </p:txBody>
      </p:sp>
      <p:sp>
        <p:nvSpPr>
          <p:cNvPr id="30" name="Rounded Rectangle 29"/>
          <p:cNvSpPr/>
          <p:nvPr/>
        </p:nvSpPr>
        <p:spPr>
          <a:xfrm>
            <a:off x="4572000" y="4526280"/>
            <a:ext cx="1325880" cy="566928"/>
          </a:xfrm>
          <a:prstGeom prst="roundRect">
            <a:avLst>
              <a:gd name="adj" fmla="val 8000"/>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626864" y="4581144"/>
            <a:ext cx="1216152" cy="457200"/>
          </a:xfrm>
          <a:prstGeom prst="roundRect">
            <a:avLst>
              <a:gd name="adj" fmla="val 6000"/>
            </a:avLst>
          </a:prstGeom>
          <a:noFill/>
          <a:ln w="7620">
            <a:solidFill>
              <a:srgbClr val="007A5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0" y="4526280"/>
            <a:ext cx="1325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F2430"/>
                </a:solidFill>
                <a:latin typeface="PT Sans"/>
              </a:rPr>
              <a:t>20 сом</a:t>
            </a:r>
          </a:p>
        </p:txBody>
      </p:sp>
      <p:sp>
        <p:nvSpPr>
          <p:cNvPr id="33" name="Rounded Rectangle 32"/>
          <p:cNvSpPr/>
          <p:nvPr/>
        </p:nvSpPr>
        <p:spPr>
          <a:xfrm>
            <a:off x="6035040" y="3840480"/>
            <a:ext cx="914400" cy="502920"/>
          </a:xfrm>
          <a:prstGeom prst="roundRect">
            <a:avLst>
              <a:gd name="adj" fmla="val 3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350</a:t>
            </a:r>
          </a:p>
        </p:txBody>
      </p:sp>
      <p:cxnSp>
        <p:nvCxnSpPr>
          <p:cNvPr id="34" name="Connector 33"/>
          <p:cNvCxnSpPr/>
          <p:nvPr/>
        </p:nvCxnSpPr>
        <p:spPr>
          <a:xfrm>
            <a:off x="6995159" y="4087368"/>
            <a:ext cx="1508760" cy="0"/>
          </a:xfrm>
          <a:prstGeom prst="line">
            <a:avLst/>
          </a:prstGeom>
          <a:ln w="25400">
            <a:solidFill>
              <a:srgbClr val="007A5A"/>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275319" y="3931920"/>
            <a:ext cx="274320" cy="320040"/>
          </a:xfrm>
          <a:prstGeom prst="rect">
            <a:avLst/>
          </a:prstGeom>
          <a:noFill/>
        </p:spPr>
        <p:txBody>
          <a:bodyPr wrap="square" anchor="t" lIns="45720" rIns="45720" tIns="27432" bIns="27432">
            <a:spAutoFit/>
          </a:bodyPr>
          <a:lstStyle/>
          <a:p>
            <a:pPr algn="l">
              <a:lnSpc>
                <a:spcPct val="105000"/>
              </a:lnSpc>
            </a:pPr>
            <a:r>
              <a:rPr sz="1200" b="0" i="0">
                <a:solidFill>
                  <a:srgbClr val="007A5A"/>
                </a:solidFill>
                <a:latin typeface="PT Sans"/>
              </a:rPr>
              <a:t>▶</a:t>
            </a:r>
          </a:p>
        </p:txBody>
      </p:sp>
      <p:sp>
        <p:nvSpPr>
          <p:cNvPr id="36" name="Rounded Rectangle 35"/>
          <p:cNvSpPr/>
          <p:nvPr/>
        </p:nvSpPr>
        <p:spPr>
          <a:xfrm>
            <a:off x="7086600" y="4526280"/>
            <a:ext cx="1325880" cy="566928"/>
          </a:xfrm>
          <a:prstGeom prst="roundRect">
            <a:avLst>
              <a:gd name="adj" fmla="val 8000"/>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141464" y="4581144"/>
            <a:ext cx="1216152" cy="457200"/>
          </a:xfrm>
          <a:prstGeom prst="roundRect">
            <a:avLst>
              <a:gd name="adj" fmla="val 6000"/>
            </a:avLst>
          </a:prstGeom>
          <a:noFill/>
          <a:ln w="7620">
            <a:solidFill>
              <a:srgbClr val="007A5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86600" y="4526280"/>
            <a:ext cx="1325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F2430"/>
                </a:solidFill>
                <a:latin typeface="PT Sans"/>
              </a:rPr>
              <a:t>50 сом</a:t>
            </a:r>
          </a:p>
        </p:txBody>
      </p:sp>
      <p:sp>
        <p:nvSpPr>
          <p:cNvPr id="39" name="Rounded Rectangle 38"/>
          <p:cNvSpPr/>
          <p:nvPr/>
        </p:nvSpPr>
        <p:spPr>
          <a:xfrm>
            <a:off x="8549640" y="3840480"/>
            <a:ext cx="914400" cy="502920"/>
          </a:xfrm>
          <a:prstGeom prst="roundRect">
            <a:avLst>
              <a:gd name="adj" fmla="val 3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400</a:t>
            </a:r>
          </a:p>
        </p:txBody>
      </p:sp>
      <p:cxnSp>
        <p:nvCxnSpPr>
          <p:cNvPr id="40" name="Connector 39"/>
          <p:cNvCxnSpPr/>
          <p:nvPr/>
        </p:nvCxnSpPr>
        <p:spPr>
          <a:xfrm>
            <a:off x="9509760" y="4087368"/>
            <a:ext cx="1508759" cy="0"/>
          </a:xfrm>
          <a:prstGeom prst="line">
            <a:avLst/>
          </a:prstGeom>
          <a:ln w="25400">
            <a:solidFill>
              <a:srgbClr val="007A5A"/>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0789919" y="3931920"/>
            <a:ext cx="274320" cy="320040"/>
          </a:xfrm>
          <a:prstGeom prst="rect">
            <a:avLst/>
          </a:prstGeom>
          <a:noFill/>
        </p:spPr>
        <p:txBody>
          <a:bodyPr wrap="square" anchor="t" lIns="45720" rIns="45720" tIns="27432" bIns="27432">
            <a:spAutoFit/>
          </a:bodyPr>
          <a:lstStyle/>
          <a:p>
            <a:pPr algn="l">
              <a:lnSpc>
                <a:spcPct val="105000"/>
              </a:lnSpc>
            </a:pPr>
            <a:r>
              <a:rPr sz="1200" b="0" i="0">
                <a:solidFill>
                  <a:srgbClr val="007A5A"/>
                </a:solidFill>
                <a:latin typeface="PT Sans"/>
              </a:rPr>
              <a:t>▶</a:t>
            </a:r>
          </a:p>
        </p:txBody>
      </p:sp>
      <p:sp>
        <p:nvSpPr>
          <p:cNvPr id="42" name="Rounded Rectangle 41"/>
          <p:cNvSpPr/>
          <p:nvPr/>
        </p:nvSpPr>
        <p:spPr>
          <a:xfrm>
            <a:off x="9601200" y="4526280"/>
            <a:ext cx="1325880" cy="566928"/>
          </a:xfrm>
          <a:prstGeom prst="roundRect">
            <a:avLst>
              <a:gd name="adj" fmla="val 8000"/>
            </a:avLst>
          </a:prstGeom>
          <a:solidFill>
            <a:srgbClr val="F2C9AC"/>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9656064" y="4581144"/>
            <a:ext cx="1216152" cy="457200"/>
          </a:xfrm>
          <a:prstGeom prst="roundRect">
            <a:avLst>
              <a:gd name="adj" fmla="val 6000"/>
            </a:avLst>
          </a:prstGeom>
          <a:noFill/>
          <a:ln w="7620">
            <a:solidFill>
              <a:srgbClr val="A844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601200" y="4526280"/>
            <a:ext cx="1325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F2430"/>
                </a:solidFill>
                <a:latin typeface="PT Sans"/>
              </a:rPr>
              <a:t>100 сом</a:t>
            </a:r>
          </a:p>
        </p:txBody>
      </p:sp>
      <p:sp>
        <p:nvSpPr>
          <p:cNvPr id="45" name="Rounded Rectangle 44"/>
          <p:cNvSpPr/>
          <p:nvPr/>
        </p:nvSpPr>
        <p:spPr>
          <a:xfrm>
            <a:off x="11064240" y="3840480"/>
            <a:ext cx="914400" cy="502920"/>
          </a:xfrm>
          <a:prstGeom prst="roundRect">
            <a:avLst>
              <a:gd name="adj" fmla="val 3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A84400"/>
                </a:solidFill>
                <a:latin typeface="PT Sans"/>
              </a:rPr>
              <a:t>500</a:t>
            </a:r>
          </a:p>
        </p:txBody>
      </p:sp>
      <p:sp>
        <p:nvSpPr>
          <p:cNvPr id="46" name="TextBox 45"/>
          <p:cNvSpPr txBox="1"/>
          <p:nvPr/>
        </p:nvSpPr>
        <p:spPr>
          <a:xfrm>
            <a:off x="914400" y="5212080"/>
            <a:ext cx="10332720" cy="365760"/>
          </a:xfrm>
          <a:prstGeom prst="rect">
            <a:avLst/>
          </a:prstGeom>
          <a:noFill/>
        </p:spPr>
        <p:txBody>
          <a:bodyPr wrap="square" anchor="t" lIns="45720" rIns="45720" tIns="27432" bIns="27432">
            <a:spAutoFit/>
          </a:bodyPr>
          <a:lstStyle/>
          <a:p>
            <a:pPr algn="ctr">
              <a:lnSpc>
                <a:spcPct val="105000"/>
              </a:lnSpc>
            </a:pPr>
            <a:r>
              <a:rPr sz="1700" b="1" i="0">
                <a:solidFill>
                  <a:srgbClr val="007A5A"/>
                </a:solidFill>
                <a:latin typeface="PT Sans"/>
              </a:rPr>
              <a:t>Кайтарым = кошкон акчалар: 20 + 20 + 50 + 100 = 190 сом</a:t>
            </a:r>
          </a:p>
        </p:txBody>
      </p:sp>
      <p:sp>
        <p:nvSpPr>
          <p:cNvPr id="47" name="TextBox 46"/>
          <p:cNvSpPr txBox="1"/>
          <p:nvPr/>
        </p:nvSpPr>
        <p:spPr>
          <a:xfrm>
            <a:off x="429768" y="5623560"/>
            <a:ext cx="11329416" cy="457200"/>
          </a:xfrm>
          <a:prstGeom prst="rect">
            <a:avLst/>
          </a:prstGeom>
          <a:noFill/>
        </p:spPr>
        <p:txBody>
          <a:bodyPr wrap="square" anchor="t" lIns="45720" rIns="45720" tIns="27432" bIns="27432">
            <a:spAutoFit/>
          </a:bodyPr>
          <a:lstStyle/>
          <a:p>
            <a:pPr algn="ctr">
              <a:lnSpc>
                <a:spcPct val="105000"/>
              </a:lnSpc>
            </a:pPr>
            <a:r>
              <a:rPr sz="2200" b="1" i="0">
                <a:solidFill>
                  <a:srgbClr val="24418C"/>
                </a:solidFill>
                <a:latin typeface="PT Sans"/>
              </a:rPr>
              <a:t>500 − 220 − 90 = 190;     310 + 20 + 20 + 50 + 100 = 500</a:t>
            </a:r>
          </a:p>
        </p:txBody>
      </p:sp>
      <p:sp>
        <p:nvSpPr>
          <p:cNvPr id="48" name="Rounded Rectangle 47"/>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49" name="Rounded Rectangle 48"/>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50" name="Rounded Rectangle 49"/>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
        <p:nvSpPr>
          <p:cNvPr id="51" name="Rounded Rectangle 50"/>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А: эреже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13/26</a:t>
            </a:r>
          </a:p>
        </p:txBody>
      </p:sp>
      <p:sp>
        <p:nvSpPr>
          <p:cNvPr id="10" name="Rounded Rectangle 9"/>
          <p:cNvSpPr/>
          <p:nvPr/>
        </p:nvSpPr>
        <p:spPr>
          <a:xfrm>
            <a:off x="429768"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23035"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1</a:t>
            </a:r>
          </a:p>
        </p:txBody>
      </p:sp>
      <p:sp>
        <p:nvSpPr>
          <p:cNvPr id="12" name="TextBox 11"/>
          <p:cNvSpPr txBox="1"/>
          <p:nvPr/>
        </p:nvSpPr>
        <p:spPr>
          <a:xfrm>
            <a:off x="521207"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Түшүн</a:t>
            </a:r>
          </a:p>
        </p:txBody>
      </p:sp>
      <p:sp>
        <p:nvSpPr>
          <p:cNvPr id="13" name="TextBox 12"/>
          <p:cNvSpPr txBox="1"/>
          <p:nvPr/>
        </p:nvSpPr>
        <p:spPr>
          <a:xfrm>
            <a:off x="521207"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1. Окуп түшүн</a:t>
            </a:r>
          </a:p>
        </p:txBody>
      </p:sp>
      <p:sp>
        <p:nvSpPr>
          <p:cNvPr id="14" name="TextBox 13"/>
          <p:cNvSpPr txBox="1"/>
          <p:nvPr/>
        </p:nvSpPr>
        <p:spPr>
          <a:xfrm>
            <a:off x="566928"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Канча акча бар? Эмне алат?</a:t>
            </a:r>
          </a:p>
        </p:txBody>
      </p:sp>
      <p:cxnSp>
        <p:nvCxnSpPr>
          <p:cNvPr id="15" name="Connector 14"/>
          <p:cNvCxnSpPr/>
          <p:nvPr/>
        </p:nvCxnSpPr>
        <p:spPr>
          <a:xfrm>
            <a:off x="3056382"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330702"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23969"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2</a:t>
            </a:r>
          </a:p>
        </p:txBody>
      </p:sp>
      <p:sp>
        <p:nvSpPr>
          <p:cNvPr id="18" name="TextBox 17"/>
          <p:cNvSpPr txBox="1"/>
          <p:nvPr/>
        </p:nvSpPr>
        <p:spPr>
          <a:xfrm>
            <a:off x="3422142"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План</a:t>
            </a:r>
          </a:p>
        </p:txBody>
      </p:sp>
      <p:sp>
        <p:nvSpPr>
          <p:cNvPr id="19" name="TextBox 18"/>
          <p:cNvSpPr txBox="1"/>
          <p:nvPr/>
        </p:nvSpPr>
        <p:spPr>
          <a:xfrm>
            <a:off x="3422142"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2. Тилке чий</a:t>
            </a:r>
          </a:p>
        </p:txBody>
      </p:sp>
      <p:sp>
        <p:nvSpPr>
          <p:cNvPr id="20" name="TextBox 19"/>
          <p:cNvSpPr txBox="1"/>
          <p:nvPr/>
        </p:nvSpPr>
        <p:spPr>
          <a:xfrm>
            <a:off x="3467862"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Бүтүнү, бөлүктөр, кайтарым</a:t>
            </a:r>
          </a:p>
        </p:txBody>
      </p:sp>
      <p:cxnSp>
        <p:nvCxnSpPr>
          <p:cNvPr id="21" name="Connector 20"/>
          <p:cNvCxnSpPr/>
          <p:nvPr/>
        </p:nvCxnSpPr>
        <p:spPr>
          <a:xfrm>
            <a:off x="5957316"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31636"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4902"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3</a:t>
            </a:r>
          </a:p>
        </p:txBody>
      </p:sp>
      <p:sp>
        <p:nvSpPr>
          <p:cNvPr id="24" name="TextBox 23"/>
          <p:cNvSpPr txBox="1"/>
          <p:nvPr/>
        </p:nvSpPr>
        <p:spPr>
          <a:xfrm>
            <a:off x="6323075"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Чыгар</a:t>
            </a:r>
          </a:p>
        </p:txBody>
      </p:sp>
      <p:sp>
        <p:nvSpPr>
          <p:cNvPr id="25" name="TextBox 24"/>
          <p:cNvSpPr txBox="1"/>
          <p:nvPr/>
        </p:nvSpPr>
        <p:spPr>
          <a:xfrm>
            <a:off x="6323075"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3. Эсепте</a:t>
            </a:r>
          </a:p>
        </p:txBody>
      </p:sp>
      <p:sp>
        <p:nvSpPr>
          <p:cNvPr id="26" name="TextBox 25"/>
          <p:cNvSpPr txBox="1"/>
          <p:nvPr/>
        </p:nvSpPr>
        <p:spPr>
          <a:xfrm>
            <a:off x="6368796"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Баа × сан; кошуу; кемитүү</a:t>
            </a:r>
          </a:p>
        </p:txBody>
      </p:sp>
      <p:cxnSp>
        <p:nvCxnSpPr>
          <p:cNvPr id="27" name="Connector 26"/>
          <p:cNvCxnSpPr/>
          <p:nvPr/>
        </p:nvCxnSpPr>
        <p:spPr>
          <a:xfrm>
            <a:off x="8858250"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2570"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25837"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4</a:t>
            </a:r>
          </a:p>
        </p:txBody>
      </p:sp>
      <p:sp>
        <p:nvSpPr>
          <p:cNvPr id="30" name="TextBox 29"/>
          <p:cNvSpPr txBox="1"/>
          <p:nvPr/>
        </p:nvSpPr>
        <p:spPr>
          <a:xfrm>
            <a:off x="9224010"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Текшер</a:t>
            </a:r>
          </a:p>
        </p:txBody>
      </p:sp>
      <p:sp>
        <p:nvSpPr>
          <p:cNvPr id="31" name="TextBox 30"/>
          <p:cNvSpPr txBox="1"/>
          <p:nvPr/>
        </p:nvSpPr>
        <p:spPr>
          <a:xfrm>
            <a:off x="9224010"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4. Текшер</a:t>
            </a:r>
          </a:p>
        </p:txBody>
      </p:sp>
      <p:sp>
        <p:nvSpPr>
          <p:cNvPr id="32" name="TextBox 31"/>
          <p:cNvSpPr txBox="1"/>
          <p:nvPr/>
        </p:nvSpPr>
        <p:spPr>
          <a:xfrm>
            <a:off x="9269730"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Баа + кайтарым = берилген акча</a:t>
            </a:r>
          </a:p>
        </p:txBody>
      </p:sp>
      <p:sp>
        <p:nvSpPr>
          <p:cNvPr id="33" name="Rounded Rectangle 32"/>
          <p:cNvSpPr/>
          <p:nvPr/>
        </p:nvSpPr>
        <p:spPr>
          <a:xfrm>
            <a:off x="1874519" y="4709160"/>
            <a:ext cx="8449056" cy="758952"/>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600" b="1">
                <a:solidFill>
                  <a:srgbClr val="A84400"/>
                </a:solidFill>
                <a:latin typeface="PT Sans"/>
              </a:rPr>
              <a:t>Кайтарым = берилген акча − жалпы баа</a:t>
            </a:r>
          </a:p>
        </p:txBody>
      </p: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1: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14/26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Бекзат 4 самса алды, ар бири 45 сом. 200 сомдук кагаз акча берди. Канча кайтарым алат?</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4 × 45</a:t>
            </a:r>
          </a:p>
        </p:txBody>
      </p:sp>
      <p:sp>
        <p:nvSpPr>
          <p:cNvPr id="13" name="TextBox 12"/>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 180</a:t>
            </a:r>
          </a:p>
        </p:txBody>
      </p:sp>
      <p:sp>
        <p:nvSpPr>
          <p:cNvPr id="14" name="TextBox 13"/>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жалпы баа</a:t>
            </a:r>
          </a:p>
        </p:txBody>
      </p:sp>
      <p:sp>
        <p:nvSpPr>
          <p:cNvPr id="15" name="TextBox 14"/>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200 − 180 = 20</a:t>
            </a:r>
          </a:p>
        </p:txBody>
      </p:sp>
      <p:sp>
        <p:nvSpPr>
          <p:cNvPr id="16" name="TextBox 15"/>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кайтарым</a:t>
            </a:r>
          </a:p>
        </p:txBody>
      </p:sp>
      <p:sp>
        <p:nvSpPr>
          <p:cNvPr id="17" name="TextBox 16"/>
          <p:cNvSpPr txBox="1"/>
          <p:nvPr/>
        </p:nvSpPr>
        <p:spPr>
          <a:xfrm>
            <a:off x="731520" y="4215384"/>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180 + 20 = 200</a:t>
            </a:r>
          </a:p>
        </p:txBody>
      </p:sp>
      <p:sp>
        <p:nvSpPr>
          <p:cNvPr id="18" name="TextBox 17"/>
          <p:cNvSpPr txBox="1"/>
          <p:nvPr/>
        </p:nvSpPr>
        <p:spPr>
          <a:xfrm>
            <a:off x="8366760" y="4215384"/>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текшердик</a:t>
            </a:r>
          </a:p>
        </p:txBody>
      </p:sp>
      <p:sp>
        <p:nvSpPr>
          <p:cNvPr id="19" name="TextBox 18"/>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Кайтарым = </a:t>
            </a:r>
            <a:r>
              <a:rPr sz="3400" b="1">
                <a:solidFill>
                  <a:srgbClr val="24418C"/>
                </a:solidFill>
                <a:latin typeface="PT Sans"/>
              </a:rPr>
              <a:t>20 сом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2: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15/26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Айран: 1 литри 60 сом же 2 литрлик бөтөлкө 110 сом. Кайсынысы пайдалуу?</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110 ÷ 2 = 55</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1 литри</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55 &lt; 60</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2 литрлик арзан</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(60 − 55) × 2 = 10</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сом үнөм</a:t>
            </a:r>
          </a:p>
        </p:txBody>
      </p:sp>
      <p:sp>
        <p:nvSpPr>
          <p:cNvPr id="18" name="TextBox 17"/>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Пайдалуусу = </a:t>
            </a:r>
            <a:r>
              <a:rPr sz="3400" b="1">
                <a:solidFill>
                  <a:srgbClr val="24418C"/>
                </a:solidFill>
                <a:latin typeface="PT Sans"/>
              </a:rPr>
              <a:t>2 литрлик</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ыкма: үч жол</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16/26</a:t>
            </a:r>
          </a:p>
        </p:txBody>
      </p:sp>
      <p:sp>
        <p:nvSpPr>
          <p:cNvPr id="10" name="Rounded Rectangle 9"/>
          <p:cNvSpPr/>
          <p:nvPr/>
        </p:nvSpPr>
        <p:spPr>
          <a:xfrm>
            <a:off x="429768"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2647"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07007"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Толуктап саноо</a:t>
            </a:r>
          </a:p>
        </p:txBody>
      </p:sp>
      <p:sp>
        <p:nvSpPr>
          <p:cNvPr id="13" name="TextBox 12"/>
          <p:cNvSpPr txBox="1"/>
          <p:nvPr/>
        </p:nvSpPr>
        <p:spPr>
          <a:xfrm>
            <a:off x="658368"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500 − 310</a:t>
            </a:r>
          </a:p>
        </p:txBody>
      </p:sp>
      <p:sp>
        <p:nvSpPr>
          <p:cNvPr id="14" name="TextBox 13"/>
          <p:cNvSpPr txBox="1"/>
          <p:nvPr/>
        </p:nvSpPr>
        <p:spPr>
          <a:xfrm>
            <a:off x="658368"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310 + 90 = 400</a:t>
            </a:r>
          </a:p>
        </p:txBody>
      </p:sp>
      <p:sp>
        <p:nvSpPr>
          <p:cNvPr id="15" name="TextBox 14"/>
          <p:cNvSpPr txBox="1"/>
          <p:nvPr/>
        </p:nvSpPr>
        <p:spPr>
          <a:xfrm>
            <a:off x="658368"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400 + 100 = 500</a:t>
            </a:r>
          </a:p>
        </p:txBody>
      </p:sp>
      <p:sp>
        <p:nvSpPr>
          <p:cNvPr id="16" name="TextBox 15"/>
          <p:cNvSpPr txBox="1"/>
          <p:nvPr/>
        </p:nvSpPr>
        <p:spPr>
          <a:xfrm>
            <a:off x="658368"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190</a:t>
            </a:r>
          </a:p>
        </p:txBody>
      </p:sp>
      <p:sp>
        <p:nvSpPr>
          <p:cNvPr id="17" name="TextBox 16"/>
          <p:cNvSpPr txBox="1"/>
          <p:nvPr/>
        </p:nvSpPr>
        <p:spPr>
          <a:xfrm>
            <a:off x="658368"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Кассирдей: баадан берилген акчага чейин сана.</a:t>
            </a:r>
          </a:p>
        </p:txBody>
      </p:sp>
      <p:sp>
        <p:nvSpPr>
          <p:cNvPr id="18" name="Rounded Rectangle 17"/>
          <p:cNvSpPr/>
          <p:nvPr/>
        </p:nvSpPr>
        <p:spPr>
          <a:xfrm>
            <a:off x="4297680"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80560"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20" name="TextBox 19"/>
          <p:cNvSpPr txBox="1"/>
          <p:nvPr/>
        </p:nvSpPr>
        <p:spPr>
          <a:xfrm>
            <a:off x="5074920"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Тегерек баа</a:t>
            </a:r>
          </a:p>
        </p:txBody>
      </p:sp>
      <p:sp>
        <p:nvSpPr>
          <p:cNvPr id="21" name="TextBox 20"/>
          <p:cNvSpPr txBox="1"/>
          <p:nvPr/>
        </p:nvSpPr>
        <p:spPr>
          <a:xfrm>
            <a:off x="4526280"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4 × 49</a:t>
            </a:r>
          </a:p>
        </p:txBody>
      </p:sp>
      <p:sp>
        <p:nvSpPr>
          <p:cNvPr id="22" name="TextBox 21"/>
          <p:cNvSpPr txBox="1"/>
          <p:nvPr/>
        </p:nvSpPr>
        <p:spPr>
          <a:xfrm>
            <a:off x="4526280"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4 × 50 − 4</a:t>
            </a:r>
          </a:p>
        </p:txBody>
      </p:sp>
      <p:sp>
        <p:nvSpPr>
          <p:cNvPr id="23" name="TextBox 22"/>
          <p:cNvSpPr txBox="1"/>
          <p:nvPr/>
        </p:nvSpPr>
        <p:spPr>
          <a:xfrm>
            <a:off x="4526280"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200 − 4</a:t>
            </a:r>
          </a:p>
        </p:txBody>
      </p:sp>
      <p:sp>
        <p:nvSpPr>
          <p:cNvPr id="24" name="TextBox 23"/>
          <p:cNvSpPr txBox="1"/>
          <p:nvPr/>
        </p:nvSpPr>
        <p:spPr>
          <a:xfrm>
            <a:off x="4526280"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196</a:t>
            </a:r>
          </a:p>
        </p:txBody>
      </p:sp>
      <p:sp>
        <p:nvSpPr>
          <p:cNvPr id="25" name="TextBox 24"/>
          <p:cNvSpPr txBox="1"/>
          <p:nvPr/>
        </p:nvSpPr>
        <p:spPr>
          <a:xfrm>
            <a:off x="4526280"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49 сом ≈ 50 сом: тегерек санга жеткир, анан оңдо.</a:t>
            </a:r>
          </a:p>
        </p:txBody>
      </p:sp>
      <p:sp>
        <p:nvSpPr>
          <p:cNvPr id="26" name="Rounded Rectangle 25"/>
          <p:cNvSpPr/>
          <p:nvPr/>
        </p:nvSpPr>
        <p:spPr>
          <a:xfrm>
            <a:off x="8165592"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348472"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8" name="TextBox 27"/>
          <p:cNvSpPr txBox="1"/>
          <p:nvPr/>
        </p:nvSpPr>
        <p:spPr>
          <a:xfrm>
            <a:off x="8942832"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Тыйын → сом</a:t>
            </a:r>
          </a:p>
        </p:txBody>
      </p:sp>
      <p:sp>
        <p:nvSpPr>
          <p:cNvPr id="29" name="TextBox 28"/>
          <p:cNvSpPr txBox="1"/>
          <p:nvPr/>
        </p:nvSpPr>
        <p:spPr>
          <a:xfrm>
            <a:off x="8394192"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 сом 60 т + 50 т</a:t>
            </a:r>
          </a:p>
        </p:txBody>
      </p:sp>
      <p:sp>
        <p:nvSpPr>
          <p:cNvPr id="30" name="TextBox 29"/>
          <p:cNvSpPr txBox="1"/>
          <p:nvPr/>
        </p:nvSpPr>
        <p:spPr>
          <a:xfrm>
            <a:off x="8394192"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2 сом 110 т</a:t>
            </a:r>
          </a:p>
        </p:txBody>
      </p:sp>
      <p:sp>
        <p:nvSpPr>
          <p:cNvPr id="31" name="TextBox 30"/>
          <p:cNvSpPr txBox="1"/>
          <p:nvPr/>
        </p:nvSpPr>
        <p:spPr>
          <a:xfrm>
            <a:off x="8394192"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3 сом 10 т</a:t>
            </a:r>
          </a:p>
        </p:txBody>
      </p:sp>
      <p:sp>
        <p:nvSpPr>
          <p:cNvPr id="32" name="TextBox 31"/>
          <p:cNvSpPr txBox="1"/>
          <p:nvPr/>
        </p:nvSpPr>
        <p:spPr>
          <a:xfrm>
            <a:off x="8394192"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100 тыйын = 1 сом: тыйынды сомго алмаштыр (т = тыйын).</a:t>
            </a:r>
          </a:p>
        </p:txBody>
      </p:sp>
      <p:sp>
        <p:nvSpPr>
          <p:cNvPr id="33" name="Rounded Rectangle 32"/>
          <p:cNvSpPr/>
          <p:nvPr/>
        </p:nvSpPr>
        <p:spPr>
          <a:xfrm>
            <a:off x="429768" y="5577840"/>
            <a:ext cx="11329416" cy="502920"/>
          </a:xfrm>
          <a:prstGeom prst="roundRect">
            <a:avLst>
              <a:gd name="adj" fmla="val 40000"/>
            </a:avLst>
          </a:prstGeom>
          <a:solidFill>
            <a:srgbClr val="FFFFFF"/>
          </a:solidFill>
          <a:ln w="2222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700" b="1">
                <a:solidFill>
                  <a:srgbClr val="007A5A"/>
                </a:solidFill>
                <a:latin typeface="PT Sans"/>
              </a:rPr>
              <a:t>Түшүн → ыкма → эркин эсеп. Ыкмаңды үн чыгарып айт: «Мен ... деп ойлодум».</a:t>
            </a:r>
          </a:p>
        </p:txBody>
      </p:sp>
      <p:sp>
        <p:nvSpPr>
          <p:cNvPr id="34" name="Rounded Rectangle 3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35" name="Rounded Rectangle 34"/>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6" name="Rounded Rectangle 35"/>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7" name="Rounded Rectangle 36"/>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Чечүүчү суроо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17/26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200" b="0" i="0">
                <a:solidFill>
                  <a:srgbClr val="1F2430"/>
                </a:solidFill>
                <a:latin typeface="PT Sans"/>
              </a:rPr>
              <a:t>Айдай 4 дептер алды, ар бири 35 сом. Ал 200 сом берди. Канча кайтарым алат?</a:t>
            </a:r>
          </a:p>
        </p:txBody>
      </p:sp>
      <p:sp>
        <p:nvSpPr>
          <p:cNvPr id="12" name="Rounded Rectangle 11"/>
          <p:cNvSpPr/>
          <p:nvPr/>
        </p:nvSpPr>
        <p:spPr>
          <a:xfrm>
            <a:off x="429768"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А</a:t>
            </a:r>
          </a:p>
        </p:txBody>
      </p:sp>
      <p:sp>
        <p:nvSpPr>
          <p:cNvPr id="14" name="TextBox 13"/>
          <p:cNvSpPr txBox="1"/>
          <p:nvPr/>
        </p:nvSpPr>
        <p:spPr>
          <a:xfrm>
            <a:off x="1527048"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160 сом</a:t>
            </a:r>
          </a:p>
        </p:txBody>
      </p:sp>
      <p:sp>
        <p:nvSpPr>
          <p:cNvPr id="15" name="Rounded Rectangle 14"/>
          <p:cNvSpPr/>
          <p:nvPr/>
        </p:nvSpPr>
        <p:spPr>
          <a:xfrm>
            <a:off x="6208776"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83096"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Б</a:t>
            </a:r>
          </a:p>
        </p:txBody>
      </p:sp>
      <p:sp>
        <p:nvSpPr>
          <p:cNvPr id="17" name="TextBox 16"/>
          <p:cNvSpPr txBox="1"/>
          <p:nvPr/>
        </p:nvSpPr>
        <p:spPr>
          <a:xfrm>
            <a:off x="7306056"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60 сом</a:t>
            </a:r>
          </a:p>
        </p:txBody>
      </p:sp>
      <p:sp>
        <p:nvSpPr>
          <p:cNvPr id="18" name="Rounded Rectangle 17"/>
          <p:cNvSpPr/>
          <p:nvPr/>
        </p:nvSpPr>
        <p:spPr>
          <a:xfrm>
            <a:off x="429768"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4088"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В</a:t>
            </a:r>
          </a:p>
        </p:txBody>
      </p:sp>
      <p:sp>
        <p:nvSpPr>
          <p:cNvPr id="20" name="TextBox 19"/>
          <p:cNvSpPr txBox="1"/>
          <p:nvPr/>
        </p:nvSpPr>
        <p:spPr>
          <a:xfrm>
            <a:off x="1527048"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165 сом</a:t>
            </a:r>
          </a:p>
        </p:txBody>
      </p:sp>
      <p:sp>
        <p:nvSpPr>
          <p:cNvPr id="21" name="Rounded Rectangle 20"/>
          <p:cNvSpPr/>
          <p:nvPr/>
        </p:nvSpPr>
        <p:spPr>
          <a:xfrm>
            <a:off x="6208776"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83096"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Г</a:t>
            </a:r>
          </a:p>
        </p:txBody>
      </p:sp>
      <p:sp>
        <p:nvSpPr>
          <p:cNvPr id="23" name="TextBox 22"/>
          <p:cNvSpPr txBox="1"/>
          <p:nvPr/>
        </p:nvSpPr>
        <p:spPr>
          <a:xfrm>
            <a:off x="7306056"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161 сом</a:t>
            </a:r>
          </a:p>
        </p:txBody>
      </p:sp>
      <p:sp>
        <p:nvSpPr>
          <p:cNvPr id="24" name="Rounded Rectangle 2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чий, анан эсепте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18/26</a:t>
            </a:r>
          </a:p>
        </p:txBody>
      </p:sp>
      <p:sp>
        <p:nvSpPr>
          <p:cNvPr id="10" name="Rounded Rectangle 9"/>
          <p:cNvSpPr/>
          <p:nvPr/>
        </p:nvSpPr>
        <p:spPr>
          <a:xfrm>
            <a:off x="429768"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Бекзат 3 калем алды, ар бири 35 сом. Баары канча турат?</a:t>
            </a:r>
          </a:p>
        </p:txBody>
      </p:sp>
      <p:sp>
        <p:nvSpPr>
          <p:cNvPr id="13" name="TextBox 12"/>
          <p:cNvSpPr txBox="1"/>
          <p:nvPr/>
        </p:nvSpPr>
        <p:spPr>
          <a:xfrm>
            <a:off x="704088"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14" name="TextBox 13"/>
          <p:cNvSpPr txBox="1"/>
          <p:nvPr/>
        </p:nvSpPr>
        <p:spPr>
          <a:xfrm>
            <a:off x="612647"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15" name="Connector 14"/>
          <p:cNvCxnSpPr/>
          <p:nvPr/>
        </p:nvCxnSpPr>
        <p:spPr>
          <a:xfrm>
            <a:off x="2167128" y="4956048"/>
            <a:ext cx="170383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7"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17" name="Connector 16"/>
          <p:cNvCxnSpPr/>
          <p:nvPr/>
        </p:nvCxnSpPr>
        <p:spPr>
          <a:xfrm>
            <a:off x="1618488"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82439"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19600"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0" name="TextBox 19"/>
          <p:cNvSpPr txBox="1"/>
          <p:nvPr/>
        </p:nvSpPr>
        <p:spPr>
          <a:xfrm>
            <a:off x="4876800"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Айдайда 500 сом бар. Ал 230 сомдук сумка жана 3 дептер алды (ар бири 25 сом). Канча сом калды?</a:t>
            </a:r>
          </a:p>
        </p:txBody>
      </p:sp>
      <p:sp>
        <p:nvSpPr>
          <p:cNvPr id="21" name="TextBox 20"/>
          <p:cNvSpPr txBox="1"/>
          <p:nvPr/>
        </p:nvSpPr>
        <p:spPr>
          <a:xfrm>
            <a:off x="4556759"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22" name="TextBox 21"/>
          <p:cNvSpPr txBox="1"/>
          <p:nvPr/>
        </p:nvSpPr>
        <p:spPr>
          <a:xfrm>
            <a:off x="4465320"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23" name="Connector 22"/>
          <p:cNvCxnSpPr/>
          <p:nvPr/>
        </p:nvCxnSpPr>
        <p:spPr>
          <a:xfrm>
            <a:off x="6019800" y="4956048"/>
            <a:ext cx="1703831"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5320"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25" name="Connector 24"/>
          <p:cNvCxnSpPr/>
          <p:nvPr/>
        </p:nvCxnSpPr>
        <p:spPr>
          <a:xfrm>
            <a:off x="5471159"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35112"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72272"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8" name="TextBox 27"/>
          <p:cNvSpPr txBox="1"/>
          <p:nvPr/>
        </p:nvSpPr>
        <p:spPr>
          <a:xfrm>
            <a:off x="8729472"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Айран: 1 литри 60 сом, 3 литр салынган бөтөлкө 165 сом. 3 литрлик бөтөлкө алса, канча үнөмдөйт?</a:t>
            </a:r>
          </a:p>
        </p:txBody>
      </p:sp>
      <p:sp>
        <p:nvSpPr>
          <p:cNvPr id="29" name="TextBox 28"/>
          <p:cNvSpPr txBox="1"/>
          <p:nvPr/>
        </p:nvSpPr>
        <p:spPr>
          <a:xfrm>
            <a:off x="8409432"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30" name="TextBox 29"/>
          <p:cNvSpPr txBox="1"/>
          <p:nvPr/>
        </p:nvSpPr>
        <p:spPr>
          <a:xfrm>
            <a:off x="8317991"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31" name="Connector 30"/>
          <p:cNvCxnSpPr/>
          <p:nvPr/>
        </p:nvCxnSpPr>
        <p:spPr>
          <a:xfrm>
            <a:off x="9872471" y="4956048"/>
            <a:ext cx="170383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17991"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33" name="Connector 32"/>
          <p:cNvCxnSpPr/>
          <p:nvPr/>
        </p:nvCxnSpPr>
        <p:spPr>
          <a:xfrm>
            <a:off x="9323831" y="5641848"/>
            <a:ext cx="225247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19/26</a:t>
            </a:r>
          </a:p>
        </p:txBody>
      </p:sp>
      <p:sp>
        <p:nvSpPr>
          <p:cNvPr id="10" name="Rounded Rectangle 9"/>
          <p:cNvSpPr/>
          <p:nvPr/>
        </p:nvSpPr>
        <p:spPr>
          <a:xfrm>
            <a:off x="429768"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Бекзат 3 калем алды, ар бири 35 сом. Баары канча турат?</a:t>
            </a:r>
          </a:p>
        </p:txBody>
      </p:sp>
      <p:sp>
        <p:nvSpPr>
          <p:cNvPr id="13" name="Rectangle 12"/>
          <p:cNvSpPr/>
          <p:nvPr/>
        </p:nvSpPr>
        <p:spPr>
          <a:xfrm>
            <a:off x="566928" y="3017520"/>
            <a:ext cx="78130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35</a:t>
            </a:r>
          </a:p>
        </p:txBody>
      </p:sp>
      <p:sp>
        <p:nvSpPr>
          <p:cNvPr id="14" name="Rectangle 13"/>
          <p:cNvSpPr/>
          <p:nvPr/>
        </p:nvSpPr>
        <p:spPr>
          <a:xfrm>
            <a:off x="1348232" y="3017520"/>
            <a:ext cx="78130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35</a:t>
            </a:r>
          </a:p>
        </p:txBody>
      </p:sp>
      <p:sp>
        <p:nvSpPr>
          <p:cNvPr id="15" name="Rectangle 14"/>
          <p:cNvSpPr/>
          <p:nvPr/>
        </p:nvSpPr>
        <p:spPr>
          <a:xfrm>
            <a:off x="2129536" y="3017520"/>
            <a:ext cx="78130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35</a:t>
            </a:r>
          </a:p>
        </p:txBody>
      </p:sp>
      <p:cxnSp>
        <p:nvCxnSpPr>
          <p:cNvPr id="16" name="Connector 15"/>
          <p:cNvCxnSpPr/>
          <p:nvPr/>
        </p:nvCxnSpPr>
        <p:spPr>
          <a:xfrm>
            <a:off x="3002280"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139440"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002280"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85160"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105</a:t>
            </a:r>
          </a:p>
        </p:txBody>
      </p:sp>
      <p:sp>
        <p:nvSpPr>
          <p:cNvPr id="20" name="TextBox 19"/>
          <p:cNvSpPr txBox="1"/>
          <p:nvPr/>
        </p:nvSpPr>
        <p:spPr>
          <a:xfrm>
            <a:off x="612647"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3 × 35 = 105 сом</a:t>
            </a:r>
          </a:p>
        </p:txBody>
      </p:sp>
      <p:sp>
        <p:nvSpPr>
          <p:cNvPr id="21" name="Rounded Rectangle 20"/>
          <p:cNvSpPr/>
          <p:nvPr/>
        </p:nvSpPr>
        <p:spPr>
          <a:xfrm>
            <a:off x="4282439"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419600"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3" name="TextBox 22"/>
          <p:cNvSpPr txBox="1"/>
          <p:nvPr/>
        </p:nvSpPr>
        <p:spPr>
          <a:xfrm>
            <a:off x="4876800"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Айдайда 500 сом бар. Ал 230 сомдук сумка жана 3 дептер алды (ар бири 25 сом). Канча сом калды?</a:t>
            </a:r>
          </a:p>
        </p:txBody>
      </p:sp>
      <p:sp>
        <p:nvSpPr>
          <p:cNvPr id="24" name="Rectangle 23"/>
          <p:cNvSpPr/>
          <p:nvPr/>
        </p:nvSpPr>
        <p:spPr>
          <a:xfrm>
            <a:off x="4419600" y="3017520"/>
            <a:ext cx="1078199"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230</a:t>
            </a:r>
          </a:p>
        </p:txBody>
      </p:sp>
      <p:sp>
        <p:nvSpPr>
          <p:cNvPr id="25" name="Rectangle 24"/>
          <p:cNvSpPr/>
          <p:nvPr/>
        </p:nvSpPr>
        <p:spPr>
          <a:xfrm>
            <a:off x="5497799" y="3017520"/>
            <a:ext cx="351586"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75</a:t>
            </a:r>
          </a:p>
        </p:txBody>
      </p:sp>
      <p:sp>
        <p:nvSpPr>
          <p:cNvPr id="26" name="Rectangle 25"/>
          <p:cNvSpPr/>
          <p:nvPr/>
        </p:nvSpPr>
        <p:spPr>
          <a:xfrm>
            <a:off x="5849386" y="3017520"/>
            <a:ext cx="914125"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195</a:t>
            </a:r>
          </a:p>
        </p:txBody>
      </p:sp>
      <p:cxnSp>
        <p:nvCxnSpPr>
          <p:cNvPr id="27" name="Connector 26"/>
          <p:cNvCxnSpPr/>
          <p:nvPr/>
        </p:nvCxnSpPr>
        <p:spPr>
          <a:xfrm>
            <a:off x="6854951" y="3017520"/>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992112"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854951" y="3401568"/>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037832"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500</a:t>
            </a:r>
          </a:p>
        </p:txBody>
      </p:sp>
      <p:sp>
        <p:nvSpPr>
          <p:cNvPr id="31" name="TextBox 30"/>
          <p:cNvSpPr txBox="1"/>
          <p:nvPr/>
        </p:nvSpPr>
        <p:spPr>
          <a:xfrm>
            <a:off x="4465320"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500 − 230 − 75 = 195 сом</a:t>
            </a:r>
          </a:p>
        </p:txBody>
      </p:sp>
      <p:sp>
        <p:nvSpPr>
          <p:cNvPr id="32" name="Rounded Rectangle 31"/>
          <p:cNvSpPr/>
          <p:nvPr/>
        </p:nvSpPr>
        <p:spPr>
          <a:xfrm>
            <a:off x="8135112"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272272"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34" name="TextBox 33"/>
          <p:cNvSpPr txBox="1"/>
          <p:nvPr/>
        </p:nvSpPr>
        <p:spPr>
          <a:xfrm>
            <a:off x="8729472"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Айран: 1 литри 60 сом, 3 литр салынган бөтөлкө 165 сом. 3 литрлик бөтөлкө алса, канча үнөмдөйт?</a:t>
            </a:r>
          </a:p>
        </p:txBody>
      </p:sp>
      <p:sp>
        <p:nvSpPr>
          <p:cNvPr id="35" name="TextBox 34"/>
          <p:cNvSpPr txBox="1"/>
          <p:nvPr/>
        </p:nvSpPr>
        <p:spPr>
          <a:xfrm>
            <a:off x="8272272" y="3017520"/>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1 л × 3</a:t>
            </a:r>
          </a:p>
        </p:txBody>
      </p:sp>
      <p:sp>
        <p:nvSpPr>
          <p:cNvPr id="36" name="Rectangle 35"/>
          <p:cNvSpPr/>
          <p:nvPr/>
        </p:nvSpPr>
        <p:spPr>
          <a:xfrm>
            <a:off x="9735312" y="3017520"/>
            <a:ext cx="29362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60</a:t>
            </a:r>
          </a:p>
        </p:txBody>
      </p:sp>
      <p:sp>
        <p:nvSpPr>
          <p:cNvPr id="37" name="Rectangle 36"/>
          <p:cNvSpPr/>
          <p:nvPr/>
        </p:nvSpPr>
        <p:spPr>
          <a:xfrm>
            <a:off x="10028936" y="3017520"/>
            <a:ext cx="29362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60</a:t>
            </a:r>
          </a:p>
        </p:txBody>
      </p:sp>
      <p:sp>
        <p:nvSpPr>
          <p:cNvPr id="38" name="Rectangle 37"/>
          <p:cNvSpPr/>
          <p:nvPr/>
        </p:nvSpPr>
        <p:spPr>
          <a:xfrm>
            <a:off x="10322560" y="3017520"/>
            <a:ext cx="29362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60</a:t>
            </a:r>
          </a:p>
        </p:txBody>
      </p:sp>
      <p:sp>
        <p:nvSpPr>
          <p:cNvPr id="39" name="TextBox 38"/>
          <p:cNvSpPr txBox="1"/>
          <p:nvPr/>
        </p:nvSpPr>
        <p:spPr>
          <a:xfrm>
            <a:off x="8272272" y="3574389"/>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3 литр</a:t>
            </a:r>
          </a:p>
        </p:txBody>
      </p:sp>
      <p:sp>
        <p:nvSpPr>
          <p:cNvPr id="40" name="Rectangle 39"/>
          <p:cNvSpPr/>
          <p:nvPr/>
        </p:nvSpPr>
        <p:spPr>
          <a:xfrm>
            <a:off x="9735312" y="3574389"/>
            <a:ext cx="807465"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165</a:t>
            </a:r>
          </a:p>
        </p:txBody>
      </p:sp>
      <p:sp>
        <p:nvSpPr>
          <p:cNvPr id="41" name="Rectangle 40"/>
          <p:cNvSpPr/>
          <p:nvPr/>
        </p:nvSpPr>
        <p:spPr>
          <a:xfrm>
            <a:off x="10542778" y="3574389"/>
            <a:ext cx="73405"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15</a:t>
            </a:r>
          </a:p>
        </p:txBody>
      </p:sp>
      <p:sp>
        <p:nvSpPr>
          <p:cNvPr id="42" name="TextBox 41"/>
          <p:cNvSpPr txBox="1"/>
          <p:nvPr/>
        </p:nvSpPr>
        <p:spPr>
          <a:xfrm>
            <a:off x="8317991"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180 − 165 = 15 сом үнөм</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20/26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Дептериңе чыгар. Кыйын болсо – жакшы! Мээң өсүп жатат.</a:t>
            </a:r>
          </a:p>
        </p:txBody>
      </p:sp>
      <p:sp>
        <p:nvSpPr>
          <p:cNvPr id="11" name="Rounded Rectangle 10"/>
          <p:cNvSpPr/>
          <p:nvPr/>
        </p:nvSpPr>
        <p:spPr>
          <a:xfrm>
            <a:off x="429768"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3 × 45 сом</a:t>
            </a:r>
          </a:p>
        </p:txBody>
      </p:sp>
      <p:sp>
        <p:nvSpPr>
          <p:cNvPr id="14" name="Rounded Rectangle 13"/>
          <p:cNvSpPr/>
          <p:nvPr/>
        </p:nvSpPr>
        <p:spPr>
          <a:xfrm>
            <a:off x="6208776"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1000 − 650</a:t>
            </a:r>
          </a:p>
        </p:txBody>
      </p:sp>
      <p:sp>
        <p:nvSpPr>
          <p:cNvPr id="17" name="Rounded Rectangle 16"/>
          <p:cNvSpPr/>
          <p:nvPr/>
        </p:nvSpPr>
        <p:spPr>
          <a:xfrm>
            <a:off x="429768"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3 сом 40 тыйын + 80 тыйын</a:t>
            </a:r>
          </a:p>
        </p:txBody>
      </p:sp>
      <p:sp>
        <p:nvSpPr>
          <p:cNvPr id="20" name="Rounded Rectangle 19"/>
          <p:cNvSpPr/>
          <p:nvPr/>
        </p:nvSpPr>
        <p:spPr>
          <a:xfrm>
            <a:off x="6208776"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 дептер 120 сом. 1 дептер канча?</a:t>
            </a:r>
          </a:p>
        </p:txBody>
      </p:sp>
      <p:sp>
        <p:nvSpPr>
          <p:cNvPr id="23" name="Rounded Rectangle 22"/>
          <p:cNvSpPr/>
          <p:nvPr/>
        </p:nvSpPr>
        <p:spPr>
          <a:xfrm>
            <a:off x="429768"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5" name="TextBox 24"/>
          <p:cNvSpPr txBox="1"/>
          <p:nvPr/>
        </p:nvSpPr>
        <p:spPr>
          <a:xfrm>
            <a:off x="1207007"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200 сом берди, 4 × 35 сом алды. Кайтарым?</a:t>
            </a:r>
          </a:p>
        </p:txBody>
      </p:sp>
      <p:sp>
        <p:nvSpPr>
          <p:cNvPr id="26" name="Rounded Rectangle 25"/>
          <p:cNvSpPr/>
          <p:nvPr/>
        </p:nvSpPr>
        <p:spPr>
          <a:xfrm>
            <a:off x="6208776"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91656"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6</a:t>
            </a:r>
          </a:p>
        </p:txBody>
      </p:sp>
      <p:sp>
        <p:nvSpPr>
          <p:cNvPr id="28" name="TextBox 27"/>
          <p:cNvSpPr txBox="1"/>
          <p:nvPr/>
        </p:nvSpPr>
        <p:spPr>
          <a:xfrm>
            <a:off x="6986016"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Калем: 2 даана 50 сом же 5 даана 120 сом?</a:t>
            </a:r>
          </a:p>
        </p:txBody>
      </p:sp>
      <p:sp>
        <p:nvSpPr>
          <p:cNvPr id="29" name="Rounded Rectangle 2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0" name="Rounded Rectangle 2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1" name="Rounded Rectangle 30"/>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21/26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3 × 45 сом</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135 сом</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1000 − 650</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350 сом</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3 сом 40 тыйын + 80 тыйын</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 сом 20 тыйын</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5 дептер 120 сом. 1 дептер канча?</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24 сом</a:t>
            </a:r>
          </a:p>
        </p:txBody>
      </p:sp>
      <p:sp>
        <p:nvSpPr>
          <p:cNvPr id="26" name="Rounded Rectangle 25"/>
          <p:cNvSpPr/>
          <p:nvPr/>
        </p:nvSpPr>
        <p:spPr>
          <a:xfrm>
            <a:off x="429768"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66928"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5</a:t>
            </a:r>
          </a:p>
        </p:txBody>
      </p:sp>
      <p:sp>
        <p:nvSpPr>
          <p:cNvPr id="28" name="TextBox 27"/>
          <p:cNvSpPr txBox="1"/>
          <p:nvPr/>
        </p:nvSpPr>
        <p:spPr>
          <a:xfrm>
            <a:off x="1115568"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200 сом берди, 4 × 35 сом алды. Кайтарым?</a:t>
            </a:r>
          </a:p>
        </p:txBody>
      </p:sp>
      <p:sp>
        <p:nvSpPr>
          <p:cNvPr id="29" name="TextBox 28"/>
          <p:cNvSpPr txBox="1"/>
          <p:nvPr/>
        </p:nvSpPr>
        <p:spPr>
          <a:xfrm>
            <a:off x="4334804"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60 сом</a:t>
            </a:r>
          </a:p>
        </p:txBody>
      </p:sp>
      <p:sp>
        <p:nvSpPr>
          <p:cNvPr id="30" name="Rounded Rectangle 29"/>
          <p:cNvSpPr/>
          <p:nvPr/>
        </p:nvSpPr>
        <p:spPr>
          <a:xfrm>
            <a:off x="6208776"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5936"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6</a:t>
            </a:r>
          </a:p>
        </p:txBody>
      </p:sp>
      <p:sp>
        <p:nvSpPr>
          <p:cNvPr id="32" name="TextBox 31"/>
          <p:cNvSpPr txBox="1"/>
          <p:nvPr/>
        </p:nvSpPr>
        <p:spPr>
          <a:xfrm>
            <a:off x="6894576"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Калем: 2 даана 50 сом же 5 даана 120 сом?</a:t>
            </a:r>
          </a:p>
        </p:txBody>
      </p:sp>
      <p:sp>
        <p:nvSpPr>
          <p:cNvPr id="33" name="TextBox 32"/>
          <p:cNvSpPr txBox="1"/>
          <p:nvPr/>
        </p:nvSpPr>
        <p:spPr>
          <a:xfrm>
            <a:off x="10113812"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5 даана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Окуяга кайтабыз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500 сом бар. 10 дептер жана 3 калем керек. Дептер 25 сом же 5 дептерлүү пачка 110 сом. Калем 30 сом. Эң арзан кантип алат? Кайтарым канча?</a:t>
            </a:r>
          </a:p>
        </p:txBody>
      </p:sp>
      <p:sp>
        <p:nvSpPr>
          <p:cNvPr id="12" name="TextBox 11"/>
          <p:cNvSpPr txBox="1"/>
          <p:nvPr/>
        </p:nvSpPr>
        <p:spPr>
          <a:xfrm>
            <a:off x="914400" y="2240280"/>
            <a:ext cx="1371600" cy="548640"/>
          </a:xfrm>
          <a:prstGeom prst="rect">
            <a:avLst/>
          </a:prstGeom>
          <a:noFill/>
        </p:spPr>
        <p:txBody>
          <a:bodyPr wrap="square" anchor="ctr" lIns="45720" rIns="45720" tIns="27432" bIns="27432">
            <a:spAutoFit/>
          </a:bodyPr>
          <a:lstStyle/>
          <a:p>
            <a:pPr algn="r">
              <a:lnSpc>
                <a:spcPct val="105000"/>
              </a:lnSpc>
            </a:pPr>
            <a:r>
              <a:rPr sz="1800" b="1" i="0">
                <a:solidFill>
                  <a:srgbClr val="1F2430"/>
                </a:solidFill>
                <a:latin typeface="PT Sans"/>
              </a:rPr>
              <a:t>500 сом</a:t>
            </a:r>
          </a:p>
        </p:txBody>
      </p:sp>
      <p:sp>
        <p:nvSpPr>
          <p:cNvPr id="13" name="Rectangle 12"/>
          <p:cNvSpPr/>
          <p:nvPr/>
        </p:nvSpPr>
        <p:spPr>
          <a:xfrm>
            <a:off x="2377440" y="2240280"/>
            <a:ext cx="3339388"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дептер 220</a:t>
            </a:r>
          </a:p>
        </p:txBody>
      </p:sp>
      <p:sp>
        <p:nvSpPr>
          <p:cNvPr id="14" name="Rectangle 13"/>
          <p:cNvSpPr/>
          <p:nvPr/>
        </p:nvSpPr>
        <p:spPr>
          <a:xfrm>
            <a:off x="5716828" y="2240280"/>
            <a:ext cx="1366113"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калем 90</a:t>
            </a:r>
          </a:p>
        </p:txBody>
      </p:sp>
      <p:sp>
        <p:nvSpPr>
          <p:cNvPr id="15" name="Rectangle 14"/>
          <p:cNvSpPr/>
          <p:nvPr/>
        </p:nvSpPr>
        <p:spPr>
          <a:xfrm>
            <a:off x="7082942" y="2240280"/>
            <a:ext cx="2884017" cy="548640"/>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6B7280"/>
                </a:solidFill>
                <a:latin typeface="PT Sans"/>
              </a:rPr>
              <a:t>кайтарым 190</a:t>
            </a:r>
          </a:p>
        </p:txBody>
      </p:sp>
      <p:cxnSp>
        <p:nvCxnSpPr>
          <p:cNvPr id="16" name="Connector 15"/>
          <p:cNvCxnSpPr/>
          <p:nvPr/>
        </p:nvCxnSpPr>
        <p:spPr>
          <a:xfrm>
            <a:off x="10058399" y="224028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195559" y="2240280"/>
            <a:ext cx="0" cy="54864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058399" y="27889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241279" y="2240280"/>
            <a:ext cx="1005840" cy="548640"/>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500</a:t>
            </a:r>
          </a:p>
        </p:txBody>
      </p:sp>
      <p:sp>
        <p:nvSpPr>
          <p:cNvPr id="20" name="TextBox 19"/>
          <p:cNvSpPr txBox="1"/>
          <p:nvPr/>
        </p:nvSpPr>
        <p:spPr>
          <a:xfrm>
            <a:off x="731520" y="3127248"/>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110 ÷ 5 = 22 &lt; 25</a:t>
            </a:r>
          </a:p>
        </p:txBody>
      </p:sp>
      <p:sp>
        <p:nvSpPr>
          <p:cNvPr id="21" name="TextBox 20"/>
          <p:cNvSpPr txBox="1"/>
          <p:nvPr/>
        </p:nvSpPr>
        <p:spPr>
          <a:xfrm>
            <a:off x="8366760" y="3127248"/>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пачка пайдалуу</a:t>
            </a:r>
          </a:p>
        </p:txBody>
      </p:sp>
      <p:sp>
        <p:nvSpPr>
          <p:cNvPr id="22" name="TextBox 21"/>
          <p:cNvSpPr txBox="1"/>
          <p:nvPr/>
        </p:nvSpPr>
        <p:spPr>
          <a:xfrm>
            <a:off x="731520" y="3694176"/>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2 × 110 + 3 × 30 = 310</a:t>
            </a:r>
          </a:p>
        </p:txBody>
      </p:sp>
      <p:sp>
        <p:nvSpPr>
          <p:cNvPr id="23" name="TextBox 22"/>
          <p:cNvSpPr txBox="1"/>
          <p:nvPr/>
        </p:nvSpPr>
        <p:spPr>
          <a:xfrm>
            <a:off x="8366760" y="3694176"/>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жалпы баа</a:t>
            </a:r>
          </a:p>
        </p:txBody>
      </p:sp>
      <p:sp>
        <p:nvSpPr>
          <p:cNvPr id="24" name="TextBox 23"/>
          <p:cNvSpPr txBox="1"/>
          <p:nvPr/>
        </p:nvSpPr>
        <p:spPr>
          <a:xfrm>
            <a:off x="731520" y="4261104"/>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24418C"/>
                </a:solidFill>
                <a:latin typeface="PT Sans"/>
              </a:rPr>
              <a:t>500 − 310 = 190</a:t>
            </a:r>
          </a:p>
        </p:txBody>
      </p:sp>
      <p:sp>
        <p:nvSpPr>
          <p:cNvPr id="25" name="TextBox 24"/>
          <p:cNvSpPr txBox="1"/>
          <p:nvPr/>
        </p:nvSpPr>
        <p:spPr>
          <a:xfrm>
            <a:off x="8366760" y="4261104"/>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кайтарым</a:t>
            </a:r>
          </a:p>
        </p:txBody>
      </p:sp>
      <p:sp>
        <p:nvSpPr>
          <p:cNvPr id="26" name="Rounded Rectangle 25"/>
          <p:cNvSpPr/>
          <p:nvPr/>
        </p:nvSpPr>
        <p:spPr>
          <a:xfrm>
            <a:off x="1874519" y="5486400"/>
            <a:ext cx="8449056" cy="640080"/>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Баары 310 сом. Кайтарым 190 сом: 100 + 50 + 20 + 20.</a:t>
            </a:r>
          </a:p>
        </p:txBody>
      </p:sp>
      <p:sp>
        <p:nvSpPr>
          <p:cNvPr id="27" name="Rounded Rectangle 26"/>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Түз: өзүң маселе түз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23/26</a:t>
            </a:r>
          </a:p>
        </p:txBody>
      </p:sp>
      <p:sp>
        <p:nvSpPr>
          <p:cNvPr id="10" name="Rounded Rectangle 9"/>
          <p:cNvSpPr/>
          <p:nvPr/>
        </p:nvSpPr>
        <p:spPr>
          <a:xfrm>
            <a:off x="429768" y="1225296"/>
            <a:ext cx="11329416" cy="48920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71600"/>
            <a:ext cx="10780776" cy="914400"/>
          </a:xfrm>
          <a:prstGeom prst="rect">
            <a:avLst/>
          </a:prstGeom>
          <a:noFill/>
        </p:spPr>
        <p:txBody>
          <a:bodyPr wrap="square" anchor="t" lIns="45720" rIns="45720" tIns="27432" bIns="27432">
            <a:spAutoFit/>
          </a:bodyPr>
          <a:lstStyle/>
          <a:p>
            <a:pPr algn="l">
              <a:lnSpc>
                <a:spcPct val="105000"/>
              </a:lnSpc>
            </a:pPr>
            <a:r>
              <a:rPr sz="2400" b="1" i="0">
                <a:solidFill>
                  <a:srgbClr val="1F2430"/>
                </a:solidFill>
                <a:latin typeface="PT Sans"/>
              </a:rPr>
              <a:t>Жалал-Абаддагы дүкөн жөнүндө маселе түз: эки пачканы салыштыр, анан кайтарымды тап.</a:t>
            </a:r>
          </a:p>
        </p:txBody>
      </p:sp>
      <p:sp>
        <p:nvSpPr>
          <p:cNvPr id="12" name="Oval 11"/>
          <p:cNvSpPr/>
          <p:nvPr/>
        </p:nvSpPr>
        <p:spPr>
          <a:xfrm>
            <a:off x="704088" y="256032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254203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Окуядагы каармандарды колдон: Айдай, Бекзат, апасы, дүкөнчү Нурлан байке.</a:t>
            </a:r>
          </a:p>
        </p:txBody>
      </p:sp>
      <p:sp>
        <p:nvSpPr>
          <p:cNvPr id="14" name="Oval 13"/>
          <p:cNvSpPr/>
          <p:nvPr/>
        </p:nvSpPr>
        <p:spPr>
          <a:xfrm>
            <a:off x="704088" y="338327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3364991"/>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Тилкесин чий жана туюнтмасын жаз.</a:t>
            </a:r>
          </a:p>
        </p:txBody>
      </p:sp>
      <p:sp>
        <p:nvSpPr>
          <p:cNvPr id="16" name="Oval 15"/>
          <p:cNvSpPr/>
          <p:nvPr/>
        </p:nvSpPr>
        <p:spPr>
          <a:xfrm>
            <a:off x="704088" y="4206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418795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Жупуңа бер: ал чыгарсын, сен текшер.</a:t>
            </a:r>
          </a:p>
        </p:txBody>
      </p:sp>
      <p:sp>
        <p:nvSpPr>
          <p:cNvPr id="18" name="Rounded Rectangle 17"/>
          <p:cNvSpPr/>
          <p:nvPr/>
        </p:nvSpPr>
        <p:spPr>
          <a:xfrm>
            <a:off x="4449927" y="6327648"/>
            <a:ext cx="3291840" cy="411480"/>
          </a:xfrm>
          <a:prstGeom prst="roundRect">
            <a:avLst>
              <a:gd name="adj" fmla="val 50000"/>
            </a:avLst>
          </a:prstGeom>
          <a:no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A84400"/>
                </a:solidFill>
                <a:latin typeface="PT Sans"/>
              </a:rPr>
              <a:t>3C · Кызматташуу</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Чыгуу билети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24/26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Өз алдынча, 3 мүнөт. Кагазыңа жазып бер.</a:t>
            </a:r>
          </a:p>
        </p:txBody>
      </p:sp>
      <p:sp>
        <p:nvSpPr>
          <p:cNvPr id="11" name="Rounded Rectangle 10"/>
          <p:cNvSpPr/>
          <p:nvPr/>
        </p:nvSpPr>
        <p:spPr>
          <a:xfrm>
            <a:off x="429768" y="169164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Айран: 2 литри 110 сом же 3 литри 159 сом. 1 литри кайсынысында арзан?</a:t>
            </a:r>
          </a:p>
        </p:txBody>
      </p:sp>
      <p:sp>
        <p:nvSpPr>
          <p:cNvPr id="14" name="Rounded Rectangle 13"/>
          <p:cNvSpPr/>
          <p:nvPr/>
        </p:nvSpPr>
        <p:spPr>
          <a:xfrm>
            <a:off x="429768" y="323088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07007" y="323088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500 сом берип, 3 китеп алды (ар бири 120 сом). Кайтарым канча?</a:t>
            </a:r>
          </a:p>
        </p:txBody>
      </p:sp>
      <p:sp>
        <p:nvSpPr>
          <p:cNvPr id="17" name="Rounded Rectangle 16"/>
          <p:cNvSpPr/>
          <p:nvPr/>
        </p:nvSpPr>
        <p:spPr>
          <a:xfrm>
            <a:off x="429768" y="477012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77012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1 сом 60 тыйын + 70 тыйын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талкуу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25/26</a:t>
            </a:r>
          </a:p>
        </p:txBody>
      </p:sp>
      <p:sp>
        <p:nvSpPr>
          <p:cNvPr id="10" name="Rounded Rectangle 9"/>
          <p:cNvSpPr/>
          <p:nvPr/>
        </p:nvSpPr>
        <p:spPr>
          <a:xfrm>
            <a:off x="429768" y="1225296"/>
            <a:ext cx="11329416" cy="32461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80160"/>
            <a:ext cx="10780776" cy="548640"/>
          </a:xfrm>
          <a:prstGeom prst="rect">
            <a:avLst/>
          </a:prstGeom>
          <a:noFill/>
        </p:spPr>
        <p:txBody>
          <a:bodyPr wrap="square" anchor="t" lIns="45720" rIns="45720" tIns="27432" bIns="27432">
            <a:spAutoFit/>
          </a:bodyPr>
          <a:lstStyle/>
          <a:p>
            <a:pPr algn="l">
              <a:lnSpc>
                <a:spcPct val="105000"/>
              </a:lnSpc>
            </a:pPr>
            <a:r>
              <a:rPr sz="2400" b="1" i="0">
                <a:solidFill>
                  <a:srgbClr val="1D3557"/>
                </a:solidFill>
                <a:latin typeface="PT Sans"/>
              </a:rPr>
              <a:t>Оозеки талкуу</a:t>
            </a:r>
          </a:p>
        </p:txBody>
      </p:sp>
      <p:sp>
        <p:nvSpPr>
          <p:cNvPr id="12" name="Oval 11"/>
          <p:cNvSpPr/>
          <p:nvPr/>
        </p:nvSpPr>
        <p:spPr>
          <a:xfrm>
            <a:off x="704088" y="1920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1901952"/>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Кайтарымды кантип текшересиң?</a:t>
            </a:r>
          </a:p>
        </p:txBody>
      </p:sp>
      <p:sp>
        <p:nvSpPr>
          <p:cNvPr id="14" name="Oval 13"/>
          <p:cNvSpPr/>
          <p:nvPr/>
        </p:nvSpPr>
        <p:spPr>
          <a:xfrm>
            <a:off x="704088" y="2542032"/>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2523744"/>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чоң пачка дайыма эле пайдалуу эмес?</a:t>
            </a:r>
          </a:p>
        </p:txBody>
      </p:sp>
      <p:sp>
        <p:nvSpPr>
          <p:cNvPr id="16" name="Oval 15"/>
          <p:cNvSpPr/>
          <p:nvPr/>
        </p:nvSpPr>
        <p:spPr>
          <a:xfrm>
            <a:off x="704088" y="316382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3145536"/>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120 тыйын 12 сом эмес?</a:t>
            </a:r>
          </a:p>
        </p:txBody>
      </p:sp>
      <p:sp>
        <p:nvSpPr>
          <p:cNvPr id="18" name="TextBox 17"/>
          <p:cNvSpPr txBox="1"/>
          <p:nvPr/>
        </p:nvSpPr>
        <p:spPr>
          <a:xfrm>
            <a:off x="429768" y="4617720"/>
            <a:ext cx="11329416" cy="457200"/>
          </a:xfrm>
          <a:prstGeom prst="rect">
            <a:avLst/>
          </a:prstGeom>
          <a:noFill/>
        </p:spPr>
        <p:txBody>
          <a:bodyPr wrap="square" anchor="t" lIns="45720" rIns="45720" tIns="27432" bIns="27432">
            <a:spAutoFit/>
          </a:bodyPr>
          <a:lstStyle/>
          <a:p>
            <a:pPr algn="ctr">
              <a:lnSpc>
                <a:spcPct val="105000"/>
              </a:lnSpc>
            </a:pPr>
            <a:r>
              <a:rPr sz="2000" b="0" i="1">
                <a:solidFill>
                  <a:srgbClr val="6B7280"/>
                </a:solidFill>
                <a:latin typeface="PT Sans"/>
              </a:rPr>
              <a:t>Өзүңдү баала: колуңду көтөр.</a:t>
            </a:r>
          </a:p>
        </p:txBody>
      </p:sp>
      <p:sp>
        <p:nvSpPr>
          <p:cNvPr id="19" name="Rounded Rectangle 18"/>
          <p:cNvSpPr/>
          <p:nvPr/>
        </p:nvSpPr>
        <p:spPr>
          <a:xfrm>
            <a:off x="978407" y="5120640"/>
            <a:ext cx="3291840" cy="73152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007A5A"/>
                </a:solidFill>
                <a:latin typeface="PT Sans"/>
              </a:rPr>
              <a:t>Түшүндүм</a:t>
            </a:r>
          </a:p>
        </p:txBody>
      </p:sp>
      <p:sp>
        <p:nvSpPr>
          <p:cNvPr id="20" name="Rounded Rectangle 19"/>
          <p:cNvSpPr/>
          <p:nvPr/>
        </p:nvSpPr>
        <p:spPr>
          <a:xfrm>
            <a:off x="4636008" y="5120640"/>
            <a:ext cx="3291840" cy="73152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Дагы машыгам</a:t>
            </a:r>
          </a:p>
        </p:txBody>
      </p:sp>
      <p:sp>
        <p:nvSpPr>
          <p:cNvPr id="21" name="Rounded Rectangle 20"/>
          <p:cNvSpPr/>
          <p:nvPr/>
        </p:nvSpPr>
        <p:spPr>
          <a:xfrm>
            <a:off x="8293608" y="5120640"/>
            <a:ext cx="3291840" cy="73152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24418C"/>
                </a:solidFill>
                <a:latin typeface="PT Sans"/>
              </a:rPr>
              <a:t>Жардам керек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Мугалим үчүн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4-класс ›</a:t>
            </a:r>
          </a:p>
          <a:p>
            <a:pPr algn="r">
              <a:lnSpc>
                <a:spcPct val="100000"/>
              </a:lnSpc>
            </a:pPr>
            <a:r>
              <a:rPr sz="1400" b="0" i="0">
                <a:solidFill>
                  <a:srgbClr val="4A5A70"/>
                </a:solidFill>
                <a:latin typeface="PT Sans"/>
              </a:rPr>
              <a:t>Акча: сатып алуу жана кайтарым</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26/26</a:t>
            </a:r>
          </a:p>
        </p:txBody>
      </p:sp>
      <p:sp>
        <p:nvSpPr>
          <p:cNvPr id="10" name="Rounded Rectangle 9"/>
          <p:cNvSpPr/>
          <p:nvPr/>
        </p:nvSpPr>
        <p:spPr>
          <a:xfrm>
            <a:off x="429768" y="1225296"/>
            <a:ext cx="5120640"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466344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Тилке моделин кантип үйрөтөбүз</a:t>
            </a:r>
          </a:p>
        </p:txBody>
      </p:sp>
      <p:sp>
        <p:nvSpPr>
          <p:cNvPr id="12" name="Oval 11"/>
          <p:cNvSpPr/>
          <p:nvPr/>
        </p:nvSpPr>
        <p:spPr>
          <a:xfrm>
            <a:off x="658368" y="187451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188719" y="1856231"/>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бир маселеде кайтарымды текшертем: баа + кайтарым = берилген акча (М2, М5).</a:t>
            </a:r>
          </a:p>
        </p:txBody>
      </p:sp>
      <p:sp>
        <p:nvSpPr>
          <p:cNvPr id="14" name="Oval 13"/>
          <p:cNvSpPr/>
          <p:nvPr/>
        </p:nvSpPr>
        <p:spPr>
          <a:xfrm>
            <a:off x="658368" y="2898648"/>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188719" y="2880360"/>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Эң пайдалуу бааны тандоодо «1 даанасы канча?» деп сурайм (М4).</a:t>
            </a:r>
          </a:p>
        </p:txBody>
      </p:sp>
      <p:sp>
        <p:nvSpPr>
          <p:cNvPr id="16" name="Oval 15"/>
          <p:cNvSpPr/>
          <p:nvPr/>
        </p:nvSpPr>
        <p:spPr>
          <a:xfrm>
            <a:off x="658368" y="3922776"/>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188719" y="3904488"/>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Капкак тыйындар менен 10 × 10 тыйын = 1 сом алмаштырып көрсөтөм (М1).</a:t>
            </a:r>
          </a:p>
        </p:txBody>
      </p:sp>
      <p:sp>
        <p:nvSpPr>
          <p:cNvPr id="18" name="Oval 17"/>
          <p:cNvSpPr/>
          <p:nvPr/>
        </p:nvSpPr>
        <p:spPr>
          <a:xfrm>
            <a:off x="658368" y="494690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19" name="TextBox 18"/>
          <p:cNvSpPr txBox="1"/>
          <p:nvPr/>
        </p:nvSpPr>
        <p:spPr>
          <a:xfrm>
            <a:off x="1188719" y="4928616"/>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Акчанын санын эмес, маанисин кошобуз: 20, 40, 60… (М6).</a:t>
            </a:r>
          </a:p>
        </p:txBody>
      </p:sp>
      <p:sp>
        <p:nvSpPr>
          <p:cNvPr id="20" name="Rounded Rectangle 19"/>
          <p:cNvSpPr/>
          <p:nvPr/>
        </p:nvSpPr>
        <p:spPr>
          <a:xfrm>
            <a:off x="5779007" y="1225296"/>
            <a:ext cx="5980176"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7607" y="1280160"/>
            <a:ext cx="548640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Ой жүгүртүү: эмне деп айтабыз?</a:t>
            </a:r>
          </a:p>
        </p:txBody>
      </p:sp>
      <p:sp>
        <p:nvSpPr>
          <p:cNvPr id="22" name="TextBox 21"/>
          <p:cNvSpPr txBox="1"/>
          <p:nvPr/>
        </p:nvSpPr>
        <p:spPr>
          <a:xfrm>
            <a:off x="6007607" y="1783080"/>
            <a:ext cx="2651760" cy="365760"/>
          </a:xfrm>
          <a:prstGeom prst="rect">
            <a:avLst/>
          </a:prstGeom>
          <a:noFill/>
        </p:spPr>
        <p:txBody>
          <a:bodyPr wrap="square" anchor="t" lIns="45720" rIns="45720" tIns="27432" bIns="27432">
            <a:spAutoFit/>
          </a:bodyPr>
          <a:lstStyle/>
          <a:p>
            <a:pPr algn="l">
              <a:lnSpc>
                <a:spcPct val="105000"/>
              </a:lnSpc>
            </a:pPr>
            <a:r>
              <a:rPr sz="1500" b="1" i="0">
                <a:solidFill>
                  <a:srgbClr val="6B7280"/>
                </a:solidFill>
                <a:latin typeface="PT Sans"/>
              </a:rPr>
              <a:t>Айтпайбыз</a:t>
            </a:r>
          </a:p>
        </p:txBody>
      </p:sp>
      <p:sp>
        <p:nvSpPr>
          <p:cNvPr id="23" name="TextBox 22"/>
          <p:cNvSpPr txBox="1"/>
          <p:nvPr/>
        </p:nvSpPr>
        <p:spPr>
          <a:xfrm>
            <a:off x="8796528" y="1783080"/>
            <a:ext cx="292608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Айтабыз</a:t>
            </a:r>
          </a:p>
        </p:txBody>
      </p:sp>
      <p:sp>
        <p:nvSpPr>
          <p:cNvPr id="24" name="TextBox 23"/>
          <p:cNvSpPr txBox="1"/>
          <p:nvPr/>
        </p:nvSpPr>
        <p:spPr>
          <a:xfrm>
            <a:off x="6007607" y="219456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«Бул оңой эмеспи?»</a:t>
            </a:r>
          </a:p>
        </p:txBody>
      </p:sp>
      <p:cxnSp>
        <p:nvCxnSpPr>
          <p:cNvPr id="25" name="Connector 24"/>
          <p:cNvCxnSpPr/>
          <p:nvPr/>
        </p:nvCxnSpPr>
        <p:spPr>
          <a:xfrm>
            <a:off x="8567928" y="2468879"/>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796528" y="219456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«Кадамдарды бирге карайлы.»</a:t>
            </a:r>
          </a:p>
        </p:txBody>
      </p:sp>
      <p:sp>
        <p:nvSpPr>
          <p:cNvPr id="27" name="TextBox 26"/>
          <p:cNvSpPr txBox="1"/>
          <p:nvPr/>
        </p:nvSpPr>
        <p:spPr>
          <a:xfrm>
            <a:off x="6007607" y="315468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«Туура эмес!»</a:t>
            </a:r>
          </a:p>
        </p:txBody>
      </p:sp>
      <p:cxnSp>
        <p:nvCxnSpPr>
          <p:cNvPr id="28" name="Connector 27"/>
          <p:cNvCxnSpPr/>
          <p:nvPr/>
        </p:nvCxnSpPr>
        <p:spPr>
          <a:xfrm>
            <a:off x="8567928" y="342900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796528" y="315468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«Кантип таптың? Текшерип көрөлүчү.»</a:t>
            </a:r>
          </a:p>
        </p:txBody>
      </p:sp>
      <p:sp>
        <p:nvSpPr>
          <p:cNvPr id="30" name="TextBox 29"/>
          <p:cNvSpPr txBox="1"/>
          <p:nvPr/>
        </p:nvSpPr>
        <p:spPr>
          <a:xfrm>
            <a:off x="6007607" y="411480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«Сен математикага жөндөмсүзсүң»</a:t>
            </a:r>
          </a:p>
        </p:txBody>
      </p:sp>
      <p:cxnSp>
        <p:nvCxnSpPr>
          <p:cNvPr id="31" name="Connector 30"/>
          <p:cNvCxnSpPr/>
          <p:nvPr/>
        </p:nvCxnSpPr>
        <p:spPr>
          <a:xfrm>
            <a:off x="8567928" y="438912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796528" y="411480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«Азырынча. Машыксаң, үйрөнөсүң.»</a:t>
            </a:r>
          </a:p>
        </p:txBody>
      </p:sp>
      <p:sp>
        <p:nvSpPr>
          <p:cNvPr id="33" name="TextBox 32"/>
          <p:cNvSpPr txBox="1"/>
          <p:nvPr/>
        </p:nvSpPr>
        <p:spPr>
          <a:xfrm>
            <a:off x="6007607" y="507492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«Тез чыгар»</a:t>
            </a:r>
          </a:p>
        </p:txBody>
      </p:sp>
      <p:cxnSp>
        <p:nvCxnSpPr>
          <p:cNvPr id="34" name="Connector 33"/>
          <p:cNvCxnSpPr/>
          <p:nvPr/>
        </p:nvCxnSpPr>
        <p:spPr>
          <a:xfrm>
            <a:off x="8567928" y="534924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796528" y="507492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«Шашпа, адегенде тилке чий.»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