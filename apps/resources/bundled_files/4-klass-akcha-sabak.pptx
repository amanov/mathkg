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Сабактын аталышы жана бүгүнкү окуя.</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Сабактын жолу: ар бир бөлүк өз слайды менен ачылат.</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Окуяны окуп беремин. Окуучулар болжолдошсун: дептерди бирден алган пайдалуубу же пачка мененби? 500 сом жетеби? Жоопту сабактын аягында (22-слайд) текшеребиз. Проектор жок болсо, баалар тизмесин доскага жазам.</a:t>
            </a:r>
          </a:p>
          <a:p>
            <a:r>
              <a:t>3C (Байланыштыруу): Окуя турмуштан: бул суроого сабактын аягында кайтабыз.</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Ой жүгүртүү маданияты (Wenxi Lee, 2,6).</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Ийгилик критерийлери: сабактын аягында ар бирине ✓ коёбуз.</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Спираль: тема класстан класска тереңдейт.</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Мини-тактага жазышат. Жооптор кийинки слайдда.</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Жоопту дароо айтпайбыз. Жупта талкуулашат. Жооп: Бекзат: бир дептер 22 сом &lt; 25 сом (Айдай – М4).</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Ар бир жупка: кагаздан кесилген акчалар (20, 50, 100, 200, 500 сом, үстүнө маанисин жазабыз), капкак тыйындар (1, 3, 5, 10 сом жана 10, 50 тыйын, капкактын үстүнө жазабыз), баа жазылган 3–4 карточка. Бири сатуучу, экинчиси сатып алуучу; анан алмашат. Сатуучу кайтарымды баадан баштап толуктап санайт: «310, 330, 350, 400, 500». 10 капкак тыйынды (10 тыйындан) 1 сомго алмаштырып көрсөтөм (М1). Чыныгы кыргыз акчасы гана: 2, 25 же 40 сомдук акча жок. Проектор жок болсо, ушул сүрөттү доскага чийем.</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Тилкени доскага чийем: бүтүнү 500 сом, бөлүктөрү 220 (2 пачка) жана 90 (3 калем), үзүк бөлүк – кайтарым. Анан кассирдин ыкмасы: 310дон баштап кагаз акчаларды кошуп 500гө жетебиз: 20, 20, 50, 100. Кошкон акчалар – кайтарым: 190 сом. Окуучулар чакмак дептерге тилкени чийишет (2 чакмак = 10 сом).</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Пойанын 4 кадамы акча маселесинде. Жалпы баа = бир даананын баасы × сан. Бир даананын баасы = пачканын баасы ÷ сан: эң пайдалуусу – бир даанасы арзан болгону (М4). 1 сом = 100 тыйын (М1). Акыркы кадамды өткөрүп жибербейм: кайтарым + жалпы баа = берилген акча.</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Ар бир сап «=» менен башталат. Окуучулар кадамды айтып турат.</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Ар бир сап «=» менен башталат. Окуучулар кадамды айтып турат.</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Ар бир ыкманы окуучу үн чыгарып айтат: «310дон 400гө 90, 400дөн 500гө 100, баары 190». «Оозеки беш мүнөт» (класста колдонуу картасы) эки апта ушул ыкмаларды кайталайт.</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Баары бир убакта манжа менен көрсөтөт (1–4). Туура эмес жооптун коду: А = М2; Б = ✓; В = М5; Г = М3</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деңгээл: жалпы баа → бюджет → эң пайдалуу баа. Жооптор: 3 × 35 = 105 сом; 500 − 230 − 75 = 195 сом; 180 − 165 = 15 сом үнөм</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Жеңилден баштап, мүмкүн болушунча алдыга. Жооптор кийинки слайдда.</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Бир дептер пачкада 110 ÷ 5 = 22 сом, бирден алса 25 сом: пачка пайдалуу. Жалпы баа: 2 × 110 = 220, 3 × 30 = 90, 220 + 90 = 310. Кайтарым 500 − 310 = 190. Текшерүү: 310 + 190 = 500. Кайтарымды кассирдей толуктап санайбыз: 310 → 330 → 350 → 400 → 500 (12-слайд).</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Блум: Түзүү. Жупта алмашып, бири-биринин маселесин чыгарышат.</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Жооптор: 3 литр (53 &lt; 55); 140 сом; 2 сом 30 тыйын</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Бул слайд окуучуларга көрсөтүлбөйт.</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3" name="TextBox 2"/>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1/26</a:t>
            </a:r>
          </a:p>
        </p:txBody>
      </p:sp>
      <p:sp>
        <p:nvSpPr>
          <p:cNvPr id="4" name="Rounded Rectangle 3"/>
          <p:cNvSpPr/>
          <p:nvPr/>
        </p:nvSpPr>
        <p:spPr>
          <a:xfrm>
            <a:off x="822960" y="1371600"/>
            <a:ext cx="164592" cy="128016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97280" y="1371600"/>
            <a:ext cx="164592" cy="128016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371600" y="1371600"/>
            <a:ext cx="164592" cy="128016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828800" y="1188720"/>
            <a:ext cx="9601200" cy="548640"/>
          </a:xfrm>
          <a:prstGeom prst="rect">
            <a:avLst/>
          </a:prstGeom>
          <a:noFill/>
        </p:spPr>
        <p:txBody>
          <a:bodyPr wrap="square" anchor="t" lIns="45720" rIns="45720" tIns="27432" bIns="27432">
            <a:spAutoFit/>
          </a:bodyPr>
          <a:lstStyle/>
          <a:p>
            <a:pPr algn="l">
              <a:lnSpc>
                <a:spcPct val="105000"/>
              </a:lnSpc>
            </a:pPr>
            <a:r>
              <a:rPr sz="2200" b="0" i="0">
                <a:solidFill>
                  <a:srgbClr val="4A5A70"/>
                </a:solidFill>
                <a:latin typeface="PT Sans"/>
              </a:rPr>
              <a:t/>
            </a:r>
          </a:p>
        </p:txBody>
      </p:sp>
      <p:sp>
        <p:nvSpPr>
          <p:cNvPr id="8" name="TextBox 7"/>
          <p:cNvSpPr txBox="1"/>
          <p:nvPr/>
        </p:nvSpPr>
        <p:spPr>
          <a:xfrm>
            <a:off x="1828800" y="1691640"/>
            <a:ext cx="9601200" cy="1737360"/>
          </a:xfrm>
          <a:prstGeom prst="rect">
            <a:avLst/>
          </a:prstGeom>
          <a:noFill/>
        </p:spPr>
        <p:txBody>
          <a:bodyPr wrap="square" anchor="t" lIns="45720" rIns="45720" tIns="27432" bIns="27432">
            <a:spAutoFit/>
          </a:bodyPr>
          <a:lstStyle/>
          <a:p>
            <a:pPr algn="l">
              <a:lnSpc>
                <a:spcPct val="105000"/>
              </a:lnSpc>
            </a:pPr>
            <a:r>
              <a:rPr sz="4000" b="1" i="0">
                <a:solidFill>
                  <a:srgbClr val="1D3557"/>
                </a:solidFill>
                <a:latin typeface="PT Sans"/>
              </a:rPr>
              <a:t>Акча: сатып алуу, кайтарым жана эң пайдалуу баа</a:t>
            </a:r>
          </a:p>
        </p:txBody>
      </p:sp>
      <p:sp>
        <p:nvSpPr>
          <p:cNvPr id="9" name="Rounded Rectangle 8"/>
          <p:cNvSpPr/>
          <p:nvPr/>
        </p:nvSpPr>
        <p:spPr>
          <a:xfrm>
            <a:off x="1828800" y="3611880"/>
            <a:ext cx="8778240" cy="1463040"/>
          </a:xfrm>
          <a:prstGeom prst="roundRect">
            <a:avLst>
              <a:gd name="adj" fmla="val 12000"/>
            </a:avLst>
          </a:prstGeom>
          <a:solidFill>
            <a:srgbClr val="FFFFFF"/>
          </a:solidFill>
          <a:ln w="285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3657600"/>
            <a:ext cx="8321040" cy="457200"/>
          </a:xfrm>
          <a:prstGeom prst="rect">
            <a:avLst/>
          </a:prstGeom>
          <a:noFill/>
        </p:spPr>
        <p:txBody>
          <a:bodyPr wrap="square" anchor="t" lIns="45720" rIns="45720" tIns="27432" bIns="27432">
            <a:spAutoFit/>
          </a:bodyPr>
          <a:lstStyle/>
          <a:p>
            <a:pPr algn="l">
              <a:lnSpc>
                <a:spcPct val="105000"/>
              </a:lnSpc>
            </a:pPr>
            <a:r>
              <a:rPr sz="2400" b="1" i="0">
                <a:solidFill>
                  <a:srgbClr val="A84400"/>
                </a:solidFill>
                <a:latin typeface="PT Sans"/>
              </a:rPr>
              <a:t>Бүгүнкү окуя: Жалал-Абаддагы дүкөн</a:t>
            </a:r>
          </a:p>
        </p:txBody>
      </p:sp>
      <p:sp>
        <p:nvSpPr>
          <p:cNvPr id="11" name="TextBox 10"/>
          <p:cNvSpPr txBox="1"/>
          <p:nvPr/>
        </p:nvSpPr>
        <p:spPr>
          <a:xfrm>
            <a:off x="2057400" y="4160520"/>
            <a:ext cx="8321040" cy="914400"/>
          </a:xfrm>
          <a:prstGeom prst="rect">
            <a:avLst/>
          </a:prstGeom>
          <a:noFill/>
        </p:spPr>
        <p:txBody>
          <a:bodyPr wrap="square" anchor="t" lIns="45720" rIns="45720" tIns="27432" bIns="27432">
            <a:spAutoFit/>
          </a:bodyPr>
          <a:lstStyle/>
          <a:p>
            <a:pPr algn="l">
              <a:lnSpc>
                <a:spcPct val="105000"/>
              </a:lnSpc>
            </a:pPr>
            <a:r>
              <a:rPr sz="1900" b="0" i="0">
                <a:solidFill>
                  <a:srgbClr val="1F2430"/>
                </a:solidFill>
                <a:latin typeface="PT Sans"/>
              </a:rPr>
              <a:t>Айдай менен Бекзат 500 сомго мектеп буюмдарын алып, эң пайдалуусун тандашат.</a:t>
            </a:r>
          </a:p>
        </p:txBody>
      </p:sp>
      <p:sp>
        <p:nvSpPr>
          <p:cNvPr id="12" name="TextBox 11"/>
          <p:cNvSpPr txBox="1"/>
          <p:nvPr/>
        </p:nvSpPr>
        <p:spPr>
          <a:xfrm>
            <a:off x="1828800" y="5349240"/>
            <a:ext cx="9601200" cy="457200"/>
          </a:xfrm>
          <a:prstGeom prst="rect">
            <a:avLst/>
          </a:prstGeom>
          <a:noFill/>
        </p:spPr>
        <p:txBody>
          <a:bodyPr wrap="square" anchor="t" lIns="45720" rIns="45720" tIns="27432" bIns="27432">
            <a:spAutoFit/>
          </a:bodyPr>
          <a:lstStyle/>
          <a:p>
            <a:pPr algn="l">
              <a:lnSpc>
                <a:spcPct val="105000"/>
              </a:lnSpc>
            </a:pPr>
            <a:r>
              <a:rPr sz="1300" b="0" i="1">
                <a:solidFill>
                  <a:srgbClr val="6B7280"/>
                </a:solidFill>
                <a:latin typeface="PT Sans"/>
              </a:rPr>
              <a:t>Китеп: Математика стандарты: 2-класс (акча), 4-класс (көп орундуу сандар менен төрт амал, аттуу сандар). Мазмуну, сандары жана окуясы толук жаңы.</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Сабактын мазмуну</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Акча: сатып алуу жана кайтарым</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2/26</a:t>
            </a:r>
          </a:p>
        </p:txBody>
      </p:sp>
      <p:sp>
        <p:nvSpPr>
          <p:cNvPr id="10" name="Rounded Rectangle 9"/>
          <p:cNvSpPr/>
          <p:nvPr/>
        </p:nvSpPr>
        <p:spPr>
          <a:xfrm>
            <a:off x="429768" y="1280160"/>
            <a:ext cx="11329416" cy="804672"/>
          </a:xfrm>
          <a:prstGeom prst="roundRect">
            <a:avLst>
              <a:gd name="adj" fmla="val 20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0080" y="1463039"/>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1</a:t>
            </a:r>
          </a:p>
        </p:txBody>
      </p:sp>
      <p:sp>
        <p:nvSpPr>
          <p:cNvPr id="12" name="TextBox 11"/>
          <p:cNvSpPr txBox="1"/>
          <p:nvPr/>
        </p:nvSpPr>
        <p:spPr>
          <a:xfrm>
            <a:off x="1280160" y="1280160"/>
            <a:ext cx="3108960" cy="804672"/>
          </a:xfrm>
          <a:prstGeom prst="rect">
            <a:avLst/>
          </a:prstGeom>
          <a:noFill/>
        </p:spPr>
        <p:txBody>
          <a:bodyPr wrap="square" anchor="ctr" lIns="45720" rIns="45720" tIns="27432" bIns="27432">
            <a:spAutoFit/>
          </a:bodyPr>
          <a:lstStyle/>
          <a:p>
            <a:pPr algn="l">
              <a:lnSpc>
                <a:spcPct val="105000"/>
              </a:lnSpc>
            </a:pPr>
            <a:r>
              <a:rPr sz="2400" b="1" i="0">
                <a:solidFill>
                  <a:srgbClr val="1D3557"/>
                </a:solidFill>
                <a:latin typeface="PT Sans"/>
              </a:rPr>
              <a:t>Кириш</a:t>
            </a:r>
          </a:p>
        </p:txBody>
      </p:sp>
      <p:sp>
        <p:nvSpPr>
          <p:cNvPr id="13" name="TextBox 12"/>
          <p:cNvSpPr txBox="1"/>
          <p:nvPr/>
        </p:nvSpPr>
        <p:spPr>
          <a:xfrm>
            <a:off x="4480560" y="1280160"/>
            <a:ext cx="7132320" cy="804672"/>
          </a:xfrm>
          <a:prstGeom prst="rect">
            <a:avLst/>
          </a:prstGeom>
          <a:noFill/>
        </p:spPr>
        <p:txBody>
          <a:bodyPr wrap="square" anchor="ctr" lIns="45720" rIns="45720" tIns="27432" bIns="27432">
            <a:spAutoFit/>
          </a:bodyPr>
          <a:lstStyle/>
          <a:p>
            <a:pPr algn="l">
              <a:lnSpc>
                <a:spcPct val="105000"/>
              </a:lnSpc>
            </a:pPr>
            <a:r>
              <a:rPr sz="2100" b="0" i="0">
                <a:solidFill>
                  <a:srgbClr val="1F2430"/>
                </a:solidFill>
                <a:latin typeface="PT Sans"/>
              </a:rPr>
              <a:t>Окуя, эрежелер, максаттар</a:t>
            </a:r>
          </a:p>
        </p:txBody>
      </p:sp>
      <p:sp>
        <p:nvSpPr>
          <p:cNvPr id="14" name="Rounded Rectangle 13"/>
          <p:cNvSpPr/>
          <p:nvPr/>
        </p:nvSpPr>
        <p:spPr>
          <a:xfrm>
            <a:off x="429768" y="2212848"/>
            <a:ext cx="11329416" cy="804672"/>
          </a:xfrm>
          <a:prstGeom prst="roundRect">
            <a:avLst>
              <a:gd name="adj" fmla="val 20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0080" y="2395728"/>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2</a:t>
            </a:r>
          </a:p>
        </p:txBody>
      </p:sp>
      <p:sp>
        <p:nvSpPr>
          <p:cNvPr id="16" name="TextBox 15"/>
          <p:cNvSpPr txBox="1"/>
          <p:nvPr/>
        </p:nvSpPr>
        <p:spPr>
          <a:xfrm>
            <a:off x="1280160" y="2212848"/>
            <a:ext cx="3108960" cy="804672"/>
          </a:xfrm>
          <a:prstGeom prst="rect">
            <a:avLst/>
          </a:prstGeom>
          <a:noFill/>
        </p:spPr>
        <p:txBody>
          <a:bodyPr wrap="square" anchor="ctr" lIns="45720" rIns="45720" tIns="27432" bIns="27432">
            <a:spAutoFit/>
          </a:bodyPr>
          <a:lstStyle/>
          <a:p>
            <a:pPr algn="l">
              <a:lnSpc>
                <a:spcPct val="105000"/>
              </a:lnSpc>
            </a:pPr>
            <a:r>
              <a:rPr sz="2400" b="1" i="0">
                <a:solidFill>
                  <a:srgbClr val="1D3557"/>
                </a:solidFill>
                <a:latin typeface="PT Sans"/>
              </a:rPr>
              <a:t>Даярдык</a:t>
            </a:r>
          </a:p>
        </p:txBody>
      </p:sp>
      <p:sp>
        <p:nvSpPr>
          <p:cNvPr id="17" name="TextBox 16"/>
          <p:cNvSpPr txBox="1"/>
          <p:nvPr/>
        </p:nvSpPr>
        <p:spPr>
          <a:xfrm>
            <a:off x="4480560" y="2212848"/>
            <a:ext cx="7132320" cy="804672"/>
          </a:xfrm>
          <a:prstGeom prst="rect">
            <a:avLst/>
          </a:prstGeom>
          <a:noFill/>
        </p:spPr>
        <p:txBody>
          <a:bodyPr wrap="square" anchor="ctr" lIns="45720" rIns="45720" tIns="27432" bIns="27432">
            <a:spAutoFit/>
          </a:bodyPr>
          <a:lstStyle/>
          <a:p>
            <a:pPr algn="l">
              <a:lnSpc>
                <a:spcPct val="105000"/>
              </a:lnSpc>
            </a:pPr>
            <a:r>
              <a:rPr sz="2100" b="0" i="0">
                <a:solidFill>
                  <a:srgbClr val="1F2430"/>
                </a:solidFill>
                <a:latin typeface="PT Sans"/>
              </a:rPr>
              <a:t>Эстейбиз, «Ким туура?»</a:t>
            </a:r>
          </a:p>
        </p:txBody>
      </p:sp>
      <p:sp>
        <p:nvSpPr>
          <p:cNvPr id="18" name="Rounded Rectangle 17"/>
          <p:cNvSpPr/>
          <p:nvPr/>
        </p:nvSpPr>
        <p:spPr>
          <a:xfrm>
            <a:off x="429768" y="3145536"/>
            <a:ext cx="11329416" cy="804672"/>
          </a:xfrm>
          <a:prstGeom prst="roundRect">
            <a:avLst>
              <a:gd name="adj" fmla="val 20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40080" y="3328416"/>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3</a:t>
            </a:r>
          </a:p>
        </p:txBody>
      </p:sp>
      <p:sp>
        <p:nvSpPr>
          <p:cNvPr id="20" name="TextBox 19"/>
          <p:cNvSpPr txBox="1"/>
          <p:nvPr/>
        </p:nvSpPr>
        <p:spPr>
          <a:xfrm>
            <a:off x="1280160" y="3145536"/>
            <a:ext cx="3108960" cy="804672"/>
          </a:xfrm>
          <a:prstGeom prst="rect">
            <a:avLst/>
          </a:prstGeom>
          <a:noFill/>
        </p:spPr>
        <p:txBody>
          <a:bodyPr wrap="square" anchor="ctr" lIns="45720" rIns="45720" tIns="27432" bIns="27432">
            <a:spAutoFit/>
          </a:bodyPr>
          <a:lstStyle/>
          <a:p>
            <a:pPr algn="l">
              <a:lnSpc>
                <a:spcPct val="105000"/>
              </a:lnSpc>
            </a:pPr>
            <a:r>
              <a:rPr sz="2400" b="1" i="0">
                <a:solidFill>
                  <a:srgbClr val="1D3557"/>
                </a:solidFill>
                <a:latin typeface="PT Sans"/>
              </a:rPr>
              <a:t>Түшүнөбүз</a:t>
            </a:r>
          </a:p>
        </p:txBody>
      </p:sp>
      <p:sp>
        <p:nvSpPr>
          <p:cNvPr id="21" name="TextBox 20"/>
          <p:cNvSpPr txBox="1"/>
          <p:nvPr/>
        </p:nvSpPr>
        <p:spPr>
          <a:xfrm>
            <a:off x="4480560" y="3145536"/>
            <a:ext cx="7132320" cy="804672"/>
          </a:xfrm>
          <a:prstGeom prst="rect">
            <a:avLst/>
          </a:prstGeom>
          <a:noFill/>
        </p:spPr>
        <p:txBody>
          <a:bodyPr wrap="square" anchor="ctr" lIns="45720" rIns="45720" tIns="27432" bIns="27432">
            <a:spAutoFit/>
          </a:bodyPr>
          <a:lstStyle/>
          <a:p>
            <a:pPr algn="l">
              <a:lnSpc>
                <a:spcPct val="105000"/>
              </a:lnSpc>
            </a:pPr>
            <a:r>
              <a:rPr sz="2100" b="0" i="0">
                <a:solidFill>
                  <a:srgbClr val="1F2430"/>
                </a:solidFill>
                <a:latin typeface="PT Sans"/>
              </a:rPr>
              <a:t>К → С → А: буюм, тилке, эреже</a:t>
            </a:r>
          </a:p>
        </p:txBody>
      </p:sp>
      <p:sp>
        <p:nvSpPr>
          <p:cNvPr id="22" name="Rounded Rectangle 21"/>
          <p:cNvSpPr/>
          <p:nvPr/>
        </p:nvSpPr>
        <p:spPr>
          <a:xfrm>
            <a:off x="429768" y="4078224"/>
            <a:ext cx="11329416" cy="804672"/>
          </a:xfrm>
          <a:prstGeom prst="roundRect">
            <a:avLst>
              <a:gd name="adj" fmla="val 20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0080" y="426110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4</a:t>
            </a:r>
          </a:p>
        </p:txBody>
      </p:sp>
      <p:sp>
        <p:nvSpPr>
          <p:cNvPr id="24" name="TextBox 23"/>
          <p:cNvSpPr txBox="1"/>
          <p:nvPr/>
        </p:nvSpPr>
        <p:spPr>
          <a:xfrm>
            <a:off x="1280160" y="4078224"/>
            <a:ext cx="3108960" cy="804672"/>
          </a:xfrm>
          <a:prstGeom prst="rect">
            <a:avLst/>
          </a:prstGeom>
          <a:noFill/>
        </p:spPr>
        <p:txBody>
          <a:bodyPr wrap="square" anchor="ctr" lIns="45720" rIns="45720" tIns="27432" bIns="27432">
            <a:spAutoFit/>
          </a:bodyPr>
          <a:lstStyle/>
          <a:p>
            <a:pPr algn="l">
              <a:lnSpc>
                <a:spcPct val="105000"/>
              </a:lnSpc>
            </a:pPr>
            <a:r>
              <a:rPr sz="2400" b="1" i="0">
                <a:solidFill>
                  <a:srgbClr val="1D3557"/>
                </a:solidFill>
                <a:latin typeface="PT Sans"/>
              </a:rPr>
              <a:t>Машыгабыз</a:t>
            </a:r>
          </a:p>
        </p:txBody>
      </p:sp>
      <p:sp>
        <p:nvSpPr>
          <p:cNvPr id="25" name="TextBox 24"/>
          <p:cNvSpPr txBox="1"/>
          <p:nvPr/>
        </p:nvSpPr>
        <p:spPr>
          <a:xfrm>
            <a:off x="4480560" y="4078224"/>
            <a:ext cx="7132320" cy="804672"/>
          </a:xfrm>
          <a:prstGeom prst="rect">
            <a:avLst/>
          </a:prstGeom>
          <a:noFill/>
        </p:spPr>
        <p:txBody>
          <a:bodyPr wrap="square" anchor="ctr" lIns="45720" rIns="45720" tIns="27432" bIns="27432">
            <a:spAutoFit/>
          </a:bodyPr>
          <a:lstStyle/>
          <a:p>
            <a:pPr algn="l">
              <a:lnSpc>
                <a:spcPct val="105000"/>
              </a:lnSpc>
            </a:pPr>
            <a:r>
              <a:rPr sz="2100" b="0" i="0">
                <a:solidFill>
                  <a:srgbClr val="1F2430"/>
                </a:solidFill>
                <a:latin typeface="PT Sans"/>
              </a:rPr>
              <a:t>Чечүүчү суроо, тилке, өз алдынча иш</a:t>
            </a:r>
          </a:p>
        </p:txBody>
      </p:sp>
      <p:sp>
        <p:nvSpPr>
          <p:cNvPr id="26" name="Rounded Rectangle 25"/>
          <p:cNvSpPr/>
          <p:nvPr/>
        </p:nvSpPr>
        <p:spPr>
          <a:xfrm>
            <a:off x="429768" y="5010912"/>
            <a:ext cx="11329416" cy="804672"/>
          </a:xfrm>
          <a:prstGeom prst="roundRect">
            <a:avLst>
              <a:gd name="adj" fmla="val 20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0080" y="5193792"/>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5</a:t>
            </a:r>
          </a:p>
        </p:txBody>
      </p:sp>
      <p:sp>
        <p:nvSpPr>
          <p:cNvPr id="28" name="TextBox 27"/>
          <p:cNvSpPr txBox="1"/>
          <p:nvPr/>
        </p:nvSpPr>
        <p:spPr>
          <a:xfrm>
            <a:off x="1280160" y="5010912"/>
            <a:ext cx="3108960" cy="804672"/>
          </a:xfrm>
          <a:prstGeom prst="rect">
            <a:avLst/>
          </a:prstGeom>
          <a:noFill/>
        </p:spPr>
        <p:txBody>
          <a:bodyPr wrap="square" anchor="ctr" lIns="45720" rIns="45720" tIns="27432" bIns="27432">
            <a:spAutoFit/>
          </a:bodyPr>
          <a:lstStyle/>
          <a:p>
            <a:pPr algn="l">
              <a:lnSpc>
                <a:spcPct val="105000"/>
              </a:lnSpc>
            </a:pPr>
            <a:r>
              <a:rPr sz="2400" b="1" i="0">
                <a:solidFill>
                  <a:srgbClr val="1D3557"/>
                </a:solidFill>
                <a:latin typeface="PT Sans"/>
              </a:rPr>
              <a:t>Жыйынтык</a:t>
            </a:r>
          </a:p>
        </p:txBody>
      </p:sp>
      <p:sp>
        <p:nvSpPr>
          <p:cNvPr id="29" name="TextBox 28"/>
          <p:cNvSpPr txBox="1"/>
          <p:nvPr/>
        </p:nvSpPr>
        <p:spPr>
          <a:xfrm>
            <a:off x="4480560" y="5010912"/>
            <a:ext cx="7132320" cy="804672"/>
          </a:xfrm>
          <a:prstGeom prst="rect">
            <a:avLst/>
          </a:prstGeom>
          <a:noFill/>
        </p:spPr>
        <p:txBody>
          <a:bodyPr wrap="square" anchor="ctr" lIns="45720" rIns="45720" tIns="27432" bIns="27432">
            <a:spAutoFit/>
          </a:bodyPr>
          <a:lstStyle/>
          <a:p>
            <a:pPr algn="l">
              <a:lnSpc>
                <a:spcPct val="105000"/>
              </a:lnSpc>
            </a:pPr>
            <a:r>
              <a:rPr sz="2100" b="0" i="0">
                <a:solidFill>
                  <a:srgbClr val="1F2430"/>
                </a:solidFill>
                <a:latin typeface="PT Sans"/>
              </a:rPr>
              <a:t>Окуяга кайтуу, түзүү, чыгуу билети</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Окуя: Жалал-Абаддагы дүкөн</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Акча: сатып алуу жана кайтарым</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3/26</a:t>
            </a:r>
          </a:p>
        </p:txBody>
      </p:sp>
      <p:sp>
        <p:nvSpPr>
          <p:cNvPr id="10" name="Rounded Rectangle 9"/>
          <p:cNvSpPr/>
          <p:nvPr/>
        </p:nvSpPr>
        <p:spPr>
          <a:xfrm>
            <a:off x="429768" y="1225296"/>
            <a:ext cx="6766560" cy="45720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325880"/>
            <a:ext cx="6217920" cy="4389120"/>
          </a:xfrm>
          <a:prstGeom prst="rect">
            <a:avLst/>
          </a:prstGeom>
          <a:noFill/>
        </p:spPr>
        <p:txBody>
          <a:bodyPr wrap="square" anchor="t" lIns="45720" rIns="45720" tIns="27432" bIns="27432">
            <a:spAutoFit/>
          </a:bodyPr>
          <a:lstStyle/>
          <a:p>
            <a:pPr algn="l">
              <a:lnSpc>
                <a:spcPct val="105000"/>
              </a:lnSpc>
            </a:pPr>
            <a:r>
              <a:rPr sz="2100" b="0" i="0">
                <a:solidFill>
                  <a:srgbClr val="1F2430"/>
                </a:solidFill>
                <a:latin typeface="PT Sans"/>
              </a:rPr>
              <a:t>Жалал-Абадда 1-сентябрь жакындады. Апасы Айдайга 500 сомдук бир кагаз акча берди.</a:t>
            </a:r>
          </a:p>
          <a:p>
            <a:pPr algn="l">
              <a:lnSpc>
                <a:spcPct val="105000"/>
              </a:lnSpc>
              <a:spcBef>
                <a:spcPts val="800"/>
              </a:spcBef>
            </a:pPr>
            <a:r>
              <a:rPr sz="2100" b="0" i="0">
                <a:solidFill>
                  <a:srgbClr val="1F2430"/>
                </a:solidFill>
                <a:latin typeface="PT Sans"/>
              </a:rPr>
              <a:t>«Бекзат экөөңө 10 дептер жана 3 калем ал. Кайтарымды мага алып кел».</a:t>
            </a:r>
          </a:p>
          <a:p>
            <a:pPr algn="l">
              <a:lnSpc>
                <a:spcPct val="105000"/>
              </a:lnSpc>
              <a:spcBef>
                <a:spcPts val="800"/>
              </a:spcBef>
            </a:pPr>
            <a:r>
              <a:rPr sz="2100" b="0" i="0">
                <a:solidFill>
                  <a:srgbClr val="1F2430"/>
                </a:solidFill>
                <a:latin typeface="PT Sans"/>
              </a:rPr>
              <a:t>Дүкөндө дептердин бир даанасы 25 сом, ал эми 5 дептер салынган пачка 110 сом. Калем 30 сом.</a:t>
            </a:r>
          </a:p>
          <a:p>
            <a:pPr algn="l">
              <a:lnSpc>
                <a:spcPct val="105000"/>
              </a:lnSpc>
              <a:spcBef>
                <a:spcPts val="800"/>
              </a:spcBef>
            </a:pPr>
            <a:r>
              <a:rPr sz="2100" b="0" i="0">
                <a:solidFill>
                  <a:srgbClr val="1F2430"/>
                </a:solidFill>
                <a:latin typeface="PT Sans"/>
              </a:rPr>
              <a:t>Айдай ойлонду: кантип эң арзан алам? Канча кайтарым алып барам?</a:t>
            </a:r>
          </a:p>
        </p:txBody>
      </p:sp>
      <p:sp>
        <p:nvSpPr>
          <p:cNvPr id="12" name="Rounded Rectangle 11"/>
          <p:cNvSpPr/>
          <p:nvPr/>
        </p:nvSpPr>
        <p:spPr>
          <a:xfrm>
            <a:off x="7406640" y="1225296"/>
            <a:ext cx="4352544" cy="4572000"/>
          </a:xfrm>
          <a:prstGeom prst="roundRect">
            <a:avLst>
              <a:gd name="adj" fmla="val 6000"/>
            </a:avLst>
          </a:prstGeom>
          <a:solidFill>
            <a:srgbClr val="FFFFFF"/>
          </a:solidFill>
          <a:ln w="285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35240" y="1325880"/>
            <a:ext cx="3931920" cy="457200"/>
          </a:xfrm>
          <a:prstGeom prst="rect">
            <a:avLst/>
          </a:prstGeom>
          <a:noFill/>
        </p:spPr>
        <p:txBody>
          <a:bodyPr wrap="square" anchor="t" lIns="45720" rIns="45720" tIns="27432" bIns="27432">
            <a:spAutoFit/>
          </a:bodyPr>
          <a:lstStyle/>
          <a:p>
            <a:pPr algn="l">
              <a:lnSpc>
                <a:spcPct val="105000"/>
              </a:lnSpc>
            </a:pPr>
            <a:r>
              <a:rPr sz="2200" b="1" i="0">
                <a:solidFill>
                  <a:srgbClr val="A84400"/>
                </a:solidFill>
                <a:latin typeface="PT Sans"/>
              </a:rPr>
              <a:t>Суроо</a:t>
            </a:r>
          </a:p>
        </p:txBody>
      </p:sp>
      <p:sp>
        <p:nvSpPr>
          <p:cNvPr id="14" name="TextBox 13"/>
          <p:cNvSpPr txBox="1"/>
          <p:nvPr/>
        </p:nvSpPr>
        <p:spPr>
          <a:xfrm>
            <a:off x="7635240" y="1828800"/>
            <a:ext cx="3931920" cy="2743200"/>
          </a:xfrm>
          <a:prstGeom prst="rect">
            <a:avLst/>
          </a:prstGeom>
          <a:noFill/>
        </p:spPr>
        <p:txBody>
          <a:bodyPr wrap="square" anchor="t" lIns="45720" rIns="45720" tIns="27432" bIns="27432">
            <a:spAutoFit/>
          </a:bodyPr>
          <a:lstStyle/>
          <a:p>
            <a:pPr algn="l">
              <a:lnSpc>
                <a:spcPct val="105000"/>
              </a:lnSpc>
            </a:pPr>
            <a:r>
              <a:rPr sz="2200" b="1" i="0">
                <a:solidFill>
                  <a:srgbClr val="1F2430"/>
                </a:solidFill>
                <a:latin typeface="PT Sans"/>
              </a:rPr>
              <a:t>500 сом бар. 10 дептер жана 3 калем керек. Дептер 25 сом же 5 дептерлүү пачка 110 сом. Калем 30 сом. Эң арзан кантип алат? Кайтарым канча?</a:t>
            </a:r>
          </a:p>
        </p:txBody>
      </p:sp>
      <p:sp>
        <p:nvSpPr>
          <p:cNvPr id="15" name="TextBox 14"/>
          <p:cNvSpPr txBox="1"/>
          <p:nvPr/>
        </p:nvSpPr>
        <p:spPr>
          <a:xfrm>
            <a:off x="7635240" y="4572000"/>
            <a:ext cx="3931920" cy="1097280"/>
          </a:xfrm>
          <a:prstGeom prst="rect">
            <a:avLst/>
          </a:prstGeom>
          <a:noFill/>
        </p:spPr>
        <p:txBody>
          <a:bodyPr wrap="square" anchor="t" lIns="45720" rIns="45720" tIns="27432" bIns="27432">
            <a:spAutoFit/>
          </a:bodyPr>
          <a:lstStyle/>
          <a:p>
            <a:pPr algn="l">
              <a:lnSpc>
                <a:spcPct val="105000"/>
              </a:lnSpc>
            </a:pPr>
            <a:r>
              <a:rPr sz="1700" b="0" i="1">
                <a:solidFill>
                  <a:srgbClr val="6B7280"/>
                </a:solidFill>
                <a:latin typeface="PT Sans"/>
              </a:rPr>
              <a:t>Азыр жообун айтпайбыз. Ойлон: кантип билебиз?</a:t>
            </a:r>
          </a:p>
        </p:txBody>
      </p:sp>
      <p:sp>
        <p:nvSpPr>
          <p:cNvPr id="16" name="Rounded Rectangle 15"/>
          <p:cNvSpPr/>
          <p:nvPr/>
        </p:nvSpPr>
        <p:spPr>
          <a:xfrm>
            <a:off x="4449927" y="6327648"/>
            <a:ext cx="3291840" cy="411480"/>
          </a:xfrm>
          <a:prstGeom prst="roundRect">
            <a:avLst>
              <a:gd name="adj" fmla="val 50000"/>
            </a:avLst>
          </a:prstGeom>
          <a:noFill/>
          <a:ln w="15875">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24418C"/>
                </a:solidFill>
                <a:latin typeface="PT Sans"/>
              </a:rPr>
              <a:t>3C · Байланыштыруу</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Математикада биз…</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Акча: сатып алуу жана кайтарым</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4/26</a:t>
            </a:r>
          </a:p>
        </p:txBody>
      </p:sp>
      <p:sp>
        <p:nvSpPr>
          <p:cNvPr id="10" name="Rounded Rectangle 9"/>
          <p:cNvSpPr/>
          <p:nvPr/>
        </p:nvSpPr>
        <p:spPr>
          <a:xfrm>
            <a:off x="429768" y="1325880"/>
            <a:ext cx="3624072" cy="420624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58368" y="1600200"/>
            <a:ext cx="3166872" cy="1463040"/>
          </a:xfrm>
          <a:prstGeom prst="roundRect">
            <a:avLst>
              <a:gd name="adj" fmla="val 15000"/>
            </a:avLst>
          </a:prstGeom>
          <a:noFill/>
          <a:ln w="254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007A5A"/>
                </a:solidFill>
                <a:latin typeface="PT Sans"/>
              </a:rPr>
              <a:t>Ката – үйрөнүүнүн бир бөлүгү</a:t>
            </a:r>
          </a:p>
        </p:txBody>
      </p:sp>
      <p:sp>
        <p:nvSpPr>
          <p:cNvPr id="12" name="TextBox 11"/>
          <p:cNvSpPr txBox="1"/>
          <p:nvPr/>
        </p:nvSpPr>
        <p:spPr>
          <a:xfrm>
            <a:off x="658368" y="3291840"/>
            <a:ext cx="3166872" cy="2103120"/>
          </a:xfrm>
          <a:prstGeom prst="rect">
            <a:avLst/>
          </a:prstGeom>
          <a:noFill/>
        </p:spPr>
        <p:txBody>
          <a:bodyPr wrap="square" anchor="t" lIns="45720" rIns="45720" tIns="27432" bIns="27432">
            <a:spAutoFit/>
          </a:bodyPr>
          <a:lstStyle/>
          <a:p>
            <a:pPr algn="ctr">
              <a:lnSpc>
                <a:spcPct val="105000"/>
              </a:lnSpc>
            </a:pPr>
            <a:r>
              <a:rPr sz="1900" b="0" i="0">
                <a:solidFill>
                  <a:srgbClr val="1F2430"/>
                </a:solidFill>
                <a:latin typeface="PT Sans"/>
              </a:rPr>
              <a:t>Ката кетсе, эмне үчүн кеткенин издейбиз.</a:t>
            </a:r>
          </a:p>
        </p:txBody>
      </p:sp>
      <p:sp>
        <p:nvSpPr>
          <p:cNvPr id="13" name="Rounded Rectangle 12"/>
          <p:cNvSpPr/>
          <p:nvPr/>
        </p:nvSpPr>
        <p:spPr>
          <a:xfrm>
            <a:off x="4282439" y="1325880"/>
            <a:ext cx="3624072" cy="420624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511039" y="1600200"/>
            <a:ext cx="3166872" cy="1463040"/>
          </a:xfrm>
          <a:prstGeom prst="roundRect">
            <a:avLst>
              <a:gd name="adj" fmla="val 15000"/>
            </a:avLst>
          </a:prstGeom>
          <a:noFill/>
          <a:ln w="2540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A84400"/>
                </a:solidFill>
                <a:latin typeface="PT Sans"/>
              </a:rPr>
              <a:t>«Азырынча билбейм»</a:t>
            </a:r>
          </a:p>
        </p:txBody>
      </p:sp>
      <p:sp>
        <p:nvSpPr>
          <p:cNvPr id="15" name="TextBox 14"/>
          <p:cNvSpPr txBox="1"/>
          <p:nvPr/>
        </p:nvSpPr>
        <p:spPr>
          <a:xfrm>
            <a:off x="4511039" y="3291840"/>
            <a:ext cx="3166872" cy="2103120"/>
          </a:xfrm>
          <a:prstGeom prst="rect">
            <a:avLst/>
          </a:prstGeom>
          <a:noFill/>
        </p:spPr>
        <p:txBody>
          <a:bodyPr wrap="square" anchor="t" lIns="45720" rIns="45720" tIns="27432" bIns="27432">
            <a:spAutoFit/>
          </a:bodyPr>
          <a:lstStyle/>
          <a:p>
            <a:pPr algn="ctr">
              <a:lnSpc>
                <a:spcPct val="105000"/>
              </a:lnSpc>
            </a:pPr>
            <a:r>
              <a:rPr sz="1900" b="0" i="0">
                <a:solidFill>
                  <a:srgbClr val="1F2430"/>
                </a:solidFill>
                <a:latin typeface="PT Sans"/>
              </a:rPr>
              <a:t>«Билбейм» эмес, «азырынча». Машыксак, үйрөнөбүз.</a:t>
            </a:r>
          </a:p>
        </p:txBody>
      </p:sp>
      <p:sp>
        <p:nvSpPr>
          <p:cNvPr id="16" name="Rounded Rectangle 15"/>
          <p:cNvSpPr/>
          <p:nvPr/>
        </p:nvSpPr>
        <p:spPr>
          <a:xfrm>
            <a:off x="8135112" y="1325880"/>
            <a:ext cx="3624072" cy="420624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363712" y="1600200"/>
            <a:ext cx="3166872" cy="1463040"/>
          </a:xfrm>
          <a:prstGeom prst="roundRect">
            <a:avLst>
              <a:gd name="adj" fmla="val 15000"/>
            </a:avLst>
          </a:prstGeom>
          <a:noFill/>
          <a:ln w="25400">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24418C"/>
                </a:solidFill>
                <a:latin typeface="PT Sans"/>
              </a:rPr>
              <a:t>Адегенде түшүн, анан эсепте</a:t>
            </a:r>
          </a:p>
        </p:txBody>
      </p:sp>
      <p:sp>
        <p:nvSpPr>
          <p:cNvPr id="18" name="TextBox 17"/>
          <p:cNvSpPr txBox="1"/>
          <p:nvPr/>
        </p:nvSpPr>
        <p:spPr>
          <a:xfrm>
            <a:off x="8363712" y="3291840"/>
            <a:ext cx="3166872" cy="2103120"/>
          </a:xfrm>
          <a:prstGeom prst="rect">
            <a:avLst/>
          </a:prstGeom>
          <a:noFill/>
        </p:spPr>
        <p:txBody>
          <a:bodyPr wrap="square" anchor="t" lIns="45720" rIns="45720" tIns="27432" bIns="27432">
            <a:spAutoFit/>
          </a:bodyPr>
          <a:lstStyle/>
          <a:p>
            <a:pPr algn="ctr">
              <a:lnSpc>
                <a:spcPct val="105000"/>
              </a:lnSpc>
            </a:pPr>
            <a:r>
              <a:rPr sz="1900" b="0" i="0">
                <a:solidFill>
                  <a:srgbClr val="1F2430"/>
                </a:solidFill>
                <a:latin typeface="PT Sans"/>
              </a:rPr>
              <a:t>Сүрөт же тилке чийип, анан сан менен жазабыз.</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Максаттар</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Акча: сатып алуу жана кайтарым</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5/26</a:t>
            </a:r>
          </a:p>
        </p:txBody>
      </p:sp>
      <p:sp>
        <p:nvSpPr>
          <p:cNvPr id="10" name="Rounded Rectangle 9"/>
          <p:cNvSpPr/>
          <p:nvPr/>
        </p:nvSpPr>
        <p:spPr>
          <a:xfrm>
            <a:off x="429768" y="1225296"/>
            <a:ext cx="6409944" cy="4928616"/>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429768" y="1865376"/>
            <a:ext cx="6409944" cy="0"/>
          </a:xfrm>
          <a:prstGeom prst="line">
            <a:avLst/>
          </a:prstGeom>
          <a:ln w="19050">
            <a:solidFill>
              <a:srgbClr val="1D3557"/>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12648" y="1225296"/>
            <a:ext cx="6044184" cy="640080"/>
          </a:xfrm>
          <a:prstGeom prst="rect">
            <a:avLst/>
          </a:prstGeom>
          <a:noFill/>
        </p:spPr>
        <p:txBody>
          <a:bodyPr wrap="square" anchor="ctr" lIns="45720" rIns="45720" tIns="27432" bIns="27432">
            <a:spAutoFit/>
          </a:bodyPr>
          <a:lstStyle/>
          <a:p>
            <a:pPr algn="ctr">
              <a:lnSpc>
                <a:spcPct val="105000"/>
              </a:lnSpc>
            </a:pPr>
            <a:r>
              <a:rPr sz="2400" b="1" i="0">
                <a:solidFill>
                  <a:srgbClr val="1D3557"/>
                </a:solidFill>
                <a:latin typeface="PT Sans"/>
              </a:rPr>
              <a:t>Бүгүн биз үйрөнөбүз</a:t>
            </a:r>
          </a:p>
        </p:txBody>
      </p:sp>
      <p:sp>
        <p:nvSpPr>
          <p:cNvPr id="13" name="Oval 12"/>
          <p:cNvSpPr/>
          <p:nvPr/>
        </p:nvSpPr>
        <p:spPr>
          <a:xfrm>
            <a:off x="722376" y="2148840"/>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1</a:t>
            </a:r>
          </a:p>
        </p:txBody>
      </p:sp>
      <p:sp>
        <p:nvSpPr>
          <p:cNvPr id="14" name="TextBox 13"/>
          <p:cNvSpPr txBox="1"/>
          <p:nvPr/>
        </p:nvSpPr>
        <p:spPr>
          <a:xfrm>
            <a:off x="1261872" y="2112264"/>
            <a:ext cx="5394960" cy="1097280"/>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Сом менен тыйынды алмаштырам (1 сом = 100 тыйын), чыныгы кагаз акча жана тыйындар менен төлөйм.</a:t>
            </a:r>
          </a:p>
        </p:txBody>
      </p:sp>
      <p:sp>
        <p:nvSpPr>
          <p:cNvPr id="15" name="Oval 14"/>
          <p:cNvSpPr/>
          <p:nvPr/>
        </p:nvSpPr>
        <p:spPr>
          <a:xfrm>
            <a:off x="722376" y="3429000"/>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2</a:t>
            </a:r>
          </a:p>
        </p:txBody>
      </p:sp>
      <p:sp>
        <p:nvSpPr>
          <p:cNvPr id="16" name="TextBox 15"/>
          <p:cNvSpPr txBox="1"/>
          <p:nvPr/>
        </p:nvSpPr>
        <p:spPr>
          <a:xfrm>
            <a:off x="1261872" y="3392424"/>
            <a:ext cx="5394960" cy="1097280"/>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Бир нече буюмдун жалпы баасын жана кайтарымды калькуляторсуз эсептеп, текшерем.</a:t>
            </a:r>
          </a:p>
        </p:txBody>
      </p:sp>
      <p:sp>
        <p:nvSpPr>
          <p:cNvPr id="17" name="Oval 16"/>
          <p:cNvSpPr/>
          <p:nvPr/>
        </p:nvSpPr>
        <p:spPr>
          <a:xfrm>
            <a:off x="722376" y="4709160"/>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3</a:t>
            </a:r>
          </a:p>
        </p:txBody>
      </p:sp>
      <p:sp>
        <p:nvSpPr>
          <p:cNvPr id="18" name="TextBox 17"/>
          <p:cNvSpPr txBox="1"/>
          <p:nvPr/>
        </p:nvSpPr>
        <p:spPr>
          <a:xfrm>
            <a:off x="1261872" y="4672584"/>
            <a:ext cx="5394960" cy="1097280"/>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Бир даананын баасын таап, эң пайдалуу бааны тандайм; акчаны пландайм (бюджет).</a:t>
            </a:r>
          </a:p>
        </p:txBody>
      </p:sp>
      <p:sp>
        <p:nvSpPr>
          <p:cNvPr id="19" name="Rounded Rectangle 18"/>
          <p:cNvSpPr/>
          <p:nvPr/>
        </p:nvSpPr>
        <p:spPr>
          <a:xfrm>
            <a:off x="7132320" y="1225296"/>
            <a:ext cx="4636008" cy="4928616"/>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Connector 19"/>
          <p:cNvCxnSpPr/>
          <p:nvPr/>
        </p:nvCxnSpPr>
        <p:spPr>
          <a:xfrm>
            <a:off x="7132320" y="1865376"/>
            <a:ext cx="4636008" cy="0"/>
          </a:xfrm>
          <a:prstGeom prst="line">
            <a:avLst/>
          </a:prstGeom>
          <a:ln w="19050">
            <a:solidFill>
              <a:srgbClr val="1D3557"/>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7306056" y="1225296"/>
            <a:ext cx="4270248" cy="640080"/>
          </a:xfrm>
          <a:prstGeom prst="rect">
            <a:avLst/>
          </a:prstGeom>
          <a:noFill/>
        </p:spPr>
        <p:txBody>
          <a:bodyPr wrap="square" anchor="ctr" lIns="45720" rIns="45720" tIns="27432" bIns="27432">
            <a:spAutoFit/>
          </a:bodyPr>
          <a:lstStyle/>
          <a:p>
            <a:pPr algn="ctr">
              <a:lnSpc>
                <a:spcPct val="105000"/>
              </a:lnSpc>
            </a:pPr>
            <a:r>
              <a:rPr sz="2400" b="1" i="0">
                <a:solidFill>
                  <a:srgbClr val="1D3557"/>
                </a:solidFill>
                <a:latin typeface="PT Sans"/>
              </a:rPr>
              <a:t>Деңгээлдер</a:t>
            </a:r>
          </a:p>
        </p:txBody>
      </p:sp>
      <p:sp>
        <p:nvSpPr>
          <p:cNvPr id="22" name="Rounded Rectangle 21"/>
          <p:cNvSpPr/>
          <p:nvPr/>
        </p:nvSpPr>
        <p:spPr>
          <a:xfrm>
            <a:off x="7360920" y="2103120"/>
            <a:ext cx="1143000" cy="731520"/>
          </a:xfrm>
          <a:prstGeom prst="roundRect">
            <a:avLst>
              <a:gd name="adj" fmla="val 20000"/>
            </a:avLst>
          </a:prstGeom>
          <a:solidFill>
            <a:srgbClr val="FFFFFF"/>
          </a:solidFill>
          <a:ln w="1905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007A5A"/>
                </a:solidFill>
                <a:latin typeface="PT Sans"/>
              </a:rPr>
              <a:t>Жеңил</a:t>
            </a:r>
          </a:p>
        </p:txBody>
      </p:sp>
      <p:sp>
        <p:nvSpPr>
          <p:cNvPr id="23" name="TextBox 22"/>
          <p:cNvSpPr txBox="1"/>
          <p:nvPr/>
        </p:nvSpPr>
        <p:spPr>
          <a:xfrm>
            <a:off x="8641080" y="2057400"/>
            <a:ext cx="3017520" cy="822960"/>
          </a:xfrm>
          <a:prstGeom prst="rect">
            <a:avLst/>
          </a:prstGeom>
          <a:noFill/>
        </p:spPr>
        <p:txBody>
          <a:bodyPr wrap="square" anchor="ctr" lIns="45720" rIns="45720" tIns="27432" bIns="27432">
            <a:spAutoFit/>
          </a:bodyPr>
          <a:lstStyle/>
          <a:p>
            <a:pPr algn="l">
              <a:lnSpc>
                <a:spcPct val="105000"/>
              </a:lnSpc>
            </a:pPr>
            <a:r>
              <a:rPr sz="2000" b="0" i="0">
                <a:solidFill>
                  <a:srgbClr val="1F2430"/>
                </a:solidFill>
                <a:latin typeface="PT Sans"/>
              </a:rPr>
              <a:t>Сом, тыйын, жалпы баа</a:t>
            </a:r>
          </a:p>
        </p:txBody>
      </p:sp>
      <p:sp>
        <p:nvSpPr>
          <p:cNvPr id="24" name="Rounded Rectangle 23"/>
          <p:cNvSpPr/>
          <p:nvPr/>
        </p:nvSpPr>
        <p:spPr>
          <a:xfrm>
            <a:off x="7360920" y="3127248"/>
            <a:ext cx="1143000" cy="731520"/>
          </a:xfrm>
          <a:prstGeom prst="roundRect">
            <a:avLst>
              <a:gd name="adj" fmla="val 20000"/>
            </a:avLst>
          </a:prstGeom>
          <a:solidFill>
            <a:srgbClr val="FFFFFF"/>
          </a:solidFill>
          <a:ln w="2540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A84400"/>
                </a:solidFill>
                <a:latin typeface="PT Sans"/>
              </a:rPr>
              <a:t>Орто</a:t>
            </a:r>
          </a:p>
        </p:txBody>
      </p:sp>
      <p:sp>
        <p:nvSpPr>
          <p:cNvPr id="25" name="TextBox 24"/>
          <p:cNvSpPr txBox="1"/>
          <p:nvPr/>
        </p:nvSpPr>
        <p:spPr>
          <a:xfrm>
            <a:off x="8641080" y="3081528"/>
            <a:ext cx="3017520" cy="822960"/>
          </a:xfrm>
          <a:prstGeom prst="rect">
            <a:avLst/>
          </a:prstGeom>
          <a:noFill/>
        </p:spPr>
        <p:txBody>
          <a:bodyPr wrap="square" anchor="ctr" lIns="45720" rIns="45720" tIns="27432" bIns="27432">
            <a:spAutoFit/>
          </a:bodyPr>
          <a:lstStyle/>
          <a:p>
            <a:pPr algn="l">
              <a:lnSpc>
                <a:spcPct val="105000"/>
              </a:lnSpc>
            </a:pPr>
            <a:r>
              <a:rPr sz="2000" b="0" i="0">
                <a:solidFill>
                  <a:srgbClr val="1F2430"/>
                </a:solidFill>
                <a:latin typeface="PT Sans"/>
              </a:rPr>
              <a:t>Кайтарым, текшерүү</a:t>
            </a:r>
          </a:p>
        </p:txBody>
      </p:sp>
      <p:sp>
        <p:nvSpPr>
          <p:cNvPr id="26" name="Rounded Rectangle 25"/>
          <p:cNvSpPr/>
          <p:nvPr/>
        </p:nvSpPr>
        <p:spPr>
          <a:xfrm>
            <a:off x="7360920" y="4151376"/>
            <a:ext cx="1143000" cy="731520"/>
          </a:xfrm>
          <a:prstGeom prst="roundRect">
            <a:avLst>
              <a:gd name="adj" fmla="val 20000"/>
            </a:avLst>
          </a:prstGeom>
          <a:solidFill>
            <a:srgbClr val="FFFFFF"/>
          </a:solidFill>
          <a:ln w="19050">
            <a:solidFill>
              <a:srgbClr val="4A5A7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4A5A70"/>
                </a:solidFill>
                <a:latin typeface="PT Sans"/>
              </a:rPr>
              <a:t>Оор</a:t>
            </a:r>
          </a:p>
        </p:txBody>
      </p:sp>
      <p:sp>
        <p:nvSpPr>
          <p:cNvPr id="27" name="TextBox 26"/>
          <p:cNvSpPr txBox="1"/>
          <p:nvPr/>
        </p:nvSpPr>
        <p:spPr>
          <a:xfrm>
            <a:off x="8641080" y="4105656"/>
            <a:ext cx="3017520" cy="822960"/>
          </a:xfrm>
          <a:prstGeom prst="rect">
            <a:avLst/>
          </a:prstGeom>
          <a:noFill/>
        </p:spPr>
        <p:txBody>
          <a:bodyPr wrap="square" anchor="ctr" lIns="45720" rIns="45720" tIns="27432" bIns="27432">
            <a:spAutoFit/>
          </a:bodyPr>
          <a:lstStyle/>
          <a:p>
            <a:pPr algn="l">
              <a:lnSpc>
                <a:spcPct val="105000"/>
              </a:lnSpc>
            </a:pPr>
            <a:r>
              <a:rPr sz="2000" b="0" i="0">
                <a:solidFill>
                  <a:srgbClr val="6B7280"/>
                </a:solidFill>
                <a:latin typeface="PT Sans"/>
              </a:rPr>
              <a:t>Эң пайдалуу баа, бюджет</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3C: бүгүн кантип ойлонобуз?</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Акча: сатып алуу жана кайтарым</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6/26</a:t>
            </a:r>
          </a:p>
        </p:txBody>
      </p:sp>
      <p:sp>
        <p:nvSpPr>
          <p:cNvPr id="10" name="Rounded Rectangle 9"/>
          <p:cNvSpPr/>
          <p:nvPr/>
        </p:nvSpPr>
        <p:spPr>
          <a:xfrm>
            <a:off x="429768" y="1225296"/>
            <a:ext cx="3593592" cy="4928616"/>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04088" y="1463040"/>
            <a:ext cx="3044952" cy="640080"/>
          </a:xfrm>
          <a:prstGeom prst="roundRect">
            <a:avLst>
              <a:gd name="adj" fmla="val 50000"/>
            </a:avLst>
          </a:prstGeom>
          <a:noFill/>
          <a:ln w="254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007A5A"/>
                </a:solidFill>
                <a:latin typeface="PT Sans"/>
              </a:rPr>
              <a:t>Сынчыл ой</a:t>
            </a:r>
          </a:p>
        </p:txBody>
      </p:sp>
      <p:sp>
        <p:nvSpPr>
          <p:cNvPr id="12" name="TextBox 11"/>
          <p:cNvSpPr txBox="1"/>
          <p:nvPr/>
        </p:nvSpPr>
        <p:spPr>
          <a:xfrm>
            <a:off x="658368" y="2286000"/>
            <a:ext cx="3136392" cy="1371600"/>
          </a:xfrm>
          <a:prstGeom prst="rect">
            <a:avLst/>
          </a:prstGeom>
          <a:noFill/>
        </p:spPr>
        <p:txBody>
          <a:bodyPr wrap="square" anchor="t" lIns="45720" rIns="45720" tIns="27432" bIns="27432">
            <a:spAutoFit/>
          </a:bodyPr>
          <a:lstStyle/>
          <a:p>
            <a:pPr algn="ctr">
              <a:lnSpc>
                <a:spcPct val="105000"/>
              </a:lnSpc>
            </a:pPr>
            <a:r>
              <a:rPr sz="2000" b="0" i="0">
                <a:solidFill>
                  <a:srgbClr val="1F2430"/>
                </a:solidFill>
                <a:latin typeface="PT Sans"/>
              </a:rPr>
              <a:t>Текшеребиз, далилдейбиз, катаны издейбиз.</a:t>
            </a:r>
          </a:p>
        </p:txBody>
      </p:sp>
      <p:cxnSp>
        <p:nvCxnSpPr>
          <p:cNvPr id="13" name="Connector 12"/>
          <p:cNvCxnSpPr/>
          <p:nvPr/>
        </p:nvCxnSpPr>
        <p:spPr>
          <a:xfrm>
            <a:off x="704088" y="3703320"/>
            <a:ext cx="3044952"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58368" y="3794760"/>
            <a:ext cx="3136392" cy="411480"/>
          </a:xfrm>
          <a:prstGeom prst="rect">
            <a:avLst/>
          </a:prstGeom>
          <a:noFill/>
        </p:spPr>
        <p:txBody>
          <a:bodyPr wrap="square" anchor="t" lIns="45720" rIns="45720" tIns="27432" bIns="27432">
            <a:spAutoFit/>
          </a:bodyPr>
          <a:lstStyle/>
          <a:p>
            <a:pPr algn="l">
              <a:lnSpc>
                <a:spcPct val="105000"/>
              </a:lnSpc>
            </a:pPr>
            <a:r>
              <a:rPr sz="1600" b="1" i="0">
                <a:solidFill>
                  <a:srgbClr val="6B7280"/>
                </a:solidFill>
                <a:latin typeface="PT Sans"/>
              </a:rPr>
              <a:t>Бүгүн:</a:t>
            </a:r>
          </a:p>
        </p:txBody>
      </p:sp>
      <p:sp>
        <p:nvSpPr>
          <p:cNvPr id="15" name="TextBox 14"/>
          <p:cNvSpPr txBox="1"/>
          <p:nvPr/>
        </p:nvSpPr>
        <p:spPr>
          <a:xfrm>
            <a:off x="658368" y="4206240"/>
            <a:ext cx="3136392" cy="1828800"/>
          </a:xfrm>
          <a:prstGeom prst="rect">
            <a:avLst/>
          </a:prstGeom>
          <a:noFill/>
        </p:spPr>
        <p:txBody>
          <a:bodyPr wrap="square" anchor="t" lIns="45720" rIns="45720" tIns="27432" bIns="27432">
            <a:spAutoFit/>
          </a:bodyPr>
          <a:lstStyle/>
          <a:p>
            <a:pPr algn="l">
              <a:lnSpc>
                <a:spcPct val="105000"/>
              </a:lnSpc>
            </a:pPr>
            <a:r>
              <a:rPr sz="1800" b="0" i="0">
                <a:solidFill>
                  <a:srgbClr val="1F2430"/>
                </a:solidFill>
                <a:latin typeface="PT Sans"/>
              </a:rPr>
              <a:t>• «Ким туура?»</a:t>
            </a:r>
          </a:p>
          <a:p>
            <a:pPr algn="l">
              <a:lnSpc>
                <a:spcPct val="105000"/>
              </a:lnSpc>
            </a:pPr>
            <a:r>
              <a:rPr sz="1800" b="0" i="0">
                <a:solidFill>
                  <a:srgbClr val="1F2430"/>
                </a:solidFill>
                <a:latin typeface="PT Sans"/>
              </a:rPr>
              <a:t>• Кайтарымды текшерүү</a:t>
            </a:r>
          </a:p>
        </p:txBody>
      </p:sp>
      <p:sp>
        <p:nvSpPr>
          <p:cNvPr id="16" name="Rounded Rectangle 15"/>
          <p:cNvSpPr/>
          <p:nvPr/>
        </p:nvSpPr>
        <p:spPr>
          <a:xfrm>
            <a:off x="4297680" y="1225296"/>
            <a:ext cx="3593592" cy="4928616"/>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572000" y="1463040"/>
            <a:ext cx="3044952" cy="640080"/>
          </a:xfrm>
          <a:prstGeom prst="roundRect">
            <a:avLst>
              <a:gd name="adj" fmla="val 50000"/>
            </a:avLst>
          </a:prstGeom>
          <a:noFill/>
          <a:ln w="2540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A84400"/>
                </a:solidFill>
                <a:latin typeface="PT Sans"/>
              </a:rPr>
              <a:t>Кызматташуу</a:t>
            </a:r>
          </a:p>
        </p:txBody>
      </p:sp>
      <p:sp>
        <p:nvSpPr>
          <p:cNvPr id="18" name="TextBox 17"/>
          <p:cNvSpPr txBox="1"/>
          <p:nvPr/>
        </p:nvSpPr>
        <p:spPr>
          <a:xfrm>
            <a:off x="4526280" y="2286000"/>
            <a:ext cx="3136392" cy="1371600"/>
          </a:xfrm>
          <a:prstGeom prst="rect">
            <a:avLst/>
          </a:prstGeom>
          <a:noFill/>
        </p:spPr>
        <p:txBody>
          <a:bodyPr wrap="square" anchor="t" lIns="45720" rIns="45720" tIns="27432" bIns="27432">
            <a:spAutoFit/>
          </a:bodyPr>
          <a:lstStyle/>
          <a:p>
            <a:pPr algn="ctr">
              <a:lnSpc>
                <a:spcPct val="105000"/>
              </a:lnSpc>
            </a:pPr>
            <a:r>
              <a:rPr sz="2000" b="0" i="0">
                <a:solidFill>
                  <a:srgbClr val="1F2430"/>
                </a:solidFill>
                <a:latin typeface="PT Sans"/>
              </a:rPr>
              <a:t>Жупта жана топто сүйлөшөбүз.</a:t>
            </a:r>
          </a:p>
        </p:txBody>
      </p:sp>
      <p:cxnSp>
        <p:nvCxnSpPr>
          <p:cNvPr id="19" name="Connector 18"/>
          <p:cNvCxnSpPr/>
          <p:nvPr/>
        </p:nvCxnSpPr>
        <p:spPr>
          <a:xfrm>
            <a:off x="4572000" y="3703320"/>
            <a:ext cx="3044952"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4526280" y="3794760"/>
            <a:ext cx="3136392" cy="411480"/>
          </a:xfrm>
          <a:prstGeom prst="rect">
            <a:avLst/>
          </a:prstGeom>
          <a:noFill/>
        </p:spPr>
        <p:txBody>
          <a:bodyPr wrap="square" anchor="t" lIns="45720" rIns="45720" tIns="27432" bIns="27432">
            <a:spAutoFit/>
          </a:bodyPr>
          <a:lstStyle/>
          <a:p>
            <a:pPr algn="l">
              <a:lnSpc>
                <a:spcPct val="105000"/>
              </a:lnSpc>
            </a:pPr>
            <a:r>
              <a:rPr sz="1600" b="1" i="0">
                <a:solidFill>
                  <a:srgbClr val="6B7280"/>
                </a:solidFill>
                <a:latin typeface="PT Sans"/>
              </a:rPr>
              <a:t>Бүгүн:</a:t>
            </a:r>
          </a:p>
        </p:txBody>
      </p:sp>
      <p:sp>
        <p:nvSpPr>
          <p:cNvPr id="21" name="TextBox 20"/>
          <p:cNvSpPr txBox="1"/>
          <p:nvPr/>
        </p:nvSpPr>
        <p:spPr>
          <a:xfrm>
            <a:off x="4526280" y="4206240"/>
            <a:ext cx="3136392" cy="1828800"/>
          </a:xfrm>
          <a:prstGeom prst="rect">
            <a:avLst/>
          </a:prstGeom>
          <a:noFill/>
        </p:spPr>
        <p:txBody>
          <a:bodyPr wrap="square" anchor="t" lIns="45720" rIns="45720" tIns="27432" bIns="27432">
            <a:spAutoFit/>
          </a:bodyPr>
          <a:lstStyle/>
          <a:p>
            <a:pPr algn="l">
              <a:lnSpc>
                <a:spcPct val="105000"/>
              </a:lnSpc>
            </a:pPr>
            <a:r>
              <a:rPr sz="1800" b="0" i="0">
                <a:solidFill>
                  <a:srgbClr val="1F2430"/>
                </a:solidFill>
                <a:latin typeface="PT Sans"/>
              </a:rPr>
              <a:t>• Жупта: «дүкөн» оюну</a:t>
            </a:r>
          </a:p>
        </p:txBody>
      </p:sp>
      <p:sp>
        <p:nvSpPr>
          <p:cNvPr id="22" name="Rounded Rectangle 21"/>
          <p:cNvSpPr/>
          <p:nvPr/>
        </p:nvSpPr>
        <p:spPr>
          <a:xfrm>
            <a:off x="8165592" y="1225296"/>
            <a:ext cx="3593592" cy="4928616"/>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439912" y="1463040"/>
            <a:ext cx="3044952" cy="640080"/>
          </a:xfrm>
          <a:prstGeom prst="roundRect">
            <a:avLst>
              <a:gd name="adj" fmla="val 50000"/>
            </a:avLst>
          </a:prstGeom>
          <a:noFill/>
          <a:ln w="25400">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24418C"/>
                </a:solidFill>
                <a:latin typeface="PT Sans"/>
              </a:rPr>
              <a:t>Байланыштыруу</a:t>
            </a:r>
          </a:p>
        </p:txBody>
      </p:sp>
      <p:sp>
        <p:nvSpPr>
          <p:cNvPr id="24" name="TextBox 23"/>
          <p:cNvSpPr txBox="1"/>
          <p:nvPr/>
        </p:nvSpPr>
        <p:spPr>
          <a:xfrm>
            <a:off x="8394192" y="2286000"/>
            <a:ext cx="3136392" cy="1371600"/>
          </a:xfrm>
          <a:prstGeom prst="rect">
            <a:avLst/>
          </a:prstGeom>
          <a:noFill/>
        </p:spPr>
        <p:txBody>
          <a:bodyPr wrap="square" anchor="t" lIns="45720" rIns="45720" tIns="27432" bIns="27432">
            <a:spAutoFit/>
          </a:bodyPr>
          <a:lstStyle/>
          <a:p>
            <a:pPr algn="ctr">
              <a:lnSpc>
                <a:spcPct val="105000"/>
              </a:lnSpc>
            </a:pPr>
            <a:r>
              <a:rPr sz="2000" b="0" i="0">
                <a:solidFill>
                  <a:srgbClr val="1F2430"/>
                </a:solidFill>
                <a:latin typeface="PT Sans"/>
              </a:rPr>
              <a:t>Математиканы турмуш менен байланыштырабыз.</a:t>
            </a:r>
          </a:p>
        </p:txBody>
      </p:sp>
      <p:cxnSp>
        <p:nvCxnSpPr>
          <p:cNvPr id="25" name="Connector 24"/>
          <p:cNvCxnSpPr/>
          <p:nvPr/>
        </p:nvCxnSpPr>
        <p:spPr>
          <a:xfrm>
            <a:off x="8439912" y="3703320"/>
            <a:ext cx="3044952"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8394192" y="3794760"/>
            <a:ext cx="3136392" cy="411480"/>
          </a:xfrm>
          <a:prstGeom prst="rect">
            <a:avLst/>
          </a:prstGeom>
          <a:noFill/>
        </p:spPr>
        <p:txBody>
          <a:bodyPr wrap="square" anchor="t" lIns="45720" rIns="45720" tIns="27432" bIns="27432">
            <a:spAutoFit/>
          </a:bodyPr>
          <a:lstStyle/>
          <a:p>
            <a:pPr algn="l">
              <a:lnSpc>
                <a:spcPct val="105000"/>
              </a:lnSpc>
            </a:pPr>
            <a:r>
              <a:rPr sz="1600" b="1" i="0">
                <a:solidFill>
                  <a:srgbClr val="6B7280"/>
                </a:solidFill>
                <a:latin typeface="PT Sans"/>
              </a:rPr>
              <a:t>Бүгүн:</a:t>
            </a:r>
          </a:p>
        </p:txBody>
      </p:sp>
      <p:sp>
        <p:nvSpPr>
          <p:cNvPr id="27" name="TextBox 26"/>
          <p:cNvSpPr txBox="1"/>
          <p:nvPr/>
        </p:nvSpPr>
        <p:spPr>
          <a:xfrm>
            <a:off x="8394192" y="4206240"/>
            <a:ext cx="3136392" cy="1828800"/>
          </a:xfrm>
          <a:prstGeom prst="rect">
            <a:avLst/>
          </a:prstGeom>
          <a:noFill/>
        </p:spPr>
        <p:txBody>
          <a:bodyPr wrap="square" anchor="t" lIns="45720" rIns="45720" tIns="27432" bIns="27432">
            <a:spAutoFit/>
          </a:bodyPr>
          <a:lstStyle/>
          <a:p>
            <a:pPr algn="l">
              <a:lnSpc>
                <a:spcPct val="105000"/>
              </a:lnSpc>
            </a:pPr>
            <a:r>
              <a:rPr sz="1800" b="0" i="0">
                <a:solidFill>
                  <a:srgbClr val="1F2430"/>
                </a:solidFill>
                <a:latin typeface="PT Sans"/>
              </a:rPr>
              <a:t>• Жалал-Абаддагы дүкөн</a:t>
            </a:r>
          </a:p>
          <a:p>
            <a:pPr algn="l">
              <a:lnSpc>
                <a:spcPct val="105000"/>
              </a:lnSpc>
            </a:pPr>
            <a:r>
              <a:rPr sz="1800" b="0" i="0">
                <a:solidFill>
                  <a:srgbClr val="1F2430"/>
                </a:solidFill>
                <a:latin typeface="PT Sans"/>
              </a:rPr>
              <a:t>• Үй-бүлөнүн бюджети</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Мурун – бүгүн – кийин</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Акча: сатып алуу жана кайтарым</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7/26</a:t>
            </a:r>
          </a:p>
        </p:txBody>
      </p:sp>
      <p:sp>
        <p:nvSpPr>
          <p:cNvPr id="10" name="Rounded Rectangle 9"/>
          <p:cNvSpPr/>
          <p:nvPr/>
        </p:nvSpPr>
        <p:spPr>
          <a:xfrm>
            <a:off x="429768" y="3017520"/>
            <a:ext cx="2660904" cy="2743200"/>
          </a:xfrm>
          <a:prstGeom prst="roundRect">
            <a:avLst>
              <a:gd name="adj" fmla="val 6000"/>
            </a:avLst>
          </a:prstGeom>
          <a:solidFill>
            <a:srgbClr val="FFFFFF"/>
          </a:solidFill>
          <a:ln w="1905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3108960"/>
            <a:ext cx="2386584" cy="502920"/>
          </a:xfrm>
          <a:prstGeom prst="rect">
            <a:avLst/>
          </a:prstGeom>
          <a:noFill/>
        </p:spPr>
        <p:txBody>
          <a:bodyPr wrap="square" anchor="t" lIns="45720" rIns="45720" tIns="27432" bIns="27432">
            <a:spAutoFit/>
          </a:bodyPr>
          <a:lstStyle/>
          <a:p>
            <a:pPr algn="ctr">
              <a:lnSpc>
                <a:spcPct val="105000"/>
              </a:lnSpc>
            </a:pPr>
            <a:r>
              <a:rPr sz="2400" b="1" i="0">
                <a:solidFill>
                  <a:srgbClr val="007A5A"/>
                </a:solidFill>
                <a:latin typeface="PT Sans"/>
              </a:rPr>
              <a:t/>
            </a:r>
          </a:p>
        </p:txBody>
      </p:sp>
      <p:cxnSp>
        <p:nvCxnSpPr>
          <p:cNvPr id="12" name="Connector 11"/>
          <p:cNvCxnSpPr/>
          <p:nvPr/>
        </p:nvCxnSpPr>
        <p:spPr>
          <a:xfrm>
            <a:off x="704088" y="3657600"/>
            <a:ext cx="2112264" cy="0"/>
          </a:xfrm>
          <a:prstGeom prst="line">
            <a:avLst/>
          </a:prstGeom>
          <a:ln w="12700">
            <a:solidFill>
              <a:srgbClr val="007A5A"/>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12647" y="3749039"/>
            <a:ext cx="2295144" cy="1920240"/>
          </a:xfrm>
          <a:prstGeom prst="rect">
            <a:avLst/>
          </a:prstGeom>
          <a:noFill/>
        </p:spPr>
        <p:txBody>
          <a:bodyPr wrap="square" anchor="t" lIns="45720" rIns="45720" tIns="27432" bIns="27432">
            <a:spAutoFit/>
          </a:bodyPr>
          <a:lstStyle/>
          <a:p>
            <a:pPr algn="l">
              <a:lnSpc>
                <a:spcPct val="105000"/>
              </a:lnSpc>
            </a:pPr>
            <a:r>
              <a:rPr sz="1500" b="0" i="0">
                <a:solidFill>
                  <a:srgbClr val="1F2430"/>
                </a:solidFill>
                <a:latin typeface="PT Sans"/>
              </a:rPr>
              <a:t>• Акча</a:t>
            </a:r>
          </a:p>
          <a:p>
            <a:pPr algn="l">
              <a:lnSpc>
                <a:spcPct val="105000"/>
              </a:lnSpc>
              <a:spcBef>
                <a:spcPts val="400"/>
              </a:spcBef>
            </a:pPr>
            <a:r>
              <a:rPr sz="1500" b="0" i="0">
                <a:solidFill>
                  <a:srgbClr val="1F2430"/>
                </a:solidFill>
                <a:latin typeface="PT Sans"/>
              </a:rPr>
              <a:t>• 100 ичинде</a:t>
            </a:r>
          </a:p>
        </p:txBody>
      </p:sp>
      <p:sp>
        <p:nvSpPr>
          <p:cNvPr id="14" name="Rounded Rectangle 13"/>
          <p:cNvSpPr/>
          <p:nvPr/>
        </p:nvSpPr>
        <p:spPr>
          <a:xfrm>
            <a:off x="3319272" y="2560320"/>
            <a:ext cx="2660904" cy="3200400"/>
          </a:xfrm>
          <a:prstGeom prst="roundRect">
            <a:avLst>
              <a:gd name="adj" fmla="val 6000"/>
            </a:avLst>
          </a:prstGeom>
          <a:solidFill>
            <a:srgbClr val="FFFFFF"/>
          </a:solidFill>
          <a:ln w="1905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456432" y="2651760"/>
            <a:ext cx="2386584" cy="502920"/>
          </a:xfrm>
          <a:prstGeom prst="rect">
            <a:avLst/>
          </a:prstGeom>
          <a:noFill/>
        </p:spPr>
        <p:txBody>
          <a:bodyPr wrap="square" anchor="t" lIns="45720" rIns="45720" tIns="27432" bIns="27432">
            <a:spAutoFit/>
          </a:bodyPr>
          <a:lstStyle/>
          <a:p>
            <a:pPr algn="ctr">
              <a:lnSpc>
                <a:spcPct val="105000"/>
              </a:lnSpc>
            </a:pPr>
            <a:r>
              <a:rPr sz="2400" b="1" i="0">
                <a:solidFill>
                  <a:srgbClr val="007A5A"/>
                </a:solidFill>
                <a:latin typeface="PT Sans"/>
              </a:rPr>
              <a:t/>
            </a:r>
          </a:p>
        </p:txBody>
      </p:sp>
      <p:cxnSp>
        <p:nvCxnSpPr>
          <p:cNvPr id="16" name="Connector 15"/>
          <p:cNvCxnSpPr/>
          <p:nvPr/>
        </p:nvCxnSpPr>
        <p:spPr>
          <a:xfrm>
            <a:off x="3593591" y="3200400"/>
            <a:ext cx="2112265" cy="0"/>
          </a:xfrm>
          <a:prstGeom prst="line">
            <a:avLst/>
          </a:prstGeom>
          <a:ln w="12700">
            <a:solidFill>
              <a:srgbClr val="007A5A"/>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3502152" y="3291839"/>
            <a:ext cx="2295144" cy="2377440"/>
          </a:xfrm>
          <a:prstGeom prst="rect">
            <a:avLst/>
          </a:prstGeom>
          <a:noFill/>
        </p:spPr>
        <p:txBody>
          <a:bodyPr wrap="square" anchor="t" lIns="45720" rIns="45720" tIns="27432" bIns="27432">
            <a:spAutoFit/>
          </a:bodyPr>
          <a:lstStyle/>
          <a:p>
            <a:pPr algn="l">
              <a:lnSpc>
                <a:spcPct val="105000"/>
              </a:lnSpc>
            </a:pPr>
            <a:r>
              <a:rPr sz="1500" b="0" i="0">
                <a:solidFill>
                  <a:srgbClr val="1F2430"/>
                </a:solidFill>
                <a:latin typeface="PT Sans"/>
              </a:rPr>
              <a:t>• Көбөйтүү, бөлүү</a:t>
            </a:r>
          </a:p>
          <a:p>
            <a:pPr algn="l">
              <a:lnSpc>
                <a:spcPct val="105000"/>
              </a:lnSpc>
              <a:spcBef>
                <a:spcPts val="400"/>
              </a:spcBef>
            </a:pPr>
            <a:r>
              <a:rPr sz="1500" b="0" i="0">
                <a:solidFill>
                  <a:srgbClr val="1F2430"/>
                </a:solidFill>
                <a:latin typeface="PT Sans"/>
              </a:rPr>
              <a:t>• Аттуу сандар</a:t>
            </a:r>
          </a:p>
        </p:txBody>
      </p:sp>
      <p:sp>
        <p:nvSpPr>
          <p:cNvPr id="18" name="Rounded Rectangle 17"/>
          <p:cNvSpPr/>
          <p:nvPr/>
        </p:nvSpPr>
        <p:spPr>
          <a:xfrm>
            <a:off x="6208776" y="2103120"/>
            <a:ext cx="2660904" cy="3657600"/>
          </a:xfrm>
          <a:prstGeom prst="roundRect">
            <a:avLst>
              <a:gd name="adj" fmla="val 6000"/>
            </a:avLst>
          </a:prstGeom>
          <a:solidFill>
            <a:srgbClr val="FFFFFF"/>
          </a:solidFill>
          <a:ln w="285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45936" y="2194560"/>
            <a:ext cx="2386584" cy="502920"/>
          </a:xfrm>
          <a:prstGeom prst="rect">
            <a:avLst/>
          </a:prstGeom>
          <a:noFill/>
        </p:spPr>
        <p:txBody>
          <a:bodyPr wrap="square" anchor="t" lIns="45720" rIns="45720" tIns="27432" bIns="27432">
            <a:spAutoFit/>
          </a:bodyPr>
          <a:lstStyle/>
          <a:p>
            <a:pPr algn="ctr">
              <a:lnSpc>
                <a:spcPct val="105000"/>
              </a:lnSpc>
            </a:pPr>
            <a:r>
              <a:rPr sz="2400" b="1" i="0">
                <a:solidFill>
                  <a:srgbClr val="A84400"/>
                </a:solidFill>
                <a:latin typeface="PT Sans"/>
              </a:rPr>
              <a:t/>
            </a:r>
          </a:p>
        </p:txBody>
      </p:sp>
      <p:cxnSp>
        <p:nvCxnSpPr>
          <p:cNvPr id="20" name="Connector 19"/>
          <p:cNvCxnSpPr/>
          <p:nvPr/>
        </p:nvCxnSpPr>
        <p:spPr>
          <a:xfrm>
            <a:off x="6483096" y="2743200"/>
            <a:ext cx="2112263" cy="0"/>
          </a:xfrm>
          <a:prstGeom prst="line">
            <a:avLst/>
          </a:prstGeom>
          <a:ln w="12700">
            <a:solidFill>
              <a:srgbClr val="A8440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391656" y="2834639"/>
            <a:ext cx="2295144" cy="2834640"/>
          </a:xfrm>
          <a:prstGeom prst="rect">
            <a:avLst/>
          </a:prstGeom>
          <a:noFill/>
        </p:spPr>
        <p:txBody>
          <a:bodyPr wrap="square" anchor="t" lIns="45720" rIns="45720" tIns="27432" bIns="27432">
            <a:spAutoFit/>
          </a:bodyPr>
          <a:lstStyle/>
          <a:p>
            <a:pPr algn="l">
              <a:lnSpc>
                <a:spcPct val="105000"/>
              </a:lnSpc>
            </a:pPr>
            <a:r>
              <a:rPr sz="1500" b="0" i="0">
                <a:solidFill>
                  <a:srgbClr val="1F2430"/>
                </a:solidFill>
                <a:latin typeface="PT Sans"/>
              </a:rPr>
              <a:t>• Кайтарым</a:t>
            </a:r>
          </a:p>
          <a:p>
            <a:pPr algn="l">
              <a:lnSpc>
                <a:spcPct val="105000"/>
              </a:lnSpc>
              <a:spcBef>
                <a:spcPts val="400"/>
              </a:spcBef>
            </a:pPr>
            <a:r>
              <a:rPr sz="1500" b="0" i="0">
                <a:solidFill>
                  <a:srgbClr val="1F2430"/>
                </a:solidFill>
                <a:latin typeface="PT Sans"/>
              </a:rPr>
              <a:t>• Эң пайдалуу баа</a:t>
            </a:r>
          </a:p>
        </p:txBody>
      </p:sp>
      <p:sp>
        <p:nvSpPr>
          <p:cNvPr id="22" name="Rounded Rectangle 21"/>
          <p:cNvSpPr/>
          <p:nvPr/>
        </p:nvSpPr>
        <p:spPr>
          <a:xfrm>
            <a:off x="6807708" y="1600199"/>
            <a:ext cx="1463040" cy="384048"/>
          </a:xfrm>
          <a:prstGeom prst="roundRect">
            <a:avLst>
              <a:gd name="adj" fmla="val 50000"/>
            </a:avLst>
          </a:prstGeom>
          <a:noFill/>
          <a:ln w="1905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A84400"/>
                </a:solidFill>
                <a:latin typeface="PT Sans"/>
              </a:rPr>
              <a:t>Бүгүн</a:t>
            </a:r>
          </a:p>
        </p:txBody>
      </p:sp>
      <p:sp>
        <p:nvSpPr>
          <p:cNvPr id="23" name="Rounded Rectangle 22"/>
          <p:cNvSpPr/>
          <p:nvPr/>
        </p:nvSpPr>
        <p:spPr>
          <a:xfrm>
            <a:off x="9098280" y="1645919"/>
            <a:ext cx="2660904" cy="4114800"/>
          </a:xfrm>
          <a:prstGeom prst="roundRect">
            <a:avLst>
              <a:gd name="adj" fmla="val 6000"/>
            </a:avLst>
          </a:prstGeom>
          <a:solidFill>
            <a:srgbClr val="FFFFFF"/>
          </a:solidFill>
          <a:ln w="19050">
            <a:solidFill>
              <a:srgbClr val="4A5A7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235440" y="1737360"/>
            <a:ext cx="2386584" cy="502920"/>
          </a:xfrm>
          <a:prstGeom prst="rect">
            <a:avLst/>
          </a:prstGeom>
          <a:noFill/>
        </p:spPr>
        <p:txBody>
          <a:bodyPr wrap="square" anchor="t" lIns="45720" rIns="45720" tIns="27432" bIns="27432">
            <a:spAutoFit/>
          </a:bodyPr>
          <a:lstStyle/>
          <a:p>
            <a:pPr algn="ctr">
              <a:lnSpc>
                <a:spcPct val="105000"/>
              </a:lnSpc>
            </a:pPr>
            <a:r>
              <a:rPr sz="2400" b="1" i="0">
                <a:solidFill>
                  <a:srgbClr val="4A5A70"/>
                </a:solidFill>
                <a:latin typeface="PT Sans"/>
              </a:rPr>
              <a:t/>
            </a:r>
          </a:p>
        </p:txBody>
      </p:sp>
      <p:cxnSp>
        <p:nvCxnSpPr>
          <p:cNvPr id="25" name="Connector 24"/>
          <p:cNvCxnSpPr/>
          <p:nvPr/>
        </p:nvCxnSpPr>
        <p:spPr>
          <a:xfrm>
            <a:off x="9372600" y="2286000"/>
            <a:ext cx="2112264" cy="0"/>
          </a:xfrm>
          <a:prstGeom prst="line">
            <a:avLst/>
          </a:prstGeom>
          <a:ln w="12700">
            <a:solidFill>
              <a:srgbClr val="4A5A7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9281160" y="2377439"/>
            <a:ext cx="2295144" cy="3291840"/>
          </a:xfrm>
          <a:prstGeom prst="rect">
            <a:avLst/>
          </a:prstGeom>
          <a:noFill/>
        </p:spPr>
        <p:txBody>
          <a:bodyPr wrap="square" anchor="t" lIns="45720" rIns="45720" tIns="27432" bIns="27432">
            <a:spAutoFit/>
          </a:bodyPr>
          <a:lstStyle/>
          <a:p>
            <a:pPr algn="l">
              <a:lnSpc>
                <a:spcPct val="105000"/>
              </a:lnSpc>
            </a:pPr>
            <a:r>
              <a:rPr sz="1500" b="0" i="0">
                <a:solidFill>
                  <a:srgbClr val="6B7280"/>
                </a:solidFill>
                <a:latin typeface="PT Sans"/>
              </a:rPr>
              <a:t>• Ондук бөлчөк</a:t>
            </a:r>
          </a:p>
          <a:p>
            <a:pPr algn="l">
              <a:lnSpc>
                <a:spcPct val="105000"/>
              </a:lnSpc>
              <a:spcBef>
                <a:spcPts val="400"/>
              </a:spcBef>
            </a:pPr>
            <a:r>
              <a:rPr sz="1500" b="0" i="0">
                <a:solidFill>
                  <a:srgbClr val="6B7280"/>
                </a:solidFill>
                <a:latin typeface="PT Sans"/>
              </a:rPr>
              <a:t>• Арзандатуу, %</a:t>
            </a:r>
          </a:p>
        </p:txBody>
      </p:sp>
      <p:sp>
        <p:nvSpPr>
          <p:cNvPr id="27" name="TextBox 26"/>
          <p:cNvSpPr txBox="1"/>
          <p:nvPr/>
        </p:nvSpPr>
        <p:spPr>
          <a:xfrm>
            <a:off x="429768" y="5806440"/>
            <a:ext cx="11329416" cy="365760"/>
          </a:xfrm>
          <a:prstGeom prst="rect">
            <a:avLst/>
          </a:prstGeom>
          <a:noFill/>
        </p:spPr>
        <p:txBody>
          <a:bodyPr wrap="square" anchor="t" lIns="45720" rIns="45720" tIns="27432" bIns="27432">
            <a:spAutoFit/>
          </a:bodyPr>
          <a:lstStyle/>
          <a:p>
            <a:pPr algn="ctr">
              <a:lnSpc>
                <a:spcPct val="105000"/>
              </a:lnSpc>
            </a:pPr>
            <a:r>
              <a:rPr sz="1800" b="0" i="1">
                <a:solidFill>
                  <a:srgbClr val="6B7280"/>
                </a:solidFill>
                <a:latin typeface="PT Sans"/>
              </a:rPr>
              <a:t>Ар бир класс мурункусунун үстүнө курулат.</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Даярдык: эстейли</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Акча: сатып алуу жана кайтарым</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8/26</a:t>
            </a:r>
          </a:p>
        </p:txBody>
      </p:sp>
      <p:sp>
        <p:nvSpPr>
          <p:cNvPr id="10" name="TextBox 9"/>
          <p:cNvSpPr txBox="1"/>
          <p:nvPr/>
        </p:nvSpPr>
        <p:spPr>
          <a:xfrm>
            <a:off x="429768" y="1143000"/>
            <a:ext cx="11329416" cy="457200"/>
          </a:xfrm>
          <a:prstGeom prst="rect">
            <a:avLst/>
          </a:prstGeom>
          <a:noFill/>
        </p:spPr>
        <p:txBody>
          <a:bodyPr wrap="square" anchor="t" lIns="45720" rIns="45720" tIns="27432" bIns="27432">
            <a:spAutoFit/>
          </a:bodyPr>
          <a:lstStyle/>
          <a:p>
            <a:pPr algn="l">
              <a:lnSpc>
                <a:spcPct val="105000"/>
              </a:lnSpc>
            </a:pPr>
            <a:r>
              <a:rPr sz="2200" b="0" i="1">
                <a:solidFill>
                  <a:srgbClr val="6B7280"/>
                </a:solidFill>
                <a:latin typeface="PT Sans"/>
              </a:rPr>
              <a:t>Мини-тактага жаз. 2 мүнөт.</a:t>
            </a:r>
          </a:p>
        </p:txBody>
      </p:sp>
      <p:sp>
        <p:nvSpPr>
          <p:cNvPr id="11" name="Rounded Rectangle 10"/>
          <p:cNvSpPr/>
          <p:nvPr/>
        </p:nvSpPr>
        <p:spPr>
          <a:xfrm>
            <a:off x="429768" y="1691640"/>
            <a:ext cx="5550408" cy="212597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12647" y="253517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1</a:t>
            </a:r>
          </a:p>
        </p:txBody>
      </p:sp>
      <p:sp>
        <p:nvSpPr>
          <p:cNvPr id="13" name="TextBox 12"/>
          <p:cNvSpPr txBox="1"/>
          <p:nvPr/>
        </p:nvSpPr>
        <p:spPr>
          <a:xfrm>
            <a:off x="1207007" y="1691640"/>
            <a:ext cx="4636008" cy="2125979"/>
          </a:xfrm>
          <a:prstGeom prst="rect">
            <a:avLst/>
          </a:prstGeom>
          <a:noFill/>
        </p:spPr>
        <p:txBody>
          <a:bodyPr wrap="square" anchor="ctr" lIns="45720" rIns="45720" tIns="27432" bIns="27432">
            <a:spAutoFit/>
          </a:bodyPr>
          <a:lstStyle/>
          <a:p>
            <a:pPr algn="l">
              <a:lnSpc>
                <a:spcPct val="105000"/>
              </a:lnSpc>
            </a:pPr>
            <a:r>
              <a:rPr sz="2800" b="1" i="0">
                <a:solidFill>
                  <a:srgbClr val="1F2430"/>
                </a:solidFill>
                <a:latin typeface="PT Sans"/>
              </a:rPr>
              <a:t>6 × 30</a:t>
            </a:r>
          </a:p>
        </p:txBody>
      </p:sp>
      <p:sp>
        <p:nvSpPr>
          <p:cNvPr id="14" name="Rounded Rectangle 13"/>
          <p:cNvSpPr/>
          <p:nvPr/>
        </p:nvSpPr>
        <p:spPr>
          <a:xfrm>
            <a:off x="6208776" y="1691640"/>
            <a:ext cx="5550408" cy="212597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391656" y="253517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2</a:t>
            </a:r>
          </a:p>
        </p:txBody>
      </p:sp>
      <p:sp>
        <p:nvSpPr>
          <p:cNvPr id="16" name="TextBox 15"/>
          <p:cNvSpPr txBox="1"/>
          <p:nvPr/>
        </p:nvSpPr>
        <p:spPr>
          <a:xfrm>
            <a:off x="6986016" y="1691640"/>
            <a:ext cx="4636008" cy="2125979"/>
          </a:xfrm>
          <a:prstGeom prst="rect">
            <a:avLst/>
          </a:prstGeom>
          <a:noFill/>
        </p:spPr>
        <p:txBody>
          <a:bodyPr wrap="square" anchor="ctr" lIns="45720" rIns="45720" tIns="27432" bIns="27432">
            <a:spAutoFit/>
          </a:bodyPr>
          <a:lstStyle/>
          <a:p>
            <a:pPr algn="l">
              <a:lnSpc>
                <a:spcPct val="105000"/>
              </a:lnSpc>
            </a:pPr>
            <a:r>
              <a:rPr sz="2800" b="1" i="0">
                <a:solidFill>
                  <a:srgbClr val="1F2430"/>
                </a:solidFill>
                <a:latin typeface="PT Sans"/>
              </a:rPr>
              <a:t>1000 − 400</a:t>
            </a:r>
          </a:p>
        </p:txBody>
      </p:sp>
      <p:sp>
        <p:nvSpPr>
          <p:cNvPr id="17" name="Rounded Rectangle 16"/>
          <p:cNvSpPr/>
          <p:nvPr/>
        </p:nvSpPr>
        <p:spPr>
          <a:xfrm>
            <a:off x="429768" y="4000500"/>
            <a:ext cx="5550408" cy="212597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12647" y="4844033"/>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3</a:t>
            </a:r>
          </a:p>
        </p:txBody>
      </p:sp>
      <p:sp>
        <p:nvSpPr>
          <p:cNvPr id="19" name="TextBox 18"/>
          <p:cNvSpPr txBox="1"/>
          <p:nvPr/>
        </p:nvSpPr>
        <p:spPr>
          <a:xfrm>
            <a:off x="1207007" y="4000500"/>
            <a:ext cx="4636008" cy="2125979"/>
          </a:xfrm>
          <a:prstGeom prst="rect">
            <a:avLst/>
          </a:prstGeom>
          <a:noFill/>
        </p:spPr>
        <p:txBody>
          <a:bodyPr wrap="square" anchor="ctr" lIns="45720" rIns="45720" tIns="27432" bIns="27432">
            <a:spAutoFit/>
          </a:bodyPr>
          <a:lstStyle/>
          <a:p>
            <a:pPr algn="l">
              <a:lnSpc>
                <a:spcPct val="105000"/>
              </a:lnSpc>
            </a:pPr>
            <a:r>
              <a:rPr sz="2800" b="1" i="0">
                <a:solidFill>
                  <a:srgbClr val="1F2430"/>
                </a:solidFill>
                <a:latin typeface="PT Sans"/>
              </a:rPr>
              <a:t>1 сом = □ тыйын</a:t>
            </a:r>
          </a:p>
        </p:txBody>
      </p:sp>
      <p:sp>
        <p:nvSpPr>
          <p:cNvPr id="20" name="Rounded Rectangle 19"/>
          <p:cNvSpPr/>
          <p:nvPr/>
        </p:nvSpPr>
        <p:spPr>
          <a:xfrm>
            <a:off x="6208776" y="4000500"/>
            <a:ext cx="5550408" cy="212597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91656" y="4844033"/>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4</a:t>
            </a:r>
          </a:p>
        </p:txBody>
      </p:sp>
      <p:sp>
        <p:nvSpPr>
          <p:cNvPr id="22" name="TextBox 21"/>
          <p:cNvSpPr txBox="1"/>
          <p:nvPr/>
        </p:nvSpPr>
        <p:spPr>
          <a:xfrm>
            <a:off x="6986016" y="4000500"/>
            <a:ext cx="4636008" cy="2125979"/>
          </a:xfrm>
          <a:prstGeom prst="rect">
            <a:avLst/>
          </a:prstGeom>
          <a:noFill/>
        </p:spPr>
        <p:txBody>
          <a:bodyPr wrap="square" anchor="ctr" lIns="45720" rIns="45720" tIns="27432" bIns="27432">
            <a:spAutoFit/>
          </a:bodyPr>
          <a:lstStyle/>
          <a:p>
            <a:pPr algn="l">
              <a:lnSpc>
                <a:spcPct val="105000"/>
              </a:lnSpc>
            </a:pPr>
            <a:r>
              <a:rPr sz="2800" b="1" i="0">
                <a:solidFill>
                  <a:srgbClr val="1F2430"/>
                </a:solidFill>
                <a:latin typeface="PT Sans"/>
              </a:rPr>
              <a:t>120 ÷ 4</a:t>
            </a:r>
          </a:p>
        </p:txBody>
      </p:sp>
      <p:sp>
        <p:nvSpPr>
          <p:cNvPr id="23" name="Rounded Rectangle 22"/>
          <p:cNvSpPr/>
          <p:nvPr/>
        </p:nvSpPr>
        <p:spPr>
          <a:xfrm>
            <a:off x="8412480"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К</a:t>
            </a:r>
          </a:p>
        </p:txBody>
      </p:sp>
      <p:sp>
        <p:nvSpPr>
          <p:cNvPr id="24" name="Rounded Rectangle 23"/>
          <p:cNvSpPr/>
          <p:nvPr/>
        </p:nvSpPr>
        <p:spPr>
          <a:xfrm>
            <a:off x="896111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С</a:t>
            </a:r>
          </a:p>
        </p:txBody>
      </p:sp>
      <p:sp>
        <p:nvSpPr>
          <p:cNvPr id="25" name="Rounded Rectangle 24"/>
          <p:cNvSpPr/>
          <p:nvPr/>
        </p:nvSpPr>
        <p:spPr>
          <a:xfrm>
            <a:off x="9509759" y="6327648"/>
            <a:ext cx="457200" cy="411480"/>
          </a:xfrm>
          <a:prstGeom prst="roundRect">
            <a:avLst>
              <a:gd name="adj" fmla="val 50000"/>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1D3557"/>
                </a:solidFill>
                <a:latin typeface="PT Sans"/>
              </a:rPr>
              <a:t>А</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Даярдык: жооптор</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Акча: сатып алуу жана кайтарым</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9/26</a:t>
            </a:r>
          </a:p>
        </p:txBody>
      </p:sp>
      <p:sp>
        <p:nvSpPr>
          <p:cNvPr id="10" name="Rounded Rectangle 9"/>
          <p:cNvSpPr/>
          <p:nvPr/>
        </p:nvSpPr>
        <p:spPr>
          <a:xfrm>
            <a:off x="429768" y="1325880"/>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566928" y="1581912"/>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1</a:t>
            </a:r>
          </a:p>
        </p:txBody>
      </p:sp>
      <p:sp>
        <p:nvSpPr>
          <p:cNvPr id="12" name="TextBox 11"/>
          <p:cNvSpPr txBox="1"/>
          <p:nvPr/>
        </p:nvSpPr>
        <p:spPr>
          <a:xfrm>
            <a:off x="1115568" y="1325880"/>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6 × 30</a:t>
            </a:r>
          </a:p>
        </p:txBody>
      </p:sp>
      <p:sp>
        <p:nvSpPr>
          <p:cNvPr id="13" name="TextBox 12"/>
          <p:cNvSpPr txBox="1"/>
          <p:nvPr/>
        </p:nvSpPr>
        <p:spPr>
          <a:xfrm>
            <a:off x="4334804" y="1325880"/>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180</a:t>
            </a:r>
          </a:p>
        </p:txBody>
      </p:sp>
      <p:sp>
        <p:nvSpPr>
          <p:cNvPr id="14" name="Rounded Rectangle 13"/>
          <p:cNvSpPr/>
          <p:nvPr/>
        </p:nvSpPr>
        <p:spPr>
          <a:xfrm>
            <a:off x="6208776" y="1325880"/>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345936" y="1581912"/>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2</a:t>
            </a:r>
          </a:p>
        </p:txBody>
      </p:sp>
      <p:sp>
        <p:nvSpPr>
          <p:cNvPr id="16" name="TextBox 15"/>
          <p:cNvSpPr txBox="1"/>
          <p:nvPr/>
        </p:nvSpPr>
        <p:spPr>
          <a:xfrm>
            <a:off x="6894576" y="1325880"/>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1000 − 400</a:t>
            </a:r>
          </a:p>
        </p:txBody>
      </p:sp>
      <p:sp>
        <p:nvSpPr>
          <p:cNvPr id="17" name="TextBox 16"/>
          <p:cNvSpPr txBox="1"/>
          <p:nvPr/>
        </p:nvSpPr>
        <p:spPr>
          <a:xfrm>
            <a:off x="10113812" y="1325880"/>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600</a:t>
            </a:r>
          </a:p>
        </p:txBody>
      </p:sp>
      <p:sp>
        <p:nvSpPr>
          <p:cNvPr id="18" name="Rounded Rectangle 17"/>
          <p:cNvSpPr/>
          <p:nvPr/>
        </p:nvSpPr>
        <p:spPr>
          <a:xfrm>
            <a:off x="429768" y="2350008"/>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66928" y="2606040"/>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3</a:t>
            </a:r>
          </a:p>
        </p:txBody>
      </p:sp>
      <p:sp>
        <p:nvSpPr>
          <p:cNvPr id="20" name="TextBox 19"/>
          <p:cNvSpPr txBox="1"/>
          <p:nvPr/>
        </p:nvSpPr>
        <p:spPr>
          <a:xfrm>
            <a:off x="1115568" y="2350008"/>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1 сом = □ тыйын</a:t>
            </a:r>
          </a:p>
        </p:txBody>
      </p:sp>
      <p:sp>
        <p:nvSpPr>
          <p:cNvPr id="21" name="TextBox 20"/>
          <p:cNvSpPr txBox="1"/>
          <p:nvPr/>
        </p:nvSpPr>
        <p:spPr>
          <a:xfrm>
            <a:off x="4334804" y="2350008"/>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100</a:t>
            </a:r>
          </a:p>
        </p:txBody>
      </p:sp>
      <p:sp>
        <p:nvSpPr>
          <p:cNvPr id="22" name="Rounded Rectangle 21"/>
          <p:cNvSpPr/>
          <p:nvPr/>
        </p:nvSpPr>
        <p:spPr>
          <a:xfrm>
            <a:off x="6208776" y="2350008"/>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345936" y="2606040"/>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4</a:t>
            </a:r>
          </a:p>
        </p:txBody>
      </p:sp>
      <p:sp>
        <p:nvSpPr>
          <p:cNvPr id="24" name="TextBox 23"/>
          <p:cNvSpPr txBox="1"/>
          <p:nvPr/>
        </p:nvSpPr>
        <p:spPr>
          <a:xfrm>
            <a:off x="6894576" y="2350008"/>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120 ÷ 4</a:t>
            </a:r>
          </a:p>
        </p:txBody>
      </p:sp>
      <p:sp>
        <p:nvSpPr>
          <p:cNvPr id="25" name="TextBox 24"/>
          <p:cNvSpPr txBox="1"/>
          <p:nvPr/>
        </p:nvSpPr>
        <p:spPr>
          <a:xfrm>
            <a:off x="10113812" y="2350008"/>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30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Ким туура?</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Акча: сатып алуу жана кайтарым</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10/26</a:t>
            </a:r>
          </a:p>
        </p:txBody>
      </p:sp>
      <p:sp>
        <p:nvSpPr>
          <p:cNvPr id="10" name="Rounded Rectangle 9"/>
          <p:cNvSpPr/>
          <p:nvPr/>
        </p:nvSpPr>
        <p:spPr>
          <a:xfrm>
            <a:off x="429768" y="1225296"/>
            <a:ext cx="11329416" cy="713232"/>
          </a:xfrm>
          <a:prstGeom prst="roundRect">
            <a:avLst>
              <a:gd name="adj" fmla="val 258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25296"/>
            <a:ext cx="10780776" cy="713232"/>
          </a:xfrm>
          <a:prstGeom prst="rect">
            <a:avLst/>
          </a:prstGeom>
          <a:noFill/>
        </p:spPr>
        <p:txBody>
          <a:bodyPr wrap="square" anchor="ctr" lIns="45720" rIns="45720" tIns="27432" bIns="27432">
            <a:spAutoFit/>
          </a:bodyPr>
          <a:lstStyle/>
          <a:p>
            <a:pPr algn="l">
              <a:lnSpc>
                <a:spcPct val="105000"/>
              </a:lnSpc>
            </a:pPr>
            <a:r>
              <a:rPr sz="2000" b="0" i="0">
                <a:solidFill>
                  <a:srgbClr val="1F2430"/>
                </a:solidFill>
                <a:latin typeface="PT Sans"/>
              </a:rPr>
              <a:t>Нурлан байке: «3 дептер 75 сом же 5 дептер 110 сом. Кайсы пачка пайдалуу?»</a:t>
            </a:r>
          </a:p>
        </p:txBody>
      </p:sp>
      <p:sp>
        <p:nvSpPr>
          <p:cNvPr id="12" name="Rounded Rectangle 11"/>
          <p:cNvSpPr/>
          <p:nvPr/>
        </p:nvSpPr>
        <p:spPr>
          <a:xfrm>
            <a:off x="429768" y="2103120"/>
            <a:ext cx="5550408" cy="310896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 name="Connector 12"/>
          <p:cNvCxnSpPr/>
          <p:nvPr/>
        </p:nvCxnSpPr>
        <p:spPr>
          <a:xfrm>
            <a:off x="429768" y="2697480"/>
            <a:ext cx="5550408" cy="0"/>
          </a:xfrm>
          <a:prstGeom prst="line">
            <a:avLst/>
          </a:prstGeom>
          <a:ln w="19050">
            <a:solidFill>
              <a:srgbClr val="1D3557"/>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29768" y="2103120"/>
            <a:ext cx="5550408" cy="594360"/>
          </a:xfrm>
          <a:prstGeom prst="rect">
            <a:avLst/>
          </a:prstGeom>
          <a:noFill/>
        </p:spPr>
        <p:txBody>
          <a:bodyPr wrap="square" anchor="ctr" lIns="45720" rIns="45720" tIns="27432" bIns="27432">
            <a:spAutoFit/>
          </a:bodyPr>
          <a:lstStyle/>
          <a:p>
            <a:pPr algn="ctr">
              <a:lnSpc>
                <a:spcPct val="105000"/>
              </a:lnSpc>
            </a:pPr>
            <a:r>
              <a:rPr sz="2400" b="1" i="0">
                <a:solidFill>
                  <a:srgbClr val="1D3557"/>
                </a:solidFill>
                <a:latin typeface="PT Sans"/>
              </a:rPr>
              <a:t>Айдай</a:t>
            </a:r>
          </a:p>
        </p:txBody>
      </p:sp>
      <p:sp>
        <p:nvSpPr>
          <p:cNvPr id="15" name="TextBox 14"/>
          <p:cNvSpPr txBox="1"/>
          <p:nvPr/>
        </p:nvSpPr>
        <p:spPr>
          <a:xfrm>
            <a:off x="704088" y="2834640"/>
            <a:ext cx="5029200" cy="2286000"/>
          </a:xfrm>
          <a:prstGeom prst="rect">
            <a:avLst/>
          </a:prstGeom>
          <a:noFill/>
        </p:spPr>
        <p:txBody>
          <a:bodyPr wrap="square" anchor="t" lIns="45720" rIns="45720" tIns="27432" bIns="27432">
            <a:spAutoFit/>
          </a:bodyPr>
          <a:lstStyle/>
          <a:p>
            <a:pPr algn="l">
              <a:lnSpc>
                <a:spcPct val="105000"/>
              </a:lnSpc>
            </a:pPr>
            <a:r>
              <a:rPr sz="2600" b="0" i="0">
                <a:solidFill>
                  <a:srgbClr val="1F2430"/>
                </a:solidFill>
                <a:latin typeface="PT Sans"/>
              </a:rPr>
              <a:t>75 &lt; 110</a:t>
            </a:r>
          </a:p>
          <a:p>
            <a:pPr algn="l">
              <a:lnSpc>
                <a:spcPct val="105000"/>
              </a:lnSpc>
            </a:pPr>
            <a:r>
              <a:rPr sz="2600" b="0" i="0">
                <a:solidFill>
                  <a:srgbClr val="1F2430"/>
                </a:solidFill>
                <a:latin typeface="PT Sans"/>
              </a:rPr>
              <a:t>Демек 3 дептер</a:t>
            </a:r>
          </a:p>
          <a:p>
            <a:pPr algn="l">
              <a:lnSpc>
                <a:spcPct val="105000"/>
              </a:lnSpc>
            </a:pPr>
            <a:r>
              <a:rPr sz="2600" b="0" i="0">
                <a:solidFill>
                  <a:srgbClr val="1F2430"/>
                </a:solidFill>
                <a:latin typeface="PT Sans"/>
              </a:rPr>
              <a:t>пайдалуу</a:t>
            </a:r>
          </a:p>
        </p:txBody>
      </p:sp>
      <p:sp>
        <p:nvSpPr>
          <p:cNvPr id="16" name="Rounded Rectangle 15"/>
          <p:cNvSpPr/>
          <p:nvPr/>
        </p:nvSpPr>
        <p:spPr>
          <a:xfrm>
            <a:off x="6208776" y="2103120"/>
            <a:ext cx="5550408" cy="310896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a:off x="6208776" y="2697480"/>
            <a:ext cx="5550408" cy="0"/>
          </a:xfrm>
          <a:prstGeom prst="line">
            <a:avLst/>
          </a:prstGeom>
          <a:ln w="19050">
            <a:solidFill>
              <a:srgbClr val="1D3557"/>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208776" y="2103120"/>
            <a:ext cx="5550408" cy="594360"/>
          </a:xfrm>
          <a:prstGeom prst="rect">
            <a:avLst/>
          </a:prstGeom>
          <a:noFill/>
        </p:spPr>
        <p:txBody>
          <a:bodyPr wrap="square" anchor="ctr" lIns="45720" rIns="45720" tIns="27432" bIns="27432">
            <a:spAutoFit/>
          </a:bodyPr>
          <a:lstStyle/>
          <a:p>
            <a:pPr algn="ctr">
              <a:lnSpc>
                <a:spcPct val="105000"/>
              </a:lnSpc>
            </a:pPr>
            <a:r>
              <a:rPr sz="2400" b="1" i="0">
                <a:solidFill>
                  <a:srgbClr val="1D3557"/>
                </a:solidFill>
                <a:latin typeface="PT Sans"/>
              </a:rPr>
              <a:t>Бекзат</a:t>
            </a:r>
          </a:p>
        </p:txBody>
      </p:sp>
      <p:sp>
        <p:nvSpPr>
          <p:cNvPr id="19" name="TextBox 18"/>
          <p:cNvSpPr txBox="1"/>
          <p:nvPr/>
        </p:nvSpPr>
        <p:spPr>
          <a:xfrm>
            <a:off x="6483096" y="2834640"/>
            <a:ext cx="5029200" cy="2286000"/>
          </a:xfrm>
          <a:prstGeom prst="rect">
            <a:avLst/>
          </a:prstGeom>
          <a:noFill/>
        </p:spPr>
        <p:txBody>
          <a:bodyPr wrap="square" anchor="t" lIns="45720" rIns="45720" tIns="27432" bIns="27432">
            <a:spAutoFit/>
          </a:bodyPr>
          <a:lstStyle/>
          <a:p>
            <a:pPr algn="l">
              <a:lnSpc>
                <a:spcPct val="105000"/>
              </a:lnSpc>
            </a:pPr>
            <a:r>
              <a:rPr sz="2600" b="0" i="0">
                <a:solidFill>
                  <a:srgbClr val="1F2430"/>
                </a:solidFill>
                <a:latin typeface="PT Sans"/>
              </a:rPr>
              <a:t>75 ÷ 3 = 25 сом</a:t>
            </a:r>
          </a:p>
          <a:p>
            <a:pPr algn="l">
              <a:lnSpc>
                <a:spcPct val="105000"/>
              </a:lnSpc>
            </a:pPr>
            <a:r>
              <a:rPr sz="2600" b="0" i="0">
                <a:solidFill>
                  <a:srgbClr val="1F2430"/>
                </a:solidFill>
                <a:latin typeface="PT Sans"/>
              </a:rPr>
              <a:t>110 ÷ 5 = 22 сом</a:t>
            </a:r>
          </a:p>
          <a:p>
            <a:pPr algn="l">
              <a:lnSpc>
                <a:spcPct val="105000"/>
              </a:lnSpc>
            </a:pPr>
            <a:r>
              <a:rPr sz="2600" b="0" i="0">
                <a:solidFill>
                  <a:srgbClr val="1F2430"/>
                </a:solidFill>
                <a:latin typeface="PT Sans"/>
              </a:rPr>
              <a:t>5 дептер пайдалуу</a:t>
            </a:r>
          </a:p>
        </p:txBody>
      </p:sp>
      <p:sp>
        <p:nvSpPr>
          <p:cNvPr id="20" name="TextBox 19"/>
          <p:cNvSpPr txBox="1"/>
          <p:nvPr/>
        </p:nvSpPr>
        <p:spPr>
          <a:xfrm>
            <a:off x="429768" y="5349240"/>
            <a:ext cx="11329416" cy="548640"/>
          </a:xfrm>
          <a:prstGeom prst="rect">
            <a:avLst/>
          </a:prstGeom>
          <a:noFill/>
        </p:spPr>
        <p:txBody>
          <a:bodyPr wrap="square" anchor="t" lIns="45720" rIns="45720" tIns="27432" bIns="27432">
            <a:spAutoFit/>
          </a:bodyPr>
          <a:lstStyle/>
          <a:p>
            <a:pPr algn="ctr">
              <a:lnSpc>
                <a:spcPct val="105000"/>
              </a:lnSpc>
            </a:pPr>
            <a:r>
              <a:rPr sz="2600" b="1" i="0">
                <a:solidFill>
                  <a:srgbClr val="A84400"/>
                </a:solidFill>
                <a:latin typeface="PT Sans"/>
              </a:rPr>
              <a:t>Ким туура? Бир дептердин баасын салыштыр.</a:t>
            </a:r>
          </a:p>
        </p:txBody>
      </p:sp>
      <p:sp>
        <p:nvSpPr>
          <p:cNvPr id="21" name="Rounded Rectangle 20"/>
          <p:cNvSpPr/>
          <p:nvPr/>
        </p:nvSpPr>
        <p:spPr>
          <a:xfrm>
            <a:off x="4449927" y="6327648"/>
            <a:ext cx="3291840" cy="411480"/>
          </a:xfrm>
          <a:prstGeom prst="roundRect">
            <a:avLst>
              <a:gd name="adj" fmla="val 50000"/>
            </a:avLst>
          </a:prstGeom>
          <a:no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007A5A"/>
                </a:solidFill>
                <a:latin typeface="PT Sans"/>
              </a:rPr>
              <a:t>3C · Сынчыл ой</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К: буюм менен</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Акча: сатып алуу жана кайтарым</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11/26</a:t>
            </a:r>
          </a:p>
        </p:txBody>
      </p:sp>
      <p:sp>
        <p:nvSpPr>
          <p:cNvPr id="10" name="Rounded Rectangle 9"/>
          <p:cNvSpPr/>
          <p:nvPr/>
        </p:nvSpPr>
        <p:spPr>
          <a:xfrm>
            <a:off x="429768" y="1225296"/>
            <a:ext cx="11329416" cy="713232"/>
          </a:xfrm>
          <a:prstGeom prst="roundRect">
            <a:avLst>
              <a:gd name="adj" fmla="val 258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25296"/>
            <a:ext cx="10780776" cy="713232"/>
          </a:xfrm>
          <a:prstGeom prst="rect">
            <a:avLst/>
          </a:prstGeom>
          <a:noFill/>
        </p:spPr>
        <p:txBody>
          <a:bodyPr wrap="square" anchor="ctr" lIns="45720" rIns="45720" tIns="27432" bIns="27432">
            <a:spAutoFit/>
          </a:bodyPr>
          <a:lstStyle/>
          <a:p>
            <a:pPr algn="l">
              <a:lnSpc>
                <a:spcPct val="105000"/>
              </a:lnSpc>
            </a:pPr>
            <a:r>
              <a:rPr sz="2000" b="0" i="0">
                <a:solidFill>
                  <a:srgbClr val="1F2430"/>
                </a:solidFill>
                <a:latin typeface="PT Sans"/>
              </a:rPr>
              <a:t>Жупта «дүкөн» ойнойбуз: кагаз акча жана капкак тыйындар менен сатып ал, кайтарымды санап бер.</a:t>
            </a:r>
          </a:p>
        </p:txBody>
      </p:sp>
      <p:sp>
        <p:nvSpPr>
          <p:cNvPr id="12" name="TextBox 11"/>
          <p:cNvSpPr txBox="1"/>
          <p:nvPr/>
        </p:nvSpPr>
        <p:spPr>
          <a:xfrm>
            <a:off x="502920" y="2103120"/>
            <a:ext cx="3657600" cy="320040"/>
          </a:xfrm>
          <a:prstGeom prst="rect">
            <a:avLst/>
          </a:prstGeom>
          <a:noFill/>
        </p:spPr>
        <p:txBody>
          <a:bodyPr wrap="square" anchor="t" lIns="45720" rIns="45720" tIns="27432" bIns="27432">
            <a:spAutoFit/>
          </a:bodyPr>
          <a:lstStyle/>
          <a:p>
            <a:pPr algn="l">
              <a:lnSpc>
                <a:spcPct val="105000"/>
              </a:lnSpc>
            </a:pPr>
            <a:r>
              <a:rPr sz="1500" b="1" i="0">
                <a:solidFill>
                  <a:srgbClr val="1D3557"/>
                </a:solidFill>
                <a:latin typeface="PT Sans"/>
              </a:rPr>
              <a:t>Кагаз акчалар</a:t>
            </a:r>
          </a:p>
        </p:txBody>
      </p:sp>
      <p:sp>
        <p:nvSpPr>
          <p:cNvPr id="13" name="Rounded Rectangle 12"/>
          <p:cNvSpPr/>
          <p:nvPr/>
        </p:nvSpPr>
        <p:spPr>
          <a:xfrm>
            <a:off x="502920" y="2450592"/>
            <a:ext cx="1325880" cy="640080"/>
          </a:xfrm>
          <a:prstGeom prst="roundRect">
            <a:avLst>
              <a:gd name="adj" fmla="val 8000"/>
            </a:avLst>
          </a:prstGeom>
          <a:solidFill>
            <a:srgbClr val="B5E2D3"/>
          </a:solid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57784" y="2505456"/>
            <a:ext cx="1216152" cy="530352"/>
          </a:xfrm>
          <a:prstGeom prst="roundRect">
            <a:avLst>
              <a:gd name="adj" fmla="val 6000"/>
            </a:avLst>
          </a:prstGeom>
          <a:noFill/>
          <a:ln w="7620">
            <a:solidFill>
              <a:srgbClr val="007A5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 y="2450592"/>
            <a:ext cx="1325880" cy="6400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500" b="1">
                <a:solidFill>
                  <a:srgbClr val="1F2430"/>
                </a:solidFill>
                <a:latin typeface="PT Sans"/>
              </a:rPr>
              <a:t>20 сом</a:t>
            </a:r>
          </a:p>
        </p:txBody>
      </p:sp>
      <p:sp>
        <p:nvSpPr>
          <p:cNvPr id="16" name="Rounded Rectangle 15"/>
          <p:cNvSpPr/>
          <p:nvPr/>
        </p:nvSpPr>
        <p:spPr>
          <a:xfrm>
            <a:off x="1938528" y="2450592"/>
            <a:ext cx="1325880" cy="640080"/>
          </a:xfrm>
          <a:prstGeom prst="roundRect">
            <a:avLst>
              <a:gd name="adj" fmla="val 8000"/>
            </a:avLst>
          </a:prstGeom>
          <a:solidFill>
            <a:srgbClr val="B5E2D3"/>
          </a:solid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1993392" y="2505456"/>
            <a:ext cx="1216152" cy="530352"/>
          </a:xfrm>
          <a:prstGeom prst="roundRect">
            <a:avLst>
              <a:gd name="adj" fmla="val 6000"/>
            </a:avLst>
          </a:prstGeom>
          <a:noFill/>
          <a:ln w="7620">
            <a:solidFill>
              <a:srgbClr val="007A5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938528" y="2450592"/>
            <a:ext cx="1325880" cy="6400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500" b="1">
                <a:solidFill>
                  <a:srgbClr val="1F2430"/>
                </a:solidFill>
                <a:latin typeface="PT Sans"/>
              </a:rPr>
              <a:t>50 сом</a:t>
            </a:r>
          </a:p>
        </p:txBody>
      </p:sp>
      <p:sp>
        <p:nvSpPr>
          <p:cNvPr id="19" name="Rounded Rectangle 18"/>
          <p:cNvSpPr/>
          <p:nvPr/>
        </p:nvSpPr>
        <p:spPr>
          <a:xfrm>
            <a:off x="3374136" y="2450592"/>
            <a:ext cx="1325880" cy="640080"/>
          </a:xfrm>
          <a:prstGeom prst="roundRect">
            <a:avLst>
              <a:gd name="adj" fmla="val 8000"/>
            </a:avLst>
          </a:prstGeom>
          <a:solidFill>
            <a:srgbClr val="F2C9AC"/>
          </a:solidFill>
          <a:ln w="158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3429000" y="2505456"/>
            <a:ext cx="1216152" cy="530352"/>
          </a:xfrm>
          <a:prstGeom prst="roundRect">
            <a:avLst>
              <a:gd name="adj" fmla="val 6000"/>
            </a:avLst>
          </a:prstGeom>
          <a:noFill/>
          <a:ln w="7620">
            <a:solidFill>
              <a:srgbClr val="A844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374136" y="2450592"/>
            <a:ext cx="1325880" cy="6400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500" b="1">
                <a:solidFill>
                  <a:srgbClr val="1F2430"/>
                </a:solidFill>
                <a:latin typeface="PT Sans"/>
              </a:rPr>
              <a:t>100 сом</a:t>
            </a:r>
          </a:p>
        </p:txBody>
      </p:sp>
      <p:sp>
        <p:nvSpPr>
          <p:cNvPr id="22" name="Rounded Rectangle 21"/>
          <p:cNvSpPr/>
          <p:nvPr/>
        </p:nvSpPr>
        <p:spPr>
          <a:xfrm>
            <a:off x="4809744" y="2450592"/>
            <a:ext cx="1325880" cy="640080"/>
          </a:xfrm>
          <a:prstGeom prst="roundRect">
            <a:avLst>
              <a:gd name="adj" fmla="val 8000"/>
            </a:avLst>
          </a:prstGeom>
          <a:solidFill>
            <a:srgbClr val="F2C9AC"/>
          </a:solidFill>
          <a:ln w="158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864608" y="2505456"/>
            <a:ext cx="1216152" cy="530352"/>
          </a:xfrm>
          <a:prstGeom prst="roundRect">
            <a:avLst>
              <a:gd name="adj" fmla="val 6000"/>
            </a:avLst>
          </a:prstGeom>
          <a:noFill/>
          <a:ln w="7620">
            <a:solidFill>
              <a:srgbClr val="A844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809744" y="2450592"/>
            <a:ext cx="1325880" cy="6400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500" b="1">
                <a:solidFill>
                  <a:srgbClr val="1F2430"/>
                </a:solidFill>
                <a:latin typeface="PT Sans"/>
              </a:rPr>
              <a:t>200 сом</a:t>
            </a:r>
          </a:p>
        </p:txBody>
      </p:sp>
      <p:sp>
        <p:nvSpPr>
          <p:cNvPr id="25" name="Rounded Rectangle 24"/>
          <p:cNvSpPr/>
          <p:nvPr/>
        </p:nvSpPr>
        <p:spPr>
          <a:xfrm>
            <a:off x="6245352" y="2450592"/>
            <a:ext cx="1325880" cy="640080"/>
          </a:xfrm>
          <a:prstGeom prst="roundRect">
            <a:avLst>
              <a:gd name="adj" fmla="val 8000"/>
            </a:avLst>
          </a:prstGeom>
          <a:solidFill>
            <a:srgbClr val="BFCBE9"/>
          </a:solidFill>
          <a:ln w="15875">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300216" y="2505456"/>
            <a:ext cx="1216152" cy="530352"/>
          </a:xfrm>
          <a:prstGeom prst="roundRect">
            <a:avLst>
              <a:gd name="adj" fmla="val 6000"/>
            </a:avLst>
          </a:prstGeom>
          <a:noFill/>
          <a:ln w="7620">
            <a:solidFill>
              <a:srgbClr val="24418C"/>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245352" y="2450592"/>
            <a:ext cx="1325880" cy="6400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500" b="1">
                <a:solidFill>
                  <a:srgbClr val="1F2430"/>
                </a:solidFill>
                <a:latin typeface="PT Sans"/>
              </a:rPr>
              <a:t>500 сом</a:t>
            </a:r>
          </a:p>
        </p:txBody>
      </p:sp>
      <p:sp>
        <p:nvSpPr>
          <p:cNvPr id="28" name="TextBox 27"/>
          <p:cNvSpPr txBox="1"/>
          <p:nvPr/>
        </p:nvSpPr>
        <p:spPr>
          <a:xfrm>
            <a:off x="502920" y="3246120"/>
            <a:ext cx="5486400" cy="320040"/>
          </a:xfrm>
          <a:prstGeom prst="rect">
            <a:avLst/>
          </a:prstGeom>
          <a:noFill/>
        </p:spPr>
        <p:txBody>
          <a:bodyPr wrap="square" anchor="t" lIns="45720" rIns="45720" tIns="27432" bIns="27432">
            <a:spAutoFit/>
          </a:bodyPr>
          <a:lstStyle/>
          <a:p>
            <a:pPr algn="l">
              <a:lnSpc>
                <a:spcPct val="105000"/>
              </a:lnSpc>
            </a:pPr>
            <a:r>
              <a:rPr sz="1500" b="1" i="0">
                <a:solidFill>
                  <a:srgbClr val="1D3557"/>
                </a:solidFill>
                <a:latin typeface="PT Sans"/>
              </a:rPr>
              <a:t>Тыйындар (капкактар)</a:t>
            </a:r>
          </a:p>
        </p:txBody>
      </p:sp>
      <p:sp>
        <p:nvSpPr>
          <p:cNvPr id="29" name="Oval 28"/>
          <p:cNvSpPr/>
          <p:nvPr/>
        </p:nvSpPr>
        <p:spPr>
          <a:xfrm>
            <a:off x="502920" y="3584448"/>
            <a:ext cx="713232" cy="713232"/>
          </a:xfrm>
          <a:prstGeom prst="ellipse">
            <a:avLst/>
          </a:prstGeom>
          <a:solidFill>
            <a:srgbClr val="FFFFFF"/>
          </a:solidFill>
          <a:ln w="19050">
            <a:solidFill>
              <a:srgbClr val="4A5A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548640" y="3630168"/>
            <a:ext cx="621792" cy="621792"/>
          </a:xfrm>
          <a:prstGeom prst="ellipse">
            <a:avLst/>
          </a:prstGeom>
          <a:noFill/>
          <a:ln w="7620">
            <a:solidFill>
              <a:srgbClr val="4A5A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11480" y="3694175"/>
            <a:ext cx="896112" cy="274320"/>
          </a:xfrm>
          <a:prstGeom prst="rect">
            <a:avLst/>
          </a:prstGeom>
          <a:noFill/>
        </p:spPr>
        <p:txBody>
          <a:bodyPr wrap="square" anchor="t" lIns="45720" rIns="45720" tIns="27432" bIns="27432">
            <a:spAutoFit/>
          </a:bodyPr>
          <a:lstStyle/>
          <a:p>
            <a:pPr algn="ctr">
              <a:lnSpc>
                <a:spcPct val="105000"/>
              </a:lnSpc>
            </a:pPr>
            <a:r>
              <a:rPr sz="1400" b="1" i="0">
                <a:solidFill>
                  <a:srgbClr val="1F2430"/>
                </a:solidFill>
                <a:latin typeface="PT Sans"/>
              </a:rPr>
              <a:t>1</a:t>
            </a:r>
          </a:p>
        </p:txBody>
      </p:sp>
      <p:sp>
        <p:nvSpPr>
          <p:cNvPr id="32" name="TextBox 31"/>
          <p:cNvSpPr txBox="1"/>
          <p:nvPr/>
        </p:nvSpPr>
        <p:spPr>
          <a:xfrm>
            <a:off x="411480" y="3922776"/>
            <a:ext cx="896112" cy="228600"/>
          </a:xfrm>
          <a:prstGeom prst="rect">
            <a:avLst/>
          </a:prstGeom>
          <a:noFill/>
        </p:spPr>
        <p:txBody>
          <a:bodyPr wrap="square" anchor="t" lIns="45720" rIns="45720" tIns="27432" bIns="27432">
            <a:spAutoFit/>
          </a:bodyPr>
          <a:lstStyle/>
          <a:p>
            <a:pPr algn="ctr">
              <a:lnSpc>
                <a:spcPct val="105000"/>
              </a:lnSpc>
            </a:pPr>
            <a:r>
              <a:rPr sz="900" b="0" i="0">
                <a:solidFill>
                  <a:srgbClr val="4A5A70"/>
                </a:solidFill>
                <a:latin typeface="PT Sans"/>
              </a:rPr>
              <a:t>сом</a:t>
            </a:r>
          </a:p>
        </p:txBody>
      </p:sp>
      <p:sp>
        <p:nvSpPr>
          <p:cNvPr id="33" name="Oval 32"/>
          <p:cNvSpPr/>
          <p:nvPr/>
        </p:nvSpPr>
        <p:spPr>
          <a:xfrm>
            <a:off x="1508760" y="3584448"/>
            <a:ext cx="713232" cy="713232"/>
          </a:xfrm>
          <a:prstGeom prst="ellipse">
            <a:avLst/>
          </a:prstGeom>
          <a:solidFill>
            <a:srgbClr val="FFFFFF"/>
          </a:solidFill>
          <a:ln w="19050">
            <a:solidFill>
              <a:srgbClr val="4A5A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554480" y="3630168"/>
            <a:ext cx="621792" cy="621792"/>
          </a:xfrm>
          <a:prstGeom prst="ellipse">
            <a:avLst/>
          </a:prstGeom>
          <a:noFill/>
          <a:ln w="7620">
            <a:solidFill>
              <a:srgbClr val="4A5A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417320" y="3694175"/>
            <a:ext cx="896112" cy="274320"/>
          </a:xfrm>
          <a:prstGeom prst="rect">
            <a:avLst/>
          </a:prstGeom>
          <a:noFill/>
        </p:spPr>
        <p:txBody>
          <a:bodyPr wrap="square" anchor="t" lIns="45720" rIns="45720" tIns="27432" bIns="27432">
            <a:spAutoFit/>
          </a:bodyPr>
          <a:lstStyle/>
          <a:p>
            <a:pPr algn="ctr">
              <a:lnSpc>
                <a:spcPct val="105000"/>
              </a:lnSpc>
            </a:pPr>
            <a:r>
              <a:rPr sz="1400" b="1" i="0">
                <a:solidFill>
                  <a:srgbClr val="1F2430"/>
                </a:solidFill>
                <a:latin typeface="PT Sans"/>
              </a:rPr>
              <a:t>3</a:t>
            </a:r>
          </a:p>
        </p:txBody>
      </p:sp>
      <p:sp>
        <p:nvSpPr>
          <p:cNvPr id="36" name="TextBox 35"/>
          <p:cNvSpPr txBox="1"/>
          <p:nvPr/>
        </p:nvSpPr>
        <p:spPr>
          <a:xfrm>
            <a:off x="1417320" y="3922776"/>
            <a:ext cx="896112" cy="228600"/>
          </a:xfrm>
          <a:prstGeom prst="rect">
            <a:avLst/>
          </a:prstGeom>
          <a:noFill/>
        </p:spPr>
        <p:txBody>
          <a:bodyPr wrap="square" anchor="t" lIns="45720" rIns="45720" tIns="27432" bIns="27432">
            <a:spAutoFit/>
          </a:bodyPr>
          <a:lstStyle/>
          <a:p>
            <a:pPr algn="ctr">
              <a:lnSpc>
                <a:spcPct val="105000"/>
              </a:lnSpc>
            </a:pPr>
            <a:r>
              <a:rPr sz="900" b="0" i="0">
                <a:solidFill>
                  <a:srgbClr val="4A5A70"/>
                </a:solidFill>
                <a:latin typeface="PT Sans"/>
              </a:rPr>
              <a:t>сом</a:t>
            </a:r>
          </a:p>
        </p:txBody>
      </p:sp>
      <p:sp>
        <p:nvSpPr>
          <p:cNvPr id="37" name="Oval 36"/>
          <p:cNvSpPr/>
          <p:nvPr/>
        </p:nvSpPr>
        <p:spPr>
          <a:xfrm>
            <a:off x="2514600" y="3584448"/>
            <a:ext cx="713232" cy="713232"/>
          </a:xfrm>
          <a:prstGeom prst="ellipse">
            <a:avLst/>
          </a:prstGeom>
          <a:solidFill>
            <a:srgbClr val="FFFFFF"/>
          </a:solidFill>
          <a:ln w="19050">
            <a:solidFill>
              <a:srgbClr val="4A5A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2560320" y="3630168"/>
            <a:ext cx="621792" cy="621792"/>
          </a:xfrm>
          <a:prstGeom prst="ellipse">
            <a:avLst/>
          </a:prstGeom>
          <a:noFill/>
          <a:ln w="7620">
            <a:solidFill>
              <a:srgbClr val="4A5A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423160" y="3694175"/>
            <a:ext cx="896112" cy="274320"/>
          </a:xfrm>
          <a:prstGeom prst="rect">
            <a:avLst/>
          </a:prstGeom>
          <a:noFill/>
        </p:spPr>
        <p:txBody>
          <a:bodyPr wrap="square" anchor="t" lIns="45720" rIns="45720" tIns="27432" bIns="27432">
            <a:spAutoFit/>
          </a:bodyPr>
          <a:lstStyle/>
          <a:p>
            <a:pPr algn="ctr">
              <a:lnSpc>
                <a:spcPct val="105000"/>
              </a:lnSpc>
            </a:pPr>
            <a:r>
              <a:rPr sz="1400" b="1" i="0">
                <a:solidFill>
                  <a:srgbClr val="1F2430"/>
                </a:solidFill>
                <a:latin typeface="PT Sans"/>
              </a:rPr>
              <a:t>5</a:t>
            </a:r>
          </a:p>
        </p:txBody>
      </p:sp>
      <p:sp>
        <p:nvSpPr>
          <p:cNvPr id="40" name="TextBox 39"/>
          <p:cNvSpPr txBox="1"/>
          <p:nvPr/>
        </p:nvSpPr>
        <p:spPr>
          <a:xfrm>
            <a:off x="2423160" y="3922776"/>
            <a:ext cx="896112" cy="228600"/>
          </a:xfrm>
          <a:prstGeom prst="rect">
            <a:avLst/>
          </a:prstGeom>
          <a:noFill/>
        </p:spPr>
        <p:txBody>
          <a:bodyPr wrap="square" anchor="t" lIns="45720" rIns="45720" tIns="27432" bIns="27432">
            <a:spAutoFit/>
          </a:bodyPr>
          <a:lstStyle/>
          <a:p>
            <a:pPr algn="ctr">
              <a:lnSpc>
                <a:spcPct val="105000"/>
              </a:lnSpc>
            </a:pPr>
            <a:r>
              <a:rPr sz="900" b="0" i="0">
                <a:solidFill>
                  <a:srgbClr val="4A5A70"/>
                </a:solidFill>
                <a:latin typeface="PT Sans"/>
              </a:rPr>
              <a:t>сом</a:t>
            </a:r>
          </a:p>
        </p:txBody>
      </p:sp>
      <p:sp>
        <p:nvSpPr>
          <p:cNvPr id="41" name="Oval 40"/>
          <p:cNvSpPr/>
          <p:nvPr/>
        </p:nvSpPr>
        <p:spPr>
          <a:xfrm>
            <a:off x="3520440" y="3584448"/>
            <a:ext cx="713232" cy="713232"/>
          </a:xfrm>
          <a:prstGeom prst="ellipse">
            <a:avLst/>
          </a:prstGeom>
          <a:solidFill>
            <a:srgbClr val="FFFFFF"/>
          </a:solidFill>
          <a:ln w="19050">
            <a:solidFill>
              <a:srgbClr val="4A5A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3566160" y="3630168"/>
            <a:ext cx="621792" cy="621792"/>
          </a:xfrm>
          <a:prstGeom prst="ellipse">
            <a:avLst/>
          </a:prstGeom>
          <a:noFill/>
          <a:ln w="7620">
            <a:solidFill>
              <a:srgbClr val="4A5A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429000" y="3694175"/>
            <a:ext cx="896112" cy="274320"/>
          </a:xfrm>
          <a:prstGeom prst="rect">
            <a:avLst/>
          </a:prstGeom>
          <a:noFill/>
        </p:spPr>
        <p:txBody>
          <a:bodyPr wrap="square" anchor="t" lIns="45720" rIns="45720" tIns="27432" bIns="27432">
            <a:spAutoFit/>
          </a:bodyPr>
          <a:lstStyle/>
          <a:p>
            <a:pPr algn="ctr">
              <a:lnSpc>
                <a:spcPct val="105000"/>
              </a:lnSpc>
            </a:pPr>
            <a:r>
              <a:rPr sz="1400" b="1" i="0">
                <a:solidFill>
                  <a:srgbClr val="1F2430"/>
                </a:solidFill>
                <a:latin typeface="PT Sans"/>
              </a:rPr>
              <a:t>10</a:t>
            </a:r>
          </a:p>
        </p:txBody>
      </p:sp>
      <p:sp>
        <p:nvSpPr>
          <p:cNvPr id="44" name="TextBox 43"/>
          <p:cNvSpPr txBox="1"/>
          <p:nvPr/>
        </p:nvSpPr>
        <p:spPr>
          <a:xfrm>
            <a:off x="3429000" y="3922776"/>
            <a:ext cx="896112" cy="228600"/>
          </a:xfrm>
          <a:prstGeom prst="rect">
            <a:avLst/>
          </a:prstGeom>
          <a:noFill/>
        </p:spPr>
        <p:txBody>
          <a:bodyPr wrap="square" anchor="t" lIns="45720" rIns="45720" tIns="27432" bIns="27432">
            <a:spAutoFit/>
          </a:bodyPr>
          <a:lstStyle/>
          <a:p>
            <a:pPr algn="ctr">
              <a:lnSpc>
                <a:spcPct val="105000"/>
              </a:lnSpc>
            </a:pPr>
            <a:r>
              <a:rPr sz="900" b="0" i="0">
                <a:solidFill>
                  <a:srgbClr val="4A5A70"/>
                </a:solidFill>
                <a:latin typeface="PT Sans"/>
              </a:rPr>
              <a:t>сом</a:t>
            </a:r>
          </a:p>
        </p:txBody>
      </p:sp>
      <p:sp>
        <p:nvSpPr>
          <p:cNvPr id="45" name="Oval 44"/>
          <p:cNvSpPr/>
          <p:nvPr/>
        </p:nvSpPr>
        <p:spPr>
          <a:xfrm>
            <a:off x="4526280" y="3584448"/>
            <a:ext cx="713232" cy="713232"/>
          </a:xfrm>
          <a:prstGeom prst="ellipse">
            <a:avLst/>
          </a:prstGeom>
          <a:solidFill>
            <a:srgbClr val="FFFFFF"/>
          </a:solidFill>
          <a:ln w="1905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4572000" y="3630168"/>
            <a:ext cx="621792" cy="621792"/>
          </a:xfrm>
          <a:prstGeom prst="ellipse">
            <a:avLst/>
          </a:prstGeom>
          <a:noFill/>
          <a:ln w="762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434840" y="3694175"/>
            <a:ext cx="896112" cy="274320"/>
          </a:xfrm>
          <a:prstGeom prst="rect">
            <a:avLst/>
          </a:prstGeom>
          <a:noFill/>
        </p:spPr>
        <p:txBody>
          <a:bodyPr wrap="square" anchor="t" lIns="45720" rIns="45720" tIns="27432" bIns="27432">
            <a:spAutoFit/>
          </a:bodyPr>
          <a:lstStyle/>
          <a:p>
            <a:pPr algn="ctr">
              <a:lnSpc>
                <a:spcPct val="105000"/>
              </a:lnSpc>
            </a:pPr>
            <a:r>
              <a:rPr sz="1400" b="1" i="0">
                <a:solidFill>
                  <a:srgbClr val="1F2430"/>
                </a:solidFill>
                <a:latin typeface="PT Sans"/>
              </a:rPr>
              <a:t>10</a:t>
            </a:r>
          </a:p>
        </p:txBody>
      </p:sp>
      <p:sp>
        <p:nvSpPr>
          <p:cNvPr id="48" name="TextBox 47"/>
          <p:cNvSpPr txBox="1"/>
          <p:nvPr/>
        </p:nvSpPr>
        <p:spPr>
          <a:xfrm>
            <a:off x="4434840" y="3922776"/>
            <a:ext cx="896112" cy="228600"/>
          </a:xfrm>
          <a:prstGeom prst="rect">
            <a:avLst/>
          </a:prstGeom>
          <a:noFill/>
        </p:spPr>
        <p:txBody>
          <a:bodyPr wrap="square" anchor="t" lIns="45720" rIns="45720" tIns="27432" bIns="27432">
            <a:spAutoFit/>
          </a:bodyPr>
          <a:lstStyle/>
          <a:p>
            <a:pPr algn="ctr">
              <a:lnSpc>
                <a:spcPct val="105000"/>
              </a:lnSpc>
            </a:pPr>
            <a:r>
              <a:rPr sz="900" b="0" i="0">
                <a:solidFill>
                  <a:srgbClr val="4A5A70"/>
                </a:solidFill>
                <a:latin typeface="PT Sans"/>
              </a:rPr>
              <a:t>тыйын</a:t>
            </a:r>
          </a:p>
        </p:txBody>
      </p:sp>
      <p:sp>
        <p:nvSpPr>
          <p:cNvPr id="49" name="Oval 48"/>
          <p:cNvSpPr/>
          <p:nvPr/>
        </p:nvSpPr>
        <p:spPr>
          <a:xfrm>
            <a:off x="5532120" y="3584448"/>
            <a:ext cx="713232" cy="713232"/>
          </a:xfrm>
          <a:prstGeom prst="ellipse">
            <a:avLst/>
          </a:prstGeom>
          <a:solidFill>
            <a:srgbClr val="FFFFFF"/>
          </a:solidFill>
          <a:ln w="1905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5577840" y="3630168"/>
            <a:ext cx="621792" cy="621792"/>
          </a:xfrm>
          <a:prstGeom prst="ellipse">
            <a:avLst/>
          </a:prstGeom>
          <a:noFill/>
          <a:ln w="762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440680" y="3694175"/>
            <a:ext cx="896112" cy="274320"/>
          </a:xfrm>
          <a:prstGeom prst="rect">
            <a:avLst/>
          </a:prstGeom>
          <a:noFill/>
        </p:spPr>
        <p:txBody>
          <a:bodyPr wrap="square" anchor="t" lIns="45720" rIns="45720" tIns="27432" bIns="27432">
            <a:spAutoFit/>
          </a:bodyPr>
          <a:lstStyle/>
          <a:p>
            <a:pPr algn="ctr">
              <a:lnSpc>
                <a:spcPct val="105000"/>
              </a:lnSpc>
            </a:pPr>
            <a:r>
              <a:rPr sz="1400" b="1" i="0">
                <a:solidFill>
                  <a:srgbClr val="1F2430"/>
                </a:solidFill>
                <a:latin typeface="PT Sans"/>
              </a:rPr>
              <a:t>50</a:t>
            </a:r>
          </a:p>
        </p:txBody>
      </p:sp>
      <p:sp>
        <p:nvSpPr>
          <p:cNvPr id="52" name="TextBox 51"/>
          <p:cNvSpPr txBox="1"/>
          <p:nvPr/>
        </p:nvSpPr>
        <p:spPr>
          <a:xfrm>
            <a:off x="5440680" y="3922776"/>
            <a:ext cx="896112" cy="228600"/>
          </a:xfrm>
          <a:prstGeom prst="rect">
            <a:avLst/>
          </a:prstGeom>
          <a:noFill/>
        </p:spPr>
        <p:txBody>
          <a:bodyPr wrap="square" anchor="t" lIns="45720" rIns="45720" tIns="27432" bIns="27432">
            <a:spAutoFit/>
          </a:bodyPr>
          <a:lstStyle/>
          <a:p>
            <a:pPr algn="ctr">
              <a:lnSpc>
                <a:spcPct val="105000"/>
              </a:lnSpc>
            </a:pPr>
            <a:r>
              <a:rPr sz="900" b="0" i="0">
                <a:solidFill>
                  <a:srgbClr val="4A5A70"/>
                </a:solidFill>
                <a:latin typeface="PT Sans"/>
              </a:rPr>
              <a:t>тыйын</a:t>
            </a:r>
          </a:p>
        </p:txBody>
      </p:sp>
      <p:sp>
        <p:nvSpPr>
          <p:cNvPr id="53" name="TextBox 52"/>
          <p:cNvSpPr txBox="1"/>
          <p:nvPr/>
        </p:nvSpPr>
        <p:spPr>
          <a:xfrm>
            <a:off x="502920" y="4434840"/>
            <a:ext cx="3657600" cy="320040"/>
          </a:xfrm>
          <a:prstGeom prst="rect">
            <a:avLst/>
          </a:prstGeom>
          <a:noFill/>
        </p:spPr>
        <p:txBody>
          <a:bodyPr wrap="square" anchor="t" lIns="45720" rIns="45720" tIns="27432" bIns="27432">
            <a:spAutoFit/>
          </a:bodyPr>
          <a:lstStyle/>
          <a:p>
            <a:pPr algn="l">
              <a:lnSpc>
                <a:spcPct val="105000"/>
              </a:lnSpc>
            </a:pPr>
            <a:r>
              <a:rPr sz="1500" b="1" i="0">
                <a:solidFill>
                  <a:srgbClr val="1D3557"/>
                </a:solidFill>
                <a:latin typeface="PT Sans"/>
              </a:rPr>
              <a:t>Дүкөндөгү баалар</a:t>
            </a:r>
          </a:p>
        </p:txBody>
      </p:sp>
      <p:sp>
        <p:nvSpPr>
          <p:cNvPr id="54" name="Rounded Rectangle 53"/>
          <p:cNvSpPr/>
          <p:nvPr/>
        </p:nvSpPr>
        <p:spPr>
          <a:xfrm>
            <a:off x="502920" y="4773168"/>
            <a:ext cx="2331720" cy="566928"/>
          </a:xfrm>
          <a:prstGeom prst="roundRect">
            <a:avLst>
              <a:gd name="adj" fmla="val 15000"/>
            </a:avLst>
          </a:prstGeom>
          <a:solidFill>
            <a:srgbClr val="FFFFFF"/>
          </a:solidFill>
          <a:ln w="15875">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594360" y="4983480"/>
            <a:ext cx="146304" cy="146304"/>
          </a:xfrm>
          <a:prstGeom prst="ellipse">
            <a:avLst/>
          </a:prstGeom>
          <a:noFill/>
          <a:ln w="127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795528" y="4773168"/>
            <a:ext cx="1965960" cy="566928"/>
          </a:xfrm>
          <a:prstGeom prst="rect">
            <a:avLst/>
          </a:prstGeom>
          <a:noFill/>
        </p:spPr>
        <p:txBody>
          <a:bodyPr wrap="square" anchor="ctr" lIns="45720" rIns="45720" tIns="27432" bIns="27432">
            <a:spAutoFit/>
          </a:bodyPr>
          <a:lstStyle/>
          <a:p>
            <a:pPr algn="l">
              <a:lnSpc>
                <a:spcPct val="95000"/>
              </a:lnSpc>
            </a:pPr>
            <a:r>
              <a:rPr sz="1300" b="0" i="0">
                <a:solidFill>
                  <a:srgbClr val="4A5A70"/>
                </a:solidFill>
                <a:latin typeface="PT Sans"/>
              </a:rPr>
              <a:t>Дептер</a:t>
            </a:r>
          </a:p>
          <a:p>
            <a:pPr algn="l">
              <a:lnSpc>
                <a:spcPct val="95000"/>
              </a:lnSpc>
            </a:pPr>
            <a:r>
              <a:rPr sz="1600" b="1" i="0">
                <a:solidFill>
                  <a:srgbClr val="1D3557"/>
                </a:solidFill>
                <a:latin typeface="PT Sans"/>
              </a:rPr>
              <a:t>25 сом</a:t>
            </a:r>
          </a:p>
        </p:txBody>
      </p:sp>
      <p:sp>
        <p:nvSpPr>
          <p:cNvPr id="57" name="Rounded Rectangle 56"/>
          <p:cNvSpPr/>
          <p:nvPr/>
        </p:nvSpPr>
        <p:spPr>
          <a:xfrm>
            <a:off x="3017520" y="4773168"/>
            <a:ext cx="2331720" cy="566928"/>
          </a:xfrm>
          <a:prstGeom prst="roundRect">
            <a:avLst>
              <a:gd name="adj" fmla="val 15000"/>
            </a:avLst>
          </a:prstGeom>
          <a:solidFill>
            <a:srgbClr val="FFFFFF"/>
          </a:solidFill>
          <a:ln w="15875">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3108960" y="4983480"/>
            <a:ext cx="146304" cy="146304"/>
          </a:xfrm>
          <a:prstGeom prst="ellipse">
            <a:avLst/>
          </a:prstGeom>
          <a:noFill/>
          <a:ln w="127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3310127" y="4773168"/>
            <a:ext cx="1965960" cy="566928"/>
          </a:xfrm>
          <a:prstGeom prst="rect">
            <a:avLst/>
          </a:prstGeom>
          <a:noFill/>
        </p:spPr>
        <p:txBody>
          <a:bodyPr wrap="square" anchor="ctr" lIns="45720" rIns="45720" tIns="27432" bIns="27432">
            <a:spAutoFit/>
          </a:bodyPr>
          <a:lstStyle/>
          <a:p>
            <a:pPr algn="l">
              <a:lnSpc>
                <a:spcPct val="95000"/>
              </a:lnSpc>
            </a:pPr>
            <a:r>
              <a:rPr sz="1300" b="0" i="0">
                <a:solidFill>
                  <a:srgbClr val="4A5A70"/>
                </a:solidFill>
                <a:latin typeface="PT Sans"/>
              </a:rPr>
              <a:t>Пачка: 5 дептер</a:t>
            </a:r>
          </a:p>
          <a:p>
            <a:pPr algn="l">
              <a:lnSpc>
                <a:spcPct val="95000"/>
              </a:lnSpc>
            </a:pPr>
            <a:r>
              <a:rPr sz="1600" b="1" i="0">
                <a:solidFill>
                  <a:srgbClr val="1D3557"/>
                </a:solidFill>
                <a:latin typeface="PT Sans"/>
              </a:rPr>
              <a:t>110 сом</a:t>
            </a:r>
          </a:p>
        </p:txBody>
      </p:sp>
      <p:sp>
        <p:nvSpPr>
          <p:cNvPr id="60" name="Rounded Rectangle 59"/>
          <p:cNvSpPr/>
          <p:nvPr/>
        </p:nvSpPr>
        <p:spPr>
          <a:xfrm>
            <a:off x="5532120" y="4773168"/>
            <a:ext cx="2331720" cy="566928"/>
          </a:xfrm>
          <a:prstGeom prst="roundRect">
            <a:avLst>
              <a:gd name="adj" fmla="val 15000"/>
            </a:avLst>
          </a:prstGeom>
          <a:solidFill>
            <a:srgbClr val="FFFFFF"/>
          </a:solidFill>
          <a:ln w="15875">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5623559" y="4983480"/>
            <a:ext cx="146304" cy="146304"/>
          </a:xfrm>
          <a:prstGeom prst="ellipse">
            <a:avLst/>
          </a:prstGeom>
          <a:noFill/>
          <a:ln w="127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5824728" y="4773168"/>
            <a:ext cx="1965960" cy="566928"/>
          </a:xfrm>
          <a:prstGeom prst="rect">
            <a:avLst/>
          </a:prstGeom>
          <a:noFill/>
        </p:spPr>
        <p:txBody>
          <a:bodyPr wrap="square" anchor="ctr" lIns="45720" rIns="45720" tIns="27432" bIns="27432">
            <a:spAutoFit/>
          </a:bodyPr>
          <a:lstStyle/>
          <a:p>
            <a:pPr algn="l">
              <a:lnSpc>
                <a:spcPct val="95000"/>
              </a:lnSpc>
            </a:pPr>
            <a:r>
              <a:rPr sz="1300" b="0" i="0">
                <a:solidFill>
                  <a:srgbClr val="4A5A70"/>
                </a:solidFill>
                <a:latin typeface="PT Sans"/>
              </a:rPr>
              <a:t>Калем</a:t>
            </a:r>
          </a:p>
          <a:p>
            <a:pPr algn="l">
              <a:lnSpc>
                <a:spcPct val="95000"/>
              </a:lnSpc>
            </a:pPr>
            <a:r>
              <a:rPr sz="1600" b="1" i="0">
                <a:solidFill>
                  <a:srgbClr val="1D3557"/>
                </a:solidFill>
                <a:latin typeface="PT Sans"/>
              </a:rPr>
              <a:t>30 сом</a:t>
            </a:r>
          </a:p>
        </p:txBody>
      </p:sp>
      <p:sp>
        <p:nvSpPr>
          <p:cNvPr id="63" name="TextBox 62"/>
          <p:cNvSpPr txBox="1"/>
          <p:nvPr/>
        </p:nvSpPr>
        <p:spPr>
          <a:xfrm>
            <a:off x="502920" y="5486400"/>
            <a:ext cx="7863840" cy="365760"/>
          </a:xfrm>
          <a:prstGeom prst="rect">
            <a:avLst/>
          </a:prstGeom>
          <a:noFill/>
        </p:spPr>
        <p:txBody>
          <a:bodyPr wrap="square" anchor="t" lIns="45720" rIns="45720" tIns="27432" bIns="27432">
            <a:spAutoFit/>
          </a:bodyPr>
          <a:lstStyle/>
          <a:p>
            <a:pPr algn="l">
              <a:lnSpc>
                <a:spcPct val="105000"/>
              </a:lnSpc>
            </a:pPr>
            <a:r>
              <a:rPr sz="1600" b="0" i="1">
                <a:solidFill>
                  <a:srgbClr val="4A5A70"/>
                </a:solidFill>
                <a:latin typeface="PT Sans"/>
              </a:rPr>
              <a:t>Сатуучу кайтарымды толуктап санайт: 310 → 330 → 350 → 400 → 500.</a:t>
            </a:r>
          </a:p>
        </p:txBody>
      </p:sp>
      <p:sp>
        <p:nvSpPr>
          <p:cNvPr id="64" name="Rounded Rectangle 63"/>
          <p:cNvSpPr/>
          <p:nvPr/>
        </p:nvSpPr>
        <p:spPr>
          <a:xfrm>
            <a:off x="9006840" y="2103120"/>
            <a:ext cx="2743200" cy="374903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9144000" y="2176272"/>
            <a:ext cx="2514600" cy="3611880"/>
          </a:xfrm>
          <a:prstGeom prst="rect">
            <a:avLst/>
          </a:prstGeom>
          <a:noFill/>
        </p:spPr>
        <p:txBody>
          <a:bodyPr wrap="square" anchor="t" lIns="45720" rIns="45720" tIns="27432" bIns="27432">
            <a:spAutoFit/>
          </a:bodyPr>
          <a:lstStyle/>
          <a:p>
            <a:pPr algn="l">
              <a:lnSpc>
                <a:spcPct val="108000"/>
              </a:lnSpc>
            </a:pPr>
            <a:r>
              <a:rPr sz="1800" b="1" i="0">
                <a:solidFill>
                  <a:srgbClr val="1F2430"/>
                </a:solidFill>
                <a:latin typeface="PT Sans"/>
              </a:rPr>
              <a:t>Ар бир жупта:</a:t>
            </a:r>
          </a:p>
          <a:p>
            <a:pPr algn="l">
              <a:lnSpc>
                <a:spcPct val="108000"/>
              </a:lnSpc>
            </a:pPr>
            <a:r>
              <a:rPr sz="1400" b="0" i="0">
                <a:solidFill>
                  <a:srgbClr val="1F2430"/>
                </a:solidFill>
                <a:latin typeface="PT Sans"/>
              </a:rPr>
              <a:t>• кагаздан кесилген акчалар: 20, 50, 100, 200, 500 сом</a:t>
            </a:r>
          </a:p>
          <a:p>
            <a:pPr algn="l">
              <a:lnSpc>
                <a:spcPct val="108000"/>
              </a:lnSpc>
            </a:pPr>
            <a:r>
              <a:rPr sz="1400" b="0" i="0">
                <a:solidFill>
                  <a:srgbClr val="1F2430"/>
                </a:solidFill>
                <a:latin typeface="PT Sans"/>
              </a:rPr>
              <a:t>• капкак тыйындар: 1, 3, 5, 10 сом; 10, 50 тыйын</a:t>
            </a:r>
          </a:p>
          <a:p>
            <a:pPr algn="l">
              <a:lnSpc>
                <a:spcPct val="108000"/>
              </a:lnSpc>
            </a:pPr>
            <a:r>
              <a:rPr sz="1400" b="0" i="0">
                <a:solidFill>
                  <a:srgbClr val="1F2430"/>
                </a:solidFill>
                <a:latin typeface="PT Sans"/>
              </a:rPr>
              <a:t>• баа жазылган 3–4 карточка</a:t>
            </a:r>
          </a:p>
          <a:p>
            <a:pPr algn="l">
              <a:lnSpc>
                <a:spcPct val="108000"/>
              </a:lnSpc>
            </a:pPr>
            <a:r>
              <a:rPr sz="1400" b="0" i="0">
                <a:solidFill>
                  <a:srgbClr val="1F2430"/>
                </a:solidFill>
                <a:latin typeface="PT Sans"/>
              </a:rPr>
              <a:t>• мини-такта</a:t>
            </a:r>
          </a:p>
          <a:p>
            <a:pPr algn="l">
              <a:lnSpc>
                <a:spcPct val="108000"/>
              </a:lnSpc>
            </a:pPr>
            <a:r>
              <a:rPr sz="1700" b="1" i="0">
                <a:solidFill>
                  <a:srgbClr val="24418C"/>
                </a:solidFill>
                <a:latin typeface="PT Sans"/>
              </a:rPr>
              <a:t>1 сом = 100 тыйын</a:t>
            </a:r>
          </a:p>
        </p:txBody>
      </p:sp>
      <p:sp>
        <p:nvSpPr>
          <p:cNvPr id="66" name="Rounded Rectangle 65"/>
          <p:cNvSpPr/>
          <p:nvPr/>
        </p:nvSpPr>
        <p:spPr>
          <a:xfrm>
            <a:off x="8412480" y="6327648"/>
            <a:ext cx="457200" cy="411480"/>
          </a:xfrm>
          <a:prstGeom prst="roundRect">
            <a:avLst>
              <a:gd name="adj" fmla="val 50000"/>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1D3557"/>
                </a:solidFill>
                <a:latin typeface="PT Sans"/>
              </a:rPr>
              <a:t>К</a:t>
            </a:r>
          </a:p>
        </p:txBody>
      </p:sp>
      <p:sp>
        <p:nvSpPr>
          <p:cNvPr id="67" name="Rounded Rectangle 66"/>
          <p:cNvSpPr/>
          <p:nvPr/>
        </p:nvSpPr>
        <p:spPr>
          <a:xfrm>
            <a:off x="896111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С</a:t>
            </a:r>
          </a:p>
        </p:txBody>
      </p:sp>
      <p:sp>
        <p:nvSpPr>
          <p:cNvPr id="68" name="Rounded Rectangle 67"/>
          <p:cNvSpPr/>
          <p:nvPr/>
        </p:nvSpPr>
        <p:spPr>
          <a:xfrm>
            <a:off x="950975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А</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С: тилке жана толуктап саноо</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Акча: сатып алуу жана кайтарым</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12/26</a:t>
            </a:r>
          </a:p>
        </p:txBody>
      </p:sp>
      <p:sp>
        <p:nvSpPr>
          <p:cNvPr id="10" name="Rounded Rectangle 9"/>
          <p:cNvSpPr/>
          <p:nvPr/>
        </p:nvSpPr>
        <p:spPr>
          <a:xfrm>
            <a:off x="429768" y="1225296"/>
            <a:ext cx="11329416" cy="713232"/>
          </a:xfrm>
          <a:prstGeom prst="roundRect">
            <a:avLst>
              <a:gd name="adj" fmla="val 258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25296"/>
            <a:ext cx="10780776" cy="713232"/>
          </a:xfrm>
          <a:prstGeom prst="rect">
            <a:avLst/>
          </a:prstGeom>
          <a:noFill/>
        </p:spPr>
        <p:txBody>
          <a:bodyPr wrap="square" anchor="ctr" lIns="45720" rIns="45720" tIns="27432" bIns="27432">
            <a:spAutoFit/>
          </a:bodyPr>
          <a:lstStyle/>
          <a:p>
            <a:pPr algn="l">
              <a:lnSpc>
                <a:spcPct val="105000"/>
              </a:lnSpc>
            </a:pPr>
            <a:r>
              <a:rPr sz="2000" b="0" i="0">
                <a:solidFill>
                  <a:srgbClr val="1F2430"/>
                </a:solidFill>
                <a:latin typeface="PT Sans"/>
              </a:rPr>
              <a:t>500 сом = дептер + калем + кайтарым. Кассир кайтарымды баадан баштап толуктап санайт.</a:t>
            </a:r>
          </a:p>
        </p:txBody>
      </p:sp>
      <p:sp>
        <p:nvSpPr>
          <p:cNvPr id="12" name="TextBox 11"/>
          <p:cNvSpPr txBox="1"/>
          <p:nvPr/>
        </p:nvSpPr>
        <p:spPr>
          <a:xfrm>
            <a:off x="914400" y="2057400"/>
            <a:ext cx="2743200" cy="274320"/>
          </a:xfrm>
          <a:prstGeom prst="rect">
            <a:avLst/>
          </a:prstGeom>
          <a:noFill/>
        </p:spPr>
        <p:txBody>
          <a:bodyPr wrap="square" anchor="t" lIns="45720" rIns="45720" tIns="27432" bIns="27432">
            <a:spAutoFit/>
          </a:bodyPr>
          <a:lstStyle/>
          <a:p>
            <a:pPr algn="l">
              <a:lnSpc>
                <a:spcPct val="105000"/>
              </a:lnSpc>
            </a:pPr>
            <a:r>
              <a:rPr sz="1500" b="1" i="0">
                <a:solidFill>
                  <a:srgbClr val="1D3557"/>
                </a:solidFill>
                <a:latin typeface="PT Sans"/>
              </a:rPr>
              <a:t>Тилке модели</a:t>
            </a:r>
          </a:p>
        </p:txBody>
      </p:sp>
      <p:sp>
        <p:nvSpPr>
          <p:cNvPr id="13" name="Rectangle 12"/>
          <p:cNvSpPr/>
          <p:nvPr/>
        </p:nvSpPr>
        <p:spPr>
          <a:xfrm>
            <a:off x="914400" y="2651760"/>
            <a:ext cx="4546396" cy="566928"/>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F2430"/>
                </a:solidFill>
                <a:latin typeface="PT Sans"/>
              </a:rPr>
              <a:t>2 пачка дептер: 220</a:t>
            </a:r>
          </a:p>
        </p:txBody>
      </p:sp>
      <p:sp>
        <p:nvSpPr>
          <p:cNvPr id="14" name="Rectangle 13"/>
          <p:cNvSpPr/>
          <p:nvPr/>
        </p:nvSpPr>
        <p:spPr>
          <a:xfrm>
            <a:off x="5460796" y="2651760"/>
            <a:ext cx="1859889" cy="566928"/>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F2430"/>
                </a:solidFill>
                <a:latin typeface="PT Sans"/>
              </a:rPr>
              <a:t>3 калем: 90</a:t>
            </a:r>
          </a:p>
        </p:txBody>
      </p:sp>
      <p:sp>
        <p:nvSpPr>
          <p:cNvPr id="15" name="Rectangle 14"/>
          <p:cNvSpPr/>
          <p:nvPr/>
        </p:nvSpPr>
        <p:spPr>
          <a:xfrm>
            <a:off x="7320686" y="2651760"/>
            <a:ext cx="3926433" cy="566928"/>
          </a:xfrm>
          <a:prstGeom prst="rect">
            <a:avLst/>
          </a:prstGeom>
          <a:solidFill>
            <a:srgbClr val="FFFFFF"/>
          </a:solidFill>
          <a:ln w="20320">
            <a:solidFill>
              <a:srgbClr val="4A5A7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6B7280"/>
                </a:solidFill>
                <a:latin typeface="PT Sans"/>
              </a:rPr>
              <a:t>кайтарым: ?</a:t>
            </a:r>
          </a:p>
        </p:txBody>
      </p:sp>
      <p:cxnSp>
        <p:nvCxnSpPr>
          <p:cNvPr id="16" name="Connector 15"/>
          <p:cNvCxnSpPr/>
          <p:nvPr/>
        </p:nvCxnSpPr>
        <p:spPr>
          <a:xfrm>
            <a:off x="914400" y="2514600"/>
            <a:ext cx="1033272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914400" y="2423160"/>
            <a:ext cx="0" cy="182879"/>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1247120" y="2423160"/>
            <a:ext cx="0" cy="182879"/>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4709160" y="2148839"/>
            <a:ext cx="2743200" cy="320040"/>
          </a:xfrm>
          <a:prstGeom prst="rect">
            <a:avLst/>
          </a:prstGeom>
          <a:noFill/>
        </p:spPr>
        <p:txBody>
          <a:bodyPr wrap="square" anchor="t" lIns="45720" rIns="45720" tIns="27432" bIns="27432">
            <a:spAutoFit/>
          </a:bodyPr>
          <a:lstStyle/>
          <a:p>
            <a:pPr algn="ctr">
              <a:lnSpc>
                <a:spcPct val="105000"/>
              </a:lnSpc>
            </a:pPr>
            <a:r>
              <a:rPr sz="1800" b="1" i="0">
                <a:solidFill>
                  <a:srgbClr val="A84400"/>
                </a:solidFill>
                <a:latin typeface="PT Sans"/>
              </a:rPr>
              <a:t>500 сом</a:t>
            </a:r>
          </a:p>
        </p:txBody>
      </p:sp>
      <p:sp>
        <p:nvSpPr>
          <p:cNvPr id="20" name="TextBox 19"/>
          <p:cNvSpPr txBox="1"/>
          <p:nvPr/>
        </p:nvSpPr>
        <p:spPr>
          <a:xfrm>
            <a:off x="914400" y="3429000"/>
            <a:ext cx="5486400" cy="274320"/>
          </a:xfrm>
          <a:prstGeom prst="rect">
            <a:avLst/>
          </a:prstGeom>
          <a:noFill/>
        </p:spPr>
        <p:txBody>
          <a:bodyPr wrap="square" anchor="t" lIns="45720" rIns="45720" tIns="27432" bIns="27432">
            <a:spAutoFit/>
          </a:bodyPr>
          <a:lstStyle/>
          <a:p>
            <a:pPr algn="l">
              <a:lnSpc>
                <a:spcPct val="105000"/>
              </a:lnSpc>
            </a:pPr>
            <a:r>
              <a:rPr sz="1500" b="1" i="0">
                <a:solidFill>
                  <a:srgbClr val="1D3557"/>
                </a:solidFill>
                <a:latin typeface="PT Sans"/>
              </a:rPr>
              <a:t>Кассир толуктап санайт</a:t>
            </a:r>
          </a:p>
        </p:txBody>
      </p:sp>
      <p:sp>
        <p:nvSpPr>
          <p:cNvPr id="21" name="Rounded Rectangle 20"/>
          <p:cNvSpPr/>
          <p:nvPr/>
        </p:nvSpPr>
        <p:spPr>
          <a:xfrm>
            <a:off x="1005840" y="3840480"/>
            <a:ext cx="914400" cy="502920"/>
          </a:xfrm>
          <a:prstGeom prst="roundRect">
            <a:avLst>
              <a:gd name="adj" fmla="val 30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310</a:t>
            </a:r>
          </a:p>
        </p:txBody>
      </p:sp>
      <p:cxnSp>
        <p:nvCxnSpPr>
          <p:cNvPr id="22" name="Connector 21"/>
          <p:cNvCxnSpPr/>
          <p:nvPr/>
        </p:nvCxnSpPr>
        <p:spPr>
          <a:xfrm>
            <a:off x="1965960" y="4087368"/>
            <a:ext cx="1508760" cy="0"/>
          </a:xfrm>
          <a:prstGeom prst="line">
            <a:avLst/>
          </a:prstGeom>
          <a:ln w="25400">
            <a:solidFill>
              <a:srgbClr val="007A5A"/>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246120" y="3931920"/>
            <a:ext cx="274320" cy="320040"/>
          </a:xfrm>
          <a:prstGeom prst="rect">
            <a:avLst/>
          </a:prstGeom>
          <a:noFill/>
        </p:spPr>
        <p:txBody>
          <a:bodyPr wrap="square" anchor="t" lIns="45720" rIns="45720" tIns="27432" bIns="27432">
            <a:spAutoFit/>
          </a:bodyPr>
          <a:lstStyle/>
          <a:p>
            <a:pPr algn="l">
              <a:lnSpc>
                <a:spcPct val="105000"/>
              </a:lnSpc>
            </a:pPr>
            <a:r>
              <a:rPr sz="1200" b="0" i="0">
                <a:solidFill>
                  <a:srgbClr val="007A5A"/>
                </a:solidFill>
                <a:latin typeface="PT Sans"/>
              </a:rPr>
              <a:t>▶</a:t>
            </a:r>
          </a:p>
        </p:txBody>
      </p:sp>
      <p:sp>
        <p:nvSpPr>
          <p:cNvPr id="24" name="Rounded Rectangle 23"/>
          <p:cNvSpPr/>
          <p:nvPr/>
        </p:nvSpPr>
        <p:spPr>
          <a:xfrm>
            <a:off x="2057400" y="4526280"/>
            <a:ext cx="1325880" cy="566928"/>
          </a:xfrm>
          <a:prstGeom prst="roundRect">
            <a:avLst>
              <a:gd name="adj" fmla="val 8000"/>
            </a:avLst>
          </a:prstGeom>
          <a:solidFill>
            <a:srgbClr val="B5E2D3"/>
          </a:solid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2112264" y="4581144"/>
            <a:ext cx="1216152" cy="457200"/>
          </a:xfrm>
          <a:prstGeom prst="roundRect">
            <a:avLst>
              <a:gd name="adj" fmla="val 6000"/>
            </a:avLst>
          </a:prstGeom>
          <a:noFill/>
          <a:ln w="7620">
            <a:solidFill>
              <a:srgbClr val="007A5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2057400" y="4526280"/>
            <a:ext cx="13258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1F2430"/>
                </a:solidFill>
                <a:latin typeface="PT Sans"/>
              </a:rPr>
              <a:t>20 сом</a:t>
            </a:r>
          </a:p>
        </p:txBody>
      </p:sp>
      <p:sp>
        <p:nvSpPr>
          <p:cNvPr id="27" name="Rounded Rectangle 26"/>
          <p:cNvSpPr/>
          <p:nvPr/>
        </p:nvSpPr>
        <p:spPr>
          <a:xfrm>
            <a:off x="3520440" y="3840480"/>
            <a:ext cx="914400" cy="502920"/>
          </a:xfrm>
          <a:prstGeom prst="roundRect">
            <a:avLst>
              <a:gd name="adj" fmla="val 30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330</a:t>
            </a:r>
          </a:p>
        </p:txBody>
      </p:sp>
      <p:cxnSp>
        <p:nvCxnSpPr>
          <p:cNvPr id="28" name="Connector 27"/>
          <p:cNvCxnSpPr/>
          <p:nvPr/>
        </p:nvCxnSpPr>
        <p:spPr>
          <a:xfrm>
            <a:off x="4480560" y="4087368"/>
            <a:ext cx="1508760" cy="0"/>
          </a:xfrm>
          <a:prstGeom prst="line">
            <a:avLst/>
          </a:prstGeom>
          <a:ln w="25400">
            <a:solidFill>
              <a:srgbClr val="007A5A"/>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760720" y="3931920"/>
            <a:ext cx="274320" cy="320040"/>
          </a:xfrm>
          <a:prstGeom prst="rect">
            <a:avLst/>
          </a:prstGeom>
          <a:noFill/>
        </p:spPr>
        <p:txBody>
          <a:bodyPr wrap="square" anchor="t" lIns="45720" rIns="45720" tIns="27432" bIns="27432">
            <a:spAutoFit/>
          </a:bodyPr>
          <a:lstStyle/>
          <a:p>
            <a:pPr algn="l">
              <a:lnSpc>
                <a:spcPct val="105000"/>
              </a:lnSpc>
            </a:pPr>
            <a:r>
              <a:rPr sz="1200" b="0" i="0">
                <a:solidFill>
                  <a:srgbClr val="007A5A"/>
                </a:solidFill>
                <a:latin typeface="PT Sans"/>
              </a:rPr>
              <a:t>▶</a:t>
            </a:r>
          </a:p>
        </p:txBody>
      </p:sp>
      <p:sp>
        <p:nvSpPr>
          <p:cNvPr id="30" name="Rounded Rectangle 29"/>
          <p:cNvSpPr/>
          <p:nvPr/>
        </p:nvSpPr>
        <p:spPr>
          <a:xfrm>
            <a:off x="4572000" y="4526280"/>
            <a:ext cx="1325880" cy="566928"/>
          </a:xfrm>
          <a:prstGeom prst="roundRect">
            <a:avLst>
              <a:gd name="adj" fmla="val 8000"/>
            </a:avLst>
          </a:prstGeom>
          <a:solidFill>
            <a:srgbClr val="B5E2D3"/>
          </a:solid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626864" y="4581144"/>
            <a:ext cx="1216152" cy="457200"/>
          </a:xfrm>
          <a:prstGeom prst="roundRect">
            <a:avLst>
              <a:gd name="adj" fmla="val 6000"/>
            </a:avLst>
          </a:prstGeom>
          <a:noFill/>
          <a:ln w="7620">
            <a:solidFill>
              <a:srgbClr val="007A5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572000" y="4526280"/>
            <a:ext cx="13258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1F2430"/>
                </a:solidFill>
                <a:latin typeface="PT Sans"/>
              </a:rPr>
              <a:t>20 сом</a:t>
            </a:r>
          </a:p>
        </p:txBody>
      </p:sp>
      <p:sp>
        <p:nvSpPr>
          <p:cNvPr id="33" name="Rounded Rectangle 32"/>
          <p:cNvSpPr/>
          <p:nvPr/>
        </p:nvSpPr>
        <p:spPr>
          <a:xfrm>
            <a:off x="6035040" y="3840480"/>
            <a:ext cx="914400" cy="502920"/>
          </a:xfrm>
          <a:prstGeom prst="roundRect">
            <a:avLst>
              <a:gd name="adj" fmla="val 30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350</a:t>
            </a:r>
          </a:p>
        </p:txBody>
      </p:sp>
      <p:cxnSp>
        <p:nvCxnSpPr>
          <p:cNvPr id="34" name="Connector 33"/>
          <p:cNvCxnSpPr/>
          <p:nvPr/>
        </p:nvCxnSpPr>
        <p:spPr>
          <a:xfrm>
            <a:off x="6995159" y="4087368"/>
            <a:ext cx="1508760" cy="0"/>
          </a:xfrm>
          <a:prstGeom prst="line">
            <a:avLst/>
          </a:prstGeom>
          <a:ln w="25400">
            <a:solidFill>
              <a:srgbClr val="007A5A"/>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8275319" y="3931920"/>
            <a:ext cx="274320" cy="320040"/>
          </a:xfrm>
          <a:prstGeom prst="rect">
            <a:avLst/>
          </a:prstGeom>
          <a:noFill/>
        </p:spPr>
        <p:txBody>
          <a:bodyPr wrap="square" anchor="t" lIns="45720" rIns="45720" tIns="27432" bIns="27432">
            <a:spAutoFit/>
          </a:bodyPr>
          <a:lstStyle/>
          <a:p>
            <a:pPr algn="l">
              <a:lnSpc>
                <a:spcPct val="105000"/>
              </a:lnSpc>
            </a:pPr>
            <a:r>
              <a:rPr sz="1200" b="0" i="0">
                <a:solidFill>
                  <a:srgbClr val="007A5A"/>
                </a:solidFill>
                <a:latin typeface="PT Sans"/>
              </a:rPr>
              <a:t>▶</a:t>
            </a:r>
          </a:p>
        </p:txBody>
      </p:sp>
      <p:sp>
        <p:nvSpPr>
          <p:cNvPr id="36" name="Rounded Rectangle 35"/>
          <p:cNvSpPr/>
          <p:nvPr/>
        </p:nvSpPr>
        <p:spPr>
          <a:xfrm>
            <a:off x="7086600" y="4526280"/>
            <a:ext cx="1325880" cy="566928"/>
          </a:xfrm>
          <a:prstGeom prst="roundRect">
            <a:avLst>
              <a:gd name="adj" fmla="val 8000"/>
            </a:avLst>
          </a:prstGeom>
          <a:solidFill>
            <a:srgbClr val="B5E2D3"/>
          </a:solid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7141464" y="4581144"/>
            <a:ext cx="1216152" cy="457200"/>
          </a:xfrm>
          <a:prstGeom prst="roundRect">
            <a:avLst>
              <a:gd name="adj" fmla="val 6000"/>
            </a:avLst>
          </a:prstGeom>
          <a:noFill/>
          <a:ln w="7620">
            <a:solidFill>
              <a:srgbClr val="007A5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086600" y="4526280"/>
            <a:ext cx="13258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1F2430"/>
                </a:solidFill>
                <a:latin typeface="PT Sans"/>
              </a:rPr>
              <a:t>50 сом</a:t>
            </a:r>
          </a:p>
        </p:txBody>
      </p:sp>
      <p:sp>
        <p:nvSpPr>
          <p:cNvPr id="39" name="Rounded Rectangle 38"/>
          <p:cNvSpPr/>
          <p:nvPr/>
        </p:nvSpPr>
        <p:spPr>
          <a:xfrm>
            <a:off x="8549640" y="3840480"/>
            <a:ext cx="914400" cy="502920"/>
          </a:xfrm>
          <a:prstGeom prst="roundRect">
            <a:avLst>
              <a:gd name="adj" fmla="val 30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400</a:t>
            </a:r>
          </a:p>
        </p:txBody>
      </p:sp>
      <p:cxnSp>
        <p:nvCxnSpPr>
          <p:cNvPr id="40" name="Connector 39"/>
          <p:cNvCxnSpPr/>
          <p:nvPr/>
        </p:nvCxnSpPr>
        <p:spPr>
          <a:xfrm>
            <a:off x="9509760" y="4087368"/>
            <a:ext cx="1508759" cy="0"/>
          </a:xfrm>
          <a:prstGeom prst="line">
            <a:avLst/>
          </a:prstGeom>
          <a:ln w="25400">
            <a:solidFill>
              <a:srgbClr val="007A5A"/>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10789919" y="3931920"/>
            <a:ext cx="274320" cy="320040"/>
          </a:xfrm>
          <a:prstGeom prst="rect">
            <a:avLst/>
          </a:prstGeom>
          <a:noFill/>
        </p:spPr>
        <p:txBody>
          <a:bodyPr wrap="square" anchor="t" lIns="45720" rIns="45720" tIns="27432" bIns="27432">
            <a:spAutoFit/>
          </a:bodyPr>
          <a:lstStyle/>
          <a:p>
            <a:pPr algn="l">
              <a:lnSpc>
                <a:spcPct val="105000"/>
              </a:lnSpc>
            </a:pPr>
            <a:r>
              <a:rPr sz="1200" b="0" i="0">
                <a:solidFill>
                  <a:srgbClr val="007A5A"/>
                </a:solidFill>
                <a:latin typeface="PT Sans"/>
              </a:rPr>
              <a:t>▶</a:t>
            </a:r>
          </a:p>
        </p:txBody>
      </p:sp>
      <p:sp>
        <p:nvSpPr>
          <p:cNvPr id="42" name="Rounded Rectangle 41"/>
          <p:cNvSpPr/>
          <p:nvPr/>
        </p:nvSpPr>
        <p:spPr>
          <a:xfrm>
            <a:off x="9601200" y="4526280"/>
            <a:ext cx="1325880" cy="566928"/>
          </a:xfrm>
          <a:prstGeom prst="roundRect">
            <a:avLst>
              <a:gd name="adj" fmla="val 8000"/>
            </a:avLst>
          </a:prstGeom>
          <a:solidFill>
            <a:srgbClr val="F2C9AC"/>
          </a:solidFill>
          <a:ln w="158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9656064" y="4581144"/>
            <a:ext cx="1216152" cy="457200"/>
          </a:xfrm>
          <a:prstGeom prst="roundRect">
            <a:avLst>
              <a:gd name="adj" fmla="val 6000"/>
            </a:avLst>
          </a:prstGeom>
          <a:noFill/>
          <a:ln w="7620">
            <a:solidFill>
              <a:srgbClr val="A844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9601200" y="4526280"/>
            <a:ext cx="13258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1F2430"/>
                </a:solidFill>
                <a:latin typeface="PT Sans"/>
              </a:rPr>
              <a:t>100 сом</a:t>
            </a:r>
          </a:p>
        </p:txBody>
      </p:sp>
      <p:sp>
        <p:nvSpPr>
          <p:cNvPr id="45" name="Rounded Rectangle 44"/>
          <p:cNvSpPr/>
          <p:nvPr/>
        </p:nvSpPr>
        <p:spPr>
          <a:xfrm>
            <a:off x="11064240" y="3840480"/>
            <a:ext cx="914400" cy="502920"/>
          </a:xfrm>
          <a:prstGeom prst="roundRect">
            <a:avLst>
              <a:gd name="adj" fmla="val 30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A84400"/>
                </a:solidFill>
                <a:latin typeface="PT Sans"/>
              </a:rPr>
              <a:t>500</a:t>
            </a:r>
          </a:p>
        </p:txBody>
      </p:sp>
      <p:sp>
        <p:nvSpPr>
          <p:cNvPr id="46" name="TextBox 45"/>
          <p:cNvSpPr txBox="1"/>
          <p:nvPr/>
        </p:nvSpPr>
        <p:spPr>
          <a:xfrm>
            <a:off x="914400" y="5212080"/>
            <a:ext cx="10332720" cy="365760"/>
          </a:xfrm>
          <a:prstGeom prst="rect">
            <a:avLst/>
          </a:prstGeom>
          <a:noFill/>
        </p:spPr>
        <p:txBody>
          <a:bodyPr wrap="square" anchor="t" lIns="45720" rIns="45720" tIns="27432" bIns="27432">
            <a:spAutoFit/>
          </a:bodyPr>
          <a:lstStyle/>
          <a:p>
            <a:pPr algn="ctr">
              <a:lnSpc>
                <a:spcPct val="105000"/>
              </a:lnSpc>
            </a:pPr>
            <a:r>
              <a:rPr sz="1700" b="1" i="0">
                <a:solidFill>
                  <a:srgbClr val="007A5A"/>
                </a:solidFill>
                <a:latin typeface="PT Sans"/>
              </a:rPr>
              <a:t>Кайтарым = кошкон акчалар: 20 + 20 + 50 + 100 = 190 сом</a:t>
            </a:r>
          </a:p>
        </p:txBody>
      </p:sp>
      <p:sp>
        <p:nvSpPr>
          <p:cNvPr id="47" name="TextBox 46"/>
          <p:cNvSpPr txBox="1"/>
          <p:nvPr/>
        </p:nvSpPr>
        <p:spPr>
          <a:xfrm>
            <a:off x="429768" y="5623560"/>
            <a:ext cx="11329416" cy="457200"/>
          </a:xfrm>
          <a:prstGeom prst="rect">
            <a:avLst/>
          </a:prstGeom>
          <a:noFill/>
        </p:spPr>
        <p:txBody>
          <a:bodyPr wrap="square" anchor="t" lIns="45720" rIns="45720" tIns="27432" bIns="27432">
            <a:spAutoFit/>
          </a:bodyPr>
          <a:lstStyle/>
          <a:p>
            <a:pPr algn="ctr">
              <a:lnSpc>
                <a:spcPct val="105000"/>
              </a:lnSpc>
            </a:pPr>
            <a:r>
              <a:rPr sz="2200" b="1" i="0">
                <a:solidFill>
                  <a:srgbClr val="24418C"/>
                </a:solidFill>
                <a:latin typeface="PT Sans"/>
              </a:rPr>
              <a:t>500 − 220 − 90 = 190;     310 + 20 + 20 + 50 + 100 = 500</a:t>
            </a:r>
          </a:p>
        </p:txBody>
      </p:sp>
      <p:sp>
        <p:nvSpPr>
          <p:cNvPr id="48" name="Rounded Rectangle 47"/>
          <p:cNvSpPr/>
          <p:nvPr/>
        </p:nvSpPr>
        <p:spPr>
          <a:xfrm>
            <a:off x="8412480"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К</a:t>
            </a:r>
          </a:p>
        </p:txBody>
      </p:sp>
      <p:sp>
        <p:nvSpPr>
          <p:cNvPr id="49" name="Rounded Rectangle 48"/>
          <p:cNvSpPr/>
          <p:nvPr/>
        </p:nvSpPr>
        <p:spPr>
          <a:xfrm>
            <a:off x="8961119" y="6327648"/>
            <a:ext cx="457200" cy="411480"/>
          </a:xfrm>
          <a:prstGeom prst="roundRect">
            <a:avLst>
              <a:gd name="adj" fmla="val 50000"/>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1D3557"/>
                </a:solidFill>
                <a:latin typeface="PT Sans"/>
              </a:rPr>
              <a:t>С</a:t>
            </a:r>
          </a:p>
        </p:txBody>
      </p:sp>
      <p:sp>
        <p:nvSpPr>
          <p:cNvPr id="50" name="Rounded Rectangle 49"/>
          <p:cNvSpPr/>
          <p:nvPr/>
        </p:nvSpPr>
        <p:spPr>
          <a:xfrm>
            <a:off x="950975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А</a:t>
            </a:r>
          </a:p>
        </p:txBody>
      </p:sp>
      <p:sp>
        <p:nvSpPr>
          <p:cNvPr id="51" name="Rounded Rectangle 50"/>
          <p:cNvSpPr/>
          <p:nvPr/>
        </p:nvSpPr>
        <p:spPr>
          <a:xfrm>
            <a:off x="4449927" y="6327648"/>
            <a:ext cx="3291840" cy="411480"/>
          </a:xfrm>
          <a:prstGeom prst="roundRect">
            <a:avLst>
              <a:gd name="adj" fmla="val 50000"/>
            </a:avLst>
          </a:prstGeom>
          <a:noFill/>
          <a:ln w="15875">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24418C"/>
                </a:solidFill>
                <a:latin typeface="PT Sans"/>
              </a:rPr>
              <a:t>3C · Байланыштыруу</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А: эреже</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Акча: сатып алуу жана кайтарым</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13/26</a:t>
            </a:r>
          </a:p>
        </p:txBody>
      </p:sp>
      <p:sp>
        <p:nvSpPr>
          <p:cNvPr id="10" name="Rounded Rectangle 9"/>
          <p:cNvSpPr/>
          <p:nvPr/>
        </p:nvSpPr>
        <p:spPr>
          <a:xfrm>
            <a:off x="429768" y="1371600"/>
            <a:ext cx="2626614" cy="30175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423035" y="1600200"/>
            <a:ext cx="640080" cy="64008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1D3557"/>
                </a:solidFill>
                <a:latin typeface="PT Sans"/>
              </a:rPr>
              <a:t>1</a:t>
            </a:r>
          </a:p>
        </p:txBody>
      </p:sp>
      <p:sp>
        <p:nvSpPr>
          <p:cNvPr id="12" name="TextBox 11"/>
          <p:cNvSpPr txBox="1"/>
          <p:nvPr/>
        </p:nvSpPr>
        <p:spPr>
          <a:xfrm>
            <a:off x="521207" y="2377440"/>
            <a:ext cx="2443734" cy="640080"/>
          </a:xfrm>
          <a:prstGeom prst="rect">
            <a:avLst/>
          </a:prstGeom>
          <a:noFill/>
        </p:spPr>
        <p:txBody>
          <a:bodyPr wrap="square" anchor="t" lIns="45720" rIns="45720" tIns="27432" bIns="27432">
            <a:spAutoFit/>
          </a:bodyPr>
          <a:lstStyle/>
          <a:p>
            <a:pPr algn="ctr">
              <a:lnSpc>
                <a:spcPct val="105000"/>
              </a:lnSpc>
            </a:pPr>
            <a:r>
              <a:rPr sz="3600" b="1" i="0">
                <a:solidFill>
                  <a:srgbClr val="24418C"/>
                </a:solidFill>
                <a:latin typeface="PT Sans"/>
              </a:rPr>
              <a:t>Түшүн</a:t>
            </a:r>
          </a:p>
        </p:txBody>
      </p:sp>
      <p:sp>
        <p:nvSpPr>
          <p:cNvPr id="13" name="TextBox 12"/>
          <p:cNvSpPr txBox="1"/>
          <p:nvPr/>
        </p:nvSpPr>
        <p:spPr>
          <a:xfrm>
            <a:off x="521207" y="3063240"/>
            <a:ext cx="2443734" cy="457200"/>
          </a:xfrm>
          <a:prstGeom prst="rect">
            <a:avLst/>
          </a:prstGeom>
          <a:noFill/>
        </p:spPr>
        <p:txBody>
          <a:bodyPr wrap="square" anchor="t" lIns="45720" rIns="45720" tIns="27432" bIns="27432">
            <a:spAutoFit/>
          </a:bodyPr>
          <a:lstStyle/>
          <a:p>
            <a:pPr algn="ctr">
              <a:lnSpc>
                <a:spcPct val="105000"/>
              </a:lnSpc>
            </a:pPr>
            <a:r>
              <a:rPr sz="1700" b="1" i="0">
                <a:solidFill>
                  <a:srgbClr val="1F2430"/>
                </a:solidFill>
                <a:latin typeface="PT Sans"/>
              </a:rPr>
              <a:t>1. Окуп түшүн</a:t>
            </a:r>
          </a:p>
        </p:txBody>
      </p:sp>
      <p:sp>
        <p:nvSpPr>
          <p:cNvPr id="14" name="TextBox 13"/>
          <p:cNvSpPr txBox="1"/>
          <p:nvPr/>
        </p:nvSpPr>
        <p:spPr>
          <a:xfrm>
            <a:off x="566928" y="3566160"/>
            <a:ext cx="2352294" cy="731520"/>
          </a:xfrm>
          <a:prstGeom prst="rect">
            <a:avLst/>
          </a:prstGeom>
          <a:noFill/>
        </p:spPr>
        <p:txBody>
          <a:bodyPr wrap="square" anchor="t" lIns="45720" rIns="45720" tIns="27432" bIns="27432">
            <a:spAutoFit/>
          </a:bodyPr>
          <a:lstStyle/>
          <a:p>
            <a:pPr algn="ctr">
              <a:lnSpc>
                <a:spcPct val="105000"/>
              </a:lnSpc>
            </a:pPr>
            <a:r>
              <a:rPr sz="1800" b="0" i="0">
                <a:solidFill>
                  <a:srgbClr val="6B7280"/>
                </a:solidFill>
                <a:latin typeface="PT Sans"/>
              </a:rPr>
              <a:t>Канча акча бар? Эмне алат?</a:t>
            </a:r>
          </a:p>
        </p:txBody>
      </p:sp>
      <p:cxnSp>
        <p:nvCxnSpPr>
          <p:cNvPr id="15" name="Connector 14"/>
          <p:cNvCxnSpPr/>
          <p:nvPr/>
        </p:nvCxnSpPr>
        <p:spPr>
          <a:xfrm>
            <a:off x="3056382" y="2880360"/>
            <a:ext cx="274320" cy="0"/>
          </a:xfrm>
          <a:prstGeom prst="line">
            <a:avLst/>
          </a:prstGeom>
          <a:ln w="31750">
            <a:solidFill>
              <a:srgbClr val="A84400"/>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3330702" y="1371600"/>
            <a:ext cx="2626614" cy="30175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4323969" y="1600200"/>
            <a:ext cx="640080" cy="64008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1D3557"/>
                </a:solidFill>
                <a:latin typeface="PT Sans"/>
              </a:rPr>
              <a:t>2</a:t>
            </a:r>
          </a:p>
        </p:txBody>
      </p:sp>
      <p:sp>
        <p:nvSpPr>
          <p:cNvPr id="18" name="TextBox 17"/>
          <p:cNvSpPr txBox="1"/>
          <p:nvPr/>
        </p:nvSpPr>
        <p:spPr>
          <a:xfrm>
            <a:off x="3422142" y="2377440"/>
            <a:ext cx="2443734" cy="640080"/>
          </a:xfrm>
          <a:prstGeom prst="rect">
            <a:avLst/>
          </a:prstGeom>
          <a:noFill/>
        </p:spPr>
        <p:txBody>
          <a:bodyPr wrap="square" anchor="t" lIns="45720" rIns="45720" tIns="27432" bIns="27432">
            <a:spAutoFit/>
          </a:bodyPr>
          <a:lstStyle/>
          <a:p>
            <a:pPr algn="ctr">
              <a:lnSpc>
                <a:spcPct val="105000"/>
              </a:lnSpc>
            </a:pPr>
            <a:r>
              <a:rPr sz="3600" b="1" i="0">
                <a:solidFill>
                  <a:srgbClr val="24418C"/>
                </a:solidFill>
                <a:latin typeface="PT Sans"/>
              </a:rPr>
              <a:t>План</a:t>
            </a:r>
          </a:p>
        </p:txBody>
      </p:sp>
      <p:sp>
        <p:nvSpPr>
          <p:cNvPr id="19" name="TextBox 18"/>
          <p:cNvSpPr txBox="1"/>
          <p:nvPr/>
        </p:nvSpPr>
        <p:spPr>
          <a:xfrm>
            <a:off x="3422142" y="3063240"/>
            <a:ext cx="2443734" cy="457200"/>
          </a:xfrm>
          <a:prstGeom prst="rect">
            <a:avLst/>
          </a:prstGeom>
          <a:noFill/>
        </p:spPr>
        <p:txBody>
          <a:bodyPr wrap="square" anchor="t" lIns="45720" rIns="45720" tIns="27432" bIns="27432">
            <a:spAutoFit/>
          </a:bodyPr>
          <a:lstStyle/>
          <a:p>
            <a:pPr algn="ctr">
              <a:lnSpc>
                <a:spcPct val="105000"/>
              </a:lnSpc>
            </a:pPr>
            <a:r>
              <a:rPr sz="1700" b="1" i="0">
                <a:solidFill>
                  <a:srgbClr val="1F2430"/>
                </a:solidFill>
                <a:latin typeface="PT Sans"/>
              </a:rPr>
              <a:t>2. Тилке чий</a:t>
            </a:r>
          </a:p>
        </p:txBody>
      </p:sp>
      <p:sp>
        <p:nvSpPr>
          <p:cNvPr id="20" name="TextBox 19"/>
          <p:cNvSpPr txBox="1"/>
          <p:nvPr/>
        </p:nvSpPr>
        <p:spPr>
          <a:xfrm>
            <a:off x="3467862" y="3566160"/>
            <a:ext cx="2352294" cy="731520"/>
          </a:xfrm>
          <a:prstGeom prst="rect">
            <a:avLst/>
          </a:prstGeom>
          <a:noFill/>
        </p:spPr>
        <p:txBody>
          <a:bodyPr wrap="square" anchor="t" lIns="45720" rIns="45720" tIns="27432" bIns="27432">
            <a:spAutoFit/>
          </a:bodyPr>
          <a:lstStyle/>
          <a:p>
            <a:pPr algn="ctr">
              <a:lnSpc>
                <a:spcPct val="105000"/>
              </a:lnSpc>
            </a:pPr>
            <a:r>
              <a:rPr sz="1800" b="0" i="0">
                <a:solidFill>
                  <a:srgbClr val="6B7280"/>
                </a:solidFill>
                <a:latin typeface="PT Sans"/>
              </a:rPr>
              <a:t>Бүтүнү, бөлүктөр, кайтарым</a:t>
            </a:r>
          </a:p>
        </p:txBody>
      </p:sp>
      <p:cxnSp>
        <p:nvCxnSpPr>
          <p:cNvPr id="21" name="Connector 20"/>
          <p:cNvCxnSpPr/>
          <p:nvPr/>
        </p:nvCxnSpPr>
        <p:spPr>
          <a:xfrm>
            <a:off x="5957316" y="2880360"/>
            <a:ext cx="274320" cy="0"/>
          </a:xfrm>
          <a:prstGeom prst="line">
            <a:avLst/>
          </a:prstGeom>
          <a:ln w="31750">
            <a:solidFill>
              <a:srgbClr val="A84400"/>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231636" y="1371600"/>
            <a:ext cx="2626614" cy="30175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224902" y="1600200"/>
            <a:ext cx="640080" cy="64008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1D3557"/>
                </a:solidFill>
                <a:latin typeface="PT Sans"/>
              </a:rPr>
              <a:t>3</a:t>
            </a:r>
          </a:p>
        </p:txBody>
      </p:sp>
      <p:sp>
        <p:nvSpPr>
          <p:cNvPr id="24" name="TextBox 23"/>
          <p:cNvSpPr txBox="1"/>
          <p:nvPr/>
        </p:nvSpPr>
        <p:spPr>
          <a:xfrm>
            <a:off x="6323075" y="2377440"/>
            <a:ext cx="2443734" cy="640080"/>
          </a:xfrm>
          <a:prstGeom prst="rect">
            <a:avLst/>
          </a:prstGeom>
          <a:noFill/>
        </p:spPr>
        <p:txBody>
          <a:bodyPr wrap="square" anchor="t" lIns="45720" rIns="45720" tIns="27432" bIns="27432">
            <a:spAutoFit/>
          </a:bodyPr>
          <a:lstStyle/>
          <a:p>
            <a:pPr algn="ctr">
              <a:lnSpc>
                <a:spcPct val="105000"/>
              </a:lnSpc>
            </a:pPr>
            <a:r>
              <a:rPr sz="3600" b="1" i="0">
                <a:solidFill>
                  <a:srgbClr val="24418C"/>
                </a:solidFill>
                <a:latin typeface="PT Sans"/>
              </a:rPr>
              <a:t>Чыгар</a:t>
            </a:r>
          </a:p>
        </p:txBody>
      </p:sp>
      <p:sp>
        <p:nvSpPr>
          <p:cNvPr id="25" name="TextBox 24"/>
          <p:cNvSpPr txBox="1"/>
          <p:nvPr/>
        </p:nvSpPr>
        <p:spPr>
          <a:xfrm>
            <a:off x="6323075" y="3063240"/>
            <a:ext cx="2443734" cy="457200"/>
          </a:xfrm>
          <a:prstGeom prst="rect">
            <a:avLst/>
          </a:prstGeom>
          <a:noFill/>
        </p:spPr>
        <p:txBody>
          <a:bodyPr wrap="square" anchor="t" lIns="45720" rIns="45720" tIns="27432" bIns="27432">
            <a:spAutoFit/>
          </a:bodyPr>
          <a:lstStyle/>
          <a:p>
            <a:pPr algn="ctr">
              <a:lnSpc>
                <a:spcPct val="105000"/>
              </a:lnSpc>
            </a:pPr>
            <a:r>
              <a:rPr sz="1700" b="1" i="0">
                <a:solidFill>
                  <a:srgbClr val="1F2430"/>
                </a:solidFill>
                <a:latin typeface="PT Sans"/>
              </a:rPr>
              <a:t>3. Эсепте</a:t>
            </a:r>
          </a:p>
        </p:txBody>
      </p:sp>
      <p:sp>
        <p:nvSpPr>
          <p:cNvPr id="26" name="TextBox 25"/>
          <p:cNvSpPr txBox="1"/>
          <p:nvPr/>
        </p:nvSpPr>
        <p:spPr>
          <a:xfrm>
            <a:off x="6368796" y="3566160"/>
            <a:ext cx="2352294" cy="731520"/>
          </a:xfrm>
          <a:prstGeom prst="rect">
            <a:avLst/>
          </a:prstGeom>
          <a:noFill/>
        </p:spPr>
        <p:txBody>
          <a:bodyPr wrap="square" anchor="t" lIns="45720" rIns="45720" tIns="27432" bIns="27432">
            <a:spAutoFit/>
          </a:bodyPr>
          <a:lstStyle/>
          <a:p>
            <a:pPr algn="ctr">
              <a:lnSpc>
                <a:spcPct val="105000"/>
              </a:lnSpc>
            </a:pPr>
            <a:r>
              <a:rPr sz="1800" b="0" i="0">
                <a:solidFill>
                  <a:srgbClr val="6B7280"/>
                </a:solidFill>
                <a:latin typeface="PT Sans"/>
              </a:rPr>
              <a:t>Баа × сан; кошуу; кемитүү</a:t>
            </a:r>
          </a:p>
        </p:txBody>
      </p:sp>
      <p:cxnSp>
        <p:nvCxnSpPr>
          <p:cNvPr id="27" name="Connector 26"/>
          <p:cNvCxnSpPr/>
          <p:nvPr/>
        </p:nvCxnSpPr>
        <p:spPr>
          <a:xfrm>
            <a:off x="8858250" y="2880360"/>
            <a:ext cx="274320" cy="0"/>
          </a:xfrm>
          <a:prstGeom prst="line">
            <a:avLst/>
          </a:prstGeom>
          <a:ln w="31750">
            <a:solidFill>
              <a:srgbClr val="A84400"/>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9132570" y="1371600"/>
            <a:ext cx="2626614" cy="30175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25837" y="1600200"/>
            <a:ext cx="640080" cy="64008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1D3557"/>
                </a:solidFill>
                <a:latin typeface="PT Sans"/>
              </a:rPr>
              <a:t>4</a:t>
            </a:r>
          </a:p>
        </p:txBody>
      </p:sp>
      <p:sp>
        <p:nvSpPr>
          <p:cNvPr id="30" name="TextBox 29"/>
          <p:cNvSpPr txBox="1"/>
          <p:nvPr/>
        </p:nvSpPr>
        <p:spPr>
          <a:xfrm>
            <a:off x="9224010" y="2377440"/>
            <a:ext cx="2443734" cy="640080"/>
          </a:xfrm>
          <a:prstGeom prst="rect">
            <a:avLst/>
          </a:prstGeom>
          <a:noFill/>
        </p:spPr>
        <p:txBody>
          <a:bodyPr wrap="square" anchor="t" lIns="45720" rIns="45720" tIns="27432" bIns="27432">
            <a:spAutoFit/>
          </a:bodyPr>
          <a:lstStyle/>
          <a:p>
            <a:pPr algn="ctr">
              <a:lnSpc>
                <a:spcPct val="105000"/>
              </a:lnSpc>
            </a:pPr>
            <a:r>
              <a:rPr sz="3600" b="1" i="0">
                <a:solidFill>
                  <a:srgbClr val="24418C"/>
                </a:solidFill>
                <a:latin typeface="PT Sans"/>
              </a:rPr>
              <a:t>Текшер</a:t>
            </a:r>
          </a:p>
        </p:txBody>
      </p:sp>
      <p:sp>
        <p:nvSpPr>
          <p:cNvPr id="31" name="TextBox 30"/>
          <p:cNvSpPr txBox="1"/>
          <p:nvPr/>
        </p:nvSpPr>
        <p:spPr>
          <a:xfrm>
            <a:off x="9224010" y="3063240"/>
            <a:ext cx="2443734" cy="457200"/>
          </a:xfrm>
          <a:prstGeom prst="rect">
            <a:avLst/>
          </a:prstGeom>
          <a:noFill/>
        </p:spPr>
        <p:txBody>
          <a:bodyPr wrap="square" anchor="t" lIns="45720" rIns="45720" tIns="27432" bIns="27432">
            <a:spAutoFit/>
          </a:bodyPr>
          <a:lstStyle/>
          <a:p>
            <a:pPr algn="ctr">
              <a:lnSpc>
                <a:spcPct val="105000"/>
              </a:lnSpc>
            </a:pPr>
            <a:r>
              <a:rPr sz="1700" b="1" i="0">
                <a:solidFill>
                  <a:srgbClr val="1F2430"/>
                </a:solidFill>
                <a:latin typeface="PT Sans"/>
              </a:rPr>
              <a:t>4. Текшер</a:t>
            </a:r>
          </a:p>
        </p:txBody>
      </p:sp>
      <p:sp>
        <p:nvSpPr>
          <p:cNvPr id="32" name="TextBox 31"/>
          <p:cNvSpPr txBox="1"/>
          <p:nvPr/>
        </p:nvSpPr>
        <p:spPr>
          <a:xfrm>
            <a:off x="9269730" y="3566160"/>
            <a:ext cx="2352294" cy="731520"/>
          </a:xfrm>
          <a:prstGeom prst="rect">
            <a:avLst/>
          </a:prstGeom>
          <a:noFill/>
        </p:spPr>
        <p:txBody>
          <a:bodyPr wrap="square" anchor="t" lIns="45720" rIns="45720" tIns="27432" bIns="27432">
            <a:spAutoFit/>
          </a:bodyPr>
          <a:lstStyle/>
          <a:p>
            <a:pPr algn="ctr">
              <a:lnSpc>
                <a:spcPct val="105000"/>
              </a:lnSpc>
            </a:pPr>
            <a:r>
              <a:rPr sz="1800" b="0" i="0">
                <a:solidFill>
                  <a:srgbClr val="6B7280"/>
                </a:solidFill>
                <a:latin typeface="PT Sans"/>
              </a:rPr>
              <a:t>Баа + кайтарым = берилген акча</a:t>
            </a:r>
          </a:p>
        </p:txBody>
      </p:sp>
      <p:sp>
        <p:nvSpPr>
          <p:cNvPr id="33" name="Rounded Rectangle 32"/>
          <p:cNvSpPr/>
          <p:nvPr/>
        </p:nvSpPr>
        <p:spPr>
          <a:xfrm>
            <a:off x="1874519" y="4709160"/>
            <a:ext cx="8449056" cy="758952"/>
          </a:xfrm>
          <a:prstGeom prst="roundRect">
            <a:avLst>
              <a:gd name="adj" fmla="val 24400"/>
            </a:avLst>
          </a:prstGeom>
          <a:solidFill>
            <a:srgbClr val="FFFFFF"/>
          </a:solidFill>
          <a:ln w="285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600" b="1">
                <a:solidFill>
                  <a:srgbClr val="A84400"/>
                </a:solidFill>
                <a:latin typeface="PT Sans"/>
              </a:rPr>
              <a:t>Кайтарым = берилген акча − жалпы баа</a:t>
            </a:r>
          </a:p>
        </p:txBody>
      </p:sp>
      <p:sp>
        <p:nvSpPr>
          <p:cNvPr id="34" name="Rounded Rectangle 33"/>
          <p:cNvSpPr/>
          <p:nvPr/>
        </p:nvSpPr>
        <p:spPr>
          <a:xfrm>
            <a:off x="8412480"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К</a:t>
            </a:r>
          </a:p>
        </p:txBody>
      </p:sp>
      <p:sp>
        <p:nvSpPr>
          <p:cNvPr id="35" name="Rounded Rectangle 34"/>
          <p:cNvSpPr/>
          <p:nvPr/>
        </p:nvSpPr>
        <p:spPr>
          <a:xfrm>
            <a:off x="896111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С</a:t>
            </a:r>
          </a:p>
        </p:txBody>
      </p:sp>
      <p:sp>
        <p:nvSpPr>
          <p:cNvPr id="36" name="Rounded Rectangle 35"/>
          <p:cNvSpPr/>
          <p:nvPr/>
        </p:nvSpPr>
        <p:spPr>
          <a:xfrm>
            <a:off x="9509759" y="6327648"/>
            <a:ext cx="457200" cy="411480"/>
          </a:xfrm>
          <a:prstGeom prst="roundRect">
            <a:avLst>
              <a:gd name="adj" fmla="val 50000"/>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1D3557"/>
                </a:solidFill>
                <a:latin typeface="PT Sans"/>
              </a:rPr>
              <a:t>А</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Мисал 1: мен көрсөтөм</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Акча: сатып алуу жана кайтарым</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14/26</a:t>
            </a:r>
          </a:p>
        </p:txBody>
      </p:sp>
      <p:sp>
        <p:nvSpPr>
          <p:cNvPr id="10" name="Rounded Rectangle 9"/>
          <p:cNvSpPr/>
          <p:nvPr/>
        </p:nvSpPr>
        <p:spPr>
          <a:xfrm>
            <a:off x="429768" y="1225296"/>
            <a:ext cx="11329416" cy="713232"/>
          </a:xfrm>
          <a:prstGeom prst="roundRect">
            <a:avLst>
              <a:gd name="adj" fmla="val 258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25296"/>
            <a:ext cx="10780776" cy="713232"/>
          </a:xfrm>
          <a:prstGeom prst="rect">
            <a:avLst/>
          </a:prstGeom>
          <a:noFill/>
        </p:spPr>
        <p:txBody>
          <a:bodyPr wrap="square" anchor="ctr" lIns="45720" rIns="45720" tIns="27432" bIns="27432">
            <a:spAutoFit/>
          </a:bodyPr>
          <a:lstStyle/>
          <a:p>
            <a:pPr algn="l">
              <a:lnSpc>
                <a:spcPct val="105000"/>
              </a:lnSpc>
            </a:pPr>
            <a:r>
              <a:rPr sz="2000" b="0" i="0">
                <a:solidFill>
                  <a:srgbClr val="1F2430"/>
                </a:solidFill>
                <a:latin typeface="PT Sans"/>
              </a:rPr>
              <a:t>Бекзат 4 самса алды, ар бири 45 сом. 200 сомдук кагаз акча берди. Канча кайтарым алат?</a:t>
            </a:r>
          </a:p>
        </p:txBody>
      </p:sp>
      <p:sp>
        <p:nvSpPr>
          <p:cNvPr id="12" name="TextBox 11"/>
          <p:cNvSpPr txBox="1"/>
          <p:nvPr/>
        </p:nvSpPr>
        <p:spPr>
          <a:xfrm>
            <a:off x="731520" y="2240280"/>
            <a:ext cx="7498079" cy="658368"/>
          </a:xfrm>
          <a:prstGeom prst="rect">
            <a:avLst/>
          </a:prstGeom>
          <a:noFill/>
        </p:spPr>
        <p:txBody>
          <a:bodyPr wrap="square" anchor="ctr" lIns="45720" rIns="45720" tIns="27432" bIns="27432">
            <a:spAutoFit/>
          </a:bodyPr>
          <a:lstStyle/>
          <a:p>
            <a:pPr algn="r">
              <a:lnSpc>
                <a:spcPct val="105000"/>
              </a:lnSpc>
            </a:pPr>
            <a:r>
              <a:rPr sz="2800" b="1" i="0">
                <a:solidFill>
                  <a:srgbClr val="1F2430"/>
                </a:solidFill>
                <a:latin typeface="PT Sans"/>
              </a:rPr>
              <a:t>4 × 45</a:t>
            </a:r>
          </a:p>
        </p:txBody>
      </p:sp>
      <p:sp>
        <p:nvSpPr>
          <p:cNvPr id="13" name="TextBox 12"/>
          <p:cNvSpPr txBox="1"/>
          <p:nvPr/>
        </p:nvSpPr>
        <p:spPr>
          <a:xfrm>
            <a:off x="731520" y="2898648"/>
            <a:ext cx="7498079" cy="658368"/>
          </a:xfrm>
          <a:prstGeom prst="rect">
            <a:avLst/>
          </a:prstGeom>
          <a:noFill/>
        </p:spPr>
        <p:txBody>
          <a:bodyPr wrap="square" anchor="ctr" lIns="45720" rIns="45720" tIns="27432" bIns="27432">
            <a:spAutoFit/>
          </a:bodyPr>
          <a:lstStyle/>
          <a:p>
            <a:pPr algn="r">
              <a:lnSpc>
                <a:spcPct val="105000"/>
              </a:lnSpc>
            </a:pPr>
            <a:r>
              <a:rPr sz="2800" b="1" i="0">
                <a:solidFill>
                  <a:srgbClr val="1F2430"/>
                </a:solidFill>
                <a:latin typeface="PT Sans"/>
              </a:rPr>
              <a:t>= 180</a:t>
            </a:r>
          </a:p>
        </p:txBody>
      </p:sp>
      <p:sp>
        <p:nvSpPr>
          <p:cNvPr id="14" name="TextBox 13"/>
          <p:cNvSpPr txBox="1"/>
          <p:nvPr/>
        </p:nvSpPr>
        <p:spPr>
          <a:xfrm>
            <a:off x="8366760" y="2898648"/>
            <a:ext cx="3108960" cy="658368"/>
          </a:xfrm>
          <a:prstGeom prst="rect">
            <a:avLst/>
          </a:prstGeom>
          <a:noFill/>
        </p:spPr>
        <p:txBody>
          <a:bodyPr wrap="square" anchor="ctr" lIns="45720" rIns="45720" tIns="27432" bIns="27432">
            <a:spAutoFit/>
          </a:bodyPr>
          <a:lstStyle/>
          <a:p>
            <a:pPr algn="l">
              <a:lnSpc>
                <a:spcPct val="105000"/>
              </a:lnSpc>
            </a:pPr>
            <a:r>
              <a:rPr sz="2000" b="1" i="0">
                <a:solidFill>
                  <a:srgbClr val="A84400"/>
                </a:solidFill>
                <a:latin typeface="PT Sans"/>
              </a:rPr>
              <a:t>жалпы баа</a:t>
            </a:r>
          </a:p>
        </p:txBody>
      </p:sp>
      <p:sp>
        <p:nvSpPr>
          <p:cNvPr id="15" name="TextBox 14"/>
          <p:cNvSpPr txBox="1"/>
          <p:nvPr/>
        </p:nvSpPr>
        <p:spPr>
          <a:xfrm>
            <a:off x="731520" y="3557016"/>
            <a:ext cx="7498079" cy="658368"/>
          </a:xfrm>
          <a:prstGeom prst="rect">
            <a:avLst/>
          </a:prstGeom>
          <a:noFill/>
        </p:spPr>
        <p:txBody>
          <a:bodyPr wrap="square" anchor="ctr" lIns="45720" rIns="45720" tIns="27432" bIns="27432">
            <a:spAutoFit/>
          </a:bodyPr>
          <a:lstStyle/>
          <a:p>
            <a:pPr algn="r">
              <a:lnSpc>
                <a:spcPct val="105000"/>
              </a:lnSpc>
            </a:pPr>
            <a:r>
              <a:rPr sz="2800" b="1" i="0">
                <a:solidFill>
                  <a:srgbClr val="1F2430"/>
                </a:solidFill>
                <a:latin typeface="PT Sans"/>
              </a:rPr>
              <a:t>200 − 180 = 20</a:t>
            </a:r>
          </a:p>
        </p:txBody>
      </p:sp>
      <p:sp>
        <p:nvSpPr>
          <p:cNvPr id="16" name="TextBox 15"/>
          <p:cNvSpPr txBox="1"/>
          <p:nvPr/>
        </p:nvSpPr>
        <p:spPr>
          <a:xfrm>
            <a:off x="8366760" y="3557016"/>
            <a:ext cx="3108960" cy="658368"/>
          </a:xfrm>
          <a:prstGeom prst="rect">
            <a:avLst/>
          </a:prstGeom>
          <a:noFill/>
        </p:spPr>
        <p:txBody>
          <a:bodyPr wrap="square" anchor="ctr" lIns="45720" rIns="45720" tIns="27432" bIns="27432">
            <a:spAutoFit/>
          </a:bodyPr>
          <a:lstStyle/>
          <a:p>
            <a:pPr algn="l">
              <a:lnSpc>
                <a:spcPct val="105000"/>
              </a:lnSpc>
            </a:pPr>
            <a:r>
              <a:rPr sz="2000" b="1" i="0">
                <a:solidFill>
                  <a:srgbClr val="A84400"/>
                </a:solidFill>
                <a:latin typeface="PT Sans"/>
              </a:rPr>
              <a:t>кайтарым</a:t>
            </a:r>
          </a:p>
        </p:txBody>
      </p:sp>
      <p:sp>
        <p:nvSpPr>
          <p:cNvPr id="17" name="TextBox 16"/>
          <p:cNvSpPr txBox="1"/>
          <p:nvPr/>
        </p:nvSpPr>
        <p:spPr>
          <a:xfrm>
            <a:off x="731520" y="4215384"/>
            <a:ext cx="7498079" cy="658368"/>
          </a:xfrm>
          <a:prstGeom prst="rect">
            <a:avLst/>
          </a:prstGeom>
          <a:noFill/>
        </p:spPr>
        <p:txBody>
          <a:bodyPr wrap="square" anchor="ctr" lIns="45720" rIns="45720" tIns="27432" bIns="27432">
            <a:spAutoFit/>
          </a:bodyPr>
          <a:lstStyle/>
          <a:p>
            <a:pPr algn="r">
              <a:lnSpc>
                <a:spcPct val="105000"/>
              </a:lnSpc>
            </a:pPr>
            <a:r>
              <a:rPr sz="2800" b="1" i="0">
                <a:solidFill>
                  <a:srgbClr val="24418C"/>
                </a:solidFill>
                <a:latin typeface="PT Sans"/>
              </a:rPr>
              <a:t>180 + 20 = 200</a:t>
            </a:r>
          </a:p>
        </p:txBody>
      </p:sp>
      <p:sp>
        <p:nvSpPr>
          <p:cNvPr id="18" name="TextBox 17"/>
          <p:cNvSpPr txBox="1"/>
          <p:nvPr/>
        </p:nvSpPr>
        <p:spPr>
          <a:xfrm>
            <a:off x="8366760" y="4215384"/>
            <a:ext cx="3108960" cy="658368"/>
          </a:xfrm>
          <a:prstGeom prst="rect">
            <a:avLst/>
          </a:prstGeom>
          <a:noFill/>
        </p:spPr>
        <p:txBody>
          <a:bodyPr wrap="square" anchor="ctr" lIns="45720" rIns="45720" tIns="27432" bIns="27432">
            <a:spAutoFit/>
          </a:bodyPr>
          <a:lstStyle/>
          <a:p>
            <a:pPr algn="l">
              <a:lnSpc>
                <a:spcPct val="105000"/>
              </a:lnSpc>
            </a:pPr>
            <a:r>
              <a:rPr sz="2000" b="1" i="0">
                <a:solidFill>
                  <a:srgbClr val="A84400"/>
                </a:solidFill>
                <a:latin typeface="PT Sans"/>
              </a:rPr>
              <a:t>текшердик</a:t>
            </a:r>
          </a:p>
        </p:txBody>
      </p:sp>
      <p:sp>
        <p:nvSpPr>
          <p:cNvPr id="19" name="TextBox 18"/>
          <p:cNvSpPr txBox="1"/>
          <p:nvPr/>
        </p:nvSpPr>
        <p:spPr>
          <a:xfrm>
            <a:off x="429768" y="5596128"/>
            <a:ext cx="11329416" cy="640080"/>
          </a:xfrm>
          <a:prstGeom prst="rect">
            <a:avLst/>
          </a:prstGeom>
          <a:noFill/>
        </p:spPr>
        <p:txBody>
          <a:bodyPr wrap="square" anchor="t" lIns="45720" rIns="45720" tIns="27432" bIns="27432">
            <a:spAutoFit/>
          </a:bodyPr>
          <a:lstStyle/>
          <a:p>
            <a:pPr algn="ctr">
              <a:lnSpc>
                <a:spcPct val="105000"/>
              </a:lnSpc>
            </a:pPr>
            <a:r>
              <a:rPr sz="3400" b="1" i="0">
                <a:solidFill>
                  <a:srgbClr val="1F2430"/>
                </a:solidFill>
                <a:latin typeface="PT Sans"/>
              </a:rPr>
              <a:t>Кайтарым = </a:t>
            </a:r>
            <a:r>
              <a:rPr sz="3400" b="1">
                <a:solidFill>
                  <a:srgbClr val="24418C"/>
                </a:solidFill>
                <a:latin typeface="PT Sans"/>
              </a:rPr>
              <a:t>20 сом</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Мисал 2: мен көрсөтөм</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Акча: сатып алуу жана кайтарым</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15/26</a:t>
            </a:r>
          </a:p>
        </p:txBody>
      </p:sp>
      <p:sp>
        <p:nvSpPr>
          <p:cNvPr id="10" name="Rounded Rectangle 9"/>
          <p:cNvSpPr/>
          <p:nvPr/>
        </p:nvSpPr>
        <p:spPr>
          <a:xfrm>
            <a:off x="429768" y="1225296"/>
            <a:ext cx="11329416" cy="713232"/>
          </a:xfrm>
          <a:prstGeom prst="roundRect">
            <a:avLst>
              <a:gd name="adj" fmla="val 258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25296"/>
            <a:ext cx="10780776" cy="713232"/>
          </a:xfrm>
          <a:prstGeom prst="rect">
            <a:avLst/>
          </a:prstGeom>
          <a:noFill/>
        </p:spPr>
        <p:txBody>
          <a:bodyPr wrap="square" anchor="ctr" lIns="45720" rIns="45720" tIns="27432" bIns="27432">
            <a:spAutoFit/>
          </a:bodyPr>
          <a:lstStyle/>
          <a:p>
            <a:pPr algn="l">
              <a:lnSpc>
                <a:spcPct val="105000"/>
              </a:lnSpc>
            </a:pPr>
            <a:r>
              <a:rPr sz="2000" b="0" i="0">
                <a:solidFill>
                  <a:srgbClr val="1F2430"/>
                </a:solidFill>
                <a:latin typeface="PT Sans"/>
              </a:rPr>
              <a:t>Айран: 1 литри 60 сом же 2 литрлик бөтөлкө 110 сом. Кайсынысы пайдалуу?</a:t>
            </a:r>
          </a:p>
        </p:txBody>
      </p:sp>
      <p:sp>
        <p:nvSpPr>
          <p:cNvPr id="12" name="TextBox 11"/>
          <p:cNvSpPr txBox="1"/>
          <p:nvPr/>
        </p:nvSpPr>
        <p:spPr>
          <a:xfrm>
            <a:off x="731520" y="2240280"/>
            <a:ext cx="7498079" cy="658368"/>
          </a:xfrm>
          <a:prstGeom prst="rect">
            <a:avLst/>
          </a:prstGeom>
          <a:noFill/>
        </p:spPr>
        <p:txBody>
          <a:bodyPr wrap="square" anchor="ctr" lIns="45720" rIns="45720" tIns="27432" bIns="27432">
            <a:spAutoFit/>
          </a:bodyPr>
          <a:lstStyle/>
          <a:p>
            <a:pPr algn="r">
              <a:lnSpc>
                <a:spcPct val="105000"/>
              </a:lnSpc>
            </a:pPr>
            <a:r>
              <a:rPr sz="2800" b="1" i="0">
                <a:solidFill>
                  <a:srgbClr val="1F2430"/>
                </a:solidFill>
                <a:latin typeface="PT Sans"/>
              </a:rPr>
              <a:t>110 ÷ 2 = 55</a:t>
            </a:r>
          </a:p>
        </p:txBody>
      </p:sp>
      <p:sp>
        <p:nvSpPr>
          <p:cNvPr id="13" name="TextBox 12"/>
          <p:cNvSpPr txBox="1"/>
          <p:nvPr/>
        </p:nvSpPr>
        <p:spPr>
          <a:xfrm>
            <a:off x="8366760" y="2240280"/>
            <a:ext cx="3108960" cy="658368"/>
          </a:xfrm>
          <a:prstGeom prst="rect">
            <a:avLst/>
          </a:prstGeom>
          <a:noFill/>
        </p:spPr>
        <p:txBody>
          <a:bodyPr wrap="square" anchor="ctr" lIns="45720" rIns="45720" tIns="27432" bIns="27432">
            <a:spAutoFit/>
          </a:bodyPr>
          <a:lstStyle/>
          <a:p>
            <a:pPr algn="l">
              <a:lnSpc>
                <a:spcPct val="105000"/>
              </a:lnSpc>
            </a:pPr>
            <a:r>
              <a:rPr sz="2000" b="1" i="0">
                <a:solidFill>
                  <a:srgbClr val="A84400"/>
                </a:solidFill>
                <a:latin typeface="PT Sans"/>
              </a:rPr>
              <a:t>1 литри</a:t>
            </a:r>
          </a:p>
        </p:txBody>
      </p:sp>
      <p:sp>
        <p:nvSpPr>
          <p:cNvPr id="14" name="TextBox 13"/>
          <p:cNvSpPr txBox="1"/>
          <p:nvPr/>
        </p:nvSpPr>
        <p:spPr>
          <a:xfrm>
            <a:off x="731520" y="2898648"/>
            <a:ext cx="7498079" cy="658368"/>
          </a:xfrm>
          <a:prstGeom prst="rect">
            <a:avLst/>
          </a:prstGeom>
          <a:noFill/>
        </p:spPr>
        <p:txBody>
          <a:bodyPr wrap="square" anchor="ctr" lIns="45720" rIns="45720" tIns="27432" bIns="27432">
            <a:spAutoFit/>
          </a:bodyPr>
          <a:lstStyle/>
          <a:p>
            <a:pPr algn="r">
              <a:lnSpc>
                <a:spcPct val="105000"/>
              </a:lnSpc>
            </a:pPr>
            <a:r>
              <a:rPr sz="2800" b="1" i="0">
                <a:solidFill>
                  <a:srgbClr val="1F2430"/>
                </a:solidFill>
                <a:latin typeface="PT Sans"/>
              </a:rPr>
              <a:t>55 &lt; 60</a:t>
            </a:r>
          </a:p>
        </p:txBody>
      </p:sp>
      <p:sp>
        <p:nvSpPr>
          <p:cNvPr id="15" name="TextBox 14"/>
          <p:cNvSpPr txBox="1"/>
          <p:nvPr/>
        </p:nvSpPr>
        <p:spPr>
          <a:xfrm>
            <a:off x="8366760" y="2898648"/>
            <a:ext cx="3108960" cy="658368"/>
          </a:xfrm>
          <a:prstGeom prst="rect">
            <a:avLst/>
          </a:prstGeom>
          <a:noFill/>
        </p:spPr>
        <p:txBody>
          <a:bodyPr wrap="square" anchor="ctr" lIns="45720" rIns="45720" tIns="27432" bIns="27432">
            <a:spAutoFit/>
          </a:bodyPr>
          <a:lstStyle/>
          <a:p>
            <a:pPr algn="l">
              <a:lnSpc>
                <a:spcPct val="105000"/>
              </a:lnSpc>
            </a:pPr>
            <a:r>
              <a:rPr sz="2000" b="1" i="0">
                <a:solidFill>
                  <a:srgbClr val="A84400"/>
                </a:solidFill>
                <a:latin typeface="PT Sans"/>
              </a:rPr>
              <a:t>2 литрлик арзан</a:t>
            </a:r>
          </a:p>
        </p:txBody>
      </p:sp>
      <p:sp>
        <p:nvSpPr>
          <p:cNvPr id="16" name="TextBox 15"/>
          <p:cNvSpPr txBox="1"/>
          <p:nvPr/>
        </p:nvSpPr>
        <p:spPr>
          <a:xfrm>
            <a:off x="731520" y="3557016"/>
            <a:ext cx="7498079" cy="658368"/>
          </a:xfrm>
          <a:prstGeom prst="rect">
            <a:avLst/>
          </a:prstGeom>
          <a:noFill/>
        </p:spPr>
        <p:txBody>
          <a:bodyPr wrap="square" anchor="ctr" lIns="45720" rIns="45720" tIns="27432" bIns="27432">
            <a:spAutoFit/>
          </a:bodyPr>
          <a:lstStyle/>
          <a:p>
            <a:pPr algn="r">
              <a:lnSpc>
                <a:spcPct val="105000"/>
              </a:lnSpc>
            </a:pPr>
            <a:r>
              <a:rPr sz="2800" b="1" i="0">
                <a:solidFill>
                  <a:srgbClr val="24418C"/>
                </a:solidFill>
                <a:latin typeface="PT Sans"/>
              </a:rPr>
              <a:t>(60 − 55) × 2 = 10</a:t>
            </a:r>
          </a:p>
        </p:txBody>
      </p:sp>
      <p:sp>
        <p:nvSpPr>
          <p:cNvPr id="17" name="TextBox 16"/>
          <p:cNvSpPr txBox="1"/>
          <p:nvPr/>
        </p:nvSpPr>
        <p:spPr>
          <a:xfrm>
            <a:off x="8366760" y="3557016"/>
            <a:ext cx="3108960" cy="658368"/>
          </a:xfrm>
          <a:prstGeom prst="rect">
            <a:avLst/>
          </a:prstGeom>
          <a:noFill/>
        </p:spPr>
        <p:txBody>
          <a:bodyPr wrap="square" anchor="ctr" lIns="45720" rIns="45720" tIns="27432" bIns="27432">
            <a:spAutoFit/>
          </a:bodyPr>
          <a:lstStyle/>
          <a:p>
            <a:pPr algn="l">
              <a:lnSpc>
                <a:spcPct val="105000"/>
              </a:lnSpc>
            </a:pPr>
            <a:r>
              <a:rPr sz="2000" b="1" i="0">
                <a:solidFill>
                  <a:srgbClr val="A84400"/>
                </a:solidFill>
                <a:latin typeface="PT Sans"/>
              </a:rPr>
              <a:t>сом үнөм</a:t>
            </a:r>
          </a:p>
        </p:txBody>
      </p:sp>
      <p:sp>
        <p:nvSpPr>
          <p:cNvPr id="18" name="TextBox 17"/>
          <p:cNvSpPr txBox="1"/>
          <p:nvPr/>
        </p:nvSpPr>
        <p:spPr>
          <a:xfrm>
            <a:off x="429768" y="5596128"/>
            <a:ext cx="11329416" cy="640080"/>
          </a:xfrm>
          <a:prstGeom prst="rect">
            <a:avLst/>
          </a:prstGeom>
          <a:noFill/>
        </p:spPr>
        <p:txBody>
          <a:bodyPr wrap="square" anchor="t" lIns="45720" rIns="45720" tIns="27432" bIns="27432">
            <a:spAutoFit/>
          </a:bodyPr>
          <a:lstStyle/>
          <a:p>
            <a:pPr algn="ctr">
              <a:lnSpc>
                <a:spcPct val="105000"/>
              </a:lnSpc>
            </a:pPr>
            <a:r>
              <a:rPr sz="3400" b="1" i="0">
                <a:solidFill>
                  <a:srgbClr val="1F2430"/>
                </a:solidFill>
                <a:latin typeface="PT Sans"/>
              </a:rPr>
              <a:t>Пайдалуусу = </a:t>
            </a:r>
            <a:r>
              <a:rPr sz="3400" b="1">
                <a:solidFill>
                  <a:srgbClr val="24418C"/>
                </a:solidFill>
                <a:latin typeface="PT Sans"/>
              </a:rPr>
              <a:t>2 литрлик</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Оозеки ыкма: үч жол</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Акча: сатып алуу жана кайтарым</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16/26</a:t>
            </a:r>
          </a:p>
        </p:txBody>
      </p:sp>
      <p:sp>
        <p:nvSpPr>
          <p:cNvPr id="10" name="Rounded Rectangle 9"/>
          <p:cNvSpPr/>
          <p:nvPr/>
        </p:nvSpPr>
        <p:spPr>
          <a:xfrm>
            <a:off x="429768" y="1280160"/>
            <a:ext cx="3593592" cy="41605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12647" y="1444752"/>
            <a:ext cx="457200" cy="45720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1</a:t>
            </a:r>
          </a:p>
        </p:txBody>
      </p:sp>
      <p:sp>
        <p:nvSpPr>
          <p:cNvPr id="12" name="TextBox 11"/>
          <p:cNvSpPr txBox="1"/>
          <p:nvPr/>
        </p:nvSpPr>
        <p:spPr>
          <a:xfrm>
            <a:off x="1207007" y="1371600"/>
            <a:ext cx="2679192" cy="685800"/>
          </a:xfrm>
          <a:prstGeom prst="rect">
            <a:avLst/>
          </a:prstGeom>
          <a:noFill/>
        </p:spPr>
        <p:txBody>
          <a:bodyPr wrap="square" anchor="ctr" lIns="45720" rIns="45720" tIns="27432" bIns="27432">
            <a:spAutoFit/>
          </a:bodyPr>
          <a:lstStyle/>
          <a:p>
            <a:pPr algn="l">
              <a:lnSpc>
                <a:spcPct val="105000"/>
              </a:lnSpc>
            </a:pPr>
            <a:r>
              <a:rPr sz="2000" b="1" i="0">
                <a:solidFill>
                  <a:srgbClr val="1D3557"/>
                </a:solidFill>
                <a:latin typeface="PT Sans"/>
              </a:rPr>
              <a:t>Толуктап саноо</a:t>
            </a:r>
          </a:p>
        </p:txBody>
      </p:sp>
      <p:sp>
        <p:nvSpPr>
          <p:cNvPr id="13" name="TextBox 12"/>
          <p:cNvSpPr txBox="1"/>
          <p:nvPr/>
        </p:nvSpPr>
        <p:spPr>
          <a:xfrm>
            <a:off x="658368" y="2194560"/>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500 − 310</a:t>
            </a:r>
          </a:p>
        </p:txBody>
      </p:sp>
      <p:sp>
        <p:nvSpPr>
          <p:cNvPr id="14" name="TextBox 13"/>
          <p:cNvSpPr txBox="1"/>
          <p:nvPr/>
        </p:nvSpPr>
        <p:spPr>
          <a:xfrm>
            <a:off x="658368" y="2761488"/>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310 + 90 = 400</a:t>
            </a:r>
          </a:p>
        </p:txBody>
      </p:sp>
      <p:sp>
        <p:nvSpPr>
          <p:cNvPr id="15" name="TextBox 14"/>
          <p:cNvSpPr txBox="1"/>
          <p:nvPr/>
        </p:nvSpPr>
        <p:spPr>
          <a:xfrm>
            <a:off x="658368" y="3328415"/>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400 + 100 = 500</a:t>
            </a:r>
          </a:p>
        </p:txBody>
      </p:sp>
      <p:sp>
        <p:nvSpPr>
          <p:cNvPr id="16" name="TextBox 15"/>
          <p:cNvSpPr txBox="1"/>
          <p:nvPr/>
        </p:nvSpPr>
        <p:spPr>
          <a:xfrm>
            <a:off x="658368" y="3895344"/>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24418C"/>
                </a:solidFill>
                <a:latin typeface="PT Sans"/>
              </a:rPr>
              <a:t>= 190</a:t>
            </a:r>
          </a:p>
        </p:txBody>
      </p:sp>
      <p:sp>
        <p:nvSpPr>
          <p:cNvPr id="17" name="TextBox 16"/>
          <p:cNvSpPr txBox="1"/>
          <p:nvPr/>
        </p:nvSpPr>
        <p:spPr>
          <a:xfrm>
            <a:off x="658368" y="4526280"/>
            <a:ext cx="3136392" cy="868680"/>
          </a:xfrm>
          <a:prstGeom prst="rect">
            <a:avLst/>
          </a:prstGeom>
          <a:noFill/>
        </p:spPr>
        <p:txBody>
          <a:bodyPr wrap="square" anchor="t" lIns="45720" rIns="45720" tIns="27432" bIns="27432">
            <a:spAutoFit/>
          </a:bodyPr>
          <a:lstStyle/>
          <a:p>
            <a:pPr algn="l">
              <a:lnSpc>
                <a:spcPct val="105000"/>
              </a:lnSpc>
            </a:pPr>
            <a:r>
              <a:rPr sz="1500" b="0" i="1">
                <a:solidFill>
                  <a:srgbClr val="6B7280"/>
                </a:solidFill>
                <a:latin typeface="PT Sans"/>
              </a:rPr>
              <a:t>Кассирдей: баадан берилген акчага чейин сана.</a:t>
            </a:r>
          </a:p>
        </p:txBody>
      </p:sp>
      <p:sp>
        <p:nvSpPr>
          <p:cNvPr id="18" name="Rounded Rectangle 17"/>
          <p:cNvSpPr/>
          <p:nvPr/>
        </p:nvSpPr>
        <p:spPr>
          <a:xfrm>
            <a:off x="4297680" y="1280160"/>
            <a:ext cx="3593592" cy="41605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480560" y="1444752"/>
            <a:ext cx="457200" cy="45720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2</a:t>
            </a:r>
          </a:p>
        </p:txBody>
      </p:sp>
      <p:sp>
        <p:nvSpPr>
          <p:cNvPr id="20" name="TextBox 19"/>
          <p:cNvSpPr txBox="1"/>
          <p:nvPr/>
        </p:nvSpPr>
        <p:spPr>
          <a:xfrm>
            <a:off x="5074920" y="1371600"/>
            <a:ext cx="2679192" cy="685800"/>
          </a:xfrm>
          <a:prstGeom prst="rect">
            <a:avLst/>
          </a:prstGeom>
          <a:noFill/>
        </p:spPr>
        <p:txBody>
          <a:bodyPr wrap="square" anchor="ctr" lIns="45720" rIns="45720" tIns="27432" bIns="27432">
            <a:spAutoFit/>
          </a:bodyPr>
          <a:lstStyle/>
          <a:p>
            <a:pPr algn="l">
              <a:lnSpc>
                <a:spcPct val="105000"/>
              </a:lnSpc>
            </a:pPr>
            <a:r>
              <a:rPr sz="2000" b="1" i="0">
                <a:solidFill>
                  <a:srgbClr val="1D3557"/>
                </a:solidFill>
                <a:latin typeface="PT Sans"/>
              </a:rPr>
              <a:t>Тегерек баа</a:t>
            </a:r>
          </a:p>
        </p:txBody>
      </p:sp>
      <p:sp>
        <p:nvSpPr>
          <p:cNvPr id="21" name="TextBox 20"/>
          <p:cNvSpPr txBox="1"/>
          <p:nvPr/>
        </p:nvSpPr>
        <p:spPr>
          <a:xfrm>
            <a:off x="4526280" y="2194560"/>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4 × 49</a:t>
            </a:r>
          </a:p>
        </p:txBody>
      </p:sp>
      <p:sp>
        <p:nvSpPr>
          <p:cNvPr id="22" name="TextBox 21"/>
          <p:cNvSpPr txBox="1"/>
          <p:nvPr/>
        </p:nvSpPr>
        <p:spPr>
          <a:xfrm>
            <a:off x="4526280" y="2761488"/>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 4 × 50 − 4</a:t>
            </a:r>
          </a:p>
        </p:txBody>
      </p:sp>
      <p:sp>
        <p:nvSpPr>
          <p:cNvPr id="23" name="TextBox 22"/>
          <p:cNvSpPr txBox="1"/>
          <p:nvPr/>
        </p:nvSpPr>
        <p:spPr>
          <a:xfrm>
            <a:off x="4526280" y="3328415"/>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 200 − 4</a:t>
            </a:r>
          </a:p>
        </p:txBody>
      </p:sp>
      <p:sp>
        <p:nvSpPr>
          <p:cNvPr id="24" name="TextBox 23"/>
          <p:cNvSpPr txBox="1"/>
          <p:nvPr/>
        </p:nvSpPr>
        <p:spPr>
          <a:xfrm>
            <a:off x="4526280" y="3895344"/>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24418C"/>
                </a:solidFill>
                <a:latin typeface="PT Sans"/>
              </a:rPr>
              <a:t>= 196</a:t>
            </a:r>
          </a:p>
        </p:txBody>
      </p:sp>
      <p:sp>
        <p:nvSpPr>
          <p:cNvPr id="25" name="TextBox 24"/>
          <p:cNvSpPr txBox="1"/>
          <p:nvPr/>
        </p:nvSpPr>
        <p:spPr>
          <a:xfrm>
            <a:off x="4526280" y="4526280"/>
            <a:ext cx="3136392" cy="868680"/>
          </a:xfrm>
          <a:prstGeom prst="rect">
            <a:avLst/>
          </a:prstGeom>
          <a:noFill/>
        </p:spPr>
        <p:txBody>
          <a:bodyPr wrap="square" anchor="t" lIns="45720" rIns="45720" tIns="27432" bIns="27432">
            <a:spAutoFit/>
          </a:bodyPr>
          <a:lstStyle/>
          <a:p>
            <a:pPr algn="l">
              <a:lnSpc>
                <a:spcPct val="105000"/>
              </a:lnSpc>
            </a:pPr>
            <a:r>
              <a:rPr sz="1500" b="0" i="1">
                <a:solidFill>
                  <a:srgbClr val="6B7280"/>
                </a:solidFill>
                <a:latin typeface="PT Sans"/>
              </a:rPr>
              <a:t>49 сом ≈ 50 сом: тегерек санга жеткир, анан оңдо.</a:t>
            </a:r>
          </a:p>
        </p:txBody>
      </p:sp>
      <p:sp>
        <p:nvSpPr>
          <p:cNvPr id="26" name="Rounded Rectangle 25"/>
          <p:cNvSpPr/>
          <p:nvPr/>
        </p:nvSpPr>
        <p:spPr>
          <a:xfrm>
            <a:off x="8165592" y="1280160"/>
            <a:ext cx="3593592" cy="41605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348472" y="1444752"/>
            <a:ext cx="457200" cy="45720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3</a:t>
            </a:r>
          </a:p>
        </p:txBody>
      </p:sp>
      <p:sp>
        <p:nvSpPr>
          <p:cNvPr id="28" name="TextBox 27"/>
          <p:cNvSpPr txBox="1"/>
          <p:nvPr/>
        </p:nvSpPr>
        <p:spPr>
          <a:xfrm>
            <a:off x="8942832" y="1371600"/>
            <a:ext cx="2679192" cy="685800"/>
          </a:xfrm>
          <a:prstGeom prst="rect">
            <a:avLst/>
          </a:prstGeom>
          <a:noFill/>
        </p:spPr>
        <p:txBody>
          <a:bodyPr wrap="square" anchor="ctr" lIns="45720" rIns="45720" tIns="27432" bIns="27432">
            <a:spAutoFit/>
          </a:bodyPr>
          <a:lstStyle/>
          <a:p>
            <a:pPr algn="l">
              <a:lnSpc>
                <a:spcPct val="105000"/>
              </a:lnSpc>
            </a:pPr>
            <a:r>
              <a:rPr sz="2000" b="1" i="0">
                <a:solidFill>
                  <a:srgbClr val="1D3557"/>
                </a:solidFill>
                <a:latin typeface="PT Sans"/>
              </a:rPr>
              <a:t>Тыйын → сом</a:t>
            </a:r>
          </a:p>
        </p:txBody>
      </p:sp>
      <p:sp>
        <p:nvSpPr>
          <p:cNvPr id="29" name="TextBox 28"/>
          <p:cNvSpPr txBox="1"/>
          <p:nvPr/>
        </p:nvSpPr>
        <p:spPr>
          <a:xfrm>
            <a:off x="8394192" y="2194560"/>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2 сом 60 т + 50 т</a:t>
            </a:r>
          </a:p>
        </p:txBody>
      </p:sp>
      <p:sp>
        <p:nvSpPr>
          <p:cNvPr id="30" name="TextBox 29"/>
          <p:cNvSpPr txBox="1"/>
          <p:nvPr/>
        </p:nvSpPr>
        <p:spPr>
          <a:xfrm>
            <a:off x="8394192" y="2761488"/>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 2 сом 110 т</a:t>
            </a:r>
          </a:p>
        </p:txBody>
      </p:sp>
      <p:sp>
        <p:nvSpPr>
          <p:cNvPr id="31" name="TextBox 30"/>
          <p:cNvSpPr txBox="1"/>
          <p:nvPr/>
        </p:nvSpPr>
        <p:spPr>
          <a:xfrm>
            <a:off x="8394192" y="3328415"/>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24418C"/>
                </a:solidFill>
                <a:latin typeface="PT Sans"/>
              </a:rPr>
              <a:t>= 3 сом 10 т</a:t>
            </a:r>
          </a:p>
        </p:txBody>
      </p:sp>
      <p:sp>
        <p:nvSpPr>
          <p:cNvPr id="32" name="TextBox 31"/>
          <p:cNvSpPr txBox="1"/>
          <p:nvPr/>
        </p:nvSpPr>
        <p:spPr>
          <a:xfrm>
            <a:off x="8394192" y="4526280"/>
            <a:ext cx="3136392" cy="868680"/>
          </a:xfrm>
          <a:prstGeom prst="rect">
            <a:avLst/>
          </a:prstGeom>
          <a:noFill/>
        </p:spPr>
        <p:txBody>
          <a:bodyPr wrap="square" anchor="t" lIns="45720" rIns="45720" tIns="27432" bIns="27432">
            <a:spAutoFit/>
          </a:bodyPr>
          <a:lstStyle/>
          <a:p>
            <a:pPr algn="l">
              <a:lnSpc>
                <a:spcPct val="105000"/>
              </a:lnSpc>
            </a:pPr>
            <a:r>
              <a:rPr sz="1500" b="0" i="1">
                <a:solidFill>
                  <a:srgbClr val="6B7280"/>
                </a:solidFill>
                <a:latin typeface="PT Sans"/>
              </a:rPr>
              <a:t>100 тыйын = 1 сом: тыйынды сомго алмаштыр (т = тыйын).</a:t>
            </a:r>
          </a:p>
        </p:txBody>
      </p:sp>
      <p:sp>
        <p:nvSpPr>
          <p:cNvPr id="33" name="Rounded Rectangle 32"/>
          <p:cNvSpPr/>
          <p:nvPr/>
        </p:nvSpPr>
        <p:spPr>
          <a:xfrm>
            <a:off x="429768" y="5577840"/>
            <a:ext cx="11329416" cy="502920"/>
          </a:xfrm>
          <a:prstGeom prst="roundRect">
            <a:avLst>
              <a:gd name="adj" fmla="val 40000"/>
            </a:avLst>
          </a:prstGeom>
          <a:solidFill>
            <a:srgbClr val="FFFFFF"/>
          </a:solidFill>
          <a:ln w="2222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700" b="1">
                <a:solidFill>
                  <a:srgbClr val="007A5A"/>
                </a:solidFill>
                <a:latin typeface="PT Sans"/>
              </a:rPr>
              <a:t>Түшүн → ыкма → эркин эсеп. Ыкмаңды үн чыгарып айт: «Мен ... деп ойлодум».</a:t>
            </a:r>
          </a:p>
        </p:txBody>
      </p:sp>
      <p:sp>
        <p:nvSpPr>
          <p:cNvPr id="34" name="Rounded Rectangle 33"/>
          <p:cNvSpPr/>
          <p:nvPr/>
        </p:nvSpPr>
        <p:spPr>
          <a:xfrm>
            <a:off x="4449927" y="6327648"/>
            <a:ext cx="3291840" cy="411480"/>
          </a:xfrm>
          <a:prstGeom prst="roundRect">
            <a:avLst>
              <a:gd name="adj" fmla="val 50000"/>
            </a:avLst>
          </a:prstGeom>
          <a:no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007A5A"/>
                </a:solidFill>
                <a:latin typeface="PT Sans"/>
              </a:rPr>
              <a:t>3C · Сынчыл ой</a:t>
            </a:r>
          </a:p>
        </p:txBody>
      </p:sp>
      <p:sp>
        <p:nvSpPr>
          <p:cNvPr id="35" name="Rounded Rectangle 34"/>
          <p:cNvSpPr/>
          <p:nvPr/>
        </p:nvSpPr>
        <p:spPr>
          <a:xfrm>
            <a:off x="8412480"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К</a:t>
            </a:r>
          </a:p>
        </p:txBody>
      </p:sp>
      <p:sp>
        <p:nvSpPr>
          <p:cNvPr id="36" name="Rounded Rectangle 35"/>
          <p:cNvSpPr/>
          <p:nvPr/>
        </p:nvSpPr>
        <p:spPr>
          <a:xfrm>
            <a:off x="896111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С</a:t>
            </a:r>
          </a:p>
        </p:txBody>
      </p:sp>
      <p:sp>
        <p:nvSpPr>
          <p:cNvPr id="37" name="Rounded Rectangle 36"/>
          <p:cNvSpPr/>
          <p:nvPr/>
        </p:nvSpPr>
        <p:spPr>
          <a:xfrm>
            <a:off x="9509759" y="6327648"/>
            <a:ext cx="457200" cy="411480"/>
          </a:xfrm>
          <a:prstGeom prst="roundRect">
            <a:avLst>
              <a:gd name="adj" fmla="val 50000"/>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1D3557"/>
                </a:solidFill>
                <a:latin typeface="PT Sans"/>
              </a:rPr>
              <a:t>А</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Чечүүчү суроо</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Акча: сатып алуу жана кайтарым</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17/26</a:t>
            </a:r>
          </a:p>
        </p:txBody>
      </p:sp>
      <p:sp>
        <p:nvSpPr>
          <p:cNvPr id="10" name="Rounded Rectangle 9"/>
          <p:cNvSpPr/>
          <p:nvPr/>
        </p:nvSpPr>
        <p:spPr>
          <a:xfrm>
            <a:off x="429768" y="1225296"/>
            <a:ext cx="11329416" cy="713232"/>
          </a:xfrm>
          <a:prstGeom prst="roundRect">
            <a:avLst>
              <a:gd name="adj" fmla="val 258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25296"/>
            <a:ext cx="10780776" cy="713232"/>
          </a:xfrm>
          <a:prstGeom prst="rect">
            <a:avLst/>
          </a:prstGeom>
          <a:noFill/>
        </p:spPr>
        <p:txBody>
          <a:bodyPr wrap="square" anchor="ctr" lIns="45720" rIns="45720" tIns="27432" bIns="27432">
            <a:spAutoFit/>
          </a:bodyPr>
          <a:lstStyle/>
          <a:p>
            <a:pPr algn="l">
              <a:lnSpc>
                <a:spcPct val="105000"/>
              </a:lnSpc>
            </a:pPr>
            <a:r>
              <a:rPr sz="2200" b="0" i="0">
                <a:solidFill>
                  <a:srgbClr val="1F2430"/>
                </a:solidFill>
                <a:latin typeface="PT Sans"/>
              </a:rPr>
              <a:t>Айдай 4 дептер алды, ар бири 35 сом. Ал 200 сом берди. Канча кайтарым алат?</a:t>
            </a:r>
          </a:p>
        </p:txBody>
      </p:sp>
      <p:sp>
        <p:nvSpPr>
          <p:cNvPr id="12" name="Rounded Rectangle 11"/>
          <p:cNvSpPr/>
          <p:nvPr/>
        </p:nvSpPr>
        <p:spPr>
          <a:xfrm>
            <a:off x="429768" y="2286000"/>
            <a:ext cx="5550408" cy="150876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04088" y="2743200"/>
            <a:ext cx="594360" cy="59436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1D3557"/>
                </a:solidFill>
                <a:latin typeface="PT Sans"/>
              </a:rPr>
              <a:t>А</a:t>
            </a:r>
          </a:p>
        </p:txBody>
      </p:sp>
      <p:sp>
        <p:nvSpPr>
          <p:cNvPr id="14" name="TextBox 13"/>
          <p:cNvSpPr txBox="1"/>
          <p:nvPr/>
        </p:nvSpPr>
        <p:spPr>
          <a:xfrm>
            <a:off x="1527048" y="2286000"/>
            <a:ext cx="4297680" cy="1508760"/>
          </a:xfrm>
          <a:prstGeom prst="rect">
            <a:avLst/>
          </a:prstGeom>
          <a:noFill/>
        </p:spPr>
        <p:txBody>
          <a:bodyPr wrap="square" anchor="ctr" lIns="45720" rIns="45720" tIns="27432" bIns="27432">
            <a:spAutoFit/>
          </a:bodyPr>
          <a:lstStyle/>
          <a:p>
            <a:pPr algn="l">
              <a:lnSpc>
                <a:spcPct val="105000"/>
              </a:lnSpc>
            </a:pPr>
            <a:r>
              <a:rPr sz="3000" b="1" i="0">
                <a:solidFill>
                  <a:srgbClr val="1F2430"/>
                </a:solidFill>
                <a:latin typeface="PT Sans"/>
              </a:rPr>
              <a:t>160 сом</a:t>
            </a:r>
          </a:p>
        </p:txBody>
      </p:sp>
      <p:sp>
        <p:nvSpPr>
          <p:cNvPr id="15" name="Rounded Rectangle 14"/>
          <p:cNvSpPr/>
          <p:nvPr/>
        </p:nvSpPr>
        <p:spPr>
          <a:xfrm>
            <a:off x="6208776" y="2286000"/>
            <a:ext cx="5550408" cy="150876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483096" y="2743200"/>
            <a:ext cx="594360" cy="59436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1D3557"/>
                </a:solidFill>
                <a:latin typeface="PT Sans"/>
              </a:rPr>
              <a:t>Б</a:t>
            </a:r>
          </a:p>
        </p:txBody>
      </p:sp>
      <p:sp>
        <p:nvSpPr>
          <p:cNvPr id="17" name="TextBox 16"/>
          <p:cNvSpPr txBox="1"/>
          <p:nvPr/>
        </p:nvSpPr>
        <p:spPr>
          <a:xfrm>
            <a:off x="7306056" y="2286000"/>
            <a:ext cx="4297680" cy="1508760"/>
          </a:xfrm>
          <a:prstGeom prst="rect">
            <a:avLst/>
          </a:prstGeom>
          <a:noFill/>
        </p:spPr>
        <p:txBody>
          <a:bodyPr wrap="square" anchor="ctr" lIns="45720" rIns="45720" tIns="27432" bIns="27432">
            <a:spAutoFit/>
          </a:bodyPr>
          <a:lstStyle/>
          <a:p>
            <a:pPr algn="l">
              <a:lnSpc>
                <a:spcPct val="105000"/>
              </a:lnSpc>
            </a:pPr>
            <a:r>
              <a:rPr sz="3000" b="1" i="0">
                <a:solidFill>
                  <a:srgbClr val="1F2430"/>
                </a:solidFill>
                <a:latin typeface="PT Sans"/>
              </a:rPr>
              <a:t>60 сом</a:t>
            </a:r>
          </a:p>
        </p:txBody>
      </p:sp>
      <p:sp>
        <p:nvSpPr>
          <p:cNvPr id="18" name="Rounded Rectangle 17"/>
          <p:cNvSpPr/>
          <p:nvPr/>
        </p:nvSpPr>
        <p:spPr>
          <a:xfrm>
            <a:off x="429768" y="4023360"/>
            <a:ext cx="5550408" cy="150876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04088" y="4480560"/>
            <a:ext cx="594360" cy="59436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1D3557"/>
                </a:solidFill>
                <a:latin typeface="PT Sans"/>
              </a:rPr>
              <a:t>В</a:t>
            </a:r>
          </a:p>
        </p:txBody>
      </p:sp>
      <p:sp>
        <p:nvSpPr>
          <p:cNvPr id="20" name="TextBox 19"/>
          <p:cNvSpPr txBox="1"/>
          <p:nvPr/>
        </p:nvSpPr>
        <p:spPr>
          <a:xfrm>
            <a:off x="1527048" y="4023360"/>
            <a:ext cx="4297680" cy="1508760"/>
          </a:xfrm>
          <a:prstGeom prst="rect">
            <a:avLst/>
          </a:prstGeom>
          <a:noFill/>
        </p:spPr>
        <p:txBody>
          <a:bodyPr wrap="square" anchor="ctr" lIns="45720" rIns="45720" tIns="27432" bIns="27432">
            <a:spAutoFit/>
          </a:bodyPr>
          <a:lstStyle/>
          <a:p>
            <a:pPr algn="l">
              <a:lnSpc>
                <a:spcPct val="105000"/>
              </a:lnSpc>
            </a:pPr>
            <a:r>
              <a:rPr sz="3000" b="1" i="0">
                <a:solidFill>
                  <a:srgbClr val="1F2430"/>
                </a:solidFill>
                <a:latin typeface="PT Sans"/>
              </a:rPr>
              <a:t>165 сом</a:t>
            </a:r>
          </a:p>
        </p:txBody>
      </p:sp>
      <p:sp>
        <p:nvSpPr>
          <p:cNvPr id="21" name="Rounded Rectangle 20"/>
          <p:cNvSpPr/>
          <p:nvPr/>
        </p:nvSpPr>
        <p:spPr>
          <a:xfrm>
            <a:off x="6208776" y="4023360"/>
            <a:ext cx="5550408" cy="150876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483096" y="4480560"/>
            <a:ext cx="594360" cy="59436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1D3557"/>
                </a:solidFill>
                <a:latin typeface="PT Sans"/>
              </a:rPr>
              <a:t>Г</a:t>
            </a:r>
          </a:p>
        </p:txBody>
      </p:sp>
      <p:sp>
        <p:nvSpPr>
          <p:cNvPr id="23" name="TextBox 22"/>
          <p:cNvSpPr txBox="1"/>
          <p:nvPr/>
        </p:nvSpPr>
        <p:spPr>
          <a:xfrm>
            <a:off x="7306056" y="4023360"/>
            <a:ext cx="4297680" cy="1508760"/>
          </a:xfrm>
          <a:prstGeom prst="rect">
            <a:avLst/>
          </a:prstGeom>
          <a:noFill/>
        </p:spPr>
        <p:txBody>
          <a:bodyPr wrap="square" anchor="ctr" lIns="45720" rIns="45720" tIns="27432" bIns="27432">
            <a:spAutoFit/>
          </a:bodyPr>
          <a:lstStyle/>
          <a:p>
            <a:pPr algn="l">
              <a:lnSpc>
                <a:spcPct val="105000"/>
              </a:lnSpc>
            </a:pPr>
            <a:r>
              <a:rPr sz="3000" b="1" i="0">
                <a:solidFill>
                  <a:srgbClr val="1F2430"/>
                </a:solidFill>
                <a:latin typeface="PT Sans"/>
              </a:rPr>
              <a:t>161 сом</a:t>
            </a:r>
          </a:p>
        </p:txBody>
      </p:sp>
      <p:sp>
        <p:nvSpPr>
          <p:cNvPr id="24" name="Rounded Rectangle 23"/>
          <p:cNvSpPr/>
          <p:nvPr/>
        </p:nvSpPr>
        <p:spPr>
          <a:xfrm>
            <a:off x="4449927" y="6327648"/>
            <a:ext cx="3291840" cy="411480"/>
          </a:xfrm>
          <a:prstGeom prst="roundRect">
            <a:avLst>
              <a:gd name="adj" fmla="val 50000"/>
            </a:avLst>
          </a:prstGeom>
          <a:no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007A5A"/>
                </a:solidFill>
                <a:latin typeface="PT Sans"/>
              </a:rPr>
              <a:t>3C · Сынчыл ой</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Тилке машыгуусу: чий, анан эсепте</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Акча: сатып алуу жана кайтарым</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18/26</a:t>
            </a:r>
          </a:p>
        </p:txBody>
      </p:sp>
      <p:sp>
        <p:nvSpPr>
          <p:cNvPr id="10" name="Rounded Rectangle 9"/>
          <p:cNvSpPr/>
          <p:nvPr/>
        </p:nvSpPr>
        <p:spPr>
          <a:xfrm>
            <a:off x="429768" y="1691640"/>
            <a:ext cx="3624072" cy="443484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566928" y="1828800"/>
            <a:ext cx="384048" cy="384048"/>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1</a:t>
            </a:r>
          </a:p>
        </p:txBody>
      </p:sp>
      <p:sp>
        <p:nvSpPr>
          <p:cNvPr id="12" name="TextBox 11"/>
          <p:cNvSpPr txBox="1"/>
          <p:nvPr/>
        </p:nvSpPr>
        <p:spPr>
          <a:xfrm>
            <a:off x="1024128" y="1755648"/>
            <a:ext cx="2892552" cy="1051560"/>
          </a:xfrm>
          <a:prstGeom prst="rect">
            <a:avLst/>
          </a:prstGeom>
          <a:noFill/>
        </p:spPr>
        <p:txBody>
          <a:bodyPr wrap="square" anchor="t" lIns="45720" rIns="45720" tIns="27432" bIns="27432">
            <a:spAutoFit/>
          </a:bodyPr>
          <a:lstStyle/>
          <a:p>
            <a:pPr algn="l">
              <a:lnSpc>
                <a:spcPct val="105000"/>
              </a:lnSpc>
            </a:pPr>
            <a:r>
              <a:rPr sz="1700" b="0" i="0">
                <a:solidFill>
                  <a:srgbClr val="1F2430"/>
                </a:solidFill>
                <a:latin typeface="PT Sans"/>
              </a:rPr>
              <a:t>Бекзат 3 калем алды, ар бири 35 сом. Баары канча турат?</a:t>
            </a:r>
          </a:p>
        </p:txBody>
      </p:sp>
      <p:sp>
        <p:nvSpPr>
          <p:cNvPr id="13" name="TextBox 12"/>
          <p:cNvSpPr txBox="1"/>
          <p:nvPr/>
        </p:nvSpPr>
        <p:spPr>
          <a:xfrm>
            <a:off x="704088" y="3429000"/>
            <a:ext cx="3075432" cy="1005840"/>
          </a:xfrm>
          <a:prstGeom prst="rect">
            <a:avLst/>
          </a:prstGeom>
          <a:noFill/>
        </p:spPr>
        <p:txBody>
          <a:bodyPr wrap="square" anchor="t" lIns="45720" rIns="45720" tIns="27432" bIns="27432">
            <a:spAutoFit/>
          </a:bodyPr>
          <a:lstStyle/>
          <a:p>
            <a:pPr algn="l">
              <a:lnSpc>
                <a:spcPct val="105000"/>
              </a:lnSpc>
            </a:pPr>
            <a:r>
              <a:rPr sz="1400" b="0" i="1">
                <a:solidFill>
                  <a:srgbClr val="6B7280"/>
                </a:solidFill>
                <a:latin typeface="PT Sans"/>
              </a:rPr>
              <a:t>Тилкени бул жерге чий</a:t>
            </a:r>
          </a:p>
        </p:txBody>
      </p:sp>
      <p:sp>
        <p:nvSpPr>
          <p:cNvPr id="14" name="TextBox 13"/>
          <p:cNvSpPr txBox="1"/>
          <p:nvPr/>
        </p:nvSpPr>
        <p:spPr>
          <a:xfrm>
            <a:off x="612647" y="4572000"/>
            <a:ext cx="1554480" cy="411480"/>
          </a:xfrm>
          <a:prstGeom prst="rect">
            <a:avLst/>
          </a:prstGeom>
          <a:noFill/>
        </p:spPr>
        <p:txBody>
          <a:bodyPr wrap="square" anchor="b" lIns="45720" rIns="45720" tIns="27432" bIns="27432">
            <a:spAutoFit/>
          </a:bodyPr>
          <a:lstStyle/>
          <a:p>
            <a:pPr algn="l">
              <a:lnSpc>
                <a:spcPct val="105000"/>
              </a:lnSpc>
            </a:pPr>
            <a:r>
              <a:rPr sz="1800" b="0" i="0">
                <a:solidFill>
                  <a:srgbClr val="6B7280"/>
                </a:solidFill>
                <a:latin typeface="PT Sans"/>
              </a:rPr>
              <a:t>Туюнтма:</a:t>
            </a:r>
          </a:p>
        </p:txBody>
      </p:sp>
      <p:cxnSp>
        <p:nvCxnSpPr>
          <p:cNvPr id="15" name="Connector 14"/>
          <p:cNvCxnSpPr/>
          <p:nvPr/>
        </p:nvCxnSpPr>
        <p:spPr>
          <a:xfrm>
            <a:off x="2167128" y="4956048"/>
            <a:ext cx="1703832"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12647" y="5257800"/>
            <a:ext cx="1005840" cy="411480"/>
          </a:xfrm>
          <a:prstGeom prst="rect">
            <a:avLst/>
          </a:prstGeom>
          <a:noFill/>
        </p:spPr>
        <p:txBody>
          <a:bodyPr wrap="square" anchor="b" lIns="45720" rIns="45720" tIns="27432" bIns="27432">
            <a:spAutoFit/>
          </a:bodyPr>
          <a:lstStyle/>
          <a:p>
            <a:pPr algn="l">
              <a:lnSpc>
                <a:spcPct val="105000"/>
              </a:lnSpc>
            </a:pPr>
            <a:r>
              <a:rPr sz="1800" b="0" i="0">
                <a:solidFill>
                  <a:srgbClr val="6B7280"/>
                </a:solidFill>
                <a:latin typeface="PT Sans"/>
              </a:rPr>
              <a:t>Жообу:</a:t>
            </a:r>
          </a:p>
        </p:txBody>
      </p:sp>
      <p:cxnSp>
        <p:nvCxnSpPr>
          <p:cNvPr id="17" name="Connector 16"/>
          <p:cNvCxnSpPr/>
          <p:nvPr/>
        </p:nvCxnSpPr>
        <p:spPr>
          <a:xfrm>
            <a:off x="1618488" y="5641848"/>
            <a:ext cx="2252472"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4282439" y="1691640"/>
            <a:ext cx="3624072" cy="443484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419600" y="1828800"/>
            <a:ext cx="384048" cy="384048"/>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2</a:t>
            </a:r>
          </a:p>
        </p:txBody>
      </p:sp>
      <p:sp>
        <p:nvSpPr>
          <p:cNvPr id="20" name="TextBox 19"/>
          <p:cNvSpPr txBox="1"/>
          <p:nvPr/>
        </p:nvSpPr>
        <p:spPr>
          <a:xfrm>
            <a:off x="4876800" y="1755648"/>
            <a:ext cx="2892552" cy="1051560"/>
          </a:xfrm>
          <a:prstGeom prst="rect">
            <a:avLst/>
          </a:prstGeom>
          <a:noFill/>
        </p:spPr>
        <p:txBody>
          <a:bodyPr wrap="square" anchor="t" lIns="45720" rIns="45720" tIns="27432" bIns="27432">
            <a:spAutoFit/>
          </a:bodyPr>
          <a:lstStyle/>
          <a:p>
            <a:pPr algn="l">
              <a:lnSpc>
                <a:spcPct val="105000"/>
              </a:lnSpc>
            </a:pPr>
            <a:r>
              <a:rPr sz="1700" b="0" i="0">
                <a:solidFill>
                  <a:srgbClr val="1F2430"/>
                </a:solidFill>
                <a:latin typeface="PT Sans"/>
              </a:rPr>
              <a:t>Айдайда 500 сом бар. Ал 230 сомдук сумка жана 3 дептер алды (ар бири 25 сом). Канча сом калды?</a:t>
            </a:r>
          </a:p>
        </p:txBody>
      </p:sp>
      <p:sp>
        <p:nvSpPr>
          <p:cNvPr id="21" name="TextBox 20"/>
          <p:cNvSpPr txBox="1"/>
          <p:nvPr/>
        </p:nvSpPr>
        <p:spPr>
          <a:xfrm>
            <a:off x="4556759" y="3429000"/>
            <a:ext cx="3075432" cy="1005840"/>
          </a:xfrm>
          <a:prstGeom prst="rect">
            <a:avLst/>
          </a:prstGeom>
          <a:noFill/>
        </p:spPr>
        <p:txBody>
          <a:bodyPr wrap="square" anchor="t" lIns="45720" rIns="45720" tIns="27432" bIns="27432">
            <a:spAutoFit/>
          </a:bodyPr>
          <a:lstStyle/>
          <a:p>
            <a:pPr algn="l">
              <a:lnSpc>
                <a:spcPct val="105000"/>
              </a:lnSpc>
            </a:pPr>
            <a:r>
              <a:rPr sz="1400" b="0" i="1">
                <a:solidFill>
                  <a:srgbClr val="6B7280"/>
                </a:solidFill>
                <a:latin typeface="PT Sans"/>
              </a:rPr>
              <a:t>Тилкени бул жерге чий</a:t>
            </a:r>
          </a:p>
        </p:txBody>
      </p:sp>
      <p:sp>
        <p:nvSpPr>
          <p:cNvPr id="22" name="TextBox 21"/>
          <p:cNvSpPr txBox="1"/>
          <p:nvPr/>
        </p:nvSpPr>
        <p:spPr>
          <a:xfrm>
            <a:off x="4465320" y="4572000"/>
            <a:ext cx="1554480" cy="411480"/>
          </a:xfrm>
          <a:prstGeom prst="rect">
            <a:avLst/>
          </a:prstGeom>
          <a:noFill/>
        </p:spPr>
        <p:txBody>
          <a:bodyPr wrap="square" anchor="b" lIns="45720" rIns="45720" tIns="27432" bIns="27432">
            <a:spAutoFit/>
          </a:bodyPr>
          <a:lstStyle/>
          <a:p>
            <a:pPr algn="l">
              <a:lnSpc>
                <a:spcPct val="105000"/>
              </a:lnSpc>
            </a:pPr>
            <a:r>
              <a:rPr sz="1800" b="0" i="0">
                <a:solidFill>
                  <a:srgbClr val="6B7280"/>
                </a:solidFill>
                <a:latin typeface="PT Sans"/>
              </a:rPr>
              <a:t>Туюнтма:</a:t>
            </a:r>
          </a:p>
        </p:txBody>
      </p:sp>
      <p:cxnSp>
        <p:nvCxnSpPr>
          <p:cNvPr id="23" name="Connector 22"/>
          <p:cNvCxnSpPr/>
          <p:nvPr/>
        </p:nvCxnSpPr>
        <p:spPr>
          <a:xfrm>
            <a:off x="6019800" y="4956048"/>
            <a:ext cx="1703831"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4465320" y="5257800"/>
            <a:ext cx="1005840" cy="411480"/>
          </a:xfrm>
          <a:prstGeom prst="rect">
            <a:avLst/>
          </a:prstGeom>
          <a:noFill/>
        </p:spPr>
        <p:txBody>
          <a:bodyPr wrap="square" anchor="b" lIns="45720" rIns="45720" tIns="27432" bIns="27432">
            <a:spAutoFit/>
          </a:bodyPr>
          <a:lstStyle/>
          <a:p>
            <a:pPr algn="l">
              <a:lnSpc>
                <a:spcPct val="105000"/>
              </a:lnSpc>
            </a:pPr>
            <a:r>
              <a:rPr sz="1800" b="0" i="0">
                <a:solidFill>
                  <a:srgbClr val="6B7280"/>
                </a:solidFill>
                <a:latin typeface="PT Sans"/>
              </a:rPr>
              <a:t>Жообу:</a:t>
            </a:r>
          </a:p>
        </p:txBody>
      </p:sp>
      <p:cxnSp>
        <p:nvCxnSpPr>
          <p:cNvPr id="25" name="Connector 24"/>
          <p:cNvCxnSpPr/>
          <p:nvPr/>
        </p:nvCxnSpPr>
        <p:spPr>
          <a:xfrm>
            <a:off x="5471159" y="5641848"/>
            <a:ext cx="2252472"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8135112" y="1691640"/>
            <a:ext cx="3624072" cy="443484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272272" y="1828800"/>
            <a:ext cx="384048" cy="384048"/>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3</a:t>
            </a:r>
          </a:p>
        </p:txBody>
      </p:sp>
      <p:sp>
        <p:nvSpPr>
          <p:cNvPr id="28" name="TextBox 27"/>
          <p:cNvSpPr txBox="1"/>
          <p:nvPr/>
        </p:nvSpPr>
        <p:spPr>
          <a:xfrm>
            <a:off x="8729472" y="1755648"/>
            <a:ext cx="2892552" cy="1051560"/>
          </a:xfrm>
          <a:prstGeom prst="rect">
            <a:avLst/>
          </a:prstGeom>
          <a:noFill/>
        </p:spPr>
        <p:txBody>
          <a:bodyPr wrap="square" anchor="t" lIns="45720" rIns="45720" tIns="27432" bIns="27432">
            <a:spAutoFit/>
          </a:bodyPr>
          <a:lstStyle/>
          <a:p>
            <a:pPr algn="l">
              <a:lnSpc>
                <a:spcPct val="105000"/>
              </a:lnSpc>
            </a:pPr>
            <a:r>
              <a:rPr sz="1700" b="0" i="0">
                <a:solidFill>
                  <a:srgbClr val="1F2430"/>
                </a:solidFill>
                <a:latin typeface="PT Sans"/>
              </a:rPr>
              <a:t>Айран: 1 литри 60 сом, 3 литр салынган бөтөлкө 165 сом. 3 литрлик бөтөлкө алса, канча үнөмдөйт?</a:t>
            </a:r>
          </a:p>
        </p:txBody>
      </p:sp>
      <p:sp>
        <p:nvSpPr>
          <p:cNvPr id="29" name="TextBox 28"/>
          <p:cNvSpPr txBox="1"/>
          <p:nvPr/>
        </p:nvSpPr>
        <p:spPr>
          <a:xfrm>
            <a:off x="8409432" y="3429000"/>
            <a:ext cx="3075432" cy="1005840"/>
          </a:xfrm>
          <a:prstGeom prst="rect">
            <a:avLst/>
          </a:prstGeom>
          <a:noFill/>
        </p:spPr>
        <p:txBody>
          <a:bodyPr wrap="square" anchor="t" lIns="45720" rIns="45720" tIns="27432" bIns="27432">
            <a:spAutoFit/>
          </a:bodyPr>
          <a:lstStyle/>
          <a:p>
            <a:pPr algn="l">
              <a:lnSpc>
                <a:spcPct val="105000"/>
              </a:lnSpc>
            </a:pPr>
            <a:r>
              <a:rPr sz="1400" b="0" i="1">
                <a:solidFill>
                  <a:srgbClr val="6B7280"/>
                </a:solidFill>
                <a:latin typeface="PT Sans"/>
              </a:rPr>
              <a:t>Тилкени бул жерге чий</a:t>
            </a:r>
          </a:p>
        </p:txBody>
      </p:sp>
      <p:sp>
        <p:nvSpPr>
          <p:cNvPr id="30" name="TextBox 29"/>
          <p:cNvSpPr txBox="1"/>
          <p:nvPr/>
        </p:nvSpPr>
        <p:spPr>
          <a:xfrm>
            <a:off x="8317991" y="4572000"/>
            <a:ext cx="1554480" cy="411480"/>
          </a:xfrm>
          <a:prstGeom prst="rect">
            <a:avLst/>
          </a:prstGeom>
          <a:noFill/>
        </p:spPr>
        <p:txBody>
          <a:bodyPr wrap="square" anchor="b" lIns="45720" rIns="45720" tIns="27432" bIns="27432">
            <a:spAutoFit/>
          </a:bodyPr>
          <a:lstStyle/>
          <a:p>
            <a:pPr algn="l">
              <a:lnSpc>
                <a:spcPct val="105000"/>
              </a:lnSpc>
            </a:pPr>
            <a:r>
              <a:rPr sz="1800" b="0" i="0">
                <a:solidFill>
                  <a:srgbClr val="6B7280"/>
                </a:solidFill>
                <a:latin typeface="PT Sans"/>
              </a:rPr>
              <a:t>Туюнтма:</a:t>
            </a:r>
          </a:p>
        </p:txBody>
      </p:sp>
      <p:cxnSp>
        <p:nvCxnSpPr>
          <p:cNvPr id="31" name="Connector 30"/>
          <p:cNvCxnSpPr/>
          <p:nvPr/>
        </p:nvCxnSpPr>
        <p:spPr>
          <a:xfrm>
            <a:off x="9872471" y="4956048"/>
            <a:ext cx="1703833"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8317991" y="5257800"/>
            <a:ext cx="1005840" cy="411480"/>
          </a:xfrm>
          <a:prstGeom prst="rect">
            <a:avLst/>
          </a:prstGeom>
          <a:noFill/>
        </p:spPr>
        <p:txBody>
          <a:bodyPr wrap="square" anchor="b" lIns="45720" rIns="45720" tIns="27432" bIns="27432">
            <a:spAutoFit/>
          </a:bodyPr>
          <a:lstStyle/>
          <a:p>
            <a:pPr algn="l">
              <a:lnSpc>
                <a:spcPct val="105000"/>
              </a:lnSpc>
            </a:pPr>
            <a:r>
              <a:rPr sz="1800" b="0" i="0">
                <a:solidFill>
                  <a:srgbClr val="6B7280"/>
                </a:solidFill>
                <a:latin typeface="PT Sans"/>
              </a:rPr>
              <a:t>Жообу:</a:t>
            </a:r>
          </a:p>
        </p:txBody>
      </p:sp>
      <p:cxnSp>
        <p:nvCxnSpPr>
          <p:cNvPr id="33" name="Connector 32"/>
          <p:cNvCxnSpPr/>
          <p:nvPr/>
        </p:nvCxnSpPr>
        <p:spPr>
          <a:xfrm>
            <a:off x="9323831" y="5641848"/>
            <a:ext cx="2252473"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8412480"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К</a:t>
            </a:r>
          </a:p>
        </p:txBody>
      </p:sp>
      <p:sp>
        <p:nvSpPr>
          <p:cNvPr id="35" name="Rounded Rectangle 34"/>
          <p:cNvSpPr/>
          <p:nvPr/>
        </p:nvSpPr>
        <p:spPr>
          <a:xfrm>
            <a:off x="8961119" y="6327648"/>
            <a:ext cx="457200" cy="411480"/>
          </a:xfrm>
          <a:prstGeom prst="roundRect">
            <a:avLst>
              <a:gd name="adj" fmla="val 50000"/>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1D3557"/>
                </a:solidFill>
                <a:latin typeface="PT Sans"/>
              </a:rPr>
              <a:t>С</a:t>
            </a:r>
          </a:p>
        </p:txBody>
      </p:sp>
      <p:sp>
        <p:nvSpPr>
          <p:cNvPr id="36" name="Rounded Rectangle 35"/>
          <p:cNvSpPr/>
          <p:nvPr/>
        </p:nvSpPr>
        <p:spPr>
          <a:xfrm>
            <a:off x="950975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А</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Тилке машыгуусу: жооптор</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Акча: сатып алуу жана кайтарым</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19/26</a:t>
            </a:r>
          </a:p>
        </p:txBody>
      </p:sp>
      <p:sp>
        <p:nvSpPr>
          <p:cNvPr id="10" name="Rounded Rectangle 9"/>
          <p:cNvSpPr/>
          <p:nvPr/>
        </p:nvSpPr>
        <p:spPr>
          <a:xfrm>
            <a:off x="429768" y="1280160"/>
            <a:ext cx="3624072" cy="48463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566928" y="1417319"/>
            <a:ext cx="384048" cy="384048"/>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1</a:t>
            </a:r>
          </a:p>
        </p:txBody>
      </p:sp>
      <p:sp>
        <p:nvSpPr>
          <p:cNvPr id="12" name="TextBox 11"/>
          <p:cNvSpPr txBox="1"/>
          <p:nvPr/>
        </p:nvSpPr>
        <p:spPr>
          <a:xfrm>
            <a:off x="1024128" y="1344168"/>
            <a:ext cx="2892552" cy="1463040"/>
          </a:xfrm>
          <a:prstGeom prst="rect">
            <a:avLst/>
          </a:prstGeom>
          <a:noFill/>
        </p:spPr>
        <p:txBody>
          <a:bodyPr wrap="square" anchor="t" lIns="45720" rIns="45720" tIns="27432" bIns="27432">
            <a:spAutoFit/>
          </a:bodyPr>
          <a:lstStyle/>
          <a:p>
            <a:pPr algn="l">
              <a:lnSpc>
                <a:spcPct val="105000"/>
              </a:lnSpc>
            </a:pPr>
            <a:r>
              <a:rPr sz="1400" b="0" i="0">
                <a:solidFill>
                  <a:srgbClr val="1F2430"/>
                </a:solidFill>
                <a:latin typeface="PT Sans"/>
              </a:rPr>
              <a:t>Бекзат 3 калем алды, ар бири 35 сом. Баары канча турат?</a:t>
            </a:r>
          </a:p>
        </p:txBody>
      </p:sp>
      <p:sp>
        <p:nvSpPr>
          <p:cNvPr id="13" name="Rectangle 12"/>
          <p:cNvSpPr/>
          <p:nvPr/>
        </p:nvSpPr>
        <p:spPr>
          <a:xfrm>
            <a:off x="566928" y="3017520"/>
            <a:ext cx="781304" cy="384048"/>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35</a:t>
            </a:r>
          </a:p>
        </p:txBody>
      </p:sp>
      <p:sp>
        <p:nvSpPr>
          <p:cNvPr id="14" name="Rectangle 13"/>
          <p:cNvSpPr/>
          <p:nvPr/>
        </p:nvSpPr>
        <p:spPr>
          <a:xfrm>
            <a:off x="1348232" y="3017520"/>
            <a:ext cx="781304" cy="384048"/>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35</a:t>
            </a:r>
          </a:p>
        </p:txBody>
      </p:sp>
      <p:sp>
        <p:nvSpPr>
          <p:cNvPr id="15" name="Rectangle 14"/>
          <p:cNvSpPr/>
          <p:nvPr/>
        </p:nvSpPr>
        <p:spPr>
          <a:xfrm>
            <a:off x="2129536" y="3017520"/>
            <a:ext cx="781304" cy="384048"/>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35</a:t>
            </a:r>
          </a:p>
        </p:txBody>
      </p:sp>
      <p:cxnSp>
        <p:nvCxnSpPr>
          <p:cNvPr id="16" name="Connector 15"/>
          <p:cNvCxnSpPr/>
          <p:nvPr/>
        </p:nvCxnSpPr>
        <p:spPr>
          <a:xfrm>
            <a:off x="3002280" y="3017520"/>
            <a:ext cx="13716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3139440" y="3017520"/>
            <a:ext cx="0" cy="384048"/>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3002280" y="3401568"/>
            <a:ext cx="13716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3185160" y="2935224"/>
            <a:ext cx="1005840" cy="548640"/>
          </a:xfrm>
          <a:prstGeom prst="rect">
            <a:avLst/>
          </a:prstGeom>
          <a:noFill/>
        </p:spPr>
        <p:txBody>
          <a:bodyPr wrap="square" anchor="ctr" lIns="45720" rIns="45720" tIns="27432" bIns="27432">
            <a:spAutoFit/>
          </a:bodyPr>
          <a:lstStyle/>
          <a:p>
            <a:pPr algn="l">
              <a:lnSpc>
                <a:spcPct val="105000"/>
              </a:lnSpc>
            </a:pPr>
            <a:r>
              <a:rPr sz="1500" b="1" i="0">
                <a:solidFill>
                  <a:srgbClr val="A84400"/>
                </a:solidFill>
                <a:latin typeface="PT Sans"/>
              </a:rPr>
              <a:t>105</a:t>
            </a:r>
          </a:p>
        </p:txBody>
      </p:sp>
      <p:sp>
        <p:nvSpPr>
          <p:cNvPr id="20" name="TextBox 19"/>
          <p:cNvSpPr txBox="1"/>
          <p:nvPr/>
        </p:nvSpPr>
        <p:spPr>
          <a:xfrm>
            <a:off x="612647" y="5120640"/>
            <a:ext cx="3258312" cy="822960"/>
          </a:xfrm>
          <a:prstGeom prst="rect">
            <a:avLst/>
          </a:prstGeom>
          <a:noFill/>
        </p:spPr>
        <p:txBody>
          <a:bodyPr wrap="square" anchor="t" lIns="45720" rIns="45720" tIns="27432" bIns="27432">
            <a:spAutoFit/>
          </a:bodyPr>
          <a:lstStyle/>
          <a:p>
            <a:pPr algn="ctr">
              <a:lnSpc>
                <a:spcPct val="105000"/>
              </a:lnSpc>
            </a:pPr>
            <a:r>
              <a:rPr sz="1700" b="1" i="0">
                <a:solidFill>
                  <a:srgbClr val="24418C"/>
                </a:solidFill>
                <a:latin typeface="PT Sans"/>
              </a:rPr>
              <a:t>3 × 35 = 105 сом</a:t>
            </a:r>
          </a:p>
        </p:txBody>
      </p:sp>
      <p:sp>
        <p:nvSpPr>
          <p:cNvPr id="21" name="Rounded Rectangle 20"/>
          <p:cNvSpPr/>
          <p:nvPr/>
        </p:nvSpPr>
        <p:spPr>
          <a:xfrm>
            <a:off x="4282439" y="1280160"/>
            <a:ext cx="3624072" cy="48463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4419600" y="1417319"/>
            <a:ext cx="384048" cy="384048"/>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2</a:t>
            </a:r>
          </a:p>
        </p:txBody>
      </p:sp>
      <p:sp>
        <p:nvSpPr>
          <p:cNvPr id="23" name="TextBox 22"/>
          <p:cNvSpPr txBox="1"/>
          <p:nvPr/>
        </p:nvSpPr>
        <p:spPr>
          <a:xfrm>
            <a:off x="4876800" y="1344168"/>
            <a:ext cx="2892552" cy="1463040"/>
          </a:xfrm>
          <a:prstGeom prst="rect">
            <a:avLst/>
          </a:prstGeom>
          <a:noFill/>
        </p:spPr>
        <p:txBody>
          <a:bodyPr wrap="square" anchor="t" lIns="45720" rIns="45720" tIns="27432" bIns="27432">
            <a:spAutoFit/>
          </a:bodyPr>
          <a:lstStyle/>
          <a:p>
            <a:pPr algn="l">
              <a:lnSpc>
                <a:spcPct val="105000"/>
              </a:lnSpc>
            </a:pPr>
            <a:r>
              <a:rPr sz="1400" b="0" i="0">
                <a:solidFill>
                  <a:srgbClr val="1F2430"/>
                </a:solidFill>
                <a:latin typeface="PT Sans"/>
              </a:rPr>
              <a:t>Айдайда 500 сом бар. Ал 230 сомдук сумка жана 3 дептер алды (ар бири 25 сом). Канча сом калды?</a:t>
            </a:r>
          </a:p>
        </p:txBody>
      </p:sp>
      <p:sp>
        <p:nvSpPr>
          <p:cNvPr id="24" name="Rectangle 23"/>
          <p:cNvSpPr/>
          <p:nvPr/>
        </p:nvSpPr>
        <p:spPr>
          <a:xfrm>
            <a:off x="4419600" y="3017520"/>
            <a:ext cx="1078199" cy="384048"/>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230</a:t>
            </a:r>
          </a:p>
        </p:txBody>
      </p:sp>
      <p:sp>
        <p:nvSpPr>
          <p:cNvPr id="25" name="Rectangle 24"/>
          <p:cNvSpPr/>
          <p:nvPr/>
        </p:nvSpPr>
        <p:spPr>
          <a:xfrm>
            <a:off x="5497799" y="3017520"/>
            <a:ext cx="351586" cy="384048"/>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75</a:t>
            </a:r>
          </a:p>
        </p:txBody>
      </p:sp>
      <p:sp>
        <p:nvSpPr>
          <p:cNvPr id="26" name="Rectangle 25"/>
          <p:cNvSpPr/>
          <p:nvPr/>
        </p:nvSpPr>
        <p:spPr>
          <a:xfrm>
            <a:off x="5849386" y="3017520"/>
            <a:ext cx="914125" cy="384048"/>
          </a:xfrm>
          <a:prstGeom prst="rect">
            <a:avLst/>
          </a:prstGeom>
          <a:solidFill>
            <a:srgbClr val="FFFFFF"/>
          </a:solidFill>
          <a:ln w="20320">
            <a:solidFill>
              <a:srgbClr val="4A5A7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6B7280"/>
                </a:solidFill>
                <a:latin typeface="PT Sans"/>
              </a:rPr>
              <a:t>195</a:t>
            </a:r>
          </a:p>
        </p:txBody>
      </p:sp>
      <p:cxnSp>
        <p:nvCxnSpPr>
          <p:cNvPr id="27" name="Connector 26"/>
          <p:cNvCxnSpPr/>
          <p:nvPr/>
        </p:nvCxnSpPr>
        <p:spPr>
          <a:xfrm>
            <a:off x="6854951" y="3017520"/>
            <a:ext cx="137161"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6992112" y="3017520"/>
            <a:ext cx="0" cy="384048"/>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6854951" y="3401568"/>
            <a:ext cx="137161"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7037832" y="2935224"/>
            <a:ext cx="1005840" cy="548640"/>
          </a:xfrm>
          <a:prstGeom prst="rect">
            <a:avLst/>
          </a:prstGeom>
          <a:noFill/>
        </p:spPr>
        <p:txBody>
          <a:bodyPr wrap="square" anchor="ctr" lIns="45720" rIns="45720" tIns="27432" bIns="27432">
            <a:spAutoFit/>
          </a:bodyPr>
          <a:lstStyle/>
          <a:p>
            <a:pPr algn="l">
              <a:lnSpc>
                <a:spcPct val="105000"/>
              </a:lnSpc>
            </a:pPr>
            <a:r>
              <a:rPr sz="1500" b="1" i="0">
                <a:solidFill>
                  <a:srgbClr val="A84400"/>
                </a:solidFill>
                <a:latin typeface="PT Sans"/>
              </a:rPr>
              <a:t>500</a:t>
            </a:r>
          </a:p>
        </p:txBody>
      </p:sp>
      <p:sp>
        <p:nvSpPr>
          <p:cNvPr id="31" name="TextBox 30"/>
          <p:cNvSpPr txBox="1"/>
          <p:nvPr/>
        </p:nvSpPr>
        <p:spPr>
          <a:xfrm>
            <a:off x="4465320" y="5120640"/>
            <a:ext cx="3258312" cy="822960"/>
          </a:xfrm>
          <a:prstGeom prst="rect">
            <a:avLst/>
          </a:prstGeom>
          <a:noFill/>
        </p:spPr>
        <p:txBody>
          <a:bodyPr wrap="square" anchor="t" lIns="45720" rIns="45720" tIns="27432" bIns="27432">
            <a:spAutoFit/>
          </a:bodyPr>
          <a:lstStyle/>
          <a:p>
            <a:pPr algn="ctr">
              <a:lnSpc>
                <a:spcPct val="105000"/>
              </a:lnSpc>
            </a:pPr>
            <a:r>
              <a:rPr sz="1700" b="1" i="0">
                <a:solidFill>
                  <a:srgbClr val="24418C"/>
                </a:solidFill>
                <a:latin typeface="PT Sans"/>
              </a:rPr>
              <a:t>500 − 230 − 75 = 195 сом</a:t>
            </a:r>
          </a:p>
        </p:txBody>
      </p:sp>
      <p:sp>
        <p:nvSpPr>
          <p:cNvPr id="32" name="Rounded Rectangle 31"/>
          <p:cNvSpPr/>
          <p:nvPr/>
        </p:nvSpPr>
        <p:spPr>
          <a:xfrm>
            <a:off x="8135112" y="1280160"/>
            <a:ext cx="3624072" cy="48463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272272" y="1417319"/>
            <a:ext cx="384048" cy="384048"/>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3</a:t>
            </a:r>
          </a:p>
        </p:txBody>
      </p:sp>
      <p:sp>
        <p:nvSpPr>
          <p:cNvPr id="34" name="TextBox 33"/>
          <p:cNvSpPr txBox="1"/>
          <p:nvPr/>
        </p:nvSpPr>
        <p:spPr>
          <a:xfrm>
            <a:off x="8729472" y="1344168"/>
            <a:ext cx="2892552" cy="1463040"/>
          </a:xfrm>
          <a:prstGeom prst="rect">
            <a:avLst/>
          </a:prstGeom>
          <a:noFill/>
        </p:spPr>
        <p:txBody>
          <a:bodyPr wrap="square" anchor="t" lIns="45720" rIns="45720" tIns="27432" bIns="27432">
            <a:spAutoFit/>
          </a:bodyPr>
          <a:lstStyle/>
          <a:p>
            <a:pPr algn="l">
              <a:lnSpc>
                <a:spcPct val="105000"/>
              </a:lnSpc>
            </a:pPr>
            <a:r>
              <a:rPr sz="1400" b="0" i="0">
                <a:solidFill>
                  <a:srgbClr val="1F2430"/>
                </a:solidFill>
                <a:latin typeface="PT Sans"/>
              </a:rPr>
              <a:t>Айран: 1 литри 60 сом, 3 литр салынган бөтөлкө 165 сом. 3 литрлик бөтөлкө алса, канча үнөмдөйт?</a:t>
            </a:r>
          </a:p>
        </p:txBody>
      </p:sp>
      <p:sp>
        <p:nvSpPr>
          <p:cNvPr id="35" name="TextBox 34"/>
          <p:cNvSpPr txBox="1"/>
          <p:nvPr/>
        </p:nvSpPr>
        <p:spPr>
          <a:xfrm>
            <a:off x="8272272" y="3017520"/>
            <a:ext cx="1371600" cy="384048"/>
          </a:xfrm>
          <a:prstGeom prst="rect">
            <a:avLst/>
          </a:prstGeom>
          <a:noFill/>
        </p:spPr>
        <p:txBody>
          <a:bodyPr wrap="square" anchor="ctr" lIns="45720" rIns="45720" tIns="27432" bIns="27432">
            <a:spAutoFit/>
          </a:bodyPr>
          <a:lstStyle/>
          <a:p>
            <a:pPr algn="r">
              <a:lnSpc>
                <a:spcPct val="105000"/>
              </a:lnSpc>
            </a:pPr>
            <a:r>
              <a:rPr sz="1100" b="1" i="0">
                <a:solidFill>
                  <a:srgbClr val="1F2430"/>
                </a:solidFill>
                <a:latin typeface="PT Sans"/>
              </a:rPr>
              <a:t>1 л × 3</a:t>
            </a:r>
          </a:p>
        </p:txBody>
      </p:sp>
      <p:sp>
        <p:nvSpPr>
          <p:cNvPr id="36" name="Rectangle 35"/>
          <p:cNvSpPr/>
          <p:nvPr/>
        </p:nvSpPr>
        <p:spPr>
          <a:xfrm>
            <a:off x="9735312" y="3017520"/>
            <a:ext cx="293623" cy="384048"/>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60</a:t>
            </a:r>
          </a:p>
        </p:txBody>
      </p:sp>
      <p:sp>
        <p:nvSpPr>
          <p:cNvPr id="37" name="Rectangle 36"/>
          <p:cNvSpPr/>
          <p:nvPr/>
        </p:nvSpPr>
        <p:spPr>
          <a:xfrm>
            <a:off x="10028936" y="3017520"/>
            <a:ext cx="293623" cy="384048"/>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60</a:t>
            </a:r>
          </a:p>
        </p:txBody>
      </p:sp>
      <p:sp>
        <p:nvSpPr>
          <p:cNvPr id="38" name="Rectangle 37"/>
          <p:cNvSpPr/>
          <p:nvPr/>
        </p:nvSpPr>
        <p:spPr>
          <a:xfrm>
            <a:off x="10322560" y="3017520"/>
            <a:ext cx="293623" cy="384048"/>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60</a:t>
            </a:r>
          </a:p>
        </p:txBody>
      </p:sp>
      <p:sp>
        <p:nvSpPr>
          <p:cNvPr id="39" name="TextBox 38"/>
          <p:cNvSpPr txBox="1"/>
          <p:nvPr/>
        </p:nvSpPr>
        <p:spPr>
          <a:xfrm>
            <a:off x="8272272" y="3574389"/>
            <a:ext cx="1371600" cy="384048"/>
          </a:xfrm>
          <a:prstGeom prst="rect">
            <a:avLst/>
          </a:prstGeom>
          <a:noFill/>
        </p:spPr>
        <p:txBody>
          <a:bodyPr wrap="square" anchor="ctr" lIns="45720" rIns="45720" tIns="27432" bIns="27432">
            <a:spAutoFit/>
          </a:bodyPr>
          <a:lstStyle/>
          <a:p>
            <a:pPr algn="r">
              <a:lnSpc>
                <a:spcPct val="105000"/>
              </a:lnSpc>
            </a:pPr>
            <a:r>
              <a:rPr sz="1100" b="1" i="0">
                <a:solidFill>
                  <a:srgbClr val="1F2430"/>
                </a:solidFill>
                <a:latin typeface="PT Sans"/>
              </a:rPr>
              <a:t>3 литр</a:t>
            </a:r>
          </a:p>
        </p:txBody>
      </p:sp>
      <p:sp>
        <p:nvSpPr>
          <p:cNvPr id="40" name="Rectangle 39"/>
          <p:cNvSpPr/>
          <p:nvPr/>
        </p:nvSpPr>
        <p:spPr>
          <a:xfrm>
            <a:off x="9735312" y="3574389"/>
            <a:ext cx="807465" cy="384048"/>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165</a:t>
            </a:r>
          </a:p>
        </p:txBody>
      </p:sp>
      <p:sp>
        <p:nvSpPr>
          <p:cNvPr id="41" name="Rectangle 40"/>
          <p:cNvSpPr/>
          <p:nvPr/>
        </p:nvSpPr>
        <p:spPr>
          <a:xfrm>
            <a:off x="10542778" y="3574389"/>
            <a:ext cx="73405" cy="384048"/>
          </a:xfrm>
          <a:prstGeom prst="rect">
            <a:avLst/>
          </a:prstGeom>
          <a:solidFill>
            <a:srgbClr val="F5E9E0"/>
          </a:solidFill>
          <a:ln w="2032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15</a:t>
            </a:r>
          </a:p>
        </p:txBody>
      </p:sp>
      <p:sp>
        <p:nvSpPr>
          <p:cNvPr id="42" name="TextBox 41"/>
          <p:cNvSpPr txBox="1"/>
          <p:nvPr/>
        </p:nvSpPr>
        <p:spPr>
          <a:xfrm>
            <a:off x="8317991" y="5120640"/>
            <a:ext cx="3258312" cy="822960"/>
          </a:xfrm>
          <a:prstGeom prst="rect">
            <a:avLst/>
          </a:prstGeom>
          <a:noFill/>
        </p:spPr>
        <p:txBody>
          <a:bodyPr wrap="square" anchor="t" lIns="45720" rIns="45720" tIns="27432" bIns="27432">
            <a:spAutoFit/>
          </a:bodyPr>
          <a:lstStyle/>
          <a:p>
            <a:pPr algn="ctr">
              <a:lnSpc>
                <a:spcPct val="105000"/>
              </a:lnSpc>
            </a:pPr>
            <a:r>
              <a:rPr sz="1700" b="1" i="0">
                <a:solidFill>
                  <a:srgbClr val="24418C"/>
                </a:solidFill>
                <a:latin typeface="PT Sans"/>
              </a:rPr>
              <a:t>180 − 165 = 15 сом үнөм</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Өз алдынча иш</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Акча: сатып алуу жана кайтарым</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20/26</a:t>
            </a:r>
          </a:p>
        </p:txBody>
      </p:sp>
      <p:sp>
        <p:nvSpPr>
          <p:cNvPr id="10" name="TextBox 9"/>
          <p:cNvSpPr txBox="1"/>
          <p:nvPr/>
        </p:nvSpPr>
        <p:spPr>
          <a:xfrm>
            <a:off x="429768" y="1143000"/>
            <a:ext cx="11329416" cy="457200"/>
          </a:xfrm>
          <a:prstGeom prst="rect">
            <a:avLst/>
          </a:prstGeom>
          <a:noFill/>
        </p:spPr>
        <p:txBody>
          <a:bodyPr wrap="square" anchor="t" lIns="45720" rIns="45720" tIns="27432" bIns="27432">
            <a:spAutoFit/>
          </a:bodyPr>
          <a:lstStyle/>
          <a:p>
            <a:pPr algn="l">
              <a:lnSpc>
                <a:spcPct val="105000"/>
              </a:lnSpc>
            </a:pPr>
            <a:r>
              <a:rPr sz="2200" b="0" i="1">
                <a:solidFill>
                  <a:srgbClr val="6B7280"/>
                </a:solidFill>
                <a:latin typeface="PT Sans"/>
              </a:rPr>
              <a:t>Дептериңе чыгар. Кыйын болсо – жакшы! Мээң өсүп жатат.</a:t>
            </a:r>
          </a:p>
        </p:txBody>
      </p:sp>
      <p:sp>
        <p:nvSpPr>
          <p:cNvPr id="11" name="Rounded Rectangle 10"/>
          <p:cNvSpPr/>
          <p:nvPr/>
        </p:nvSpPr>
        <p:spPr>
          <a:xfrm>
            <a:off x="429768" y="1691640"/>
            <a:ext cx="5550408"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12647" y="215036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1</a:t>
            </a:r>
          </a:p>
        </p:txBody>
      </p:sp>
      <p:sp>
        <p:nvSpPr>
          <p:cNvPr id="13" name="TextBox 12"/>
          <p:cNvSpPr txBox="1"/>
          <p:nvPr/>
        </p:nvSpPr>
        <p:spPr>
          <a:xfrm>
            <a:off x="1207007" y="1691640"/>
            <a:ext cx="4636008" cy="1356359"/>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3 × 45 сом</a:t>
            </a:r>
          </a:p>
        </p:txBody>
      </p:sp>
      <p:sp>
        <p:nvSpPr>
          <p:cNvPr id="14" name="Rounded Rectangle 13"/>
          <p:cNvSpPr/>
          <p:nvPr/>
        </p:nvSpPr>
        <p:spPr>
          <a:xfrm>
            <a:off x="6208776" y="1691640"/>
            <a:ext cx="5550408"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391656" y="215036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2</a:t>
            </a:r>
          </a:p>
        </p:txBody>
      </p:sp>
      <p:sp>
        <p:nvSpPr>
          <p:cNvPr id="16" name="TextBox 15"/>
          <p:cNvSpPr txBox="1"/>
          <p:nvPr/>
        </p:nvSpPr>
        <p:spPr>
          <a:xfrm>
            <a:off x="6986016" y="1691640"/>
            <a:ext cx="4636008" cy="1356359"/>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1000 − 650</a:t>
            </a:r>
          </a:p>
        </p:txBody>
      </p:sp>
      <p:sp>
        <p:nvSpPr>
          <p:cNvPr id="17" name="Rounded Rectangle 16"/>
          <p:cNvSpPr/>
          <p:nvPr/>
        </p:nvSpPr>
        <p:spPr>
          <a:xfrm>
            <a:off x="429768" y="3230880"/>
            <a:ext cx="5550408"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12647" y="3689603"/>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3</a:t>
            </a:r>
          </a:p>
        </p:txBody>
      </p:sp>
      <p:sp>
        <p:nvSpPr>
          <p:cNvPr id="19" name="TextBox 18"/>
          <p:cNvSpPr txBox="1"/>
          <p:nvPr/>
        </p:nvSpPr>
        <p:spPr>
          <a:xfrm>
            <a:off x="1207007" y="3230880"/>
            <a:ext cx="4636008" cy="1356359"/>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3 сом 40 тыйын + 80 тыйын</a:t>
            </a:r>
          </a:p>
        </p:txBody>
      </p:sp>
      <p:sp>
        <p:nvSpPr>
          <p:cNvPr id="20" name="Rounded Rectangle 19"/>
          <p:cNvSpPr/>
          <p:nvPr/>
        </p:nvSpPr>
        <p:spPr>
          <a:xfrm>
            <a:off x="6208776" y="3230880"/>
            <a:ext cx="5550408"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91656" y="3689603"/>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4</a:t>
            </a:r>
          </a:p>
        </p:txBody>
      </p:sp>
      <p:sp>
        <p:nvSpPr>
          <p:cNvPr id="22" name="TextBox 21"/>
          <p:cNvSpPr txBox="1"/>
          <p:nvPr/>
        </p:nvSpPr>
        <p:spPr>
          <a:xfrm>
            <a:off x="6986016" y="3230880"/>
            <a:ext cx="4636008" cy="1356359"/>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5 дептер 120 сом. 1 дептер канча?</a:t>
            </a:r>
          </a:p>
        </p:txBody>
      </p:sp>
      <p:sp>
        <p:nvSpPr>
          <p:cNvPr id="23" name="Rounded Rectangle 22"/>
          <p:cNvSpPr/>
          <p:nvPr/>
        </p:nvSpPr>
        <p:spPr>
          <a:xfrm>
            <a:off x="429768" y="4770120"/>
            <a:ext cx="5550408"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12647" y="522884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5</a:t>
            </a:r>
          </a:p>
        </p:txBody>
      </p:sp>
      <p:sp>
        <p:nvSpPr>
          <p:cNvPr id="25" name="TextBox 24"/>
          <p:cNvSpPr txBox="1"/>
          <p:nvPr/>
        </p:nvSpPr>
        <p:spPr>
          <a:xfrm>
            <a:off x="1207007" y="4770120"/>
            <a:ext cx="4636008" cy="1356359"/>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200 сом берди, 4 × 35 сом алды. Кайтарым?</a:t>
            </a:r>
          </a:p>
        </p:txBody>
      </p:sp>
      <p:sp>
        <p:nvSpPr>
          <p:cNvPr id="26" name="Rounded Rectangle 25"/>
          <p:cNvSpPr/>
          <p:nvPr/>
        </p:nvSpPr>
        <p:spPr>
          <a:xfrm>
            <a:off x="6208776" y="4770120"/>
            <a:ext cx="5550408"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391656" y="522884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6</a:t>
            </a:r>
          </a:p>
        </p:txBody>
      </p:sp>
      <p:sp>
        <p:nvSpPr>
          <p:cNvPr id="28" name="TextBox 27"/>
          <p:cNvSpPr txBox="1"/>
          <p:nvPr/>
        </p:nvSpPr>
        <p:spPr>
          <a:xfrm>
            <a:off x="6986016" y="4770120"/>
            <a:ext cx="4636008" cy="1356359"/>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Калем: 2 даана 50 сом же 5 даана 120 сом?</a:t>
            </a:r>
          </a:p>
        </p:txBody>
      </p:sp>
      <p:sp>
        <p:nvSpPr>
          <p:cNvPr id="29" name="Rounded Rectangle 28"/>
          <p:cNvSpPr/>
          <p:nvPr/>
        </p:nvSpPr>
        <p:spPr>
          <a:xfrm>
            <a:off x="8412480"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К</a:t>
            </a:r>
          </a:p>
        </p:txBody>
      </p:sp>
      <p:sp>
        <p:nvSpPr>
          <p:cNvPr id="30" name="Rounded Rectangle 29"/>
          <p:cNvSpPr/>
          <p:nvPr/>
        </p:nvSpPr>
        <p:spPr>
          <a:xfrm>
            <a:off x="896111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С</a:t>
            </a:r>
          </a:p>
        </p:txBody>
      </p:sp>
      <p:sp>
        <p:nvSpPr>
          <p:cNvPr id="31" name="Rounded Rectangle 30"/>
          <p:cNvSpPr/>
          <p:nvPr/>
        </p:nvSpPr>
        <p:spPr>
          <a:xfrm>
            <a:off x="9509759" y="6327648"/>
            <a:ext cx="457200" cy="411480"/>
          </a:xfrm>
          <a:prstGeom prst="roundRect">
            <a:avLst>
              <a:gd name="adj" fmla="val 50000"/>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1D3557"/>
                </a:solidFill>
                <a:latin typeface="PT Sans"/>
              </a:rPr>
              <a:t>А</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Өз алдынча иш: жооптор</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Акча: сатып алуу жана кайтарым</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21/26</a:t>
            </a:r>
          </a:p>
        </p:txBody>
      </p:sp>
      <p:sp>
        <p:nvSpPr>
          <p:cNvPr id="10" name="Rounded Rectangle 9"/>
          <p:cNvSpPr/>
          <p:nvPr/>
        </p:nvSpPr>
        <p:spPr>
          <a:xfrm>
            <a:off x="429768" y="1325880"/>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566928" y="1581912"/>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1</a:t>
            </a:r>
          </a:p>
        </p:txBody>
      </p:sp>
      <p:sp>
        <p:nvSpPr>
          <p:cNvPr id="12" name="TextBox 11"/>
          <p:cNvSpPr txBox="1"/>
          <p:nvPr/>
        </p:nvSpPr>
        <p:spPr>
          <a:xfrm>
            <a:off x="1115568" y="1325880"/>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3 × 45 сом</a:t>
            </a:r>
          </a:p>
        </p:txBody>
      </p:sp>
      <p:sp>
        <p:nvSpPr>
          <p:cNvPr id="13" name="TextBox 12"/>
          <p:cNvSpPr txBox="1"/>
          <p:nvPr/>
        </p:nvSpPr>
        <p:spPr>
          <a:xfrm>
            <a:off x="4334804" y="1325880"/>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135 сом</a:t>
            </a:r>
          </a:p>
        </p:txBody>
      </p:sp>
      <p:sp>
        <p:nvSpPr>
          <p:cNvPr id="14" name="Rounded Rectangle 13"/>
          <p:cNvSpPr/>
          <p:nvPr/>
        </p:nvSpPr>
        <p:spPr>
          <a:xfrm>
            <a:off x="6208776" y="1325880"/>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345936" y="1581912"/>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2</a:t>
            </a:r>
          </a:p>
        </p:txBody>
      </p:sp>
      <p:sp>
        <p:nvSpPr>
          <p:cNvPr id="16" name="TextBox 15"/>
          <p:cNvSpPr txBox="1"/>
          <p:nvPr/>
        </p:nvSpPr>
        <p:spPr>
          <a:xfrm>
            <a:off x="6894576" y="1325880"/>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1000 − 650</a:t>
            </a:r>
          </a:p>
        </p:txBody>
      </p:sp>
      <p:sp>
        <p:nvSpPr>
          <p:cNvPr id="17" name="TextBox 16"/>
          <p:cNvSpPr txBox="1"/>
          <p:nvPr/>
        </p:nvSpPr>
        <p:spPr>
          <a:xfrm>
            <a:off x="10113812" y="1325880"/>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350 сом</a:t>
            </a:r>
          </a:p>
        </p:txBody>
      </p:sp>
      <p:sp>
        <p:nvSpPr>
          <p:cNvPr id="18" name="Rounded Rectangle 17"/>
          <p:cNvSpPr/>
          <p:nvPr/>
        </p:nvSpPr>
        <p:spPr>
          <a:xfrm>
            <a:off x="429768" y="2350008"/>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66928" y="2606040"/>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3</a:t>
            </a:r>
          </a:p>
        </p:txBody>
      </p:sp>
      <p:sp>
        <p:nvSpPr>
          <p:cNvPr id="20" name="TextBox 19"/>
          <p:cNvSpPr txBox="1"/>
          <p:nvPr/>
        </p:nvSpPr>
        <p:spPr>
          <a:xfrm>
            <a:off x="1115568" y="2350008"/>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3 сом 40 тыйын + 80 тыйын</a:t>
            </a:r>
          </a:p>
        </p:txBody>
      </p:sp>
      <p:sp>
        <p:nvSpPr>
          <p:cNvPr id="21" name="TextBox 20"/>
          <p:cNvSpPr txBox="1"/>
          <p:nvPr/>
        </p:nvSpPr>
        <p:spPr>
          <a:xfrm>
            <a:off x="4334804" y="2350008"/>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4 сом 20 тыйын</a:t>
            </a:r>
          </a:p>
        </p:txBody>
      </p:sp>
      <p:sp>
        <p:nvSpPr>
          <p:cNvPr id="22" name="Rounded Rectangle 21"/>
          <p:cNvSpPr/>
          <p:nvPr/>
        </p:nvSpPr>
        <p:spPr>
          <a:xfrm>
            <a:off x="6208776" y="2350008"/>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345936" y="2606040"/>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4</a:t>
            </a:r>
          </a:p>
        </p:txBody>
      </p:sp>
      <p:sp>
        <p:nvSpPr>
          <p:cNvPr id="24" name="TextBox 23"/>
          <p:cNvSpPr txBox="1"/>
          <p:nvPr/>
        </p:nvSpPr>
        <p:spPr>
          <a:xfrm>
            <a:off x="6894576" y="2350008"/>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5 дептер 120 сом. 1 дептер канча?</a:t>
            </a:r>
          </a:p>
        </p:txBody>
      </p:sp>
      <p:sp>
        <p:nvSpPr>
          <p:cNvPr id="25" name="TextBox 24"/>
          <p:cNvSpPr txBox="1"/>
          <p:nvPr/>
        </p:nvSpPr>
        <p:spPr>
          <a:xfrm>
            <a:off x="10113812" y="2350008"/>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24 сом</a:t>
            </a:r>
          </a:p>
        </p:txBody>
      </p:sp>
      <p:sp>
        <p:nvSpPr>
          <p:cNvPr id="26" name="Rounded Rectangle 25"/>
          <p:cNvSpPr/>
          <p:nvPr/>
        </p:nvSpPr>
        <p:spPr>
          <a:xfrm>
            <a:off x="429768" y="3374136"/>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566928" y="3630168"/>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5</a:t>
            </a:r>
          </a:p>
        </p:txBody>
      </p:sp>
      <p:sp>
        <p:nvSpPr>
          <p:cNvPr id="28" name="TextBox 27"/>
          <p:cNvSpPr txBox="1"/>
          <p:nvPr/>
        </p:nvSpPr>
        <p:spPr>
          <a:xfrm>
            <a:off x="1115568" y="3374136"/>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200 сом берди, 4 × 35 сом алды. Кайтарым?</a:t>
            </a:r>
          </a:p>
        </p:txBody>
      </p:sp>
      <p:sp>
        <p:nvSpPr>
          <p:cNvPr id="29" name="TextBox 28"/>
          <p:cNvSpPr txBox="1"/>
          <p:nvPr/>
        </p:nvSpPr>
        <p:spPr>
          <a:xfrm>
            <a:off x="4334804" y="3374136"/>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60 сом</a:t>
            </a:r>
          </a:p>
        </p:txBody>
      </p:sp>
      <p:sp>
        <p:nvSpPr>
          <p:cNvPr id="30" name="Rounded Rectangle 29"/>
          <p:cNvSpPr/>
          <p:nvPr/>
        </p:nvSpPr>
        <p:spPr>
          <a:xfrm>
            <a:off x="6208776" y="3374136"/>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345936" y="3630168"/>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6</a:t>
            </a:r>
          </a:p>
        </p:txBody>
      </p:sp>
      <p:sp>
        <p:nvSpPr>
          <p:cNvPr id="32" name="TextBox 31"/>
          <p:cNvSpPr txBox="1"/>
          <p:nvPr/>
        </p:nvSpPr>
        <p:spPr>
          <a:xfrm>
            <a:off x="6894576" y="3374136"/>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Калем: 2 даана 50 сом же 5 даана 120 сом?</a:t>
            </a:r>
          </a:p>
        </p:txBody>
      </p:sp>
      <p:sp>
        <p:nvSpPr>
          <p:cNvPr id="33" name="TextBox 32"/>
          <p:cNvSpPr txBox="1"/>
          <p:nvPr/>
        </p:nvSpPr>
        <p:spPr>
          <a:xfrm>
            <a:off x="10113812" y="3374136"/>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5 даана</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Окуяга кайтабыз</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Акча: сатып алуу жана кайтарым</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22/26</a:t>
            </a:r>
          </a:p>
        </p:txBody>
      </p:sp>
      <p:sp>
        <p:nvSpPr>
          <p:cNvPr id="10" name="Rounded Rectangle 9"/>
          <p:cNvSpPr/>
          <p:nvPr/>
        </p:nvSpPr>
        <p:spPr>
          <a:xfrm>
            <a:off x="429768" y="1225296"/>
            <a:ext cx="11329416" cy="713232"/>
          </a:xfrm>
          <a:prstGeom prst="roundRect">
            <a:avLst>
              <a:gd name="adj" fmla="val 258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25296"/>
            <a:ext cx="10780776" cy="713232"/>
          </a:xfrm>
          <a:prstGeom prst="rect">
            <a:avLst/>
          </a:prstGeom>
          <a:noFill/>
        </p:spPr>
        <p:txBody>
          <a:bodyPr wrap="square" anchor="ctr" lIns="45720" rIns="45720" tIns="27432" bIns="27432">
            <a:spAutoFit/>
          </a:bodyPr>
          <a:lstStyle/>
          <a:p>
            <a:pPr algn="l">
              <a:lnSpc>
                <a:spcPct val="105000"/>
              </a:lnSpc>
            </a:pPr>
            <a:r>
              <a:rPr sz="2000" b="0" i="0">
                <a:solidFill>
                  <a:srgbClr val="1F2430"/>
                </a:solidFill>
                <a:latin typeface="PT Sans"/>
              </a:rPr>
              <a:t>500 сом бар. 10 дептер жана 3 калем керек. Дептер 25 сом же 5 дептерлүү пачка 110 сом. Калем 30 сом. Эң арзан кантип алат? Кайтарым канча?</a:t>
            </a:r>
          </a:p>
        </p:txBody>
      </p:sp>
      <p:sp>
        <p:nvSpPr>
          <p:cNvPr id="12" name="TextBox 11"/>
          <p:cNvSpPr txBox="1"/>
          <p:nvPr/>
        </p:nvSpPr>
        <p:spPr>
          <a:xfrm>
            <a:off x="914400" y="2240280"/>
            <a:ext cx="1371600" cy="548640"/>
          </a:xfrm>
          <a:prstGeom prst="rect">
            <a:avLst/>
          </a:prstGeom>
          <a:noFill/>
        </p:spPr>
        <p:txBody>
          <a:bodyPr wrap="square" anchor="ctr" lIns="45720" rIns="45720" tIns="27432" bIns="27432">
            <a:spAutoFit/>
          </a:bodyPr>
          <a:lstStyle/>
          <a:p>
            <a:pPr algn="r">
              <a:lnSpc>
                <a:spcPct val="105000"/>
              </a:lnSpc>
            </a:pPr>
            <a:r>
              <a:rPr sz="1800" b="1" i="0">
                <a:solidFill>
                  <a:srgbClr val="1F2430"/>
                </a:solidFill>
                <a:latin typeface="PT Sans"/>
              </a:rPr>
              <a:t>500 сом</a:t>
            </a:r>
          </a:p>
        </p:txBody>
      </p:sp>
      <p:sp>
        <p:nvSpPr>
          <p:cNvPr id="13" name="Rectangle 12"/>
          <p:cNvSpPr/>
          <p:nvPr/>
        </p:nvSpPr>
        <p:spPr>
          <a:xfrm>
            <a:off x="2377440" y="2240280"/>
            <a:ext cx="3339388" cy="548640"/>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F2430"/>
                </a:solidFill>
                <a:latin typeface="PT Sans"/>
              </a:rPr>
              <a:t>дептер 220</a:t>
            </a:r>
          </a:p>
        </p:txBody>
      </p:sp>
      <p:sp>
        <p:nvSpPr>
          <p:cNvPr id="14" name="Rectangle 13"/>
          <p:cNvSpPr/>
          <p:nvPr/>
        </p:nvSpPr>
        <p:spPr>
          <a:xfrm>
            <a:off x="5716828" y="2240280"/>
            <a:ext cx="1366113" cy="548640"/>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F2430"/>
                </a:solidFill>
                <a:latin typeface="PT Sans"/>
              </a:rPr>
              <a:t>калем 90</a:t>
            </a:r>
          </a:p>
        </p:txBody>
      </p:sp>
      <p:sp>
        <p:nvSpPr>
          <p:cNvPr id="15" name="Rectangle 14"/>
          <p:cNvSpPr/>
          <p:nvPr/>
        </p:nvSpPr>
        <p:spPr>
          <a:xfrm>
            <a:off x="7082942" y="2240280"/>
            <a:ext cx="2884017" cy="548640"/>
          </a:xfrm>
          <a:prstGeom prst="rect">
            <a:avLst/>
          </a:prstGeom>
          <a:solidFill>
            <a:srgbClr val="FFFFFF"/>
          </a:solidFill>
          <a:ln w="20320">
            <a:solidFill>
              <a:srgbClr val="4A5A7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6B7280"/>
                </a:solidFill>
                <a:latin typeface="PT Sans"/>
              </a:rPr>
              <a:t>кайтарым 190</a:t>
            </a:r>
          </a:p>
        </p:txBody>
      </p:sp>
      <p:cxnSp>
        <p:nvCxnSpPr>
          <p:cNvPr id="16" name="Connector 15"/>
          <p:cNvCxnSpPr/>
          <p:nvPr/>
        </p:nvCxnSpPr>
        <p:spPr>
          <a:xfrm>
            <a:off x="10058399" y="2240280"/>
            <a:ext cx="13716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0195559" y="2240280"/>
            <a:ext cx="0" cy="54864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0058399" y="2788920"/>
            <a:ext cx="13716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10241279" y="2240280"/>
            <a:ext cx="1005840" cy="548640"/>
          </a:xfrm>
          <a:prstGeom prst="rect">
            <a:avLst/>
          </a:prstGeom>
          <a:noFill/>
        </p:spPr>
        <p:txBody>
          <a:bodyPr wrap="square" anchor="ctr" lIns="45720" rIns="45720" tIns="27432" bIns="27432">
            <a:spAutoFit/>
          </a:bodyPr>
          <a:lstStyle/>
          <a:p>
            <a:pPr algn="l">
              <a:lnSpc>
                <a:spcPct val="105000"/>
              </a:lnSpc>
            </a:pPr>
            <a:r>
              <a:rPr sz="2200" b="1" i="0">
                <a:solidFill>
                  <a:srgbClr val="A84400"/>
                </a:solidFill>
                <a:latin typeface="PT Sans"/>
              </a:rPr>
              <a:t>500</a:t>
            </a:r>
          </a:p>
        </p:txBody>
      </p:sp>
      <p:sp>
        <p:nvSpPr>
          <p:cNvPr id="20" name="TextBox 19"/>
          <p:cNvSpPr txBox="1"/>
          <p:nvPr/>
        </p:nvSpPr>
        <p:spPr>
          <a:xfrm>
            <a:off x="731520" y="3127248"/>
            <a:ext cx="7498079" cy="566928"/>
          </a:xfrm>
          <a:prstGeom prst="rect">
            <a:avLst/>
          </a:prstGeom>
          <a:noFill/>
        </p:spPr>
        <p:txBody>
          <a:bodyPr wrap="square" anchor="ctr" lIns="45720" rIns="45720" tIns="27432" bIns="27432">
            <a:spAutoFit/>
          </a:bodyPr>
          <a:lstStyle/>
          <a:p>
            <a:pPr algn="r">
              <a:lnSpc>
                <a:spcPct val="105000"/>
              </a:lnSpc>
            </a:pPr>
            <a:r>
              <a:rPr sz="2600" b="1" i="0">
                <a:solidFill>
                  <a:srgbClr val="1F2430"/>
                </a:solidFill>
                <a:latin typeface="PT Sans"/>
              </a:rPr>
              <a:t>110 ÷ 5 = 22 &lt; 25</a:t>
            </a:r>
          </a:p>
        </p:txBody>
      </p:sp>
      <p:sp>
        <p:nvSpPr>
          <p:cNvPr id="21" name="TextBox 20"/>
          <p:cNvSpPr txBox="1"/>
          <p:nvPr/>
        </p:nvSpPr>
        <p:spPr>
          <a:xfrm>
            <a:off x="8366760" y="3127248"/>
            <a:ext cx="3108960" cy="566928"/>
          </a:xfrm>
          <a:prstGeom prst="rect">
            <a:avLst/>
          </a:prstGeom>
          <a:noFill/>
        </p:spPr>
        <p:txBody>
          <a:bodyPr wrap="square" anchor="ctr" lIns="45720" rIns="45720" tIns="27432" bIns="27432">
            <a:spAutoFit/>
          </a:bodyPr>
          <a:lstStyle/>
          <a:p>
            <a:pPr algn="l">
              <a:lnSpc>
                <a:spcPct val="105000"/>
              </a:lnSpc>
            </a:pPr>
            <a:r>
              <a:rPr sz="1800" b="1" i="0">
                <a:solidFill>
                  <a:srgbClr val="A84400"/>
                </a:solidFill>
                <a:latin typeface="PT Sans"/>
              </a:rPr>
              <a:t>пачка пайдалуу</a:t>
            </a:r>
          </a:p>
        </p:txBody>
      </p:sp>
      <p:sp>
        <p:nvSpPr>
          <p:cNvPr id="22" name="TextBox 21"/>
          <p:cNvSpPr txBox="1"/>
          <p:nvPr/>
        </p:nvSpPr>
        <p:spPr>
          <a:xfrm>
            <a:off x="731520" y="3694176"/>
            <a:ext cx="7498079" cy="566928"/>
          </a:xfrm>
          <a:prstGeom prst="rect">
            <a:avLst/>
          </a:prstGeom>
          <a:noFill/>
        </p:spPr>
        <p:txBody>
          <a:bodyPr wrap="square" anchor="ctr" lIns="45720" rIns="45720" tIns="27432" bIns="27432">
            <a:spAutoFit/>
          </a:bodyPr>
          <a:lstStyle/>
          <a:p>
            <a:pPr algn="r">
              <a:lnSpc>
                <a:spcPct val="105000"/>
              </a:lnSpc>
            </a:pPr>
            <a:r>
              <a:rPr sz="2600" b="1" i="0">
                <a:solidFill>
                  <a:srgbClr val="1F2430"/>
                </a:solidFill>
                <a:latin typeface="PT Sans"/>
              </a:rPr>
              <a:t>2 × 110 + 3 × 30 = 310</a:t>
            </a:r>
          </a:p>
        </p:txBody>
      </p:sp>
      <p:sp>
        <p:nvSpPr>
          <p:cNvPr id="23" name="TextBox 22"/>
          <p:cNvSpPr txBox="1"/>
          <p:nvPr/>
        </p:nvSpPr>
        <p:spPr>
          <a:xfrm>
            <a:off x="8366760" y="3694176"/>
            <a:ext cx="3108960" cy="566928"/>
          </a:xfrm>
          <a:prstGeom prst="rect">
            <a:avLst/>
          </a:prstGeom>
          <a:noFill/>
        </p:spPr>
        <p:txBody>
          <a:bodyPr wrap="square" anchor="ctr" lIns="45720" rIns="45720" tIns="27432" bIns="27432">
            <a:spAutoFit/>
          </a:bodyPr>
          <a:lstStyle/>
          <a:p>
            <a:pPr algn="l">
              <a:lnSpc>
                <a:spcPct val="105000"/>
              </a:lnSpc>
            </a:pPr>
            <a:r>
              <a:rPr sz="1800" b="1" i="0">
                <a:solidFill>
                  <a:srgbClr val="A84400"/>
                </a:solidFill>
                <a:latin typeface="PT Sans"/>
              </a:rPr>
              <a:t>жалпы баа</a:t>
            </a:r>
          </a:p>
        </p:txBody>
      </p:sp>
      <p:sp>
        <p:nvSpPr>
          <p:cNvPr id="24" name="TextBox 23"/>
          <p:cNvSpPr txBox="1"/>
          <p:nvPr/>
        </p:nvSpPr>
        <p:spPr>
          <a:xfrm>
            <a:off x="731520" y="4261104"/>
            <a:ext cx="7498079" cy="566928"/>
          </a:xfrm>
          <a:prstGeom prst="rect">
            <a:avLst/>
          </a:prstGeom>
          <a:noFill/>
        </p:spPr>
        <p:txBody>
          <a:bodyPr wrap="square" anchor="ctr" lIns="45720" rIns="45720" tIns="27432" bIns="27432">
            <a:spAutoFit/>
          </a:bodyPr>
          <a:lstStyle/>
          <a:p>
            <a:pPr algn="r">
              <a:lnSpc>
                <a:spcPct val="105000"/>
              </a:lnSpc>
            </a:pPr>
            <a:r>
              <a:rPr sz="2600" b="1" i="0">
                <a:solidFill>
                  <a:srgbClr val="24418C"/>
                </a:solidFill>
                <a:latin typeface="PT Sans"/>
              </a:rPr>
              <a:t>500 − 310 = 190</a:t>
            </a:r>
          </a:p>
        </p:txBody>
      </p:sp>
      <p:sp>
        <p:nvSpPr>
          <p:cNvPr id="25" name="TextBox 24"/>
          <p:cNvSpPr txBox="1"/>
          <p:nvPr/>
        </p:nvSpPr>
        <p:spPr>
          <a:xfrm>
            <a:off x="8366760" y="4261104"/>
            <a:ext cx="3108960" cy="566928"/>
          </a:xfrm>
          <a:prstGeom prst="rect">
            <a:avLst/>
          </a:prstGeom>
          <a:noFill/>
        </p:spPr>
        <p:txBody>
          <a:bodyPr wrap="square" anchor="ctr" lIns="45720" rIns="45720" tIns="27432" bIns="27432">
            <a:spAutoFit/>
          </a:bodyPr>
          <a:lstStyle/>
          <a:p>
            <a:pPr algn="l">
              <a:lnSpc>
                <a:spcPct val="105000"/>
              </a:lnSpc>
            </a:pPr>
            <a:r>
              <a:rPr sz="1800" b="1" i="0">
                <a:solidFill>
                  <a:srgbClr val="A84400"/>
                </a:solidFill>
                <a:latin typeface="PT Sans"/>
              </a:rPr>
              <a:t>кайтарым</a:t>
            </a:r>
          </a:p>
        </p:txBody>
      </p:sp>
      <p:sp>
        <p:nvSpPr>
          <p:cNvPr id="26" name="Rounded Rectangle 25"/>
          <p:cNvSpPr/>
          <p:nvPr/>
        </p:nvSpPr>
        <p:spPr>
          <a:xfrm>
            <a:off x="1874519" y="5486400"/>
            <a:ext cx="8449056" cy="640080"/>
          </a:xfrm>
          <a:prstGeom prst="roundRect">
            <a:avLst>
              <a:gd name="adj" fmla="val 24400"/>
            </a:avLst>
          </a:prstGeom>
          <a:solidFill>
            <a:srgbClr val="FFFFFF"/>
          </a:solidFill>
          <a:ln w="285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A84400"/>
                </a:solidFill>
                <a:latin typeface="PT Sans"/>
              </a:rPr>
              <a:t>Баары 310 сом. Кайтарым 190 сом: 100 + 50 + 20 + 20.</a:t>
            </a:r>
          </a:p>
        </p:txBody>
      </p:sp>
      <p:sp>
        <p:nvSpPr>
          <p:cNvPr id="27" name="Rounded Rectangle 26"/>
          <p:cNvSpPr/>
          <p:nvPr/>
        </p:nvSpPr>
        <p:spPr>
          <a:xfrm>
            <a:off x="4449927" y="6327648"/>
            <a:ext cx="3291840" cy="411480"/>
          </a:xfrm>
          <a:prstGeom prst="roundRect">
            <a:avLst>
              <a:gd name="adj" fmla="val 50000"/>
            </a:avLst>
          </a:prstGeom>
          <a:noFill/>
          <a:ln w="15875">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24418C"/>
                </a:solidFill>
                <a:latin typeface="PT Sans"/>
              </a:rPr>
              <a:t>3C · Байланыштыруу</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Түз: өзүң маселе түз</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Акча: сатып алуу жана кайтарым</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23/26</a:t>
            </a:r>
          </a:p>
        </p:txBody>
      </p:sp>
      <p:sp>
        <p:nvSpPr>
          <p:cNvPr id="10" name="Rounded Rectangle 9"/>
          <p:cNvSpPr/>
          <p:nvPr/>
        </p:nvSpPr>
        <p:spPr>
          <a:xfrm>
            <a:off x="429768" y="1225296"/>
            <a:ext cx="11329416" cy="489204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371600"/>
            <a:ext cx="10780776" cy="914400"/>
          </a:xfrm>
          <a:prstGeom prst="rect">
            <a:avLst/>
          </a:prstGeom>
          <a:noFill/>
        </p:spPr>
        <p:txBody>
          <a:bodyPr wrap="square" anchor="t" lIns="45720" rIns="45720" tIns="27432" bIns="27432">
            <a:spAutoFit/>
          </a:bodyPr>
          <a:lstStyle/>
          <a:p>
            <a:pPr algn="l">
              <a:lnSpc>
                <a:spcPct val="105000"/>
              </a:lnSpc>
            </a:pPr>
            <a:r>
              <a:rPr sz="2400" b="1" i="0">
                <a:solidFill>
                  <a:srgbClr val="1F2430"/>
                </a:solidFill>
                <a:latin typeface="PT Sans"/>
              </a:rPr>
              <a:t>Жалал-Абаддагы дүкөн жөнүндө маселе түз: эки пачканы салыштыр, анан кайтарымды тап.</a:t>
            </a:r>
          </a:p>
        </p:txBody>
      </p:sp>
      <p:sp>
        <p:nvSpPr>
          <p:cNvPr id="12" name="Oval 11"/>
          <p:cNvSpPr/>
          <p:nvPr/>
        </p:nvSpPr>
        <p:spPr>
          <a:xfrm>
            <a:off x="704088" y="2560320"/>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1</a:t>
            </a:r>
          </a:p>
        </p:txBody>
      </p:sp>
      <p:sp>
        <p:nvSpPr>
          <p:cNvPr id="13" name="TextBox 12"/>
          <p:cNvSpPr txBox="1"/>
          <p:nvPr/>
        </p:nvSpPr>
        <p:spPr>
          <a:xfrm>
            <a:off x="1234440" y="2542032"/>
            <a:ext cx="10049256" cy="822960"/>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Окуядагы каармандарды колдон: Айдай, Бекзат, апасы, дүкөнчү Нурлан байке.</a:t>
            </a:r>
          </a:p>
        </p:txBody>
      </p:sp>
      <p:sp>
        <p:nvSpPr>
          <p:cNvPr id="14" name="Oval 13"/>
          <p:cNvSpPr/>
          <p:nvPr/>
        </p:nvSpPr>
        <p:spPr>
          <a:xfrm>
            <a:off x="704088" y="3383279"/>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2</a:t>
            </a:r>
          </a:p>
        </p:txBody>
      </p:sp>
      <p:sp>
        <p:nvSpPr>
          <p:cNvPr id="15" name="TextBox 14"/>
          <p:cNvSpPr txBox="1"/>
          <p:nvPr/>
        </p:nvSpPr>
        <p:spPr>
          <a:xfrm>
            <a:off x="1234440" y="3364991"/>
            <a:ext cx="10049256" cy="822960"/>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Тилкесин чий жана туюнтмасын жаз.</a:t>
            </a:r>
          </a:p>
        </p:txBody>
      </p:sp>
      <p:sp>
        <p:nvSpPr>
          <p:cNvPr id="16" name="Oval 15"/>
          <p:cNvSpPr/>
          <p:nvPr/>
        </p:nvSpPr>
        <p:spPr>
          <a:xfrm>
            <a:off x="704088" y="4206240"/>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3</a:t>
            </a:r>
          </a:p>
        </p:txBody>
      </p:sp>
      <p:sp>
        <p:nvSpPr>
          <p:cNvPr id="17" name="TextBox 16"/>
          <p:cNvSpPr txBox="1"/>
          <p:nvPr/>
        </p:nvSpPr>
        <p:spPr>
          <a:xfrm>
            <a:off x="1234440" y="4187952"/>
            <a:ext cx="10049256" cy="822960"/>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Жупуңа бер: ал чыгарсын, сен текшер.</a:t>
            </a:r>
          </a:p>
        </p:txBody>
      </p:sp>
      <p:sp>
        <p:nvSpPr>
          <p:cNvPr id="18" name="Rounded Rectangle 17"/>
          <p:cNvSpPr/>
          <p:nvPr/>
        </p:nvSpPr>
        <p:spPr>
          <a:xfrm>
            <a:off x="4449927" y="6327648"/>
            <a:ext cx="3291840" cy="411480"/>
          </a:xfrm>
          <a:prstGeom prst="roundRect">
            <a:avLst>
              <a:gd name="adj" fmla="val 50000"/>
            </a:avLst>
          </a:prstGeom>
          <a:noFill/>
          <a:ln w="158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A84400"/>
                </a:solidFill>
                <a:latin typeface="PT Sans"/>
              </a:rPr>
              <a:t>3C · Кызматташуу</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Чыгуу билети</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Акча: сатып алуу жана кайтарым</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24/26</a:t>
            </a:r>
          </a:p>
        </p:txBody>
      </p:sp>
      <p:sp>
        <p:nvSpPr>
          <p:cNvPr id="10" name="TextBox 9"/>
          <p:cNvSpPr txBox="1"/>
          <p:nvPr/>
        </p:nvSpPr>
        <p:spPr>
          <a:xfrm>
            <a:off x="429768" y="1143000"/>
            <a:ext cx="11329416" cy="457200"/>
          </a:xfrm>
          <a:prstGeom prst="rect">
            <a:avLst/>
          </a:prstGeom>
          <a:noFill/>
        </p:spPr>
        <p:txBody>
          <a:bodyPr wrap="square" anchor="t" lIns="45720" rIns="45720" tIns="27432" bIns="27432">
            <a:spAutoFit/>
          </a:bodyPr>
          <a:lstStyle/>
          <a:p>
            <a:pPr algn="l">
              <a:lnSpc>
                <a:spcPct val="105000"/>
              </a:lnSpc>
            </a:pPr>
            <a:r>
              <a:rPr sz="2200" b="0" i="1">
                <a:solidFill>
                  <a:srgbClr val="6B7280"/>
                </a:solidFill>
                <a:latin typeface="PT Sans"/>
              </a:rPr>
              <a:t>Өз алдынча, 3 мүнөт. Кагазыңа жазып бер.</a:t>
            </a:r>
          </a:p>
        </p:txBody>
      </p:sp>
      <p:sp>
        <p:nvSpPr>
          <p:cNvPr id="11" name="Rounded Rectangle 10"/>
          <p:cNvSpPr/>
          <p:nvPr/>
        </p:nvSpPr>
        <p:spPr>
          <a:xfrm>
            <a:off x="429768" y="1691640"/>
            <a:ext cx="11329416"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12647" y="215036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1</a:t>
            </a:r>
          </a:p>
        </p:txBody>
      </p:sp>
      <p:sp>
        <p:nvSpPr>
          <p:cNvPr id="13" name="TextBox 12"/>
          <p:cNvSpPr txBox="1"/>
          <p:nvPr/>
        </p:nvSpPr>
        <p:spPr>
          <a:xfrm>
            <a:off x="1207007" y="1691640"/>
            <a:ext cx="10415016" cy="1356359"/>
          </a:xfrm>
          <a:prstGeom prst="rect">
            <a:avLst/>
          </a:prstGeom>
          <a:noFill/>
        </p:spPr>
        <p:txBody>
          <a:bodyPr wrap="square" anchor="ctr" lIns="45720" rIns="45720" tIns="27432" bIns="27432">
            <a:spAutoFit/>
          </a:bodyPr>
          <a:lstStyle/>
          <a:p>
            <a:pPr algn="l">
              <a:lnSpc>
                <a:spcPct val="105000"/>
              </a:lnSpc>
            </a:pPr>
            <a:r>
              <a:rPr sz="2400" b="1" i="0">
                <a:solidFill>
                  <a:srgbClr val="1F2430"/>
                </a:solidFill>
                <a:latin typeface="PT Sans"/>
              </a:rPr>
              <a:t>Айран: 2 литри 110 сом же 3 литри 159 сом. 1 литри кайсынысында арзан?</a:t>
            </a:r>
          </a:p>
        </p:txBody>
      </p:sp>
      <p:sp>
        <p:nvSpPr>
          <p:cNvPr id="14" name="Rounded Rectangle 13"/>
          <p:cNvSpPr/>
          <p:nvPr/>
        </p:nvSpPr>
        <p:spPr>
          <a:xfrm>
            <a:off x="429768" y="3230880"/>
            <a:ext cx="11329416"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12647" y="3689603"/>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2</a:t>
            </a:r>
          </a:p>
        </p:txBody>
      </p:sp>
      <p:sp>
        <p:nvSpPr>
          <p:cNvPr id="16" name="TextBox 15"/>
          <p:cNvSpPr txBox="1"/>
          <p:nvPr/>
        </p:nvSpPr>
        <p:spPr>
          <a:xfrm>
            <a:off x="1207007" y="3230880"/>
            <a:ext cx="10415016" cy="1356359"/>
          </a:xfrm>
          <a:prstGeom prst="rect">
            <a:avLst/>
          </a:prstGeom>
          <a:noFill/>
        </p:spPr>
        <p:txBody>
          <a:bodyPr wrap="square" anchor="ctr" lIns="45720" rIns="45720" tIns="27432" bIns="27432">
            <a:spAutoFit/>
          </a:bodyPr>
          <a:lstStyle/>
          <a:p>
            <a:pPr algn="l">
              <a:lnSpc>
                <a:spcPct val="105000"/>
              </a:lnSpc>
            </a:pPr>
            <a:r>
              <a:rPr sz="2400" b="1" i="0">
                <a:solidFill>
                  <a:srgbClr val="1F2430"/>
                </a:solidFill>
                <a:latin typeface="PT Sans"/>
              </a:rPr>
              <a:t>500 сом берип, 3 китеп алды (ар бири 120 сом). Кайтарым канча?</a:t>
            </a:r>
          </a:p>
        </p:txBody>
      </p:sp>
      <p:sp>
        <p:nvSpPr>
          <p:cNvPr id="17" name="Rounded Rectangle 16"/>
          <p:cNvSpPr/>
          <p:nvPr/>
        </p:nvSpPr>
        <p:spPr>
          <a:xfrm>
            <a:off x="429768" y="4770120"/>
            <a:ext cx="11329416"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12647" y="522884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3</a:t>
            </a:r>
          </a:p>
        </p:txBody>
      </p:sp>
      <p:sp>
        <p:nvSpPr>
          <p:cNvPr id="19" name="TextBox 18"/>
          <p:cNvSpPr txBox="1"/>
          <p:nvPr/>
        </p:nvSpPr>
        <p:spPr>
          <a:xfrm>
            <a:off x="1207007" y="4770120"/>
            <a:ext cx="10415016" cy="1356359"/>
          </a:xfrm>
          <a:prstGeom prst="rect">
            <a:avLst/>
          </a:prstGeom>
          <a:noFill/>
        </p:spPr>
        <p:txBody>
          <a:bodyPr wrap="square" anchor="ctr" lIns="45720" rIns="45720" tIns="27432" bIns="27432">
            <a:spAutoFit/>
          </a:bodyPr>
          <a:lstStyle/>
          <a:p>
            <a:pPr algn="l">
              <a:lnSpc>
                <a:spcPct val="105000"/>
              </a:lnSpc>
            </a:pPr>
            <a:r>
              <a:rPr sz="2400" b="1" i="0">
                <a:solidFill>
                  <a:srgbClr val="1F2430"/>
                </a:solidFill>
                <a:latin typeface="PT Sans"/>
              </a:rPr>
              <a:t>1 сом 60 тыйын + 70 тыйын =</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Оозеки талкуу</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Акча: сатып алуу жана кайтарым</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25/26</a:t>
            </a:r>
          </a:p>
        </p:txBody>
      </p:sp>
      <p:sp>
        <p:nvSpPr>
          <p:cNvPr id="10" name="Rounded Rectangle 9"/>
          <p:cNvSpPr/>
          <p:nvPr/>
        </p:nvSpPr>
        <p:spPr>
          <a:xfrm>
            <a:off x="429768" y="1225296"/>
            <a:ext cx="11329416" cy="32461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80160"/>
            <a:ext cx="10780776" cy="548640"/>
          </a:xfrm>
          <a:prstGeom prst="rect">
            <a:avLst/>
          </a:prstGeom>
          <a:noFill/>
        </p:spPr>
        <p:txBody>
          <a:bodyPr wrap="square" anchor="t" lIns="45720" rIns="45720" tIns="27432" bIns="27432">
            <a:spAutoFit/>
          </a:bodyPr>
          <a:lstStyle/>
          <a:p>
            <a:pPr algn="l">
              <a:lnSpc>
                <a:spcPct val="105000"/>
              </a:lnSpc>
            </a:pPr>
            <a:r>
              <a:rPr sz="2400" b="1" i="0">
                <a:solidFill>
                  <a:srgbClr val="1D3557"/>
                </a:solidFill>
                <a:latin typeface="PT Sans"/>
              </a:rPr>
              <a:t>Оозеки талкуу</a:t>
            </a:r>
          </a:p>
        </p:txBody>
      </p:sp>
      <p:sp>
        <p:nvSpPr>
          <p:cNvPr id="12" name="Oval 11"/>
          <p:cNvSpPr/>
          <p:nvPr/>
        </p:nvSpPr>
        <p:spPr>
          <a:xfrm>
            <a:off x="704088" y="1920240"/>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1</a:t>
            </a:r>
          </a:p>
        </p:txBody>
      </p:sp>
      <p:sp>
        <p:nvSpPr>
          <p:cNvPr id="13" name="TextBox 12"/>
          <p:cNvSpPr txBox="1"/>
          <p:nvPr/>
        </p:nvSpPr>
        <p:spPr>
          <a:xfrm>
            <a:off x="1234440" y="1901952"/>
            <a:ext cx="10049256" cy="621792"/>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Кайтарымды кантип текшересиң?</a:t>
            </a:r>
          </a:p>
        </p:txBody>
      </p:sp>
      <p:sp>
        <p:nvSpPr>
          <p:cNvPr id="14" name="Oval 13"/>
          <p:cNvSpPr/>
          <p:nvPr/>
        </p:nvSpPr>
        <p:spPr>
          <a:xfrm>
            <a:off x="704088" y="2542032"/>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2</a:t>
            </a:r>
          </a:p>
        </p:txBody>
      </p:sp>
      <p:sp>
        <p:nvSpPr>
          <p:cNvPr id="15" name="TextBox 14"/>
          <p:cNvSpPr txBox="1"/>
          <p:nvPr/>
        </p:nvSpPr>
        <p:spPr>
          <a:xfrm>
            <a:off x="1234440" y="2523744"/>
            <a:ext cx="10049256" cy="621792"/>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Эмне үчүн чоң пачка дайыма эле пайдалуу эмес?</a:t>
            </a:r>
          </a:p>
        </p:txBody>
      </p:sp>
      <p:sp>
        <p:nvSpPr>
          <p:cNvPr id="16" name="Oval 15"/>
          <p:cNvSpPr/>
          <p:nvPr/>
        </p:nvSpPr>
        <p:spPr>
          <a:xfrm>
            <a:off x="704088" y="3163824"/>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3</a:t>
            </a:r>
          </a:p>
        </p:txBody>
      </p:sp>
      <p:sp>
        <p:nvSpPr>
          <p:cNvPr id="17" name="TextBox 16"/>
          <p:cNvSpPr txBox="1"/>
          <p:nvPr/>
        </p:nvSpPr>
        <p:spPr>
          <a:xfrm>
            <a:off x="1234440" y="3145536"/>
            <a:ext cx="10049256" cy="621792"/>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Эмне үчүн 120 тыйын 12 сом эмес?</a:t>
            </a:r>
          </a:p>
        </p:txBody>
      </p:sp>
      <p:sp>
        <p:nvSpPr>
          <p:cNvPr id="18" name="TextBox 17"/>
          <p:cNvSpPr txBox="1"/>
          <p:nvPr/>
        </p:nvSpPr>
        <p:spPr>
          <a:xfrm>
            <a:off x="429768" y="4617720"/>
            <a:ext cx="11329416" cy="457200"/>
          </a:xfrm>
          <a:prstGeom prst="rect">
            <a:avLst/>
          </a:prstGeom>
          <a:noFill/>
        </p:spPr>
        <p:txBody>
          <a:bodyPr wrap="square" anchor="t" lIns="45720" rIns="45720" tIns="27432" bIns="27432">
            <a:spAutoFit/>
          </a:bodyPr>
          <a:lstStyle/>
          <a:p>
            <a:pPr algn="ctr">
              <a:lnSpc>
                <a:spcPct val="105000"/>
              </a:lnSpc>
            </a:pPr>
            <a:r>
              <a:rPr sz="2000" b="0" i="1">
                <a:solidFill>
                  <a:srgbClr val="6B7280"/>
                </a:solidFill>
                <a:latin typeface="PT Sans"/>
              </a:rPr>
              <a:t>Өзүңдү баала: колуңду көтөр.</a:t>
            </a:r>
          </a:p>
        </p:txBody>
      </p:sp>
      <p:sp>
        <p:nvSpPr>
          <p:cNvPr id="19" name="Rounded Rectangle 18"/>
          <p:cNvSpPr/>
          <p:nvPr/>
        </p:nvSpPr>
        <p:spPr>
          <a:xfrm>
            <a:off x="978407" y="5120640"/>
            <a:ext cx="3291840" cy="731520"/>
          </a:xfrm>
          <a:prstGeom prst="roundRect">
            <a:avLst>
              <a:gd name="adj" fmla="val 50000"/>
            </a:avLst>
          </a:prstGeom>
          <a:noFill/>
          <a:ln w="254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007A5A"/>
                </a:solidFill>
                <a:latin typeface="PT Sans"/>
              </a:rPr>
              <a:t>Түшүндүм</a:t>
            </a:r>
          </a:p>
        </p:txBody>
      </p:sp>
      <p:sp>
        <p:nvSpPr>
          <p:cNvPr id="20" name="Rounded Rectangle 19"/>
          <p:cNvSpPr/>
          <p:nvPr/>
        </p:nvSpPr>
        <p:spPr>
          <a:xfrm>
            <a:off x="4636008" y="5120640"/>
            <a:ext cx="3291840" cy="731520"/>
          </a:xfrm>
          <a:prstGeom prst="roundRect">
            <a:avLst>
              <a:gd name="adj" fmla="val 50000"/>
            </a:avLst>
          </a:prstGeom>
          <a:noFill/>
          <a:ln w="2540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A84400"/>
                </a:solidFill>
                <a:latin typeface="PT Sans"/>
              </a:rPr>
              <a:t>Дагы машыгам</a:t>
            </a:r>
          </a:p>
        </p:txBody>
      </p:sp>
      <p:sp>
        <p:nvSpPr>
          <p:cNvPr id="21" name="Rounded Rectangle 20"/>
          <p:cNvSpPr/>
          <p:nvPr/>
        </p:nvSpPr>
        <p:spPr>
          <a:xfrm>
            <a:off x="8293608" y="5120640"/>
            <a:ext cx="3291840" cy="731520"/>
          </a:xfrm>
          <a:prstGeom prst="roundRect">
            <a:avLst>
              <a:gd name="adj" fmla="val 50000"/>
            </a:avLst>
          </a:prstGeom>
          <a:noFill/>
          <a:ln w="25400">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24418C"/>
                </a:solidFill>
                <a:latin typeface="PT Sans"/>
              </a:rPr>
              <a:t>Жардам керек</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Мугалим үчүн</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Акча: сатып алуу жана кайтарым</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26/26</a:t>
            </a:r>
          </a:p>
        </p:txBody>
      </p:sp>
      <p:sp>
        <p:nvSpPr>
          <p:cNvPr id="10" name="Rounded Rectangle 9"/>
          <p:cNvSpPr/>
          <p:nvPr/>
        </p:nvSpPr>
        <p:spPr>
          <a:xfrm>
            <a:off x="429768" y="1225296"/>
            <a:ext cx="5120640" cy="4928616"/>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1280160"/>
            <a:ext cx="4663440" cy="502920"/>
          </a:xfrm>
          <a:prstGeom prst="rect">
            <a:avLst/>
          </a:prstGeom>
          <a:noFill/>
        </p:spPr>
        <p:txBody>
          <a:bodyPr wrap="square" anchor="t" lIns="45720" rIns="45720" tIns="27432" bIns="27432">
            <a:spAutoFit/>
          </a:bodyPr>
          <a:lstStyle/>
          <a:p>
            <a:pPr algn="l">
              <a:lnSpc>
                <a:spcPct val="105000"/>
              </a:lnSpc>
            </a:pPr>
            <a:r>
              <a:rPr sz="2000" b="1" i="0">
                <a:solidFill>
                  <a:srgbClr val="1D3557"/>
                </a:solidFill>
                <a:latin typeface="PT Sans"/>
              </a:rPr>
              <a:t>Тилке моделин кантип үйрөтөбүз</a:t>
            </a:r>
          </a:p>
        </p:txBody>
      </p:sp>
      <p:sp>
        <p:nvSpPr>
          <p:cNvPr id="12" name="Oval 11"/>
          <p:cNvSpPr/>
          <p:nvPr/>
        </p:nvSpPr>
        <p:spPr>
          <a:xfrm>
            <a:off x="658368" y="1874519"/>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1</a:t>
            </a:r>
          </a:p>
        </p:txBody>
      </p:sp>
      <p:sp>
        <p:nvSpPr>
          <p:cNvPr id="13" name="TextBox 12"/>
          <p:cNvSpPr txBox="1"/>
          <p:nvPr/>
        </p:nvSpPr>
        <p:spPr>
          <a:xfrm>
            <a:off x="1188719" y="1856231"/>
            <a:ext cx="4114800" cy="1024128"/>
          </a:xfrm>
          <a:prstGeom prst="rect">
            <a:avLst/>
          </a:prstGeom>
          <a:noFill/>
        </p:spPr>
        <p:txBody>
          <a:bodyPr wrap="square" anchor="t" lIns="45720" rIns="45720" tIns="27432" bIns="27432">
            <a:spAutoFit/>
          </a:bodyPr>
          <a:lstStyle/>
          <a:p>
            <a:pPr algn="l">
              <a:lnSpc>
                <a:spcPct val="105000"/>
              </a:lnSpc>
            </a:pPr>
            <a:r>
              <a:rPr sz="1500" b="0" i="0">
                <a:solidFill>
                  <a:srgbClr val="1F2430"/>
                </a:solidFill>
                <a:latin typeface="PT Sans"/>
              </a:rPr>
              <a:t>Ар бир маселеде кайтарымды текшертем: баа + кайтарым = берилген акча (М2, М5).</a:t>
            </a:r>
          </a:p>
        </p:txBody>
      </p:sp>
      <p:sp>
        <p:nvSpPr>
          <p:cNvPr id="14" name="Oval 13"/>
          <p:cNvSpPr/>
          <p:nvPr/>
        </p:nvSpPr>
        <p:spPr>
          <a:xfrm>
            <a:off x="658368" y="2898648"/>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2</a:t>
            </a:r>
          </a:p>
        </p:txBody>
      </p:sp>
      <p:sp>
        <p:nvSpPr>
          <p:cNvPr id="15" name="TextBox 14"/>
          <p:cNvSpPr txBox="1"/>
          <p:nvPr/>
        </p:nvSpPr>
        <p:spPr>
          <a:xfrm>
            <a:off x="1188719" y="2880360"/>
            <a:ext cx="4114800" cy="1024128"/>
          </a:xfrm>
          <a:prstGeom prst="rect">
            <a:avLst/>
          </a:prstGeom>
          <a:noFill/>
        </p:spPr>
        <p:txBody>
          <a:bodyPr wrap="square" anchor="t" lIns="45720" rIns="45720" tIns="27432" bIns="27432">
            <a:spAutoFit/>
          </a:bodyPr>
          <a:lstStyle/>
          <a:p>
            <a:pPr algn="l">
              <a:lnSpc>
                <a:spcPct val="105000"/>
              </a:lnSpc>
            </a:pPr>
            <a:r>
              <a:rPr sz="1500" b="0" i="0">
                <a:solidFill>
                  <a:srgbClr val="1F2430"/>
                </a:solidFill>
                <a:latin typeface="PT Sans"/>
              </a:rPr>
              <a:t>Эң пайдалуу бааны тандоодо «1 даанасы канча?» деп сурайм (М4).</a:t>
            </a:r>
          </a:p>
        </p:txBody>
      </p:sp>
      <p:sp>
        <p:nvSpPr>
          <p:cNvPr id="16" name="Oval 15"/>
          <p:cNvSpPr/>
          <p:nvPr/>
        </p:nvSpPr>
        <p:spPr>
          <a:xfrm>
            <a:off x="658368" y="3922776"/>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3</a:t>
            </a:r>
          </a:p>
        </p:txBody>
      </p:sp>
      <p:sp>
        <p:nvSpPr>
          <p:cNvPr id="17" name="TextBox 16"/>
          <p:cNvSpPr txBox="1"/>
          <p:nvPr/>
        </p:nvSpPr>
        <p:spPr>
          <a:xfrm>
            <a:off x="1188719" y="3904488"/>
            <a:ext cx="4114800" cy="1024128"/>
          </a:xfrm>
          <a:prstGeom prst="rect">
            <a:avLst/>
          </a:prstGeom>
          <a:noFill/>
        </p:spPr>
        <p:txBody>
          <a:bodyPr wrap="square" anchor="t" lIns="45720" rIns="45720" tIns="27432" bIns="27432">
            <a:spAutoFit/>
          </a:bodyPr>
          <a:lstStyle/>
          <a:p>
            <a:pPr algn="l">
              <a:lnSpc>
                <a:spcPct val="105000"/>
              </a:lnSpc>
            </a:pPr>
            <a:r>
              <a:rPr sz="1500" b="0" i="0">
                <a:solidFill>
                  <a:srgbClr val="1F2430"/>
                </a:solidFill>
                <a:latin typeface="PT Sans"/>
              </a:rPr>
              <a:t>Капкак тыйындар менен 10 × 10 тыйын = 1 сом алмаштырып көрсөтөм (М1).</a:t>
            </a:r>
          </a:p>
        </p:txBody>
      </p:sp>
      <p:sp>
        <p:nvSpPr>
          <p:cNvPr id="18" name="Oval 17"/>
          <p:cNvSpPr/>
          <p:nvPr/>
        </p:nvSpPr>
        <p:spPr>
          <a:xfrm>
            <a:off x="658368" y="4946904"/>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4</a:t>
            </a:r>
          </a:p>
        </p:txBody>
      </p:sp>
      <p:sp>
        <p:nvSpPr>
          <p:cNvPr id="19" name="TextBox 18"/>
          <p:cNvSpPr txBox="1"/>
          <p:nvPr/>
        </p:nvSpPr>
        <p:spPr>
          <a:xfrm>
            <a:off x="1188719" y="4928616"/>
            <a:ext cx="4114800" cy="1024128"/>
          </a:xfrm>
          <a:prstGeom prst="rect">
            <a:avLst/>
          </a:prstGeom>
          <a:noFill/>
        </p:spPr>
        <p:txBody>
          <a:bodyPr wrap="square" anchor="t" lIns="45720" rIns="45720" tIns="27432" bIns="27432">
            <a:spAutoFit/>
          </a:bodyPr>
          <a:lstStyle/>
          <a:p>
            <a:pPr algn="l">
              <a:lnSpc>
                <a:spcPct val="105000"/>
              </a:lnSpc>
            </a:pPr>
            <a:r>
              <a:rPr sz="1500" b="0" i="0">
                <a:solidFill>
                  <a:srgbClr val="1F2430"/>
                </a:solidFill>
                <a:latin typeface="PT Sans"/>
              </a:rPr>
              <a:t>Акчанын санын эмес, маанисин кошобуз: 20, 40, 60… (М6).</a:t>
            </a:r>
          </a:p>
        </p:txBody>
      </p:sp>
      <p:sp>
        <p:nvSpPr>
          <p:cNvPr id="20" name="Rounded Rectangle 19"/>
          <p:cNvSpPr/>
          <p:nvPr/>
        </p:nvSpPr>
        <p:spPr>
          <a:xfrm>
            <a:off x="5779007" y="1225296"/>
            <a:ext cx="5980176" cy="4928616"/>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007607" y="1280160"/>
            <a:ext cx="5486400" cy="502920"/>
          </a:xfrm>
          <a:prstGeom prst="rect">
            <a:avLst/>
          </a:prstGeom>
          <a:noFill/>
        </p:spPr>
        <p:txBody>
          <a:bodyPr wrap="square" anchor="t" lIns="45720" rIns="45720" tIns="27432" bIns="27432">
            <a:spAutoFit/>
          </a:bodyPr>
          <a:lstStyle/>
          <a:p>
            <a:pPr algn="l">
              <a:lnSpc>
                <a:spcPct val="105000"/>
              </a:lnSpc>
            </a:pPr>
            <a:r>
              <a:rPr sz="2000" b="1" i="0">
                <a:solidFill>
                  <a:srgbClr val="1D3557"/>
                </a:solidFill>
                <a:latin typeface="PT Sans"/>
              </a:rPr>
              <a:t>Ой жүгүртүү: эмне деп айтабыз?</a:t>
            </a:r>
          </a:p>
        </p:txBody>
      </p:sp>
      <p:sp>
        <p:nvSpPr>
          <p:cNvPr id="22" name="TextBox 21"/>
          <p:cNvSpPr txBox="1"/>
          <p:nvPr/>
        </p:nvSpPr>
        <p:spPr>
          <a:xfrm>
            <a:off x="6007607" y="1783080"/>
            <a:ext cx="2651760" cy="365760"/>
          </a:xfrm>
          <a:prstGeom prst="rect">
            <a:avLst/>
          </a:prstGeom>
          <a:noFill/>
        </p:spPr>
        <p:txBody>
          <a:bodyPr wrap="square" anchor="t" lIns="45720" rIns="45720" tIns="27432" bIns="27432">
            <a:spAutoFit/>
          </a:bodyPr>
          <a:lstStyle/>
          <a:p>
            <a:pPr algn="l">
              <a:lnSpc>
                <a:spcPct val="105000"/>
              </a:lnSpc>
            </a:pPr>
            <a:r>
              <a:rPr sz="1500" b="1" i="0">
                <a:solidFill>
                  <a:srgbClr val="6B7280"/>
                </a:solidFill>
                <a:latin typeface="PT Sans"/>
              </a:rPr>
              <a:t>Айтпайбыз</a:t>
            </a:r>
          </a:p>
        </p:txBody>
      </p:sp>
      <p:sp>
        <p:nvSpPr>
          <p:cNvPr id="23" name="TextBox 22"/>
          <p:cNvSpPr txBox="1"/>
          <p:nvPr/>
        </p:nvSpPr>
        <p:spPr>
          <a:xfrm>
            <a:off x="8796528" y="1783080"/>
            <a:ext cx="2926080" cy="365760"/>
          </a:xfrm>
          <a:prstGeom prst="rect">
            <a:avLst/>
          </a:prstGeom>
          <a:noFill/>
        </p:spPr>
        <p:txBody>
          <a:bodyPr wrap="square" anchor="t" lIns="45720" rIns="45720" tIns="27432" bIns="27432">
            <a:spAutoFit/>
          </a:bodyPr>
          <a:lstStyle/>
          <a:p>
            <a:pPr algn="l">
              <a:lnSpc>
                <a:spcPct val="105000"/>
              </a:lnSpc>
            </a:pPr>
            <a:r>
              <a:rPr sz="1500" b="1" i="0">
                <a:solidFill>
                  <a:srgbClr val="007A5A"/>
                </a:solidFill>
                <a:latin typeface="PT Sans"/>
              </a:rPr>
              <a:t>Айтабыз</a:t>
            </a:r>
          </a:p>
        </p:txBody>
      </p:sp>
      <p:sp>
        <p:nvSpPr>
          <p:cNvPr id="24" name="TextBox 23"/>
          <p:cNvSpPr txBox="1"/>
          <p:nvPr/>
        </p:nvSpPr>
        <p:spPr>
          <a:xfrm>
            <a:off x="6007607" y="2194560"/>
            <a:ext cx="2651760" cy="868680"/>
          </a:xfrm>
          <a:prstGeom prst="rect">
            <a:avLst/>
          </a:prstGeom>
          <a:noFill/>
        </p:spPr>
        <p:txBody>
          <a:bodyPr wrap="square" anchor="t" lIns="45720" rIns="45720" tIns="27432" bIns="27432">
            <a:spAutoFit/>
          </a:bodyPr>
          <a:lstStyle/>
          <a:p>
            <a:pPr algn="l">
              <a:lnSpc>
                <a:spcPct val="105000"/>
              </a:lnSpc>
            </a:pPr>
            <a:r>
              <a:rPr sz="1500" b="0" i="1">
                <a:solidFill>
                  <a:srgbClr val="6B7280"/>
                </a:solidFill>
                <a:latin typeface="PT Sans"/>
              </a:rPr>
              <a:t>«Бул оңой эмеспи?»</a:t>
            </a:r>
          </a:p>
        </p:txBody>
      </p:sp>
      <p:cxnSp>
        <p:nvCxnSpPr>
          <p:cNvPr id="25" name="Connector 24"/>
          <p:cNvCxnSpPr/>
          <p:nvPr/>
        </p:nvCxnSpPr>
        <p:spPr>
          <a:xfrm>
            <a:off x="8567928" y="2468879"/>
            <a:ext cx="18288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8796528" y="2194560"/>
            <a:ext cx="2880360" cy="868680"/>
          </a:xfrm>
          <a:prstGeom prst="rect">
            <a:avLst/>
          </a:prstGeom>
          <a:noFill/>
        </p:spPr>
        <p:txBody>
          <a:bodyPr wrap="square" anchor="t" lIns="45720" rIns="45720" tIns="27432" bIns="27432">
            <a:spAutoFit/>
          </a:bodyPr>
          <a:lstStyle/>
          <a:p>
            <a:pPr algn="l">
              <a:lnSpc>
                <a:spcPct val="105000"/>
              </a:lnSpc>
            </a:pPr>
            <a:r>
              <a:rPr sz="1500" b="1" i="0">
                <a:solidFill>
                  <a:srgbClr val="1F2430"/>
                </a:solidFill>
                <a:latin typeface="PT Sans"/>
              </a:rPr>
              <a:t>«Кадамдарды бирге карайлы.»</a:t>
            </a:r>
          </a:p>
        </p:txBody>
      </p:sp>
      <p:sp>
        <p:nvSpPr>
          <p:cNvPr id="27" name="TextBox 26"/>
          <p:cNvSpPr txBox="1"/>
          <p:nvPr/>
        </p:nvSpPr>
        <p:spPr>
          <a:xfrm>
            <a:off x="6007607" y="3154680"/>
            <a:ext cx="2651760" cy="868680"/>
          </a:xfrm>
          <a:prstGeom prst="rect">
            <a:avLst/>
          </a:prstGeom>
          <a:noFill/>
        </p:spPr>
        <p:txBody>
          <a:bodyPr wrap="square" anchor="t" lIns="45720" rIns="45720" tIns="27432" bIns="27432">
            <a:spAutoFit/>
          </a:bodyPr>
          <a:lstStyle/>
          <a:p>
            <a:pPr algn="l">
              <a:lnSpc>
                <a:spcPct val="105000"/>
              </a:lnSpc>
            </a:pPr>
            <a:r>
              <a:rPr sz="1500" b="0" i="1">
                <a:solidFill>
                  <a:srgbClr val="6B7280"/>
                </a:solidFill>
                <a:latin typeface="PT Sans"/>
              </a:rPr>
              <a:t>«Туура эмес!»</a:t>
            </a:r>
          </a:p>
        </p:txBody>
      </p:sp>
      <p:cxnSp>
        <p:nvCxnSpPr>
          <p:cNvPr id="28" name="Connector 27"/>
          <p:cNvCxnSpPr/>
          <p:nvPr/>
        </p:nvCxnSpPr>
        <p:spPr>
          <a:xfrm>
            <a:off x="8567928" y="3429000"/>
            <a:ext cx="18288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8796528" y="3154680"/>
            <a:ext cx="2880360" cy="868680"/>
          </a:xfrm>
          <a:prstGeom prst="rect">
            <a:avLst/>
          </a:prstGeom>
          <a:noFill/>
        </p:spPr>
        <p:txBody>
          <a:bodyPr wrap="square" anchor="t" lIns="45720" rIns="45720" tIns="27432" bIns="27432">
            <a:spAutoFit/>
          </a:bodyPr>
          <a:lstStyle/>
          <a:p>
            <a:pPr algn="l">
              <a:lnSpc>
                <a:spcPct val="105000"/>
              </a:lnSpc>
            </a:pPr>
            <a:r>
              <a:rPr sz="1500" b="1" i="0">
                <a:solidFill>
                  <a:srgbClr val="1F2430"/>
                </a:solidFill>
                <a:latin typeface="PT Sans"/>
              </a:rPr>
              <a:t>«Кантип таптың? Текшерип көрөлүчү.»</a:t>
            </a:r>
          </a:p>
        </p:txBody>
      </p:sp>
      <p:sp>
        <p:nvSpPr>
          <p:cNvPr id="30" name="TextBox 29"/>
          <p:cNvSpPr txBox="1"/>
          <p:nvPr/>
        </p:nvSpPr>
        <p:spPr>
          <a:xfrm>
            <a:off x="6007607" y="4114800"/>
            <a:ext cx="2651760" cy="868680"/>
          </a:xfrm>
          <a:prstGeom prst="rect">
            <a:avLst/>
          </a:prstGeom>
          <a:noFill/>
        </p:spPr>
        <p:txBody>
          <a:bodyPr wrap="square" anchor="t" lIns="45720" rIns="45720" tIns="27432" bIns="27432">
            <a:spAutoFit/>
          </a:bodyPr>
          <a:lstStyle/>
          <a:p>
            <a:pPr algn="l">
              <a:lnSpc>
                <a:spcPct val="105000"/>
              </a:lnSpc>
            </a:pPr>
            <a:r>
              <a:rPr sz="1500" b="0" i="1">
                <a:solidFill>
                  <a:srgbClr val="6B7280"/>
                </a:solidFill>
                <a:latin typeface="PT Sans"/>
              </a:rPr>
              <a:t>«Сен математикага жөндөмсүзсүң»</a:t>
            </a:r>
          </a:p>
        </p:txBody>
      </p:sp>
      <p:cxnSp>
        <p:nvCxnSpPr>
          <p:cNvPr id="31" name="Connector 30"/>
          <p:cNvCxnSpPr/>
          <p:nvPr/>
        </p:nvCxnSpPr>
        <p:spPr>
          <a:xfrm>
            <a:off x="8567928" y="4389120"/>
            <a:ext cx="18288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8796528" y="4114800"/>
            <a:ext cx="2880360" cy="868680"/>
          </a:xfrm>
          <a:prstGeom prst="rect">
            <a:avLst/>
          </a:prstGeom>
          <a:noFill/>
        </p:spPr>
        <p:txBody>
          <a:bodyPr wrap="square" anchor="t" lIns="45720" rIns="45720" tIns="27432" bIns="27432">
            <a:spAutoFit/>
          </a:bodyPr>
          <a:lstStyle/>
          <a:p>
            <a:pPr algn="l">
              <a:lnSpc>
                <a:spcPct val="105000"/>
              </a:lnSpc>
            </a:pPr>
            <a:r>
              <a:rPr sz="1500" b="1" i="0">
                <a:solidFill>
                  <a:srgbClr val="1F2430"/>
                </a:solidFill>
                <a:latin typeface="PT Sans"/>
              </a:rPr>
              <a:t>«Азырынча. Машыксаң, үйрөнөсүң.»</a:t>
            </a:r>
          </a:p>
        </p:txBody>
      </p:sp>
      <p:sp>
        <p:nvSpPr>
          <p:cNvPr id="33" name="TextBox 32"/>
          <p:cNvSpPr txBox="1"/>
          <p:nvPr/>
        </p:nvSpPr>
        <p:spPr>
          <a:xfrm>
            <a:off x="6007607" y="5074920"/>
            <a:ext cx="2651760" cy="868680"/>
          </a:xfrm>
          <a:prstGeom prst="rect">
            <a:avLst/>
          </a:prstGeom>
          <a:noFill/>
        </p:spPr>
        <p:txBody>
          <a:bodyPr wrap="square" anchor="t" lIns="45720" rIns="45720" tIns="27432" bIns="27432">
            <a:spAutoFit/>
          </a:bodyPr>
          <a:lstStyle/>
          <a:p>
            <a:pPr algn="l">
              <a:lnSpc>
                <a:spcPct val="105000"/>
              </a:lnSpc>
            </a:pPr>
            <a:r>
              <a:rPr sz="1500" b="0" i="1">
                <a:solidFill>
                  <a:srgbClr val="6B7280"/>
                </a:solidFill>
                <a:latin typeface="PT Sans"/>
              </a:rPr>
              <a:t>«Тез чыгар»</a:t>
            </a:r>
          </a:p>
        </p:txBody>
      </p:sp>
      <p:cxnSp>
        <p:nvCxnSpPr>
          <p:cNvPr id="34" name="Connector 33"/>
          <p:cNvCxnSpPr/>
          <p:nvPr/>
        </p:nvCxnSpPr>
        <p:spPr>
          <a:xfrm>
            <a:off x="8567928" y="5349240"/>
            <a:ext cx="18288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8796528" y="5074920"/>
            <a:ext cx="2880360" cy="868680"/>
          </a:xfrm>
          <a:prstGeom prst="rect">
            <a:avLst/>
          </a:prstGeom>
          <a:noFill/>
        </p:spPr>
        <p:txBody>
          <a:bodyPr wrap="square" anchor="t" lIns="45720" rIns="45720" tIns="27432" bIns="27432">
            <a:spAutoFit/>
          </a:bodyPr>
          <a:lstStyle/>
          <a:p>
            <a:pPr algn="l">
              <a:lnSpc>
                <a:spcPct val="105000"/>
              </a:lnSpc>
            </a:pPr>
            <a:r>
              <a:rPr sz="1500" b="1" i="0">
                <a:solidFill>
                  <a:srgbClr val="1F2430"/>
                </a:solidFill>
                <a:latin typeface="PT Sans"/>
              </a:rPr>
              <a:t>«Шашпа, адегенде тилке чий.»</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