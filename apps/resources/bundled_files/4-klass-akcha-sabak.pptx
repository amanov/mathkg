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беремин. Окуучулар болжолдошсун: дептерди бирден алган пайдалуубу же пачка мененби? 500 сом жетеби? Жоопту сабактын аягында (22-слайд) текшеребиз. Проектор жок болсо, баалар тизмесин доскага жазам.</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Бекзат: бир дептер 22 сом &lt; 25 сом (Айдай – М4).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кагаздан кесилген акчалар (20, 50, 100, 200, 500 сом, үстүнө маанисин жазабыз), капкак тыйындар (1, 3, 5, 10 сом жана 10, 50 тыйын, капкактын үстүнө жазабыз), баа жазылган 3–4 карточка. Бири сатуучу, экинчиси сатып алуучу; анан алмашат. Сатуучу кайтарымды баадан баштап толуктап санайт: «310, 330, 350, 400, 500». 10 капкак тыйынды (10 тыйындан) 1 сомго алмаштырып көрсөтөм (М1). Чыныгы кыргыз акчасы гана: 2, 25 же 40 сомдук акча жок. Проектор жок болсо, ушул сүрөттү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Тилкени доскага чийем: бүтүнү 500 сом, бөлүктөрү 220 (2 пачка) жана 90 (3 калем), үзүк бөлүк – кайтарым. Анан кассирдин ыкмасы: 310дон баштап кагаз акчаларды кошуп 500гө жетебиз: 20, 20, 50, 100. Кошкон акчалар – кайтарым: 190 сом. Окуучулар чакмак дептерге тилкени чийишет (2 чакмак = 10 сом).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Пойанын 4 кадамы акча маселесинде. Жалпы баа = бир даананын баасы × сан. Бир даананын баасы = пачканын баасы ÷ сан: эң пайдалуусу – бир даанасы арзан болгону (М4). 1 сом = 100 тыйын (М1). Акыркы кадамды өткөрүп жибербейм: кайтарым + жалпы баа = берилген акча.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«310дон 400гө 90, 400дөн 500гө 100, баары 190».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М2; Б = ✓; В = М5; Г = М3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жалпы баа → бюджет → эң пайдалуу баа. Жооптор: 3 × 35 = 105 сом; 500 − 230 − 75 = 195 сом; 180 − 165 = 15 сом үнөм</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Бир дептер пачкада 110 ÷ 5 = 22 сом, бирден алса 25 сом: пачка пайдалуу. Жалпы баа: 2 × 110 = 220, 3 × 30 = 90, 220 + 90 = 310. Кайтарым 500 − 310 = 190. Текшерүү: 310 + 190 = 500. Кайтарымды кассирдей толуктап санайбыз: 310 → 330 → 350 → 400 → 500 (12-слайд).</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3 литр (53 &lt; 55); 140 сом; 2 сом 30 тыйын</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Акча: сатып алуу, кайтарым жана эң пайдалуу баа</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Жалал-Абаддагы дүкөн</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Айдай менен Бекзат 500 сомго мектеп буюмдарын алып, эң пайдалуусун тандашат.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2-класс (акча), 4-класс (көп орундуу сандар менен төрт амал, аттуу сандар). Мазмуну, сандары жана окуясы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Жалал-Абаддагы дүкөн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Жалал-Абадда 1-сентябрь жакындады. Апасы Айдайга 500 сомдук бир кагаз акча берди.</a:t>
            </a:r>
          </a:p>
          <a:p>
            <a:pPr algn="l">
              <a:lnSpc>
                <a:spcPct val="105000"/>
              </a:lnSpc>
              <a:spcBef>
                <a:spcPts val="800"/>
              </a:spcBef>
            </a:pPr>
            <a:r>
              <a:rPr sz="2100" b="0" i="0">
                <a:solidFill>
                  <a:srgbClr val="1F2430"/>
                </a:solidFill>
                <a:latin typeface="PT Sans"/>
              </a:rPr>
              <a:t>«Бекзат экөөңө 10 дептер жана 3 калем ал. Кайтарымды мага алып кел».</a:t>
            </a:r>
          </a:p>
          <a:p>
            <a:pPr algn="l">
              <a:lnSpc>
                <a:spcPct val="105000"/>
              </a:lnSpc>
              <a:spcBef>
                <a:spcPts val="800"/>
              </a:spcBef>
            </a:pPr>
            <a:r>
              <a:rPr sz="2100" b="0" i="0">
                <a:solidFill>
                  <a:srgbClr val="1F2430"/>
                </a:solidFill>
                <a:latin typeface="PT Sans"/>
              </a:rPr>
              <a:t>Дүкөндө дептердин бир даанасы 25 сом, ал эми 5 дептер салынган пачка 110 сом. Калем 30 сом.</a:t>
            </a:r>
          </a:p>
          <a:p>
            <a:pPr algn="l">
              <a:lnSpc>
                <a:spcPct val="105000"/>
              </a:lnSpc>
              <a:spcBef>
                <a:spcPts val="800"/>
              </a:spcBef>
            </a:pPr>
            <a:r>
              <a:rPr sz="2100" b="0" i="0">
                <a:solidFill>
                  <a:srgbClr val="1F2430"/>
                </a:solidFill>
                <a:latin typeface="PT Sans"/>
              </a:rPr>
              <a:t>Айдай ойлонду: кантип эң арзан алам? Канча кайтарым алып барам?</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500 сом бар. 10 дептер жана 3 калем керек. Дептер 25 сом же 5 дептерлүү пачка 110 сом. Калем 30 сом. Эң арзан кантип алат? Кайтарым канча?</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Сом менен тыйынды алмаштырам (1 сом = 100 тыйын), чыныгы кагаз акча жана тыйындар менен төлөйм.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Бир нече буюмдун жалпы баасын жана кайтарымды калькуляторсуз эсептеп, текшерем.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Бир даананын баасын таап, эң пайдалуу бааны тандайм; акчаны пландайм (бюджет).</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Сом, тыйын, жалпы баа</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Кайтарым, текшерүү</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Эң пайдалуу баа, бюджет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Кайтарымды текшерүү</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«дүкөн» оюну</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Жалал-Абаддагы дүкөн</a:t>
            </a:r>
          </a:p>
          <a:p>
            <a:pPr algn="l">
              <a:lnSpc>
                <a:spcPct val="105000"/>
              </a:lnSpc>
            </a:pPr>
            <a:r>
              <a:rPr sz="1800" b="0" i="0">
                <a:solidFill>
                  <a:srgbClr val="1F2430"/>
                </a:solidFill>
                <a:latin typeface="PT Sans"/>
              </a:rPr>
              <a:t>• Үй-бүлөнүн бюджети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Акча</a:t>
            </a:r>
          </a:p>
          <a:p>
            <a:pPr algn="l">
              <a:lnSpc>
                <a:spcPct val="105000"/>
              </a:lnSpc>
              <a:spcBef>
                <a:spcPts val="400"/>
              </a:spcBef>
            </a:pPr>
            <a:r>
              <a:rPr sz="1500" b="0" i="0">
                <a:solidFill>
                  <a:srgbClr val="1F2430"/>
                </a:solidFill>
                <a:latin typeface="PT Sans"/>
              </a:rPr>
              <a:t>• 100 ичинде</a:t>
            </a:r>
          </a:p>
        </p:txBody>
      </p:sp>
      <p:sp>
        <p:nvSpPr>
          <p:cNvPr id="14" name="Rounded Rectangle 13"/>
          <p:cNvSpPr/>
          <p:nvPr/>
        </p:nvSpPr>
        <p:spPr>
          <a:xfrm>
            <a:off x="3319272" y="2560320"/>
            <a:ext cx="2660904" cy="32004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6" name="Connector 15"/>
          <p:cNvCxnSpPr/>
          <p:nvPr/>
        </p:nvCxnSpPr>
        <p:spPr>
          <a:xfrm>
            <a:off x="3593591" y="3200400"/>
            <a:ext cx="2112265"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Көбөйтүү, бөлүү</a:t>
            </a:r>
          </a:p>
          <a:p>
            <a:pPr algn="l">
              <a:lnSpc>
                <a:spcPct val="105000"/>
              </a:lnSpc>
              <a:spcBef>
                <a:spcPts val="400"/>
              </a:spcBef>
            </a:pPr>
            <a:r>
              <a:rPr sz="1500" b="0" i="0">
                <a:solidFill>
                  <a:srgbClr val="1F2430"/>
                </a:solidFill>
                <a:latin typeface="PT Sans"/>
              </a:rPr>
              <a:t>• Аттуу сандар</a:t>
            </a:r>
          </a:p>
        </p:txBody>
      </p:sp>
      <p:sp>
        <p:nvSpPr>
          <p:cNvPr id="18" name="Rounded Rectangle 17"/>
          <p:cNvSpPr/>
          <p:nvPr/>
        </p:nvSpPr>
        <p:spPr>
          <a:xfrm>
            <a:off x="6208776" y="2103120"/>
            <a:ext cx="2660904" cy="36576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
            </a:r>
          </a:p>
        </p:txBody>
      </p:sp>
      <p:cxnSp>
        <p:nvCxnSpPr>
          <p:cNvPr id="20" name="Connector 19"/>
          <p:cNvCxnSpPr/>
          <p:nvPr/>
        </p:nvCxnSpPr>
        <p:spPr>
          <a:xfrm>
            <a:off x="6483096" y="2743200"/>
            <a:ext cx="2112263"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Кайтарым</a:t>
            </a:r>
          </a:p>
          <a:p>
            <a:pPr algn="l">
              <a:lnSpc>
                <a:spcPct val="105000"/>
              </a:lnSpc>
              <a:spcBef>
                <a:spcPts val="400"/>
              </a:spcBef>
            </a:pPr>
            <a:r>
              <a:rPr sz="1500" b="0" i="0">
                <a:solidFill>
                  <a:srgbClr val="1F2430"/>
                </a:solidFill>
                <a:latin typeface="PT Sans"/>
              </a:rPr>
              <a:t>• Эң пайдалуу баа</a:t>
            </a:r>
          </a:p>
        </p:txBody>
      </p:sp>
      <p:sp>
        <p:nvSpPr>
          <p:cNvPr id="22" name="Rounded Rectangle 21"/>
          <p:cNvSpPr/>
          <p:nvPr/>
        </p:nvSpPr>
        <p:spPr>
          <a:xfrm>
            <a:off x="6807708" y="1600199"/>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Ондук бөлчөк</a:t>
            </a:r>
          </a:p>
          <a:p>
            <a:pPr algn="l">
              <a:lnSpc>
                <a:spcPct val="105000"/>
              </a:lnSpc>
              <a:spcBef>
                <a:spcPts val="400"/>
              </a:spcBef>
            </a:pPr>
            <a:r>
              <a:rPr sz="1500" b="0" i="0">
                <a:solidFill>
                  <a:srgbClr val="6B7280"/>
                </a:solidFill>
                <a:latin typeface="PT Sans"/>
              </a:rPr>
              <a:t>• Арзандатуу, %</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6 × 30</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1000 − 400</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 сом = □ тыйын</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120 ÷ 4</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 × 30</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180</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1000 − 400</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600</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 сом = □ тыйын</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100</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120 ÷ 4</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Нурлан байке: «3 дептер 75 сом же 5 дептер 110 сом. Кайсы пачка пайдалуу?»</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Айдай</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75 &lt; 110</a:t>
            </a:r>
          </a:p>
          <a:p>
            <a:pPr algn="l">
              <a:lnSpc>
                <a:spcPct val="105000"/>
              </a:lnSpc>
            </a:pPr>
            <a:r>
              <a:rPr sz="2600" b="0" i="0">
                <a:solidFill>
                  <a:srgbClr val="1F2430"/>
                </a:solidFill>
                <a:latin typeface="PT Sans"/>
              </a:rPr>
              <a:t>Демек 3 дептер</a:t>
            </a:r>
          </a:p>
          <a:p>
            <a:pPr algn="l">
              <a:lnSpc>
                <a:spcPct val="105000"/>
              </a:lnSpc>
            </a:pPr>
            <a:r>
              <a:rPr sz="2600" b="0" i="0">
                <a:solidFill>
                  <a:srgbClr val="1F2430"/>
                </a:solidFill>
                <a:latin typeface="PT Sans"/>
              </a:rPr>
              <a:t>пайдалуу</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Бекзат</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75 ÷ 3 = 25 сом</a:t>
            </a:r>
          </a:p>
          <a:p>
            <a:pPr algn="l">
              <a:lnSpc>
                <a:spcPct val="105000"/>
              </a:lnSpc>
            </a:pPr>
            <a:r>
              <a:rPr sz="2600" b="0" i="0">
                <a:solidFill>
                  <a:srgbClr val="1F2430"/>
                </a:solidFill>
                <a:latin typeface="PT Sans"/>
              </a:rPr>
              <a:t>110 ÷ 5 = 22 сом</a:t>
            </a:r>
          </a:p>
          <a:p>
            <a:pPr algn="l">
              <a:lnSpc>
                <a:spcPct val="105000"/>
              </a:lnSpc>
            </a:pPr>
            <a:r>
              <a:rPr sz="2600" b="0" i="0">
                <a:solidFill>
                  <a:srgbClr val="1F2430"/>
                </a:solidFill>
                <a:latin typeface="PT Sans"/>
              </a:rPr>
              <a:t>5 дептер пайдалуу</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Бир дептердин баасын салыштыр.</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«дүкөн» ойнойбуз: кагаз акча жана капкак тыйындар менен сатып ал, кайтарымды санап бер.</a:t>
            </a:r>
          </a:p>
        </p:txBody>
      </p:sp>
      <p:sp>
        <p:nvSpPr>
          <p:cNvPr id="12" name="TextBox 11"/>
          <p:cNvSpPr txBox="1"/>
          <p:nvPr/>
        </p:nvSpPr>
        <p:spPr>
          <a:xfrm>
            <a:off x="502920" y="2103120"/>
            <a:ext cx="3657600" cy="32004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Кагаз акчалар</a:t>
            </a:r>
          </a:p>
        </p:txBody>
      </p:sp>
      <p:sp>
        <p:nvSpPr>
          <p:cNvPr id="13" name="Rounded Rectangle 12"/>
          <p:cNvSpPr/>
          <p:nvPr/>
        </p:nvSpPr>
        <p:spPr>
          <a:xfrm>
            <a:off x="502920" y="2450592"/>
            <a:ext cx="1325880" cy="640080"/>
          </a:xfrm>
          <a:prstGeom prst="roundRect">
            <a:avLst>
              <a:gd name="adj" fmla="val 8000"/>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57784" y="2505456"/>
            <a:ext cx="1216152" cy="530352"/>
          </a:xfrm>
          <a:prstGeom prst="roundRect">
            <a:avLst>
              <a:gd name="adj" fmla="val 6000"/>
            </a:avLst>
          </a:prstGeom>
          <a:noFill/>
          <a:ln w="7620">
            <a:solidFill>
              <a:srgbClr val="007A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450592"/>
            <a:ext cx="13258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20 сом</a:t>
            </a:r>
          </a:p>
        </p:txBody>
      </p:sp>
      <p:sp>
        <p:nvSpPr>
          <p:cNvPr id="16" name="Rounded Rectangle 15"/>
          <p:cNvSpPr/>
          <p:nvPr/>
        </p:nvSpPr>
        <p:spPr>
          <a:xfrm>
            <a:off x="1938528" y="2450592"/>
            <a:ext cx="1325880" cy="640080"/>
          </a:xfrm>
          <a:prstGeom prst="roundRect">
            <a:avLst>
              <a:gd name="adj" fmla="val 8000"/>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993392" y="2505456"/>
            <a:ext cx="1216152" cy="530352"/>
          </a:xfrm>
          <a:prstGeom prst="roundRect">
            <a:avLst>
              <a:gd name="adj" fmla="val 6000"/>
            </a:avLst>
          </a:prstGeom>
          <a:noFill/>
          <a:ln w="7620">
            <a:solidFill>
              <a:srgbClr val="007A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38528" y="2450592"/>
            <a:ext cx="13258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50 сом</a:t>
            </a:r>
          </a:p>
        </p:txBody>
      </p:sp>
      <p:sp>
        <p:nvSpPr>
          <p:cNvPr id="19" name="Rounded Rectangle 18"/>
          <p:cNvSpPr/>
          <p:nvPr/>
        </p:nvSpPr>
        <p:spPr>
          <a:xfrm>
            <a:off x="3374136" y="2450592"/>
            <a:ext cx="1325880" cy="640080"/>
          </a:xfrm>
          <a:prstGeom prst="roundRect">
            <a:avLst>
              <a:gd name="adj" fmla="val 8000"/>
            </a:avLst>
          </a:prstGeom>
          <a:solidFill>
            <a:srgbClr val="F2C9AC"/>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29000" y="2505456"/>
            <a:ext cx="1216152" cy="530352"/>
          </a:xfrm>
          <a:prstGeom prst="roundRect">
            <a:avLst>
              <a:gd name="adj" fmla="val 6000"/>
            </a:avLst>
          </a:prstGeom>
          <a:noFill/>
          <a:ln w="7620">
            <a:solidFill>
              <a:srgbClr val="A84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74136" y="2450592"/>
            <a:ext cx="13258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100 сом</a:t>
            </a:r>
          </a:p>
        </p:txBody>
      </p:sp>
      <p:sp>
        <p:nvSpPr>
          <p:cNvPr id="22" name="Rounded Rectangle 21"/>
          <p:cNvSpPr/>
          <p:nvPr/>
        </p:nvSpPr>
        <p:spPr>
          <a:xfrm>
            <a:off x="4809744" y="2450592"/>
            <a:ext cx="1325880" cy="640080"/>
          </a:xfrm>
          <a:prstGeom prst="roundRect">
            <a:avLst>
              <a:gd name="adj" fmla="val 8000"/>
            </a:avLst>
          </a:prstGeom>
          <a:solidFill>
            <a:srgbClr val="F2C9AC"/>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64608" y="2505456"/>
            <a:ext cx="1216152" cy="530352"/>
          </a:xfrm>
          <a:prstGeom prst="roundRect">
            <a:avLst>
              <a:gd name="adj" fmla="val 6000"/>
            </a:avLst>
          </a:prstGeom>
          <a:noFill/>
          <a:ln w="7620">
            <a:solidFill>
              <a:srgbClr val="A84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09744" y="2450592"/>
            <a:ext cx="13258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200 сом</a:t>
            </a:r>
          </a:p>
        </p:txBody>
      </p:sp>
      <p:sp>
        <p:nvSpPr>
          <p:cNvPr id="25" name="Rounded Rectangle 24"/>
          <p:cNvSpPr/>
          <p:nvPr/>
        </p:nvSpPr>
        <p:spPr>
          <a:xfrm>
            <a:off x="6245352" y="2450592"/>
            <a:ext cx="1325880" cy="640080"/>
          </a:xfrm>
          <a:prstGeom prst="roundRect">
            <a:avLst>
              <a:gd name="adj" fmla="val 8000"/>
            </a:avLst>
          </a:prstGeom>
          <a:solidFill>
            <a:srgbClr val="BFCBE9"/>
          </a:solid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00216" y="2505456"/>
            <a:ext cx="1216152" cy="530352"/>
          </a:xfrm>
          <a:prstGeom prst="roundRect">
            <a:avLst>
              <a:gd name="adj" fmla="val 6000"/>
            </a:avLst>
          </a:prstGeom>
          <a:noFill/>
          <a:ln w="7620">
            <a:solidFill>
              <a:srgbClr val="2441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45352" y="2450592"/>
            <a:ext cx="13258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500 сом</a:t>
            </a:r>
          </a:p>
        </p:txBody>
      </p:sp>
      <p:sp>
        <p:nvSpPr>
          <p:cNvPr id="28" name="TextBox 27"/>
          <p:cNvSpPr txBox="1"/>
          <p:nvPr/>
        </p:nvSpPr>
        <p:spPr>
          <a:xfrm>
            <a:off x="502920" y="3246120"/>
            <a:ext cx="5486400" cy="32004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Тыйындар (капкактар)</a:t>
            </a:r>
          </a:p>
        </p:txBody>
      </p:sp>
      <p:sp>
        <p:nvSpPr>
          <p:cNvPr id="29" name="Oval 28"/>
          <p:cNvSpPr/>
          <p:nvPr/>
        </p:nvSpPr>
        <p:spPr>
          <a:xfrm>
            <a:off x="502920" y="3584448"/>
            <a:ext cx="713232" cy="713232"/>
          </a:xfrm>
          <a:prstGeom prst="ellipse">
            <a:avLst/>
          </a:prstGeom>
          <a:solidFill>
            <a:srgbClr val="FFFFFF"/>
          </a:solidFill>
          <a:ln w="1905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8640" y="3630168"/>
            <a:ext cx="621792" cy="621792"/>
          </a:xfrm>
          <a:prstGeom prst="ellipse">
            <a:avLst/>
          </a:prstGeom>
          <a:noFill/>
          <a:ln w="762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694175"/>
            <a:ext cx="896112" cy="27432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a:t>
            </a:r>
          </a:p>
        </p:txBody>
      </p:sp>
      <p:sp>
        <p:nvSpPr>
          <p:cNvPr id="32" name="TextBox 31"/>
          <p:cNvSpPr txBox="1"/>
          <p:nvPr/>
        </p:nvSpPr>
        <p:spPr>
          <a:xfrm>
            <a:off x="411480" y="3922776"/>
            <a:ext cx="896112" cy="228600"/>
          </a:xfrm>
          <a:prstGeom prst="rect">
            <a:avLst/>
          </a:prstGeom>
          <a:noFill/>
        </p:spPr>
        <p:txBody>
          <a:bodyPr wrap="square" anchor="t" lIns="45720" rIns="45720" tIns="27432" bIns="27432">
            <a:spAutoFit/>
          </a:bodyPr>
          <a:lstStyle/>
          <a:p>
            <a:pPr algn="ctr">
              <a:lnSpc>
                <a:spcPct val="105000"/>
              </a:lnSpc>
            </a:pPr>
            <a:r>
              <a:rPr sz="900" b="0" i="0">
                <a:solidFill>
                  <a:srgbClr val="4A5A70"/>
                </a:solidFill>
                <a:latin typeface="PT Sans"/>
              </a:rPr>
              <a:t>сом</a:t>
            </a:r>
          </a:p>
        </p:txBody>
      </p:sp>
      <p:sp>
        <p:nvSpPr>
          <p:cNvPr id="33" name="Oval 32"/>
          <p:cNvSpPr/>
          <p:nvPr/>
        </p:nvSpPr>
        <p:spPr>
          <a:xfrm>
            <a:off x="1508760" y="3584448"/>
            <a:ext cx="713232" cy="713232"/>
          </a:xfrm>
          <a:prstGeom prst="ellipse">
            <a:avLst/>
          </a:prstGeom>
          <a:solidFill>
            <a:srgbClr val="FFFFFF"/>
          </a:solidFill>
          <a:ln w="1905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54480" y="3630168"/>
            <a:ext cx="621792" cy="621792"/>
          </a:xfrm>
          <a:prstGeom prst="ellipse">
            <a:avLst/>
          </a:prstGeom>
          <a:noFill/>
          <a:ln w="762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17320" y="3694175"/>
            <a:ext cx="896112" cy="27432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3</a:t>
            </a:r>
          </a:p>
        </p:txBody>
      </p:sp>
      <p:sp>
        <p:nvSpPr>
          <p:cNvPr id="36" name="TextBox 35"/>
          <p:cNvSpPr txBox="1"/>
          <p:nvPr/>
        </p:nvSpPr>
        <p:spPr>
          <a:xfrm>
            <a:off x="1417320" y="3922776"/>
            <a:ext cx="896112" cy="228600"/>
          </a:xfrm>
          <a:prstGeom prst="rect">
            <a:avLst/>
          </a:prstGeom>
          <a:noFill/>
        </p:spPr>
        <p:txBody>
          <a:bodyPr wrap="square" anchor="t" lIns="45720" rIns="45720" tIns="27432" bIns="27432">
            <a:spAutoFit/>
          </a:bodyPr>
          <a:lstStyle/>
          <a:p>
            <a:pPr algn="ctr">
              <a:lnSpc>
                <a:spcPct val="105000"/>
              </a:lnSpc>
            </a:pPr>
            <a:r>
              <a:rPr sz="900" b="0" i="0">
                <a:solidFill>
                  <a:srgbClr val="4A5A70"/>
                </a:solidFill>
                <a:latin typeface="PT Sans"/>
              </a:rPr>
              <a:t>сом</a:t>
            </a:r>
          </a:p>
        </p:txBody>
      </p:sp>
      <p:sp>
        <p:nvSpPr>
          <p:cNvPr id="37" name="Oval 36"/>
          <p:cNvSpPr/>
          <p:nvPr/>
        </p:nvSpPr>
        <p:spPr>
          <a:xfrm>
            <a:off x="2514600" y="3584448"/>
            <a:ext cx="713232" cy="713232"/>
          </a:xfrm>
          <a:prstGeom prst="ellipse">
            <a:avLst/>
          </a:prstGeom>
          <a:solidFill>
            <a:srgbClr val="FFFFFF"/>
          </a:solidFill>
          <a:ln w="1905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560320" y="3630168"/>
            <a:ext cx="621792" cy="621792"/>
          </a:xfrm>
          <a:prstGeom prst="ellipse">
            <a:avLst/>
          </a:prstGeom>
          <a:noFill/>
          <a:ln w="762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23160" y="3694175"/>
            <a:ext cx="896112" cy="27432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5</a:t>
            </a:r>
          </a:p>
        </p:txBody>
      </p:sp>
      <p:sp>
        <p:nvSpPr>
          <p:cNvPr id="40" name="TextBox 39"/>
          <p:cNvSpPr txBox="1"/>
          <p:nvPr/>
        </p:nvSpPr>
        <p:spPr>
          <a:xfrm>
            <a:off x="2423160" y="3922776"/>
            <a:ext cx="896112" cy="228600"/>
          </a:xfrm>
          <a:prstGeom prst="rect">
            <a:avLst/>
          </a:prstGeom>
          <a:noFill/>
        </p:spPr>
        <p:txBody>
          <a:bodyPr wrap="square" anchor="t" lIns="45720" rIns="45720" tIns="27432" bIns="27432">
            <a:spAutoFit/>
          </a:bodyPr>
          <a:lstStyle/>
          <a:p>
            <a:pPr algn="ctr">
              <a:lnSpc>
                <a:spcPct val="105000"/>
              </a:lnSpc>
            </a:pPr>
            <a:r>
              <a:rPr sz="900" b="0" i="0">
                <a:solidFill>
                  <a:srgbClr val="4A5A70"/>
                </a:solidFill>
                <a:latin typeface="PT Sans"/>
              </a:rPr>
              <a:t>сом</a:t>
            </a:r>
          </a:p>
        </p:txBody>
      </p:sp>
      <p:sp>
        <p:nvSpPr>
          <p:cNvPr id="41" name="Oval 40"/>
          <p:cNvSpPr/>
          <p:nvPr/>
        </p:nvSpPr>
        <p:spPr>
          <a:xfrm>
            <a:off x="3520440" y="3584448"/>
            <a:ext cx="713232" cy="713232"/>
          </a:xfrm>
          <a:prstGeom prst="ellipse">
            <a:avLst/>
          </a:prstGeom>
          <a:solidFill>
            <a:srgbClr val="FFFFFF"/>
          </a:solidFill>
          <a:ln w="1905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566160" y="3630168"/>
            <a:ext cx="621792" cy="621792"/>
          </a:xfrm>
          <a:prstGeom prst="ellipse">
            <a:avLst/>
          </a:prstGeom>
          <a:noFill/>
          <a:ln w="762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29000" y="3694175"/>
            <a:ext cx="896112" cy="27432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10</a:t>
            </a:r>
          </a:p>
        </p:txBody>
      </p:sp>
      <p:sp>
        <p:nvSpPr>
          <p:cNvPr id="44" name="TextBox 43"/>
          <p:cNvSpPr txBox="1"/>
          <p:nvPr/>
        </p:nvSpPr>
        <p:spPr>
          <a:xfrm>
            <a:off x="3429000" y="3922776"/>
            <a:ext cx="896112" cy="228600"/>
          </a:xfrm>
          <a:prstGeom prst="rect">
            <a:avLst/>
          </a:prstGeom>
          <a:noFill/>
        </p:spPr>
        <p:txBody>
          <a:bodyPr wrap="square" anchor="t" lIns="45720" rIns="45720" tIns="27432" bIns="27432">
            <a:spAutoFit/>
          </a:bodyPr>
          <a:lstStyle/>
          <a:p>
            <a:pPr algn="ctr">
              <a:lnSpc>
                <a:spcPct val="105000"/>
              </a:lnSpc>
            </a:pPr>
            <a:r>
              <a:rPr sz="900" b="0" i="0">
                <a:solidFill>
                  <a:srgbClr val="4A5A70"/>
                </a:solidFill>
                <a:latin typeface="PT Sans"/>
              </a:rPr>
              <a:t>сом</a:t>
            </a:r>
          </a:p>
        </p:txBody>
      </p:sp>
      <p:sp>
        <p:nvSpPr>
          <p:cNvPr id="45" name="Oval 44"/>
          <p:cNvSpPr/>
          <p:nvPr/>
        </p:nvSpPr>
        <p:spPr>
          <a:xfrm>
            <a:off x="4526280" y="3584448"/>
            <a:ext cx="713232" cy="713232"/>
          </a:xfrm>
          <a:prstGeom prst="ellipse">
            <a:avLst/>
          </a:prstGeom>
          <a:solidFill>
            <a:srgbClr val="FFFFFF"/>
          </a:solid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572000" y="3630168"/>
            <a:ext cx="621792" cy="621792"/>
          </a:xfrm>
          <a:prstGeom prst="ellipse">
            <a:avLst/>
          </a:prstGeom>
          <a:noFill/>
          <a:ln w="76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34840" y="3694175"/>
            <a:ext cx="896112" cy="27432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10</a:t>
            </a:r>
          </a:p>
        </p:txBody>
      </p:sp>
      <p:sp>
        <p:nvSpPr>
          <p:cNvPr id="48" name="TextBox 47"/>
          <p:cNvSpPr txBox="1"/>
          <p:nvPr/>
        </p:nvSpPr>
        <p:spPr>
          <a:xfrm>
            <a:off x="4434840" y="3922776"/>
            <a:ext cx="896112" cy="228600"/>
          </a:xfrm>
          <a:prstGeom prst="rect">
            <a:avLst/>
          </a:prstGeom>
          <a:noFill/>
        </p:spPr>
        <p:txBody>
          <a:bodyPr wrap="square" anchor="t" lIns="45720" rIns="45720" tIns="27432" bIns="27432">
            <a:spAutoFit/>
          </a:bodyPr>
          <a:lstStyle/>
          <a:p>
            <a:pPr algn="ctr">
              <a:lnSpc>
                <a:spcPct val="105000"/>
              </a:lnSpc>
            </a:pPr>
            <a:r>
              <a:rPr sz="900" b="0" i="0">
                <a:solidFill>
                  <a:srgbClr val="4A5A70"/>
                </a:solidFill>
                <a:latin typeface="PT Sans"/>
              </a:rPr>
              <a:t>тыйын</a:t>
            </a:r>
          </a:p>
        </p:txBody>
      </p:sp>
      <p:sp>
        <p:nvSpPr>
          <p:cNvPr id="49" name="Oval 48"/>
          <p:cNvSpPr/>
          <p:nvPr/>
        </p:nvSpPr>
        <p:spPr>
          <a:xfrm>
            <a:off x="5532120" y="3584448"/>
            <a:ext cx="713232" cy="713232"/>
          </a:xfrm>
          <a:prstGeom prst="ellipse">
            <a:avLst/>
          </a:prstGeom>
          <a:solidFill>
            <a:srgbClr val="FFFFFF"/>
          </a:solid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577840" y="3630168"/>
            <a:ext cx="621792" cy="621792"/>
          </a:xfrm>
          <a:prstGeom prst="ellipse">
            <a:avLst/>
          </a:prstGeom>
          <a:noFill/>
          <a:ln w="76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40680" y="3694175"/>
            <a:ext cx="896112" cy="274320"/>
          </a:xfrm>
          <a:prstGeom prst="rect">
            <a:avLst/>
          </a:prstGeom>
          <a:noFill/>
        </p:spPr>
        <p:txBody>
          <a:bodyPr wrap="square" anchor="t" lIns="45720" rIns="45720" tIns="27432" bIns="27432">
            <a:spAutoFit/>
          </a:bodyPr>
          <a:lstStyle/>
          <a:p>
            <a:pPr algn="ctr">
              <a:lnSpc>
                <a:spcPct val="105000"/>
              </a:lnSpc>
            </a:pPr>
            <a:r>
              <a:rPr sz="1400" b="1" i="0">
                <a:solidFill>
                  <a:srgbClr val="1F2430"/>
                </a:solidFill>
                <a:latin typeface="PT Sans"/>
              </a:rPr>
              <a:t>50</a:t>
            </a:r>
          </a:p>
        </p:txBody>
      </p:sp>
      <p:sp>
        <p:nvSpPr>
          <p:cNvPr id="52" name="TextBox 51"/>
          <p:cNvSpPr txBox="1"/>
          <p:nvPr/>
        </p:nvSpPr>
        <p:spPr>
          <a:xfrm>
            <a:off x="5440680" y="3922776"/>
            <a:ext cx="896112" cy="228600"/>
          </a:xfrm>
          <a:prstGeom prst="rect">
            <a:avLst/>
          </a:prstGeom>
          <a:noFill/>
        </p:spPr>
        <p:txBody>
          <a:bodyPr wrap="square" anchor="t" lIns="45720" rIns="45720" tIns="27432" bIns="27432">
            <a:spAutoFit/>
          </a:bodyPr>
          <a:lstStyle/>
          <a:p>
            <a:pPr algn="ctr">
              <a:lnSpc>
                <a:spcPct val="105000"/>
              </a:lnSpc>
            </a:pPr>
            <a:r>
              <a:rPr sz="900" b="0" i="0">
                <a:solidFill>
                  <a:srgbClr val="4A5A70"/>
                </a:solidFill>
                <a:latin typeface="PT Sans"/>
              </a:rPr>
              <a:t>тыйын</a:t>
            </a:r>
          </a:p>
        </p:txBody>
      </p:sp>
      <p:sp>
        <p:nvSpPr>
          <p:cNvPr id="53" name="TextBox 52"/>
          <p:cNvSpPr txBox="1"/>
          <p:nvPr/>
        </p:nvSpPr>
        <p:spPr>
          <a:xfrm>
            <a:off x="502920" y="4434840"/>
            <a:ext cx="3657600" cy="32004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Дүкөндөгү баалар</a:t>
            </a:r>
          </a:p>
        </p:txBody>
      </p:sp>
      <p:sp>
        <p:nvSpPr>
          <p:cNvPr id="54" name="Rounded Rectangle 53"/>
          <p:cNvSpPr/>
          <p:nvPr/>
        </p:nvSpPr>
        <p:spPr>
          <a:xfrm>
            <a:off x="502920" y="4773168"/>
            <a:ext cx="2331720" cy="566928"/>
          </a:xfrm>
          <a:prstGeom prst="roundRect">
            <a:avLst>
              <a:gd name="adj" fmla="val 15000"/>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94360" y="4983480"/>
            <a:ext cx="146304" cy="146304"/>
          </a:xfrm>
          <a:prstGeom prst="ellipse">
            <a:avLst/>
          </a:prstGeom>
          <a:no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5528" y="4773168"/>
            <a:ext cx="1965960" cy="566928"/>
          </a:xfrm>
          <a:prstGeom prst="rect">
            <a:avLst/>
          </a:prstGeom>
          <a:noFill/>
        </p:spPr>
        <p:txBody>
          <a:bodyPr wrap="square" anchor="ctr" lIns="45720" rIns="45720" tIns="27432" bIns="27432">
            <a:spAutoFit/>
          </a:bodyPr>
          <a:lstStyle/>
          <a:p>
            <a:pPr algn="l">
              <a:lnSpc>
                <a:spcPct val="95000"/>
              </a:lnSpc>
            </a:pPr>
            <a:r>
              <a:rPr sz="1300" b="0" i="0">
                <a:solidFill>
                  <a:srgbClr val="4A5A70"/>
                </a:solidFill>
                <a:latin typeface="PT Sans"/>
              </a:rPr>
              <a:t>Дептер</a:t>
            </a:r>
          </a:p>
          <a:p>
            <a:pPr algn="l">
              <a:lnSpc>
                <a:spcPct val="95000"/>
              </a:lnSpc>
            </a:pPr>
            <a:r>
              <a:rPr sz="1600" b="1" i="0">
                <a:solidFill>
                  <a:srgbClr val="1D3557"/>
                </a:solidFill>
                <a:latin typeface="PT Sans"/>
              </a:rPr>
              <a:t>25 сом</a:t>
            </a:r>
          </a:p>
        </p:txBody>
      </p:sp>
      <p:sp>
        <p:nvSpPr>
          <p:cNvPr id="57" name="Rounded Rectangle 56"/>
          <p:cNvSpPr/>
          <p:nvPr/>
        </p:nvSpPr>
        <p:spPr>
          <a:xfrm>
            <a:off x="3017520" y="4773168"/>
            <a:ext cx="2331720" cy="566928"/>
          </a:xfrm>
          <a:prstGeom prst="roundRect">
            <a:avLst>
              <a:gd name="adj" fmla="val 15000"/>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108960" y="4983480"/>
            <a:ext cx="146304" cy="146304"/>
          </a:xfrm>
          <a:prstGeom prst="ellipse">
            <a:avLst/>
          </a:prstGeom>
          <a:no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10127" y="4773168"/>
            <a:ext cx="1965960" cy="566928"/>
          </a:xfrm>
          <a:prstGeom prst="rect">
            <a:avLst/>
          </a:prstGeom>
          <a:noFill/>
        </p:spPr>
        <p:txBody>
          <a:bodyPr wrap="square" anchor="ctr" lIns="45720" rIns="45720" tIns="27432" bIns="27432">
            <a:spAutoFit/>
          </a:bodyPr>
          <a:lstStyle/>
          <a:p>
            <a:pPr algn="l">
              <a:lnSpc>
                <a:spcPct val="95000"/>
              </a:lnSpc>
            </a:pPr>
            <a:r>
              <a:rPr sz="1300" b="0" i="0">
                <a:solidFill>
                  <a:srgbClr val="4A5A70"/>
                </a:solidFill>
                <a:latin typeface="PT Sans"/>
              </a:rPr>
              <a:t>Пачка: 5 дептер</a:t>
            </a:r>
          </a:p>
          <a:p>
            <a:pPr algn="l">
              <a:lnSpc>
                <a:spcPct val="95000"/>
              </a:lnSpc>
            </a:pPr>
            <a:r>
              <a:rPr sz="1600" b="1" i="0">
                <a:solidFill>
                  <a:srgbClr val="1D3557"/>
                </a:solidFill>
                <a:latin typeface="PT Sans"/>
              </a:rPr>
              <a:t>110 сом</a:t>
            </a:r>
          </a:p>
        </p:txBody>
      </p:sp>
      <p:sp>
        <p:nvSpPr>
          <p:cNvPr id="60" name="Rounded Rectangle 59"/>
          <p:cNvSpPr/>
          <p:nvPr/>
        </p:nvSpPr>
        <p:spPr>
          <a:xfrm>
            <a:off x="5532120" y="4773168"/>
            <a:ext cx="2331720" cy="566928"/>
          </a:xfrm>
          <a:prstGeom prst="roundRect">
            <a:avLst>
              <a:gd name="adj" fmla="val 15000"/>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623559" y="4983480"/>
            <a:ext cx="146304" cy="146304"/>
          </a:xfrm>
          <a:prstGeom prst="ellipse">
            <a:avLst/>
          </a:prstGeom>
          <a:no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824728" y="4773168"/>
            <a:ext cx="1965960" cy="566928"/>
          </a:xfrm>
          <a:prstGeom prst="rect">
            <a:avLst/>
          </a:prstGeom>
          <a:noFill/>
        </p:spPr>
        <p:txBody>
          <a:bodyPr wrap="square" anchor="ctr" lIns="45720" rIns="45720" tIns="27432" bIns="27432">
            <a:spAutoFit/>
          </a:bodyPr>
          <a:lstStyle/>
          <a:p>
            <a:pPr algn="l">
              <a:lnSpc>
                <a:spcPct val="95000"/>
              </a:lnSpc>
            </a:pPr>
            <a:r>
              <a:rPr sz="1300" b="0" i="0">
                <a:solidFill>
                  <a:srgbClr val="4A5A70"/>
                </a:solidFill>
                <a:latin typeface="PT Sans"/>
              </a:rPr>
              <a:t>Калем</a:t>
            </a:r>
          </a:p>
          <a:p>
            <a:pPr algn="l">
              <a:lnSpc>
                <a:spcPct val="95000"/>
              </a:lnSpc>
            </a:pPr>
            <a:r>
              <a:rPr sz="1600" b="1" i="0">
                <a:solidFill>
                  <a:srgbClr val="1D3557"/>
                </a:solidFill>
                <a:latin typeface="PT Sans"/>
              </a:rPr>
              <a:t>30 сом</a:t>
            </a:r>
          </a:p>
        </p:txBody>
      </p:sp>
      <p:sp>
        <p:nvSpPr>
          <p:cNvPr id="63" name="TextBox 62"/>
          <p:cNvSpPr txBox="1"/>
          <p:nvPr/>
        </p:nvSpPr>
        <p:spPr>
          <a:xfrm>
            <a:off x="502920" y="5486400"/>
            <a:ext cx="7863840" cy="365760"/>
          </a:xfrm>
          <a:prstGeom prst="rect">
            <a:avLst/>
          </a:prstGeom>
          <a:noFill/>
        </p:spPr>
        <p:txBody>
          <a:bodyPr wrap="square" anchor="t" lIns="45720" rIns="45720" tIns="27432" bIns="27432">
            <a:spAutoFit/>
          </a:bodyPr>
          <a:lstStyle/>
          <a:p>
            <a:pPr algn="l">
              <a:lnSpc>
                <a:spcPct val="105000"/>
              </a:lnSpc>
            </a:pPr>
            <a:r>
              <a:rPr sz="1600" b="0" i="1">
                <a:solidFill>
                  <a:srgbClr val="4A5A70"/>
                </a:solidFill>
                <a:latin typeface="PT Sans"/>
              </a:rPr>
              <a:t>Сатуучу кайтарымды толуктап санайт: 310 → 330 → 350 → 400 → 500.</a:t>
            </a:r>
          </a:p>
        </p:txBody>
      </p:sp>
      <p:sp>
        <p:nvSpPr>
          <p:cNvPr id="64" name="Rounded Rectangle 63"/>
          <p:cNvSpPr/>
          <p:nvPr/>
        </p:nvSpPr>
        <p:spPr>
          <a:xfrm>
            <a:off x="9006840" y="2103120"/>
            <a:ext cx="2743200" cy="374903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0" y="2176272"/>
            <a:ext cx="2514600" cy="3611880"/>
          </a:xfrm>
          <a:prstGeom prst="rect">
            <a:avLst/>
          </a:prstGeom>
          <a:noFill/>
        </p:spPr>
        <p:txBody>
          <a:bodyPr wrap="square" anchor="t" lIns="45720" rIns="45720" tIns="27432" bIns="27432">
            <a:spAutoFit/>
          </a:bodyPr>
          <a:lstStyle/>
          <a:p>
            <a:pPr algn="l">
              <a:lnSpc>
                <a:spcPct val="108000"/>
              </a:lnSpc>
            </a:pPr>
            <a:r>
              <a:rPr sz="1800" b="1" i="0">
                <a:solidFill>
                  <a:srgbClr val="1F2430"/>
                </a:solidFill>
                <a:latin typeface="PT Sans"/>
              </a:rPr>
              <a:t>Ар бир жупта:</a:t>
            </a:r>
          </a:p>
          <a:p>
            <a:pPr algn="l">
              <a:lnSpc>
                <a:spcPct val="108000"/>
              </a:lnSpc>
            </a:pPr>
            <a:r>
              <a:rPr sz="1400" b="0" i="0">
                <a:solidFill>
                  <a:srgbClr val="1F2430"/>
                </a:solidFill>
                <a:latin typeface="PT Sans"/>
              </a:rPr>
              <a:t>• кагаздан кесилген акчалар: 20, 50, 100, 200, 500 сом</a:t>
            </a:r>
          </a:p>
          <a:p>
            <a:pPr algn="l">
              <a:lnSpc>
                <a:spcPct val="108000"/>
              </a:lnSpc>
            </a:pPr>
            <a:r>
              <a:rPr sz="1400" b="0" i="0">
                <a:solidFill>
                  <a:srgbClr val="1F2430"/>
                </a:solidFill>
                <a:latin typeface="PT Sans"/>
              </a:rPr>
              <a:t>• капкак тыйындар: 1, 3, 5, 10 сом; 10, 50 тыйын</a:t>
            </a:r>
          </a:p>
          <a:p>
            <a:pPr algn="l">
              <a:lnSpc>
                <a:spcPct val="108000"/>
              </a:lnSpc>
            </a:pPr>
            <a:r>
              <a:rPr sz="1400" b="0" i="0">
                <a:solidFill>
                  <a:srgbClr val="1F2430"/>
                </a:solidFill>
                <a:latin typeface="PT Sans"/>
              </a:rPr>
              <a:t>• баа жазылган 3–4 карточка</a:t>
            </a:r>
          </a:p>
          <a:p>
            <a:pPr algn="l">
              <a:lnSpc>
                <a:spcPct val="108000"/>
              </a:lnSpc>
            </a:pPr>
            <a:r>
              <a:rPr sz="1400" b="0" i="0">
                <a:solidFill>
                  <a:srgbClr val="1F2430"/>
                </a:solidFill>
                <a:latin typeface="PT Sans"/>
              </a:rPr>
              <a:t>• мини-такта</a:t>
            </a:r>
          </a:p>
          <a:p>
            <a:pPr algn="l">
              <a:lnSpc>
                <a:spcPct val="108000"/>
              </a:lnSpc>
            </a:pPr>
            <a:r>
              <a:rPr sz="1700" b="1" i="0">
                <a:solidFill>
                  <a:srgbClr val="24418C"/>
                </a:solidFill>
                <a:latin typeface="PT Sans"/>
              </a:rPr>
              <a:t>1 сом = 100 тыйын</a:t>
            </a:r>
          </a:p>
        </p:txBody>
      </p:sp>
      <p:sp>
        <p:nvSpPr>
          <p:cNvPr id="66" name="Rounded Rectangle 65"/>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67" name="Rounded Rectangle 66"/>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68" name="Rounded Rectangle 67"/>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тилке жана толуктап саноо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500 сом = дептер + калем + кайтарым. Кассир кайтарымды баадан баштап толуктап санайт.</a:t>
            </a:r>
          </a:p>
        </p:txBody>
      </p:sp>
      <p:sp>
        <p:nvSpPr>
          <p:cNvPr id="12" name="TextBox 11"/>
          <p:cNvSpPr txBox="1"/>
          <p:nvPr/>
        </p:nvSpPr>
        <p:spPr>
          <a:xfrm>
            <a:off x="914400" y="2057400"/>
            <a:ext cx="2743200" cy="27432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Тилке модели</a:t>
            </a:r>
          </a:p>
        </p:txBody>
      </p:sp>
      <p:sp>
        <p:nvSpPr>
          <p:cNvPr id="13" name="Rectangle 12"/>
          <p:cNvSpPr/>
          <p:nvPr/>
        </p:nvSpPr>
        <p:spPr>
          <a:xfrm>
            <a:off x="914400" y="2651760"/>
            <a:ext cx="4546396" cy="56692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F2430"/>
                </a:solidFill>
                <a:latin typeface="PT Sans"/>
              </a:rPr>
              <a:t>2 пачка дептер: 220</a:t>
            </a:r>
          </a:p>
        </p:txBody>
      </p:sp>
      <p:sp>
        <p:nvSpPr>
          <p:cNvPr id="14" name="Rectangle 13"/>
          <p:cNvSpPr/>
          <p:nvPr/>
        </p:nvSpPr>
        <p:spPr>
          <a:xfrm>
            <a:off x="5460796" y="2651760"/>
            <a:ext cx="1859889" cy="56692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F2430"/>
                </a:solidFill>
                <a:latin typeface="PT Sans"/>
              </a:rPr>
              <a:t>3 калем: 90</a:t>
            </a:r>
          </a:p>
        </p:txBody>
      </p:sp>
      <p:sp>
        <p:nvSpPr>
          <p:cNvPr id="15" name="Rectangle 14"/>
          <p:cNvSpPr/>
          <p:nvPr/>
        </p:nvSpPr>
        <p:spPr>
          <a:xfrm>
            <a:off x="7320686" y="2651760"/>
            <a:ext cx="3926433" cy="56692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6B7280"/>
                </a:solidFill>
                <a:latin typeface="PT Sans"/>
              </a:rPr>
              <a:t>кайтарым: ?</a:t>
            </a:r>
          </a:p>
        </p:txBody>
      </p:sp>
      <p:cxnSp>
        <p:nvCxnSpPr>
          <p:cNvPr id="16" name="Connector 15"/>
          <p:cNvCxnSpPr/>
          <p:nvPr/>
        </p:nvCxnSpPr>
        <p:spPr>
          <a:xfrm>
            <a:off x="914400" y="2514600"/>
            <a:ext cx="1033272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14400" y="2423160"/>
            <a:ext cx="0" cy="182879"/>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247120" y="2423160"/>
            <a:ext cx="0" cy="182879"/>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709160" y="2148839"/>
            <a:ext cx="2743200" cy="320040"/>
          </a:xfrm>
          <a:prstGeom prst="rect">
            <a:avLst/>
          </a:prstGeom>
          <a:noFill/>
        </p:spPr>
        <p:txBody>
          <a:bodyPr wrap="square" anchor="t" lIns="45720" rIns="45720" tIns="27432" bIns="27432">
            <a:spAutoFit/>
          </a:bodyPr>
          <a:lstStyle/>
          <a:p>
            <a:pPr algn="ctr">
              <a:lnSpc>
                <a:spcPct val="105000"/>
              </a:lnSpc>
            </a:pPr>
            <a:r>
              <a:rPr sz="1800" b="1" i="0">
                <a:solidFill>
                  <a:srgbClr val="A84400"/>
                </a:solidFill>
                <a:latin typeface="PT Sans"/>
              </a:rPr>
              <a:t>500 сом</a:t>
            </a:r>
          </a:p>
        </p:txBody>
      </p:sp>
      <p:sp>
        <p:nvSpPr>
          <p:cNvPr id="20" name="TextBox 19"/>
          <p:cNvSpPr txBox="1"/>
          <p:nvPr/>
        </p:nvSpPr>
        <p:spPr>
          <a:xfrm>
            <a:off x="914400" y="3429000"/>
            <a:ext cx="5486400" cy="27432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Кассир толуктап санайт</a:t>
            </a:r>
          </a:p>
        </p:txBody>
      </p:sp>
      <p:sp>
        <p:nvSpPr>
          <p:cNvPr id="21" name="Rounded Rectangle 20"/>
          <p:cNvSpPr/>
          <p:nvPr/>
        </p:nvSpPr>
        <p:spPr>
          <a:xfrm>
            <a:off x="1005840" y="3840480"/>
            <a:ext cx="914400" cy="502920"/>
          </a:xfrm>
          <a:prstGeom prst="roundRect">
            <a:avLst>
              <a:gd name="adj" fmla="val 3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310</a:t>
            </a:r>
          </a:p>
        </p:txBody>
      </p:sp>
      <p:cxnSp>
        <p:nvCxnSpPr>
          <p:cNvPr id="22" name="Connector 21"/>
          <p:cNvCxnSpPr/>
          <p:nvPr/>
        </p:nvCxnSpPr>
        <p:spPr>
          <a:xfrm>
            <a:off x="1965960" y="4087368"/>
            <a:ext cx="1508760" cy="0"/>
          </a:xfrm>
          <a:prstGeom prst="line">
            <a:avLst/>
          </a:prstGeom>
          <a:ln w="25400">
            <a:solidFill>
              <a:srgbClr val="007A5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46120" y="3931920"/>
            <a:ext cx="274320" cy="320040"/>
          </a:xfrm>
          <a:prstGeom prst="rect">
            <a:avLst/>
          </a:prstGeom>
          <a:noFill/>
        </p:spPr>
        <p:txBody>
          <a:bodyPr wrap="square" anchor="t" lIns="45720" rIns="45720" tIns="27432" bIns="27432">
            <a:spAutoFit/>
          </a:bodyPr>
          <a:lstStyle/>
          <a:p>
            <a:pPr algn="l">
              <a:lnSpc>
                <a:spcPct val="105000"/>
              </a:lnSpc>
            </a:pPr>
            <a:r>
              <a:rPr sz="1200" b="0" i="0">
                <a:solidFill>
                  <a:srgbClr val="007A5A"/>
                </a:solidFill>
                <a:latin typeface="PT Sans"/>
              </a:rPr>
              <a:t>▶</a:t>
            </a:r>
          </a:p>
        </p:txBody>
      </p:sp>
      <p:sp>
        <p:nvSpPr>
          <p:cNvPr id="24" name="Rounded Rectangle 23"/>
          <p:cNvSpPr/>
          <p:nvPr/>
        </p:nvSpPr>
        <p:spPr>
          <a:xfrm>
            <a:off x="2057400" y="4526280"/>
            <a:ext cx="1325880" cy="566928"/>
          </a:xfrm>
          <a:prstGeom prst="roundRect">
            <a:avLst>
              <a:gd name="adj" fmla="val 8000"/>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112264" y="4581144"/>
            <a:ext cx="1216152" cy="457200"/>
          </a:xfrm>
          <a:prstGeom prst="roundRect">
            <a:avLst>
              <a:gd name="adj" fmla="val 6000"/>
            </a:avLst>
          </a:prstGeom>
          <a:noFill/>
          <a:ln w="7620">
            <a:solidFill>
              <a:srgbClr val="007A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57400" y="4526280"/>
            <a:ext cx="13258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F2430"/>
                </a:solidFill>
                <a:latin typeface="PT Sans"/>
              </a:rPr>
              <a:t>20 сом</a:t>
            </a:r>
          </a:p>
        </p:txBody>
      </p:sp>
      <p:sp>
        <p:nvSpPr>
          <p:cNvPr id="27" name="Rounded Rectangle 26"/>
          <p:cNvSpPr/>
          <p:nvPr/>
        </p:nvSpPr>
        <p:spPr>
          <a:xfrm>
            <a:off x="3520440" y="3840480"/>
            <a:ext cx="914400" cy="502920"/>
          </a:xfrm>
          <a:prstGeom prst="roundRect">
            <a:avLst>
              <a:gd name="adj" fmla="val 3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330</a:t>
            </a:r>
          </a:p>
        </p:txBody>
      </p:sp>
      <p:cxnSp>
        <p:nvCxnSpPr>
          <p:cNvPr id="28" name="Connector 27"/>
          <p:cNvCxnSpPr/>
          <p:nvPr/>
        </p:nvCxnSpPr>
        <p:spPr>
          <a:xfrm>
            <a:off x="4480560" y="4087368"/>
            <a:ext cx="1508760" cy="0"/>
          </a:xfrm>
          <a:prstGeom prst="line">
            <a:avLst/>
          </a:prstGeom>
          <a:ln w="25400">
            <a:solidFill>
              <a:srgbClr val="007A5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760720" y="3931920"/>
            <a:ext cx="274320" cy="320040"/>
          </a:xfrm>
          <a:prstGeom prst="rect">
            <a:avLst/>
          </a:prstGeom>
          <a:noFill/>
        </p:spPr>
        <p:txBody>
          <a:bodyPr wrap="square" anchor="t" lIns="45720" rIns="45720" tIns="27432" bIns="27432">
            <a:spAutoFit/>
          </a:bodyPr>
          <a:lstStyle/>
          <a:p>
            <a:pPr algn="l">
              <a:lnSpc>
                <a:spcPct val="105000"/>
              </a:lnSpc>
            </a:pPr>
            <a:r>
              <a:rPr sz="1200" b="0" i="0">
                <a:solidFill>
                  <a:srgbClr val="007A5A"/>
                </a:solidFill>
                <a:latin typeface="PT Sans"/>
              </a:rPr>
              <a:t>▶</a:t>
            </a:r>
          </a:p>
        </p:txBody>
      </p:sp>
      <p:sp>
        <p:nvSpPr>
          <p:cNvPr id="30" name="Rounded Rectangle 29"/>
          <p:cNvSpPr/>
          <p:nvPr/>
        </p:nvSpPr>
        <p:spPr>
          <a:xfrm>
            <a:off x="4572000" y="4526280"/>
            <a:ext cx="1325880" cy="566928"/>
          </a:xfrm>
          <a:prstGeom prst="roundRect">
            <a:avLst>
              <a:gd name="adj" fmla="val 8000"/>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26864" y="4581144"/>
            <a:ext cx="1216152" cy="457200"/>
          </a:xfrm>
          <a:prstGeom prst="roundRect">
            <a:avLst>
              <a:gd name="adj" fmla="val 6000"/>
            </a:avLst>
          </a:prstGeom>
          <a:noFill/>
          <a:ln w="7620">
            <a:solidFill>
              <a:srgbClr val="007A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0" y="4526280"/>
            <a:ext cx="13258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F2430"/>
                </a:solidFill>
                <a:latin typeface="PT Sans"/>
              </a:rPr>
              <a:t>20 сом</a:t>
            </a:r>
          </a:p>
        </p:txBody>
      </p:sp>
      <p:sp>
        <p:nvSpPr>
          <p:cNvPr id="33" name="Rounded Rectangle 32"/>
          <p:cNvSpPr/>
          <p:nvPr/>
        </p:nvSpPr>
        <p:spPr>
          <a:xfrm>
            <a:off x="6035040" y="3840480"/>
            <a:ext cx="914400" cy="502920"/>
          </a:xfrm>
          <a:prstGeom prst="roundRect">
            <a:avLst>
              <a:gd name="adj" fmla="val 3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350</a:t>
            </a:r>
          </a:p>
        </p:txBody>
      </p:sp>
      <p:cxnSp>
        <p:nvCxnSpPr>
          <p:cNvPr id="34" name="Connector 33"/>
          <p:cNvCxnSpPr/>
          <p:nvPr/>
        </p:nvCxnSpPr>
        <p:spPr>
          <a:xfrm>
            <a:off x="6995159" y="4087368"/>
            <a:ext cx="1508760" cy="0"/>
          </a:xfrm>
          <a:prstGeom prst="line">
            <a:avLst/>
          </a:prstGeom>
          <a:ln w="25400">
            <a:solidFill>
              <a:srgbClr val="007A5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75319" y="3931920"/>
            <a:ext cx="274320" cy="320040"/>
          </a:xfrm>
          <a:prstGeom prst="rect">
            <a:avLst/>
          </a:prstGeom>
          <a:noFill/>
        </p:spPr>
        <p:txBody>
          <a:bodyPr wrap="square" anchor="t" lIns="45720" rIns="45720" tIns="27432" bIns="27432">
            <a:spAutoFit/>
          </a:bodyPr>
          <a:lstStyle/>
          <a:p>
            <a:pPr algn="l">
              <a:lnSpc>
                <a:spcPct val="105000"/>
              </a:lnSpc>
            </a:pPr>
            <a:r>
              <a:rPr sz="1200" b="0" i="0">
                <a:solidFill>
                  <a:srgbClr val="007A5A"/>
                </a:solidFill>
                <a:latin typeface="PT Sans"/>
              </a:rPr>
              <a:t>▶</a:t>
            </a:r>
          </a:p>
        </p:txBody>
      </p:sp>
      <p:sp>
        <p:nvSpPr>
          <p:cNvPr id="36" name="Rounded Rectangle 35"/>
          <p:cNvSpPr/>
          <p:nvPr/>
        </p:nvSpPr>
        <p:spPr>
          <a:xfrm>
            <a:off x="7086600" y="4526280"/>
            <a:ext cx="1325880" cy="566928"/>
          </a:xfrm>
          <a:prstGeom prst="roundRect">
            <a:avLst>
              <a:gd name="adj" fmla="val 8000"/>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141464" y="4581144"/>
            <a:ext cx="1216152" cy="457200"/>
          </a:xfrm>
          <a:prstGeom prst="roundRect">
            <a:avLst>
              <a:gd name="adj" fmla="val 6000"/>
            </a:avLst>
          </a:prstGeom>
          <a:noFill/>
          <a:ln w="7620">
            <a:solidFill>
              <a:srgbClr val="007A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86600" y="4526280"/>
            <a:ext cx="13258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F2430"/>
                </a:solidFill>
                <a:latin typeface="PT Sans"/>
              </a:rPr>
              <a:t>50 сом</a:t>
            </a:r>
          </a:p>
        </p:txBody>
      </p:sp>
      <p:sp>
        <p:nvSpPr>
          <p:cNvPr id="39" name="Rounded Rectangle 38"/>
          <p:cNvSpPr/>
          <p:nvPr/>
        </p:nvSpPr>
        <p:spPr>
          <a:xfrm>
            <a:off x="8549640" y="3840480"/>
            <a:ext cx="914400" cy="502920"/>
          </a:xfrm>
          <a:prstGeom prst="roundRect">
            <a:avLst>
              <a:gd name="adj" fmla="val 3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400</a:t>
            </a:r>
          </a:p>
        </p:txBody>
      </p:sp>
      <p:cxnSp>
        <p:nvCxnSpPr>
          <p:cNvPr id="40" name="Connector 39"/>
          <p:cNvCxnSpPr/>
          <p:nvPr/>
        </p:nvCxnSpPr>
        <p:spPr>
          <a:xfrm>
            <a:off x="9509760" y="4087368"/>
            <a:ext cx="1508759" cy="0"/>
          </a:xfrm>
          <a:prstGeom prst="line">
            <a:avLst/>
          </a:prstGeom>
          <a:ln w="25400">
            <a:solidFill>
              <a:srgbClr val="007A5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789919" y="3931920"/>
            <a:ext cx="274320" cy="320040"/>
          </a:xfrm>
          <a:prstGeom prst="rect">
            <a:avLst/>
          </a:prstGeom>
          <a:noFill/>
        </p:spPr>
        <p:txBody>
          <a:bodyPr wrap="square" anchor="t" lIns="45720" rIns="45720" tIns="27432" bIns="27432">
            <a:spAutoFit/>
          </a:bodyPr>
          <a:lstStyle/>
          <a:p>
            <a:pPr algn="l">
              <a:lnSpc>
                <a:spcPct val="105000"/>
              </a:lnSpc>
            </a:pPr>
            <a:r>
              <a:rPr sz="1200" b="0" i="0">
                <a:solidFill>
                  <a:srgbClr val="007A5A"/>
                </a:solidFill>
                <a:latin typeface="PT Sans"/>
              </a:rPr>
              <a:t>▶</a:t>
            </a:r>
          </a:p>
        </p:txBody>
      </p:sp>
      <p:sp>
        <p:nvSpPr>
          <p:cNvPr id="42" name="Rounded Rectangle 41"/>
          <p:cNvSpPr/>
          <p:nvPr/>
        </p:nvSpPr>
        <p:spPr>
          <a:xfrm>
            <a:off x="9601200" y="4526280"/>
            <a:ext cx="1325880" cy="566928"/>
          </a:xfrm>
          <a:prstGeom prst="roundRect">
            <a:avLst>
              <a:gd name="adj" fmla="val 8000"/>
            </a:avLst>
          </a:prstGeom>
          <a:solidFill>
            <a:srgbClr val="F2C9AC"/>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656064" y="4581144"/>
            <a:ext cx="1216152" cy="457200"/>
          </a:xfrm>
          <a:prstGeom prst="roundRect">
            <a:avLst>
              <a:gd name="adj" fmla="val 6000"/>
            </a:avLst>
          </a:prstGeom>
          <a:noFill/>
          <a:ln w="7620">
            <a:solidFill>
              <a:srgbClr val="A84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601200" y="4526280"/>
            <a:ext cx="13258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F2430"/>
                </a:solidFill>
                <a:latin typeface="PT Sans"/>
              </a:rPr>
              <a:t>100 сом</a:t>
            </a:r>
          </a:p>
        </p:txBody>
      </p:sp>
      <p:sp>
        <p:nvSpPr>
          <p:cNvPr id="45" name="Rounded Rectangle 44"/>
          <p:cNvSpPr/>
          <p:nvPr/>
        </p:nvSpPr>
        <p:spPr>
          <a:xfrm>
            <a:off x="11064240" y="3840480"/>
            <a:ext cx="914400" cy="502920"/>
          </a:xfrm>
          <a:prstGeom prst="roundRect">
            <a:avLst>
              <a:gd name="adj" fmla="val 3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A84400"/>
                </a:solidFill>
                <a:latin typeface="PT Sans"/>
              </a:rPr>
              <a:t>500</a:t>
            </a:r>
          </a:p>
        </p:txBody>
      </p:sp>
      <p:sp>
        <p:nvSpPr>
          <p:cNvPr id="46" name="TextBox 45"/>
          <p:cNvSpPr txBox="1"/>
          <p:nvPr/>
        </p:nvSpPr>
        <p:spPr>
          <a:xfrm>
            <a:off x="914400" y="5212080"/>
            <a:ext cx="10332720" cy="365760"/>
          </a:xfrm>
          <a:prstGeom prst="rect">
            <a:avLst/>
          </a:prstGeom>
          <a:noFill/>
        </p:spPr>
        <p:txBody>
          <a:bodyPr wrap="square" anchor="t" lIns="45720" rIns="45720" tIns="27432" bIns="27432">
            <a:spAutoFit/>
          </a:bodyPr>
          <a:lstStyle/>
          <a:p>
            <a:pPr algn="ctr">
              <a:lnSpc>
                <a:spcPct val="105000"/>
              </a:lnSpc>
            </a:pPr>
            <a:r>
              <a:rPr sz="1700" b="1" i="0">
                <a:solidFill>
                  <a:srgbClr val="007A5A"/>
                </a:solidFill>
                <a:latin typeface="PT Sans"/>
              </a:rPr>
              <a:t>Кайтарым = кошкон акчалар: 20 + 20 + 50 + 100 = 190 сом</a:t>
            </a:r>
          </a:p>
        </p:txBody>
      </p:sp>
      <p:sp>
        <p:nvSpPr>
          <p:cNvPr id="47" name="TextBox 46"/>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500 − 220 − 90 = 190;     310 + 20 + 20 + 50 + 100 = 500</a:t>
            </a:r>
          </a:p>
        </p:txBody>
      </p:sp>
      <p:sp>
        <p:nvSpPr>
          <p:cNvPr id="48" name="Rounded Rectangle 47"/>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49" name="Rounded Rectangle 48"/>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50" name="Rounded Rectangle 49"/>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51" name="Rounded Rectangle 50"/>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Түшүн</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1. Окуп түшүн</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Канча акча бар? Эмне алат?</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План</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2. Тилке чий</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Бүтүнү, бөлүктөр, кайтарым</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Чыгар</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3. Эсепте</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Баа × сан; кошуу; кемитүү</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Текшер</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4. Текшер</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Баа + кайтарым = берилген акча</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Кайтарым = берилген акча − жалпы баа</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Бекзат 4 самса алды, ар бири 45 сом. 200 сомдук кагаз акча берди. Канча кайтарым алат?</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4 × 45</a:t>
            </a:r>
          </a:p>
        </p:txBody>
      </p:sp>
      <p:sp>
        <p:nvSpPr>
          <p:cNvPr id="13" name="TextBox 12"/>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 180</a:t>
            </a:r>
          </a:p>
        </p:txBody>
      </p:sp>
      <p:sp>
        <p:nvSpPr>
          <p:cNvPr id="14" name="TextBox 13"/>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жалпы баа</a:t>
            </a:r>
          </a:p>
        </p:txBody>
      </p:sp>
      <p:sp>
        <p:nvSpPr>
          <p:cNvPr id="15" name="TextBox 14"/>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200 − 180 = 20</a:t>
            </a:r>
          </a:p>
        </p:txBody>
      </p:sp>
      <p:sp>
        <p:nvSpPr>
          <p:cNvPr id="16" name="TextBox 15"/>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кайтарым</a:t>
            </a:r>
          </a:p>
        </p:txBody>
      </p:sp>
      <p:sp>
        <p:nvSpPr>
          <p:cNvPr id="17" name="TextBox 16"/>
          <p:cNvSpPr txBox="1"/>
          <p:nvPr/>
        </p:nvSpPr>
        <p:spPr>
          <a:xfrm>
            <a:off x="731520" y="4215384"/>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180 + 20 = 200</a:t>
            </a:r>
          </a:p>
        </p:txBody>
      </p:sp>
      <p:sp>
        <p:nvSpPr>
          <p:cNvPr id="18" name="TextBox 17"/>
          <p:cNvSpPr txBox="1"/>
          <p:nvPr/>
        </p:nvSpPr>
        <p:spPr>
          <a:xfrm>
            <a:off x="8366760" y="4215384"/>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текшердик</a:t>
            </a:r>
          </a:p>
        </p:txBody>
      </p:sp>
      <p:sp>
        <p:nvSpPr>
          <p:cNvPr id="19" name="TextBox 18"/>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Кайтарым = </a:t>
            </a:r>
            <a:r>
              <a:rPr sz="3400" b="1">
                <a:solidFill>
                  <a:srgbClr val="24418C"/>
                </a:solidFill>
                <a:latin typeface="PT Sans"/>
              </a:rPr>
              <a:t>20 сом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Айран: 1 литри 60 сом же 2 литрлик бөтөлкө 110 сом. Кайсынысы пайдалуу?</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110 ÷ 2 = 55</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1 литри</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55 &lt; 60</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2 литрлик арзан</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(60 − 55) × 2 = 10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сом үнөм</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Пайдалуусу = </a:t>
            </a:r>
            <a:r>
              <a:rPr sz="3400" b="1">
                <a:solidFill>
                  <a:srgbClr val="24418C"/>
                </a:solidFill>
                <a:latin typeface="PT Sans"/>
              </a:rPr>
              <a:t>2 литрлик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үч жол</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Толуктап саноо</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500 − 310</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310 + 90 = 400</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400 + 100 = 500</a:t>
            </a:r>
          </a:p>
        </p:txBody>
      </p:sp>
      <p:sp>
        <p:nvSpPr>
          <p:cNvPr id="16" name="TextBox 15"/>
          <p:cNvSpPr txBox="1"/>
          <p:nvPr/>
        </p:nvSpPr>
        <p:spPr>
          <a:xfrm>
            <a:off x="658368"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190</a:t>
            </a:r>
          </a:p>
        </p:txBody>
      </p:sp>
      <p:sp>
        <p:nvSpPr>
          <p:cNvPr id="17" name="TextBox 16"/>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Кассирдей: баадан берилген акчага чейин сана.</a:t>
            </a:r>
          </a:p>
        </p:txBody>
      </p:sp>
      <p:sp>
        <p:nvSpPr>
          <p:cNvPr id="18" name="Rounded Rectangle 17"/>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20" name="TextBox 19"/>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Тегерек баа</a:t>
            </a:r>
          </a:p>
        </p:txBody>
      </p:sp>
      <p:sp>
        <p:nvSpPr>
          <p:cNvPr id="21" name="TextBox 20"/>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 × 49</a:t>
            </a:r>
          </a:p>
        </p:txBody>
      </p:sp>
      <p:sp>
        <p:nvSpPr>
          <p:cNvPr id="22" name="TextBox 21"/>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4 × 50 − 4</a:t>
            </a:r>
          </a:p>
        </p:txBody>
      </p:sp>
      <p:sp>
        <p:nvSpPr>
          <p:cNvPr id="23" name="TextBox 22"/>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200 − 4</a:t>
            </a:r>
          </a:p>
        </p:txBody>
      </p:sp>
      <p:sp>
        <p:nvSpPr>
          <p:cNvPr id="24" name="TextBox 23"/>
          <p:cNvSpPr txBox="1"/>
          <p:nvPr/>
        </p:nvSpPr>
        <p:spPr>
          <a:xfrm>
            <a:off x="4526280"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196</a:t>
            </a:r>
          </a:p>
        </p:txBody>
      </p:sp>
      <p:sp>
        <p:nvSpPr>
          <p:cNvPr id="25" name="TextBox 24"/>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49 сом ≈ 50 сом: тегерек санга жеткир, анан оңдо.</a:t>
            </a:r>
          </a:p>
        </p:txBody>
      </p:sp>
      <p:sp>
        <p:nvSpPr>
          <p:cNvPr id="26" name="Rounded Rectangle 25"/>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8" name="TextBox 27"/>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Тыйын → сом</a:t>
            </a:r>
          </a:p>
        </p:txBody>
      </p:sp>
      <p:sp>
        <p:nvSpPr>
          <p:cNvPr id="29" name="TextBox 28"/>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 сом 60 т + 50 т</a:t>
            </a:r>
          </a:p>
        </p:txBody>
      </p:sp>
      <p:sp>
        <p:nvSpPr>
          <p:cNvPr id="30" name="TextBox 29"/>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2 сом 110 т</a:t>
            </a:r>
          </a:p>
        </p:txBody>
      </p:sp>
      <p:sp>
        <p:nvSpPr>
          <p:cNvPr id="31" name="TextBox 30"/>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3 сом 10 т</a:t>
            </a:r>
          </a:p>
        </p:txBody>
      </p:sp>
      <p:sp>
        <p:nvSpPr>
          <p:cNvPr id="32" name="TextBox 31"/>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100 тыйын = 1 сом: тыйынды сомго алмаштыр (т = тыйын).</a:t>
            </a:r>
          </a:p>
        </p:txBody>
      </p:sp>
      <p:sp>
        <p:nvSpPr>
          <p:cNvPr id="33" name="Rounded Rectangle 32"/>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Түшүн → ыкма → эркин эсеп. Ыкмаңды үн чыгарып айт: «Мен ... деп ойлодум».</a:t>
            </a:r>
          </a:p>
        </p:txBody>
      </p:sp>
      <p:sp>
        <p:nvSpPr>
          <p:cNvPr id="34" name="Rounded Rectangle 3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5" name="Rounded Rectangle 34"/>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6" name="Rounded Rectangle 35"/>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7" name="Rounded Rectangle 36"/>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Айдай 4 дептер алды, ар бири 35 сом. Ал 200 сом берди. Канча кайтарым алат?</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160 сом</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60 сом</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165 сом</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161 сом</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Бекзат 3 калем алды, ар бири 35 сом. Баары канча турат?</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Айдайда 500 сом бар. Ал 230 сомдук сумка жана 3 дептер алды (ар бири 25 сом). Канча сом калды?</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Айран: 1 литри 60 сом, 3 литр салынган бөтөлкө 165 сом. 3 литрлик бөтөлкө алса, канча үнөмдөйт?</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Бекзат 3 калем алды, ар бири 35 сом. Баары канча турат?</a:t>
            </a:r>
          </a:p>
        </p:txBody>
      </p:sp>
      <p:sp>
        <p:nvSpPr>
          <p:cNvPr id="13" name="Rectangle 12"/>
          <p:cNvSpPr/>
          <p:nvPr/>
        </p:nvSpPr>
        <p:spPr>
          <a:xfrm>
            <a:off x="566928"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35</a:t>
            </a:r>
          </a:p>
        </p:txBody>
      </p:sp>
      <p:sp>
        <p:nvSpPr>
          <p:cNvPr id="14" name="Rectangle 13"/>
          <p:cNvSpPr/>
          <p:nvPr/>
        </p:nvSpPr>
        <p:spPr>
          <a:xfrm>
            <a:off x="1348232"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35</a:t>
            </a:r>
          </a:p>
        </p:txBody>
      </p:sp>
      <p:sp>
        <p:nvSpPr>
          <p:cNvPr id="15" name="Rectangle 14"/>
          <p:cNvSpPr/>
          <p:nvPr/>
        </p:nvSpPr>
        <p:spPr>
          <a:xfrm>
            <a:off x="2129536"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35</a:t>
            </a:r>
          </a:p>
        </p:txBody>
      </p:sp>
      <p:cxnSp>
        <p:nvCxnSpPr>
          <p:cNvPr id="16" name="Connector 15"/>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105</a:t>
            </a:r>
          </a:p>
        </p:txBody>
      </p:sp>
      <p:sp>
        <p:nvSpPr>
          <p:cNvPr id="20" name="TextBox 19"/>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3 × 35 = 105 сом</a:t>
            </a:r>
          </a:p>
        </p:txBody>
      </p:sp>
      <p:sp>
        <p:nvSpPr>
          <p:cNvPr id="21" name="Rounded Rectangle 20"/>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3" name="TextBox 22"/>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Айдайда 500 сом бар. Ал 230 сомдук сумка жана 3 дептер алды (ар бири 25 сом). Канча сом калды?</a:t>
            </a:r>
          </a:p>
        </p:txBody>
      </p:sp>
      <p:sp>
        <p:nvSpPr>
          <p:cNvPr id="24" name="Rectangle 23"/>
          <p:cNvSpPr/>
          <p:nvPr/>
        </p:nvSpPr>
        <p:spPr>
          <a:xfrm>
            <a:off x="4419600" y="3017520"/>
            <a:ext cx="107819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230</a:t>
            </a:r>
          </a:p>
        </p:txBody>
      </p:sp>
      <p:sp>
        <p:nvSpPr>
          <p:cNvPr id="25" name="Rectangle 24"/>
          <p:cNvSpPr/>
          <p:nvPr/>
        </p:nvSpPr>
        <p:spPr>
          <a:xfrm>
            <a:off x="5497799" y="3017520"/>
            <a:ext cx="351586"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75</a:t>
            </a:r>
          </a:p>
        </p:txBody>
      </p:sp>
      <p:sp>
        <p:nvSpPr>
          <p:cNvPr id="26" name="Rectangle 25"/>
          <p:cNvSpPr/>
          <p:nvPr/>
        </p:nvSpPr>
        <p:spPr>
          <a:xfrm>
            <a:off x="5849386" y="3017520"/>
            <a:ext cx="914125"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195</a:t>
            </a:r>
          </a:p>
        </p:txBody>
      </p:sp>
      <p:cxnSp>
        <p:nvCxnSpPr>
          <p:cNvPr id="27" name="Connector 26"/>
          <p:cNvCxnSpPr/>
          <p:nvPr/>
        </p:nvCxnSpPr>
        <p:spPr>
          <a:xfrm>
            <a:off x="6854951" y="3017520"/>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92112"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4951" y="3401568"/>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37832"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500</a:t>
            </a:r>
          </a:p>
        </p:txBody>
      </p:sp>
      <p:sp>
        <p:nvSpPr>
          <p:cNvPr id="31" name="TextBox 30"/>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500 − 230 − 75 = 195 сом</a:t>
            </a:r>
          </a:p>
        </p:txBody>
      </p:sp>
      <p:sp>
        <p:nvSpPr>
          <p:cNvPr id="32" name="Rounded Rectangle 31"/>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4" name="TextBox 33"/>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Айран: 1 литри 60 сом, 3 литр салынган бөтөлкө 165 сом. 3 литрлик бөтөлкө алса, канча үнөмдөйт?</a:t>
            </a:r>
          </a:p>
        </p:txBody>
      </p:sp>
      <p:sp>
        <p:nvSpPr>
          <p:cNvPr id="35" name="TextBox 34"/>
          <p:cNvSpPr txBox="1"/>
          <p:nvPr/>
        </p:nvSpPr>
        <p:spPr>
          <a:xfrm>
            <a:off x="8272272" y="3017520"/>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1 л × 3</a:t>
            </a:r>
          </a:p>
        </p:txBody>
      </p:sp>
      <p:sp>
        <p:nvSpPr>
          <p:cNvPr id="36" name="Rectangle 35"/>
          <p:cNvSpPr/>
          <p:nvPr/>
        </p:nvSpPr>
        <p:spPr>
          <a:xfrm>
            <a:off x="9735312" y="3017520"/>
            <a:ext cx="29362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60</a:t>
            </a:r>
          </a:p>
        </p:txBody>
      </p:sp>
      <p:sp>
        <p:nvSpPr>
          <p:cNvPr id="37" name="Rectangle 36"/>
          <p:cNvSpPr/>
          <p:nvPr/>
        </p:nvSpPr>
        <p:spPr>
          <a:xfrm>
            <a:off x="10028936" y="3017520"/>
            <a:ext cx="29362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60</a:t>
            </a:r>
          </a:p>
        </p:txBody>
      </p:sp>
      <p:sp>
        <p:nvSpPr>
          <p:cNvPr id="38" name="Rectangle 37"/>
          <p:cNvSpPr/>
          <p:nvPr/>
        </p:nvSpPr>
        <p:spPr>
          <a:xfrm>
            <a:off x="10322560" y="3017520"/>
            <a:ext cx="29362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60</a:t>
            </a:r>
          </a:p>
        </p:txBody>
      </p:sp>
      <p:sp>
        <p:nvSpPr>
          <p:cNvPr id="39" name="TextBox 38"/>
          <p:cNvSpPr txBox="1"/>
          <p:nvPr/>
        </p:nvSpPr>
        <p:spPr>
          <a:xfrm>
            <a:off x="8272272" y="3574389"/>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3 литр</a:t>
            </a:r>
          </a:p>
        </p:txBody>
      </p:sp>
      <p:sp>
        <p:nvSpPr>
          <p:cNvPr id="40" name="Rectangle 39"/>
          <p:cNvSpPr/>
          <p:nvPr/>
        </p:nvSpPr>
        <p:spPr>
          <a:xfrm>
            <a:off x="9735312" y="3574389"/>
            <a:ext cx="807465"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165</a:t>
            </a:r>
          </a:p>
        </p:txBody>
      </p:sp>
      <p:sp>
        <p:nvSpPr>
          <p:cNvPr id="41" name="Rectangle 40"/>
          <p:cNvSpPr/>
          <p:nvPr/>
        </p:nvSpPr>
        <p:spPr>
          <a:xfrm>
            <a:off x="10542778" y="3574389"/>
            <a:ext cx="73405"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15</a:t>
            </a:r>
          </a:p>
        </p:txBody>
      </p:sp>
      <p:sp>
        <p:nvSpPr>
          <p:cNvPr id="42" name="TextBox 41"/>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180 − 165 = 15 сом үнөм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 × 45 сом</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1000 − 650</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 сом 40 тыйын + 80 тыйын</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 дептер 120 сом. 1 дептер канча?</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200 сом берди, 4 × 35 сом алды. Кайтарым?</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Калем: 2 даана 50 сом же 5 даана 120 сом?</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 × 45 сом</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135 сом</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1000 − 650</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350 сом</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 сом 40 тыйын + 80 тыйын</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 сом 20 тыйын</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5 дептер 120 сом. 1 дептер канча?</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24 сом</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200 сом берди, 4 × 35 сом алды. Кайтарым?</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60 сом</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Калем: 2 даана 50 сом же 5 даана 120 сом?</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5 даана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500 сом бар. 10 дептер жана 3 калем керек. Дептер 25 сом же 5 дептерлүү пачка 110 сом. Калем 30 сом. Эң арзан кантип алат? Кайтарым канча?</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500 сом</a:t>
            </a:r>
          </a:p>
        </p:txBody>
      </p:sp>
      <p:sp>
        <p:nvSpPr>
          <p:cNvPr id="13" name="Rectangle 12"/>
          <p:cNvSpPr/>
          <p:nvPr/>
        </p:nvSpPr>
        <p:spPr>
          <a:xfrm>
            <a:off x="2377440" y="2240280"/>
            <a:ext cx="3339388"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дептер 220</a:t>
            </a:r>
          </a:p>
        </p:txBody>
      </p:sp>
      <p:sp>
        <p:nvSpPr>
          <p:cNvPr id="14" name="Rectangle 13"/>
          <p:cNvSpPr/>
          <p:nvPr/>
        </p:nvSpPr>
        <p:spPr>
          <a:xfrm>
            <a:off x="5716828" y="2240280"/>
            <a:ext cx="1366113"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калем 90</a:t>
            </a:r>
          </a:p>
        </p:txBody>
      </p:sp>
      <p:sp>
        <p:nvSpPr>
          <p:cNvPr id="15" name="Rectangle 14"/>
          <p:cNvSpPr/>
          <p:nvPr/>
        </p:nvSpPr>
        <p:spPr>
          <a:xfrm>
            <a:off x="7082942" y="2240280"/>
            <a:ext cx="2884017" cy="548640"/>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6B7280"/>
                </a:solidFill>
                <a:latin typeface="PT Sans"/>
              </a:rPr>
              <a:t>кайтарым 190</a:t>
            </a:r>
          </a:p>
        </p:txBody>
      </p:sp>
      <p:cxnSp>
        <p:nvCxnSpPr>
          <p:cNvPr id="16" name="Connector 15"/>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500</a:t>
            </a:r>
          </a:p>
        </p:txBody>
      </p:sp>
      <p:sp>
        <p:nvSpPr>
          <p:cNvPr id="20" name="TextBox 19"/>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110 ÷ 5 = 22 &lt; 25</a:t>
            </a:r>
          </a:p>
        </p:txBody>
      </p:sp>
      <p:sp>
        <p:nvSpPr>
          <p:cNvPr id="21" name="TextBox 20"/>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пачка пайдалуу</a:t>
            </a:r>
          </a:p>
        </p:txBody>
      </p:sp>
      <p:sp>
        <p:nvSpPr>
          <p:cNvPr id="22" name="TextBox 21"/>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2 × 110 + 3 × 30 = 310</a:t>
            </a:r>
          </a:p>
        </p:txBody>
      </p:sp>
      <p:sp>
        <p:nvSpPr>
          <p:cNvPr id="23" name="TextBox 22"/>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жалпы баа</a:t>
            </a:r>
          </a:p>
        </p:txBody>
      </p:sp>
      <p:sp>
        <p:nvSpPr>
          <p:cNvPr id="24" name="TextBox 23"/>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500 − 310 = 190</a:t>
            </a:r>
          </a:p>
        </p:txBody>
      </p:sp>
      <p:sp>
        <p:nvSpPr>
          <p:cNvPr id="25" name="TextBox 24"/>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кайтарым</a:t>
            </a:r>
          </a:p>
        </p:txBody>
      </p:sp>
      <p:sp>
        <p:nvSpPr>
          <p:cNvPr id="26" name="Rounded Rectangle 25"/>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Баары 310 сом. Кайтарым 190 сом: 100 + 50 + 20 + 20.</a:t>
            </a:r>
          </a:p>
        </p:txBody>
      </p:sp>
      <p:sp>
        <p:nvSpPr>
          <p:cNvPr id="27" name="Rounded Rectangle 26"/>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Жалал-Абаддагы дүкөн жөнүндө маселе түз: эки пачканы салыштыр, анан кайтарымды тап.</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Айдай, Бекзат, апасы, дүкөнчү Нурлан байке.</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Айран: 2 литри 110 сом же 3 литри 159 сом. 1 литри кайсынысында арзан?</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500 сом берип, 3 китеп алды (ар бири 120 сом). Кайтарым канча?</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1 сом 60 тыйын + 70 тыйын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Кайтарымды кантип текшересиң?</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чоң пачка дайыма эле пайдалуу эмес?</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120 тыйын 12 сом эмес?</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Акча: сатып алуу жана кайтарым</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маселеде кайтарымды текшертем: баа + кайтарым = берилген акча (М2, М5).</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Эң пайдалуу бааны тандоодо «1 даанасы канча?» деп сурайм (М4).</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Капкак тыйындар менен 10 × 10 тыйын = 1 сом алмаштырып көрсөтөм (М1).</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Акчанын санын эмес, маанисин кошобуз: 20, 40, 60… (М6).</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