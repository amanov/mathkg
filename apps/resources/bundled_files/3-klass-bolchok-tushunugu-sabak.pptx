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берем. Окуучулар болжолдошот: Нурбол туурабы? Жоопту сабактын аягында (22-слайд) текшеребиз. Колумда эки бирдей кагаз тегерек болот: бирин 4кө, экинчисин 8ге бүктөйм.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Айзада: бөлчөк үчүн бөлүктөр бирдей болушу керек (Нурбол – 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 дептер барагынан кесилген 4 бирдей кагаз тилке (20 × 3 см), 12 бөтөлкө капкагы же буурчак, бош жумуртка кутусу (10 уячалуу) жана 5 таш берем. Тилкенин бирин бүтүн калтырышат, экинчисин 2ге, үчүнчүсүн 4кө, төртүнчүсүн 8ге бүктөшөт; бүктөлгөн сызыкты карандаш менен чийишет жана ар бир бөлүккө 1/2, 1/4, 1/8 деп жазышат. «Кайсы бөлүк чоң?» деп тилкелерди жанаша коюп салыштырышат. Капкактар: 12 капкакты 4 бирдей топко бөлүшөт, 1 топ – 1/4. Жумуртка кутусуна 3 таш: 10 уячанын 3ү – 3/10.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Бөлчөк дубалын доскага чийем: бүтүн, 1/2, 1/4, 1/8. «Кайсы бөлүк чоң?» деп сурайм: бөлүм чоңойгон сайын бөлүк кичирейет (М2). Анан кагаз тилкени сан огунун үстүнө коёбуз: 0дон 1ге чейин 4 бирдей бөлүк, ар бир бөлүктүн аягына 1/4, 2/4, 3/4 жазабыз. Сызыкчаларды эмес, бөлүктөрдү (кадамдарды) санайбыз (М5).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Бөлчөк: бүтүн бирдей бөлүктөргө бөлүнөт (М1). Бөлүм – баары канча бөлүк (сызыктын асты), алым – канчасы алынды (сызыктын үстү). Кыргызча адегенде бөлүм айтылат: «төрттөн үч» (М4). Бирлик бөлчөктөрдү салыштырганда бүтүн бирдей болушу керек: бөлүм чоң болсо, бөлүк кичине (М2, М6).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«8 бөлүктөн 3ү жейилди, 5 бөлүк калды». «Оозеки беш мүнөт» (класста колдонуу картасы)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М3; Б = ✓; В = М4; Г = М5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бөлүктү ата → топтун бөлүгү → салыштыруу. Жооптор: Боелду 2/5;  боелгон жок 3/5; 1/4;  12 : 4 = 3 өрүк; Айзада:  1/3 &gt; 1/6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нан бирдей. 8 бөлүк 4 бөлүктөн майда: 1/8 &lt; 1/4. Экинчи нандын 8 бөлүгүнөн 3ү жейилди, 5 бөлүк калды: 5/8. Кимдир бирөө «5/3» десе, бөлүмдү (баары 8 бөлүк) кайра санатам (М3).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1/3 &gt; 1/5; 5/6 – алтыдан беш; 3/4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Бөлчөк түшүнүгү: бирдей бөлүктөр, окуу, сан огу, салыштыруу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Баткенде өрүк кургатуу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Айзада менен Нурбол Гүлмира таенесине өрүк кургатууга жардам беришет; таене тандыр нанды бирдей бөлүктөргө бөлөт.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стандарты: 2-класс «жарым жана чейрек», 3-класс «сандын бөлүгү» (2011, 3.3.8) жана «бөлчөктөр»; 4-класс «үлүштөр» менен байланыш. Мазмуну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Баткенде өрүк кургатуу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Жайкы каникулда Айзада менен Нурбол Баткенге, Гүлмира таенесине барышты.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Бакчада өрүк бышып калыптыр. Балдар өрүктү терип, тактайга жайып кургатышат.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Таене тандырдан бирдей эки нан алып чыкты. Биринчисин 4 бирдей бөлүккө, экинчисин 8 бирдей бөлүккө бөлдү.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Айзада биринчи нандан 1 бөлүк, Нурбол экинчисинен 1 бөлүк алды. Нурбол: «Меники чоң, анткени 8 – 4төн көп!»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Нандар бирдей. Кимдин бөлүгү чоң: Айзаданыкыбы же Нурболдукубу? Экинчи нандан баары 3 бөлүк жешти. Анын кайсы бөлүгү калды?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Бүтүндү бирдей бөлүктөргө бөлүп, фигуранын жана топтун бөлүгүн бөлчөк менен атайм.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Бөлчөктү сан менен жана сөз менен окуйм, жазам: 3/4 – төрттөн үч (алым жана бөлүм).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Бөлчөктү 0–1 сан огунда табам жана бирлик бөлчөктөрдү салыштырам.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Бирдей бөлүк, бөлчөктү ата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Окуу, жазуу, сан огу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Салыштыруу, маселелер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Бүктөп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бөлчөк дубалы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Баткендеги нан, өрүк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1 сом = 100 тыйын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Жарым, чейрек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Бирдей бөлүү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Бөлчөк түшүнүгү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Сандын бөлүгү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Үлүштөр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Барабар бөлчөктөр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Кадимки бөлчөктөр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Ондук бөлчөктөр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 : 3 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Нандын теңи (жарымы) – канча бирдей бөлүктүн бири?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8 капкакты 2 бирдей топко бөл. Ар бир топто канча?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Кайсы сан чоң: 4 же 8?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 : 3 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Нандын теңи (жарымы) – канча бирдей бөлүктүн бири?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 бөлүктүн бири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 капкакты 2 бирдей топко бөл. Ар бир топто канча?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Кайсы сан чоң: 4 же 8?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Таене нанды 4 бөлүккө кести, бирок бөлүктөрү ар түрдүү. Бир бөлүгү – нандын 1/4 бөлүгүбү?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Нурбол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 бөлүк бар.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Бир бөлүгү – 1/4.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Айзада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Бөлүктөр бирдей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эмес. Бул 1/4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эмес.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Кагаз тегеректи бүктөп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22" name="g3bolchok"/>
          <p:cNvSpPr/>
          <p:nvPr/>
        </p:nvSpPr>
        <p:spPr>
          <a:xfrm>
            <a:off x="4773168" y="3177540"/>
            <a:ext cx="800099" cy="1501233"/>
          </a:xfrm>
          <a:custGeom>
            <a:avLst/>
            <a:gdLst/>
            <a:ahLst/>
            <a:cxnLst/>
            <a:rect l="l" t="t" r="r" b="b"/>
            <a:pathLst>
              <a:path w="800099" h="1501233">
                <a:moveTo>
                  <a:pt x="0" y="800100"/>
                </a:moveTo>
                <a:lnTo>
                  <a:pt x="0" y="0"/>
                </a:lnTo>
                <a:lnTo>
                  <a:pt x="57017" y="2034"/>
                </a:lnTo>
                <a:lnTo>
                  <a:pt x="113744" y="8126"/>
                </a:lnTo>
                <a:lnTo>
                  <a:pt x="169892" y="18245"/>
                </a:lnTo>
                <a:lnTo>
                  <a:pt x="225177" y="32340"/>
                </a:lnTo>
                <a:lnTo>
                  <a:pt x="279317" y="50339"/>
                </a:lnTo>
                <a:lnTo>
                  <a:pt x="332036" y="72150"/>
                </a:lnTo>
                <a:lnTo>
                  <a:pt x="383068" y="97662"/>
                </a:lnTo>
                <a:lnTo>
                  <a:pt x="432151" y="126746"/>
                </a:lnTo>
                <a:lnTo>
                  <a:pt x="479037" y="159254"/>
                </a:lnTo>
                <a:lnTo>
                  <a:pt x="523487" y="195021"/>
                </a:lnTo>
                <a:lnTo>
                  <a:pt x="565276" y="233864"/>
                </a:lnTo>
                <a:lnTo>
                  <a:pt x="604190" y="275586"/>
                </a:lnTo>
                <a:lnTo>
                  <a:pt x="640032" y="319975"/>
                </a:lnTo>
                <a:lnTo>
                  <a:pt x="672619" y="366806"/>
                </a:lnTo>
                <a:lnTo>
                  <a:pt x="701787" y="415840"/>
                </a:lnTo>
                <a:lnTo>
                  <a:pt x="727386" y="466828"/>
                </a:lnTo>
                <a:lnTo>
                  <a:pt x="749286" y="519510"/>
                </a:lnTo>
                <a:lnTo>
                  <a:pt x="767376" y="573619"/>
                </a:lnTo>
                <a:lnTo>
                  <a:pt x="781565" y="628880"/>
                </a:lnTo>
                <a:lnTo>
                  <a:pt x="791779" y="685011"/>
                </a:lnTo>
                <a:lnTo>
                  <a:pt x="797968" y="741728"/>
                </a:lnTo>
                <a:lnTo>
                  <a:pt x="800099" y="798741"/>
                </a:lnTo>
                <a:lnTo>
                  <a:pt x="798162" y="855762"/>
                </a:lnTo>
                <a:lnTo>
                  <a:pt x="792166" y="912499"/>
                </a:lnTo>
                <a:lnTo>
                  <a:pt x="782142" y="968664"/>
                </a:lnTo>
                <a:lnTo>
                  <a:pt x="768141" y="1023973"/>
                </a:lnTo>
                <a:lnTo>
                  <a:pt x="750235" y="1078143"/>
                </a:lnTo>
                <a:lnTo>
                  <a:pt x="728513" y="1130900"/>
                </a:lnTo>
                <a:lnTo>
                  <a:pt x="703088" y="1181974"/>
                </a:lnTo>
                <a:lnTo>
                  <a:pt x="674087" y="1231107"/>
                </a:lnTo>
                <a:lnTo>
                  <a:pt x="641659" y="1278048"/>
                </a:lnTo>
                <a:lnTo>
                  <a:pt x="605968" y="1322559"/>
                </a:lnTo>
                <a:lnTo>
                  <a:pt x="567195" y="1364413"/>
                </a:lnTo>
                <a:lnTo>
                  <a:pt x="525539" y="1403398"/>
                </a:lnTo>
                <a:lnTo>
                  <a:pt x="481211" y="1439315"/>
                </a:lnTo>
                <a:lnTo>
                  <a:pt x="434435" y="1471982"/>
                </a:lnTo>
                <a:lnTo>
                  <a:pt x="385451" y="1501233"/>
                </a:lnTo>
                <a:close/>
              </a:path>
            </a:pathLst>
          </a:custGeom>
          <a:solidFill>
            <a:srgbClr val="F09A3E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3bolchok"/>
          <p:cNvSpPr/>
          <p:nvPr/>
        </p:nvSpPr>
        <p:spPr>
          <a:xfrm>
            <a:off x="4478632" y="3977640"/>
            <a:ext cx="679987" cy="800056"/>
          </a:xfrm>
          <a:custGeom>
            <a:avLst/>
            <a:gdLst/>
            <a:ahLst/>
            <a:cxnLst/>
            <a:rect l="l" t="t" r="r" b="b"/>
            <a:pathLst>
              <a:path w="679987" h="800056">
                <a:moveTo>
                  <a:pt x="294536" y="0"/>
                </a:moveTo>
                <a:lnTo>
                  <a:pt x="679987" y="701133"/>
                </a:lnTo>
                <a:lnTo>
                  <a:pt x="627602" y="727480"/>
                </a:lnTo>
                <a:lnTo>
                  <a:pt x="573428" y="749919"/>
                </a:lnTo>
                <a:lnTo>
                  <a:pt x="517757" y="768331"/>
                </a:lnTo>
                <a:lnTo>
                  <a:pt x="460886" y="782616"/>
                </a:lnTo>
                <a:lnTo>
                  <a:pt x="403122" y="792697"/>
                </a:lnTo>
                <a:lnTo>
                  <a:pt x="344775" y="798521"/>
                </a:lnTo>
                <a:lnTo>
                  <a:pt x="286158" y="800056"/>
                </a:lnTo>
                <a:lnTo>
                  <a:pt x="227585" y="797294"/>
                </a:lnTo>
                <a:lnTo>
                  <a:pt x="169373" y="790249"/>
                </a:lnTo>
                <a:lnTo>
                  <a:pt x="111832" y="778960"/>
                </a:lnTo>
                <a:lnTo>
                  <a:pt x="55273" y="763488"/>
                </a:lnTo>
                <a:lnTo>
                  <a:pt x="0" y="743914"/>
                </a:lnTo>
                <a:close/>
              </a:path>
            </a:pathLst>
          </a:custGeom>
          <a:solidFill>
            <a:srgbClr val="F6E3BF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3bolchok"/>
          <p:cNvSpPr/>
          <p:nvPr/>
        </p:nvSpPr>
        <p:spPr>
          <a:xfrm>
            <a:off x="3973093" y="3592189"/>
            <a:ext cx="800075" cy="1129365"/>
          </a:xfrm>
          <a:custGeom>
            <a:avLst/>
            <a:gdLst/>
            <a:ahLst/>
            <a:cxnLst/>
            <a:rect l="l" t="t" r="r" b="b"/>
            <a:pathLst>
              <a:path w="800075" h="1129365">
                <a:moveTo>
                  <a:pt x="800075" y="385451"/>
                </a:moveTo>
                <a:lnTo>
                  <a:pt x="505539" y="1129365"/>
                </a:lnTo>
                <a:lnTo>
                  <a:pt x="453734" y="1106705"/>
                </a:lnTo>
                <a:lnTo>
                  <a:pt x="403659" y="1080443"/>
                </a:lnTo>
                <a:lnTo>
                  <a:pt x="355563" y="1050710"/>
                </a:lnTo>
                <a:lnTo>
                  <a:pt x="309688" y="1017654"/>
                </a:lnTo>
                <a:lnTo>
                  <a:pt x="266262" y="981441"/>
                </a:lnTo>
                <a:lnTo>
                  <a:pt x="225502" y="942251"/>
                </a:lnTo>
                <a:lnTo>
                  <a:pt x="187612" y="900280"/>
                </a:lnTo>
                <a:lnTo>
                  <a:pt x="152781" y="855738"/>
                </a:lnTo>
                <a:lnTo>
                  <a:pt x="121182" y="808847"/>
                </a:lnTo>
                <a:lnTo>
                  <a:pt x="92974" y="759842"/>
                </a:lnTo>
                <a:lnTo>
                  <a:pt x="68298" y="708966"/>
                </a:lnTo>
                <a:lnTo>
                  <a:pt x="47276" y="656475"/>
                </a:lnTo>
                <a:lnTo>
                  <a:pt x="30015" y="602631"/>
                </a:lnTo>
                <a:lnTo>
                  <a:pt x="16599" y="547701"/>
                </a:lnTo>
                <a:lnTo>
                  <a:pt x="7096" y="491961"/>
                </a:lnTo>
                <a:lnTo>
                  <a:pt x="1554" y="435690"/>
                </a:lnTo>
                <a:lnTo>
                  <a:pt x="0" y="379167"/>
                </a:lnTo>
                <a:lnTo>
                  <a:pt x="2441" y="322676"/>
                </a:lnTo>
                <a:lnTo>
                  <a:pt x="8867" y="266498"/>
                </a:lnTo>
                <a:lnTo>
                  <a:pt x="19244" y="210915"/>
                </a:lnTo>
                <a:lnTo>
                  <a:pt x="33521" y="156203"/>
                </a:lnTo>
                <a:lnTo>
                  <a:pt x="51626" y="102636"/>
                </a:lnTo>
                <a:lnTo>
                  <a:pt x="73470" y="50481"/>
                </a:lnTo>
                <a:lnTo>
                  <a:pt x="98942" y="0"/>
                </a:lnTo>
                <a:close/>
              </a:path>
            </a:pathLst>
          </a:custGeom>
          <a:solidFill>
            <a:srgbClr val="F6E3BF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3bolchok"/>
          <p:cNvSpPr/>
          <p:nvPr/>
        </p:nvSpPr>
        <p:spPr>
          <a:xfrm>
            <a:off x="4072035" y="3177540"/>
            <a:ext cx="701133" cy="800100"/>
          </a:xfrm>
          <a:custGeom>
            <a:avLst/>
            <a:gdLst/>
            <a:ahLst/>
            <a:cxnLst/>
            <a:rect l="l" t="t" r="r" b="b"/>
            <a:pathLst>
              <a:path w="701133" h="800100">
                <a:moveTo>
                  <a:pt x="701133" y="800100"/>
                </a:moveTo>
                <a:lnTo>
                  <a:pt x="0" y="414649"/>
                </a:lnTo>
                <a:lnTo>
                  <a:pt x="29201" y="365741"/>
                </a:lnTo>
                <a:lnTo>
                  <a:pt x="61809" y="319034"/>
                </a:lnTo>
                <a:lnTo>
                  <a:pt x="97656" y="274766"/>
                </a:lnTo>
                <a:lnTo>
                  <a:pt x="136563" y="233160"/>
                </a:lnTo>
                <a:lnTo>
                  <a:pt x="178331" y="194428"/>
                </a:lnTo>
                <a:lnTo>
                  <a:pt x="222749" y="158766"/>
                </a:lnTo>
                <a:lnTo>
                  <a:pt x="269592" y="126355"/>
                </a:lnTo>
                <a:lnTo>
                  <a:pt x="318622" y="97359"/>
                </a:lnTo>
                <a:lnTo>
                  <a:pt x="369591" y="71924"/>
                </a:lnTo>
                <a:lnTo>
                  <a:pt x="422241" y="50181"/>
                </a:lnTo>
                <a:lnTo>
                  <a:pt x="476304" y="32238"/>
                </a:lnTo>
                <a:lnTo>
                  <a:pt x="531506" y="18188"/>
                </a:lnTo>
                <a:lnTo>
                  <a:pt x="587568" y="8101"/>
                </a:lnTo>
                <a:lnTo>
                  <a:pt x="644206" y="2028"/>
                </a:lnTo>
                <a:lnTo>
                  <a:pt x="701133" y="0"/>
                </a:lnTo>
                <a:close/>
              </a:path>
            </a:pathLst>
          </a:custGeom>
          <a:solidFill>
            <a:srgbClr val="F6E3BF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3bolchok"/>
          <p:cNvSpPr/>
          <p:nvPr/>
        </p:nvSpPr>
        <p:spPr>
          <a:xfrm>
            <a:off x="10552176" y="3177540"/>
            <a:ext cx="800099" cy="1501233"/>
          </a:xfrm>
          <a:custGeom>
            <a:avLst/>
            <a:gdLst/>
            <a:ahLst/>
            <a:cxnLst/>
            <a:rect l="l" t="t" r="r" b="b"/>
            <a:pathLst>
              <a:path w="800099" h="1501233">
                <a:moveTo>
                  <a:pt x="0" y="800100"/>
                </a:moveTo>
                <a:lnTo>
                  <a:pt x="0" y="0"/>
                </a:lnTo>
                <a:lnTo>
                  <a:pt x="57017" y="2034"/>
                </a:lnTo>
                <a:lnTo>
                  <a:pt x="113744" y="8126"/>
                </a:lnTo>
                <a:lnTo>
                  <a:pt x="169892" y="18245"/>
                </a:lnTo>
                <a:lnTo>
                  <a:pt x="225177" y="32340"/>
                </a:lnTo>
                <a:lnTo>
                  <a:pt x="279317" y="50339"/>
                </a:lnTo>
                <a:lnTo>
                  <a:pt x="332036" y="72150"/>
                </a:lnTo>
                <a:lnTo>
                  <a:pt x="383068" y="97662"/>
                </a:lnTo>
                <a:lnTo>
                  <a:pt x="432151" y="126746"/>
                </a:lnTo>
                <a:lnTo>
                  <a:pt x="479037" y="159254"/>
                </a:lnTo>
                <a:lnTo>
                  <a:pt x="523487" y="195021"/>
                </a:lnTo>
                <a:lnTo>
                  <a:pt x="565276" y="233864"/>
                </a:lnTo>
                <a:lnTo>
                  <a:pt x="604190" y="275586"/>
                </a:lnTo>
                <a:lnTo>
                  <a:pt x="640032" y="319975"/>
                </a:lnTo>
                <a:lnTo>
                  <a:pt x="672619" y="366806"/>
                </a:lnTo>
                <a:lnTo>
                  <a:pt x="701787" y="415840"/>
                </a:lnTo>
                <a:lnTo>
                  <a:pt x="727386" y="466828"/>
                </a:lnTo>
                <a:lnTo>
                  <a:pt x="749286" y="519510"/>
                </a:lnTo>
                <a:lnTo>
                  <a:pt x="767376" y="573619"/>
                </a:lnTo>
                <a:lnTo>
                  <a:pt x="781565" y="628880"/>
                </a:lnTo>
                <a:lnTo>
                  <a:pt x="791779" y="685011"/>
                </a:lnTo>
                <a:lnTo>
                  <a:pt x="797968" y="741728"/>
                </a:lnTo>
                <a:lnTo>
                  <a:pt x="800099" y="798741"/>
                </a:lnTo>
                <a:lnTo>
                  <a:pt x="798162" y="855762"/>
                </a:lnTo>
                <a:lnTo>
                  <a:pt x="792166" y="912499"/>
                </a:lnTo>
                <a:lnTo>
                  <a:pt x="782142" y="968664"/>
                </a:lnTo>
                <a:lnTo>
                  <a:pt x="768141" y="1023973"/>
                </a:lnTo>
                <a:lnTo>
                  <a:pt x="750235" y="1078143"/>
                </a:lnTo>
                <a:lnTo>
                  <a:pt x="728513" y="1130900"/>
                </a:lnTo>
                <a:lnTo>
                  <a:pt x="703088" y="1181974"/>
                </a:lnTo>
                <a:lnTo>
                  <a:pt x="674087" y="1231107"/>
                </a:lnTo>
                <a:lnTo>
                  <a:pt x="641659" y="1278048"/>
                </a:lnTo>
                <a:lnTo>
                  <a:pt x="605968" y="1322559"/>
                </a:lnTo>
                <a:lnTo>
                  <a:pt x="567195" y="1364413"/>
                </a:lnTo>
                <a:lnTo>
                  <a:pt x="525539" y="1403398"/>
                </a:lnTo>
                <a:lnTo>
                  <a:pt x="481211" y="1439315"/>
                </a:lnTo>
                <a:lnTo>
                  <a:pt x="434435" y="1471982"/>
                </a:lnTo>
                <a:lnTo>
                  <a:pt x="385451" y="1501233"/>
                </a:lnTo>
                <a:close/>
              </a:path>
            </a:pathLst>
          </a:custGeom>
          <a:solidFill>
            <a:srgbClr val="F09A3E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3bolchok"/>
          <p:cNvSpPr/>
          <p:nvPr/>
        </p:nvSpPr>
        <p:spPr>
          <a:xfrm>
            <a:off x="10257640" y="3977640"/>
            <a:ext cx="679987" cy="800056"/>
          </a:xfrm>
          <a:custGeom>
            <a:avLst/>
            <a:gdLst/>
            <a:ahLst/>
            <a:cxnLst/>
            <a:rect l="l" t="t" r="r" b="b"/>
            <a:pathLst>
              <a:path w="679987" h="800056">
                <a:moveTo>
                  <a:pt x="294536" y="0"/>
                </a:moveTo>
                <a:lnTo>
                  <a:pt x="679987" y="701133"/>
                </a:lnTo>
                <a:lnTo>
                  <a:pt x="627602" y="727480"/>
                </a:lnTo>
                <a:lnTo>
                  <a:pt x="573428" y="749919"/>
                </a:lnTo>
                <a:lnTo>
                  <a:pt x="517757" y="768331"/>
                </a:lnTo>
                <a:lnTo>
                  <a:pt x="460886" y="782616"/>
                </a:lnTo>
                <a:lnTo>
                  <a:pt x="403122" y="792697"/>
                </a:lnTo>
                <a:lnTo>
                  <a:pt x="344775" y="798521"/>
                </a:lnTo>
                <a:lnTo>
                  <a:pt x="286158" y="800056"/>
                </a:lnTo>
                <a:lnTo>
                  <a:pt x="227585" y="797294"/>
                </a:lnTo>
                <a:lnTo>
                  <a:pt x="169373" y="790249"/>
                </a:lnTo>
                <a:lnTo>
                  <a:pt x="111832" y="778960"/>
                </a:lnTo>
                <a:lnTo>
                  <a:pt x="55273" y="763488"/>
                </a:lnTo>
                <a:lnTo>
                  <a:pt x="0" y="743914"/>
                </a:lnTo>
                <a:close/>
              </a:path>
            </a:pathLst>
          </a:custGeom>
          <a:solidFill>
            <a:srgbClr val="F6E3BF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3bolchok"/>
          <p:cNvSpPr/>
          <p:nvPr/>
        </p:nvSpPr>
        <p:spPr>
          <a:xfrm>
            <a:off x="9752101" y="3592189"/>
            <a:ext cx="800075" cy="1129365"/>
          </a:xfrm>
          <a:custGeom>
            <a:avLst/>
            <a:gdLst/>
            <a:ahLst/>
            <a:cxnLst/>
            <a:rect l="l" t="t" r="r" b="b"/>
            <a:pathLst>
              <a:path w="800075" h="1129365">
                <a:moveTo>
                  <a:pt x="800075" y="385451"/>
                </a:moveTo>
                <a:lnTo>
                  <a:pt x="505539" y="1129365"/>
                </a:lnTo>
                <a:lnTo>
                  <a:pt x="453734" y="1106705"/>
                </a:lnTo>
                <a:lnTo>
                  <a:pt x="403659" y="1080443"/>
                </a:lnTo>
                <a:lnTo>
                  <a:pt x="355563" y="1050710"/>
                </a:lnTo>
                <a:lnTo>
                  <a:pt x="309688" y="1017654"/>
                </a:lnTo>
                <a:lnTo>
                  <a:pt x="266262" y="981441"/>
                </a:lnTo>
                <a:lnTo>
                  <a:pt x="225502" y="942251"/>
                </a:lnTo>
                <a:lnTo>
                  <a:pt x="187612" y="900280"/>
                </a:lnTo>
                <a:lnTo>
                  <a:pt x="152781" y="855738"/>
                </a:lnTo>
                <a:lnTo>
                  <a:pt x="121182" y="808847"/>
                </a:lnTo>
                <a:lnTo>
                  <a:pt x="92974" y="759842"/>
                </a:lnTo>
                <a:lnTo>
                  <a:pt x="68298" y="708966"/>
                </a:lnTo>
                <a:lnTo>
                  <a:pt x="47276" y="656475"/>
                </a:lnTo>
                <a:lnTo>
                  <a:pt x="30015" y="602631"/>
                </a:lnTo>
                <a:lnTo>
                  <a:pt x="16599" y="547701"/>
                </a:lnTo>
                <a:lnTo>
                  <a:pt x="7096" y="491961"/>
                </a:lnTo>
                <a:lnTo>
                  <a:pt x="1554" y="435690"/>
                </a:lnTo>
                <a:lnTo>
                  <a:pt x="0" y="379167"/>
                </a:lnTo>
                <a:lnTo>
                  <a:pt x="2441" y="322676"/>
                </a:lnTo>
                <a:lnTo>
                  <a:pt x="8867" y="266498"/>
                </a:lnTo>
                <a:lnTo>
                  <a:pt x="19244" y="210915"/>
                </a:lnTo>
                <a:lnTo>
                  <a:pt x="33521" y="156203"/>
                </a:lnTo>
                <a:lnTo>
                  <a:pt x="51626" y="102636"/>
                </a:lnTo>
                <a:lnTo>
                  <a:pt x="73470" y="50481"/>
                </a:lnTo>
                <a:lnTo>
                  <a:pt x="98942" y="0"/>
                </a:lnTo>
                <a:close/>
              </a:path>
            </a:pathLst>
          </a:custGeom>
          <a:solidFill>
            <a:srgbClr val="F6E3BF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3bolchok"/>
          <p:cNvSpPr/>
          <p:nvPr/>
        </p:nvSpPr>
        <p:spPr>
          <a:xfrm>
            <a:off x="9851043" y="3177540"/>
            <a:ext cx="701133" cy="800100"/>
          </a:xfrm>
          <a:custGeom>
            <a:avLst/>
            <a:gdLst/>
            <a:ahLst/>
            <a:cxnLst/>
            <a:rect l="l" t="t" r="r" b="b"/>
            <a:pathLst>
              <a:path w="701133" h="800100">
                <a:moveTo>
                  <a:pt x="701133" y="800100"/>
                </a:moveTo>
                <a:lnTo>
                  <a:pt x="0" y="414649"/>
                </a:lnTo>
                <a:lnTo>
                  <a:pt x="29201" y="365741"/>
                </a:lnTo>
                <a:lnTo>
                  <a:pt x="61809" y="319034"/>
                </a:lnTo>
                <a:lnTo>
                  <a:pt x="97656" y="274766"/>
                </a:lnTo>
                <a:lnTo>
                  <a:pt x="136563" y="233160"/>
                </a:lnTo>
                <a:lnTo>
                  <a:pt x="178331" y="194428"/>
                </a:lnTo>
                <a:lnTo>
                  <a:pt x="222749" y="158766"/>
                </a:lnTo>
                <a:lnTo>
                  <a:pt x="269592" y="126355"/>
                </a:lnTo>
                <a:lnTo>
                  <a:pt x="318622" y="97359"/>
                </a:lnTo>
                <a:lnTo>
                  <a:pt x="369591" y="71924"/>
                </a:lnTo>
                <a:lnTo>
                  <a:pt x="422241" y="50181"/>
                </a:lnTo>
                <a:lnTo>
                  <a:pt x="476304" y="32238"/>
                </a:lnTo>
                <a:lnTo>
                  <a:pt x="531506" y="18188"/>
                </a:lnTo>
                <a:lnTo>
                  <a:pt x="587568" y="8101"/>
                </a:lnTo>
                <a:lnTo>
                  <a:pt x="644206" y="2028"/>
                </a:lnTo>
                <a:lnTo>
                  <a:pt x="701133" y="0"/>
                </a:lnTo>
                <a:close/>
              </a:path>
            </a:pathLst>
          </a:custGeom>
          <a:solidFill>
            <a:srgbClr val="F6E3BF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кагаз тилкени 2ге, 4кө, 8ге бүктөп бөлчөк дубалын жасагыла. 12 капкакты 4 бирдей топко бөлгүлө.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60448"/>
            <a:ext cx="420624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PT Sans"/>
              </a:rPr>
              <a:t>Кагаз тилкени бүктөйбүз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14600"/>
            <a:ext cx="3566160" cy="384048"/>
          </a:xfrm>
          <a:prstGeom prst="rect">
            <a:avLst/>
          </a:prstGeom>
          <a:solidFill>
            <a:srgbClr val="F09A3E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574544"/>
            <a:ext cx="274320" cy="264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90088"/>
            <a:ext cx="1783080" cy="384048"/>
          </a:xfrm>
          <a:prstGeom prst="rect">
            <a:avLst/>
          </a:prstGeom>
          <a:solidFill>
            <a:srgbClr val="F09A3E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2990088"/>
            <a:ext cx="178308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468880" y="2944368"/>
            <a:ext cx="0" cy="475488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83792" y="3050032"/>
            <a:ext cx="387096" cy="264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430"/>
                </a:solidFill>
                <a:latin typeface="PT Sans"/>
              </a:rPr>
              <a:t>1/2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465576"/>
            <a:ext cx="891540" cy="384048"/>
          </a:xfrm>
          <a:prstGeom prst="rect">
            <a:avLst/>
          </a:prstGeom>
          <a:solidFill>
            <a:srgbClr val="F09A3E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77340" y="3465576"/>
            <a:ext cx="89154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3465576"/>
            <a:ext cx="89154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0420" y="3465576"/>
            <a:ext cx="89154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577340" y="3419856"/>
            <a:ext cx="0" cy="475488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68880" y="3419856"/>
            <a:ext cx="0" cy="475488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360420" y="3419856"/>
            <a:ext cx="0" cy="475488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8022" y="3525520"/>
            <a:ext cx="387096" cy="264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941064"/>
            <a:ext cx="445770" cy="384048"/>
          </a:xfrm>
          <a:prstGeom prst="rect">
            <a:avLst/>
          </a:prstGeom>
          <a:solidFill>
            <a:srgbClr val="F09A3E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1570" y="3941064"/>
            <a:ext cx="44577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77340" y="3941064"/>
            <a:ext cx="44577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23110" y="3941064"/>
            <a:ext cx="44577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68880" y="3941064"/>
            <a:ext cx="44577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14650" y="3941064"/>
            <a:ext cx="44577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60420" y="3941064"/>
            <a:ext cx="44577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06189" y="3941064"/>
            <a:ext cx="44577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131570" y="3895344"/>
            <a:ext cx="0" cy="475488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77340" y="3895344"/>
            <a:ext cx="0" cy="475488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23110" y="3895344"/>
            <a:ext cx="0" cy="475488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68880" y="3895344"/>
            <a:ext cx="0" cy="475488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914650" y="3895344"/>
            <a:ext cx="0" cy="475488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360420" y="3895344"/>
            <a:ext cx="0" cy="475488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06189" y="3895344"/>
            <a:ext cx="0" cy="475488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7141" y="4031488"/>
            <a:ext cx="323088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2430"/>
                </a:solidFill>
                <a:latin typeface="PT Sans"/>
              </a:rPr>
              <a:t>1/8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404360"/>
            <a:ext cx="384048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4A5A70"/>
                </a:solidFill>
                <a:latin typeface="PT Sans"/>
              </a:rPr>
              <a:t>Бүктөлгөн сызык – бөлүктүн чеги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2060448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PT Sans"/>
              </a:rPr>
              <a:t>12 капкак: 4 бирдей топ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2514600"/>
            <a:ext cx="1371600" cy="7772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10328" y="27432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983480" y="281635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21808" y="27432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94960" y="281635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733288" y="27432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806440" y="281635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80" y="2514600"/>
            <a:ext cx="13716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64808" y="27432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37960" y="281635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876288" y="27432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949440" y="281635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87768" y="27432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360920" y="281635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00600" y="3474720"/>
            <a:ext cx="13716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910328" y="370332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983480" y="377647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321808" y="370332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394960" y="377647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733288" y="370332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806440" y="377647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55080" y="3474720"/>
            <a:ext cx="13716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464808" y="370332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37960" y="377647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76288" y="370332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949440" y="377647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287768" y="370332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360920" y="3776472"/>
            <a:ext cx="182880" cy="182880"/>
          </a:xfrm>
          <a:prstGeom prst="ellipse">
            <a:avLst/>
          </a:prstGeom>
          <a:noFill/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80560" y="4394200"/>
            <a:ext cx="3657600" cy="264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7A5A"/>
                </a:solidFill>
                <a:latin typeface="PT Sans"/>
              </a:rPr>
              <a:t>1 топ = 1/4 (12 капкактын 3ү)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-91439" y="4759959"/>
            <a:ext cx="5120640" cy="264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A84400"/>
                </a:solidFill>
                <a:latin typeface="PT Sans"/>
              </a:rPr>
              <a:t>Жумуртка кутусу: 10 уячанын 3үндө таш = 3/10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7512" y="5074920"/>
            <a:ext cx="402336" cy="36576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40664" y="5129784"/>
            <a:ext cx="256032" cy="256032"/>
          </a:xfrm>
          <a:prstGeom prst="ellipse">
            <a:avLst/>
          </a:prstGeom>
          <a:solidFill>
            <a:srgbClr val="8A8F98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24712" y="5074920"/>
            <a:ext cx="402336" cy="36576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97864" y="5129784"/>
            <a:ext cx="256032" cy="256032"/>
          </a:xfrm>
          <a:prstGeom prst="ellipse">
            <a:avLst/>
          </a:prstGeom>
          <a:solidFill>
            <a:srgbClr val="8A8F98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581912" y="5074920"/>
            <a:ext cx="402336" cy="36576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655064" y="5129784"/>
            <a:ext cx="256032" cy="256032"/>
          </a:xfrm>
          <a:prstGeom prst="ellipse">
            <a:avLst/>
          </a:prstGeom>
          <a:solidFill>
            <a:srgbClr val="8A8F98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039112" y="5074920"/>
            <a:ext cx="402336" cy="36576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496312" y="5074920"/>
            <a:ext cx="402336" cy="36576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7512" y="5486400"/>
            <a:ext cx="402336" cy="36576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24712" y="5486400"/>
            <a:ext cx="402336" cy="36576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1912" y="5486400"/>
            <a:ext cx="402336" cy="36576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039112" y="5486400"/>
            <a:ext cx="402336" cy="36576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496312" y="5486400"/>
            <a:ext cx="402336" cy="36576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7680" y="4759959"/>
            <a:ext cx="4023360" cy="264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4418C"/>
                </a:solidFill>
                <a:latin typeface="PT Sans"/>
              </a:rPr>
              <a:t>Жип: 0дон 1ге чейин 4 бирдей кадам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791456" y="5408676"/>
            <a:ext cx="3127248" cy="0"/>
          </a:xfrm>
          <a:prstGeom prst="line">
            <a:avLst/>
          </a:prstGeom>
          <a:ln w="22859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846320" y="5257800"/>
            <a:ext cx="0" cy="301752"/>
          </a:xfrm>
          <a:prstGeom prst="line">
            <a:avLst/>
          </a:prstGeom>
          <a:ln w="22859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709159" y="5551932"/>
            <a:ext cx="27432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5600700" y="5303062"/>
            <a:ext cx="0" cy="211227"/>
          </a:xfrm>
          <a:prstGeom prst="line">
            <a:avLst/>
          </a:prstGeom>
          <a:ln w="22859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355079" y="5303062"/>
            <a:ext cx="0" cy="211227"/>
          </a:xfrm>
          <a:prstGeom prst="line">
            <a:avLst/>
          </a:prstGeom>
          <a:ln w="22859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109459" y="5303062"/>
            <a:ext cx="0" cy="211227"/>
          </a:xfrm>
          <a:prstGeom prst="line">
            <a:avLst/>
          </a:prstGeom>
          <a:ln w="22859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926579" y="5551932"/>
            <a:ext cx="3657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A84400"/>
                </a:solidFill>
                <a:latin typeface="PT Sans"/>
              </a:rPr>
              <a:t>3/4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863840" y="5257800"/>
            <a:ext cx="0" cy="301752"/>
          </a:xfrm>
          <a:prstGeom prst="line">
            <a:avLst/>
          </a:prstGeom>
          <a:ln w="22859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726679" y="5551932"/>
            <a:ext cx="27432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98" name="Oval 97"/>
          <p:cNvSpPr/>
          <p:nvPr/>
        </p:nvSpPr>
        <p:spPr>
          <a:xfrm>
            <a:off x="7015162" y="5314378"/>
            <a:ext cx="188595" cy="188595"/>
          </a:xfrm>
          <a:prstGeom prst="ellipse">
            <a:avLst/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006840" y="2057400"/>
            <a:ext cx="274320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144000" y="2121408"/>
            <a:ext cx="25146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4 кагаз тилке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12 капкак же буурчак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жумуртка кутусу, 5 таш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 м жип, карандаш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Бүктөсөк – бөлүктөр бирдей!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бөлчөк дубалы жана сан огу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Бөлчөк дубалында тилкелер бирдей. Сан огунда 0дон 1ге чейинки аралык – бүтүн.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148840"/>
            <a:ext cx="5486400" cy="457200"/>
          </a:xfrm>
          <a:prstGeom prst="rect">
            <a:avLst/>
          </a:prstGeom>
          <a:solidFill>
            <a:srgbClr val="F09A3E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235200"/>
            <a:ext cx="27432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70048"/>
            <a:ext cx="2743200" cy="457200"/>
          </a:xfrm>
          <a:prstGeom prst="rect">
            <a:avLst/>
          </a:prstGeom>
          <a:solidFill>
            <a:srgbClr val="F09A3E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0344" y="2756408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430"/>
                </a:solidFill>
                <a:latin typeface="PT Sans"/>
              </a:rPr>
              <a:t>1/2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670048"/>
            <a:ext cx="2743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3544" y="2756408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1/2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191256"/>
            <a:ext cx="1828800" cy="457200"/>
          </a:xfrm>
          <a:prstGeom prst="rect">
            <a:avLst/>
          </a:prstGeom>
          <a:solidFill>
            <a:srgbClr val="F09A3E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3143" y="3277616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430"/>
                </a:solidFill>
                <a:latin typeface="PT Sans"/>
              </a:rPr>
              <a:t>1/3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191256"/>
            <a:ext cx="1828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1944" y="3277616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1/3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191256"/>
            <a:ext cx="1828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0744" y="3277616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1/3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712464"/>
            <a:ext cx="1371600" cy="457200"/>
          </a:xfrm>
          <a:prstGeom prst="rect">
            <a:avLst/>
          </a:prstGeom>
          <a:solidFill>
            <a:srgbClr val="F09A3E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4543" y="3798824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3712464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6144" y="3798824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3712464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47744" y="3798824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3712464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9344" y="3798824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233672"/>
            <a:ext cx="914400" cy="457200"/>
          </a:xfrm>
          <a:prstGeom prst="rect">
            <a:avLst/>
          </a:prstGeom>
          <a:solidFill>
            <a:srgbClr val="F09A3E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5943" y="4320032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430"/>
                </a:solidFill>
                <a:latin typeface="PT Sans"/>
              </a:rPr>
              <a:t>1/6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7360" y="4233672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90344" y="4320032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1/6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4233672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04744" y="4320032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1/6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4233672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19144" y="4320032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1/6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4233672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33544" y="4320032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1/6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4233672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47944" y="4320032"/>
            <a:ext cx="40843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1/6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4754880"/>
            <a:ext cx="685800" cy="457200"/>
          </a:xfrm>
          <a:prstGeom prst="rect">
            <a:avLst/>
          </a:prstGeom>
          <a:solidFill>
            <a:srgbClr val="F09A3E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980" y="4861560"/>
            <a:ext cx="3657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430"/>
                </a:solidFill>
                <a:latin typeface="PT Sans"/>
              </a:rPr>
              <a:t>1/8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4754880"/>
            <a:ext cx="685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68780" y="4861560"/>
            <a:ext cx="3657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0"/>
                </a:solidFill>
                <a:latin typeface="PT Sans"/>
              </a:rPr>
              <a:t>1/8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94560" y="4754880"/>
            <a:ext cx="685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54579" y="4861560"/>
            <a:ext cx="3657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0"/>
                </a:solidFill>
                <a:latin typeface="PT Sans"/>
              </a:rPr>
              <a:t>1/8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360" y="4754880"/>
            <a:ext cx="685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40379" y="4861560"/>
            <a:ext cx="3657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0"/>
                </a:solidFill>
                <a:latin typeface="PT Sans"/>
              </a:rPr>
              <a:t>1/8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4754880"/>
            <a:ext cx="685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6180" y="4861560"/>
            <a:ext cx="3657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0"/>
                </a:solidFill>
                <a:latin typeface="PT Sans"/>
              </a:rPr>
              <a:t>1/8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51960" y="4754880"/>
            <a:ext cx="685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11980" y="4861560"/>
            <a:ext cx="3657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0"/>
                </a:solidFill>
                <a:latin typeface="PT Sans"/>
              </a:rPr>
              <a:t>1/8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4754880"/>
            <a:ext cx="685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97780" y="4861560"/>
            <a:ext cx="3657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0"/>
                </a:solidFill>
                <a:latin typeface="PT Sans"/>
              </a:rPr>
              <a:t>1/8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23560" y="4754880"/>
            <a:ext cx="685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83580" y="4861560"/>
            <a:ext cx="3657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0"/>
                </a:solidFill>
                <a:latin typeface="PT Sans"/>
              </a:rPr>
              <a:t>1/8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59" y="5288280"/>
            <a:ext cx="5486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84400"/>
                </a:solidFill>
                <a:latin typeface="PT Sans"/>
              </a:rPr>
              <a:t>Бөлүм чоңойгон сайын бөлүк кичирейет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2087880"/>
            <a:ext cx="438912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PT Sans"/>
              </a:rPr>
              <a:t>Сан огу: 0дон 1ге чейин – бүтүн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008876" y="2944368"/>
            <a:ext cx="4361688" cy="0"/>
          </a:xfrm>
          <a:prstGeom prst="line">
            <a:avLst/>
          </a:prstGeom>
          <a:ln w="3048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063740" y="2743199"/>
            <a:ext cx="0" cy="402337"/>
          </a:xfrm>
          <a:prstGeom prst="line">
            <a:avLst/>
          </a:prstGeom>
          <a:ln w="3048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926579" y="3136011"/>
            <a:ext cx="27432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126729" y="2803550"/>
            <a:ext cx="0" cy="281635"/>
          </a:xfrm>
          <a:prstGeom prst="line">
            <a:avLst/>
          </a:prstGeom>
          <a:ln w="3048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911846" y="3136011"/>
            <a:ext cx="42976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189720" y="2803550"/>
            <a:ext cx="0" cy="281635"/>
          </a:xfrm>
          <a:prstGeom prst="line">
            <a:avLst/>
          </a:prstGeom>
          <a:ln w="3048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974836" y="3136011"/>
            <a:ext cx="42976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0"/>
                </a:solidFill>
                <a:latin typeface="PT Sans"/>
              </a:rPr>
              <a:t>2/4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252710" y="2803550"/>
            <a:ext cx="0" cy="281635"/>
          </a:xfrm>
          <a:prstGeom prst="line">
            <a:avLst/>
          </a:prstGeom>
          <a:ln w="3048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037826" y="3136011"/>
            <a:ext cx="42976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84400"/>
                </a:solidFill>
                <a:latin typeface="PT Sans"/>
              </a:rPr>
              <a:t>3/4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1315700" y="2743199"/>
            <a:ext cx="0" cy="402337"/>
          </a:xfrm>
          <a:prstGeom prst="line">
            <a:avLst/>
          </a:prstGeom>
          <a:ln w="3048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1178540" y="3136011"/>
            <a:ext cx="27432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3" name="Oval 72"/>
          <p:cNvSpPr/>
          <p:nvPr/>
        </p:nvSpPr>
        <p:spPr>
          <a:xfrm>
            <a:off x="10126980" y="2818637"/>
            <a:ext cx="251460" cy="251460"/>
          </a:xfrm>
          <a:prstGeom prst="ellipse">
            <a:avLst/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9440" y="3515360"/>
            <a:ext cx="438912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4A5A70"/>
                </a:solidFill>
                <a:latin typeface="PT Sans"/>
              </a:rPr>
              <a:t>4 бирдей бөлүк, 0дон 3 кадам = 3/4</a:t>
            </a:r>
          </a:p>
        </p:txBody>
      </p:sp>
      <p:sp>
        <p:nvSpPr>
          <p:cNvPr id="75" name="Freeform 74"/>
          <p:cNvSpPr/>
          <p:nvPr/>
        </p:nvSpPr>
        <p:spPr>
          <a:xfrm>
            <a:off x="7955280" y="4046220"/>
            <a:ext cx="468769" cy="662940"/>
          </a:xfrm>
          <a:custGeom>
            <a:avLst/>
            <a:gdLst/>
            <a:ahLst/>
            <a:cxnLst/>
            <a:rect l="l" t="t" r="r" b="b"/>
            <a:pathLst>
              <a:path w="468769" h="662940">
                <a:moveTo>
                  <a:pt x="0" y="662940"/>
                </a:moveTo>
                <a:lnTo>
                  <a:pt x="0" y="0"/>
                </a:lnTo>
                <a:lnTo>
                  <a:pt x="47294" y="1689"/>
                </a:lnTo>
                <a:lnTo>
                  <a:pt x="94346" y="6748"/>
                </a:lnTo>
                <a:lnTo>
                  <a:pt x="140918" y="15150"/>
                </a:lnTo>
                <a:lnTo>
                  <a:pt x="186772" y="26854"/>
                </a:lnTo>
                <a:lnTo>
                  <a:pt x="231674" y="41799"/>
                </a:lnTo>
                <a:lnTo>
                  <a:pt x="275395" y="59909"/>
                </a:lnTo>
                <a:lnTo>
                  <a:pt x="317713" y="81091"/>
                </a:lnTo>
                <a:lnTo>
                  <a:pt x="358412" y="105239"/>
                </a:lnTo>
                <a:lnTo>
                  <a:pt x="397285" y="132229"/>
                </a:lnTo>
                <a:lnTo>
                  <a:pt x="434133" y="161923"/>
                </a:lnTo>
                <a:lnTo>
                  <a:pt x="468769" y="194171"/>
                </a:lnTo>
                <a:close/>
              </a:path>
            </a:pathLst>
          </a:custGeom>
          <a:solidFill>
            <a:srgbClr val="F09A3E"/>
          </a:solidFill>
          <a:ln w="2762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7955280" y="4240391"/>
            <a:ext cx="662940" cy="468769"/>
          </a:xfrm>
          <a:custGeom>
            <a:avLst/>
            <a:gdLst/>
            <a:ahLst/>
            <a:cxnLst/>
            <a:rect l="l" t="t" r="r" b="b"/>
            <a:pathLst>
              <a:path w="662940" h="468769">
                <a:moveTo>
                  <a:pt x="0" y="468769"/>
                </a:moveTo>
                <a:lnTo>
                  <a:pt x="468769" y="0"/>
                </a:lnTo>
                <a:lnTo>
                  <a:pt x="501017" y="34636"/>
                </a:lnTo>
                <a:lnTo>
                  <a:pt x="530711" y="71484"/>
                </a:lnTo>
                <a:lnTo>
                  <a:pt x="557701" y="110357"/>
                </a:lnTo>
                <a:lnTo>
                  <a:pt x="581849" y="151056"/>
                </a:lnTo>
                <a:lnTo>
                  <a:pt x="603031" y="193374"/>
                </a:lnTo>
                <a:lnTo>
                  <a:pt x="621141" y="237095"/>
                </a:lnTo>
                <a:lnTo>
                  <a:pt x="636086" y="281997"/>
                </a:lnTo>
                <a:lnTo>
                  <a:pt x="647790" y="327851"/>
                </a:lnTo>
                <a:lnTo>
                  <a:pt x="656192" y="374423"/>
                </a:lnTo>
                <a:lnTo>
                  <a:pt x="661251" y="421475"/>
                </a:lnTo>
                <a:lnTo>
                  <a:pt x="662940" y="468769"/>
                </a:lnTo>
                <a:close/>
              </a:path>
            </a:pathLst>
          </a:custGeom>
          <a:solidFill>
            <a:srgbClr val="F09A3E"/>
          </a:solidFill>
          <a:ln w="2762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7955280" y="4709160"/>
            <a:ext cx="662940" cy="468769"/>
          </a:xfrm>
          <a:custGeom>
            <a:avLst/>
            <a:gdLst/>
            <a:ahLst/>
            <a:cxnLst/>
            <a:rect l="l" t="t" r="r" b="b"/>
            <a:pathLst>
              <a:path w="662940" h="468769">
                <a:moveTo>
                  <a:pt x="0" y="0"/>
                </a:moveTo>
                <a:lnTo>
                  <a:pt x="662940" y="0"/>
                </a:lnTo>
                <a:lnTo>
                  <a:pt x="661251" y="47294"/>
                </a:lnTo>
                <a:lnTo>
                  <a:pt x="656192" y="94346"/>
                </a:lnTo>
                <a:lnTo>
                  <a:pt x="647790" y="140918"/>
                </a:lnTo>
                <a:lnTo>
                  <a:pt x="636086" y="186772"/>
                </a:lnTo>
                <a:lnTo>
                  <a:pt x="621141" y="231674"/>
                </a:lnTo>
                <a:lnTo>
                  <a:pt x="603031" y="275395"/>
                </a:lnTo>
                <a:lnTo>
                  <a:pt x="581849" y="317713"/>
                </a:lnTo>
                <a:lnTo>
                  <a:pt x="557701" y="358412"/>
                </a:lnTo>
                <a:lnTo>
                  <a:pt x="530711" y="397285"/>
                </a:lnTo>
                <a:lnTo>
                  <a:pt x="501017" y="434133"/>
                </a:lnTo>
                <a:lnTo>
                  <a:pt x="468769" y="468769"/>
                </a:lnTo>
                <a:close/>
              </a:path>
            </a:pathLst>
          </a:custGeom>
          <a:solidFill>
            <a:srgbClr val="F09A3E"/>
          </a:solidFill>
          <a:ln w="2762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7955280" y="4709160"/>
            <a:ext cx="468769" cy="662940"/>
          </a:xfrm>
          <a:custGeom>
            <a:avLst/>
            <a:gdLst/>
            <a:ahLst/>
            <a:cxnLst/>
            <a:rect l="l" t="t" r="r" b="b"/>
            <a:pathLst>
              <a:path w="468769" h="662940">
                <a:moveTo>
                  <a:pt x="0" y="0"/>
                </a:moveTo>
                <a:lnTo>
                  <a:pt x="468769" y="468769"/>
                </a:lnTo>
                <a:lnTo>
                  <a:pt x="434133" y="501017"/>
                </a:lnTo>
                <a:lnTo>
                  <a:pt x="397285" y="530711"/>
                </a:lnTo>
                <a:lnTo>
                  <a:pt x="358412" y="557701"/>
                </a:lnTo>
                <a:lnTo>
                  <a:pt x="317713" y="581849"/>
                </a:lnTo>
                <a:lnTo>
                  <a:pt x="275395" y="603031"/>
                </a:lnTo>
                <a:lnTo>
                  <a:pt x="231674" y="621141"/>
                </a:lnTo>
                <a:lnTo>
                  <a:pt x="186772" y="636086"/>
                </a:lnTo>
                <a:lnTo>
                  <a:pt x="140918" y="647790"/>
                </a:lnTo>
                <a:lnTo>
                  <a:pt x="94346" y="656192"/>
                </a:lnTo>
                <a:lnTo>
                  <a:pt x="47294" y="661251"/>
                </a:lnTo>
                <a:lnTo>
                  <a:pt x="0" y="662940"/>
                </a:lnTo>
                <a:close/>
              </a:path>
            </a:pathLst>
          </a:custGeom>
          <a:solidFill>
            <a:srgbClr val="F6E3BF"/>
          </a:solidFill>
          <a:ln w="2762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7486511" y="4709160"/>
            <a:ext cx="468769" cy="662940"/>
          </a:xfrm>
          <a:custGeom>
            <a:avLst/>
            <a:gdLst/>
            <a:ahLst/>
            <a:cxnLst/>
            <a:rect l="l" t="t" r="r" b="b"/>
            <a:pathLst>
              <a:path w="468769" h="662940">
                <a:moveTo>
                  <a:pt x="468769" y="0"/>
                </a:moveTo>
                <a:lnTo>
                  <a:pt x="468769" y="662940"/>
                </a:lnTo>
                <a:lnTo>
                  <a:pt x="421475" y="661251"/>
                </a:lnTo>
                <a:lnTo>
                  <a:pt x="374423" y="656192"/>
                </a:lnTo>
                <a:lnTo>
                  <a:pt x="327851" y="647790"/>
                </a:lnTo>
                <a:lnTo>
                  <a:pt x="281997" y="636086"/>
                </a:lnTo>
                <a:lnTo>
                  <a:pt x="237095" y="621141"/>
                </a:lnTo>
                <a:lnTo>
                  <a:pt x="193374" y="603031"/>
                </a:lnTo>
                <a:lnTo>
                  <a:pt x="151056" y="581849"/>
                </a:lnTo>
                <a:lnTo>
                  <a:pt x="110357" y="557701"/>
                </a:lnTo>
                <a:lnTo>
                  <a:pt x="71484" y="530711"/>
                </a:lnTo>
                <a:lnTo>
                  <a:pt x="34636" y="501017"/>
                </a:lnTo>
                <a:lnTo>
                  <a:pt x="0" y="468769"/>
                </a:lnTo>
                <a:close/>
              </a:path>
            </a:pathLst>
          </a:custGeom>
          <a:solidFill>
            <a:srgbClr val="F6E3BF"/>
          </a:solidFill>
          <a:ln w="2762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7292340" y="4709160"/>
            <a:ext cx="662940" cy="468769"/>
          </a:xfrm>
          <a:custGeom>
            <a:avLst/>
            <a:gdLst/>
            <a:ahLst/>
            <a:cxnLst/>
            <a:rect l="l" t="t" r="r" b="b"/>
            <a:pathLst>
              <a:path w="662940" h="468769">
                <a:moveTo>
                  <a:pt x="662940" y="0"/>
                </a:moveTo>
                <a:lnTo>
                  <a:pt x="194171" y="468769"/>
                </a:lnTo>
                <a:lnTo>
                  <a:pt x="161923" y="434133"/>
                </a:lnTo>
                <a:lnTo>
                  <a:pt x="132229" y="397285"/>
                </a:lnTo>
                <a:lnTo>
                  <a:pt x="105239" y="358412"/>
                </a:lnTo>
                <a:lnTo>
                  <a:pt x="81091" y="317713"/>
                </a:lnTo>
                <a:lnTo>
                  <a:pt x="59909" y="275395"/>
                </a:lnTo>
                <a:lnTo>
                  <a:pt x="41799" y="231674"/>
                </a:lnTo>
                <a:lnTo>
                  <a:pt x="26854" y="186772"/>
                </a:lnTo>
                <a:lnTo>
                  <a:pt x="15150" y="140918"/>
                </a:lnTo>
                <a:lnTo>
                  <a:pt x="6748" y="94346"/>
                </a:lnTo>
                <a:lnTo>
                  <a:pt x="1689" y="47294"/>
                </a:lnTo>
                <a:lnTo>
                  <a:pt x="0" y="0"/>
                </a:lnTo>
                <a:close/>
              </a:path>
            </a:pathLst>
          </a:custGeom>
          <a:solidFill>
            <a:srgbClr val="F6E3BF"/>
          </a:solidFill>
          <a:ln w="2762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7292340" y="4240391"/>
            <a:ext cx="662940" cy="468769"/>
          </a:xfrm>
          <a:custGeom>
            <a:avLst/>
            <a:gdLst/>
            <a:ahLst/>
            <a:cxnLst/>
            <a:rect l="l" t="t" r="r" b="b"/>
            <a:pathLst>
              <a:path w="662940" h="468769">
                <a:moveTo>
                  <a:pt x="662940" y="468769"/>
                </a:moveTo>
                <a:lnTo>
                  <a:pt x="0" y="468769"/>
                </a:lnTo>
                <a:lnTo>
                  <a:pt x="1689" y="421475"/>
                </a:lnTo>
                <a:lnTo>
                  <a:pt x="6748" y="374423"/>
                </a:lnTo>
                <a:lnTo>
                  <a:pt x="15150" y="327851"/>
                </a:lnTo>
                <a:lnTo>
                  <a:pt x="26854" y="281997"/>
                </a:lnTo>
                <a:lnTo>
                  <a:pt x="41799" y="237095"/>
                </a:lnTo>
                <a:lnTo>
                  <a:pt x="59909" y="193374"/>
                </a:lnTo>
                <a:lnTo>
                  <a:pt x="81091" y="151056"/>
                </a:lnTo>
                <a:lnTo>
                  <a:pt x="105239" y="110357"/>
                </a:lnTo>
                <a:lnTo>
                  <a:pt x="132229" y="71484"/>
                </a:lnTo>
                <a:lnTo>
                  <a:pt x="161923" y="34636"/>
                </a:lnTo>
                <a:lnTo>
                  <a:pt x="194171" y="0"/>
                </a:lnTo>
                <a:close/>
              </a:path>
            </a:pathLst>
          </a:custGeom>
          <a:solidFill>
            <a:srgbClr val="F6E3BF"/>
          </a:solidFill>
          <a:ln w="2762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7486511" y="4046220"/>
            <a:ext cx="468769" cy="662940"/>
          </a:xfrm>
          <a:custGeom>
            <a:avLst/>
            <a:gdLst/>
            <a:ahLst/>
            <a:cxnLst/>
            <a:rect l="l" t="t" r="r" b="b"/>
            <a:pathLst>
              <a:path w="468769" h="662940">
                <a:moveTo>
                  <a:pt x="468769" y="662940"/>
                </a:moveTo>
                <a:lnTo>
                  <a:pt x="0" y="194171"/>
                </a:lnTo>
                <a:lnTo>
                  <a:pt x="34636" y="161923"/>
                </a:lnTo>
                <a:lnTo>
                  <a:pt x="71484" y="132229"/>
                </a:lnTo>
                <a:lnTo>
                  <a:pt x="110357" y="105239"/>
                </a:lnTo>
                <a:lnTo>
                  <a:pt x="151056" y="81091"/>
                </a:lnTo>
                <a:lnTo>
                  <a:pt x="193374" y="59909"/>
                </a:lnTo>
                <a:lnTo>
                  <a:pt x="237095" y="41799"/>
                </a:lnTo>
                <a:lnTo>
                  <a:pt x="281997" y="26854"/>
                </a:lnTo>
                <a:lnTo>
                  <a:pt x="327851" y="15150"/>
                </a:lnTo>
                <a:lnTo>
                  <a:pt x="374423" y="6748"/>
                </a:lnTo>
                <a:lnTo>
                  <a:pt x="421475" y="1689"/>
                </a:lnTo>
                <a:lnTo>
                  <a:pt x="468769" y="0"/>
                </a:lnTo>
                <a:close/>
              </a:path>
            </a:pathLst>
          </a:custGeom>
          <a:solidFill>
            <a:srgbClr val="F6E3BF"/>
          </a:solidFill>
          <a:ln w="2762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23959" y="4292599"/>
            <a:ext cx="23774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PT Sans"/>
              </a:rPr>
              <a:t>8 бөлүктөн 3ү жейилди: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23959" y="4663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4418C"/>
                </a:solidFill>
                <a:latin typeface="PT Sans"/>
              </a:rPr>
              <a:t>калганы 5/8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1/2 &gt; 1/4 &gt; 1/8;     сан огунда 3/4: 4 бирдей бөлүк, 0дон 3 кадам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Бирдей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Бөлүктөр бирдейби?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Бирдей болсо гана бөлчөк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3/4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Алым жана бөлүм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Алым – алынганы, бөлүм – баары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Оку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Адегенде бөлүмдү айт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3/4 = «төрттөн үч»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1/4 &gt; 1/8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Бөлүм чоң – бөлүк кичине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Бүтүн бирдей болсо гана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3/4 = төрттөн үч: 4 бирдей бөлүктүн 3ү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Таене тандыр нанды 6 бирдей бөлүккө бөлдү. Коноктор 5 бөлүгүн жешти. Жейилген бөлүгү кайсы бөлчөк?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Баары: 6 бирдей бөлүк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бөлүм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Жешти: 5 бөлүк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алым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5/6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алтыдан беш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Жейилди = </a:t>
            </a:r>
            <a:r>
              <a:rPr sz="3400" b="1">
                <a:solidFill>
                  <a:srgbClr val="24418C"/>
                </a:solidFill>
                <a:latin typeface="PT Sans"/>
              </a:rPr>
              <a:t>5/6</a:t>
            </a:r>
          </a:p>
        </p:txBody>
      </p:sp>
      <p:sp>
        <p:nvSpPr>
          <p:cNvPr id="19" name="g3bolchok"/>
          <p:cNvSpPr/>
          <p:nvPr/>
        </p:nvSpPr>
        <p:spPr>
          <a:xfrm>
            <a:off x="2286000" y="2606040"/>
            <a:ext cx="950272" cy="1097280"/>
          </a:xfrm>
          <a:custGeom>
            <a:avLst/>
            <a:gdLst/>
            <a:ahLst/>
            <a:cxnLst/>
            <a:rect l="l" t="t" r="r" b="b"/>
            <a:pathLst>
              <a:path w="950272" h="1097280">
                <a:moveTo>
                  <a:pt x="0" y="1097280"/>
                </a:moveTo>
                <a:lnTo>
                  <a:pt x="0" y="0"/>
                </a:lnTo>
                <a:lnTo>
                  <a:pt x="76542" y="2673"/>
                </a:lnTo>
                <a:lnTo>
                  <a:pt x="152712" y="10679"/>
                </a:lnTo>
                <a:lnTo>
                  <a:pt x="228137" y="23978"/>
                </a:lnTo>
                <a:lnTo>
                  <a:pt x="302451" y="42507"/>
                </a:lnTo>
                <a:lnTo>
                  <a:pt x="375292" y="66174"/>
                </a:lnTo>
                <a:lnTo>
                  <a:pt x="446304" y="94865"/>
                </a:lnTo>
                <a:lnTo>
                  <a:pt x="515142" y="128439"/>
                </a:lnTo>
                <a:lnTo>
                  <a:pt x="581470" y="166734"/>
                </a:lnTo>
                <a:lnTo>
                  <a:pt x="644965" y="209562"/>
                </a:lnTo>
                <a:lnTo>
                  <a:pt x="705318" y="256715"/>
                </a:lnTo>
                <a:lnTo>
                  <a:pt x="762235" y="307963"/>
                </a:lnTo>
                <a:lnTo>
                  <a:pt x="815438" y="363056"/>
                </a:lnTo>
                <a:lnTo>
                  <a:pt x="864668" y="421727"/>
                </a:lnTo>
                <a:lnTo>
                  <a:pt x="909686" y="483689"/>
                </a:lnTo>
                <a:lnTo>
                  <a:pt x="950272" y="548640"/>
                </a:lnTo>
                <a:close/>
              </a:path>
            </a:pathLst>
          </a:custGeom>
          <a:solidFill>
            <a:srgbClr val="F09A3E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3bolchok"/>
          <p:cNvSpPr/>
          <p:nvPr/>
        </p:nvSpPr>
        <p:spPr>
          <a:xfrm>
            <a:off x="2286000" y="3154680"/>
            <a:ext cx="1096612" cy="1097280"/>
          </a:xfrm>
          <a:custGeom>
            <a:avLst/>
            <a:gdLst/>
            <a:ahLst/>
            <a:cxnLst/>
            <a:rect l="l" t="t" r="r" b="b"/>
            <a:pathLst>
              <a:path w="1096612" h="1097280">
                <a:moveTo>
                  <a:pt x="0" y="548640"/>
                </a:moveTo>
                <a:lnTo>
                  <a:pt x="950272" y="0"/>
                </a:lnTo>
                <a:lnTo>
                  <a:pt x="986229" y="67624"/>
                </a:lnTo>
                <a:lnTo>
                  <a:pt x="1017380" y="137592"/>
                </a:lnTo>
                <a:lnTo>
                  <a:pt x="1043575" y="209562"/>
                </a:lnTo>
                <a:lnTo>
                  <a:pt x="1064686" y="283184"/>
                </a:lnTo>
                <a:lnTo>
                  <a:pt x="1080610" y="358099"/>
                </a:lnTo>
                <a:lnTo>
                  <a:pt x="1091269" y="433943"/>
                </a:lnTo>
                <a:lnTo>
                  <a:pt x="1096612" y="510345"/>
                </a:lnTo>
                <a:lnTo>
                  <a:pt x="1096612" y="586935"/>
                </a:lnTo>
                <a:lnTo>
                  <a:pt x="1091269" y="663337"/>
                </a:lnTo>
                <a:lnTo>
                  <a:pt x="1080610" y="739181"/>
                </a:lnTo>
                <a:lnTo>
                  <a:pt x="1064686" y="814096"/>
                </a:lnTo>
                <a:lnTo>
                  <a:pt x="1043575" y="887718"/>
                </a:lnTo>
                <a:lnTo>
                  <a:pt x="1017380" y="959688"/>
                </a:lnTo>
                <a:lnTo>
                  <a:pt x="986229" y="1029656"/>
                </a:lnTo>
                <a:lnTo>
                  <a:pt x="950272" y="1097280"/>
                </a:lnTo>
                <a:close/>
              </a:path>
            </a:pathLst>
          </a:custGeom>
          <a:solidFill>
            <a:srgbClr val="F09A3E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3bolchok"/>
          <p:cNvSpPr/>
          <p:nvPr/>
        </p:nvSpPr>
        <p:spPr>
          <a:xfrm>
            <a:off x="2286000" y="3703320"/>
            <a:ext cx="950272" cy="1097280"/>
          </a:xfrm>
          <a:custGeom>
            <a:avLst/>
            <a:gdLst/>
            <a:ahLst/>
            <a:cxnLst/>
            <a:rect l="l" t="t" r="r" b="b"/>
            <a:pathLst>
              <a:path w="950272" h="1097280">
                <a:moveTo>
                  <a:pt x="0" y="0"/>
                </a:moveTo>
                <a:lnTo>
                  <a:pt x="950272" y="548640"/>
                </a:lnTo>
                <a:lnTo>
                  <a:pt x="909686" y="613591"/>
                </a:lnTo>
                <a:lnTo>
                  <a:pt x="864668" y="675553"/>
                </a:lnTo>
                <a:lnTo>
                  <a:pt x="815438" y="734224"/>
                </a:lnTo>
                <a:lnTo>
                  <a:pt x="762235" y="789317"/>
                </a:lnTo>
                <a:lnTo>
                  <a:pt x="705318" y="840565"/>
                </a:lnTo>
                <a:lnTo>
                  <a:pt x="644965" y="887718"/>
                </a:lnTo>
                <a:lnTo>
                  <a:pt x="581470" y="930546"/>
                </a:lnTo>
                <a:lnTo>
                  <a:pt x="515142" y="968841"/>
                </a:lnTo>
                <a:lnTo>
                  <a:pt x="446304" y="1002415"/>
                </a:lnTo>
                <a:lnTo>
                  <a:pt x="375292" y="1031106"/>
                </a:lnTo>
                <a:lnTo>
                  <a:pt x="302451" y="1054773"/>
                </a:lnTo>
                <a:lnTo>
                  <a:pt x="228137" y="1073302"/>
                </a:lnTo>
                <a:lnTo>
                  <a:pt x="152712" y="1086601"/>
                </a:lnTo>
                <a:lnTo>
                  <a:pt x="76542" y="1094607"/>
                </a:lnTo>
                <a:lnTo>
                  <a:pt x="0" y="1097280"/>
                </a:lnTo>
                <a:close/>
              </a:path>
            </a:pathLst>
          </a:custGeom>
          <a:solidFill>
            <a:srgbClr val="F09A3E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3bolchok"/>
          <p:cNvSpPr/>
          <p:nvPr/>
        </p:nvSpPr>
        <p:spPr>
          <a:xfrm>
            <a:off x="1335728" y="3703320"/>
            <a:ext cx="950272" cy="1097280"/>
          </a:xfrm>
          <a:custGeom>
            <a:avLst/>
            <a:gdLst/>
            <a:ahLst/>
            <a:cxnLst/>
            <a:rect l="l" t="t" r="r" b="b"/>
            <a:pathLst>
              <a:path w="950272" h="1097280">
                <a:moveTo>
                  <a:pt x="950272" y="0"/>
                </a:moveTo>
                <a:lnTo>
                  <a:pt x="950272" y="1097280"/>
                </a:lnTo>
                <a:lnTo>
                  <a:pt x="873730" y="1094607"/>
                </a:lnTo>
                <a:lnTo>
                  <a:pt x="797560" y="1086601"/>
                </a:lnTo>
                <a:lnTo>
                  <a:pt x="722135" y="1073302"/>
                </a:lnTo>
                <a:lnTo>
                  <a:pt x="647821" y="1054773"/>
                </a:lnTo>
                <a:lnTo>
                  <a:pt x="574980" y="1031106"/>
                </a:lnTo>
                <a:lnTo>
                  <a:pt x="503968" y="1002415"/>
                </a:lnTo>
                <a:lnTo>
                  <a:pt x="435130" y="968841"/>
                </a:lnTo>
                <a:lnTo>
                  <a:pt x="368802" y="930546"/>
                </a:lnTo>
                <a:lnTo>
                  <a:pt x="305307" y="887718"/>
                </a:lnTo>
                <a:lnTo>
                  <a:pt x="244954" y="840565"/>
                </a:lnTo>
                <a:lnTo>
                  <a:pt x="188037" y="789317"/>
                </a:lnTo>
                <a:lnTo>
                  <a:pt x="134834" y="734224"/>
                </a:lnTo>
                <a:lnTo>
                  <a:pt x="85604" y="675553"/>
                </a:lnTo>
                <a:lnTo>
                  <a:pt x="40586" y="613591"/>
                </a:lnTo>
                <a:lnTo>
                  <a:pt x="0" y="548640"/>
                </a:lnTo>
                <a:close/>
              </a:path>
            </a:pathLst>
          </a:custGeom>
          <a:solidFill>
            <a:srgbClr val="F09A3E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3bolchok"/>
          <p:cNvSpPr/>
          <p:nvPr/>
        </p:nvSpPr>
        <p:spPr>
          <a:xfrm>
            <a:off x="1189388" y="3154680"/>
            <a:ext cx="1096612" cy="1097280"/>
          </a:xfrm>
          <a:custGeom>
            <a:avLst/>
            <a:gdLst/>
            <a:ahLst/>
            <a:cxnLst/>
            <a:rect l="l" t="t" r="r" b="b"/>
            <a:pathLst>
              <a:path w="1096612" h="1097280">
                <a:moveTo>
                  <a:pt x="1096612" y="548640"/>
                </a:moveTo>
                <a:lnTo>
                  <a:pt x="146340" y="1097280"/>
                </a:lnTo>
                <a:lnTo>
                  <a:pt x="110383" y="1029656"/>
                </a:lnTo>
                <a:lnTo>
                  <a:pt x="79232" y="959688"/>
                </a:lnTo>
                <a:lnTo>
                  <a:pt x="53037" y="887718"/>
                </a:lnTo>
                <a:lnTo>
                  <a:pt x="31926" y="814096"/>
                </a:lnTo>
                <a:lnTo>
                  <a:pt x="16002" y="739181"/>
                </a:lnTo>
                <a:lnTo>
                  <a:pt x="5343" y="663337"/>
                </a:lnTo>
                <a:lnTo>
                  <a:pt x="0" y="586935"/>
                </a:lnTo>
                <a:lnTo>
                  <a:pt x="0" y="510345"/>
                </a:lnTo>
                <a:lnTo>
                  <a:pt x="5343" y="433943"/>
                </a:lnTo>
                <a:lnTo>
                  <a:pt x="16002" y="358099"/>
                </a:lnTo>
                <a:lnTo>
                  <a:pt x="31926" y="283184"/>
                </a:lnTo>
                <a:lnTo>
                  <a:pt x="53037" y="209562"/>
                </a:lnTo>
                <a:lnTo>
                  <a:pt x="79232" y="137592"/>
                </a:lnTo>
                <a:lnTo>
                  <a:pt x="110383" y="67624"/>
                </a:lnTo>
                <a:lnTo>
                  <a:pt x="146340" y="0"/>
                </a:lnTo>
                <a:close/>
              </a:path>
            </a:pathLst>
          </a:custGeom>
          <a:solidFill>
            <a:srgbClr val="F09A3E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3bolchok"/>
          <p:cNvSpPr/>
          <p:nvPr/>
        </p:nvSpPr>
        <p:spPr>
          <a:xfrm>
            <a:off x="1335728" y="2606040"/>
            <a:ext cx="950272" cy="1097280"/>
          </a:xfrm>
          <a:custGeom>
            <a:avLst/>
            <a:gdLst/>
            <a:ahLst/>
            <a:cxnLst/>
            <a:rect l="l" t="t" r="r" b="b"/>
            <a:pathLst>
              <a:path w="950272" h="1097280">
                <a:moveTo>
                  <a:pt x="950272" y="1097280"/>
                </a:moveTo>
                <a:lnTo>
                  <a:pt x="0" y="548640"/>
                </a:lnTo>
                <a:lnTo>
                  <a:pt x="40586" y="483689"/>
                </a:lnTo>
                <a:lnTo>
                  <a:pt x="85604" y="421727"/>
                </a:lnTo>
                <a:lnTo>
                  <a:pt x="134834" y="363056"/>
                </a:lnTo>
                <a:lnTo>
                  <a:pt x="188037" y="307963"/>
                </a:lnTo>
                <a:lnTo>
                  <a:pt x="244954" y="256715"/>
                </a:lnTo>
                <a:lnTo>
                  <a:pt x="305307" y="209562"/>
                </a:lnTo>
                <a:lnTo>
                  <a:pt x="368802" y="166734"/>
                </a:lnTo>
                <a:lnTo>
                  <a:pt x="435130" y="128439"/>
                </a:lnTo>
                <a:lnTo>
                  <a:pt x="503968" y="94865"/>
                </a:lnTo>
                <a:lnTo>
                  <a:pt x="574980" y="66174"/>
                </a:lnTo>
                <a:lnTo>
                  <a:pt x="647821" y="42507"/>
                </a:lnTo>
                <a:lnTo>
                  <a:pt x="722135" y="23978"/>
                </a:lnTo>
                <a:lnTo>
                  <a:pt x="797560" y="10679"/>
                </a:lnTo>
                <a:lnTo>
                  <a:pt x="873730" y="2673"/>
                </a:lnTo>
                <a:lnTo>
                  <a:pt x="950272" y="0"/>
                </a:lnTo>
                <a:close/>
              </a:path>
            </a:pathLst>
          </a:custGeom>
          <a:solidFill>
            <a:srgbClr val="F6E3BF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Үйдөн бакчага чейинки жол 3 бирдей бөлүккө бөлүнгөн. Нурбол 2 бөлүгүн басты. Ал жолдун кайсы бөлүгүн басты?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0дон 1ге: 3 бөлүк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бөлүм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кадам басты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алым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2/3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үчтөн эки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Басты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2/3</a:t>
            </a:r>
          </a:p>
        </p:txBody>
      </p:sp>
      <p:cxnSp>
        <p:nvCxnSpPr>
          <p:cNvPr id="19" name="g3bolchok"/>
          <p:cNvCxnSpPr/>
          <p:nvPr/>
        </p:nvCxnSpPr>
        <p:spPr>
          <a:xfrm>
            <a:off x="813816" y="3478377"/>
            <a:ext cx="3401567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3bolchok"/>
          <p:cNvCxnSpPr/>
          <p:nvPr/>
        </p:nvCxnSpPr>
        <p:spPr>
          <a:xfrm>
            <a:off x="868680" y="3277209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g3bolchok"/>
          <p:cNvSpPr txBox="1"/>
          <p:nvPr/>
        </p:nvSpPr>
        <p:spPr>
          <a:xfrm>
            <a:off x="731520" y="3668115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22" name="g3bolchok"/>
          <p:cNvCxnSpPr/>
          <p:nvPr/>
        </p:nvCxnSpPr>
        <p:spPr>
          <a:xfrm>
            <a:off x="1965960" y="3337560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g3bolchok"/>
          <p:cNvSpPr txBox="1"/>
          <p:nvPr/>
        </p:nvSpPr>
        <p:spPr>
          <a:xfrm>
            <a:off x="1719072" y="3668115"/>
            <a:ext cx="4937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1F2430"/>
                </a:solidFill>
                <a:latin typeface="PT Sans"/>
              </a:rPr>
              <a:t>1/3</a:t>
            </a:r>
          </a:p>
        </p:txBody>
      </p:sp>
      <p:cxnSp>
        <p:nvCxnSpPr>
          <p:cNvPr id="24" name="g3bolchok"/>
          <p:cNvCxnSpPr/>
          <p:nvPr/>
        </p:nvCxnSpPr>
        <p:spPr>
          <a:xfrm>
            <a:off x="3063240" y="3337560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g3bolchok"/>
          <p:cNvSpPr txBox="1"/>
          <p:nvPr/>
        </p:nvSpPr>
        <p:spPr>
          <a:xfrm>
            <a:off x="2816352" y="3668115"/>
            <a:ext cx="4937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A84400"/>
                </a:solidFill>
                <a:latin typeface="PT Sans"/>
              </a:rPr>
              <a:t>2/3</a:t>
            </a:r>
          </a:p>
        </p:txBody>
      </p:sp>
      <p:cxnSp>
        <p:nvCxnSpPr>
          <p:cNvPr id="26" name="g3bolchok"/>
          <p:cNvCxnSpPr/>
          <p:nvPr/>
        </p:nvCxnSpPr>
        <p:spPr>
          <a:xfrm>
            <a:off x="4160520" y="3277209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g3bolchok"/>
          <p:cNvSpPr txBox="1"/>
          <p:nvPr/>
        </p:nvSpPr>
        <p:spPr>
          <a:xfrm>
            <a:off x="4023359" y="3668115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8" name="g3bolchok"/>
          <p:cNvSpPr/>
          <p:nvPr/>
        </p:nvSpPr>
        <p:spPr>
          <a:xfrm>
            <a:off x="2937510" y="3352647"/>
            <a:ext cx="251460" cy="251460"/>
          </a:xfrm>
          <a:prstGeom prst="ellipse">
            <a:avLst/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сүрөттү элестет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Бүтүнгө чейин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3/8 жана □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 бөлүктөн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5 бөлүк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5/8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Бүтүн = 8/8. Канча бөлүк калды?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Бөлүмдү салыштыр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1/3 □ 1/5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бөлүк – ирирээк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1/3 &gt; 1/5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Аз бөлүккө бөлсөк, бөлүк чоң.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Жарым менен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3/8 □ 1/2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8дин жарымы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&lt;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3/8 &lt; 1/2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Жарымынан азбы, көппү?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Ыкмаңды айт: «Мен ... деп элестеттим».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786384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 8 бирдей бөлүккө бөлүндү, 3 бөлүгү боелду. Боелгон бөлүгү кайсы бөлчөк?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3/5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3/8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8/3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3/9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25" name="g3bolchok"/>
          <p:cNvSpPr/>
          <p:nvPr/>
        </p:nvSpPr>
        <p:spPr>
          <a:xfrm>
            <a:off x="8641080" y="1371600"/>
            <a:ext cx="365760" cy="420624"/>
          </a:xfrm>
          <a:prstGeom prst="rect">
            <a:avLst/>
          </a:prstGeom>
          <a:solidFill>
            <a:srgbClr val="F09A3E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3bolchok"/>
          <p:cNvSpPr/>
          <p:nvPr/>
        </p:nvSpPr>
        <p:spPr>
          <a:xfrm>
            <a:off x="9006840" y="1371600"/>
            <a:ext cx="365760" cy="420624"/>
          </a:xfrm>
          <a:prstGeom prst="rect">
            <a:avLst/>
          </a:prstGeom>
          <a:solidFill>
            <a:srgbClr val="F09A3E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3bolchok"/>
          <p:cNvSpPr/>
          <p:nvPr/>
        </p:nvSpPr>
        <p:spPr>
          <a:xfrm>
            <a:off x="9372600" y="1371600"/>
            <a:ext cx="365760" cy="420624"/>
          </a:xfrm>
          <a:prstGeom prst="rect">
            <a:avLst/>
          </a:prstGeom>
          <a:solidFill>
            <a:srgbClr val="F09A3E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3bolchok"/>
          <p:cNvSpPr/>
          <p:nvPr/>
        </p:nvSpPr>
        <p:spPr>
          <a:xfrm>
            <a:off x="9738360" y="1371600"/>
            <a:ext cx="365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3bolchok"/>
          <p:cNvSpPr/>
          <p:nvPr/>
        </p:nvSpPr>
        <p:spPr>
          <a:xfrm>
            <a:off x="10104120" y="1371600"/>
            <a:ext cx="365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3bolchok"/>
          <p:cNvSpPr/>
          <p:nvPr/>
        </p:nvSpPr>
        <p:spPr>
          <a:xfrm>
            <a:off x="10469880" y="1371600"/>
            <a:ext cx="365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3bolchok"/>
          <p:cNvSpPr/>
          <p:nvPr/>
        </p:nvSpPr>
        <p:spPr>
          <a:xfrm>
            <a:off x="10835640" y="1371600"/>
            <a:ext cx="365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3bolchok"/>
          <p:cNvSpPr/>
          <p:nvPr/>
        </p:nvSpPr>
        <p:spPr>
          <a:xfrm>
            <a:off x="11201400" y="1371600"/>
            <a:ext cx="365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Нурбол кагаз тилкени 5 бирдей бөлүккө бүктөдү. 2 бөлүгүн боеду. Тилкенин кайсы бөлүгү боелду? Кайсы бөлүгү боелгон жок?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Айзада 12 өрүктү 4 бирдей топко бөлдү. 1 топту кургатты. Өрүктөрдүн кайсы бөлүгү кургатылды? Канча өрүк?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Эки бирдей тилке. Айзада биринчисинин 1/3 бөлүгүн, Нурбол экинчисинин 1/6 бөлүгүн боеду. Кимдики көп?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Нурбол кагаз тилкени 5 бирдей бөлүккө бүктөдү. 2 бөлүгүн боеду. Тилкенин кайсы бөлүгү боелду? Кайсы бөлүгү боелгон жок?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1/5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5710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1/5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4492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1/5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3275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1/5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2057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1/5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Боелду 2/5;  боелгон жок 3/5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Айзада 12 өрүктү 4 бирдей топко бөлдү. 1 топту кургатты. Өрүктөрдүн кайсы бөлүгү кургатылды? Канча өрүк?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9600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05578" y="3017520"/>
            <a:ext cx="585978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91555" y="3017520"/>
            <a:ext cx="585978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7533" y="3017520"/>
            <a:ext cx="585978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1/4;  12 : 4 = 3 өрүк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Эки бирдей тилке. Айзада биринчисинин 1/3 бөлүгүн, Нурбол экинчисинин 1/6 бөлүгүн боеду. Кимдики көп?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Айзада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5312" y="3017520"/>
            <a:ext cx="2936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1/3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28936" y="3017520"/>
            <a:ext cx="29362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22560" y="3017520"/>
            <a:ext cx="29362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2272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Нурбол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35312" y="357438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1/6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82124" y="3574389"/>
            <a:ext cx="14681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28936" y="3574389"/>
            <a:ext cx="14681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75748" y="3574389"/>
            <a:ext cx="14681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322560" y="3574389"/>
            <a:ext cx="14681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69372" y="3574389"/>
            <a:ext cx="14681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Айзада:  1/3 &gt; 1/6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363016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Тегерек 3 бирдей бөлүк. Боелгону?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2807207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Тилке 5 бөлүк, 4ү боелгон. Сөз менен?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Белги кой:  1/6 □ 1/4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2807207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 өрүктүн 7си кургатылды. Бөлүгү?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2807207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Сан огу 6 бирдей бөлүк. Чекит кайсы бөлчөк?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Кичинеден чоңго:  1/2,  1/8,  1/3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32" name="g3bolchok"/>
          <p:cNvSpPr/>
          <p:nvPr/>
        </p:nvSpPr>
        <p:spPr>
          <a:xfrm>
            <a:off x="5385816" y="1912620"/>
            <a:ext cx="456921" cy="685800"/>
          </a:xfrm>
          <a:custGeom>
            <a:avLst/>
            <a:gdLst/>
            <a:ahLst/>
            <a:cxnLst/>
            <a:rect l="l" t="t" r="r" b="b"/>
            <a:pathLst>
              <a:path w="456921" h="685800">
                <a:moveTo>
                  <a:pt x="0" y="457200"/>
                </a:moveTo>
                <a:lnTo>
                  <a:pt x="0" y="0"/>
                </a:lnTo>
                <a:lnTo>
                  <a:pt x="31893" y="1114"/>
                </a:lnTo>
                <a:lnTo>
                  <a:pt x="63630" y="4449"/>
                </a:lnTo>
                <a:lnTo>
                  <a:pt x="95057" y="9991"/>
                </a:lnTo>
                <a:lnTo>
                  <a:pt x="126021" y="17711"/>
                </a:lnTo>
                <a:lnTo>
                  <a:pt x="156372" y="27573"/>
                </a:lnTo>
                <a:lnTo>
                  <a:pt x="185960" y="39527"/>
                </a:lnTo>
                <a:lnTo>
                  <a:pt x="214642" y="53516"/>
                </a:lnTo>
                <a:lnTo>
                  <a:pt x="242279" y="69472"/>
                </a:lnTo>
                <a:lnTo>
                  <a:pt x="268735" y="87317"/>
                </a:lnTo>
                <a:lnTo>
                  <a:pt x="293882" y="106964"/>
                </a:lnTo>
                <a:lnTo>
                  <a:pt x="317598" y="128318"/>
                </a:lnTo>
                <a:lnTo>
                  <a:pt x="339766" y="151273"/>
                </a:lnTo>
                <a:lnTo>
                  <a:pt x="360279" y="175720"/>
                </a:lnTo>
                <a:lnTo>
                  <a:pt x="379036" y="201537"/>
                </a:lnTo>
                <a:lnTo>
                  <a:pt x="395947" y="228600"/>
                </a:lnTo>
                <a:lnTo>
                  <a:pt x="410929" y="256777"/>
                </a:lnTo>
                <a:lnTo>
                  <a:pt x="423908" y="285930"/>
                </a:lnTo>
                <a:lnTo>
                  <a:pt x="434823" y="315917"/>
                </a:lnTo>
                <a:lnTo>
                  <a:pt x="443619" y="346593"/>
                </a:lnTo>
                <a:lnTo>
                  <a:pt x="450254" y="377808"/>
                </a:lnTo>
                <a:lnTo>
                  <a:pt x="454695" y="409410"/>
                </a:lnTo>
                <a:lnTo>
                  <a:pt x="456921" y="441244"/>
                </a:lnTo>
                <a:lnTo>
                  <a:pt x="456921" y="473156"/>
                </a:lnTo>
                <a:lnTo>
                  <a:pt x="454695" y="504990"/>
                </a:lnTo>
                <a:lnTo>
                  <a:pt x="450254" y="536592"/>
                </a:lnTo>
                <a:lnTo>
                  <a:pt x="443619" y="567807"/>
                </a:lnTo>
                <a:lnTo>
                  <a:pt x="434823" y="598483"/>
                </a:lnTo>
                <a:lnTo>
                  <a:pt x="423908" y="628470"/>
                </a:lnTo>
                <a:lnTo>
                  <a:pt x="410929" y="657623"/>
                </a:lnTo>
                <a:lnTo>
                  <a:pt x="395947" y="685800"/>
                </a:lnTo>
                <a:close/>
              </a:path>
            </a:pathLst>
          </a:custGeom>
          <a:solidFill>
            <a:srgbClr val="F09A3E"/>
          </a:solidFill>
          <a:ln w="19050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3bolchok"/>
          <p:cNvSpPr/>
          <p:nvPr/>
        </p:nvSpPr>
        <p:spPr>
          <a:xfrm>
            <a:off x="4989869" y="2369820"/>
            <a:ext cx="791894" cy="457200"/>
          </a:xfrm>
          <a:custGeom>
            <a:avLst/>
            <a:gdLst/>
            <a:ahLst/>
            <a:cxnLst/>
            <a:rect l="l" t="t" r="r" b="b"/>
            <a:pathLst>
              <a:path w="791894" h="457200">
                <a:moveTo>
                  <a:pt x="395947" y="0"/>
                </a:moveTo>
                <a:lnTo>
                  <a:pt x="791894" y="228600"/>
                </a:lnTo>
                <a:lnTo>
                  <a:pt x="774983" y="255663"/>
                </a:lnTo>
                <a:lnTo>
                  <a:pt x="756226" y="281480"/>
                </a:lnTo>
                <a:lnTo>
                  <a:pt x="735713" y="305927"/>
                </a:lnTo>
                <a:lnTo>
                  <a:pt x="713545" y="328882"/>
                </a:lnTo>
                <a:lnTo>
                  <a:pt x="689829" y="350236"/>
                </a:lnTo>
                <a:lnTo>
                  <a:pt x="664682" y="369883"/>
                </a:lnTo>
                <a:lnTo>
                  <a:pt x="638226" y="387728"/>
                </a:lnTo>
                <a:lnTo>
                  <a:pt x="610589" y="403684"/>
                </a:lnTo>
                <a:lnTo>
                  <a:pt x="581907" y="417673"/>
                </a:lnTo>
                <a:lnTo>
                  <a:pt x="552319" y="429627"/>
                </a:lnTo>
                <a:lnTo>
                  <a:pt x="521968" y="439489"/>
                </a:lnTo>
                <a:lnTo>
                  <a:pt x="491004" y="447209"/>
                </a:lnTo>
                <a:lnTo>
                  <a:pt x="459577" y="452751"/>
                </a:lnTo>
                <a:lnTo>
                  <a:pt x="427840" y="456086"/>
                </a:lnTo>
                <a:lnTo>
                  <a:pt x="395947" y="457200"/>
                </a:lnTo>
                <a:lnTo>
                  <a:pt x="364054" y="456086"/>
                </a:lnTo>
                <a:lnTo>
                  <a:pt x="332317" y="452751"/>
                </a:lnTo>
                <a:lnTo>
                  <a:pt x="300890" y="447209"/>
                </a:lnTo>
                <a:lnTo>
                  <a:pt x="269926" y="439489"/>
                </a:lnTo>
                <a:lnTo>
                  <a:pt x="239575" y="429627"/>
                </a:lnTo>
                <a:lnTo>
                  <a:pt x="209987" y="417673"/>
                </a:lnTo>
                <a:lnTo>
                  <a:pt x="181305" y="403684"/>
                </a:lnTo>
                <a:lnTo>
                  <a:pt x="153668" y="387728"/>
                </a:lnTo>
                <a:lnTo>
                  <a:pt x="127212" y="369883"/>
                </a:lnTo>
                <a:lnTo>
                  <a:pt x="102065" y="350236"/>
                </a:lnTo>
                <a:lnTo>
                  <a:pt x="78349" y="328882"/>
                </a:lnTo>
                <a:lnTo>
                  <a:pt x="56181" y="305927"/>
                </a:lnTo>
                <a:lnTo>
                  <a:pt x="35668" y="281480"/>
                </a:lnTo>
                <a:lnTo>
                  <a:pt x="16911" y="255663"/>
                </a:lnTo>
                <a:lnTo>
                  <a:pt x="0" y="228600"/>
                </a:lnTo>
                <a:close/>
              </a:path>
            </a:pathLst>
          </a:custGeom>
          <a:solidFill>
            <a:srgbClr val="F6E3BF"/>
          </a:solidFill>
          <a:ln w="19050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3bolchok"/>
          <p:cNvSpPr/>
          <p:nvPr/>
        </p:nvSpPr>
        <p:spPr>
          <a:xfrm>
            <a:off x="4928895" y="1912620"/>
            <a:ext cx="456921" cy="685800"/>
          </a:xfrm>
          <a:custGeom>
            <a:avLst/>
            <a:gdLst/>
            <a:ahLst/>
            <a:cxnLst/>
            <a:rect l="l" t="t" r="r" b="b"/>
            <a:pathLst>
              <a:path w="456921" h="685800">
                <a:moveTo>
                  <a:pt x="456921" y="457200"/>
                </a:moveTo>
                <a:lnTo>
                  <a:pt x="60974" y="685800"/>
                </a:lnTo>
                <a:lnTo>
                  <a:pt x="45992" y="657623"/>
                </a:lnTo>
                <a:lnTo>
                  <a:pt x="33013" y="628470"/>
                </a:lnTo>
                <a:lnTo>
                  <a:pt x="22098" y="598483"/>
                </a:lnTo>
                <a:lnTo>
                  <a:pt x="13302" y="567807"/>
                </a:lnTo>
                <a:lnTo>
                  <a:pt x="6667" y="536592"/>
                </a:lnTo>
                <a:lnTo>
                  <a:pt x="2226" y="504990"/>
                </a:lnTo>
                <a:lnTo>
                  <a:pt x="0" y="473156"/>
                </a:lnTo>
                <a:lnTo>
                  <a:pt x="0" y="441244"/>
                </a:lnTo>
                <a:lnTo>
                  <a:pt x="2226" y="409410"/>
                </a:lnTo>
                <a:lnTo>
                  <a:pt x="6667" y="377808"/>
                </a:lnTo>
                <a:lnTo>
                  <a:pt x="13302" y="346593"/>
                </a:lnTo>
                <a:lnTo>
                  <a:pt x="22098" y="315917"/>
                </a:lnTo>
                <a:lnTo>
                  <a:pt x="33013" y="285930"/>
                </a:lnTo>
                <a:lnTo>
                  <a:pt x="45992" y="256777"/>
                </a:lnTo>
                <a:lnTo>
                  <a:pt x="60974" y="228600"/>
                </a:lnTo>
                <a:lnTo>
                  <a:pt x="77885" y="201537"/>
                </a:lnTo>
                <a:lnTo>
                  <a:pt x="96642" y="175720"/>
                </a:lnTo>
                <a:lnTo>
                  <a:pt x="117155" y="151273"/>
                </a:lnTo>
                <a:lnTo>
                  <a:pt x="139323" y="128318"/>
                </a:lnTo>
                <a:lnTo>
                  <a:pt x="163039" y="106964"/>
                </a:lnTo>
                <a:lnTo>
                  <a:pt x="188186" y="87317"/>
                </a:lnTo>
                <a:lnTo>
                  <a:pt x="214642" y="69472"/>
                </a:lnTo>
                <a:lnTo>
                  <a:pt x="242279" y="53516"/>
                </a:lnTo>
                <a:lnTo>
                  <a:pt x="270961" y="39527"/>
                </a:lnTo>
                <a:lnTo>
                  <a:pt x="300549" y="27573"/>
                </a:lnTo>
                <a:lnTo>
                  <a:pt x="330900" y="17711"/>
                </a:lnTo>
                <a:lnTo>
                  <a:pt x="361864" y="9991"/>
                </a:lnTo>
                <a:lnTo>
                  <a:pt x="393291" y="4449"/>
                </a:lnTo>
                <a:lnTo>
                  <a:pt x="425028" y="1114"/>
                </a:lnTo>
                <a:lnTo>
                  <a:pt x="456921" y="0"/>
                </a:lnTo>
                <a:close/>
              </a:path>
            </a:pathLst>
          </a:custGeom>
          <a:solidFill>
            <a:srgbClr val="F6E3BF"/>
          </a:solidFill>
          <a:ln w="19050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3bolchok"/>
          <p:cNvSpPr/>
          <p:nvPr/>
        </p:nvSpPr>
        <p:spPr>
          <a:xfrm>
            <a:off x="9884663" y="2091842"/>
            <a:ext cx="347472" cy="555955"/>
          </a:xfrm>
          <a:prstGeom prst="rect">
            <a:avLst/>
          </a:prstGeom>
          <a:solidFill>
            <a:srgbClr val="F09A3E"/>
          </a:solidFill>
          <a:ln w="11582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3bolchok"/>
          <p:cNvSpPr/>
          <p:nvPr/>
        </p:nvSpPr>
        <p:spPr>
          <a:xfrm>
            <a:off x="10232136" y="2091842"/>
            <a:ext cx="347472" cy="555955"/>
          </a:xfrm>
          <a:prstGeom prst="rect">
            <a:avLst/>
          </a:prstGeom>
          <a:solidFill>
            <a:srgbClr val="F09A3E"/>
          </a:solidFill>
          <a:ln w="11582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3bolchok"/>
          <p:cNvSpPr/>
          <p:nvPr/>
        </p:nvSpPr>
        <p:spPr>
          <a:xfrm>
            <a:off x="10579608" y="2091842"/>
            <a:ext cx="347472" cy="555955"/>
          </a:xfrm>
          <a:prstGeom prst="rect">
            <a:avLst/>
          </a:prstGeom>
          <a:solidFill>
            <a:srgbClr val="F09A3E"/>
          </a:solidFill>
          <a:ln w="11582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3bolchok"/>
          <p:cNvSpPr/>
          <p:nvPr/>
        </p:nvSpPr>
        <p:spPr>
          <a:xfrm>
            <a:off x="10927080" y="2091842"/>
            <a:ext cx="347472" cy="555955"/>
          </a:xfrm>
          <a:prstGeom prst="rect">
            <a:avLst/>
          </a:prstGeom>
          <a:solidFill>
            <a:srgbClr val="F09A3E"/>
          </a:solidFill>
          <a:ln w="11582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3bolchok"/>
          <p:cNvSpPr/>
          <p:nvPr/>
        </p:nvSpPr>
        <p:spPr>
          <a:xfrm>
            <a:off x="11274552" y="2091842"/>
            <a:ext cx="347472" cy="555955"/>
          </a:xfrm>
          <a:prstGeom prst="rect">
            <a:avLst/>
          </a:prstGeom>
          <a:solidFill>
            <a:srgbClr val="FFFFFF"/>
          </a:solidFill>
          <a:ln w="11582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3bolchok"/>
          <p:cNvSpPr/>
          <p:nvPr/>
        </p:nvSpPr>
        <p:spPr>
          <a:xfrm>
            <a:off x="9922885" y="3599809"/>
            <a:ext cx="271028" cy="271028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g3bolchok"/>
          <p:cNvCxnSpPr/>
          <p:nvPr/>
        </p:nvCxnSpPr>
        <p:spPr>
          <a:xfrm flipV="1">
            <a:off x="10058399" y="3556445"/>
            <a:ext cx="43365" cy="43364"/>
          </a:xfrm>
          <a:prstGeom prst="line">
            <a:avLst/>
          </a:prstGeom>
          <a:ln w="95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g3bolchok"/>
          <p:cNvSpPr/>
          <p:nvPr/>
        </p:nvSpPr>
        <p:spPr>
          <a:xfrm>
            <a:off x="10270357" y="3599809"/>
            <a:ext cx="271028" cy="271028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g3bolchok"/>
          <p:cNvCxnSpPr/>
          <p:nvPr/>
        </p:nvCxnSpPr>
        <p:spPr>
          <a:xfrm flipV="1">
            <a:off x="10405872" y="3556445"/>
            <a:ext cx="43364" cy="43364"/>
          </a:xfrm>
          <a:prstGeom prst="line">
            <a:avLst/>
          </a:prstGeom>
          <a:ln w="95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g3bolchok"/>
          <p:cNvSpPr/>
          <p:nvPr/>
        </p:nvSpPr>
        <p:spPr>
          <a:xfrm>
            <a:off x="10617829" y="3599809"/>
            <a:ext cx="271028" cy="271028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g3bolchok"/>
          <p:cNvCxnSpPr/>
          <p:nvPr/>
        </p:nvCxnSpPr>
        <p:spPr>
          <a:xfrm flipV="1">
            <a:off x="10753343" y="3556445"/>
            <a:ext cx="43365" cy="43364"/>
          </a:xfrm>
          <a:prstGeom prst="line">
            <a:avLst/>
          </a:prstGeom>
          <a:ln w="95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g3bolchok"/>
          <p:cNvSpPr/>
          <p:nvPr/>
        </p:nvSpPr>
        <p:spPr>
          <a:xfrm>
            <a:off x="10965301" y="3599809"/>
            <a:ext cx="271028" cy="271028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g3bolchok"/>
          <p:cNvCxnSpPr/>
          <p:nvPr/>
        </p:nvCxnSpPr>
        <p:spPr>
          <a:xfrm flipV="1">
            <a:off x="11100815" y="3556445"/>
            <a:ext cx="43365" cy="43364"/>
          </a:xfrm>
          <a:prstGeom prst="line">
            <a:avLst/>
          </a:prstGeom>
          <a:ln w="95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g3bolchok"/>
          <p:cNvSpPr/>
          <p:nvPr/>
        </p:nvSpPr>
        <p:spPr>
          <a:xfrm>
            <a:off x="11312773" y="3599809"/>
            <a:ext cx="271028" cy="271028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g3bolchok"/>
          <p:cNvCxnSpPr/>
          <p:nvPr/>
        </p:nvCxnSpPr>
        <p:spPr>
          <a:xfrm flipV="1">
            <a:off x="11448288" y="3556445"/>
            <a:ext cx="43364" cy="43364"/>
          </a:xfrm>
          <a:prstGeom prst="line">
            <a:avLst/>
          </a:prstGeom>
          <a:ln w="95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g3bolchok"/>
          <p:cNvSpPr/>
          <p:nvPr/>
        </p:nvSpPr>
        <p:spPr>
          <a:xfrm>
            <a:off x="9922885" y="3947281"/>
            <a:ext cx="271028" cy="271028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g3bolchok"/>
          <p:cNvCxnSpPr/>
          <p:nvPr/>
        </p:nvCxnSpPr>
        <p:spPr>
          <a:xfrm flipV="1">
            <a:off x="10058399" y="3903917"/>
            <a:ext cx="43365" cy="43364"/>
          </a:xfrm>
          <a:prstGeom prst="line">
            <a:avLst/>
          </a:prstGeom>
          <a:ln w="95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g3bolchok"/>
          <p:cNvSpPr/>
          <p:nvPr/>
        </p:nvSpPr>
        <p:spPr>
          <a:xfrm>
            <a:off x="10270357" y="3947281"/>
            <a:ext cx="271028" cy="271028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g3bolchok"/>
          <p:cNvCxnSpPr/>
          <p:nvPr/>
        </p:nvCxnSpPr>
        <p:spPr>
          <a:xfrm flipV="1">
            <a:off x="10405872" y="3903917"/>
            <a:ext cx="43364" cy="43364"/>
          </a:xfrm>
          <a:prstGeom prst="line">
            <a:avLst/>
          </a:prstGeom>
          <a:ln w="95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g3bolchok"/>
          <p:cNvSpPr/>
          <p:nvPr/>
        </p:nvSpPr>
        <p:spPr>
          <a:xfrm>
            <a:off x="10617829" y="3947281"/>
            <a:ext cx="271028" cy="2710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g3bolchok"/>
          <p:cNvCxnSpPr/>
          <p:nvPr/>
        </p:nvCxnSpPr>
        <p:spPr>
          <a:xfrm flipV="1">
            <a:off x="10753343" y="3903917"/>
            <a:ext cx="43365" cy="43364"/>
          </a:xfrm>
          <a:prstGeom prst="line">
            <a:avLst/>
          </a:prstGeom>
          <a:ln w="95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g3bolchok"/>
          <p:cNvSpPr/>
          <p:nvPr/>
        </p:nvSpPr>
        <p:spPr>
          <a:xfrm>
            <a:off x="10965301" y="3947281"/>
            <a:ext cx="271028" cy="2710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g3bolchok"/>
          <p:cNvCxnSpPr/>
          <p:nvPr/>
        </p:nvCxnSpPr>
        <p:spPr>
          <a:xfrm flipV="1">
            <a:off x="11100815" y="3903917"/>
            <a:ext cx="43365" cy="43364"/>
          </a:xfrm>
          <a:prstGeom prst="line">
            <a:avLst/>
          </a:prstGeom>
          <a:ln w="95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g3bolchok"/>
          <p:cNvSpPr/>
          <p:nvPr/>
        </p:nvSpPr>
        <p:spPr>
          <a:xfrm>
            <a:off x="11312773" y="3947281"/>
            <a:ext cx="271028" cy="2710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g3bolchok"/>
          <p:cNvCxnSpPr/>
          <p:nvPr/>
        </p:nvCxnSpPr>
        <p:spPr>
          <a:xfrm flipV="1">
            <a:off x="11448288" y="3903917"/>
            <a:ext cx="43364" cy="43364"/>
          </a:xfrm>
          <a:prstGeom prst="line">
            <a:avLst/>
          </a:prstGeom>
          <a:ln w="95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3bolchok"/>
          <p:cNvCxnSpPr/>
          <p:nvPr/>
        </p:nvCxnSpPr>
        <p:spPr>
          <a:xfrm>
            <a:off x="4142232" y="5357347"/>
            <a:ext cx="1664208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3bolchok"/>
          <p:cNvCxnSpPr/>
          <p:nvPr/>
        </p:nvCxnSpPr>
        <p:spPr>
          <a:xfrm>
            <a:off x="4197096" y="5156179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g3bolchok"/>
          <p:cNvSpPr txBox="1"/>
          <p:nvPr/>
        </p:nvSpPr>
        <p:spPr>
          <a:xfrm>
            <a:off x="4059935" y="5550895"/>
            <a:ext cx="27432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63" name="g3bolchok"/>
          <p:cNvCxnSpPr/>
          <p:nvPr/>
        </p:nvCxnSpPr>
        <p:spPr>
          <a:xfrm>
            <a:off x="4456176" y="5216530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3bolchok"/>
          <p:cNvCxnSpPr/>
          <p:nvPr/>
        </p:nvCxnSpPr>
        <p:spPr>
          <a:xfrm>
            <a:off x="4715256" y="5216530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3bolchok"/>
          <p:cNvCxnSpPr/>
          <p:nvPr/>
        </p:nvCxnSpPr>
        <p:spPr>
          <a:xfrm>
            <a:off x="4974336" y="5216530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3bolchok"/>
          <p:cNvCxnSpPr/>
          <p:nvPr/>
        </p:nvCxnSpPr>
        <p:spPr>
          <a:xfrm>
            <a:off x="5233416" y="5216530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3bolchok"/>
          <p:cNvCxnSpPr/>
          <p:nvPr/>
        </p:nvCxnSpPr>
        <p:spPr>
          <a:xfrm>
            <a:off x="5492496" y="5216530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3bolchok"/>
          <p:cNvCxnSpPr/>
          <p:nvPr/>
        </p:nvCxnSpPr>
        <p:spPr>
          <a:xfrm>
            <a:off x="5751576" y="5156179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g3bolchok"/>
          <p:cNvSpPr txBox="1"/>
          <p:nvPr/>
        </p:nvSpPr>
        <p:spPr>
          <a:xfrm>
            <a:off x="5614416" y="5550895"/>
            <a:ext cx="27432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0" name="g3bolchok"/>
          <p:cNvSpPr/>
          <p:nvPr/>
        </p:nvSpPr>
        <p:spPr>
          <a:xfrm>
            <a:off x="5366766" y="5231617"/>
            <a:ext cx="251460" cy="251460"/>
          </a:xfrm>
          <a:prstGeom prst="ellipse">
            <a:avLst/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Тегерек 3 бирдей бөлүк. Боелгону?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1/3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Тилке 5 бөлүк, 4ү боелгон. Сөз менен?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бештен төрт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Белги кой:  1/6 □ 1/4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1/6 &lt; 1/4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 өрүктүн 7си кургатылды. Бөлүгү?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7/10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Сан огу 6 бирдей бөлүк. Чекит кайсы бөлчөк?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5/6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Кичинеден чоңго:  1/2,  1/8,  1/3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1/8,  1/3,  1/2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Нандар бирдей. Кимдин бөлүгү чоң: Айзаданыкыбы же Нурболдукубу? Экинчи нандан баары 3 бөлүк жешти. Анын кайсы бөлүгү калды?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Айзада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20" y="2240280"/>
            <a:ext cx="189737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40280"/>
            <a:ext cx="189737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9579" y="2240280"/>
            <a:ext cx="189737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35808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Нурбол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035808"/>
            <a:ext cx="94868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1/8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6130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4820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23509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199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20889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9579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18269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9227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1/4 &gt; 1/8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9227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бүтүн бирдей, 8 бөлүк майда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897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8 − 3 = 5 бөлүк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897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калганы: 5/8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Айзаданыкы чоң: 1/4 &gt; 1/8. Калганы: 5/8.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Баткенде өрүк кургатуу жөнүндө бөлчөк маселесин түз: нан же өрүк бирдей бөлүктөргө бөлүнсүн.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Айзада, Нурбол, Гүлмира таене.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Белги кой (&lt; же &gt;):  1/3 □ 1/5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Тегерек нан 6 бирдей бөлүк, 5 бөлүгү боелгон. Боелгонун сан менен жана сөз менен жаз.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Сан огунда 0дон 1ге чейин 4 бирдей бөлүк. Чекит 3-бөлүктүн аягында. Кайсы бөлчөк?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бөлчөктө бөлүктөр бирдей болушу керек?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1/8 1/4төн кичине, бирок 8 4төн чоң?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Үйүңдө бөлчөктү кайда көрөсүң?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Адегенде буюм: кагазды бүктөп, капкактарды бөлүп, анан сүрөт жана сан (К → С → А).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сүрөттө «бөлүктөр бирдейби?» деп сурайм (М1).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«Бөлүм – баары» деп бардык бөлүктөрдү санатам (М3, М5).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Салыштырууда бирдей эки тилкени жанаша коём (М2, 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