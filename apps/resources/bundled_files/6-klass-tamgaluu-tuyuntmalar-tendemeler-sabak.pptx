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бериңиз. Адегенде болжолдошсун: бир баштык 10 кгдан оорбу же жеңилби?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2,6).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Бермет: 3a жана 2b окшош эмес. a = 1, b = 2: 3a + 2b = 7, бирок 5ab = 10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2 кагаз чөйчөк, 30 бөтөлкө капкагы (же таш, буурчак), A4 кагазга чийилген тараза (эки табак). Мен ар бир чөйчөккө жашыруун 6дан капкак салып, оозун кагаз менен жаап берем. 1) Сол табакка 2 чөйчөк жана 5 капкак, оң табакка 17 капкак: тараза тең. 2) «Тең салмак бузулбасын: эки табактан бирдей алабыз»: 5тен капкак алышат. 3) 2 чөйчөк = 12 капкак: 12 капкакты 2 топко бөлүшөт, 1 чөйчөк = 6. 4) Чөйчөктү ачып текшеришет. Проектор жок болсо, доскага тараза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чийишет: үзүк сызыктуу эки бирдей тилке x, жалбыз түстүү 5. 1-сап: баары 17. 2-сап: 5ти алып салдык, эки x = 12. 3-сап: бир x = 12 ÷ 2 = 6. Тилке тараза менен бирдей ойду көрсөтөт: эки жагынан бирдей алабыз.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Теңдеме = тең турган тараза. Белгисизди «чечүү» тескери тартипте: x адегенде 2ге көбөйтүлүп, анан 5 кошулган; ошондуктан адегенде 5ти алабыз, анан 2ге бөлөбүз («акыркы кийгенди биринчи чечебиз»). Ката коддору: М3 (тартип), М4 (ошол эле амал). Окшош кошулуучулар теңдемеден мурун бириктирилет (М1, М7).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«x + 7 = 15: кайсы санга 7ни кошсо 15 болот?».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М3;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бир кадам → салыштыруу → окшош кошулуучулар. Жооптор: x + 7 = 15; x = 8 кг; 4x + 3 = 27; x = 6 кг; 4x + 200 = 1 000; x = 200 сом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Эки жагынан 5 кгны алып салабыз: 2x = 12, анан эки жагын 2ге бөлөбүз: x = 6. Адегенде 2ге бөлсөк (М3), 17 ÷ 2 − 5 = 3,5 кг чыгат; текшерсек 2 · 3,5 + 5 = 12, 17 эмес. Ошондуктан текшерүү керек.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6x + 3; x = 6; 11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Таластагы буурчак түшүмү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Бермет менен Нурис Мырзабек атага буурчак жыйнап, базардагы таразада баштыктарды тартышат.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6-класс: «Туюнтмаларды өзгөртүү» жана «Сызыктуу теңдемелер» бөлүмдөрү.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Таластагы буурчак түшүмү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Күз. Таласта буурчак жыйноо убагы. Бермет менен Нурис чоң аталары Мырзабек атага жардам беришет.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Буурчакты бирдей баштыктарга салып, Талас базарына алып барышат.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Базарда эки табактуу тараза бар. Тараза тең турса, эки табактагы салмак бирдей.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Бир баштыктын салмагын билбейбиз. Аны x деп белгилейбиз.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Тараза тең турат: бир табакта 2 бирдей баштык буурчак жана 5 кг таш, экинчисинде 17 кг таш. Бир баштык канча кг?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Сөздөн тамгалуу туюнтма жазам жана тамганын ордуна сан коюп маанисин табам.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Окшош кошулуучуларды бириктирем: 3a + 2a = 5a, 4x + 3 + 2x = 6x + 3.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Теңдемени тараза жана тилке менен чыгарам: x + 7 = 15, 2x + 5 = 17, жана текшерем.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Туюнтма жана маани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Бир кадамдуу теңдеме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Эки кадамдуу теңдеме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3a + 2b = 5ab?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тараза: чөйчөк жана капкак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Талас базары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Баштыктын салмагы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Жөнөкөй теңдеме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□ + 7 = 15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/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Тамгалуу туюнтма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Амалдардын тартиби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/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Окшош кошулуучулар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2x + 5 = 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/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Сызыктуу теңдеме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Кашааны ачуу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15 − 7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21 ÷ 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· 6 + 5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□ + 7 = 15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15 − 7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21 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· 6 + 5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□ + 7 = 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□ = 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Мырзабек ата: «3 баштык буурчак (ар бири a кг) жана 2 баштык жүгөрү (ар бири b кг). Баары канча?»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Нурис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3a + 2b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5ab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Бермет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3a + 2b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Мындан кыскарбайт: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a жана b – ар башка.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a = 1, b = 2 коюп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чөйчөк = x (ичинде бирдей сандагы капкак), капкак = 1. Тараза: 2 чөйчөк жана 5 капкак = 17 капкак.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01168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2x + 5 = 17: тараза тең турат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965960" y="3931920"/>
            <a:ext cx="3657600" cy="0"/>
          </a:xfrm>
          <a:prstGeom prst="line">
            <a:avLst/>
          </a:prstGeom>
          <a:ln w="381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Isosceles Triangle 13"/>
          <p:cNvSpPr/>
          <p:nvPr/>
        </p:nvSpPr>
        <p:spPr>
          <a:xfrm>
            <a:off x="3502152" y="3931920"/>
            <a:ext cx="585216" cy="777240"/>
          </a:xfrm>
          <a:prstGeom prst="triangl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2971800" y="4709159"/>
            <a:ext cx="1645920" cy="0"/>
          </a:xfrm>
          <a:prstGeom prst="line">
            <a:avLst/>
          </a:prstGeom>
          <a:ln w="381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057400" y="36576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11480" y="3584448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Manual Operation 17"/>
          <p:cNvSpPr/>
          <p:nvPr/>
        </p:nvSpPr>
        <p:spPr>
          <a:xfrm>
            <a:off x="502920" y="2880360"/>
            <a:ext cx="548640" cy="685800"/>
          </a:xfrm>
          <a:prstGeom prst="flowChartManualOperation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880360"/>
            <a:ext cx="548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0" name="Manual Operation 19"/>
          <p:cNvSpPr/>
          <p:nvPr/>
        </p:nvSpPr>
        <p:spPr>
          <a:xfrm>
            <a:off x="1143000" y="2880360"/>
            <a:ext cx="548640" cy="685800"/>
          </a:xfrm>
          <a:prstGeom prst="flowChartManualOperation">
            <a:avLst/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2880360"/>
            <a:ext cx="548640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x</a:t>
            </a:r>
          </a:p>
        </p:txBody>
      </p:sp>
      <p:sp>
        <p:nvSpPr>
          <p:cNvPr id="22" name="Oval 21"/>
          <p:cNvSpPr/>
          <p:nvPr/>
        </p:nvSpPr>
        <p:spPr>
          <a:xfrm>
            <a:off x="1828800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185416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542032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898648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255264" y="3236976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5532120" y="3657600"/>
            <a:ext cx="0" cy="274320"/>
          </a:xfrm>
          <a:prstGeom prst="line">
            <a:avLst/>
          </a:prstGeom>
          <a:ln w="2540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3886200" y="3584448"/>
            <a:ext cx="3291840" cy="91440"/>
          </a:xfrm>
          <a:prstGeom prst="roundRect">
            <a:avLst>
              <a:gd name="adj" fmla="val 50000"/>
            </a:avLst>
          </a:prstGeom>
          <a:solidFill>
            <a:srgbClr val="1D3557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77640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334256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690872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047488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404104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760720" y="3236976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3977640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334256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4690872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047488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404104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760720" y="2880360"/>
            <a:ext cx="310896" cy="310896"/>
          </a:xfrm>
          <a:prstGeom prst="ellipse">
            <a:avLst/>
          </a:prstGeom>
          <a:solidFill>
            <a:srgbClr val="F5E9E0"/>
          </a:solidFill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3977640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4334256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4690872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047488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404104" y="2523744"/>
            <a:ext cx="310896" cy="310896"/>
          </a:xfrm>
          <a:prstGeom prst="ellipse">
            <a:avLst/>
          </a:prstGeom>
          <a:noFill/>
          <a:ln w="15875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06908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Сол табак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49240" y="4069080"/>
            <a:ext cx="1828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Оң табак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" y="4800600"/>
            <a:ext cx="64008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Үзүк капкак = эки табактан тең 5тен алдык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0080" y="5193792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2 чөйчөк = 12 капкак  →  1 чөйчөк = 6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315200" y="2011680"/>
            <a:ext cx="4434840" cy="374903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498079" y="2103120"/>
            <a:ext cx="411480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Ар бир жупта: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2 кагаз чөйчөк = x (жабык)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30 капкак = 1ден</a:t>
            </a:r>
          </a:p>
          <a:p>
            <a:pPr algn="l">
              <a:lnSpc>
                <a:spcPct val="110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A4 кагазга чийилген тараза</a:t>
            </a:r>
          </a:p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007A5A"/>
                </a:solidFill>
                <a:latin typeface="PT Sans"/>
              </a:rPr>
              <a:t>Эки табактан бирдей ал → тең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2x + 5 = 17</a:t>
            </a:r>
          </a:p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4418C"/>
                </a:solidFill>
                <a:latin typeface="PT Sans"/>
              </a:rPr>
              <a:t>2x = 12,  x = 6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тилке модели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2 баштык (x жана x) жана 5 кг таш = 17 кг. Тилке чийип, белгисизди тап.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4028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463040" y="224028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767328" y="224028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71616" y="2240280"/>
            <a:ext cx="1920240" cy="56692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63040" y="2130552"/>
            <a:ext cx="6528816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8129016" y="2240280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17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333756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463040" y="333756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328" y="3337560"/>
            <a:ext cx="2304288" cy="56692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3337560"/>
            <a:ext cx="1920240" cy="566928"/>
          </a:xfrm>
          <a:prstGeom prst="roundRect">
            <a:avLst>
              <a:gd name="adj" fmla="val 6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71616" y="3337560"/>
            <a:ext cx="19202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−5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9016" y="3337560"/>
            <a:ext cx="822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4434840"/>
            <a:ext cx="10058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000" b="1" i="0">
                <a:solidFill>
                  <a:srgbClr val="6B7280"/>
                </a:solidFill>
                <a:latin typeface="PT Sans"/>
              </a:rPr>
              <a:t>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63040" y="4434840"/>
            <a:ext cx="2304288" cy="56692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F2430"/>
                </a:solidFill>
                <a:latin typeface="PT Sans"/>
              </a:rPr>
              <a:t>x = 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50208" y="4434840"/>
            <a:ext cx="411480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4A5A70"/>
                </a:solidFill>
                <a:latin typeface="PT Sans"/>
              </a:rPr>
              <a:t>12 ÷ 2 = 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224028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2x + 5 = 17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33756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2x = 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434840"/>
            <a:ext cx="260604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961120" y="2148840"/>
            <a:ext cx="0" cy="292608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548640" y="5074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Үзүк сызык = белгисиз x,  жалбыз түс = белгилүү сан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2x + 5 = 17  →  2x = 12  →  x = 6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Белгиле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Белгисизди x деп ал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−5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Кошулганды ал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жагынан бирдей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Көбөйткөндү бөл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Эки жагын бирдей бөл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Текшер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x ордуна коюп эсепте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Эки жагына бирдей амал → тараза тең турат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x 10дон чоңбу, кичинеби?  Баштык + 7 кг = 15 кг:  x + 7 = 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+ 7 = 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+ 7 − 7 = 15 − 7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жагынан −7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8 + 7 = 15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8 кг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Адегенде болжолдо: x 10дон чоңбу, кичинеби?  3 баштык + 4 кг = 25 кг:  3x + 4 = 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+ 4 = 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3x = 21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жагынан −4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x =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эки жагын ÷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3 · 7 + 4 = 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x = </a:t>
            </a:r>
            <a:r>
              <a:rPr sz="3400" b="1">
                <a:solidFill>
                  <a:srgbClr val="24418C"/>
                </a:solidFill>
                <a:latin typeface="PT Sans"/>
              </a:rPr>
              <a:t>7 кг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үч жол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 амал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+ 7 = 15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+7 → −7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15 − 7 = 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Кошуу → кемитүү, көбөйтүү → бөлүү.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«Жаап кой»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2x + 5 = 17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2хти жап: □ + 5 = 17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□ = 12, 2x = 12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Белгисиз бөлүктү колуң менен жаап, «эмне + 5 = 17?» деп сура.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Окшошторду топто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4x + 3 + 2x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x: 4 + 2 = 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сан: 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6x + 3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x бар мүчөлөр бир топ, сандар башка топ.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тескери тартипте чеч → x ордуна коюп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Теңдемени чыгар: 3x + 6 = 21. x =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9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x = 12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Баштыкта бир аз буурчак бар эле. Бермет дагы 7 кг кошту, баштык 15 кг болду. Адегенде канча кг болгон?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Тараза тең: бир табакта 4 бирдей баштык жана 3 кг таш, экинчисинде 27 кг таш. Бир баштык канча кг?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кг буурчак x сом. Бермет 4 кг алып, 1 000 сом берди, 200 сом кайтарып алды. 1 кг канча сом?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Баштыкта бир аз буурчак бар эле. Бермет дагы 7 кг кошту, баштык 15 кг болду. Адегенде канча кг болгон?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1250086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17014" y="3017520"/>
            <a:ext cx="1093825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x + 7 = 15; x = 8 кг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Тараза тең: бир табакта 4 бирдей баштык жана 3 кг таш, экинчисинде 27 кг таш. Бир баштык канча кг?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19600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40469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61338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982207" y="3017520"/>
            <a:ext cx="520869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03077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3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854951" y="3017520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992112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6854951" y="3401568"/>
            <a:ext cx="137161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7037832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27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+ 3 = 27; x = 6 кг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1 кг буурчак x сом. Бермет 4 кг алып, 1 000 сом берди, 200 сом кайтарып алды. 1 кг канча сом?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72272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41054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09836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678619" y="3017520"/>
            <a:ext cx="468782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47401" y="3017520"/>
            <a:ext cx="46878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200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TextBox 43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1 000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4x + 200 = 1 000; x = 200 сом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x + 9 = 23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5x = 45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4x + 7 = 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Жөнөкөйлөт: 7a − 2a + 3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a = 4 болгондо 3a + 2a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Теңдеме түз: тамыры x = 5, эки кадамдуу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x + 9 = 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14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5x = 45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4x + 7 = 31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x = 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Жөнөкөйлөт: 7a − 2a + 3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5a + 3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a = 4 болгондо 3a + 2a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20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Теңдеме түз: тамыры x = 5, эки кадамдуу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Мис.: 3x + 2 = 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Тараза тең турат: бир табакта 2 бирдей баштык буурчак жана 5 кг таш, экинчисинде 17 кг таш. Бир баштык канча кг?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" y="2240280"/>
            <a:ext cx="319502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09421" y="2240280"/>
            <a:ext cx="3195021" cy="548640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6B7280"/>
                </a:solidFill>
                <a:latin typeface="PT Sans"/>
              </a:rPr>
              <a:t>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04442" y="2240280"/>
            <a:ext cx="26625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2x + 5 = 17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теңдеме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2x = 12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эки жагынан −5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x = 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эки жагын ÷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2 · 6 + 5 = 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текшер ✓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Бир баштык 6 кг. Текшердик: 2 · 6 + 5 = 17.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Талас базары жөнүндө маселе түз: бирдей баштыктар (x) жана таштар, тараза тең турсун. Тамыры бүтүн сан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Бермет, Нурис, Мырзабек ата.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Жөнөкөйлөт: 4x + 3 + 2x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Теңдемени чыгар жана текшер: 2x + 5 = 17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a = 5 болгондо 3a − 4 туюнтмасынын маанисин тап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3a + 2b = 5ab туура эмес?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2x + 5 = 17де адегенде 5ти алып салабыз?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Жообуңду кантип текшердиң?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Тамгалуу туюнтмалар жана теңдемелер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2 кагаз чөйчөк жана 30 капкак; тараза A4 кагазга чийилет.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теңдемеден мурун: «Адегенде болжолдо: x канчага жакын?»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кадам жаңы сапта, «=» белгилери бирдей тизилет; акырында текшерүү.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3a + 2b жана 2x ар сабакта: «окшошпу?», «2x = 2 · x» (М1, М2).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