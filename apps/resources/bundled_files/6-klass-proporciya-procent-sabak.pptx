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Окуучулар болжолдошсун: 1 000 сом жетеби? Жоопту сабактын аягында текшеребиз.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2,6).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Элнура: 25% – 100дүн 25и, б.а. 1/4 (Азамат – М1).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чакмак дептерден кесилген 10 × 10 тор (100 чакмак = 100%), түстүү карандаш, 6 бөтөлкө капкагы (же таш) жана 168ди билдирген карточка. 25 чакмак = 25% = 1/4; 6 капкак = 168 сом → 1 капкак = 28 сом.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Эки сан огун доскага чийем: үстү – бөтөлкө, асты – сом; 6 → 168, 1 → 28, 60 → 1 680. Окуучулар чакмак дептерге чийишет. 100 чакмак тордо 25 чакмакты боёп, 1/4 экенин көрүшөт.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Түз пропорция: бири канча эсе көбөйсө, экинчиси да ошончо эсе көбөйөт. Тескери: бири көбөйсө, экинчиси ошончо эсе азаят (М4).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ыкманы үн чыгарып айтышат: «10% – 10го бөлөм, 5% – анын жарымы». Оозеки беш мүнөттө ушул ыкмалар кайталанат.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М1; Б = ✓; В = М3; Г = М5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1 бирдикти табуу → проценттен бүтүнгө → көп кадам. Жооптор: 112 : 4 · 7 = 196 сом; 9 : 3 · 10 = 30 окуучу; 2 000 − 300 = 1 700 сом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25% = 1/4: 240 : 4 = 60 окуучу. 1 бөтөлкө 168 : 6 = 28 сом. 60 · 28 = 1 680 сом. Пропорция менен: 6 : 168 = 60 : 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6; 208 сом; 80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Түз пропорция, пропорциялар жана процент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Мектептин спорт күнү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Талант агай спорт күнүн уюштурат: суу сатып алуу, медалдар жана катышуучулардын проценти.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С.К. Кыдыралиев ж.б., «Математика 6-класс», §4 «Түз пропорциялык көз карандылык. Пропорциялар» (4.1–4.12, № 88–125).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Мектептин спорт күнү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Мектепте жыл сайын спорт күнү өтөт: эстафета, футбол, арканга тартышуу.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Дене тарбия мугалими Талант агай Элнура менен Азаматка суу алууну тапшырды.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Дүкөндө 6 бөтөлкө суу 168 сом турат.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Канча бөтөлкө керек жана канча акча кетет?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Спорт күнүнө 240 окуучу келди. Алардын 25%ы эстафетага чыгат, ар бирине 1 бөтөлкө суу. 6 бөтөлкө 168 сом болсо, суу үчүн канча сом керек?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Түз пропорцияда 1 бирдикти таап, маселе чыгарам.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Пропорциянын негизги касиетин (a · d = b · c) колдонуп, белгисиз мүчөнү табам.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Сандын процентин жана процент боюнча санды 100 чакмак тор жана тилке менен табам.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1 бирдик, 1%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Пропорция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Процент маселелери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100 чакмак менен текшерүү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карта сорттоо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Спорт күнү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Эки сан огу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Үлүштөр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Ылдамдык, убакыт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Бөлчөктөр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Процент, масштаб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Пропорция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Процент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y = kx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Сызыктуу функция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1/4 = ?/100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240 : 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28 · 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0,35 · 100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1/4 = ?/100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240 :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28 · 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168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0,35 · 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Талант агай: «240 окуучунун 25%ы эстафетада». Канча окуучу?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Азамат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240 : 25 = 9,6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Болжол менен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10 окуучу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Элнура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25% = 25/100 = 1/4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240 : 4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= 60 окуучу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100 чакмак тор менен текшер.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чакмак дептерден 10 × 10 тор кесип, 25 чакмакты боёгула. 6 капкакты «168 сом» деп, 1 капкак канча экенин тапкыла.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240280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33856" y="2240280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444752" y="2240280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55648" y="2240280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66544" y="2240280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377440" y="2240280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688336" y="2240280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999232" y="2240280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10128" y="2240280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21024" y="2240280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2551176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33856" y="2551176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444752" y="2551176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755648" y="2551176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066544" y="2551176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377440" y="2551176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88336" y="2551176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99232" y="2551176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310128" y="2551176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21024" y="2551176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2960" y="2862072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33856" y="2862072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444752" y="2862072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755648" y="2862072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066544" y="2862072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377440" y="286207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688336" y="286207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999232" y="286207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10128" y="286207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21024" y="286207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22960" y="317296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33856" y="317296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444752" y="317296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755648" y="317296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066544" y="317296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377440" y="317296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688336" y="317296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999232" y="317296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310128" y="317296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21024" y="317296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22960" y="348386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33856" y="348386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444752" y="348386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755648" y="348386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066544" y="348386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377440" y="348386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688336" y="348386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999232" y="348386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310128" y="348386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621024" y="348386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22960" y="379476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133856" y="379476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444752" y="379476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755648" y="379476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066544" y="379476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377440" y="379476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688336" y="379476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99232" y="379476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310128" y="379476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621024" y="379476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22960" y="410565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133856" y="410565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444752" y="410565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755648" y="410565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066544" y="410565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377440" y="410565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688336" y="410565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999232" y="410565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310128" y="410565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621024" y="410565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22960" y="441655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133856" y="441655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444752" y="441655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755648" y="441655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066544" y="441655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377440" y="441655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2688336" y="441655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2999232" y="441655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310128" y="441655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621024" y="441655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822960" y="472744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133856" y="472744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444752" y="472744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55648" y="472744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2066544" y="472744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377440" y="472744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2688336" y="472744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2999232" y="472744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3310128" y="472744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3621024" y="472744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22960" y="503834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133856" y="503834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444752" y="503834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755648" y="503834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2066544" y="503834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2377440" y="503834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688336" y="503834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999232" y="503834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3310128" y="503834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621024" y="503834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4114800" y="2240280"/>
            <a:ext cx="301752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100 чакмак = 100%</a:t>
            </a:r>
          </a:p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07A5A"/>
                </a:solidFill>
                <a:latin typeface="PT Sans"/>
              </a:rPr>
              <a:t>25 чакмак = 25%</a:t>
            </a:r>
          </a:p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1/4</a:t>
            </a:r>
          </a:p>
        </p:txBody>
      </p:sp>
      <p:sp>
        <p:nvSpPr>
          <p:cNvPr id="113" name="Oval 112"/>
          <p:cNvSpPr/>
          <p:nvPr/>
        </p:nvSpPr>
        <p:spPr>
          <a:xfrm>
            <a:off x="4160520" y="4069080"/>
            <a:ext cx="402336" cy="40233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4636008" y="4069080"/>
            <a:ext cx="402336" cy="40233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5111496" y="4069080"/>
            <a:ext cx="402336" cy="40233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5586983" y="4069080"/>
            <a:ext cx="402336" cy="40233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6062472" y="4069080"/>
            <a:ext cx="402336" cy="40233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6537960" y="4069080"/>
            <a:ext cx="402336" cy="40233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4069080" y="3977640"/>
            <a:ext cx="2962656" cy="585216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114800" y="4572000"/>
            <a:ext cx="329184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6 капкак = 168 сом</a:t>
            </a:r>
          </a:p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1 капкак = 28 сом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7863840" y="2240280"/>
            <a:ext cx="3886200" cy="352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046720" y="2331720"/>
            <a:ext cx="3566160" cy="3383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Ар бир жупта: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10 × 10 чакмак тор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түстүү карандаш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6 капкак же таш</a:t>
            </a:r>
          </a:p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4418C"/>
                </a:solidFill>
                <a:latin typeface="PT Sans"/>
              </a:rPr>
              <a:t>240 · 25 : 100 = 60</a:t>
            </a:r>
          </a:p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4418C"/>
                </a:solidFill>
                <a:latin typeface="PT Sans"/>
              </a:rPr>
              <a:t>168 : 6 = 28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эки сан огу жана 100 чакмак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Эки сан огу: бөтөлкө жана сом. 100 чакмак тор: 25% = 25 чакмак = 1/4.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2960" y="2743200"/>
            <a:ext cx="6400800" cy="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22960" y="4206240"/>
            <a:ext cx="6400800" cy="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1874519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007A5A"/>
                </a:solidFill>
                <a:latin typeface="PT Sans"/>
              </a:rPr>
              <a:t>Бөтөлкө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63440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Сом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22960" y="2633472"/>
            <a:ext cx="0" cy="219456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22960" y="4096511"/>
            <a:ext cx="0" cy="21945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22960" y="2926080"/>
            <a:ext cx="0" cy="1097279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65760" y="2240280"/>
            <a:ext cx="914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43434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325880" y="2633472"/>
            <a:ext cx="0" cy="219456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325880" y="4096511"/>
            <a:ext cx="0" cy="21945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325880" y="2926080"/>
            <a:ext cx="0" cy="1097279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68680" y="2240280"/>
            <a:ext cx="914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3434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28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926079" y="2633472"/>
            <a:ext cx="0" cy="219456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926079" y="4096511"/>
            <a:ext cx="0" cy="21945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926079" y="2926080"/>
            <a:ext cx="0" cy="1097279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468879" y="2240280"/>
            <a:ext cx="914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77439" y="43434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168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029200" y="2633472"/>
            <a:ext cx="0" cy="219456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029200" y="4096511"/>
            <a:ext cx="0" cy="21945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029200" y="2926080"/>
            <a:ext cx="0" cy="1097279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572000" y="2240280"/>
            <a:ext cx="914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15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43434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420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040880" y="2633472"/>
            <a:ext cx="0" cy="219456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7040880" y="4096511"/>
            <a:ext cx="0" cy="21945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040880" y="2926080"/>
            <a:ext cx="0" cy="1097279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583680" y="2240280"/>
            <a:ext cx="914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60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92240" y="43434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1 680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4892040"/>
            <a:ext cx="64008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1">
                <a:solidFill>
                  <a:srgbClr val="4A5A70"/>
                </a:solidFill>
                <a:latin typeface="PT Sans"/>
              </a:rPr>
              <a:t>× 28: ар бир бөтөлкө 28 сом (1 бирдик)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29600" y="2148840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540496" y="2148840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851392" y="2148840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162288" y="2148840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473184" y="2148840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784080" y="214884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094976" y="214884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405872" y="214884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716768" y="214884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1027664" y="214884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229600" y="2459736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540496" y="2459736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851392" y="2459736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162288" y="2459736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473184" y="2459736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784080" y="245973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094976" y="245973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405872" y="245973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716768" y="245973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027664" y="245973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229600" y="2770632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540496" y="2770632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851392" y="2770632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162288" y="2770632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473184" y="2770632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784080" y="277063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094976" y="277063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405872" y="277063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716768" y="277063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1027664" y="277063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229600" y="3081528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540496" y="3081528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851392" y="3081528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162288" y="3081528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473184" y="3081528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784080" y="308152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0094976" y="308152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0405872" y="308152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0716768" y="308152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1027664" y="308152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229600" y="3392424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540496" y="3392424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8851392" y="3392424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162288" y="3392424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473184" y="3392424"/>
            <a:ext cx="310896" cy="310896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784080" y="339242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094976" y="339242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405872" y="339242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716768" y="339242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1027664" y="339242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8229600" y="370332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540496" y="370332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851392" y="370332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9162288" y="370332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9473184" y="370332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9784080" y="370332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094976" y="370332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405872" y="370332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716768" y="370332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1027664" y="3703320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229600" y="401421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540496" y="401421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851392" y="401421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162288" y="401421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473184" y="401421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784080" y="401421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0094976" y="401421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0405872" y="401421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0716768" y="401421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1027664" y="4014216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8229600" y="432511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8540496" y="432511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8851392" y="432511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162288" y="432511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9473184" y="432511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784080" y="432511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0094976" y="432511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405872" y="432511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716768" y="432511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1027664" y="4325112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8229600" y="463600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8540496" y="463600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8851392" y="463600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9162288" y="463600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9473184" y="463600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9784080" y="463600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0094976" y="463600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0405872" y="463600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0716768" y="463600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027664" y="4636008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8229600" y="494690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8540496" y="494690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8851392" y="494690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9162288" y="494690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9473184" y="494690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9784080" y="494690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10094976" y="494690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0405872" y="494690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0716768" y="494690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1027664" y="4946904"/>
            <a:ext cx="31089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9784080" y="2148840"/>
            <a:ext cx="0" cy="3108960"/>
          </a:xfrm>
          <a:prstGeom prst="line">
            <a:avLst/>
          </a:prstGeom>
          <a:ln w="2857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8229600" y="3703320"/>
            <a:ext cx="3108960" cy="0"/>
          </a:xfrm>
          <a:prstGeom prst="line">
            <a:avLst/>
          </a:prstGeom>
          <a:ln w="2857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/>
          <p:cNvSpPr txBox="1"/>
          <p:nvPr/>
        </p:nvSpPr>
        <p:spPr>
          <a:xfrm>
            <a:off x="8046720" y="530352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25% = 1/4 → 240 : 4 = 60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168 : 6 = 28;   240 · 25 : 100 = 60;   60 · 28 = 1 680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906524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a : b = c : 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Пропорция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a · d = b · c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2336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97680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4436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1 → 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Түз пропорция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Адегенде 1 бирдикти тап, анан көбөйт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9127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165592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42348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2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p%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7032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Процент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p% = p/100: 100гө бөл, рга көбөйт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x : 12 = 5 : 4   →   x = 12 · 5 : 4 = 15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 бөтөлкө суу 168 сом. 15 бөтөлкө канча сом?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168 : 6 · 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28 ·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1 бөтөлкө = 28 сом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420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сом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15 бөтөлкө = </a:t>
            </a:r>
            <a:r>
              <a:rPr sz="3400" b="1">
                <a:solidFill>
                  <a:srgbClr val="24418C"/>
                </a:solidFill>
                <a:latin typeface="PT Sans"/>
              </a:rPr>
              <a:t>420 сом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Мектептин 480 окуучусунун 35%ы спорт күнүнө ыктыярчы. Канча окуучу?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480 : 100 · 35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4,8 · 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1% = 4,8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168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окуучу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Ыктыярчы = </a:t>
            </a:r>
            <a:r>
              <a:rPr sz="3400" b="1">
                <a:solidFill>
                  <a:srgbClr val="24418C"/>
                </a:solidFill>
                <a:latin typeface="PT Sans"/>
              </a:rPr>
              <a:t>168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10%, 1 бирдик, бөлчөк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10%тен баштап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240тын 10%ы =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5%ы =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15%ы = 24 + 12 = 36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10% = 10го бөл; 5% – анын жарымы.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1 бирдикти тап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6 бөт. – 168 сом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 бөт. – 28 сом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15 бөт. – 420 сом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Адегенде 1, анан керектүү санга көбөйт.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Бөлчөк менен ойло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25% = 1/4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240 : 4 = 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75%ы = 3 · 60 = 180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50% = 1/2, 25% = 1/4, 20% = 1/5, 10% = 1/10.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Түшүн → ыкма → эркин эсеп. Ыкмаңды үн чыгарып айт: «Мен ... деп ойлодум».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Спорт күнүнө 240 окуучу катышты. Анын 15%ы сыйлык алды. Канча окуучу сыйлык алды?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225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3 600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 бөтөлкө суу 112 сом. 7 бөтөлкө канча сом? Тилкеге сандарды жаз.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Класстын 30%ы, б.а. 9 окуучу эстафетага катышты. Класста канча окуучу бар?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Топтун баасы 2 000 сом. Спорт күнүнө 15%ке арзандатышты. Мектеп канча сом төлөдү?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4 бөтөлкө суу 112 сом. 7 бөтөлкө канча сом? Тилкеге сандарды жаз.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4 бөт.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29968" y="3017520"/>
            <a:ext cx="12583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55806" y="3017520"/>
            <a:ext cx="12583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1645" y="3017520"/>
            <a:ext cx="12583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07484" y="3017520"/>
            <a:ext cx="12583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7 бөт.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29968" y="3574389"/>
            <a:ext cx="12583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55806" y="3574389"/>
            <a:ext cx="12583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1645" y="3574389"/>
            <a:ext cx="12583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07484" y="3574389"/>
            <a:ext cx="12583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33323" y="3574389"/>
            <a:ext cx="12583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59162" y="3574389"/>
            <a:ext cx="12583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85001" y="3574389"/>
            <a:ext cx="12583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28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624763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761923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624763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80764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112 : 4 · 7 = 196 сом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Класстын 30%ы, б.а. 9 окуучу эстафетага катышты. Класста канча окуучу бар?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19600" y="3017520"/>
            <a:ext cx="234391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53991" y="3017520"/>
            <a:ext cx="234391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88382" y="3017520"/>
            <a:ext cx="234391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22773" y="3017520"/>
            <a:ext cx="234391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357164" y="3017520"/>
            <a:ext cx="234391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91555" y="3017520"/>
            <a:ext cx="234391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25947" y="3017520"/>
            <a:ext cx="234391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60338" y="3017520"/>
            <a:ext cx="234391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94729" y="3017520"/>
            <a:ext cx="234391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29120" y="3017520"/>
            <a:ext cx="234391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9 : 3 · 10 = 30 окуучу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Топтун баасы 2 000 сом. Спорт күнүнө 15%ке арзандатышты. Мектеп канча сом төлөдү?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72272" y="3017520"/>
            <a:ext cx="1992325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1 700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264597" y="3017520"/>
            <a:ext cx="351586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300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2 000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2 000 − 300 = 1 700 сом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x : 8 = 3 : 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7 бөтөлкө 182 сом. 1 бөтөлкө?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360тын 15%ы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24 – 96нын канча проценти?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40%ы 18 болсо, сан?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Топ 900 сом, 20%ке арзандады. Азыр?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x : 8 = 3 :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7 бөтөлкө 182 сом. 1 бөтөлкө?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26 сом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360тын 15%ы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24 – 96нын канча проценти?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25%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40%ы 18 болсо, сан?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Топ 900 сом, 20%ке арзандады. Азыр?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720 сом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Спорт күнүнө 240 окуучу келди. Алардын 25%ы эстафетага чыгат, ар бирине 1 бөтөлкө суу. 6 бөтөлкө 168 сом болсо, суу үчүн канча сом керек?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240280"/>
            <a:ext cx="226313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60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77539" y="2240280"/>
            <a:ext cx="226313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60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40679" y="2240280"/>
            <a:ext cx="226313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60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03819" y="2240280"/>
            <a:ext cx="226313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60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240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240 · 25 : 100 = 60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эстафетада 60 окуучу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168 : 6 = 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1 бөтөлкө = 28 сом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2611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60 · 28 = 1 680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42611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сом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60 бөтөлкө керек: 1 680 сом.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Спорт күнү жөнүндө маселе түз: «1 бирдикти табуу» же «сандын проценти».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Элнура, Азамат, Талант агай.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x : 9 = 4 : 6.  x =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5 бөтөлкө 130 сом. 8 бөтөлкө канча сом?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Спорт күнүнө 320 окуучу келди. Анын 25%ы – канча окуучу?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Түз пропорцияны кантип тааныйсың? Тескери пропорциядан эмнеси менен айырмаланат?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10%тен баштоо ыңгайлуу?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a · d = b · c касиети эмнеге керек?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Пропорция жана процент (§4)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жупка 10 × 10 чакмак тор: процентти чакмак менен көрсөтүшөт.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Эки сан огун (бөтөлкө/сом) доскага жана дептерге чийдириңиз.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«Канча эсе?» суроосун көп бериңиз: кошуу менен эмес, көбөйтүү менен (М2).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Жоопту текшертиңиз: 100%дан аз болсо, жооп бүтүндөн кичине (М5).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