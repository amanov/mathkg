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Сабактын аталышы жана бүгүнкү окуя.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Сабактын жолу: ар бир бөлүк өз слайды менен ачылат.</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Окуяны окуп бериңиз. Адегенде болжолдошсун: чоң сектор = көп окуучубу? Колун көтөртүп, добуш берем. Жоопту сабактын аягында (22-слайд) текшеребиз. Таш-Көмүр – Жалал-Абад облусундагы шаар.</a:t>
            </a:r>
          </a:p>
          <a:p>
            <a:r>
              <a:t>3C (Байланыштыруу): Окуя турмуштан: бул суроого сабактын аягында кайтабыз.</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Ой жүгүртүү маданияты (Wenxi Lee, 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Ийгилик критерийлери: сабактын аягында ар бирине ✓ коёбуз.</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Спираль: тема класстан класска тереңдейт.</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Мини-тактага жазышат. Жооптор кийинки слайдда.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Жоопту дароо айтпайбыз. Жупта талкуулашат. Жооп: Нургиза: 90° – бүтүндүн 1/4 бөлүгү, бирок бүтүн ар башка (36 жана 24). Самат секторлорду салыштырды (М2).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жупка: чакмак дептерден 36 чакмактуу тилке (1 чакмак = 1 окуучу), 4 түстүү калем, желим же скрепка, ак барак. 1) Тизме боюнча боёшот: палоо 15, лагман 9, манты 8, ашлямфу 4. 2) Тилкени шакек кылып желимдешет. 3) Шакекти баракка коюп, ичинен тегерек чийишет, борборун болжолдоп белгилешет. 4) Түс алмашкан жерден борборго сызык тартышат. Сурайм: «Бүтүн шакек канча чакмак? Канча градус? Бир чакмак канча градус?» Проектор жок болсо, доскага ушундай тилке жана тегерек чийем.</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Тилке-шакектен кийин ушул сүрөткө өтөм: ар бир сектор – тилкенин бир түсү. Таблицаны доскага чийем, окуучулар дептерге: саны → бөлүгү → бурчу. Акырында текшеребиз: 150 + 90 + 80 + 40 = 360. Транспортир менен 150°ту бирге чийебиз: нөл радиуста (М5).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Төрт кадам бир эле ойго таянат: бүтүн тегерек = 360° = 100% = баары. Бир бирдиктин бурчун тапсак, калганы көбөйтүү же бөлүү. Ката коддору: М1 (бурч = сан), М2 (секторлорду салыштыруу), М3 (пайыз = градус), М6 (360°ту топтун санына бөлүү).</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сап «=» менен башталат. Окуучулар кадамды айтып турат.</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сап «=» менен башталат. Окуучулар кадамды айтып турат.</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Окуучулар ыкманы үн чыгарып айтышат: «90° – чейрек, 36нын чейреги 9». «Оозеки беш мүнөт» (класста колдонуу картасы, 3-бет) эки апта ушуларды кайталайт.</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Баары бир убакта манжа менен көрсөтөт (1–4). Туура эмес жооптун коду: А = М1; Б = М4; В = ✓; Г = М3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деңгээл: диаграмманы окуу → пайыздан бурчка → эки диаграмманы салыштыруу. Жооптор: 80° ÷ 10° = 8 окуучу; 180°, 90°, 54°, 36°; А: 100 &gt; Б: 80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Жеңилден баштап, мүмкүн болушунча алдыга. Жооптор кийинки слайдда.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диаграмманы санга айландырабыз: 6А: 1 окуучу = 10°, 150° = 15 окуучу; 6Б: 1 окуучу = 15°, 180° = 12 окуучу. Сектор чоң, бирок окуучу аз: бүтүн ар башка (М2). Порция: 15 + 12 = 27.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Блум: Түзүү. Жупта алмашып, бири-биринин маселесин чыгарышат.</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Жооптор: 1/3; 6 × 12° = 72°; 12 окуучу</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Бул слайд окуучуларга көрсөтүлбөйт.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3" name="TextBox 2"/>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1/26</a:t>
            </a:r>
          </a:p>
        </p:txBody>
      </p:sp>
      <p:sp>
        <p:nvSpPr>
          <p:cNvPr id="4" name="Rounded Rectangle 3"/>
          <p:cNvSpPr/>
          <p:nvPr/>
        </p:nvSpPr>
        <p:spPr>
          <a:xfrm>
            <a:off x="822960" y="1371600"/>
            <a:ext cx="164592" cy="128016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1371600"/>
            <a:ext cx="164592" cy="128016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1371600"/>
            <a:ext cx="164592" cy="128016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1188720"/>
            <a:ext cx="9601200" cy="548640"/>
          </a:xfrm>
          <a:prstGeom prst="rect">
            <a:avLst/>
          </a:prstGeom>
          <a:noFill/>
        </p:spPr>
        <p:txBody>
          <a:bodyPr wrap="square" anchor="t" lIns="45720" rIns="45720" tIns="27432" bIns="27432">
            <a:spAutoFit/>
          </a:bodyPr>
          <a:lstStyle/>
          <a:p>
            <a:pPr algn="l">
              <a:lnSpc>
                <a:spcPct val="105000"/>
              </a:lnSpc>
            </a:pPr>
            <a:r>
              <a:rPr sz="2200" b="0" i="0">
                <a:solidFill>
                  <a:srgbClr val="4A5A70"/>
                </a:solidFill>
                <a:latin typeface="PT Sans"/>
              </a:rPr>
              <a:t>6-класс · Математика</a:t>
            </a:r>
          </a:p>
        </p:txBody>
      </p:sp>
      <p:sp>
        <p:nvSpPr>
          <p:cNvPr id="8" name="TextBox 7"/>
          <p:cNvSpPr txBox="1"/>
          <p:nvPr/>
        </p:nvSpPr>
        <p:spPr>
          <a:xfrm>
            <a:off x="1828800" y="1691640"/>
            <a:ext cx="9601200" cy="1737360"/>
          </a:xfrm>
          <a:prstGeom prst="rect">
            <a:avLst/>
          </a:prstGeom>
          <a:noFill/>
        </p:spPr>
        <p:txBody>
          <a:bodyPr wrap="square" anchor="t" lIns="45720" rIns="45720" tIns="27432" bIns="27432">
            <a:spAutoFit/>
          </a:bodyPr>
          <a:lstStyle/>
          <a:p>
            <a:pPr algn="l">
              <a:lnSpc>
                <a:spcPct val="105000"/>
              </a:lnSpc>
            </a:pPr>
            <a:r>
              <a:rPr sz="4000" b="1" i="0">
                <a:solidFill>
                  <a:srgbClr val="1D3557"/>
                </a:solidFill>
                <a:latin typeface="PT Sans"/>
              </a:rPr>
              <a:t>Тегерек диаграммалар</a:t>
            </a:r>
          </a:p>
        </p:txBody>
      </p:sp>
      <p:sp>
        <p:nvSpPr>
          <p:cNvPr id="9" name="Rounded Rectangle 8"/>
          <p:cNvSpPr/>
          <p:nvPr/>
        </p:nvSpPr>
        <p:spPr>
          <a:xfrm>
            <a:off x="1828800" y="3611880"/>
            <a:ext cx="8778240" cy="1463040"/>
          </a:xfrm>
          <a:prstGeom prst="roundRect">
            <a:avLst>
              <a:gd name="adj" fmla="val 12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0"/>
            <a:ext cx="8321040" cy="457200"/>
          </a:xfrm>
          <a:prstGeom prst="rect">
            <a:avLst/>
          </a:prstGeom>
          <a:noFill/>
        </p:spPr>
        <p:txBody>
          <a:bodyPr wrap="square" anchor="t" lIns="45720" rIns="45720" tIns="27432" bIns="27432">
            <a:spAutoFit/>
          </a:bodyPr>
          <a:lstStyle/>
          <a:p>
            <a:pPr algn="l">
              <a:lnSpc>
                <a:spcPct val="105000"/>
              </a:lnSpc>
            </a:pPr>
            <a:r>
              <a:rPr sz="2400" b="1" i="0">
                <a:solidFill>
                  <a:srgbClr val="A84400"/>
                </a:solidFill>
                <a:latin typeface="PT Sans"/>
              </a:rPr>
              <a:t>Бүгүнкү окуя: Таш-Көмүрдөгү ашкана</a:t>
            </a:r>
          </a:p>
        </p:txBody>
      </p:sp>
      <p:sp>
        <p:nvSpPr>
          <p:cNvPr id="11" name="TextBox 10"/>
          <p:cNvSpPr txBox="1"/>
          <p:nvPr/>
        </p:nvSpPr>
        <p:spPr>
          <a:xfrm>
            <a:off x="2057400" y="4160520"/>
            <a:ext cx="8321040" cy="914400"/>
          </a:xfrm>
          <a:prstGeom prst="rect">
            <a:avLst/>
          </a:prstGeom>
          <a:noFill/>
        </p:spPr>
        <p:txBody>
          <a:bodyPr wrap="square" anchor="t" lIns="45720" rIns="45720" tIns="27432" bIns="27432">
            <a:spAutoFit/>
          </a:bodyPr>
          <a:lstStyle/>
          <a:p>
            <a:pPr algn="l">
              <a:lnSpc>
                <a:spcPct val="105000"/>
              </a:lnSpc>
            </a:pPr>
            <a:r>
              <a:rPr sz="1900" b="0" i="0">
                <a:solidFill>
                  <a:srgbClr val="1F2430"/>
                </a:solidFill>
                <a:latin typeface="PT Sans"/>
              </a:rPr>
              <a:t>Самат менен Нургиза Чолпон эжеге канча порция палоо керек экенин эсептешет.</a:t>
            </a:r>
          </a:p>
        </p:txBody>
      </p:sp>
      <p:sp>
        <p:nvSpPr>
          <p:cNvPr id="12" name="TextBox 11"/>
          <p:cNvSpPr txBox="1"/>
          <p:nvPr/>
        </p:nvSpPr>
        <p:spPr>
          <a:xfrm>
            <a:off x="1828800" y="5349240"/>
            <a:ext cx="9601200" cy="457200"/>
          </a:xfrm>
          <a:prstGeom prst="rect">
            <a:avLst/>
          </a:prstGeom>
          <a:noFill/>
        </p:spPr>
        <p:txBody>
          <a:bodyPr wrap="square" anchor="t" lIns="45720" rIns="45720" tIns="27432" bIns="27432">
            <a:spAutoFit/>
          </a:bodyPr>
          <a:lstStyle/>
          <a:p>
            <a:pPr algn="l">
              <a:lnSpc>
                <a:spcPct val="105000"/>
              </a:lnSpc>
            </a:pPr>
            <a:r>
              <a:rPr sz="1300" b="0" i="1">
                <a:solidFill>
                  <a:srgbClr val="6B7280"/>
                </a:solidFill>
                <a:latin typeface="PT Sans"/>
              </a:rPr>
              <a:t>Китеп: Математика стандарты (2018), 6-класс: «Статистикалык маалыматтар» (диаграммалар); Сингапур P6 (тегерек диаграмма). Мазмуну оригиналдуу.</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Сабактын мазмуну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2/26</a:t>
            </a:r>
          </a:p>
        </p:txBody>
      </p:sp>
      <p:sp>
        <p:nvSpPr>
          <p:cNvPr id="10" name="Rounded Rectangle 9"/>
          <p:cNvSpPr/>
          <p:nvPr/>
        </p:nvSpPr>
        <p:spPr>
          <a:xfrm>
            <a:off x="429768" y="1280160"/>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080" y="1463039"/>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2" name="TextBox 11"/>
          <p:cNvSpPr txBox="1"/>
          <p:nvPr/>
        </p:nvSpPr>
        <p:spPr>
          <a:xfrm>
            <a:off x="1280160" y="1280160"/>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Кириш</a:t>
            </a:r>
          </a:p>
        </p:txBody>
      </p:sp>
      <p:sp>
        <p:nvSpPr>
          <p:cNvPr id="13" name="TextBox 12"/>
          <p:cNvSpPr txBox="1"/>
          <p:nvPr/>
        </p:nvSpPr>
        <p:spPr>
          <a:xfrm>
            <a:off x="4480560" y="1280160"/>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Окуя, эрежелер, максаттар</a:t>
            </a:r>
          </a:p>
        </p:txBody>
      </p:sp>
      <p:sp>
        <p:nvSpPr>
          <p:cNvPr id="14" name="Rounded Rectangle 13"/>
          <p:cNvSpPr/>
          <p:nvPr/>
        </p:nvSpPr>
        <p:spPr>
          <a:xfrm>
            <a:off x="429768" y="2212848"/>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 y="2395728"/>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80160" y="2212848"/>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Даярдык</a:t>
            </a:r>
          </a:p>
        </p:txBody>
      </p:sp>
      <p:sp>
        <p:nvSpPr>
          <p:cNvPr id="17" name="TextBox 16"/>
          <p:cNvSpPr txBox="1"/>
          <p:nvPr/>
        </p:nvSpPr>
        <p:spPr>
          <a:xfrm>
            <a:off x="4480560" y="2212848"/>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Эстейбиз, «Ким туура?»</a:t>
            </a:r>
          </a:p>
        </p:txBody>
      </p:sp>
      <p:sp>
        <p:nvSpPr>
          <p:cNvPr id="18" name="Rounded Rectangle 17"/>
          <p:cNvSpPr/>
          <p:nvPr/>
        </p:nvSpPr>
        <p:spPr>
          <a:xfrm>
            <a:off x="429768" y="3145536"/>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 y="3328416"/>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20" name="TextBox 19"/>
          <p:cNvSpPr txBox="1"/>
          <p:nvPr/>
        </p:nvSpPr>
        <p:spPr>
          <a:xfrm>
            <a:off x="1280160" y="3145536"/>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Түшүнөбүз</a:t>
            </a:r>
          </a:p>
        </p:txBody>
      </p:sp>
      <p:sp>
        <p:nvSpPr>
          <p:cNvPr id="21" name="TextBox 20"/>
          <p:cNvSpPr txBox="1"/>
          <p:nvPr/>
        </p:nvSpPr>
        <p:spPr>
          <a:xfrm>
            <a:off x="4480560" y="3145536"/>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К → С → А: буюм, тилке, эреже</a:t>
            </a:r>
          </a:p>
        </p:txBody>
      </p:sp>
      <p:sp>
        <p:nvSpPr>
          <p:cNvPr id="22" name="Rounded Rectangle 21"/>
          <p:cNvSpPr/>
          <p:nvPr/>
        </p:nvSpPr>
        <p:spPr>
          <a:xfrm>
            <a:off x="429768" y="4078224"/>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 y="426110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4" name="TextBox 23"/>
          <p:cNvSpPr txBox="1"/>
          <p:nvPr/>
        </p:nvSpPr>
        <p:spPr>
          <a:xfrm>
            <a:off x="1280160" y="4078224"/>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Машыгабыз</a:t>
            </a:r>
          </a:p>
        </p:txBody>
      </p:sp>
      <p:sp>
        <p:nvSpPr>
          <p:cNvPr id="25" name="TextBox 24"/>
          <p:cNvSpPr txBox="1"/>
          <p:nvPr/>
        </p:nvSpPr>
        <p:spPr>
          <a:xfrm>
            <a:off x="4480560" y="4078224"/>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Чечүүчү суроо, тилке, өз алдынча иш</a:t>
            </a:r>
          </a:p>
        </p:txBody>
      </p:sp>
      <p:sp>
        <p:nvSpPr>
          <p:cNvPr id="26" name="Rounded Rectangle 25"/>
          <p:cNvSpPr/>
          <p:nvPr/>
        </p:nvSpPr>
        <p:spPr>
          <a:xfrm>
            <a:off x="429768" y="5010912"/>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0080" y="5193792"/>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5</a:t>
            </a:r>
          </a:p>
        </p:txBody>
      </p:sp>
      <p:sp>
        <p:nvSpPr>
          <p:cNvPr id="28" name="TextBox 27"/>
          <p:cNvSpPr txBox="1"/>
          <p:nvPr/>
        </p:nvSpPr>
        <p:spPr>
          <a:xfrm>
            <a:off x="1280160" y="5010912"/>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Жыйынтык</a:t>
            </a:r>
          </a:p>
        </p:txBody>
      </p:sp>
      <p:sp>
        <p:nvSpPr>
          <p:cNvPr id="29" name="TextBox 28"/>
          <p:cNvSpPr txBox="1"/>
          <p:nvPr/>
        </p:nvSpPr>
        <p:spPr>
          <a:xfrm>
            <a:off x="4480560" y="5010912"/>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Окуяга кайтуу, түзүү, чыгуу билети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Окуя: Таш-Көмүрдөгү ашкана</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3/26</a:t>
            </a:r>
          </a:p>
        </p:txBody>
      </p:sp>
      <p:sp>
        <p:nvSpPr>
          <p:cNvPr id="10" name="Rounded Rectangle 9"/>
          <p:cNvSpPr/>
          <p:nvPr/>
        </p:nvSpPr>
        <p:spPr>
          <a:xfrm>
            <a:off x="429768" y="1225296"/>
            <a:ext cx="6766560" cy="45720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325880"/>
            <a:ext cx="6217920" cy="4389120"/>
          </a:xfrm>
          <a:prstGeom prst="rect">
            <a:avLst/>
          </a:prstGeom>
          <a:noFill/>
        </p:spPr>
        <p:txBody>
          <a:bodyPr wrap="square" anchor="t" lIns="45720" rIns="45720" tIns="27432" bIns="27432">
            <a:spAutoFit/>
          </a:bodyPr>
          <a:lstStyle/>
          <a:p>
            <a:pPr algn="l">
              <a:lnSpc>
                <a:spcPct val="105000"/>
              </a:lnSpc>
            </a:pPr>
            <a:r>
              <a:rPr sz="2100" b="0" i="0">
                <a:solidFill>
                  <a:srgbClr val="1F2430"/>
                </a:solidFill>
                <a:latin typeface="PT Sans"/>
              </a:rPr>
              <a:t>Таш-Көмүрдөгү мектептин ашканасында Чолпон эже түшкү тамак даярдайт.</a:t>
            </a:r>
          </a:p>
          <a:p>
            <a:pPr algn="l">
              <a:lnSpc>
                <a:spcPct val="105000"/>
              </a:lnSpc>
              <a:spcBef>
                <a:spcPts val="800"/>
              </a:spcBef>
            </a:pPr>
            <a:r>
              <a:rPr sz="2100" b="0" i="0">
                <a:solidFill>
                  <a:srgbClr val="1F2430"/>
                </a:solidFill>
                <a:latin typeface="PT Sans"/>
              </a:rPr>
              <a:t>Ал 6-класстардан сурады: «Жума күнкү майрамга кайсы тамакты жакшы көрөсүңөр?»</a:t>
            </a:r>
          </a:p>
          <a:p>
            <a:pPr algn="l">
              <a:lnSpc>
                <a:spcPct val="105000"/>
              </a:lnSpc>
              <a:spcBef>
                <a:spcPts val="800"/>
              </a:spcBef>
            </a:pPr>
            <a:r>
              <a:rPr sz="2100" b="0" i="0">
                <a:solidFill>
                  <a:srgbClr val="1F2430"/>
                </a:solidFill>
                <a:latin typeface="PT Sans"/>
              </a:rPr>
              <a:t>6Ада Самат 36 окуучудан, 6Бда Нургиза 24 окуучудан сурап, ар бири тегерек диаграмма чийди.</a:t>
            </a:r>
          </a:p>
          <a:p>
            <a:pPr algn="l">
              <a:lnSpc>
                <a:spcPct val="105000"/>
              </a:lnSpc>
              <a:spcBef>
                <a:spcPts val="800"/>
              </a:spcBef>
            </a:pPr>
            <a:r>
              <a:rPr sz="2100" b="0" i="0">
                <a:solidFill>
                  <a:srgbClr val="1F2430"/>
                </a:solidFill>
                <a:latin typeface="PT Sans"/>
              </a:rPr>
              <a:t>Палоонун сектору: 6Ада 150°, 6Бда 180°. Нургиза: «Бизде палоону көп окуучу жактырат!»</a:t>
            </a:r>
          </a:p>
        </p:txBody>
      </p:sp>
      <p:sp>
        <p:nvSpPr>
          <p:cNvPr id="12" name="Rounded Rectangle 11"/>
          <p:cNvSpPr/>
          <p:nvPr/>
        </p:nvSpPr>
        <p:spPr>
          <a:xfrm>
            <a:off x="7406640" y="1225296"/>
            <a:ext cx="4352544" cy="4572000"/>
          </a:xfrm>
          <a:prstGeom prst="roundRect">
            <a:avLst>
              <a:gd name="adj" fmla="val 6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325880"/>
            <a:ext cx="3931920" cy="457200"/>
          </a:xfrm>
          <a:prstGeom prst="rect">
            <a:avLst/>
          </a:prstGeom>
          <a:noFill/>
        </p:spPr>
        <p:txBody>
          <a:bodyPr wrap="square" anchor="t" lIns="45720" rIns="45720" tIns="27432" bIns="27432">
            <a:spAutoFit/>
          </a:bodyPr>
          <a:lstStyle/>
          <a:p>
            <a:pPr algn="l">
              <a:lnSpc>
                <a:spcPct val="105000"/>
              </a:lnSpc>
            </a:pPr>
            <a:r>
              <a:rPr sz="2200" b="1" i="0">
                <a:solidFill>
                  <a:srgbClr val="A84400"/>
                </a:solidFill>
                <a:latin typeface="PT Sans"/>
              </a:rPr>
              <a:t>Суроо</a:t>
            </a:r>
          </a:p>
        </p:txBody>
      </p:sp>
      <p:sp>
        <p:nvSpPr>
          <p:cNvPr id="14" name="TextBox 13"/>
          <p:cNvSpPr txBox="1"/>
          <p:nvPr/>
        </p:nvSpPr>
        <p:spPr>
          <a:xfrm>
            <a:off x="7635240" y="1828800"/>
            <a:ext cx="3931920" cy="2743200"/>
          </a:xfrm>
          <a:prstGeom prst="rect">
            <a:avLst/>
          </a:prstGeom>
          <a:noFill/>
        </p:spPr>
        <p:txBody>
          <a:bodyPr wrap="square" anchor="t" lIns="45720" rIns="45720" tIns="27432" bIns="27432">
            <a:spAutoFit/>
          </a:bodyPr>
          <a:lstStyle/>
          <a:p>
            <a:pPr algn="l">
              <a:lnSpc>
                <a:spcPct val="105000"/>
              </a:lnSpc>
            </a:pPr>
            <a:r>
              <a:rPr sz="2200" b="1" i="0">
                <a:solidFill>
                  <a:srgbClr val="1F2430"/>
                </a:solidFill>
                <a:latin typeface="PT Sans"/>
              </a:rPr>
              <a:t>6А (36 окуучу): палоо 150°. 6Б (24 окуучу): палоо 180°. Нургиза туурабы? Чолпон эже эки класска канча порция палоо даярдашы керек?</a:t>
            </a:r>
          </a:p>
        </p:txBody>
      </p:sp>
      <p:sp>
        <p:nvSpPr>
          <p:cNvPr id="15" name="TextBox 14"/>
          <p:cNvSpPr txBox="1"/>
          <p:nvPr/>
        </p:nvSpPr>
        <p:spPr>
          <a:xfrm>
            <a:off x="7635240" y="4572000"/>
            <a:ext cx="3931920" cy="1097280"/>
          </a:xfrm>
          <a:prstGeom prst="rect">
            <a:avLst/>
          </a:prstGeom>
          <a:noFill/>
        </p:spPr>
        <p:txBody>
          <a:bodyPr wrap="square" anchor="t" lIns="45720" rIns="45720" tIns="27432" bIns="27432">
            <a:spAutoFit/>
          </a:bodyPr>
          <a:lstStyle/>
          <a:p>
            <a:pPr algn="l">
              <a:lnSpc>
                <a:spcPct val="105000"/>
              </a:lnSpc>
            </a:pPr>
            <a:r>
              <a:rPr sz="1700" b="0" i="1">
                <a:solidFill>
                  <a:srgbClr val="6B7280"/>
                </a:solidFill>
                <a:latin typeface="PT Sans"/>
              </a:rPr>
              <a:t>Азыр жообун айтпайбыз. Ойлон: кантип билебиз?</a:t>
            </a:r>
          </a:p>
        </p:txBody>
      </p:sp>
      <p:sp>
        <p:nvSpPr>
          <p:cNvPr id="16" name="Rounded Rectangle 15"/>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Математикада биз…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4/26</a:t>
            </a:r>
          </a:p>
        </p:txBody>
      </p:sp>
      <p:sp>
        <p:nvSpPr>
          <p:cNvPr id="10" name="Rounded Rectangle 9"/>
          <p:cNvSpPr/>
          <p:nvPr/>
        </p:nvSpPr>
        <p:spPr>
          <a:xfrm>
            <a:off x="429768"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1600200"/>
            <a:ext cx="3166872" cy="1463040"/>
          </a:xfrm>
          <a:prstGeom prst="roundRect">
            <a:avLst>
              <a:gd name="adj" fmla="val 15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007A5A"/>
                </a:solidFill>
                <a:latin typeface="PT Sans"/>
              </a:rPr>
              <a:t>Ката – үйрөнүүнүн бир бөлүгү</a:t>
            </a:r>
          </a:p>
        </p:txBody>
      </p:sp>
      <p:sp>
        <p:nvSpPr>
          <p:cNvPr id="12" name="TextBox 11"/>
          <p:cNvSpPr txBox="1"/>
          <p:nvPr/>
        </p:nvSpPr>
        <p:spPr>
          <a:xfrm>
            <a:off x="658368"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Ката кетсе, эмне үчүн кеткенин издейбиз.</a:t>
            </a:r>
          </a:p>
        </p:txBody>
      </p:sp>
      <p:sp>
        <p:nvSpPr>
          <p:cNvPr id="13" name="Rounded Rectangle 12"/>
          <p:cNvSpPr/>
          <p:nvPr/>
        </p:nvSpPr>
        <p:spPr>
          <a:xfrm>
            <a:off x="4282439"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11039" y="1600200"/>
            <a:ext cx="3166872" cy="1463040"/>
          </a:xfrm>
          <a:prstGeom prst="roundRect">
            <a:avLst>
              <a:gd name="adj" fmla="val 15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«Азырынча билбейм»</a:t>
            </a:r>
          </a:p>
        </p:txBody>
      </p:sp>
      <p:sp>
        <p:nvSpPr>
          <p:cNvPr id="15" name="TextBox 14"/>
          <p:cNvSpPr txBox="1"/>
          <p:nvPr/>
        </p:nvSpPr>
        <p:spPr>
          <a:xfrm>
            <a:off x="4511039"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«Билбейм» эмес, «азырынча». Машыксак, үйрөнөбүз.</a:t>
            </a:r>
          </a:p>
        </p:txBody>
      </p:sp>
      <p:sp>
        <p:nvSpPr>
          <p:cNvPr id="16" name="Rounded Rectangle 15"/>
          <p:cNvSpPr/>
          <p:nvPr/>
        </p:nvSpPr>
        <p:spPr>
          <a:xfrm>
            <a:off x="8135112"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63712" y="1600200"/>
            <a:ext cx="3166872" cy="1463040"/>
          </a:xfrm>
          <a:prstGeom prst="roundRect">
            <a:avLst>
              <a:gd name="adj" fmla="val 15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Адегенде түшүн, анан эсепте</a:t>
            </a:r>
          </a:p>
        </p:txBody>
      </p:sp>
      <p:sp>
        <p:nvSpPr>
          <p:cNvPr id="18" name="TextBox 17"/>
          <p:cNvSpPr txBox="1"/>
          <p:nvPr/>
        </p:nvSpPr>
        <p:spPr>
          <a:xfrm>
            <a:off x="8363712"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Сүрөт же тилке чийип, анан сан менен жазабыз.</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Максаттар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5/26</a:t>
            </a:r>
          </a:p>
        </p:txBody>
      </p:sp>
      <p:sp>
        <p:nvSpPr>
          <p:cNvPr id="10" name="Rounded Rectangle 9"/>
          <p:cNvSpPr/>
          <p:nvPr/>
        </p:nvSpPr>
        <p:spPr>
          <a:xfrm>
            <a:off x="429768" y="1225296"/>
            <a:ext cx="6409944"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29768" y="1865376"/>
            <a:ext cx="6409944"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12648" y="1225296"/>
            <a:ext cx="6044184" cy="64008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Бүгүн биз үйрөнөбүз</a:t>
            </a:r>
          </a:p>
        </p:txBody>
      </p:sp>
      <p:sp>
        <p:nvSpPr>
          <p:cNvPr id="13" name="Oval 12"/>
          <p:cNvSpPr/>
          <p:nvPr/>
        </p:nvSpPr>
        <p:spPr>
          <a:xfrm>
            <a:off x="722376" y="21488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4" name="TextBox 13"/>
          <p:cNvSpPr txBox="1"/>
          <p:nvPr/>
        </p:nvSpPr>
        <p:spPr>
          <a:xfrm>
            <a:off x="1261872" y="211226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Тегерек диаграммадан бөлүктү бөлчөк, пайыз жана сан менен окуйм.</a:t>
            </a:r>
          </a:p>
        </p:txBody>
      </p:sp>
      <p:sp>
        <p:nvSpPr>
          <p:cNvPr id="15" name="Oval 14"/>
          <p:cNvSpPr/>
          <p:nvPr/>
        </p:nvSpPr>
        <p:spPr>
          <a:xfrm>
            <a:off x="722376" y="342900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61872" y="339242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Бурчтарды 360° ÷ жалпы саны менен эсептеп, тегерек диаграмманы транспортир менен чийем.</a:t>
            </a:r>
          </a:p>
        </p:txBody>
      </p:sp>
      <p:sp>
        <p:nvSpPr>
          <p:cNvPr id="17" name="Oval 16"/>
          <p:cNvSpPr/>
          <p:nvPr/>
        </p:nvSpPr>
        <p:spPr>
          <a:xfrm>
            <a:off x="722376" y="470916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8" name="TextBox 17"/>
          <p:cNvSpPr txBox="1"/>
          <p:nvPr/>
        </p:nvSpPr>
        <p:spPr>
          <a:xfrm>
            <a:off x="1261872" y="467258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Жалпы саны ар башка эки диаграмманы санга айландырып салыштырам.</a:t>
            </a:r>
          </a:p>
        </p:txBody>
      </p:sp>
      <p:sp>
        <p:nvSpPr>
          <p:cNvPr id="19" name="Rounded Rectangle 18"/>
          <p:cNvSpPr/>
          <p:nvPr/>
        </p:nvSpPr>
        <p:spPr>
          <a:xfrm>
            <a:off x="7132320" y="1225296"/>
            <a:ext cx="4636008"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7132320" y="1865376"/>
            <a:ext cx="46360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06056" y="1225296"/>
            <a:ext cx="4270248" cy="64008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Деңгээлдер</a:t>
            </a:r>
          </a:p>
        </p:txBody>
      </p:sp>
      <p:sp>
        <p:nvSpPr>
          <p:cNvPr id="22" name="Rounded Rectangle 21"/>
          <p:cNvSpPr/>
          <p:nvPr/>
        </p:nvSpPr>
        <p:spPr>
          <a:xfrm>
            <a:off x="7360920" y="2103120"/>
            <a:ext cx="1143000" cy="731520"/>
          </a:xfrm>
          <a:prstGeom prst="roundRect">
            <a:avLst>
              <a:gd name="adj" fmla="val 20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007A5A"/>
                </a:solidFill>
                <a:latin typeface="PT Sans"/>
              </a:rPr>
              <a:t>Жеңил</a:t>
            </a:r>
          </a:p>
        </p:txBody>
      </p:sp>
      <p:sp>
        <p:nvSpPr>
          <p:cNvPr id="23" name="TextBox 22"/>
          <p:cNvSpPr txBox="1"/>
          <p:nvPr/>
        </p:nvSpPr>
        <p:spPr>
          <a:xfrm>
            <a:off x="8641080" y="2057400"/>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Окуу: бурч → бөлүк</a:t>
            </a:r>
          </a:p>
        </p:txBody>
      </p:sp>
      <p:sp>
        <p:nvSpPr>
          <p:cNvPr id="24" name="Rounded Rectangle 23"/>
          <p:cNvSpPr/>
          <p:nvPr/>
        </p:nvSpPr>
        <p:spPr>
          <a:xfrm>
            <a:off x="7360920" y="3127248"/>
            <a:ext cx="1143000" cy="731520"/>
          </a:xfrm>
          <a:prstGeom prst="roundRect">
            <a:avLst>
              <a:gd name="adj" fmla="val 20000"/>
            </a:avLst>
          </a:prstGeom>
          <a:solidFill>
            <a:srgbClr val="FFFFFF"/>
          </a:solid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A84400"/>
                </a:solidFill>
                <a:latin typeface="PT Sans"/>
              </a:rPr>
              <a:t>Орто</a:t>
            </a:r>
          </a:p>
        </p:txBody>
      </p:sp>
      <p:sp>
        <p:nvSpPr>
          <p:cNvPr id="25" name="TextBox 24"/>
          <p:cNvSpPr txBox="1"/>
          <p:nvPr/>
        </p:nvSpPr>
        <p:spPr>
          <a:xfrm>
            <a:off x="8641080" y="3081528"/>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Чийүү: 360° ÷ жалпы</a:t>
            </a:r>
          </a:p>
        </p:txBody>
      </p:sp>
      <p:sp>
        <p:nvSpPr>
          <p:cNvPr id="26" name="Rounded Rectangle 25"/>
          <p:cNvSpPr/>
          <p:nvPr/>
        </p:nvSpPr>
        <p:spPr>
          <a:xfrm>
            <a:off x="7360920" y="4151376"/>
            <a:ext cx="1143000" cy="731520"/>
          </a:xfrm>
          <a:prstGeom prst="roundRect">
            <a:avLst>
              <a:gd name="adj" fmla="val 20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4A5A70"/>
                </a:solidFill>
                <a:latin typeface="PT Sans"/>
              </a:rPr>
              <a:t>Оор</a:t>
            </a:r>
          </a:p>
        </p:txBody>
      </p:sp>
      <p:sp>
        <p:nvSpPr>
          <p:cNvPr id="27" name="TextBox 26"/>
          <p:cNvSpPr txBox="1"/>
          <p:nvPr/>
        </p:nvSpPr>
        <p:spPr>
          <a:xfrm>
            <a:off x="8641080" y="4105656"/>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6B7280"/>
                </a:solidFill>
                <a:latin typeface="PT Sans"/>
              </a:rPr>
              <a:t>Салыштыруу</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3C: бүгүн кантип ойлонобуз?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6/26</a:t>
            </a:r>
          </a:p>
        </p:txBody>
      </p:sp>
      <p:sp>
        <p:nvSpPr>
          <p:cNvPr id="10" name="Rounded Rectangle 9"/>
          <p:cNvSpPr/>
          <p:nvPr/>
        </p:nvSpPr>
        <p:spPr>
          <a:xfrm>
            <a:off x="429768"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04088" y="1463040"/>
            <a:ext cx="3044952" cy="640080"/>
          </a:xfrm>
          <a:prstGeom prst="roundRect">
            <a:avLst>
              <a:gd name="adj" fmla="val 50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007A5A"/>
                </a:solidFill>
                <a:latin typeface="PT Sans"/>
              </a:rPr>
              <a:t>Сынчыл ой</a:t>
            </a:r>
          </a:p>
        </p:txBody>
      </p:sp>
      <p:sp>
        <p:nvSpPr>
          <p:cNvPr id="12" name="TextBox 11"/>
          <p:cNvSpPr txBox="1"/>
          <p:nvPr/>
        </p:nvSpPr>
        <p:spPr>
          <a:xfrm>
            <a:off x="658368"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Текшеребиз, далилдейбиз, катаны издейбиз.</a:t>
            </a:r>
          </a:p>
        </p:txBody>
      </p:sp>
      <p:cxnSp>
        <p:nvCxnSpPr>
          <p:cNvPr id="13" name="Connector 12"/>
          <p:cNvCxnSpPr/>
          <p:nvPr/>
        </p:nvCxnSpPr>
        <p:spPr>
          <a:xfrm>
            <a:off x="704088"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8368"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15" name="TextBox 14"/>
          <p:cNvSpPr txBox="1"/>
          <p:nvPr/>
        </p:nvSpPr>
        <p:spPr>
          <a:xfrm>
            <a:off x="658368"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«Ким туура?»</a:t>
            </a:r>
          </a:p>
          <a:p>
            <a:pPr algn="l">
              <a:lnSpc>
                <a:spcPct val="105000"/>
              </a:lnSpc>
            </a:pPr>
            <a:r>
              <a:rPr sz="1800" b="0" i="0">
                <a:solidFill>
                  <a:srgbClr val="1F2430"/>
                </a:solidFill>
                <a:latin typeface="PT Sans"/>
              </a:rPr>
              <a:t>• Эки класс, бирдей сектор</a:t>
            </a:r>
          </a:p>
        </p:txBody>
      </p:sp>
      <p:sp>
        <p:nvSpPr>
          <p:cNvPr id="16" name="Rounded Rectangle 15"/>
          <p:cNvSpPr/>
          <p:nvPr/>
        </p:nvSpPr>
        <p:spPr>
          <a:xfrm>
            <a:off x="4297680"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0" y="1463040"/>
            <a:ext cx="3044952" cy="640080"/>
          </a:xfrm>
          <a:prstGeom prst="roundRect">
            <a:avLst>
              <a:gd name="adj" fmla="val 50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Кызматташуу</a:t>
            </a:r>
          </a:p>
        </p:txBody>
      </p:sp>
      <p:sp>
        <p:nvSpPr>
          <p:cNvPr id="18" name="TextBox 17"/>
          <p:cNvSpPr txBox="1"/>
          <p:nvPr/>
        </p:nvSpPr>
        <p:spPr>
          <a:xfrm>
            <a:off x="4526280"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Жупта жана топто сүйлөшөбүз.</a:t>
            </a:r>
          </a:p>
        </p:txBody>
      </p:sp>
      <p:cxnSp>
        <p:nvCxnSpPr>
          <p:cNvPr id="19" name="Connector 18"/>
          <p:cNvCxnSpPr/>
          <p:nvPr/>
        </p:nvCxnSpPr>
        <p:spPr>
          <a:xfrm>
            <a:off x="4572000"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26280"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21" name="TextBox 20"/>
          <p:cNvSpPr txBox="1"/>
          <p:nvPr/>
        </p:nvSpPr>
        <p:spPr>
          <a:xfrm>
            <a:off x="4526280"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Жупта: тилке → шакек</a:t>
            </a:r>
          </a:p>
          <a:p>
            <a:pPr algn="l">
              <a:lnSpc>
                <a:spcPct val="105000"/>
              </a:lnSpc>
            </a:pPr>
            <a:r>
              <a:rPr sz="1800" b="0" i="0">
                <a:solidFill>
                  <a:srgbClr val="1F2430"/>
                </a:solidFill>
                <a:latin typeface="PT Sans"/>
              </a:rPr>
              <a:t>• Карта сорттоо</a:t>
            </a:r>
          </a:p>
        </p:txBody>
      </p:sp>
      <p:sp>
        <p:nvSpPr>
          <p:cNvPr id="22" name="Rounded Rectangle 21"/>
          <p:cNvSpPr/>
          <p:nvPr/>
        </p:nvSpPr>
        <p:spPr>
          <a:xfrm>
            <a:off x="8165592"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39912" y="1463040"/>
            <a:ext cx="3044952" cy="640080"/>
          </a:xfrm>
          <a:prstGeom prst="roundRect">
            <a:avLst>
              <a:gd name="adj" fmla="val 50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Байланыштыруу</a:t>
            </a:r>
          </a:p>
        </p:txBody>
      </p:sp>
      <p:sp>
        <p:nvSpPr>
          <p:cNvPr id="24" name="TextBox 23"/>
          <p:cNvSpPr txBox="1"/>
          <p:nvPr/>
        </p:nvSpPr>
        <p:spPr>
          <a:xfrm>
            <a:off x="8394192"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Математиканы турмуш менен байланыштырабыз.</a:t>
            </a:r>
          </a:p>
        </p:txBody>
      </p:sp>
      <p:cxnSp>
        <p:nvCxnSpPr>
          <p:cNvPr id="25" name="Connector 24"/>
          <p:cNvCxnSpPr/>
          <p:nvPr/>
        </p:nvCxnSpPr>
        <p:spPr>
          <a:xfrm>
            <a:off x="8439912"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394192"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27" name="TextBox 26"/>
          <p:cNvSpPr txBox="1"/>
          <p:nvPr/>
        </p:nvSpPr>
        <p:spPr>
          <a:xfrm>
            <a:off x="8394192"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Таш-Көмүр ашканасы</a:t>
            </a:r>
          </a:p>
          <a:p>
            <a:pPr algn="l">
              <a:lnSpc>
                <a:spcPct val="105000"/>
              </a:lnSpc>
            </a:pPr>
            <a:r>
              <a:rPr sz="1800" b="0" i="0">
                <a:solidFill>
                  <a:srgbClr val="1F2430"/>
                </a:solidFill>
                <a:latin typeface="PT Sans"/>
              </a:rPr>
              <a:t>• Порция эсептөө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Мурун – бүгүн – кийин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7/26</a:t>
            </a:r>
          </a:p>
        </p:txBody>
      </p:sp>
      <p:sp>
        <p:nvSpPr>
          <p:cNvPr id="10" name="Rounded Rectangle 9"/>
          <p:cNvSpPr/>
          <p:nvPr/>
        </p:nvSpPr>
        <p:spPr>
          <a:xfrm>
            <a:off x="429768" y="3017520"/>
            <a:ext cx="2660904" cy="2743200"/>
          </a:xfrm>
          <a:prstGeom prst="roundRect">
            <a:avLst>
              <a:gd name="adj" fmla="val 6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31089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007A5A"/>
                </a:solidFill>
                <a:latin typeface="PT Sans"/>
              </a:rPr>
              <a:t>5-класс</a:t>
            </a:r>
          </a:p>
        </p:txBody>
      </p:sp>
      <p:cxnSp>
        <p:nvCxnSpPr>
          <p:cNvPr id="12" name="Connector 11"/>
          <p:cNvCxnSpPr/>
          <p:nvPr/>
        </p:nvCxnSpPr>
        <p:spPr>
          <a:xfrm>
            <a:off x="704088" y="3657600"/>
            <a:ext cx="2112264" cy="0"/>
          </a:xfrm>
          <a:prstGeom prst="line">
            <a:avLst/>
          </a:prstGeom>
          <a:ln w="12700">
            <a:solidFill>
              <a:srgbClr val="007A5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2647" y="3749039"/>
            <a:ext cx="2295144" cy="19202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Бурчтар, транспортир</a:t>
            </a:r>
          </a:p>
          <a:p>
            <a:pPr algn="l">
              <a:lnSpc>
                <a:spcPct val="105000"/>
              </a:lnSpc>
              <a:spcBef>
                <a:spcPts val="400"/>
              </a:spcBef>
            </a:pPr>
            <a:r>
              <a:rPr sz="1500" b="0" i="0">
                <a:solidFill>
                  <a:srgbClr val="1F2430"/>
                </a:solidFill>
                <a:latin typeface="PT Sans"/>
              </a:rPr>
              <a:t>• Пайызга киришүү</a:t>
            </a:r>
          </a:p>
        </p:txBody>
      </p:sp>
      <p:sp>
        <p:nvSpPr>
          <p:cNvPr id="14" name="Rounded Rectangle 13"/>
          <p:cNvSpPr/>
          <p:nvPr/>
        </p:nvSpPr>
        <p:spPr>
          <a:xfrm>
            <a:off x="3319272" y="2560320"/>
            <a:ext cx="2660904" cy="3200400"/>
          </a:xfrm>
          <a:prstGeom prst="roundRect">
            <a:avLst>
              <a:gd name="adj" fmla="val 6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6432" y="26517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007A5A"/>
                </a:solidFill>
                <a:latin typeface="PT Sans"/>
              </a:rPr>
              <a:t>6-класс</a:t>
            </a:r>
          </a:p>
        </p:txBody>
      </p:sp>
      <p:cxnSp>
        <p:nvCxnSpPr>
          <p:cNvPr id="16" name="Connector 15"/>
          <p:cNvCxnSpPr/>
          <p:nvPr/>
        </p:nvCxnSpPr>
        <p:spPr>
          <a:xfrm>
            <a:off x="3593591" y="3200400"/>
            <a:ext cx="2112265" cy="0"/>
          </a:xfrm>
          <a:prstGeom prst="line">
            <a:avLst/>
          </a:prstGeom>
          <a:ln w="12700">
            <a:solidFill>
              <a:srgbClr val="007A5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502152" y="3291839"/>
            <a:ext cx="2295144" cy="23774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Бөлчөк ↔ пайыз</a:t>
            </a:r>
          </a:p>
          <a:p>
            <a:pPr algn="l">
              <a:lnSpc>
                <a:spcPct val="105000"/>
              </a:lnSpc>
              <a:spcBef>
                <a:spcPts val="400"/>
              </a:spcBef>
            </a:pPr>
            <a:r>
              <a:rPr sz="1500" b="0" i="0">
                <a:solidFill>
                  <a:srgbClr val="1F2430"/>
                </a:solidFill>
                <a:latin typeface="PT Sans"/>
              </a:rPr>
              <a:t>• Мамычалуу диаграмма</a:t>
            </a:r>
          </a:p>
        </p:txBody>
      </p:sp>
      <p:sp>
        <p:nvSpPr>
          <p:cNvPr id="18" name="Rounded Rectangle 17"/>
          <p:cNvSpPr/>
          <p:nvPr/>
        </p:nvSpPr>
        <p:spPr>
          <a:xfrm>
            <a:off x="6208776" y="2103120"/>
            <a:ext cx="2660904" cy="3657600"/>
          </a:xfrm>
          <a:prstGeom prst="roundRect">
            <a:avLst>
              <a:gd name="adj" fmla="val 6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5936" y="21945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A84400"/>
                </a:solidFill>
                <a:latin typeface="PT Sans"/>
              </a:rPr>
              <a:t>6-класс</a:t>
            </a:r>
          </a:p>
        </p:txBody>
      </p:sp>
      <p:cxnSp>
        <p:nvCxnSpPr>
          <p:cNvPr id="20" name="Connector 19"/>
          <p:cNvCxnSpPr/>
          <p:nvPr/>
        </p:nvCxnSpPr>
        <p:spPr>
          <a:xfrm>
            <a:off x="6483096" y="2743200"/>
            <a:ext cx="2112263" cy="0"/>
          </a:xfrm>
          <a:prstGeom prst="line">
            <a:avLst/>
          </a:prstGeom>
          <a:ln w="12700">
            <a:solidFill>
              <a:srgbClr val="A8440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391656" y="2834639"/>
            <a:ext cx="2295144" cy="28346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Тегерек диаграмма</a:t>
            </a:r>
          </a:p>
          <a:p>
            <a:pPr algn="l">
              <a:lnSpc>
                <a:spcPct val="105000"/>
              </a:lnSpc>
              <a:spcBef>
                <a:spcPts val="400"/>
              </a:spcBef>
            </a:pPr>
            <a:r>
              <a:rPr sz="1500" b="0" i="0">
                <a:solidFill>
                  <a:srgbClr val="1F2430"/>
                </a:solidFill>
                <a:latin typeface="PT Sans"/>
              </a:rPr>
              <a:t>• Бурч = бөлүк</a:t>
            </a:r>
          </a:p>
        </p:txBody>
      </p:sp>
      <p:sp>
        <p:nvSpPr>
          <p:cNvPr id="22" name="Rounded Rectangle 21"/>
          <p:cNvSpPr/>
          <p:nvPr/>
        </p:nvSpPr>
        <p:spPr>
          <a:xfrm>
            <a:off x="6807708" y="1600199"/>
            <a:ext cx="1463040" cy="384048"/>
          </a:xfrm>
          <a:prstGeom prst="roundRect">
            <a:avLst>
              <a:gd name="adj" fmla="val 50000"/>
            </a:avLst>
          </a:prstGeom>
          <a:noFill/>
          <a:ln w="190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A84400"/>
                </a:solidFill>
                <a:latin typeface="PT Sans"/>
              </a:rPr>
              <a:t>Бүгүн</a:t>
            </a:r>
          </a:p>
        </p:txBody>
      </p:sp>
      <p:sp>
        <p:nvSpPr>
          <p:cNvPr id="23" name="Rounded Rectangle 22"/>
          <p:cNvSpPr/>
          <p:nvPr/>
        </p:nvSpPr>
        <p:spPr>
          <a:xfrm>
            <a:off x="9098280" y="1645919"/>
            <a:ext cx="2660904" cy="4114800"/>
          </a:xfrm>
          <a:prstGeom prst="roundRect">
            <a:avLst>
              <a:gd name="adj" fmla="val 6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17373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4A5A70"/>
                </a:solidFill>
                <a:latin typeface="PT Sans"/>
              </a:rPr>
              <a:t>7-класс</a:t>
            </a:r>
          </a:p>
        </p:txBody>
      </p:sp>
      <p:cxnSp>
        <p:nvCxnSpPr>
          <p:cNvPr id="25" name="Connector 24"/>
          <p:cNvCxnSpPr/>
          <p:nvPr/>
        </p:nvCxnSpPr>
        <p:spPr>
          <a:xfrm>
            <a:off x="9372600" y="2286000"/>
            <a:ext cx="2112264" cy="0"/>
          </a:xfrm>
          <a:prstGeom prst="line">
            <a:avLst/>
          </a:prstGeom>
          <a:ln w="12700">
            <a:solidFill>
              <a:srgbClr val="4A5A7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281160" y="2377439"/>
            <a:ext cx="2295144" cy="3291840"/>
          </a:xfrm>
          <a:prstGeom prst="rect">
            <a:avLst/>
          </a:prstGeom>
          <a:noFill/>
        </p:spPr>
        <p:txBody>
          <a:bodyPr wrap="square" anchor="t" lIns="45720" rIns="45720" tIns="27432" bIns="27432">
            <a:spAutoFit/>
          </a:bodyPr>
          <a:lstStyle/>
          <a:p>
            <a:pPr algn="l">
              <a:lnSpc>
                <a:spcPct val="105000"/>
              </a:lnSpc>
            </a:pPr>
            <a:r>
              <a:rPr sz="1500" b="0" i="0">
                <a:solidFill>
                  <a:srgbClr val="6B7280"/>
                </a:solidFill>
                <a:latin typeface="PT Sans"/>
              </a:rPr>
              <a:t>• Статистика</a:t>
            </a:r>
          </a:p>
          <a:p>
            <a:pPr algn="l">
              <a:lnSpc>
                <a:spcPct val="105000"/>
              </a:lnSpc>
              <a:spcBef>
                <a:spcPts val="400"/>
              </a:spcBef>
            </a:pPr>
            <a:r>
              <a:rPr sz="1500" b="0" i="0">
                <a:solidFill>
                  <a:srgbClr val="6B7280"/>
                </a:solidFill>
                <a:latin typeface="PT Sans"/>
              </a:rPr>
              <a:t>• Ыктымалдык</a:t>
            </a:r>
          </a:p>
        </p:txBody>
      </p:sp>
      <p:sp>
        <p:nvSpPr>
          <p:cNvPr id="27" name="TextBox 26"/>
          <p:cNvSpPr txBox="1"/>
          <p:nvPr/>
        </p:nvSpPr>
        <p:spPr>
          <a:xfrm>
            <a:off x="429768" y="5806440"/>
            <a:ext cx="11329416" cy="365760"/>
          </a:xfrm>
          <a:prstGeom prst="rect">
            <a:avLst/>
          </a:prstGeom>
          <a:noFill/>
        </p:spPr>
        <p:txBody>
          <a:bodyPr wrap="square" anchor="t" lIns="45720" rIns="45720" tIns="27432" bIns="27432">
            <a:spAutoFit/>
          </a:bodyPr>
          <a:lstStyle/>
          <a:p>
            <a:pPr algn="ctr">
              <a:lnSpc>
                <a:spcPct val="105000"/>
              </a:lnSpc>
            </a:pPr>
            <a:r>
              <a:rPr sz="1800" b="0" i="1">
                <a:solidFill>
                  <a:srgbClr val="6B7280"/>
                </a:solidFill>
                <a:latin typeface="PT Sans"/>
              </a:rPr>
              <a:t>Ар бир класс мурункусунун үстүнө курулат.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Даярдык: эстейли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8/26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Мини-тактага жаз. 2 мүнөт.</a:t>
            </a:r>
          </a:p>
        </p:txBody>
      </p:sp>
      <p:sp>
        <p:nvSpPr>
          <p:cNvPr id="11" name="Rounded Rectangle 10"/>
          <p:cNvSpPr/>
          <p:nvPr/>
        </p:nvSpPr>
        <p:spPr>
          <a:xfrm>
            <a:off x="429768" y="169164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53517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360 ÷ 4</a:t>
            </a:r>
          </a:p>
        </p:txBody>
      </p:sp>
      <p:sp>
        <p:nvSpPr>
          <p:cNvPr id="14" name="Rounded Rectangle 13"/>
          <p:cNvSpPr/>
          <p:nvPr/>
        </p:nvSpPr>
        <p:spPr>
          <a:xfrm>
            <a:off x="6208776" y="169164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253517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6986016" y="169164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36нын 1/4 бөлүгү</a:t>
            </a:r>
          </a:p>
        </p:txBody>
      </p:sp>
      <p:sp>
        <p:nvSpPr>
          <p:cNvPr id="17" name="Rounded Rectangle 16"/>
          <p:cNvSpPr/>
          <p:nvPr/>
        </p:nvSpPr>
        <p:spPr>
          <a:xfrm>
            <a:off x="429768" y="400050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484403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400050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25% = ? (бөлчөк)</a:t>
            </a:r>
          </a:p>
        </p:txBody>
      </p:sp>
      <p:sp>
        <p:nvSpPr>
          <p:cNvPr id="20" name="Rounded Rectangle 19"/>
          <p:cNvSpPr/>
          <p:nvPr/>
        </p:nvSpPr>
        <p:spPr>
          <a:xfrm>
            <a:off x="6208776" y="400050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484403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2" name="TextBox 21"/>
          <p:cNvSpPr txBox="1"/>
          <p:nvPr/>
        </p:nvSpPr>
        <p:spPr>
          <a:xfrm>
            <a:off x="6986016" y="400050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Тик бурч = ?°</a:t>
            </a:r>
          </a:p>
        </p:txBody>
      </p:sp>
      <p:sp>
        <p:nvSpPr>
          <p:cNvPr id="23" name="Rounded Rectangle 22"/>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24" name="Rounded Rectangle 23"/>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25" name="Rounded Rectangle 24"/>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Даярдык: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9/26</a:t>
            </a:r>
          </a:p>
        </p:txBody>
      </p:sp>
      <p:sp>
        <p:nvSpPr>
          <p:cNvPr id="10" name="Rounded Rectangle 9"/>
          <p:cNvSpPr/>
          <p:nvPr/>
        </p:nvSpPr>
        <p:spPr>
          <a:xfrm>
            <a:off x="429768"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115568"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360 ÷ 4</a:t>
            </a:r>
          </a:p>
        </p:txBody>
      </p:sp>
      <p:sp>
        <p:nvSpPr>
          <p:cNvPr id="13" name="TextBox 12"/>
          <p:cNvSpPr txBox="1"/>
          <p:nvPr/>
        </p:nvSpPr>
        <p:spPr>
          <a:xfrm>
            <a:off x="4334804"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90</a:t>
            </a:r>
          </a:p>
        </p:txBody>
      </p:sp>
      <p:sp>
        <p:nvSpPr>
          <p:cNvPr id="14" name="Rounded Rectangle 13"/>
          <p:cNvSpPr/>
          <p:nvPr/>
        </p:nvSpPr>
        <p:spPr>
          <a:xfrm>
            <a:off x="6208776"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45936"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6" name="TextBox 15"/>
          <p:cNvSpPr txBox="1"/>
          <p:nvPr/>
        </p:nvSpPr>
        <p:spPr>
          <a:xfrm>
            <a:off x="6894576"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36нын 1/4 бөлүгү</a:t>
            </a:r>
          </a:p>
        </p:txBody>
      </p:sp>
      <p:sp>
        <p:nvSpPr>
          <p:cNvPr id="17" name="TextBox 16"/>
          <p:cNvSpPr txBox="1"/>
          <p:nvPr/>
        </p:nvSpPr>
        <p:spPr>
          <a:xfrm>
            <a:off x="10113812"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9</a:t>
            </a:r>
          </a:p>
        </p:txBody>
      </p:sp>
      <p:sp>
        <p:nvSpPr>
          <p:cNvPr id="18" name="Rounded Rectangle 17"/>
          <p:cNvSpPr/>
          <p:nvPr/>
        </p:nvSpPr>
        <p:spPr>
          <a:xfrm>
            <a:off x="429768"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0" name="TextBox 19"/>
          <p:cNvSpPr txBox="1"/>
          <p:nvPr/>
        </p:nvSpPr>
        <p:spPr>
          <a:xfrm>
            <a:off x="1115568"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25% = ? (бөлчөк)</a:t>
            </a:r>
          </a:p>
        </p:txBody>
      </p:sp>
      <p:sp>
        <p:nvSpPr>
          <p:cNvPr id="21" name="TextBox 20"/>
          <p:cNvSpPr txBox="1"/>
          <p:nvPr/>
        </p:nvSpPr>
        <p:spPr>
          <a:xfrm>
            <a:off x="4334804"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1/4</a:t>
            </a:r>
          </a:p>
        </p:txBody>
      </p:sp>
      <p:sp>
        <p:nvSpPr>
          <p:cNvPr id="22" name="Rounded Rectangle 21"/>
          <p:cNvSpPr/>
          <p:nvPr/>
        </p:nvSpPr>
        <p:spPr>
          <a:xfrm>
            <a:off x="6208776"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24" name="TextBox 23"/>
          <p:cNvSpPr txBox="1"/>
          <p:nvPr/>
        </p:nvSpPr>
        <p:spPr>
          <a:xfrm>
            <a:off x="6894576"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Тик бурч = ?°</a:t>
            </a:r>
          </a:p>
        </p:txBody>
      </p:sp>
      <p:sp>
        <p:nvSpPr>
          <p:cNvPr id="25" name="TextBox 24"/>
          <p:cNvSpPr txBox="1"/>
          <p:nvPr/>
        </p:nvSpPr>
        <p:spPr>
          <a:xfrm>
            <a:off x="10113812"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90°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Ким туура?</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10/26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Чолпон эже: «Эки класста тең лагмандын сектору 90°. Лагманды канча окуучу жактырат?»</a:t>
            </a:r>
          </a:p>
        </p:txBody>
      </p:sp>
      <p:sp>
        <p:nvSpPr>
          <p:cNvPr id="12" name="Rounded Rectangle 11"/>
          <p:cNvSpPr/>
          <p:nvPr/>
        </p:nvSpPr>
        <p:spPr>
          <a:xfrm>
            <a:off x="429768" y="2103120"/>
            <a:ext cx="5550408" cy="31089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429768" y="2697480"/>
            <a:ext cx="55504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9768" y="2103120"/>
            <a:ext cx="5550408" cy="59436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Самат</a:t>
            </a:r>
          </a:p>
        </p:txBody>
      </p:sp>
      <p:sp>
        <p:nvSpPr>
          <p:cNvPr id="15" name="TextBox 14"/>
          <p:cNvSpPr txBox="1"/>
          <p:nvPr/>
        </p:nvSpPr>
        <p:spPr>
          <a:xfrm>
            <a:off x="704088" y="2834640"/>
            <a:ext cx="5029200" cy="2286000"/>
          </a:xfrm>
          <a:prstGeom prst="rect">
            <a:avLst/>
          </a:prstGeom>
          <a:noFill/>
        </p:spPr>
        <p:txBody>
          <a:bodyPr wrap="square" anchor="t" lIns="45720" rIns="45720" tIns="27432" bIns="27432">
            <a:spAutoFit/>
          </a:bodyPr>
          <a:lstStyle/>
          <a:p>
            <a:pPr algn="l">
              <a:lnSpc>
                <a:spcPct val="105000"/>
              </a:lnSpc>
            </a:pPr>
            <a:r>
              <a:rPr sz="2600" b="0" i="0">
                <a:solidFill>
                  <a:srgbClr val="1F2430"/>
                </a:solidFill>
                <a:latin typeface="PT Sans"/>
              </a:rPr>
              <a:t>Секторлор бирдей:</a:t>
            </a:r>
          </a:p>
          <a:p>
            <a:pPr algn="l">
              <a:lnSpc>
                <a:spcPct val="105000"/>
              </a:lnSpc>
            </a:pPr>
            <a:r>
              <a:rPr sz="2600" b="0" i="0">
                <a:solidFill>
                  <a:srgbClr val="1F2430"/>
                </a:solidFill>
                <a:latin typeface="PT Sans"/>
              </a:rPr>
              <a:t>лагманды жактыргандар</a:t>
            </a:r>
          </a:p>
          <a:p>
            <a:pPr algn="l">
              <a:lnSpc>
                <a:spcPct val="105000"/>
              </a:lnSpc>
            </a:pPr>
            <a:r>
              <a:rPr sz="2600" b="0" i="0">
                <a:solidFill>
                  <a:srgbClr val="1F2430"/>
                </a:solidFill>
                <a:latin typeface="PT Sans"/>
              </a:rPr>
              <a:t>экөөндө бирдей</a:t>
            </a:r>
          </a:p>
        </p:txBody>
      </p:sp>
      <p:sp>
        <p:nvSpPr>
          <p:cNvPr id="16" name="Rounded Rectangle 15"/>
          <p:cNvSpPr/>
          <p:nvPr/>
        </p:nvSpPr>
        <p:spPr>
          <a:xfrm>
            <a:off x="6208776" y="2103120"/>
            <a:ext cx="5550408" cy="31089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6208776" y="2697480"/>
            <a:ext cx="55504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08776" y="2103120"/>
            <a:ext cx="5550408" cy="59436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Нургиза</a:t>
            </a:r>
          </a:p>
        </p:txBody>
      </p:sp>
      <p:sp>
        <p:nvSpPr>
          <p:cNvPr id="19" name="TextBox 18"/>
          <p:cNvSpPr txBox="1"/>
          <p:nvPr/>
        </p:nvSpPr>
        <p:spPr>
          <a:xfrm>
            <a:off x="6483096" y="2834640"/>
            <a:ext cx="5029200" cy="2286000"/>
          </a:xfrm>
          <a:prstGeom prst="rect">
            <a:avLst/>
          </a:prstGeom>
          <a:noFill/>
        </p:spPr>
        <p:txBody>
          <a:bodyPr wrap="square" anchor="t" lIns="45720" rIns="45720" tIns="27432" bIns="27432">
            <a:spAutoFit/>
          </a:bodyPr>
          <a:lstStyle/>
          <a:p>
            <a:pPr algn="l">
              <a:lnSpc>
                <a:spcPct val="105000"/>
              </a:lnSpc>
            </a:pPr>
            <a:r>
              <a:rPr sz="2600" b="0" i="0">
                <a:solidFill>
                  <a:srgbClr val="1F2430"/>
                </a:solidFill>
                <a:latin typeface="PT Sans"/>
              </a:rPr>
              <a:t>6А: 36 ÷ 4 = 9</a:t>
            </a:r>
          </a:p>
          <a:p>
            <a:pPr algn="l">
              <a:lnSpc>
                <a:spcPct val="105000"/>
              </a:lnSpc>
            </a:pPr>
            <a:r>
              <a:rPr sz="2600" b="0" i="0">
                <a:solidFill>
                  <a:srgbClr val="1F2430"/>
                </a:solidFill>
                <a:latin typeface="PT Sans"/>
              </a:rPr>
              <a:t>6Б: 24 ÷ 4 = 6</a:t>
            </a:r>
          </a:p>
          <a:p>
            <a:pPr algn="l">
              <a:lnSpc>
                <a:spcPct val="105000"/>
              </a:lnSpc>
            </a:pPr>
            <a:r>
              <a:rPr sz="2600" b="0" i="0">
                <a:solidFill>
                  <a:srgbClr val="1F2430"/>
                </a:solidFill>
                <a:latin typeface="PT Sans"/>
              </a:rPr>
              <a:t>9 ≠ 6</a:t>
            </a:r>
          </a:p>
        </p:txBody>
      </p:sp>
      <p:sp>
        <p:nvSpPr>
          <p:cNvPr id="20" name="TextBox 19"/>
          <p:cNvSpPr txBox="1"/>
          <p:nvPr/>
        </p:nvSpPr>
        <p:spPr>
          <a:xfrm>
            <a:off x="429768" y="5349240"/>
            <a:ext cx="11329416" cy="548640"/>
          </a:xfrm>
          <a:prstGeom prst="rect">
            <a:avLst/>
          </a:prstGeom>
          <a:noFill/>
        </p:spPr>
        <p:txBody>
          <a:bodyPr wrap="square" anchor="t" lIns="45720" rIns="45720" tIns="27432" bIns="27432">
            <a:spAutoFit/>
          </a:bodyPr>
          <a:lstStyle/>
          <a:p>
            <a:pPr algn="ctr">
              <a:lnSpc>
                <a:spcPct val="105000"/>
              </a:lnSpc>
            </a:pPr>
            <a:r>
              <a:rPr sz="2600" b="1" i="0">
                <a:solidFill>
                  <a:srgbClr val="A84400"/>
                </a:solidFill>
                <a:latin typeface="PT Sans"/>
              </a:rPr>
              <a:t>Ким туура? Диаграмма эмнени көрсөтөт: санды же бөлүктү?</a:t>
            </a:r>
          </a:p>
        </p:txBody>
      </p:sp>
      <p:sp>
        <p:nvSpPr>
          <p:cNvPr id="21" name="Rounded Rectangle 20"/>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К: буюм менен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11/26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Жупта: чакмак кагаздан 36 чакмактуу тилке кесип, ар бир окуучунун тамагын бир чакмакка боёгула. Тилкени шакек кылып, тегерек диаграммага айландыргыла.</a:t>
            </a:r>
          </a:p>
        </p:txBody>
      </p:sp>
      <p:sp>
        <p:nvSpPr>
          <p:cNvPr id="12" name="TextBox 11"/>
          <p:cNvSpPr txBox="1"/>
          <p:nvPr/>
        </p:nvSpPr>
        <p:spPr>
          <a:xfrm>
            <a:off x="548640" y="2011680"/>
            <a:ext cx="6400800" cy="365760"/>
          </a:xfrm>
          <a:prstGeom prst="rect">
            <a:avLst/>
          </a:prstGeom>
          <a:noFill/>
        </p:spPr>
        <p:txBody>
          <a:bodyPr wrap="square" anchor="t" lIns="45720" rIns="45720" tIns="27432" bIns="27432">
            <a:spAutoFit/>
          </a:bodyPr>
          <a:lstStyle/>
          <a:p>
            <a:pPr algn="l">
              <a:lnSpc>
                <a:spcPct val="105000"/>
              </a:lnSpc>
            </a:pPr>
            <a:r>
              <a:rPr sz="1700" b="1" i="0">
                <a:solidFill>
                  <a:srgbClr val="1D3557"/>
                </a:solidFill>
                <a:latin typeface="PT Sans"/>
              </a:rPr>
              <a:t>1) Тилке: 36 чакмак = 36 окуучу</a:t>
            </a:r>
          </a:p>
        </p:txBody>
      </p:sp>
      <p:sp>
        <p:nvSpPr>
          <p:cNvPr id="13" name="Rectangle 12"/>
          <p:cNvSpPr/>
          <p:nvPr/>
        </p:nvSpPr>
        <p:spPr>
          <a:xfrm>
            <a:off x="685800" y="2395728"/>
            <a:ext cx="160020" cy="256031"/>
          </a:xfrm>
          <a:prstGeom prst="rect">
            <a:avLst/>
          </a:pr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45820" y="2395728"/>
            <a:ext cx="160020" cy="256031"/>
          </a:xfrm>
          <a:prstGeom prst="rect">
            <a:avLst/>
          </a:pr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05840" y="2395728"/>
            <a:ext cx="160020" cy="256031"/>
          </a:xfrm>
          <a:prstGeom prst="rect">
            <a:avLst/>
          </a:pr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65860" y="2395728"/>
            <a:ext cx="160020" cy="256031"/>
          </a:xfrm>
          <a:prstGeom prst="rect">
            <a:avLst/>
          </a:pr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325880" y="2395728"/>
            <a:ext cx="160020" cy="256031"/>
          </a:xfrm>
          <a:prstGeom prst="rect">
            <a:avLst/>
          </a:pr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485900" y="2395728"/>
            <a:ext cx="160020" cy="256031"/>
          </a:xfrm>
          <a:prstGeom prst="rect">
            <a:avLst/>
          </a:pr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645919" y="2395728"/>
            <a:ext cx="160020" cy="256031"/>
          </a:xfrm>
          <a:prstGeom prst="rect">
            <a:avLst/>
          </a:pr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05939" y="2395728"/>
            <a:ext cx="160020" cy="256031"/>
          </a:xfrm>
          <a:prstGeom prst="rect">
            <a:avLst/>
          </a:pr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65960" y="2395728"/>
            <a:ext cx="160020" cy="256031"/>
          </a:xfrm>
          <a:prstGeom prst="rect">
            <a:avLst/>
          </a:pr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125980" y="2395728"/>
            <a:ext cx="160020" cy="256031"/>
          </a:xfrm>
          <a:prstGeom prst="rect">
            <a:avLst/>
          </a:pr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286000" y="2395728"/>
            <a:ext cx="160020" cy="256031"/>
          </a:xfrm>
          <a:prstGeom prst="rect">
            <a:avLst/>
          </a:pr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446020" y="2395728"/>
            <a:ext cx="160020" cy="256031"/>
          </a:xfrm>
          <a:prstGeom prst="rect">
            <a:avLst/>
          </a:pr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606039" y="2395728"/>
            <a:ext cx="160020" cy="256031"/>
          </a:xfrm>
          <a:prstGeom prst="rect">
            <a:avLst/>
          </a:pr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766060" y="2395728"/>
            <a:ext cx="160020" cy="256031"/>
          </a:xfrm>
          <a:prstGeom prst="rect">
            <a:avLst/>
          </a:pr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926079" y="2395728"/>
            <a:ext cx="160020" cy="256031"/>
          </a:xfrm>
          <a:prstGeom prst="rect">
            <a:avLst/>
          </a:pr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59" y="2670048"/>
            <a:ext cx="2583180" cy="274320"/>
          </a:xfrm>
          <a:prstGeom prst="rect">
            <a:avLst/>
          </a:prstGeom>
          <a:noFill/>
        </p:spPr>
        <p:txBody>
          <a:bodyPr wrap="square" anchor="t" lIns="45720" rIns="45720" tIns="27432" bIns="27432">
            <a:spAutoFit/>
          </a:bodyPr>
          <a:lstStyle/>
          <a:p>
            <a:pPr algn="ctr">
              <a:lnSpc>
                <a:spcPct val="105000"/>
              </a:lnSpc>
            </a:pPr>
            <a:r>
              <a:rPr sz="1200" b="1" i="0">
                <a:solidFill>
                  <a:srgbClr val="1F2430"/>
                </a:solidFill>
                <a:latin typeface="PT Sans"/>
              </a:rPr>
              <a:t>Палоо 15</a:t>
            </a:r>
          </a:p>
        </p:txBody>
      </p:sp>
      <p:sp>
        <p:nvSpPr>
          <p:cNvPr id="29" name="Rectangle 28"/>
          <p:cNvSpPr/>
          <p:nvPr/>
        </p:nvSpPr>
        <p:spPr>
          <a:xfrm>
            <a:off x="3086100" y="2395728"/>
            <a:ext cx="160020" cy="256031"/>
          </a:xfrm>
          <a:prstGeom prst="rect">
            <a:avLst/>
          </a:prstGeom>
          <a:solidFill>
            <a:srgbClr val="F2C9AC"/>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246120" y="2395728"/>
            <a:ext cx="160020" cy="256031"/>
          </a:xfrm>
          <a:prstGeom prst="rect">
            <a:avLst/>
          </a:prstGeom>
          <a:solidFill>
            <a:srgbClr val="F2C9AC"/>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406139" y="2395728"/>
            <a:ext cx="160020" cy="256031"/>
          </a:xfrm>
          <a:prstGeom prst="rect">
            <a:avLst/>
          </a:prstGeom>
          <a:solidFill>
            <a:srgbClr val="F2C9AC"/>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566160" y="2395728"/>
            <a:ext cx="160020" cy="256031"/>
          </a:xfrm>
          <a:prstGeom prst="rect">
            <a:avLst/>
          </a:prstGeom>
          <a:solidFill>
            <a:srgbClr val="F2C9AC"/>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726179" y="2395728"/>
            <a:ext cx="160020" cy="256031"/>
          </a:xfrm>
          <a:prstGeom prst="rect">
            <a:avLst/>
          </a:prstGeom>
          <a:solidFill>
            <a:srgbClr val="F2C9AC"/>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886200" y="2395728"/>
            <a:ext cx="160020" cy="256031"/>
          </a:xfrm>
          <a:prstGeom prst="rect">
            <a:avLst/>
          </a:prstGeom>
          <a:solidFill>
            <a:srgbClr val="F2C9AC"/>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046220" y="2395728"/>
            <a:ext cx="160020" cy="256031"/>
          </a:xfrm>
          <a:prstGeom prst="rect">
            <a:avLst/>
          </a:prstGeom>
          <a:solidFill>
            <a:srgbClr val="F2C9AC"/>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206240" y="2395728"/>
            <a:ext cx="160020" cy="256031"/>
          </a:xfrm>
          <a:prstGeom prst="rect">
            <a:avLst/>
          </a:prstGeom>
          <a:solidFill>
            <a:srgbClr val="F2C9AC"/>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366259" y="2395728"/>
            <a:ext cx="160020" cy="256031"/>
          </a:xfrm>
          <a:prstGeom prst="rect">
            <a:avLst/>
          </a:prstGeom>
          <a:solidFill>
            <a:srgbClr val="F2C9AC"/>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94659" y="2916936"/>
            <a:ext cx="1623060" cy="274320"/>
          </a:xfrm>
          <a:prstGeom prst="rect">
            <a:avLst/>
          </a:prstGeom>
          <a:noFill/>
        </p:spPr>
        <p:txBody>
          <a:bodyPr wrap="square" anchor="t" lIns="45720" rIns="45720" tIns="27432" bIns="27432">
            <a:spAutoFit/>
          </a:bodyPr>
          <a:lstStyle/>
          <a:p>
            <a:pPr algn="ctr">
              <a:lnSpc>
                <a:spcPct val="105000"/>
              </a:lnSpc>
            </a:pPr>
            <a:r>
              <a:rPr sz="1200" b="1" i="0">
                <a:solidFill>
                  <a:srgbClr val="1F2430"/>
                </a:solidFill>
                <a:latin typeface="PT Sans"/>
              </a:rPr>
              <a:t>Лагман 9</a:t>
            </a:r>
          </a:p>
        </p:txBody>
      </p:sp>
      <p:sp>
        <p:nvSpPr>
          <p:cNvPr id="39" name="Rectangle 38"/>
          <p:cNvSpPr/>
          <p:nvPr/>
        </p:nvSpPr>
        <p:spPr>
          <a:xfrm>
            <a:off x="4526279" y="2395728"/>
            <a:ext cx="160020" cy="256031"/>
          </a:xfrm>
          <a:prstGeom prst="rect">
            <a:avLst/>
          </a:prstGeom>
          <a:solidFill>
            <a:srgbClr val="BFCBE9"/>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686300" y="2395728"/>
            <a:ext cx="160020" cy="256031"/>
          </a:xfrm>
          <a:prstGeom prst="rect">
            <a:avLst/>
          </a:prstGeom>
          <a:solidFill>
            <a:srgbClr val="BFCBE9"/>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846320" y="2395728"/>
            <a:ext cx="160020" cy="256031"/>
          </a:xfrm>
          <a:prstGeom prst="rect">
            <a:avLst/>
          </a:prstGeom>
          <a:solidFill>
            <a:srgbClr val="BFCBE9"/>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06340" y="2395728"/>
            <a:ext cx="160020" cy="256031"/>
          </a:xfrm>
          <a:prstGeom prst="rect">
            <a:avLst/>
          </a:prstGeom>
          <a:solidFill>
            <a:srgbClr val="BFCBE9"/>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166359" y="2395728"/>
            <a:ext cx="160020" cy="256031"/>
          </a:xfrm>
          <a:prstGeom prst="rect">
            <a:avLst/>
          </a:prstGeom>
          <a:solidFill>
            <a:srgbClr val="BFCBE9"/>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326379" y="2395728"/>
            <a:ext cx="160020" cy="256031"/>
          </a:xfrm>
          <a:prstGeom prst="rect">
            <a:avLst/>
          </a:prstGeom>
          <a:solidFill>
            <a:srgbClr val="BFCBE9"/>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2395728"/>
            <a:ext cx="160020" cy="256031"/>
          </a:xfrm>
          <a:prstGeom prst="rect">
            <a:avLst/>
          </a:prstGeom>
          <a:solidFill>
            <a:srgbClr val="BFCBE9"/>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646420" y="2395728"/>
            <a:ext cx="160020" cy="256031"/>
          </a:xfrm>
          <a:prstGeom prst="rect">
            <a:avLst/>
          </a:prstGeom>
          <a:solidFill>
            <a:srgbClr val="BFCBE9"/>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34840" y="2670048"/>
            <a:ext cx="1463039" cy="274320"/>
          </a:xfrm>
          <a:prstGeom prst="rect">
            <a:avLst/>
          </a:prstGeom>
          <a:noFill/>
        </p:spPr>
        <p:txBody>
          <a:bodyPr wrap="square" anchor="t" lIns="45720" rIns="45720" tIns="27432" bIns="27432">
            <a:spAutoFit/>
          </a:bodyPr>
          <a:lstStyle/>
          <a:p>
            <a:pPr algn="ctr">
              <a:lnSpc>
                <a:spcPct val="105000"/>
              </a:lnSpc>
            </a:pPr>
            <a:r>
              <a:rPr sz="1200" b="1" i="0">
                <a:solidFill>
                  <a:srgbClr val="1F2430"/>
                </a:solidFill>
                <a:latin typeface="PT Sans"/>
              </a:rPr>
              <a:t>Манты 8</a:t>
            </a:r>
          </a:p>
        </p:txBody>
      </p:sp>
      <p:sp>
        <p:nvSpPr>
          <p:cNvPr id="48" name="Rectangle 47"/>
          <p:cNvSpPr/>
          <p:nvPr/>
        </p:nvSpPr>
        <p:spPr>
          <a:xfrm>
            <a:off x="5806440" y="2395728"/>
            <a:ext cx="160020" cy="256031"/>
          </a:xfrm>
          <a:prstGeom prst="rect">
            <a:avLst/>
          </a:prstGeom>
          <a:solidFill>
            <a:srgbClr val="F3E2A0"/>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966459" y="2395728"/>
            <a:ext cx="160020" cy="256031"/>
          </a:xfrm>
          <a:prstGeom prst="rect">
            <a:avLst/>
          </a:prstGeom>
          <a:solidFill>
            <a:srgbClr val="F3E2A0"/>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126479" y="2395728"/>
            <a:ext cx="160020" cy="256031"/>
          </a:xfrm>
          <a:prstGeom prst="rect">
            <a:avLst/>
          </a:prstGeom>
          <a:solidFill>
            <a:srgbClr val="F3E2A0"/>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286500" y="2395728"/>
            <a:ext cx="160020" cy="256031"/>
          </a:xfrm>
          <a:prstGeom prst="rect">
            <a:avLst/>
          </a:prstGeom>
          <a:solidFill>
            <a:srgbClr val="F3E2A0"/>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577840" y="2916936"/>
            <a:ext cx="1097280" cy="274320"/>
          </a:xfrm>
          <a:prstGeom prst="rect">
            <a:avLst/>
          </a:prstGeom>
          <a:noFill/>
        </p:spPr>
        <p:txBody>
          <a:bodyPr wrap="square" anchor="t" lIns="45720" rIns="45720" tIns="27432" bIns="27432">
            <a:spAutoFit/>
          </a:bodyPr>
          <a:lstStyle/>
          <a:p>
            <a:pPr algn="ctr">
              <a:lnSpc>
                <a:spcPct val="105000"/>
              </a:lnSpc>
            </a:pPr>
            <a:r>
              <a:rPr sz="1200" b="1" i="0">
                <a:solidFill>
                  <a:srgbClr val="1F2430"/>
                </a:solidFill>
                <a:latin typeface="PT Sans"/>
              </a:rPr>
              <a:t>Ашлямфу 4</a:t>
            </a:r>
          </a:p>
        </p:txBody>
      </p:sp>
      <p:sp>
        <p:nvSpPr>
          <p:cNvPr id="53" name="TextBox 52"/>
          <p:cNvSpPr txBox="1"/>
          <p:nvPr/>
        </p:nvSpPr>
        <p:spPr>
          <a:xfrm>
            <a:off x="548640" y="3200400"/>
            <a:ext cx="3840480" cy="365760"/>
          </a:xfrm>
          <a:prstGeom prst="rect">
            <a:avLst/>
          </a:prstGeom>
          <a:noFill/>
        </p:spPr>
        <p:txBody>
          <a:bodyPr wrap="square" anchor="t" lIns="45720" rIns="45720" tIns="27432" bIns="27432">
            <a:spAutoFit/>
          </a:bodyPr>
          <a:lstStyle/>
          <a:p>
            <a:pPr algn="l">
              <a:lnSpc>
                <a:spcPct val="105000"/>
              </a:lnSpc>
            </a:pPr>
            <a:r>
              <a:rPr sz="1700" b="1" i="0">
                <a:solidFill>
                  <a:srgbClr val="1D3557"/>
                </a:solidFill>
                <a:latin typeface="PT Sans"/>
              </a:rPr>
              <a:t>2) Шакек → 3) радиустар</a:t>
            </a:r>
          </a:p>
        </p:txBody>
      </p:sp>
      <p:sp>
        <p:nvSpPr>
          <p:cNvPr id="54" name="Freeform 53"/>
          <p:cNvSpPr/>
          <p:nvPr/>
        </p:nvSpPr>
        <p:spPr>
          <a:xfrm>
            <a:off x="2239300" y="3747400"/>
            <a:ext cx="914000" cy="1705524"/>
          </a:xfrm>
          <a:custGeom>
            <a:avLst/>
            <a:gdLst/>
            <a:ahLst/>
            <a:cxnLst/>
            <a:rect l="l" t="t" r="r" b="b"/>
            <a:pathLst>
              <a:path w="1000" h="1866">
                <a:moveTo>
                  <a:pt x="0" y="1000"/>
                </a:moveTo>
                <a:lnTo>
                  <a:pt x="0" y="0"/>
                </a:lnTo>
                <a:lnTo>
                  <a:pt x="87" y="4"/>
                </a:lnTo>
                <a:lnTo>
                  <a:pt x="174" y="15"/>
                </a:lnTo>
                <a:lnTo>
                  <a:pt x="259" y="34"/>
                </a:lnTo>
                <a:lnTo>
                  <a:pt x="342" y="60"/>
                </a:lnTo>
                <a:lnTo>
                  <a:pt x="423" y="94"/>
                </a:lnTo>
                <a:lnTo>
                  <a:pt x="500" y="134"/>
                </a:lnTo>
                <a:lnTo>
                  <a:pt x="574" y="181"/>
                </a:lnTo>
                <a:lnTo>
                  <a:pt x="643" y="234"/>
                </a:lnTo>
                <a:lnTo>
                  <a:pt x="707" y="293"/>
                </a:lnTo>
                <a:lnTo>
                  <a:pt x="766" y="357"/>
                </a:lnTo>
                <a:lnTo>
                  <a:pt x="819" y="426"/>
                </a:lnTo>
                <a:lnTo>
                  <a:pt x="866" y="500"/>
                </a:lnTo>
                <a:lnTo>
                  <a:pt x="906" y="577"/>
                </a:lnTo>
                <a:lnTo>
                  <a:pt x="940" y="658"/>
                </a:lnTo>
                <a:lnTo>
                  <a:pt x="966" y="741"/>
                </a:lnTo>
                <a:lnTo>
                  <a:pt x="985" y="826"/>
                </a:lnTo>
                <a:lnTo>
                  <a:pt x="996" y="913"/>
                </a:lnTo>
                <a:lnTo>
                  <a:pt x="1000" y="1000"/>
                </a:lnTo>
                <a:lnTo>
                  <a:pt x="996" y="1087"/>
                </a:lnTo>
                <a:lnTo>
                  <a:pt x="985" y="1174"/>
                </a:lnTo>
                <a:lnTo>
                  <a:pt x="966" y="1259"/>
                </a:lnTo>
                <a:lnTo>
                  <a:pt x="940" y="1342"/>
                </a:lnTo>
                <a:lnTo>
                  <a:pt x="906" y="1423"/>
                </a:lnTo>
                <a:lnTo>
                  <a:pt x="866" y="1500"/>
                </a:lnTo>
                <a:lnTo>
                  <a:pt x="819" y="1574"/>
                </a:lnTo>
                <a:lnTo>
                  <a:pt x="766" y="1643"/>
                </a:lnTo>
                <a:lnTo>
                  <a:pt x="707" y="1707"/>
                </a:lnTo>
                <a:lnTo>
                  <a:pt x="643" y="1766"/>
                </a:lnTo>
                <a:lnTo>
                  <a:pt x="574" y="1819"/>
                </a:lnTo>
                <a:lnTo>
                  <a:pt x="500" y="1866"/>
                </a:lnTo>
                <a:close/>
              </a:path>
            </a:pathLst>
          </a:custGeom>
          <a:solidFill>
            <a:srgbClr val="B5E2D3"/>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2239300" y="3564600"/>
            <a:ext cx="190112" cy="178230"/>
          </a:xfrm>
          <a:custGeom>
            <a:avLst/>
            <a:gdLst/>
            <a:ahLst/>
            <a:cxnLst/>
            <a:rect l="l" t="t" r="r" b="b"/>
            <a:pathLst>
              <a:path w="208" h="195">
                <a:moveTo>
                  <a:pt x="0" y="0"/>
                </a:moveTo>
                <a:lnTo>
                  <a:pt x="105" y="5"/>
                </a:lnTo>
                <a:lnTo>
                  <a:pt x="208" y="18"/>
                </a:lnTo>
                <a:lnTo>
                  <a:pt x="177" y="195"/>
                </a:lnTo>
                <a:lnTo>
                  <a:pt x="89" y="184"/>
                </a:lnTo>
                <a:lnTo>
                  <a:pt x="0" y="180"/>
                </a:lnTo>
                <a:close/>
              </a:path>
            </a:pathLst>
          </a:cu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2401078" y="3581052"/>
            <a:ext cx="212962" cy="204736"/>
          </a:xfrm>
          <a:custGeom>
            <a:avLst/>
            <a:gdLst/>
            <a:ahLst/>
            <a:cxnLst/>
            <a:rect l="l" t="t" r="r" b="b"/>
            <a:pathLst>
              <a:path w="233" h="224">
                <a:moveTo>
                  <a:pt x="31" y="0"/>
                </a:moveTo>
                <a:lnTo>
                  <a:pt x="134" y="23"/>
                </a:lnTo>
                <a:lnTo>
                  <a:pt x="233" y="54"/>
                </a:lnTo>
                <a:lnTo>
                  <a:pt x="172" y="224"/>
                </a:lnTo>
                <a:lnTo>
                  <a:pt x="87" y="197"/>
                </a:lnTo>
                <a:lnTo>
                  <a:pt x="0" y="177"/>
                </a:lnTo>
                <a:close/>
              </a:path>
            </a:pathLst>
          </a:cu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2558286" y="3630408"/>
            <a:ext cx="229414" cy="223930"/>
          </a:xfrm>
          <a:custGeom>
            <a:avLst/>
            <a:gdLst/>
            <a:ahLst/>
            <a:cxnLst/>
            <a:rect l="l" t="t" r="r" b="b"/>
            <a:pathLst>
              <a:path w="251" h="245">
                <a:moveTo>
                  <a:pt x="61" y="0"/>
                </a:moveTo>
                <a:lnTo>
                  <a:pt x="158" y="40"/>
                </a:lnTo>
                <a:lnTo>
                  <a:pt x="251" y="89"/>
                </a:lnTo>
                <a:lnTo>
                  <a:pt x="161" y="245"/>
                </a:lnTo>
                <a:lnTo>
                  <a:pt x="82" y="204"/>
                </a:lnTo>
                <a:lnTo>
                  <a:pt x="0" y="170"/>
                </a:lnTo>
                <a:close/>
              </a:path>
            </a:pathLst>
          </a:cu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2705440" y="3711754"/>
            <a:ext cx="238554" cy="235812"/>
          </a:xfrm>
          <a:custGeom>
            <a:avLst/>
            <a:gdLst/>
            <a:ahLst/>
            <a:cxnLst/>
            <a:rect l="l" t="t" r="r" b="b"/>
            <a:pathLst>
              <a:path w="261" h="258">
                <a:moveTo>
                  <a:pt x="90" y="0"/>
                </a:moveTo>
                <a:lnTo>
                  <a:pt x="178" y="56"/>
                </a:lnTo>
                <a:lnTo>
                  <a:pt x="261" y="120"/>
                </a:lnTo>
                <a:lnTo>
                  <a:pt x="146" y="258"/>
                </a:lnTo>
                <a:lnTo>
                  <a:pt x="75" y="203"/>
                </a:lnTo>
                <a:lnTo>
                  <a:pt x="0" y="156"/>
                </a:lnTo>
                <a:close/>
              </a:path>
            </a:pathLst>
          </a:cu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2838884" y="3821434"/>
            <a:ext cx="240382" cy="240382"/>
          </a:xfrm>
          <a:custGeom>
            <a:avLst/>
            <a:gdLst/>
            <a:ahLst/>
            <a:cxnLst/>
            <a:rect l="l" t="t" r="r" b="b"/>
            <a:pathLst>
              <a:path w="263" h="263">
                <a:moveTo>
                  <a:pt x="115" y="0"/>
                </a:moveTo>
                <a:lnTo>
                  <a:pt x="193" y="70"/>
                </a:lnTo>
                <a:lnTo>
                  <a:pt x="263" y="148"/>
                </a:lnTo>
                <a:lnTo>
                  <a:pt x="125" y="263"/>
                </a:lnTo>
                <a:lnTo>
                  <a:pt x="65" y="198"/>
                </a:lnTo>
                <a:lnTo>
                  <a:pt x="0" y="138"/>
                </a:lnTo>
                <a:close/>
              </a:path>
            </a:pathLst>
          </a:cu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Freeform 59"/>
          <p:cNvSpPr/>
          <p:nvPr/>
        </p:nvSpPr>
        <p:spPr>
          <a:xfrm>
            <a:off x="2953134" y="3956706"/>
            <a:ext cx="235812" cy="238554"/>
          </a:xfrm>
          <a:custGeom>
            <a:avLst/>
            <a:gdLst/>
            <a:ahLst/>
            <a:cxnLst/>
            <a:rect l="l" t="t" r="r" b="b"/>
            <a:pathLst>
              <a:path w="258" h="261">
                <a:moveTo>
                  <a:pt x="138" y="0"/>
                </a:moveTo>
                <a:lnTo>
                  <a:pt x="202" y="83"/>
                </a:lnTo>
                <a:lnTo>
                  <a:pt x="258" y="171"/>
                </a:lnTo>
                <a:lnTo>
                  <a:pt x="102" y="261"/>
                </a:lnTo>
                <a:lnTo>
                  <a:pt x="55" y="186"/>
                </a:lnTo>
                <a:lnTo>
                  <a:pt x="0" y="115"/>
                </a:lnTo>
                <a:close/>
              </a:path>
            </a:pathLst>
          </a:cu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reeform 60"/>
          <p:cNvSpPr/>
          <p:nvPr/>
        </p:nvSpPr>
        <p:spPr>
          <a:xfrm>
            <a:off x="3046362" y="4113000"/>
            <a:ext cx="223930" cy="229414"/>
          </a:xfrm>
          <a:custGeom>
            <a:avLst/>
            <a:gdLst/>
            <a:ahLst/>
            <a:cxnLst/>
            <a:rect l="l" t="t" r="r" b="b"/>
            <a:pathLst>
              <a:path w="245" h="251">
                <a:moveTo>
                  <a:pt x="156" y="0"/>
                </a:moveTo>
                <a:lnTo>
                  <a:pt x="205" y="93"/>
                </a:lnTo>
                <a:lnTo>
                  <a:pt x="245" y="190"/>
                </a:lnTo>
                <a:lnTo>
                  <a:pt x="75" y="251"/>
                </a:lnTo>
                <a:lnTo>
                  <a:pt x="41" y="169"/>
                </a:lnTo>
                <a:lnTo>
                  <a:pt x="0" y="90"/>
                </a:lnTo>
                <a:close/>
              </a:path>
            </a:pathLst>
          </a:cu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reeform 61"/>
          <p:cNvSpPr/>
          <p:nvPr/>
        </p:nvSpPr>
        <p:spPr>
          <a:xfrm>
            <a:off x="3114912" y="4286660"/>
            <a:ext cx="204736" cy="212962"/>
          </a:xfrm>
          <a:custGeom>
            <a:avLst/>
            <a:gdLst/>
            <a:ahLst/>
            <a:cxnLst/>
            <a:rect l="l" t="t" r="r" b="b"/>
            <a:pathLst>
              <a:path w="224" h="233">
                <a:moveTo>
                  <a:pt x="170" y="0"/>
                </a:moveTo>
                <a:lnTo>
                  <a:pt x="201" y="99"/>
                </a:lnTo>
                <a:lnTo>
                  <a:pt x="224" y="202"/>
                </a:lnTo>
                <a:lnTo>
                  <a:pt x="47" y="233"/>
                </a:lnTo>
                <a:lnTo>
                  <a:pt x="27" y="146"/>
                </a:lnTo>
                <a:lnTo>
                  <a:pt x="0" y="61"/>
                </a:lnTo>
                <a:close/>
              </a:path>
            </a:pathLst>
          </a:cu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Freeform 62"/>
          <p:cNvSpPr/>
          <p:nvPr/>
        </p:nvSpPr>
        <p:spPr>
          <a:xfrm>
            <a:off x="3157870" y="4471288"/>
            <a:ext cx="178230" cy="190112"/>
          </a:xfrm>
          <a:custGeom>
            <a:avLst/>
            <a:gdLst/>
            <a:ahLst/>
            <a:cxnLst/>
            <a:rect l="l" t="t" r="r" b="b"/>
            <a:pathLst>
              <a:path w="195" h="208">
                <a:moveTo>
                  <a:pt x="177" y="0"/>
                </a:moveTo>
                <a:lnTo>
                  <a:pt x="190" y="103"/>
                </a:lnTo>
                <a:lnTo>
                  <a:pt x="195" y="208"/>
                </a:lnTo>
                <a:lnTo>
                  <a:pt x="15" y="208"/>
                </a:lnTo>
                <a:lnTo>
                  <a:pt x="11" y="119"/>
                </a:lnTo>
                <a:lnTo>
                  <a:pt x="0" y="31"/>
                </a:lnTo>
                <a:close/>
              </a:path>
            </a:pathLst>
          </a:cu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Freeform 63"/>
          <p:cNvSpPr/>
          <p:nvPr/>
        </p:nvSpPr>
        <p:spPr>
          <a:xfrm>
            <a:off x="3157870" y="4661400"/>
            <a:ext cx="178230" cy="190112"/>
          </a:xfrm>
          <a:custGeom>
            <a:avLst/>
            <a:gdLst/>
            <a:ahLst/>
            <a:cxnLst/>
            <a:rect l="l" t="t" r="r" b="b"/>
            <a:pathLst>
              <a:path w="195" h="208">
                <a:moveTo>
                  <a:pt x="195" y="0"/>
                </a:moveTo>
                <a:lnTo>
                  <a:pt x="190" y="105"/>
                </a:lnTo>
                <a:lnTo>
                  <a:pt x="177" y="208"/>
                </a:lnTo>
                <a:lnTo>
                  <a:pt x="0" y="177"/>
                </a:lnTo>
                <a:lnTo>
                  <a:pt x="11" y="89"/>
                </a:lnTo>
                <a:lnTo>
                  <a:pt x="15" y="0"/>
                </a:lnTo>
                <a:close/>
              </a:path>
            </a:pathLst>
          </a:cu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Freeform 64"/>
          <p:cNvSpPr/>
          <p:nvPr/>
        </p:nvSpPr>
        <p:spPr>
          <a:xfrm>
            <a:off x="3114912" y="4823178"/>
            <a:ext cx="204736" cy="212962"/>
          </a:xfrm>
          <a:custGeom>
            <a:avLst/>
            <a:gdLst/>
            <a:ahLst/>
            <a:cxnLst/>
            <a:rect l="l" t="t" r="r" b="b"/>
            <a:pathLst>
              <a:path w="224" h="233">
                <a:moveTo>
                  <a:pt x="224" y="31"/>
                </a:moveTo>
                <a:lnTo>
                  <a:pt x="201" y="134"/>
                </a:lnTo>
                <a:lnTo>
                  <a:pt x="170" y="233"/>
                </a:lnTo>
                <a:lnTo>
                  <a:pt x="0" y="172"/>
                </a:lnTo>
                <a:lnTo>
                  <a:pt x="27" y="87"/>
                </a:lnTo>
                <a:lnTo>
                  <a:pt x="47" y="0"/>
                </a:lnTo>
                <a:close/>
              </a:path>
            </a:pathLst>
          </a:cu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Freeform 65"/>
          <p:cNvSpPr/>
          <p:nvPr/>
        </p:nvSpPr>
        <p:spPr>
          <a:xfrm>
            <a:off x="3046362" y="4980386"/>
            <a:ext cx="223930" cy="229414"/>
          </a:xfrm>
          <a:custGeom>
            <a:avLst/>
            <a:gdLst/>
            <a:ahLst/>
            <a:cxnLst/>
            <a:rect l="l" t="t" r="r" b="b"/>
            <a:pathLst>
              <a:path w="245" h="251">
                <a:moveTo>
                  <a:pt x="245" y="61"/>
                </a:moveTo>
                <a:lnTo>
                  <a:pt x="205" y="158"/>
                </a:lnTo>
                <a:lnTo>
                  <a:pt x="156" y="251"/>
                </a:lnTo>
                <a:lnTo>
                  <a:pt x="0" y="161"/>
                </a:lnTo>
                <a:lnTo>
                  <a:pt x="41" y="82"/>
                </a:lnTo>
                <a:lnTo>
                  <a:pt x="75" y="0"/>
                </a:lnTo>
                <a:close/>
              </a:path>
            </a:pathLst>
          </a:cu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reeform 66"/>
          <p:cNvSpPr/>
          <p:nvPr/>
        </p:nvSpPr>
        <p:spPr>
          <a:xfrm>
            <a:off x="2953134" y="5127540"/>
            <a:ext cx="235812" cy="238554"/>
          </a:xfrm>
          <a:custGeom>
            <a:avLst/>
            <a:gdLst/>
            <a:ahLst/>
            <a:cxnLst/>
            <a:rect l="l" t="t" r="r" b="b"/>
            <a:pathLst>
              <a:path w="258" h="261">
                <a:moveTo>
                  <a:pt x="258" y="90"/>
                </a:moveTo>
                <a:lnTo>
                  <a:pt x="202" y="178"/>
                </a:lnTo>
                <a:lnTo>
                  <a:pt x="138" y="261"/>
                </a:lnTo>
                <a:lnTo>
                  <a:pt x="0" y="146"/>
                </a:lnTo>
                <a:lnTo>
                  <a:pt x="55" y="75"/>
                </a:lnTo>
                <a:lnTo>
                  <a:pt x="102" y="0"/>
                </a:lnTo>
                <a:close/>
              </a:path>
            </a:pathLst>
          </a:cu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Freeform 67"/>
          <p:cNvSpPr/>
          <p:nvPr/>
        </p:nvSpPr>
        <p:spPr>
          <a:xfrm>
            <a:off x="2838884" y="5260984"/>
            <a:ext cx="240382" cy="240382"/>
          </a:xfrm>
          <a:custGeom>
            <a:avLst/>
            <a:gdLst/>
            <a:ahLst/>
            <a:cxnLst/>
            <a:rect l="l" t="t" r="r" b="b"/>
            <a:pathLst>
              <a:path w="263" h="263">
                <a:moveTo>
                  <a:pt x="263" y="115"/>
                </a:moveTo>
                <a:lnTo>
                  <a:pt x="193" y="193"/>
                </a:lnTo>
                <a:lnTo>
                  <a:pt x="115" y="263"/>
                </a:lnTo>
                <a:lnTo>
                  <a:pt x="0" y="125"/>
                </a:lnTo>
                <a:lnTo>
                  <a:pt x="65" y="65"/>
                </a:lnTo>
                <a:lnTo>
                  <a:pt x="125" y="0"/>
                </a:lnTo>
                <a:close/>
              </a:path>
            </a:pathLst>
          </a:cu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Freeform 68"/>
          <p:cNvSpPr/>
          <p:nvPr/>
        </p:nvSpPr>
        <p:spPr>
          <a:xfrm>
            <a:off x="2705440" y="5375234"/>
            <a:ext cx="238554" cy="235812"/>
          </a:xfrm>
          <a:custGeom>
            <a:avLst/>
            <a:gdLst/>
            <a:ahLst/>
            <a:cxnLst/>
            <a:rect l="l" t="t" r="r" b="b"/>
            <a:pathLst>
              <a:path w="261" h="258">
                <a:moveTo>
                  <a:pt x="261" y="138"/>
                </a:moveTo>
                <a:lnTo>
                  <a:pt x="178" y="202"/>
                </a:lnTo>
                <a:lnTo>
                  <a:pt x="90" y="258"/>
                </a:lnTo>
                <a:lnTo>
                  <a:pt x="0" y="102"/>
                </a:lnTo>
                <a:lnTo>
                  <a:pt x="75" y="55"/>
                </a:lnTo>
                <a:lnTo>
                  <a:pt x="146" y="0"/>
                </a:lnTo>
                <a:close/>
              </a:path>
            </a:pathLst>
          </a:custGeom>
          <a:solidFill>
            <a:srgbClr val="B5E2D3"/>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Freeform 69"/>
          <p:cNvSpPr/>
          <p:nvPr/>
        </p:nvSpPr>
        <p:spPr>
          <a:xfrm>
            <a:off x="1447776" y="4661400"/>
            <a:ext cx="1248524" cy="914000"/>
          </a:xfrm>
          <a:custGeom>
            <a:avLst/>
            <a:gdLst/>
            <a:ahLst/>
            <a:cxnLst/>
            <a:rect l="l" t="t" r="r" b="b"/>
            <a:pathLst>
              <a:path w="1366" h="1000">
                <a:moveTo>
                  <a:pt x="866" y="0"/>
                </a:moveTo>
                <a:lnTo>
                  <a:pt x="1366" y="866"/>
                </a:lnTo>
                <a:lnTo>
                  <a:pt x="1289" y="906"/>
                </a:lnTo>
                <a:lnTo>
                  <a:pt x="1208" y="940"/>
                </a:lnTo>
                <a:lnTo>
                  <a:pt x="1125" y="966"/>
                </a:lnTo>
                <a:lnTo>
                  <a:pt x="1040" y="985"/>
                </a:lnTo>
                <a:lnTo>
                  <a:pt x="953" y="996"/>
                </a:lnTo>
                <a:lnTo>
                  <a:pt x="866" y="1000"/>
                </a:lnTo>
                <a:lnTo>
                  <a:pt x="779" y="996"/>
                </a:lnTo>
                <a:lnTo>
                  <a:pt x="692" y="985"/>
                </a:lnTo>
                <a:lnTo>
                  <a:pt x="607" y="966"/>
                </a:lnTo>
                <a:lnTo>
                  <a:pt x="524" y="940"/>
                </a:lnTo>
                <a:lnTo>
                  <a:pt x="443" y="906"/>
                </a:lnTo>
                <a:lnTo>
                  <a:pt x="366" y="866"/>
                </a:lnTo>
                <a:lnTo>
                  <a:pt x="292" y="819"/>
                </a:lnTo>
                <a:lnTo>
                  <a:pt x="223" y="766"/>
                </a:lnTo>
                <a:lnTo>
                  <a:pt x="159" y="707"/>
                </a:lnTo>
                <a:lnTo>
                  <a:pt x="100" y="643"/>
                </a:lnTo>
                <a:lnTo>
                  <a:pt x="47" y="574"/>
                </a:lnTo>
                <a:lnTo>
                  <a:pt x="0" y="500"/>
                </a:lnTo>
                <a:close/>
              </a:path>
            </a:pathLst>
          </a:custGeom>
          <a:solidFill>
            <a:srgbClr val="F2C9AC"/>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Freeform 70"/>
          <p:cNvSpPr/>
          <p:nvPr/>
        </p:nvSpPr>
        <p:spPr>
          <a:xfrm>
            <a:off x="2558286" y="5468462"/>
            <a:ext cx="229414" cy="223930"/>
          </a:xfrm>
          <a:custGeom>
            <a:avLst/>
            <a:gdLst/>
            <a:ahLst/>
            <a:cxnLst/>
            <a:rect l="l" t="t" r="r" b="b"/>
            <a:pathLst>
              <a:path w="251" h="245">
                <a:moveTo>
                  <a:pt x="251" y="156"/>
                </a:moveTo>
                <a:lnTo>
                  <a:pt x="158" y="205"/>
                </a:lnTo>
                <a:lnTo>
                  <a:pt x="61" y="245"/>
                </a:lnTo>
                <a:lnTo>
                  <a:pt x="0" y="75"/>
                </a:lnTo>
                <a:lnTo>
                  <a:pt x="82" y="41"/>
                </a:lnTo>
                <a:lnTo>
                  <a:pt x="161" y="0"/>
                </a:lnTo>
                <a:close/>
              </a:path>
            </a:pathLst>
          </a:custGeom>
          <a:solidFill>
            <a:srgbClr val="F2C9AC"/>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Freeform 71"/>
          <p:cNvSpPr/>
          <p:nvPr/>
        </p:nvSpPr>
        <p:spPr>
          <a:xfrm>
            <a:off x="2401078" y="5537012"/>
            <a:ext cx="212962" cy="204736"/>
          </a:xfrm>
          <a:custGeom>
            <a:avLst/>
            <a:gdLst/>
            <a:ahLst/>
            <a:cxnLst/>
            <a:rect l="l" t="t" r="r" b="b"/>
            <a:pathLst>
              <a:path w="233" h="224">
                <a:moveTo>
                  <a:pt x="233" y="170"/>
                </a:moveTo>
                <a:lnTo>
                  <a:pt x="134" y="201"/>
                </a:lnTo>
                <a:lnTo>
                  <a:pt x="31" y="224"/>
                </a:lnTo>
                <a:lnTo>
                  <a:pt x="0" y="47"/>
                </a:lnTo>
                <a:lnTo>
                  <a:pt x="87" y="27"/>
                </a:lnTo>
                <a:lnTo>
                  <a:pt x="172" y="0"/>
                </a:lnTo>
                <a:close/>
              </a:path>
            </a:pathLst>
          </a:custGeom>
          <a:solidFill>
            <a:srgbClr val="F2C9AC"/>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Freeform 72"/>
          <p:cNvSpPr/>
          <p:nvPr/>
        </p:nvSpPr>
        <p:spPr>
          <a:xfrm>
            <a:off x="2239300" y="5579970"/>
            <a:ext cx="190112" cy="178230"/>
          </a:xfrm>
          <a:custGeom>
            <a:avLst/>
            <a:gdLst/>
            <a:ahLst/>
            <a:cxnLst/>
            <a:rect l="l" t="t" r="r" b="b"/>
            <a:pathLst>
              <a:path w="208" h="195">
                <a:moveTo>
                  <a:pt x="208" y="177"/>
                </a:moveTo>
                <a:lnTo>
                  <a:pt x="105" y="190"/>
                </a:lnTo>
                <a:lnTo>
                  <a:pt x="0" y="195"/>
                </a:lnTo>
                <a:lnTo>
                  <a:pt x="0" y="15"/>
                </a:lnTo>
                <a:lnTo>
                  <a:pt x="89" y="11"/>
                </a:lnTo>
                <a:lnTo>
                  <a:pt x="177" y="0"/>
                </a:lnTo>
                <a:close/>
              </a:path>
            </a:pathLst>
          </a:custGeom>
          <a:solidFill>
            <a:srgbClr val="F2C9AC"/>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Freeform 73"/>
          <p:cNvSpPr/>
          <p:nvPr/>
        </p:nvSpPr>
        <p:spPr>
          <a:xfrm>
            <a:off x="2049188" y="5579970"/>
            <a:ext cx="190112" cy="178230"/>
          </a:xfrm>
          <a:custGeom>
            <a:avLst/>
            <a:gdLst/>
            <a:ahLst/>
            <a:cxnLst/>
            <a:rect l="l" t="t" r="r" b="b"/>
            <a:pathLst>
              <a:path w="208" h="195">
                <a:moveTo>
                  <a:pt x="208" y="195"/>
                </a:moveTo>
                <a:lnTo>
                  <a:pt x="103" y="190"/>
                </a:lnTo>
                <a:lnTo>
                  <a:pt x="0" y="177"/>
                </a:lnTo>
                <a:lnTo>
                  <a:pt x="31" y="0"/>
                </a:lnTo>
                <a:lnTo>
                  <a:pt x="119" y="11"/>
                </a:lnTo>
                <a:lnTo>
                  <a:pt x="208" y="15"/>
                </a:lnTo>
                <a:close/>
              </a:path>
            </a:pathLst>
          </a:custGeom>
          <a:solidFill>
            <a:srgbClr val="F2C9AC"/>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Freeform 74"/>
          <p:cNvSpPr/>
          <p:nvPr/>
        </p:nvSpPr>
        <p:spPr>
          <a:xfrm>
            <a:off x="1864560" y="5537012"/>
            <a:ext cx="212962" cy="204736"/>
          </a:xfrm>
          <a:custGeom>
            <a:avLst/>
            <a:gdLst/>
            <a:ahLst/>
            <a:cxnLst/>
            <a:rect l="l" t="t" r="r" b="b"/>
            <a:pathLst>
              <a:path w="233" h="224">
                <a:moveTo>
                  <a:pt x="202" y="224"/>
                </a:moveTo>
                <a:lnTo>
                  <a:pt x="99" y="201"/>
                </a:lnTo>
                <a:lnTo>
                  <a:pt x="0" y="170"/>
                </a:lnTo>
                <a:lnTo>
                  <a:pt x="61" y="0"/>
                </a:lnTo>
                <a:lnTo>
                  <a:pt x="146" y="27"/>
                </a:lnTo>
                <a:lnTo>
                  <a:pt x="233" y="47"/>
                </a:lnTo>
                <a:close/>
              </a:path>
            </a:pathLst>
          </a:custGeom>
          <a:solidFill>
            <a:srgbClr val="F2C9AC"/>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Freeform 75"/>
          <p:cNvSpPr/>
          <p:nvPr/>
        </p:nvSpPr>
        <p:spPr>
          <a:xfrm>
            <a:off x="1690900" y="5468462"/>
            <a:ext cx="229414" cy="223930"/>
          </a:xfrm>
          <a:custGeom>
            <a:avLst/>
            <a:gdLst/>
            <a:ahLst/>
            <a:cxnLst/>
            <a:rect l="l" t="t" r="r" b="b"/>
            <a:pathLst>
              <a:path w="251" h="245">
                <a:moveTo>
                  <a:pt x="190" y="245"/>
                </a:moveTo>
                <a:lnTo>
                  <a:pt x="93" y="205"/>
                </a:lnTo>
                <a:lnTo>
                  <a:pt x="0" y="156"/>
                </a:lnTo>
                <a:lnTo>
                  <a:pt x="90" y="0"/>
                </a:lnTo>
                <a:lnTo>
                  <a:pt x="169" y="41"/>
                </a:lnTo>
                <a:lnTo>
                  <a:pt x="251" y="75"/>
                </a:lnTo>
                <a:close/>
              </a:path>
            </a:pathLst>
          </a:custGeom>
          <a:solidFill>
            <a:srgbClr val="F2C9AC"/>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Freeform 76"/>
          <p:cNvSpPr/>
          <p:nvPr/>
        </p:nvSpPr>
        <p:spPr>
          <a:xfrm>
            <a:off x="1534606" y="5375234"/>
            <a:ext cx="238554" cy="235812"/>
          </a:xfrm>
          <a:custGeom>
            <a:avLst/>
            <a:gdLst/>
            <a:ahLst/>
            <a:cxnLst/>
            <a:rect l="l" t="t" r="r" b="b"/>
            <a:pathLst>
              <a:path w="261" h="258">
                <a:moveTo>
                  <a:pt x="171" y="258"/>
                </a:moveTo>
                <a:lnTo>
                  <a:pt x="83" y="202"/>
                </a:lnTo>
                <a:lnTo>
                  <a:pt x="0" y="138"/>
                </a:lnTo>
                <a:lnTo>
                  <a:pt x="115" y="0"/>
                </a:lnTo>
                <a:lnTo>
                  <a:pt x="186" y="55"/>
                </a:lnTo>
                <a:lnTo>
                  <a:pt x="261" y="102"/>
                </a:lnTo>
                <a:close/>
              </a:path>
            </a:pathLst>
          </a:custGeom>
          <a:solidFill>
            <a:srgbClr val="F2C9AC"/>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Freeform 77"/>
          <p:cNvSpPr/>
          <p:nvPr/>
        </p:nvSpPr>
        <p:spPr>
          <a:xfrm>
            <a:off x="1399334" y="5260984"/>
            <a:ext cx="240382" cy="240382"/>
          </a:xfrm>
          <a:custGeom>
            <a:avLst/>
            <a:gdLst/>
            <a:ahLst/>
            <a:cxnLst/>
            <a:rect l="l" t="t" r="r" b="b"/>
            <a:pathLst>
              <a:path w="263" h="263">
                <a:moveTo>
                  <a:pt x="148" y="263"/>
                </a:moveTo>
                <a:lnTo>
                  <a:pt x="70" y="193"/>
                </a:lnTo>
                <a:lnTo>
                  <a:pt x="0" y="115"/>
                </a:lnTo>
                <a:lnTo>
                  <a:pt x="138" y="0"/>
                </a:lnTo>
                <a:lnTo>
                  <a:pt x="198" y="65"/>
                </a:lnTo>
                <a:lnTo>
                  <a:pt x="263" y="125"/>
                </a:lnTo>
                <a:close/>
              </a:path>
            </a:pathLst>
          </a:custGeom>
          <a:solidFill>
            <a:srgbClr val="F2C9AC"/>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Freeform 78"/>
          <p:cNvSpPr/>
          <p:nvPr/>
        </p:nvSpPr>
        <p:spPr>
          <a:xfrm>
            <a:off x="1289654" y="5127540"/>
            <a:ext cx="235812" cy="238554"/>
          </a:xfrm>
          <a:custGeom>
            <a:avLst/>
            <a:gdLst/>
            <a:ahLst/>
            <a:cxnLst/>
            <a:rect l="l" t="t" r="r" b="b"/>
            <a:pathLst>
              <a:path w="258" h="261">
                <a:moveTo>
                  <a:pt x="120" y="261"/>
                </a:moveTo>
                <a:lnTo>
                  <a:pt x="56" y="178"/>
                </a:lnTo>
                <a:lnTo>
                  <a:pt x="0" y="90"/>
                </a:lnTo>
                <a:lnTo>
                  <a:pt x="156" y="0"/>
                </a:lnTo>
                <a:lnTo>
                  <a:pt x="203" y="75"/>
                </a:lnTo>
                <a:lnTo>
                  <a:pt x="258" y="146"/>
                </a:lnTo>
                <a:close/>
              </a:path>
            </a:pathLst>
          </a:custGeom>
          <a:solidFill>
            <a:srgbClr val="F2C9AC"/>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reeform 79"/>
          <p:cNvSpPr/>
          <p:nvPr/>
        </p:nvSpPr>
        <p:spPr>
          <a:xfrm>
            <a:off x="1325300" y="3961276"/>
            <a:ext cx="914000" cy="1157124"/>
          </a:xfrm>
          <a:custGeom>
            <a:avLst/>
            <a:gdLst/>
            <a:ahLst/>
            <a:cxnLst/>
            <a:rect l="l" t="t" r="r" b="b"/>
            <a:pathLst>
              <a:path w="1000" h="1266">
                <a:moveTo>
                  <a:pt x="1000" y="766"/>
                </a:moveTo>
                <a:lnTo>
                  <a:pt x="134" y="1266"/>
                </a:lnTo>
                <a:lnTo>
                  <a:pt x="94" y="1189"/>
                </a:lnTo>
                <a:lnTo>
                  <a:pt x="60" y="1108"/>
                </a:lnTo>
                <a:lnTo>
                  <a:pt x="34" y="1025"/>
                </a:lnTo>
                <a:lnTo>
                  <a:pt x="15" y="940"/>
                </a:lnTo>
                <a:lnTo>
                  <a:pt x="4" y="853"/>
                </a:lnTo>
                <a:lnTo>
                  <a:pt x="0" y="766"/>
                </a:lnTo>
                <a:lnTo>
                  <a:pt x="4" y="679"/>
                </a:lnTo>
                <a:lnTo>
                  <a:pt x="15" y="592"/>
                </a:lnTo>
                <a:lnTo>
                  <a:pt x="34" y="507"/>
                </a:lnTo>
                <a:lnTo>
                  <a:pt x="60" y="424"/>
                </a:lnTo>
                <a:lnTo>
                  <a:pt x="94" y="343"/>
                </a:lnTo>
                <a:lnTo>
                  <a:pt x="134" y="266"/>
                </a:lnTo>
                <a:lnTo>
                  <a:pt x="181" y="192"/>
                </a:lnTo>
                <a:lnTo>
                  <a:pt x="234" y="123"/>
                </a:lnTo>
                <a:lnTo>
                  <a:pt x="293" y="59"/>
                </a:lnTo>
                <a:lnTo>
                  <a:pt x="357" y="0"/>
                </a:lnTo>
                <a:close/>
              </a:path>
            </a:pathLst>
          </a:custGeom>
          <a:solidFill>
            <a:srgbClr val="BFCBE9"/>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Freeform 80"/>
          <p:cNvSpPr/>
          <p:nvPr/>
        </p:nvSpPr>
        <p:spPr>
          <a:xfrm>
            <a:off x="1208308" y="4980386"/>
            <a:ext cx="223930" cy="229414"/>
          </a:xfrm>
          <a:custGeom>
            <a:avLst/>
            <a:gdLst/>
            <a:ahLst/>
            <a:cxnLst/>
            <a:rect l="l" t="t" r="r" b="b"/>
            <a:pathLst>
              <a:path w="245" h="251">
                <a:moveTo>
                  <a:pt x="89" y="251"/>
                </a:moveTo>
                <a:lnTo>
                  <a:pt x="40" y="158"/>
                </a:lnTo>
                <a:lnTo>
                  <a:pt x="0" y="61"/>
                </a:lnTo>
                <a:lnTo>
                  <a:pt x="170" y="0"/>
                </a:lnTo>
                <a:lnTo>
                  <a:pt x="204" y="82"/>
                </a:lnTo>
                <a:lnTo>
                  <a:pt x="245" y="161"/>
                </a:lnTo>
                <a:close/>
              </a:path>
            </a:pathLst>
          </a:custGeom>
          <a:solidFill>
            <a:srgbClr val="BFCBE9"/>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reeform 81"/>
          <p:cNvSpPr/>
          <p:nvPr/>
        </p:nvSpPr>
        <p:spPr>
          <a:xfrm>
            <a:off x="1158952" y="4823178"/>
            <a:ext cx="204736" cy="212962"/>
          </a:xfrm>
          <a:custGeom>
            <a:avLst/>
            <a:gdLst/>
            <a:ahLst/>
            <a:cxnLst/>
            <a:rect l="l" t="t" r="r" b="b"/>
            <a:pathLst>
              <a:path w="224" h="233">
                <a:moveTo>
                  <a:pt x="54" y="233"/>
                </a:moveTo>
                <a:lnTo>
                  <a:pt x="23" y="134"/>
                </a:lnTo>
                <a:lnTo>
                  <a:pt x="0" y="31"/>
                </a:lnTo>
                <a:lnTo>
                  <a:pt x="177" y="0"/>
                </a:lnTo>
                <a:lnTo>
                  <a:pt x="197" y="87"/>
                </a:lnTo>
                <a:lnTo>
                  <a:pt x="224" y="172"/>
                </a:lnTo>
                <a:close/>
              </a:path>
            </a:pathLst>
          </a:custGeom>
          <a:solidFill>
            <a:srgbClr val="BFCBE9"/>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Freeform 82"/>
          <p:cNvSpPr/>
          <p:nvPr/>
        </p:nvSpPr>
        <p:spPr>
          <a:xfrm>
            <a:off x="1142500" y="4661400"/>
            <a:ext cx="178230" cy="190112"/>
          </a:xfrm>
          <a:custGeom>
            <a:avLst/>
            <a:gdLst/>
            <a:ahLst/>
            <a:cxnLst/>
            <a:rect l="l" t="t" r="r" b="b"/>
            <a:pathLst>
              <a:path w="195" h="208">
                <a:moveTo>
                  <a:pt x="18" y="208"/>
                </a:moveTo>
                <a:lnTo>
                  <a:pt x="5" y="105"/>
                </a:lnTo>
                <a:lnTo>
                  <a:pt x="0" y="0"/>
                </a:lnTo>
                <a:lnTo>
                  <a:pt x="180" y="0"/>
                </a:lnTo>
                <a:lnTo>
                  <a:pt x="184" y="89"/>
                </a:lnTo>
                <a:lnTo>
                  <a:pt x="195" y="177"/>
                </a:lnTo>
                <a:close/>
              </a:path>
            </a:pathLst>
          </a:custGeom>
          <a:solidFill>
            <a:srgbClr val="BFCBE9"/>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Freeform 83"/>
          <p:cNvSpPr/>
          <p:nvPr/>
        </p:nvSpPr>
        <p:spPr>
          <a:xfrm>
            <a:off x="1142500" y="4471288"/>
            <a:ext cx="178230" cy="190112"/>
          </a:xfrm>
          <a:custGeom>
            <a:avLst/>
            <a:gdLst/>
            <a:ahLst/>
            <a:cxnLst/>
            <a:rect l="l" t="t" r="r" b="b"/>
            <a:pathLst>
              <a:path w="195" h="208">
                <a:moveTo>
                  <a:pt x="0" y="208"/>
                </a:moveTo>
                <a:lnTo>
                  <a:pt x="5" y="103"/>
                </a:lnTo>
                <a:lnTo>
                  <a:pt x="18" y="0"/>
                </a:lnTo>
                <a:lnTo>
                  <a:pt x="195" y="31"/>
                </a:lnTo>
                <a:lnTo>
                  <a:pt x="184" y="119"/>
                </a:lnTo>
                <a:lnTo>
                  <a:pt x="180" y="208"/>
                </a:lnTo>
                <a:close/>
              </a:path>
            </a:pathLst>
          </a:custGeom>
          <a:solidFill>
            <a:srgbClr val="BFCBE9"/>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Freeform 84"/>
          <p:cNvSpPr/>
          <p:nvPr/>
        </p:nvSpPr>
        <p:spPr>
          <a:xfrm>
            <a:off x="1158952" y="4286660"/>
            <a:ext cx="204736" cy="212962"/>
          </a:xfrm>
          <a:custGeom>
            <a:avLst/>
            <a:gdLst/>
            <a:ahLst/>
            <a:cxnLst/>
            <a:rect l="l" t="t" r="r" b="b"/>
            <a:pathLst>
              <a:path w="224" h="233">
                <a:moveTo>
                  <a:pt x="0" y="202"/>
                </a:moveTo>
                <a:lnTo>
                  <a:pt x="23" y="99"/>
                </a:lnTo>
                <a:lnTo>
                  <a:pt x="54" y="0"/>
                </a:lnTo>
                <a:lnTo>
                  <a:pt x="224" y="61"/>
                </a:lnTo>
                <a:lnTo>
                  <a:pt x="197" y="146"/>
                </a:lnTo>
                <a:lnTo>
                  <a:pt x="177" y="233"/>
                </a:lnTo>
                <a:close/>
              </a:path>
            </a:pathLst>
          </a:custGeom>
          <a:solidFill>
            <a:srgbClr val="BFCBE9"/>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Freeform 85"/>
          <p:cNvSpPr/>
          <p:nvPr/>
        </p:nvSpPr>
        <p:spPr>
          <a:xfrm>
            <a:off x="1208308" y="4113000"/>
            <a:ext cx="223930" cy="229414"/>
          </a:xfrm>
          <a:custGeom>
            <a:avLst/>
            <a:gdLst/>
            <a:ahLst/>
            <a:cxnLst/>
            <a:rect l="l" t="t" r="r" b="b"/>
            <a:pathLst>
              <a:path w="245" h="251">
                <a:moveTo>
                  <a:pt x="0" y="190"/>
                </a:moveTo>
                <a:lnTo>
                  <a:pt x="40" y="93"/>
                </a:lnTo>
                <a:lnTo>
                  <a:pt x="89" y="0"/>
                </a:lnTo>
                <a:lnTo>
                  <a:pt x="245" y="90"/>
                </a:lnTo>
                <a:lnTo>
                  <a:pt x="204" y="169"/>
                </a:lnTo>
                <a:lnTo>
                  <a:pt x="170" y="251"/>
                </a:lnTo>
                <a:close/>
              </a:path>
            </a:pathLst>
          </a:custGeom>
          <a:solidFill>
            <a:srgbClr val="BFCBE9"/>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Freeform 86"/>
          <p:cNvSpPr/>
          <p:nvPr/>
        </p:nvSpPr>
        <p:spPr>
          <a:xfrm>
            <a:off x="1289654" y="3956706"/>
            <a:ext cx="235812" cy="238554"/>
          </a:xfrm>
          <a:custGeom>
            <a:avLst/>
            <a:gdLst/>
            <a:ahLst/>
            <a:cxnLst/>
            <a:rect l="l" t="t" r="r" b="b"/>
            <a:pathLst>
              <a:path w="258" h="261">
                <a:moveTo>
                  <a:pt x="0" y="171"/>
                </a:moveTo>
                <a:lnTo>
                  <a:pt x="56" y="83"/>
                </a:lnTo>
                <a:lnTo>
                  <a:pt x="120" y="0"/>
                </a:lnTo>
                <a:lnTo>
                  <a:pt x="258" y="115"/>
                </a:lnTo>
                <a:lnTo>
                  <a:pt x="203" y="186"/>
                </a:lnTo>
                <a:lnTo>
                  <a:pt x="156" y="261"/>
                </a:lnTo>
                <a:close/>
              </a:path>
            </a:pathLst>
          </a:custGeom>
          <a:solidFill>
            <a:srgbClr val="BFCBE9"/>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Freeform 87"/>
          <p:cNvSpPr/>
          <p:nvPr/>
        </p:nvSpPr>
        <p:spPr>
          <a:xfrm>
            <a:off x="1399334" y="3821434"/>
            <a:ext cx="240382" cy="240382"/>
          </a:xfrm>
          <a:custGeom>
            <a:avLst/>
            <a:gdLst/>
            <a:ahLst/>
            <a:cxnLst/>
            <a:rect l="l" t="t" r="r" b="b"/>
            <a:pathLst>
              <a:path w="263" h="263">
                <a:moveTo>
                  <a:pt x="0" y="148"/>
                </a:moveTo>
                <a:lnTo>
                  <a:pt x="70" y="70"/>
                </a:lnTo>
                <a:lnTo>
                  <a:pt x="148" y="0"/>
                </a:lnTo>
                <a:lnTo>
                  <a:pt x="263" y="138"/>
                </a:lnTo>
                <a:lnTo>
                  <a:pt x="198" y="198"/>
                </a:lnTo>
                <a:lnTo>
                  <a:pt x="138" y="263"/>
                </a:lnTo>
                <a:close/>
              </a:path>
            </a:pathLst>
          </a:custGeom>
          <a:solidFill>
            <a:srgbClr val="BFCBE9"/>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Freeform 88"/>
          <p:cNvSpPr/>
          <p:nvPr/>
        </p:nvSpPr>
        <p:spPr>
          <a:xfrm>
            <a:off x="1651598" y="3747400"/>
            <a:ext cx="587702" cy="914000"/>
          </a:xfrm>
          <a:custGeom>
            <a:avLst/>
            <a:gdLst/>
            <a:ahLst/>
            <a:cxnLst/>
            <a:rect l="l" t="t" r="r" b="b"/>
            <a:pathLst>
              <a:path w="643" h="1000">
                <a:moveTo>
                  <a:pt x="643" y="1000"/>
                </a:moveTo>
                <a:lnTo>
                  <a:pt x="0" y="234"/>
                </a:lnTo>
                <a:lnTo>
                  <a:pt x="69" y="181"/>
                </a:lnTo>
                <a:lnTo>
                  <a:pt x="143" y="134"/>
                </a:lnTo>
                <a:lnTo>
                  <a:pt x="220" y="94"/>
                </a:lnTo>
                <a:lnTo>
                  <a:pt x="301" y="60"/>
                </a:lnTo>
                <a:lnTo>
                  <a:pt x="384" y="34"/>
                </a:lnTo>
                <a:lnTo>
                  <a:pt x="469" y="15"/>
                </a:lnTo>
                <a:lnTo>
                  <a:pt x="556" y="4"/>
                </a:lnTo>
                <a:lnTo>
                  <a:pt x="643" y="0"/>
                </a:lnTo>
                <a:close/>
              </a:path>
            </a:pathLst>
          </a:custGeom>
          <a:solidFill>
            <a:srgbClr val="F3E2A0"/>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Freeform 89"/>
          <p:cNvSpPr/>
          <p:nvPr/>
        </p:nvSpPr>
        <p:spPr>
          <a:xfrm>
            <a:off x="1534606" y="3711754"/>
            <a:ext cx="238554" cy="235812"/>
          </a:xfrm>
          <a:custGeom>
            <a:avLst/>
            <a:gdLst/>
            <a:ahLst/>
            <a:cxnLst/>
            <a:rect l="l" t="t" r="r" b="b"/>
            <a:pathLst>
              <a:path w="261" h="258">
                <a:moveTo>
                  <a:pt x="0" y="120"/>
                </a:moveTo>
                <a:lnTo>
                  <a:pt x="83" y="56"/>
                </a:lnTo>
                <a:lnTo>
                  <a:pt x="171" y="0"/>
                </a:lnTo>
                <a:lnTo>
                  <a:pt x="261" y="156"/>
                </a:lnTo>
                <a:lnTo>
                  <a:pt x="186" y="203"/>
                </a:lnTo>
                <a:lnTo>
                  <a:pt x="115" y="258"/>
                </a:lnTo>
                <a:close/>
              </a:path>
            </a:pathLst>
          </a:custGeom>
          <a:solidFill>
            <a:srgbClr val="F3E2A0"/>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Freeform 90"/>
          <p:cNvSpPr/>
          <p:nvPr/>
        </p:nvSpPr>
        <p:spPr>
          <a:xfrm>
            <a:off x="1690900" y="3630408"/>
            <a:ext cx="229414" cy="223930"/>
          </a:xfrm>
          <a:custGeom>
            <a:avLst/>
            <a:gdLst/>
            <a:ahLst/>
            <a:cxnLst/>
            <a:rect l="l" t="t" r="r" b="b"/>
            <a:pathLst>
              <a:path w="251" h="245">
                <a:moveTo>
                  <a:pt x="0" y="89"/>
                </a:moveTo>
                <a:lnTo>
                  <a:pt x="93" y="40"/>
                </a:lnTo>
                <a:lnTo>
                  <a:pt x="190" y="0"/>
                </a:lnTo>
                <a:lnTo>
                  <a:pt x="251" y="170"/>
                </a:lnTo>
                <a:lnTo>
                  <a:pt x="169" y="204"/>
                </a:lnTo>
                <a:lnTo>
                  <a:pt x="90" y="245"/>
                </a:lnTo>
                <a:close/>
              </a:path>
            </a:pathLst>
          </a:custGeom>
          <a:solidFill>
            <a:srgbClr val="F3E2A0"/>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Freeform 91"/>
          <p:cNvSpPr/>
          <p:nvPr/>
        </p:nvSpPr>
        <p:spPr>
          <a:xfrm>
            <a:off x="1864560" y="3581052"/>
            <a:ext cx="212962" cy="204736"/>
          </a:xfrm>
          <a:custGeom>
            <a:avLst/>
            <a:gdLst/>
            <a:ahLst/>
            <a:cxnLst/>
            <a:rect l="l" t="t" r="r" b="b"/>
            <a:pathLst>
              <a:path w="233" h="224">
                <a:moveTo>
                  <a:pt x="0" y="54"/>
                </a:moveTo>
                <a:lnTo>
                  <a:pt x="99" y="23"/>
                </a:lnTo>
                <a:lnTo>
                  <a:pt x="202" y="0"/>
                </a:lnTo>
                <a:lnTo>
                  <a:pt x="233" y="177"/>
                </a:lnTo>
                <a:lnTo>
                  <a:pt x="146" y="197"/>
                </a:lnTo>
                <a:lnTo>
                  <a:pt x="61" y="224"/>
                </a:lnTo>
                <a:close/>
              </a:path>
            </a:pathLst>
          </a:custGeom>
          <a:solidFill>
            <a:srgbClr val="F3E2A0"/>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Freeform 92"/>
          <p:cNvSpPr/>
          <p:nvPr/>
        </p:nvSpPr>
        <p:spPr>
          <a:xfrm>
            <a:off x="2049188" y="3564600"/>
            <a:ext cx="190112" cy="178230"/>
          </a:xfrm>
          <a:custGeom>
            <a:avLst/>
            <a:gdLst/>
            <a:ahLst/>
            <a:cxnLst/>
            <a:rect l="l" t="t" r="r" b="b"/>
            <a:pathLst>
              <a:path w="208" h="195">
                <a:moveTo>
                  <a:pt x="0" y="18"/>
                </a:moveTo>
                <a:lnTo>
                  <a:pt x="103" y="5"/>
                </a:lnTo>
                <a:lnTo>
                  <a:pt x="208" y="0"/>
                </a:lnTo>
                <a:lnTo>
                  <a:pt x="208" y="180"/>
                </a:lnTo>
                <a:lnTo>
                  <a:pt x="119" y="184"/>
                </a:lnTo>
                <a:lnTo>
                  <a:pt x="31" y="195"/>
                </a:lnTo>
                <a:close/>
              </a:path>
            </a:pathLst>
          </a:custGeom>
          <a:solidFill>
            <a:srgbClr val="F3E2A0"/>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2203704" y="4626864"/>
            <a:ext cx="73152" cy="73152"/>
          </a:xfrm>
          <a:prstGeom prst="ellipse">
            <a:avLst/>
          </a:prstGeom>
          <a:solidFill>
            <a:srgbClr val="1D3557"/>
          </a:solidFill>
          <a:ln w="63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313025" y="4365993"/>
            <a:ext cx="914400" cy="310896"/>
          </a:xfrm>
          <a:prstGeom prst="rect">
            <a:avLst/>
          </a:prstGeom>
          <a:noFill/>
        </p:spPr>
        <p:txBody>
          <a:bodyPr wrap="square" anchor="t" lIns="45720" rIns="45720" tIns="27432" bIns="27432">
            <a:spAutoFit/>
          </a:bodyPr>
          <a:lstStyle/>
          <a:p>
            <a:pPr algn="ctr">
              <a:lnSpc>
                <a:spcPct val="105000"/>
              </a:lnSpc>
            </a:pPr>
            <a:r>
              <a:rPr sz="1300" b="1" i="0">
                <a:solidFill>
                  <a:srgbClr val="1F2430"/>
                </a:solidFill>
                <a:latin typeface="PT Sans"/>
              </a:rPr>
              <a:t>150°</a:t>
            </a:r>
          </a:p>
        </p:txBody>
      </p:sp>
      <p:sp>
        <p:nvSpPr>
          <p:cNvPr id="96" name="TextBox 95"/>
          <p:cNvSpPr txBox="1"/>
          <p:nvPr/>
        </p:nvSpPr>
        <p:spPr>
          <a:xfrm>
            <a:off x="1641081" y="5037937"/>
            <a:ext cx="914400" cy="310896"/>
          </a:xfrm>
          <a:prstGeom prst="rect">
            <a:avLst/>
          </a:prstGeom>
          <a:noFill/>
        </p:spPr>
        <p:txBody>
          <a:bodyPr wrap="square" anchor="t" lIns="45720" rIns="45720" tIns="27432" bIns="27432">
            <a:spAutoFit/>
          </a:bodyPr>
          <a:lstStyle/>
          <a:p>
            <a:pPr algn="ctr">
              <a:lnSpc>
                <a:spcPct val="105000"/>
              </a:lnSpc>
            </a:pPr>
            <a:r>
              <a:rPr sz="1300" b="1" i="0">
                <a:solidFill>
                  <a:srgbClr val="1F2430"/>
                </a:solidFill>
                <a:latin typeface="PT Sans"/>
              </a:rPr>
              <a:t>90°</a:t>
            </a:r>
          </a:p>
        </p:txBody>
      </p:sp>
      <p:sp>
        <p:nvSpPr>
          <p:cNvPr id="97" name="TextBox 96"/>
          <p:cNvSpPr txBox="1"/>
          <p:nvPr/>
        </p:nvSpPr>
        <p:spPr>
          <a:xfrm>
            <a:off x="1242775" y="4412721"/>
            <a:ext cx="914400" cy="310896"/>
          </a:xfrm>
          <a:prstGeom prst="rect">
            <a:avLst/>
          </a:prstGeom>
          <a:noFill/>
        </p:spPr>
        <p:txBody>
          <a:bodyPr wrap="square" anchor="t" lIns="45720" rIns="45720" tIns="27432" bIns="27432">
            <a:spAutoFit/>
          </a:bodyPr>
          <a:lstStyle/>
          <a:p>
            <a:pPr algn="ctr">
              <a:lnSpc>
                <a:spcPct val="105000"/>
              </a:lnSpc>
            </a:pPr>
            <a:r>
              <a:rPr sz="1300" b="1" i="0">
                <a:solidFill>
                  <a:srgbClr val="1F2430"/>
                </a:solidFill>
                <a:latin typeface="PT Sans"/>
              </a:rPr>
              <a:t>80°</a:t>
            </a:r>
          </a:p>
        </p:txBody>
      </p:sp>
      <p:sp>
        <p:nvSpPr>
          <p:cNvPr id="98" name="TextBox 97"/>
          <p:cNvSpPr txBox="1"/>
          <p:nvPr/>
        </p:nvSpPr>
        <p:spPr>
          <a:xfrm>
            <a:off x="1595434" y="3992439"/>
            <a:ext cx="914400" cy="310896"/>
          </a:xfrm>
          <a:prstGeom prst="rect">
            <a:avLst/>
          </a:prstGeom>
          <a:noFill/>
        </p:spPr>
        <p:txBody>
          <a:bodyPr wrap="square" anchor="t" lIns="45720" rIns="45720" tIns="27432" bIns="27432">
            <a:spAutoFit/>
          </a:bodyPr>
          <a:lstStyle/>
          <a:p>
            <a:pPr algn="ctr">
              <a:lnSpc>
                <a:spcPct val="105000"/>
              </a:lnSpc>
            </a:pPr>
            <a:r>
              <a:rPr sz="1300" b="1" i="0">
                <a:solidFill>
                  <a:srgbClr val="1F2430"/>
                </a:solidFill>
                <a:latin typeface="PT Sans"/>
              </a:rPr>
              <a:t>40°</a:t>
            </a:r>
          </a:p>
        </p:txBody>
      </p:sp>
      <p:sp>
        <p:nvSpPr>
          <p:cNvPr id="99" name="TextBox 98"/>
          <p:cNvSpPr txBox="1"/>
          <p:nvPr/>
        </p:nvSpPr>
        <p:spPr>
          <a:xfrm>
            <a:off x="4023360" y="3200400"/>
            <a:ext cx="2926080" cy="365760"/>
          </a:xfrm>
          <a:prstGeom prst="rect">
            <a:avLst/>
          </a:prstGeom>
          <a:noFill/>
        </p:spPr>
        <p:txBody>
          <a:bodyPr wrap="square" anchor="t" lIns="45720" rIns="45720" tIns="27432" bIns="27432">
            <a:spAutoFit/>
          </a:bodyPr>
          <a:lstStyle/>
          <a:p>
            <a:pPr algn="l">
              <a:lnSpc>
                <a:spcPct val="105000"/>
              </a:lnSpc>
            </a:pPr>
            <a:r>
              <a:rPr sz="1700" b="1" i="0">
                <a:solidFill>
                  <a:srgbClr val="1D3557"/>
                </a:solidFill>
                <a:latin typeface="PT Sans"/>
              </a:rPr>
              <a:t>Чакмак → градус</a:t>
            </a:r>
          </a:p>
        </p:txBody>
      </p:sp>
      <p:sp>
        <p:nvSpPr>
          <p:cNvPr id="100" name="TextBox 99"/>
          <p:cNvSpPr txBox="1"/>
          <p:nvPr/>
        </p:nvSpPr>
        <p:spPr>
          <a:xfrm>
            <a:off x="4023360" y="3611880"/>
            <a:ext cx="2926080" cy="2377440"/>
          </a:xfrm>
          <a:prstGeom prst="rect">
            <a:avLst/>
          </a:prstGeom>
          <a:noFill/>
        </p:spPr>
        <p:txBody>
          <a:bodyPr wrap="square" anchor="t" lIns="45720" rIns="45720" tIns="27432" bIns="27432">
            <a:spAutoFit/>
          </a:bodyPr>
          <a:lstStyle/>
          <a:p>
            <a:pPr algn="l">
              <a:lnSpc>
                <a:spcPct val="110000"/>
              </a:lnSpc>
            </a:pPr>
            <a:r>
              <a:rPr sz="1700" b="1" i="0">
                <a:solidFill>
                  <a:srgbClr val="1F2430"/>
                </a:solidFill>
                <a:latin typeface="PT Sans"/>
              </a:rPr>
              <a:t>36 чакмак = 360°</a:t>
            </a:r>
          </a:p>
          <a:p>
            <a:pPr algn="l">
              <a:lnSpc>
                <a:spcPct val="110000"/>
              </a:lnSpc>
            </a:pPr>
            <a:r>
              <a:rPr sz="1900" b="1" i="0">
                <a:solidFill>
                  <a:srgbClr val="A84400"/>
                </a:solidFill>
                <a:latin typeface="PT Sans"/>
              </a:rPr>
              <a:t>1 чакмак = 10°</a:t>
            </a:r>
          </a:p>
          <a:p>
            <a:pPr algn="l">
              <a:lnSpc>
                <a:spcPct val="110000"/>
              </a:lnSpc>
            </a:pPr>
            <a:r>
              <a:rPr sz="1500" b="0" i="0">
                <a:solidFill>
                  <a:srgbClr val="1F2430"/>
                </a:solidFill>
                <a:latin typeface="PT Sans"/>
              </a:rPr>
              <a:t>Палоо: 15 × 10° = 150°</a:t>
            </a:r>
          </a:p>
          <a:p>
            <a:pPr algn="l">
              <a:lnSpc>
                <a:spcPct val="110000"/>
              </a:lnSpc>
            </a:pPr>
            <a:r>
              <a:rPr sz="1500" b="0" i="0">
                <a:solidFill>
                  <a:srgbClr val="1F2430"/>
                </a:solidFill>
                <a:latin typeface="PT Sans"/>
              </a:rPr>
              <a:t>Лагман: 9 × 10° = 90°</a:t>
            </a:r>
          </a:p>
          <a:p>
            <a:pPr algn="l">
              <a:lnSpc>
                <a:spcPct val="110000"/>
              </a:lnSpc>
            </a:pPr>
            <a:r>
              <a:rPr sz="1500" b="0" i="0">
                <a:solidFill>
                  <a:srgbClr val="1F2430"/>
                </a:solidFill>
                <a:latin typeface="PT Sans"/>
              </a:rPr>
              <a:t>Манты: 8 × 10° = 80°</a:t>
            </a:r>
          </a:p>
          <a:p>
            <a:pPr algn="l">
              <a:lnSpc>
                <a:spcPct val="110000"/>
              </a:lnSpc>
            </a:pPr>
            <a:r>
              <a:rPr sz="1500" b="0" i="0">
                <a:solidFill>
                  <a:srgbClr val="1F2430"/>
                </a:solidFill>
                <a:latin typeface="PT Sans"/>
              </a:rPr>
              <a:t>Ашлямфу: 4 × 10° = 40°</a:t>
            </a:r>
          </a:p>
        </p:txBody>
      </p:sp>
      <p:sp>
        <p:nvSpPr>
          <p:cNvPr id="101" name="Rounded Rectangle 100"/>
          <p:cNvSpPr/>
          <p:nvPr/>
        </p:nvSpPr>
        <p:spPr>
          <a:xfrm>
            <a:off x="7178040" y="2011680"/>
            <a:ext cx="4572000" cy="3794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360920" y="2084831"/>
            <a:ext cx="4206240" cy="3657600"/>
          </a:xfrm>
          <a:prstGeom prst="rect">
            <a:avLst/>
          </a:prstGeom>
          <a:noFill/>
        </p:spPr>
        <p:txBody>
          <a:bodyPr wrap="square" anchor="t" lIns="45720" rIns="45720" tIns="27432" bIns="27432">
            <a:spAutoFit/>
          </a:bodyPr>
          <a:lstStyle/>
          <a:p>
            <a:pPr algn="l">
              <a:lnSpc>
                <a:spcPct val="110000"/>
              </a:lnSpc>
            </a:pPr>
            <a:r>
              <a:rPr sz="1800" b="1" i="0">
                <a:solidFill>
                  <a:srgbClr val="1D3557"/>
                </a:solidFill>
                <a:latin typeface="PT Sans"/>
              </a:rPr>
              <a:t>Жупта, 10 мүнөт:</a:t>
            </a:r>
          </a:p>
          <a:p>
            <a:pPr algn="l">
              <a:lnSpc>
                <a:spcPct val="110000"/>
              </a:lnSpc>
            </a:pPr>
            <a:r>
              <a:rPr sz="1500" b="0" i="0">
                <a:solidFill>
                  <a:srgbClr val="1F2430"/>
                </a:solidFill>
                <a:latin typeface="PT Sans"/>
              </a:rPr>
              <a:t>1. Тизме боюнча 36 чакмакты боё.</a:t>
            </a:r>
          </a:p>
          <a:p>
            <a:pPr algn="l">
              <a:lnSpc>
                <a:spcPct val="110000"/>
              </a:lnSpc>
            </a:pPr>
            <a:r>
              <a:rPr sz="1500" b="0" i="0">
                <a:solidFill>
                  <a:srgbClr val="1F2430"/>
                </a:solidFill>
                <a:latin typeface="PT Sans"/>
              </a:rPr>
              <a:t>2. Тилкени шакек кылып желимде.</a:t>
            </a:r>
          </a:p>
          <a:p>
            <a:pPr algn="l">
              <a:lnSpc>
                <a:spcPct val="110000"/>
              </a:lnSpc>
            </a:pPr>
            <a:r>
              <a:rPr sz="1500" b="0" i="0">
                <a:solidFill>
                  <a:srgbClr val="1F2430"/>
                </a:solidFill>
                <a:latin typeface="PT Sans"/>
              </a:rPr>
              <a:t>3. Шакекти баракка коюп, ичинен тегерек чий.</a:t>
            </a:r>
          </a:p>
          <a:p>
            <a:pPr algn="l">
              <a:lnSpc>
                <a:spcPct val="110000"/>
              </a:lnSpc>
            </a:pPr>
            <a:r>
              <a:rPr sz="1500" b="0" i="0">
                <a:solidFill>
                  <a:srgbClr val="1F2430"/>
                </a:solidFill>
                <a:latin typeface="PT Sans"/>
              </a:rPr>
              <a:t>4. Түс алмашкан жерден борборго сызык тарт.</a:t>
            </a:r>
          </a:p>
          <a:p>
            <a:pPr algn="l">
              <a:lnSpc>
                <a:spcPct val="110000"/>
              </a:lnSpc>
              <a:spcBef>
                <a:spcPts val="600"/>
              </a:spcBef>
            </a:pPr>
            <a:r>
              <a:rPr sz="1700" b="1" i="0">
                <a:solidFill>
                  <a:srgbClr val="007A5A"/>
                </a:solidFill>
                <a:latin typeface="PT Sans"/>
              </a:rPr>
              <a:t>Бүтүн шакек = 360° = 100%</a:t>
            </a:r>
          </a:p>
          <a:p>
            <a:pPr algn="l">
              <a:lnSpc>
                <a:spcPct val="110000"/>
              </a:lnSpc>
              <a:spcBef>
                <a:spcPts val="400"/>
              </a:spcBef>
            </a:pPr>
            <a:r>
              <a:rPr sz="1300" b="0" i="1">
                <a:solidFill>
                  <a:srgbClr val="6B7280"/>
                </a:solidFill>
                <a:latin typeface="PT Sans"/>
              </a:rPr>
              <a:t>Чакмак дептер, калем, желим же скрепка</a:t>
            </a:r>
          </a:p>
        </p:txBody>
      </p:sp>
      <p:sp>
        <p:nvSpPr>
          <p:cNvPr id="103" name="Rounded Rectangle 102"/>
          <p:cNvSpPr/>
          <p:nvPr/>
        </p:nvSpPr>
        <p:spPr>
          <a:xfrm>
            <a:off x="8412480"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К</a:t>
            </a:r>
          </a:p>
        </p:txBody>
      </p:sp>
      <p:sp>
        <p:nvSpPr>
          <p:cNvPr id="104" name="Rounded Rectangle 103"/>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105" name="Rounded Rectangle 104"/>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С: тегерек диаграмма жана таблица</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12/26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6А классы, 36 окуучу: 1 окуучу = 360° ÷ 36 = 10°. Ар бир сектор = окуучулар × 10°.</a:t>
            </a:r>
          </a:p>
        </p:txBody>
      </p:sp>
      <p:sp>
        <p:nvSpPr>
          <p:cNvPr id="12" name="Freeform 11"/>
          <p:cNvSpPr/>
          <p:nvPr/>
        </p:nvSpPr>
        <p:spPr>
          <a:xfrm>
            <a:off x="2330700" y="2422100"/>
            <a:ext cx="1416700" cy="2643288"/>
          </a:xfrm>
          <a:custGeom>
            <a:avLst/>
            <a:gdLst/>
            <a:ahLst/>
            <a:cxnLst/>
            <a:rect l="l" t="t" r="r" b="b"/>
            <a:pathLst>
              <a:path w="1550" h="2892">
                <a:moveTo>
                  <a:pt x="0" y="1550"/>
                </a:moveTo>
                <a:lnTo>
                  <a:pt x="0" y="0"/>
                </a:lnTo>
                <a:lnTo>
                  <a:pt x="135" y="6"/>
                </a:lnTo>
                <a:lnTo>
                  <a:pt x="269" y="24"/>
                </a:lnTo>
                <a:lnTo>
                  <a:pt x="401" y="53"/>
                </a:lnTo>
                <a:lnTo>
                  <a:pt x="530" y="93"/>
                </a:lnTo>
                <a:lnTo>
                  <a:pt x="655" y="145"/>
                </a:lnTo>
                <a:lnTo>
                  <a:pt x="775" y="208"/>
                </a:lnTo>
                <a:lnTo>
                  <a:pt x="889" y="280"/>
                </a:lnTo>
                <a:lnTo>
                  <a:pt x="996" y="363"/>
                </a:lnTo>
                <a:lnTo>
                  <a:pt x="1096" y="454"/>
                </a:lnTo>
                <a:lnTo>
                  <a:pt x="1187" y="554"/>
                </a:lnTo>
                <a:lnTo>
                  <a:pt x="1270" y="661"/>
                </a:lnTo>
                <a:lnTo>
                  <a:pt x="1342" y="775"/>
                </a:lnTo>
                <a:lnTo>
                  <a:pt x="1405" y="895"/>
                </a:lnTo>
                <a:lnTo>
                  <a:pt x="1457" y="1020"/>
                </a:lnTo>
                <a:lnTo>
                  <a:pt x="1497" y="1149"/>
                </a:lnTo>
                <a:lnTo>
                  <a:pt x="1526" y="1281"/>
                </a:lnTo>
                <a:lnTo>
                  <a:pt x="1544" y="1415"/>
                </a:lnTo>
                <a:lnTo>
                  <a:pt x="1550" y="1550"/>
                </a:lnTo>
                <a:lnTo>
                  <a:pt x="1544" y="1685"/>
                </a:lnTo>
                <a:lnTo>
                  <a:pt x="1526" y="1819"/>
                </a:lnTo>
                <a:lnTo>
                  <a:pt x="1497" y="1951"/>
                </a:lnTo>
                <a:lnTo>
                  <a:pt x="1457" y="2080"/>
                </a:lnTo>
                <a:lnTo>
                  <a:pt x="1405" y="2205"/>
                </a:lnTo>
                <a:lnTo>
                  <a:pt x="1342" y="2325"/>
                </a:lnTo>
                <a:lnTo>
                  <a:pt x="1270" y="2439"/>
                </a:lnTo>
                <a:lnTo>
                  <a:pt x="1187" y="2546"/>
                </a:lnTo>
                <a:lnTo>
                  <a:pt x="1096" y="2646"/>
                </a:lnTo>
                <a:lnTo>
                  <a:pt x="996" y="2737"/>
                </a:lnTo>
                <a:lnTo>
                  <a:pt x="889" y="2820"/>
                </a:lnTo>
                <a:lnTo>
                  <a:pt x="775" y="2892"/>
                </a:lnTo>
                <a:close/>
              </a:path>
            </a:pathLst>
          </a:custGeom>
          <a:solidFill>
            <a:srgbClr val="B5E2D3"/>
          </a:solid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1104112" y="3838800"/>
            <a:ext cx="1934938" cy="1416700"/>
          </a:xfrm>
          <a:custGeom>
            <a:avLst/>
            <a:gdLst/>
            <a:ahLst/>
            <a:cxnLst/>
            <a:rect l="l" t="t" r="r" b="b"/>
            <a:pathLst>
              <a:path w="2117" h="1550">
                <a:moveTo>
                  <a:pt x="1342" y="0"/>
                </a:moveTo>
                <a:lnTo>
                  <a:pt x="2117" y="1342"/>
                </a:lnTo>
                <a:lnTo>
                  <a:pt x="1997" y="1405"/>
                </a:lnTo>
                <a:lnTo>
                  <a:pt x="1872" y="1457"/>
                </a:lnTo>
                <a:lnTo>
                  <a:pt x="1743" y="1497"/>
                </a:lnTo>
                <a:lnTo>
                  <a:pt x="1611" y="1526"/>
                </a:lnTo>
                <a:lnTo>
                  <a:pt x="1477" y="1544"/>
                </a:lnTo>
                <a:lnTo>
                  <a:pt x="1342" y="1550"/>
                </a:lnTo>
                <a:lnTo>
                  <a:pt x="1207" y="1544"/>
                </a:lnTo>
                <a:lnTo>
                  <a:pt x="1073" y="1526"/>
                </a:lnTo>
                <a:lnTo>
                  <a:pt x="941" y="1497"/>
                </a:lnTo>
                <a:lnTo>
                  <a:pt x="812" y="1457"/>
                </a:lnTo>
                <a:lnTo>
                  <a:pt x="687" y="1405"/>
                </a:lnTo>
                <a:lnTo>
                  <a:pt x="567" y="1342"/>
                </a:lnTo>
                <a:lnTo>
                  <a:pt x="453" y="1270"/>
                </a:lnTo>
                <a:lnTo>
                  <a:pt x="346" y="1187"/>
                </a:lnTo>
                <a:lnTo>
                  <a:pt x="246" y="1096"/>
                </a:lnTo>
                <a:lnTo>
                  <a:pt x="155" y="996"/>
                </a:lnTo>
                <a:lnTo>
                  <a:pt x="72" y="889"/>
                </a:lnTo>
                <a:lnTo>
                  <a:pt x="0" y="775"/>
                </a:lnTo>
                <a:close/>
              </a:path>
            </a:pathLst>
          </a:custGeom>
          <a:solidFill>
            <a:srgbClr val="F2C9AC"/>
          </a:solid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914000" y="2753882"/>
            <a:ext cx="1416700" cy="1793268"/>
          </a:xfrm>
          <a:custGeom>
            <a:avLst/>
            <a:gdLst/>
            <a:ahLst/>
            <a:cxnLst/>
            <a:rect l="l" t="t" r="r" b="b"/>
            <a:pathLst>
              <a:path w="1550" h="1962">
                <a:moveTo>
                  <a:pt x="1550" y="1187"/>
                </a:moveTo>
                <a:lnTo>
                  <a:pt x="208" y="1962"/>
                </a:lnTo>
                <a:lnTo>
                  <a:pt x="145" y="1842"/>
                </a:lnTo>
                <a:lnTo>
                  <a:pt x="93" y="1717"/>
                </a:lnTo>
                <a:lnTo>
                  <a:pt x="53" y="1588"/>
                </a:lnTo>
                <a:lnTo>
                  <a:pt x="24" y="1456"/>
                </a:lnTo>
                <a:lnTo>
                  <a:pt x="6" y="1322"/>
                </a:lnTo>
                <a:lnTo>
                  <a:pt x="0" y="1187"/>
                </a:lnTo>
                <a:lnTo>
                  <a:pt x="6" y="1052"/>
                </a:lnTo>
                <a:lnTo>
                  <a:pt x="24" y="918"/>
                </a:lnTo>
                <a:lnTo>
                  <a:pt x="53" y="786"/>
                </a:lnTo>
                <a:lnTo>
                  <a:pt x="93" y="657"/>
                </a:lnTo>
                <a:lnTo>
                  <a:pt x="145" y="532"/>
                </a:lnTo>
                <a:lnTo>
                  <a:pt x="208" y="412"/>
                </a:lnTo>
                <a:lnTo>
                  <a:pt x="280" y="298"/>
                </a:lnTo>
                <a:lnTo>
                  <a:pt x="363" y="191"/>
                </a:lnTo>
                <a:lnTo>
                  <a:pt x="454" y="91"/>
                </a:lnTo>
                <a:lnTo>
                  <a:pt x="554" y="0"/>
                </a:lnTo>
                <a:close/>
              </a:path>
            </a:pathLst>
          </a:custGeom>
          <a:solidFill>
            <a:srgbClr val="BFCBE9"/>
          </a:solid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1420356" y="2422100"/>
            <a:ext cx="910344" cy="1416700"/>
          </a:xfrm>
          <a:custGeom>
            <a:avLst/>
            <a:gdLst/>
            <a:ahLst/>
            <a:cxnLst/>
            <a:rect l="l" t="t" r="r" b="b"/>
            <a:pathLst>
              <a:path w="996" h="1550">
                <a:moveTo>
                  <a:pt x="996" y="1550"/>
                </a:moveTo>
                <a:lnTo>
                  <a:pt x="0" y="363"/>
                </a:lnTo>
                <a:lnTo>
                  <a:pt x="107" y="280"/>
                </a:lnTo>
                <a:lnTo>
                  <a:pt x="221" y="208"/>
                </a:lnTo>
                <a:lnTo>
                  <a:pt x="341" y="145"/>
                </a:lnTo>
                <a:lnTo>
                  <a:pt x="466" y="93"/>
                </a:lnTo>
                <a:lnTo>
                  <a:pt x="595" y="53"/>
                </a:lnTo>
                <a:lnTo>
                  <a:pt x="727" y="24"/>
                </a:lnTo>
                <a:lnTo>
                  <a:pt x="861" y="6"/>
                </a:lnTo>
                <a:lnTo>
                  <a:pt x="996" y="0"/>
                </a:lnTo>
                <a:close/>
              </a:path>
            </a:pathLst>
          </a:custGeom>
          <a:solidFill>
            <a:srgbClr val="F3E2A0"/>
          </a:solid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14399" y="2423160"/>
            <a:ext cx="2834640" cy="2834640"/>
          </a:xfrm>
          <a:prstGeom prst="ellipse">
            <a:avLst/>
          </a:prstGeom>
          <a:noFill/>
          <a:ln w="1587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81585" y="3378036"/>
            <a:ext cx="688340" cy="499364"/>
          </a:xfrm>
          <a:prstGeom prst="rect">
            <a:avLst/>
          </a:prstGeom>
          <a:noFill/>
        </p:spPr>
        <p:txBody>
          <a:bodyPr wrap="square" anchor="ctr" lIns="45720" rIns="45720" tIns="27432" bIns="27432">
            <a:spAutoFit/>
          </a:bodyPr>
          <a:lstStyle/>
          <a:p>
            <a:pPr algn="ctr">
              <a:lnSpc>
                <a:spcPct val="95000"/>
              </a:lnSpc>
            </a:pPr>
            <a:r>
              <a:rPr sz="1400" b="0" i="0">
                <a:solidFill>
                  <a:srgbClr val="1F2430"/>
                </a:solidFill>
                <a:latin typeface="PT Sans"/>
              </a:rPr>
              <a:t>Палоо</a:t>
            </a:r>
          </a:p>
          <a:p>
            <a:pPr algn="ctr">
              <a:lnSpc>
                <a:spcPct val="95000"/>
              </a:lnSpc>
            </a:pPr>
            <a:r>
              <a:rPr sz="1400" b="1" i="0">
                <a:solidFill>
                  <a:srgbClr val="1F2430"/>
                </a:solidFill>
                <a:latin typeface="PT Sans"/>
              </a:rPr>
              <a:t>150°</a:t>
            </a:r>
          </a:p>
        </p:txBody>
      </p:sp>
      <p:sp>
        <p:nvSpPr>
          <p:cNvPr id="18" name="TextBox 17"/>
          <p:cNvSpPr txBox="1"/>
          <p:nvPr/>
        </p:nvSpPr>
        <p:spPr>
          <a:xfrm>
            <a:off x="1719670" y="4384833"/>
            <a:ext cx="798576" cy="499364"/>
          </a:xfrm>
          <a:prstGeom prst="rect">
            <a:avLst/>
          </a:prstGeom>
          <a:noFill/>
        </p:spPr>
        <p:txBody>
          <a:bodyPr wrap="square" anchor="ctr" lIns="45720" rIns="45720" tIns="27432" bIns="27432">
            <a:spAutoFit/>
          </a:bodyPr>
          <a:lstStyle/>
          <a:p>
            <a:pPr algn="ctr">
              <a:lnSpc>
                <a:spcPct val="95000"/>
              </a:lnSpc>
            </a:pPr>
            <a:r>
              <a:rPr sz="1400" b="0" i="0">
                <a:solidFill>
                  <a:srgbClr val="1F2430"/>
                </a:solidFill>
                <a:latin typeface="PT Sans"/>
              </a:rPr>
              <a:t>Лагман</a:t>
            </a:r>
          </a:p>
          <a:p>
            <a:pPr algn="ctr">
              <a:lnSpc>
                <a:spcPct val="95000"/>
              </a:lnSpc>
            </a:pPr>
            <a:r>
              <a:rPr sz="1400" b="1" i="0">
                <a:solidFill>
                  <a:srgbClr val="1F2430"/>
                </a:solidFill>
                <a:latin typeface="PT Sans"/>
              </a:rPr>
              <a:t>90°</a:t>
            </a:r>
          </a:p>
        </p:txBody>
      </p:sp>
      <p:sp>
        <p:nvSpPr>
          <p:cNvPr id="19" name="TextBox 18"/>
          <p:cNvSpPr txBox="1"/>
          <p:nvPr/>
        </p:nvSpPr>
        <p:spPr>
          <a:xfrm>
            <a:off x="1177993" y="3448051"/>
            <a:ext cx="688340" cy="499364"/>
          </a:xfrm>
          <a:prstGeom prst="rect">
            <a:avLst/>
          </a:prstGeom>
          <a:noFill/>
        </p:spPr>
        <p:txBody>
          <a:bodyPr wrap="square" anchor="ctr" lIns="45720" rIns="45720" tIns="27432" bIns="27432">
            <a:spAutoFit/>
          </a:bodyPr>
          <a:lstStyle/>
          <a:p>
            <a:pPr algn="ctr">
              <a:lnSpc>
                <a:spcPct val="95000"/>
              </a:lnSpc>
            </a:pPr>
            <a:r>
              <a:rPr sz="1400" b="0" i="0">
                <a:solidFill>
                  <a:srgbClr val="1F2430"/>
                </a:solidFill>
                <a:latin typeface="PT Sans"/>
              </a:rPr>
              <a:t>Манты</a:t>
            </a:r>
          </a:p>
          <a:p>
            <a:pPr algn="ctr">
              <a:lnSpc>
                <a:spcPct val="95000"/>
              </a:lnSpc>
            </a:pPr>
            <a:r>
              <a:rPr sz="1400" b="1" i="0">
                <a:solidFill>
                  <a:srgbClr val="1F2430"/>
                </a:solidFill>
                <a:latin typeface="PT Sans"/>
              </a:rPr>
              <a:t>80°</a:t>
            </a:r>
          </a:p>
        </p:txBody>
      </p:sp>
      <p:cxnSp>
        <p:nvCxnSpPr>
          <p:cNvPr id="20" name="Connector 19"/>
          <p:cNvCxnSpPr/>
          <p:nvPr/>
        </p:nvCxnSpPr>
        <p:spPr>
          <a:xfrm flipH="1" flipV="1">
            <a:off x="1784419" y="2336783"/>
            <a:ext cx="46911" cy="128889"/>
          </a:xfrm>
          <a:prstGeom prst="line">
            <a:avLst/>
          </a:prstGeom>
          <a:ln w="9525">
            <a:solidFill>
              <a:srgbClr val="4A5A7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75607" y="2087101"/>
            <a:ext cx="908812" cy="499364"/>
          </a:xfrm>
          <a:prstGeom prst="rect">
            <a:avLst/>
          </a:prstGeom>
          <a:noFill/>
        </p:spPr>
        <p:txBody>
          <a:bodyPr wrap="square" anchor="ctr" lIns="45720" rIns="45720" tIns="27432" bIns="27432">
            <a:spAutoFit/>
          </a:bodyPr>
          <a:lstStyle/>
          <a:p>
            <a:pPr algn="r">
              <a:lnSpc>
                <a:spcPct val="95000"/>
              </a:lnSpc>
            </a:pPr>
            <a:r>
              <a:rPr sz="1400" b="0" i="0">
                <a:solidFill>
                  <a:srgbClr val="1F2430"/>
                </a:solidFill>
                <a:latin typeface="PT Sans"/>
              </a:rPr>
              <a:t>Ашлямфу</a:t>
            </a:r>
          </a:p>
          <a:p>
            <a:pPr algn="r">
              <a:lnSpc>
                <a:spcPct val="95000"/>
              </a:lnSpc>
            </a:pPr>
            <a:r>
              <a:rPr sz="1400" b="1" i="0">
                <a:solidFill>
                  <a:srgbClr val="1F2430"/>
                </a:solidFill>
                <a:latin typeface="PT Sans"/>
              </a:rPr>
              <a:t>40°</a:t>
            </a:r>
          </a:p>
        </p:txBody>
      </p:sp>
      <p:sp>
        <p:nvSpPr>
          <p:cNvPr id="22" name="Rounded Rectangle 21"/>
          <p:cNvSpPr/>
          <p:nvPr/>
        </p:nvSpPr>
        <p:spPr>
          <a:xfrm>
            <a:off x="4754880" y="2194560"/>
            <a:ext cx="6995160" cy="3291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0" y="2286000"/>
            <a:ext cx="1737360" cy="365760"/>
          </a:xfrm>
          <a:prstGeom prst="rect">
            <a:avLst/>
          </a:prstGeom>
          <a:noFill/>
        </p:spPr>
        <p:txBody>
          <a:bodyPr wrap="square" anchor="t" lIns="45720" rIns="45720" tIns="27432" bIns="27432">
            <a:spAutoFit/>
          </a:bodyPr>
          <a:lstStyle/>
          <a:p>
            <a:pPr algn="l">
              <a:lnSpc>
                <a:spcPct val="105000"/>
              </a:lnSpc>
            </a:pPr>
            <a:r>
              <a:rPr sz="1600" b="1" i="0">
                <a:solidFill>
                  <a:srgbClr val="4A5A70"/>
                </a:solidFill>
                <a:latin typeface="PT Sans"/>
              </a:rPr>
              <a:t>Тамак</a:t>
            </a:r>
          </a:p>
        </p:txBody>
      </p:sp>
      <p:sp>
        <p:nvSpPr>
          <p:cNvPr id="24" name="TextBox 23"/>
          <p:cNvSpPr txBox="1"/>
          <p:nvPr/>
        </p:nvSpPr>
        <p:spPr>
          <a:xfrm>
            <a:off x="6675120" y="2286000"/>
            <a:ext cx="1188720" cy="365760"/>
          </a:xfrm>
          <a:prstGeom prst="rect">
            <a:avLst/>
          </a:prstGeom>
          <a:noFill/>
        </p:spPr>
        <p:txBody>
          <a:bodyPr wrap="square" anchor="t" lIns="45720" rIns="45720" tIns="27432" bIns="27432">
            <a:spAutoFit/>
          </a:bodyPr>
          <a:lstStyle/>
          <a:p>
            <a:pPr algn="l">
              <a:lnSpc>
                <a:spcPct val="105000"/>
              </a:lnSpc>
            </a:pPr>
            <a:r>
              <a:rPr sz="1600" b="1" i="0">
                <a:solidFill>
                  <a:srgbClr val="4A5A70"/>
                </a:solidFill>
                <a:latin typeface="PT Sans"/>
              </a:rPr>
              <a:t>Окуучу</a:t>
            </a:r>
          </a:p>
        </p:txBody>
      </p:sp>
      <p:sp>
        <p:nvSpPr>
          <p:cNvPr id="25" name="TextBox 24"/>
          <p:cNvSpPr txBox="1"/>
          <p:nvPr/>
        </p:nvSpPr>
        <p:spPr>
          <a:xfrm>
            <a:off x="7863840" y="2286000"/>
            <a:ext cx="1463040" cy="365760"/>
          </a:xfrm>
          <a:prstGeom prst="rect">
            <a:avLst/>
          </a:prstGeom>
          <a:noFill/>
        </p:spPr>
        <p:txBody>
          <a:bodyPr wrap="square" anchor="t" lIns="45720" rIns="45720" tIns="27432" bIns="27432">
            <a:spAutoFit/>
          </a:bodyPr>
          <a:lstStyle/>
          <a:p>
            <a:pPr algn="l">
              <a:lnSpc>
                <a:spcPct val="105000"/>
              </a:lnSpc>
            </a:pPr>
            <a:r>
              <a:rPr sz="1600" b="1" i="0">
                <a:solidFill>
                  <a:srgbClr val="4A5A70"/>
                </a:solidFill>
                <a:latin typeface="PT Sans"/>
              </a:rPr>
              <a:t>Бөлүгү</a:t>
            </a:r>
          </a:p>
        </p:txBody>
      </p:sp>
      <p:sp>
        <p:nvSpPr>
          <p:cNvPr id="26" name="TextBox 25"/>
          <p:cNvSpPr txBox="1"/>
          <p:nvPr/>
        </p:nvSpPr>
        <p:spPr>
          <a:xfrm>
            <a:off x="9326880" y="2286000"/>
            <a:ext cx="2286000" cy="365760"/>
          </a:xfrm>
          <a:prstGeom prst="rect">
            <a:avLst/>
          </a:prstGeom>
          <a:noFill/>
        </p:spPr>
        <p:txBody>
          <a:bodyPr wrap="square" anchor="t" lIns="45720" rIns="45720" tIns="27432" bIns="27432">
            <a:spAutoFit/>
          </a:bodyPr>
          <a:lstStyle/>
          <a:p>
            <a:pPr algn="l">
              <a:lnSpc>
                <a:spcPct val="105000"/>
              </a:lnSpc>
            </a:pPr>
            <a:r>
              <a:rPr sz="1600" b="1" i="0">
                <a:solidFill>
                  <a:srgbClr val="4A5A70"/>
                </a:solidFill>
                <a:latin typeface="PT Sans"/>
              </a:rPr>
              <a:t>Бурч = саны × 10°</a:t>
            </a:r>
          </a:p>
        </p:txBody>
      </p:sp>
      <p:cxnSp>
        <p:nvCxnSpPr>
          <p:cNvPr id="27" name="Connector 26"/>
          <p:cNvCxnSpPr/>
          <p:nvPr/>
        </p:nvCxnSpPr>
        <p:spPr>
          <a:xfrm>
            <a:off x="4937760" y="2697480"/>
            <a:ext cx="6629400" cy="0"/>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937760" y="2761488"/>
            <a:ext cx="1737360" cy="4572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Палоо</a:t>
            </a:r>
          </a:p>
        </p:txBody>
      </p:sp>
      <p:sp>
        <p:nvSpPr>
          <p:cNvPr id="29" name="TextBox 28"/>
          <p:cNvSpPr txBox="1"/>
          <p:nvPr/>
        </p:nvSpPr>
        <p:spPr>
          <a:xfrm>
            <a:off x="6675120" y="2761488"/>
            <a:ext cx="1188720" cy="4572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15</a:t>
            </a:r>
          </a:p>
        </p:txBody>
      </p:sp>
      <p:sp>
        <p:nvSpPr>
          <p:cNvPr id="30" name="TextBox 29"/>
          <p:cNvSpPr txBox="1"/>
          <p:nvPr/>
        </p:nvSpPr>
        <p:spPr>
          <a:xfrm>
            <a:off x="7863840" y="2761488"/>
            <a:ext cx="1463040" cy="4572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15/36</a:t>
            </a:r>
          </a:p>
        </p:txBody>
      </p:sp>
      <p:sp>
        <p:nvSpPr>
          <p:cNvPr id="31" name="TextBox 30"/>
          <p:cNvSpPr txBox="1"/>
          <p:nvPr/>
        </p:nvSpPr>
        <p:spPr>
          <a:xfrm>
            <a:off x="9326880" y="2761488"/>
            <a:ext cx="2286000" cy="457200"/>
          </a:xfrm>
          <a:prstGeom prst="rect">
            <a:avLst/>
          </a:prstGeom>
          <a:noFill/>
        </p:spPr>
        <p:txBody>
          <a:bodyPr wrap="square" anchor="ctr" lIns="45720" rIns="45720" tIns="27432" bIns="27432">
            <a:spAutoFit/>
          </a:bodyPr>
          <a:lstStyle/>
          <a:p>
            <a:pPr algn="l">
              <a:lnSpc>
                <a:spcPct val="105000"/>
              </a:lnSpc>
            </a:pPr>
            <a:r>
              <a:rPr sz="1700" b="1" i="0">
                <a:solidFill>
                  <a:srgbClr val="24418C"/>
                </a:solidFill>
                <a:latin typeface="PT Sans"/>
              </a:rPr>
              <a:t>15 × 10° = 150°</a:t>
            </a:r>
          </a:p>
        </p:txBody>
      </p:sp>
      <p:sp>
        <p:nvSpPr>
          <p:cNvPr id="32" name="TextBox 31"/>
          <p:cNvSpPr txBox="1"/>
          <p:nvPr/>
        </p:nvSpPr>
        <p:spPr>
          <a:xfrm>
            <a:off x="4937760" y="3264408"/>
            <a:ext cx="1737360" cy="4572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Лагман</a:t>
            </a:r>
          </a:p>
        </p:txBody>
      </p:sp>
      <p:sp>
        <p:nvSpPr>
          <p:cNvPr id="33" name="TextBox 32"/>
          <p:cNvSpPr txBox="1"/>
          <p:nvPr/>
        </p:nvSpPr>
        <p:spPr>
          <a:xfrm>
            <a:off x="6675120" y="3264408"/>
            <a:ext cx="1188720" cy="4572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9</a:t>
            </a:r>
          </a:p>
        </p:txBody>
      </p:sp>
      <p:sp>
        <p:nvSpPr>
          <p:cNvPr id="34" name="TextBox 33"/>
          <p:cNvSpPr txBox="1"/>
          <p:nvPr/>
        </p:nvSpPr>
        <p:spPr>
          <a:xfrm>
            <a:off x="7863840" y="3264408"/>
            <a:ext cx="1463040" cy="4572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9/36</a:t>
            </a:r>
          </a:p>
        </p:txBody>
      </p:sp>
      <p:sp>
        <p:nvSpPr>
          <p:cNvPr id="35" name="TextBox 34"/>
          <p:cNvSpPr txBox="1"/>
          <p:nvPr/>
        </p:nvSpPr>
        <p:spPr>
          <a:xfrm>
            <a:off x="9326880" y="3264408"/>
            <a:ext cx="2286000" cy="457200"/>
          </a:xfrm>
          <a:prstGeom prst="rect">
            <a:avLst/>
          </a:prstGeom>
          <a:noFill/>
        </p:spPr>
        <p:txBody>
          <a:bodyPr wrap="square" anchor="ctr" lIns="45720" rIns="45720" tIns="27432" bIns="27432">
            <a:spAutoFit/>
          </a:bodyPr>
          <a:lstStyle/>
          <a:p>
            <a:pPr algn="l">
              <a:lnSpc>
                <a:spcPct val="105000"/>
              </a:lnSpc>
            </a:pPr>
            <a:r>
              <a:rPr sz="1700" b="1" i="0">
                <a:solidFill>
                  <a:srgbClr val="24418C"/>
                </a:solidFill>
                <a:latin typeface="PT Sans"/>
              </a:rPr>
              <a:t>9 × 10° = 90°</a:t>
            </a:r>
          </a:p>
        </p:txBody>
      </p:sp>
      <p:sp>
        <p:nvSpPr>
          <p:cNvPr id="36" name="TextBox 35"/>
          <p:cNvSpPr txBox="1"/>
          <p:nvPr/>
        </p:nvSpPr>
        <p:spPr>
          <a:xfrm>
            <a:off x="4937760" y="3767328"/>
            <a:ext cx="1737360" cy="4572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Манты</a:t>
            </a:r>
          </a:p>
        </p:txBody>
      </p:sp>
      <p:sp>
        <p:nvSpPr>
          <p:cNvPr id="37" name="TextBox 36"/>
          <p:cNvSpPr txBox="1"/>
          <p:nvPr/>
        </p:nvSpPr>
        <p:spPr>
          <a:xfrm>
            <a:off x="6675120" y="3767328"/>
            <a:ext cx="1188720" cy="4572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8</a:t>
            </a:r>
          </a:p>
        </p:txBody>
      </p:sp>
      <p:sp>
        <p:nvSpPr>
          <p:cNvPr id="38" name="TextBox 37"/>
          <p:cNvSpPr txBox="1"/>
          <p:nvPr/>
        </p:nvSpPr>
        <p:spPr>
          <a:xfrm>
            <a:off x="7863840" y="3767328"/>
            <a:ext cx="1463040" cy="4572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8/36</a:t>
            </a:r>
          </a:p>
        </p:txBody>
      </p:sp>
      <p:sp>
        <p:nvSpPr>
          <p:cNvPr id="39" name="TextBox 38"/>
          <p:cNvSpPr txBox="1"/>
          <p:nvPr/>
        </p:nvSpPr>
        <p:spPr>
          <a:xfrm>
            <a:off x="9326880" y="3767328"/>
            <a:ext cx="2286000" cy="457200"/>
          </a:xfrm>
          <a:prstGeom prst="rect">
            <a:avLst/>
          </a:prstGeom>
          <a:noFill/>
        </p:spPr>
        <p:txBody>
          <a:bodyPr wrap="square" anchor="ctr" lIns="45720" rIns="45720" tIns="27432" bIns="27432">
            <a:spAutoFit/>
          </a:bodyPr>
          <a:lstStyle/>
          <a:p>
            <a:pPr algn="l">
              <a:lnSpc>
                <a:spcPct val="105000"/>
              </a:lnSpc>
            </a:pPr>
            <a:r>
              <a:rPr sz="1700" b="1" i="0">
                <a:solidFill>
                  <a:srgbClr val="24418C"/>
                </a:solidFill>
                <a:latin typeface="PT Sans"/>
              </a:rPr>
              <a:t>8 × 10° = 80°</a:t>
            </a:r>
          </a:p>
        </p:txBody>
      </p:sp>
      <p:sp>
        <p:nvSpPr>
          <p:cNvPr id="40" name="TextBox 39"/>
          <p:cNvSpPr txBox="1"/>
          <p:nvPr/>
        </p:nvSpPr>
        <p:spPr>
          <a:xfrm>
            <a:off x="4937760" y="4270248"/>
            <a:ext cx="1737360" cy="4572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Ашлямфу</a:t>
            </a:r>
          </a:p>
        </p:txBody>
      </p:sp>
      <p:sp>
        <p:nvSpPr>
          <p:cNvPr id="41" name="TextBox 40"/>
          <p:cNvSpPr txBox="1"/>
          <p:nvPr/>
        </p:nvSpPr>
        <p:spPr>
          <a:xfrm>
            <a:off x="6675120" y="4270248"/>
            <a:ext cx="1188720" cy="4572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4</a:t>
            </a:r>
          </a:p>
        </p:txBody>
      </p:sp>
      <p:sp>
        <p:nvSpPr>
          <p:cNvPr id="42" name="TextBox 41"/>
          <p:cNvSpPr txBox="1"/>
          <p:nvPr/>
        </p:nvSpPr>
        <p:spPr>
          <a:xfrm>
            <a:off x="7863840" y="4270248"/>
            <a:ext cx="1463040" cy="4572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4/36</a:t>
            </a:r>
          </a:p>
        </p:txBody>
      </p:sp>
      <p:sp>
        <p:nvSpPr>
          <p:cNvPr id="43" name="TextBox 42"/>
          <p:cNvSpPr txBox="1"/>
          <p:nvPr/>
        </p:nvSpPr>
        <p:spPr>
          <a:xfrm>
            <a:off x="9326880" y="4270248"/>
            <a:ext cx="2286000" cy="457200"/>
          </a:xfrm>
          <a:prstGeom prst="rect">
            <a:avLst/>
          </a:prstGeom>
          <a:noFill/>
        </p:spPr>
        <p:txBody>
          <a:bodyPr wrap="square" anchor="ctr" lIns="45720" rIns="45720" tIns="27432" bIns="27432">
            <a:spAutoFit/>
          </a:bodyPr>
          <a:lstStyle/>
          <a:p>
            <a:pPr algn="l">
              <a:lnSpc>
                <a:spcPct val="105000"/>
              </a:lnSpc>
            </a:pPr>
            <a:r>
              <a:rPr sz="1700" b="1" i="0">
                <a:solidFill>
                  <a:srgbClr val="24418C"/>
                </a:solidFill>
                <a:latin typeface="PT Sans"/>
              </a:rPr>
              <a:t>4 × 10° = 40°</a:t>
            </a:r>
          </a:p>
        </p:txBody>
      </p:sp>
      <p:cxnSp>
        <p:nvCxnSpPr>
          <p:cNvPr id="44" name="Connector 43"/>
          <p:cNvCxnSpPr/>
          <p:nvPr/>
        </p:nvCxnSpPr>
        <p:spPr>
          <a:xfrm>
            <a:off x="4937760" y="4745736"/>
            <a:ext cx="6629400" cy="0"/>
          </a:xfrm>
          <a:prstGeom prst="line">
            <a:avLst/>
          </a:prstGeom>
          <a:ln w="9525">
            <a:solidFill>
              <a:srgbClr val="1D3557"/>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937760" y="4773168"/>
            <a:ext cx="1737360" cy="457200"/>
          </a:xfrm>
          <a:prstGeom prst="rect">
            <a:avLst/>
          </a:prstGeom>
          <a:noFill/>
        </p:spPr>
        <p:txBody>
          <a:bodyPr wrap="square" anchor="ctr" lIns="45720" rIns="45720" tIns="27432" bIns="27432">
            <a:spAutoFit/>
          </a:bodyPr>
          <a:lstStyle/>
          <a:p>
            <a:pPr algn="l">
              <a:lnSpc>
                <a:spcPct val="105000"/>
              </a:lnSpc>
            </a:pPr>
            <a:r>
              <a:rPr sz="1700" b="1" i="0">
                <a:solidFill>
                  <a:srgbClr val="1F2430"/>
                </a:solidFill>
                <a:latin typeface="PT Sans"/>
              </a:rPr>
              <a:t>Баары</a:t>
            </a:r>
          </a:p>
        </p:txBody>
      </p:sp>
      <p:sp>
        <p:nvSpPr>
          <p:cNvPr id="46" name="TextBox 45"/>
          <p:cNvSpPr txBox="1"/>
          <p:nvPr/>
        </p:nvSpPr>
        <p:spPr>
          <a:xfrm>
            <a:off x="6675120" y="4773168"/>
            <a:ext cx="1188720" cy="457200"/>
          </a:xfrm>
          <a:prstGeom prst="rect">
            <a:avLst/>
          </a:prstGeom>
          <a:noFill/>
        </p:spPr>
        <p:txBody>
          <a:bodyPr wrap="square" anchor="ctr" lIns="45720" rIns="45720" tIns="27432" bIns="27432">
            <a:spAutoFit/>
          </a:bodyPr>
          <a:lstStyle/>
          <a:p>
            <a:pPr algn="l">
              <a:lnSpc>
                <a:spcPct val="105000"/>
              </a:lnSpc>
            </a:pPr>
            <a:r>
              <a:rPr sz="1700" b="1" i="0">
                <a:solidFill>
                  <a:srgbClr val="1F2430"/>
                </a:solidFill>
                <a:latin typeface="PT Sans"/>
              </a:rPr>
              <a:t>36</a:t>
            </a:r>
          </a:p>
        </p:txBody>
      </p:sp>
      <p:sp>
        <p:nvSpPr>
          <p:cNvPr id="47" name="TextBox 46"/>
          <p:cNvSpPr txBox="1"/>
          <p:nvPr/>
        </p:nvSpPr>
        <p:spPr>
          <a:xfrm>
            <a:off x="7863840" y="4773168"/>
            <a:ext cx="1463040" cy="457200"/>
          </a:xfrm>
          <a:prstGeom prst="rect">
            <a:avLst/>
          </a:prstGeom>
          <a:noFill/>
        </p:spPr>
        <p:txBody>
          <a:bodyPr wrap="square" anchor="ctr" lIns="45720" rIns="45720" tIns="27432" bIns="27432">
            <a:spAutoFit/>
          </a:bodyPr>
          <a:lstStyle/>
          <a:p>
            <a:pPr algn="l">
              <a:lnSpc>
                <a:spcPct val="105000"/>
              </a:lnSpc>
            </a:pPr>
            <a:r>
              <a:rPr sz="1700" b="1" i="0">
                <a:solidFill>
                  <a:srgbClr val="1F2430"/>
                </a:solidFill>
                <a:latin typeface="PT Sans"/>
              </a:rPr>
              <a:t>36/36 = 1</a:t>
            </a:r>
          </a:p>
        </p:txBody>
      </p:sp>
      <p:sp>
        <p:nvSpPr>
          <p:cNvPr id="48" name="TextBox 47"/>
          <p:cNvSpPr txBox="1"/>
          <p:nvPr/>
        </p:nvSpPr>
        <p:spPr>
          <a:xfrm>
            <a:off x="9326880" y="4773168"/>
            <a:ext cx="2286000" cy="457200"/>
          </a:xfrm>
          <a:prstGeom prst="rect">
            <a:avLst/>
          </a:prstGeom>
          <a:noFill/>
        </p:spPr>
        <p:txBody>
          <a:bodyPr wrap="square" anchor="ctr" lIns="45720" rIns="45720" tIns="27432" bIns="27432">
            <a:spAutoFit/>
          </a:bodyPr>
          <a:lstStyle/>
          <a:p>
            <a:pPr algn="l">
              <a:lnSpc>
                <a:spcPct val="105000"/>
              </a:lnSpc>
            </a:pPr>
            <a:r>
              <a:rPr sz="1700" b="1" i="0">
                <a:solidFill>
                  <a:srgbClr val="24418C"/>
                </a:solidFill>
                <a:latin typeface="PT Sans"/>
              </a:rPr>
              <a:t>360°</a:t>
            </a:r>
          </a:p>
        </p:txBody>
      </p:sp>
      <p:sp>
        <p:nvSpPr>
          <p:cNvPr id="49" name="TextBox 48"/>
          <p:cNvSpPr txBox="1"/>
          <p:nvPr/>
        </p:nvSpPr>
        <p:spPr>
          <a:xfrm>
            <a:off x="429768" y="5623560"/>
            <a:ext cx="11329416" cy="457200"/>
          </a:xfrm>
          <a:prstGeom prst="rect">
            <a:avLst/>
          </a:prstGeom>
          <a:noFill/>
        </p:spPr>
        <p:txBody>
          <a:bodyPr wrap="square" anchor="t" lIns="45720" rIns="45720" tIns="27432" bIns="27432">
            <a:spAutoFit/>
          </a:bodyPr>
          <a:lstStyle/>
          <a:p>
            <a:pPr algn="ctr">
              <a:lnSpc>
                <a:spcPct val="105000"/>
              </a:lnSpc>
            </a:pPr>
            <a:r>
              <a:rPr sz="2200" b="1" i="0">
                <a:solidFill>
                  <a:srgbClr val="24418C"/>
                </a:solidFill>
                <a:latin typeface="PT Sans"/>
              </a:rPr>
              <a:t>15 × 10° = 150°;  9 × 10° = 90°;  8 × 10° = 80°;  4 × 10° = 40°</a:t>
            </a:r>
          </a:p>
        </p:txBody>
      </p:sp>
      <p:sp>
        <p:nvSpPr>
          <p:cNvPr id="50" name="Rounded Rectangle 49"/>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51" name="Rounded Rectangle 50"/>
          <p:cNvSpPr/>
          <p:nvPr/>
        </p:nvSpPr>
        <p:spPr>
          <a:xfrm>
            <a:off x="896111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С</a:t>
            </a:r>
          </a:p>
        </p:txBody>
      </p:sp>
      <p:sp>
        <p:nvSpPr>
          <p:cNvPr id="52" name="Rounded Rectangle 51"/>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
        <p:nvSpPr>
          <p:cNvPr id="53" name="Rounded Rectangle 52"/>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А: эреже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13/26</a:t>
            </a:r>
          </a:p>
        </p:txBody>
      </p:sp>
      <p:sp>
        <p:nvSpPr>
          <p:cNvPr id="10" name="Rounded Rectangle 9"/>
          <p:cNvSpPr/>
          <p:nvPr/>
        </p:nvSpPr>
        <p:spPr>
          <a:xfrm>
            <a:off x="429768"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23035"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1</a:t>
            </a:r>
          </a:p>
        </p:txBody>
      </p:sp>
      <p:sp>
        <p:nvSpPr>
          <p:cNvPr id="12" name="TextBox 11"/>
          <p:cNvSpPr txBox="1"/>
          <p:nvPr/>
        </p:nvSpPr>
        <p:spPr>
          <a:xfrm>
            <a:off x="521207"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360°</a:t>
            </a:r>
          </a:p>
        </p:txBody>
      </p:sp>
      <p:sp>
        <p:nvSpPr>
          <p:cNvPr id="13" name="TextBox 12"/>
          <p:cNvSpPr txBox="1"/>
          <p:nvPr/>
        </p:nvSpPr>
        <p:spPr>
          <a:xfrm>
            <a:off x="521207"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Бүтүн</a:t>
            </a:r>
          </a:p>
        </p:txBody>
      </p:sp>
      <p:sp>
        <p:nvSpPr>
          <p:cNvPr id="14" name="TextBox 13"/>
          <p:cNvSpPr txBox="1"/>
          <p:nvPr/>
        </p:nvSpPr>
        <p:spPr>
          <a:xfrm>
            <a:off x="566928"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360° = 100% = баары</a:t>
            </a:r>
          </a:p>
        </p:txBody>
      </p:sp>
      <p:cxnSp>
        <p:nvCxnSpPr>
          <p:cNvPr id="15" name="Connector 14"/>
          <p:cNvCxnSpPr/>
          <p:nvPr/>
        </p:nvCxnSpPr>
        <p:spPr>
          <a:xfrm>
            <a:off x="3056382"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330702"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323969"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2</a:t>
            </a:r>
          </a:p>
        </p:txBody>
      </p:sp>
      <p:sp>
        <p:nvSpPr>
          <p:cNvPr id="18" name="TextBox 17"/>
          <p:cNvSpPr txBox="1"/>
          <p:nvPr/>
        </p:nvSpPr>
        <p:spPr>
          <a:xfrm>
            <a:off x="3422142"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a:t>
            </a:r>
          </a:p>
        </p:txBody>
      </p:sp>
      <p:sp>
        <p:nvSpPr>
          <p:cNvPr id="19" name="TextBox 18"/>
          <p:cNvSpPr txBox="1"/>
          <p:nvPr/>
        </p:nvSpPr>
        <p:spPr>
          <a:xfrm>
            <a:off x="3422142"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Бир бирдик</a:t>
            </a:r>
          </a:p>
        </p:txBody>
      </p:sp>
      <p:sp>
        <p:nvSpPr>
          <p:cNvPr id="20" name="TextBox 19"/>
          <p:cNvSpPr txBox="1"/>
          <p:nvPr/>
        </p:nvSpPr>
        <p:spPr>
          <a:xfrm>
            <a:off x="3467862"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360° ÷ жалпы саны</a:t>
            </a:r>
          </a:p>
        </p:txBody>
      </p:sp>
      <p:cxnSp>
        <p:nvCxnSpPr>
          <p:cNvPr id="21" name="Connector 20"/>
          <p:cNvCxnSpPr/>
          <p:nvPr/>
        </p:nvCxnSpPr>
        <p:spPr>
          <a:xfrm>
            <a:off x="5957316"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31636"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224902"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3</a:t>
            </a:r>
          </a:p>
        </p:txBody>
      </p:sp>
      <p:sp>
        <p:nvSpPr>
          <p:cNvPr id="24" name="TextBox 23"/>
          <p:cNvSpPr txBox="1"/>
          <p:nvPr/>
        </p:nvSpPr>
        <p:spPr>
          <a:xfrm>
            <a:off x="6323075"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a:t>
            </a:r>
          </a:p>
        </p:txBody>
      </p:sp>
      <p:sp>
        <p:nvSpPr>
          <p:cNvPr id="25" name="TextBox 24"/>
          <p:cNvSpPr txBox="1"/>
          <p:nvPr/>
        </p:nvSpPr>
        <p:spPr>
          <a:xfrm>
            <a:off x="6323075"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Бурч</a:t>
            </a:r>
          </a:p>
        </p:txBody>
      </p:sp>
      <p:sp>
        <p:nvSpPr>
          <p:cNvPr id="26" name="TextBox 25"/>
          <p:cNvSpPr txBox="1"/>
          <p:nvPr/>
        </p:nvSpPr>
        <p:spPr>
          <a:xfrm>
            <a:off x="6368796"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саны × бир бирдик</a:t>
            </a:r>
          </a:p>
        </p:txBody>
      </p:sp>
      <p:cxnSp>
        <p:nvCxnSpPr>
          <p:cNvPr id="27" name="Connector 26"/>
          <p:cNvCxnSpPr/>
          <p:nvPr/>
        </p:nvCxnSpPr>
        <p:spPr>
          <a:xfrm>
            <a:off x="8858250"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132570"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25837"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4</a:t>
            </a:r>
          </a:p>
        </p:txBody>
      </p:sp>
      <p:sp>
        <p:nvSpPr>
          <p:cNvPr id="30" name="TextBox 29"/>
          <p:cNvSpPr txBox="1"/>
          <p:nvPr/>
        </p:nvSpPr>
        <p:spPr>
          <a:xfrm>
            <a:off x="9224010"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a:t>
            </a:r>
          </a:p>
        </p:txBody>
      </p:sp>
      <p:sp>
        <p:nvSpPr>
          <p:cNvPr id="31" name="TextBox 30"/>
          <p:cNvSpPr txBox="1"/>
          <p:nvPr/>
        </p:nvSpPr>
        <p:spPr>
          <a:xfrm>
            <a:off x="9224010"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Сан</a:t>
            </a:r>
          </a:p>
        </p:txBody>
      </p:sp>
      <p:sp>
        <p:nvSpPr>
          <p:cNvPr id="32" name="TextBox 31"/>
          <p:cNvSpPr txBox="1"/>
          <p:nvPr/>
        </p:nvSpPr>
        <p:spPr>
          <a:xfrm>
            <a:off x="9269730"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бурч ÷ бир бирдик</a:t>
            </a:r>
          </a:p>
        </p:txBody>
      </p:sp>
      <p:sp>
        <p:nvSpPr>
          <p:cNvPr id="33" name="Rounded Rectangle 32"/>
          <p:cNvSpPr/>
          <p:nvPr/>
        </p:nvSpPr>
        <p:spPr>
          <a:xfrm>
            <a:off x="1874519" y="4709160"/>
            <a:ext cx="8449056" cy="758952"/>
          </a:xfrm>
          <a:prstGeom prst="roundRect">
            <a:avLst>
              <a:gd name="adj" fmla="val 244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600" b="1">
                <a:solidFill>
                  <a:srgbClr val="A84400"/>
                </a:solidFill>
                <a:latin typeface="PT Sans"/>
              </a:rPr>
              <a:t>Салыштыруудан мурун: ар бир диаграмманы санга айландыр!</a:t>
            </a:r>
          </a:p>
        </p:txBody>
      </p:sp>
      <p:sp>
        <p:nvSpPr>
          <p:cNvPr id="34" name="Rounded Rectangle 33"/>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5" name="Rounded Rectangle 34"/>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6" name="Rounded Rectangle 35"/>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Мисал 1: мен көрсөтөм</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14/26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6Б (24 окуучу): палоо 12, лагман 6, манты 4, ашлямфу 2. Ар бир сектордун бурчу канча?</a:t>
            </a:r>
          </a:p>
        </p:txBody>
      </p:sp>
      <p:sp>
        <p:nvSpPr>
          <p:cNvPr id="12" name="TextBox 11"/>
          <p:cNvSpPr txBox="1"/>
          <p:nvPr/>
        </p:nvSpPr>
        <p:spPr>
          <a:xfrm>
            <a:off x="731520" y="2240280"/>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360° ÷ 24 = 15°</a:t>
            </a:r>
          </a:p>
        </p:txBody>
      </p:sp>
      <p:sp>
        <p:nvSpPr>
          <p:cNvPr id="13" name="TextBox 12"/>
          <p:cNvSpPr txBox="1"/>
          <p:nvPr/>
        </p:nvSpPr>
        <p:spPr>
          <a:xfrm>
            <a:off x="8366760" y="2240280"/>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1 окуучу</a:t>
            </a:r>
          </a:p>
        </p:txBody>
      </p:sp>
      <p:sp>
        <p:nvSpPr>
          <p:cNvPr id="14" name="TextBox 13"/>
          <p:cNvSpPr txBox="1"/>
          <p:nvPr/>
        </p:nvSpPr>
        <p:spPr>
          <a:xfrm>
            <a:off x="731520" y="2898648"/>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12 × 15° = 180°</a:t>
            </a:r>
          </a:p>
        </p:txBody>
      </p:sp>
      <p:sp>
        <p:nvSpPr>
          <p:cNvPr id="15" name="TextBox 14"/>
          <p:cNvSpPr txBox="1"/>
          <p:nvPr/>
        </p:nvSpPr>
        <p:spPr>
          <a:xfrm>
            <a:off x="8366760" y="2898648"/>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палоо</a:t>
            </a:r>
          </a:p>
        </p:txBody>
      </p:sp>
      <p:sp>
        <p:nvSpPr>
          <p:cNvPr id="16" name="TextBox 15"/>
          <p:cNvSpPr txBox="1"/>
          <p:nvPr/>
        </p:nvSpPr>
        <p:spPr>
          <a:xfrm>
            <a:off x="731520" y="3557016"/>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6 × 15° = 90°</a:t>
            </a:r>
          </a:p>
        </p:txBody>
      </p:sp>
      <p:sp>
        <p:nvSpPr>
          <p:cNvPr id="17" name="TextBox 16"/>
          <p:cNvSpPr txBox="1"/>
          <p:nvPr/>
        </p:nvSpPr>
        <p:spPr>
          <a:xfrm>
            <a:off x="8366760" y="3557016"/>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лагман</a:t>
            </a:r>
          </a:p>
        </p:txBody>
      </p:sp>
      <p:sp>
        <p:nvSpPr>
          <p:cNvPr id="18" name="TextBox 17"/>
          <p:cNvSpPr txBox="1"/>
          <p:nvPr/>
        </p:nvSpPr>
        <p:spPr>
          <a:xfrm>
            <a:off x="731520" y="4215384"/>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4 × 15° = 60°;  2 × 15° = 30°</a:t>
            </a:r>
          </a:p>
        </p:txBody>
      </p:sp>
      <p:sp>
        <p:nvSpPr>
          <p:cNvPr id="19" name="TextBox 18"/>
          <p:cNvSpPr txBox="1"/>
          <p:nvPr/>
        </p:nvSpPr>
        <p:spPr>
          <a:xfrm>
            <a:off x="8366760" y="4215384"/>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манты, ашлямфу</a:t>
            </a:r>
          </a:p>
        </p:txBody>
      </p:sp>
      <p:sp>
        <p:nvSpPr>
          <p:cNvPr id="20" name="TextBox 19"/>
          <p:cNvSpPr txBox="1"/>
          <p:nvPr/>
        </p:nvSpPr>
        <p:spPr>
          <a:xfrm>
            <a:off x="731520" y="4873752"/>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24418C"/>
                </a:solidFill>
                <a:latin typeface="PT Sans"/>
              </a:rPr>
              <a:t>180° + 90° + 60° + 30° = 360°</a:t>
            </a:r>
          </a:p>
        </p:txBody>
      </p:sp>
      <p:sp>
        <p:nvSpPr>
          <p:cNvPr id="21" name="TextBox 20"/>
          <p:cNvSpPr txBox="1"/>
          <p:nvPr/>
        </p:nvSpPr>
        <p:spPr>
          <a:xfrm>
            <a:off x="8366760" y="4873752"/>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текшер</a:t>
            </a:r>
          </a:p>
        </p:txBody>
      </p:sp>
      <p:sp>
        <p:nvSpPr>
          <p:cNvPr id="22" name="TextBox 21"/>
          <p:cNvSpPr txBox="1"/>
          <p:nvPr/>
        </p:nvSpPr>
        <p:spPr>
          <a:xfrm>
            <a:off x="429768" y="5596128"/>
            <a:ext cx="11329416" cy="640080"/>
          </a:xfrm>
          <a:prstGeom prst="rect">
            <a:avLst/>
          </a:prstGeom>
          <a:noFill/>
        </p:spPr>
        <p:txBody>
          <a:bodyPr wrap="square" anchor="t" lIns="45720" rIns="45720" tIns="27432" bIns="27432">
            <a:spAutoFit/>
          </a:bodyPr>
          <a:lstStyle/>
          <a:p>
            <a:pPr algn="ctr">
              <a:lnSpc>
                <a:spcPct val="105000"/>
              </a:lnSpc>
            </a:pPr>
            <a:r>
              <a:rPr sz="3400" b="1" i="0">
                <a:solidFill>
                  <a:srgbClr val="1F2430"/>
                </a:solidFill>
                <a:latin typeface="PT Sans"/>
              </a:rPr>
              <a:t>Бурчтар = </a:t>
            </a:r>
            <a:r>
              <a:rPr sz="3400" b="1">
                <a:solidFill>
                  <a:srgbClr val="24418C"/>
                </a:solidFill>
                <a:latin typeface="PT Sans"/>
              </a:rPr>
              <a:t>180°, 90°, 60°,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Мисал 2: мен көрсөтөм</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15/26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Чолпон эженин бюджети 12 000 сом. Жашылчанын сектору 54°. Жашылчага канча сом?</a:t>
            </a:r>
          </a:p>
        </p:txBody>
      </p:sp>
      <p:sp>
        <p:nvSpPr>
          <p:cNvPr id="12" name="TextBox 11"/>
          <p:cNvSpPr txBox="1"/>
          <p:nvPr/>
        </p:nvSpPr>
        <p:spPr>
          <a:xfrm>
            <a:off x="731520" y="2240280"/>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54° ÷ 360° = 3/20</a:t>
            </a:r>
          </a:p>
        </p:txBody>
      </p:sp>
      <p:sp>
        <p:nvSpPr>
          <p:cNvPr id="13" name="TextBox 12"/>
          <p:cNvSpPr txBox="1"/>
          <p:nvPr/>
        </p:nvSpPr>
        <p:spPr>
          <a:xfrm>
            <a:off x="8366760" y="2240280"/>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бөлүгү</a:t>
            </a:r>
          </a:p>
        </p:txBody>
      </p:sp>
      <p:sp>
        <p:nvSpPr>
          <p:cNvPr id="14" name="TextBox 13"/>
          <p:cNvSpPr txBox="1"/>
          <p:nvPr/>
        </p:nvSpPr>
        <p:spPr>
          <a:xfrm>
            <a:off x="731520" y="2898648"/>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12 000 ÷ 20 = 600</a:t>
            </a:r>
          </a:p>
        </p:txBody>
      </p:sp>
      <p:sp>
        <p:nvSpPr>
          <p:cNvPr id="15" name="TextBox 14"/>
          <p:cNvSpPr txBox="1"/>
          <p:nvPr/>
        </p:nvSpPr>
        <p:spPr>
          <a:xfrm>
            <a:off x="8366760" y="2898648"/>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1/20</a:t>
            </a:r>
          </a:p>
        </p:txBody>
      </p:sp>
      <p:sp>
        <p:nvSpPr>
          <p:cNvPr id="16" name="TextBox 15"/>
          <p:cNvSpPr txBox="1"/>
          <p:nvPr/>
        </p:nvSpPr>
        <p:spPr>
          <a:xfrm>
            <a:off x="731520" y="3557016"/>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24418C"/>
                </a:solidFill>
                <a:latin typeface="PT Sans"/>
              </a:rPr>
              <a:t>600 × 3 = 1 800</a:t>
            </a:r>
          </a:p>
        </p:txBody>
      </p:sp>
      <p:sp>
        <p:nvSpPr>
          <p:cNvPr id="17" name="TextBox 16"/>
          <p:cNvSpPr txBox="1"/>
          <p:nvPr/>
        </p:nvSpPr>
        <p:spPr>
          <a:xfrm>
            <a:off x="8366760" y="3557016"/>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3/20</a:t>
            </a:r>
          </a:p>
        </p:txBody>
      </p:sp>
      <p:sp>
        <p:nvSpPr>
          <p:cNvPr id="18" name="TextBox 17"/>
          <p:cNvSpPr txBox="1"/>
          <p:nvPr/>
        </p:nvSpPr>
        <p:spPr>
          <a:xfrm>
            <a:off x="429768" y="5596128"/>
            <a:ext cx="11329416" cy="640080"/>
          </a:xfrm>
          <a:prstGeom prst="rect">
            <a:avLst/>
          </a:prstGeom>
          <a:noFill/>
        </p:spPr>
        <p:txBody>
          <a:bodyPr wrap="square" anchor="t" lIns="45720" rIns="45720" tIns="27432" bIns="27432">
            <a:spAutoFit/>
          </a:bodyPr>
          <a:lstStyle/>
          <a:p>
            <a:pPr algn="ctr">
              <a:lnSpc>
                <a:spcPct val="105000"/>
              </a:lnSpc>
            </a:pPr>
            <a:r>
              <a:rPr sz="3400" b="1" i="0">
                <a:solidFill>
                  <a:srgbClr val="1F2430"/>
                </a:solidFill>
                <a:latin typeface="PT Sans"/>
              </a:rPr>
              <a:t>Жашылча = </a:t>
            </a:r>
            <a:r>
              <a:rPr sz="3400" b="1">
                <a:solidFill>
                  <a:srgbClr val="24418C"/>
                </a:solidFill>
                <a:latin typeface="PT Sans"/>
              </a:rPr>
              <a:t>1 800 сом</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Оозеки ыкма: бурч, бирдик, 10%</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16/26</a:t>
            </a:r>
          </a:p>
        </p:txBody>
      </p:sp>
      <p:sp>
        <p:nvSpPr>
          <p:cNvPr id="10" name="Rounded Rectangle 9"/>
          <p:cNvSpPr/>
          <p:nvPr/>
        </p:nvSpPr>
        <p:spPr>
          <a:xfrm>
            <a:off x="429768"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2" name="TextBox 11"/>
          <p:cNvSpPr txBox="1"/>
          <p:nvPr/>
        </p:nvSpPr>
        <p:spPr>
          <a:xfrm>
            <a:off x="1207007"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Белгилүү бурчтар</a:t>
            </a:r>
          </a:p>
        </p:txBody>
      </p:sp>
      <p:sp>
        <p:nvSpPr>
          <p:cNvPr id="13" name="TextBox 12"/>
          <p:cNvSpPr txBox="1"/>
          <p:nvPr/>
        </p:nvSpPr>
        <p:spPr>
          <a:xfrm>
            <a:off x="658368"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180° = 1/2 = 50%</a:t>
            </a:r>
          </a:p>
        </p:txBody>
      </p:sp>
      <p:sp>
        <p:nvSpPr>
          <p:cNvPr id="14" name="TextBox 13"/>
          <p:cNvSpPr txBox="1"/>
          <p:nvPr/>
        </p:nvSpPr>
        <p:spPr>
          <a:xfrm>
            <a:off x="658368"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90° = 1/4 = 25%</a:t>
            </a:r>
          </a:p>
        </p:txBody>
      </p:sp>
      <p:sp>
        <p:nvSpPr>
          <p:cNvPr id="15" name="TextBox 14"/>
          <p:cNvSpPr txBox="1"/>
          <p:nvPr/>
        </p:nvSpPr>
        <p:spPr>
          <a:xfrm>
            <a:off x="658368"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120° = 1/3</a:t>
            </a:r>
          </a:p>
        </p:txBody>
      </p:sp>
      <p:sp>
        <p:nvSpPr>
          <p:cNvPr id="16" name="TextBox 15"/>
          <p:cNvSpPr txBox="1"/>
          <p:nvPr/>
        </p:nvSpPr>
        <p:spPr>
          <a:xfrm>
            <a:off x="658368" y="3895344"/>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36° = 1/10 = 10%</a:t>
            </a:r>
          </a:p>
        </p:txBody>
      </p:sp>
      <p:sp>
        <p:nvSpPr>
          <p:cNvPr id="17" name="TextBox 16"/>
          <p:cNvSpPr txBox="1"/>
          <p:nvPr/>
        </p:nvSpPr>
        <p:spPr>
          <a:xfrm>
            <a:off x="658368"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Бул бурчтарды жатка бил: эсептебей көрөсүң.</a:t>
            </a:r>
          </a:p>
        </p:txBody>
      </p:sp>
      <p:sp>
        <p:nvSpPr>
          <p:cNvPr id="18" name="Rounded Rectangle 17"/>
          <p:cNvSpPr/>
          <p:nvPr/>
        </p:nvSpPr>
        <p:spPr>
          <a:xfrm>
            <a:off x="4297680"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80560"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20" name="TextBox 19"/>
          <p:cNvSpPr txBox="1"/>
          <p:nvPr/>
        </p:nvSpPr>
        <p:spPr>
          <a:xfrm>
            <a:off x="5074920"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Адегенде бир бирдик</a:t>
            </a:r>
          </a:p>
        </p:txBody>
      </p:sp>
      <p:sp>
        <p:nvSpPr>
          <p:cNvPr id="21" name="TextBox 20"/>
          <p:cNvSpPr txBox="1"/>
          <p:nvPr/>
        </p:nvSpPr>
        <p:spPr>
          <a:xfrm>
            <a:off x="4526280"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36 окуучу</a:t>
            </a:r>
          </a:p>
        </p:txBody>
      </p:sp>
      <p:sp>
        <p:nvSpPr>
          <p:cNvPr id="22" name="TextBox 21"/>
          <p:cNvSpPr txBox="1"/>
          <p:nvPr/>
        </p:nvSpPr>
        <p:spPr>
          <a:xfrm>
            <a:off x="4526280"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360° ÷ 36 = 10°</a:t>
            </a:r>
          </a:p>
        </p:txBody>
      </p:sp>
      <p:sp>
        <p:nvSpPr>
          <p:cNvPr id="23" name="TextBox 22"/>
          <p:cNvSpPr txBox="1"/>
          <p:nvPr/>
        </p:nvSpPr>
        <p:spPr>
          <a:xfrm>
            <a:off x="4526280"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9 окуучу:</a:t>
            </a:r>
          </a:p>
        </p:txBody>
      </p:sp>
      <p:sp>
        <p:nvSpPr>
          <p:cNvPr id="24" name="TextBox 23"/>
          <p:cNvSpPr txBox="1"/>
          <p:nvPr/>
        </p:nvSpPr>
        <p:spPr>
          <a:xfrm>
            <a:off x="4526280" y="3895344"/>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9 × 10° = 90°</a:t>
            </a:r>
          </a:p>
        </p:txBody>
      </p:sp>
      <p:sp>
        <p:nvSpPr>
          <p:cNvPr id="25" name="TextBox 24"/>
          <p:cNvSpPr txBox="1"/>
          <p:nvPr/>
        </p:nvSpPr>
        <p:spPr>
          <a:xfrm>
            <a:off x="4526280"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Бир окуучунун бурчу – ачкыч.</a:t>
            </a:r>
          </a:p>
        </p:txBody>
      </p:sp>
      <p:sp>
        <p:nvSpPr>
          <p:cNvPr id="26" name="Rounded Rectangle 25"/>
          <p:cNvSpPr/>
          <p:nvPr/>
        </p:nvSpPr>
        <p:spPr>
          <a:xfrm>
            <a:off x="8165592"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348472"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28" name="TextBox 27"/>
          <p:cNvSpPr txBox="1"/>
          <p:nvPr/>
        </p:nvSpPr>
        <p:spPr>
          <a:xfrm>
            <a:off x="8942832"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10% = 36°</a:t>
            </a:r>
          </a:p>
        </p:txBody>
      </p:sp>
      <p:sp>
        <p:nvSpPr>
          <p:cNvPr id="29" name="TextBox 28"/>
          <p:cNvSpPr txBox="1"/>
          <p:nvPr/>
        </p:nvSpPr>
        <p:spPr>
          <a:xfrm>
            <a:off x="8394192"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15% = 10% + 5%</a:t>
            </a:r>
          </a:p>
        </p:txBody>
      </p:sp>
      <p:sp>
        <p:nvSpPr>
          <p:cNvPr id="30" name="TextBox 29"/>
          <p:cNvSpPr txBox="1"/>
          <p:nvPr/>
        </p:nvSpPr>
        <p:spPr>
          <a:xfrm>
            <a:off x="8394192"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 36° + 18°</a:t>
            </a:r>
          </a:p>
        </p:txBody>
      </p:sp>
      <p:sp>
        <p:nvSpPr>
          <p:cNvPr id="31" name="TextBox 30"/>
          <p:cNvSpPr txBox="1"/>
          <p:nvPr/>
        </p:nvSpPr>
        <p:spPr>
          <a:xfrm>
            <a:off x="8394192"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54°</a:t>
            </a:r>
          </a:p>
        </p:txBody>
      </p:sp>
      <p:sp>
        <p:nvSpPr>
          <p:cNvPr id="32" name="TextBox 31"/>
          <p:cNvSpPr txBox="1"/>
          <p:nvPr/>
        </p:nvSpPr>
        <p:spPr>
          <a:xfrm>
            <a:off x="8394192"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Пайыздан бурчка: 10% жана 5%тен түз.</a:t>
            </a:r>
          </a:p>
        </p:txBody>
      </p:sp>
      <p:sp>
        <p:nvSpPr>
          <p:cNvPr id="33" name="Rounded Rectangle 32"/>
          <p:cNvSpPr/>
          <p:nvPr/>
        </p:nvSpPr>
        <p:spPr>
          <a:xfrm>
            <a:off x="429768" y="5577840"/>
            <a:ext cx="11329416" cy="502920"/>
          </a:xfrm>
          <a:prstGeom prst="roundRect">
            <a:avLst>
              <a:gd name="adj" fmla="val 40000"/>
            </a:avLst>
          </a:prstGeom>
          <a:solidFill>
            <a:srgbClr val="FFFFFF"/>
          </a:solidFill>
          <a:ln w="2222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700" b="1">
                <a:solidFill>
                  <a:srgbClr val="007A5A"/>
                </a:solidFill>
                <a:latin typeface="PT Sans"/>
              </a:rPr>
              <a:t>Болжолдо (чейрекпи, жарымбы?) → эсепте → 360°ты текшер.</a:t>
            </a:r>
          </a:p>
        </p:txBody>
      </p:sp>
      <p:sp>
        <p:nvSpPr>
          <p:cNvPr id="34" name="Rounded Rectangle 33"/>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
        <p:nvSpPr>
          <p:cNvPr id="35" name="Rounded Rectangle 34"/>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6" name="Rounded Rectangle 35"/>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7" name="Rounded Rectangle 36"/>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Чечүүчү суроо</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17/26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200" b="0" i="0">
                <a:solidFill>
                  <a:srgbClr val="1F2430"/>
                </a:solidFill>
                <a:latin typeface="PT Sans"/>
              </a:rPr>
              <a:t>6А классында 36 окуучу. Тегерек диаграммада лагман сектору 90°. Лагманды канча окуучу тандады?</a:t>
            </a:r>
          </a:p>
        </p:txBody>
      </p:sp>
      <p:sp>
        <p:nvSpPr>
          <p:cNvPr id="12" name="Rounded Rectangle 11"/>
          <p:cNvSpPr/>
          <p:nvPr/>
        </p:nvSpPr>
        <p:spPr>
          <a:xfrm>
            <a:off x="429768" y="228600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04088" y="274320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А</a:t>
            </a:r>
          </a:p>
        </p:txBody>
      </p:sp>
      <p:sp>
        <p:nvSpPr>
          <p:cNvPr id="14" name="TextBox 13"/>
          <p:cNvSpPr txBox="1"/>
          <p:nvPr/>
        </p:nvSpPr>
        <p:spPr>
          <a:xfrm>
            <a:off x="1527048" y="228600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90</a:t>
            </a:r>
          </a:p>
        </p:txBody>
      </p:sp>
      <p:sp>
        <p:nvSpPr>
          <p:cNvPr id="15" name="Rounded Rectangle 14"/>
          <p:cNvSpPr/>
          <p:nvPr/>
        </p:nvSpPr>
        <p:spPr>
          <a:xfrm>
            <a:off x="6208776" y="228600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83096" y="274320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Б</a:t>
            </a:r>
          </a:p>
        </p:txBody>
      </p:sp>
      <p:sp>
        <p:nvSpPr>
          <p:cNvPr id="17" name="TextBox 16"/>
          <p:cNvSpPr txBox="1"/>
          <p:nvPr/>
        </p:nvSpPr>
        <p:spPr>
          <a:xfrm>
            <a:off x="7306056" y="228600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4</a:t>
            </a:r>
          </a:p>
        </p:txBody>
      </p:sp>
      <p:sp>
        <p:nvSpPr>
          <p:cNvPr id="18" name="Rounded Rectangle 17"/>
          <p:cNvSpPr/>
          <p:nvPr/>
        </p:nvSpPr>
        <p:spPr>
          <a:xfrm>
            <a:off x="429768" y="402336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4088" y="448056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В</a:t>
            </a:r>
          </a:p>
        </p:txBody>
      </p:sp>
      <p:sp>
        <p:nvSpPr>
          <p:cNvPr id="20" name="TextBox 19"/>
          <p:cNvSpPr txBox="1"/>
          <p:nvPr/>
        </p:nvSpPr>
        <p:spPr>
          <a:xfrm>
            <a:off x="1527048" y="402336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9</a:t>
            </a:r>
          </a:p>
        </p:txBody>
      </p:sp>
      <p:sp>
        <p:nvSpPr>
          <p:cNvPr id="21" name="Rounded Rectangle 20"/>
          <p:cNvSpPr/>
          <p:nvPr/>
        </p:nvSpPr>
        <p:spPr>
          <a:xfrm>
            <a:off x="6208776" y="402336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83096" y="448056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Г</a:t>
            </a:r>
          </a:p>
        </p:txBody>
      </p:sp>
      <p:sp>
        <p:nvSpPr>
          <p:cNvPr id="23" name="TextBox 22"/>
          <p:cNvSpPr txBox="1"/>
          <p:nvPr/>
        </p:nvSpPr>
        <p:spPr>
          <a:xfrm>
            <a:off x="7306056" y="402336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25</a:t>
            </a:r>
          </a:p>
        </p:txBody>
      </p:sp>
      <p:sp>
        <p:nvSpPr>
          <p:cNvPr id="24" name="Rounded Rectangle 23"/>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Диаграмма машыгуусу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18/26</a:t>
            </a:r>
          </a:p>
        </p:txBody>
      </p:sp>
      <p:sp>
        <p:nvSpPr>
          <p:cNvPr id="10" name="Rounded Rectangle 9"/>
          <p:cNvSpPr/>
          <p:nvPr/>
        </p:nvSpPr>
        <p:spPr>
          <a:xfrm>
            <a:off x="429768"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024128"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6А классында 36 окуучу. Тегерек диаграммада манты сектору 80°. Мантыны канча окуучу тандады?</a:t>
            </a:r>
          </a:p>
        </p:txBody>
      </p:sp>
      <p:sp>
        <p:nvSpPr>
          <p:cNvPr id="13" name="TextBox 12"/>
          <p:cNvSpPr txBox="1"/>
          <p:nvPr/>
        </p:nvSpPr>
        <p:spPr>
          <a:xfrm>
            <a:off x="704088"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Тегеректи же тилкени бул жерге чий</a:t>
            </a:r>
          </a:p>
        </p:txBody>
      </p:sp>
      <p:sp>
        <p:nvSpPr>
          <p:cNvPr id="14" name="TextBox 13"/>
          <p:cNvSpPr txBox="1"/>
          <p:nvPr/>
        </p:nvSpPr>
        <p:spPr>
          <a:xfrm>
            <a:off x="612647"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15" name="Connector 14"/>
          <p:cNvCxnSpPr/>
          <p:nvPr/>
        </p:nvCxnSpPr>
        <p:spPr>
          <a:xfrm>
            <a:off x="2167128" y="4956048"/>
            <a:ext cx="170383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7"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17" name="Connector 16"/>
          <p:cNvCxnSpPr/>
          <p:nvPr/>
        </p:nvCxnSpPr>
        <p:spPr>
          <a:xfrm>
            <a:off x="1618488" y="5641848"/>
            <a:ext cx="225247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282439"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19600"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20" name="TextBox 19"/>
          <p:cNvSpPr txBox="1"/>
          <p:nvPr/>
        </p:nvSpPr>
        <p:spPr>
          <a:xfrm>
            <a:off x="4876800"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Ашкананын 12 000 сомдук бюджети: эт 50%, күрүч 25%, жашылча 15%, май 10%. Ар биринин бурчу канча? (Үстүңкү тилке – %, астыңкысы – °.)</a:t>
            </a:r>
          </a:p>
        </p:txBody>
      </p:sp>
      <p:sp>
        <p:nvSpPr>
          <p:cNvPr id="21" name="TextBox 20"/>
          <p:cNvSpPr txBox="1"/>
          <p:nvPr/>
        </p:nvSpPr>
        <p:spPr>
          <a:xfrm>
            <a:off x="4556759"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Тегеректи же тилкени бул жерге чий</a:t>
            </a:r>
          </a:p>
        </p:txBody>
      </p:sp>
      <p:sp>
        <p:nvSpPr>
          <p:cNvPr id="22" name="TextBox 21"/>
          <p:cNvSpPr txBox="1"/>
          <p:nvPr/>
        </p:nvSpPr>
        <p:spPr>
          <a:xfrm>
            <a:off x="4465320"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23" name="Connector 22"/>
          <p:cNvCxnSpPr/>
          <p:nvPr/>
        </p:nvCxnSpPr>
        <p:spPr>
          <a:xfrm>
            <a:off x="6019800" y="4956048"/>
            <a:ext cx="1703831"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65320"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25" name="Connector 24"/>
          <p:cNvCxnSpPr/>
          <p:nvPr/>
        </p:nvCxnSpPr>
        <p:spPr>
          <a:xfrm>
            <a:off x="5471159" y="5641848"/>
            <a:ext cx="225247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135112"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72272"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8" name="TextBox 27"/>
          <p:cNvSpPr txBox="1"/>
          <p:nvPr/>
        </p:nvSpPr>
        <p:spPr>
          <a:xfrm>
            <a:off x="8729472"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А мектеп 400 порция: палоо 90°. Б мектеп 200 порция: палоо 144°. Кайсы мектеп палоону көп даярдады?</a:t>
            </a:r>
          </a:p>
        </p:txBody>
      </p:sp>
      <p:sp>
        <p:nvSpPr>
          <p:cNvPr id="29" name="TextBox 28"/>
          <p:cNvSpPr txBox="1"/>
          <p:nvPr/>
        </p:nvSpPr>
        <p:spPr>
          <a:xfrm>
            <a:off x="8409432"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Тегеректи же тилкени бул жерге чий</a:t>
            </a:r>
          </a:p>
        </p:txBody>
      </p:sp>
      <p:sp>
        <p:nvSpPr>
          <p:cNvPr id="30" name="TextBox 29"/>
          <p:cNvSpPr txBox="1"/>
          <p:nvPr/>
        </p:nvSpPr>
        <p:spPr>
          <a:xfrm>
            <a:off x="8317991"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31" name="Connector 30"/>
          <p:cNvCxnSpPr/>
          <p:nvPr/>
        </p:nvCxnSpPr>
        <p:spPr>
          <a:xfrm>
            <a:off x="9872471" y="4956048"/>
            <a:ext cx="1703833"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317991"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33" name="Connector 32"/>
          <p:cNvCxnSpPr/>
          <p:nvPr/>
        </p:nvCxnSpPr>
        <p:spPr>
          <a:xfrm>
            <a:off x="9323831" y="5641848"/>
            <a:ext cx="2252473"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5" name="Rounded Rectangle 34"/>
          <p:cNvSpPr/>
          <p:nvPr/>
        </p:nvSpPr>
        <p:spPr>
          <a:xfrm>
            <a:off x="896111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С</a:t>
            </a:r>
          </a:p>
        </p:txBody>
      </p:sp>
      <p:sp>
        <p:nvSpPr>
          <p:cNvPr id="36" name="Rounded Rectangle 35"/>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Диаграмма машыгуусу: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19/26</a:t>
            </a:r>
          </a:p>
        </p:txBody>
      </p:sp>
      <p:sp>
        <p:nvSpPr>
          <p:cNvPr id="10" name="Rounded Rectangle 9"/>
          <p:cNvSpPr/>
          <p:nvPr/>
        </p:nvSpPr>
        <p:spPr>
          <a:xfrm>
            <a:off x="429768"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024128"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6А классында 36 окуучу. Тегерек диаграммада манты сектору 80°. Мантыны канча окуучу тандады?</a:t>
            </a:r>
          </a:p>
        </p:txBody>
      </p:sp>
      <p:sp>
        <p:nvSpPr>
          <p:cNvPr id="13" name="Freeform 12"/>
          <p:cNvSpPr/>
          <p:nvPr/>
        </p:nvSpPr>
        <p:spPr>
          <a:xfrm>
            <a:off x="2332528" y="2961360"/>
            <a:ext cx="991690" cy="1850850"/>
          </a:xfrm>
          <a:custGeom>
            <a:avLst/>
            <a:gdLst/>
            <a:ahLst/>
            <a:cxnLst/>
            <a:rect l="l" t="t" r="r" b="b"/>
            <a:pathLst>
              <a:path w="1085" h="2025">
                <a:moveTo>
                  <a:pt x="0" y="1085"/>
                </a:moveTo>
                <a:lnTo>
                  <a:pt x="0" y="0"/>
                </a:lnTo>
                <a:lnTo>
                  <a:pt x="94" y="4"/>
                </a:lnTo>
                <a:lnTo>
                  <a:pt x="188" y="16"/>
                </a:lnTo>
                <a:lnTo>
                  <a:pt x="280" y="37"/>
                </a:lnTo>
                <a:lnTo>
                  <a:pt x="371" y="65"/>
                </a:lnTo>
                <a:lnTo>
                  <a:pt x="458" y="102"/>
                </a:lnTo>
                <a:lnTo>
                  <a:pt x="542" y="145"/>
                </a:lnTo>
                <a:lnTo>
                  <a:pt x="622" y="196"/>
                </a:lnTo>
                <a:lnTo>
                  <a:pt x="697" y="254"/>
                </a:lnTo>
                <a:lnTo>
                  <a:pt x="767" y="318"/>
                </a:lnTo>
                <a:lnTo>
                  <a:pt x="831" y="388"/>
                </a:lnTo>
                <a:lnTo>
                  <a:pt x="888" y="463"/>
                </a:lnTo>
                <a:lnTo>
                  <a:pt x="939" y="542"/>
                </a:lnTo>
                <a:lnTo>
                  <a:pt x="983" y="626"/>
                </a:lnTo>
                <a:lnTo>
                  <a:pt x="1019" y="714"/>
                </a:lnTo>
                <a:lnTo>
                  <a:pt x="1048" y="804"/>
                </a:lnTo>
                <a:lnTo>
                  <a:pt x="1068" y="897"/>
                </a:lnTo>
                <a:lnTo>
                  <a:pt x="1081" y="990"/>
                </a:lnTo>
                <a:lnTo>
                  <a:pt x="1085" y="1085"/>
                </a:lnTo>
                <a:lnTo>
                  <a:pt x="1081" y="1180"/>
                </a:lnTo>
                <a:lnTo>
                  <a:pt x="1068" y="1273"/>
                </a:lnTo>
                <a:lnTo>
                  <a:pt x="1048" y="1366"/>
                </a:lnTo>
                <a:lnTo>
                  <a:pt x="1019" y="1456"/>
                </a:lnTo>
                <a:lnTo>
                  <a:pt x="983" y="1544"/>
                </a:lnTo>
                <a:lnTo>
                  <a:pt x="939" y="1627"/>
                </a:lnTo>
                <a:lnTo>
                  <a:pt x="888" y="1707"/>
                </a:lnTo>
                <a:lnTo>
                  <a:pt x="831" y="1782"/>
                </a:lnTo>
                <a:lnTo>
                  <a:pt x="767" y="1852"/>
                </a:lnTo>
                <a:lnTo>
                  <a:pt x="697" y="1916"/>
                </a:lnTo>
                <a:lnTo>
                  <a:pt x="622" y="1974"/>
                </a:lnTo>
                <a:lnTo>
                  <a:pt x="542" y="2025"/>
                </a:lnTo>
                <a:close/>
              </a:path>
            </a:pathLst>
          </a:custGeom>
          <a:solidFill>
            <a:srgbClr val="B5E2D3"/>
          </a:solid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1473368" y="3953050"/>
            <a:ext cx="1354548" cy="991690"/>
          </a:xfrm>
          <a:custGeom>
            <a:avLst/>
            <a:gdLst/>
            <a:ahLst/>
            <a:cxnLst/>
            <a:rect l="l" t="t" r="r" b="b"/>
            <a:pathLst>
              <a:path w="1482" h="1085">
                <a:moveTo>
                  <a:pt x="940" y="0"/>
                </a:moveTo>
                <a:lnTo>
                  <a:pt x="1482" y="940"/>
                </a:lnTo>
                <a:lnTo>
                  <a:pt x="1398" y="983"/>
                </a:lnTo>
                <a:lnTo>
                  <a:pt x="1311" y="1020"/>
                </a:lnTo>
                <a:lnTo>
                  <a:pt x="1220" y="1048"/>
                </a:lnTo>
                <a:lnTo>
                  <a:pt x="1128" y="1069"/>
                </a:lnTo>
                <a:lnTo>
                  <a:pt x="1034" y="1081"/>
                </a:lnTo>
                <a:lnTo>
                  <a:pt x="940" y="1085"/>
                </a:lnTo>
                <a:lnTo>
                  <a:pt x="845" y="1081"/>
                </a:lnTo>
                <a:lnTo>
                  <a:pt x="751" y="1069"/>
                </a:lnTo>
                <a:lnTo>
                  <a:pt x="659" y="1048"/>
                </a:lnTo>
                <a:lnTo>
                  <a:pt x="569" y="1020"/>
                </a:lnTo>
                <a:lnTo>
                  <a:pt x="481" y="983"/>
                </a:lnTo>
                <a:lnTo>
                  <a:pt x="397" y="940"/>
                </a:lnTo>
                <a:lnTo>
                  <a:pt x="317" y="889"/>
                </a:lnTo>
                <a:lnTo>
                  <a:pt x="242" y="831"/>
                </a:lnTo>
                <a:lnTo>
                  <a:pt x="172" y="767"/>
                </a:lnTo>
                <a:lnTo>
                  <a:pt x="109" y="697"/>
                </a:lnTo>
                <a:lnTo>
                  <a:pt x="51" y="622"/>
                </a:lnTo>
                <a:lnTo>
                  <a:pt x="0" y="543"/>
                </a:lnTo>
                <a:close/>
              </a:path>
            </a:pathLst>
          </a:custGeom>
          <a:solidFill>
            <a:srgbClr val="F2C9AC"/>
          </a:solid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1340838" y="3193516"/>
            <a:ext cx="991690" cy="1255836"/>
          </a:xfrm>
          <a:custGeom>
            <a:avLst/>
            <a:gdLst/>
            <a:ahLst/>
            <a:cxnLst/>
            <a:rect l="l" t="t" r="r" b="b"/>
            <a:pathLst>
              <a:path w="1085" h="1374">
                <a:moveTo>
                  <a:pt x="1085" y="831"/>
                </a:moveTo>
                <a:lnTo>
                  <a:pt x="145" y="1374"/>
                </a:lnTo>
                <a:lnTo>
                  <a:pt x="101" y="1290"/>
                </a:lnTo>
                <a:lnTo>
                  <a:pt x="65" y="1202"/>
                </a:lnTo>
                <a:lnTo>
                  <a:pt x="37" y="1112"/>
                </a:lnTo>
                <a:lnTo>
                  <a:pt x="16" y="1019"/>
                </a:lnTo>
                <a:lnTo>
                  <a:pt x="4" y="926"/>
                </a:lnTo>
                <a:lnTo>
                  <a:pt x="0" y="831"/>
                </a:lnTo>
                <a:lnTo>
                  <a:pt x="4" y="736"/>
                </a:lnTo>
                <a:lnTo>
                  <a:pt x="16" y="643"/>
                </a:lnTo>
                <a:lnTo>
                  <a:pt x="37" y="550"/>
                </a:lnTo>
                <a:lnTo>
                  <a:pt x="65" y="460"/>
                </a:lnTo>
                <a:lnTo>
                  <a:pt x="101" y="372"/>
                </a:lnTo>
                <a:lnTo>
                  <a:pt x="145" y="288"/>
                </a:lnTo>
                <a:lnTo>
                  <a:pt x="196" y="209"/>
                </a:lnTo>
                <a:lnTo>
                  <a:pt x="254" y="134"/>
                </a:lnTo>
                <a:lnTo>
                  <a:pt x="317" y="64"/>
                </a:lnTo>
                <a:lnTo>
                  <a:pt x="387" y="0"/>
                </a:lnTo>
                <a:close/>
              </a:path>
            </a:pathLst>
          </a:custGeom>
          <a:solidFill>
            <a:srgbClr val="BFCBE9"/>
          </a:solid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1694556" y="2961360"/>
            <a:ext cx="637972" cy="991690"/>
          </a:xfrm>
          <a:custGeom>
            <a:avLst/>
            <a:gdLst/>
            <a:ahLst/>
            <a:cxnLst/>
            <a:rect l="l" t="t" r="r" b="b"/>
            <a:pathLst>
              <a:path w="698" h="1085">
                <a:moveTo>
                  <a:pt x="698" y="1085"/>
                </a:moveTo>
                <a:lnTo>
                  <a:pt x="0" y="254"/>
                </a:lnTo>
                <a:lnTo>
                  <a:pt x="75" y="196"/>
                </a:lnTo>
                <a:lnTo>
                  <a:pt x="155" y="145"/>
                </a:lnTo>
                <a:lnTo>
                  <a:pt x="239" y="102"/>
                </a:lnTo>
                <a:lnTo>
                  <a:pt x="327" y="65"/>
                </a:lnTo>
                <a:lnTo>
                  <a:pt x="417" y="37"/>
                </a:lnTo>
                <a:lnTo>
                  <a:pt x="509" y="16"/>
                </a:lnTo>
                <a:lnTo>
                  <a:pt x="603" y="4"/>
                </a:lnTo>
                <a:lnTo>
                  <a:pt x="698" y="0"/>
                </a:lnTo>
                <a:close/>
              </a:path>
            </a:pathLst>
          </a:custGeom>
          <a:solidFill>
            <a:srgbClr val="F3E2A0"/>
          </a:solid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341120" y="2962655"/>
            <a:ext cx="1984248" cy="1984248"/>
          </a:xfrm>
          <a:prstGeom prst="ellipse">
            <a:avLst/>
          </a:prstGeom>
          <a:noFill/>
          <a:ln w="1587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623638" y="3619665"/>
            <a:ext cx="530859" cy="372364"/>
          </a:xfrm>
          <a:prstGeom prst="rect">
            <a:avLst/>
          </a:prstGeom>
          <a:noFill/>
        </p:spPr>
        <p:txBody>
          <a:bodyPr wrap="square" anchor="ctr" lIns="45720" rIns="45720" tIns="27432" bIns="27432">
            <a:spAutoFit/>
          </a:bodyPr>
          <a:lstStyle/>
          <a:p>
            <a:pPr algn="ctr">
              <a:lnSpc>
                <a:spcPct val="95000"/>
              </a:lnSpc>
            </a:pPr>
            <a:r>
              <a:rPr sz="1000" b="0" i="0">
                <a:solidFill>
                  <a:srgbClr val="1F2430"/>
                </a:solidFill>
                <a:latin typeface="PT Sans"/>
              </a:rPr>
              <a:t>Палоо</a:t>
            </a:r>
          </a:p>
          <a:p>
            <a:pPr algn="ctr">
              <a:lnSpc>
                <a:spcPct val="95000"/>
              </a:lnSpc>
            </a:pPr>
            <a:r>
              <a:rPr sz="1000" b="1" i="0">
                <a:solidFill>
                  <a:srgbClr val="1F2430"/>
                </a:solidFill>
                <a:latin typeface="PT Sans"/>
              </a:rPr>
              <a:t>150°</a:t>
            </a:r>
          </a:p>
        </p:txBody>
      </p:sp>
      <p:sp>
        <p:nvSpPr>
          <p:cNvPr id="19" name="TextBox 18"/>
          <p:cNvSpPr txBox="1"/>
          <p:nvPr/>
        </p:nvSpPr>
        <p:spPr>
          <a:xfrm>
            <a:off x="1879511" y="4324422"/>
            <a:ext cx="609600" cy="372364"/>
          </a:xfrm>
          <a:prstGeom prst="rect">
            <a:avLst/>
          </a:prstGeom>
          <a:noFill/>
        </p:spPr>
        <p:txBody>
          <a:bodyPr wrap="square" anchor="ctr" lIns="45720" rIns="45720" tIns="27432" bIns="27432">
            <a:spAutoFit/>
          </a:bodyPr>
          <a:lstStyle/>
          <a:p>
            <a:pPr algn="ctr">
              <a:lnSpc>
                <a:spcPct val="95000"/>
              </a:lnSpc>
            </a:pPr>
            <a:r>
              <a:rPr sz="1000" b="0" i="0">
                <a:solidFill>
                  <a:srgbClr val="1F2430"/>
                </a:solidFill>
                <a:latin typeface="PT Sans"/>
              </a:rPr>
              <a:t>Лагман</a:t>
            </a:r>
          </a:p>
          <a:p>
            <a:pPr algn="ctr">
              <a:lnSpc>
                <a:spcPct val="95000"/>
              </a:lnSpc>
            </a:pPr>
            <a:r>
              <a:rPr sz="1000" b="1" i="0">
                <a:solidFill>
                  <a:srgbClr val="1F2430"/>
                </a:solidFill>
                <a:latin typeface="PT Sans"/>
              </a:rPr>
              <a:t>90°</a:t>
            </a:r>
          </a:p>
        </p:txBody>
      </p:sp>
      <p:sp>
        <p:nvSpPr>
          <p:cNvPr id="20" name="TextBox 19"/>
          <p:cNvSpPr txBox="1"/>
          <p:nvPr/>
        </p:nvSpPr>
        <p:spPr>
          <a:xfrm>
            <a:off x="1501124" y="3668675"/>
            <a:ext cx="530859" cy="372364"/>
          </a:xfrm>
          <a:prstGeom prst="rect">
            <a:avLst/>
          </a:prstGeom>
          <a:noFill/>
        </p:spPr>
        <p:txBody>
          <a:bodyPr wrap="square" anchor="ctr" lIns="45720" rIns="45720" tIns="27432" bIns="27432">
            <a:spAutoFit/>
          </a:bodyPr>
          <a:lstStyle/>
          <a:p>
            <a:pPr algn="ctr">
              <a:lnSpc>
                <a:spcPct val="95000"/>
              </a:lnSpc>
            </a:pPr>
            <a:r>
              <a:rPr sz="1000" b="0" i="0">
                <a:solidFill>
                  <a:srgbClr val="1F2430"/>
                </a:solidFill>
                <a:latin typeface="PT Sans"/>
              </a:rPr>
              <a:t>Манты</a:t>
            </a:r>
          </a:p>
          <a:p>
            <a:pPr algn="ctr">
              <a:lnSpc>
                <a:spcPct val="95000"/>
              </a:lnSpc>
            </a:pPr>
            <a:r>
              <a:rPr sz="1000" b="1" i="0">
                <a:solidFill>
                  <a:srgbClr val="1F2430"/>
                </a:solidFill>
                <a:latin typeface="PT Sans"/>
              </a:rPr>
              <a:t>80°</a:t>
            </a:r>
          </a:p>
        </p:txBody>
      </p:sp>
      <p:cxnSp>
        <p:nvCxnSpPr>
          <p:cNvPr id="21" name="Connector 20"/>
          <p:cNvCxnSpPr/>
          <p:nvPr/>
        </p:nvCxnSpPr>
        <p:spPr>
          <a:xfrm flipH="1" flipV="1">
            <a:off x="1931368" y="2850637"/>
            <a:ext cx="46912" cy="128888"/>
          </a:xfrm>
          <a:prstGeom prst="line">
            <a:avLst/>
          </a:prstGeom>
          <a:ln w="9525">
            <a:solidFill>
              <a:srgbClr val="4A5A7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243028" y="2664455"/>
            <a:ext cx="688340" cy="372364"/>
          </a:xfrm>
          <a:prstGeom prst="rect">
            <a:avLst/>
          </a:prstGeom>
          <a:noFill/>
        </p:spPr>
        <p:txBody>
          <a:bodyPr wrap="square" anchor="ctr" lIns="45720" rIns="45720" tIns="27432" bIns="27432">
            <a:spAutoFit/>
          </a:bodyPr>
          <a:lstStyle/>
          <a:p>
            <a:pPr algn="r">
              <a:lnSpc>
                <a:spcPct val="95000"/>
              </a:lnSpc>
            </a:pPr>
            <a:r>
              <a:rPr sz="1000" b="0" i="0">
                <a:solidFill>
                  <a:srgbClr val="1F2430"/>
                </a:solidFill>
                <a:latin typeface="PT Sans"/>
              </a:rPr>
              <a:t>Ашлямфу</a:t>
            </a:r>
          </a:p>
          <a:p>
            <a:pPr algn="r">
              <a:lnSpc>
                <a:spcPct val="95000"/>
              </a:lnSpc>
            </a:pPr>
            <a:r>
              <a:rPr sz="1000" b="1" i="0">
                <a:solidFill>
                  <a:srgbClr val="1F2430"/>
                </a:solidFill>
                <a:latin typeface="PT Sans"/>
              </a:rPr>
              <a:t>40°</a:t>
            </a:r>
          </a:p>
        </p:txBody>
      </p:sp>
      <p:sp>
        <p:nvSpPr>
          <p:cNvPr id="23" name="TextBox 22"/>
          <p:cNvSpPr txBox="1"/>
          <p:nvPr/>
        </p:nvSpPr>
        <p:spPr>
          <a:xfrm>
            <a:off x="612647"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80° ÷ 10° = 8 окуучу</a:t>
            </a:r>
          </a:p>
        </p:txBody>
      </p:sp>
      <p:sp>
        <p:nvSpPr>
          <p:cNvPr id="24" name="Rounded Rectangle 23"/>
          <p:cNvSpPr/>
          <p:nvPr/>
        </p:nvSpPr>
        <p:spPr>
          <a:xfrm>
            <a:off x="4282439"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419600"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26" name="TextBox 25"/>
          <p:cNvSpPr txBox="1"/>
          <p:nvPr/>
        </p:nvSpPr>
        <p:spPr>
          <a:xfrm>
            <a:off x="4876800"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Ашкананын 12 000 сомдук бюджети: эт 50%, күрүч 25%, жашылча 15%, май 10%. Ар биринин бурчу канча? (Үстүңкү тилке – %, астыңкысы – °.)</a:t>
            </a:r>
          </a:p>
        </p:txBody>
      </p:sp>
      <p:sp>
        <p:nvSpPr>
          <p:cNvPr id="27" name="TextBox 26"/>
          <p:cNvSpPr txBox="1"/>
          <p:nvPr/>
        </p:nvSpPr>
        <p:spPr>
          <a:xfrm>
            <a:off x="4419600" y="3291839"/>
            <a:ext cx="640080" cy="502920"/>
          </a:xfrm>
          <a:prstGeom prst="rect">
            <a:avLst/>
          </a:prstGeom>
          <a:noFill/>
        </p:spPr>
        <p:txBody>
          <a:bodyPr wrap="square" anchor="ctr" lIns="45720" rIns="45720" tIns="27432" bIns="27432">
            <a:spAutoFit/>
          </a:bodyPr>
          <a:lstStyle/>
          <a:p>
            <a:pPr algn="r">
              <a:lnSpc>
                <a:spcPct val="105000"/>
              </a:lnSpc>
            </a:pPr>
            <a:r>
              <a:rPr sz="1100" b="1" i="0">
                <a:solidFill>
                  <a:srgbClr val="1F2430"/>
                </a:solidFill>
                <a:latin typeface="PT Sans"/>
              </a:rPr>
              <a:t/>
            </a:r>
          </a:p>
        </p:txBody>
      </p:sp>
      <p:sp>
        <p:nvSpPr>
          <p:cNvPr id="28" name="Rectangle 27"/>
          <p:cNvSpPr/>
          <p:nvPr/>
        </p:nvSpPr>
        <p:spPr>
          <a:xfrm>
            <a:off x="5105400" y="3291839"/>
            <a:ext cx="1331976" cy="50292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F2430"/>
                </a:solidFill>
                <a:latin typeface="PT Sans"/>
              </a:rPr>
              <a:t>50</a:t>
            </a:r>
          </a:p>
        </p:txBody>
      </p:sp>
      <p:sp>
        <p:nvSpPr>
          <p:cNvPr id="29" name="Rectangle 28"/>
          <p:cNvSpPr/>
          <p:nvPr/>
        </p:nvSpPr>
        <p:spPr>
          <a:xfrm>
            <a:off x="6437375" y="3291839"/>
            <a:ext cx="665988" cy="502920"/>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F2430"/>
                </a:solidFill>
                <a:latin typeface="PT Sans"/>
              </a:rPr>
              <a:t>25</a:t>
            </a:r>
          </a:p>
        </p:txBody>
      </p:sp>
      <p:sp>
        <p:nvSpPr>
          <p:cNvPr id="30" name="Rectangle 29"/>
          <p:cNvSpPr/>
          <p:nvPr/>
        </p:nvSpPr>
        <p:spPr>
          <a:xfrm>
            <a:off x="7103363" y="3291839"/>
            <a:ext cx="399592" cy="50292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F2430"/>
                </a:solidFill>
                <a:latin typeface="PT Sans"/>
              </a:rPr>
              <a:t>15</a:t>
            </a:r>
          </a:p>
        </p:txBody>
      </p:sp>
      <p:sp>
        <p:nvSpPr>
          <p:cNvPr id="31" name="Rectangle 30"/>
          <p:cNvSpPr/>
          <p:nvPr/>
        </p:nvSpPr>
        <p:spPr>
          <a:xfrm>
            <a:off x="7502956" y="3291839"/>
            <a:ext cx="266395" cy="502920"/>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800" b="1">
                <a:solidFill>
                  <a:srgbClr val="1F2430"/>
                </a:solidFill>
                <a:latin typeface="PT Sans"/>
              </a:rPr>
              <a:t>10</a:t>
            </a:r>
          </a:p>
        </p:txBody>
      </p:sp>
      <p:sp>
        <p:nvSpPr>
          <p:cNvPr id="32" name="TextBox 31"/>
          <p:cNvSpPr txBox="1"/>
          <p:nvPr/>
        </p:nvSpPr>
        <p:spPr>
          <a:xfrm>
            <a:off x="4419600" y="3977639"/>
            <a:ext cx="640080" cy="502920"/>
          </a:xfrm>
          <a:prstGeom prst="rect">
            <a:avLst/>
          </a:prstGeom>
          <a:noFill/>
        </p:spPr>
        <p:txBody>
          <a:bodyPr wrap="square" anchor="ctr" lIns="45720" rIns="45720" tIns="27432" bIns="27432">
            <a:spAutoFit/>
          </a:bodyPr>
          <a:lstStyle/>
          <a:p>
            <a:pPr algn="r">
              <a:lnSpc>
                <a:spcPct val="105000"/>
              </a:lnSpc>
            </a:pPr>
            <a:r>
              <a:rPr sz="1100" b="1" i="0">
                <a:solidFill>
                  <a:srgbClr val="1F2430"/>
                </a:solidFill>
                <a:latin typeface="PT Sans"/>
              </a:rPr>
              <a:t/>
            </a:r>
          </a:p>
        </p:txBody>
      </p:sp>
      <p:sp>
        <p:nvSpPr>
          <p:cNvPr id="33" name="Rectangle 32"/>
          <p:cNvSpPr/>
          <p:nvPr/>
        </p:nvSpPr>
        <p:spPr>
          <a:xfrm>
            <a:off x="5105400" y="3977639"/>
            <a:ext cx="1331976" cy="50292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F2430"/>
                </a:solidFill>
                <a:latin typeface="PT Sans"/>
              </a:rPr>
              <a:t>180</a:t>
            </a:r>
          </a:p>
        </p:txBody>
      </p:sp>
      <p:sp>
        <p:nvSpPr>
          <p:cNvPr id="34" name="Rectangle 33"/>
          <p:cNvSpPr/>
          <p:nvPr/>
        </p:nvSpPr>
        <p:spPr>
          <a:xfrm>
            <a:off x="6437375" y="3977639"/>
            <a:ext cx="665988" cy="502920"/>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F2430"/>
                </a:solidFill>
                <a:latin typeface="PT Sans"/>
              </a:rPr>
              <a:t>90</a:t>
            </a:r>
          </a:p>
        </p:txBody>
      </p:sp>
      <p:sp>
        <p:nvSpPr>
          <p:cNvPr id="35" name="Rectangle 34"/>
          <p:cNvSpPr/>
          <p:nvPr/>
        </p:nvSpPr>
        <p:spPr>
          <a:xfrm>
            <a:off x="7103363" y="3977639"/>
            <a:ext cx="399592" cy="50292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900" b="1">
                <a:solidFill>
                  <a:srgbClr val="1F2430"/>
                </a:solidFill>
                <a:latin typeface="PT Sans"/>
              </a:rPr>
              <a:t>54</a:t>
            </a:r>
          </a:p>
        </p:txBody>
      </p:sp>
      <p:sp>
        <p:nvSpPr>
          <p:cNvPr id="36" name="Rectangle 35"/>
          <p:cNvSpPr/>
          <p:nvPr/>
        </p:nvSpPr>
        <p:spPr>
          <a:xfrm>
            <a:off x="7502956" y="3977639"/>
            <a:ext cx="266395" cy="502920"/>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800" b="1">
                <a:solidFill>
                  <a:srgbClr val="1F2430"/>
                </a:solidFill>
                <a:latin typeface="PT Sans"/>
              </a:rPr>
              <a:t>36</a:t>
            </a:r>
          </a:p>
        </p:txBody>
      </p:sp>
      <p:sp>
        <p:nvSpPr>
          <p:cNvPr id="37" name="TextBox 36"/>
          <p:cNvSpPr txBox="1"/>
          <p:nvPr/>
        </p:nvSpPr>
        <p:spPr>
          <a:xfrm>
            <a:off x="4465320"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180°, 90°, 54°, 36°</a:t>
            </a:r>
          </a:p>
        </p:txBody>
      </p:sp>
      <p:sp>
        <p:nvSpPr>
          <p:cNvPr id="38" name="Rounded Rectangle 37"/>
          <p:cNvSpPr/>
          <p:nvPr/>
        </p:nvSpPr>
        <p:spPr>
          <a:xfrm>
            <a:off x="8135112"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272272"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40" name="TextBox 39"/>
          <p:cNvSpPr txBox="1"/>
          <p:nvPr/>
        </p:nvSpPr>
        <p:spPr>
          <a:xfrm>
            <a:off x="8729472"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А мектеп 400 порция: палоо 90°. Б мектеп 200 порция: палоо 144°. Кайсы мектеп палоону көп даярдады?</a:t>
            </a:r>
          </a:p>
        </p:txBody>
      </p:sp>
      <p:sp>
        <p:nvSpPr>
          <p:cNvPr id="41" name="Freeform 40"/>
          <p:cNvSpPr/>
          <p:nvPr/>
        </p:nvSpPr>
        <p:spPr>
          <a:xfrm>
            <a:off x="9150968" y="3277604"/>
            <a:ext cx="809804" cy="809804"/>
          </a:xfrm>
          <a:custGeom>
            <a:avLst/>
            <a:gdLst/>
            <a:ahLst/>
            <a:cxnLst/>
            <a:rect l="l" t="t" r="r" b="b"/>
            <a:pathLst>
              <a:path w="886" h="886">
                <a:moveTo>
                  <a:pt x="0" y="886"/>
                </a:moveTo>
                <a:lnTo>
                  <a:pt x="0" y="0"/>
                </a:lnTo>
                <a:lnTo>
                  <a:pt x="78" y="3"/>
                </a:lnTo>
                <a:lnTo>
                  <a:pt x="154" y="13"/>
                </a:lnTo>
                <a:lnTo>
                  <a:pt x="230" y="30"/>
                </a:lnTo>
                <a:lnTo>
                  <a:pt x="303" y="53"/>
                </a:lnTo>
                <a:lnTo>
                  <a:pt x="375" y="83"/>
                </a:lnTo>
                <a:lnTo>
                  <a:pt x="443" y="119"/>
                </a:lnTo>
                <a:lnTo>
                  <a:pt x="509" y="160"/>
                </a:lnTo>
                <a:lnTo>
                  <a:pt x="570" y="207"/>
                </a:lnTo>
                <a:lnTo>
                  <a:pt x="627" y="259"/>
                </a:lnTo>
                <a:lnTo>
                  <a:pt x="679" y="316"/>
                </a:lnTo>
                <a:lnTo>
                  <a:pt x="726" y="378"/>
                </a:lnTo>
                <a:lnTo>
                  <a:pt x="768" y="443"/>
                </a:lnTo>
                <a:lnTo>
                  <a:pt x="803" y="511"/>
                </a:lnTo>
                <a:lnTo>
                  <a:pt x="833" y="583"/>
                </a:lnTo>
                <a:lnTo>
                  <a:pt x="856" y="657"/>
                </a:lnTo>
                <a:lnTo>
                  <a:pt x="873" y="732"/>
                </a:lnTo>
                <a:lnTo>
                  <a:pt x="883" y="809"/>
                </a:lnTo>
                <a:lnTo>
                  <a:pt x="886" y="886"/>
                </a:lnTo>
                <a:close/>
              </a:path>
            </a:pathLst>
          </a:custGeom>
          <a:solidFill>
            <a:srgbClr val="B5E2D3"/>
          </a:solid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8746980" y="4087408"/>
            <a:ext cx="1213792" cy="809804"/>
          </a:xfrm>
          <a:custGeom>
            <a:avLst/>
            <a:gdLst/>
            <a:ahLst/>
            <a:cxnLst/>
            <a:rect l="l" t="t" r="r" b="b"/>
            <a:pathLst>
              <a:path w="1328" h="886">
                <a:moveTo>
                  <a:pt x="442" y="0"/>
                </a:moveTo>
                <a:lnTo>
                  <a:pt x="1328" y="0"/>
                </a:lnTo>
                <a:lnTo>
                  <a:pt x="1325" y="77"/>
                </a:lnTo>
                <a:lnTo>
                  <a:pt x="1315" y="154"/>
                </a:lnTo>
                <a:lnTo>
                  <a:pt x="1298" y="229"/>
                </a:lnTo>
                <a:lnTo>
                  <a:pt x="1275" y="303"/>
                </a:lnTo>
                <a:lnTo>
                  <a:pt x="1245" y="374"/>
                </a:lnTo>
                <a:lnTo>
                  <a:pt x="1210" y="443"/>
                </a:lnTo>
                <a:lnTo>
                  <a:pt x="1168" y="508"/>
                </a:lnTo>
                <a:lnTo>
                  <a:pt x="1121" y="569"/>
                </a:lnTo>
                <a:lnTo>
                  <a:pt x="1069" y="626"/>
                </a:lnTo>
                <a:lnTo>
                  <a:pt x="1012" y="678"/>
                </a:lnTo>
                <a:lnTo>
                  <a:pt x="951" y="725"/>
                </a:lnTo>
                <a:lnTo>
                  <a:pt x="885" y="767"/>
                </a:lnTo>
                <a:lnTo>
                  <a:pt x="817" y="803"/>
                </a:lnTo>
                <a:lnTo>
                  <a:pt x="745" y="832"/>
                </a:lnTo>
                <a:lnTo>
                  <a:pt x="672" y="855"/>
                </a:lnTo>
                <a:lnTo>
                  <a:pt x="596" y="872"/>
                </a:lnTo>
                <a:lnTo>
                  <a:pt x="520" y="882"/>
                </a:lnTo>
                <a:lnTo>
                  <a:pt x="442" y="886"/>
                </a:lnTo>
                <a:lnTo>
                  <a:pt x="365" y="882"/>
                </a:lnTo>
                <a:lnTo>
                  <a:pt x="289" y="872"/>
                </a:lnTo>
                <a:lnTo>
                  <a:pt x="213" y="855"/>
                </a:lnTo>
                <a:lnTo>
                  <a:pt x="140" y="832"/>
                </a:lnTo>
                <a:lnTo>
                  <a:pt x="68" y="803"/>
                </a:lnTo>
                <a:lnTo>
                  <a:pt x="0" y="767"/>
                </a:lnTo>
                <a:close/>
              </a:path>
            </a:pathLst>
          </a:custGeom>
          <a:solidFill>
            <a:srgbClr val="F2C9AC"/>
          </a:solid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8342078" y="3277604"/>
            <a:ext cx="808890" cy="1510842"/>
          </a:xfrm>
          <a:custGeom>
            <a:avLst/>
            <a:gdLst/>
            <a:ahLst/>
            <a:cxnLst/>
            <a:rect l="l" t="t" r="r" b="b"/>
            <a:pathLst>
              <a:path w="885" h="1653">
                <a:moveTo>
                  <a:pt x="885" y="886"/>
                </a:moveTo>
                <a:lnTo>
                  <a:pt x="443" y="1653"/>
                </a:lnTo>
                <a:lnTo>
                  <a:pt x="377" y="1611"/>
                </a:lnTo>
                <a:lnTo>
                  <a:pt x="316" y="1564"/>
                </a:lnTo>
                <a:lnTo>
                  <a:pt x="259" y="1512"/>
                </a:lnTo>
                <a:lnTo>
                  <a:pt x="207" y="1455"/>
                </a:lnTo>
                <a:lnTo>
                  <a:pt x="160" y="1394"/>
                </a:lnTo>
                <a:lnTo>
                  <a:pt x="118" y="1329"/>
                </a:lnTo>
                <a:lnTo>
                  <a:pt x="83" y="1260"/>
                </a:lnTo>
                <a:lnTo>
                  <a:pt x="53" y="1189"/>
                </a:lnTo>
                <a:lnTo>
                  <a:pt x="30" y="1115"/>
                </a:lnTo>
                <a:lnTo>
                  <a:pt x="13" y="1040"/>
                </a:lnTo>
                <a:lnTo>
                  <a:pt x="3" y="963"/>
                </a:lnTo>
                <a:lnTo>
                  <a:pt x="0" y="886"/>
                </a:lnTo>
                <a:lnTo>
                  <a:pt x="3" y="809"/>
                </a:lnTo>
                <a:lnTo>
                  <a:pt x="13" y="732"/>
                </a:lnTo>
                <a:lnTo>
                  <a:pt x="30" y="657"/>
                </a:lnTo>
                <a:lnTo>
                  <a:pt x="53" y="583"/>
                </a:lnTo>
                <a:lnTo>
                  <a:pt x="83" y="511"/>
                </a:lnTo>
                <a:lnTo>
                  <a:pt x="118" y="443"/>
                </a:lnTo>
                <a:lnTo>
                  <a:pt x="160" y="378"/>
                </a:lnTo>
                <a:lnTo>
                  <a:pt x="207" y="316"/>
                </a:lnTo>
                <a:lnTo>
                  <a:pt x="259" y="259"/>
                </a:lnTo>
                <a:lnTo>
                  <a:pt x="316" y="207"/>
                </a:lnTo>
                <a:lnTo>
                  <a:pt x="377" y="160"/>
                </a:lnTo>
                <a:lnTo>
                  <a:pt x="443" y="119"/>
                </a:lnTo>
                <a:lnTo>
                  <a:pt x="511" y="83"/>
                </a:lnTo>
                <a:lnTo>
                  <a:pt x="583" y="53"/>
                </a:lnTo>
                <a:lnTo>
                  <a:pt x="656" y="30"/>
                </a:lnTo>
                <a:lnTo>
                  <a:pt x="732" y="13"/>
                </a:lnTo>
                <a:lnTo>
                  <a:pt x="808" y="3"/>
                </a:lnTo>
                <a:lnTo>
                  <a:pt x="885" y="0"/>
                </a:lnTo>
                <a:close/>
              </a:path>
            </a:pathLst>
          </a:custGeom>
          <a:solidFill>
            <a:srgbClr val="BFCBE9"/>
          </a:solid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345423" y="3279012"/>
            <a:ext cx="1620012" cy="1620012"/>
          </a:xfrm>
          <a:prstGeom prst="ellipse">
            <a:avLst/>
          </a:prstGeom>
          <a:noFill/>
          <a:ln w="1587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22201" y="3570635"/>
            <a:ext cx="530859" cy="372364"/>
          </a:xfrm>
          <a:prstGeom prst="rect">
            <a:avLst/>
          </a:prstGeom>
          <a:noFill/>
        </p:spPr>
        <p:txBody>
          <a:bodyPr wrap="square" anchor="ctr" lIns="45720" rIns="45720" tIns="27432" bIns="27432">
            <a:spAutoFit/>
          </a:bodyPr>
          <a:lstStyle/>
          <a:p>
            <a:pPr algn="ctr">
              <a:lnSpc>
                <a:spcPct val="95000"/>
              </a:lnSpc>
            </a:pPr>
            <a:r>
              <a:rPr sz="1000" b="0" i="0">
                <a:solidFill>
                  <a:srgbClr val="1F2430"/>
                </a:solidFill>
                <a:latin typeface="PT Sans"/>
              </a:rPr>
              <a:t>Палоо</a:t>
            </a:r>
          </a:p>
          <a:p>
            <a:pPr algn="ctr">
              <a:lnSpc>
                <a:spcPct val="95000"/>
              </a:lnSpc>
            </a:pPr>
            <a:r>
              <a:rPr sz="1000" b="1" i="0">
                <a:solidFill>
                  <a:srgbClr val="1F2430"/>
                </a:solidFill>
                <a:latin typeface="PT Sans"/>
              </a:rPr>
              <a:t>90°</a:t>
            </a:r>
          </a:p>
        </p:txBody>
      </p:sp>
      <p:sp>
        <p:nvSpPr>
          <p:cNvPr id="46" name="TextBox 45"/>
          <p:cNvSpPr txBox="1"/>
          <p:nvPr/>
        </p:nvSpPr>
        <p:spPr>
          <a:xfrm>
            <a:off x="9085531" y="4309698"/>
            <a:ext cx="609600" cy="372364"/>
          </a:xfrm>
          <a:prstGeom prst="rect">
            <a:avLst/>
          </a:prstGeom>
          <a:noFill/>
        </p:spPr>
        <p:txBody>
          <a:bodyPr wrap="square" anchor="ctr" lIns="45720" rIns="45720" tIns="27432" bIns="27432">
            <a:spAutoFit/>
          </a:bodyPr>
          <a:lstStyle/>
          <a:p>
            <a:pPr algn="ctr">
              <a:lnSpc>
                <a:spcPct val="95000"/>
              </a:lnSpc>
            </a:pPr>
            <a:r>
              <a:rPr sz="1000" b="0" i="0">
                <a:solidFill>
                  <a:srgbClr val="1F2430"/>
                </a:solidFill>
                <a:latin typeface="PT Sans"/>
              </a:rPr>
              <a:t>Лагман</a:t>
            </a:r>
          </a:p>
          <a:p>
            <a:pPr algn="ctr">
              <a:lnSpc>
                <a:spcPct val="95000"/>
              </a:lnSpc>
            </a:pPr>
            <a:r>
              <a:rPr sz="1000" b="1" i="0">
                <a:solidFill>
                  <a:srgbClr val="1F2430"/>
                </a:solidFill>
                <a:latin typeface="PT Sans"/>
              </a:rPr>
              <a:t>120°</a:t>
            </a:r>
          </a:p>
        </p:txBody>
      </p:sp>
      <p:sp>
        <p:nvSpPr>
          <p:cNvPr id="47" name="TextBox 46"/>
          <p:cNvSpPr txBox="1"/>
          <p:nvPr/>
        </p:nvSpPr>
        <p:spPr>
          <a:xfrm>
            <a:off x="8436204" y="3781242"/>
            <a:ext cx="530859" cy="372364"/>
          </a:xfrm>
          <a:prstGeom prst="rect">
            <a:avLst/>
          </a:prstGeom>
          <a:noFill/>
        </p:spPr>
        <p:txBody>
          <a:bodyPr wrap="square" anchor="ctr" lIns="45720" rIns="45720" tIns="27432" bIns="27432">
            <a:spAutoFit/>
          </a:bodyPr>
          <a:lstStyle/>
          <a:p>
            <a:pPr algn="ctr">
              <a:lnSpc>
                <a:spcPct val="95000"/>
              </a:lnSpc>
            </a:pPr>
            <a:r>
              <a:rPr sz="1000" b="0" i="0">
                <a:solidFill>
                  <a:srgbClr val="1F2430"/>
                </a:solidFill>
                <a:latin typeface="PT Sans"/>
              </a:rPr>
              <a:t>Манты</a:t>
            </a:r>
          </a:p>
          <a:p>
            <a:pPr algn="ctr">
              <a:lnSpc>
                <a:spcPct val="95000"/>
              </a:lnSpc>
            </a:pPr>
            <a:r>
              <a:rPr sz="1000" b="1" i="0">
                <a:solidFill>
                  <a:srgbClr val="1F2430"/>
                </a:solidFill>
                <a:latin typeface="PT Sans"/>
              </a:rPr>
              <a:t>150°</a:t>
            </a:r>
          </a:p>
        </p:txBody>
      </p:sp>
      <p:sp>
        <p:nvSpPr>
          <p:cNvPr id="48" name="TextBox 47"/>
          <p:cNvSpPr txBox="1"/>
          <p:nvPr/>
        </p:nvSpPr>
        <p:spPr>
          <a:xfrm>
            <a:off x="7692390" y="3010534"/>
            <a:ext cx="2926080" cy="213614"/>
          </a:xfrm>
          <a:prstGeom prst="rect">
            <a:avLst/>
          </a:prstGeom>
          <a:noFill/>
        </p:spPr>
        <p:txBody>
          <a:bodyPr wrap="square" anchor="ctr" lIns="45720" rIns="45720" tIns="27432" bIns="27432">
            <a:spAutoFit/>
          </a:bodyPr>
          <a:lstStyle/>
          <a:p>
            <a:pPr algn="ctr">
              <a:lnSpc>
                <a:spcPct val="105000"/>
              </a:lnSpc>
            </a:pPr>
            <a:r>
              <a:rPr sz="1000" b="1" i="0">
                <a:solidFill>
                  <a:srgbClr val="1D3557"/>
                </a:solidFill>
                <a:latin typeface="PT Sans"/>
              </a:rPr>
              <a:t>А · 400</a:t>
            </a:r>
          </a:p>
        </p:txBody>
      </p:sp>
      <p:sp>
        <p:nvSpPr>
          <p:cNvPr id="49" name="Freeform 48"/>
          <p:cNvSpPr/>
          <p:nvPr/>
        </p:nvSpPr>
        <p:spPr>
          <a:xfrm>
            <a:off x="10916816" y="3277604"/>
            <a:ext cx="808890" cy="1464228"/>
          </a:xfrm>
          <a:custGeom>
            <a:avLst/>
            <a:gdLst/>
            <a:ahLst/>
            <a:cxnLst/>
            <a:rect l="l" t="t" r="r" b="b"/>
            <a:pathLst>
              <a:path w="885" h="1602">
                <a:moveTo>
                  <a:pt x="0" y="886"/>
                </a:moveTo>
                <a:lnTo>
                  <a:pt x="0" y="0"/>
                </a:lnTo>
                <a:lnTo>
                  <a:pt x="80" y="4"/>
                </a:lnTo>
                <a:lnTo>
                  <a:pt x="158" y="14"/>
                </a:lnTo>
                <a:lnTo>
                  <a:pt x="236" y="32"/>
                </a:lnTo>
                <a:lnTo>
                  <a:pt x="311" y="56"/>
                </a:lnTo>
                <a:lnTo>
                  <a:pt x="385" y="88"/>
                </a:lnTo>
                <a:lnTo>
                  <a:pt x="455" y="125"/>
                </a:lnTo>
                <a:lnTo>
                  <a:pt x="521" y="169"/>
                </a:lnTo>
                <a:lnTo>
                  <a:pt x="583" y="219"/>
                </a:lnTo>
                <a:lnTo>
                  <a:pt x="640" y="274"/>
                </a:lnTo>
                <a:lnTo>
                  <a:pt x="693" y="333"/>
                </a:lnTo>
                <a:lnTo>
                  <a:pt x="739" y="398"/>
                </a:lnTo>
                <a:lnTo>
                  <a:pt x="780" y="466"/>
                </a:lnTo>
                <a:lnTo>
                  <a:pt x="815" y="538"/>
                </a:lnTo>
                <a:lnTo>
                  <a:pt x="843" y="612"/>
                </a:lnTo>
                <a:lnTo>
                  <a:pt x="864" y="689"/>
                </a:lnTo>
                <a:lnTo>
                  <a:pt x="878" y="767"/>
                </a:lnTo>
                <a:lnTo>
                  <a:pt x="885" y="846"/>
                </a:lnTo>
                <a:lnTo>
                  <a:pt x="885" y="926"/>
                </a:lnTo>
                <a:lnTo>
                  <a:pt x="878" y="1005"/>
                </a:lnTo>
                <a:lnTo>
                  <a:pt x="864" y="1083"/>
                </a:lnTo>
                <a:lnTo>
                  <a:pt x="843" y="1160"/>
                </a:lnTo>
                <a:lnTo>
                  <a:pt x="815" y="1234"/>
                </a:lnTo>
                <a:lnTo>
                  <a:pt x="780" y="1306"/>
                </a:lnTo>
                <a:lnTo>
                  <a:pt x="739" y="1374"/>
                </a:lnTo>
                <a:lnTo>
                  <a:pt x="693" y="1438"/>
                </a:lnTo>
                <a:lnTo>
                  <a:pt x="640" y="1498"/>
                </a:lnTo>
                <a:lnTo>
                  <a:pt x="583" y="1553"/>
                </a:lnTo>
                <a:lnTo>
                  <a:pt x="521" y="1602"/>
                </a:lnTo>
                <a:close/>
              </a:path>
            </a:pathLst>
          </a:custGeom>
          <a:solidFill>
            <a:srgbClr val="B5E2D3"/>
          </a:solid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10147228" y="4087408"/>
            <a:ext cx="1245782" cy="809804"/>
          </a:xfrm>
          <a:custGeom>
            <a:avLst/>
            <a:gdLst/>
            <a:ahLst/>
            <a:cxnLst/>
            <a:rect l="l" t="t" r="r" b="b"/>
            <a:pathLst>
              <a:path w="1363" h="886">
                <a:moveTo>
                  <a:pt x="842" y="0"/>
                </a:moveTo>
                <a:lnTo>
                  <a:pt x="1363" y="716"/>
                </a:lnTo>
                <a:lnTo>
                  <a:pt x="1297" y="760"/>
                </a:lnTo>
                <a:lnTo>
                  <a:pt x="1227" y="798"/>
                </a:lnTo>
                <a:lnTo>
                  <a:pt x="1153" y="829"/>
                </a:lnTo>
                <a:lnTo>
                  <a:pt x="1078" y="854"/>
                </a:lnTo>
                <a:lnTo>
                  <a:pt x="1000" y="871"/>
                </a:lnTo>
                <a:lnTo>
                  <a:pt x="922" y="882"/>
                </a:lnTo>
                <a:lnTo>
                  <a:pt x="842" y="886"/>
                </a:lnTo>
                <a:lnTo>
                  <a:pt x="763" y="882"/>
                </a:lnTo>
                <a:lnTo>
                  <a:pt x="684" y="871"/>
                </a:lnTo>
                <a:lnTo>
                  <a:pt x="607" y="854"/>
                </a:lnTo>
                <a:lnTo>
                  <a:pt x="531" y="829"/>
                </a:lnTo>
                <a:lnTo>
                  <a:pt x="458" y="798"/>
                </a:lnTo>
                <a:lnTo>
                  <a:pt x="388" y="760"/>
                </a:lnTo>
                <a:lnTo>
                  <a:pt x="321" y="716"/>
                </a:lnTo>
                <a:lnTo>
                  <a:pt x="259" y="667"/>
                </a:lnTo>
                <a:lnTo>
                  <a:pt x="202" y="612"/>
                </a:lnTo>
                <a:lnTo>
                  <a:pt x="150" y="552"/>
                </a:lnTo>
                <a:lnTo>
                  <a:pt x="103" y="488"/>
                </a:lnTo>
                <a:lnTo>
                  <a:pt x="62" y="420"/>
                </a:lnTo>
                <a:lnTo>
                  <a:pt x="28" y="348"/>
                </a:lnTo>
                <a:lnTo>
                  <a:pt x="0" y="274"/>
                </a:lnTo>
                <a:close/>
              </a:path>
            </a:pathLst>
          </a:custGeom>
          <a:solidFill>
            <a:srgbClr val="F2C9AC"/>
          </a:solid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0107926" y="3277604"/>
            <a:ext cx="808890" cy="1060240"/>
          </a:xfrm>
          <a:custGeom>
            <a:avLst/>
            <a:gdLst/>
            <a:ahLst/>
            <a:cxnLst/>
            <a:rect l="l" t="t" r="r" b="b"/>
            <a:pathLst>
              <a:path w="885" h="1160">
                <a:moveTo>
                  <a:pt x="885" y="886"/>
                </a:moveTo>
                <a:lnTo>
                  <a:pt x="43" y="1160"/>
                </a:lnTo>
                <a:lnTo>
                  <a:pt x="22" y="1083"/>
                </a:lnTo>
                <a:lnTo>
                  <a:pt x="7" y="1005"/>
                </a:lnTo>
                <a:lnTo>
                  <a:pt x="0" y="926"/>
                </a:lnTo>
                <a:lnTo>
                  <a:pt x="0" y="846"/>
                </a:lnTo>
                <a:lnTo>
                  <a:pt x="7" y="767"/>
                </a:lnTo>
                <a:lnTo>
                  <a:pt x="22" y="689"/>
                </a:lnTo>
                <a:lnTo>
                  <a:pt x="43" y="612"/>
                </a:lnTo>
                <a:lnTo>
                  <a:pt x="71" y="538"/>
                </a:lnTo>
                <a:lnTo>
                  <a:pt x="105" y="466"/>
                </a:lnTo>
                <a:lnTo>
                  <a:pt x="146" y="398"/>
                </a:lnTo>
                <a:lnTo>
                  <a:pt x="193" y="333"/>
                </a:lnTo>
                <a:lnTo>
                  <a:pt x="245" y="274"/>
                </a:lnTo>
                <a:lnTo>
                  <a:pt x="302" y="219"/>
                </a:lnTo>
                <a:lnTo>
                  <a:pt x="364" y="169"/>
                </a:lnTo>
                <a:lnTo>
                  <a:pt x="431" y="125"/>
                </a:lnTo>
                <a:lnTo>
                  <a:pt x="501" y="88"/>
                </a:lnTo>
                <a:lnTo>
                  <a:pt x="574" y="56"/>
                </a:lnTo>
                <a:lnTo>
                  <a:pt x="650" y="32"/>
                </a:lnTo>
                <a:lnTo>
                  <a:pt x="727" y="14"/>
                </a:lnTo>
                <a:lnTo>
                  <a:pt x="806" y="4"/>
                </a:lnTo>
                <a:lnTo>
                  <a:pt x="885" y="0"/>
                </a:lnTo>
                <a:close/>
              </a:path>
            </a:pathLst>
          </a:custGeom>
          <a:solidFill>
            <a:srgbClr val="BFCBE9"/>
          </a:solid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111740" y="3279012"/>
            <a:ext cx="1620012" cy="1620012"/>
          </a:xfrm>
          <a:prstGeom prst="ellipse">
            <a:avLst/>
          </a:prstGeom>
          <a:noFill/>
          <a:ln w="1587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103125" y="3757659"/>
            <a:ext cx="530859" cy="372364"/>
          </a:xfrm>
          <a:prstGeom prst="rect">
            <a:avLst/>
          </a:prstGeom>
          <a:noFill/>
        </p:spPr>
        <p:txBody>
          <a:bodyPr wrap="square" anchor="ctr" lIns="45720" rIns="45720" tIns="27432" bIns="27432">
            <a:spAutoFit/>
          </a:bodyPr>
          <a:lstStyle/>
          <a:p>
            <a:pPr algn="ctr">
              <a:lnSpc>
                <a:spcPct val="95000"/>
              </a:lnSpc>
            </a:pPr>
            <a:r>
              <a:rPr sz="1000" b="0" i="0">
                <a:solidFill>
                  <a:srgbClr val="1F2430"/>
                </a:solidFill>
                <a:latin typeface="PT Sans"/>
              </a:rPr>
              <a:t>Палоо</a:t>
            </a:r>
          </a:p>
          <a:p>
            <a:pPr algn="ctr">
              <a:lnSpc>
                <a:spcPct val="95000"/>
              </a:lnSpc>
            </a:pPr>
            <a:r>
              <a:rPr sz="1000" b="1" i="0">
                <a:solidFill>
                  <a:srgbClr val="1F2430"/>
                </a:solidFill>
                <a:latin typeface="PT Sans"/>
              </a:rPr>
              <a:t>144°</a:t>
            </a:r>
          </a:p>
        </p:txBody>
      </p:sp>
      <p:sp>
        <p:nvSpPr>
          <p:cNvPr id="54" name="TextBox 53"/>
          <p:cNvSpPr txBox="1"/>
          <p:nvPr/>
        </p:nvSpPr>
        <p:spPr>
          <a:xfrm>
            <a:off x="10471768" y="4349646"/>
            <a:ext cx="609600" cy="372364"/>
          </a:xfrm>
          <a:prstGeom prst="rect">
            <a:avLst/>
          </a:prstGeom>
          <a:noFill/>
        </p:spPr>
        <p:txBody>
          <a:bodyPr wrap="square" anchor="ctr" lIns="45720" rIns="45720" tIns="27432" bIns="27432">
            <a:spAutoFit/>
          </a:bodyPr>
          <a:lstStyle/>
          <a:p>
            <a:pPr algn="ctr">
              <a:lnSpc>
                <a:spcPct val="95000"/>
              </a:lnSpc>
            </a:pPr>
            <a:r>
              <a:rPr sz="1000" b="0" i="0">
                <a:solidFill>
                  <a:srgbClr val="1F2430"/>
                </a:solidFill>
                <a:latin typeface="PT Sans"/>
              </a:rPr>
              <a:t>Лагман</a:t>
            </a:r>
          </a:p>
          <a:p>
            <a:pPr algn="ctr">
              <a:lnSpc>
                <a:spcPct val="95000"/>
              </a:lnSpc>
            </a:pPr>
            <a:r>
              <a:rPr sz="1000" b="1" i="0">
                <a:solidFill>
                  <a:srgbClr val="1F2430"/>
                </a:solidFill>
                <a:latin typeface="PT Sans"/>
              </a:rPr>
              <a:t>108°</a:t>
            </a:r>
          </a:p>
        </p:txBody>
      </p:sp>
      <p:sp>
        <p:nvSpPr>
          <p:cNvPr id="55" name="TextBox 54"/>
          <p:cNvSpPr txBox="1"/>
          <p:nvPr/>
        </p:nvSpPr>
        <p:spPr>
          <a:xfrm>
            <a:off x="10276237" y="3626693"/>
            <a:ext cx="530859" cy="372364"/>
          </a:xfrm>
          <a:prstGeom prst="rect">
            <a:avLst/>
          </a:prstGeom>
          <a:noFill/>
        </p:spPr>
        <p:txBody>
          <a:bodyPr wrap="square" anchor="ctr" lIns="45720" rIns="45720" tIns="27432" bIns="27432">
            <a:spAutoFit/>
          </a:bodyPr>
          <a:lstStyle/>
          <a:p>
            <a:pPr algn="ctr">
              <a:lnSpc>
                <a:spcPct val="95000"/>
              </a:lnSpc>
            </a:pPr>
            <a:r>
              <a:rPr sz="1000" b="0" i="0">
                <a:solidFill>
                  <a:srgbClr val="1F2430"/>
                </a:solidFill>
                <a:latin typeface="PT Sans"/>
              </a:rPr>
              <a:t>Манты</a:t>
            </a:r>
          </a:p>
          <a:p>
            <a:pPr algn="ctr">
              <a:lnSpc>
                <a:spcPct val="95000"/>
              </a:lnSpc>
            </a:pPr>
            <a:r>
              <a:rPr sz="1000" b="1" i="0">
                <a:solidFill>
                  <a:srgbClr val="1F2430"/>
                </a:solidFill>
                <a:latin typeface="PT Sans"/>
              </a:rPr>
              <a:t>108°</a:t>
            </a:r>
          </a:p>
        </p:txBody>
      </p:sp>
      <p:sp>
        <p:nvSpPr>
          <p:cNvPr id="56" name="TextBox 55"/>
          <p:cNvSpPr txBox="1"/>
          <p:nvPr/>
        </p:nvSpPr>
        <p:spPr>
          <a:xfrm>
            <a:off x="9458706" y="3010534"/>
            <a:ext cx="2926080" cy="213614"/>
          </a:xfrm>
          <a:prstGeom prst="rect">
            <a:avLst/>
          </a:prstGeom>
          <a:noFill/>
        </p:spPr>
        <p:txBody>
          <a:bodyPr wrap="square" anchor="ctr" lIns="45720" rIns="45720" tIns="27432" bIns="27432">
            <a:spAutoFit/>
          </a:bodyPr>
          <a:lstStyle/>
          <a:p>
            <a:pPr algn="ctr">
              <a:lnSpc>
                <a:spcPct val="105000"/>
              </a:lnSpc>
            </a:pPr>
            <a:r>
              <a:rPr sz="1000" b="1" i="0">
                <a:solidFill>
                  <a:srgbClr val="1D3557"/>
                </a:solidFill>
                <a:latin typeface="PT Sans"/>
              </a:rPr>
              <a:t>Б · 200</a:t>
            </a:r>
          </a:p>
        </p:txBody>
      </p:sp>
      <p:sp>
        <p:nvSpPr>
          <p:cNvPr id="57" name="TextBox 56"/>
          <p:cNvSpPr txBox="1"/>
          <p:nvPr/>
        </p:nvSpPr>
        <p:spPr>
          <a:xfrm>
            <a:off x="8317991"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А: 100 &gt; Б: 80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Өз алдынча иш</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20/26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Дептериңе чыгар. Кыйын болсо – жакшы! Мээң өсүп жатат.</a:t>
            </a:r>
          </a:p>
        </p:txBody>
      </p:sp>
      <p:sp>
        <p:nvSpPr>
          <p:cNvPr id="11" name="Rounded Rectangle 10"/>
          <p:cNvSpPr/>
          <p:nvPr/>
        </p:nvSpPr>
        <p:spPr>
          <a:xfrm>
            <a:off x="429768" y="169164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Сектор 45°: бүтүндүн канча бөлүгү?</a:t>
            </a:r>
          </a:p>
        </p:txBody>
      </p:sp>
      <p:sp>
        <p:nvSpPr>
          <p:cNvPr id="14" name="Rounded Rectangle 13"/>
          <p:cNvSpPr/>
          <p:nvPr/>
        </p:nvSpPr>
        <p:spPr>
          <a:xfrm>
            <a:off x="6208776" y="169164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6986016" y="169164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20 окуучу: 1 окуучу = ?°</a:t>
            </a:r>
          </a:p>
        </p:txBody>
      </p:sp>
      <p:sp>
        <p:nvSpPr>
          <p:cNvPr id="17" name="Rounded Rectangle 16"/>
          <p:cNvSpPr/>
          <p:nvPr/>
        </p:nvSpPr>
        <p:spPr>
          <a:xfrm>
            <a:off x="429768" y="323088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323088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20 окуучудан 5и: бурчу?</a:t>
            </a:r>
          </a:p>
        </p:txBody>
      </p:sp>
      <p:sp>
        <p:nvSpPr>
          <p:cNvPr id="20" name="Rounded Rectangle 19"/>
          <p:cNvSpPr/>
          <p:nvPr/>
        </p:nvSpPr>
        <p:spPr>
          <a:xfrm>
            <a:off x="6208776" y="323088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2" name="TextBox 21"/>
          <p:cNvSpPr txBox="1"/>
          <p:nvPr/>
        </p:nvSpPr>
        <p:spPr>
          <a:xfrm>
            <a:off x="6986016" y="323088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60 окуучу, сектор 120°: канча окуучу?</a:t>
            </a:r>
          </a:p>
        </p:txBody>
      </p:sp>
      <p:sp>
        <p:nvSpPr>
          <p:cNvPr id="23" name="Rounded Rectangle 22"/>
          <p:cNvSpPr/>
          <p:nvPr/>
        </p:nvSpPr>
        <p:spPr>
          <a:xfrm>
            <a:off x="429768" y="477012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12647"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5</a:t>
            </a:r>
          </a:p>
        </p:txBody>
      </p:sp>
      <p:sp>
        <p:nvSpPr>
          <p:cNvPr id="25" name="TextBox 24"/>
          <p:cNvSpPr txBox="1"/>
          <p:nvPr/>
        </p:nvSpPr>
        <p:spPr>
          <a:xfrm>
            <a:off x="1207007" y="477012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30% → ?°</a:t>
            </a:r>
          </a:p>
        </p:txBody>
      </p:sp>
      <p:sp>
        <p:nvSpPr>
          <p:cNvPr id="26" name="Rounded Rectangle 25"/>
          <p:cNvSpPr/>
          <p:nvPr/>
        </p:nvSpPr>
        <p:spPr>
          <a:xfrm>
            <a:off x="6208776" y="477012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91656"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6</a:t>
            </a:r>
          </a:p>
        </p:txBody>
      </p:sp>
      <p:sp>
        <p:nvSpPr>
          <p:cNvPr id="28" name="TextBox 27"/>
          <p:cNvSpPr txBox="1"/>
          <p:nvPr/>
        </p:nvSpPr>
        <p:spPr>
          <a:xfrm>
            <a:off x="6986016" y="477012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Сектор 72° = 6 окуучу. Баары?</a:t>
            </a:r>
          </a:p>
        </p:txBody>
      </p:sp>
      <p:sp>
        <p:nvSpPr>
          <p:cNvPr id="29" name="Rounded Rectangle 28"/>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0" name="Rounded Rectangle 29"/>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1" name="Rounded Rectangle 30"/>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Өз алдынча иш: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21/26</a:t>
            </a:r>
          </a:p>
        </p:txBody>
      </p:sp>
      <p:sp>
        <p:nvSpPr>
          <p:cNvPr id="10" name="Rounded Rectangle 9"/>
          <p:cNvSpPr/>
          <p:nvPr/>
        </p:nvSpPr>
        <p:spPr>
          <a:xfrm>
            <a:off x="429768"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115568"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Сектор 45°: бүтүндүн канча бөлүгү?</a:t>
            </a:r>
          </a:p>
        </p:txBody>
      </p:sp>
      <p:sp>
        <p:nvSpPr>
          <p:cNvPr id="13" name="TextBox 12"/>
          <p:cNvSpPr txBox="1"/>
          <p:nvPr/>
        </p:nvSpPr>
        <p:spPr>
          <a:xfrm>
            <a:off x="4334804"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1/8</a:t>
            </a:r>
          </a:p>
        </p:txBody>
      </p:sp>
      <p:sp>
        <p:nvSpPr>
          <p:cNvPr id="14" name="Rounded Rectangle 13"/>
          <p:cNvSpPr/>
          <p:nvPr/>
        </p:nvSpPr>
        <p:spPr>
          <a:xfrm>
            <a:off x="6208776"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45936"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6" name="TextBox 15"/>
          <p:cNvSpPr txBox="1"/>
          <p:nvPr/>
        </p:nvSpPr>
        <p:spPr>
          <a:xfrm>
            <a:off x="6894576"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20 окуучу: 1 окуучу = ?°</a:t>
            </a:r>
          </a:p>
        </p:txBody>
      </p:sp>
      <p:sp>
        <p:nvSpPr>
          <p:cNvPr id="17" name="TextBox 16"/>
          <p:cNvSpPr txBox="1"/>
          <p:nvPr/>
        </p:nvSpPr>
        <p:spPr>
          <a:xfrm>
            <a:off x="10113812"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18°</a:t>
            </a:r>
          </a:p>
        </p:txBody>
      </p:sp>
      <p:sp>
        <p:nvSpPr>
          <p:cNvPr id="18" name="Rounded Rectangle 17"/>
          <p:cNvSpPr/>
          <p:nvPr/>
        </p:nvSpPr>
        <p:spPr>
          <a:xfrm>
            <a:off x="429768"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0" name="TextBox 19"/>
          <p:cNvSpPr txBox="1"/>
          <p:nvPr/>
        </p:nvSpPr>
        <p:spPr>
          <a:xfrm>
            <a:off x="1115568"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20 окуучудан 5и: бурчу?</a:t>
            </a:r>
          </a:p>
        </p:txBody>
      </p:sp>
      <p:sp>
        <p:nvSpPr>
          <p:cNvPr id="21" name="TextBox 20"/>
          <p:cNvSpPr txBox="1"/>
          <p:nvPr/>
        </p:nvSpPr>
        <p:spPr>
          <a:xfrm>
            <a:off x="4334804"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90°</a:t>
            </a:r>
          </a:p>
        </p:txBody>
      </p:sp>
      <p:sp>
        <p:nvSpPr>
          <p:cNvPr id="22" name="Rounded Rectangle 21"/>
          <p:cNvSpPr/>
          <p:nvPr/>
        </p:nvSpPr>
        <p:spPr>
          <a:xfrm>
            <a:off x="6208776"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24" name="TextBox 23"/>
          <p:cNvSpPr txBox="1"/>
          <p:nvPr/>
        </p:nvSpPr>
        <p:spPr>
          <a:xfrm>
            <a:off x="6894576"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60 окуучу, сектор 120°: канча окуучу?</a:t>
            </a:r>
          </a:p>
        </p:txBody>
      </p:sp>
      <p:sp>
        <p:nvSpPr>
          <p:cNvPr id="25" name="TextBox 24"/>
          <p:cNvSpPr txBox="1"/>
          <p:nvPr/>
        </p:nvSpPr>
        <p:spPr>
          <a:xfrm>
            <a:off x="10113812"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20</a:t>
            </a:r>
          </a:p>
        </p:txBody>
      </p:sp>
      <p:sp>
        <p:nvSpPr>
          <p:cNvPr id="26" name="Rounded Rectangle 25"/>
          <p:cNvSpPr/>
          <p:nvPr/>
        </p:nvSpPr>
        <p:spPr>
          <a:xfrm>
            <a:off x="429768" y="3374136"/>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66928" y="3630168"/>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5</a:t>
            </a:r>
          </a:p>
        </p:txBody>
      </p:sp>
      <p:sp>
        <p:nvSpPr>
          <p:cNvPr id="28" name="TextBox 27"/>
          <p:cNvSpPr txBox="1"/>
          <p:nvPr/>
        </p:nvSpPr>
        <p:spPr>
          <a:xfrm>
            <a:off x="1115568" y="3374136"/>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30% → ?°</a:t>
            </a:r>
          </a:p>
        </p:txBody>
      </p:sp>
      <p:sp>
        <p:nvSpPr>
          <p:cNvPr id="29" name="TextBox 28"/>
          <p:cNvSpPr txBox="1"/>
          <p:nvPr/>
        </p:nvSpPr>
        <p:spPr>
          <a:xfrm>
            <a:off x="4334804" y="3374136"/>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108°</a:t>
            </a:r>
          </a:p>
        </p:txBody>
      </p:sp>
      <p:sp>
        <p:nvSpPr>
          <p:cNvPr id="30" name="Rounded Rectangle 29"/>
          <p:cNvSpPr/>
          <p:nvPr/>
        </p:nvSpPr>
        <p:spPr>
          <a:xfrm>
            <a:off x="6208776" y="3374136"/>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45936" y="3630168"/>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6</a:t>
            </a:r>
          </a:p>
        </p:txBody>
      </p:sp>
      <p:sp>
        <p:nvSpPr>
          <p:cNvPr id="32" name="TextBox 31"/>
          <p:cNvSpPr txBox="1"/>
          <p:nvPr/>
        </p:nvSpPr>
        <p:spPr>
          <a:xfrm>
            <a:off x="6894576" y="3374136"/>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Сектор 72° = 6 окуучу. Баары?</a:t>
            </a:r>
          </a:p>
        </p:txBody>
      </p:sp>
      <p:sp>
        <p:nvSpPr>
          <p:cNvPr id="33" name="TextBox 32"/>
          <p:cNvSpPr txBox="1"/>
          <p:nvPr/>
        </p:nvSpPr>
        <p:spPr>
          <a:xfrm>
            <a:off x="10113812" y="3374136"/>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Окуяга кайтабыз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22/26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6А (36 окуучу): палоо 150°. 6Б (24 окуучу): палоо 180°. Нургиза туурабы? Чолпон эже эки класска канча порция палоо даярдашы керек?</a:t>
            </a:r>
          </a:p>
        </p:txBody>
      </p:sp>
      <p:sp>
        <p:nvSpPr>
          <p:cNvPr id="12" name="Freeform 11"/>
          <p:cNvSpPr/>
          <p:nvPr/>
        </p:nvSpPr>
        <p:spPr>
          <a:xfrm>
            <a:off x="1530950" y="2653342"/>
            <a:ext cx="818030" cy="1526380"/>
          </a:xfrm>
          <a:custGeom>
            <a:avLst/>
            <a:gdLst/>
            <a:ahLst/>
            <a:cxnLst/>
            <a:rect l="l" t="t" r="r" b="b"/>
            <a:pathLst>
              <a:path w="895" h="1670">
                <a:moveTo>
                  <a:pt x="0" y="895"/>
                </a:moveTo>
                <a:lnTo>
                  <a:pt x="0" y="0"/>
                </a:lnTo>
                <a:lnTo>
                  <a:pt x="78" y="3"/>
                </a:lnTo>
                <a:lnTo>
                  <a:pt x="155" y="13"/>
                </a:lnTo>
                <a:lnTo>
                  <a:pt x="232" y="30"/>
                </a:lnTo>
                <a:lnTo>
                  <a:pt x="306" y="54"/>
                </a:lnTo>
                <a:lnTo>
                  <a:pt x="378" y="84"/>
                </a:lnTo>
                <a:lnTo>
                  <a:pt x="447" y="120"/>
                </a:lnTo>
                <a:lnTo>
                  <a:pt x="513" y="162"/>
                </a:lnTo>
                <a:lnTo>
                  <a:pt x="575" y="209"/>
                </a:lnTo>
                <a:lnTo>
                  <a:pt x="633" y="262"/>
                </a:lnTo>
                <a:lnTo>
                  <a:pt x="686" y="320"/>
                </a:lnTo>
                <a:lnTo>
                  <a:pt x="733" y="381"/>
                </a:lnTo>
                <a:lnTo>
                  <a:pt x="775" y="447"/>
                </a:lnTo>
                <a:lnTo>
                  <a:pt x="811" y="517"/>
                </a:lnTo>
                <a:lnTo>
                  <a:pt x="841" y="589"/>
                </a:lnTo>
                <a:lnTo>
                  <a:pt x="865" y="663"/>
                </a:lnTo>
                <a:lnTo>
                  <a:pt x="881" y="739"/>
                </a:lnTo>
                <a:lnTo>
                  <a:pt x="892" y="817"/>
                </a:lnTo>
                <a:lnTo>
                  <a:pt x="895" y="895"/>
                </a:lnTo>
                <a:lnTo>
                  <a:pt x="892" y="973"/>
                </a:lnTo>
                <a:lnTo>
                  <a:pt x="881" y="1050"/>
                </a:lnTo>
                <a:lnTo>
                  <a:pt x="865" y="1126"/>
                </a:lnTo>
                <a:lnTo>
                  <a:pt x="841" y="1201"/>
                </a:lnTo>
                <a:lnTo>
                  <a:pt x="811" y="1273"/>
                </a:lnTo>
                <a:lnTo>
                  <a:pt x="775" y="1342"/>
                </a:lnTo>
                <a:lnTo>
                  <a:pt x="733" y="1408"/>
                </a:lnTo>
                <a:lnTo>
                  <a:pt x="686" y="1470"/>
                </a:lnTo>
                <a:lnTo>
                  <a:pt x="633" y="1528"/>
                </a:lnTo>
                <a:lnTo>
                  <a:pt x="575" y="1580"/>
                </a:lnTo>
                <a:lnTo>
                  <a:pt x="513" y="1628"/>
                </a:lnTo>
                <a:lnTo>
                  <a:pt x="447" y="1670"/>
                </a:lnTo>
                <a:close/>
              </a:path>
            </a:pathLst>
          </a:custGeom>
          <a:solidFill>
            <a:srgbClr val="F2C9AC"/>
          </a:solid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712920" y="2653342"/>
            <a:ext cx="1226588" cy="1636060"/>
          </a:xfrm>
          <a:custGeom>
            <a:avLst/>
            <a:gdLst/>
            <a:ahLst/>
            <a:cxnLst/>
            <a:rect l="l" t="t" r="r" b="b"/>
            <a:pathLst>
              <a:path w="1342" h="1790">
                <a:moveTo>
                  <a:pt x="895" y="895"/>
                </a:moveTo>
                <a:lnTo>
                  <a:pt x="1342" y="1670"/>
                </a:lnTo>
                <a:lnTo>
                  <a:pt x="1273" y="1706"/>
                </a:lnTo>
                <a:lnTo>
                  <a:pt x="1201" y="1736"/>
                </a:lnTo>
                <a:lnTo>
                  <a:pt x="1127" y="1759"/>
                </a:lnTo>
                <a:lnTo>
                  <a:pt x="1050" y="1776"/>
                </a:lnTo>
                <a:lnTo>
                  <a:pt x="973" y="1786"/>
                </a:lnTo>
                <a:lnTo>
                  <a:pt x="895" y="1790"/>
                </a:lnTo>
                <a:lnTo>
                  <a:pt x="817" y="1786"/>
                </a:lnTo>
                <a:lnTo>
                  <a:pt x="740" y="1776"/>
                </a:lnTo>
                <a:lnTo>
                  <a:pt x="663" y="1759"/>
                </a:lnTo>
                <a:lnTo>
                  <a:pt x="589" y="1736"/>
                </a:lnTo>
                <a:lnTo>
                  <a:pt x="517" y="1706"/>
                </a:lnTo>
                <a:lnTo>
                  <a:pt x="447" y="1670"/>
                </a:lnTo>
                <a:lnTo>
                  <a:pt x="382" y="1628"/>
                </a:lnTo>
                <a:lnTo>
                  <a:pt x="320" y="1580"/>
                </a:lnTo>
                <a:lnTo>
                  <a:pt x="262" y="1528"/>
                </a:lnTo>
                <a:lnTo>
                  <a:pt x="209" y="1470"/>
                </a:lnTo>
                <a:lnTo>
                  <a:pt x="162" y="1408"/>
                </a:lnTo>
                <a:lnTo>
                  <a:pt x="120" y="1342"/>
                </a:lnTo>
                <a:lnTo>
                  <a:pt x="84" y="1273"/>
                </a:lnTo>
                <a:lnTo>
                  <a:pt x="54" y="1201"/>
                </a:lnTo>
                <a:lnTo>
                  <a:pt x="30" y="1126"/>
                </a:lnTo>
                <a:lnTo>
                  <a:pt x="14" y="1050"/>
                </a:lnTo>
                <a:lnTo>
                  <a:pt x="3" y="973"/>
                </a:lnTo>
                <a:lnTo>
                  <a:pt x="0" y="895"/>
                </a:lnTo>
                <a:lnTo>
                  <a:pt x="3" y="817"/>
                </a:lnTo>
                <a:lnTo>
                  <a:pt x="14" y="739"/>
                </a:lnTo>
                <a:lnTo>
                  <a:pt x="30" y="663"/>
                </a:lnTo>
                <a:lnTo>
                  <a:pt x="54" y="589"/>
                </a:lnTo>
                <a:lnTo>
                  <a:pt x="84" y="517"/>
                </a:lnTo>
                <a:lnTo>
                  <a:pt x="120" y="447"/>
                </a:lnTo>
                <a:lnTo>
                  <a:pt x="162" y="381"/>
                </a:lnTo>
                <a:lnTo>
                  <a:pt x="209" y="320"/>
                </a:lnTo>
                <a:lnTo>
                  <a:pt x="262" y="262"/>
                </a:lnTo>
                <a:lnTo>
                  <a:pt x="320" y="209"/>
                </a:lnTo>
                <a:lnTo>
                  <a:pt x="382" y="162"/>
                </a:lnTo>
                <a:lnTo>
                  <a:pt x="447" y="120"/>
                </a:lnTo>
                <a:lnTo>
                  <a:pt x="517" y="84"/>
                </a:lnTo>
                <a:lnTo>
                  <a:pt x="589" y="54"/>
                </a:lnTo>
                <a:lnTo>
                  <a:pt x="663" y="30"/>
                </a:lnTo>
                <a:lnTo>
                  <a:pt x="740" y="13"/>
                </a:lnTo>
                <a:lnTo>
                  <a:pt x="817" y="3"/>
                </a:lnTo>
                <a:lnTo>
                  <a:pt x="895" y="0"/>
                </a:lnTo>
                <a:close/>
              </a:path>
            </a:pathLst>
          </a:custGeom>
          <a:solidFill>
            <a:srgbClr val="DDE2E8"/>
          </a:solid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13231" y="2654363"/>
            <a:ext cx="1636776" cy="1636776"/>
          </a:xfrm>
          <a:prstGeom prst="ellipse">
            <a:avLst/>
          </a:prstGeom>
          <a:noFill/>
          <a:ln w="1587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65626" y="3116092"/>
            <a:ext cx="648970" cy="467614"/>
          </a:xfrm>
          <a:prstGeom prst="rect">
            <a:avLst/>
          </a:prstGeom>
          <a:noFill/>
        </p:spPr>
        <p:txBody>
          <a:bodyPr wrap="square" anchor="ctr" lIns="45720" rIns="45720" tIns="27432" bIns="27432">
            <a:spAutoFit/>
          </a:bodyPr>
          <a:lstStyle/>
          <a:p>
            <a:pPr algn="ctr">
              <a:lnSpc>
                <a:spcPct val="95000"/>
              </a:lnSpc>
            </a:pPr>
            <a:r>
              <a:rPr sz="1300" b="0" i="0">
                <a:solidFill>
                  <a:srgbClr val="1F2430"/>
                </a:solidFill>
                <a:latin typeface="PT Sans"/>
              </a:rPr>
              <a:t>Палоо</a:t>
            </a:r>
          </a:p>
          <a:p>
            <a:pPr algn="ctr">
              <a:lnSpc>
                <a:spcPct val="95000"/>
              </a:lnSpc>
            </a:pPr>
            <a:r>
              <a:rPr sz="1300" b="1" i="0">
                <a:solidFill>
                  <a:srgbClr val="1F2430"/>
                </a:solidFill>
                <a:latin typeface="PT Sans"/>
              </a:rPr>
              <a:t>150°</a:t>
            </a:r>
          </a:p>
        </p:txBody>
      </p:sp>
      <p:sp>
        <p:nvSpPr>
          <p:cNvPr id="16" name="TextBox 15"/>
          <p:cNvSpPr txBox="1"/>
          <p:nvPr/>
        </p:nvSpPr>
        <p:spPr>
          <a:xfrm>
            <a:off x="68579" y="2338260"/>
            <a:ext cx="2926080" cy="261239"/>
          </a:xfrm>
          <a:prstGeom prst="rect">
            <a:avLst/>
          </a:prstGeom>
          <a:noFill/>
        </p:spPr>
        <p:txBody>
          <a:bodyPr wrap="square" anchor="ctr" lIns="45720" rIns="45720" tIns="27432" bIns="27432">
            <a:spAutoFit/>
          </a:bodyPr>
          <a:lstStyle/>
          <a:p>
            <a:pPr algn="ctr">
              <a:lnSpc>
                <a:spcPct val="105000"/>
              </a:lnSpc>
            </a:pPr>
            <a:r>
              <a:rPr sz="1300" b="1" i="0">
                <a:solidFill>
                  <a:srgbClr val="1D3557"/>
                </a:solidFill>
                <a:latin typeface="PT Sans"/>
              </a:rPr>
              <a:t>6А · 36 окуучу</a:t>
            </a:r>
          </a:p>
        </p:txBody>
      </p:sp>
      <p:sp>
        <p:nvSpPr>
          <p:cNvPr id="17" name="Freeform 16"/>
          <p:cNvSpPr/>
          <p:nvPr/>
        </p:nvSpPr>
        <p:spPr>
          <a:xfrm>
            <a:off x="3313250" y="2653342"/>
            <a:ext cx="818030" cy="1636060"/>
          </a:xfrm>
          <a:custGeom>
            <a:avLst/>
            <a:gdLst/>
            <a:ahLst/>
            <a:cxnLst/>
            <a:rect l="l" t="t" r="r" b="b"/>
            <a:pathLst>
              <a:path w="895" h="1790">
                <a:moveTo>
                  <a:pt x="0" y="895"/>
                </a:moveTo>
                <a:lnTo>
                  <a:pt x="0" y="0"/>
                </a:lnTo>
                <a:lnTo>
                  <a:pt x="78" y="3"/>
                </a:lnTo>
                <a:lnTo>
                  <a:pt x="155" y="13"/>
                </a:lnTo>
                <a:lnTo>
                  <a:pt x="232" y="30"/>
                </a:lnTo>
                <a:lnTo>
                  <a:pt x="306" y="54"/>
                </a:lnTo>
                <a:lnTo>
                  <a:pt x="378" y="84"/>
                </a:lnTo>
                <a:lnTo>
                  <a:pt x="447" y="120"/>
                </a:lnTo>
                <a:lnTo>
                  <a:pt x="513" y="162"/>
                </a:lnTo>
                <a:lnTo>
                  <a:pt x="575" y="209"/>
                </a:lnTo>
                <a:lnTo>
                  <a:pt x="633" y="262"/>
                </a:lnTo>
                <a:lnTo>
                  <a:pt x="686" y="320"/>
                </a:lnTo>
                <a:lnTo>
                  <a:pt x="733" y="381"/>
                </a:lnTo>
                <a:lnTo>
                  <a:pt x="775" y="447"/>
                </a:lnTo>
                <a:lnTo>
                  <a:pt x="811" y="517"/>
                </a:lnTo>
                <a:lnTo>
                  <a:pt x="841" y="589"/>
                </a:lnTo>
                <a:lnTo>
                  <a:pt x="865" y="663"/>
                </a:lnTo>
                <a:lnTo>
                  <a:pt x="881" y="739"/>
                </a:lnTo>
                <a:lnTo>
                  <a:pt x="892" y="817"/>
                </a:lnTo>
                <a:lnTo>
                  <a:pt x="895" y="895"/>
                </a:lnTo>
                <a:lnTo>
                  <a:pt x="892" y="973"/>
                </a:lnTo>
                <a:lnTo>
                  <a:pt x="881" y="1050"/>
                </a:lnTo>
                <a:lnTo>
                  <a:pt x="865" y="1126"/>
                </a:lnTo>
                <a:lnTo>
                  <a:pt x="841" y="1201"/>
                </a:lnTo>
                <a:lnTo>
                  <a:pt x="811" y="1273"/>
                </a:lnTo>
                <a:lnTo>
                  <a:pt x="775" y="1342"/>
                </a:lnTo>
                <a:lnTo>
                  <a:pt x="733" y="1408"/>
                </a:lnTo>
                <a:lnTo>
                  <a:pt x="686" y="1470"/>
                </a:lnTo>
                <a:lnTo>
                  <a:pt x="633" y="1528"/>
                </a:lnTo>
                <a:lnTo>
                  <a:pt x="575" y="1580"/>
                </a:lnTo>
                <a:lnTo>
                  <a:pt x="513" y="1628"/>
                </a:lnTo>
                <a:lnTo>
                  <a:pt x="447" y="1670"/>
                </a:lnTo>
                <a:lnTo>
                  <a:pt x="378" y="1706"/>
                </a:lnTo>
                <a:lnTo>
                  <a:pt x="306" y="1736"/>
                </a:lnTo>
                <a:lnTo>
                  <a:pt x="232" y="1759"/>
                </a:lnTo>
                <a:lnTo>
                  <a:pt x="155" y="1776"/>
                </a:lnTo>
                <a:lnTo>
                  <a:pt x="78" y="1786"/>
                </a:lnTo>
                <a:lnTo>
                  <a:pt x="0" y="1790"/>
                </a:lnTo>
                <a:close/>
              </a:path>
            </a:pathLst>
          </a:custGeom>
          <a:solidFill>
            <a:srgbClr val="F2C9AC"/>
          </a:solid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2495220" y="2653342"/>
            <a:ext cx="818030" cy="1636060"/>
          </a:xfrm>
          <a:custGeom>
            <a:avLst/>
            <a:gdLst/>
            <a:ahLst/>
            <a:cxnLst/>
            <a:rect l="l" t="t" r="r" b="b"/>
            <a:pathLst>
              <a:path w="895" h="1790">
                <a:moveTo>
                  <a:pt x="895" y="895"/>
                </a:moveTo>
                <a:lnTo>
                  <a:pt x="895" y="1790"/>
                </a:lnTo>
                <a:lnTo>
                  <a:pt x="817" y="1786"/>
                </a:lnTo>
                <a:lnTo>
                  <a:pt x="740" y="1776"/>
                </a:lnTo>
                <a:lnTo>
                  <a:pt x="663" y="1759"/>
                </a:lnTo>
                <a:lnTo>
                  <a:pt x="589" y="1736"/>
                </a:lnTo>
                <a:lnTo>
                  <a:pt x="517" y="1706"/>
                </a:lnTo>
                <a:lnTo>
                  <a:pt x="447" y="1670"/>
                </a:lnTo>
                <a:lnTo>
                  <a:pt x="382" y="1628"/>
                </a:lnTo>
                <a:lnTo>
                  <a:pt x="320" y="1580"/>
                </a:lnTo>
                <a:lnTo>
                  <a:pt x="262" y="1528"/>
                </a:lnTo>
                <a:lnTo>
                  <a:pt x="209" y="1470"/>
                </a:lnTo>
                <a:lnTo>
                  <a:pt x="162" y="1408"/>
                </a:lnTo>
                <a:lnTo>
                  <a:pt x="120" y="1342"/>
                </a:lnTo>
                <a:lnTo>
                  <a:pt x="84" y="1273"/>
                </a:lnTo>
                <a:lnTo>
                  <a:pt x="54" y="1201"/>
                </a:lnTo>
                <a:lnTo>
                  <a:pt x="30" y="1126"/>
                </a:lnTo>
                <a:lnTo>
                  <a:pt x="14" y="1050"/>
                </a:lnTo>
                <a:lnTo>
                  <a:pt x="3" y="973"/>
                </a:lnTo>
                <a:lnTo>
                  <a:pt x="0" y="895"/>
                </a:lnTo>
                <a:lnTo>
                  <a:pt x="3" y="817"/>
                </a:lnTo>
                <a:lnTo>
                  <a:pt x="14" y="739"/>
                </a:lnTo>
                <a:lnTo>
                  <a:pt x="30" y="663"/>
                </a:lnTo>
                <a:lnTo>
                  <a:pt x="54" y="589"/>
                </a:lnTo>
                <a:lnTo>
                  <a:pt x="84" y="517"/>
                </a:lnTo>
                <a:lnTo>
                  <a:pt x="120" y="447"/>
                </a:lnTo>
                <a:lnTo>
                  <a:pt x="162" y="381"/>
                </a:lnTo>
                <a:lnTo>
                  <a:pt x="209" y="320"/>
                </a:lnTo>
                <a:lnTo>
                  <a:pt x="262" y="262"/>
                </a:lnTo>
                <a:lnTo>
                  <a:pt x="320" y="209"/>
                </a:lnTo>
                <a:lnTo>
                  <a:pt x="382" y="162"/>
                </a:lnTo>
                <a:lnTo>
                  <a:pt x="447" y="120"/>
                </a:lnTo>
                <a:lnTo>
                  <a:pt x="517" y="84"/>
                </a:lnTo>
                <a:lnTo>
                  <a:pt x="589" y="54"/>
                </a:lnTo>
                <a:lnTo>
                  <a:pt x="663" y="30"/>
                </a:lnTo>
                <a:lnTo>
                  <a:pt x="740" y="13"/>
                </a:lnTo>
                <a:lnTo>
                  <a:pt x="817" y="3"/>
                </a:lnTo>
                <a:lnTo>
                  <a:pt x="895" y="0"/>
                </a:lnTo>
                <a:close/>
              </a:path>
            </a:pathLst>
          </a:custGeom>
          <a:solidFill>
            <a:srgbClr val="DDE2E8"/>
          </a:solidFill>
          <a:ln w="127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496312" y="2654363"/>
            <a:ext cx="1636776" cy="1636776"/>
          </a:xfrm>
          <a:prstGeom prst="ellipse">
            <a:avLst/>
          </a:prstGeom>
          <a:noFill/>
          <a:ln w="1587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64880" y="3238944"/>
            <a:ext cx="648970" cy="467614"/>
          </a:xfrm>
          <a:prstGeom prst="rect">
            <a:avLst/>
          </a:prstGeom>
          <a:noFill/>
        </p:spPr>
        <p:txBody>
          <a:bodyPr wrap="square" anchor="ctr" lIns="45720" rIns="45720" tIns="27432" bIns="27432">
            <a:spAutoFit/>
          </a:bodyPr>
          <a:lstStyle/>
          <a:p>
            <a:pPr algn="ctr">
              <a:lnSpc>
                <a:spcPct val="95000"/>
              </a:lnSpc>
            </a:pPr>
            <a:r>
              <a:rPr sz="1300" b="0" i="0">
                <a:solidFill>
                  <a:srgbClr val="1F2430"/>
                </a:solidFill>
                <a:latin typeface="PT Sans"/>
              </a:rPr>
              <a:t>Палоо</a:t>
            </a:r>
          </a:p>
          <a:p>
            <a:pPr algn="ctr">
              <a:lnSpc>
                <a:spcPct val="95000"/>
              </a:lnSpc>
            </a:pPr>
            <a:r>
              <a:rPr sz="1300" b="1" i="0">
                <a:solidFill>
                  <a:srgbClr val="1F2430"/>
                </a:solidFill>
                <a:latin typeface="PT Sans"/>
              </a:rPr>
              <a:t>180°</a:t>
            </a:r>
          </a:p>
        </p:txBody>
      </p:sp>
      <p:sp>
        <p:nvSpPr>
          <p:cNvPr id="21" name="TextBox 20"/>
          <p:cNvSpPr txBox="1"/>
          <p:nvPr/>
        </p:nvSpPr>
        <p:spPr>
          <a:xfrm>
            <a:off x="1851660" y="2338260"/>
            <a:ext cx="2926080" cy="261239"/>
          </a:xfrm>
          <a:prstGeom prst="rect">
            <a:avLst/>
          </a:prstGeom>
          <a:noFill/>
        </p:spPr>
        <p:txBody>
          <a:bodyPr wrap="square" anchor="ctr" lIns="45720" rIns="45720" tIns="27432" bIns="27432">
            <a:spAutoFit/>
          </a:bodyPr>
          <a:lstStyle/>
          <a:p>
            <a:pPr algn="ctr">
              <a:lnSpc>
                <a:spcPct val="105000"/>
              </a:lnSpc>
            </a:pPr>
            <a:r>
              <a:rPr sz="1300" b="1" i="0">
                <a:solidFill>
                  <a:srgbClr val="1D3557"/>
                </a:solidFill>
                <a:latin typeface="PT Sans"/>
              </a:rPr>
              <a:t>6Б · 24 окуучу</a:t>
            </a:r>
          </a:p>
        </p:txBody>
      </p:sp>
      <p:sp>
        <p:nvSpPr>
          <p:cNvPr id="22" name="TextBox 21"/>
          <p:cNvSpPr txBox="1"/>
          <p:nvPr/>
        </p:nvSpPr>
        <p:spPr>
          <a:xfrm>
            <a:off x="640080" y="4434840"/>
            <a:ext cx="1783080" cy="365760"/>
          </a:xfrm>
          <a:prstGeom prst="rect">
            <a:avLst/>
          </a:prstGeom>
          <a:noFill/>
        </p:spPr>
        <p:txBody>
          <a:bodyPr wrap="square" anchor="t" lIns="45720" rIns="45720" tIns="27432" bIns="27432">
            <a:spAutoFit/>
          </a:bodyPr>
          <a:lstStyle/>
          <a:p>
            <a:pPr algn="ctr">
              <a:lnSpc>
                <a:spcPct val="105000"/>
              </a:lnSpc>
            </a:pPr>
            <a:r>
              <a:rPr sz="1500" b="1" i="0">
                <a:solidFill>
                  <a:srgbClr val="24418C"/>
                </a:solidFill>
                <a:latin typeface="PT Sans"/>
              </a:rPr>
              <a:t>15 окуучу</a:t>
            </a:r>
          </a:p>
        </p:txBody>
      </p:sp>
      <p:sp>
        <p:nvSpPr>
          <p:cNvPr id="23" name="TextBox 22"/>
          <p:cNvSpPr txBox="1"/>
          <p:nvPr/>
        </p:nvSpPr>
        <p:spPr>
          <a:xfrm>
            <a:off x="2423160" y="4434840"/>
            <a:ext cx="1783080" cy="365760"/>
          </a:xfrm>
          <a:prstGeom prst="rect">
            <a:avLst/>
          </a:prstGeom>
          <a:noFill/>
        </p:spPr>
        <p:txBody>
          <a:bodyPr wrap="square" anchor="t" lIns="45720" rIns="45720" tIns="27432" bIns="27432">
            <a:spAutoFit/>
          </a:bodyPr>
          <a:lstStyle/>
          <a:p>
            <a:pPr algn="ctr">
              <a:lnSpc>
                <a:spcPct val="105000"/>
              </a:lnSpc>
            </a:pPr>
            <a:r>
              <a:rPr sz="1500" b="1" i="0">
                <a:solidFill>
                  <a:srgbClr val="24418C"/>
                </a:solidFill>
                <a:latin typeface="PT Sans"/>
              </a:rPr>
              <a:t>12 окуучу</a:t>
            </a:r>
          </a:p>
        </p:txBody>
      </p:sp>
      <p:sp>
        <p:nvSpPr>
          <p:cNvPr id="24" name="TextBox 23"/>
          <p:cNvSpPr txBox="1"/>
          <p:nvPr/>
        </p:nvSpPr>
        <p:spPr>
          <a:xfrm>
            <a:off x="731520" y="2423160"/>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150 ÷ 360 × 36 = 15</a:t>
            </a:r>
          </a:p>
        </p:txBody>
      </p:sp>
      <p:sp>
        <p:nvSpPr>
          <p:cNvPr id="25" name="TextBox 24"/>
          <p:cNvSpPr txBox="1"/>
          <p:nvPr/>
        </p:nvSpPr>
        <p:spPr>
          <a:xfrm>
            <a:off x="8366760" y="2423160"/>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6А</a:t>
            </a:r>
          </a:p>
        </p:txBody>
      </p:sp>
      <p:sp>
        <p:nvSpPr>
          <p:cNvPr id="26" name="TextBox 25"/>
          <p:cNvSpPr txBox="1"/>
          <p:nvPr/>
        </p:nvSpPr>
        <p:spPr>
          <a:xfrm>
            <a:off x="731520" y="2990088"/>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180 ÷ 360 × 24 = 12</a:t>
            </a:r>
          </a:p>
        </p:txBody>
      </p:sp>
      <p:sp>
        <p:nvSpPr>
          <p:cNvPr id="27" name="TextBox 26"/>
          <p:cNvSpPr txBox="1"/>
          <p:nvPr/>
        </p:nvSpPr>
        <p:spPr>
          <a:xfrm>
            <a:off x="8366760" y="2990088"/>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6Б</a:t>
            </a:r>
          </a:p>
        </p:txBody>
      </p:sp>
      <p:sp>
        <p:nvSpPr>
          <p:cNvPr id="28" name="TextBox 27"/>
          <p:cNvSpPr txBox="1"/>
          <p:nvPr/>
        </p:nvSpPr>
        <p:spPr>
          <a:xfrm>
            <a:off x="731520" y="3557015"/>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24418C"/>
                </a:solidFill>
                <a:latin typeface="PT Sans"/>
              </a:rPr>
              <a:t>15 + 12 = 27</a:t>
            </a:r>
          </a:p>
        </p:txBody>
      </p:sp>
      <p:sp>
        <p:nvSpPr>
          <p:cNvPr id="29" name="TextBox 28"/>
          <p:cNvSpPr txBox="1"/>
          <p:nvPr/>
        </p:nvSpPr>
        <p:spPr>
          <a:xfrm>
            <a:off x="8366760" y="3557015"/>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порция</a:t>
            </a:r>
          </a:p>
        </p:txBody>
      </p:sp>
      <p:sp>
        <p:nvSpPr>
          <p:cNvPr id="30" name="Rounded Rectangle 29"/>
          <p:cNvSpPr/>
          <p:nvPr/>
        </p:nvSpPr>
        <p:spPr>
          <a:xfrm>
            <a:off x="1874519" y="5486400"/>
            <a:ext cx="8449056" cy="640080"/>
          </a:xfrm>
          <a:prstGeom prst="roundRect">
            <a:avLst>
              <a:gd name="adj" fmla="val 244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A84400"/>
                </a:solidFill>
                <a:latin typeface="PT Sans"/>
              </a:rPr>
              <a:t>15 &gt; 12: Нургиза туура эмес (М2). Палоо: 27 порция.</a:t>
            </a:r>
          </a:p>
        </p:txBody>
      </p:sp>
      <p:sp>
        <p:nvSpPr>
          <p:cNvPr id="31" name="Rounded Rectangle 30"/>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Түз: өзүң маселе түз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23/26</a:t>
            </a:r>
          </a:p>
        </p:txBody>
      </p:sp>
      <p:sp>
        <p:nvSpPr>
          <p:cNvPr id="10" name="Rounded Rectangle 9"/>
          <p:cNvSpPr/>
          <p:nvPr/>
        </p:nvSpPr>
        <p:spPr>
          <a:xfrm>
            <a:off x="429768" y="1225296"/>
            <a:ext cx="11329416" cy="48920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371600"/>
            <a:ext cx="10780776" cy="914400"/>
          </a:xfrm>
          <a:prstGeom prst="rect">
            <a:avLst/>
          </a:prstGeom>
          <a:noFill/>
        </p:spPr>
        <p:txBody>
          <a:bodyPr wrap="square" anchor="t" lIns="45720" rIns="45720" tIns="27432" bIns="27432">
            <a:spAutoFit/>
          </a:bodyPr>
          <a:lstStyle/>
          <a:p>
            <a:pPr algn="l">
              <a:lnSpc>
                <a:spcPct val="105000"/>
              </a:lnSpc>
            </a:pPr>
            <a:r>
              <a:rPr sz="2400" b="1" i="0">
                <a:solidFill>
                  <a:srgbClr val="1F2430"/>
                </a:solidFill>
                <a:latin typeface="PT Sans"/>
              </a:rPr>
              <a:t>Таш-Көмүрдөгү мектеп жөнүндө сурамжылоо ойлоп тап (24 же 36 окуучу), бурчтарын эсептеп, тегерек диаграмма чий.</a:t>
            </a:r>
          </a:p>
        </p:txBody>
      </p:sp>
      <p:sp>
        <p:nvSpPr>
          <p:cNvPr id="12" name="Oval 11"/>
          <p:cNvSpPr/>
          <p:nvPr/>
        </p:nvSpPr>
        <p:spPr>
          <a:xfrm>
            <a:off x="704088" y="256032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234440" y="2542032"/>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Окуядагы каармандарды колдон: Самат, Нургиза, Чолпон эже.</a:t>
            </a:r>
          </a:p>
        </p:txBody>
      </p:sp>
      <p:sp>
        <p:nvSpPr>
          <p:cNvPr id="14" name="Oval 13"/>
          <p:cNvSpPr/>
          <p:nvPr/>
        </p:nvSpPr>
        <p:spPr>
          <a:xfrm>
            <a:off x="704088" y="3383279"/>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234440" y="3364991"/>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Тилкесин чий жана туюнтмасын жаз.</a:t>
            </a:r>
          </a:p>
        </p:txBody>
      </p:sp>
      <p:sp>
        <p:nvSpPr>
          <p:cNvPr id="16" name="Oval 15"/>
          <p:cNvSpPr/>
          <p:nvPr/>
        </p:nvSpPr>
        <p:spPr>
          <a:xfrm>
            <a:off x="704088" y="42062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234440" y="4187952"/>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Жупуңа бер: ал чыгарсын, сен текшер.</a:t>
            </a:r>
          </a:p>
        </p:txBody>
      </p:sp>
      <p:sp>
        <p:nvSpPr>
          <p:cNvPr id="18" name="Rounded Rectangle 17"/>
          <p:cNvSpPr/>
          <p:nvPr/>
        </p:nvSpPr>
        <p:spPr>
          <a:xfrm>
            <a:off x="4449927" y="6327648"/>
            <a:ext cx="3291840" cy="411480"/>
          </a:xfrm>
          <a:prstGeom prst="roundRect">
            <a:avLst>
              <a:gd name="adj" fmla="val 50000"/>
            </a:avLst>
          </a:prstGeom>
          <a:no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A84400"/>
                </a:solidFill>
                <a:latin typeface="PT Sans"/>
              </a:rPr>
              <a:t>3C · Кызматташуу</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Чыгуу билети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24/26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Өз алдынча, 3 мүнөт. Кагазыңа жазып бер.</a:t>
            </a:r>
          </a:p>
        </p:txBody>
      </p:sp>
      <p:sp>
        <p:nvSpPr>
          <p:cNvPr id="11" name="Rounded Rectangle 10"/>
          <p:cNvSpPr/>
          <p:nvPr/>
        </p:nvSpPr>
        <p:spPr>
          <a:xfrm>
            <a:off x="429768" y="169164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Сектор 120°. Бүтүндүн канча бөлүгү?</a:t>
            </a:r>
          </a:p>
        </p:txBody>
      </p:sp>
      <p:sp>
        <p:nvSpPr>
          <p:cNvPr id="14" name="Rounded Rectangle 13"/>
          <p:cNvSpPr/>
          <p:nvPr/>
        </p:nvSpPr>
        <p:spPr>
          <a:xfrm>
            <a:off x="429768" y="323088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2647"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07007" y="323088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30 окуучудан 6сы жөө келет. Сектордун бурчу канча?</a:t>
            </a:r>
          </a:p>
        </p:txBody>
      </p:sp>
      <p:sp>
        <p:nvSpPr>
          <p:cNvPr id="17" name="Rounded Rectangle 16"/>
          <p:cNvSpPr/>
          <p:nvPr/>
        </p:nvSpPr>
        <p:spPr>
          <a:xfrm>
            <a:off x="429768" y="477012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477012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48 окуучу. Автобус сектору 90°. Канча окуучу?</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Оозеки талкуу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25/26</a:t>
            </a:r>
          </a:p>
        </p:txBody>
      </p:sp>
      <p:sp>
        <p:nvSpPr>
          <p:cNvPr id="10" name="Rounded Rectangle 9"/>
          <p:cNvSpPr/>
          <p:nvPr/>
        </p:nvSpPr>
        <p:spPr>
          <a:xfrm>
            <a:off x="429768" y="1225296"/>
            <a:ext cx="11329416" cy="32461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80160"/>
            <a:ext cx="10780776" cy="548640"/>
          </a:xfrm>
          <a:prstGeom prst="rect">
            <a:avLst/>
          </a:prstGeom>
          <a:noFill/>
        </p:spPr>
        <p:txBody>
          <a:bodyPr wrap="square" anchor="t" lIns="45720" rIns="45720" tIns="27432" bIns="27432">
            <a:spAutoFit/>
          </a:bodyPr>
          <a:lstStyle/>
          <a:p>
            <a:pPr algn="l">
              <a:lnSpc>
                <a:spcPct val="105000"/>
              </a:lnSpc>
            </a:pPr>
            <a:r>
              <a:rPr sz="2400" b="1" i="0">
                <a:solidFill>
                  <a:srgbClr val="1D3557"/>
                </a:solidFill>
                <a:latin typeface="PT Sans"/>
              </a:rPr>
              <a:t>Оозеки талкуу</a:t>
            </a:r>
          </a:p>
        </p:txBody>
      </p:sp>
      <p:sp>
        <p:nvSpPr>
          <p:cNvPr id="12" name="Oval 11"/>
          <p:cNvSpPr/>
          <p:nvPr/>
        </p:nvSpPr>
        <p:spPr>
          <a:xfrm>
            <a:off x="704088" y="19202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234440" y="1901952"/>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Тегерек диаграмма эмнени көрсөтөт: санды же бүтүндүн бөлүгүн?</a:t>
            </a:r>
          </a:p>
        </p:txBody>
      </p:sp>
      <p:sp>
        <p:nvSpPr>
          <p:cNvPr id="14" name="Oval 13"/>
          <p:cNvSpPr/>
          <p:nvPr/>
        </p:nvSpPr>
        <p:spPr>
          <a:xfrm>
            <a:off x="704088" y="2542032"/>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234440" y="2523744"/>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Эмне үчүн 360°ту жалпы санга бөлөбүз?</a:t>
            </a:r>
          </a:p>
        </p:txBody>
      </p:sp>
      <p:sp>
        <p:nvSpPr>
          <p:cNvPr id="16" name="Oval 15"/>
          <p:cNvSpPr/>
          <p:nvPr/>
        </p:nvSpPr>
        <p:spPr>
          <a:xfrm>
            <a:off x="704088" y="3163824"/>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234440" y="3145536"/>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Эки диаграмманы салыштыруудан мурун эмнени билишибиз керек?</a:t>
            </a:r>
          </a:p>
        </p:txBody>
      </p:sp>
      <p:sp>
        <p:nvSpPr>
          <p:cNvPr id="18" name="TextBox 17"/>
          <p:cNvSpPr txBox="1"/>
          <p:nvPr/>
        </p:nvSpPr>
        <p:spPr>
          <a:xfrm>
            <a:off x="429768" y="4617720"/>
            <a:ext cx="11329416" cy="457200"/>
          </a:xfrm>
          <a:prstGeom prst="rect">
            <a:avLst/>
          </a:prstGeom>
          <a:noFill/>
        </p:spPr>
        <p:txBody>
          <a:bodyPr wrap="square" anchor="t" lIns="45720" rIns="45720" tIns="27432" bIns="27432">
            <a:spAutoFit/>
          </a:bodyPr>
          <a:lstStyle/>
          <a:p>
            <a:pPr algn="ctr">
              <a:lnSpc>
                <a:spcPct val="105000"/>
              </a:lnSpc>
            </a:pPr>
            <a:r>
              <a:rPr sz="2000" b="0" i="1">
                <a:solidFill>
                  <a:srgbClr val="6B7280"/>
                </a:solidFill>
                <a:latin typeface="PT Sans"/>
              </a:rPr>
              <a:t>Өзүңдү баала: колуңду көтөр.</a:t>
            </a:r>
          </a:p>
        </p:txBody>
      </p:sp>
      <p:sp>
        <p:nvSpPr>
          <p:cNvPr id="19" name="Rounded Rectangle 18"/>
          <p:cNvSpPr/>
          <p:nvPr/>
        </p:nvSpPr>
        <p:spPr>
          <a:xfrm>
            <a:off x="978407" y="5120640"/>
            <a:ext cx="3291840" cy="731520"/>
          </a:xfrm>
          <a:prstGeom prst="roundRect">
            <a:avLst>
              <a:gd name="adj" fmla="val 50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007A5A"/>
                </a:solidFill>
                <a:latin typeface="PT Sans"/>
              </a:rPr>
              <a:t>Түшүндүм</a:t>
            </a:r>
          </a:p>
        </p:txBody>
      </p:sp>
      <p:sp>
        <p:nvSpPr>
          <p:cNvPr id="20" name="Rounded Rectangle 19"/>
          <p:cNvSpPr/>
          <p:nvPr/>
        </p:nvSpPr>
        <p:spPr>
          <a:xfrm>
            <a:off x="4636008" y="5120640"/>
            <a:ext cx="3291840" cy="731520"/>
          </a:xfrm>
          <a:prstGeom prst="roundRect">
            <a:avLst>
              <a:gd name="adj" fmla="val 50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A84400"/>
                </a:solidFill>
                <a:latin typeface="PT Sans"/>
              </a:rPr>
              <a:t>Дагы машыгам</a:t>
            </a:r>
          </a:p>
        </p:txBody>
      </p:sp>
      <p:sp>
        <p:nvSpPr>
          <p:cNvPr id="21" name="Rounded Rectangle 20"/>
          <p:cNvSpPr/>
          <p:nvPr/>
        </p:nvSpPr>
        <p:spPr>
          <a:xfrm>
            <a:off x="8293608" y="5120640"/>
            <a:ext cx="3291840" cy="731520"/>
          </a:xfrm>
          <a:prstGeom prst="roundRect">
            <a:avLst>
              <a:gd name="adj" fmla="val 50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24418C"/>
                </a:solidFill>
                <a:latin typeface="PT Sans"/>
              </a:rPr>
              <a:t>Жардам керек</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Мугалим үчүн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6-класс ›</a:t>
            </a:r>
          </a:p>
          <a:p>
            <a:pPr algn="r">
              <a:lnSpc>
                <a:spcPct val="100000"/>
              </a:lnSpc>
            </a:pPr>
            <a:r>
              <a:rPr sz="1400" b="0" i="0">
                <a:solidFill>
                  <a:srgbClr val="4A5A70"/>
                </a:solidFill>
                <a:latin typeface="PT Sans"/>
              </a:rPr>
              <a:t>Тегерек диаграммалар</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26/26</a:t>
            </a:r>
          </a:p>
        </p:txBody>
      </p:sp>
      <p:sp>
        <p:nvSpPr>
          <p:cNvPr id="10" name="Rounded Rectangle 9"/>
          <p:cNvSpPr/>
          <p:nvPr/>
        </p:nvSpPr>
        <p:spPr>
          <a:xfrm>
            <a:off x="429768" y="1225296"/>
            <a:ext cx="5120640"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4663440" cy="502920"/>
          </a:xfrm>
          <a:prstGeom prst="rect">
            <a:avLst/>
          </a:prstGeom>
          <a:noFill/>
        </p:spPr>
        <p:txBody>
          <a:bodyPr wrap="square" anchor="t" lIns="45720" rIns="45720" tIns="27432" bIns="27432">
            <a:spAutoFit/>
          </a:bodyPr>
          <a:lstStyle/>
          <a:p>
            <a:pPr algn="l">
              <a:lnSpc>
                <a:spcPct val="105000"/>
              </a:lnSpc>
            </a:pPr>
            <a:r>
              <a:rPr sz="2000" b="1" i="0">
                <a:solidFill>
                  <a:srgbClr val="1D3557"/>
                </a:solidFill>
                <a:latin typeface="PT Sans"/>
              </a:rPr>
              <a:t>Кантип үйрөтөм</a:t>
            </a:r>
          </a:p>
        </p:txBody>
      </p:sp>
      <p:sp>
        <p:nvSpPr>
          <p:cNvPr id="12" name="Oval 11"/>
          <p:cNvSpPr/>
          <p:nvPr/>
        </p:nvSpPr>
        <p:spPr>
          <a:xfrm>
            <a:off x="658368" y="1874519"/>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188719" y="1856231"/>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Тилкеден тегерекке: чакмак кагаз тилкесин шакек кылуу менен баштоону сунуштайм (бүтүн = 360°).</a:t>
            </a:r>
          </a:p>
        </p:txBody>
      </p:sp>
      <p:sp>
        <p:nvSpPr>
          <p:cNvPr id="14" name="Oval 13"/>
          <p:cNvSpPr/>
          <p:nvPr/>
        </p:nvSpPr>
        <p:spPr>
          <a:xfrm>
            <a:off x="658368" y="2898648"/>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188719" y="2880360"/>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Ар бир диаграммада адегенде сурайм: «Бүтүн канча? Бир бирдик канча градус?»</a:t>
            </a:r>
          </a:p>
        </p:txBody>
      </p:sp>
      <p:sp>
        <p:nvSpPr>
          <p:cNvPr id="16" name="Oval 15"/>
          <p:cNvSpPr/>
          <p:nvPr/>
        </p:nvSpPr>
        <p:spPr>
          <a:xfrm>
            <a:off x="658368" y="3922776"/>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188719" y="3904488"/>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90°, 180°, 120°, 36° бурчтарын бөлчөк жана пайыз менен жатка бышыктайм (М3).</a:t>
            </a:r>
          </a:p>
        </p:txBody>
      </p:sp>
      <p:sp>
        <p:nvSpPr>
          <p:cNvPr id="18" name="Oval 17"/>
          <p:cNvSpPr/>
          <p:nvPr/>
        </p:nvSpPr>
        <p:spPr>
          <a:xfrm>
            <a:off x="658368" y="4946904"/>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19" name="TextBox 18"/>
          <p:cNvSpPr txBox="1"/>
          <p:nvPr/>
        </p:nvSpPr>
        <p:spPr>
          <a:xfrm>
            <a:off x="1188719" y="4928616"/>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Эки диаграмманы салыштырганда ар дайым санга айландыртам (М2).</a:t>
            </a:r>
          </a:p>
        </p:txBody>
      </p:sp>
      <p:sp>
        <p:nvSpPr>
          <p:cNvPr id="20" name="Rounded Rectangle 19"/>
          <p:cNvSpPr/>
          <p:nvPr/>
        </p:nvSpPr>
        <p:spPr>
          <a:xfrm>
            <a:off x="5779007" y="1225296"/>
            <a:ext cx="5980176"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07607" y="1280160"/>
            <a:ext cx="5486400" cy="502920"/>
          </a:xfrm>
          <a:prstGeom prst="rect">
            <a:avLst/>
          </a:prstGeom>
          <a:noFill/>
        </p:spPr>
        <p:txBody>
          <a:bodyPr wrap="square" anchor="t" lIns="45720" rIns="45720" tIns="27432" bIns="27432">
            <a:spAutoFit/>
          </a:bodyPr>
          <a:lstStyle/>
          <a:p>
            <a:pPr algn="l">
              <a:lnSpc>
                <a:spcPct val="105000"/>
              </a:lnSpc>
            </a:pPr>
            <a:r>
              <a:rPr sz="2000" b="1" i="0">
                <a:solidFill>
                  <a:srgbClr val="1D3557"/>
                </a:solidFill>
                <a:latin typeface="PT Sans"/>
              </a:rPr>
              <a:t>Ой жүгүртүү: эмне деп айтабыз?</a:t>
            </a:r>
          </a:p>
        </p:txBody>
      </p:sp>
      <p:sp>
        <p:nvSpPr>
          <p:cNvPr id="22" name="TextBox 21"/>
          <p:cNvSpPr txBox="1"/>
          <p:nvPr/>
        </p:nvSpPr>
        <p:spPr>
          <a:xfrm>
            <a:off x="6007607" y="1783080"/>
            <a:ext cx="2651760" cy="365760"/>
          </a:xfrm>
          <a:prstGeom prst="rect">
            <a:avLst/>
          </a:prstGeom>
          <a:noFill/>
        </p:spPr>
        <p:txBody>
          <a:bodyPr wrap="square" anchor="t" lIns="45720" rIns="45720" tIns="27432" bIns="27432">
            <a:spAutoFit/>
          </a:bodyPr>
          <a:lstStyle/>
          <a:p>
            <a:pPr algn="l">
              <a:lnSpc>
                <a:spcPct val="105000"/>
              </a:lnSpc>
            </a:pPr>
            <a:r>
              <a:rPr sz="1500" b="1" i="0">
                <a:solidFill>
                  <a:srgbClr val="6B7280"/>
                </a:solidFill>
                <a:latin typeface="PT Sans"/>
              </a:rPr>
              <a:t>Айтпайбыз</a:t>
            </a:r>
          </a:p>
        </p:txBody>
      </p:sp>
      <p:sp>
        <p:nvSpPr>
          <p:cNvPr id="23" name="TextBox 22"/>
          <p:cNvSpPr txBox="1"/>
          <p:nvPr/>
        </p:nvSpPr>
        <p:spPr>
          <a:xfrm>
            <a:off x="8796528" y="1783080"/>
            <a:ext cx="2926080" cy="365760"/>
          </a:xfrm>
          <a:prstGeom prst="rect">
            <a:avLst/>
          </a:prstGeom>
          <a:noFill/>
        </p:spPr>
        <p:txBody>
          <a:bodyPr wrap="square" anchor="t" lIns="45720" rIns="45720" tIns="27432" bIns="27432">
            <a:spAutoFit/>
          </a:bodyPr>
          <a:lstStyle/>
          <a:p>
            <a:pPr algn="l">
              <a:lnSpc>
                <a:spcPct val="105000"/>
              </a:lnSpc>
            </a:pPr>
            <a:r>
              <a:rPr sz="1500" b="1" i="0">
                <a:solidFill>
                  <a:srgbClr val="007A5A"/>
                </a:solidFill>
                <a:latin typeface="PT Sans"/>
              </a:rPr>
              <a:t>Айтабыз</a:t>
            </a:r>
          </a:p>
        </p:txBody>
      </p:sp>
      <p:sp>
        <p:nvSpPr>
          <p:cNvPr id="24" name="TextBox 23"/>
          <p:cNvSpPr txBox="1"/>
          <p:nvPr/>
        </p:nvSpPr>
        <p:spPr>
          <a:xfrm>
            <a:off x="6007607" y="219456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«Бул оңой эмеспи?»</a:t>
            </a:r>
          </a:p>
        </p:txBody>
      </p:sp>
      <p:cxnSp>
        <p:nvCxnSpPr>
          <p:cNvPr id="25" name="Connector 24"/>
          <p:cNvCxnSpPr/>
          <p:nvPr/>
        </p:nvCxnSpPr>
        <p:spPr>
          <a:xfrm>
            <a:off x="8567928" y="2468879"/>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796528" y="219456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«Кадамдарды бирге карайлы.»</a:t>
            </a:r>
          </a:p>
        </p:txBody>
      </p:sp>
      <p:sp>
        <p:nvSpPr>
          <p:cNvPr id="27" name="TextBox 26"/>
          <p:cNvSpPr txBox="1"/>
          <p:nvPr/>
        </p:nvSpPr>
        <p:spPr>
          <a:xfrm>
            <a:off x="6007607" y="315468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«Туура эмес!»</a:t>
            </a:r>
          </a:p>
        </p:txBody>
      </p:sp>
      <p:cxnSp>
        <p:nvCxnSpPr>
          <p:cNvPr id="28" name="Connector 27"/>
          <p:cNvCxnSpPr/>
          <p:nvPr/>
        </p:nvCxnSpPr>
        <p:spPr>
          <a:xfrm>
            <a:off x="8567928" y="342900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796528" y="315468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«Кантип таптың? Текшерип көрөлүчү.»</a:t>
            </a:r>
          </a:p>
        </p:txBody>
      </p:sp>
      <p:sp>
        <p:nvSpPr>
          <p:cNvPr id="30" name="TextBox 29"/>
          <p:cNvSpPr txBox="1"/>
          <p:nvPr/>
        </p:nvSpPr>
        <p:spPr>
          <a:xfrm>
            <a:off x="6007607" y="411480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«Сен математикага жөндөмсүзсүң»</a:t>
            </a:r>
          </a:p>
        </p:txBody>
      </p:sp>
      <p:cxnSp>
        <p:nvCxnSpPr>
          <p:cNvPr id="31" name="Connector 30"/>
          <p:cNvCxnSpPr/>
          <p:nvPr/>
        </p:nvCxnSpPr>
        <p:spPr>
          <a:xfrm>
            <a:off x="8567928" y="438912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796528" y="411480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«Азырынча. Машыксаң, үйрөнөсүң.»</a:t>
            </a:r>
          </a:p>
        </p:txBody>
      </p:sp>
      <p:sp>
        <p:nvSpPr>
          <p:cNvPr id="33" name="TextBox 32"/>
          <p:cNvSpPr txBox="1"/>
          <p:nvPr/>
        </p:nvSpPr>
        <p:spPr>
          <a:xfrm>
            <a:off x="6007607" y="507492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«Тез чыгар»</a:t>
            </a:r>
          </a:p>
        </p:txBody>
      </p:sp>
      <p:cxnSp>
        <p:nvCxnSpPr>
          <p:cNvPr id="34" name="Connector 33"/>
          <p:cNvCxnSpPr/>
          <p:nvPr/>
        </p:nvCxnSpPr>
        <p:spPr>
          <a:xfrm>
            <a:off x="8567928" y="534924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796528" y="507492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«Шашпа, адегенде тилке чий.»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