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аталышы жана бүгүнкү окуя.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Сабактын жолу: ар бир бөлүк өз слайды менен ачылат.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Окуяны окуп бериңиз. Адегенде болжолдошсун: баары 3 000 сомдон көппү же азбы? Жоопту сабактын аягында (22-слайд) текшеребиз. Бул сабак «Тамгалуу туюнтмалар жана теңдемелер» сабагынан кийин өтөт: 3a + 2a тааныш, жаңысы эки тамга жана кашаа.</a:t>
            </a:r>
          </a:p>
          <a:p>
            <a:r>
              <a:t>3C (Байланыштыруу): Окуя турмуштан: бул суроого сабактын аягында кайтабыз.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Ой жүгүртүү маданияты (Wenxi Lee, 2.6).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Ийгилик критерийлери: сабактын аягында ар бирине ✓ коёбуз.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Спираль: тема класстан класска тереңдейт.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Мини-тактага жазышат.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Жоопту дароо айтпайбыз. Жупта талкуулашат. Жооп: Айдана: ар бир топтомдо 2 кичине банка, 3 топтомдо 6. a = 1, b = 1: 3(a + 2b) = 9, 3a + 6b = 9, бирок 3a + 2b = 5 (М4).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жупка картондон кесилген плиткалар: 6 узун тилке (x, 6 см × 1 см), 4 кыска тилке (b) жана 20 кичине чарчы (1 см × 1 см). Картон жок болсо, эки түстүү бөтөлкө капкагы: көк = x, сары = b, буурчак = 1. 1) 3(x + 4): 3 бирдей топ, ар биринде 1 тилке жана 4 чарчы. 2) Тилкелерди бир катарга, чарчыларды башка катарга чогултушат: 3 тилке жана 12 чарчы. 3) «3x + 4 эмне үчүн туура эмес?» Чарчылар 3 топто тең бар. 4) Мен 2 тилке кошуп берем: 3x + 12 + 2x = 5x + 12. Проектор жок болсо, доскага тилке жана чарчы чийем.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чакмак дептерге чийишет: жалбыз тилке = чоң банка a (2 чакмак), шабдалы = кичине банка b (1 чакмак). Адегенде топтом боюнча (кашаа), анан бардык a бир катарга, бардык b башка катарга: 5a жана 6b. Пойанын 4 кадамын оң жактагы картадан окуйбуз.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Окшош мүчөлөр (окшош кошулуучулар) = тамгалуу бөлүгү бирдей мүчөлөр. Коэффициент = тамганын алдындагы сан; a = 1a. Мүчөнүн белгиси андан мурунку белги: 8a − 3a + 2aда −3a жана +2a. Кашааны ачканда ичиндеги ар бир мүчө көбөйөт. Ката коддору: М1 (окшош эмес), М4 (кашаа), М5 (белги).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 бир сап «=» менен башталат. Окуучулар кадамды айтып турат.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Окуучулар ыкманы үн чыгарып айтышат: «a мүчөлөр: 4 жана −1, бирге 3a». «Оозеки беш мүнөт» (класста колдонуу картасы, 3-бет) эки апта ушуларды кайталайт.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Баары бир убакта манжа менен көрсөтөт (1–4). Туура эмес жооптун коду: А = М4; Б = М2; В = ✓; Г = М5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деңгээл: окшош мүчөлөр → кашаа → көп кадам. Жооптор: 5x = 35; x = 7 банка; 4a + 200 = 2 000 сом; 4x + 8 = 32; x = 6 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Жеңилден баштап, мүмкүн болушунча алдыга. Жооптор кийинки слайдда.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Кашааны ачабыз: 3 топтомдо 3 чоң жана 6 кичине банка: 3a + 6b. Мирландын 2 чоң банкасы менен 5a + 6b. a = 500, b = 300: 2 500 + 1 800 = 4 300 сом. Кашаада 2bни 3кө көбөйтпөсөк (М4), 5a + 2b = 3 100 сом чыгат: Сабыр ата 1 200 сомго алданып калат. Ошондуктан сан коюп текшеребиз.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Блум: Түзүү. Жупта алмашып, бири-биринин маселесин чыгарышат.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Жооптор: 3a + 5b; 5x + 12; x =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Бул слайд окуучуларга көрсөтүлбөйт.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371600"/>
            <a:ext cx="164592" cy="128016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1188720"/>
            <a:ext cx="96012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691640"/>
            <a:ext cx="9601200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D3557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3611880"/>
            <a:ext cx="87782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657600"/>
            <a:ext cx="832104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>Бүгүнкү окуя: Чаткалдагы бал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4160520"/>
            <a:ext cx="832104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Айдана менен Мирлан Сабыр атанын балын банкаларга куюп, Ала-Бука базарына белек топтомдорду жыйнашат.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49240"/>
            <a:ext cx="96012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1">
                <a:solidFill>
                  <a:srgbClr val="6B7280"/>
                </a:solidFill>
                <a:latin typeface="PT Sans"/>
              </a:rPr>
              <a:t>Китеп: 6-класс: «Кашааларды ачуу. Коэффициент. Окшош кошулуучулар» (туюнтмалар бөлүмү). «Тамгалуу туюнтмалар жана теңдемелер» пакетинин уландысы. Мазмуну оригиналдуу.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Сабактын мазмуну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1463039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1280160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Кириш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280160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Окуя, эрежелер, максаттар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2212848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2395728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212848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Даярдык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Эстейбиз, «Ким туура?»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145536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3328416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145536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Түшүнөбүз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145536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 → С → А: буюм, тилке, эреже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" y="4078224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26110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4078224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Машыгабыз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78224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Чечүүчү суроо, тилке, өз алдынча иш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5010912"/>
            <a:ext cx="11329416" cy="80467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5193792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010912"/>
            <a:ext cx="310896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Жыйынтык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5010912"/>
            <a:ext cx="7132320" cy="80467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Окуяга кайтуу, түзүү, чыгуу билети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Окуя: Чаткалдагы бал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7665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25880"/>
            <a:ext cx="6217920" cy="4389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Чаткал өрөөнү. Сабыр атанын тоо этегинде 20 аары уюгу бар.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Күздө неберелери Айдана менен Мирлан балды банкаларга куюшат: чоң банка (1 кг) жана кичине банка (жарым кг).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Ала-Бука базарына белек топтомдорду алып барышат.</a:t>
            </a:r>
          </a:p>
          <a:p>
            <a:pPr algn="l">
              <a:lnSpc>
                <a:spcPct val="105000"/>
              </a:lnSpc>
              <a:spcBef>
                <a:spcPts val="800"/>
              </a:spcBef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Бааларды азырынча билбейбиз: чоң банка a сом, кичинеси b сом.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225296"/>
            <a:ext cx="4352544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32588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Суроо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28800"/>
            <a:ext cx="3931920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Айдана 3 белек топтом жыйнады: ар биринде 1 чоң жана 2 кичине банка. Мирлан дагы 2 чоң банка сатты. Баары канча сом? a = 500, b = 300 болсо?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4572000"/>
            <a:ext cx="393192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1">
                <a:solidFill>
                  <a:srgbClr val="6B7280"/>
                </a:solidFill>
                <a:latin typeface="PT Sans"/>
              </a:rPr>
              <a:t>Азыр жообун айтпайбыз. Ойлон: кантип билебиз?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Математикада биз…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8368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Ката – үйрөнүүнүн бир бөлүгү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Ката кетсе, эмне үчүн кеткенин издейбиз.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2439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11039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«Азырынча билбейм»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1039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«Билбейм» эмес, «азырынча». Машыксак, үйрөнөбүз.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5112" y="1325880"/>
            <a:ext cx="3624072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63712" y="1600200"/>
            <a:ext cx="3166872" cy="1463040"/>
          </a:xfrm>
          <a:prstGeom prst="roundRect">
            <a:avLst>
              <a:gd name="adj" fmla="val 15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Адегенде түшүн, анан эсепте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3712" y="3291840"/>
            <a:ext cx="3166872" cy="21031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0" i="0">
                <a:solidFill>
                  <a:srgbClr val="1F2430"/>
                </a:solidFill>
                <a:latin typeface="PT Sans"/>
              </a:rPr>
              <a:t>Сүрөт же тилке чийип, анан сан менен жазабыз.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Максаттар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6409944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29768" y="1865376"/>
            <a:ext cx="6409944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12648" y="1225296"/>
            <a:ext cx="604418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Бүгүн биз үйрөнөбүз</a:t>
            </a:r>
          </a:p>
        </p:txBody>
      </p:sp>
      <p:sp>
        <p:nvSpPr>
          <p:cNvPr id="13" name="Oval 12"/>
          <p:cNvSpPr/>
          <p:nvPr/>
        </p:nvSpPr>
        <p:spPr>
          <a:xfrm>
            <a:off x="722376" y="21488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11226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Окшош мүчөлөрдү табам жана бириктирем: 3a + 5a − 2a = 6a, 2a + 3b + a = 3a + 3b.</a:t>
            </a:r>
          </a:p>
        </p:txBody>
      </p:sp>
      <p:sp>
        <p:nvSpPr>
          <p:cNvPr id="15" name="Oval 14"/>
          <p:cNvSpPr/>
          <p:nvPr/>
        </p:nvSpPr>
        <p:spPr>
          <a:xfrm>
            <a:off x="722376" y="342900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339242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Кашааны ачам: 3(x + 4) = 3x + 12, жана жөнөкөйлөтүп, сан коюп эсептейм.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22376" y="470916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672584"/>
            <a:ext cx="539496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Туюнтманы жөнөкөйлөтүп, теңдеме чыгарам: 3x + 2x = 35, жана текшерем.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1225296"/>
            <a:ext cx="4636008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132320" y="1865376"/>
            <a:ext cx="46360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06056" y="1225296"/>
            <a:ext cx="4270248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Деңгээлдер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103120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007A5A"/>
                </a:solidFill>
                <a:latin typeface="PT Sans"/>
              </a:rPr>
              <a:t>Жеңил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057400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Окшош мүчөлөрдү кошуу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3127248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Орто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081528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Кашааны ачуу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0920" y="4151376"/>
            <a:ext cx="1143000" cy="7315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4A5A70"/>
                </a:solidFill>
                <a:latin typeface="PT Sans"/>
              </a:rPr>
              <a:t>Оор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105656"/>
            <a:ext cx="301752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6B7280"/>
                </a:solidFill>
                <a:latin typeface="PT Sans"/>
              </a:rPr>
              <a:t>Жөнөкөйлөтүп, теңдеме чыгаруу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3C: бүгүн кантип ойлонобуз?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007A5A"/>
                </a:solidFill>
                <a:latin typeface="PT Sans"/>
              </a:rPr>
              <a:t>Сынчыл 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Текшеребиз, далилдейбиз, катаны издейбиз.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04088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«Ким туура?»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3(a + 2b) = 3a + 2b?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A84400"/>
                </a:solidFill>
                <a:latin typeface="PT Sans"/>
              </a:rPr>
              <a:t>Кызматташуу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 жана топто сүйлөшөбүз.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572000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26280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Жупта плиткалар, домино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65592" y="1225296"/>
            <a:ext cx="3593592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39912" y="1463040"/>
            <a:ext cx="3044952" cy="6400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24418C"/>
                </a:solidFill>
                <a:latin typeface="PT Sans"/>
              </a:rPr>
              <a:t>Байланыштыруу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286000"/>
            <a:ext cx="3136392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Математиканы турмуш менен байланыштырабыз.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439912" y="3703320"/>
            <a:ext cx="304495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394192" y="3794760"/>
            <a:ext cx="313639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6B7280"/>
                </a:solidFill>
                <a:latin typeface="PT Sans"/>
              </a:rPr>
              <a:t>Бүгүн: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206240"/>
            <a:ext cx="3136392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Чаткалдагы бал</a:t>
            </a:r>
          </a:p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1F2430"/>
                </a:solidFill>
                <a:latin typeface="PT Sans"/>
              </a:rPr>
              <a:t>• Белек топтомдун баасы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Мурун – бүгүн – кийин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3017520"/>
            <a:ext cx="2660904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1089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" y="3657600"/>
            <a:ext cx="2112264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12647" y="3749039"/>
            <a:ext cx="2295144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Бөлүштүрүү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 · (10 + 4)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19272" y="2560320"/>
            <a:ext cx="2660904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56432" y="26517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007A5A"/>
                </a:solidFill>
                <a:latin typeface="PT Sans"/>
              </a:rPr>
              <a:t/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1" y="3200400"/>
            <a:ext cx="2112265" cy="0"/>
          </a:xfrm>
          <a:prstGeom prst="line">
            <a:avLst/>
          </a:prstGeom>
          <a:ln w="12700">
            <a:solidFill>
              <a:srgbClr val="007A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02152" y="3291839"/>
            <a:ext cx="2295144" cy="23774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Тамгалуу туюнтма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2x + 5 = 17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103120"/>
            <a:ext cx="2660904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945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A84400"/>
                </a:solidFill>
                <a:latin typeface="PT Sans"/>
              </a:rPr>
              <a:t/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83096" y="2743200"/>
            <a:ext cx="2112263" cy="0"/>
          </a:xfrm>
          <a:prstGeom prst="line">
            <a:avLst/>
          </a:prstGeom>
          <a:ln w="127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391656" y="2834639"/>
            <a:ext cx="2295144" cy="2834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Окшош мүчөлөр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3(x + 4)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07708" y="1600199"/>
            <a:ext cx="1463040" cy="384048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A84400"/>
                </a:solidFill>
                <a:latin typeface="PT Sans"/>
              </a:rPr>
              <a:t>Бүгүн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19"/>
            <a:ext cx="2660904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35440" y="1737360"/>
            <a:ext cx="2386584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4A5A70"/>
                </a:solidFill>
                <a:latin typeface="PT Sans"/>
              </a:rPr>
              <a:t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286000"/>
            <a:ext cx="2112264" cy="0"/>
          </a:xfrm>
          <a:prstGeom prst="line">
            <a:avLst/>
          </a:prstGeom>
          <a:ln w="12700">
            <a:solidFill>
              <a:srgbClr val="4A5A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281160" y="2377439"/>
            <a:ext cx="2295144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Көп мүчөлөр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500" b="0" i="0">
                <a:solidFill>
                  <a:srgbClr val="6B7280"/>
                </a:solidFill>
                <a:latin typeface="PT Sans"/>
              </a:rPr>
              <a:t>• Кашаа × кашаа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5806440"/>
            <a:ext cx="11329416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1">
                <a:solidFill>
                  <a:srgbClr val="6B7280"/>
                </a:solidFill>
                <a:latin typeface="PT Sans"/>
              </a:rPr>
              <a:t>Ар бир класс мурункусунун үстүнө курулат.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эстейли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Мини-тактага жаз. 2 мүнөт.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· (10 + 4)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53517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 · 10 + 3 ·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a = 5 болсо, 4a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4000500"/>
            <a:ext cx="5550408" cy="212597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484403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4000500"/>
            <a:ext cx="4636008" cy="212597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Жөнөкөйлөт: 3a + 2a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Даярдык: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· (10 + 4)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3 · 10 + 3 ·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42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a = 5 болсо, 4a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Жөнөкөйлөт: 3a + 2a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Ким туура?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Сабыр ата: «3 белек топтом: ар биринде 1 чоң банка (a) жана 2 кичине банка (b). Баары канча?»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429768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8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Мирлан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3(a + 2b)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3a + 2b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2103120"/>
            <a:ext cx="5550408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208776" y="2697480"/>
            <a:ext cx="5550408" cy="0"/>
          </a:xfrm>
          <a:prstGeom prst="line">
            <a:avLst/>
          </a:prstGeom>
          <a:ln w="19050">
            <a:solidFill>
              <a:srgbClr val="1D35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08776" y="2103120"/>
            <a:ext cx="5550408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Айдана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2834640"/>
            <a:ext cx="5029200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3(a + 2b)</a:t>
            </a:r>
          </a:p>
          <a:p>
            <a:pPr algn="l">
              <a:lnSpc>
                <a:spcPct val="105000"/>
              </a:lnSpc>
            </a:pPr>
            <a:r>
              <a:rPr sz="2600" b="0" i="0">
                <a:solidFill>
                  <a:srgbClr val="1F2430"/>
                </a:solidFill>
                <a:latin typeface="PT Sans"/>
              </a:rPr>
              <a:t>= 3a + 6b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349240"/>
            <a:ext cx="1132941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 i="0">
                <a:solidFill>
                  <a:srgbClr val="A84400"/>
                </a:solidFill>
                <a:latin typeface="PT Sans"/>
              </a:rPr>
              <a:t>Ким туура? Плиткалар менен же a = 1, b = 1 коюп текшер.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К: буюм менен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Жупта: узун тилке = x, кичине чарчы = 1. 3 бирдей топ түзгүлө: ар биринде x жана 4 чарчы. Анан окшошторду бириктиргиле.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3(x + 4): 3 бирдей топ, ар биринде x жана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50592"/>
            <a:ext cx="2029968" cy="1115568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1" y="2578608"/>
            <a:ext cx="1700784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0431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36192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01952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16352" y="2450592"/>
            <a:ext cx="2029968" cy="1115568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80944" y="2578608"/>
            <a:ext cx="1700784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80944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12464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78224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992624" y="2450592"/>
            <a:ext cx="2029968" cy="1115568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157216" y="2578608"/>
            <a:ext cx="1700784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57216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22976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888736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3063240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3639312"/>
            <a:ext cx="6400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↓ окшошторду бириктир: тилке тилке менен, чарчы чарчы менен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114800"/>
            <a:ext cx="109728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74519" y="4114800"/>
            <a:ext cx="109728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4114800"/>
            <a:ext cx="109728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34840" y="4041648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64024" y="4041648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93207" y="4041648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22392" y="4041648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51575" y="4041648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80759" y="4041648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34840" y="4370832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64024" y="4370832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93207" y="4370832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22392" y="4370832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751575" y="4370832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080759" y="4370832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" y="4498848"/>
            <a:ext cx="34747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3x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40" y="4709160"/>
            <a:ext cx="192024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5074920"/>
            <a:ext cx="64008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3(x + 4) = 3x + 12   (3x + 4 эмес!)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315200" y="2011680"/>
            <a:ext cx="4434840" cy="374903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98079" y="2103120"/>
            <a:ext cx="4114800" cy="3566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Ар бир жупта (картондон):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6 узун тилке = x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4 кыска тилке = b</a:t>
            </a:r>
          </a:p>
          <a:p>
            <a:pPr algn="l">
              <a:lnSpc>
                <a:spcPct val="110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• 20 кичине чарчы = 1</a:t>
            </a:r>
          </a:p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1F2430"/>
                </a:solidFill>
                <a:latin typeface="PT Sans"/>
              </a:rPr>
              <a:t>Же: көк капкак = x, сары = b</a:t>
            </a:r>
          </a:p>
          <a:p>
            <a:pPr algn="l">
              <a:lnSpc>
                <a:spcPct val="110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Тилке менен чарчы бириктирилбейт</a:t>
            </a:r>
          </a:p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24418C"/>
                </a:solidFill>
                <a:latin typeface="PT Sans"/>
              </a:rPr>
              <a:t>3x + 12 + 2x = 5x + 12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543800" y="5120640"/>
            <a:ext cx="1371600" cy="310896"/>
          </a:xfrm>
          <a:prstGeom prst="rect">
            <a:avLst/>
          </a:prstGeom>
          <a:solidFill>
            <a:srgbClr val="FFFFFF"/>
          </a:solidFill>
          <a:ln w="1905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D3557"/>
                </a:solidFill>
                <a:latin typeface="PT Sans"/>
              </a:rPr>
              <a:t>x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5120640"/>
            <a:ext cx="731520" cy="310896"/>
          </a:xfrm>
          <a:prstGeom prst="rect">
            <a:avLst/>
          </a:prstGeom>
          <a:solidFill>
            <a:srgbClr val="F5E9E0"/>
          </a:solidFill>
          <a:ln w="1905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5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58400" y="5138928"/>
            <a:ext cx="274320" cy="274320"/>
          </a:xfrm>
          <a:prstGeom prst="rect">
            <a:avLst/>
          </a:prstGeom>
          <a:solidFill>
            <a:srgbClr val="B5E2D3"/>
          </a:solidFill>
          <a:ln w="1397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24160" y="5074920"/>
            <a:ext cx="1280160" cy="4114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007A5A"/>
                </a:solidFill>
                <a:latin typeface="PT Sans"/>
              </a:rPr>
              <a:t>= 1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К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С: тилке модели (белек топтомдор)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3 топтом (a + b + b) жана Мирландын 2 чоң банкасы. Окшошторду бир катарга топто.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121408"/>
            <a:ext cx="129844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1-топтом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83080" y="2121408"/>
            <a:ext cx="768096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1176" y="2121408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35224" y="2121408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560320"/>
            <a:ext cx="129844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2-топтом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783080" y="2560320"/>
            <a:ext cx="768096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51176" y="2560320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35224" y="2560320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999232"/>
            <a:ext cx="129844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3-топтом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83080" y="2999232"/>
            <a:ext cx="768096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51176" y="2999232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5224" y="2999232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3438144"/>
            <a:ext cx="129844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Мирлан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783080" y="3438144"/>
            <a:ext cx="768096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51176" y="3438144"/>
            <a:ext cx="768096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88620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4A5A70"/>
                </a:solidFill>
                <a:latin typeface="PT Sans"/>
              </a:rPr>
              <a:t>↓ бардык a бир катарга, бардык b башка катарга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343400"/>
            <a:ext cx="129844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a банкалар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83080" y="4343400"/>
            <a:ext cx="768096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51176" y="4343400"/>
            <a:ext cx="768096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9272" y="4343400"/>
            <a:ext cx="768096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087368" y="4343400"/>
            <a:ext cx="768096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55464" y="4343400"/>
            <a:ext cx="768096" cy="36576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34340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5a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4846320"/>
            <a:ext cx="1298448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1" i="0">
                <a:solidFill>
                  <a:srgbClr val="1F2430"/>
                </a:solidFill>
                <a:latin typeface="PT Sans"/>
              </a:rPr>
              <a:t>b банкалар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783080" y="4846320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67128" y="4846320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51176" y="4846320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35224" y="4846320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19272" y="4846320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03320" y="4846320"/>
            <a:ext cx="384048" cy="36576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24528" y="48463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A84400"/>
                </a:solidFill>
                <a:latin typeface="PT Sans"/>
              </a:rPr>
              <a:t>6b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818120" y="2103120"/>
            <a:ext cx="39319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01000" y="2157984"/>
            <a:ext cx="3566160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D3557"/>
                </a:solidFill>
                <a:latin typeface="PT Sans"/>
              </a:rPr>
              <a:t>Пойанын 4 кадамы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1. Түшүн: эмне белгилүү, эмне суралат?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2. Планда: тилке чий, туюнтма жаз.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3. Аткар: кашааны ач, окшошторду кош.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4. Текшер: a = 500, b = 300 коюп эсепте.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9768" y="562356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3(a + 2b) + 2a  =  3a + 6b + 2a  =  5a + 6b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А: эреже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3035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(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Кашааны ач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Ар бир мүчөнү көбөйт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56382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30702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23969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2142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◯ 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2142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Окшошторду белгиле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67862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Бир тамга – бир түс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957316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231636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224902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3075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+ 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5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Коэффициенттерди кош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Белги мүчө менен жүрөт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58250" y="2880360"/>
            <a:ext cx="274320" cy="0"/>
          </a:xfrm>
          <a:prstGeom prst="line">
            <a:avLst/>
          </a:prstGeom>
          <a:ln w="3175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32570" y="1371600"/>
            <a:ext cx="2626614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125837" y="1600200"/>
            <a:ext cx="640080" cy="64008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4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010" y="2377440"/>
            <a:ext cx="244373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24418C"/>
                </a:solidFill>
                <a:latin typeface="PT Sans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4010" y="3063240"/>
            <a:ext cx="244373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1F2430"/>
                </a:solidFill>
                <a:latin typeface="PT Sans"/>
              </a:rPr>
              <a:t>Текшер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9730" y="3566160"/>
            <a:ext cx="2352294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a = 2 коюп салыштыр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74519" y="4709160"/>
            <a:ext cx="8449056" cy="758952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600" b="1">
                <a:solidFill>
                  <a:srgbClr val="A84400"/>
                </a:solidFill>
                <a:latin typeface="PT Sans"/>
              </a:rPr>
              <a:t>3(x + 4) + 2x = 3x + 12 + 2x = 5x + 12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1: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канча түрдүү мүчө калат?  2a + 3b + a + 4b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2a + 3b + a + 4b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2a + a + 3b + 4b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окшошторду жанаша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3a + 7b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окшошторду кош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a = 1, b = 1: 10 =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3a + 7b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Мисал 2: мен көрсөтөм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Адегенде болжолдо: x канча жолу калат?  3(x + 4) + 2x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0280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3(x + 4) + 2x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98648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3x + 12 + 2x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898648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кашааны ач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57016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1F2430"/>
                </a:solidFill>
                <a:latin typeface="PT Sans"/>
              </a:rPr>
              <a:t>= 5x + 12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3557016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окшошторду кош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4"/>
            <a:ext cx="7498079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800" b="1" i="0">
                <a:solidFill>
                  <a:srgbClr val="24418C"/>
                </a:solidFill>
                <a:latin typeface="PT Sans"/>
              </a:rPr>
              <a:t>x = 2: 22 = 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4215384"/>
            <a:ext cx="3108960" cy="65836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A84400"/>
                </a:solidFill>
                <a:latin typeface="PT Sans"/>
              </a:rPr>
              <a:t>текшер 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596128"/>
            <a:ext cx="11329416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1F2430"/>
                </a:solidFill>
                <a:latin typeface="PT Sans"/>
              </a:rPr>
              <a:t>Жооп = </a:t>
            </a:r>
            <a:r>
              <a:rPr sz="3400" b="1">
                <a:solidFill>
                  <a:srgbClr val="24418C"/>
                </a:solidFill>
                <a:latin typeface="PT Sans"/>
              </a:rPr>
              <a:t>5x + 12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ыкма: топто, ач, бириктир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12647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Түстөр менен топто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4a + 2b − a + 3b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a: 4 − 1 =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b: 2 + 3 =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3a + 5b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Ар бир мүчө өз белгиси менен жүрөт.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0560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Кашаа = бирдей топтор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3(x + 4)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топ x: 3x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 топ 4: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= 3x + 12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Кашаанын ичиндеги ар бир мүчө көбөйөт.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65592" y="1280160"/>
            <a:ext cx="3593592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48472" y="1444752"/>
            <a:ext cx="457200" cy="45720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42832" y="1371600"/>
            <a:ext cx="2679192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Адегенде бириктир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2194560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3x + 2x = 35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2761488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5x = 35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328415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x = 35 ÷ 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3895344"/>
            <a:ext cx="3136392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24418C"/>
                </a:solidFill>
                <a:latin typeface="PT Sans"/>
              </a:rPr>
              <a:t>x = 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4526280"/>
            <a:ext cx="3136392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Теңдемеде да адегенде окшошторду кош.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9768" y="5577840"/>
            <a:ext cx="11329416" cy="5029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2222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700" b="1">
                <a:solidFill>
                  <a:srgbClr val="007A5A"/>
                </a:solidFill>
                <a:latin typeface="PT Sans"/>
              </a:rPr>
              <a:t>Болжолдо → кашааны ач → окшошторду топто → сан коюп текшер.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Чечүүчү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Жөнөкөйлөт: 3(a + 4) + 5a −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04088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7a + 4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228600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83096" y="274320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6056" y="228600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8a + 12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4088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7048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7a + 12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023360"/>
            <a:ext cx="5550408" cy="1508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83096" y="4480560"/>
            <a:ext cx="594360" cy="59436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1D3557"/>
                </a:solidFill>
                <a:latin typeface="PT Sans"/>
              </a:rPr>
              <a:t>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06056" y="4023360"/>
            <a:ext cx="4297680" cy="1508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F2430"/>
                </a:solidFill>
                <a:latin typeface="PT Sans"/>
              </a:rPr>
              <a:t>9a + 12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007A5A"/>
                </a:solidFill>
                <a:latin typeface="PT Sans"/>
              </a:rPr>
              <a:t>3C · Сынчыл ой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чий, анан эсепте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Айдана 3 кутуча, Мирлан 2 кутуча бал салды. Ар бир кутучада x банка, баары 35 банка. x =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67128" y="4956048"/>
            <a:ext cx="170383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12647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18488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282439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19600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6800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4 белек топтом: ар биринде чоң банка (a сом) жана 50 сомдук жыгач кашык. a = 450 болсо, баары канча сом?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6759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65320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19800" y="4956048"/>
            <a:ext cx="1703831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465320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71159" y="5641848"/>
            <a:ext cx="2252472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135112" y="1691640"/>
            <a:ext cx="3624072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72272" y="1828800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9472" y="1755648"/>
            <a:ext cx="2892552" cy="1051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Аарыкананын тик бурчтуу тосмосу: узундугу x + 4 м, туурасы x м. Тосмонун узундугу 32 м. x = 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9432" y="3429000"/>
            <a:ext cx="3075432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6B7280"/>
                </a:solidFill>
                <a:latin typeface="PT Sans"/>
              </a:rPr>
              <a:t>Тилкени бул жерге чий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991" y="4572000"/>
            <a:ext cx="155448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Туюнтма: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72471" y="4956048"/>
            <a:ext cx="170383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317991" y="5257800"/>
            <a:ext cx="1005840" cy="41148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>
                <a:solidFill>
                  <a:srgbClr val="6B7280"/>
                </a:solidFill>
                <a:latin typeface="PT Sans"/>
              </a:rPr>
              <a:t>Жообу: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23831" y="5641848"/>
            <a:ext cx="2252473" cy="0"/>
          </a:xfrm>
          <a:prstGeom prst="line">
            <a:avLst/>
          </a:prstGeom>
          <a:ln w="127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Тилке машыгуусу: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Айдана 3 кутуча, Мирлан 2 кутуча бал салды. Ар бир кутучада x банка, баары 35 банка. x = 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5710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04492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3275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42057" y="3017520"/>
            <a:ext cx="468782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002280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139440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002280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85160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7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5x = 35; x = 7 банка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82439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19600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6800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4 белек топтом: ар биринде чоң банка (a сом) жана 50 сомдук жыгач кашык. a = 450 болсо, баары канча сом?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9600" y="3017520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Банка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82640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02858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23076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43294" y="3017520"/>
            <a:ext cx="220217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9600" y="3574389"/>
            <a:ext cx="1371600" cy="38404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1" i="0">
                <a:solidFill>
                  <a:srgbClr val="1F2430"/>
                </a:solidFill>
                <a:latin typeface="PT Sans"/>
              </a:rPr>
              <a:t>Кашык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82640" y="3574389"/>
            <a:ext cx="14681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29452" y="3574389"/>
            <a:ext cx="14681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6264" y="3574389"/>
            <a:ext cx="14681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23076" y="3574389"/>
            <a:ext cx="146811" cy="384048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50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854951" y="3017520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992112" y="3017520"/>
            <a:ext cx="0" cy="940917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54951" y="3958437"/>
            <a:ext cx="137161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037832" y="3213658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5320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4a + 200 = 2 000 сом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5112" y="1280160"/>
            <a:ext cx="3624072" cy="4846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72272" y="1417319"/>
            <a:ext cx="384048" cy="384048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29472" y="1344168"/>
            <a:ext cx="2892552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F2430"/>
                </a:solidFill>
                <a:latin typeface="PT Sans"/>
              </a:rPr>
              <a:t>Аарыкананын тик бурчтуу тосмосу: узундугу x + 4 м, туурасы x м. Тосмонун узундугу 32 м. x = ?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2272" y="3017520"/>
            <a:ext cx="43948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11755" y="3017520"/>
            <a:ext cx="43948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51239" y="3017520"/>
            <a:ext cx="43948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90722" y="3017520"/>
            <a:ext cx="439483" cy="384048"/>
          </a:xfrm>
          <a:prstGeom prst="rect">
            <a:avLst/>
          </a:prstGeom>
          <a:solidFill>
            <a:srgbClr val="FFFFFF"/>
          </a:solidFill>
          <a:ln w="20320">
            <a:solidFill>
              <a:srgbClr val="4A5A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6B7280"/>
                </a:solidFill>
                <a:latin typeface="PT Sans"/>
              </a:rPr>
              <a:t>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30206" y="3017520"/>
            <a:ext cx="585978" cy="384048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100" b="1">
                <a:solidFill>
                  <a:srgbClr val="1F2430"/>
                </a:solidFill>
                <a:latin typeface="PT Sans"/>
              </a:rPr>
              <a:t>8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0707624" y="3017520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844784" y="3017520"/>
            <a:ext cx="0" cy="384048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707624" y="3401568"/>
            <a:ext cx="13716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10890503" y="2935224"/>
            <a:ext cx="10058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A84400"/>
                </a:solidFill>
                <a:latin typeface="PT Sans"/>
              </a:rPr>
              <a:t>32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17991" y="5120640"/>
            <a:ext cx="3258312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 i="0">
                <a:solidFill>
                  <a:srgbClr val="24418C"/>
                </a:solidFill>
                <a:latin typeface="PT Sans"/>
              </a:rPr>
              <a:t>4x + 8 = 32; x = 6 м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Дептериңе чыгар. Кыйын болсо – жакшы! Мээң өсүп жатат.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Жөнөкөйлөт: 6a − 2a +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69164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91656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86016" y="169164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Жөнөкөйлөт: 3x + 5 + 4x − 2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Кашааны ач: 5(a + 3)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23088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1656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323088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Жөнөкөйлөт: 2(x + 4) + 3x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7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Чыгар: 4x + 3x = 56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08776" y="4770120"/>
            <a:ext cx="5550408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1656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86016" y="4770120"/>
            <a:ext cx="4636008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 i="0">
                <a:solidFill>
                  <a:srgbClr val="1F2430"/>
                </a:solidFill>
                <a:latin typeface="PT Sans"/>
              </a:rPr>
              <a:t>a = 3, b = 2 болсо: 3a + 4b − 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1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0">
                <a:solidFill>
                  <a:srgbClr val="6B7280"/>
                </a:solidFill>
                <a:latin typeface="PT Sans"/>
              </a:rPr>
              <a:t>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509759" y="6327648"/>
            <a:ext cx="457200" cy="41148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Өз алдынча иш: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Жөнөкөйлөт: 6a − 2a + 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34804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1325880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45936" y="1581912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94576" y="1325880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Жөнөкөйлөт: 3x + 5 + 4x − 2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3812" y="1325880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7x + 3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Кашааны ач: 5(a + 3)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804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5a + 15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2350008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45936" y="2606040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94576" y="2350008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Жөнөкөйлөт: 2(x + 4) + 3x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812" y="2350008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5x + 8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66928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Чыгар: 4x + 3x = 56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804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x = 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08776" y="3374136"/>
            <a:ext cx="555040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45936" y="3630168"/>
            <a:ext cx="402336" cy="402336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4576" y="3374136"/>
            <a:ext cx="3219236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1F2430"/>
                </a:solidFill>
                <a:latin typeface="PT Sans"/>
              </a:rPr>
              <a:t>a = 3, b = 2 болсо: 3a + 4b −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13812" y="3374136"/>
            <a:ext cx="1508211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24418C"/>
                </a:solidFill>
                <a:latin typeface="PT Sans"/>
              </a:rPr>
              <a:t>2a + 4b = 14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Окуяга кайтабыз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713232"/>
          </a:xfrm>
          <a:prstGeom prst="roundRect">
            <a:avLst>
              <a:gd name="adj" fmla="val 258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25296"/>
            <a:ext cx="10780776" cy="713232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1F2430"/>
                </a:solidFill>
                <a:latin typeface="PT Sans"/>
              </a:rPr>
              <a:t>Айдана 3 белек топтом жыйнады: ар биринде 1 чоң жана 2 кичине банка. Мирлан дагы 2 чоң банка сатты. Баары канча сом? a = 500, b = 300 болсо?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40280"/>
            <a:ext cx="137160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800" b="1" i="0">
                <a:solidFill>
                  <a:srgbClr val="1F2430"/>
                </a:solidFill>
                <a:latin typeface="PT Sans"/>
              </a:rPr>
              <a:t>Баары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2240280"/>
            <a:ext cx="94868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26130" y="2240280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00475" y="2240280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74820" y="2240280"/>
            <a:ext cx="94868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23509" y="2240280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97854" y="2240280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199" y="2240280"/>
            <a:ext cx="94868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20889" y="2240280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95234" y="2240280"/>
            <a:ext cx="474344" cy="548640"/>
          </a:xfrm>
          <a:prstGeom prst="rect">
            <a:avLst/>
          </a:prstGeom>
          <a:solidFill>
            <a:srgbClr val="F5E9E0"/>
          </a:solidFill>
          <a:ln w="2032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b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9579" y="2240280"/>
            <a:ext cx="94868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18269" y="2240280"/>
            <a:ext cx="948689" cy="548640"/>
          </a:xfrm>
          <a:prstGeom prst="rect">
            <a:avLst/>
          </a:prstGeom>
          <a:solidFill>
            <a:srgbClr val="B5E2D3"/>
          </a:solidFill>
          <a:ln w="2032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F2430"/>
                </a:solidFill>
                <a:latin typeface="PT Sans"/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127248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3(a + 2b) + 2a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127248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туюнтма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694176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3a + 6b + 2a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3694176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кашааны ач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61104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1F2430"/>
                </a:solidFill>
                <a:latin typeface="PT Sans"/>
              </a:rPr>
              <a:t>= 5a + 6b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261104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окшошторду кош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28032"/>
            <a:ext cx="7498079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2600" b="1" i="0">
                <a:solidFill>
                  <a:srgbClr val="24418C"/>
                </a:solidFill>
                <a:latin typeface="PT Sans"/>
              </a:rPr>
              <a:t>= 2 500 + 1 800 = 4 300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828032"/>
            <a:ext cx="3108960" cy="5669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A84400"/>
                </a:solidFill>
                <a:latin typeface="PT Sans"/>
              </a:rPr>
              <a:t>a = 500, b = 300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874519" y="5486400"/>
            <a:ext cx="8449056" cy="640080"/>
          </a:xfrm>
          <a:prstGeom prst="roundRect">
            <a:avLst>
              <a:gd name="adj" fmla="val 24400"/>
            </a:avLst>
          </a:prstGeom>
          <a:solidFill>
            <a:srgbClr val="FFFFFF"/>
          </a:solidFill>
          <a:ln w="285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Баары 4 300 сом. 3a + 2b деп жазсак: 3 100 сом (М4)!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24418C"/>
                </a:solidFill>
                <a:latin typeface="PT Sans"/>
              </a:rPr>
              <a:t>3C · Байланыштыруу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Түз: өзүң маселе түз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4892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371600"/>
            <a:ext cx="10780776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Чаткалдагы бал жөнүндө маселе түз: эки түрдүү банка (a жана b) жана кашаа болсун. Туюнтманы жөнөкөйлөтүп, сан коюп эсепте.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256032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54203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Окуядагы каармандарды колдон: Айдана, Мирлан, Сабыр ата.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338327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364991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Тилкесин чий жана туюнтмасын жаз.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4206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187952"/>
            <a:ext cx="10049256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Жупуңа бер: ал чыгарсын, сен текшер.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9927" y="6327648"/>
            <a:ext cx="329184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3C · Кызматташуу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Чыгуу билети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14300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Өз алдынча, 3 мүнөт. Кагазыңа жазып бер.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" y="169164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2647" y="215036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69164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Жөнөкөйлөт: 4a + 2b − a + 3b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" y="323088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12647" y="3689603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323088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Кашааны ач жана жөнөкөйлөт: 2(x + 6) + 3x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" y="4770120"/>
            <a:ext cx="11329416" cy="135635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2647" y="5228844"/>
            <a:ext cx="438912" cy="43891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7" y="4770120"/>
            <a:ext cx="10415016" cy="1356359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F2430"/>
                </a:solidFill>
                <a:latin typeface="PT Sans"/>
              </a:rPr>
              <a:t>Теңдемени чыгар: 3x + 2x + 4 =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1132941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280160"/>
            <a:ext cx="10780776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 i="0">
                <a:solidFill>
                  <a:srgbClr val="1D3557"/>
                </a:solidFill>
                <a:latin typeface="PT Sans"/>
              </a:rPr>
              <a:t>Оозеки талкуу</a:t>
            </a:r>
          </a:p>
        </p:txBody>
      </p:sp>
      <p:sp>
        <p:nvSpPr>
          <p:cNvPr id="12" name="Oval 11"/>
          <p:cNvSpPr/>
          <p:nvPr/>
        </p:nvSpPr>
        <p:spPr>
          <a:xfrm>
            <a:off x="704088" y="1920240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901952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Эмне үчүн 2a + 3b = 5ab туура эмес?</a:t>
            </a:r>
          </a:p>
        </p:txBody>
      </p:sp>
      <p:sp>
        <p:nvSpPr>
          <p:cNvPr id="14" name="Oval 13"/>
          <p:cNvSpPr/>
          <p:nvPr/>
        </p:nvSpPr>
        <p:spPr>
          <a:xfrm>
            <a:off x="704088" y="2542032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23744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3(x + 4) деп кашааны ачканда эмнени унутпайбыз?</a:t>
            </a:r>
          </a:p>
        </p:txBody>
      </p:sp>
      <p:sp>
        <p:nvSpPr>
          <p:cNvPr id="16" name="Oval 15"/>
          <p:cNvSpPr/>
          <p:nvPr/>
        </p:nvSpPr>
        <p:spPr>
          <a:xfrm>
            <a:off x="704088" y="316382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145536"/>
            <a:ext cx="10049256" cy="62179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 i="0">
                <a:solidFill>
                  <a:srgbClr val="1F2430"/>
                </a:solidFill>
                <a:latin typeface="PT Sans"/>
              </a:rPr>
              <a:t>Жөнөкөйлөткөнүңдү кантип текшердиң?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4617720"/>
            <a:ext cx="11329416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0" i="1">
                <a:solidFill>
                  <a:srgbClr val="6B7280"/>
                </a:solidFill>
                <a:latin typeface="PT Sans"/>
              </a:rPr>
              <a:t>Өзүңдү баала: колуңду көтөр.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7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007A5A"/>
                </a:solidFill>
                <a:latin typeface="PT Sans"/>
              </a:rPr>
              <a:t>Түшүндүм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360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A84400"/>
                </a:solidFill>
                <a:latin typeface="PT Sans"/>
              </a:rPr>
              <a:t>Дагы машыгам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93608" y="5120640"/>
            <a:ext cx="3291840" cy="731520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Жардам керек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1D3557"/>
                </a:solidFill>
                <a:latin typeface="PT Sans"/>
              </a:rPr>
              <a:t>Мугалим үчүн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Окшош мүчөлөр жана туюнтмаларды жөнөкөйлөтүү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26/26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25296"/>
            <a:ext cx="5120640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280160"/>
            <a:ext cx="466344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Тилке моделин кантип үйрөтөбүз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1874519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19" y="1856231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жупка картон плиткалар: 6 узун тилке (x), 4 кыска (b), 20 чарчы (1); же эки түстүү капкак.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898648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19" y="2880360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туюнтмадан мурун: «Адегенде болжолдо: канча түрдүү мүчө калат?»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922776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3904488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Окшош мүчөлөрдү бир түс менен белгилетем; белги мүчө менен бирге тегеректелет.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4946904"/>
            <a:ext cx="393192" cy="393192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6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19" y="4928616"/>
            <a:ext cx="4114800" cy="10241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1F2430"/>
                </a:solidFill>
                <a:latin typeface="PT Sans"/>
              </a:rPr>
              <a:t>Ар бир жөнөкөйлөтүүдөн кийин сан коюп текшерүү: a = 2 (a = 1 кээде алдайт).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79007" y="1225296"/>
            <a:ext cx="5980176" cy="492861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07607" y="1280160"/>
            <a:ext cx="5486400" cy="502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1D3557"/>
                </a:solidFill>
                <a:latin typeface="PT Sans"/>
              </a:rPr>
              <a:t>Ой жүгүртүү: эмне деп айтабыз?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7607" y="1783080"/>
            <a:ext cx="2651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6B7280"/>
                </a:solidFill>
                <a:latin typeface="PT Sans"/>
              </a:rPr>
              <a:t>Айтпайбыз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96528" y="1783080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007A5A"/>
                </a:solidFill>
                <a:latin typeface="PT Sans"/>
              </a:rPr>
              <a:t>Айтабыз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7" y="219456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«Бул оңой эмеспи?»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2468879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796528" y="219456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«Кадамдарды бирге карайлы.»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7" y="315468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«Туура эмес!»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567928" y="342900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96528" y="315468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«Кантип таптың? Текшерип көрөлүчү.»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7" y="411480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«Сен математикага жөндөмсүзсүң»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567928" y="438912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796528" y="411480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«Азырынча. Машыксаң, үйрөнөсүң.»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07607" y="5074920"/>
            <a:ext cx="26517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6B7280"/>
                </a:solidFill>
                <a:latin typeface="PT Sans"/>
              </a:rPr>
              <a:t>«Тез чыгар»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67928" y="5349240"/>
            <a:ext cx="182880" cy="0"/>
          </a:xfrm>
          <a:prstGeom prst="line">
            <a:avLst/>
          </a:prstGeom>
          <a:ln w="25400">
            <a:solidFill>
              <a:srgbClr val="A844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796528" y="5074920"/>
            <a:ext cx="2880360" cy="868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 i="0">
                <a:solidFill>
                  <a:srgbClr val="1F2430"/>
                </a:solidFill>
                <a:latin typeface="PT Sans"/>
              </a:rPr>
              <a:t>«Шашпа, адегенде тилке чий.»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