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бериңиз. Окуучулар болжолдошсун: 100 кемселге 1 метрден азыраак баркыт жетеби? Бир кемсел дээрлик 1 м, демек 100 кемсел 100 мге жакын болушу керек. Жоопту 22-слайдда текшеребиз. Проектор жок болсо, сандарды доскага жазам. Кемсел – жеңсиз кыргыз кийими; сүрөтүн көрсөтсөңүз болот.</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Бермет: 1,6 × 100 = 160 см (Нурбек – М6, бирдикти алмаштырууда амалды чаташтырды).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дептер барагына чийилген разряд таблицасы (үтүр кызыл калем менен, ал жылбайт), кагаздан кесилген сан карточкалары 0–9 жана эки «0» картасы, сызгыч, бар болсо 10 тыйындык тыйындар (же кагаздан чийилген). 1) 0,45ти карточка менен коюшат, анан × 10: эки карточка тең бир тилке солго жылат, үтүр кагазда калат. Бош бирдик орунга «0» картасын коюшат. 2) Сызгычта 4,5 см: 4 см жана 5 мм, бардыгы 45 мм. 3) 10 тыйындан 10 тыйын = 100 тыйын = 1 сом. Проектор жок болсо, ушул сүрөттү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Таблицаны доскага чийем, үтүрдүн тилкесин кызыл бор менен. 0,85тен баштайм: «8 кайда турат? Ондон бирде. × 10дон кийин? Бирдикте». Ар бир сапта 8ди көрсөтүп, окуучулар жылышты манжасы менен көрсөтүшөт. Ылдыйдан өйдө окусак, : 10. Бош разряддагы 0 (0,85 менен 850дө) – орун ээлөөчү нөл: ал жок болсо, 850 = 85 болуп калат (М4). Нурбектин «0,8500» оюна кайтам: нөлдү аягына коштук, бирок цифралар жылган жок (М1).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 100, 1000: нөлдөрдүн саны канча болсо, цифралар ошончо орун солго жылат. «Аягына нөл кош» бүтүн санда гана туура иштейт (М1). : 10, 100, 1000: цифралар оңго; «нөлдү өчүр» эрежеси нөл болгондо гана иштейт, 476 : 10 = 47,6 (М5). Бош разрядга 0 (М4). Бирдиктер: 1 км = 1 000 м, 1 м = 100 см, 1 см = 10 мм, 1 сом = 100 тыйын (М6, М7). Ар дайым болжол менен текшеребиз.</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«0,85 × 100: эки нөл, эки орун солго, 85».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М1; Б = ✓; В = М2; Г = М4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бирдей бөлүктөр → эсе көп → эки кадам. Жооптор: 0,85 × 10 = 8,5 м; 0,4 × 100 = 40 сом; 8 × 100 = 800 м = 0,8 км; 200 м калат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0,85: цифралар 2 орун солго жылат, үтүр ордунда: 85 м. Болжол: 100 × 1 = 100 м, 85 м жакын. 0,8500 = 0,85: аягына нөл кошсок, сан өзгөрбөйт (М1). Топчу: 1 000 × 40 = 40 000 тыйын; 100 тыйын = 1 сом, ошондуктан : 100 = 400 сом. Же: 40 тыйын = 0,4 сом, 0,4 × 1 000 = 400 сом. 12-слайддагы жылма таблицаны кайра көрсөтөм.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530; 0,006; 42,5 м</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10, 100, 1000ге көбөйтүү жана бөлүү</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Кеминдеги тигүү цехи</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Нурбек менен Бермет Айым эженин цехинде бий ийрими үчүн 100 кемсел тигүүгө жардам беришет.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(2018), 5-класс: натуралдык сандар жана ондук бөлчөктөр; 4-класс: чоңдуктардын бирдиктери. Кыргызча окуу китеби папкада жок; мазмуну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Кеминдеги тигүү цехи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Кеминде Айым эженин тигүү цехи бар. Мектептин бий ийрими 100 кемсел буюртма берди.</a:t>
            </a:r>
          </a:p>
          <a:p>
            <a:pPr algn="l">
              <a:lnSpc>
                <a:spcPct val="105000"/>
              </a:lnSpc>
              <a:spcBef>
                <a:spcPts val="800"/>
              </a:spcBef>
            </a:pPr>
            <a:r>
              <a:rPr sz="2100" b="0" i="0">
                <a:solidFill>
                  <a:srgbClr val="1F2430"/>
                </a:solidFill>
                <a:latin typeface="PT Sans"/>
              </a:rPr>
              <a:t>Бир кемселге 0,85 м баркыт жана 10 топчу кетет. Бир топчу 40 тыйын.</a:t>
            </a:r>
          </a:p>
          <a:p>
            <a:pPr algn="l">
              <a:lnSpc>
                <a:spcPct val="105000"/>
              </a:lnSpc>
              <a:spcBef>
                <a:spcPts val="800"/>
              </a:spcBef>
            </a:pPr>
            <a:r>
              <a:rPr sz="2100" b="0" i="0">
                <a:solidFill>
                  <a:srgbClr val="1F2430"/>
                </a:solidFill>
                <a:latin typeface="PT Sans"/>
              </a:rPr>
              <a:t>Нурбек: «100гө көбөйтсөм, аягына эки нөл кошом: 0,8500 м».</a:t>
            </a:r>
          </a:p>
          <a:p>
            <a:pPr algn="l">
              <a:lnSpc>
                <a:spcPct val="105000"/>
              </a:lnSpc>
              <a:spcBef>
                <a:spcPts val="800"/>
              </a:spcBef>
            </a:pPr>
            <a:r>
              <a:rPr sz="2100" b="0" i="0">
                <a:solidFill>
                  <a:srgbClr val="1F2430"/>
                </a:solidFill>
                <a:latin typeface="PT Sans"/>
              </a:rPr>
              <a:t>Бермет: «Анда 100 кемселге бир метр да баркыт жетпейт беле?»</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100 кемселге канча метр баркыт керек? 1 000 топчу канча сом турат? Нурбек туурабы?</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Бүтүн санды жана ондук бөлчөктү 10, 100, 1000ге көбөйтөм жана бөлөм.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Разряд таблицасында цифралардын жылышын көрсөтөм, бош разрядга 0 жазам.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мм, см, м, км жана тыйын, сом бирдиктерин алмаштырам.</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Бүтүн сандар</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Ондук бөлчөк, нөл</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Бирдиктер, маселе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Катаны тап</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жылма таблица</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Тигүү цехи</a:t>
            </a:r>
          </a:p>
          <a:p>
            <a:pPr algn="l">
              <a:lnSpc>
                <a:spcPct val="105000"/>
              </a:lnSpc>
            </a:pPr>
            <a:r>
              <a:rPr sz="1800" b="0" i="0">
                <a:solidFill>
                  <a:srgbClr val="1F2430"/>
                </a:solidFill>
                <a:latin typeface="PT Sans"/>
              </a:rPr>
              <a:t>• м, см, тыйын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Бирдиктерди</a:t>
            </a:r>
          </a:p>
          <a:p>
            <a:pPr algn="l">
              <a:lnSpc>
                <a:spcPct val="105000"/>
              </a:lnSpc>
              <a:spcBef>
                <a:spcPts val="400"/>
              </a:spcBef>
            </a:pPr>
            <a:r>
              <a:rPr sz="1500" b="0" i="0">
                <a:solidFill>
                  <a:srgbClr val="1F2430"/>
                </a:solidFill>
                <a:latin typeface="PT Sans"/>
              </a:rPr>
              <a:t>• алмаштыруу</a:t>
            </a:r>
          </a:p>
        </p:txBody>
      </p:sp>
      <p:sp>
        <p:nvSpPr>
          <p:cNvPr id="14" name="Rounded Rectangle 13"/>
          <p:cNvSpPr/>
          <p:nvPr/>
        </p:nvSpPr>
        <p:spPr>
          <a:xfrm>
            <a:off x="3319272" y="2560320"/>
            <a:ext cx="2660904" cy="32004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6" name="Connector 15"/>
          <p:cNvCxnSpPr/>
          <p:nvPr/>
        </p:nvCxnSpPr>
        <p:spPr>
          <a:xfrm>
            <a:off x="3593591" y="3200400"/>
            <a:ext cx="2112265"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Ондук бөлчөк:</a:t>
            </a:r>
          </a:p>
          <a:p>
            <a:pPr algn="l">
              <a:lnSpc>
                <a:spcPct val="105000"/>
              </a:lnSpc>
              <a:spcBef>
                <a:spcPts val="400"/>
              </a:spcBef>
            </a:pPr>
            <a:r>
              <a:rPr sz="1500" b="0" i="0">
                <a:solidFill>
                  <a:srgbClr val="1F2430"/>
                </a:solidFill>
                <a:latin typeface="PT Sans"/>
              </a:rPr>
              <a:t>• разряд, маани</a:t>
            </a:r>
          </a:p>
        </p:txBody>
      </p:sp>
      <p:sp>
        <p:nvSpPr>
          <p:cNvPr id="18" name="Rounded Rectangle 17"/>
          <p:cNvSpPr/>
          <p:nvPr/>
        </p:nvSpPr>
        <p:spPr>
          <a:xfrm>
            <a:off x="6208776" y="2103120"/>
            <a:ext cx="2660904" cy="36576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
            </a:r>
          </a:p>
        </p:txBody>
      </p:sp>
      <p:cxnSp>
        <p:nvCxnSpPr>
          <p:cNvPr id="20" name="Connector 19"/>
          <p:cNvCxnSpPr/>
          <p:nvPr/>
        </p:nvCxnSpPr>
        <p:spPr>
          <a:xfrm>
            <a:off x="6483096" y="2743200"/>
            <a:ext cx="2112263"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10, 100, 1000ге</a:t>
            </a:r>
          </a:p>
          <a:p>
            <a:pPr algn="l">
              <a:lnSpc>
                <a:spcPct val="105000"/>
              </a:lnSpc>
              <a:spcBef>
                <a:spcPts val="400"/>
              </a:spcBef>
            </a:pPr>
            <a:r>
              <a:rPr sz="1500" b="0" i="0">
                <a:solidFill>
                  <a:srgbClr val="1F2430"/>
                </a:solidFill>
                <a:latin typeface="PT Sans"/>
              </a:rPr>
              <a:t>• × жана :</a:t>
            </a:r>
          </a:p>
        </p:txBody>
      </p:sp>
      <p:sp>
        <p:nvSpPr>
          <p:cNvPr id="22" name="Rounded Rectangle 21"/>
          <p:cNvSpPr/>
          <p:nvPr/>
        </p:nvSpPr>
        <p:spPr>
          <a:xfrm>
            <a:off x="6807708" y="1600199"/>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Ондук бөлчөктөрдү</a:t>
            </a:r>
          </a:p>
          <a:p>
            <a:pPr algn="l">
              <a:lnSpc>
                <a:spcPct val="105000"/>
              </a:lnSpc>
              <a:spcBef>
                <a:spcPts val="400"/>
              </a:spcBef>
            </a:pPr>
            <a:r>
              <a:rPr sz="1500" b="0" i="0">
                <a:solidFill>
                  <a:srgbClr val="6B7280"/>
                </a:solidFill>
                <a:latin typeface="PT Sans"/>
              </a:rPr>
              <a:t>• көбөйтүү, бөлүү</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40 × 10</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3 000 : 100</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2,35 санында 3түн мааниси</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 м = ? см</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40 × 10</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400</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3 000 : 100</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30</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2,35 санында 3түн мааниси</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0,3</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 м = ? см</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100 см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Айым эже: «Бир кемселдин этегине 1,6 м тасма кетет. Бул канча см?»</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Нурбек</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см – кичине бирдик,</a:t>
            </a:r>
          </a:p>
          <a:p>
            <a:pPr algn="l">
              <a:lnSpc>
                <a:spcPct val="105000"/>
              </a:lnSpc>
            </a:pPr>
            <a:r>
              <a:rPr sz="2600" b="0" i="0">
                <a:solidFill>
                  <a:srgbClr val="1F2430"/>
                </a:solidFill>
                <a:latin typeface="PT Sans"/>
              </a:rPr>
              <a:t>ошондуктан бөлөм:</a:t>
            </a:r>
          </a:p>
          <a:p>
            <a:pPr algn="l">
              <a:lnSpc>
                <a:spcPct val="105000"/>
              </a:lnSpc>
            </a:pPr>
            <a:r>
              <a:rPr sz="2600" b="0" i="0">
                <a:solidFill>
                  <a:srgbClr val="1F2430"/>
                </a:solidFill>
                <a:latin typeface="PT Sans"/>
              </a:rPr>
              <a:t>1,6 : 100 = 0,016 см</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Бермет</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1 м = 100 см</a:t>
            </a:r>
          </a:p>
          <a:p>
            <a:pPr algn="l">
              <a:lnSpc>
                <a:spcPct val="105000"/>
              </a:lnSpc>
            </a:pPr>
            <a:r>
              <a:rPr sz="2600" b="0" i="0">
                <a:solidFill>
                  <a:srgbClr val="1F2430"/>
                </a:solidFill>
                <a:latin typeface="PT Sans"/>
              </a:rPr>
              <a:t>1,6 м = 1,6 × 100 см</a:t>
            </a:r>
          </a:p>
          <a:p>
            <a:pPr algn="l">
              <a:lnSpc>
                <a:spcPct val="105000"/>
              </a:lnSpc>
            </a:pPr>
            <a:r>
              <a:rPr sz="2600" b="0" i="0">
                <a:solidFill>
                  <a:srgbClr val="1F2430"/>
                </a:solidFill>
                <a:latin typeface="PT Sans"/>
              </a:rPr>
              <a:t>= 160 см</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Сантиметр тасма менен текшер.</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сан карточкаларын кагаз разряд таблицасында жылдыр (× 10, : 100); сызгычта 4,5 см = 45 мм; тыйындар менен 100 тыйын = 1 сом.</a:t>
            </a:r>
          </a:p>
        </p:txBody>
      </p:sp>
      <p:sp>
        <p:nvSpPr>
          <p:cNvPr id="12" name="TextBox 11"/>
          <p:cNvSpPr txBox="1"/>
          <p:nvPr/>
        </p:nvSpPr>
        <p:spPr>
          <a:xfrm>
            <a:off x="548640" y="2148840"/>
            <a:ext cx="4023360" cy="36576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Кагаз таблица жана карточкалар</a:t>
            </a:r>
          </a:p>
        </p:txBody>
      </p:sp>
      <p:sp>
        <p:nvSpPr>
          <p:cNvPr id="13" name="Rectangle 12"/>
          <p:cNvSpPr/>
          <p:nvPr/>
        </p:nvSpPr>
        <p:spPr>
          <a:xfrm>
            <a:off x="548640" y="26060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060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Ондук</a:t>
            </a:r>
          </a:p>
        </p:txBody>
      </p:sp>
      <p:sp>
        <p:nvSpPr>
          <p:cNvPr id="15" name="Rectangle 14"/>
          <p:cNvSpPr/>
          <p:nvPr/>
        </p:nvSpPr>
        <p:spPr>
          <a:xfrm>
            <a:off x="548640" y="28620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53312" y="26060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26060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Бирдик</a:t>
            </a:r>
          </a:p>
        </p:txBody>
      </p:sp>
      <p:sp>
        <p:nvSpPr>
          <p:cNvPr id="18" name="Rectangle 17"/>
          <p:cNvSpPr/>
          <p:nvPr/>
        </p:nvSpPr>
        <p:spPr>
          <a:xfrm>
            <a:off x="1353312" y="28620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12264" y="2880360"/>
            <a:ext cx="365760" cy="731520"/>
          </a:xfrm>
          <a:prstGeom prst="rect">
            <a:avLst/>
          </a:prstGeom>
          <a:noFill/>
        </p:spPr>
        <p:txBody>
          <a:bodyPr wrap="square" anchor="ctr" lIns="45720" rIns="45720" tIns="27432" bIns="27432">
            <a:spAutoFit/>
          </a:bodyPr>
          <a:lstStyle/>
          <a:p>
            <a:pPr algn="ctr">
              <a:lnSpc>
                <a:spcPct val="105000"/>
              </a:lnSpc>
            </a:pPr>
            <a:r>
              <a:rPr sz="3400" b="1" i="0">
                <a:solidFill>
                  <a:srgbClr val="A84400"/>
                </a:solidFill>
                <a:latin typeface="PT Sans"/>
              </a:rPr>
              <a:t>,</a:t>
            </a:r>
          </a:p>
        </p:txBody>
      </p:sp>
      <p:sp>
        <p:nvSpPr>
          <p:cNvPr id="20" name="Rectangle 19"/>
          <p:cNvSpPr/>
          <p:nvPr/>
        </p:nvSpPr>
        <p:spPr>
          <a:xfrm>
            <a:off x="2432303" y="26060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32303" y="26060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Ондон бир</a:t>
            </a:r>
          </a:p>
        </p:txBody>
      </p:sp>
      <p:sp>
        <p:nvSpPr>
          <p:cNvPr id="22" name="Rectangle 21"/>
          <p:cNvSpPr/>
          <p:nvPr/>
        </p:nvSpPr>
        <p:spPr>
          <a:xfrm>
            <a:off x="2432303" y="28620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36975" y="26060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6975" y="26060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Жүздөн бир</a:t>
            </a:r>
          </a:p>
        </p:txBody>
      </p:sp>
      <p:sp>
        <p:nvSpPr>
          <p:cNvPr id="25" name="Rectangle 24"/>
          <p:cNvSpPr/>
          <p:nvPr/>
        </p:nvSpPr>
        <p:spPr>
          <a:xfrm>
            <a:off x="3236975" y="28620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581912" y="3017520"/>
            <a:ext cx="438912" cy="548640"/>
          </a:xfrm>
          <a:prstGeom prst="rect">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36192" y="2971800"/>
            <a:ext cx="438912" cy="548640"/>
          </a:xfrm>
          <a:prstGeom prst="rect">
            <a:avLst/>
          </a:prstGeom>
          <a:solidFill>
            <a:srgbClr val="FFFFFF"/>
          </a:solid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0</a:t>
            </a:r>
          </a:p>
        </p:txBody>
      </p:sp>
      <p:sp>
        <p:nvSpPr>
          <p:cNvPr id="28" name="Rectangle 27"/>
          <p:cNvSpPr/>
          <p:nvPr/>
        </p:nvSpPr>
        <p:spPr>
          <a:xfrm>
            <a:off x="2660903" y="3017520"/>
            <a:ext cx="438912" cy="548640"/>
          </a:xfrm>
          <a:prstGeom prst="rect">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615184" y="2971800"/>
            <a:ext cx="438912" cy="548640"/>
          </a:xfrm>
          <a:prstGeom prst="rect">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4</a:t>
            </a:r>
          </a:p>
        </p:txBody>
      </p:sp>
      <p:sp>
        <p:nvSpPr>
          <p:cNvPr id="30" name="Rectangle 29"/>
          <p:cNvSpPr/>
          <p:nvPr/>
        </p:nvSpPr>
        <p:spPr>
          <a:xfrm>
            <a:off x="3465575" y="3017520"/>
            <a:ext cx="438912" cy="548640"/>
          </a:xfrm>
          <a:prstGeom prst="rect">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19856" y="2971800"/>
            <a:ext cx="438912" cy="548640"/>
          </a:xfrm>
          <a:prstGeom prst="rect">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5</a:t>
            </a:r>
          </a:p>
        </p:txBody>
      </p:sp>
      <p:sp>
        <p:nvSpPr>
          <p:cNvPr id="32" name="TextBox 31"/>
          <p:cNvSpPr txBox="1"/>
          <p:nvPr/>
        </p:nvSpPr>
        <p:spPr>
          <a:xfrm>
            <a:off x="4114800" y="2971800"/>
            <a:ext cx="685800" cy="548640"/>
          </a:xfrm>
          <a:prstGeom prst="rect">
            <a:avLst/>
          </a:prstGeom>
          <a:noFill/>
        </p:spPr>
        <p:txBody>
          <a:bodyPr wrap="square" anchor="ctr" lIns="45720" rIns="45720" tIns="27432" bIns="27432">
            <a:spAutoFit/>
          </a:bodyPr>
          <a:lstStyle/>
          <a:p>
            <a:pPr algn="l">
              <a:lnSpc>
                <a:spcPct val="105000"/>
              </a:lnSpc>
            </a:pPr>
            <a:r>
              <a:rPr sz="1800" b="1" i="0">
                <a:solidFill>
                  <a:srgbClr val="1D3557"/>
                </a:solidFill>
                <a:latin typeface="PT Sans"/>
              </a:rPr>
              <a:t>0,45</a:t>
            </a:r>
          </a:p>
        </p:txBody>
      </p:sp>
      <p:sp>
        <p:nvSpPr>
          <p:cNvPr id="33" name="Rectangle 32"/>
          <p:cNvSpPr/>
          <p:nvPr/>
        </p:nvSpPr>
        <p:spPr>
          <a:xfrm>
            <a:off x="548640" y="42062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2062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Ондук</a:t>
            </a:r>
          </a:p>
        </p:txBody>
      </p:sp>
      <p:sp>
        <p:nvSpPr>
          <p:cNvPr id="35" name="Rectangle 34"/>
          <p:cNvSpPr/>
          <p:nvPr/>
        </p:nvSpPr>
        <p:spPr>
          <a:xfrm>
            <a:off x="548640" y="44622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353312" y="42062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53312" y="42062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Бирдик</a:t>
            </a:r>
          </a:p>
        </p:txBody>
      </p:sp>
      <p:sp>
        <p:nvSpPr>
          <p:cNvPr id="38" name="Rectangle 37"/>
          <p:cNvSpPr/>
          <p:nvPr/>
        </p:nvSpPr>
        <p:spPr>
          <a:xfrm>
            <a:off x="1353312" y="44622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12264" y="4480559"/>
            <a:ext cx="365760" cy="731520"/>
          </a:xfrm>
          <a:prstGeom prst="rect">
            <a:avLst/>
          </a:prstGeom>
          <a:noFill/>
        </p:spPr>
        <p:txBody>
          <a:bodyPr wrap="square" anchor="ctr" lIns="45720" rIns="45720" tIns="27432" bIns="27432">
            <a:spAutoFit/>
          </a:bodyPr>
          <a:lstStyle/>
          <a:p>
            <a:pPr algn="ctr">
              <a:lnSpc>
                <a:spcPct val="105000"/>
              </a:lnSpc>
            </a:pPr>
            <a:r>
              <a:rPr sz="3400" b="1" i="0">
                <a:solidFill>
                  <a:srgbClr val="A84400"/>
                </a:solidFill>
                <a:latin typeface="PT Sans"/>
              </a:rPr>
              <a:t>,</a:t>
            </a:r>
          </a:p>
        </p:txBody>
      </p:sp>
      <p:sp>
        <p:nvSpPr>
          <p:cNvPr id="40" name="Rectangle 39"/>
          <p:cNvSpPr/>
          <p:nvPr/>
        </p:nvSpPr>
        <p:spPr>
          <a:xfrm>
            <a:off x="2432303" y="42062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32303" y="42062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Ондон бир</a:t>
            </a:r>
          </a:p>
        </p:txBody>
      </p:sp>
      <p:sp>
        <p:nvSpPr>
          <p:cNvPr id="42" name="Rectangle 41"/>
          <p:cNvSpPr/>
          <p:nvPr/>
        </p:nvSpPr>
        <p:spPr>
          <a:xfrm>
            <a:off x="2432303" y="44622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36975" y="4206240"/>
            <a:ext cx="804672" cy="256032"/>
          </a:xfrm>
          <a:prstGeom prst="rect">
            <a:avLst/>
          </a:prstGeom>
          <a:solidFill>
            <a:srgbClr val="B5E2D3"/>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36975" y="4206240"/>
            <a:ext cx="804672" cy="256032"/>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Жүздөн бир</a:t>
            </a:r>
          </a:p>
        </p:txBody>
      </p:sp>
      <p:sp>
        <p:nvSpPr>
          <p:cNvPr id="45" name="Rectangle 44"/>
          <p:cNvSpPr/>
          <p:nvPr/>
        </p:nvSpPr>
        <p:spPr>
          <a:xfrm>
            <a:off x="3236975" y="4462272"/>
            <a:ext cx="804672" cy="777240"/>
          </a:xfrm>
          <a:prstGeom prst="rect">
            <a:avLst/>
          </a:prstGeom>
          <a:solidFill>
            <a:srgbClr val="FFFFFF"/>
          </a:solidFill>
          <a:ln w="127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581912" y="4617720"/>
            <a:ext cx="438912" cy="548640"/>
          </a:xfrm>
          <a:prstGeom prst="rect">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536192" y="4572000"/>
            <a:ext cx="438912" cy="548640"/>
          </a:xfrm>
          <a:prstGeom prst="rect">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4</a:t>
            </a:r>
          </a:p>
        </p:txBody>
      </p:sp>
      <p:sp>
        <p:nvSpPr>
          <p:cNvPr id="48" name="Rectangle 47"/>
          <p:cNvSpPr/>
          <p:nvPr/>
        </p:nvSpPr>
        <p:spPr>
          <a:xfrm>
            <a:off x="2660903" y="4617720"/>
            <a:ext cx="438912" cy="548640"/>
          </a:xfrm>
          <a:prstGeom prst="rect">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15184" y="4572000"/>
            <a:ext cx="438912" cy="548640"/>
          </a:xfrm>
          <a:prstGeom prst="rect">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5</a:t>
            </a:r>
          </a:p>
        </p:txBody>
      </p:sp>
      <p:sp>
        <p:nvSpPr>
          <p:cNvPr id="50" name="TextBox 49"/>
          <p:cNvSpPr txBox="1"/>
          <p:nvPr/>
        </p:nvSpPr>
        <p:spPr>
          <a:xfrm>
            <a:off x="4114800" y="4572000"/>
            <a:ext cx="685800" cy="548640"/>
          </a:xfrm>
          <a:prstGeom prst="rect">
            <a:avLst/>
          </a:prstGeom>
          <a:noFill/>
        </p:spPr>
        <p:txBody>
          <a:bodyPr wrap="square" anchor="ctr" lIns="45720" rIns="45720" tIns="27432" bIns="27432">
            <a:spAutoFit/>
          </a:bodyPr>
          <a:lstStyle/>
          <a:p>
            <a:pPr algn="l">
              <a:lnSpc>
                <a:spcPct val="105000"/>
              </a:lnSpc>
            </a:pPr>
            <a:r>
              <a:rPr sz="1800" b="1" i="0">
                <a:solidFill>
                  <a:srgbClr val="1D3557"/>
                </a:solidFill>
                <a:latin typeface="PT Sans"/>
              </a:rPr>
              <a:t>4,5</a:t>
            </a:r>
          </a:p>
        </p:txBody>
      </p:sp>
      <p:sp>
        <p:nvSpPr>
          <p:cNvPr id="51" name="TextBox 50"/>
          <p:cNvSpPr txBox="1"/>
          <p:nvPr/>
        </p:nvSpPr>
        <p:spPr>
          <a:xfrm>
            <a:off x="4069080" y="3749039"/>
            <a:ext cx="822960" cy="411480"/>
          </a:xfrm>
          <a:prstGeom prst="rect">
            <a:avLst/>
          </a:prstGeom>
          <a:noFill/>
        </p:spPr>
        <p:txBody>
          <a:bodyPr wrap="square" anchor="t" lIns="45720" rIns="45720" tIns="27432" bIns="27432">
            <a:spAutoFit/>
          </a:bodyPr>
          <a:lstStyle/>
          <a:p>
            <a:pPr algn="l">
              <a:lnSpc>
                <a:spcPct val="105000"/>
              </a:lnSpc>
            </a:pPr>
            <a:r>
              <a:rPr sz="1600" b="1" i="0">
                <a:solidFill>
                  <a:srgbClr val="A84400"/>
                </a:solidFill>
                <a:latin typeface="PT Sans"/>
              </a:rPr>
              <a:t>× 10</a:t>
            </a:r>
          </a:p>
        </p:txBody>
      </p:sp>
      <p:sp>
        <p:nvSpPr>
          <p:cNvPr id="52" name="TextBox 51"/>
          <p:cNvSpPr txBox="1"/>
          <p:nvPr/>
        </p:nvSpPr>
        <p:spPr>
          <a:xfrm>
            <a:off x="548640" y="5715000"/>
            <a:ext cx="4206240" cy="548640"/>
          </a:xfrm>
          <a:prstGeom prst="rect">
            <a:avLst/>
          </a:prstGeom>
          <a:noFill/>
        </p:spPr>
        <p:txBody>
          <a:bodyPr wrap="square" anchor="t" lIns="45720" rIns="45720" tIns="27432" bIns="27432">
            <a:spAutoFit/>
          </a:bodyPr>
          <a:lstStyle/>
          <a:p>
            <a:pPr algn="l">
              <a:lnSpc>
                <a:spcPct val="105000"/>
              </a:lnSpc>
            </a:pPr>
            <a:r>
              <a:rPr sz="1300" b="0" i="1">
                <a:solidFill>
                  <a:srgbClr val="4A5A70"/>
                </a:solidFill>
                <a:latin typeface="PT Sans"/>
              </a:rPr>
              <a:t>Карточкалар бир орун солго жылды. Үтүр кагазда калды. Кызгылт «0» – бош орун.</a:t>
            </a:r>
          </a:p>
        </p:txBody>
      </p:sp>
      <p:sp>
        <p:nvSpPr>
          <p:cNvPr id="53" name="TextBox 52"/>
          <p:cNvSpPr txBox="1"/>
          <p:nvPr/>
        </p:nvSpPr>
        <p:spPr>
          <a:xfrm>
            <a:off x="4937760" y="2148840"/>
            <a:ext cx="2743200" cy="36576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Сызгыч: 4,5 см</a:t>
            </a:r>
          </a:p>
        </p:txBody>
      </p:sp>
      <p:sp>
        <p:nvSpPr>
          <p:cNvPr id="54" name="Rectangle 53"/>
          <p:cNvSpPr/>
          <p:nvPr/>
        </p:nvSpPr>
        <p:spPr>
          <a:xfrm>
            <a:off x="4983480" y="2697480"/>
            <a:ext cx="2487168" cy="566928"/>
          </a:xfrm>
          <a:prstGeom prst="rect">
            <a:avLst/>
          </a:prstGeom>
          <a:solidFill>
            <a:srgbClr val="FFFFFF"/>
          </a:solid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4920" y="2423160"/>
            <a:ext cx="1728216" cy="201168"/>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5074920"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937759"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0</a:t>
            </a:r>
          </a:p>
        </p:txBody>
      </p:sp>
      <p:cxnSp>
        <p:nvCxnSpPr>
          <p:cNvPr id="58" name="Connector 57"/>
          <p:cNvCxnSpPr/>
          <p:nvPr/>
        </p:nvCxnSpPr>
        <p:spPr>
          <a:xfrm>
            <a:off x="5113324"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151729"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190134"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228539"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266944" y="2697480"/>
            <a:ext cx="0" cy="182880"/>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5305348"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343753"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382158"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420563"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458968"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321807"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1</a:t>
            </a:r>
          </a:p>
        </p:txBody>
      </p:sp>
      <p:cxnSp>
        <p:nvCxnSpPr>
          <p:cNvPr id="69" name="Connector 68"/>
          <p:cNvCxnSpPr/>
          <p:nvPr/>
        </p:nvCxnSpPr>
        <p:spPr>
          <a:xfrm>
            <a:off x="5497372"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535777"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74182"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612587"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650992" y="2697480"/>
            <a:ext cx="0" cy="182880"/>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689396"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727801"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766206"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804611"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843016"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705855"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2</a:t>
            </a:r>
          </a:p>
        </p:txBody>
      </p:sp>
      <p:cxnSp>
        <p:nvCxnSpPr>
          <p:cNvPr id="80" name="Connector 79"/>
          <p:cNvCxnSpPr/>
          <p:nvPr/>
        </p:nvCxnSpPr>
        <p:spPr>
          <a:xfrm>
            <a:off x="5881420"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5919825"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5958230"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996635"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6035040" y="2697480"/>
            <a:ext cx="0" cy="182880"/>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073444"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111849"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150254"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188659"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27064"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6089903"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3</a:t>
            </a:r>
          </a:p>
        </p:txBody>
      </p:sp>
      <p:cxnSp>
        <p:nvCxnSpPr>
          <p:cNvPr id="91" name="Connector 90"/>
          <p:cNvCxnSpPr/>
          <p:nvPr/>
        </p:nvCxnSpPr>
        <p:spPr>
          <a:xfrm>
            <a:off x="6265468"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303873"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342278"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80683"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419088" y="2697480"/>
            <a:ext cx="0" cy="182880"/>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457492"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495897"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534302"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572707"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611112"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473952"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4</a:t>
            </a:r>
          </a:p>
        </p:txBody>
      </p:sp>
      <p:cxnSp>
        <p:nvCxnSpPr>
          <p:cNvPr id="102" name="Connector 101"/>
          <p:cNvCxnSpPr/>
          <p:nvPr/>
        </p:nvCxnSpPr>
        <p:spPr>
          <a:xfrm>
            <a:off x="6649516"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687921"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726326"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6764731"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803136" y="2697480"/>
            <a:ext cx="0" cy="182880"/>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841540"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879945"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918350"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956755"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995160"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6858000"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5</a:t>
            </a:r>
          </a:p>
        </p:txBody>
      </p:sp>
      <p:cxnSp>
        <p:nvCxnSpPr>
          <p:cNvPr id="113" name="Connector 112"/>
          <p:cNvCxnSpPr/>
          <p:nvPr/>
        </p:nvCxnSpPr>
        <p:spPr>
          <a:xfrm>
            <a:off x="7033564"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071969"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110374"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7148779"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7187183" y="2697480"/>
            <a:ext cx="0" cy="182880"/>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7225588"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7263993"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302398"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7340803" y="2697480"/>
            <a:ext cx="0" cy="109728"/>
          </a:xfrm>
          <a:prstGeom prst="line">
            <a:avLst/>
          </a:prstGeom>
          <a:ln w="635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379208" y="2697480"/>
            <a:ext cx="0" cy="27432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7242048" y="2971800"/>
            <a:ext cx="274320" cy="256032"/>
          </a:xfrm>
          <a:prstGeom prst="rect">
            <a:avLst/>
          </a:prstGeom>
          <a:noFill/>
        </p:spPr>
        <p:txBody>
          <a:bodyPr wrap="square" anchor="t" lIns="45720" rIns="45720" tIns="27432" bIns="27432">
            <a:spAutoFit/>
          </a:bodyPr>
          <a:lstStyle/>
          <a:p>
            <a:pPr algn="ctr">
              <a:lnSpc>
                <a:spcPct val="105000"/>
              </a:lnSpc>
            </a:pPr>
            <a:r>
              <a:rPr sz="1000" b="0" i="0">
                <a:solidFill>
                  <a:srgbClr val="1F2430"/>
                </a:solidFill>
                <a:latin typeface="PT Sans"/>
              </a:rPr>
              <a:t>6</a:t>
            </a:r>
          </a:p>
        </p:txBody>
      </p:sp>
      <p:sp>
        <p:nvSpPr>
          <p:cNvPr id="124" name="TextBox 123"/>
          <p:cNvSpPr txBox="1"/>
          <p:nvPr/>
        </p:nvSpPr>
        <p:spPr>
          <a:xfrm>
            <a:off x="4937760" y="3337560"/>
            <a:ext cx="2743200" cy="640080"/>
          </a:xfrm>
          <a:prstGeom prst="rect">
            <a:avLst/>
          </a:prstGeom>
          <a:noFill/>
        </p:spPr>
        <p:txBody>
          <a:bodyPr wrap="square" anchor="t" lIns="45720" rIns="45720" tIns="27432" bIns="27432">
            <a:spAutoFit/>
          </a:bodyPr>
          <a:lstStyle/>
          <a:p>
            <a:pPr algn="l">
              <a:lnSpc>
                <a:spcPct val="100000"/>
              </a:lnSpc>
            </a:pPr>
            <a:r>
              <a:rPr sz="1500" b="1" i="0">
                <a:solidFill>
                  <a:srgbClr val="24418C"/>
                </a:solidFill>
                <a:latin typeface="PT Sans"/>
              </a:rPr>
              <a:t>4 см 5 мм = 45 мм</a:t>
            </a:r>
          </a:p>
          <a:p>
            <a:pPr algn="l">
              <a:lnSpc>
                <a:spcPct val="100000"/>
              </a:lnSpc>
            </a:pPr>
            <a:r>
              <a:rPr sz="1300" b="0" i="0">
                <a:solidFill>
                  <a:srgbClr val="A84400"/>
                </a:solidFill>
                <a:latin typeface="PT Sans"/>
              </a:rPr>
              <a:t>4,5 × 10 = 45 (1 см = 10 мм)</a:t>
            </a:r>
          </a:p>
        </p:txBody>
      </p:sp>
      <p:sp>
        <p:nvSpPr>
          <p:cNvPr id="125" name="TextBox 124"/>
          <p:cNvSpPr txBox="1"/>
          <p:nvPr/>
        </p:nvSpPr>
        <p:spPr>
          <a:xfrm>
            <a:off x="4937760" y="3931920"/>
            <a:ext cx="2743200" cy="365760"/>
          </a:xfrm>
          <a:prstGeom prst="rect">
            <a:avLst/>
          </a:prstGeom>
          <a:noFill/>
        </p:spPr>
        <p:txBody>
          <a:bodyPr wrap="square" anchor="t" lIns="45720" rIns="45720" tIns="27432" bIns="27432">
            <a:spAutoFit/>
          </a:bodyPr>
          <a:lstStyle/>
          <a:p>
            <a:pPr algn="l">
              <a:lnSpc>
                <a:spcPct val="105000"/>
              </a:lnSpc>
            </a:pPr>
            <a:r>
              <a:rPr sz="1500" b="1" i="0">
                <a:solidFill>
                  <a:srgbClr val="1D3557"/>
                </a:solidFill>
                <a:latin typeface="PT Sans"/>
              </a:rPr>
              <a:t>Тыйындар</a:t>
            </a:r>
          </a:p>
        </p:txBody>
      </p:sp>
      <p:sp>
        <p:nvSpPr>
          <p:cNvPr id="126" name="Oval 125"/>
          <p:cNvSpPr/>
          <p:nvPr/>
        </p:nvSpPr>
        <p:spPr>
          <a:xfrm>
            <a:off x="4983480" y="4343400"/>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27" name="Oval 126"/>
          <p:cNvSpPr/>
          <p:nvPr/>
        </p:nvSpPr>
        <p:spPr>
          <a:xfrm>
            <a:off x="5458968" y="4343400"/>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28" name="Oval 127"/>
          <p:cNvSpPr/>
          <p:nvPr/>
        </p:nvSpPr>
        <p:spPr>
          <a:xfrm>
            <a:off x="5934456" y="4343400"/>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29" name="Oval 128"/>
          <p:cNvSpPr/>
          <p:nvPr/>
        </p:nvSpPr>
        <p:spPr>
          <a:xfrm>
            <a:off x="6409944" y="4343400"/>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0" name="Oval 129"/>
          <p:cNvSpPr/>
          <p:nvPr/>
        </p:nvSpPr>
        <p:spPr>
          <a:xfrm>
            <a:off x="6885432" y="4343400"/>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1" name="Oval 130"/>
          <p:cNvSpPr/>
          <p:nvPr/>
        </p:nvSpPr>
        <p:spPr>
          <a:xfrm>
            <a:off x="4983480" y="4818888"/>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2" name="Oval 131"/>
          <p:cNvSpPr/>
          <p:nvPr/>
        </p:nvSpPr>
        <p:spPr>
          <a:xfrm>
            <a:off x="5458968" y="4818888"/>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3" name="Oval 132"/>
          <p:cNvSpPr/>
          <p:nvPr/>
        </p:nvSpPr>
        <p:spPr>
          <a:xfrm>
            <a:off x="5934456" y="4818888"/>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4" name="Oval 133"/>
          <p:cNvSpPr/>
          <p:nvPr/>
        </p:nvSpPr>
        <p:spPr>
          <a:xfrm>
            <a:off x="6409944" y="4818888"/>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5" name="Oval 134"/>
          <p:cNvSpPr/>
          <p:nvPr/>
        </p:nvSpPr>
        <p:spPr>
          <a:xfrm>
            <a:off x="6885432" y="4818888"/>
            <a:ext cx="402336" cy="40233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F2430"/>
                </a:solidFill>
                <a:latin typeface="PT Sans"/>
              </a:rPr>
              <a:t>10</a:t>
            </a:r>
          </a:p>
        </p:txBody>
      </p:sp>
      <p:sp>
        <p:nvSpPr>
          <p:cNvPr id="136" name="TextBox 135"/>
          <p:cNvSpPr txBox="1"/>
          <p:nvPr/>
        </p:nvSpPr>
        <p:spPr>
          <a:xfrm>
            <a:off x="4937760" y="5330952"/>
            <a:ext cx="2743200" cy="365760"/>
          </a:xfrm>
          <a:prstGeom prst="rect">
            <a:avLst/>
          </a:prstGeom>
          <a:noFill/>
        </p:spPr>
        <p:txBody>
          <a:bodyPr wrap="square" anchor="t" lIns="45720" rIns="45720" tIns="27432" bIns="27432">
            <a:spAutoFit/>
          </a:bodyPr>
          <a:lstStyle/>
          <a:p>
            <a:pPr algn="l">
              <a:lnSpc>
                <a:spcPct val="105000"/>
              </a:lnSpc>
            </a:pPr>
            <a:r>
              <a:rPr sz="1500" b="1" i="0">
                <a:solidFill>
                  <a:srgbClr val="24418C"/>
                </a:solidFill>
                <a:latin typeface="PT Sans"/>
              </a:rPr>
              <a:t>10 × 10 тыйын = 1 сом</a:t>
            </a:r>
          </a:p>
        </p:txBody>
      </p:sp>
      <p:sp>
        <p:nvSpPr>
          <p:cNvPr id="137" name="Rounded Rectangle 136"/>
          <p:cNvSpPr/>
          <p:nvPr/>
        </p:nvSpPr>
        <p:spPr>
          <a:xfrm>
            <a:off x="7726679" y="2148840"/>
            <a:ext cx="4023360" cy="36576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7863840" y="2212848"/>
            <a:ext cx="3794760" cy="3520440"/>
          </a:xfrm>
          <a:prstGeom prst="rect">
            <a:avLst/>
          </a:prstGeom>
          <a:noFill/>
        </p:spPr>
        <p:txBody>
          <a:bodyPr wrap="square" anchor="t" lIns="45720" rIns="45720" tIns="27432" bIns="27432">
            <a:spAutoFit/>
          </a:bodyPr>
          <a:lstStyle/>
          <a:p>
            <a:pPr algn="l">
              <a:lnSpc>
                <a:spcPct val="105000"/>
              </a:lnSpc>
            </a:pPr>
            <a:r>
              <a:rPr sz="1600" b="1" i="0">
                <a:solidFill>
                  <a:srgbClr val="1F2430"/>
                </a:solidFill>
                <a:latin typeface="PT Sans"/>
              </a:rPr>
              <a:t>Ар бир жупта:</a:t>
            </a:r>
          </a:p>
          <a:p>
            <a:pPr algn="l">
              <a:lnSpc>
                <a:spcPct val="105000"/>
              </a:lnSpc>
            </a:pPr>
            <a:r>
              <a:rPr sz="1400" b="0" i="0">
                <a:solidFill>
                  <a:srgbClr val="1F2430"/>
                </a:solidFill>
                <a:latin typeface="PT Sans"/>
              </a:rPr>
              <a:t>• дептер барагындагы разряд таблицасы, үтүрү кызыл</a:t>
            </a:r>
          </a:p>
          <a:p>
            <a:pPr algn="l">
              <a:lnSpc>
                <a:spcPct val="105000"/>
              </a:lnSpc>
            </a:pPr>
            <a:r>
              <a:rPr sz="1400" b="0" i="0">
                <a:solidFill>
                  <a:srgbClr val="1F2430"/>
                </a:solidFill>
                <a:latin typeface="PT Sans"/>
              </a:rPr>
              <a:t>• кагаздан кесилген сан карточкалары 0–9 жана эки «0»</a:t>
            </a:r>
          </a:p>
          <a:p>
            <a:pPr algn="l">
              <a:lnSpc>
                <a:spcPct val="105000"/>
              </a:lnSpc>
            </a:pPr>
            <a:r>
              <a:rPr sz="1400" b="0" i="0">
                <a:solidFill>
                  <a:srgbClr val="1F2430"/>
                </a:solidFill>
                <a:latin typeface="PT Sans"/>
              </a:rPr>
              <a:t>• сызгыч же тигүүчүнүн сантиметр тасмасы</a:t>
            </a:r>
          </a:p>
          <a:p>
            <a:pPr algn="l">
              <a:lnSpc>
                <a:spcPct val="105000"/>
              </a:lnSpc>
            </a:pPr>
            <a:r>
              <a:rPr sz="1400" b="0" i="0">
                <a:solidFill>
                  <a:srgbClr val="1F2430"/>
                </a:solidFill>
                <a:latin typeface="PT Sans"/>
              </a:rPr>
              <a:t>• 10 тыйындык тыйындар (же кагаздан чийилген)</a:t>
            </a:r>
          </a:p>
          <a:p>
            <a:pPr algn="l">
              <a:lnSpc>
                <a:spcPct val="105000"/>
              </a:lnSpc>
            </a:pPr>
            <a:r>
              <a:rPr sz="1500" b="1" i="0">
                <a:solidFill>
                  <a:srgbClr val="24418C"/>
                </a:solidFill>
                <a:latin typeface="PT Sans"/>
              </a:rPr>
              <a:t>Карточка жылат, үтүр жылбайт!</a:t>
            </a:r>
          </a:p>
        </p:txBody>
      </p:sp>
      <p:sp>
        <p:nvSpPr>
          <p:cNvPr id="139" name="Rounded Rectangle 138"/>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140" name="Rounded Rectangle 13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141" name="Rounded Rectangle 140"/>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жылма разряд таблицасы</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Үтүр ордунда турат. Цифралар жылат: × 10 – бир орун солго, : 10 – бир орун оңго.</a:t>
            </a:r>
          </a:p>
        </p:txBody>
      </p:sp>
      <p:sp>
        <p:nvSpPr>
          <p:cNvPr id="12" name="Rectangle 11"/>
          <p:cNvSpPr/>
          <p:nvPr/>
        </p:nvSpPr>
        <p:spPr>
          <a:xfrm>
            <a:off x="1874519"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Миңдик</a:t>
            </a:r>
          </a:p>
        </p:txBody>
      </p:sp>
      <p:sp>
        <p:nvSpPr>
          <p:cNvPr id="13" name="Rectangle 12"/>
          <p:cNvSpPr/>
          <p:nvPr/>
        </p:nvSpPr>
        <p:spPr>
          <a:xfrm>
            <a:off x="1874519"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74519"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74519"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74519"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98648"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Жүздүк</a:t>
            </a:r>
          </a:p>
        </p:txBody>
      </p:sp>
      <p:sp>
        <p:nvSpPr>
          <p:cNvPr id="18" name="Rectangle 17"/>
          <p:cNvSpPr/>
          <p:nvPr/>
        </p:nvSpPr>
        <p:spPr>
          <a:xfrm>
            <a:off x="2898648"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98648"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98648"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898648"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922776"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Ондук</a:t>
            </a:r>
          </a:p>
        </p:txBody>
      </p:sp>
      <p:sp>
        <p:nvSpPr>
          <p:cNvPr id="23" name="Rectangle 22"/>
          <p:cNvSpPr/>
          <p:nvPr/>
        </p:nvSpPr>
        <p:spPr>
          <a:xfrm>
            <a:off x="3922776"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22776"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922776"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922776"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46904"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Бирдик</a:t>
            </a:r>
          </a:p>
        </p:txBody>
      </p:sp>
      <p:sp>
        <p:nvSpPr>
          <p:cNvPr id="28" name="Rectangle 27"/>
          <p:cNvSpPr/>
          <p:nvPr/>
        </p:nvSpPr>
        <p:spPr>
          <a:xfrm>
            <a:off x="4946904"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46904"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46904"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46904"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71032" y="2057400"/>
            <a:ext cx="310896" cy="2871216"/>
          </a:xfrm>
          <a:prstGeom prst="rect">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81928"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Ондон бир</a:t>
            </a:r>
          </a:p>
        </p:txBody>
      </p:sp>
      <p:sp>
        <p:nvSpPr>
          <p:cNvPr id="34" name="Rectangle 33"/>
          <p:cNvSpPr/>
          <p:nvPr/>
        </p:nvSpPr>
        <p:spPr>
          <a:xfrm>
            <a:off x="6281928"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81928"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81928"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81928"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06056"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Жүздөн бир</a:t>
            </a:r>
          </a:p>
        </p:txBody>
      </p:sp>
      <p:sp>
        <p:nvSpPr>
          <p:cNvPr id="39" name="Rectangle 38"/>
          <p:cNvSpPr/>
          <p:nvPr/>
        </p:nvSpPr>
        <p:spPr>
          <a:xfrm>
            <a:off x="7306056"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06056"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06056"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06056"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30183" y="2057400"/>
            <a:ext cx="1024128" cy="45720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200" b="1">
                <a:solidFill>
                  <a:srgbClr val="1F2430"/>
                </a:solidFill>
                <a:latin typeface="PT Sans"/>
              </a:rPr>
              <a:t>Миңден бир</a:t>
            </a:r>
          </a:p>
        </p:txBody>
      </p:sp>
      <p:sp>
        <p:nvSpPr>
          <p:cNvPr id="44" name="Rectangle 43"/>
          <p:cNvSpPr/>
          <p:nvPr/>
        </p:nvSpPr>
        <p:spPr>
          <a:xfrm>
            <a:off x="8330183" y="2514600"/>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330183" y="3118104"/>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330183" y="3721608"/>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30183" y="4325112"/>
            <a:ext cx="1024128" cy="603504"/>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46904" y="2514600"/>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A84400"/>
                </a:solidFill>
                <a:latin typeface="PT Sans"/>
              </a:rPr>
              <a:t>0</a:t>
            </a:r>
          </a:p>
        </p:txBody>
      </p:sp>
      <p:sp>
        <p:nvSpPr>
          <p:cNvPr id="49" name="TextBox 48"/>
          <p:cNvSpPr txBox="1"/>
          <p:nvPr/>
        </p:nvSpPr>
        <p:spPr>
          <a:xfrm>
            <a:off x="5925312" y="2514600"/>
            <a:ext cx="402336" cy="603504"/>
          </a:xfrm>
          <a:prstGeom prst="rect">
            <a:avLst/>
          </a:prstGeom>
          <a:noFill/>
        </p:spPr>
        <p:txBody>
          <a:bodyPr wrap="square" anchor="ctr" lIns="45720" rIns="45720" tIns="27432" bIns="27432">
            <a:spAutoFit/>
          </a:bodyPr>
          <a:lstStyle/>
          <a:p>
            <a:pPr algn="ctr">
              <a:lnSpc>
                <a:spcPct val="105000"/>
              </a:lnSpc>
            </a:pPr>
            <a:r>
              <a:rPr sz="2800" b="1" i="0">
                <a:solidFill>
                  <a:srgbClr val="A84400"/>
                </a:solidFill>
                <a:latin typeface="PT Sans"/>
              </a:rPr>
              <a:t>,</a:t>
            </a:r>
          </a:p>
        </p:txBody>
      </p:sp>
      <p:sp>
        <p:nvSpPr>
          <p:cNvPr id="50" name="TextBox 49"/>
          <p:cNvSpPr txBox="1"/>
          <p:nvPr/>
        </p:nvSpPr>
        <p:spPr>
          <a:xfrm>
            <a:off x="6281928" y="2514600"/>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8</a:t>
            </a:r>
          </a:p>
        </p:txBody>
      </p:sp>
      <p:sp>
        <p:nvSpPr>
          <p:cNvPr id="51" name="TextBox 50"/>
          <p:cNvSpPr txBox="1"/>
          <p:nvPr/>
        </p:nvSpPr>
        <p:spPr>
          <a:xfrm>
            <a:off x="7306056" y="2514600"/>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5</a:t>
            </a:r>
          </a:p>
        </p:txBody>
      </p:sp>
      <p:sp>
        <p:nvSpPr>
          <p:cNvPr id="52" name="TextBox 51"/>
          <p:cNvSpPr txBox="1"/>
          <p:nvPr/>
        </p:nvSpPr>
        <p:spPr>
          <a:xfrm>
            <a:off x="4946904" y="3118104"/>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8</a:t>
            </a:r>
          </a:p>
        </p:txBody>
      </p:sp>
      <p:sp>
        <p:nvSpPr>
          <p:cNvPr id="53" name="TextBox 52"/>
          <p:cNvSpPr txBox="1"/>
          <p:nvPr/>
        </p:nvSpPr>
        <p:spPr>
          <a:xfrm>
            <a:off x="5925312" y="3118104"/>
            <a:ext cx="402336" cy="603504"/>
          </a:xfrm>
          <a:prstGeom prst="rect">
            <a:avLst/>
          </a:prstGeom>
          <a:noFill/>
        </p:spPr>
        <p:txBody>
          <a:bodyPr wrap="square" anchor="ctr" lIns="45720" rIns="45720" tIns="27432" bIns="27432">
            <a:spAutoFit/>
          </a:bodyPr>
          <a:lstStyle/>
          <a:p>
            <a:pPr algn="ctr">
              <a:lnSpc>
                <a:spcPct val="105000"/>
              </a:lnSpc>
            </a:pPr>
            <a:r>
              <a:rPr sz="2800" b="1" i="0">
                <a:solidFill>
                  <a:srgbClr val="A84400"/>
                </a:solidFill>
                <a:latin typeface="PT Sans"/>
              </a:rPr>
              <a:t>,</a:t>
            </a:r>
          </a:p>
        </p:txBody>
      </p:sp>
      <p:sp>
        <p:nvSpPr>
          <p:cNvPr id="54" name="TextBox 53"/>
          <p:cNvSpPr txBox="1"/>
          <p:nvPr/>
        </p:nvSpPr>
        <p:spPr>
          <a:xfrm>
            <a:off x="6281928" y="3118104"/>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5</a:t>
            </a:r>
          </a:p>
        </p:txBody>
      </p:sp>
      <p:sp>
        <p:nvSpPr>
          <p:cNvPr id="55" name="TextBox 54"/>
          <p:cNvSpPr txBox="1"/>
          <p:nvPr/>
        </p:nvSpPr>
        <p:spPr>
          <a:xfrm>
            <a:off x="3922776" y="3721608"/>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8</a:t>
            </a:r>
          </a:p>
        </p:txBody>
      </p:sp>
      <p:sp>
        <p:nvSpPr>
          <p:cNvPr id="56" name="TextBox 55"/>
          <p:cNvSpPr txBox="1"/>
          <p:nvPr/>
        </p:nvSpPr>
        <p:spPr>
          <a:xfrm>
            <a:off x="4946904" y="3721608"/>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5</a:t>
            </a:r>
          </a:p>
        </p:txBody>
      </p:sp>
      <p:sp>
        <p:nvSpPr>
          <p:cNvPr id="57" name="TextBox 56"/>
          <p:cNvSpPr txBox="1"/>
          <p:nvPr/>
        </p:nvSpPr>
        <p:spPr>
          <a:xfrm>
            <a:off x="5925312" y="3721608"/>
            <a:ext cx="402336" cy="603504"/>
          </a:xfrm>
          <a:prstGeom prst="rect">
            <a:avLst/>
          </a:prstGeom>
          <a:noFill/>
        </p:spPr>
        <p:txBody>
          <a:bodyPr wrap="square" anchor="ctr" lIns="45720" rIns="45720" tIns="27432" bIns="27432">
            <a:spAutoFit/>
          </a:bodyPr>
          <a:lstStyle/>
          <a:p>
            <a:pPr algn="ctr">
              <a:lnSpc>
                <a:spcPct val="105000"/>
              </a:lnSpc>
            </a:pPr>
            <a:r>
              <a:rPr sz="2800" b="1" i="0">
                <a:solidFill>
                  <a:srgbClr val="A84400"/>
                </a:solidFill>
                <a:latin typeface="PT Sans"/>
              </a:rPr>
              <a:t>,</a:t>
            </a:r>
          </a:p>
        </p:txBody>
      </p:sp>
      <p:sp>
        <p:nvSpPr>
          <p:cNvPr id="58" name="TextBox 57"/>
          <p:cNvSpPr txBox="1"/>
          <p:nvPr/>
        </p:nvSpPr>
        <p:spPr>
          <a:xfrm>
            <a:off x="2898648" y="4325112"/>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8</a:t>
            </a:r>
          </a:p>
        </p:txBody>
      </p:sp>
      <p:sp>
        <p:nvSpPr>
          <p:cNvPr id="59" name="TextBox 58"/>
          <p:cNvSpPr txBox="1"/>
          <p:nvPr/>
        </p:nvSpPr>
        <p:spPr>
          <a:xfrm>
            <a:off x="3922776" y="4325112"/>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24418C"/>
                </a:solidFill>
                <a:latin typeface="PT Sans"/>
              </a:rPr>
              <a:t>5</a:t>
            </a:r>
          </a:p>
        </p:txBody>
      </p:sp>
      <p:sp>
        <p:nvSpPr>
          <p:cNvPr id="60" name="TextBox 59"/>
          <p:cNvSpPr txBox="1"/>
          <p:nvPr/>
        </p:nvSpPr>
        <p:spPr>
          <a:xfrm>
            <a:off x="4946904" y="4325112"/>
            <a:ext cx="1024128" cy="603504"/>
          </a:xfrm>
          <a:prstGeom prst="rect">
            <a:avLst/>
          </a:prstGeom>
          <a:noFill/>
        </p:spPr>
        <p:txBody>
          <a:bodyPr wrap="square" anchor="ctr" lIns="45720" rIns="45720" tIns="27432" bIns="27432">
            <a:spAutoFit/>
          </a:bodyPr>
          <a:lstStyle/>
          <a:p>
            <a:pPr algn="ctr">
              <a:lnSpc>
                <a:spcPct val="105000"/>
              </a:lnSpc>
            </a:pPr>
            <a:r>
              <a:rPr sz="2800" b="1" i="0">
                <a:solidFill>
                  <a:srgbClr val="A84400"/>
                </a:solidFill>
                <a:latin typeface="PT Sans"/>
              </a:rPr>
              <a:t>0</a:t>
            </a:r>
          </a:p>
        </p:txBody>
      </p:sp>
      <p:sp>
        <p:nvSpPr>
          <p:cNvPr id="61" name="TextBox 60"/>
          <p:cNvSpPr txBox="1"/>
          <p:nvPr/>
        </p:nvSpPr>
        <p:spPr>
          <a:xfrm>
            <a:off x="5925312" y="4325112"/>
            <a:ext cx="402336" cy="603504"/>
          </a:xfrm>
          <a:prstGeom prst="rect">
            <a:avLst/>
          </a:prstGeom>
          <a:noFill/>
        </p:spPr>
        <p:txBody>
          <a:bodyPr wrap="square" anchor="ctr" lIns="45720" rIns="45720" tIns="27432" bIns="27432">
            <a:spAutoFit/>
          </a:bodyPr>
          <a:lstStyle/>
          <a:p>
            <a:pPr algn="ctr">
              <a:lnSpc>
                <a:spcPct val="105000"/>
              </a:lnSpc>
            </a:pPr>
            <a:r>
              <a:rPr sz="2800" b="1" i="0">
                <a:solidFill>
                  <a:srgbClr val="A84400"/>
                </a:solidFill>
                <a:latin typeface="PT Sans"/>
              </a:rPr>
              <a:t>,</a:t>
            </a:r>
          </a:p>
        </p:txBody>
      </p:sp>
      <p:sp>
        <p:nvSpPr>
          <p:cNvPr id="62" name="TextBox 61"/>
          <p:cNvSpPr txBox="1"/>
          <p:nvPr/>
        </p:nvSpPr>
        <p:spPr>
          <a:xfrm>
            <a:off x="411480" y="2514600"/>
            <a:ext cx="1325880" cy="603504"/>
          </a:xfrm>
          <a:prstGeom prst="rect">
            <a:avLst/>
          </a:prstGeom>
          <a:noFill/>
        </p:spPr>
        <p:txBody>
          <a:bodyPr wrap="square" anchor="ctr" lIns="45720" rIns="45720" tIns="27432" bIns="27432">
            <a:spAutoFit/>
          </a:bodyPr>
          <a:lstStyle/>
          <a:p>
            <a:pPr algn="r">
              <a:lnSpc>
                <a:spcPct val="105000"/>
              </a:lnSpc>
            </a:pPr>
            <a:r>
              <a:rPr sz="2400" b="1" i="0">
                <a:solidFill>
                  <a:srgbClr val="1D3557"/>
                </a:solidFill>
                <a:latin typeface="PT Sans"/>
              </a:rPr>
              <a:t>0,85</a:t>
            </a:r>
          </a:p>
        </p:txBody>
      </p:sp>
      <p:sp>
        <p:nvSpPr>
          <p:cNvPr id="63" name="TextBox 62"/>
          <p:cNvSpPr txBox="1"/>
          <p:nvPr/>
        </p:nvSpPr>
        <p:spPr>
          <a:xfrm>
            <a:off x="411480" y="3118104"/>
            <a:ext cx="1325880" cy="603504"/>
          </a:xfrm>
          <a:prstGeom prst="rect">
            <a:avLst/>
          </a:prstGeom>
          <a:noFill/>
        </p:spPr>
        <p:txBody>
          <a:bodyPr wrap="square" anchor="ctr" lIns="45720" rIns="45720" tIns="27432" bIns="27432">
            <a:spAutoFit/>
          </a:bodyPr>
          <a:lstStyle/>
          <a:p>
            <a:pPr algn="r">
              <a:lnSpc>
                <a:spcPct val="105000"/>
              </a:lnSpc>
            </a:pPr>
            <a:r>
              <a:rPr sz="2400" b="1" i="0">
                <a:solidFill>
                  <a:srgbClr val="1D3557"/>
                </a:solidFill>
                <a:latin typeface="PT Sans"/>
              </a:rPr>
              <a:t>8,5</a:t>
            </a:r>
          </a:p>
        </p:txBody>
      </p:sp>
      <p:sp>
        <p:nvSpPr>
          <p:cNvPr id="64" name="TextBox 63"/>
          <p:cNvSpPr txBox="1"/>
          <p:nvPr/>
        </p:nvSpPr>
        <p:spPr>
          <a:xfrm>
            <a:off x="9491472" y="2816352"/>
            <a:ext cx="1005840" cy="603504"/>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 10</a:t>
            </a:r>
          </a:p>
        </p:txBody>
      </p:sp>
      <p:sp>
        <p:nvSpPr>
          <p:cNvPr id="65" name="TextBox 64"/>
          <p:cNvSpPr txBox="1"/>
          <p:nvPr/>
        </p:nvSpPr>
        <p:spPr>
          <a:xfrm>
            <a:off x="10451592" y="2816352"/>
            <a:ext cx="365760" cy="603504"/>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a:t>
            </a:r>
          </a:p>
        </p:txBody>
      </p:sp>
      <p:sp>
        <p:nvSpPr>
          <p:cNvPr id="66" name="TextBox 65"/>
          <p:cNvSpPr txBox="1"/>
          <p:nvPr/>
        </p:nvSpPr>
        <p:spPr>
          <a:xfrm>
            <a:off x="411480" y="3721608"/>
            <a:ext cx="1325880" cy="603504"/>
          </a:xfrm>
          <a:prstGeom prst="rect">
            <a:avLst/>
          </a:prstGeom>
          <a:noFill/>
        </p:spPr>
        <p:txBody>
          <a:bodyPr wrap="square" anchor="ctr" lIns="45720" rIns="45720" tIns="27432" bIns="27432">
            <a:spAutoFit/>
          </a:bodyPr>
          <a:lstStyle/>
          <a:p>
            <a:pPr algn="r">
              <a:lnSpc>
                <a:spcPct val="105000"/>
              </a:lnSpc>
            </a:pPr>
            <a:r>
              <a:rPr sz="2400" b="1" i="0">
                <a:solidFill>
                  <a:srgbClr val="1D3557"/>
                </a:solidFill>
                <a:latin typeface="PT Sans"/>
              </a:rPr>
              <a:t>85</a:t>
            </a:r>
          </a:p>
        </p:txBody>
      </p:sp>
      <p:sp>
        <p:nvSpPr>
          <p:cNvPr id="67" name="TextBox 66"/>
          <p:cNvSpPr txBox="1"/>
          <p:nvPr/>
        </p:nvSpPr>
        <p:spPr>
          <a:xfrm>
            <a:off x="9491472" y="3419856"/>
            <a:ext cx="1005840" cy="603504"/>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 10</a:t>
            </a:r>
          </a:p>
        </p:txBody>
      </p:sp>
      <p:sp>
        <p:nvSpPr>
          <p:cNvPr id="68" name="TextBox 67"/>
          <p:cNvSpPr txBox="1"/>
          <p:nvPr/>
        </p:nvSpPr>
        <p:spPr>
          <a:xfrm>
            <a:off x="10451592" y="3419856"/>
            <a:ext cx="365760" cy="603504"/>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a:t>
            </a:r>
          </a:p>
        </p:txBody>
      </p:sp>
      <p:sp>
        <p:nvSpPr>
          <p:cNvPr id="69" name="TextBox 68"/>
          <p:cNvSpPr txBox="1"/>
          <p:nvPr/>
        </p:nvSpPr>
        <p:spPr>
          <a:xfrm>
            <a:off x="411480" y="4325112"/>
            <a:ext cx="1325880" cy="603504"/>
          </a:xfrm>
          <a:prstGeom prst="rect">
            <a:avLst/>
          </a:prstGeom>
          <a:noFill/>
        </p:spPr>
        <p:txBody>
          <a:bodyPr wrap="square" anchor="ctr" lIns="45720" rIns="45720" tIns="27432" bIns="27432">
            <a:spAutoFit/>
          </a:bodyPr>
          <a:lstStyle/>
          <a:p>
            <a:pPr algn="r">
              <a:lnSpc>
                <a:spcPct val="105000"/>
              </a:lnSpc>
            </a:pPr>
            <a:r>
              <a:rPr sz="2400" b="1" i="0">
                <a:solidFill>
                  <a:srgbClr val="1D3557"/>
                </a:solidFill>
                <a:latin typeface="PT Sans"/>
              </a:rPr>
              <a:t>850</a:t>
            </a:r>
          </a:p>
        </p:txBody>
      </p:sp>
      <p:sp>
        <p:nvSpPr>
          <p:cNvPr id="70" name="TextBox 69"/>
          <p:cNvSpPr txBox="1"/>
          <p:nvPr/>
        </p:nvSpPr>
        <p:spPr>
          <a:xfrm>
            <a:off x="9491472" y="4023360"/>
            <a:ext cx="1005840" cy="603504"/>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 10</a:t>
            </a:r>
          </a:p>
        </p:txBody>
      </p:sp>
      <p:sp>
        <p:nvSpPr>
          <p:cNvPr id="71" name="TextBox 70"/>
          <p:cNvSpPr txBox="1"/>
          <p:nvPr/>
        </p:nvSpPr>
        <p:spPr>
          <a:xfrm>
            <a:off x="10451592" y="4023360"/>
            <a:ext cx="365760" cy="603504"/>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a:t>
            </a:r>
          </a:p>
        </p:txBody>
      </p:sp>
      <p:cxnSp>
        <p:nvCxnSpPr>
          <p:cNvPr id="72" name="Connector 71"/>
          <p:cNvCxnSpPr/>
          <p:nvPr/>
        </p:nvCxnSpPr>
        <p:spPr>
          <a:xfrm flipH="1">
            <a:off x="5641848" y="3044952"/>
            <a:ext cx="1014983" cy="146304"/>
          </a:xfrm>
          <a:prstGeom prst="line">
            <a:avLst/>
          </a:prstGeom>
          <a:ln w="25400">
            <a:solidFill>
              <a:srgbClr val="A84400"/>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4617720" y="3648456"/>
            <a:ext cx="704088" cy="146304"/>
          </a:xfrm>
          <a:prstGeom prst="line">
            <a:avLst/>
          </a:prstGeom>
          <a:ln w="25400">
            <a:solidFill>
              <a:srgbClr val="A84400"/>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3593592" y="4251960"/>
            <a:ext cx="704087" cy="146304"/>
          </a:xfrm>
          <a:prstGeom prst="line">
            <a:avLst/>
          </a:prstGeom>
          <a:ln w="25400">
            <a:solidFill>
              <a:srgbClr val="A84400"/>
            </a:solidFill>
            <a:prstDash val="dash"/>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11480" y="5029200"/>
            <a:ext cx="11338560" cy="457200"/>
          </a:xfrm>
          <a:prstGeom prst="rect">
            <a:avLst/>
          </a:prstGeom>
          <a:noFill/>
        </p:spPr>
        <p:txBody>
          <a:bodyPr wrap="square" anchor="t" lIns="45720" rIns="45720" tIns="27432" bIns="27432">
            <a:spAutoFit/>
          </a:bodyPr>
          <a:lstStyle/>
          <a:p>
            <a:pPr algn="ctr">
              <a:lnSpc>
                <a:spcPct val="105000"/>
              </a:lnSpc>
            </a:pPr>
            <a:r>
              <a:rPr sz="1500" b="0" i="1">
                <a:solidFill>
                  <a:srgbClr val="4A5A70"/>
                </a:solidFill>
                <a:latin typeface="PT Sans"/>
              </a:rPr>
              <a:t>Кызгылт тилке – үтүр: ал жылбайт. Кызгылт 0 – бош разрядды ээлейт (850дөгү 0 жок болсо, 85 болуп калат).</a:t>
            </a:r>
          </a:p>
        </p:txBody>
      </p:sp>
      <p:sp>
        <p:nvSpPr>
          <p:cNvPr id="76" name="TextBox 75"/>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0,85 × 100 = 85:   цифралар 2 орун солго, үтүр ордунда</a:t>
            </a:r>
          </a:p>
        </p:txBody>
      </p:sp>
      <p:sp>
        <p:nvSpPr>
          <p:cNvPr id="77" name="Rounded Rectangle 76"/>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78" name="Rounded Rectangle 77"/>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79" name="Rounded Rectangle 78"/>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80" name="Rounded Rectangle 79"/>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 100</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 10, 100, 1000</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Цифралар 1, 2, 3 орун солго</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 100</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 10, 100, 1000</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Цифралар 1, 2, 3 орун оңго</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0</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Бош разряд</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Бош орунга 0 жазабыз</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м→см</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Бирдиктер</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Чоңдон кичинеге ×, кичинеден чоңго :</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6 : 100 = 0,06:   6 эки орун оңго, бош орундарга 0</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400" b="0" i="0">
                <a:solidFill>
                  <a:srgbClr val="1F2430"/>
                </a:solidFill>
                <a:latin typeface="PT Sans"/>
              </a:rPr>
              <a:t>Айым эже 1 000 топчу алды. Бир топчу 40 тыйын. Баары канча сом?</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1 000 × 40 = 40 000</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тыйын</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 сом = 100 тыйын</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бирдик</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40 000 : 100 = 400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2 орун оңго</a:t>
            </a:r>
          </a:p>
        </p:txBody>
      </p:sp>
      <p:sp>
        <p:nvSpPr>
          <p:cNvPr id="18" name="TextBox 17"/>
          <p:cNvSpPr txBox="1"/>
          <p:nvPr/>
        </p:nvSpPr>
        <p:spPr>
          <a:xfrm>
            <a:off x="731520" y="4215384"/>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болжол: 0,4 × 1 000 = 400</a:t>
            </a:r>
          </a:p>
        </p:txBody>
      </p:sp>
      <p:sp>
        <p:nvSpPr>
          <p:cNvPr id="19" name="TextBox 18"/>
          <p:cNvSpPr txBox="1"/>
          <p:nvPr/>
        </p:nvSpPr>
        <p:spPr>
          <a:xfrm>
            <a:off x="8366760" y="4215384"/>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a:t>
            </a:r>
          </a:p>
        </p:txBody>
      </p:sp>
      <p:sp>
        <p:nvSpPr>
          <p:cNvPr id="20" name="TextBox 19"/>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Баары = </a:t>
            </a:r>
            <a:r>
              <a:rPr sz="3400" b="1">
                <a:solidFill>
                  <a:srgbClr val="24418C"/>
                </a:solidFill>
                <a:latin typeface="PT Sans"/>
              </a:rPr>
              <a:t>400 сом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Айым эже 100 кемселге 650 м жип кетирди. Бул канча км? Бир кемселге канча м жип кетти?</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 км = 1 000 м</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бирдик</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650 : 1 000 = 0,65</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км</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650 : 100 = 6,5</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м, бир кемсел</a:t>
            </a:r>
          </a:p>
        </p:txBody>
      </p:sp>
      <p:sp>
        <p:nvSpPr>
          <p:cNvPr id="18" name="TextBox 17"/>
          <p:cNvSpPr txBox="1"/>
          <p:nvPr/>
        </p:nvSpPr>
        <p:spPr>
          <a:xfrm>
            <a:off x="731520" y="4215384"/>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текшер: 6,5 × 100 = 650</a:t>
            </a:r>
          </a:p>
        </p:txBody>
      </p:sp>
      <p:sp>
        <p:nvSpPr>
          <p:cNvPr id="19" name="TextBox 18"/>
          <p:cNvSpPr txBox="1"/>
          <p:nvPr/>
        </p:nvSpPr>
        <p:spPr>
          <a:xfrm>
            <a:off x="8366760" y="4215384"/>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a:t>
            </a:r>
          </a:p>
        </p:txBody>
      </p:sp>
      <p:sp>
        <p:nvSpPr>
          <p:cNvPr id="20" name="TextBox 19"/>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Жооп = </a:t>
            </a:r>
            <a:r>
              <a:rPr sz="3400" b="1">
                <a:solidFill>
                  <a:srgbClr val="24418C"/>
                </a:solidFill>
                <a:latin typeface="PT Sans"/>
              </a:rPr>
              <a:t>0,65 км;  6,5 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үч жол</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Цифраларды жылдыр</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0,85 × 100</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85</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6 : 100</a:t>
            </a:r>
          </a:p>
        </p:txBody>
      </p:sp>
      <p:sp>
        <p:nvSpPr>
          <p:cNvPr id="16" name="TextBox 15"/>
          <p:cNvSpPr txBox="1"/>
          <p:nvPr/>
        </p:nvSpPr>
        <p:spPr>
          <a:xfrm>
            <a:off x="658368"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0,06</a:t>
            </a:r>
          </a:p>
        </p:txBody>
      </p:sp>
      <p:sp>
        <p:nvSpPr>
          <p:cNvPr id="17" name="TextBox 16"/>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Үтүр ордунда. Нөл саны = орун саны.</a:t>
            </a:r>
          </a:p>
        </p:txBody>
      </p:sp>
      <p:sp>
        <p:nvSpPr>
          <p:cNvPr id="18" name="Rounded Rectangle 17"/>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20" name="TextBox 19"/>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Кадам менен</a:t>
            </a:r>
          </a:p>
        </p:txBody>
      </p:sp>
      <p:sp>
        <p:nvSpPr>
          <p:cNvPr id="21" name="TextBox 20"/>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3,2 × 1 000</a:t>
            </a:r>
          </a:p>
        </p:txBody>
      </p:sp>
      <p:sp>
        <p:nvSpPr>
          <p:cNvPr id="22" name="TextBox 21"/>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3,2 × 10 × 100</a:t>
            </a:r>
          </a:p>
        </p:txBody>
      </p:sp>
      <p:sp>
        <p:nvSpPr>
          <p:cNvPr id="23" name="TextBox 22"/>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32 × 100</a:t>
            </a:r>
          </a:p>
        </p:txBody>
      </p:sp>
      <p:sp>
        <p:nvSpPr>
          <p:cNvPr id="24" name="TextBox 23"/>
          <p:cNvSpPr txBox="1"/>
          <p:nvPr/>
        </p:nvSpPr>
        <p:spPr>
          <a:xfrm>
            <a:off x="4526280"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3 200</a:t>
            </a:r>
          </a:p>
        </p:txBody>
      </p:sp>
      <p:sp>
        <p:nvSpPr>
          <p:cNvPr id="25" name="TextBox 24"/>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1 000 = 10 × 100: эки кадам.</a:t>
            </a:r>
          </a:p>
        </p:txBody>
      </p:sp>
      <p:sp>
        <p:nvSpPr>
          <p:cNvPr id="26" name="Rounded Rectangle 25"/>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8" name="TextBox 27"/>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Бирдик аркылуу</a:t>
            </a:r>
          </a:p>
        </p:txBody>
      </p:sp>
      <p:sp>
        <p:nvSpPr>
          <p:cNvPr id="29" name="TextBox 28"/>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2,5 м</a:t>
            </a:r>
          </a:p>
        </p:txBody>
      </p:sp>
      <p:sp>
        <p:nvSpPr>
          <p:cNvPr id="30" name="TextBox 29"/>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2,5 × 100 см</a:t>
            </a:r>
          </a:p>
        </p:txBody>
      </p:sp>
      <p:sp>
        <p:nvSpPr>
          <p:cNvPr id="31" name="TextBox 30"/>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250 см</a:t>
            </a:r>
          </a:p>
        </p:txBody>
      </p:sp>
      <p:sp>
        <p:nvSpPr>
          <p:cNvPr id="32" name="TextBox 31"/>
          <p:cNvSpPr txBox="1"/>
          <p:nvPr/>
        </p:nvSpPr>
        <p:spPr>
          <a:xfrm>
            <a:off x="8394192"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2 500 мм</a:t>
            </a:r>
          </a:p>
        </p:txBody>
      </p:sp>
      <p:sp>
        <p:nvSpPr>
          <p:cNvPr id="33" name="TextBox 32"/>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Чоңдон кичинеге: сан чоңоёт.</a:t>
            </a:r>
          </a:p>
        </p:txBody>
      </p:sp>
      <p:sp>
        <p:nvSpPr>
          <p:cNvPr id="34" name="Rounded Rectangle 33"/>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Түшүн → ыкма → эркин эсеп. Ыкмаңды үн чыгарып айт: «Мен ... деп ойлодум».</a:t>
            </a:r>
          </a:p>
        </p:txBody>
      </p:sp>
      <p:sp>
        <p:nvSpPr>
          <p:cNvPr id="35" name="Rounded Rectangle 34"/>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6" name="Rounded Rectangle 35"/>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7" name="Rounded Rectangle 36"/>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8" name="Rounded Rectangle 37"/>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Эсепте:   2,07 × 100</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2,0700</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207</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0,0207</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27</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Бир кемселге 0,85 м баркыт кетет. 10 кемселге канча м баркыт кетет?</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Бир топчу 0,4 сом. Бир кутуда 100 топчу бар. Бир кутудагы топчулар канча сом?</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Бир түрмөктө 1 000 м жип бар. Бир кемселге 8 м жип кетет. 100 кемселге канча км жип кетет? Канча м калат?</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Бир кемселге 0,85 м баркыт кетет. 10 кемселге канча м баркыт кетет?</a:t>
            </a:r>
          </a:p>
        </p:txBody>
      </p:sp>
      <p:sp>
        <p:nvSpPr>
          <p:cNvPr id="13" name="Rectangle 12"/>
          <p:cNvSpPr/>
          <p:nvPr/>
        </p:nvSpPr>
        <p:spPr>
          <a:xfrm>
            <a:off x="566928" y="3017520"/>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0,85</a:t>
            </a:r>
          </a:p>
        </p:txBody>
      </p:sp>
      <p:sp>
        <p:nvSpPr>
          <p:cNvPr id="14" name="Rectangle 13"/>
          <p:cNvSpPr/>
          <p:nvPr/>
        </p:nvSpPr>
        <p:spPr>
          <a:xfrm>
            <a:off x="1035710" y="3017520"/>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0,85</a:t>
            </a:r>
          </a:p>
        </p:txBody>
      </p:sp>
      <p:sp>
        <p:nvSpPr>
          <p:cNvPr id="15" name="Rectangle 14"/>
          <p:cNvSpPr/>
          <p:nvPr/>
        </p:nvSpPr>
        <p:spPr>
          <a:xfrm>
            <a:off x="1504492" y="3017520"/>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0,85</a:t>
            </a:r>
          </a:p>
        </p:txBody>
      </p:sp>
      <p:sp>
        <p:nvSpPr>
          <p:cNvPr id="16" name="Rectangle 15"/>
          <p:cNvSpPr/>
          <p:nvPr/>
        </p:nvSpPr>
        <p:spPr>
          <a:xfrm>
            <a:off x="1973275" y="3017520"/>
            <a:ext cx="468782"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 10</a:t>
            </a:r>
          </a:p>
        </p:txBody>
      </p:sp>
      <p:sp>
        <p:nvSpPr>
          <p:cNvPr id="17" name="Rectangle 16"/>
          <p:cNvSpPr/>
          <p:nvPr/>
        </p:nvSpPr>
        <p:spPr>
          <a:xfrm>
            <a:off x="2442057" y="3017520"/>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0,85</a:t>
            </a:r>
          </a:p>
        </p:txBody>
      </p:sp>
      <p:cxnSp>
        <p:nvCxnSpPr>
          <p:cNvPr id="18" name="Connector 17"/>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8,5 м</a:t>
            </a:r>
          </a:p>
        </p:txBody>
      </p:sp>
      <p:sp>
        <p:nvSpPr>
          <p:cNvPr id="22" name="TextBox 21"/>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0,85 × 10 = 8,5 м</a:t>
            </a:r>
          </a:p>
        </p:txBody>
      </p:sp>
      <p:sp>
        <p:nvSpPr>
          <p:cNvPr id="23" name="Rounded Rectangle 22"/>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5" name="TextBox 24"/>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Бир топчу 0,4 сом. Бир кутуда 100 топчу бар. Бир кутудагы топчулар канча сом?</a:t>
            </a:r>
          </a:p>
        </p:txBody>
      </p:sp>
      <p:sp>
        <p:nvSpPr>
          <p:cNvPr id="26" name="Rectangle 25"/>
          <p:cNvSpPr/>
          <p:nvPr/>
        </p:nvSpPr>
        <p:spPr>
          <a:xfrm>
            <a:off x="4419600" y="3017520"/>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0,4</a:t>
            </a:r>
          </a:p>
        </p:txBody>
      </p:sp>
      <p:sp>
        <p:nvSpPr>
          <p:cNvPr id="27" name="Rectangle 26"/>
          <p:cNvSpPr/>
          <p:nvPr/>
        </p:nvSpPr>
        <p:spPr>
          <a:xfrm>
            <a:off x="4419600" y="3574389"/>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0,4</a:t>
            </a:r>
          </a:p>
        </p:txBody>
      </p:sp>
      <p:sp>
        <p:nvSpPr>
          <p:cNvPr id="28" name="Rectangle 27"/>
          <p:cNvSpPr/>
          <p:nvPr/>
        </p:nvSpPr>
        <p:spPr>
          <a:xfrm>
            <a:off x="4888382" y="3574389"/>
            <a:ext cx="468782"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0,4</a:t>
            </a:r>
          </a:p>
        </p:txBody>
      </p:sp>
      <p:sp>
        <p:nvSpPr>
          <p:cNvPr id="29" name="Rectangle 28"/>
          <p:cNvSpPr/>
          <p:nvPr/>
        </p:nvSpPr>
        <p:spPr>
          <a:xfrm>
            <a:off x="5357164" y="3574389"/>
            <a:ext cx="1406347"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 100 жолу</a:t>
            </a:r>
          </a:p>
        </p:txBody>
      </p:sp>
      <p:sp>
        <p:nvSpPr>
          <p:cNvPr id="30" name="TextBox 29"/>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0,4 × 100 = 40 сом</a:t>
            </a:r>
          </a:p>
        </p:txBody>
      </p:sp>
      <p:sp>
        <p:nvSpPr>
          <p:cNvPr id="31" name="Rounded Rectangle 30"/>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3" name="TextBox 32"/>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Бир түрмөктө 1 000 м жип бар. Бир кемселге 8 м жип кетет. 100 кемселге канча км жип кетет? Канча м калат?</a:t>
            </a:r>
          </a:p>
        </p:txBody>
      </p:sp>
      <p:sp>
        <p:nvSpPr>
          <p:cNvPr id="34" name="Rectangle 33"/>
          <p:cNvSpPr/>
          <p:nvPr/>
        </p:nvSpPr>
        <p:spPr>
          <a:xfrm>
            <a:off x="8272272" y="3017520"/>
            <a:ext cx="187512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800 м</a:t>
            </a:r>
          </a:p>
        </p:txBody>
      </p:sp>
      <p:sp>
        <p:nvSpPr>
          <p:cNvPr id="35" name="Rectangle 34"/>
          <p:cNvSpPr/>
          <p:nvPr/>
        </p:nvSpPr>
        <p:spPr>
          <a:xfrm>
            <a:off x="10147401" y="3017520"/>
            <a:ext cx="468782"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a:t>
            </a:r>
          </a:p>
        </p:txBody>
      </p:sp>
      <p:cxnSp>
        <p:nvCxnSpPr>
          <p:cNvPr id="36" name="Connector 35"/>
          <p:cNvCxnSpPr/>
          <p:nvPr/>
        </p:nvCxnSpPr>
        <p:spPr>
          <a:xfrm>
            <a:off x="10707624"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844784"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07624"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890503"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1 000 м</a:t>
            </a:r>
          </a:p>
        </p:txBody>
      </p:sp>
      <p:sp>
        <p:nvSpPr>
          <p:cNvPr id="40" name="TextBox 39"/>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8 × 100 = 800 м = 0,8 км; 200 м калат</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47 × 1 000</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3 900 : 100</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0,62 × 10</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8 : 100</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5,07 × 100</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23 : 1 000</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47 × 1 000</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47 000</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3 900 : 100</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39</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0,62 × 10</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6,2</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8 : 100</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0,08</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5,07 × 100</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507</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23 : 1 000</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0,023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100 кемселге канча метр баркыт керек? 1 000 топчу канча сом турат? Нурбек туурабы?</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Баркыт</a:t>
            </a:r>
          </a:p>
        </p:txBody>
      </p:sp>
      <p:sp>
        <p:nvSpPr>
          <p:cNvPr id="13" name="Rectangle 12"/>
          <p:cNvSpPr/>
          <p:nvPr/>
        </p:nvSpPr>
        <p:spPr>
          <a:xfrm>
            <a:off x="2377440" y="2240280"/>
            <a:ext cx="1084217"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0,85</a:t>
            </a:r>
          </a:p>
        </p:txBody>
      </p:sp>
      <p:sp>
        <p:nvSpPr>
          <p:cNvPr id="14" name="Rectangle 13"/>
          <p:cNvSpPr/>
          <p:nvPr/>
        </p:nvSpPr>
        <p:spPr>
          <a:xfrm>
            <a:off x="3461657" y="2240280"/>
            <a:ext cx="1084217"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0,85</a:t>
            </a:r>
          </a:p>
        </p:txBody>
      </p:sp>
      <p:sp>
        <p:nvSpPr>
          <p:cNvPr id="15" name="Rectangle 14"/>
          <p:cNvSpPr/>
          <p:nvPr/>
        </p:nvSpPr>
        <p:spPr>
          <a:xfrm>
            <a:off x="4545874" y="2240280"/>
            <a:ext cx="4336868" cy="548640"/>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6B7280"/>
                </a:solidFill>
                <a:latin typeface="PT Sans"/>
              </a:rPr>
              <a:t>… 100 бөлүк …</a:t>
            </a:r>
          </a:p>
        </p:txBody>
      </p:sp>
      <p:sp>
        <p:nvSpPr>
          <p:cNvPr id="16" name="Rectangle 15"/>
          <p:cNvSpPr/>
          <p:nvPr/>
        </p:nvSpPr>
        <p:spPr>
          <a:xfrm>
            <a:off x="8882742" y="2240280"/>
            <a:ext cx="1084217"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0,85</a:t>
            </a:r>
          </a:p>
        </p:txBody>
      </p:sp>
      <p:cxnSp>
        <p:nvCxnSpPr>
          <p:cNvPr id="17" name="Connector 16"/>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85 м</a:t>
            </a:r>
          </a:p>
        </p:txBody>
      </p:sp>
      <p:sp>
        <p:nvSpPr>
          <p:cNvPr id="21" name="TextBox 20"/>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100 × 0,85 = 85</a:t>
            </a:r>
          </a:p>
        </p:txBody>
      </p:sp>
      <p:sp>
        <p:nvSpPr>
          <p:cNvPr id="22" name="TextBox 21"/>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м баркыт</a:t>
            </a:r>
          </a:p>
        </p:txBody>
      </p:sp>
      <p:sp>
        <p:nvSpPr>
          <p:cNvPr id="23" name="TextBox 22"/>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1 000 × 40 = 40 000</a:t>
            </a:r>
          </a:p>
        </p:txBody>
      </p:sp>
      <p:sp>
        <p:nvSpPr>
          <p:cNvPr id="24" name="TextBox 23"/>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тыйын</a:t>
            </a:r>
          </a:p>
        </p:txBody>
      </p:sp>
      <p:sp>
        <p:nvSpPr>
          <p:cNvPr id="25" name="TextBox 24"/>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40 000 : 100 = 400</a:t>
            </a:r>
          </a:p>
        </p:txBody>
      </p:sp>
      <p:sp>
        <p:nvSpPr>
          <p:cNvPr id="26" name="TextBox 25"/>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сом</a:t>
            </a:r>
          </a:p>
        </p:txBody>
      </p:sp>
      <p:sp>
        <p:nvSpPr>
          <p:cNvPr id="27" name="Rounded Rectangle 26"/>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85 м баркыт, 400 сом. Нурбек туура эмес: 0,8500 = 0,85.</a:t>
            </a:r>
          </a:p>
        </p:txBody>
      </p:sp>
      <p:sp>
        <p:nvSpPr>
          <p:cNvPr id="28" name="Rounded Rectangle 27"/>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Тигүү цехи жөнүндө маселе түз: мм, см, м, км же тыйын, сом алмаштыруу керек болсун.</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Нурбек, Бермет, Айым эже.</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Эсепте: 5,3 × 100</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Эсепте: 6 : 1 000</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4 250 см канча м болот?</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2,5 × 10 = 25, 2,50 эмес?</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6 : 100 = 0,06: нөлдөр эмне үчүн керек?</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м → см: эмне үчүн көбөйтөбүз?</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10, 100, 1000ге көбөйтүү жана бөлүү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сабакта кагаз разряд таблицасын жана карточкаларды колдонууну сунуштайм: цифралар жылат, үтүр ордунда.</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эсептен мурун «чоңоёбу, кичирейеби?» деп сурайм (М2, М3, М6).</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«Нөл кош», «нөлдү өчүр» эрежелерин айтпайм: алар бүтүн санда гана иштейт (М1, М5).</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Бирдиктердин таблицасын (км, м, см, мм; сом, тыйын) дубалга илем (М7).</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