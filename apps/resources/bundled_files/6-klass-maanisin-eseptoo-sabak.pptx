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32дөн көппү же азбы? (Суук болсо, 32дөн аз.)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Айпери: x = −3, ошондуктан x² = (−3) × (−3) = 9 жана 9 + 1 = 10. Нурбек терс санды кашаасыз койду: −3² = −9 (М2).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8 көк (+1) жана 8 кызыл (−1) бөтөлкө капкагы (же эки түстүү таш), 3 кагаз чөйчөк. 1) 3a = 3 чөйчөк, ар биринде a. 2) a = −2: ар бир чөйчөккө 2 кызыл. Баары −6. 3) + 5: 5 көк капкак. 4) Бир көк + бир кызыл = нөл жуп, алып салабыз: 1 кызыл калды, −1. Чөйчөк = кашаа: «тамганын ордуна адегенде бош кашаа, анан санды салабыз». Проектор жок болсо, доскага тегерекчелер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Доскага формуланы жазып, C тамгасын өчүрөм, ордуна бош кашаа чийем. Окуучу −5 жазылган кагазды кашаанын ичине «салат». Анан сан огунда: 9 × (−5) ÷ 5 = −9, ошондуктан +32ден солго 9 кадам, 23 °F. Окуучулар ушул үч сапты дептерге жазышат.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Тамганын ордуна сан коюу 6-класстын «Тамгалуу туюнтмалар» пакетинде оң сандар менен болгон. Жаңысы: терс сан дайыма кашаада, анан КаДа – БөКө – КоКе. Формула маселесинде Пойанын 4 кадамы: түшүн (кайсы тамга эмнени билдирет?) → планда (кайсы сан кайсы тамгага?) → аткар (кашаа + тартип) → текшер (жооп окуяга дал келеби?). Ката коддору: М1 (кашаасыз), М2 (−3²), М7 (эки минус).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«адегенде кашаа, анан белги, анан сан».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М6; В = ✓; Г = М7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көбөйтүү = топтор → терс санды коюу → айырма d = a − b. Жооптор: −3 × 4 = −12 °C; T = −5 + 8 = 3 °C; d = 4 − (−7) = 11 °C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ордуна (−5) кашаа менен: 9 × (−5) = −45, −45 ÷ 5 = −9, −9 + 32 = 23 °F. Белгини жоготсо 9 × 5 ÷ 5 + 32 = 41 °F чыгат (М3): 41 °F = +5 °C, бирок кар жаап жатат. Кашаасыз 9 − 5 ÷ 5 + 32 деп жазса (М1), 40 чыгат. Окуя катаны өзү көрсөтөт.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−18; 28;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Туюнтманын маанисин эсептөө: терс сандар жана квадрат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Кербендеги аба ырайы бурчу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Айпери менен Нурбек мектептин аба ырайы бурчунда температураны жазып, формулага терс сан коюшат.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6-класстын «Туюнтмалар» жана «Бүтүн сандар» бөлүмдөрү: тамгалуу туюнтманын жана формуланын маанисин терс сандар менен эсептөө.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Кербендеги аба ырайы бурчу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Аксы районунун борбору Кербендеги мектепте 6-класстын аба ырайы бурчу бар.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Айпери менен Нурбек ар таң термометрди карап, температураны Жылдыз эжеге айтышат.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Айперинин таежеси Гүлнара АКШда жашайт. Ал жакта температураны °F (Фаренгейт) менен айтышат.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°Cдан °Fке: F = 9C ÷ 5 + 32. Мында C – °C менен температура.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Бүгүн таңда Кербенде −5 °C, кар жаап жатат. Айпери таежесине °F менен жазгысы келет. F = 9C ÷ 5 + 32. Канча °F?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Тамганын ордуна терс санды кашаа менен коём жана эмне үчүн кашаа керек экенин түшүндүрөм.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Туюнтманын маанисин КаДа – БөКө – КоКе боюнча бир сапта бир амал менен эсептейм.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x = −3 болсо, x² = 9, ал эми −x² = −9 экенин түшүндүрөм; формулага (P, F, T) сан коём.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тамга, бир амал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Терс сан жана квадрат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Эки тамга, формула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x² = 9 же −9?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капкак,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Кербендеги аба ырайы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°C жана °F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Бүтүн сандар: ×, ÷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Белги эрежеси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6-класс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Тамгалуу туюнтма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Квадрат, куб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Терс санды коюу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Формула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7-класс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Функция, таблица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Көп мүчө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× (−4)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(−5)²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a = 6:  2a + 1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10 − (−4)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× (−4)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(−5)²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= 6:  2a + 1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10 − (−4)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Жылдыз эже: «x = −3 болсо, x² + 1 канча?»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Нурбек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x² + 1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−3² + 1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−8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Айпери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x² + 1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(−3)² + 1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Кашаа барбы? Капкак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чөйчөк = a. a = −2 болсо, ар бир чөйчөккө 2 кызыл капкак. 3a + 5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3a, a = −2: 3 чөйчөк, ар биринде −2</a:t>
            </a:r>
          </a:p>
        </p:txBody>
      </p:sp>
      <p:sp>
        <p:nvSpPr>
          <p:cNvPr id="13" name="Manual Operation 12"/>
          <p:cNvSpPr/>
          <p:nvPr/>
        </p:nvSpPr>
        <p:spPr>
          <a:xfrm>
            <a:off x="777240" y="2606040"/>
            <a:ext cx="1234440" cy="86868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12344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4A5A70"/>
                </a:solidFill>
                <a:latin typeface="PT Sans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297180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16" name="Oval 15"/>
          <p:cNvSpPr/>
          <p:nvPr/>
        </p:nvSpPr>
        <p:spPr>
          <a:xfrm>
            <a:off x="1444752" y="297180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17" name="Manual Operation 16"/>
          <p:cNvSpPr/>
          <p:nvPr/>
        </p:nvSpPr>
        <p:spPr>
          <a:xfrm>
            <a:off x="2377440" y="2606040"/>
            <a:ext cx="1234440" cy="86868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606040"/>
            <a:ext cx="12344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4A5A70"/>
                </a:solidFill>
                <a:latin typeface="PT Sans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2606040" y="297180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0" name="Oval 19"/>
          <p:cNvSpPr/>
          <p:nvPr/>
        </p:nvSpPr>
        <p:spPr>
          <a:xfrm>
            <a:off x="3044952" y="297180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1" name="Manual Operation 20"/>
          <p:cNvSpPr/>
          <p:nvPr/>
        </p:nvSpPr>
        <p:spPr>
          <a:xfrm>
            <a:off x="3977639" y="2606040"/>
            <a:ext cx="1234440" cy="868680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2606040"/>
            <a:ext cx="12344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4A5A70"/>
                </a:solidFill>
                <a:latin typeface="PT Sans"/>
              </a:rP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4206240" y="297180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4" name="Oval 23"/>
          <p:cNvSpPr/>
          <p:nvPr/>
        </p:nvSpPr>
        <p:spPr>
          <a:xfrm>
            <a:off x="4645152" y="297180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118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+5: 5 көк капкак, нөл жуптар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27" name="Oval 26"/>
          <p:cNvSpPr/>
          <p:nvPr/>
        </p:nvSpPr>
        <p:spPr>
          <a:xfrm>
            <a:off x="932688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81328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30" name="Oval 29"/>
          <p:cNvSpPr/>
          <p:nvPr/>
        </p:nvSpPr>
        <p:spPr>
          <a:xfrm>
            <a:off x="1481328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89888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29967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33" name="Oval 32"/>
          <p:cNvSpPr/>
          <p:nvPr/>
        </p:nvSpPr>
        <p:spPr>
          <a:xfrm>
            <a:off x="2029967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38527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78608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36" name="Oval 35"/>
          <p:cNvSpPr/>
          <p:nvPr/>
        </p:nvSpPr>
        <p:spPr>
          <a:xfrm>
            <a:off x="2578608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87168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27248" y="4023360"/>
            <a:ext cx="329184" cy="32918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+</a:t>
            </a:r>
          </a:p>
        </p:txBody>
      </p:sp>
      <p:sp>
        <p:nvSpPr>
          <p:cNvPr id="39" name="Oval 38"/>
          <p:cNvSpPr/>
          <p:nvPr/>
        </p:nvSpPr>
        <p:spPr>
          <a:xfrm>
            <a:off x="3127248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35808" y="3931920"/>
            <a:ext cx="512064" cy="923544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950207" y="4434840"/>
            <a:ext cx="329184" cy="329184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7407" y="4370832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← калды: −1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956048"/>
            <a:ext cx="62179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5 нөл жуп = 0.  3a + 5 = −6 + 5 = −1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2194560"/>
            <a:ext cx="4434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2286000"/>
            <a:ext cx="4114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8 көк (+1), 8 кызыл (−1) капкак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 кагаз чөйчөк = a (кашаа)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(+1) + (−1) = 0: нөл жуп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3 × (−2) = −6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−6 + 5 = −1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тамга = бош кашаа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F = 9C ÷ 5 + 32: C ордуна бош кашаа, анан −5. Сан огунда +32ден баштап 9 солго.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1. Тамганы тап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48840"/>
            <a:ext cx="17373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F = 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185416"/>
            <a:ext cx="1143000" cy="438912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6B7280"/>
                </a:solidFill>
                <a:latin typeface="PT San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148840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 ÷ 5 + 32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70632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2. Бош кашаа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770632"/>
            <a:ext cx="17373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F = 9 ×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807208"/>
            <a:ext cx="1143000" cy="438912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6B7280"/>
                </a:solidFill>
                <a:latin typeface="PT Sans"/>
              </a:rPr>
              <a:t>(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770632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 ÷ 5 + 32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92424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3. Санды сал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392424"/>
            <a:ext cx="173736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F = 9 ×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429000"/>
            <a:ext cx="1143000" cy="438912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F2430"/>
                </a:solidFill>
                <a:latin typeface="PT Sans"/>
              </a:rPr>
              <a:t>(−5)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392424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 ÷ 5 + 32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2148840"/>
            <a:ext cx="32461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212848"/>
            <a:ext cx="3017520" cy="1691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Кашаа = чөйчөк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Терс сан кашаанын ичинде калат.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9 × (−5) = −45</a:t>
            </a:r>
          </a:p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−45 ÷ 5 = −9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5074920"/>
            <a:ext cx="10671048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97864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481328" y="4983480"/>
            <a:ext cx="0" cy="182879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07008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764792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48256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31720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15184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98648" y="4983480"/>
            <a:ext cx="0" cy="182879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624328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182112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465576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49039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32504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315968" y="4983480"/>
            <a:ext cx="0" cy="182879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41648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99432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882896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166360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449824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733288" y="4983480"/>
            <a:ext cx="0" cy="182879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458968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16752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300216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583680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867144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150608" y="4983480"/>
            <a:ext cx="0" cy="182879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876288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434071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717536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001000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26679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23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284464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67928" y="4983480"/>
            <a:ext cx="0" cy="182879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293607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25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851392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134856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418320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701784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85248" y="4983480"/>
            <a:ext cx="0" cy="182879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710928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268712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552176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277855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32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835640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119104" y="5020056"/>
            <a:ext cx="0" cy="109727"/>
          </a:xfrm>
          <a:prstGeom prst="line">
            <a:avLst/>
          </a:prstGeom>
          <a:ln w="1143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402568" y="4983480"/>
            <a:ext cx="0" cy="182879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1128248" y="5166359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1F2430"/>
                </a:solidFill>
                <a:latin typeface="PT Sans"/>
              </a:rPr>
              <a:t>35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81328" y="4069080"/>
            <a:ext cx="9070847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+32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01000" y="4526280"/>
            <a:ext cx="2551175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−9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81328" y="4526280"/>
            <a:ext cx="642823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4A5A70"/>
                </a:solidFill>
                <a:latin typeface="PT Sans"/>
              </a:rPr>
              <a:t>+32ден солго 9 кадам →</a:t>
            </a:r>
          </a:p>
        </p:txBody>
      </p:sp>
      <p:sp>
        <p:nvSpPr>
          <p:cNvPr id="78" name="Oval 77"/>
          <p:cNvSpPr/>
          <p:nvPr/>
        </p:nvSpPr>
        <p:spPr>
          <a:xfrm>
            <a:off x="7845552" y="4919472"/>
            <a:ext cx="310896" cy="310896"/>
          </a:xfrm>
          <a:prstGeom prst="ellipse">
            <a:avLst/>
          </a:prstGeom>
          <a:noFill/>
          <a:ln w="317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F = 9 × (−5) ÷ 5 + 32 = −9 + 32 = 23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(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1. Бош кашаа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Тамганы өчүр: 3a → 3 × ( 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−2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2. Санды сал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Терс сан кашаада: 3 × (−2)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x²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3. Даража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x = −3: x² = 9, −x² = −9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4. КаДа – БөКө – КоКе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Бир сапта бир амал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3a = 3 × a,   2(a + b) = 2 × (a + 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a = −2, b = 4 болсо, 3a − 2b канча? Адегенде болжолдо: оңбу, терсби?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3a − 2b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× (−2) − 2 ×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Бош кашаа, сал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−6 − 8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Кө: белги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−14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−14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x = −3 болсо, 10 − x² канча? Адегенде болжолдо: 10дон чоңбу, кичинеби?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10 − x²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10 − (−3)²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Бош кашаа, сал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10 − 9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Да: (−3)² =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белги, кашаа, эки минус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белги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 = −5:  4a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белги: (+)(−) = 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× 5 =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−20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Терс көбөйтүүчүлөрдүн саны так болсо – жооп терс.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Кашаа барбы?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= −6:  x²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(−6)²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−x² = −36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x² → (−6)²: квадрат терс болбойт. −x² – анын карама-каршысы.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Эки минус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b = −3:  7 −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7 − (−3)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7 + 3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Терс санды кемитсек, жооп чоңоет.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Тамга → бош кашаа → сан → бир сапта бир амал → болжол менен салыштыр.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x = −3 болсо, 2x² − x канча?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−15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Кербенде ар түнү аба 3 °Cга муздады. n түндөгү өзгөрүү: −3n. n = 4 болсо, өзгөрүү канча?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Нурбектин апасынын теплицасында T = t + 8 (t – сырттагы °C). Түнү t = −5 °C. Ичинде канча градус?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Кербенде күндүз a = 4 °C, түнү b = −7 °C. Айырма d = a − b. Канча градус?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Кербенде ар түнү аба 3 °Cга муздады. n түндөгү өзгөрүү: −3n. n = 4 болсо, өзгөрүү канча?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5859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906" y="3017520"/>
            <a:ext cx="5859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8884" y="3017520"/>
            <a:ext cx="5859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4862" y="3017520"/>
            <a:ext cx="585978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−3 × 4 = −12 °C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Нурбектин апасынын теплицасында T = t + 8 (t – сырттагы °C). Түнү t = −5 °C. Ичинде канча градус?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Сырт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82640" y="3017520"/>
            <a:ext cx="55054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−5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Жылуу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82640" y="3574389"/>
            <a:ext cx="88087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+8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T = −5 + 8 = 3 °C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Кербенде күндүз a = 4 °C, түнү b = −7 °C. Айырма d = a − b. Канча градус?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2272" y="3017520"/>
            <a:ext cx="1491580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63852" y="3017520"/>
            <a:ext cx="85233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d = 4 − (−7) = 11 °C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 = −5:  2a + 7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= −3:  x² − 4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= −3:  −x² + 10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 = −2, b = −6:  a −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 = 9, b = −3:  2(a + b)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= −4:  x² + 2x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= −5:  2a + 7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x = −3:  x² − 4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x = −3:  −x² + 10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= −2, b = −6:  a −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= 9, b = −3:  2(a + 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x = −4:  x² + 2x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Бүгүн таңда Кербенде −5 °C, кар жаап жатат. Айпери таежесине °F менен жазгысы келет. F = 9C ÷ 5 + 32. Канча °F?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6506527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20927" y="2240280"/>
            <a:ext cx="2546032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9 × (−5) ÷ 5 + 32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C ордуна (−5)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−45 ÷ 5 + 32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Кө: (+)(−) = 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−9 + 32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= 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°F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−5 °C = 23 °F: таежеси «суук экен!» деп түшүнөт.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Кербен жөнүндө маселе түз: формулага терс сан кой (температура, бийиктик же сом), туюнтмада квадрат же кашаа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Айпери, Нурбек, Жылдыз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a = −3, b = 2:  4a − 3b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x = −5:  x² + 3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a = 6, b = −2:  a − 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тамганын ордуна терс санды кашаа менен жазабыз?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x = −3 болсо, эмне үчүн x² оң, ал эми −x² терс?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Жооптун белгисин алдын ала кантип болжолдодуң?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Туюнтманын маанисин эсептөө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3–4 кагаз чөйчөк (тамга) жана эки түстүү капкак (+1/−1).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мисалда: тамганы өчүр → бош кашаа → санды сал.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Доскада бир сапта бир амал, ар бир сап «=» менен (степпер).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x² жана −x² ар сабакта: «кашаа барбы?» (М2).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