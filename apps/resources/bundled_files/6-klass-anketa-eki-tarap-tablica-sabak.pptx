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аталышы жана бүгүнкү окуя.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жолу: ар бир бөлүк өз слайды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Окуяны окуп бериңиз. Адегенде болжолдошсун: орточо 0 менен 4түн ортосундабы? 2ден көппү, азбы? Жоопту сабактын аягында (22-слайд) текшеребиз. Чаек – Жумгал районунун борбору.</a:t>
            </a:r>
          </a:p>
          <a:p>
            <a:r>
              <a:t>3C (Байланыштыруу): Окуя турмуштан: бул суроого сабактын аягында кайтабыз.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 жүгүртүү маданияты (Wenxi Lee, 2.6).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критерийлери: сабактын аягында ар бирине ✓ коёбуз.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Спираль: тема класстан класска тереңдейт.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Мини-тактага жазышат.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Жоопту дароо айтпайбыз. Жупта талкуулашат. Жооп: Бегимай: ар бир окуучу эсепке кирет, 50 китеп ÷ 20 окуучу = 2,5. Нурбек жыштыкты эске алган жок (М1).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1) Жумуртка кутусунун 2 сабы = кыздар жана балдар, 4 уячасы = жөө, велосипед, ат, автобус. Ар бир окуучу өзүнүн уячасына бир бөтөлкө капкагын коёт: бул эки тараптуу таблица. Анан ар бир уячаны санап, доскадагы таблицага жазабыз; «Баары» сабын жана мамычасын кошобуз. Кутудан 4 уячаны кесип алса да болот; жумуртка кутусу жок болсо, партага бор менен 2 × 4 тор чийебиз. 2) Ар бир жупка 6 кагаз чөйчөк жана 12 капкак: чөйчөк = бир окуучу, капкак = ал окуган китеп (1, 1, 2, 2, 2, 4). Таблица: 1 китеп – 2, 2 китеп – 3, 4 китеп – 1. Теңдейбиз: ар бир чөйчөктө 2. «Капкак жоголгон жок: 12 китеп 6 окуучуга бирдей» = орточо.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Таблицаны доскага чийем жана үчүнчү мамычаны («Китеп × окуучу») окуучулар менен бирге толтурам. Тилке: 50 китеп 4 бөлүктөн турат (0 китеп окуган 1 окуучу китеп кошпойт, бирок окуучу катары саналат!). Анан ошол эле 50 китепти 20 окуучуга бирдей бөлөбүз: ар бирине 2,5. Болжол: 2,5 0 менен 4түн ортосунда – туура. Ката коддору: М1, М2, М3.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Анкета: жетектөөчү суроо жок («…эмеспи?»), жооп кутучалары кайчылашпайт жана бардык сандарды камтыйт («5 же көп»). Эки тараптуу таблица: ар бир чакмак – эки белгинин кесилиши. Жыштык таблицасы: орточо = Σ(маани × жыштык) ÷ Σ жыштык. Ката коддору: М1 (маанилер гана), М2 (жыштыктардын орточосу), М3 (саптардын санына бөлүү), М4 (анкета), М5 (таблица окуу).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Окуучулар ыкманы үн чыгарып айтышат: «Жаңы сан орточодон 5 ашык, аны 5 санга бөлөм – орточо 1ге өсөт». «Оозеки беш мүнөт» (класста колдонуу картасы, 3-бет) эки апта ушуларды кайталайт.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Баары бир убакта манжа менен көрсөтөт (1–4). Туура эмес жооптун коду: А = М1; Б = ✓; В = М2; Г = М3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деңгээл: сумма → тескери орточо → маани алынды. Жооптор: 6 + 12 + 4 = 22 бала; 6 × 5 − 20 = 10 китеп; (40 − 12) ÷ 4 = 7 бет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Жеңилден баштап, мүмкүн болушунча алдыга.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сап: маани × жыштык = ошол топтун китептери. Баары 50 китеп, 20 окуучу: 50 ÷ 20 = 2,5. Нурбектин «2» жообу ((0 + 1 + 2 + 3 + 4) ÷ 5) – М1; «4» (жыштыктардын орточосу) – М2; «10» (50 ÷ 5) – М3. Медиана жана мода 3: эң көп окуучу 3 китеп окуган. Гезитке кайсынысын жазабыз? Талкуулашсын.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Блум: Түзүү. Жупта алмашып, бири-биринин маселесин чыгарышат.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Жооптор: 2,1 китеп; 3;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>6-класс · Математика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60120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3557"/>
                </a:solidFill>
                <a:latin typeface="PT Sans"/>
              </a:rPr>
              <a:t>Анкета, эки тараптуу таблица жана орточо маани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11880"/>
            <a:ext cx="87782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657600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Бүгүнкү окуя: Жумгалдагы мектеп гезити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160520"/>
            <a:ext cx="8321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Чаек айылындагы мектептин «Жумгал жаңылыгы» гезити үчүн Бегимай менен Нурбек анкета жүргүзүшөт.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Китеп: Стандарт (2018), 6-класс: «Статистикалык маалыматтар»; Cambridge Primary 6. 6-кл. «Диаграмма жана орточо маани» пакетинин уландысы. Мазмуну оригиналдуу.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мазмуну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63039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80160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Кириш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Окуя, эрежелер, максаттар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12848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12848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Даярдык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Эстейбиз, «Ким туура?»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45536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28416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45536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Түшүнөбүз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45536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 → С → А: буюм, тилке, эреже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078224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26110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78224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Машыгабыз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78224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Чечүүчү суроо, тилке, өз алдынча иш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01091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19379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10912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Жыйынтык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10912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Окуяга кайтуу, түзүү, чыгуу билети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Окуя: Жумгалдагы мектеп гезити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7665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25880"/>
            <a:ext cx="62179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Жумгал районунун Чаек айылындагы мектепте окуучулар «Жумгал жаңылыгы» деген гезит чыгарышат.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Бул айдагы теманын аты – «Биз окуйбуз». Редакторлор Бегимай менен Нурбек 5- жана 6-класстарга анкета таратышты.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Анкетада эки суроо: «Мектепке кантип келесиң?» жана «Өткөн айда канча китеп окудуң?»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Жетекчиси Асел эже: «Гезитке болжол эмес, так эсептелген сан жазабыз».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25296"/>
            <a:ext cx="4352544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Суроо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39319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6-класстын 20 окуучусу: 0 китеп – 1, 1 китеп – 3, 2 китеп – 5, 3 китеп – 7, 4 китеп – 4 окуучу. Бир окуучу орточо канча китеп окуду?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72000"/>
            <a:ext cx="3931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7280"/>
                </a:solidFill>
                <a:latin typeface="PT Sans"/>
              </a:rPr>
              <a:t>Азыр жообун айтпайбыз. Ойлон: кантип билебиз?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Математикада биз…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Ката – үйрөнүүнүн бир бөлүгү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кетсе, эмне үчүн кеткенин издейбиз.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эмес, «азырынча». Машыксак, үйрөнөбүз.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Сүрөт же тилке чийип, анан сан менен жазабыз.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Максаттар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Адилет анкета суроосун жана кайчылашпаган жооп кутучаларын түзөм.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Эки тараптуу таблицаны толтурам, окуйм жана андан кош мамычалуу диаграмма чийем.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Жыштык таблицасынан орточону табам, тескери маселе чыгарам жана ылайыктуу орточону тандайм.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Жеңил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Анкета, таблица окуу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Орто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Жыштыктан орточо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4A5A70"/>
                </a:solidFill>
                <a:latin typeface="PT Sans"/>
              </a:rPr>
              <a:t>Оор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Тескери орточо, тандоо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3C: бүгүн кантип ойлонобуз?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Текшеребиз, далилдейбиз, катаны издейбиз.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Анкетанын суроосу адилетпи?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 жана топто сүйлөшөбүз.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Класстык анкета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Жумуртка кутусу = таблица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Математиканы турмуш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Мектеп гезити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Жумгал, Чаек айылы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Мурун – бүгүн – кийин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>3-класс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Сурамжылоо, чийик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Жыштык таблицасы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>6-класс (1)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Орточо, медиана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Мода, кулач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6-класс (2)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Анкета, эки тараптуу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Жыштыктан орточо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07708" y="1600199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>7-класс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Топтоштурулган маалымат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Ыктымалдык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эстейли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жаз. 2 мүнөт.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Орточо: 4, 6, 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 × 7 + 4 × 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50 ÷ 20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Медиана: 3, 1, 4, 3, 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Орточо: 4, 6,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3 × 7 + 4 ×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50 ÷ 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2,5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Медиана: 3, 1, 4, 3,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Асел эже: «0 китеп – 1, 1: 3, 2: 5, 3: 7, 4: 4 окуучу. Бир окуучу орточо канча китеп окуду?»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Нурбек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Маанилер: 0, 1, 2, 3, 4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(0 + 1 + 2 + 3 + 4) ÷ 5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= 2 китеп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Бегимай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3 + 10 + 21 + 16 = 50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1 + 3 + 5 + 7 + 4 = 20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50 ÷ 20 = 2,5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Ар бир окуучу эсепке кирдиби?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К: буюм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Жупта: 1) жумуртка кутусуна анкета: ар бир окуучу бир капкак коёт. 2) Чөйчөк = окуучу, капкак = китеп: чөйчөктөрдү теңдегиле.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57400"/>
            <a:ext cx="60350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D3557"/>
                </a:solidFill>
                <a:latin typeface="PT Sans"/>
              </a:rPr>
              <a:t>Жумуртка кутусу = эки тараптуу таблица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35607" y="2898648"/>
            <a:ext cx="3986784" cy="2066544"/>
          </a:xfrm>
          <a:prstGeom prst="roundRect">
            <a:avLst>
              <a:gd name="adj" fmla="val 8000"/>
            </a:avLst>
          </a:prstGeom>
          <a:solidFill>
            <a:srgbClr val="EFE6D6"/>
          </a:solidFill>
          <a:ln w="1587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19" y="2971800"/>
            <a:ext cx="868680" cy="9601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1" i="0">
                <a:solidFill>
                  <a:srgbClr val="1D3557"/>
                </a:solidFill>
                <a:latin typeface="PT Sans"/>
              </a:rPr>
              <a:t>Кыздар</a:t>
            </a:r>
          </a:p>
        </p:txBody>
      </p:sp>
      <p:sp>
        <p:nvSpPr>
          <p:cNvPr id="15" name="Oval 14"/>
          <p:cNvSpPr/>
          <p:nvPr/>
        </p:nvSpPr>
        <p:spPr>
          <a:xfrm>
            <a:off x="1554480" y="3017520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691639" y="3259836"/>
            <a:ext cx="173736" cy="173736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901952" y="3259836"/>
            <a:ext cx="173736" cy="173736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12264" y="3259836"/>
            <a:ext cx="173736" cy="173736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691639" y="3470148"/>
            <a:ext cx="173736" cy="173736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901952" y="3470148"/>
            <a:ext cx="173736" cy="173736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14600" y="3017520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651760" y="3259836"/>
            <a:ext cx="173736" cy="173736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862072" y="3259836"/>
            <a:ext cx="173736" cy="173736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74720" y="3017520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11880" y="3259836"/>
            <a:ext cx="173736" cy="173736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434840" y="3017520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72000" y="3259836"/>
            <a:ext cx="173736" cy="173736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82312" y="3259836"/>
            <a:ext cx="173736" cy="173736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992624" y="3259836"/>
            <a:ext cx="173736" cy="173736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572000" y="3470148"/>
            <a:ext cx="173736" cy="173736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58968" y="2971800"/>
            <a:ext cx="548640" cy="9601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24418C"/>
                </a:solidFill>
                <a:latin typeface="PT Sans"/>
              </a:rPr>
              <a:t>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19" y="3931920"/>
            <a:ext cx="868680" cy="9601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1" i="0">
                <a:solidFill>
                  <a:srgbClr val="1D3557"/>
                </a:solidFill>
                <a:latin typeface="PT Sans"/>
              </a:rPr>
              <a:t>Балдар</a:t>
            </a:r>
          </a:p>
        </p:txBody>
      </p:sp>
      <p:sp>
        <p:nvSpPr>
          <p:cNvPr id="33" name="Oval 32"/>
          <p:cNvSpPr/>
          <p:nvPr/>
        </p:nvSpPr>
        <p:spPr>
          <a:xfrm>
            <a:off x="1554480" y="3977639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691639" y="4219956"/>
            <a:ext cx="173736" cy="173736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901952" y="4219956"/>
            <a:ext cx="173736" cy="173736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112264" y="4219956"/>
            <a:ext cx="173736" cy="173736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691639" y="4430268"/>
            <a:ext cx="173736" cy="173736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514600" y="3977639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651760" y="4219956"/>
            <a:ext cx="173736" cy="173736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862072" y="4219956"/>
            <a:ext cx="173736" cy="173736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072384" y="4219956"/>
            <a:ext cx="173736" cy="173736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474720" y="3977639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611880" y="4219956"/>
            <a:ext cx="173736" cy="173736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822192" y="4219956"/>
            <a:ext cx="173736" cy="173736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434840" y="3977639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572000" y="4219956"/>
            <a:ext cx="173736" cy="173736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58968" y="3931920"/>
            <a:ext cx="548640" cy="9601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24418C"/>
                </a:solidFill>
                <a:latin typeface="PT Sans"/>
              </a:rPr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71600" y="2560320"/>
            <a:ext cx="12344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1D3557"/>
                </a:solidFill>
                <a:latin typeface="PT Sans"/>
              </a:rPr>
              <a:t>Жөө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08760" y="4965192"/>
            <a:ext cx="9601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24418C"/>
                </a:solidFill>
                <a:latin typeface="PT Sans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31720" y="2560320"/>
            <a:ext cx="12344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1D3557"/>
                </a:solidFill>
                <a:latin typeface="PT Sans"/>
              </a:rPr>
              <a:t>Велосипед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68880" y="4965192"/>
            <a:ext cx="9601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91840" y="2560320"/>
            <a:ext cx="12344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1D3557"/>
                </a:solidFill>
                <a:latin typeface="PT Sans"/>
              </a:rPr>
              <a:t>Ат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29000" y="4965192"/>
            <a:ext cx="9601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24418C"/>
                </a:solidFill>
                <a:latin typeface="PT Sans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51960" y="2560320"/>
            <a:ext cx="12344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1D3557"/>
                </a:solidFill>
                <a:latin typeface="PT Sans"/>
              </a:rPr>
              <a:t>Автобус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89120" y="4965192"/>
            <a:ext cx="9601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94959" y="25603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24418C"/>
                </a:solidFill>
                <a:latin typeface="PT Sans"/>
              </a:rPr>
              <a:t>Баары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58968" y="4965192"/>
            <a:ext cx="548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22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5349240"/>
            <a:ext cx="60350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4A5A70"/>
                </a:solidFill>
                <a:latin typeface="PT Sans"/>
              </a:rPr>
              <a:t>1 капкак = 1 окуучу. Саптарды жана мамычаларды кош.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812280" y="2103120"/>
            <a:ext cx="0" cy="3886200"/>
          </a:xfrm>
          <a:prstGeom prst="line">
            <a:avLst/>
          </a:prstGeom>
          <a:ln w="12700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995160" y="2057400"/>
            <a:ext cx="48463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D3557"/>
                </a:solidFill>
                <a:latin typeface="PT Sans"/>
              </a:rPr>
              <a:t>Чөйчөк = окуучу, капкак = китеп</a:t>
            </a:r>
          </a:p>
        </p:txBody>
      </p:sp>
      <p:sp>
        <p:nvSpPr>
          <p:cNvPr id="61" name="Manual Operation 60"/>
          <p:cNvSpPr/>
          <p:nvPr/>
        </p:nvSpPr>
        <p:spPr>
          <a:xfrm>
            <a:off x="7040880" y="2606040"/>
            <a:ext cx="713232" cy="749808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196328" y="2852928"/>
            <a:ext cx="182880" cy="18288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040880" y="3383280"/>
            <a:ext cx="7132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64" name="Manual Operation 63"/>
          <p:cNvSpPr/>
          <p:nvPr/>
        </p:nvSpPr>
        <p:spPr>
          <a:xfrm>
            <a:off x="7827264" y="2606040"/>
            <a:ext cx="713232" cy="749808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982712" y="2852928"/>
            <a:ext cx="182880" cy="18288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827264" y="3383280"/>
            <a:ext cx="7132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67" name="Manual Operation 66"/>
          <p:cNvSpPr/>
          <p:nvPr/>
        </p:nvSpPr>
        <p:spPr>
          <a:xfrm>
            <a:off x="8613648" y="2606040"/>
            <a:ext cx="713232" cy="749808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769096" y="2852928"/>
            <a:ext cx="182880" cy="18288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988552" y="2852928"/>
            <a:ext cx="182880" cy="18288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613648" y="3383280"/>
            <a:ext cx="7132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71" name="Manual Operation 70"/>
          <p:cNvSpPr/>
          <p:nvPr/>
        </p:nvSpPr>
        <p:spPr>
          <a:xfrm>
            <a:off x="9400032" y="2606040"/>
            <a:ext cx="713232" cy="749808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555480" y="2852928"/>
            <a:ext cx="182880" cy="18288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774936" y="2852928"/>
            <a:ext cx="182880" cy="18288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400032" y="3383280"/>
            <a:ext cx="7132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75" name="Manual Operation 74"/>
          <p:cNvSpPr/>
          <p:nvPr/>
        </p:nvSpPr>
        <p:spPr>
          <a:xfrm>
            <a:off x="10186416" y="2606040"/>
            <a:ext cx="713232" cy="749808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341864" y="2852928"/>
            <a:ext cx="182880" cy="18288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561320" y="2852928"/>
            <a:ext cx="182880" cy="18288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186416" y="3383280"/>
            <a:ext cx="7132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79" name="Manual Operation 78"/>
          <p:cNvSpPr/>
          <p:nvPr/>
        </p:nvSpPr>
        <p:spPr>
          <a:xfrm>
            <a:off x="10972800" y="2606040"/>
            <a:ext cx="713232" cy="749808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1128248" y="2743200"/>
            <a:ext cx="182880" cy="18288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1347704" y="2743200"/>
            <a:ext cx="182880" cy="18288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1128248" y="2962656"/>
            <a:ext cx="182880" cy="18288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1347704" y="2962656"/>
            <a:ext cx="182880" cy="18288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972800" y="3383280"/>
            <a:ext cx="7132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995160" y="3657600"/>
            <a:ext cx="48463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1 китеп – 2, 2 китеп – 3, 4 китеп – 1 окуучу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052560" y="3977639"/>
            <a:ext cx="5486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↓</a:t>
            </a:r>
          </a:p>
        </p:txBody>
      </p:sp>
      <p:sp>
        <p:nvSpPr>
          <p:cNvPr id="87" name="Manual Operation 86"/>
          <p:cNvSpPr/>
          <p:nvPr/>
        </p:nvSpPr>
        <p:spPr>
          <a:xfrm>
            <a:off x="7040880" y="4434840"/>
            <a:ext cx="713232" cy="599846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7196328" y="4572000"/>
            <a:ext cx="182880" cy="18288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7415783" y="4572000"/>
            <a:ext cx="182880" cy="182880"/>
          </a:xfrm>
          <a:prstGeom prst="ellipse">
            <a:avLst/>
          </a:prstGeom>
          <a:solidFill>
            <a:srgbClr val="F5E9E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Manual Operation 89"/>
          <p:cNvSpPr/>
          <p:nvPr/>
        </p:nvSpPr>
        <p:spPr>
          <a:xfrm>
            <a:off x="7827264" y="4434840"/>
            <a:ext cx="713232" cy="599846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7982712" y="4572000"/>
            <a:ext cx="182880" cy="18288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8202168" y="4572000"/>
            <a:ext cx="182880" cy="182880"/>
          </a:xfrm>
          <a:prstGeom prst="ellipse">
            <a:avLst/>
          </a:prstGeom>
          <a:solidFill>
            <a:srgbClr val="F5E9E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Manual Operation 92"/>
          <p:cNvSpPr/>
          <p:nvPr/>
        </p:nvSpPr>
        <p:spPr>
          <a:xfrm>
            <a:off x="8613648" y="4434840"/>
            <a:ext cx="713232" cy="599846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8769096" y="4572000"/>
            <a:ext cx="182880" cy="18288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8988552" y="4572000"/>
            <a:ext cx="182880" cy="18288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Manual Operation 95"/>
          <p:cNvSpPr/>
          <p:nvPr/>
        </p:nvSpPr>
        <p:spPr>
          <a:xfrm>
            <a:off x="9400032" y="4434840"/>
            <a:ext cx="713232" cy="599846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9555480" y="4572000"/>
            <a:ext cx="182880" cy="18288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9774936" y="4572000"/>
            <a:ext cx="182880" cy="18288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Manual Operation 98"/>
          <p:cNvSpPr/>
          <p:nvPr/>
        </p:nvSpPr>
        <p:spPr>
          <a:xfrm>
            <a:off x="10186416" y="4434840"/>
            <a:ext cx="713232" cy="599846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0341864" y="4572000"/>
            <a:ext cx="182880" cy="18288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0561320" y="4572000"/>
            <a:ext cx="182880" cy="18288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Manual Operation 101"/>
          <p:cNvSpPr/>
          <p:nvPr/>
        </p:nvSpPr>
        <p:spPr>
          <a:xfrm>
            <a:off x="10972800" y="4434840"/>
            <a:ext cx="713232" cy="599846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1128248" y="4572000"/>
            <a:ext cx="182880" cy="18288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1347704" y="4572000"/>
            <a:ext cx="182880" cy="182880"/>
          </a:xfrm>
          <a:prstGeom prst="ellipse">
            <a:avLst/>
          </a:prstGeom>
          <a:solidFill>
            <a:srgbClr val="2F6DB5"/>
          </a:solidFill>
          <a:ln w="9525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995160" y="5120640"/>
            <a:ext cx="48463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Теңдедик: 4төн 2 капкак 1лерге (кызгылт)</a:t>
            </a:r>
          </a:p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4418C"/>
                </a:solidFill>
                <a:latin typeface="PT Sans"/>
              </a:rPr>
              <a:t>(1×2 + 2×3 + 4×1) ÷ 6 = 12 ÷ 6 = 2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С: жыштык таблицасы жана тилке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Ар бир сап: маани × жыштык. Баарын кошуп, окуучулардын санына бөлөбүз.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48840"/>
            <a:ext cx="1489165" cy="470262"/>
          </a:xfrm>
          <a:prstGeom prst="rect">
            <a:avLst/>
          </a:prstGeom>
          <a:solidFill>
            <a:srgbClr val="DDF0E9"/>
          </a:solidFill>
          <a:ln w="1143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1700" b="1">
                <a:solidFill>
                  <a:srgbClr val="1D3557"/>
                </a:solidFill>
                <a:latin typeface="PT Sans"/>
              </a:rPr>
              <a:t>Китеп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37805" y="2148840"/>
            <a:ext cx="1489165" cy="470262"/>
          </a:xfrm>
          <a:prstGeom prst="rect">
            <a:avLst/>
          </a:prstGeom>
          <a:solidFill>
            <a:srgbClr val="DDF0E9"/>
          </a:solidFill>
          <a:ln w="1143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1700" b="1">
                <a:solidFill>
                  <a:srgbClr val="1D3557"/>
                </a:solidFill>
                <a:latin typeface="PT Sans"/>
              </a:rPr>
              <a:t>Окуучу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6971" y="2148840"/>
            <a:ext cx="2233748" cy="470262"/>
          </a:xfrm>
          <a:prstGeom prst="rect">
            <a:avLst/>
          </a:prstGeom>
          <a:solidFill>
            <a:srgbClr val="DDF0E9"/>
          </a:solidFill>
          <a:ln w="1143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1700" b="1">
                <a:solidFill>
                  <a:srgbClr val="1D3557"/>
                </a:solidFill>
                <a:latin typeface="PT Sans"/>
              </a:rPr>
              <a:t>Китеп × окуучу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19102"/>
            <a:ext cx="1489165" cy="470262"/>
          </a:xfrm>
          <a:prstGeom prst="rect">
            <a:avLst/>
          </a:prstGeom>
          <a:solidFill>
            <a:srgbClr val="FFFFFF"/>
          </a:solidFill>
          <a:ln w="1143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1700" b="1">
                <a:solidFill>
                  <a:srgbClr val="1D3557"/>
                </a:solidFill>
                <a:latin typeface="PT Sans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37805" y="2619102"/>
            <a:ext cx="1489165" cy="470262"/>
          </a:xfrm>
          <a:prstGeom prst="rect">
            <a:avLst/>
          </a:prstGeom>
          <a:solidFill>
            <a:srgbClr val="FFFFFF"/>
          </a:solidFill>
          <a:ln w="1143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1700" b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26971" y="2619102"/>
            <a:ext cx="2233748" cy="470262"/>
          </a:xfrm>
          <a:prstGeom prst="rect">
            <a:avLst/>
          </a:prstGeom>
          <a:solidFill>
            <a:srgbClr val="FFFFFF"/>
          </a:solidFill>
          <a:ln w="1143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1700" b="1">
                <a:solidFill>
                  <a:srgbClr val="1F2430"/>
                </a:solidFill>
                <a:latin typeface="PT Sans"/>
              </a:rPr>
              <a:t>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89365"/>
            <a:ext cx="1489165" cy="470262"/>
          </a:xfrm>
          <a:prstGeom prst="rect">
            <a:avLst/>
          </a:prstGeom>
          <a:solidFill>
            <a:srgbClr val="FFFFFF"/>
          </a:solidFill>
          <a:ln w="1143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17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37805" y="3089365"/>
            <a:ext cx="1489165" cy="470262"/>
          </a:xfrm>
          <a:prstGeom prst="rect">
            <a:avLst/>
          </a:prstGeom>
          <a:solidFill>
            <a:srgbClr val="FFFFFF"/>
          </a:solidFill>
          <a:ln w="1143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1700" b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6971" y="3089365"/>
            <a:ext cx="2233748" cy="470262"/>
          </a:xfrm>
          <a:prstGeom prst="rect">
            <a:avLst/>
          </a:prstGeom>
          <a:solidFill>
            <a:srgbClr val="FFFFFF"/>
          </a:solidFill>
          <a:ln w="1143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17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559628"/>
            <a:ext cx="1489165" cy="470262"/>
          </a:xfrm>
          <a:prstGeom prst="rect">
            <a:avLst/>
          </a:prstGeom>
          <a:solidFill>
            <a:srgbClr val="FFFFFF"/>
          </a:solidFill>
          <a:ln w="1143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17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37805" y="3559628"/>
            <a:ext cx="1489165" cy="470262"/>
          </a:xfrm>
          <a:prstGeom prst="rect">
            <a:avLst/>
          </a:prstGeom>
          <a:solidFill>
            <a:srgbClr val="FFFFFF"/>
          </a:solidFill>
          <a:ln w="1143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1700" b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26971" y="3559628"/>
            <a:ext cx="2233748" cy="470262"/>
          </a:xfrm>
          <a:prstGeom prst="rect">
            <a:avLst/>
          </a:prstGeom>
          <a:solidFill>
            <a:srgbClr val="FFFFFF"/>
          </a:solidFill>
          <a:ln w="1143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1700" b="1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029891"/>
            <a:ext cx="1489165" cy="470262"/>
          </a:xfrm>
          <a:prstGeom prst="rect">
            <a:avLst/>
          </a:prstGeom>
          <a:solidFill>
            <a:srgbClr val="FFFFFF"/>
          </a:solidFill>
          <a:ln w="1143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17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37805" y="4029891"/>
            <a:ext cx="1489165" cy="470262"/>
          </a:xfrm>
          <a:prstGeom prst="rect">
            <a:avLst/>
          </a:prstGeom>
          <a:solidFill>
            <a:srgbClr val="FFFFFF"/>
          </a:solidFill>
          <a:ln w="1143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1700" b="0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26971" y="4029891"/>
            <a:ext cx="2233748" cy="470262"/>
          </a:xfrm>
          <a:prstGeom prst="rect">
            <a:avLst/>
          </a:prstGeom>
          <a:solidFill>
            <a:srgbClr val="FFFFFF"/>
          </a:solidFill>
          <a:ln w="1143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1700" b="1">
                <a:solidFill>
                  <a:srgbClr val="1F2430"/>
                </a:solidFill>
                <a:latin typeface="PT Sans"/>
              </a:rPr>
              <a:t>21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500154"/>
            <a:ext cx="1489165" cy="470262"/>
          </a:xfrm>
          <a:prstGeom prst="rect">
            <a:avLst/>
          </a:prstGeom>
          <a:solidFill>
            <a:srgbClr val="FFFFFF"/>
          </a:solidFill>
          <a:ln w="1143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17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37805" y="4500154"/>
            <a:ext cx="1489165" cy="470262"/>
          </a:xfrm>
          <a:prstGeom prst="rect">
            <a:avLst/>
          </a:prstGeom>
          <a:solidFill>
            <a:srgbClr val="FFFFFF"/>
          </a:solidFill>
          <a:ln w="1143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1700" b="0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26971" y="4500154"/>
            <a:ext cx="2233748" cy="470262"/>
          </a:xfrm>
          <a:prstGeom prst="rect">
            <a:avLst/>
          </a:prstGeom>
          <a:solidFill>
            <a:srgbClr val="FFFFFF"/>
          </a:solidFill>
          <a:ln w="1143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1700" b="1">
                <a:solidFill>
                  <a:srgbClr val="1F2430"/>
                </a:solidFill>
                <a:latin typeface="PT Sans"/>
              </a:rPr>
              <a:t>16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970417"/>
            <a:ext cx="1489165" cy="470262"/>
          </a:xfrm>
          <a:prstGeom prst="rect">
            <a:avLst/>
          </a:prstGeom>
          <a:solidFill>
            <a:srgbClr val="FFFFFF"/>
          </a:solidFill>
          <a:ln w="1143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1700" b="1">
                <a:solidFill>
                  <a:srgbClr val="1D3557"/>
                </a:solidFill>
                <a:latin typeface="PT Sans"/>
              </a:rPr>
              <a:t>Баары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37805" y="4970417"/>
            <a:ext cx="1489165" cy="470262"/>
          </a:xfrm>
          <a:prstGeom prst="rect">
            <a:avLst/>
          </a:prstGeom>
          <a:solidFill>
            <a:srgbClr val="FFFFFF"/>
          </a:solidFill>
          <a:ln w="1143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1700" b="1">
                <a:solidFill>
                  <a:srgbClr val="1F2430"/>
                </a:solidFill>
                <a:latin typeface="PT Sans"/>
              </a:rPr>
              <a:t>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26971" y="4970417"/>
            <a:ext cx="2233748" cy="470262"/>
          </a:xfrm>
          <a:prstGeom prst="rect">
            <a:avLst/>
          </a:prstGeom>
          <a:solidFill>
            <a:srgbClr val="FFFFFF"/>
          </a:solidFill>
          <a:ln w="1143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1700" b="1">
                <a:solidFill>
                  <a:srgbClr val="1F2430"/>
                </a:solidFill>
                <a:latin typeface="PT Sans"/>
              </a:rPr>
              <a:t>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2103120"/>
            <a:ext cx="5532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D3557"/>
                </a:solidFill>
                <a:latin typeface="PT Sans"/>
              </a:rPr>
              <a:t>50 китеп (маани × жыштык):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2560320"/>
            <a:ext cx="331927" cy="5029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04127" y="2560320"/>
            <a:ext cx="1106424" cy="5029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2×5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10551" y="2560320"/>
            <a:ext cx="2323490" cy="5029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3×7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34041" y="2560320"/>
            <a:ext cx="1770278" cy="5029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4×4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3337560"/>
            <a:ext cx="5532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D3557"/>
                </a:solidFill>
                <a:latin typeface="PT Sans"/>
              </a:rPr>
              <a:t>20 окуучуга бирдей бөлөбүз: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3794760"/>
            <a:ext cx="276606" cy="50292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48806" y="3794760"/>
            <a:ext cx="276606" cy="50292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725412" y="3794760"/>
            <a:ext cx="276606" cy="50292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002018" y="3794760"/>
            <a:ext cx="276606" cy="50292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278624" y="3794760"/>
            <a:ext cx="276606" cy="50292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55229" y="3794760"/>
            <a:ext cx="276606" cy="50292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831836" y="3794760"/>
            <a:ext cx="276606" cy="50292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08442" y="3794760"/>
            <a:ext cx="276606" cy="50292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385048" y="3794760"/>
            <a:ext cx="276606" cy="50292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61654" y="3794760"/>
            <a:ext cx="276606" cy="50292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938260" y="3794760"/>
            <a:ext cx="276606" cy="50292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214866" y="3794760"/>
            <a:ext cx="276606" cy="50292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491472" y="3794760"/>
            <a:ext cx="276606" cy="50292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768078" y="3794760"/>
            <a:ext cx="276606" cy="50292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044684" y="3794760"/>
            <a:ext cx="276606" cy="50292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321290" y="3794760"/>
            <a:ext cx="276606" cy="50292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597896" y="3794760"/>
            <a:ext cx="276606" cy="50292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874502" y="3794760"/>
            <a:ext cx="276606" cy="50292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151108" y="3794760"/>
            <a:ext cx="276606" cy="50292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427714" y="3794760"/>
            <a:ext cx="276606" cy="50292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6172200" y="4434840"/>
            <a:ext cx="5532120" cy="0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6172200" y="4370832"/>
            <a:ext cx="0" cy="128016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1704320" y="4370832"/>
            <a:ext cx="0" cy="128016"/>
          </a:xfrm>
          <a:prstGeom prst="line">
            <a:avLst/>
          </a:prstGeom>
          <a:ln w="190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172200" y="4498848"/>
            <a:ext cx="5532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20 бөлүк, ар бири 2,5 китеп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72200" y="4937760"/>
            <a:ext cx="5532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1">
                <a:solidFill>
                  <a:srgbClr val="4A5A70"/>
                </a:solidFill>
                <a:latin typeface="PT Sans"/>
              </a:rPr>
              <a:t>0 китеп окуган окуучу да саналат!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9768" y="562356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(1×3 + 2×5 + 3×7 + 4×4) ÷ 20 = 50 ÷ 20 = 2,5 китеп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А: эреже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3035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Анкета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Так суроо, туура кутучалар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5638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30702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23969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2142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2142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Эки тараптуу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7862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«Баары» = сумма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57316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31636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24902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3075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× 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3075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Жыштык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8796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Маани × жыштык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5825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32570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25837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4010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4010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Орточо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9730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Сумма ÷ окуучулар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Тескери: сумма = орточо × саны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1: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Анкета: 22 кыз, анын 7си жөө келет; 20 бала, анын 4ү жөө. Жөө келбегендер канча?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22 − 7 =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кыздар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20 − 4 = 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балдар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15 + 16 = 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баары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Жооп = </a:t>
            </a:r>
            <a:r>
              <a:rPr sz="3400" b="1">
                <a:solidFill>
                  <a:srgbClr val="24418C"/>
                </a:solidFill>
                <a:latin typeface="PT Sans"/>
              </a:rPr>
              <a:t>31 окуучу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2: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5 окуучунун орточосу 3 китеп. Нурбек кошулганда, 6 окуучунун орточосу 4 болду. Нурбек канча китеп окуду?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5 × 3 =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мурунку сумма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6 × 4 = 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жаңы сумма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24 − 15 = 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Нурбек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Жооп = </a:t>
            </a:r>
            <a:r>
              <a:rPr sz="3400" b="1">
                <a:solidFill>
                  <a:srgbClr val="24418C"/>
                </a:solidFill>
                <a:latin typeface="PT Sans"/>
              </a:rPr>
              <a:t>9 китеп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сумма, ашыгы, айырма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7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Сумма = орточо × саны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орточо 6, 5 сан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сумма = 6 ×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Тескери маселенин ачкычы.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0560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Ашыгын бөлүштүр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 сан, орточо 5; +10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10 − 5 = 5 ашык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5 ÷ 5 сан =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Жаңы маани орточодон канча ашык, ошону баарына бөлөбүз.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65592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48472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42832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Ыңгайлуу саннан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2, 3, 3, 4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3төн: −1, 0, 0, +1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айырмалар: 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Айырмалардын суммасы 0 болсо, орточо ошол сан.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" y="5577840"/>
            <a:ext cx="11329416" cy="5029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Адегенде болжолдо: орточо эң кичине менен эң чоң маанинин ортосунда болот!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Чечүүчү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Табышмак бурчу: 4 табышмактын 1ин – 2 окуучу, 2син – 3, 3үн – 8, 4үн – 7 окуучу тапты. Бир окуучу орточо канча табышмак тапты?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2,5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15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чий,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Анкета: «Үй-бүлөңдө канча бала бар?» 2 бала – 3 окуучу, 3 бала – 4 окуучу, 4 бала – 1 окуучу. Бул үй-бүлөлөрдө баары канча бала?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5 окуучунун орточосу 4 китеп. Жаңы окуучу кошулду, эми 6 окуучунун орточосу 5. Жаңы окуучу канча китеп окуган?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59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Гезиттин 5 санында орточо 8 бет бар. 12 беттик бир санын алып салсак, калган 4 сандын орточосу канча?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9432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Анкета: «Үй-бүлөңдө канча бала бар?» 2 бала – 3 окуучу, 3 бала – 4 окуучу, 4 бала – 1 окуучу. Бул үй-бүлөлөрдө баары канча бала?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017520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Балдар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29968" y="3017520"/>
            <a:ext cx="240237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2×3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70205" y="3017520"/>
            <a:ext cx="480475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3×4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50681" y="3017520"/>
            <a:ext cx="16015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4×1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002280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139440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002280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185160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7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6 + 12 + 4 = 22 бала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82439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419600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6800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5 окуучунун орточосу 4 китеп. Жаңы окуучу кошулду, эми 6 окуучунун орточосу 5. Жаңы окуучу канча китеп окуган?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9600" y="3017520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Мурун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82640" y="3017520"/>
            <a:ext cx="587247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9600" y="3574389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Азыр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82640" y="3574389"/>
            <a:ext cx="587247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69888" y="3574389"/>
            <a:ext cx="293623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561328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698488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561328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744208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65320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6 × 5 − 20 = 10 китеп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5112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272272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29472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Гезиттин 5 санында орточо 8 бет бар. 12 беттик бир санын алып салсак, калган 4 сандын орточосу канча?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2272" y="3017520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5 сан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35312" y="3017520"/>
            <a:ext cx="616610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351922" y="3017520"/>
            <a:ext cx="264261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0707624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0844784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707624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890503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40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17991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(40 − 12) ÷ 4 = 7 бет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Дептериңе чыгар. Кыйын болсо – жакшы! Мээң өсүп жатат.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 китеп – 4, 2 китеп – 6 окуучу. Орточо?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Баары 20 = 8 + 6 + 3 + 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6 сандын орточосу 5. Суммасы?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3, 5, 7, 9 → 9 алынды. Орточо?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 сан, орточо 4; 9 кошулду. Орточо?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«Сүйүктүү оюн» анкетасы: кайсы орточо?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 китеп – 4, 2 китеп – 6 окуучу. Орточо?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1,6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Баары 20 = 8 + 6 + 3 + 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6 сандын орточосу 5. Суммасы?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3, 5, 7, 9 → 9 алынды. Орточо?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4 сан, орточо 4; 9 кошулду. Орточо?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804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«Сүйүктүү оюн» анкетасы: кайсы орточо?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3812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мода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Окуяга кайтабыз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6-класстын 20 окуучусу: 0 китеп – 1, 1 китеп – 3, 2 китеп – 5, 3 китеп – 7, 4 китеп – 4 окуучу. Бир окуучу орточо канча китеп окуду?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1371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Китептер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240280"/>
            <a:ext cx="455371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2811" y="2240280"/>
            <a:ext cx="1517903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50715" y="2240280"/>
            <a:ext cx="3187598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21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38313" y="2240280"/>
            <a:ext cx="2428646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16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058399" y="224028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195559" y="2240280"/>
            <a:ext cx="0" cy="54864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058399" y="27889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41279" y="22402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127248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1×3 + 2×5 + 3×7 + 4×4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127248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маани × жыштык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694176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= 3 + 10 + 21 + 16 = 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694176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китеп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261104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50 ÷ 20 = 2,5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261104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20 окуучу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74519" y="5486400"/>
            <a:ext cx="8449056" cy="64008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Бир окуучу орточо 2,5 китеп окуду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Түз: өзүң маселе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71600"/>
            <a:ext cx="1078077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Жумгал гезити үчүн анкета түз: бир суроо жана 4 кайчылашпаган жооп кутучасы. Класстан 10 жооп чогултуп, жыштык таблицасын түз жана орточосун тап.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25603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4203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Окуядагы каармандарды колдон: Бегимай, Нурбек, Асел эже.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338327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64991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Тилкесин чий жана туюнтмасын жаз.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4206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8795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Жупуңа бер: ал чыгарсын, сен текшер.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Өз алдынча, 3 мүнөт. Кагазыңа жазып бер.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Жыштык: 1 китеп – 2, 2 китеп – 5, 3 китеп – 3 окуучу. Орточо канча китеп?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3088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23088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6-класста 20 окуучу: жөө 8, велосипед 6, ат 3. Автобус менен канчасы келет?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77012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77012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4 сандын орточосу 5. Бешинчи сан кошулуп, орточо 6 болду. Бешинчи сан?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жыштык таблицасында маани × жыштык кылабыз?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Жооп кутучалары кайчылашса эмне болот?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Качан орточо эмес, медиана же мода ылайыктуу?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Жыштык таблицасына «маани × жыштык» мамычасын ар дайым кошууну сунуштайм (М1–М3).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Эки тараптуу таблицада адегенде «Баары» сабын жана мамычасын таптырам (М5).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Тескери маселеде «сумма = орточо × саны» доскада калат; «азыр канча маани?» (М6, М7).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Анкетаны класста чыныгы суроо менен жүргүзөм: окуучулар кутучаларды өздөрү текшеришет (М4).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«Бул оңой эмеспи?»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«Кадамдарды бирге карайлы.»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«Кантип таптың? Текшерип көрөлүчү.»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«Сен математикага жөндөмсүзсүң»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«Азырынча. Машыксаң, үйрөнөсүң.»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«Шашпа, адегенде тилке чий.»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