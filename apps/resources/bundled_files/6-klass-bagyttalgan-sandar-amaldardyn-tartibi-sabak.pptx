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Сабактын аталышы жана бүгүнкү окуя.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Сабактын жолу: ар бир бөлүк өз слайды менен ачылат.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Окуяны окуп бериңиз. Адегенде болжолдошсун: кепеде нөлдөн жылуубу же суукпу? Жоопту сабактын аягында (22-слайд) текшеребиз.</a:t>
            </a:r>
          </a:p>
          <a:p>
            <a:r>
              <a:t>3C (Байланыштыруу): Окуя турмуштан: бул суроого сабактын аягында кайтабыз.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Ой жүгүртүү маданияты (Wenxi Lee, 2,6).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Ийгилик критерийлери: сабактын аягында ар бирине ✓ коёбуз.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Спираль: тема класстан класска тереңдейт.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Мини-тактага жазышат. Жооптор кийинки слайдда.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Жоопту дароо айтпайбыз. Жупта талкуулашат. Жооп: Айзада: даража 3кө гана тиет, −3² = −(3 × 3) = −9. Нурсултан −3²ни (−3)² деп окуду (М2).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Ар бир жупка: 10 көк жана 12 кызыл бөтөлкө капкагы (же эки түстүү таш), 4 кагаз чөйчөк. 1) 4 × (−2) = 4 топ, ар биринде −2: 4 чөйчөккө 2ден кызыл. Баары −8. 2) 8 көк капкак = +8. 3) Бир көк + бир кызыл = нөл жуп, алып салабыз: 0 калды. 4) Түнкү −3: дагы 3 кызыл → −3. Чөйчөк = кашаа: «ичиндегин адегенде санайбыз». Проектор жок болсо, доскага тегерекчелер чийем.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Класстын полуна жип тартып, −6дан +10го чейин кийим кыскыч менен белгилейм (же доскага бор менен). Окуучу +8де турат, ар бир −2 үчүн солго 2 кадам басат. 0гө келгенде: «+8 жана −8 – нөл жуп». Калган −3: солго 3 кадам. Окуучулар ушул сан огун дептерге чийишет.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КаДа – БөКө – КоКе терс сандар менен да өзгөрбөйт. Жаңысы: белги эрежеси жана даража. Терс санды амал белгисинен кийин дайыма кашаага алабыз: 4 × (−3). Сингапурча окуу: 4 × (−3) = 4 топ, ар биринде −3. Ката коддору: М1 (солдон оңго), М2 (−3² = 9), М3 (белги).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Ар бир сап «=» менен башталат. Окуучулар кадамды айтып турат.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Ар бир сап «=» менен башталат. Окуучулар кадамды айтып турат.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Окуучулар ыкманы үн чыгарып айтышат: «адегенде белгини чечем, анан санды». «Оозеки беш мүнөт» (класста колдонуу картасы, 3-бет) эки апта ушуларды кайталайт.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Баары бир убакта манжа менен көрсөтөт (1–4). Туура эмес жооптун коду: А = М2; Б = М1; В = ✓; Г = М3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деңгээл: көбөйтүү = топтор → терстен оңго → орточо маани. Жооптор: 5 × (−2) = −10 °C; −4 + 3 × 3 = 5 °C; (−5 + 2 + (−3)) ÷ 3 = −2 °C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Жеңилден баштап, мүмкүн болушунча алдыга. Жооптор кийинки слайдда.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1 200 ÷ 300 = 4 жолу муздайт: 4 × (−2) = −8. +8 жана −8 – нөл жуп, калды −3. Солдон оңго эсептесек (8 + 4) × (−2) − 3 = −27 чыгат: бул М1, тоодо мындай суук болбойт.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Блум: Түзүү. Жупта алмашып, бири-биринин маселесин чыгарышат.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Жооптор: 10; 0; −5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Бул слайд окуучуларга көрсөтүлбөйт.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1/26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371600"/>
            <a:ext cx="164592" cy="128016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097280" y="1371600"/>
            <a:ext cx="164592" cy="128016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371600" y="1371600"/>
            <a:ext cx="164592" cy="128016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828800" y="1188720"/>
            <a:ext cx="960120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4A5A70"/>
                </a:solidFill>
                <a:latin typeface="PT Sans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1691640"/>
            <a:ext cx="9601200" cy="17373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D3557"/>
                </a:solidFill>
                <a:latin typeface="PT Sans"/>
              </a:rPr>
              <a:t>Терс сандар менен амалдардын тартиби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828800" y="3611880"/>
            <a:ext cx="8778240" cy="14630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85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57400" y="3657600"/>
            <a:ext cx="83210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A84400"/>
                </a:solidFill>
                <a:latin typeface="PT Sans"/>
              </a:rPr>
              <a:t>Бүгүнкү окуя: Ала-Арчага жөө жүрүш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57400" y="4160520"/>
            <a:ext cx="832104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900" b="0" i="0">
                <a:solidFill>
                  <a:srgbClr val="1F2430"/>
                </a:solidFill>
                <a:latin typeface="PT Sans"/>
              </a:rPr>
              <a:t>Бектур агай 6-класс менен Ала-Арчага чыгат: бийиктик өзгөрсө, аба ырайы да өзгөрөт.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5349240"/>
            <a:ext cx="96012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1">
                <a:solidFill>
                  <a:srgbClr val="6B7280"/>
                </a:solidFill>
                <a:latin typeface="PT Sans"/>
              </a:rPr>
              <a:t>Китеп: 6-класстын «Оң жана терс сандар» бөлүмү (төрт амал) жана 4–5-класстын «Амалдардын тартиби» пакети (order-of-operations-g5, v6) – уландысы. Мазмуну оригиналдуу.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Сабактын мазмуну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Багытталган сандар: амалдардын тартиби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80160"/>
            <a:ext cx="11329416" cy="80467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0080" y="1463039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1280160"/>
            <a:ext cx="310896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Кириш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1280160"/>
            <a:ext cx="713232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Окуя, эрежелер, максаттар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768" y="2212848"/>
            <a:ext cx="11329416" cy="80467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40080" y="2395728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2212848"/>
            <a:ext cx="310896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Даярдык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0560" y="2212848"/>
            <a:ext cx="713232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Эстейбиз, «Ким туура?»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3145536"/>
            <a:ext cx="11329416" cy="80467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0080" y="3328416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80160" y="3145536"/>
            <a:ext cx="310896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Түшүнөбүз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80560" y="3145536"/>
            <a:ext cx="713232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К → С → А: буюм, тилке, эреже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9768" y="4078224"/>
            <a:ext cx="11329416" cy="80467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40080" y="426110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80160" y="4078224"/>
            <a:ext cx="310896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Машыгабыз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80560" y="4078224"/>
            <a:ext cx="713232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Чечүүчү суроо, тилке, өз алдынча иш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9768" y="5010912"/>
            <a:ext cx="11329416" cy="80467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40080" y="5193792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5010912"/>
            <a:ext cx="310896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Жыйынтык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80560" y="5010912"/>
            <a:ext cx="713232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Окуяга кайтуу, түзүү, чыгуу билети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Окуя: Ала-Арчага жөө жүрүш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Багытталган сандар: амалдардын тартиби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3/26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6766560" cy="457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325880"/>
            <a:ext cx="6217920" cy="4389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Бишкектин жанындагы Ала-Арча капчыгайына 6-класс жөө жүрүшкө чыкты.</a:t>
            </a:r>
          </a:p>
          <a:p>
            <a:pPr algn="l">
              <a:lnSpc>
                <a:spcPct val="105000"/>
              </a:lnSpc>
              <a:spcBef>
                <a:spcPts val="800"/>
              </a:spcBef>
            </a:pPr>
            <a:r>
              <a:rPr sz="2100" b="0" i="0">
                <a:solidFill>
                  <a:srgbClr val="1F2430"/>
                </a:solidFill>
                <a:latin typeface="PT Sans"/>
              </a:rPr>
              <a:t>Жол башчы – Бектур агай. Айзада менен Нурсултан термометр жана бийиктик өлчөгүч алып жүрөт.</a:t>
            </a:r>
          </a:p>
          <a:p>
            <a:pPr algn="l">
              <a:lnSpc>
                <a:spcPct val="105000"/>
              </a:lnSpc>
              <a:spcBef>
                <a:spcPts val="800"/>
              </a:spcBef>
            </a:pPr>
            <a:r>
              <a:rPr sz="2100" b="0" i="0">
                <a:solidFill>
                  <a:srgbClr val="1F2430"/>
                </a:solidFill>
                <a:latin typeface="PT Sans"/>
              </a:rPr>
              <a:t>Альплагерь 2 100 м бийиктикте. Андан Ратцек кепесине чейин 1 200 м өйдө.</a:t>
            </a:r>
          </a:p>
          <a:p>
            <a:pPr algn="l">
              <a:lnSpc>
                <a:spcPct val="105000"/>
              </a:lnSpc>
              <a:spcBef>
                <a:spcPts val="800"/>
              </a:spcBef>
            </a:pPr>
            <a:r>
              <a:rPr sz="2100" b="0" i="0">
                <a:solidFill>
                  <a:srgbClr val="1F2430"/>
                </a:solidFill>
                <a:latin typeface="PT Sans"/>
              </a:rPr>
              <a:t>Тоодо ар бир 300 м өйдө аба болжол менен 2 °Сга муздайт. Жылуу кийим керекпи?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06640" y="1225296"/>
            <a:ext cx="4352544" cy="457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85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35240" y="1325880"/>
            <a:ext cx="39319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A84400"/>
                </a:solidFill>
                <a:latin typeface="PT Sans"/>
              </a:rPr>
              <a:t>Суроо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35240" y="1828800"/>
            <a:ext cx="3931920" cy="2743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Альплагерде +8 °C. Ар бир 300 м өйдө аба 2 °Сга муздайт. Кепе 1 200 м жогору, түнкүсүн дагы 3 °C муздайт. Түнкүсүн кепеде канча градус?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35240" y="4572000"/>
            <a:ext cx="393192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1">
                <a:solidFill>
                  <a:srgbClr val="6B7280"/>
                </a:solidFill>
                <a:latin typeface="PT Sans"/>
              </a:rPr>
              <a:t>Азыр жообун айтпайбыз. Ойлон: кантип билебиз?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24418C"/>
                </a:solidFill>
                <a:latin typeface="PT Sans"/>
              </a:rPr>
              <a:t>3C · Байланыштыруу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Математикада биз…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Багытталган сандар: амалдардын тартиби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4/26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325880"/>
            <a:ext cx="3624072" cy="420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58368" y="1600200"/>
            <a:ext cx="3166872" cy="1463040"/>
          </a:xfrm>
          <a:prstGeom prst="roundRect">
            <a:avLst>
              <a:gd name="adj" fmla="val 15000"/>
            </a:avLst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007A5A"/>
                </a:solidFill>
                <a:latin typeface="PT Sans"/>
              </a:rPr>
              <a:t>Ката – үйрөнүүнүн бир бөлүгү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3291840"/>
            <a:ext cx="3166872" cy="2103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900" b="0" i="0">
                <a:solidFill>
                  <a:srgbClr val="1F2430"/>
                </a:solidFill>
                <a:latin typeface="PT Sans"/>
              </a:rPr>
              <a:t>Ката кетсе, эмне үчүн кеткенин издейбиз.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82439" y="1325880"/>
            <a:ext cx="3624072" cy="420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511039" y="1600200"/>
            <a:ext cx="3166872" cy="1463040"/>
          </a:xfrm>
          <a:prstGeom prst="roundRect">
            <a:avLst>
              <a:gd name="adj" fmla="val 15000"/>
            </a:avLst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A84400"/>
                </a:solidFill>
                <a:latin typeface="PT Sans"/>
              </a:rPr>
              <a:t>«Азырынча билбейм»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11039" y="3291840"/>
            <a:ext cx="3166872" cy="2103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900" b="0" i="0">
                <a:solidFill>
                  <a:srgbClr val="1F2430"/>
                </a:solidFill>
                <a:latin typeface="PT Sans"/>
              </a:rPr>
              <a:t>«Билбейм» эмес, «азырынча». Машыксак, үйрөнөбүз.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35112" y="1325880"/>
            <a:ext cx="3624072" cy="420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363712" y="1600200"/>
            <a:ext cx="3166872" cy="1463040"/>
          </a:xfrm>
          <a:prstGeom prst="roundRect">
            <a:avLst>
              <a:gd name="adj" fmla="val 15000"/>
            </a:avLst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24418C"/>
                </a:solidFill>
                <a:latin typeface="PT Sans"/>
              </a:rPr>
              <a:t>Адегенде түшүн, анан эсепте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63712" y="3291840"/>
            <a:ext cx="3166872" cy="2103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900" b="0" i="0">
                <a:solidFill>
                  <a:srgbClr val="1F2430"/>
                </a:solidFill>
                <a:latin typeface="PT Sans"/>
              </a:rPr>
              <a:t>Сүрөт же тилке чийип, анан сан менен жазабыз.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Максаттар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Багытталган сандар: амалдардын тартиби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5/26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6409944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429768" y="1865376"/>
            <a:ext cx="6409944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12648" y="1225296"/>
            <a:ext cx="6044184" cy="6400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Бүгүн биз үйрөнөбүз</a:t>
            </a:r>
          </a:p>
        </p:txBody>
      </p:sp>
      <p:sp>
        <p:nvSpPr>
          <p:cNvPr id="13" name="Oval 12"/>
          <p:cNvSpPr/>
          <p:nvPr/>
        </p:nvSpPr>
        <p:spPr>
          <a:xfrm>
            <a:off x="722376" y="214884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61872" y="2112264"/>
            <a:ext cx="539496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Терс сандар менен төрт амалды аткарам жана белги эрежесин капкак же сан огу менен түшүндүрөм.</a:t>
            </a:r>
          </a:p>
        </p:txBody>
      </p:sp>
      <p:sp>
        <p:nvSpPr>
          <p:cNvPr id="15" name="Oval 14"/>
          <p:cNvSpPr/>
          <p:nvPr/>
        </p:nvSpPr>
        <p:spPr>
          <a:xfrm>
            <a:off x="722376" y="342900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61872" y="3392424"/>
            <a:ext cx="539496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«КаДа – БөКө – КоКе» боюнча терс сандар бар туюнтманы бир сапта бир амал менен эсептейм.</a:t>
            </a:r>
          </a:p>
        </p:txBody>
      </p:sp>
      <p:sp>
        <p:nvSpPr>
          <p:cNvPr id="17" name="Oval 16"/>
          <p:cNvSpPr/>
          <p:nvPr/>
        </p:nvSpPr>
        <p:spPr>
          <a:xfrm>
            <a:off x="722376" y="470916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61872" y="4672584"/>
            <a:ext cx="539496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(−3)² жана −3² айырмасын түшүндүрөм; кашаа коюп керектүү жоопту алам.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132320" y="1225296"/>
            <a:ext cx="4636008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7132320" y="1865376"/>
            <a:ext cx="4636008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7306056" y="1225296"/>
            <a:ext cx="4270248" cy="6400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Деңгээлдер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60920" y="2103120"/>
            <a:ext cx="1143000" cy="73152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007A5A"/>
                </a:solidFill>
                <a:latin typeface="PT Sans"/>
              </a:rPr>
              <a:t>Жеңил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41080" y="2057400"/>
            <a:ext cx="3017520" cy="822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Төрт амал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360920" y="3127248"/>
            <a:ext cx="1143000" cy="73152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A84400"/>
                </a:solidFill>
                <a:latin typeface="PT Sans"/>
              </a:rPr>
              <a:t>Орто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41080" y="3081528"/>
            <a:ext cx="3017520" cy="822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КаДа – БөКө – КоКе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360920" y="4151376"/>
            <a:ext cx="1143000" cy="73152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4A5A70"/>
                </a:solidFill>
                <a:latin typeface="PT Sans"/>
              </a:rPr>
              <a:t>Оор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41080" y="4105656"/>
            <a:ext cx="3017520" cy="822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6B7280"/>
                </a:solidFill>
                <a:latin typeface="PT Sans"/>
              </a:rPr>
              <a:t>Даража, кашаа, маселе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3C: бүгүн кантип ойлонобуз?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Багытталган сандар: амалдардын тартиби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6/26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3593592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04088" y="1463040"/>
            <a:ext cx="3044952" cy="6400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007A5A"/>
                </a:solidFill>
                <a:latin typeface="PT Sans"/>
              </a:rPr>
              <a:t>Сынчыл ой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2286000"/>
            <a:ext cx="3136392" cy="1371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Текшеребиз, далилдейбиз, катаны издейбиз.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04088" y="3703320"/>
            <a:ext cx="304495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58368" y="3794760"/>
            <a:ext cx="3136392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 i="0">
                <a:solidFill>
                  <a:srgbClr val="6B7280"/>
                </a:solidFill>
                <a:latin typeface="PT Sans"/>
              </a:rPr>
              <a:t>Бүгүн: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4206240"/>
            <a:ext cx="3136392" cy="1828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• «Ким туура?»</a:t>
            </a:r>
          </a:p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• −3² же (−3)²?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7680" y="1225296"/>
            <a:ext cx="3593592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572000" y="1463040"/>
            <a:ext cx="3044952" cy="6400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A84400"/>
                </a:solidFill>
                <a:latin typeface="PT Sans"/>
              </a:rPr>
              <a:t>Кызматташуу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26280" y="2286000"/>
            <a:ext cx="3136392" cy="1371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Жупта жана топто сүйлөшөбүз.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4572000" y="3703320"/>
            <a:ext cx="304495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4526280" y="3794760"/>
            <a:ext cx="3136392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 i="0">
                <a:solidFill>
                  <a:srgbClr val="6B7280"/>
                </a:solidFill>
                <a:latin typeface="PT Sans"/>
              </a:rPr>
              <a:t>Бүгүн: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26280" y="4206240"/>
            <a:ext cx="3136392" cy="1828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• Жупта капкак, карта сорттоо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65592" y="1225296"/>
            <a:ext cx="3593592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439912" y="1463040"/>
            <a:ext cx="3044952" cy="6400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24418C"/>
                </a:solidFill>
                <a:latin typeface="PT Sans"/>
              </a:rPr>
              <a:t>Байланыштыруу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94192" y="2286000"/>
            <a:ext cx="3136392" cy="1371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Математиканы турмуш менен байланыштырабыз.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8439912" y="3703320"/>
            <a:ext cx="304495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8394192" y="3794760"/>
            <a:ext cx="3136392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 i="0">
                <a:solidFill>
                  <a:srgbClr val="6B7280"/>
                </a:solidFill>
                <a:latin typeface="PT Sans"/>
              </a:rPr>
              <a:t>Бүгүн: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94192" y="4206240"/>
            <a:ext cx="3136392" cy="1828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• Ала-Арча</a:t>
            </a:r>
          </a:p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• Бийиктик жана °C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Мурун – бүгүн – кийин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Багытталган сандар: амалдардын тартиби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7/26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3017520"/>
            <a:ext cx="2660904" cy="2743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3108960"/>
            <a:ext cx="2386584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007A5A"/>
                </a:solidFill>
                <a:latin typeface="PT Sans"/>
              </a:rPr>
              <a:t/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04088" y="3657600"/>
            <a:ext cx="2112264" cy="0"/>
          </a:xfrm>
          <a:prstGeom prst="line">
            <a:avLst/>
          </a:prstGeom>
          <a:ln w="1270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12647" y="3749039"/>
            <a:ext cx="2295144" cy="19202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Амалдардын тартиби</a:t>
            </a:r>
          </a:p>
          <a:p>
            <a:pPr algn="l">
              <a:lnSpc>
                <a:spcPct val="105000"/>
              </a:lnSpc>
              <a:spcBef>
                <a:spcPts val="400"/>
              </a:spcBef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Кашаа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19272" y="2560320"/>
            <a:ext cx="2660904" cy="3200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56432" y="2651760"/>
            <a:ext cx="2386584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007A5A"/>
                </a:solidFill>
                <a:latin typeface="PT Sans"/>
              </a:rPr>
              <a:t/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3593591" y="3200400"/>
            <a:ext cx="2112265" cy="0"/>
          </a:xfrm>
          <a:prstGeom prst="line">
            <a:avLst/>
          </a:prstGeom>
          <a:ln w="1270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3502152" y="3291839"/>
            <a:ext cx="2295144" cy="23774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КаДа – БөКө – КоКе</a:t>
            </a:r>
          </a:p>
          <a:p>
            <a:pPr algn="l">
              <a:lnSpc>
                <a:spcPct val="105000"/>
              </a:lnSpc>
              <a:spcBef>
                <a:spcPts val="400"/>
              </a:spcBef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Квадрат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08776" y="2103120"/>
            <a:ext cx="2660904" cy="3657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85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45936" y="2194560"/>
            <a:ext cx="2386584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A84400"/>
                </a:solidFill>
                <a:latin typeface="PT Sans"/>
              </a:rPr>
              <a:t/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483096" y="2743200"/>
            <a:ext cx="2112263" cy="0"/>
          </a:xfrm>
          <a:prstGeom prst="line">
            <a:avLst/>
          </a:prstGeom>
          <a:ln w="127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391656" y="2834639"/>
            <a:ext cx="2295144" cy="2834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Терс сандар</a:t>
            </a:r>
          </a:p>
          <a:p>
            <a:pPr algn="l">
              <a:lnSpc>
                <a:spcPct val="105000"/>
              </a:lnSpc>
              <a:spcBef>
                <a:spcPts val="400"/>
              </a:spcBef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Тартип + терс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807708" y="1600199"/>
            <a:ext cx="1463040" cy="384048"/>
          </a:xfrm>
          <a:prstGeom prst="roundRect">
            <a:avLst>
              <a:gd name="adj" fmla="val 50000"/>
            </a:avLst>
          </a:prstGeom>
          <a:noFill/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A84400"/>
                </a:solidFill>
                <a:latin typeface="PT Sans"/>
              </a:rPr>
              <a:t>Бүгүн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098280" y="1645919"/>
            <a:ext cx="2660904" cy="4114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35440" y="1737360"/>
            <a:ext cx="2386584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4A5A70"/>
                </a:solidFill>
                <a:latin typeface="PT Sans"/>
              </a:rPr>
              <a:t/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9372600" y="2286000"/>
            <a:ext cx="2112264" cy="0"/>
          </a:xfrm>
          <a:prstGeom prst="line">
            <a:avLst/>
          </a:prstGeom>
          <a:ln w="12700">
            <a:solidFill>
              <a:srgbClr val="4A5A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9281160" y="2377439"/>
            <a:ext cx="2295144" cy="3291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6B7280"/>
                </a:solidFill>
                <a:latin typeface="PT Sans"/>
              </a:rPr>
              <a:t>• Алгебралык туюнтма</a:t>
            </a:r>
          </a:p>
          <a:p>
            <a:pPr algn="l">
              <a:lnSpc>
                <a:spcPct val="105000"/>
              </a:lnSpc>
              <a:spcBef>
                <a:spcPts val="400"/>
              </a:spcBef>
            </a:pPr>
            <a:r>
              <a:rPr sz="1500" b="0" i="0">
                <a:solidFill>
                  <a:srgbClr val="6B7280"/>
                </a:solidFill>
                <a:latin typeface="PT Sans"/>
              </a:rPr>
              <a:t>• Кашааны ачуу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29768" y="5806440"/>
            <a:ext cx="11329416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0" i="1">
                <a:solidFill>
                  <a:srgbClr val="6B7280"/>
                </a:solidFill>
                <a:latin typeface="PT Sans"/>
              </a:rPr>
              <a:t>Ар бир класс мурункусунун үстүнө курулат.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Даярдык: эстейли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Багытталган сандар: амалдардын тартиби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8/26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143000"/>
            <a:ext cx="11329416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Мини-тактага жаз. 2 мүнөт.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" y="1691640"/>
            <a:ext cx="5550408" cy="212597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12647" y="253517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07007" y="1691640"/>
            <a:ext cx="4636008" cy="212597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−5 + 8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08776" y="1691640"/>
            <a:ext cx="5550408" cy="212597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91656" y="253517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86016" y="1691640"/>
            <a:ext cx="4636008" cy="212597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3 × (−4)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9768" y="4000500"/>
            <a:ext cx="5550408" cy="212597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12647" y="4844033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07007" y="4000500"/>
            <a:ext cx="4636008" cy="212597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4²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08776" y="4000500"/>
            <a:ext cx="5550408" cy="212597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391656" y="4844033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86016" y="4000500"/>
            <a:ext cx="4636008" cy="212597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12 − 3 × 2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С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Даярдык: жооптор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Багытталган сандар: амалдардын тартиби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9/26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325880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581912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" y="1325880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−5 + 8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34804" y="1325880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3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08776" y="1325880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45936" y="1581912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94576" y="1325880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3 × (−4)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13812" y="1325880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−12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2350008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66928" y="2606040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" y="2350008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4²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34804" y="2350008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16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08776" y="2350008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345936" y="2606040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94576" y="2350008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12 − 3 × 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13812" y="2350008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Ким туура?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Багытталган сандар: амалдардын тартиби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10/26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Бектур агай: «Эсептегиле: −3² + 4 × (−2)».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8" y="2103120"/>
            <a:ext cx="5550408" cy="3108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" name="Connector 12"/>
          <p:cNvCxnSpPr/>
          <p:nvPr/>
        </p:nvCxnSpPr>
        <p:spPr>
          <a:xfrm>
            <a:off x="429768" y="2697480"/>
            <a:ext cx="5550408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429768" y="2103120"/>
            <a:ext cx="5550408" cy="5943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Нурсултан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" y="2834640"/>
            <a:ext cx="5029200" cy="2286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F2430"/>
                </a:solidFill>
                <a:latin typeface="PT Sans"/>
              </a:rPr>
              <a:t>−3² = 9</a:t>
            </a:r>
          </a:p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F2430"/>
                </a:solidFill>
                <a:latin typeface="PT Sans"/>
              </a:rPr>
              <a:t>9 + (−8)</a:t>
            </a:r>
          </a:p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F2430"/>
                </a:solidFill>
                <a:latin typeface="PT Sans"/>
              </a:rPr>
              <a:t>= 1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08776" y="2103120"/>
            <a:ext cx="5550408" cy="3108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6208776" y="2697480"/>
            <a:ext cx="5550408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208776" y="2103120"/>
            <a:ext cx="5550408" cy="5943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Айзада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83096" y="2834640"/>
            <a:ext cx="5029200" cy="2286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F2430"/>
                </a:solidFill>
                <a:latin typeface="PT Sans"/>
              </a:rPr>
              <a:t>−3² = −9</a:t>
            </a:r>
          </a:p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F2430"/>
                </a:solidFill>
                <a:latin typeface="PT Sans"/>
              </a:rPr>
              <a:t>−9 + (−8)</a:t>
            </a:r>
          </a:p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F2430"/>
                </a:solidFill>
                <a:latin typeface="PT Sans"/>
              </a:rPr>
              <a:t>= −17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349240"/>
            <a:ext cx="11329416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600" b="1" i="0">
                <a:solidFill>
                  <a:srgbClr val="A84400"/>
                </a:solidFill>
                <a:latin typeface="PT Sans"/>
              </a:rPr>
              <a:t>Ким туура? Кашаа барбы? Капкак менен текшер.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007A5A"/>
                </a:solidFill>
                <a:latin typeface="PT Sans"/>
              </a:rPr>
              <a:t>3C · Сынчыл ой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К: буюм менен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Багытталган сандар: амалдардын тартиби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11/26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Жупта: көк капкак = +1, кызыл = −1. 4 чөйчөккө 2ден кызыл салгыла: 4 × (−2). Анан 8 көк кошуп, нөл жуптарды алгыла.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103120"/>
            <a:ext cx="62179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1D3557"/>
                </a:solidFill>
                <a:latin typeface="PT Sans"/>
              </a:rPr>
              <a:t>4 × (−2): 4 чөйчөк, ар биринде −2</a:t>
            </a:r>
          </a:p>
        </p:txBody>
      </p:sp>
      <p:sp>
        <p:nvSpPr>
          <p:cNvPr id="13" name="Manual Operation 12"/>
          <p:cNvSpPr/>
          <p:nvPr/>
        </p:nvSpPr>
        <p:spPr>
          <a:xfrm>
            <a:off x="777240" y="2606040"/>
            <a:ext cx="1234440" cy="868680"/>
          </a:xfrm>
          <a:prstGeom prst="flowChartManualOperation">
            <a:avLst/>
          </a:prstGeom>
          <a:noFill/>
          <a:ln w="19050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05840" y="2926080"/>
            <a:ext cx="329184" cy="329184"/>
          </a:xfrm>
          <a:prstGeom prst="ellipse">
            <a:avLst/>
          </a:prstGeom>
          <a:solidFill>
            <a:srgbClr val="C84B3C"/>
          </a:solidFill>
          <a:ln w="12700">
            <a:solidFill>
              <a:srgbClr val="C84B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PT Sans"/>
              </a:rPr>
              <a:t>−</a:t>
            </a:r>
          </a:p>
        </p:txBody>
      </p:sp>
      <p:sp>
        <p:nvSpPr>
          <p:cNvPr id="15" name="Oval 14"/>
          <p:cNvSpPr/>
          <p:nvPr/>
        </p:nvSpPr>
        <p:spPr>
          <a:xfrm>
            <a:off x="1444752" y="2926080"/>
            <a:ext cx="329184" cy="329184"/>
          </a:xfrm>
          <a:prstGeom prst="ellipse">
            <a:avLst/>
          </a:prstGeom>
          <a:solidFill>
            <a:srgbClr val="C84B3C"/>
          </a:solidFill>
          <a:ln w="12700">
            <a:solidFill>
              <a:srgbClr val="C84B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PT Sans"/>
              </a:rPr>
              <a:t>−</a:t>
            </a:r>
          </a:p>
        </p:txBody>
      </p:sp>
      <p:sp>
        <p:nvSpPr>
          <p:cNvPr id="16" name="Manual Operation 15"/>
          <p:cNvSpPr/>
          <p:nvPr/>
        </p:nvSpPr>
        <p:spPr>
          <a:xfrm>
            <a:off x="2286000" y="2606040"/>
            <a:ext cx="1234440" cy="868680"/>
          </a:xfrm>
          <a:prstGeom prst="flowChartManualOperation">
            <a:avLst/>
          </a:prstGeom>
          <a:noFill/>
          <a:ln w="19050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2514600" y="2926080"/>
            <a:ext cx="329184" cy="329184"/>
          </a:xfrm>
          <a:prstGeom prst="ellipse">
            <a:avLst/>
          </a:prstGeom>
          <a:solidFill>
            <a:srgbClr val="C84B3C"/>
          </a:solidFill>
          <a:ln w="12700">
            <a:solidFill>
              <a:srgbClr val="C84B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PT Sans"/>
              </a:rPr>
              <a:t>−</a:t>
            </a:r>
          </a:p>
        </p:txBody>
      </p:sp>
      <p:sp>
        <p:nvSpPr>
          <p:cNvPr id="18" name="Oval 17"/>
          <p:cNvSpPr/>
          <p:nvPr/>
        </p:nvSpPr>
        <p:spPr>
          <a:xfrm>
            <a:off x="2953512" y="2926080"/>
            <a:ext cx="329184" cy="329184"/>
          </a:xfrm>
          <a:prstGeom prst="ellipse">
            <a:avLst/>
          </a:prstGeom>
          <a:solidFill>
            <a:srgbClr val="C84B3C"/>
          </a:solidFill>
          <a:ln w="12700">
            <a:solidFill>
              <a:srgbClr val="C84B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PT Sans"/>
              </a:rPr>
              <a:t>−</a:t>
            </a:r>
          </a:p>
        </p:txBody>
      </p:sp>
      <p:sp>
        <p:nvSpPr>
          <p:cNvPr id="19" name="Manual Operation 18"/>
          <p:cNvSpPr/>
          <p:nvPr/>
        </p:nvSpPr>
        <p:spPr>
          <a:xfrm>
            <a:off x="3794759" y="2606040"/>
            <a:ext cx="1234440" cy="868680"/>
          </a:xfrm>
          <a:prstGeom prst="flowChartManualOperation">
            <a:avLst/>
          </a:prstGeom>
          <a:noFill/>
          <a:ln w="19050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4023359" y="2926080"/>
            <a:ext cx="329184" cy="329184"/>
          </a:xfrm>
          <a:prstGeom prst="ellipse">
            <a:avLst/>
          </a:prstGeom>
          <a:solidFill>
            <a:srgbClr val="C84B3C"/>
          </a:solidFill>
          <a:ln w="12700">
            <a:solidFill>
              <a:srgbClr val="C84B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PT Sans"/>
              </a:rPr>
              <a:t>−</a:t>
            </a:r>
          </a:p>
        </p:txBody>
      </p:sp>
      <p:sp>
        <p:nvSpPr>
          <p:cNvPr id="21" name="Oval 20"/>
          <p:cNvSpPr/>
          <p:nvPr/>
        </p:nvSpPr>
        <p:spPr>
          <a:xfrm>
            <a:off x="4462271" y="2926080"/>
            <a:ext cx="329184" cy="329184"/>
          </a:xfrm>
          <a:prstGeom prst="ellipse">
            <a:avLst/>
          </a:prstGeom>
          <a:solidFill>
            <a:srgbClr val="C84B3C"/>
          </a:solidFill>
          <a:ln w="12700">
            <a:solidFill>
              <a:srgbClr val="C84B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PT Sans"/>
              </a:rPr>
              <a:t>−</a:t>
            </a:r>
          </a:p>
        </p:txBody>
      </p:sp>
      <p:sp>
        <p:nvSpPr>
          <p:cNvPr id="22" name="Manual Operation 21"/>
          <p:cNvSpPr/>
          <p:nvPr/>
        </p:nvSpPr>
        <p:spPr>
          <a:xfrm>
            <a:off x="5303519" y="2606040"/>
            <a:ext cx="1234440" cy="868680"/>
          </a:xfrm>
          <a:prstGeom prst="flowChartManualOperation">
            <a:avLst/>
          </a:prstGeom>
          <a:noFill/>
          <a:ln w="19050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5532119" y="2926080"/>
            <a:ext cx="329184" cy="329184"/>
          </a:xfrm>
          <a:prstGeom prst="ellipse">
            <a:avLst/>
          </a:prstGeom>
          <a:solidFill>
            <a:srgbClr val="C84B3C"/>
          </a:solidFill>
          <a:ln w="12700">
            <a:solidFill>
              <a:srgbClr val="C84B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PT Sans"/>
              </a:rPr>
              <a:t>−</a:t>
            </a:r>
          </a:p>
        </p:txBody>
      </p:sp>
      <p:sp>
        <p:nvSpPr>
          <p:cNvPr id="24" name="Oval 23"/>
          <p:cNvSpPr/>
          <p:nvPr/>
        </p:nvSpPr>
        <p:spPr>
          <a:xfrm>
            <a:off x="5971031" y="2926080"/>
            <a:ext cx="329184" cy="329184"/>
          </a:xfrm>
          <a:prstGeom prst="ellipse">
            <a:avLst/>
          </a:prstGeom>
          <a:solidFill>
            <a:srgbClr val="C84B3C"/>
          </a:solidFill>
          <a:ln w="12700">
            <a:solidFill>
              <a:srgbClr val="C84B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PT Sans"/>
              </a:rPr>
              <a:t>−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3611880"/>
            <a:ext cx="62179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1D3557"/>
                </a:solidFill>
                <a:latin typeface="PT Sans"/>
              </a:rPr>
              <a:t>+8: 8 көк капкак</a:t>
            </a:r>
          </a:p>
        </p:txBody>
      </p:sp>
      <p:sp>
        <p:nvSpPr>
          <p:cNvPr id="26" name="Oval 25"/>
          <p:cNvSpPr/>
          <p:nvPr/>
        </p:nvSpPr>
        <p:spPr>
          <a:xfrm>
            <a:off x="932688" y="4023360"/>
            <a:ext cx="329184" cy="329184"/>
          </a:xfrm>
          <a:prstGeom prst="ellipse">
            <a:avLst/>
          </a:prstGeom>
          <a:solidFill>
            <a:srgbClr val="2F6DB5"/>
          </a:solidFill>
          <a:ln w="12700">
            <a:solidFill>
              <a:srgbClr val="2F6D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PT Sans"/>
              </a:rPr>
              <a:t>+</a:t>
            </a:r>
          </a:p>
        </p:txBody>
      </p:sp>
      <p:sp>
        <p:nvSpPr>
          <p:cNvPr id="27" name="Oval 26"/>
          <p:cNvSpPr/>
          <p:nvPr/>
        </p:nvSpPr>
        <p:spPr>
          <a:xfrm>
            <a:off x="932688" y="4434840"/>
            <a:ext cx="329184" cy="329184"/>
          </a:xfrm>
          <a:prstGeom prst="ellipse">
            <a:avLst/>
          </a:prstGeom>
          <a:solidFill>
            <a:srgbClr val="C84B3C"/>
          </a:solidFill>
          <a:ln w="12700">
            <a:solidFill>
              <a:srgbClr val="C84B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PT Sans"/>
              </a:rPr>
              <a:t>−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41248" y="3931920"/>
            <a:ext cx="512064" cy="923544"/>
          </a:xfrm>
          <a:prstGeom prst="roundRect">
            <a:avLst>
              <a:gd name="adj" fmla="val 25000"/>
            </a:avLst>
          </a:prstGeom>
          <a:noFill/>
          <a:ln w="15875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371600" y="4023360"/>
            <a:ext cx="329184" cy="329184"/>
          </a:xfrm>
          <a:prstGeom prst="ellipse">
            <a:avLst/>
          </a:prstGeom>
          <a:solidFill>
            <a:srgbClr val="2F6DB5"/>
          </a:solidFill>
          <a:ln w="12700">
            <a:solidFill>
              <a:srgbClr val="2F6D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PT Sans"/>
              </a:rPr>
              <a:t>+</a:t>
            </a:r>
          </a:p>
        </p:txBody>
      </p:sp>
      <p:sp>
        <p:nvSpPr>
          <p:cNvPr id="30" name="Oval 29"/>
          <p:cNvSpPr/>
          <p:nvPr/>
        </p:nvSpPr>
        <p:spPr>
          <a:xfrm>
            <a:off x="1371600" y="4434840"/>
            <a:ext cx="329184" cy="329184"/>
          </a:xfrm>
          <a:prstGeom prst="ellipse">
            <a:avLst/>
          </a:prstGeom>
          <a:solidFill>
            <a:srgbClr val="C84B3C"/>
          </a:solidFill>
          <a:ln w="12700">
            <a:solidFill>
              <a:srgbClr val="C84B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PT Sans"/>
              </a:rPr>
              <a:t>−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280160" y="3931920"/>
            <a:ext cx="512064" cy="923544"/>
          </a:xfrm>
          <a:prstGeom prst="roundRect">
            <a:avLst>
              <a:gd name="adj" fmla="val 25000"/>
            </a:avLst>
          </a:prstGeom>
          <a:noFill/>
          <a:ln w="15875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1810512" y="4023360"/>
            <a:ext cx="329184" cy="329184"/>
          </a:xfrm>
          <a:prstGeom prst="ellipse">
            <a:avLst/>
          </a:prstGeom>
          <a:solidFill>
            <a:srgbClr val="2F6DB5"/>
          </a:solidFill>
          <a:ln w="12700">
            <a:solidFill>
              <a:srgbClr val="2F6D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PT Sans"/>
              </a:rPr>
              <a:t>+</a:t>
            </a:r>
          </a:p>
        </p:txBody>
      </p:sp>
      <p:sp>
        <p:nvSpPr>
          <p:cNvPr id="33" name="Oval 32"/>
          <p:cNvSpPr/>
          <p:nvPr/>
        </p:nvSpPr>
        <p:spPr>
          <a:xfrm>
            <a:off x="1810512" y="4434840"/>
            <a:ext cx="329184" cy="329184"/>
          </a:xfrm>
          <a:prstGeom prst="ellipse">
            <a:avLst/>
          </a:prstGeom>
          <a:solidFill>
            <a:srgbClr val="C84B3C"/>
          </a:solidFill>
          <a:ln w="12700">
            <a:solidFill>
              <a:srgbClr val="C84B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PT Sans"/>
              </a:rPr>
              <a:t>−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719072" y="3931920"/>
            <a:ext cx="512064" cy="923544"/>
          </a:xfrm>
          <a:prstGeom prst="roundRect">
            <a:avLst>
              <a:gd name="adj" fmla="val 25000"/>
            </a:avLst>
          </a:prstGeom>
          <a:noFill/>
          <a:ln w="15875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2249424" y="4023360"/>
            <a:ext cx="329184" cy="329184"/>
          </a:xfrm>
          <a:prstGeom prst="ellipse">
            <a:avLst/>
          </a:prstGeom>
          <a:solidFill>
            <a:srgbClr val="2F6DB5"/>
          </a:solidFill>
          <a:ln w="12700">
            <a:solidFill>
              <a:srgbClr val="2F6D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PT Sans"/>
              </a:rPr>
              <a:t>+</a:t>
            </a:r>
          </a:p>
        </p:txBody>
      </p:sp>
      <p:sp>
        <p:nvSpPr>
          <p:cNvPr id="36" name="Oval 35"/>
          <p:cNvSpPr/>
          <p:nvPr/>
        </p:nvSpPr>
        <p:spPr>
          <a:xfrm>
            <a:off x="2249424" y="4434840"/>
            <a:ext cx="329184" cy="329184"/>
          </a:xfrm>
          <a:prstGeom prst="ellipse">
            <a:avLst/>
          </a:prstGeom>
          <a:solidFill>
            <a:srgbClr val="C84B3C"/>
          </a:solidFill>
          <a:ln w="12700">
            <a:solidFill>
              <a:srgbClr val="C84B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PT Sans"/>
              </a:rPr>
              <a:t>−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2157984" y="3931920"/>
            <a:ext cx="512064" cy="923544"/>
          </a:xfrm>
          <a:prstGeom prst="roundRect">
            <a:avLst>
              <a:gd name="adj" fmla="val 25000"/>
            </a:avLst>
          </a:prstGeom>
          <a:noFill/>
          <a:ln w="15875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2688336" y="4023360"/>
            <a:ext cx="329184" cy="329184"/>
          </a:xfrm>
          <a:prstGeom prst="ellipse">
            <a:avLst/>
          </a:prstGeom>
          <a:solidFill>
            <a:srgbClr val="2F6DB5"/>
          </a:solidFill>
          <a:ln w="12700">
            <a:solidFill>
              <a:srgbClr val="2F6D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PT Sans"/>
              </a:rPr>
              <a:t>+</a:t>
            </a:r>
          </a:p>
        </p:txBody>
      </p:sp>
      <p:sp>
        <p:nvSpPr>
          <p:cNvPr id="39" name="Oval 38"/>
          <p:cNvSpPr/>
          <p:nvPr/>
        </p:nvSpPr>
        <p:spPr>
          <a:xfrm>
            <a:off x="2688336" y="4434840"/>
            <a:ext cx="329184" cy="329184"/>
          </a:xfrm>
          <a:prstGeom prst="ellipse">
            <a:avLst/>
          </a:prstGeom>
          <a:solidFill>
            <a:srgbClr val="C84B3C"/>
          </a:solidFill>
          <a:ln w="12700">
            <a:solidFill>
              <a:srgbClr val="C84B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PT Sans"/>
              </a:rPr>
              <a:t>−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2596896" y="3931920"/>
            <a:ext cx="512064" cy="923544"/>
          </a:xfrm>
          <a:prstGeom prst="roundRect">
            <a:avLst>
              <a:gd name="adj" fmla="val 25000"/>
            </a:avLst>
          </a:prstGeom>
          <a:noFill/>
          <a:ln w="15875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3127248" y="4023360"/>
            <a:ext cx="329184" cy="329184"/>
          </a:xfrm>
          <a:prstGeom prst="ellipse">
            <a:avLst/>
          </a:prstGeom>
          <a:solidFill>
            <a:srgbClr val="2F6DB5"/>
          </a:solidFill>
          <a:ln w="12700">
            <a:solidFill>
              <a:srgbClr val="2F6D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PT Sans"/>
              </a:rPr>
              <a:t>+</a:t>
            </a:r>
          </a:p>
        </p:txBody>
      </p:sp>
      <p:sp>
        <p:nvSpPr>
          <p:cNvPr id="42" name="Oval 41"/>
          <p:cNvSpPr/>
          <p:nvPr/>
        </p:nvSpPr>
        <p:spPr>
          <a:xfrm>
            <a:off x="3127248" y="4434840"/>
            <a:ext cx="329184" cy="329184"/>
          </a:xfrm>
          <a:prstGeom prst="ellipse">
            <a:avLst/>
          </a:prstGeom>
          <a:solidFill>
            <a:srgbClr val="C84B3C"/>
          </a:solidFill>
          <a:ln w="12700">
            <a:solidFill>
              <a:srgbClr val="C84B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PT Sans"/>
              </a:rPr>
              <a:t>−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3035808" y="3931920"/>
            <a:ext cx="512064" cy="923544"/>
          </a:xfrm>
          <a:prstGeom prst="roundRect">
            <a:avLst>
              <a:gd name="adj" fmla="val 25000"/>
            </a:avLst>
          </a:prstGeom>
          <a:noFill/>
          <a:ln w="15875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3566160" y="4023360"/>
            <a:ext cx="329184" cy="329184"/>
          </a:xfrm>
          <a:prstGeom prst="ellipse">
            <a:avLst/>
          </a:prstGeom>
          <a:solidFill>
            <a:srgbClr val="2F6DB5"/>
          </a:solidFill>
          <a:ln w="12700">
            <a:solidFill>
              <a:srgbClr val="2F6D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PT Sans"/>
              </a:rPr>
              <a:t>+</a:t>
            </a:r>
          </a:p>
        </p:txBody>
      </p:sp>
      <p:sp>
        <p:nvSpPr>
          <p:cNvPr id="45" name="Oval 44"/>
          <p:cNvSpPr/>
          <p:nvPr/>
        </p:nvSpPr>
        <p:spPr>
          <a:xfrm>
            <a:off x="3566160" y="4434840"/>
            <a:ext cx="329184" cy="329184"/>
          </a:xfrm>
          <a:prstGeom prst="ellipse">
            <a:avLst/>
          </a:prstGeom>
          <a:solidFill>
            <a:srgbClr val="C84B3C"/>
          </a:solidFill>
          <a:ln w="12700">
            <a:solidFill>
              <a:srgbClr val="C84B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PT Sans"/>
              </a:rPr>
              <a:t>−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3474720" y="3931920"/>
            <a:ext cx="512064" cy="923544"/>
          </a:xfrm>
          <a:prstGeom prst="roundRect">
            <a:avLst>
              <a:gd name="adj" fmla="val 25000"/>
            </a:avLst>
          </a:prstGeom>
          <a:noFill/>
          <a:ln w="15875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4005072" y="4023360"/>
            <a:ext cx="329184" cy="329184"/>
          </a:xfrm>
          <a:prstGeom prst="ellipse">
            <a:avLst/>
          </a:prstGeom>
          <a:solidFill>
            <a:srgbClr val="2F6DB5"/>
          </a:solidFill>
          <a:ln w="12700">
            <a:solidFill>
              <a:srgbClr val="2F6D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PT Sans"/>
              </a:rPr>
              <a:t>+</a:t>
            </a:r>
          </a:p>
        </p:txBody>
      </p:sp>
      <p:sp>
        <p:nvSpPr>
          <p:cNvPr id="48" name="Oval 47"/>
          <p:cNvSpPr/>
          <p:nvPr/>
        </p:nvSpPr>
        <p:spPr>
          <a:xfrm>
            <a:off x="4005072" y="4434840"/>
            <a:ext cx="329184" cy="329184"/>
          </a:xfrm>
          <a:prstGeom prst="ellipse">
            <a:avLst/>
          </a:prstGeom>
          <a:solidFill>
            <a:srgbClr val="C84B3C"/>
          </a:solidFill>
          <a:ln w="12700">
            <a:solidFill>
              <a:srgbClr val="C84B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PT Sans"/>
              </a:rPr>
              <a:t>−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3913632" y="3931920"/>
            <a:ext cx="512064" cy="923544"/>
          </a:xfrm>
          <a:prstGeom prst="roundRect">
            <a:avLst>
              <a:gd name="adj" fmla="val 25000"/>
            </a:avLst>
          </a:prstGeom>
          <a:noFill/>
          <a:ln w="15875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40080" y="4956048"/>
            <a:ext cx="621792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 i="0">
                <a:solidFill>
                  <a:srgbClr val="A84400"/>
                </a:solidFill>
                <a:latin typeface="PT Sans"/>
              </a:rPr>
              <a:t>8 нөл жуп = 0.  Түнкү −3: дагы 3 кызыл → −3</a:t>
            </a:r>
          </a:p>
        </p:txBody>
      </p:sp>
      <p:sp>
        <p:nvSpPr>
          <p:cNvPr id="51" name="Oval 50"/>
          <p:cNvSpPr/>
          <p:nvPr/>
        </p:nvSpPr>
        <p:spPr>
          <a:xfrm>
            <a:off x="4617720" y="4224528"/>
            <a:ext cx="329184" cy="329184"/>
          </a:xfrm>
          <a:prstGeom prst="ellipse">
            <a:avLst/>
          </a:prstGeom>
          <a:solidFill>
            <a:srgbClr val="C84B3C"/>
          </a:solidFill>
          <a:ln w="12700">
            <a:solidFill>
              <a:srgbClr val="C84B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PT Sans"/>
              </a:rPr>
              <a:t>−</a:t>
            </a:r>
          </a:p>
        </p:txBody>
      </p:sp>
      <p:sp>
        <p:nvSpPr>
          <p:cNvPr id="52" name="Oval 51"/>
          <p:cNvSpPr/>
          <p:nvPr/>
        </p:nvSpPr>
        <p:spPr>
          <a:xfrm>
            <a:off x="5029200" y="4224528"/>
            <a:ext cx="329184" cy="329184"/>
          </a:xfrm>
          <a:prstGeom prst="ellipse">
            <a:avLst/>
          </a:prstGeom>
          <a:solidFill>
            <a:srgbClr val="C84B3C"/>
          </a:solidFill>
          <a:ln w="12700">
            <a:solidFill>
              <a:srgbClr val="C84B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PT Sans"/>
              </a:rPr>
              <a:t>−</a:t>
            </a:r>
          </a:p>
        </p:txBody>
      </p:sp>
      <p:sp>
        <p:nvSpPr>
          <p:cNvPr id="53" name="Oval 52"/>
          <p:cNvSpPr/>
          <p:nvPr/>
        </p:nvSpPr>
        <p:spPr>
          <a:xfrm>
            <a:off x="5440680" y="4224528"/>
            <a:ext cx="329184" cy="329184"/>
          </a:xfrm>
          <a:prstGeom prst="ellipse">
            <a:avLst/>
          </a:prstGeom>
          <a:solidFill>
            <a:srgbClr val="C84B3C"/>
          </a:solidFill>
          <a:ln w="12700">
            <a:solidFill>
              <a:srgbClr val="C84B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PT Sans"/>
              </a:rPr>
              <a:t>−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7315200" y="2194560"/>
            <a:ext cx="4434840" cy="3566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498079" y="2286000"/>
            <a:ext cx="4114800" cy="3383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 i="0">
                <a:solidFill>
                  <a:srgbClr val="1F2430"/>
                </a:solidFill>
                <a:latin typeface="PT Sans"/>
              </a:rPr>
              <a:t>Ар бир жупта:</a:t>
            </a:r>
          </a:p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10 көк (+1), 12 кызыл (−1) капкак</a:t>
            </a:r>
          </a:p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4 кагаз чөйчөк = кашаа, топ</a:t>
            </a:r>
          </a:p>
          <a:p>
            <a:pPr algn="l">
              <a:lnSpc>
                <a:spcPct val="110000"/>
              </a:lnSpc>
            </a:pPr>
            <a:r>
              <a:rPr sz="1700" b="1" i="0">
                <a:solidFill>
                  <a:srgbClr val="007A5A"/>
                </a:solidFill>
                <a:latin typeface="PT Sans"/>
              </a:rPr>
              <a:t>(+1) + (−1) = 0: нөл жуп</a:t>
            </a:r>
          </a:p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24418C"/>
                </a:solidFill>
                <a:latin typeface="PT Sans"/>
              </a:rPr>
              <a:t>4 × (−2) = −8</a:t>
            </a:r>
          </a:p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24418C"/>
                </a:solidFill>
                <a:latin typeface="PT Sans"/>
              </a:rPr>
              <a:t>8 + (−8) − 3 = −3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К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С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С: сан огу (жип менен)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Багытталган сандар: амалдардын тартиби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12/26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+8 °Сдан баштап сан огунда 4 жолу −2, анан −3 секирип көр.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960120" y="4160520"/>
            <a:ext cx="10021824" cy="0"/>
          </a:xfrm>
          <a:prstGeom prst="line">
            <a:avLst/>
          </a:prstGeom>
          <a:ln w="317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1143000" y="4069080"/>
            <a:ext cx="0" cy="182879"/>
          </a:xfrm>
          <a:prstGeom prst="line">
            <a:avLst/>
          </a:prstGeom>
          <a:ln w="1587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822960" y="4270248"/>
            <a:ext cx="64008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0" i="0">
                <a:solidFill>
                  <a:srgbClr val="1F2430"/>
                </a:solidFill>
                <a:latin typeface="PT Sans"/>
              </a:rPr>
              <a:t>−6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746504" y="4069080"/>
            <a:ext cx="0" cy="182879"/>
          </a:xfrm>
          <a:prstGeom prst="line">
            <a:avLst/>
          </a:prstGeom>
          <a:ln w="1587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426464" y="4270248"/>
            <a:ext cx="64008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0" i="0">
                <a:solidFill>
                  <a:srgbClr val="1F2430"/>
                </a:solidFill>
                <a:latin typeface="PT Sans"/>
              </a:rPr>
              <a:t>−5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2350008" y="4069080"/>
            <a:ext cx="0" cy="182879"/>
          </a:xfrm>
          <a:prstGeom prst="line">
            <a:avLst/>
          </a:prstGeom>
          <a:ln w="1587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2029968" y="4270248"/>
            <a:ext cx="64008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0" i="0">
                <a:solidFill>
                  <a:srgbClr val="1F2430"/>
                </a:solidFill>
                <a:latin typeface="PT Sans"/>
              </a:rPr>
              <a:t>−4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2953512" y="4069080"/>
            <a:ext cx="0" cy="182879"/>
          </a:xfrm>
          <a:prstGeom prst="line">
            <a:avLst/>
          </a:prstGeom>
          <a:ln w="1587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2633472" y="4270248"/>
            <a:ext cx="64008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1" i="0">
                <a:solidFill>
                  <a:srgbClr val="A84400"/>
                </a:solidFill>
                <a:latin typeface="PT Sans"/>
              </a:rPr>
              <a:t>−3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3557016" y="4069080"/>
            <a:ext cx="0" cy="182879"/>
          </a:xfrm>
          <a:prstGeom prst="line">
            <a:avLst/>
          </a:prstGeom>
          <a:ln w="1587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3236976" y="4270248"/>
            <a:ext cx="64008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0" i="0">
                <a:solidFill>
                  <a:srgbClr val="1F2430"/>
                </a:solidFill>
                <a:latin typeface="PT Sans"/>
              </a:rPr>
              <a:t>−2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4160520" y="4069080"/>
            <a:ext cx="0" cy="182879"/>
          </a:xfrm>
          <a:prstGeom prst="line">
            <a:avLst/>
          </a:prstGeom>
          <a:ln w="1587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3840480" y="4270248"/>
            <a:ext cx="64008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0" i="0">
                <a:solidFill>
                  <a:srgbClr val="1F2430"/>
                </a:solidFill>
                <a:latin typeface="PT Sans"/>
              </a:rPr>
              <a:t>−1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4764024" y="4069080"/>
            <a:ext cx="0" cy="182879"/>
          </a:xfrm>
          <a:prstGeom prst="line">
            <a:avLst/>
          </a:prstGeom>
          <a:ln w="254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4443984" y="4270248"/>
            <a:ext cx="64008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1" i="0">
                <a:solidFill>
                  <a:srgbClr val="1F2430"/>
                </a:solidFill>
                <a:latin typeface="PT Sans"/>
              </a:rPr>
              <a:t>0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5367528" y="4069080"/>
            <a:ext cx="0" cy="182879"/>
          </a:xfrm>
          <a:prstGeom prst="line">
            <a:avLst/>
          </a:prstGeom>
          <a:ln w="1587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5047488" y="4270248"/>
            <a:ext cx="64008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0" i="0">
                <a:solidFill>
                  <a:srgbClr val="1F2430"/>
                </a:solidFill>
                <a:latin typeface="PT Sans"/>
              </a:rPr>
              <a:t>+1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5971032" y="4069080"/>
            <a:ext cx="0" cy="182879"/>
          </a:xfrm>
          <a:prstGeom prst="line">
            <a:avLst/>
          </a:prstGeom>
          <a:ln w="1587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5650992" y="4270248"/>
            <a:ext cx="64008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0" i="0">
                <a:solidFill>
                  <a:srgbClr val="1F2430"/>
                </a:solidFill>
                <a:latin typeface="PT Sans"/>
              </a:rPr>
              <a:t>+2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6574536" y="4069080"/>
            <a:ext cx="0" cy="182879"/>
          </a:xfrm>
          <a:prstGeom prst="line">
            <a:avLst/>
          </a:prstGeom>
          <a:ln w="1587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6254496" y="4270248"/>
            <a:ext cx="64008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0" i="0">
                <a:solidFill>
                  <a:srgbClr val="1F2430"/>
                </a:solidFill>
                <a:latin typeface="PT Sans"/>
              </a:rPr>
              <a:t>+3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7178040" y="4069080"/>
            <a:ext cx="0" cy="182879"/>
          </a:xfrm>
          <a:prstGeom prst="line">
            <a:avLst/>
          </a:prstGeom>
          <a:ln w="1587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6858000" y="4270248"/>
            <a:ext cx="64008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0" i="0">
                <a:solidFill>
                  <a:srgbClr val="1F2430"/>
                </a:solidFill>
                <a:latin typeface="PT Sans"/>
              </a:rPr>
              <a:t>+4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7781544" y="4069080"/>
            <a:ext cx="0" cy="182879"/>
          </a:xfrm>
          <a:prstGeom prst="line">
            <a:avLst/>
          </a:prstGeom>
          <a:ln w="1587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7461504" y="4270248"/>
            <a:ext cx="64008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0" i="0">
                <a:solidFill>
                  <a:srgbClr val="1F2430"/>
                </a:solidFill>
                <a:latin typeface="PT Sans"/>
              </a:rPr>
              <a:t>+5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8385048" y="4069080"/>
            <a:ext cx="0" cy="182879"/>
          </a:xfrm>
          <a:prstGeom prst="line">
            <a:avLst/>
          </a:prstGeom>
          <a:ln w="1587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8065008" y="4270248"/>
            <a:ext cx="64008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0" i="0">
                <a:solidFill>
                  <a:srgbClr val="1F2430"/>
                </a:solidFill>
                <a:latin typeface="PT Sans"/>
              </a:rPr>
              <a:t>+6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8988552" y="4069080"/>
            <a:ext cx="0" cy="182879"/>
          </a:xfrm>
          <a:prstGeom prst="line">
            <a:avLst/>
          </a:prstGeom>
          <a:ln w="1587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8668512" y="4270248"/>
            <a:ext cx="64008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0" i="0">
                <a:solidFill>
                  <a:srgbClr val="1F2430"/>
                </a:solidFill>
                <a:latin typeface="PT Sans"/>
              </a:rPr>
              <a:t>+7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9592056" y="4069080"/>
            <a:ext cx="0" cy="182879"/>
          </a:xfrm>
          <a:prstGeom prst="line">
            <a:avLst/>
          </a:prstGeom>
          <a:ln w="1587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9272016" y="4270248"/>
            <a:ext cx="64008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1" i="0">
                <a:solidFill>
                  <a:srgbClr val="1F2430"/>
                </a:solidFill>
                <a:latin typeface="PT Sans"/>
              </a:rPr>
              <a:t>+8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10195560" y="4069080"/>
            <a:ext cx="0" cy="182879"/>
          </a:xfrm>
          <a:prstGeom prst="line">
            <a:avLst/>
          </a:prstGeom>
          <a:ln w="1587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9875520" y="4270248"/>
            <a:ext cx="64008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0" i="0">
                <a:solidFill>
                  <a:srgbClr val="1F2430"/>
                </a:solidFill>
                <a:latin typeface="PT Sans"/>
              </a:rPr>
              <a:t>+9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10799064" y="4069080"/>
            <a:ext cx="0" cy="182879"/>
          </a:xfrm>
          <a:prstGeom prst="line">
            <a:avLst/>
          </a:prstGeom>
          <a:ln w="1587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10479024" y="4270248"/>
            <a:ext cx="64008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0" i="0">
                <a:solidFill>
                  <a:srgbClr val="1F2430"/>
                </a:solidFill>
                <a:latin typeface="PT Sans"/>
              </a:rPr>
              <a:t>+10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764024" y="4617720"/>
            <a:ext cx="4828032" cy="36576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300" b="1">
                <a:solidFill>
                  <a:srgbClr val="1F2430"/>
                </a:solidFill>
                <a:latin typeface="PT Sans"/>
              </a:rPr>
              <a:t>+8 °C (альплагерь)</a:t>
            </a:r>
          </a:p>
        </p:txBody>
      </p:sp>
      <p:sp>
        <p:nvSpPr>
          <p:cNvPr id="48" name="Rectangle 47"/>
          <p:cNvSpPr/>
          <p:nvPr/>
        </p:nvSpPr>
        <p:spPr>
          <a:xfrm>
            <a:off x="8385048" y="3429000"/>
            <a:ext cx="1207008" cy="365760"/>
          </a:xfrm>
          <a:prstGeom prst="rect">
            <a:avLst/>
          </a:prstGeom>
          <a:solidFill>
            <a:srgbClr val="F5E9E0"/>
          </a:solidFill>
          <a:ln w="2032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F2430"/>
                </a:solidFill>
                <a:latin typeface="PT Sans"/>
              </a:rPr>
              <a:t>−2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178040" y="3429000"/>
            <a:ext cx="1207007" cy="365760"/>
          </a:xfrm>
          <a:prstGeom prst="rect">
            <a:avLst/>
          </a:prstGeom>
          <a:solidFill>
            <a:srgbClr val="F5E9E0"/>
          </a:solidFill>
          <a:ln w="2032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F2430"/>
                </a:solidFill>
                <a:latin typeface="PT Sans"/>
              </a:rPr>
              <a:t>−2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971032" y="3429000"/>
            <a:ext cx="1207008" cy="365760"/>
          </a:xfrm>
          <a:prstGeom prst="rect">
            <a:avLst/>
          </a:prstGeom>
          <a:solidFill>
            <a:srgbClr val="F5E9E0"/>
          </a:solidFill>
          <a:ln w="2032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F2430"/>
                </a:solidFill>
                <a:latin typeface="PT Sans"/>
              </a:rPr>
              <a:t>−2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764024" y="3429000"/>
            <a:ext cx="1207008" cy="365760"/>
          </a:xfrm>
          <a:prstGeom prst="rect">
            <a:avLst/>
          </a:prstGeom>
          <a:solidFill>
            <a:srgbClr val="F5E9E0"/>
          </a:solidFill>
          <a:ln w="2032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F2430"/>
                </a:solidFill>
                <a:latin typeface="PT Sans"/>
              </a:rPr>
              <a:t>−2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953512" y="2926080"/>
            <a:ext cx="1810512" cy="365760"/>
          </a:xfrm>
          <a:prstGeom prst="rect">
            <a:avLst/>
          </a:prstGeom>
          <a:solidFill>
            <a:srgbClr val="F5E9E0"/>
          </a:solidFill>
          <a:ln w="2032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F2430"/>
                </a:solidFill>
                <a:latin typeface="PT Sans"/>
              </a:rPr>
              <a:t>−3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855464" y="2926080"/>
            <a:ext cx="384048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4A5A70"/>
                </a:solidFill>
                <a:latin typeface="PT Sans"/>
              </a:rPr>
              <a:t>← 4 × (−2) = −8: кайра 0гө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143000" y="2148840"/>
            <a:ext cx="54864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4A5A70"/>
                </a:solidFill>
                <a:latin typeface="PT Sans"/>
              </a:rPr>
              <a:t>Түнкү −3: нөлдөн солго</a:t>
            </a:r>
          </a:p>
        </p:txBody>
      </p:sp>
      <p:sp>
        <p:nvSpPr>
          <p:cNvPr id="55" name="Oval 54"/>
          <p:cNvSpPr/>
          <p:nvPr/>
        </p:nvSpPr>
        <p:spPr>
          <a:xfrm>
            <a:off x="2752344" y="3959352"/>
            <a:ext cx="402336" cy="402336"/>
          </a:xfrm>
          <a:prstGeom prst="ellipse">
            <a:avLst/>
          </a:prstGeom>
          <a:noFill/>
          <a:ln w="317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143000" y="5029200"/>
            <a:ext cx="594360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4A5A70"/>
                </a:solidFill>
                <a:latin typeface="PT Sans"/>
              </a:rPr>
              <a:t>Оңго = жылуу (+), солго = суук (−)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29768" y="5623560"/>
            <a:ext cx="11329416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1" i="0">
                <a:solidFill>
                  <a:srgbClr val="24418C"/>
                </a:solidFill>
                <a:latin typeface="PT Sans"/>
              </a:rPr>
              <a:t>8 + 4 × (−2) − 3 = 8 + (−8) − 3 = −3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С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А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24418C"/>
                </a:solidFill>
                <a:latin typeface="PT Sans"/>
              </a:rPr>
              <a:t>3C · Байланыштыруу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А: эреже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Багытталган сандар: амалдардын тартиби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13/26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371600"/>
            <a:ext cx="2626614" cy="3017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423035" y="1600200"/>
            <a:ext cx="640080" cy="64008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1207" y="2377440"/>
            <a:ext cx="2443734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600" b="1" i="0">
                <a:solidFill>
                  <a:srgbClr val="24418C"/>
                </a:solidFill>
                <a:latin typeface="PT Sans"/>
              </a:rPr>
              <a:t>( 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1207" y="3063240"/>
            <a:ext cx="2443734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1F2430"/>
                </a:solidFill>
                <a:latin typeface="PT Sans"/>
              </a:rPr>
              <a:t>Кашаа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3566160"/>
            <a:ext cx="2352294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Ичин адегенде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3056382" y="2880360"/>
            <a:ext cx="274320" cy="0"/>
          </a:xfrm>
          <a:prstGeom prst="line">
            <a:avLst/>
          </a:prstGeom>
          <a:ln w="3175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3330702" y="1371600"/>
            <a:ext cx="2626614" cy="3017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4323969" y="1600200"/>
            <a:ext cx="640080" cy="64008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22142" y="2377440"/>
            <a:ext cx="2443734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600" b="1" i="0">
                <a:solidFill>
                  <a:srgbClr val="24418C"/>
                </a:solidFill>
                <a:latin typeface="PT Sans"/>
              </a:rPr>
              <a:t>x²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22142" y="3063240"/>
            <a:ext cx="2443734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1F2430"/>
                </a:solidFill>
                <a:latin typeface="PT Sans"/>
              </a:rPr>
              <a:t>Даража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67862" y="3566160"/>
            <a:ext cx="2352294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(−3)² = 9, −3² = −9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5957316" y="2880360"/>
            <a:ext cx="274320" cy="0"/>
          </a:xfrm>
          <a:prstGeom prst="line">
            <a:avLst/>
          </a:prstGeom>
          <a:ln w="3175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6231636" y="1371600"/>
            <a:ext cx="2626614" cy="3017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224902" y="1600200"/>
            <a:ext cx="640080" cy="64008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23075" y="2377440"/>
            <a:ext cx="2443734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600" b="1" i="0">
                <a:solidFill>
                  <a:srgbClr val="24418C"/>
                </a:solidFill>
                <a:latin typeface="PT Sans"/>
              </a:rPr>
              <a:t>× ÷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23075" y="3063240"/>
            <a:ext cx="2443734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1F2430"/>
                </a:solidFill>
                <a:latin typeface="PT Sans"/>
              </a:rPr>
              <a:t>Бөлүү · Көбөйтүү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68796" y="3566160"/>
            <a:ext cx="2352294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Солдон оңго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8858250" y="2880360"/>
            <a:ext cx="274320" cy="0"/>
          </a:xfrm>
          <a:prstGeom prst="line">
            <a:avLst/>
          </a:prstGeom>
          <a:ln w="3175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9132570" y="1371600"/>
            <a:ext cx="2626614" cy="3017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25837" y="1600200"/>
            <a:ext cx="640080" cy="64008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24010" y="2377440"/>
            <a:ext cx="2443734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600" b="1" i="0">
                <a:solidFill>
                  <a:srgbClr val="24418C"/>
                </a:solidFill>
                <a:latin typeface="PT Sans"/>
              </a:rPr>
              <a:t>+ −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24010" y="3063240"/>
            <a:ext cx="2443734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1F2430"/>
                </a:solidFill>
                <a:latin typeface="PT Sans"/>
              </a:rPr>
              <a:t>Кошуу · Кемитүү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269730" y="3566160"/>
            <a:ext cx="2352294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Солдон оңго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874519" y="4709160"/>
            <a:ext cx="8449056" cy="758952"/>
          </a:xfrm>
          <a:prstGeom prst="roundRect">
            <a:avLst>
              <a:gd name="adj" fmla="val 24400"/>
            </a:avLst>
          </a:prstGeom>
          <a:solidFill>
            <a:srgbClr val="FFFFFF"/>
          </a:solidFill>
          <a:ln w="285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600" b="1">
                <a:solidFill>
                  <a:srgbClr val="A84400"/>
                </a:solidFill>
                <a:latin typeface="PT Sans"/>
              </a:rPr>
              <a:t>Белги: (−) × (−) = +,   (+) × (−) = −,   (−) ÷ (−) = +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С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Мисал 1: мен көрсөтөм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Багытталган сандар: амалдардын тартиби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14/26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Адегенде болжолдо: жооп оңбу, терсби?  −2 × (5 − 8) + 4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240280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−2 × (5 − 8) + 4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898648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= −2 × (−3) + 4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66760" y="2898648"/>
            <a:ext cx="31089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A84400"/>
                </a:solidFill>
                <a:latin typeface="PT Sans"/>
              </a:rPr>
              <a:t>Ка: 5 − 8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557016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= 6 + 4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66760" y="3557016"/>
            <a:ext cx="31089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A84400"/>
                </a:solidFill>
                <a:latin typeface="PT Sans"/>
              </a:rPr>
              <a:t>Кө: (−)(−) = +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4215384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24418C"/>
                </a:solidFill>
                <a:latin typeface="PT Sans"/>
              </a:rPr>
              <a:t>= 10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66760" y="4215384"/>
            <a:ext cx="31089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A84400"/>
                </a:solidFill>
                <a:latin typeface="PT Sans"/>
              </a:rPr>
              <a:t>Ко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9768" y="5596128"/>
            <a:ext cx="11329416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400" b="1" i="0">
                <a:solidFill>
                  <a:srgbClr val="1F2430"/>
                </a:solidFill>
                <a:latin typeface="PT Sans"/>
              </a:rPr>
              <a:t>Жооп = </a:t>
            </a:r>
            <a:r>
              <a:rPr sz="3400" b="1">
                <a:solidFill>
                  <a:srgbClr val="24418C"/>
                </a:solidFill>
                <a:latin typeface="PT Sans"/>
              </a:rPr>
              <a:t>10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Мисал 2: мен көрсөтөм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Багытталган сандар: амалдардын тартиби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15/26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Адегенде болжолдо: жооп оңбу, терсби?  3 − (−2)² × 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240280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3 − (−2)² ×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898648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= 3 − 4 × 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66760" y="2898648"/>
            <a:ext cx="31089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A84400"/>
                </a:solidFill>
                <a:latin typeface="PT Sans"/>
              </a:rPr>
              <a:t>Да: (−2)² = 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557016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= 3 − 8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66760" y="3557016"/>
            <a:ext cx="31089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A84400"/>
                </a:solidFill>
                <a:latin typeface="PT Sans"/>
              </a:rPr>
              <a:t>Кө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4215384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24418C"/>
                </a:solidFill>
                <a:latin typeface="PT Sans"/>
              </a:rPr>
              <a:t>= −5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66760" y="4215384"/>
            <a:ext cx="31089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A84400"/>
                </a:solidFill>
                <a:latin typeface="PT Sans"/>
              </a:rPr>
              <a:t>Ке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9768" y="5596128"/>
            <a:ext cx="11329416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400" b="1" i="0">
                <a:solidFill>
                  <a:srgbClr val="1F2430"/>
                </a:solidFill>
                <a:latin typeface="PT Sans"/>
              </a:rPr>
              <a:t>Жооп = </a:t>
            </a:r>
            <a:r>
              <a:rPr sz="3400" b="1">
                <a:solidFill>
                  <a:srgbClr val="24418C"/>
                </a:solidFill>
                <a:latin typeface="PT Sans"/>
              </a:rPr>
              <a:t>−5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Оозеки ыкма: белги, нөл жуп, кашаа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Багытталган сандар: амалдардын тартиби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16/26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80160"/>
            <a:ext cx="3593592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12647" y="1444752"/>
            <a:ext cx="457200" cy="45720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2679192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D3557"/>
                </a:solidFill>
                <a:latin typeface="PT Sans"/>
              </a:rPr>
              <a:t>Адегенде белги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2194560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(−6) × (−5)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2761488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белги: (−)(−) = +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3328415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6 × 5 = 30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3895344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24418C"/>
                </a:solidFill>
                <a:latin typeface="PT Sans"/>
              </a:rPr>
              <a:t>= 30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4526280"/>
            <a:ext cx="3136392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Терс сандардын саны жуп болсо – оң, так болсо – терс.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0" y="1280160"/>
            <a:ext cx="3593592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480560" y="1444752"/>
            <a:ext cx="457200" cy="45720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74920" y="1371600"/>
            <a:ext cx="2679192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D3557"/>
                </a:solidFill>
                <a:latin typeface="PT Sans"/>
              </a:rPr>
              <a:t>Нөл жуп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26280" y="2194560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−7 + 10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6280" y="2761488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= −7 + 7 + 3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26280" y="3328415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= 0 + 3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26280" y="3895344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24418C"/>
                </a:solidFill>
                <a:latin typeface="PT Sans"/>
              </a:rPr>
              <a:t>= 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26280" y="4526280"/>
            <a:ext cx="3136392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−7 жана +7 – нөл жуп: алып салабыз.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165592" y="1280160"/>
            <a:ext cx="3593592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8348472" y="1444752"/>
            <a:ext cx="457200" cy="45720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942832" y="1371600"/>
            <a:ext cx="2679192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D3557"/>
                </a:solidFill>
                <a:latin typeface="PT Sans"/>
              </a:rPr>
              <a:t>Кашаа барбы?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94192" y="2194560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(−3)² = (−3) × (−3)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94192" y="2761488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= 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94192" y="3328415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−3² = −(3 × 3)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94192" y="3895344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24418C"/>
                </a:solidFill>
                <a:latin typeface="PT Sans"/>
              </a:rPr>
              <a:t>= −9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94192" y="4526280"/>
            <a:ext cx="3136392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Кашаа болсо, даража терс санга тиет; жок болсо – 3кө гана.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29768" y="5577840"/>
            <a:ext cx="11329416" cy="502920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 w="222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700" b="1">
                <a:solidFill>
                  <a:srgbClr val="007A5A"/>
                </a:solidFill>
                <a:latin typeface="PT Sans"/>
              </a:rPr>
              <a:t>Адегенде болжолдо (белги!) → бир сапта бир амал → болжол менен салыштыр.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007A5A"/>
                </a:solidFill>
                <a:latin typeface="PT Sans"/>
              </a:rPr>
              <a:t>3C · Сынчыл ой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С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Чечүүчү 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Багытталган сандар: амалдардын тартиби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17/26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Эсепте: −3² + 4 × (−2)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8" y="2286000"/>
            <a:ext cx="5550408" cy="1508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04088" y="2743200"/>
            <a:ext cx="594360" cy="59436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1D3557"/>
                </a:solidFill>
                <a:latin typeface="PT Sans"/>
              </a:rPr>
              <a:t>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27048" y="2286000"/>
            <a:ext cx="4297680" cy="1508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F2430"/>
                </a:solidFill>
                <a:latin typeface="PT Sans"/>
              </a:rPr>
              <a:t>1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08776" y="2286000"/>
            <a:ext cx="5550408" cy="1508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83096" y="2743200"/>
            <a:ext cx="594360" cy="59436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1D3557"/>
                </a:solidFill>
                <a:latin typeface="PT Sans"/>
              </a:rPr>
              <a:t>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06056" y="2286000"/>
            <a:ext cx="4297680" cy="1508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F2430"/>
                </a:solidFill>
                <a:latin typeface="PT Sans"/>
              </a:rPr>
              <a:t>10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4023360"/>
            <a:ext cx="5550408" cy="1508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04088" y="4480560"/>
            <a:ext cx="594360" cy="59436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1D3557"/>
                </a:solidFill>
                <a:latin typeface="PT Sans"/>
              </a:rPr>
              <a:t>В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27048" y="4023360"/>
            <a:ext cx="4297680" cy="1508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F2430"/>
                </a:solidFill>
                <a:latin typeface="PT Sans"/>
              </a:rPr>
              <a:t>−17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08776" y="4023360"/>
            <a:ext cx="5550408" cy="1508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483096" y="4480560"/>
            <a:ext cx="594360" cy="59436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1D3557"/>
                </a:solidFill>
                <a:latin typeface="PT Sans"/>
              </a:rPr>
              <a:t>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06056" y="4023360"/>
            <a:ext cx="4297680" cy="1508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F2430"/>
                </a:solidFill>
                <a:latin typeface="PT Sans"/>
              </a:rPr>
              <a:t>−1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007A5A"/>
                </a:solidFill>
                <a:latin typeface="PT Sans"/>
              </a:rPr>
              <a:t>3C · Сынчыл ой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Тилке машыгуусу: чий, анан эсепте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Багытталган сандар: амалдардын тартиби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18/26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691640"/>
            <a:ext cx="3624072" cy="4434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828800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4128" y="1755648"/>
            <a:ext cx="2892552" cy="1051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Ар бир 300 м өйдө чыкканда аба 2 °Сга муздайт. Топ 1 500 м көтөрүлдү. Температура канчага өзгөрдү?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4088" y="3429000"/>
            <a:ext cx="3075432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1">
                <a:solidFill>
                  <a:srgbClr val="6B7280"/>
                </a:solidFill>
                <a:latin typeface="PT Sans"/>
              </a:rPr>
              <a:t>Тилкени бул жерге чий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647" y="4572000"/>
            <a:ext cx="155448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Туюнтма: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167128" y="4956048"/>
            <a:ext cx="170383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12647" y="5257800"/>
            <a:ext cx="100584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Жообу: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618488" y="5641848"/>
            <a:ext cx="225247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4282439" y="1691640"/>
            <a:ext cx="3624072" cy="4434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419600" y="1828800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76800" y="1755648"/>
            <a:ext cx="2892552" cy="1051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Таңда кепеде −4 °C. Күн чыккандан кийин 3 саат бою ар саатта 3 °Сга жылыды. Канча градус болду?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56759" y="3429000"/>
            <a:ext cx="3075432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1">
                <a:solidFill>
                  <a:srgbClr val="6B7280"/>
                </a:solidFill>
                <a:latin typeface="PT Sans"/>
              </a:rPr>
              <a:t>Тилкени бул жерге чий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65320" y="4572000"/>
            <a:ext cx="155448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Туюнтма: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019800" y="4956048"/>
            <a:ext cx="1703831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4465320" y="5257800"/>
            <a:ext cx="100584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Жообу: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5471159" y="5641848"/>
            <a:ext cx="225247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8135112" y="1691640"/>
            <a:ext cx="3624072" cy="4434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8272272" y="1828800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729472" y="1755648"/>
            <a:ext cx="2892552" cy="1051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Үч күндүн таңкы температурасы: −5 °C, +2 °C, −3 °C. Орточо температура канча?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09432" y="3429000"/>
            <a:ext cx="3075432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1">
                <a:solidFill>
                  <a:srgbClr val="6B7280"/>
                </a:solidFill>
                <a:latin typeface="PT Sans"/>
              </a:rPr>
              <a:t>Тилкени бул жерге чий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17991" y="4572000"/>
            <a:ext cx="155448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Туюнтма: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9872471" y="4956048"/>
            <a:ext cx="1703833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8317991" y="5257800"/>
            <a:ext cx="100584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Жообу: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9323831" y="5641848"/>
            <a:ext cx="2252473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С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Тилке машыгуусу: жооптор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Багытталган сандар: амалдардын тартиби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19/26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80160"/>
            <a:ext cx="3624072" cy="4846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417319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4128" y="1344168"/>
            <a:ext cx="2892552" cy="1463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1F2430"/>
                </a:solidFill>
                <a:latin typeface="PT Sans"/>
              </a:rPr>
              <a:t>Ар бир 300 м өйдө чыкканда аба 2 °Сга муздайт. Топ 1 500 м көтөрүлдү. Температура канчага өзгөрдү?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3017520"/>
            <a:ext cx="468782" cy="384048"/>
          </a:xfrm>
          <a:prstGeom prst="rect">
            <a:avLst/>
          </a:prstGeom>
          <a:solidFill>
            <a:srgbClr val="F5E9E0"/>
          </a:solidFill>
          <a:ln w="2032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−2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5710" y="3017520"/>
            <a:ext cx="468782" cy="384048"/>
          </a:xfrm>
          <a:prstGeom prst="rect">
            <a:avLst/>
          </a:prstGeom>
          <a:solidFill>
            <a:srgbClr val="F5E9E0"/>
          </a:solidFill>
          <a:ln w="2032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−2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504492" y="3017520"/>
            <a:ext cx="468782" cy="384048"/>
          </a:xfrm>
          <a:prstGeom prst="rect">
            <a:avLst/>
          </a:prstGeom>
          <a:solidFill>
            <a:srgbClr val="F5E9E0"/>
          </a:solidFill>
          <a:ln w="2032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−2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973275" y="3017520"/>
            <a:ext cx="468782" cy="384048"/>
          </a:xfrm>
          <a:prstGeom prst="rect">
            <a:avLst/>
          </a:prstGeom>
          <a:solidFill>
            <a:srgbClr val="F5E9E0"/>
          </a:solidFill>
          <a:ln w="2032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−2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442057" y="3017520"/>
            <a:ext cx="468782" cy="384048"/>
          </a:xfrm>
          <a:prstGeom prst="rect">
            <a:avLst/>
          </a:prstGeom>
          <a:solidFill>
            <a:srgbClr val="F5E9E0"/>
          </a:solidFill>
          <a:ln w="2032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−2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3002280" y="3017520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3139440" y="3017520"/>
            <a:ext cx="0" cy="384048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3002280" y="3401568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3185160" y="2935224"/>
            <a:ext cx="10058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A84400"/>
                </a:solidFill>
                <a:latin typeface="PT Sans"/>
              </a:rPr>
              <a:t>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2647" y="5120640"/>
            <a:ext cx="3258312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24418C"/>
                </a:solidFill>
                <a:latin typeface="PT Sans"/>
              </a:rPr>
              <a:t>5 × (−2) = −10 °C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82439" y="1280160"/>
            <a:ext cx="3624072" cy="4846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4419600" y="1417319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76800" y="1344168"/>
            <a:ext cx="2892552" cy="1463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1F2430"/>
                </a:solidFill>
                <a:latin typeface="PT Sans"/>
              </a:rPr>
              <a:t>Таңда кепеде −4 °C. Күн чыккандан кийин 3 саат бою ар саатта 3 °Сга жылыды. Канча градус болду?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19600" y="3017520"/>
            <a:ext cx="1371600" cy="38404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100" b="1" i="0">
                <a:solidFill>
                  <a:srgbClr val="1F2430"/>
                </a:solidFill>
                <a:latin typeface="PT Sans"/>
              </a:rPr>
              <a:t>Суук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882640" y="3017520"/>
            <a:ext cx="391498" cy="384048"/>
          </a:xfrm>
          <a:prstGeom prst="rect">
            <a:avLst/>
          </a:prstGeom>
          <a:solidFill>
            <a:srgbClr val="F5E9E0"/>
          </a:solidFill>
          <a:ln w="2032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−4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19600" y="3574389"/>
            <a:ext cx="1371600" cy="38404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100" b="1" i="0">
                <a:solidFill>
                  <a:srgbClr val="1F2430"/>
                </a:solidFill>
                <a:latin typeface="PT Sans"/>
              </a:rPr>
              <a:t>Жылуу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882640" y="3574389"/>
            <a:ext cx="293623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+3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176264" y="3574389"/>
            <a:ext cx="293623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+3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69887" y="3574389"/>
            <a:ext cx="293623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+3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465320" y="5120640"/>
            <a:ext cx="3258312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24418C"/>
                </a:solidFill>
                <a:latin typeface="PT Sans"/>
              </a:rPr>
              <a:t>−4 + 3 × 3 = 5 °C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135112" y="1280160"/>
            <a:ext cx="3624072" cy="4846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8272272" y="1417319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729472" y="1344168"/>
            <a:ext cx="2892552" cy="1463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1F2430"/>
                </a:solidFill>
                <a:latin typeface="PT Sans"/>
              </a:rPr>
              <a:t>Үч күндүн таңкы температурасы: −5 °C, +2 °C, −3 °C. Орточо температура канча?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72272" y="3017520"/>
            <a:ext cx="1371600" cy="38404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100" b="1" i="0">
                <a:solidFill>
                  <a:srgbClr val="1F2430"/>
                </a:solidFill>
                <a:latin typeface="PT Sans"/>
              </a:rPr>
              <a:t>1-күн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735312" y="3017520"/>
            <a:ext cx="880871" cy="384048"/>
          </a:xfrm>
          <a:prstGeom prst="rect">
            <a:avLst/>
          </a:prstGeom>
          <a:solidFill>
            <a:srgbClr val="F5E9E0"/>
          </a:solidFill>
          <a:ln w="2032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−5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72272" y="3574389"/>
            <a:ext cx="1371600" cy="38404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100" b="1" i="0">
                <a:solidFill>
                  <a:srgbClr val="1F2430"/>
                </a:solidFill>
                <a:latin typeface="PT Sans"/>
              </a:rPr>
              <a:t>2-күн</a:t>
            </a:r>
          </a:p>
        </p:txBody>
      </p:sp>
      <p:sp>
        <p:nvSpPr>
          <p:cNvPr id="39" name="Rectangle 38"/>
          <p:cNvSpPr/>
          <p:nvPr/>
        </p:nvSpPr>
        <p:spPr>
          <a:xfrm>
            <a:off x="9735312" y="3574389"/>
            <a:ext cx="352348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+2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272272" y="4131259"/>
            <a:ext cx="1371600" cy="38404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100" b="1" i="0">
                <a:solidFill>
                  <a:srgbClr val="1F2430"/>
                </a:solidFill>
                <a:latin typeface="PT Sans"/>
              </a:rPr>
              <a:t>3-күн</a:t>
            </a:r>
          </a:p>
        </p:txBody>
      </p:sp>
      <p:sp>
        <p:nvSpPr>
          <p:cNvPr id="41" name="Rectangle 40"/>
          <p:cNvSpPr/>
          <p:nvPr/>
        </p:nvSpPr>
        <p:spPr>
          <a:xfrm>
            <a:off x="9735312" y="4131259"/>
            <a:ext cx="528523" cy="384048"/>
          </a:xfrm>
          <a:prstGeom prst="rect">
            <a:avLst/>
          </a:prstGeom>
          <a:solidFill>
            <a:srgbClr val="F5E9E0"/>
          </a:solidFill>
          <a:ln w="2032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−3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317991" y="5120640"/>
            <a:ext cx="3258312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24418C"/>
                </a:solidFill>
                <a:latin typeface="PT Sans"/>
              </a:rPr>
              <a:t>(−5 + 2 + (−3)) ÷ 3 = −2 °C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Өз алдынча иш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Багытталган сандар: амалдардын тартиби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20/26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143000"/>
            <a:ext cx="11329416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Дептериңе чыгар. Кыйын болсо – жакшы! Мээң өсүп жатат.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" y="169164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12647" y="215036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07007" y="169164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−6 + 2 × (−3)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08776" y="169164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91656" y="215036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86016" y="169164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(−4)² − 10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9768" y="323088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12647" y="3689603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07007" y="323088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−4² − 10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08776" y="323088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391656" y="3689603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86016" y="323088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(−30) ÷ (5 − 8)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9768" y="477012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12647" y="522884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07007" y="477012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2 × (−3) − (−8) ÷ 4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08776" y="477012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91656" y="522884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86016" y="477012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Кашаа кой → −14:  2 − 4 × 3 + 1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С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Өз алдынча иш: жооптор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Багытталган сандар: амалдардын тартиби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21/26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325880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581912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" y="1325880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−6 + 2 × (−3)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34804" y="1325880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−12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08776" y="1325880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45936" y="1581912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94576" y="1325880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(−4)² − 10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13812" y="1325880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6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2350008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66928" y="2606040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" y="2350008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−4² − 10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34804" y="2350008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−26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08776" y="2350008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345936" y="2606040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94576" y="2350008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(−30) ÷ (5 − 8)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13812" y="2350008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10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9768" y="3374136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566928" y="3630168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15568" y="3374136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2 × (−3) − (−8) ÷ 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34804" y="3374136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−4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208776" y="3374136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6345936" y="3630168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94576" y="3374136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Кашаа кой → −14:  2 − 4 × 3 + 1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13812" y="3374136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2 − 4 × (3 + 1)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Окуяга кайтабыз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Багытталган сандар: амалдардын тартиби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22/26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Альплагерде +8 °C. Ар бир 300 м өйдө аба 2 °Сга муздайт. Кепе 1 200 м жогору, түнкүсүн дагы 3 °C муздайт. Түнкүсүн кепеде канча градус?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240280"/>
            <a:ext cx="137160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1F2430"/>
                </a:solidFill>
                <a:latin typeface="PT Sans"/>
              </a:rPr>
              <a:t>Муздоо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377440" y="2240280"/>
            <a:ext cx="1379912" cy="548640"/>
          </a:xfrm>
          <a:prstGeom prst="rect">
            <a:avLst/>
          </a:prstGeom>
          <a:solidFill>
            <a:srgbClr val="F5E9E0"/>
          </a:solidFill>
          <a:ln w="2032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F2430"/>
                </a:solidFill>
                <a:latin typeface="PT Sans"/>
              </a:rPr>
              <a:t>−2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757352" y="2240280"/>
            <a:ext cx="1379912" cy="548640"/>
          </a:xfrm>
          <a:prstGeom prst="rect">
            <a:avLst/>
          </a:prstGeom>
          <a:solidFill>
            <a:srgbClr val="F5E9E0"/>
          </a:solidFill>
          <a:ln w="2032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F2430"/>
                </a:solidFill>
                <a:latin typeface="PT Sans"/>
              </a:rPr>
              <a:t>−2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137265" y="2240280"/>
            <a:ext cx="1379912" cy="548640"/>
          </a:xfrm>
          <a:prstGeom prst="rect">
            <a:avLst/>
          </a:prstGeom>
          <a:solidFill>
            <a:srgbClr val="F5E9E0"/>
          </a:solidFill>
          <a:ln w="2032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F2430"/>
                </a:solidFill>
                <a:latin typeface="PT Sans"/>
              </a:rPr>
              <a:t>−2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17178" y="2240280"/>
            <a:ext cx="1379912" cy="548640"/>
          </a:xfrm>
          <a:prstGeom prst="rect">
            <a:avLst/>
          </a:prstGeom>
          <a:solidFill>
            <a:srgbClr val="F5E9E0"/>
          </a:solidFill>
          <a:ln w="2032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F2430"/>
                </a:solidFill>
                <a:latin typeface="PT Sans"/>
              </a:rPr>
              <a:t>−2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897090" y="2240280"/>
            <a:ext cx="2069869" cy="548640"/>
          </a:xfrm>
          <a:prstGeom prst="rect">
            <a:avLst/>
          </a:prstGeom>
          <a:solidFill>
            <a:srgbClr val="F5E9E0"/>
          </a:solidFill>
          <a:ln w="2032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F2430"/>
                </a:solidFill>
                <a:latin typeface="PT Sans"/>
              </a:rPr>
              <a:t>−3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10058399" y="2240280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10195559" y="2240280"/>
            <a:ext cx="0" cy="54864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10058399" y="2788920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241279" y="2240280"/>
            <a:ext cx="10058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A84400"/>
                </a:solidFill>
                <a:latin typeface="PT Sans"/>
              </a:rPr>
              <a:t>−11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3127248"/>
            <a:ext cx="7498079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600" b="1" i="0">
                <a:solidFill>
                  <a:srgbClr val="1F2430"/>
                </a:solidFill>
                <a:latin typeface="PT Sans"/>
              </a:rPr>
              <a:t>8 + 4 × (−2) − 3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66760" y="3127248"/>
            <a:ext cx="31089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A84400"/>
                </a:solidFill>
                <a:latin typeface="PT Sans"/>
              </a:rPr>
              <a:t>1 200 ÷ 300 = 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3694176"/>
            <a:ext cx="7498079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600" b="1" i="0">
                <a:solidFill>
                  <a:srgbClr val="1F2430"/>
                </a:solidFill>
                <a:latin typeface="PT Sans"/>
              </a:rPr>
              <a:t>= 8 + (−8) − 3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66760" y="3694176"/>
            <a:ext cx="31089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A84400"/>
                </a:solidFill>
                <a:latin typeface="PT Sans"/>
              </a:rPr>
              <a:t>Кө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" y="4261104"/>
            <a:ext cx="7498079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600" b="1" i="0">
                <a:solidFill>
                  <a:srgbClr val="1F2430"/>
                </a:solidFill>
                <a:latin typeface="PT Sans"/>
              </a:rPr>
              <a:t>= 0 − 3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66760" y="4261104"/>
            <a:ext cx="31089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A84400"/>
                </a:solidFill>
                <a:latin typeface="PT Sans"/>
              </a:rPr>
              <a:t>Ко: нөл жуп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" y="4828032"/>
            <a:ext cx="7498079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600" b="1" i="0">
                <a:solidFill>
                  <a:srgbClr val="24418C"/>
                </a:solidFill>
                <a:latin typeface="PT Sans"/>
              </a:rPr>
              <a:t>= −3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66760" y="4828032"/>
            <a:ext cx="31089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A84400"/>
                </a:solidFill>
                <a:latin typeface="PT Sans"/>
              </a:rPr>
              <a:t>°C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874519" y="5486400"/>
            <a:ext cx="8449056" cy="640080"/>
          </a:xfrm>
          <a:prstGeom prst="roundRect">
            <a:avLst>
              <a:gd name="adj" fmla="val 24400"/>
            </a:avLst>
          </a:prstGeom>
          <a:solidFill>
            <a:srgbClr val="FFFFFF"/>
          </a:solidFill>
          <a:ln w="285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A84400"/>
                </a:solidFill>
                <a:latin typeface="PT Sans"/>
              </a:rPr>
              <a:t>Түнкүсүн кепеде −3 °C: жылуу кийим керек!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24418C"/>
                </a:solidFill>
                <a:latin typeface="PT Sans"/>
              </a:rPr>
              <a:t>3C · Байланыштыруу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Түз: өзүң маселе түз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Багытталган сандар: амалдардын тартиби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23/26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4892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371600"/>
            <a:ext cx="10780776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F2430"/>
                </a:solidFill>
                <a:latin typeface="PT Sans"/>
              </a:rPr>
              <a:t>Ала-Арча жөнүндө маселе түз: температура же бийиктик өзгөрөт, туюнтмада терс сан жана кашаа болсун.</a:t>
            </a:r>
          </a:p>
        </p:txBody>
      </p:sp>
      <p:sp>
        <p:nvSpPr>
          <p:cNvPr id="12" name="Oval 11"/>
          <p:cNvSpPr/>
          <p:nvPr/>
        </p:nvSpPr>
        <p:spPr>
          <a:xfrm>
            <a:off x="704088" y="256032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2542032"/>
            <a:ext cx="10049256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Окуядагы каармандарды колдон: Айзада, Нурсултан, Бектур агай.</a:t>
            </a:r>
          </a:p>
        </p:txBody>
      </p:sp>
      <p:sp>
        <p:nvSpPr>
          <p:cNvPr id="14" name="Oval 13"/>
          <p:cNvSpPr/>
          <p:nvPr/>
        </p:nvSpPr>
        <p:spPr>
          <a:xfrm>
            <a:off x="704088" y="3383279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364991"/>
            <a:ext cx="10049256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Тилкесин чий жана туюнтмасын жаз.</a:t>
            </a:r>
          </a:p>
        </p:txBody>
      </p:sp>
      <p:sp>
        <p:nvSpPr>
          <p:cNvPr id="16" name="Oval 15"/>
          <p:cNvSpPr/>
          <p:nvPr/>
        </p:nvSpPr>
        <p:spPr>
          <a:xfrm>
            <a:off x="704088" y="420624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4187952"/>
            <a:ext cx="10049256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Жупуңа бер: ал чыгарсын, сен текшер.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A84400"/>
                </a:solidFill>
                <a:latin typeface="PT Sans"/>
              </a:rPr>
              <a:t>3C · Кызматташуу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Чыгуу билети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Багытталган сандар: амалдардын тартиби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24/26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143000"/>
            <a:ext cx="11329416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Өз алдынча, 3 мүнөт. Кагазыңа жазып бер.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" y="1691640"/>
            <a:ext cx="11329416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12647" y="215036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07007" y="1691640"/>
            <a:ext cx="10415016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F2430"/>
                </a:solidFill>
                <a:latin typeface="PT Sans"/>
              </a:rPr>
              <a:t>−2 × (5 − 8) + 4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768" y="3230880"/>
            <a:ext cx="11329416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12647" y="3689603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07007" y="3230880"/>
            <a:ext cx="10415016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F2430"/>
                </a:solidFill>
                <a:latin typeface="PT Sans"/>
              </a:rPr>
              <a:t>(−12) ÷ (−3) − 2²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9768" y="4770120"/>
            <a:ext cx="11329416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12647" y="522884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07007" y="4770120"/>
            <a:ext cx="10415016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F2430"/>
                </a:solidFill>
                <a:latin typeface="PT Sans"/>
              </a:rPr>
              <a:t>3 − (−2)² × 2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Оозеки талкуу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Багытталган сандар: амалдардын тартиби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25/26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3246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80160"/>
            <a:ext cx="10780776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Оозеки талкуу</a:t>
            </a:r>
          </a:p>
        </p:txBody>
      </p:sp>
      <p:sp>
        <p:nvSpPr>
          <p:cNvPr id="12" name="Oval 11"/>
          <p:cNvSpPr/>
          <p:nvPr/>
        </p:nvSpPr>
        <p:spPr>
          <a:xfrm>
            <a:off x="704088" y="192024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1901952"/>
            <a:ext cx="10049256" cy="62179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Эмне үчүн (−3)² жана −3² ар башка?</a:t>
            </a:r>
          </a:p>
        </p:txBody>
      </p:sp>
      <p:sp>
        <p:nvSpPr>
          <p:cNvPr id="14" name="Oval 13"/>
          <p:cNvSpPr/>
          <p:nvPr/>
        </p:nvSpPr>
        <p:spPr>
          <a:xfrm>
            <a:off x="704088" y="2542032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2523744"/>
            <a:ext cx="10049256" cy="62179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Эмне үчүн 4 × (−3) деп кашаа менен жазабыз?</a:t>
            </a:r>
          </a:p>
        </p:txBody>
      </p:sp>
      <p:sp>
        <p:nvSpPr>
          <p:cNvPr id="16" name="Oval 15"/>
          <p:cNvSpPr/>
          <p:nvPr/>
        </p:nvSpPr>
        <p:spPr>
          <a:xfrm>
            <a:off x="704088" y="3163824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3145536"/>
            <a:ext cx="10049256" cy="62179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Жооптун белгисин алдын ала кантип болжолдодуң?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9768" y="4617720"/>
            <a:ext cx="11329416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0" i="1">
                <a:solidFill>
                  <a:srgbClr val="6B7280"/>
                </a:solidFill>
                <a:latin typeface="PT Sans"/>
              </a:rPr>
              <a:t>Өзүңдү баала: колуңду көтөр.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8407" y="5120640"/>
            <a:ext cx="3291840" cy="73152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007A5A"/>
                </a:solidFill>
                <a:latin typeface="PT Sans"/>
              </a:rPr>
              <a:t>Түшүндүм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636008" y="5120640"/>
            <a:ext cx="3291840" cy="73152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A84400"/>
                </a:solidFill>
                <a:latin typeface="PT Sans"/>
              </a:rPr>
              <a:t>Дагы машыгам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93608" y="5120640"/>
            <a:ext cx="3291840" cy="73152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Жардам керек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Мугалим үчүн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Багытталган сандар: амалдардын тартиби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26/26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5120640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1280160"/>
            <a:ext cx="466344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D3557"/>
                </a:solidFill>
                <a:latin typeface="PT Sans"/>
              </a:rPr>
              <a:t>Тилке моделин кантип үйрөтөбүз</a:t>
            </a:r>
          </a:p>
        </p:txBody>
      </p:sp>
      <p:sp>
        <p:nvSpPr>
          <p:cNvPr id="12" name="Oval 11"/>
          <p:cNvSpPr/>
          <p:nvPr/>
        </p:nvSpPr>
        <p:spPr>
          <a:xfrm>
            <a:off x="658368" y="1874519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19" y="1856231"/>
            <a:ext cx="4114800" cy="10241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Ар бир жупка эки түстүү капкак (+1/−1) жана 4 кагаз чөйчөк: 4 × (−2) = 4 топ.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" y="2898648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88719" y="2880360"/>
            <a:ext cx="4114800" cy="10241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Ар бир туюнтмадан мурун: «Адегенде болжолдо: жооп оңбу, терсби?»</a:t>
            </a:r>
          </a:p>
        </p:txBody>
      </p:sp>
      <p:sp>
        <p:nvSpPr>
          <p:cNvPr id="16" name="Oval 15"/>
          <p:cNvSpPr/>
          <p:nvPr/>
        </p:nvSpPr>
        <p:spPr>
          <a:xfrm>
            <a:off x="658368" y="3922776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19" y="3904488"/>
            <a:ext cx="4114800" cy="10241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Доскада бир сапта бир амал, ар бир сап «=» менен (степпер).</a:t>
            </a:r>
          </a:p>
        </p:txBody>
      </p:sp>
      <p:sp>
        <p:nvSpPr>
          <p:cNvPr id="18" name="Oval 17"/>
          <p:cNvSpPr/>
          <p:nvPr/>
        </p:nvSpPr>
        <p:spPr>
          <a:xfrm>
            <a:off x="658368" y="4946904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88719" y="4928616"/>
            <a:ext cx="4114800" cy="10241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−3² жана (−3)² ар сабакта: «кашаа барбы?» (М2).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779007" y="1225296"/>
            <a:ext cx="5980176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07607" y="1280160"/>
            <a:ext cx="548640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D3557"/>
                </a:solidFill>
                <a:latin typeface="PT Sans"/>
              </a:rPr>
              <a:t>Ой жүгүртүү: эмне деп айтабыз?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07607" y="1783080"/>
            <a:ext cx="26517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6B7280"/>
                </a:solidFill>
                <a:latin typeface="PT Sans"/>
              </a:rPr>
              <a:t>Айтпайбыз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96528" y="1783080"/>
            <a:ext cx="292608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007A5A"/>
                </a:solidFill>
                <a:latin typeface="PT Sans"/>
              </a:rPr>
              <a:t>Айтабыз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07607" y="2194560"/>
            <a:ext cx="26517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«Бул оңой эмеспи?»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8567928" y="2468879"/>
            <a:ext cx="18288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8796528" y="2194560"/>
            <a:ext cx="28803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1F2430"/>
                </a:solidFill>
                <a:latin typeface="PT Sans"/>
              </a:rPr>
              <a:t>«Кадамдарды бирге карайлы.»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07607" y="3154680"/>
            <a:ext cx="26517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«Туура эмес!»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8567928" y="3429000"/>
            <a:ext cx="18288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8796528" y="3154680"/>
            <a:ext cx="28803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1F2430"/>
                </a:solidFill>
                <a:latin typeface="PT Sans"/>
              </a:rPr>
              <a:t>«Кантип таптың? Текшерип көрөлүчү.»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07607" y="4114800"/>
            <a:ext cx="26517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«Сен математикага жөндөмсүзсүң»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8567928" y="4389120"/>
            <a:ext cx="18288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8796528" y="4114800"/>
            <a:ext cx="28803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1F2430"/>
                </a:solidFill>
                <a:latin typeface="PT Sans"/>
              </a:rPr>
              <a:t>«Азырынча. Машыксаң, үйрөнөсүң.»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007607" y="5074920"/>
            <a:ext cx="26517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«Тез чыгар»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8567928" y="5349240"/>
            <a:ext cx="18288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8796528" y="5074920"/>
            <a:ext cx="28803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1F2430"/>
                </a:solidFill>
                <a:latin typeface="PT Sans"/>
              </a:rPr>
              <a:t>«Шашпа, адегенде тилке чий.»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