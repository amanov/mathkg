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бериңиз. Адегенде болжолдошсун: кепеде нөлдөн жылуубу же суукпу? Жоопту сабактын аягында (22-слайд) текшеребиз.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Айзада: даража 3кө гана тиет, −3² = −(3 × 3) = −9. Нурсултан −3²ни (−3)² деп окуду (М2).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10 көк жана 12 кызыл бөтөлкө капкагы (же эки түстүү таш), 4 кагаз чөйчөк. 1) 4 × (−2) = 4 топ, ар биринде −2: 4 чөйчөккө 2ден кызыл. Баары −8. 2) 8 көк капкак = +8. 3) Бир көк + бир кызыл = нөл жуп, алып салабыз: 0 калды. 4) Түнкү −3: дагы 3 кызыл → −3. Чөйчөк = кашаа: «ичиндегин адегенде санайбыз». Проектор жок болсо, доскага тегерекчелер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Класстын полуна жип тартып, −6дан +10го чейин кийим кыскыч менен белгилейм (же доскага бор менен). Окуучу +8де турат, ар бир −2 үчүн солго 2 кадам басат. 0гө келгенде: «+8 жана −8 – нөл жуп». Калган −3: солго 3 кадам. Окуучулар ушул сан огун дептерге чийишет.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КаДа – БөКө – КоКе терс сандар менен да өзгөрбөйт. Жаңысы: белги эрежеси жана даража. Терс санды амал белгисинен кийин дайыма кашаага алабыз: 4 × (−3). Сингапурча окуу: 4 × (−3) = 4 топ, ар биринде −3. Ката коддору: М1 (солдон оңго), М2 (−3² = 9), М3 (белги).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ыкманы үн чыгарып айтышат: «адегенде белгини чечем, анан санды». «Оозеки беш мүнөт» (класста колдонуу картасы, 3-бет) эки апта ушуларды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М2; Б = М1; В = ✓; Г = М3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көбөйтүү = топтор → терстен оңго → орточо маани. Жооптор: 5 × (−2) = −10 °C; −4 + 3 × 3 = 5 °C; (−5 + 2 + (−3)) ÷ 3 = −2 °C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1 200 ÷ 300 = 4 жолу муздайт: 4 × (−2) = −8. +8 жана −8 – нөл жуп, калды −3. Солдон оңго эсептесек (8 + 4) × (−2) − 3 = −27 чыгат: бул М1, тоодо мындай суук болбойт.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10; 0; −5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Терс сандар менен амалдардын тартиби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Ала-Арчага жөө жүрүш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Бектур агай 6-класс менен Ала-Арчага чыгат: бийиктик өзгөрсө, аба ырайы да өзгөрөт.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6-класстын «Оң жана терс сандар» бөлүмү (төрт амал) жана 4–5-класстын «Амалдардын тартиби» пакети (order-of-operations-g5, v6) – уландысы. Мазмуну оригиналдуу.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Ала-Арчага жөө жүрүш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Бишкектин жанындагы Ала-Арча капчыгайына 6-класс жөө жүрүшкө чыкты.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Жол башчы – Бектур агай. Айзада менен Нурсултан термометр жана бийиктик өлчөгүч алып жүрөт.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Альплагерь 2 100 м бийиктикте. Андан Ратцек кепесине чейин 1 200 м өйдө.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Тоодо ар бир 300 м өйдө аба болжол менен 2 °Cга муздайт. Жылуу кийим керекпи?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Альплагерде +8 °C. Ар бир 300 м өйдө аба 2 °Cга муздайт. Кепе 1 200 м жогору, түнкүсүн дагы 3 °C муздайт. Түнкүсүн кепеде канча градус?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Терс сандар менен төрт амалды аткарам жана белги эрежесин капкак же сан огу менен түшүндүрөм.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«КаДа – БөКө – КоКе» боюнча терс сандар бар туюнтманы бир сапта бир амал менен эсептейм.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(−3)² жана −3² айырмасын түшүндүрөм; кашаа коюп керектүү жоопту алам.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Төрт амал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КаДа – БөКө – КоКе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Даража, кашаа, маселе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−3² же (−3)²?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 капкак, карта сорттоо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Ала-Арча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Бийиктик жана °C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Амалдардын тартиби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Кашаа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КаДа – БөКө – КоКе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Квадрат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/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Терс сандар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Тартип + терс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Алгебралык туюнтма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Кашааны ачуу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−5 + 8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 × (−4)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12 − 3 ×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−5 + 8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 × (−4)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−12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12 − 3 ×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Бектур агай: «Эсептегиле: −3² + 4 × (−2)».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Нурсултан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−3² = 9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9 + (−8)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=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Айзада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−3² = −9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−9 + (−8)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= −17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Кашаа барбы? Капкак менен текшер.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көк капкак = +1, кызыл = −1. 4 чөйчөккө 2ден кызыл салгыла: 4 × (−2). Анан 8 көк кошуп, нөл жуптарды алгыла.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03120"/>
            <a:ext cx="6217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4 × (−2): 4 чөйчөк, ар биринде −2</a:t>
            </a:r>
          </a:p>
        </p:txBody>
      </p:sp>
      <p:sp>
        <p:nvSpPr>
          <p:cNvPr id="13" name="Manual Operation 12"/>
          <p:cNvSpPr/>
          <p:nvPr/>
        </p:nvSpPr>
        <p:spPr>
          <a:xfrm>
            <a:off x="777240" y="2606040"/>
            <a:ext cx="1234440" cy="868680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2926080"/>
            <a:ext cx="329184" cy="329184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−</a:t>
            </a:r>
          </a:p>
        </p:txBody>
      </p:sp>
      <p:sp>
        <p:nvSpPr>
          <p:cNvPr id="15" name="Oval 14"/>
          <p:cNvSpPr/>
          <p:nvPr/>
        </p:nvSpPr>
        <p:spPr>
          <a:xfrm>
            <a:off x="1444752" y="2926080"/>
            <a:ext cx="329184" cy="329184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−</a:t>
            </a:r>
          </a:p>
        </p:txBody>
      </p:sp>
      <p:sp>
        <p:nvSpPr>
          <p:cNvPr id="16" name="Manual Operation 15"/>
          <p:cNvSpPr/>
          <p:nvPr/>
        </p:nvSpPr>
        <p:spPr>
          <a:xfrm>
            <a:off x="2286000" y="2606040"/>
            <a:ext cx="1234440" cy="868680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514600" y="2926080"/>
            <a:ext cx="329184" cy="329184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−</a:t>
            </a:r>
          </a:p>
        </p:txBody>
      </p:sp>
      <p:sp>
        <p:nvSpPr>
          <p:cNvPr id="18" name="Oval 17"/>
          <p:cNvSpPr/>
          <p:nvPr/>
        </p:nvSpPr>
        <p:spPr>
          <a:xfrm>
            <a:off x="2953512" y="2926080"/>
            <a:ext cx="329184" cy="329184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−</a:t>
            </a:r>
          </a:p>
        </p:txBody>
      </p:sp>
      <p:sp>
        <p:nvSpPr>
          <p:cNvPr id="19" name="Manual Operation 18"/>
          <p:cNvSpPr/>
          <p:nvPr/>
        </p:nvSpPr>
        <p:spPr>
          <a:xfrm>
            <a:off x="3794759" y="2606040"/>
            <a:ext cx="1234440" cy="868680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023359" y="2926080"/>
            <a:ext cx="329184" cy="329184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−</a:t>
            </a:r>
          </a:p>
        </p:txBody>
      </p:sp>
      <p:sp>
        <p:nvSpPr>
          <p:cNvPr id="21" name="Oval 20"/>
          <p:cNvSpPr/>
          <p:nvPr/>
        </p:nvSpPr>
        <p:spPr>
          <a:xfrm>
            <a:off x="4462271" y="2926080"/>
            <a:ext cx="329184" cy="329184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−</a:t>
            </a:r>
          </a:p>
        </p:txBody>
      </p:sp>
      <p:sp>
        <p:nvSpPr>
          <p:cNvPr id="22" name="Manual Operation 21"/>
          <p:cNvSpPr/>
          <p:nvPr/>
        </p:nvSpPr>
        <p:spPr>
          <a:xfrm>
            <a:off x="5303519" y="2606040"/>
            <a:ext cx="1234440" cy="868680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532119" y="2926080"/>
            <a:ext cx="329184" cy="329184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−</a:t>
            </a:r>
          </a:p>
        </p:txBody>
      </p:sp>
      <p:sp>
        <p:nvSpPr>
          <p:cNvPr id="24" name="Oval 23"/>
          <p:cNvSpPr/>
          <p:nvPr/>
        </p:nvSpPr>
        <p:spPr>
          <a:xfrm>
            <a:off x="5971031" y="2926080"/>
            <a:ext cx="329184" cy="329184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611880"/>
            <a:ext cx="6217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+8: 8 көк капкак</a:t>
            </a:r>
          </a:p>
        </p:txBody>
      </p:sp>
      <p:sp>
        <p:nvSpPr>
          <p:cNvPr id="26" name="Oval 25"/>
          <p:cNvSpPr/>
          <p:nvPr/>
        </p:nvSpPr>
        <p:spPr>
          <a:xfrm>
            <a:off x="932688" y="4023360"/>
            <a:ext cx="329184" cy="329184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+</a:t>
            </a:r>
          </a:p>
        </p:txBody>
      </p:sp>
      <p:sp>
        <p:nvSpPr>
          <p:cNvPr id="27" name="Oval 26"/>
          <p:cNvSpPr/>
          <p:nvPr/>
        </p:nvSpPr>
        <p:spPr>
          <a:xfrm>
            <a:off x="932688" y="4434840"/>
            <a:ext cx="329184" cy="329184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" y="3931920"/>
            <a:ext cx="512064" cy="923544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71600" y="4023360"/>
            <a:ext cx="329184" cy="329184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+</a:t>
            </a:r>
          </a:p>
        </p:txBody>
      </p:sp>
      <p:sp>
        <p:nvSpPr>
          <p:cNvPr id="30" name="Oval 29"/>
          <p:cNvSpPr/>
          <p:nvPr/>
        </p:nvSpPr>
        <p:spPr>
          <a:xfrm>
            <a:off x="1371600" y="4434840"/>
            <a:ext cx="329184" cy="329184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80160" y="3931920"/>
            <a:ext cx="512064" cy="923544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810512" y="4023360"/>
            <a:ext cx="329184" cy="329184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+</a:t>
            </a:r>
          </a:p>
        </p:txBody>
      </p:sp>
      <p:sp>
        <p:nvSpPr>
          <p:cNvPr id="33" name="Oval 32"/>
          <p:cNvSpPr/>
          <p:nvPr/>
        </p:nvSpPr>
        <p:spPr>
          <a:xfrm>
            <a:off x="1810512" y="4434840"/>
            <a:ext cx="329184" cy="329184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19072" y="3931920"/>
            <a:ext cx="512064" cy="923544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249424" y="4023360"/>
            <a:ext cx="329184" cy="329184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+</a:t>
            </a:r>
          </a:p>
        </p:txBody>
      </p:sp>
      <p:sp>
        <p:nvSpPr>
          <p:cNvPr id="36" name="Oval 35"/>
          <p:cNvSpPr/>
          <p:nvPr/>
        </p:nvSpPr>
        <p:spPr>
          <a:xfrm>
            <a:off x="2249424" y="4434840"/>
            <a:ext cx="329184" cy="329184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57984" y="3931920"/>
            <a:ext cx="512064" cy="923544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688336" y="4023360"/>
            <a:ext cx="329184" cy="329184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+</a:t>
            </a:r>
          </a:p>
        </p:txBody>
      </p:sp>
      <p:sp>
        <p:nvSpPr>
          <p:cNvPr id="39" name="Oval 38"/>
          <p:cNvSpPr/>
          <p:nvPr/>
        </p:nvSpPr>
        <p:spPr>
          <a:xfrm>
            <a:off x="2688336" y="4434840"/>
            <a:ext cx="329184" cy="329184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96896" y="3931920"/>
            <a:ext cx="512064" cy="923544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127248" y="4023360"/>
            <a:ext cx="329184" cy="329184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+</a:t>
            </a:r>
          </a:p>
        </p:txBody>
      </p:sp>
      <p:sp>
        <p:nvSpPr>
          <p:cNvPr id="42" name="Oval 41"/>
          <p:cNvSpPr/>
          <p:nvPr/>
        </p:nvSpPr>
        <p:spPr>
          <a:xfrm>
            <a:off x="3127248" y="4434840"/>
            <a:ext cx="329184" cy="329184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35808" y="3931920"/>
            <a:ext cx="512064" cy="923544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566160" y="4023360"/>
            <a:ext cx="329184" cy="329184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+</a:t>
            </a:r>
          </a:p>
        </p:txBody>
      </p:sp>
      <p:sp>
        <p:nvSpPr>
          <p:cNvPr id="45" name="Oval 44"/>
          <p:cNvSpPr/>
          <p:nvPr/>
        </p:nvSpPr>
        <p:spPr>
          <a:xfrm>
            <a:off x="3566160" y="4434840"/>
            <a:ext cx="329184" cy="329184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74720" y="3931920"/>
            <a:ext cx="512064" cy="923544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005072" y="4023360"/>
            <a:ext cx="329184" cy="329184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+</a:t>
            </a:r>
          </a:p>
        </p:txBody>
      </p:sp>
      <p:sp>
        <p:nvSpPr>
          <p:cNvPr id="48" name="Oval 47"/>
          <p:cNvSpPr/>
          <p:nvPr/>
        </p:nvSpPr>
        <p:spPr>
          <a:xfrm>
            <a:off x="4005072" y="4434840"/>
            <a:ext cx="329184" cy="329184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913632" y="3931920"/>
            <a:ext cx="512064" cy="923544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4956048"/>
            <a:ext cx="6217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8 нөл жуп = 0.  Түнкү −3: дагы 3 кызыл → −3</a:t>
            </a:r>
          </a:p>
        </p:txBody>
      </p:sp>
      <p:sp>
        <p:nvSpPr>
          <p:cNvPr id="51" name="Oval 50"/>
          <p:cNvSpPr/>
          <p:nvPr/>
        </p:nvSpPr>
        <p:spPr>
          <a:xfrm>
            <a:off x="4617720" y="4224528"/>
            <a:ext cx="329184" cy="329184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−</a:t>
            </a:r>
          </a:p>
        </p:txBody>
      </p:sp>
      <p:sp>
        <p:nvSpPr>
          <p:cNvPr id="52" name="Oval 51"/>
          <p:cNvSpPr/>
          <p:nvPr/>
        </p:nvSpPr>
        <p:spPr>
          <a:xfrm>
            <a:off x="5029200" y="4224528"/>
            <a:ext cx="329184" cy="329184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−</a:t>
            </a:r>
          </a:p>
        </p:txBody>
      </p:sp>
      <p:sp>
        <p:nvSpPr>
          <p:cNvPr id="53" name="Oval 52"/>
          <p:cNvSpPr/>
          <p:nvPr/>
        </p:nvSpPr>
        <p:spPr>
          <a:xfrm>
            <a:off x="5440680" y="4224528"/>
            <a:ext cx="329184" cy="329184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0" y="2194560"/>
            <a:ext cx="44348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98079" y="2286000"/>
            <a:ext cx="4114800" cy="3383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Ар бир жупта: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10 көк (+1), 12 кызыл (−1) капкак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4 кагаз чөйчөк = кашаа, топ</a:t>
            </a:r>
          </a:p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07A5A"/>
                </a:solidFill>
                <a:latin typeface="PT Sans"/>
              </a:rPr>
              <a:t>(+1) + (−1) = 0: нөл жуп</a:t>
            </a:r>
          </a:p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4 × (−2) = −8</a:t>
            </a:r>
          </a:p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8 + (−8) − 3 = −3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сан огу (жип менен)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+8 °Cдан баштап сан огунда 4 жолу −2, анан −3 секирип көр.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60120" y="4160520"/>
            <a:ext cx="10021824" cy="0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43000" y="4069080"/>
            <a:ext cx="0" cy="182879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427024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−6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46504" y="4069080"/>
            <a:ext cx="0" cy="182879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426464" y="427024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−5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50008" y="4069080"/>
            <a:ext cx="0" cy="182879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029968" y="427024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−4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53512" y="4069080"/>
            <a:ext cx="0" cy="182879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633472" y="427024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A84400"/>
                </a:solidFill>
                <a:latin typeface="PT Sans"/>
              </a:rPr>
              <a:t>−3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557016" y="4069080"/>
            <a:ext cx="0" cy="182879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236976" y="427024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−2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60520" y="4069080"/>
            <a:ext cx="0" cy="182879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840480" y="427024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−1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764024" y="4069080"/>
            <a:ext cx="0" cy="182879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443984" y="427024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67528" y="4069080"/>
            <a:ext cx="0" cy="182879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47488" y="427024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+1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71032" y="4069080"/>
            <a:ext cx="0" cy="182879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50992" y="427024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+2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74536" y="4069080"/>
            <a:ext cx="0" cy="182879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254496" y="427024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+3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178040" y="4069080"/>
            <a:ext cx="0" cy="182879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858000" y="427024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+4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781544" y="4069080"/>
            <a:ext cx="0" cy="182879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461504" y="427024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+5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85048" y="4069080"/>
            <a:ext cx="0" cy="182879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065008" y="427024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+6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988552" y="4069080"/>
            <a:ext cx="0" cy="182879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668512" y="427024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+7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592056" y="4069080"/>
            <a:ext cx="0" cy="182879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272016" y="427024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+8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195560" y="4069080"/>
            <a:ext cx="0" cy="182879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875520" y="427024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+9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799064" y="4069080"/>
            <a:ext cx="0" cy="182879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479024" y="427024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+10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64024" y="4617720"/>
            <a:ext cx="4828032" cy="36576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+8 °C (альплагерь)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85048" y="3429000"/>
            <a:ext cx="1207008" cy="36576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−2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78040" y="3429000"/>
            <a:ext cx="1207007" cy="36576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−2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71032" y="3429000"/>
            <a:ext cx="1207008" cy="36576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−2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64024" y="3429000"/>
            <a:ext cx="1207008" cy="36576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−2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53512" y="2926080"/>
            <a:ext cx="1810512" cy="36576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−3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55464" y="2926080"/>
            <a:ext cx="3840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4A5A70"/>
                </a:solidFill>
                <a:latin typeface="PT Sans"/>
              </a:rPr>
              <a:t>← 4 × (−2) = −8: кайра 0гө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3000" y="21488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4A5A70"/>
                </a:solidFill>
                <a:latin typeface="PT Sans"/>
              </a:rPr>
              <a:t>Түнкү −3: нөлдөн солго</a:t>
            </a:r>
          </a:p>
        </p:txBody>
      </p:sp>
      <p:sp>
        <p:nvSpPr>
          <p:cNvPr id="55" name="Oval 54"/>
          <p:cNvSpPr/>
          <p:nvPr/>
        </p:nvSpPr>
        <p:spPr>
          <a:xfrm>
            <a:off x="2752344" y="3959352"/>
            <a:ext cx="402336" cy="402336"/>
          </a:xfrm>
          <a:prstGeom prst="ellipse">
            <a:avLst/>
          </a:prstGeom>
          <a:noFill/>
          <a:ln w="317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43000" y="5029200"/>
            <a:ext cx="59436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4A5A70"/>
                </a:solidFill>
                <a:latin typeface="PT Sans"/>
              </a:rPr>
              <a:t>Оңго = жылуу (+), солго = суук (−)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8 + 4 × (−2) − 3 = 8 + (−8) − 3 = −3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(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Кашаа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Ичин адегенде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x²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Даража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(−3)² = 9, −3² = −9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× 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Бөлүү · Көбөйтүү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Солдон оңго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+ 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Кошуу · Кемитүү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Солдон оңго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Белги: (−) × (−) = +,   (+) × (−) = −,   (−) ÷ (−) = +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Адегенде болжолдо: жооп оңбу, терсби?  −2 × (5 − 8) + 4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−2 × (5 − 8) + 4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−2 × (−3) + 4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Ка: 5 − 8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6 + 4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Кө: (−)(−) = 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Жооп = </a:t>
            </a:r>
            <a:r>
              <a:rPr sz="3400" b="1">
                <a:solidFill>
                  <a:srgbClr val="24418C"/>
                </a:solidFill>
                <a:latin typeface="PT Sans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Адегенде болжолдо: жооп оңбу, терсби?  3 − (−2)² ×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3 − (−2)² ×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3 − 4 ×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Да: (−2)² =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3 − 8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−5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Жооп = </a:t>
            </a:r>
            <a:r>
              <a:rPr sz="3400" b="1">
                <a:solidFill>
                  <a:srgbClr val="24418C"/>
                </a:solidFill>
                <a:latin typeface="PT Sans"/>
              </a:rPr>
              <a:t>−5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белги, нөл жуп, кашаа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Адегенде белги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(−6) × (−5)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белги: (−)(−) = 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6 × 5 = 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Терс сандардын саны жуп болсо – оң, так болсо – терс.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Нөл жуп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−7 + 10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−7 + 7 + 3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0 + 3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−7 жана +7 – нөл жуп: алып салабыз.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Кашаа барбы?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(−3)² = (−3) × (−3)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−3² = −(3 × 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−9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Кашаа болсо, даража терс санга тиет; жок болсо – 3кө гана.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Адегенде болжолдо (белги!) → бир сапта бир амал → болжол менен салыштыр.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Эсепте: −3² + 4 × (−2)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−17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−1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Ар бир 300 м өйдө чыкканда аба 2 °Cга муздайт. Топ 1 500 м көтөрүлдү. Температура канчага өзгөрдү?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Таңда кепеде −4 °C. Күн чыккандан кийин 3 саат бою ар саатта 3 °Cга жылыды. Канча градус болду?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Үч күндүн таңкы температурасы: −5 °C, +2 °C, −3 °C. Орточо температура канча?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Ар бир 300 м өйдө чыкканда аба 2 °Cга муздайт. Топ 1 500 м көтөрүлдү. Температура канчага өзгөрдү?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468782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−2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5710" y="3017520"/>
            <a:ext cx="468782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−2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04492" y="3017520"/>
            <a:ext cx="468782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−2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73275" y="3017520"/>
            <a:ext cx="468782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−2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42057" y="3017520"/>
            <a:ext cx="468782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−2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5 × (−2) = −10 °C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Таңда кепеде −4 °C. Күн чыккандан кийин 3 саат бою ар саатта 3 °Cга жылыды. Канча градус болду?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9600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Суук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2640" y="3017520"/>
            <a:ext cx="391498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−4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9600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Жылуу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82640" y="3574389"/>
            <a:ext cx="293623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+3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6264" y="3574389"/>
            <a:ext cx="293623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+3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69887" y="3574389"/>
            <a:ext cx="293623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+3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−4 + 3 × 3 = 5 °C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Үч күндүн таңкы температурасы: −5 °C, +2 °C, −3 °C. Орточо температура канча?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2272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1-күн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35312" y="3017520"/>
            <a:ext cx="880871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−5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2272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2-күн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35312" y="3574389"/>
            <a:ext cx="35234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+2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2272" y="413125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3-күн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35312" y="4131259"/>
            <a:ext cx="528523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−3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(−5 + 2 + (−3)) ÷ 3 = −2 °C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−6 + 2 × (−3)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(−4)² − 10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−4² − 10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(−30) ÷ (5 − 8)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 × (−3) − (−8) ÷ 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Кашаа кой → −14:  2 − 4 × 3 + 1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−6 + 2 × (−3)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−12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(−4)² − 10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−4² − 10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−26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(−30) ÷ (5 − 8)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 × (−3) − (−8) ÷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−4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Кашаа кой → −14:  2 − 4 × 3 + 1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2 − 4 × (3 + 1)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Альплагерде +8 °C. Ар бир 300 м өйдө аба 2 °Cга муздайт. Кепе 1 200 м жогору, түнкүсүн дагы 3 °C муздайт. Түнкүсүн кепеде канча градус?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Муздоо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40280"/>
            <a:ext cx="1379912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−2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7352" y="2240280"/>
            <a:ext cx="1379912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−2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37265" y="2240280"/>
            <a:ext cx="1379912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−2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17178" y="2240280"/>
            <a:ext cx="1379912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−2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97090" y="2240280"/>
            <a:ext cx="2069869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−3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−11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8 + 4 × (−2) − 3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1 200 ÷ 300 =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= 8 + (−8) − 3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Кө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2611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= 0 − 3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2611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Ко: нөл жуп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28032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= −3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828032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°C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Түнкүсүн кепеде −3 °C: жылуу кийим керек!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Ала-Арча жөнүндө маселе түз: температура же бийиктик өзгөрөт, туюнтмада терс сан жана кашаа болсун.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Айзада, Нурсултан, Бектур агай.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−2 × (5 − 8) + 4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(−12) ÷ (−3) − 2²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3 − (−2)² × 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(−3)² жана −3² ар башка?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4 × (−3) деп кашаа менен жазабыз?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Жооптун белгисин алдын ала кантип болжолдодуң?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Багытталган сандар: амалдардын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жупка эки түстүү капкак (+1/−1) жана 4 кагаз чөйчөк: 4 × (−2) = 4 топ.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туюнтмадан мурун: «Адегенде болжолдо: жооп оңбу, терсби?»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Доскада бир сапта бир амал, ар бир сап «=» менен (степпер).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−3² жана (−3)² ар сабакта: «кашаа барбы?» (М2).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