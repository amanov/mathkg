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Убакыт: 0:00–0:30 (30 секунд). Баскыч: Ачылыш.
Мугалим айтат: «Саламатсыңарбы! Бүгүн бир гана маселе менен иштейбиз, бирок аны ар бириңер өз жолуңар менен чыгарасыңар. Анан ыкмаларды салыштырып, жалпы жыйынтык чыгарабыз».
Теманын аталышындагы төрт сөздү (орточо, медиана, мода, кулач) азыр түшүндүрбөңүз: алардын маанисин окуучулар маселе аркылуу ачышат, аттарын 9-слайддагы жыйынтык тактасында беребиз.
Даярдык: тактанын сол жагын бош калтырыңыз (маселенин маалыматы сабактын аягына чейин турат); ар бир топко 30 кубик (же чакмак кагаз), 5 окуучуга 3, 4, 7, 7, 9 деген карточкалар; мини такталар же таза барак.
Бул слайдда анимация жок.
Мугалим өзүн текшерет (сабакты изилдөө):
• Бүгүнкү изилдөө суроомду (сабакты изилдөө планынан) эсиме салдымбы?
• Байкоочу кесиптешим кайсы топту карап турарын билеби?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Убакыт: 0:30–1:00 (30 секунд). Баскыч: Ачылыш.
Мугалим айтат: «Бүгүнкү үч максатты окуп берем. Сабактын аягында ар бириңер өзүңөрдү баалайсыңар».
Планды кыскача көрсөтүңүз. Маанилүү сөз: «Бүгүн туура жооп гана эмес, сенин ыкмаң жана ал кайсы суроого жооп берери маанилүү».
Бул MathKG ыкмасынын жети баскычы: ачылыш → маселе (өз алдынча) → ыкмаларды салыштыруу жана жыйынтык тактасы → түшүнүү (буюм, сүрөт, символ) → чеберчилик (мисалдар, вариация, тез машыгуу) → ой жүгүртүү (ката, текшерүү, ЖИ, бекемдөө) → жабуу.
Бул слайдда анимация жок.
Мугалим өзүн текшерет (сабакты изилдөө):
• Максатты окуучулардын тилинде айттымбы?
• Аталыштарды (орточо, медиана, мода, кулач) азырынча түшүндүрбөй кармадымбы?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Убакыт: 1:00–4:00 (3 мүнөт). Баскыч: Ачылыш.
Мугалим айтат: «Тизмени дептериңерге жазгыла жана төрт суроого 2 мүнөттө жооп бергиле». Окуучулар иштеп жатканда класс аралаңыз. Анан жоопторду бирден ачып, ар биринде бир окуучудан «Кантип таптың?» деп сураңыз. Терминдерди азырынча айтпаңыз.
Күтүлгөн жаңылыштыктар: 2-суроодо ирээттебей туруп ортодогу 7ни айтуу (бул жерде кокустан туура чыгат — «9, 3, 7, 4, 7 болсочу?» деп сураңыз: ирээттебесек 7, ирээттесек 3, 4, 7, 7, 9 → дагы 7, бирок 4, 9, 3, 7, 7 болсо ортодо 3 турат); 4-суроодо жоопко эң чоң санды (9) айтуу.
Чыкылдатуулар:
1) ирээттелген тизме: 3, 4, 7, 7, 9 (кичинесинен чоңуна).
2) 1-суроо: 4 + 7 + 7 + 9 + 3 = 30, 30 : 5 = 6.
3) 2-суроо: ирээттелген тизменин 3-орунундагы сан — 7.
4) 3-суроо: 7 эки жолу кездешет — жооп 7.
5) 4-суроо: 9 − 3 = 6.
6) «Бул төрт санды бүгүн маселе аркылуу кайра табабыз жана аларга ат беребиз».
Мугалим өзүн текшерет (сабакты изилдөө):
• Болжол менен канча окуучу төрт суроонун баарына туура жооп берди? Санын байкоо барагына жаз.
• Ирээттебей туруп ортодогу санды алгандар болдубу?
• Маалымат окутуу үчүн ойлоп табылган (чыныгы адамдар эмес).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Убакыт: 4:00–6:30 (2,5 мүнөт). Баскыч: Маселе.
Мугалим айтат: маселени жай окуп бериңиз, анан бир окуучуга кайра окутуңуз. Маалыматты тактанын сол жагына жазыңыз — ал сабактын аягына чейин өчүрүлбөйт.
АКШдан алынган «маалымат менен сүйлөшүү» (1 мүнөт): «Бул сандардан эмнени байкайсың? Эмнеге таң каласың?» Жупта 30 секунд сүйлөшүп, анан 3–4 окуучу «Мен байкайм…» же «Мен таң калам…» деп баштап айтышат. Окуучулардын сөзүн тактага жазыңыз, анан мисалдарды ачыңыз.
Күтүлгөн жооптор: «Бегимай эң жакшы секирди, ошондуктан “Шумкар” жеңди» — сураңыз: «Бир окуучу бүт команданы көрсөтөбү?»; «“Тулпардын” баары кошулса көп» — жоопту азыр баалабаңыз, бул 6-слайдда талкууланат.
Чыкылдатуулар:
1) «Мен байкайм…» мисалдары: бир окуучу көп; эң узуну 360 см; 335 эки жолу.
2) «Мен таң калам…» мисалдары: кантип адилет салыштырабыз? Жамиланын 220 см натыйжасы эмнени өзгөртөт?
3) негизги суроо: «“Жакшыраак” дегенди кантип өлчөйбүз?» — тактанын жогору жагына жазыңыз; сабактын аягында ага кайтабыз.
Мугалим өзүн текшерет (сабакты изилдөө):
• Маселени түшүндүрүп бербей, окуучуларга өздөрү ойлонууга убакыт бердимби?
• «Адилет» деген сөздү биринчи ким айтты? Анын сөзүн так жазып алдымбы?
• Секирүү натыйжалары, командалардын жана окуучулардын аттары окутуу үчүн ойлоп табылган.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Убакыт: 6:30–11:30 (5 мүнөт). Баскыч: Маселе.
Мугалим айтат: «Эсептебей туруп ойлонгула: кайсы команда жакшыраак?» А, Б, В үчүн кол көтөртүп, санын тактага жазыңыз (1 мүнөт). Анан: «Эми ар ким маселени өзү чыгарат. Каалаган ыкманы колдон. Эрте бүтсөң — экинчи ыкма менен салыштыр» (4 мүнөт). Кеңештерди бирден, көпчүлүк кыйналганда гана ачыңыз.
Аралап жүргөндө издеңиз (жапон мугалимдери муну «аралап көзөмөлдөө» дешет) жана төрт ишти белгилеп алыңыз — тактага жөнөкөйүнөн татаалына карай ушул тартипте чыгарасыз:
• А-ыкма — баарын кошуу (1 550 жана 1 800). Көбүнчө алгач ушул пайда болот; ката ыкма, бирок талкуу үчүн эң пайдалуу.
• Б-ыкма — суммасын окуучулардын санына бөлүү (310 жана 300).
• В-ыкма — ирээттеп, ортодогуну табуу. «Тулпарда» ортодо эки сан (310 жана 320) — бул ишти сөзсүз тандаңыз; ката катары 310 же 320 деп жазгандар да болот.
• Г-ыкма — эң көп кездешкен натыйжа же эң жакшы менен эң начардын айырмасы.
Күтүлгөн жаңылыштыктар: командалардын санын эске албоо; ирээттебей туруп ортодогуну алуу (300, 360, [280], 310, 300 → 280); эң жакшы бир окуучу боюнча гана жыйынтык чыгаруу. Мындай окуучуга кеңеш бериңиз, бирок туура жоопту айтпаңыз.
Окуучулардын иштеринде башка аттар болсо, кийинки слайддардагы Азамат, Бермет, Чынгыз жана Динаранын ордуна өз окуучуларыңыздын аттарын айтыңыз.
Чыкылдатуулар:
1) 1-кеңеш: командадагы окуучулардын санын унутпоо.
2) 2-кеңеш: сандарды ирээттөө.
3) 3-кеңеш: ортодо турган окуучуну табуу.
4) эрте бүткөндөргө: башка ыкма менен салыштыруу.
Мугалим өзүн текшерет (сабакты изилдөө):
• 4 мүнөт бою жоопту айтпай чыдадымбы? Кеңешти качан жана канча окуучуга ачтым?
• Тактага чыгара турган 3–4 иштин ээлерин жазып алдымбы?
• Канча окуучу кеминде бир ыкма менен баштады?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Убакыт: 11:30–13:30 (2 мүнөт). Баскыч: Салыштыруу.
Мугалим айтат: «Азаматтын ишин карайлы. Ал эмне кылды?» Тактага окуучунун өз ишин чыгарыңыз (же слайдды колдонуңуз). Ар бир кадамдан мурун класстан сураңыз: «Кийинки кадам кандай?»
Күтүлгөн жооптор: «Азамат туура кошту — “Тулпар” жеңди» деген окуучулар көп болот. Талашпаңыз — «эгер “Тулпарга” дагы бир окуучу кошулуп, ал 100 см секирсе, сумма көбөйөбү? Команда жакшырдыбы?» деп сураңыз. Ушул суроо Берметтин ыкмасына көпүрө болот.
Берметтин ыкмасын «бардыгы бирдей секиргенде ар бири канча секирмек?» деп түшүндүрүңүз — бул орточонун мааниси (аты 9-слайдда берилет).
Чыкылдатуулар:
1) Азамат, 1-кадам: «Шумкардын» суммасы 1 550.
2) Азамат, 2-кадам: «Тулпардын» суммасы 1 800.
3) Азаматтын жыйынтыгы: «“Тулпар” жеңди». Класстан сураңыз: макулсуңарбы?
4) «Азаматтын ыкмасы адилетпи?» — 30 секунд жупта талкуу. Күтүлгөн жооп: жок, «Тулпарда» бир окуучу көп.
5) Бермет, 1-кадам: 1 550 : 5 = 310.
6) Бермет, 2-кадам: 1 800 : 6 = 300.
7) жыйынтык: бир окуучуга орто эсеп менен 310 &gt; 300 — «Шумкар» алдыда (болжолдор менен салыштырыңыз).
Мугалим өзүн текшерет (сабакты изилдөө):
• Ыкманы окуучу өзү түшүндүрдүбү же мен айтып бердимби?
• Азаматтын ыкмасын урматтап, класс үчүн пайдалуу ката катары талкууладыкпы?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Убакыт: 13:30–15:30 (2 мүнөт). Баскыч: Салыштыруу.
Мугалим айтат: «Чынгыз башкача ойлоду: ортодо турган окуучу канча секирди?» Окуучулардан сураңыз: «“Тулпарда” ортодо ким турат?» Бул слайддын эң маанилүү жери — жуп сандагы тизме.
Күтүлгөн жаңылыштыктар: «“Тулпарда” ортодо 310» же «320» (бирөөнү гана алышат); «ортодо 320, анткени ирээттебеген тизмеде 3-сан 320». Жооп: 6 сандын так ортосу эки сандын ортосунда жатат, ошондуктан ал эки сандын ортосундагы санды алабыз: (310 + 320) : 2 = 315. Эгер окуучу ирээттебей туруп «220 менен 320» деп алса, анын ишин «Катаны тап» үчүн сактап коюңуз.
Динаранын ыкмасы эки башка суроого жооп берет: «Эң көп кездешкен натыйжа кайсы?» жана «Натыйжалар канчалык чачыранды?» Айырма кичине болсо, команда бир калыпта.
Чыкылдатуулар:
1) «Шумкар» ирээттелди: 280, 300, 300, 310, 360; ортодогусу айланага алынды.
2) 5 сан — ортодогусу 3-сан: 300.
3) «Тулпар» ирээттелди: 220, 280, 310, 320, 335, 335; ортодо эки сан — 310 жана 320. Сураңыз: «Эми эмне кылабыз?»
4) жооп: (310 + 320) : 2 = 315; ортодогу окуучу боюнча «Тулпар» алдыда.
5) Динара, эң көп кездешкен: «Шумкар» 300, «Тулпар» 335 (экөө тең 2 жолу).
6) Динара, айырма: 360 − 280 = 80; 335 − 220 = 115.
7) «Шумкар» бир калыпта: 80 &lt; 115.
Мугалим өзүн текшерет (сабакты изилдөө):
• Жуп сандагы тизменин медианасын (315) канча окуучу өзү тапты?
• Ката ыкманы классты ойлондурууга колдондумбу?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Убакыт: 15:30–18:00 (2,5 мүнөт). Баскыч: Салыштыруу.
Мугалим айтат: «Ар бир ырастоону окуйм. 30 секунд жупта сүйлөшкүлө, анан белги менен көрсөткүлө. Жообуңду “анткени…” деп негизде».
Бул — шаблондон алынган талкуу иши. Туура жооп бирөө гана эмес: «Балким» — «кайсы өлчөм менен?» деген суроого жол ачат. Убакыт жетсе, «Ооба… Жок… Балким…» презентациясынан калган ырастоолорду көрсөтүңүз (медиана 315 &gt; 300; эң узун секирик 360; мода 335; кулач).
Чыкылдатуулар:
1) 1-ырастоо: Балким — орточого өтө кичине маани таасир берет.
2) 2-ырастоо: Жок — окуучулардын саны ар башка, сумманы салыштыруу адилет эмес.
3) 3-ырастоо: Ооба — 1 580 : 5 = 316.
Мугалим өзүн текшерет (сабакты изилдөө):
• Окуучулар жоопту «анткени…» деп негиздедиби?
• Кайсы ырастоодо класс эки топко бөлүндү? Аны байкоо барагына жаз.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Убакыт: 18:00–19:30 (1,5 мүнөт). Баскыч: Салыштыруу.
Мугалим айтат: «Төрт ыкма тактада катар турат. Ар бир катардан мурун жупта 20 секунд ойлонгула: бул ыкма боюнча ким алдыда жана ал кайсы суроого жооп берет?» Бул — жапон сабагынын жүрөгү: ыкмаларды салыштырып талкуулоо.
Күтүлгөн жооптор: «Анда ким жеңди?!» — окуучулар бир жоопту талап кылышат. Жооп: «Жеңүүчү биз кайсы суроону берээрибизден көз каранды. Эгер ар бир окуучунун орто эсеп менен натыйжасы керек болсо — “Шумкар”; эгер типтүү, ортодогу окуучу керек болсо — “Тулпар”; эгер команда бир калыпта болсун десек — “Шумкар”».
Кошумча суроо (убакыт калса): «Эгер Жамила (220) секирбесечи?» Жооп: «Тулпардын» орточосу 1 580 : 5 = 316, ортодогусу 320 болот — бир өтө кичине сан тең бөлүүнү көп өзгөртөт, ортодогуну аз өзгөртөт.
Чыкылдатуулар:
1) А, баарын кошуу: адилетсиз — окуучулардын саны башка.
2) Б, тең бөлүү: 310 &gt; 300 — «Шумкар».
3) В, ортодогу натыйжа: 315 &gt; 300 — «Тулпар».
4) Г, эң көп кездешкен: 335 &gt; 300 — «Тулпар».
5) Г, айырма: 80 &lt; 115 — «Шумкар» бир калыпта.
6) негизги ой: бир гана туура жооп жок; суроо өлчөмдү тандайт.
Мугалим өзүн текшерет (сабакты изилдөө):
• Ар бир ыкма кайсы суроого жооп берерин окуучулар өз сөзү менен айттыбы, же мен айттымбы?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Убакыт: 19:30–20:30 (1 мүнөт). Баскыч: Салыштыруу.
Мугалим айтат: «Ыкмаларыңарга математикадагы аттарын беребиз». Бул — жапон сабагындагы жыйынтык тактасы: сабактын бүт жолу (маселе, окуучулардын ыкмалары, аталыштар) бир тактада өчүрүлбөй турат. Окуучулар ушул тактаны дептерге көчүрүшөт (1 мүнөт).
Ар бир аталышты ачканда сураңыз: «Бул кимдин ыкмасы?» (Бермет — орточо, Чынгыз — медиана, Динара — мода жана кулач). Азаматтын ыкмасына ат бербейбиз — ал «сумма», салыштыруу үчүн топтор бирдей болушу керек.
Күтүлгөн суроо: «Мода жок болушу мүмкүнбү?» — Ооба: 1, 2, 3 тизмесинде ар бир сан бир жолу, мода жок. 2, 2, 5, 5 тизмесинде эки мода бар: 2 жана 5.
Чыкылдатуулар:
1) орточо арифметикалык = суммасы : саны (Берметтин ыкмасы): 310 жана 300.
2) медиана — ирээттелген тизменин ортосундагы сан; жуп болсо, эки ортонкунун орточосу (Чынгыз): 300 жана 315.
3) мода — эң көп кездешкен сан (Динара): 300 жана 335.
4) кулач = эң чоң − эң кичине (Динара): 80 жана 115.
5) жыйынтык: жооп суроодон көз каранды.
Мугалим өзүн текшерет (сабакты изилдөө):
• Жыйынтык тактасында окуучулардын өз сөздөрү жана аттары калдыбы?
• Такта сабактын аягына чейин өчүрүлбөй турабы?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Убакыт: 20:30–22:30 (2 мүнөт). Баскыч: Түшүнүү.
Мугалим айтат: «Берметтин “тең бөлүү” ыкмасын колго кармап көрөбүз». Сингапурдун буюм → сүрөт → символ (БСС) жолу.
Буюм (1 мүнөт): 5 топко кубиктер; ар бир топ 4, 7, 7, 9, 3 кубиктен мунара курат. Тапшырма: «Кубиктерди жылдырып, бардык мунараны бирдей кылгыла. Кубикти ыргытууга же кошууга болбойт». Кубик жок болсо, дептерге чакмак тартышат.
Сураңыз: «Кубиктерди жылдырганда алардын жалпы саны өзгөрөбү?» Күтүлгөн жооп: жок — 30 бойдон калат. Бул орточонун маанисин түшүндүрөт: сумма сакталат, тең бөлүнөт.
Күтүлгөн жаңылыштык: кээ бир окуучулар бардык мунараны эң бийигине (9) теңдегиси келет — «анда кубиктерди кошуп жатасың, кубик жок» деп эскертиңиз.
Чыкылдатуулар:
1) 9 кубиктүү мунарадан 3 кубик 3 кубиктүү мунарага жылды: 9 → 6, 3 → 6.
2) эки 7 кубиктүү мунарадан бирден 4 кубиктүү мунарага: 7 → 6, 4 → 6.
3) үзүк жашыл сызык: баары 6 кубиктен — теңделди.
4) сүрөт: мунаралар бир тилкеге тизилди — бүт тилке 30 кубик.
5) ошол эле тилке 5 бирдей бөлүккө бөлүндү: ар бири 6; тилкенин узундугу өзгөрбөдү.
6) символ, 1-кадам: суммасы 30.
7) символ, 2-кадам: 30 : 5 = 6.
8) эреже: орточо = суммасы : саны = 6. Окуучулар дептерге жазышат.
Мугалим өзүн текшерет (сабакты изилдөө):
• Кубиктерди окуучулар өз колу менен жылдырдыбы?
• «Сумма сакталат, тең бөлүнөт» деген ойду ким айтты?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Убакыт: 22:30–24:00 (1,5 мүнөт). Баскыч: Түшүнүү.
Мугалим айтат: «Чынгыз менен Динаранын ыкмаларын колго кармап көрөбүз».
Медиана (буюм): беш окуучу 4, 7, 7, 9, 3 карточкаларын кармап тактанын алдында кичинесинен чоңуна тизилет. Эки четтеги окуучулар бир убакта отурат; ортодо бир окуучу калганча кайталайбыз. Анан 1 деген карточкасы бар алтынчы окуучу кошулат: ортодо ЭКИ окуучу калат — «Эми эмне кылабыз?» (Чынгыздын «Тулпардагы» ыкмасы).
Мода (сүрөт): тактадагы сан огуна ар ким өз санынын үстүнө магнит (же чекит) коёт — эң бийик мамыча мода.
Кулач: 9 жана 3 кубиктүү мунараларды катар коюп сураңыз: «Жапыз мунара бийикке жетиши үчүн канча кубик керек?»
Күтүлгөн жаңылыштыктар: жуп тизмеде «ортодо 4 жана 7, медиана 47» же «медиана 4» деп айтуу; мода үчүн эң чоң санды (9) айтуу; кулачка эң чоң санды айтуу. Ар бирине сүрөткө кайра кайрылып жооп бериңиз.
Чыкылдатуулар:
1) эки четтен экиден карточка сызылды (3 жана 9, анан 4 жана 7).
2) ортодо калды: медиана = 7.
3) 1 кошулду: 1, 3, 4, 7, 7, 9 — ортодо эки сан: 4 жана 7.
4) жооп: (4 + 7) : 2 = 5,5. Медиана тизмеде жок сан болушу мүмкүн.
5) чекиттүү диаграмма: ар бир сан — бир чекит; 7нин үстүндө эки чекит.
6) эң бийик мамыча: мода = 7.
7) эң бийик (9) жана эң жапыз (3) мамычалар, ортосундагы аралык «?».
8) жооп: 9 − 3 = 6 — кулач.
Мугалим өзүн текшерет (сабакты изилдөө):
• Карточкаларды окуучулар өздөрү ирээттедиби?
• Чекит сүрөтүндө моданы дароо көргөндөр болдубу?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Убакыт: 24:00–25:30 (1,5 мүнөт). Баскыч: Түшүнүү.
Мугалим айтат: «Кытай мугалимдери айткандай: аныктаманы так билген адам “мисал эмести” дароо таанийт». Аныктамаларды бирге хор менен окуңуз. Ар бир «мисал эмес» ачылардан мурун сураңыз: «Бул жерде эмне туура эмес?» — окуучулар мини тактага бир сөз менен жазышат (мисалы, «ирээт», «саны»).
Күтүлгөн жаңылыштыктар: орточодо сумманы туура эмес санга бөлүү; медианада ирээттебөө; модада эң чоң санды алуу; кулачта эң чоң санды айтуу — так ушул төрт ката «мисал эмес» тилкесинде.
Чыкылдатуулар:
1) орточо, мисал эмес: 20 : 5 — сандардын саны 4.
2) медиана, мисал эмес: ирээттелбеген тизменин ортосу.
3) мода, мисал эмес: эң чоң сан эмес, эң көп кездешкен сан.
4) кулач, мисал эмес: эң чоң сан эмес, айырма.
5) эскертүү: орточо жана медиана тизмеде жок сан болушу мүмкүн.
Мугалим өзүн текшерет (сабакты изилдөө):
• «Мисал эмес» бөлүгүндө окуучулар эмне үчүн мисал эмес экенин түшүндүрө алдыбы?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Убакыт: 25:30–27:00 (1,5 мүнөт). Баскыч: Чеберчилик.
Мугалим айтат: «Эми тартипти үйрөнөбүз. Ар бир кадамдан мурун мен суроо берем, силер айтасыңар, анан ачам». Окуучулар дептерге кадамдарды көчүрүшөт.
Кадам сайын сураңыз: «Биринчи эмне кылабыз?» (ирээттөө — медиана, мода жана кулач үчүн жеңил болот). «7 сан — ортодогусу нечеси?» (4-сан: сол жагында 3, оң жагында 3).
Күтүлгөн жаңылыштыктар: 91 : 7 эсептөөдө ката (7 × 13 = 91 деп текшертиңиз); медианага ирээттелбеген тизменин 4-санын (12) алуу — бул жерде кокустан туура чыгат, ошондуктан «ирээттебей туруп туура чыкты — бул бактылуу учур» деп эскертиңиз.
Чыкылдатуулар:
1) 1-кадам: ирээттейбиз — 9, 11, 12, 12, 14, 15, 18.
2) 2-кадам: суммасы 91; 91 : 7 = 13.
3) 3-кадам: медиана — 4-сан, 12.
4) 4-кадам: мода — 12 (2 жолу).
5) 5-кадам: кулач — 18 − 9 = 9.
6) «Эмне үчүн орточо медианадан чоң?» Күтүлгөн жооп: 18 литр башкалардан көп, ал орточону өйдө тартат; медианага ал таасир этпейт.
7) жооп: орточо 13 л, медиана 12 л, мода 12 л, кулач 9 л.
Мугалим өзүн текшерет (сабакты изилдөө):
• Ар бир кадамдан мурун «Кийинки кадам кандай?» деп сурадымбы?
• Жоопту ачардан мурун 3–5 секунд күттүмбү?
• Сүт боюнча маалымат окутуу үчүн ойлоп табылган.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Убакыт: 27:00–28:30 (1,5 мүнөт). Баскыч: Чеберчилик.
Мугалим айтат: «Бул жолу кадамдарды мен бербейм — силер жазасыңар. Ар бир кадамдан кийин мини тактаны көтөргүлө». Бул «колдоону азайтуу» — мисалдан өз алдынча ишке көпүрө.
Ар бир кадамда 20–30 секунд бериңиз, класс бир убакта көрсөтөт, анан ачыңыз.
Күтүлгөн жаңылыштыктар (тизмеде жоопторду кароо үчүн):
• медиана 6 же 9 (бир санды гана алуу) → «6 сандын ортосу кайда? Сол жагында канча, оң жагында канча?»;
• медиана (12 + 6) : 2 = 9 — ирээттелбеген тизменин 3- жана 4-сандары → 1-кадамга кайтыңыз;
• орточо 42 : 5 → «канча окуучу?»;
• кулач 12 (эң чоң санды айтуу).
Канааттанарлык деңгээл: класстын 80%ы медиананы туура тапса, андан ары өтүңүз; болбосо 11-слайддагы карточкаларга кайтыңыз.
Чыкылдатуулар:
1) ирээттелген тизме: 1, 5, 6, 9, 9, 12.
2) орточо: 9 + 5 + 12 + 6 + 9 + 1 = 42; 42 : 6 = 7.
3) медиана: 3- жана 4-сандар 6 жана 9; (6 + 9) : 2 = 7,5.
4) мода: 9 (эки жолу).
5) кулач: 12 − 1 = 11.
6) жооп: орточо 7, медиана 7,5, мода 9, кулач 11.
Мугалим өзүн текшерет (сабакты изилдөө):
• Колдоо азайганда кыйналган окуучуларды белгиледимби?
• Канча окуучу жуп тизменин медианасын туура тапты?
• Китептер боюнча маалымат окутуу үчүн ойлоп табылган.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Убакыт: 28:30–30:00 (1,5 мүнөт). Баскыч: Чеберчилик.
Мугалим айтат: «Ар бир катарда бир гана нерсе өзгөрөт. Адегенде эсептебей болжолдогула: төрт өлчөмдүн кайсынысы өзгөрөт?» Ар бир катардан мурун окуучулар мини тактага өзгөрө турган өлчөмдөрдү жазышат (мисалы, «О, К»), 15 секунд, анан ачасыз. Бул — Кытай сабагынын «вариациясы».
Күтүлгөн жаңылыштыктар: «9 → 14 болсо, баары өзгөрөт» (медиана 7 бойдон калат — ортодогу сан ордунда турат); «+10 кошсок, кулач да +10» (жок: эң чоң да, эң кичине да +10, айырма ошол бойдон); «6-сан кошулса, медиана ошол эле сан» (6 сан болду — ортодо эки сан: 14 жана 17).
Текшерүү: 3-катар 11 + 13 + 14 + 17 + 17 + 24 = 96, 96 : 6 = 16; 4-катар 192 : 6 = 32.
Чыкылдатуулар:
1) 1-катар 9 → 14: суммасы 35, орточо 7; медиана 7 (өзгөргөн жок); мода 7; кулач 14 − 3 = 11.
2) ар бирине +10: орточо, медиана, мода 10го чоңоюп 17 болду; кулач 11 бойдон.
3) 11 кошулду: 96 : 6 = 16; медиана (14 + 17) : 2 = 15,5; мода 17; кулач 24 − 11 = 13.
4) ар бирин × 2: 192 : 6 = 32; медиана (28 + 34) : 2 = 31; мода 34; кулач 48 − 22 = 26 — баары 2 эсе.
5) жыйынтык: бир чоң сан орточо менен кулачты өзгөртөт, медиананы өзгөртпөйт; +10 кулачты өзгөртпөйт; × 2 баарын 2 эсе чоңойтот.
Мугалим өзүн текшерет (сабакты изилдөө):
• Окуучулар эсептөөдөн мурун болжолдодубу? Канча болжол туура чыкты?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Убакыт: 30:00–35:00 (5 мүнөт). Баскыч: Чеберчилик.
Мугалим айтат: эрежени 3 кадам менен түшүндүрүңүз, анан мисал плакат менен көрсөтүңүз. Плакаттар сабакка чейин дубалга аралаш илинген болушу керек; ар бир жупка бир жооп барагы. Иштөө убактысы 4 мүнөт: баары 16 плакатты бүтүрбөсө да болот — канча плакат туура экенин санайбыз.
Бул — шаблондон алынган «кенч издөө» иши. Суроолор орточо, медиана, мода, кулачты аралаш машыктырат; бардык 16 жооп ар башка, ошондуктан туура эмес жооп окуучуну жок плакатка алып барат — ал өзүн дароо текшерет.
Күтүлгөн жаңылыштыктар: медиананы ирээттебей алуу (сураңыз: «ирээттедиңби?»); жуп тизменин медианасы (40, 10, 30, 20 → 25; 4, 1, 3, 2 → 2,5).
Чыкылдатуулар:
1) 1-кадам: суроону чыгар.
2) 2-кадам: жообуңду башка плакаттын жогорку кутусунан изде.
3) 3-кадам: тамганы жана жоопту жооп барагына жаз.
4) мисал: 20 : 4 = 5 → жогорусунда «5» жазылган плакат.
Мугалим өзүн текшерет (сабакты изилдөө):
• Канча жуп кеминде 8 плакатты туура өттү?
• Туура эмес плакатка барган жуп өз катасын өзү таптыбы?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Убакыт: 35:00–36:00 (1 мүнөт). Баскыч: Ой жүгүртүү.
Мугалим айтат: «Эрлан менен Сезимге жардам берели. Ката кайда? Аны кантип оңдойбуз?» Жупта 30 секунд талкуу, анан бир жуп айтат. Окуучулардын өз иштеринде ушундай ката болсо (5-слайддагы иштерден), атын айтпай ошол ишти көрсөтүңүз — бул пайдалуу ката.
Маанилүү: ката — уят эмес, сабак. «Эрлан эмнени туура жасады?» деп да сураңыз (жуп тизмеде эки сандын орточосун алды — бул туура ой).
Чыкылдатуулар:
1) Эрландын катасы: ирээттебей ортодогу эки санды алды.
2) туура: 3, 4, 5, 6, 8, 10 → (5 + 6) : 2 = 5,5.
3) Сезимдин катасы: 6 сан бар, ал 5ке бөлдү.
4) туура: 36 : 6 = 6.
5) эреже: ирээтте → сана → жуп болсо эки ортонкунун орточосу.
Мугалим өзүн текшерет (сабакты изилдөө):
• Окуучулар катаны таап гана койбой, анын себебин айтыштыбы?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Убакыт: 36:00–37:00 (1 мүнөт). Баскыч: Ой жүгүртүү.
Мугалим айтат: «15 секунд ойлонгула. Тамганы мини тактага жазгыла. Үч, эки, бир — көтөргүлө!» Бул — Улуу Британиядагы «бурулуш суроо» (сабакты улантуу же кайра түшүндүрүү керекпи, ушул суроо көрсөтөт). Класстагы жоопторду тез санаңыз.
Ар бир жооп эмнени билдирет жана эмне кылуу керек:
• А (10) — ирээттебей ортодогуну алды. Чара: 11-слайддагы карточкаларга кайтып, ошол окуучулар менен 1 мүнөт иштеңиз.
• Б (5) — медиананы орточо менен чаташтырды. Чара: 9-слайддагы тактаны көрсөтүп, «медиана — ортодо ТУРГАН сан» деп кайталаңыз.
• В (2) — медиананы мода менен чаташтырды. Чара: «эң көп» жана «ортодогу» деген сөздөрдү салыштырыңыз.
• Г (4) — туура.
Эреже: 80%дан көбү Г тандаса, улантыңыз; болбосо 1 мүнөт кайра түшүндүрүп, ушундай дагы бир суроо бериңиз (мисалы, 9, 1, 6, 1, 3 → 3).
Чыкылдатуулар:
1) А, Б, В жоопторунун астында ар бири кайсы жаңылыштык экени ачылат.
2) туура жооп Г: 2, 2, 4, 7, 10 → медиана 4.
Мугалим өзүн текшерет (сабакты изилдөө):
• Ар бир вариантты канча окуучу тандады? Санын байкоо барагына жаз.
• А же Б көп болсо, кайра түшүндүрүүгө 2 мүнөт калтырдымбы?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Убакыт: 37:00–38:30 (1,5 мүнөт). Баскыч: Ой жүгүртүү.
Мугалим айтат: «Мен шарт айтам. 30 секунд ойлонуп, мини тактага тизме жаз. 3, 2, 1 — көрсөткүлө!» Бул — шаблондон алынган «Көрсөт» иши: жооп бирөө эмес, ошондуктан ар бир окуучу ойлонот. 2–3 ар башка тактаны тандап, класс менен текшериңиз: шарт аткарылдыбы? Андан кийин гана мисалды ачыңыз.
Күтүлгөн жаңылыштыктар: 1-суроодо ирээттелбеген тизме (мисалы 9, 1, 6, 8, 2 — ортодо 6 турат, бирок ирээттесек 1, 2, 6, 8, 9 болот; окуучу ирээттеп текшерсин); 2-суроодо 5, 15 (орточо 10, бирок кулачы 10); 3-суроодо бардык сандар жакын — орточо медианадан чоң болушу үчүн бир чоң сан керек.
Чыкылдатуулар:
1) 1-мисал: 1, 2, 6, 8, 9.
2) 2-мисал: 10, 10, 10.
3) 3-мисал: 1, 2, 3, 4, 20 (медиана 3, орточо 6).
Мугалим өзүн текшерет (сабакты изилдөө):
• Канча ар башка туура мисал көрдүм?
• Шартты аткарбаган тактаны класс менен талкууладыкпы?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Убакыт: 38:30–40:00 (1,5 мүнөт). Баскыч: Ой жүгүртүү.
Мугалим айтат: «Бүгүн ЖИ, жарнама, жаңылыктар сандарды көп айтат. Сан туура болушу мүмкүн, бирок адамды жаңылыштырат. Карап көрөлү». Бул слайд — ЖИ доорундагы сын ой: окуучу ар бир «орточону» текшерүүнү үйрөнөт.
Адегенде сураңыз (30 секунд, жупта): «Бул фирмага жумушка кирсең, 50 000 сом аласыңбы?» Кол көтөртүңүз.
Күтүлгөн жооптор: «Ооба, ЖИ эсептеди — туура» → «Эсеп туура, бирок кимдин айлыгы 50 000дөн жогору?»; «Директорду алып салуу керек» → жакшы ой, бирок чынчыл жол — аны алып салбай, медиананы колдонуу же «директорсуз» деп ачык айтуу.
Маалымат мисал үчүн ойлоп табылган (чыныгы фирма эмес).
Корутунду суроо: «Кийинки жолу ЖИ же жарнама “орточо” десе, эмнени сурайсың?» — 1) кимдер эсептелди; 2) өтө чоң же өтө кичине сан барбы; 3) медианасы канча.
Чыкылдатуулар:
1) орточо: 20 000 + 22 000 + 22 000 + 25 000 + 26 000 + 185 000 = 300 000; 300 000 : 6 = 50 000 (сызык). Эсеп туура.
2) бирок 6 кызматкердин 5и 50 000дөн аз алат — 50 000дөн көп алган бир гана директор.
3) медиана: ирээттелген тизменин 3- жана 4-сандары 22 000 жана 25 000; (22 000 + 25 000) : 2 = 23 500 (жашыл сызык).
4) мода: 22 000 (эки жолу).
5) жыйынтык: кадимки кызматкер үчүн чынчыл өлчөм — медиана 23 500 сом; бир өтө чоң сан орточону өйдө тартат.
Мугалим өзүн текшерет (сабакты изилдөө):
• Окуучулар жасалма интеллекттин жообуна дароо ишенбей, текшерүү суроосун коюштубу?
• «Медиана» деген сөздү ким өзү колдонду?
• Айлык акылар боюнча маалымат окутуу үчүн ойлоп табылган (чыныгы фирма эмес).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Убакыт: 40:00–41:00 (1 мүнөт). Баскыч: Ой жүгүртүү.
Мугалим айтат: «Ар бир пикирди окуйм. Мини тактага А (ар дайым), К (кээде) же Э (эч качан) деп жазгыла жана мисал ойлогула». Бул Улуу Британиянын «ар дайым / кээде / эч качан» ыкмасы: жооп гана эмес, далил керек. «Кээде» деген жоопко эки мисал керек — бири туура, бири туура эмес.
Күтүлгөн жооптор: 1-пикирге «ар дайым» (3, 4, 7, 7, 9 мисалын эсине салыңыз — орточо 6 тизмеде жок); 4-пикирге «ар дайым» (15-слайддагы 9 → 14 катарын көрсөтүңүз — медиана өзгөргөн жок).
Чыкылдатуулар:
1) 1-пикир — кээде: 2, 4, 6 → 4 тизмеде бар; 3, 4, 7, 7, 9 → 6 тизмеде жок.
2) 2-пикир — ар дайым: медиана ирээттелген тизменин ортосунда.
3) 3-пикир — эч качан: эң чоң сандан эң кичинени кемитсек, 0 же оң сан чыгат.
4) 4-пикир — кээде: 1, 2, 3 тизмесинде 2 → 5 болсо, медиана 3 болот; 3 → 10 болсо, 2 бойдон калат.
Мугалим өзүн текшерет (сабакты изилдөө):
• «Кээде» деген жооп үчүн окуучулар мисал да, каршы мисал да келтиришти бекен?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Убакыт: 41:00–41:30 (30 секунд). Баскыч: Жабуу.
Мугалим айтат: «30 секунд. Дептериңерге же баракка белгилегиле». Таблицаны дептерге тез көчүрүшөт же басылган барак колдонулат.
Күтүлгөн натыйжа: «Жардам керек» деп белгилеген окуучуларды эстеп калыңыз — кийинки сабактын башында ошолорго 11-слайддагы карточкалар менен кыска иш бериңиз. 2-сап (жуп тизменин медианасы) көп белгиленсе, кийинки сабактын эске салуусун ошого арнаңыз.
Бул слайдда анимация жок.
Мугалим өзүн текшерет (сабакты изилдөө):
• Окуучулардын өзүн баалоосу менин байкоом менен дал келеби?
• Кийинки сабакта кимге кайра колдоо керек?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Убакыт: 41:30–43:30 (2 мүнөт). Баскыч: Жабуу.
Мугалим айтат: «2 мүнөт. Ар ким өзү. Бул баа үчүн эмес — мен кийинки сабакты ушул баракчалар боюнча пландайм». Жоопторду баары тапшыргандан кийин гана ачыңыз (же такыр ачпаңыз, эгер убакыт жок болсо).
Баракчаларды үч топко бөлүңүз: 3 суроо туура — «чебер»; 1-суроо туура, 2-суроо ката — жуп тизмени кайталоо керек; 1-суроодо ката — кийинки сабакта 11-слайддагы буюмдар менен кайталоо.
Текшерүү: 1) 5 + 9 + 4 + 9 + 8 = 35, 35 : 5 = 7; ирээттелгени 4, 5, 8, 9, 9 → медиана 8; мода 9; кулач 9 − 4 = 5. 2) 3, 4, 5, 8, 9, 9 → (5 + 8) : 2 = 6,5. 3) 900 + 950 + 1 000 + 1 050 + 6 000 = 9 900; 9 900 : 5 = 1 980 миң сом — орточо; медиана 1 000 миң сом. Чынчыл жооп — медиана, анткени 6 000 миң сомдук бир үй орточону өйдө тартат.
Чыкылдатуулар:
1) жооптор: 1) орточо 7, медиана 8, мода 9, кулач 5; 2) 6,5; 3) медиана — 1 000 миң сом (орточо 1 980 миң сом жаңылыштырат).
Мугалим өзүн текшерет (сабакты изилдөө):
• Чыгуу билеттерин үч топко бөлдүмбү: бекем / дээрлик / кайра керек?
• Бул билеттер сабакты изилдөөнүн далили катары сакталдыбы?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Убакыт: 43:30–44:30 (1 мүнөт). Баскыч: Жабуу.
Мугалим айтат: «1–3 баарына милдеттүү. 4 жана 5 — ойлонуп жазгыла: жооп гана эмес, түшүндүрмө керек». Тапшырмаларды тактага же топко жөнөтүңүз.
ЖООПТОР (мугалим үчүн гана):
1-тапшырма: 6 + 10 + 3 + 8 + 3 = 30, 30 : 5 = 6; ирээттелгени 3, 3, 6, 8, 10 → медиана 6; мода 3; кулач 10 − 3 = 7.
2-тапшырма: 14 + 9 + 11 + 16 + 12 + 10 = 72, 72 : 6 = 12; ирээттелгени 9, 10, 11, 12, 14, 16 → медиана (11 + 12) : 2 = 11,5; мода жок (ар бир сан бир жолу); кулач 16 − 9 = 7.
3-тапшырма: 5 × 18 = 90; 90 + 72 = 162; 162 : 6 = 27 жаш.
4-тапшырма: 0 + 1 + 0 + 2 + 12 = 15, 15 : 5 = 3 — эсеп туура, бирок бир оюндагы 12 гол орточону өйдө тартты. Ирээттелгени 0, 0, 1, 2, 12 → медиана 1, мода 0. Кадимки оюнду медиана (1 гол) чынчыл көрсөтөт.
5-тапшырма: Ар дайым: эң чоң сан да, эң кичине сан да 5ке чоңоёт, айырма өзгөрбөйт. Мисалы: 3, 4, 7, 7, 9 → кулач 6; 8, 9, 12, 12, 14 → кулач 6.
Бул слайдда анимация жок.
Мугалим өзүн текшерет (сабакты изилдөө):
• Үй тапшырмасы бүгүнкү ыкмаларга (салыштыруу, текшерүү) байланыштуубу?
• Үй тапшырмасынын маалыматы окутуу үчүн ойлоп табылган.
• Ушул топтомдун иш барактары: «Кодду ач» оюн барагы, «Бекемдөө» барагы, «Кадам-кадам» барагы, «Карточкаларды ирге» барагы. Шаблондон иш-аракеттер: «Ооба… Жок… Балким…», «Көрсөт…», «Кенч издөө» (16 плакат), «Блокбастер» (команда оюну), «Туура/туура эмес лабиринт». Сабакты изилдөө топтому: план, байкоо барагы, ой жүгүртүү жана версия журналы.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Убакыт: 44:30–44:45 (15 секунд). Баскыч: Жабуу.
Мугалим айтат: «Кийинки сабакта көп маалымат менен иштейбиз. 20 сан болсо, ирээттөө узак. Үйдө ойлонуп келгиле: кантип тез табабыз?»
Мугалим үчүн (окуучуларга айтпаңыз): жыштыктар 1 — 3, 2 — 9, 3 — 5, 4 — 2, 5 — 1 (баары 20). Мода 2; медиана — 10- жана 11-сандардын орточосу: (2 + 2) : 2 = 2; суммасы 3 + 18 + 15 + 8 + 5 = 49, орточо 49 : 20 = 2,45.
Бул слайдда анимация жок.
Мугалим өзүн текшерет (сабакты изилдөө):
• Кийинки сабакта бүгүнкү жыйынтык тактасынан эмнени кайра колдоном?
• Кийинки сабактын маалыматы окутуу үчүн ойлоп табылган.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Убакыт: 44:45–45:00 (15 секунд). Баскыч: Жабуу.
Мугалим айтат: окуучуларга рахмат айтыңыз. Сабак боюнча пикириңизди, табылган каталарды жана сунуштарды mathematicskgz@gmail.com дарегине жөнөтүңүз.
Бул слайдда анимация жок.
Мугалим өзүн текшерет (сабакты изилдөө):
• Сабактан кийин 10 мүнөттүн ичинде ой жүгүртүү барагын толтурдумбу?
• Версия журналына кийинки жолу эмнени өзгөртөрүмдү жаздымбы?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92240"/>
            <a:ext cx="438912"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99AA"/>
                </a:solidFill>
                <a:latin typeface="Golos Text"/>
                <a:ea typeface="Golos Text"/>
                <a:cs typeface="Golos Text"/>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92240"/>
            <a:ext cx="438912"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99AA"/>
                </a:solidFill>
                <a:latin typeface="Golos Text"/>
                <a:ea typeface="Golos Text"/>
                <a:cs typeface="Golos Text"/>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mailto:mathematicskgz@gmail.com" TargetMode="Externa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11457432" cy="6080760"/>
          </a:xfrm>
          <a:prstGeom prst="roundRect">
            <a:avLst>
              <a:gd name="adj" fmla="val 5000"/>
            </a:avLst>
          </a:prstGeom>
          <a:solidFill>
            <a:srgbClr val="FFFFFF"/>
          </a:solidFill>
          <a:ln w="19050">
            <a:solidFill>
              <a:srgbClr val="1D3557"/>
            </a:solidFill>
            <a:prstDash val="solid"/>
          </a:ln>
        </p:spPr>
      </p:sp>
      <p:sp>
        <p:nvSpPr>
          <p:cNvPr id="3" name="Shape 1"/>
          <p:cNvSpPr/>
          <p:nvPr/>
        </p:nvSpPr>
        <p:spPr>
          <a:xfrm>
            <a:off x="804672" y="788213"/>
            <a:ext cx="110642" cy="563270"/>
          </a:xfrm>
          <a:prstGeom prst="roundRect">
            <a:avLst>
              <a:gd name="adj" fmla="val 50000"/>
            </a:avLst>
          </a:prstGeom>
          <a:solidFill>
            <a:srgbClr val="007A5A"/>
          </a:solidFill>
          <a:ln/>
        </p:spPr>
      </p:sp>
      <p:sp>
        <p:nvSpPr>
          <p:cNvPr id="4" name="Shape 2"/>
          <p:cNvSpPr/>
          <p:nvPr/>
        </p:nvSpPr>
        <p:spPr>
          <a:xfrm>
            <a:off x="1014893" y="788213"/>
            <a:ext cx="110642" cy="563270"/>
          </a:xfrm>
          <a:prstGeom prst="roundRect">
            <a:avLst>
              <a:gd name="adj" fmla="val 50000"/>
            </a:avLst>
          </a:prstGeom>
          <a:solidFill>
            <a:srgbClr val="A84400"/>
          </a:solidFill>
          <a:ln/>
        </p:spPr>
      </p:sp>
      <p:sp>
        <p:nvSpPr>
          <p:cNvPr id="5" name="Shape 3"/>
          <p:cNvSpPr/>
          <p:nvPr/>
        </p:nvSpPr>
        <p:spPr>
          <a:xfrm>
            <a:off x="1225113" y="788213"/>
            <a:ext cx="110642" cy="563270"/>
          </a:xfrm>
          <a:prstGeom prst="roundRect">
            <a:avLst>
              <a:gd name="adj" fmla="val 50000"/>
            </a:avLst>
          </a:prstGeom>
          <a:solidFill>
            <a:srgbClr val="24418C"/>
          </a:solidFill>
          <a:ln/>
        </p:spPr>
      </p:sp>
      <p:sp>
        <p:nvSpPr>
          <p:cNvPr id="6" name="Text 4"/>
          <p:cNvSpPr/>
          <p:nvPr/>
        </p:nvSpPr>
        <p:spPr>
          <a:xfrm>
            <a:off x="1610076" y="658368"/>
            <a:ext cx="2743200" cy="411480"/>
          </a:xfrm>
          <a:prstGeom prst="rect">
            <a:avLst/>
          </a:prstGeom>
          <a:noFill/>
          <a:ln/>
        </p:spPr>
        <p:txBody>
          <a:bodyPr wrap="square" lIns="0" tIns="0" rIns="0" bIns="0" rtlCol="0" anchor="t"/>
          <a:lstStyle/>
          <a:p>
            <a:pPr algn="l" indent="0" marL="0">
              <a:buNone/>
            </a:pPr>
            <a:r>
              <a:rPr lang="en-US" sz="2400" b="1" dirty="0">
                <a:solidFill>
                  <a:srgbClr val="1D3557"/>
                </a:solidFill>
                <a:latin typeface="Golos Text" pitchFamily="34" charset="0"/>
                <a:ea typeface="Golos Text" pitchFamily="34" charset="-122"/>
                <a:cs typeface="Golos Text" pitchFamily="34" charset="-120"/>
              </a:rPr>
              <a:t>MathKG</a:t>
            </a:r>
            <a:endParaRPr lang="en-US" sz="2400" dirty="0"/>
          </a:p>
        </p:txBody>
      </p:sp>
      <p:sp>
        <p:nvSpPr>
          <p:cNvPr id="7" name="Text 5"/>
          <p:cNvSpPr/>
          <p:nvPr/>
        </p:nvSpPr>
        <p:spPr>
          <a:xfrm>
            <a:off x="1610076" y="1069848"/>
            <a:ext cx="3657600" cy="320040"/>
          </a:xfrm>
          <a:prstGeom prst="rect">
            <a:avLst/>
          </a:prstGeom>
          <a:noFill/>
          <a:ln/>
        </p:spPr>
        <p:txBody>
          <a:bodyPr wrap="square" lIns="0" tIns="0" rIns="0" bIns="0" rtlCol="0" anchor="t"/>
          <a:lstStyle/>
          <a:p>
            <a:pPr algn="l" indent="0" marL="0">
              <a:buNone/>
            </a:pPr>
            <a:r>
              <a:rPr lang="en-US" sz="1400" dirty="0">
                <a:solidFill>
                  <a:srgbClr val="4A5A70"/>
                </a:solidFill>
                <a:latin typeface="Golos Text" pitchFamily="34" charset="0"/>
                <a:ea typeface="Golos Text" pitchFamily="34" charset="-122"/>
                <a:cs typeface="Golos Text" pitchFamily="34" charset="-120"/>
              </a:rPr>
              <a:t>Математика кыргызча</a:t>
            </a:r>
            <a:endParaRPr lang="en-US" sz="1400" dirty="0"/>
          </a:p>
        </p:txBody>
      </p:sp>
      <p:sp>
        <p:nvSpPr>
          <p:cNvPr id="8" name="Text 6"/>
          <p:cNvSpPr/>
          <p:nvPr/>
        </p:nvSpPr>
        <p:spPr>
          <a:xfrm>
            <a:off x="6309360" y="777240"/>
            <a:ext cx="5120640" cy="320040"/>
          </a:xfrm>
          <a:prstGeom prst="rect">
            <a:avLst/>
          </a:prstGeom>
          <a:noFill/>
          <a:ln/>
        </p:spPr>
        <p:txBody>
          <a:bodyPr wrap="square" lIns="0" tIns="0" rIns="0" bIns="0" rtlCol="0" anchor="t"/>
          <a:lstStyle/>
          <a:p>
            <a:pPr algn="r" indent="0" marL="0">
              <a:buNone/>
            </a:pPr>
            <a:r>
              <a:rPr lang="en-US" sz="1200" dirty="0">
                <a:solidFill>
                  <a:srgbClr val="4A5A70"/>
                </a:solidFill>
                <a:latin typeface="Golos Text" pitchFamily="34" charset="0"/>
                <a:ea typeface="Golos Text" pitchFamily="34" charset="-122"/>
                <a:cs typeface="Golos Text" pitchFamily="34" charset="-120"/>
              </a:rPr>
              <a:t>Статистика › Төрт өлчөм</a:t>
            </a:r>
            <a:endParaRPr lang="en-US" sz="1200" dirty="0"/>
          </a:p>
        </p:txBody>
      </p:sp>
      <p:sp>
        <p:nvSpPr>
          <p:cNvPr id="9" name="Text 7"/>
          <p:cNvSpPr/>
          <p:nvPr/>
        </p:nvSpPr>
        <p:spPr>
          <a:xfrm>
            <a:off x="868680" y="2103120"/>
            <a:ext cx="2377440" cy="402336"/>
          </a:xfrm>
          <a:prstGeom prst="roundRect">
            <a:avLst>
              <a:gd name="adj" fmla="val 50000"/>
            </a:avLst>
          </a:prstGeom>
          <a:solidFill>
            <a:srgbClr val="FFFFFF"/>
          </a:solidFill>
          <a:ln w="19050">
            <a:solidFill>
              <a:srgbClr val="007A5A"/>
            </a:solidFill>
            <a:prstDash val="solid"/>
          </a:ln>
        </p:spPr>
        <p:txBody>
          <a:bodyPr wrap="square" lIns="0" tIns="0" rIns="0" bIns="0" rtlCol="0" anchor="ctr"/>
          <a:lstStyle/>
          <a:p>
            <a:pPr algn="ctr" indent="0" marL="0">
              <a:buNone/>
            </a:pPr>
            <a:r>
              <a:rPr lang="en-US" sz="1300" b="1" dirty="0">
                <a:solidFill>
                  <a:srgbClr val="007A5A"/>
                </a:solidFill>
                <a:latin typeface="Golos Text" pitchFamily="34" charset="0"/>
                <a:ea typeface="Golos Text" pitchFamily="34" charset="-122"/>
                <a:cs typeface="Golos Text" pitchFamily="34" charset="-120"/>
              </a:rPr>
              <a:t>MathKG ыкмасы</a:t>
            </a:r>
            <a:endParaRPr lang="en-US" sz="1300" dirty="0"/>
          </a:p>
        </p:txBody>
      </p:sp>
      <p:sp>
        <p:nvSpPr>
          <p:cNvPr id="10" name="Text 8"/>
          <p:cNvSpPr/>
          <p:nvPr/>
        </p:nvSpPr>
        <p:spPr>
          <a:xfrm>
            <a:off x="868680" y="2697480"/>
            <a:ext cx="6035040" cy="1600200"/>
          </a:xfrm>
          <a:prstGeom prst="rect">
            <a:avLst/>
          </a:prstGeom>
          <a:noFill/>
          <a:ln/>
        </p:spPr>
        <p:txBody>
          <a:bodyPr wrap="square" lIns="0" tIns="0" rIns="0" bIns="0" rtlCol="0" anchor="ctr"/>
          <a:lstStyle/>
          <a:p>
            <a:pPr algn="l" indent="0" marL="0">
              <a:buNone/>
            </a:pPr>
            <a:r>
              <a:rPr lang="en-US" sz="4000" b="1" dirty="0">
                <a:solidFill>
                  <a:srgbClr val="1D3557"/>
                </a:solidFill>
                <a:latin typeface="Golos Text" pitchFamily="34" charset="0"/>
                <a:ea typeface="Golos Text" pitchFamily="34" charset="-122"/>
                <a:cs typeface="Golos Text" pitchFamily="34" charset="-120"/>
              </a:rPr>
              <a:t>Орточо, медиана, мода жана кулач</a:t>
            </a:r>
            <a:endParaRPr lang="en-US" sz="4000" dirty="0"/>
          </a:p>
        </p:txBody>
      </p:sp>
      <p:sp>
        <p:nvSpPr>
          <p:cNvPr id="11" name="Text 9"/>
          <p:cNvSpPr/>
          <p:nvPr/>
        </p:nvSpPr>
        <p:spPr>
          <a:xfrm>
            <a:off x="868680" y="4389120"/>
            <a:ext cx="5852160" cy="868680"/>
          </a:xfrm>
          <a:prstGeom prst="rect">
            <a:avLst/>
          </a:prstGeom>
          <a:noFill/>
          <a:ln/>
        </p:spPr>
        <p:txBody>
          <a:bodyPr wrap="square" lIns="0" tIns="0" rIns="0" bIns="0" rtlCol="0" anchor="t"/>
          <a:lstStyle/>
          <a:p>
            <a:pPr algn="l" indent="0" marL="0">
              <a:buNone/>
            </a:pPr>
            <a:r>
              <a:rPr lang="en-US" sz="1700" dirty="0">
                <a:solidFill>
                  <a:srgbClr val="4A5A70"/>
                </a:solidFill>
                <a:latin typeface="Golos Text" pitchFamily="34" charset="0"/>
                <a:ea typeface="Golos Text" pitchFamily="34" charset="-122"/>
                <a:cs typeface="Golos Text" pitchFamily="34" charset="-120"/>
              </a:rPr>
              <a:t>Бир бай маселе — бир нече ыкма. Ар бир өлчөм кайсы суроого жооп берерин өзүбүз ачабыз.</a:t>
            </a:r>
            <a:endParaRPr lang="en-US" sz="1700" dirty="0"/>
          </a:p>
        </p:txBody>
      </p:sp>
      <p:sp>
        <p:nvSpPr>
          <p:cNvPr id="12" name="Text 10"/>
          <p:cNvSpPr/>
          <p:nvPr/>
        </p:nvSpPr>
        <p:spPr>
          <a:xfrm>
            <a:off x="868680" y="5394960"/>
            <a:ext cx="2103120" cy="402336"/>
          </a:xfrm>
          <a:prstGeom prst="roundRect">
            <a:avLst>
              <a:gd name="adj" fmla="val 50000"/>
            </a:avLst>
          </a:prstGeom>
          <a:solidFill>
            <a:srgbClr val="FFFFFF"/>
          </a:solidFill>
          <a:ln w="19050">
            <a:solidFill>
              <a:srgbClr val="1D3557"/>
            </a:solidFill>
            <a:prstDash val="solid"/>
          </a:ln>
        </p:spPr>
        <p:txBody>
          <a:bodyPr wrap="square" lIns="0" tIns="0" rIns="0" bIns="0" rtlCol="0" anchor="ctr"/>
          <a:lstStyle/>
          <a:p>
            <a:pPr algn="ctr" indent="0" marL="0">
              <a:buNone/>
            </a:pPr>
            <a:r>
              <a:rPr lang="en-US" sz="1300" b="1" dirty="0">
                <a:solidFill>
                  <a:srgbClr val="1D3557"/>
                </a:solidFill>
                <a:latin typeface="Golos Text" pitchFamily="34" charset="0"/>
                <a:ea typeface="Golos Text" pitchFamily="34" charset="-122"/>
                <a:cs typeface="Golos Text" pitchFamily="34" charset="-120"/>
              </a:rPr>
              <a:t>Сабак · 45 мүнөт</a:t>
            </a:r>
            <a:endParaRPr lang="en-US" sz="1300" dirty="0"/>
          </a:p>
        </p:txBody>
      </p:sp>
      <p:sp>
        <p:nvSpPr>
          <p:cNvPr id="13" name="Text 11"/>
          <p:cNvSpPr/>
          <p:nvPr/>
        </p:nvSpPr>
        <p:spPr>
          <a:xfrm>
            <a:off x="3108960" y="5394960"/>
            <a:ext cx="1920240" cy="402336"/>
          </a:xfrm>
          <a:prstGeom prst="roundRect">
            <a:avLst>
              <a:gd name="adj" fmla="val 50000"/>
            </a:avLst>
          </a:prstGeom>
          <a:solidFill>
            <a:srgbClr val="FFFFFF"/>
          </a:solidFill>
          <a:ln w="19050">
            <a:solidFill>
              <a:srgbClr val="1D3557"/>
            </a:solidFill>
            <a:prstDash val="solid"/>
          </a:ln>
        </p:spPr>
        <p:txBody>
          <a:bodyPr wrap="square" lIns="0" tIns="0" rIns="0" bIns="0" rtlCol="0" anchor="ctr"/>
          <a:lstStyle/>
          <a:p>
            <a:pPr algn="ctr" indent="0" marL="0">
              <a:buNone/>
            </a:pPr>
            <a:r>
              <a:rPr lang="en-US" sz="1300" b="1" dirty="0">
                <a:solidFill>
                  <a:srgbClr val="1D3557"/>
                </a:solidFill>
                <a:latin typeface="Golos Text" pitchFamily="34" charset="0"/>
                <a:ea typeface="Golos Text" pitchFamily="34" charset="-122"/>
                <a:cs typeface="Golos Text" pitchFamily="34" charset="-120"/>
              </a:rPr>
              <a:t>Калькуляторсуз</a:t>
            </a:r>
            <a:endParaRPr lang="en-US" sz="1300" dirty="0"/>
          </a:p>
        </p:txBody>
      </p:sp>
      <p:sp>
        <p:nvSpPr>
          <p:cNvPr id="14" name="Shape 12"/>
          <p:cNvSpPr/>
          <p:nvPr/>
        </p:nvSpPr>
        <p:spPr>
          <a:xfrm>
            <a:off x="7178040" y="2103120"/>
            <a:ext cx="4251960" cy="3703320"/>
          </a:xfrm>
          <a:prstGeom prst="roundRect">
            <a:avLst>
              <a:gd name="adj" fmla="val 8000"/>
            </a:avLst>
          </a:prstGeom>
          <a:solidFill>
            <a:srgbClr val="F3F5FB"/>
          </a:solidFill>
          <a:ln/>
        </p:spPr>
      </p:sp>
      <p:sp>
        <p:nvSpPr>
          <p:cNvPr id="15" name="Text 13"/>
          <p:cNvSpPr/>
          <p:nvPr/>
        </p:nvSpPr>
        <p:spPr>
          <a:xfrm>
            <a:off x="7498080" y="2377440"/>
            <a:ext cx="3657600" cy="274320"/>
          </a:xfrm>
          <a:prstGeom prst="rect">
            <a:avLst/>
          </a:prstGeom>
          <a:noFill/>
          <a:ln/>
        </p:spPr>
        <p:txBody>
          <a:bodyPr wrap="square" lIns="0" tIns="0" rIns="0" bIns="0" rtlCol="0" anchor="t"/>
          <a:lstStyle/>
          <a:p>
            <a:pPr algn="l" indent="0" marL="0">
              <a:buNone/>
            </a:pPr>
            <a:r>
              <a:rPr lang="en-US" sz="1300" b="1" dirty="0">
                <a:solidFill>
                  <a:srgbClr val="A84400"/>
                </a:solidFill>
                <a:latin typeface="Golos Text" pitchFamily="34" charset="0"/>
                <a:ea typeface="Golos Text" pitchFamily="34" charset="-122"/>
                <a:cs typeface="Golos Text" pitchFamily="34" charset="-120"/>
              </a:rPr>
              <a:t>БҮГҮНКҮ МАСЕЛЕ</a:t>
            </a:r>
            <a:endParaRPr lang="en-US" sz="1300" dirty="0"/>
          </a:p>
        </p:txBody>
      </p:sp>
      <p:sp>
        <p:nvSpPr>
          <p:cNvPr id="16" name="Text 14"/>
          <p:cNvSpPr/>
          <p:nvPr/>
        </p:nvSpPr>
        <p:spPr>
          <a:xfrm>
            <a:off x="7498080" y="2743200"/>
            <a:ext cx="3611880" cy="1280160"/>
          </a:xfrm>
          <a:prstGeom prst="rect">
            <a:avLst/>
          </a:prstGeom>
          <a:noFill/>
          <a:ln/>
        </p:spPr>
        <p:txBody>
          <a:bodyPr wrap="square" lIns="0" tIns="0" rIns="0" bIns="0" rtlCol="0" anchor="t"/>
          <a:lstStyle/>
          <a:p>
            <a:pPr algn="l" indent="0" marL="0">
              <a:lnSpc>
                <a:spcPct val="105000"/>
              </a:lnSpc>
              <a:buNone/>
            </a:pPr>
            <a:r>
              <a:rPr lang="en-US" sz="1900" b="1" dirty="0">
                <a:solidFill>
                  <a:srgbClr val="1D3557"/>
                </a:solidFill>
                <a:latin typeface="Golos Text" pitchFamily="34" charset="0"/>
                <a:ea typeface="Golos Text" pitchFamily="34" charset="-122"/>
                <a:cs typeface="Golos Text" pitchFamily="34" charset="-120"/>
              </a:rPr>
              <a:t>Спорт күнү эки команда узундукка секирди: «Шумкарда» 5 окуучу, «Тулпарда» 6 окуучу.</a:t>
            </a:r>
            <a:endParaRPr lang="en-US" sz="1900" dirty="0"/>
          </a:p>
        </p:txBody>
      </p:sp>
      <p:sp>
        <p:nvSpPr>
          <p:cNvPr id="17" name="Text 15"/>
          <p:cNvSpPr/>
          <p:nvPr/>
        </p:nvSpPr>
        <p:spPr>
          <a:xfrm>
            <a:off x="7498080" y="4160520"/>
            <a:ext cx="3611880" cy="685800"/>
          </a:xfrm>
          <a:prstGeom prst="roundRect">
            <a:avLst>
              <a:gd name="adj" fmla="val 50000"/>
            </a:avLst>
          </a:prstGeom>
          <a:solidFill>
            <a:srgbClr val="FFFFFF"/>
          </a:solidFill>
          <a:ln w="19050">
            <a:solidFill>
              <a:srgbClr val="1D3557"/>
            </a:solidFill>
            <a:prstDash val="solid"/>
          </a:ln>
        </p:spPr>
        <p:txBody>
          <a:bodyPr wrap="square" lIns="0" tIns="0" rIns="0" bIns="0" rtlCol="0" anchor="ctr"/>
          <a:lstStyle/>
          <a:p>
            <a:pPr algn="ctr" indent="0" marL="0">
              <a:buNone/>
            </a:pPr>
            <a:r>
              <a:rPr lang="en-US" sz="1900" b="1" dirty="0">
                <a:solidFill>
                  <a:srgbClr val="1D3557"/>
                </a:solidFill>
                <a:latin typeface="Golos Text" pitchFamily="34" charset="0"/>
                <a:ea typeface="Golos Text" pitchFamily="34" charset="-122"/>
                <a:cs typeface="Golos Text" pitchFamily="34" charset="-120"/>
              </a:rPr>
              <a:t>Кайсы команда жакшыраак?</a:t>
            </a:r>
            <a:endParaRPr lang="en-US" sz="1900" dirty="0"/>
          </a:p>
        </p:txBody>
      </p:sp>
      <p:sp>
        <p:nvSpPr>
          <p:cNvPr id="18" name="Text 16"/>
          <p:cNvSpPr/>
          <p:nvPr/>
        </p:nvSpPr>
        <p:spPr>
          <a:xfrm>
            <a:off x="7360920" y="5029200"/>
            <a:ext cx="3886200" cy="594360"/>
          </a:xfrm>
          <a:prstGeom prst="rect">
            <a:avLst/>
          </a:prstGeom>
          <a:noFill/>
          <a:ln/>
        </p:spPr>
        <p:txBody>
          <a:bodyPr wrap="square" lIns="0" tIns="0" rIns="0" bIns="0" rtlCol="0" anchor="t"/>
          <a:lstStyle/>
          <a:p>
            <a:pPr algn="ctr" indent="0" marL="0">
              <a:buNone/>
            </a:pPr>
            <a:r>
              <a:rPr lang="en-US" sz="1200" i="1" dirty="0">
                <a:solidFill>
                  <a:srgbClr val="4A5A70"/>
                </a:solidFill>
                <a:latin typeface="Golos Text" pitchFamily="34" charset="0"/>
                <a:ea typeface="Golos Text" pitchFamily="34" charset="-122"/>
                <a:cs typeface="Golos Text" pitchFamily="34" charset="-120"/>
              </a:rPr>
              <a:t>Маселе → ыкмалар → салыштыруу → буюм, сүрөт, символ → машыгуу → ой жүгүртүү</a:t>
            </a:r>
            <a:endParaRPr lang="en-US" sz="1200" dirty="0"/>
          </a:p>
        </p:txBody>
      </p:sp>
      <p:sp>
        <p:nvSpPr>
          <p:cNvPr id="19" name="Text 17"/>
          <p:cNvSpPr/>
          <p:nvPr/>
        </p:nvSpPr>
        <p:spPr>
          <a:xfrm>
            <a:off x="365760" y="6492240"/>
            <a:ext cx="5486400" cy="228600"/>
          </a:xfrm>
          <a:prstGeom prst="rect">
            <a:avLst/>
          </a:prstGeom>
          <a:noFill/>
          <a:ln/>
        </p:spPr>
        <p:txBody>
          <a:bodyPr wrap="square" lIns="0" tIns="0" rIns="0" bIns="0" rtlCol="0" anchor="t"/>
          <a:lstStyle/>
          <a:p>
            <a:pPr algn="l" indent="0" marL="0">
              <a:buNone/>
            </a:pPr>
            <a:r>
              <a:rPr lang="en-US" sz="900" dirty="0">
                <a:solidFill>
                  <a:srgbClr val="8D99AA"/>
                </a:solidFill>
                <a:latin typeface="Golos Text" pitchFamily="34" charset="0"/>
                <a:ea typeface="Golos Text" pitchFamily="34" charset="-122"/>
                <a:cs typeface="Golos Text" pitchFamily="34" charset="-120"/>
              </a:rPr>
              <a:t>MathKG · Математика кыргызча</a:t>
            </a:r>
            <a:endParaRPr lang="en-US" sz="900" dirty="0"/>
          </a:p>
        </p:txBody>
      </p:sp>
      <p:sp>
        <p:nvSpPr>
          <p:cNvPr id="20" name="Text 18"/>
          <p:cNvSpPr/>
          <p:nvPr/>
        </p:nvSpPr>
        <p:spPr>
          <a:xfrm>
            <a:off x="7680960" y="6492240"/>
            <a:ext cx="3657600" cy="228600"/>
          </a:xfrm>
          <a:prstGeom prst="rect">
            <a:avLst/>
          </a:prstGeom>
          <a:noFill/>
          <a:ln/>
        </p:spPr>
        <p:txBody>
          <a:bodyPr wrap="square" lIns="0" tIns="0" rIns="0" bIns="0" rtlCol="0" anchor="t"/>
          <a:lstStyle/>
          <a:p>
            <a:pPr algn="r" indent="0" marL="0">
              <a:buNone/>
            </a:pPr>
            <a:r>
              <a:rPr lang="en-US" sz="900" dirty="0">
                <a:solidFill>
                  <a:srgbClr val="8D99AA"/>
                </a:solidFill>
                <a:latin typeface="Golos Text" pitchFamily="34" charset="0"/>
                <a:ea typeface="Golos Text" pitchFamily="34" charset="-122"/>
                <a:cs typeface="Golos Text" pitchFamily="34" charset="-120"/>
              </a:rPr>
              <a:t>MathKG ыкмасы · 30 сек</a:t>
            </a:r>
            <a:endParaRPr lang="en-US" sz="900" dirty="0"/>
          </a:p>
        </p:txBody>
      </p:sp>
      <p:sp>
        <p:nvSpPr>
          <p:cNvPr id="25" name="Slide Number Placeholder 0"/>
          <p:cNvSpPr>
            <a:spLocks noGrp="1"/>
          </p:cNvSpPr>
          <p:nvPr>
            <p:ph type="sldNum" sz="quarter" idx="4294967295"/>
          </p:nvPr>
        </p:nvSpPr>
        <p:spPr>
          <a:xfrm>
            <a:off x="11384280" y="6492240"/>
            <a:ext cx="438912"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99AA"/>
                </a:solidFill>
                <a:latin typeface="Golos Text"/>
                <a:ea typeface="Golos Text"/>
                <a:cs typeface="Golos Text"/>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11457432" cy="640080"/>
          </a:xfrm>
          <a:prstGeom prst="roundRect">
            <a:avLst>
              <a:gd name="adj" fmla="val 22000"/>
            </a:avLst>
          </a:prstGeom>
          <a:solidFill>
            <a:srgbClr val="FFFFFF"/>
          </a:solidFill>
          <a:ln w="19050">
            <a:solidFill>
              <a:srgbClr val="1D3557"/>
            </a:solidFill>
            <a:prstDash val="solid"/>
          </a:ln>
        </p:spPr>
      </p:sp>
      <p:sp>
        <p:nvSpPr>
          <p:cNvPr id="3" name="Shape 1"/>
          <p:cNvSpPr/>
          <p:nvPr/>
        </p:nvSpPr>
        <p:spPr>
          <a:xfrm>
            <a:off x="557784" y="369418"/>
            <a:ext cx="70409" cy="358445"/>
          </a:xfrm>
          <a:prstGeom prst="roundRect">
            <a:avLst>
              <a:gd name="adj" fmla="val 50000"/>
            </a:avLst>
          </a:prstGeom>
          <a:solidFill>
            <a:srgbClr val="007A5A"/>
          </a:solidFill>
          <a:ln/>
        </p:spPr>
      </p:sp>
      <p:sp>
        <p:nvSpPr>
          <p:cNvPr id="4" name="Shape 2"/>
          <p:cNvSpPr/>
          <p:nvPr/>
        </p:nvSpPr>
        <p:spPr>
          <a:xfrm>
            <a:off x="691561" y="369418"/>
            <a:ext cx="70409" cy="358445"/>
          </a:xfrm>
          <a:prstGeom prst="roundRect">
            <a:avLst>
              <a:gd name="adj" fmla="val 50000"/>
            </a:avLst>
          </a:prstGeom>
          <a:solidFill>
            <a:srgbClr val="A84400"/>
          </a:solidFill>
          <a:ln/>
        </p:spPr>
      </p:sp>
      <p:sp>
        <p:nvSpPr>
          <p:cNvPr id="5" name="Shape 3"/>
          <p:cNvSpPr/>
          <p:nvPr/>
        </p:nvSpPr>
        <p:spPr>
          <a:xfrm>
            <a:off x="825337" y="369418"/>
            <a:ext cx="70409" cy="358445"/>
          </a:xfrm>
          <a:prstGeom prst="roundRect">
            <a:avLst>
              <a:gd name="adj" fmla="val 50000"/>
            </a:avLst>
          </a:prstGeom>
          <a:solidFill>
            <a:srgbClr val="24418C"/>
          </a:solidFill>
          <a:ln/>
        </p:spPr>
      </p:sp>
      <p:sp>
        <p:nvSpPr>
          <p:cNvPr id="6" name="Text 4"/>
          <p:cNvSpPr/>
          <p:nvPr/>
        </p:nvSpPr>
        <p:spPr>
          <a:xfrm>
            <a:off x="1096914" y="228600"/>
            <a:ext cx="7589520" cy="640080"/>
          </a:xfrm>
          <a:prstGeom prst="rect">
            <a:avLst/>
          </a:prstGeom>
          <a:noFill/>
          <a:ln/>
        </p:spPr>
        <p:txBody>
          <a:bodyPr wrap="square" lIns="0" tIns="0" rIns="0" bIns="0" rtlCol="0" anchor="ctr"/>
          <a:lstStyle/>
          <a:p>
            <a:pPr algn="l" indent="0" marL="0">
              <a:buNone/>
            </a:pPr>
            <a:r>
              <a:rPr lang="en-US" sz="2200" b="1" dirty="0">
                <a:solidFill>
                  <a:srgbClr val="1D3557"/>
                </a:solidFill>
                <a:latin typeface="Golos Text" pitchFamily="34" charset="0"/>
                <a:ea typeface="Golos Text" pitchFamily="34" charset="-122"/>
                <a:cs typeface="Golos Text" pitchFamily="34" charset="-120"/>
              </a:rPr>
              <a:t>Бүгүн эмнени үйрөнөбүз</a:t>
            </a:r>
            <a:endParaRPr lang="en-US" sz="2200" dirty="0"/>
          </a:p>
        </p:txBody>
      </p:sp>
      <p:sp>
        <p:nvSpPr>
          <p:cNvPr id="7" name="Text 5"/>
          <p:cNvSpPr/>
          <p:nvPr/>
        </p:nvSpPr>
        <p:spPr>
          <a:xfrm>
            <a:off x="8778240" y="228600"/>
            <a:ext cx="2880360" cy="640080"/>
          </a:xfrm>
          <a:prstGeom prst="rect">
            <a:avLst/>
          </a:prstGeom>
          <a:noFill/>
          <a:ln/>
        </p:spPr>
        <p:txBody>
          <a:bodyPr wrap="square" lIns="0" tIns="0" rIns="0" bIns="0" rtlCol="0" anchor="ctr"/>
          <a:lstStyle/>
          <a:p>
            <a:pPr algn="r" indent="0" marL="0">
              <a:buNone/>
            </a:pPr>
            <a:r>
              <a:rPr lang="en-US" sz="1100" dirty="0">
                <a:solidFill>
                  <a:srgbClr val="4A5A70"/>
                </a:solidFill>
                <a:latin typeface="Golos Text" pitchFamily="34" charset="0"/>
                <a:ea typeface="Golos Text" pitchFamily="34" charset="-122"/>
                <a:cs typeface="Golos Text" pitchFamily="34" charset="-120"/>
              </a:rPr>
              <a:t>Статистика › Төрт өлчөм</a:t>
            </a:r>
            <a:endParaRPr lang="en-US" sz="1100" dirty="0"/>
          </a:p>
        </p:txBody>
      </p:sp>
      <p:sp>
        <p:nvSpPr>
          <p:cNvPr id="8" name="Text 6"/>
          <p:cNvSpPr/>
          <p:nvPr/>
        </p:nvSpPr>
        <p:spPr>
          <a:xfrm>
            <a:off x="411480" y="960120"/>
            <a:ext cx="8412480" cy="329184"/>
          </a:xfrm>
          <a:prstGeom prst="rect">
            <a:avLst/>
          </a:prstGeom>
          <a:noFill/>
          <a:ln/>
        </p:spPr>
        <p:txBody>
          <a:bodyPr wrap="square" lIns="0" tIns="0" rIns="0" bIns="0" rtlCol="0" anchor="t"/>
          <a:lstStyle/>
          <a:p>
            <a:pPr algn="l" indent="0" marL="0">
              <a:buNone/>
            </a:pPr>
            <a:r>
              <a:rPr lang="en-US" sz="1500" i="1" dirty="0">
                <a:solidFill>
                  <a:srgbClr val="4A5A70"/>
                </a:solidFill>
                <a:latin typeface="Golos Text" pitchFamily="34" charset="0"/>
                <a:ea typeface="Golos Text" pitchFamily="34" charset="-122"/>
                <a:cs typeface="Golos Text" pitchFamily="34" charset="-120"/>
              </a:rPr>
              <a:t>Сабактын соңунда сен муну жасай аласың:</a:t>
            </a:r>
            <a:endParaRPr lang="en-US" sz="1500" dirty="0"/>
          </a:p>
        </p:txBody>
      </p:sp>
      <p:sp>
        <p:nvSpPr>
          <p:cNvPr id="9" name="Text 7"/>
          <p:cNvSpPr/>
          <p:nvPr/>
        </p:nvSpPr>
        <p:spPr>
          <a:xfrm>
            <a:off x="8897112" y="969264"/>
            <a:ext cx="2926080" cy="310896"/>
          </a:xfrm>
          <a:prstGeom prst="rect">
            <a:avLst/>
          </a:prstGeom>
          <a:noFill/>
          <a:ln/>
        </p:spPr>
        <p:txBody>
          <a:bodyPr wrap="square" lIns="0" tIns="0" rIns="0" bIns="0" rtlCol="0" anchor="ctr"/>
          <a:lstStyle/>
          <a:p>
            <a:pPr algn="r" indent="0" marL="0">
              <a:buNone/>
            </a:pPr>
            <a:r>
              <a:rPr lang="en-US" sz="1200" dirty="0">
                <a:solidFill>
                  <a:srgbClr val="4A5A70"/>
                </a:solidFill>
                <a:latin typeface="Golos Text" pitchFamily="34" charset="0"/>
                <a:ea typeface="Golos Text" pitchFamily="34" charset="-122"/>
                <a:cs typeface="Golos Text" pitchFamily="34" charset="-120"/>
              </a:rPr>
              <a:t>Ачылыш · 30 сек</a:t>
            </a:r>
            <a:endParaRPr lang="en-US" sz="1200" dirty="0"/>
          </a:p>
        </p:txBody>
      </p:sp>
      <p:sp>
        <p:nvSpPr>
          <p:cNvPr id="10" name="Text 8"/>
          <p:cNvSpPr/>
          <p:nvPr/>
        </p:nvSpPr>
        <p:spPr>
          <a:xfrm>
            <a:off x="365760" y="6492240"/>
            <a:ext cx="5486400" cy="228600"/>
          </a:xfrm>
          <a:prstGeom prst="rect">
            <a:avLst/>
          </a:prstGeom>
          <a:noFill/>
          <a:ln/>
        </p:spPr>
        <p:txBody>
          <a:bodyPr wrap="square" lIns="0" tIns="0" rIns="0" bIns="0" rtlCol="0" anchor="t"/>
          <a:lstStyle/>
          <a:p>
            <a:pPr algn="l" indent="0" marL="0">
              <a:buNone/>
            </a:pPr>
            <a:r>
              <a:rPr lang="en-US" sz="900" dirty="0">
                <a:solidFill>
                  <a:srgbClr val="8D99AA"/>
                </a:solidFill>
                <a:latin typeface="Golos Text" pitchFamily="34" charset="0"/>
                <a:ea typeface="Golos Text" pitchFamily="34" charset="-122"/>
                <a:cs typeface="Golos Text" pitchFamily="34" charset="-120"/>
              </a:rPr>
              <a:t>MathKG · Математика кыргызча</a:t>
            </a:r>
            <a:endParaRPr lang="en-US" sz="900" dirty="0"/>
          </a:p>
        </p:txBody>
      </p:sp>
      <p:sp>
        <p:nvSpPr>
          <p:cNvPr id="11" name="Text 9"/>
          <p:cNvSpPr/>
          <p:nvPr/>
        </p:nvSpPr>
        <p:spPr>
          <a:xfrm>
            <a:off x="7680960" y="6492240"/>
            <a:ext cx="3657600" cy="228600"/>
          </a:xfrm>
          <a:prstGeom prst="rect">
            <a:avLst/>
          </a:prstGeom>
          <a:noFill/>
          <a:ln/>
        </p:spPr>
        <p:txBody>
          <a:bodyPr wrap="square" lIns="0" tIns="0" rIns="0" bIns="0" rtlCol="0" anchor="t"/>
          <a:lstStyle/>
          <a:p>
            <a:pPr algn="r" indent="0" marL="0">
              <a:buNone/>
            </a:pPr>
            <a:r>
              <a:rPr lang="en-US" sz="900" dirty="0">
                <a:solidFill>
                  <a:srgbClr val="8D99AA"/>
                </a:solidFill>
                <a:latin typeface="Golos Text" pitchFamily="34" charset="0"/>
                <a:ea typeface="Golos Text" pitchFamily="34" charset="-122"/>
                <a:cs typeface="Golos Text" pitchFamily="34" charset="-120"/>
              </a:rPr>
              <a:t>MathKG ыкмасы · 30 сек</a:t>
            </a:r>
            <a:endParaRPr lang="en-US" sz="900" dirty="0"/>
          </a:p>
        </p:txBody>
      </p:sp>
      <p:sp>
        <p:nvSpPr>
          <p:cNvPr id="12" name="Shape 10"/>
          <p:cNvSpPr/>
          <p:nvPr/>
        </p:nvSpPr>
        <p:spPr>
          <a:xfrm>
            <a:off x="365760" y="1463040"/>
            <a:ext cx="11457432" cy="731520"/>
          </a:xfrm>
          <a:prstGeom prst="roundRect">
            <a:avLst>
              <a:gd name="adj" fmla="val 30000"/>
            </a:avLst>
          </a:prstGeom>
          <a:solidFill>
            <a:srgbClr val="FFFFFF"/>
          </a:solidFill>
          <a:ln w="22225">
            <a:solidFill>
              <a:srgbClr val="007A5A"/>
            </a:solidFill>
            <a:prstDash val="solid"/>
          </a:ln>
        </p:spPr>
      </p:sp>
      <p:sp>
        <p:nvSpPr>
          <p:cNvPr id="13" name="Text 11"/>
          <p:cNvSpPr/>
          <p:nvPr/>
        </p:nvSpPr>
        <p:spPr>
          <a:xfrm>
            <a:off x="548640" y="1600200"/>
            <a:ext cx="457200" cy="457200"/>
          </a:xfrm>
          <a:prstGeom prst="roundRect">
            <a:avLst>
              <a:gd name="adj" fmla="val 50000"/>
            </a:avLst>
          </a:prstGeom>
          <a:solidFill>
            <a:srgbClr val="007A5A"/>
          </a:solidFill>
          <a:ln w="19050">
            <a:solidFill>
              <a:srgbClr val="007A5A"/>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1</a:t>
            </a:r>
            <a:endParaRPr lang="en-US" sz="1600" dirty="0"/>
          </a:p>
        </p:txBody>
      </p:sp>
      <p:sp>
        <p:nvSpPr>
          <p:cNvPr id="14" name="Text 12"/>
          <p:cNvSpPr/>
          <p:nvPr/>
        </p:nvSpPr>
        <p:spPr>
          <a:xfrm>
            <a:off x="1234440" y="1463040"/>
            <a:ext cx="10424160" cy="731520"/>
          </a:xfrm>
          <a:prstGeom prst="rect">
            <a:avLst/>
          </a:prstGeom>
          <a:noFill/>
          <a:ln/>
        </p:spPr>
        <p:txBody>
          <a:bodyPr wrap="square" lIns="0" tIns="0" rIns="0" bIns="0" rtlCol="0" anchor="ctr"/>
          <a:lstStyle/>
          <a:p>
            <a:pPr algn="l" indent="0" marL="0">
              <a:buNone/>
            </a:pPr>
            <a:r>
              <a:rPr lang="en-US" sz="1800" b="1" dirty="0">
                <a:solidFill>
                  <a:srgbClr val="1D3557"/>
                </a:solidFill>
                <a:latin typeface="Golos Text" pitchFamily="34" charset="0"/>
                <a:ea typeface="Golos Text" pitchFamily="34" charset="-122"/>
                <a:cs typeface="Golos Text" pitchFamily="34" charset="-120"/>
              </a:rPr>
              <a:t>Эки топтун маалыматын бир нече ыкма менен салыштырам.</a:t>
            </a:r>
            <a:endParaRPr lang="en-US" sz="1800" dirty="0"/>
          </a:p>
        </p:txBody>
      </p:sp>
      <p:sp>
        <p:nvSpPr>
          <p:cNvPr id="15" name="Shape 13"/>
          <p:cNvSpPr/>
          <p:nvPr/>
        </p:nvSpPr>
        <p:spPr>
          <a:xfrm>
            <a:off x="365760" y="2331720"/>
            <a:ext cx="11457432" cy="731520"/>
          </a:xfrm>
          <a:prstGeom prst="roundRect">
            <a:avLst>
              <a:gd name="adj" fmla="val 30000"/>
            </a:avLst>
          </a:prstGeom>
          <a:solidFill>
            <a:srgbClr val="FFFFFF"/>
          </a:solidFill>
          <a:ln w="22225">
            <a:solidFill>
              <a:srgbClr val="A84400"/>
            </a:solidFill>
            <a:prstDash val="solid"/>
          </a:ln>
        </p:spPr>
      </p:sp>
      <p:sp>
        <p:nvSpPr>
          <p:cNvPr id="16" name="Text 14"/>
          <p:cNvSpPr/>
          <p:nvPr/>
        </p:nvSpPr>
        <p:spPr>
          <a:xfrm>
            <a:off x="548640" y="2468880"/>
            <a:ext cx="457200" cy="457200"/>
          </a:xfrm>
          <a:prstGeom prst="roundRect">
            <a:avLst>
              <a:gd name="adj" fmla="val 50000"/>
            </a:avLst>
          </a:prstGeom>
          <a:solidFill>
            <a:srgbClr val="A84400"/>
          </a:solidFill>
          <a:ln w="19050">
            <a:solidFill>
              <a:srgbClr val="A84400"/>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2</a:t>
            </a:r>
            <a:endParaRPr lang="en-US" sz="1600" dirty="0"/>
          </a:p>
        </p:txBody>
      </p:sp>
      <p:sp>
        <p:nvSpPr>
          <p:cNvPr id="17" name="Text 15"/>
          <p:cNvSpPr/>
          <p:nvPr/>
        </p:nvSpPr>
        <p:spPr>
          <a:xfrm>
            <a:off x="1234440" y="2331720"/>
            <a:ext cx="10424160" cy="731520"/>
          </a:xfrm>
          <a:prstGeom prst="rect">
            <a:avLst/>
          </a:prstGeom>
          <a:noFill/>
          <a:ln/>
        </p:spPr>
        <p:txBody>
          <a:bodyPr wrap="square" lIns="0" tIns="0" rIns="0" bIns="0" rtlCol="0" anchor="ctr"/>
          <a:lstStyle/>
          <a:p>
            <a:pPr algn="l" indent="0" marL="0">
              <a:buNone/>
            </a:pPr>
            <a:r>
              <a:rPr lang="en-US" sz="1800" b="1" dirty="0">
                <a:solidFill>
                  <a:srgbClr val="1D3557"/>
                </a:solidFill>
                <a:latin typeface="Golos Text" pitchFamily="34" charset="0"/>
                <a:ea typeface="Golos Text" pitchFamily="34" charset="-122"/>
                <a:cs typeface="Golos Text" pitchFamily="34" charset="-120"/>
              </a:rPr>
              <a:t>Орточо арифметикалыкты, медиананы (жуп сандагы тизмеде да), моданы жана кулачты табам.</a:t>
            </a:r>
            <a:endParaRPr lang="en-US" sz="1800" dirty="0"/>
          </a:p>
        </p:txBody>
      </p:sp>
      <p:sp>
        <p:nvSpPr>
          <p:cNvPr id="18" name="Shape 16"/>
          <p:cNvSpPr/>
          <p:nvPr/>
        </p:nvSpPr>
        <p:spPr>
          <a:xfrm>
            <a:off x="365760" y="3200400"/>
            <a:ext cx="11457432" cy="731520"/>
          </a:xfrm>
          <a:prstGeom prst="roundRect">
            <a:avLst>
              <a:gd name="adj" fmla="val 30000"/>
            </a:avLst>
          </a:prstGeom>
          <a:solidFill>
            <a:srgbClr val="FFFFFF"/>
          </a:solidFill>
          <a:ln w="22225">
            <a:solidFill>
              <a:srgbClr val="24418C"/>
            </a:solidFill>
            <a:prstDash val="solid"/>
          </a:ln>
        </p:spPr>
      </p:sp>
      <p:sp>
        <p:nvSpPr>
          <p:cNvPr id="19" name="Text 17"/>
          <p:cNvSpPr/>
          <p:nvPr/>
        </p:nvSpPr>
        <p:spPr>
          <a:xfrm>
            <a:off x="548640" y="3337560"/>
            <a:ext cx="457200" cy="457200"/>
          </a:xfrm>
          <a:prstGeom prst="roundRect">
            <a:avLst>
              <a:gd name="adj" fmla="val 50000"/>
            </a:avLst>
          </a:prstGeom>
          <a:solidFill>
            <a:srgbClr val="24418C"/>
          </a:solidFill>
          <a:ln w="19050">
            <a:solidFill>
              <a:srgbClr val="24418C"/>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3</a:t>
            </a:r>
            <a:endParaRPr lang="en-US" sz="1600" dirty="0"/>
          </a:p>
        </p:txBody>
      </p:sp>
      <p:sp>
        <p:nvSpPr>
          <p:cNvPr id="20" name="Text 18"/>
          <p:cNvSpPr/>
          <p:nvPr/>
        </p:nvSpPr>
        <p:spPr>
          <a:xfrm>
            <a:off x="1234440" y="3200400"/>
            <a:ext cx="10424160" cy="731520"/>
          </a:xfrm>
          <a:prstGeom prst="rect">
            <a:avLst/>
          </a:prstGeom>
          <a:noFill/>
          <a:ln/>
        </p:spPr>
        <p:txBody>
          <a:bodyPr wrap="square" lIns="0" tIns="0" rIns="0" bIns="0" rtlCol="0" anchor="ctr"/>
          <a:lstStyle/>
          <a:p>
            <a:pPr algn="l" indent="0" marL="0">
              <a:buNone/>
            </a:pPr>
            <a:r>
              <a:rPr lang="en-US" sz="1800" b="1" dirty="0">
                <a:solidFill>
                  <a:srgbClr val="1D3557"/>
                </a:solidFill>
                <a:latin typeface="Golos Text" pitchFamily="34" charset="0"/>
                <a:ea typeface="Golos Text" pitchFamily="34" charset="-122"/>
                <a:cs typeface="Golos Text" pitchFamily="34" charset="-120"/>
              </a:rPr>
              <a:t>Ар бир өлчөм кайсы суроого жооп берерин түшүндүрөм жана «чынчыл» өлчөмдү тандайм.</a:t>
            </a:r>
            <a:endParaRPr lang="en-US" sz="1800" dirty="0"/>
          </a:p>
        </p:txBody>
      </p:sp>
      <p:sp>
        <p:nvSpPr>
          <p:cNvPr id="21" name="Text 19"/>
          <p:cNvSpPr/>
          <p:nvPr/>
        </p:nvSpPr>
        <p:spPr>
          <a:xfrm>
            <a:off x="411480" y="4206240"/>
            <a:ext cx="5486400" cy="274320"/>
          </a:xfrm>
          <a:prstGeom prst="rect">
            <a:avLst/>
          </a:prstGeom>
          <a:noFill/>
          <a:ln/>
        </p:spPr>
        <p:txBody>
          <a:bodyPr wrap="square" lIns="0" tIns="0" rIns="0" bIns="0" rtlCol="0" anchor="t"/>
          <a:lstStyle/>
          <a:p>
            <a:pPr algn="l" indent="0" marL="0">
              <a:buNone/>
            </a:pPr>
            <a:r>
              <a:rPr lang="en-US" sz="1300" b="1" dirty="0">
                <a:solidFill>
                  <a:srgbClr val="4A5A70"/>
                </a:solidFill>
                <a:latin typeface="Golos Text" pitchFamily="34" charset="0"/>
                <a:ea typeface="Golos Text" pitchFamily="34" charset="-122"/>
                <a:cs typeface="Golos Text" pitchFamily="34" charset="-120"/>
              </a:rPr>
              <a:t>САБАКТЫН ЖОЛУ · 45 МҮНӨТ</a:t>
            </a:r>
            <a:endParaRPr lang="en-US" sz="1300" dirty="0"/>
          </a:p>
        </p:txBody>
      </p:sp>
      <p:sp>
        <p:nvSpPr>
          <p:cNvPr id="22" name="Shape 20"/>
          <p:cNvSpPr/>
          <p:nvPr/>
        </p:nvSpPr>
        <p:spPr>
          <a:xfrm>
            <a:off x="365760" y="4572000"/>
            <a:ext cx="1542723" cy="1600200"/>
          </a:xfrm>
          <a:prstGeom prst="roundRect">
            <a:avLst>
              <a:gd name="adj" fmla="val 12000"/>
            </a:avLst>
          </a:prstGeom>
          <a:solidFill>
            <a:srgbClr val="FFFFFF"/>
          </a:solidFill>
          <a:ln w="25400">
            <a:solidFill>
              <a:srgbClr val="007A5A"/>
            </a:solidFill>
            <a:prstDash val="solid"/>
          </a:ln>
        </p:spPr>
      </p:sp>
      <p:sp>
        <p:nvSpPr>
          <p:cNvPr id="23" name="Text 21"/>
          <p:cNvSpPr/>
          <p:nvPr/>
        </p:nvSpPr>
        <p:spPr>
          <a:xfrm>
            <a:off x="475488" y="5779008"/>
            <a:ext cx="1323267" cy="292608"/>
          </a:xfrm>
          <a:prstGeom prst="rect">
            <a:avLst/>
          </a:prstGeom>
          <a:noFill/>
          <a:ln/>
        </p:spPr>
        <p:txBody>
          <a:bodyPr wrap="square" lIns="0" tIns="0" rIns="0" bIns="0" rtlCol="0" anchor="t"/>
          <a:lstStyle/>
          <a:p>
            <a:pPr algn="l" indent="0" marL="0">
              <a:buNone/>
            </a:pPr>
            <a:r>
              <a:rPr lang="en-US" sz="1100" i="1" dirty="0">
                <a:solidFill>
                  <a:srgbClr val="4A5A70"/>
                </a:solidFill>
                <a:latin typeface="Golos Text" pitchFamily="34" charset="0"/>
                <a:ea typeface="Golos Text" pitchFamily="34" charset="-122"/>
                <a:cs typeface="Golos Text" pitchFamily="34" charset="-120"/>
              </a:rPr>
              <a:t>Кытай</a:t>
            </a:r>
            <a:endParaRPr lang="en-US" sz="1100" dirty="0"/>
          </a:p>
        </p:txBody>
      </p:sp>
      <p:sp>
        <p:nvSpPr>
          <p:cNvPr id="24" name="Text 22"/>
          <p:cNvSpPr/>
          <p:nvPr/>
        </p:nvSpPr>
        <p:spPr>
          <a:xfrm>
            <a:off x="475488" y="4663440"/>
            <a:ext cx="1323267" cy="411480"/>
          </a:xfrm>
          <a:prstGeom prst="rect">
            <a:avLst/>
          </a:prstGeom>
          <a:noFill/>
          <a:ln/>
        </p:spPr>
        <p:txBody>
          <a:bodyPr wrap="square" lIns="0" tIns="0" rIns="0" bIns="0" rtlCol="0" anchor="t"/>
          <a:lstStyle/>
          <a:p>
            <a:pPr algn="l" indent="0" marL="0">
              <a:buNone/>
            </a:pPr>
            <a:r>
              <a:rPr lang="en-US" sz="1900" b="1" dirty="0">
                <a:solidFill>
                  <a:srgbClr val="007A5A"/>
                </a:solidFill>
                <a:latin typeface="Golos Text" pitchFamily="34" charset="0"/>
                <a:ea typeface="Golos Text" pitchFamily="34" charset="-122"/>
                <a:cs typeface="Golos Text" pitchFamily="34" charset="-120"/>
              </a:rPr>
              <a:t>4 мүн</a:t>
            </a:r>
            <a:endParaRPr lang="en-US" sz="1900" dirty="0"/>
          </a:p>
        </p:txBody>
      </p:sp>
      <p:sp>
        <p:nvSpPr>
          <p:cNvPr id="25" name="Text 23"/>
          <p:cNvSpPr/>
          <p:nvPr/>
        </p:nvSpPr>
        <p:spPr>
          <a:xfrm>
            <a:off x="475488" y="5074920"/>
            <a:ext cx="1323267" cy="1051560"/>
          </a:xfrm>
          <a:prstGeom prst="rect">
            <a:avLst/>
          </a:prstGeom>
          <a:noFill/>
          <a:ln/>
        </p:spPr>
        <p:txBody>
          <a:bodyPr wrap="square" lIns="0" tIns="0" rIns="0" bIns="0" rtlCol="0" anchor="t"/>
          <a:lstStyle/>
          <a:p>
            <a:pPr algn="l" indent="0" marL="0">
              <a:buNone/>
            </a:pPr>
            <a:r>
              <a:rPr lang="en-US" sz="1300" b="1" dirty="0">
                <a:solidFill>
                  <a:srgbClr val="1D3557"/>
                </a:solidFill>
                <a:latin typeface="Golos Text" pitchFamily="34" charset="0"/>
                <a:ea typeface="Golos Text" pitchFamily="34" charset="-122"/>
                <a:cs typeface="Golos Text" pitchFamily="34" charset="-120"/>
              </a:rPr>
              <a:t>Ачылыш, эске салуу</a:t>
            </a:r>
            <a:endParaRPr lang="en-US" sz="1300" dirty="0"/>
          </a:p>
        </p:txBody>
      </p:sp>
      <p:sp>
        <p:nvSpPr>
          <p:cNvPr id="26" name="Shape 24"/>
          <p:cNvSpPr/>
          <p:nvPr/>
        </p:nvSpPr>
        <p:spPr>
          <a:xfrm>
            <a:off x="2018211" y="4572000"/>
            <a:ext cx="1542723" cy="1600200"/>
          </a:xfrm>
          <a:prstGeom prst="roundRect">
            <a:avLst>
              <a:gd name="adj" fmla="val 12000"/>
            </a:avLst>
          </a:prstGeom>
          <a:solidFill>
            <a:srgbClr val="FFFFFF"/>
          </a:solidFill>
          <a:ln w="25400">
            <a:solidFill>
              <a:srgbClr val="A84400"/>
            </a:solidFill>
            <a:prstDash val="solid"/>
          </a:ln>
        </p:spPr>
      </p:sp>
      <p:sp>
        <p:nvSpPr>
          <p:cNvPr id="27" name="Text 25"/>
          <p:cNvSpPr/>
          <p:nvPr/>
        </p:nvSpPr>
        <p:spPr>
          <a:xfrm>
            <a:off x="2127939" y="5779008"/>
            <a:ext cx="1323267" cy="292608"/>
          </a:xfrm>
          <a:prstGeom prst="rect">
            <a:avLst/>
          </a:prstGeom>
          <a:noFill/>
          <a:ln/>
        </p:spPr>
        <p:txBody>
          <a:bodyPr wrap="square" lIns="0" tIns="0" rIns="0" bIns="0" rtlCol="0" anchor="t"/>
          <a:lstStyle/>
          <a:p>
            <a:pPr algn="l" indent="0" marL="0">
              <a:buNone/>
            </a:pPr>
            <a:r>
              <a:rPr lang="en-US" sz="1100" i="1" dirty="0">
                <a:solidFill>
                  <a:srgbClr val="4A5A70"/>
                </a:solidFill>
                <a:latin typeface="Golos Text" pitchFamily="34" charset="0"/>
                <a:ea typeface="Golos Text" pitchFamily="34" charset="-122"/>
                <a:cs typeface="Golos Text" pitchFamily="34" charset="-120"/>
              </a:rPr>
              <a:t>Жапония, АКШ</a:t>
            </a:r>
            <a:endParaRPr lang="en-US" sz="1100" dirty="0"/>
          </a:p>
        </p:txBody>
      </p:sp>
      <p:sp>
        <p:nvSpPr>
          <p:cNvPr id="28" name="Text 26"/>
          <p:cNvSpPr/>
          <p:nvPr/>
        </p:nvSpPr>
        <p:spPr>
          <a:xfrm>
            <a:off x="2127939" y="4663440"/>
            <a:ext cx="1323267" cy="411480"/>
          </a:xfrm>
          <a:prstGeom prst="rect">
            <a:avLst/>
          </a:prstGeom>
          <a:noFill/>
          <a:ln/>
        </p:spPr>
        <p:txBody>
          <a:bodyPr wrap="square" lIns="0" tIns="0" rIns="0" bIns="0" rtlCol="0" anchor="t"/>
          <a:lstStyle/>
          <a:p>
            <a:pPr algn="l" indent="0" marL="0">
              <a:buNone/>
            </a:pPr>
            <a:r>
              <a:rPr lang="en-US" sz="1900" b="1" dirty="0">
                <a:solidFill>
                  <a:srgbClr val="A84400"/>
                </a:solidFill>
                <a:latin typeface="Golos Text" pitchFamily="34" charset="0"/>
                <a:ea typeface="Golos Text" pitchFamily="34" charset="-122"/>
                <a:cs typeface="Golos Text" pitchFamily="34" charset="-120"/>
              </a:rPr>
              <a:t>7,5 мүн</a:t>
            </a:r>
            <a:endParaRPr lang="en-US" sz="1900" dirty="0"/>
          </a:p>
        </p:txBody>
      </p:sp>
      <p:sp>
        <p:nvSpPr>
          <p:cNvPr id="29" name="Text 27"/>
          <p:cNvSpPr/>
          <p:nvPr/>
        </p:nvSpPr>
        <p:spPr>
          <a:xfrm>
            <a:off x="2127939" y="5074920"/>
            <a:ext cx="1323267" cy="1051560"/>
          </a:xfrm>
          <a:prstGeom prst="rect">
            <a:avLst/>
          </a:prstGeom>
          <a:noFill/>
          <a:ln/>
        </p:spPr>
        <p:txBody>
          <a:bodyPr wrap="square" lIns="0" tIns="0" rIns="0" bIns="0" rtlCol="0" anchor="t"/>
          <a:lstStyle/>
          <a:p>
            <a:pPr algn="l" indent="0" marL="0">
              <a:buNone/>
            </a:pPr>
            <a:r>
              <a:rPr lang="en-US" sz="1300" b="1" dirty="0">
                <a:solidFill>
                  <a:srgbClr val="1D3557"/>
                </a:solidFill>
                <a:latin typeface="Golos Text" pitchFamily="34" charset="0"/>
                <a:ea typeface="Golos Text" pitchFamily="34" charset="-122"/>
                <a:cs typeface="Golos Text" pitchFamily="34" charset="-120"/>
              </a:rPr>
              <a:t>Маселе, өз алдынча</a:t>
            </a:r>
            <a:endParaRPr lang="en-US" sz="1300" dirty="0"/>
          </a:p>
        </p:txBody>
      </p:sp>
      <p:sp>
        <p:nvSpPr>
          <p:cNvPr id="30" name="Shape 28"/>
          <p:cNvSpPr/>
          <p:nvPr/>
        </p:nvSpPr>
        <p:spPr>
          <a:xfrm>
            <a:off x="3670663" y="4572000"/>
            <a:ext cx="1542723" cy="1600200"/>
          </a:xfrm>
          <a:prstGeom prst="roundRect">
            <a:avLst>
              <a:gd name="adj" fmla="val 12000"/>
            </a:avLst>
          </a:prstGeom>
          <a:solidFill>
            <a:srgbClr val="FFFFFF"/>
          </a:solidFill>
          <a:ln w="25400">
            <a:solidFill>
              <a:srgbClr val="A84400"/>
            </a:solidFill>
            <a:prstDash val="solid"/>
          </a:ln>
        </p:spPr>
      </p:sp>
      <p:sp>
        <p:nvSpPr>
          <p:cNvPr id="31" name="Text 29"/>
          <p:cNvSpPr/>
          <p:nvPr/>
        </p:nvSpPr>
        <p:spPr>
          <a:xfrm>
            <a:off x="3780391" y="5779008"/>
            <a:ext cx="1323267" cy="292608"/>
          </a:xfrm>
          <a:prstGeom prst="rect">
            <a:avLst/>
          </a:prstGeom>
          <a:noFill/>
          <a:ln/>
        </p:spPr>
        <p:txBody>
          <a:bodyPr wrap="square" lIns="0" tIns="0" rIns="0" bIns="0" rtlCol="0" anchor="t"/>
          <a:lstStyle/>
          <a:p>
            <a:pPr algn="l" indent="0" marL="0">
              <a:buNone/>
            </a:pPr>
            <a:r>
              <a:rPr lang="en-US" sz="1100" i="1" dirty="0">
                <a:solidFill>
                  <a:srgbClr val="4A5A70"/>
                </a:solidFill>
                <a:latin typeface="Golos Text" pitchFamily="34" charset="0"/>
                <a:ea typeface="Golos Text" pitchFamily="34" charset="-122"/>
                <a:cs typeface="Golos Text" pitchFamily="34" charset="-120"/>
              </a:rPr>
              <a:t>Жапония</a:t>
            </a:r>
            <a:endParaRPr lang="en-US" sz="1100" dirty="0"/>
          </a:p>
        </p:txBody>
      </p:sp>
      <p:sp>
        <p:nvSpPr>
          <p:cNvPr id="32" name="Text 30"/>
          <p:cNvSpPr/>
          <p:nvPr/>
        </p:nvSpPr>
        <p:spPr>
          <a:xfrm>
            <a:off x="3780391" y="4663440"/>
            <a:ext cx="1323267" cy="411480"/>
          </a:xfrm>
          <a:prstGeom prst="rect">
            <a:avLst/>
          </a:prstGeom>
          <a:noFill/>
          <a:ln/>
        </p:spPr>
        <p:txBody>
          <a:bodyPr wrap="square" lIns="0" tIns="0" rIns="0" bIns="0" rtlCol="0" anchor="t"/>
          <a:lstStyle/>
          <a:p>
            <a:pPr algn="l" indent="0" marL="0">
              <a:buNone/>
            </a:pPr>
            <a:r>
              <a:rPr lang="en-US" sz="1900" b="1" dirty="0">
                <a:solidFill>
                  <a:srgbClr val="A84400"/>
                </a:solidFill>
                <a:latin typeface="Golos Text" pitchFamily="34" charset="0"/>
                <a:ea typeface="Golos Text" pitchFamily="34" charset="-122"/>
                <a:cs typeface="Golos Text" pitchFamily="34" charset="-120"/>
              </a:rPr>
              <a:t>9 мүн</a:t>
            </a:r>
            <a:endParaRPr lang="en-US" sz="1900" dirty="0"/>
          </a:p>
        </p:txBody>
      </p:sp>
      <p:sp>
        <p:nvSpPr>
          <p:cNvPr id="33" name="Text 31"/>
          <p:cNvSpPr/>
          <p:nvPr/>
        </p:nvSpPr>
        <p:spPr>
          <a:xfrm>
            <a:off x="3780391" y="5074920"/>
            <a:ext cx="1323267" cy="1051560"/>
          </a:xfrm>
          <a:prstGeom prst="rect">
            <a:avLst/>
          </a:prstGeom>
          <a:noFill/>
          <a:ln/>
        </p:spPr>
        <p:txBody>
          <a:bodyPr wrap="square" lIns="0" tIns="0" rIns="0" bIns="0" rtlCol="0" anchor="t"/>
          <a:lstStyle/>
          <a:p>
            <a:pPr algn="l" indent="0" marL="0">
              <a:buNone/>
            </a:pPr>
            <a:r>
              <a:rPr lang="en-US" sz="1300" b="1" dirty="0">
                <a:solidFill>
                  <a:srgbClr val="1D3557"/>
                </a:solidFill>
                <a:latin typeface="Golos Text" pitchFamily="34" charset="0"/>
                <a:ea typeface="Golos Text" pitchFamily="34" charset="-122"/>
                <a:cs typeface="Golos Text" pitchFamily="34" charset="-120"/>
              </a:rPr>
              <a:t>Ыкмалар, Ооба/Жок/Балким, такта</a:t>
            </a:r>
            <a:endParaRPr lang="en-US" sz="1300" dirty="0"/>
          </a:p>
        </p:txBody>
      </p:sp>
      <p:sp>
        <p:nvSpPr>
          <p:cNvPr id="34" name="Shape 32"/>
          <p:cNvSpPr/>
          <p:nvPr/>
        </p:nvSpPr>
        <p:spPr>
          <a:xfrm>
            <a:off x="5323114" y="4572000"/>
            <a:ext cx="1542723" cy="1600200"/>
          </a:xfrm>
          <a:prstGeom prst="roundRect">
            <a:avLst>
              <a:gd name="adj" fmla="val 12000"/>
            </a:avLst>
          </a:prstGeom>
          <a:solidFill>
            <a:srgbClr val="FFFFFF"/>
          </a:solidFill>
          <a:ln w="25400">
            <a:solidFill>
              <a:srgbClr val="24418C"/>
            </a:solidFill>
            <a:prstDash val="solid"/>
          </a:ln>
        </p:spPr>
      </p:sp>
      <p:sp>
        <p:nvSpPr>
          <p:cNvPr id="35" name="Text 33"/>
          <p:cNvSpPr/>
          <p:nvPr/>
        </p:nvSpPr>
        <p:spPr>
          <a:xfrm>
            <a:off x="5432842" y="5779008"/>
            <a:ext cx="1323267" cy="292608"/>
          </a:xfrm>
          <a:prstGeom prst="rect">
            <a:avLst/>
          </a:prstGeom>
          <a:noFill/>
          <a:ln/>
        </p:spPr>
        <p:txBody>
          <a:bodyPr wrap="square" lIns="0" tIns="0" rIns="0" bIns="0" rtlCol="0" anchor="t"/>
          <a:lstStyle/>
          <a:p>
            <a:pPr algn="l" indent="0" marL="0">
              <a:buNone/>
            </a:pPr>
            <a:r>
              <a:rPr lang="en-US" sz="1100" i="1" dirty="0">
                <a:solidFill>
                  <a:srgbClr val="4A5A70"/>
                </a:solidFill>
                <a:latin typeface="Golos Text" pitchFamily="34" charset="0"/>
                <a:ea typeface="Golos Text" pitchFamily="34" charset="-122"/>
                <a:cs typeface="Golos Text" pitchFamily="34" charset="-120"/>
              </a:rPr>
              <a:t>Сингапур, Кытай</a:t>
            </a:r>
            <a:endParaRPr lang="en-US" sz="1100" dirty="0"/>
          </a:p>
        </p:txBody>
      </p:sp>
      <p:sp>
        <p:nvSpPr>
          <p:cNvPr id="36" name="Text 34"/>
          <p:cNvSpPr/>
          <p:nvPr/>
        </p:nvSpPr>
        <p:spPr>
          <a:xfrm>
            <a:off x="5432842" y="4663440"/>
            <a:ext cx="1323267" cy="411480"/>
          </a:xfrm>
          <a:prstGeom prst="rect">
            <a:avLst/>
          </a:prstGeom>
          <a:noFill/>
          <a:ln/>
        </p:spPr>
        <p:txBody>
          <a:bodyPr wrap="square" lIns="0" tIns="0" rIns="0" bIns="0" rtlCol="0" anchor="t"/>
          <a:lstStyle/>
          <a:p>
            <a:pPr algn="l" indent="0" marL="0">
              <a:buNone/>
            </a:pPr>
            <a:r>
              <a:rPr lang="en-US" sz="1900" b="1" dirty="0">
                <a:solidFill>
                  <a:srgbClr val="24418C"/>
                </a:solidFill>
                <a:latin typeface="Golos Text" pitchFamily="34" charset="0"/>
                <a:ea typeface="Golos Text" pitchFamily="34" charset="-122"/>
                <a:cs typeface="Golos Text" pitchFamily="34" charset="-120"/>
              </a:rPr>
              <a:t>5 мүн</a:t>
            </a:r>
            <a:endParaRPr lang="en-US" sz="1900" dirty="0"/>
          </a:p>
        </p:txBody>
      </p:sp>
      <p:sp>
        <p:nvSpPr>
          <p:cNvPr id="37" name="Text 35"/>
          <p:cNvSpPr/>
          <p:nvPr/>
        </p:nvSpPr>
        <p:spPr>
          <a:xfrm>
            <a:off x="5432842" y="5074920"/>
            <a:ext cx="1323267" cy="1051560"/>
          </a:xfrm>
          <a:prstGeom prst="rect">
            <a:avLst/>
          </a:prstGeom>
          <a:noFill/>
          <a:ln/>
        </p:spPr>
        <p:txBody>
          <a:bodyPr wrap="square" lIns="0" tIns="0" rIns="0" bIns="0" rtlCol="0" anchor="t"/>
          <a:lstStyle/>
          <a:p>
            <a:pPr algn="l" indent="0" marL="0">
              <a:buNone/>
            </a:pPr>
            <a:r>
              <a:rPr lang="en-US" sz="1300" b="1" dirty="0">
                <a:solidFill>
                  <a:srgbClr val="1D3557"/>
                </a:solidFill>
                <a:latin typeface="Golos Text" pitchFamily="34" charset="0"/>
                <a:ea typeface="Golos Text" pitchFamily="34" charset="-122"/>
                <a:cs typeface="Golos Text" pitchFamily="34" charset="-120"/>
              </a:rPr>
              <a:t>Буюм → сүрөт → символ</a:t>
            </a:r>
            <a:endParaRPr lang="en-US" sz="1300" dirty="0"/>
          </a:p>
        </p:txBody>
      </p:sp>
      <p:sp>
        <p:nvSpPr>
          <p:cNvPr id="38" name="Shape 36"/>
          <p:cNvSpPr/>
          <p:nvPr/>
        </p:nvSpPr>
        <p:spPr>
          <a:xfrm>
            <a:off x="6975566" y="4572000"/>
            <a:ext cx="1542723" cy="1600200"/>
          </a:xfrm>
          <a:prstGeom prst="roundRect">
            <a:avLst>
              <a:gd name="adj" fmla="val 12000"/>
            </a:avLst>
          </a:prstGeom>
          <a:solidFill>
            <a:srgbClr val="FFFFFF"/>
          </a:solidFill>
          <a:ln w="25400">
            <a:solidFill>
              <a:srgbClr val="24418C"/>
            </a:solidFill>
            <a:prstDash val="solid"/>
          </a:ln>
        </p:spPr>
      </p:sp>
      <p:sp>
        <p:nvSpPr>
          <p:cNvPr id="39" name="Text 37"/>
          <p:cNvSpPr/>
          <p:nvPr/>
        </p:nvSpPr>
        <p:spPr>
          <a:xfrm>
            <a:off x="7085294" y="5779008"/>
            <a:ext cx="1323267" cy="292608"/>
          </a:xfrm>
          <a:prstGeom prst="rect">
            <a:avLst/>
          </a:prstGeom>
          <a:noFill/>
          <a:ln/>
        </p:spPr>
        <p:txBody>
          <a:bodyPr wrap="square" lIns="0" tIns="0" rIns="0" bIns="0" rtlCol="0" anchor="t"/>
          <a:lstStyle/>
          <a:p>
            <a:pPr algn="l" indent="0" marL="0">
              <a:buNone/>
            </a:pPr>
            <a:r>
              <a:rPr lang="en-US" sz="1100" i="1" dirty="0">
                <a:solidFill>
                  <a:srgbClr val="4A5A70"/>
                </a:solidFill>
                <a:latin typeface="Golos Text" pitchFamily="34" charset="0"/>
                <a:ea typeface="Golos Text" pitchFamily="34" charset="-122"/>
                <a:cs typeface="Golos Text" pitchFamily="34" charset="-120"/>
              </a:rPr>
              <a:t>Кытай, Улуу Британия</a:t>
            </a:r>
            <a:endParaRPr lang="en-US" sz="1100" dirty="0"/>
          </a:p>
        </p:txBody>
      </p:sp>
      <p:sp>
        <p:nvSpPr>
          <p:cNvPr id="40" name="Text 38"/>
          <p:cNvSpPr/>
          <p:nvPr/>
        </p:nvSpPr>
        <p:spPr>
          <a:xfrm>
            <a:off x="7085294" y="4663440"/>
            <a:ext cx="1323267" cy="411480"/>
          </a:xfrm>
          <a:prstGeom prst="rect">
            <a:avLst/>
          </a:prstGeom>
          <a:noFill/>
          <a:ln/>
        </p:spPr>
        <p:txBody>
          <a:bodyPr wrap="square" lIns="0" tIns="0" rIns="0" bIns="0" rtlCol="0" anchor="t"/>
          <a:lstStyle/>
          <a:p>
            <a:pPr algn="l" indent="0" marL="0">
              <a:buNone/>
            </a:pPr>
            <a:r>
              <a:rPr lang="en-US" sz="1900" b="1" dirty="0">
                <a:solidFill>
                  <a:srgbClr val="24418C"/>
                </a:solidFill>
                <a:latin typeface="Golos Text" pitchFamily="34" charset="0"/>
                <a:ea typeface="Golos Text" pitchFamily="34" charset="-122"/>
                <a:cs typeface="Golos Text" pitchFamily="34" charset="-120"/>
              </a:rPr>
              <a:t>9,5 мүн</a:t>
            </a:r>
            <a:endParaRPr lang="en-US" sz="1900" dirty="0"/>
          </a:p>
        </p:txBody>
      </p:sp>
      <p:sp>
        <p:nvSpPr>
          <p:cNvPr id="41" name="Text 39"/>
          <p:cNvSpPr/>
          <p:nvPr/>
        </p:nvSpPr>
        <p:spPr>
          <a:xfrm>
            <a:off x="7085294" y="5074920"/>
            <a:ext cx="1323267" cy="1051560"/>
          </a:xfrm>
          <a:prstGeom prst="rect">
            <a:avLst/>
          </a:prstGeom>
          <a:noFill/>
          <a:ln/>
        </p:spPr>
        <p:txBody>
          <a:bodyPr wrap="square" lIns="0" tIns="0" rIns="0" bIns="0" rtlCol="0" anchor="t"/>
          <a:lstStyle/>
          <a:p>
            <a:pPr algn="l" indent="0" marL="0">
              <a:buNone/>
            </a:pPr>
            <a:r>
              <a:rPr lang="en-US" sz="1300" b="1" dirty="0">
                <a:solidFill>
                  <a:srgbClr val="1D3557"/>
                </a:solidFill>
                <a:latin typeface="Golos Text" pitchFamily="34" charset="0"/>
                <a:ea typeface="Golos Text" pitchFamily="34" charset="-122"/>
                <a:cs typeface="Golos Text" pitchFamily="34" charset="-120"/>
              </a:rPr>
              <a:t>Мисалдар, вариация, Кенч издөө</a:t>
            </a:r>
            <a:endParaRPr lang="en-US" sz="1300" dirty="0"/>
          </a:p>
        </p:txBody>
      </p:sp>
      <p:sp>
        <p:nvSpPr>
          <p:cNvPr id="42" name="Shape 40"/>
          <p:cNvSpPr/>
          <p:nvPr/>
        </p:nvSpPr>
        <p:spPr>
          <a:xfrm>
            <a:off x="8628017" y="4572000"/>
            <a:ext cx="1542723" cy="1600200"/>
          </a:xfrm>
          <a:prstGeom prst="roundRect">
            <a:avLst>
              <a:gd name="adj" fmla="val 12000"/>
            </a:avLst>
          </a:prstGeom>
          <a:solidFill>
            <a:srgbClr val="FFFFFF"/>
          </a:solidFill>
          <a:ln w="25400">
            <a:solidFill>
              <a:srgbClr val="1D3557"/>
            </a:solidFill>
            <a:prstDash val="solid"/>
          </a:ln>
        </p:spPr>
      </p:sp>
      <p:sp>
        <p:nvSpPr>
          <p:cNvPr id="43" name="Text 41"/>
          <p:cNvSpPr/>
          <p:nvPr/>
        </p:nvSpPr>
        <p:spPr>
          <a:xfrm>
            <a:off x="8737745" y="5779008"/>
            <a:ext cx="1323267" cy="292608"/>
          </a:xfrm>
          <a:prstGeom prst="rect">
            <a:avLst/>
          </a:prstGeom>
          <a:noFill/>
          <a:ln/>
        </p:spPr>
        <p:txBody>
          <a:bodyPr wrap="square" lIns="0" tIns="0" rIns="0" bIns="0" rtlCol="0" anchor="t"/>
          <a:lstStyle/>
          <a:p>
            <a:pPr algn="l" indent="0" marL="0">
              <a:buNone/>
            </a:pPr>
            <a:r>
              <a:rPr lang="en-US" sz="1100" i="1" dirty="0">
                <a:solidFill>
                  <a:srgbClr val="4A5A70"/>
                </a:solidFill>
                <a:latin typeface="Golos Text" pitchFamily="34" charset="0"/>
                <a:ea typeface="Golos Text" pitchFamily="34" charset="-122"/>
                <a:cs typeface="Golos Text" pitchFamily="34" charset="-120"/>
              </a:rPr>
              <a:t>Улуу Британия</a:t>
            </a:r>
            <a:endParaRPr lang="en-US" sz="1100" dirty="0"/>
          </a:p>
        </p:txBody>
      </p:sp>
      <p:sp>
        <p:nvSpPr>
          <p:cNvPr id="44" name="Text 42"/>
          <p:cNvSpPr/>
          <p:nvPr/>
        </p:nvSpPr>
        <p:spPr>
          <a:xfrm>
            <a:off x="8737745" y="4663440"/>
            <a:ext cx="1323267" cy="411480"/>
          </a:xfrm>
          <a:prstGeom prst="rect">
            <a:avLst/>
          </a:prstGeom>
          <a:noFill/>
          <a:ln/>
        </p:spPr>
        <p:txBody>
          <a:bodyPr wrap="square" lIns="0" tIns="0" rIns="0" bIns="0" rtlCol="0" anchor="t"/>
          <a:lstStyle/>
          <a:p>
            <a:pPr algn="l" indent="0" marL="0">
              <a:buNone/>
            </a:pPr>
            <a:r>
              <a:rPr lang="en-US" sz="1900" b="1" dirty="0">
                <a:solidFill>
                  <a:srgbClr val="1D3557"/>
                </a:solidFill>
                <a:latin typeface="Golos Text" pitchFamily="34" charset="0"/>
                <a:ea typeface="Golos Text" pitchFamily="34" charset="-122"/>
                <a:cs typeface="Golos Text" pitchFamily="34" charset="-120"/>
              </a:rPr>
              <a:t>6 мүн</a:t>
            </a:r>
            <a:endParaRPr lang="en-US" sz="1900" dirty="0"/>
          </a:p>
        </p:txBody>
      </p:sp>
      <p:sp>
        <p:nvSpPr>
          <p:cNvPr id="45" name="Text 43"/>
          <p:cNvSpPr/>
          <p:nvPr/>
        </p:nvSpPr>
        <p:spPr>
          <a:xfrm>
            <a:off x="8737745" y="5074920"/>
            <a:ext cx="1323267" cy="1051560"/>
          </a:xfrm>
          <a:prstGeom prst="rect">
            <a:avLst/>
          </a:prstGeom>
          <a:noFill/>
          <a:ln/>
        </p:spPr>
        <p:txBody>
          <a:bodyPr wrap="square" lIns="0" tIns="0" rIns="0" bIns="0" rtlCol="0" anchor="t"/>
          <a:lstStyle/>
          <a:p>
            <a:pPr algn="l" indent="0" marL="0">
              <a:buNone/>
            </a:pPr>
            <a:r>
              <a:rPr lang="en-US" sz="1300" b="1" dirty="0">
                <a:solidFill>
                  <a:srgbClr val="1D3557"/>
                </a:solidFill>
                <a:latin typeface="Golos Text" pitchFamily="34" charset="0"/>
                <a:ea typeface="Golos Text" pitchFamily="34" charset="-122"/>
                <a:cs typeface="Golos Text" pitchFamily="34" charset="-120"/>
              </a:rPr>
              <a:t>Ката, текшерүү, Көрсөт, ЖИ, бекемдөө</a:t>
            </a:r>
            <a:endParaRPr lang="en-US" sz="1300" dirty="0"/>
          </a:p>
        </p:txBody>
      </p:sp>
      <p:sp>
        <p:nvSpPr>
          <p:cNvPr id="46" name="Shape 44"/>
          <p:cNvSpPr/>
          <p:nvPr/>
        </p:nvSpPr>
        <p:spPr>
          <a:xfrm>
            <a:off x="10280469" y="4572000"/>
            <a:ext cx="1542723" cy="1600200"/>
          </a:xfrm>
          <a:prstGeom prst="roundRect">
            <a:avLst>
              <a:gd name="adj" fmla="val 12000"/>
            </a:avLst>
          </a:prstGeom>
          <a:solidFill>
            <a:srgbClr val="FFFFFF"/>
          </a:solidFill>
          <a:ln w="25400">
            <a:solidFill>
              <a:srgbClr val="007A5A"/>
            </a:solidFill>
            <a:prstDash val="solid"/>
          </a:ln>
        </p:spPr>
      </p:sp>
      <p:sp>
        <p:nvSpPr>
          <p:cNvPr id="47" name="Text 45"/>
          <p:cNvSpPr/>
          <p:nvPr/>
        </p:nvSpPr>
        <p:spPr>
          <a:xfrm>
            <a:off x="10390197" y="5779008"/>
            <a:ext cx="1323267" cy="292608"/>
          </a:xfrm>
          <a:prstGeom prst="rect">
            <a:avLst/>
          </a:prstGeom>
          <a:noFill/>
          <a:ln/>
        </p:spPr>
        <p:txBody>
          <a:bodyPr wrap="square" lIns="0" tIns="0" rIns="0" bIns="0" rtlCol="0" anchor="t"/>
          <a:lstStyle/>
          <a:p>
            <a:pPr algn="l" indent="0" marL="0">
              <a:buNone/>
            </a:pPr>
            <a:r>
              <a:rPr lang="en-US" sz="1100" i="1" dirty="0">
                <a:solidFill>
                  <a:srgbClr val="4A5A70"/>
                </a:solidFill>
                <a:latin typeface="Golos Text" pitchFamily="34" charset="0"/>
                <a:ea typeface="Golos Text" pitchFamily="34" charset="-122"/>
                <a:cs typeface="Golos Text" pitchFamily="34" charset="-120"/>
              </a:rPr>
              <a:t>MathKG</a:t>
            </a:r>
            <a:endParaRPr lang="en-US" sz="1100" dirty="0"/>
          </a:p>
        </p:txBody>
      </p:sp>
      <p:sp>
        <p:nvSpPr>
          <p:cNvPr id="48" name="Text 46"/>
          <p:cNvSpPr/>
          <p:nvPr/>
        </p:nvSpPr>
        <p:spPr>
          <a:xfrm>
            <a:off x="10390197" y="4663440"/>
            <a:ext cx="1323267" cy="411480"/>
          </a:xfrm>
          <a:prstGeom prst="rect">
            <a:avLst/>
          </a:prstGeom>
          <a:noFill/>
          <a:ln/>
        </p:spPr>
        <p:txBody>
          <a:bodyPr wrap="square" lIns="0" tIns="0" rIns="0" bIns="0" rtlCol="0" anchor="t"/>
          <a:lstStyle/>
          <a:p>
            <a:pPr algn="l" indent="0" marL="0">
              <a:buNone/>
            </a:pPr>
            <a:r>
              <a:rPr lang="en-US" sz="1900" b="1" dirty="0">
                <a:solidFill>
                  <a:srgbClr val="007A5A"/>
                </a:solidFill>
                <a:latin typeface="Golos Text" pitchFamily="34" charset="0"/>
                <a:ea typeface="Golos Text" pitchFamily="34" charset="-122"/>
                <a:cs typeface="Golos Text" pitchFamily="34" charset="-120"/>
              </a:rPr>
              <a:t>4 мүн</a:t>
            </a:r>
            <a:endParaRPr lang="en-US" sz="1900" dirty="0"/>
          </a:p>
        </p:txBody>
      </p:sp>
      <p:sp>
        <p:nvSpPr>
          <p:cNvPr id="49" name="Text 47"/>
          <p:cNvSpPr/>
          <p:nvPr/>
        </p:nvSpPr>
        <p:spPr>
          <a:xfrm>
            <a:off x="10390197" y="5074920"/>
            <a:ext cx="1323267" cy="1051560"/>
          </a:xfrm>
          <a:prstGeom prst="rect">
            <a:avLst/>
          </a:prstGeom>
          <a:noFill/>
          <a:ln/>
        </p:spPr>
        <p:txBody>
          <a:bodyPr wrap="square" lIns="0" tIns="0" rIns="0" bIns="0" rtlCol="0" anchor="t"/>
          <a:lstStyle/>
          <a:p>
            <a:pPr algn="l" indent="0" marL="0">
              <a:buNone/>
            </a:pPr>
            <a:r>
              <a:rPr lang="en-US" sz="1300" b="1" dirty="0">
                <a:solidFill>
                  <a:srgbClr val="1D3557"/>
                </a:solidFill>
                <a:latin typeface="Golos Text" pitchFamily="34" charset="0"/>
                <a:ea typeface="Golos Text" pitchFamily="34" charset="-122"/>
                <a:cs typeface="Golos Text" pitchFamily="34" charset="-120"/>
              </a:rPr>
              <a:t>Баалоо, билет, үй иши</a:t>
            </a:r>
            <a:endParaRPr lang="en-US" sz="1300" dirty="0"/>
          </a:p>
        </p:txBody>
      </p:sp>
      <p:sp>
        <p:nvSpPr>
          <p:cNvPr id="50" name="Slide Number Placeholder 0"/>
          <p:cNvSpPr>
            <a:spLocks noGrp="1"/>
          </p:cNvSpPr>
          <p:nvPr>
            <p:ph type="sldNum" sz="quarter" idx="4294967295"/>
          </p:nvPr>
        </p:nvSpPr>
        <p:spPr>
          <a:xfrm>
            <a:off x="11384280" y="6492240"/>
            <a:ext cx="438912"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99AA"/>
                </a:solidFill>
                <a:latin typeface="Golos Text"/>
                <a:ea typeface="Golos Text"/>
                <a:cs typeface="Golos Text"/>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11457432" cy="640080"/>
          </a:xfrm>
          <a:prstGeom prst="roundRect">
            <a:avLst>
              <a:gd name="adj" fmla="val 22000"/>
            </a:avLst>
          </a:prstGeom>
          <a:solidFill>
            <a:srgbClr val="FFFFFF"/>
          </a:solidFill>
          <a:ln w="19050">
            <a:solidFill>
              <a:srgbClr val="1D3557"/>
            </a:solidFill>
            <a:prstDash val="solid"/>
          </a:ln>
        </p:spPr>
      </p:sp>
      <p:sp>
        <p:nvSpPr>
          <p:cNvPr id="3" name="Shape 1"/>
          <p:cNvSpPr/>
          <p:nvPr/>
        </p:nvSpPr>
        <p:spPr>
          <a:xfrm>
            <a:off x="557784" y="369418"/>
            <a:ext cx="70409" cy="358445"/>
          </a:xfrm>
          <a:prstGeom prst="roundRect">
            <a:avLst>
              <a:gd name="adj" fmla="val 50000"/>
            </a:avLst>
          </a:prstGeom>
          <a:solidFill>
            <a:srgbClr val="007A5A"/>
          </a:solidFill>
          <a:ln/>
        </p:spPr>
      </p:sp>
      <p:sp>
        <p:nvSpPr>
          <p:cNvPr id="4" name="Shape 2"/>
          <p:cNvSpPr/>
          <p:nvPr/>
        </p:nvSpPr>
        <p:spPr>
          <a:xfrm>
            <a:off x="691561" y="369418"/>
            <a:ext cx="70409" cy="358445"/>
          </a:xfrm>
          <a:prstGeom prst="roundRect">
            <a:avLst>
              <a:gd name="adj" fmla="val 50000"/>
            </a:avLst>
          </a:prstGeom>
          <a:solidFill>
            <a:srgbClr val="A84400"/>
          </a:solidFill>
          <a:ln/>
        </p:spPr>
      </p:sp>
      <p:sp>
        <p:nvSpPr>
          <p:cNvPr id="5" name="Shape 3"/>
          <p:cNvSpPr/>
          <p:nvPr/>
        </p:nvSpPr>
        <p:spPr>
          <a:xfrm>
            <a:off x="825337" y="369418"/>
            <a:ext cx="70409" cy="358445"/>
          </a:xfrm>
          <a:prstGeom prst="roundRect">
            <a:avLst>
              <a:gd name="adj" fmla="val 50000"/>
            </a:avLst>
          </a:prstGeom>
          <a:solidFill>
            <a:srgbClr val="24418C"/>
          </a:solidFill>
          <a:ln/>
        </p:spPr>
      </p:sp>
      <p:sp>
        <p:nvSpPr>
          <p:cNvPr id="6" name="Text 4"/>
          <p:cNvSpPr/>
          <p:nvPr/>
        </p:nvSpPr>
        <p:spPr>
          <a:xfrm>
            <a:off x="1096914" y="228600"/>
            <a:ext cx="7589520" cy="640080"/>
          </a:xfrm>
          <a:prstGeom prst="rect">
            <a:avLst/>
          </a:prstGeom>
          <a:noFill/>
          <a:ln/>
        </p:spPr>
        <p:txBody>
          <a:bodyPr wrap="square" lIns="0" tIns="0" rIns="0" bIns="0" rtlCol="0" anchor="ctr"/>
          <a:lstStyle/>
          <a:p>
            <a:pPr algn="l" indent="0" marL="0">
              <a:buNone/>
            </a:pPr>
            <a:r>
              <a:rPr lang="en-US" sz="2200" b="1" dirty="0">
                <a:solidFill>
                  <a:srgbClr val="1D3557"/>
                </a:solidFill>
                <a:latin typeface="Golos Text" pitchFamily="34" charset="0"/>
                <a:ea typeface="Golos Text" pitchFamily="34" charset="-122"/>
                <a:cs typeface="Golos Text" pitchFamily="34" charset="-120"/>
              </a:rPr>
              <a:t>Эске сал: бир тизме — төрт суроо</a:t>
            </a:r>
            <a:endParaRPr lang="en-US" sz="2200" dirty="0"/>
          </a:p>
        </p:txBody>
      </p:sp>
      <p:sp>
        <p:nvSpPr>
          <p:cNvPr id="7" name="Text 5"/>
          <p:cNvSpPr/>
          <p:nvPr/>
        </p:nvSpPr>
        <p:spPr>
          <a:xfrm>
            <a:off x="8778240" y="228600"/>
            <a:ext cx="2880360" cy="640080"/>
          </a:xfrm>
          <a:prstGeom prst="rect">
            <a:avLst/>
          </a:prstGeom>
          <a:noFill/>
          <a:ln/>
        </p:spPr>
        <p:txBody>
          <a:bodyPr wrap="square" lIns="0" tIns="0" rIns="0" bIns="0" rtlCol="0" anchor="ctr"/>
          <a:lstStyle/>
          <a:p>
            <a:pPr algn="r" indent="0" marL="0">
              <a:buNone/>
            </a:pPr>
            <a:r>
              <a:rPr lang="en-US" sz="1100" dirty="0">
                <a:solidFill>
                  <a:srgbClr val="4A5A70"/>
                </a:solidFill>
                <a:latin typeface="Golos Text" pitchFamily="34" charset="0"/>
                <a:ea typeface="Golos Text" pitchFamily="34" charset="-122"/>
                <a:cs typeface="Golos Text" pitchFamily="34" charset="-120"/>
              </a:rPr>
              <a:t>Статистика › Төрт өлчөм</a:t>
            </a:r>
            <a:endParaRPr lang="en-US" sz="1100" dirty="0"/>
          </a:p>
        </p:txBody>
      </p:sp>
      <p:sp>
        <p:nvSpPr>
          <p:cNvPr id="8" name="Text 6"/>
          <p:cNvSpPr/>
          <p:nvPr/>
        </p:nvSpPr>
        <p:spPr>
          <a:xfrm>
            <a:off x="411480" y="960120"/>
            <a:ext cx="8412480" cy="329184"/>
          </a:xfrm>
          <a:prstGeom prst="rect">
            <a:avLst/>
          </a:prstGeom>
          <a:noFill/>
          <a:ln/>
        </p:spPr>
        <p:txBody>
          <a:bodyPr wrap="square" lIns="0" tIns="0" rIns="0" bIns="0" rtlCol="0" anchor="t"/>
          <a:lstStyle/>
          <a:p>
            <a:pPr algn="l" indent="0" marL="0">
              <a:buNone/>
            </a:pPr>
            <a:r>
              <a:rPr lang="en-US" sz="1500" i="1" dirty="0">
                <a:solidFill>
                  <a:srgbClr val="4A5A70"/>
                </a:solidFill>
                <a:latin typeface="Golos Text" pitchFamily="34" charset="0"/>
                <a:ea typeface="Golos Text" pitchFamily="34" charset="-122"/>
                <a:cs typeface="Golos Text" pitchFamily="34" charset="-120"/>
              </a:rPr>
              <a:t>Дептериңе жаз, 2 мүнөттө чыгар, анан текшер</a:t>
            </a:r>
            <a:endParaRPr lang="en-US" sz="1500" dirty="0"/>
          </a:p>
        </p:txBody>
      </p:sp>
      <p:sp>
        <p:nvSpPr>
          <p:cNvPr id="9" name="Text 7"/>
          <p:cNvSpPr/>
          <p:nvPr/>
        </p:nvSpPr>
        <p:spPr>
          <a:xfrm>
            <a:off x="8897112" y="969264"/>
            <a:ext cx="2926080" cy="310896"/>
          </a:xfrm>
          <a:prstGeom prst="rect">
            <a:avLst/>
          </a:prstGeom>
          <a:noFill/>
          <a:ln/>
        </p:spPr>
        <p:txBody>
          <a:bodyPr wrap="square" lIns="0" tIns="0" rIns="0" bIns="0" rtlCol="0" anchor="ctr"/>
          <a:lstStyle/>
          <a:p>
            <a:pPr algn="r" indent="0" marL="0">
              <a:buNone/>
            </a:pPr>
            <a:r>
              <a:rPr lang="en-US" sz="1200" dirty="0">
                <a:solidFill>
                  <a:srgbClr val="4A5A70"/>
                </a:solidFill>
                <a:latin typeface="Golos Text" pitchFamily="34" charset="0"/>
                <a:ea typeface="Golos Text" pitchFamily="34" charset="-122"/>
                <a:cs typeface="Golos Text" pitchFamily="34" charset="-120"/>
              </a:rPr>
              <a:t>Ачылыш · 3 мүн</a:t>
            </a:r>
            <a:endParaRPr lang="en-US" sz="1200" dirty="0"/>
          </a:p>
        </p:txBody>
      </p:sp>
      <p:sp>
        <p:nvSpPr>
          <p:cNvPr id="10" name="Text 8"/>
          <p:cNvSpPr/>
          <p:nvPr/>
        </p:nvSpPr>
        <p:spPr>
          <a:xfrm>
            <a:off x="365760" y="6492240"/>
            <a:ext cx="5486400" cy="228600"/>
          </a:xfrm>
          <a:prstGeom prst="rect">
            <a:avLst/>
          </a:prstGeom>
          <a:noFill/>
          <a:ln/>
        </p:spPr>
        <p:txBody>
          <a:bodyPr wrap="square" lIns="0" tIns="0" rIns="0" bIns="0" rtlCol="0" anchor="t"/>
          <a:lstStyle/>
          <a:p>
            <a:pPr algn="l" indent="0" marL="0">
              <a:buNone/>
            </a:pPr>
            <a:r>
              <a:rPr lang="en-US" sz="900" dirty="0">
                <a:solidFill>
                  <a:srgbClr val="8D99AA"/>
                </a:solidFill>
                <a:latin typeface="Golos Text" pitchFamily="34" charset="0"/>
                <a:ea typeface="Golos Text" pitchFamily="34" charset="-122"/>
                <a:cs typeface="Golos Text" pitchFamily="34" charset="-120"/>
              </a:rPr>
              <a:t>MathKG · Математика кыргызча</a:t>
            </a:r>
            <a:endParaRPr lang="en-US" sz="900" dirty="0"/>
          </a:p>
        </p:txBody>
      </p:sp>
      <p:sp>
        <p:nvSpPr>
          <p:cNvPr id="11" name="Text 9"/>
          <p:cNvSpPr/>
          <p:nvPr/>
        </p:nvSpPr>
        <p:spPr>
          <a:xfrm>
            <a:off x="7680960" y="6492240"/>
            <a:ext cx="3657600" cy="228600"/>
          </a:xfrm>
          <a:prstGeom prst="rect">
            <a:avLst/>
          </a:prstGeom>
          <a:noFill/>
          <a:ln/>
        </p:spPr>
        <p:txBody>
          <a:bodyPr wrap="square" lIns="0" tIns="0" rIns="0" bIns="0" rtlCol="0" anchor="t"/>
          <a:lstStyle/>
          <a:p>
            <a:pPr algn="r" indent="0" marL="0">
              <a:buNone/>
            </a:pPr>
            <a:r>
              <a:rPr lang="en-US" sz="900" dirty="0">
                <a:solidFill>
                  <a:srgbClr val="8D99AA"/>
                </a:solidFill>
                <a:latin typeface="Golos Text" pitchFamily="34" charset="0"/>
                <a:ea typeface="Golos Text" pitchFamily="34" charset="-122"/>
                <a:cs typeface="Golos Text" pitchFamily="34" charset="-120"/>
              </a:rPr>
              <a:t>MathKG ыкмасы · 3 мүн</a:t>
            </a:r>
            <a:endParaRPr lang="en-US" sz="900" dirty="0"/>
          </a:p>
        </p:txBody>
      </p:sp>
      <p:sp>
        <p:nvSpPr>
          <p:cNvPr id="12" name="Shape 10"/>
          <p:cNvSpPr/>
          <p:nvPr/>
        </p:nvSpPr>
        <p:spPr>
          <a:xfrm>
            <a:off x="365760" y="1417320"/>
            <a:ext cx="11457432" cy="868680"/>
          </a:xfrm>
          <a:prstGeom prst="roundRect">
            <a:avLst>
              <a:gd name="adj" fmla="val 20000"/>
            </a:avLst>
          </a:prstGeom>
          <a:solidFill>
            <a:srgbClr val="F3F5FB"/>
          </a:solidFill>
          <a:ln/>
        </p:spPr>
      </p:sp>
      <p:sp>
        <p:nvSpPr>
          <p:cNvPr id="13" name="Text 11"/>
          <p:cNvSpPr/>
          <p:nvPr/>
        </p:nvSpPr>
        <p:spPr>
          <a:xfrm>
            <a:off x="594360" y="1417320"/>
            <a:ext cx="914400" cy="868680"/>
          </a:xfrm>
          <a:prstGeom prst="rect">
            <a:avLst/>
          </a:prstGeom>
          <a:noFill/>
          <a:ln/>
        </p:spPr>
        <p:txBody>
          <a:bodyPr wrap="square" lIns="0" tIns="0" rIns="0" bIns="0" rtlCol="0" anchor="ctr"/>
          <a:lstStyle/>
          <a:p>
            <a:pPr algn="l" indent="0" marL="0">
              <a:buNone/>
            </a:pPr>
            <a:r>
              <a:rPr lang="en-US" sz="1800" b="1" dirty="0">
                <a:solidFill>
                  <a:srgbClr val="1D3557"/>
                </a:solidFill>
                <a:latin typeface="Golos Text" pitchFamily="34" charset="0"/>
                <a:ea typeface="Golos Text" pitchFamily="34" charset="-122"/>
                <a:cs typeface="Golos Text" pitchFamily="34" charset="-120"/>
              </a:rPr>
              <a:t>Тизме:</a:t>
            </a:r>
            <a:endParaRPr lang="en-US" sz="1800" dirty="0"/>
          </a:p>
        </p:txBody>
      </p:sp>
      <p:sp>
        <p:nvSpPr>
          <p:cNvPr id="14" name="Text 12"/>
          <p:cNvSpPr/>
          <p:nvPr/>
        </p:nvSpPr>
        <p:spPr>
          <a:xfrm>
            <a:off x="1554480" y="1536192"/>
            <a:ext cx="685800" cy="64008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2200" b="1" dirty="0">
                <a:solidFill>
                  <a:srgbClr val="1D3557"/>
                </a:solidFill>
                <a:latin typeface="Golos Text" pitchFamily="34" charset="0"/>
                <a:ea typeface="Golos Text" pitchFamily="34" charset="-122"/>
                <a:cs typeface="Golos Text" pitchFamily="34" charset="-120"/>
              </a:rPr>
              <a:t>4</a:t>
            </a:r>
            <a:endParaRPr lang="en-US" sz="2200" dirty="0"/>
          </a:p>
        </p:txBody>
      </p:sp>
      <p:sp>
        <p:nvSpPr>
          <p:cNvPr id="15" name="Text 13"/>
          <p:cNvSpPr/>
          <p:nvPr/>
        </p:nvSpPr>
        <p:spPr>
          <a:xfrm>
            <a:off x="2331720" y="1536192"/>
            <a:ext cx="685800" cy="64008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2200" b="1" dirty="0">
                <a:solidFill>
                  <a:srgbClr val="1D3557"/>
                </a:solidFill>
                <a:latin typeface="Golos Text" pitchFamily="34" charset="0"/>
                <a:ea typeface="Golos Text" pitchFamily="34" charset="-122"/>
                <a:cs typeface="Golos Text" pitchFamily="34" charset="-120"/>
              </a:rPr>
              <a:t>7</a:t>
            </a:r>
            <a:endParaRPr lang="en-US" sz="2200" dirty="0"/>
          </a:p>
        </p:txBody>
      </p:sp>
      <p:sp>
        <p:nvSpPr>
          <p:cNvPr id="16" name="Text 14"/>
          <p:cNvSpPr/>
          <p:nvPr/>
        </p:nvSpPr>
        <p:spPr>
          <a:xfrm>
            <a:off x="3108960" y="1536192"/>
            <a:ext cx="685800" cy="64008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2200" b="1" dirty="0">
                <a:solidFill>
                  <a:srgbClr val="1D3557"/>
                </a:solidFill>
                <a:latin typeface="Golos Text" pitchFamily="34" charset="0"/>
                <a:ea typeface="Golos Text" pitchFamily="34" charset="-122"/>
                <a:cs typeface="Golos Text" pitchFamily="34" charset="-120"/>
              </a:rPr>
              <a:t>7</a:t>
            </a:r>
            <a:endParaRPr lang="en-US" sz="2200" dirty="0"/>
          </a:p>
        </p:txBody>
      </p:sp>
      <p:sp>
        <p:nvSpPr>
          <p:cNvPr id="17" name="Text 15"/>
          <p:cNvSpPr/>
          <p:nvPr/>
        </p:nvSpPr>
        <p:spPr>
          <a:xfrm>
            <a:off x="3886200" y="1536192"/>
            <a:ext cx="685800" cy="64008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2200" b="1" dirty="0">
                <a:solidFill>
                  <a:srgbClr val="1D3557"/>
                </a:solidFill>
                <a:latin typeface="Golos Text" pitchFamily="34" charset="0"/>
                <a:ea typeface="Golos Text" pitchFamily="34" charset="-122"/>
                <a:cs typeface="Golos Text" pitchFamily="34" charset="-120"/>
              </a:rPr>
              <a:t>9</a:t>
            </a:r>
            <a:endParaRPr lang="en-US" sz="2200" dirty="0"/>
          </a:p>
        </p:txBody>
      </p:sp>
      <p:sp>
        <p:nvSpPr>
          <p:cNvPr id="18" name="Text 16"/>
          <p:cNvSpPr/>
          <p:nvPr/>
        </p:nvSpPr>
        <p:spPr>
          <a:xfrm>
            <a:off x="4663440" y="1536192"/>
            <a:ext cx="685800" cy="64008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2200" b="1" dirty="0">
                <a:solidFill>
                  <a:srgbClr val="1D3557"/>
                </a:solidFill>
                <a:latin typeface="Golos Text" pitchFamily="34" charset="0"/>
                <a:ea typeface="Golos Text" pitchFamily="34" charset="-122"/>
                <a:cs typeface="Golos Text" pitchFamily="34" charset="-120"/>
              </a:rPr>
              <a:t>3</a:t>
            </a:r>
            <a:endParaRPr lang="en-US" sz="2200" dirty="0"/>
          </a:p>
        </p:txBody>
      </p:sp>
      <p:sp>
        <p:nvSpPr>
          <p:cNvPr id="19" name="anim1_ord"/>
          <p:cNvSpPr/>
          <p:nvPr/>
        </p:nvSpPr>
        <p:spPr>
          <a:xfrm>
            <a:off x="5715000" y="1417320"/>
            <a:ext cx="1737360" cy="868680"/>
          </a:xfrm>
          <a:prstGeom prst="rect">
            <a:avLst/>
          </a:prstGeom>
          <a:noFill/>
          <a:ln/>
        </p:spPr>
        <p:txBody>
          <a:bodyPr wrap="square" lIns="0" tIns="0" rIns="0" bIns="0" rtlCol="0" anchor="ctr"/>
          <a:lstStyle/>
          <a:p>
            <a:pPr algn="l" indent="0" marL="0">
              <a:buNone/>
            </a:pPr>
            <a:r>
              <a:rPr lang="en-US" sz="1800" b="1" dirty="0">
                <a:solidFill>
                  <a:srgbClr val="007A5A"/>
                </a:solidFill>
                <a:latin typeface="Golos Text" pitchFamily="34" charset="0"/>
                <a:ea typeface="Golos Text" pitchFamily="34" charset="-122"/>
                <a:cs typeface="Golos Text" pitchFamily="34" charset="-120"/>
              </a:rPr>
              <a:t>Ирээттелген:</a:t>
            </a:r>
            <a:endParaRPr lang="en-US" sz="1800" dirty="0"/>
          </a:p>
        </p:txBody>
      </p:sp>
      <p:sp>
        <p:nvSpPr>
          <p:cNvPr id="20" name="anim1_ord"/>
          <p:cNvSpPr/>
          <p:nvPr/>
        </p:nvSpPr>
        <p:spPr>
          <a:xfrm>
            <a:off x="7498080" y="1536192"/>
            <a:ext cx="685800" cy="640080"/>
          </a:xfrm>
          <a:prstGeom prst="roundRect">
            <a:avLst>
              <a:gd name="adj" fmla="val 20000"/>
            </a:avLst>
          </a:prstGeom>
          <a:solidFill>
            <a:srgbClr val="D1E7E1"/>
          </a:solidFill>
          <a:ln w="15875">
            <a:solidFill>
              <a:srgbClr val="007A5A"/>
            </a:solidFill>
            <a:prstDash val="solid"/>
          </a:ln>
        </p:spPr>
        <p:txBody>
          <a:bodyPr wrap="square" lIns="0" tIns="0" rIns="0" bIns="0" rtlCol="0" anchor="ctr"/>
          <a:lstStyle/>
          <a:p>
            <a:pPr algn="ctr" indent="0" marL="0">
              <a:buNone/>
            </a:pPr>
            <a:r>
              <a:rPr lang="en-US" sz="2200" b="1" dirty="0">
                <a:solidFill>
                  <a:srgbClr val="1D3557"/>
                </a:solidFill>
                <a:latin typeface="Golos Text" pitchFamily="34" charset="0"/>
                <a:ea typeface="Golos Text" pitchFamily="34" charset="-122"/>
                <a:cs typeface="Golos Text" pitchFamily="34" charset="-120"/>
              </a:rPr>
              <a:t>3</a:t>
            </a:r>
            <a:endParaRPr lang="en-US" sz="2200" dirty="0"/>
          </a:p>
        </p:txBody>
      </p:sp>
      <p:sp>
        <p:nvSpPr>
          <p:cNvPr id="21" name="anim1_ord"/>
          <p:cNvSpPr/>
          <p:nvPr/>
        </p:nvSpPr>
        <p:spPr>
          <a:xfrm>
            <a:off x="8275320" y="1536192"/>
            <a:ext cx="685800" cy="640080"/>
          </a:xfrm>
          <a:prstGeom prst="roundRect">
            <a:avLst>
              <a:gd name="adj" fmla="val 20000"/>
            </a:avLst>
          </a:prstGeom>
          <a:solidFill>
            <a:srgbClr val="D1E7E1"/>
          </a:solidFill>
          <a:ln w="15875">
            <a:solidFill>
              <a:srgbClr val="007A5A"/>
            </a:solidFill>
            <a:prstDash val="solid"/>
          </a:ln>
        </p:spPr>
        <p:txBody>
          <a:bodyPr wrap="square" lIns="0" tIns="0" rIns="0" bIns="0" rtlCol="0" anchor="ctr"/>
          <a:lstStyle/>
          <a:p>
            <a:pPr algn="ctr" indent="0" marL="0">
              <a:buNone/>
            </a:pPr>
            <a:r>
              <a:rPr lang="en-US" sz="2200" b="1" dirty="0">
                <a:solidFill>
                  <a:srgbClr val="1D3557"/>
                </a:solidFill>
                <a:latin typeface="Golos Text" pitchFamily="34" charset="0"/>
                <a:ea typeface="Golos Text" pitchFamily="34" charset="-122"/>
                <a:cs typeface="Golos Text" pitchFamily="34" charset="-120"/>
              </a:rPr>
              <a:t>4</a:t>
            </a:r>
            <a:endParaRPr lang="en-US" sz="2200" dirty="0"/>
          </a:p>
        </p:txBody>
      </p:sp>
      <p:sp>
        <p:nvSpPr>
          <p:cNvPr id="22" name="anim1_ord"/>
          <p:cNvSpPr/>
          <p:nvPr/>
        </p:nvSpPr>
        <p:spPr>
          <a:xfrm>
            <a:off x="9052560" y="1536192"/>
            <a:ext cx="685800" cy="640080"/>
          </a:xfrm>
          <a:prstGeom prst="roundRect">
            <a:avLst>
              <a:gd name="adj" fmla="val 20000"/>
            </a:avLst>
          </a:prstGeom>
          <a:solidFill>
            <a:srgbClr val="D1E7E1"/>
          </a:solidFill>
          <a:ln w="15875">
            <a:solidFill>
              <a:srgbClr val="007A5A"/>
            </a:solidFill>
            <a:prstDash val="solid"/>
          </a:ln>
        </p:spPr>
        <p:txBody>
          <a:bodyPr wrap="square" lIns="0" tIns="0" rIns="0" bIns="0" rtlCol="0" anchor="ctr"/>
          <a:lstStyle/>
          <a:p>
            <a:pPr algn="ctr" indent="0" marL="0">
              <a:buNone/>
            </a:pPr>
            <a:r>
              <a:rPr lang="en-US" sz="2200" b="1" dirty="0">
                <a:solidFill>
                  <a:srgbClr val="1D3557"/>
                </a:solidFill>
                <a:latin typeface="Golos Text" pitchFamily="34" charset="0"/>
                <a:ea typeface="Golos Text" pitchFamily="34" charset="-122"/>
                <a:cs typeface="Golos Text" pitchFamily="34" charset="-120"/>
              </a:rPr>
              <a:t>7</a:t>
            </a:r>
            <a:endParaRPr lang="en-US" sz="2200" dirty="0"/>
          </a:p>
        </p:txBody>
      </p:sp>
      <p:sp>
        <p:nvSpPr>
          <p:cNvPr id="23" name="anim1_ord"/>
          <p:cNvSpPr/>
          <p:nvPr/>
        </p:nvSpPr>
        <p:spPr>
          <a:xfrm>
            <a:off x="9829800" y="1536192"/>
            <a:ext cx="685800" cy="640080"/>
          </a:xfrm>
          <a:prstGeom prst="roundRect">
            <a:avLst>
              <a:gd name="adj" fmla="val 20000"/>
            </a:avLst>
          </a:prstGeom>
          <a:solidFill>
            <a:srgbClr val="D1E7E1"/>
          </a:solidFill>
          <a:ln w="15875">
            <a:solidFill>
              <a:srgbClr val="007A5A"/>
            </a:solidFill>
            <a:prstDash val="solid"/>
          </a:ln>
        </p:spPr>
        <p:txBody>
          <a:bodyPr wrap="square" lIns="0" tIns="0" rIns="0" bIns="0" rtlCol="0" anchor="ctr"/>
          <a:lstStyle/>
          <a:p>
            <a:pPr algn="ctr" indent="0" marL="0">
              <a:buNone/>
            </a:pPr>
            <a:r>
              <a:rPr lang="en-US" sz="2200" b="1" dirty="0">
                <a:solidFill>
                  <a:srgbClr val="1D3557"/>
                </a:solidFill>
                <a:latin typeface="Golos Text" pitchFamily="34" charset="0"/>
                <a:ea typeface="Golos Text" pitchFamily="34" charset="-122"/>
                <a:cs typeface="Golos Text" pitchFamily="34" charset="-120"/>
              </a:rPr>
              <a:t>7</a:t>
            </a:r>
            <a:endParaRPr lang="en-US" sz="2200" dirty="0"/>
          </a:p>
        </p:txBody>
      </p:sp>
      <p:sp>
        <p:nvSpPr>
          <p:cNvPr id="24" name="anim1_ord"/>
          <p:cNvSpPr/>
          <p:nvPr/>
        </p:nvSpPr>
        <p:spPr>
          <a:xfrm>
            <a:off x="10607040" y="1536192"/>
            <a:ext cx="685800" cy="640080"/>
          </a:xfrm>
          <a:prstGeom prst="roundRect">
            <a:avLst>
              <a:gd name="adj" fmla="val 20000"/>
            </a:avLst>
          </a:prstGeom>
          <a:solidFill>
            <a:srgbClr val="D1E7E1"/>
          </a:solidFill>
          <a:ln w="15875">
            <a:solidFill>
              <a:srgbClr val="007A5A"/>
            </a:solidFill>
            <a:prstDash val="solid"/>
          </a:ln>
        </p:spPr>
        <p:txBody>
          <a:bodyPr wrap="square" lIns="0" tIns="0" rIns="0" bIns="0" rtlCol="0" anchor="ctr"/>
          <a:lstStyle/>
          <a:p>
            <a:pPr algn="ctr" indent="0" marL="0">
              <a:buNone/>
            </a:pPr>
            <a:r>
              <a:rPr lang="en-US" sz="2200" b="1" dirty="0">
                <a:solidFill>
                  <a:srgbClr val="1D3557"/>
                </a:solidFill>
                <a:latin typeface="Golos Text" pitchFamily="34" charset="0"/>
                <a:ea typeface="Golos Text" pitchFamily="34" charset="-122"/>
                <a:cs typeface="Golos Text" pitchFamily="34" charset="-120"/>
              </a:rPr>
              <a:t>9</a:t>
            </a:r>
            <a:endParaRPr lang="en-US" sz="2200" dirty="0"/>
          </a:p>
        </p:txBody>
      </p:sp>
      <p:sp>
        <p:nvSpPr>
          <p:cNvPr id="25" name="Shape 23"/>
          <p:cNvSpPr/>
          <p:nvPr/>
        </p:nvSpPr>
        <p:spPr>
          <a:xfrm>
            <a:off x="365760" y="2514600"/>
            <a:ext cx="2658618" cy="3108960"/>
          </a:xfrm>
          <a:prstGeom prst="roundRect">
            <a:avLst>
              <a:gd name="adj" fmla="val 8000"/>
            </a:avLst>
          </a:prstGeom>
          <a:solidFill>
            <a:srgbClr val="FFFFFF"/>
          </a:solidFill>
          <a:ln w="28575">
            <a:solidFill>
              <a:srgbClr val="007A5A"/>
            </a:solidFill>
            <a:prstDash val="solid"/>
          </a:ln>
        </p:spPr>
      </p:sp>
      <p:sp>
        <p:nvSpPr>
          <p:cNvPr id="26" name="Text 24"/>
          <p:cNvSpPr/>
          <p:nvPr/>
        </p:nvSpPr>
        <p:spPr>
          <a:xfrm>
            <a:off x="566928" y="2697480"/>
            <a:ext cx="502920" cy="502920"/>
          </a:xfrm>
          <a:prstGeom prst="roundRect">
            <a:avLst>
              <a:gd name="adj" fmla="val 50000"/>
            </a:avLst>
          </a:prstGeom>
          <a:solidFill>
            <a:srgbClr val="007A5A"/>
          </a:solidFill>
          <a:ln w="19050">
            <a:solidFill>
              <a:srgbClr val="007A5A"/>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1</a:t>
            </a:r>
            <a:endParaRPr lang="en-US" sz="1600" dirty="0"/>
          </a:p>
        </p:txBody>
      </p:sp>
      <p:sp>
        <p:nvSpPr>
          <p:cNvPr id="27" name="Text 25"/>
          <p:cNvSpPr/>
          <p:nvPr/>
        </p:nvSpPr>
        <p:spPr>
          <a:xfrm>
            <a:off x="566928" y="3291840"/>
            <a:ext cx="2256282" cy="868680"/>
          </a:xfrm>
          <a:prstGeom prst="rect">
            <a:avLst/>
          </a:prstGeom>
          <a:noFill/>
          <a:ln/>
        </p:spPr>
        <p:txBody>
          <a:bodyPr wrap="square" lIns="0" tIns="0" rIns="0" bIns="0" rtlCol="0" anchor="t"/>
          <a:lstStyle/>
          <a:p>
            <a:pPr algn="l" indent="0" marL="0">
              <a:buNone/>
            </a:pPr>
            <a:r>
              <a:rPr lang="en-US" sz="1500" b="1" dirty="0">
                <a:solidFill>
                  <a:srgbClr val="1D3557"/>
                </a:solidFill>
                <a:latin typeface="Golos Text" pitchFamily="34" charset="0"/>
                <a:ea typeface="Golos Text" pitchFamily="34" charset="-122"/>
                <a:cs typeface="Golos Text" pitchFamily="34" charset="-120"/>
              </a:rPr>
              <a:t>Бардык сандарды кош, анан сандардын санына бөл.</a:t>
            </a:r>
            <a:endParaRPr lang="en-US" sz="1500" dirty="0"/>
          </a:p>
        </p:txBody>
      </p:sp>
      <p:sp>
        <p:nvSpPr>
          <p:cNvPr id="28" name="Text 26"/>
          <p:cNvSpPr/>
          <p:nvPr/>
        </p:nvSpPr>
        <p:spPr>
          <a:xfrm>
            <a:off x="502920" y="4160520"/>
            <a:ext cx="2384298" cy="548640"/>
          </a:xfrm>
          <a:prstGeom prst="rect">
            <a:avLst/>
          </a:prstGeom>
          <a:noFill/>
          <a:ln/>
        </p:spPr>
        <p:txBody>
          <a:bodyPr wrap="square" lIns="0" tIns="0" rIns="0" bIns="0" rtlCol="0" anchor="ctr"/>
          <a:lstStyle/>
          <a:p>
            <a:pPr algn="ctr" indent="0" marL="0">
              <a:buNone/>
            </a:pPr>
            <a:r>
              <a:rPr lang="en-US" sz="2200" b="1" dirty="0">
                <a:solidFill>
                  <a:srgbClr val="007A5A"/>
                </a:solidFill>
                <a:latin typeface="Golos Text" pitchFamily="34" charset="0"/>
                <a:ea typeface="Golos Text" pitchFamily="34" charset="-122"/>
                <a:cs typeface="Golos Text" pitchFamily="34" charset="-120"/>
              </a:rPr>
              <a:t>30 : 5 = ?</a:t>
            </a:r>
            <a:endParaRPr lang="en-US" sz="2200" dirty="0"/>
          </a:p>
        </p:txBody>
      </p:sp>
      <p:sp>
        <p:nvSpPr>
          <p:cNvPr id="29" name="Shape 27"/>
          <p:cNvSpPr/>
          <p:nvPr/>
        </p:nvSpPr>
        <p:spPr>
          <a:xfrm>
            <a:off x="826389" y="4846320"/>
            <a:ext cx="1737360" cy="640080"/>
          </a:xfrm>
          <a:prstGeom prst="roundRect">
            <a:avLst>
              <a:gd name="adj" fmla="val 25000"/>
            </a:avLst>
          </a:prstGeom>
          <a:solidFill>
            <a:srgbClr val="FFFFFF"/>
          </a:solidFill>
          <a:ln w="19050">
            <a:solidFill>
              <a:srgbClr val="8D99AA"/>
            </a:solidFill>
            <a:prstDash val="dash"/>
          </a:ln>
        </p:spPr>
      </p:sp>
      <p:sp>
        <p:nvSpPr>
          <p:cNvPr id="30" name="anim2_a"/>
          <p:cNvSpPr/>
          <p:nvPr/>
        </p:nvSpPr>
        <p:spPr>
          <a:xfrm>
            <a:off x="826389" y="4846320"/>
            <a:ext cx="1737360" cy="640080"/>
          </a:xfrm>
          <a:prstGeom prst="roundRect">
            <a:avLst>
              <a:gd name="adj" fmla="val 25000"/>
            </a:avLst>
          </a:prstGeom>
          <a:solidFill>
            <a:srgbClr val="E7EAF2"/>
          </a:solidFill>
          <a:ln w="19050">
            <a:solidFill>
              <a:srgbClr val="24418C"/>
            </a:solidFill>
            <a:prstDash val="solid"/>
          </a:ln>
        </p:spPr>
        <p:txBody>
          <a:bodyPr wrap="square" lIns="0" tIns="0" rIns="0" bIns="0" rtlCol="0" anchor="ctr"/>
          <a:lstStyle/>
          <a:p>
            <a:pPr algn="ctr" indent="0" marL="0">
              <a:buNone/>
            </a:pPr>
            <a:r>
              <a:rPr lang="en-US" sz="2800" b="1" dirty="0">
                <a:solidFill>
                  <a:srgbClr val="24418C"/>
                </a:solidFill>
                <a:latin typeface="Golos Text" pitchFamily="34" charset="0"/>
                <a:ea typeface="Golos Text" pitchFamily="34" charset="-122"/>
                <a:cs typeface="Golos Text" pitchFamily="34" charset="-120"/>
              </a:rPr>
              <a:t>6</a:t>
            </a:r>
            <a:endParaRPr lang="en-US" sz="2800" dirty="0"/>
          </a:p>
        </p:txBody>
      </p:sp>
      <p:sp>
        <p:nvSpPr>
          <p:cNvPr id="31" name="Shape 29"/>
          <p:cNvSpPr/>
          <p:nvPr/>
        </p:nvSpPr>
        <p:spPr>
          <a:xfrm>
            <a:off x="3298698" y="2514600"/>
            <a:ext cx="2658618" cy="3108960"/>
          </a:xfrm>
          <a:prstGeom prst="roundRect">
            <a:avLst>
              <a:gd name="adj" fmla="val 8000"/>
            </a:avLst>
          </a:prstGeom>
          <a:solidFill>
            <a:srgbClr val="FFFFFF"/>
          </a:solidFill>
          <a:ln w="28575">
            <a:solidFill>
              <a:srgbClr val="A84400"/>
            </a:solidFill>
            <a:prstDash val="solid"/>
          </a:ln>
        </p:spPr>
      </p:sp>
      <p:sp>
        <p:nvSpPr>
          <p:cNvPr id="32" name="Text 30"/>
          <p:cNvSpPr/>
          <p:nvPr/>
        </p:nvSpPr>
        <p:spPr>
          <a:xfrm>
            <a:off x="3499866" y="2697480"/>
            <a:ext cx="502920" cy="502920"/>
          </a:xfrm>
          <a:prstGeom prst="roundRect">
            <a:avLst>
              <a:gd name="adj" fmla="val 50000"/>
            </a:avLst>
          </a:prstGeom>
          <a:solidFill>
            <a:srgbClr val="A84400"/>
          </a:solidFill>
          <a:ln w="19050">
            <a:solidFill>
              <a:srgbClr val="A84400"/>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2</a:t>
            </a:r>
            <a:endParaRPr lang="en-US" sz="1600" dirty="0"/>
          </a:p>
        </p:txBody>
      </p:sp>
      <p:sp>
        <p:nvSpPr>
          <p:cNvPr id="33" name="Text 31"/>
          <p:cNvSpPr/>
          <p:nvPr/>
        </p:nvSpPr>
        <p:spPr>
          <a:xfrm>
            <a:off x="3499866" y="3291840"/>
            <a:ext cx="2256282" cy="868680"/>
          </a:xfrm>
          <a:prstGeom prst="rect">
            <a:avLst/>
          </a:prstGeom>
          <a:noFill/>
          <a:ln/>
        </p:spPr>
        <p:txBody>
          <a:bodyPr wrap="square" lIns="0" tIns="0" rIns="0" bIns="0" rtlCol="0" anchor="t"/>
          <a:lstStyle/>
          <a:p>
            <a:pPr algn="l" indent="0" marL="0">
              <a:buNone/>
            </a:pPr>
            <a:r>
              <a:rPr lang="en-US" sz="1500" b="1" dirty="0">
                <a:solidFill>
                  <a:srgbClr val="1D3557"/>
                </a:solidFill>
                <a:latin typeface="Golos Text" pitchFamily="34" charset="0"/>
                <a:ea typeface="Golos Text" pitchFamily="34" charset="-122"/>
                <a:cs typeface="Golos Text" pitchFamily="34" charset="-120"/>
              </a:rPr>
              <a:t>Ирээттелген тизменин так ортосундагы сан кайсы?</a:t>
            </a:r>
            <a:endParaRPr lang="en-US" sz="1500" dirty="0"/>
          </a:p>
        </p:txBody>
      </p:sp>
      <p:sp>
        <p:nvSpPr>
          <p:cNvPr id="34" name="Text 32"/>
          <p:cNvSpPr/>
          <p:nvPr/>
        </p:nvSpPr>
        <p:spPr>
          <a:xfrm>
            <a:off x="3435858" y="4160520"/>
            <a:ext cx="2384298" cy="548640"/>
          </a:xfrm>
          <a:prstGeom prst="rect">
            <a:avLst/>
          </a:prstGeom>
          <a:noFill/>
          <a:ln/>
        </p:spPr>
        <p:txBody>
          <a:bodyPr wrap="square" lIns="0" tIns="0" rIns="0" bIns="0" rtlCol="0" anchor="ctr"/>
          <a:lstStyle/>
          <a:p>
            <a:pPr algn="ctr" indent="0" marL="0">
              <a:buNone/>
            </a:pPr>
            <a:r>
              <a:rPr lang="en-US" sz="2200" b="1" dirty="0">
                <a:solidFill>
                  <a:srgbClr val="A84400"/>
                </a:solidFill>
                <a:latin typeface="Golos Text" pitchFamily="34" charset="0"/>
                <a:ea typeface="Golos Text" pitchFamily="34" charset="-122"/>
                <a:cs typeface="Golos Text" pitchFamily="34" charset="-120"/>
              </a:rPr>
              <a:t>3, 4, 7, 7, 9</a:t>
            </a:r>
            <a:endParaRPr lang="en-US" sz="2200" dirty="0"/>
          </a:p>
        </p:txBody>
      </p:sp>
      <p:sp>
        <p:nvSpPr>
          <p:cNvPr id="35" name="Shape 33"/>
          <p:cNvSpPr/>
          <p:nvPr/>
        </p:nvSpPr>
        <p:spPr>
          <a:xfrm>
            <a:off x="3759327" y="4846320"/>
            <a:ext cx="1737360" cy="640080"/>
          </a:xfrm>
          <a:prstGeom prst="roundRect">
            <a:avLst>
              <a:gd name="adj" fmla="val 25000"/>
            </a:avLst>
          </a:prstGeom>
          <a:solidFill>
            <a:srgbClr val="FFFFFF"/>
          </a:solidFill>
          <a:ln w="19050">
            <a:solidFill>
              <a:srgbClr val="8D99AA"/>
            </a:solidFill>
            <a:prstDash val="dash"/>
          </a:ln>
        </p:spPr>
      </p:sp>
      <p:sp>
        <p:nvSpPr>
          <p:cNvPr id="36" name="anim3_a"/>
          <p:cNvSpPr/>
          <p:nvPr/>
        </p:nvSpPr>
        <p:spPr>
          <a:xfrm>
            <a:off x="3759327" y="4846320"/>
            <a:ext cx="1737360" cy="640080"/>
          </a:xfrm>
          <a:prstGeom prst="roundRect">
            <a:avLst>
              <a:gd name="adj" fmla="val 25000"/>
            </a:avLst>
          </a:prstGeom>
          <a:solidFill>
            <a:srgbClr val="E7EAF2"/>
          </a:solidFill>
          <a:ln w="19050">
            <a:solidFill>
              <a:srgbClr val="24418C"/>
            </a:solidFill>
            <a:prstDash val="solid"/>
          </a:ln>
        </p:spPr>
        <p:txBody>
          <a:bodyPr wrap="square" lIns="0" tIns="0" rIns="0" bIns="0" rtlCol="0" anchor="ctr"/>
          <a:lstStyle/>
          <a:p>
            <a:pPr algn="ctr" indent="0" marL="0">
              <a:buNone/>
            </a:pPr>
            <a:r>
              <a:rPr lang="en-US" sz="2800" b="1" dirty="0">
                <a:solidFill>
                  <a:srgbClr val="24418C"/>
                </a:solidFill>
                <a:latin typeface="Golos Text" pitchFamily="34" charset="0"/>
                <a:ea typeface="Golos Text" pitchFamily="34" charset="-122"/>
                <a:cs typeface="Golos Text" pitchFamily="34" charset="-120"/>
              </a:rPr>
              <a:t>7</a:t>
            </a:r>
            <a:endParaRPr lang="en-US" sz="2800" dirty="0"/>
          </a:p>
        </p:txBody>
      </p:sp>
      <p:sp>
        <p:nvSpPr>
          <p:cNvPr id="37" name="Shape 35"/>
          <p:cNvSpPr/>
          <p:nvPr/>
        </p:nvSpPr>
        <p:spPr>
          <a:xfrm>
            <a:off x="6231636" y="2514600"/>
            <a:ext cx="2658618" cy="3108960"/>
          </a:xfrm>
          <a:prstGeom prst="roundRect">
            <a:avLst>
              <a:gd name="adj" fmla="val 8000"/>
            </a:avLst>
          </a:prstGeom>
          <a:solidFill>
            <a:srgbClr val="FFFFFF"/>
          </a:solidFill>
          <a:ln w="28575">
            <a:solidFill>
              <a:srgbClr val="24418C"/>
            </a:solidFill>
            <a:prstDash val="solid"/>
          </a:ln>
        </p:spPr>
      </p:sp>
      <p:sp>
        <p:nvSpPr>
          <p:cNvPr id="38" name="Text 36"/>
          <p:cNvSpPr/>
          <p:nvPr/>
        </p:nvSpPr>
        <p:spPr>
          <a:xfrm>
            <a:off x="6432804" y="2697480"/>
            <a:ext cx="502920" cy="502920"/>
          </a:xfrm>
          <a:prstGeom prst="roundRect">
            <a:avLst>
              <a:gd name="adj" fmla="val 50000"/>
            </a:avLst>
          </a:prstGeom>
          <a:solidFill>
            <a:srgbClr val="24418C"/>
          </a:solidFill>
          <a:ln w="19050">
            <a:solidFill>
              <a:srgbClr val="24418C"/>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3</a:t>
            </a:r>
            <a:endParaRPr lang="en-US" sz="1600" dirty="0"/>
          </a:p>
        </p:txBody>
      </p:sp>
      <p:sp>
        <p:nvSpPr>
          <p:cNvPr id="39" name="Text 37"/>
          <p:cNvSpPr/>
          <p:nvPr/>
        </p:nvSpPr>
        <p:spPr>
          <a:xfrm>
            <a:off x="6432804" y="3291840"/>
            <a:ext cx="2256282" cy="868680"/>
          </a:xfrm>
          <a:prstGeom prst="rect">
            <a:avLst/>
          </a:prstGeom>
          <a:noFill/>
          <a:ln/>
        </p:spPr>
        <p:txBody>
          <a:bodyPr wrap="square" lIns="0" tIns="0" rIns="0" bIns="0" rtlCol="0" anchor="t"/>
          <a:lstStyle/>
          <a:p>
            <a:pPr algn="l" indent="0" marL="0">
              <a:buNone/>
            </a:pPr>
            <a:r>
              <a:rPr lang="en-US" sz="1500" b="1" dirty="0">
                <a:solidFill>
                  <a:srgbClr val="1D3557"/>
                </a:solidFill>
                <a:latin typeface="Golos Text" pitchFamily="34" charset="0"/>
                <a:ea typeface="Golos Text" pitchFamily="34" charset="-122"/>
                <a:cs typeface="Golos Text" pitchFamily="34" charset="-120"/>
              </a:rPr>
              <a:t>Тизмеде эң көп кездешкен сан кайсы?</a:t>
            </a:r>
            <a:endParaRPr lang="en-US" sz="1500" dirty="0"/>
          </a:p>
        </p:txBody>
      </p:sp>
      <p:sp>
        <p:nvSpPr>
          <p:cNvPr id="40" name="Text 38"/>
          <p:cNvSpPr/>
          <p:nvPr/>
        </p:nvSpPr>
        <p:spPr>
          <a:xfrm>
            <a:off x="6368796" y="4160520"/>
            <a:ext cx="2384298" cy="548640"/>
          </a:xfrm>
          <a:prstGeom prst="rect">
            <a:avLst/>
          </a:prstGeom>
          <a:noFill/>
          <a:ln/>
        </p:spPr>
        <p:txBody>
          <a:bodyPr wrap="square" lIns="0" tIns="0" rIns="0" bIns="0" rtlCol="0" anchor="ctr"/>
          <a:lstStyle/>
          <a:p>
            <a:pPr algn="ctr" indent="0" marL="0">
              <a:buNone/>
            </a:pPr>
            <a:r>
              <a:rPr lang="en-US" sz="2200" b="1" dirty="0">
                <a:solidFill>
                  <a:srgbClr val="24418C"/>
                </a:solidFill>
                <a:latin typeface="Golos Text" pitchFamily="34" charset="0"/>
                <a:ea typeface="Golos Text" pitchFamily="34" charset="-122"/>
                <a:cs typeface="Golos Text" pitchFamily="34" charset="-120"/>
              </a:rPr>
              <a:t>4, 7, 7, 9, 3</a:t>
            </a:r>
            <a:endParaRPr lang="en-US" sz="2200" dirty="0"/>
          </a:p>
        </p:txBody>
      </p:sp>
      <p:sp>
        <p:nvSpPr>
          <p:cNvPr id="41" name="Shape 39"/>
          <p:cNvSpPr/>
          <p:nvPr/>
        </p:nvSpPr>
        <p:spPr>
          <a:xfrm>
            <a:off x="6692265" y="4846320"/>
            <a:ext cx="1737360" cy="640080"/>
          </a:xfrm>
          <a:prstGeom prst="roundRect">
            <a:avLst>
              <a:gd name="adj" fmla="val 25000"/>
            </a:avLst>
          </a:prstGeom>
          <a:solidFill>
            <a:srgbClr val="FFFFFF"/>
          </a:solidFill>
          <a:ln w="19050">
            <a:solidFill>
              <a:srgbClr val="8D99AA"/>
            </a:solidFill>
            <a:prstDash val="dash"/>
          </a:ln>
        </p:spPr>
      </p:sp>
      <p:sp>
        <p:nvSpPr>
          <p:cNvPr id="42" name="anim4_a"/>
          <p:cNvSpPr/>
          <p:nvPr/>
        </p:nvSpPr>
        <p:spPr>
          <a:xfrm>
            <a:off x="6692265" y="4846320"/>
            <a:ext cx="1737360" cy="640080"/>
          </a:xfrm>
          <a:prstGeom prst="roundRect">
            <a:avLst>
              <a:gd name="adj" fmla="val 25000"/>
            </a:avLst>
          </a:prstGeom>
          <a:solidFill>
            <a:srgbClr val="E7EAF2"/>
          </a:solidFill>
          <a:ln w="19050">
            <a:solidFill>
              <a:srgbClr val="24418C"/>
            </a:solidFill>
            <a:prstDash val="solid"/>
          </a:ln>
        </p:spPr>
        <p:txBody>
          <a:bodyPr wrap="square" lIns="0" tIns="0" rIns="0" bIns="0" rtlCol="0" anchor="ctr"/>
          <a:lstStyle/>
          <a:p>
            <a:pPr algn="ctr" indent="0" marL="0">
              <a:buNone/>
            </a:pPr>
            <a:r>
              <a:rPr lang="en-US" sz="2800" b="1" dirty="0">
                <a:solidFill>
                  <a:srgbClr val="24418C"/>
                </a:solidFill>
                <a:latin typeface="Golos Text" pitchFamily="34" charset="0"/>
                <a:ea typeface="Golos Text" pitchFamily="34" charset="-122"/>
                <a:cs typeface="Golos Text" pitchFamily="34" charset="-120"/>
              </a:rPr>
              <a:t>7</a:t>
            </a:r>
            <a:endParaRPr lang="en-US" sz="2800" dirty="0"/>
          </a:p>
        </p:txBody>
      </p:sp>
      <p:sp>
        <p:nvSpPr>
          <p:cNvPr id="43" name="Shape 41"/>
          <p:cNvSpPr/>
          <p:nvPr/>
        </p:nvSpPr>
        <p:spPr>
          <a:xfrm>
            <a:off x="9164574" y="2514600"/>
            <a:ext cx="2658618" cy="3108960"/>
          </a:xfrm>
          <a:prstGeom prst="roundRect">
            <a:avLst>
              <a:gd name="adj" fmla="val 8000"/>
            </a:avLst>
          </a:prstGeom>
          <a:solidFill>
            <a:srgbClr val="FFFFFF"/>
          </a:solidFill>
          <a:ln w="28575">
            <a:solidFill>
              <a:srgbClr val="1D3557"/>
            </a:solidFill>
            <a:prstDash val="solid"/>
          </a:ln>
        </p:spPr>
      </p:sp>
      <p:sp>
        <p:nvSpPr>
          <p:cNvPr id="44" name="Text 42"/>
          <p:cNvSpPr/>
          <p:nvPr/>
        </p:nvSpPr>
        <p:spPr>
          <a:xfrm>
            <a:off x="9365742" y="2697480"/>
            <a:ext cx="502920" cy="502920"/>
          </a:xfrm>
          <a:prstGeom prst="roundRect">
            <a:avLst>
              <a:gd name="adj" fmla="val 50000"/>
            </a:avLst>
          </a:prstGeom>
          <a:solidFill>
            <a:srgbClr val="1D3557"/>
          </a:solidFill>
          <a:ln w="19050">
            <a:solidFill>
              <a:srgbClr val="1D3557"/>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4</a:t>
            </a:r>
            <a:endParaRPr lang="en-US" sz="1600" dirty="0"/>
          </a:p>
        </p:txBody>
      </p:sp>
      <p:sp>
        <p:nvSpPr>
          <p:cNvPr id="45" name="Text 43"/>
          <p:cNvSpPr/>
          <p:nvPr/>
        </p:nvSpPr>
        <p:spPr>
          <a:xfrm>
            <a:off x="9365742" y="3291840"/>
            <a:ext cx="2256282" cy="868680"/>
          </a:xfrm>
          <a:prstGeom prst="rect">
            <a:avLst/>
          </a:prstGeom>
          <a:noFill/>
          <a:ln/>
        </p:spPr>
        <p:txBody>
          <a:bodyPr wrap="square" lIns="0" tIns="0" rIns="0" bIns="0" rtlCol="0" anchor="t"/>
          <a:lstStyle/>
          <a:p>
            <a:pPr algn="l" indent="0" marL="0">
              <a:buNone/>
            </a:pPr>
            <a:r>
              <a:rPr lang="en-US" sz="1500" b="1" dirty="0">
                <a:solidFill>
                  <a:srgbClr val="1D3557"/>
                </a:solidFill>
                <a:latin typeface="Golos Text" pitchFamily="34" charset="0"/>
                <a:ea typeface="Golos Text" pitchFamily="34" charset="-122"/>
                <a:cs typeface="Golos Text" pitchFamily="34" charset="-120"/>
              </a:rPr>
              <a:t>Эң чоң сан менен эң кичине сандын айырмасы канча?</a:t>
            </a:r>
            <a:endParaRPr lang="en-US" sz="1500" dirty="0"/>
          </a:p>
        </p:txBody>
      </p:sp>
      <p:sp>
        <p:nvSpPr>
          <p:cNvPr id="46" name="Text 44"/>
          <p:cNvSpPr/>
          <p:nvPr/>
        </p:nvSpPr>
        <p:spPr>
          <a:xfrm>
            <a:off x="9301734" y="4160520"/>
            <a:ext cx="2384298" cy="548640"/>
          </a:xfrm>
          <a:prstGeom prst="rect">
            <a:avLst/>
          </a:prstGeom>
          <a:noFill/>
          <a:ln/>
        </p:spPr>
        <p:txBody>
          <a:bodyPr wrap="square" lIns="0" tIns="0" rIns="0" bIns="0" rtlCol="0" anchor="ctr"/>
          <a:lstStyle/>
          <a:p>
            <a:pPr algn="ctr" indent="0" marL="0">
              <a:buNone/>
            </a:pPr>
            <a:r>
              <a:rPr lang="en-US" sz="2200" b="1" dirty="0">
                <a:solidFill>
                  <a:srgbClr val="1D3557"/>
                </a:solidFill>
                <a:latin typeface="Golos Text" pitchFamily="34" charset="0"/>
                <a:ea typeface="Golos Text" pitchFamily="34" charset="-122"/>
                <a:cs typeface="Golos Text" pitchFamily="34" charset="-120"/>
              </a:rPr>
              <a:t>9 − 3 = ?</a:t>
            </a:r>
            <a:endParaRPr lang="en-US" sz="2200" dirty="0"/>
          </a:p>
        </p:txBody>
      </p:sp>
      <p:sp>
        <p:nvSpPr>
          <p:cNvPr id="47" name="Shape 45"/>
          <p:cNvSpPr/>
          <p:nvPr/>
        </p:nvSpPr>
        <p:spPr>
          <a:xfrm>
            <a:off x="9625203" y="4846320"/>
            <a:ext cx="1737360" cy="640080"/>
          </a:xfrm>
          <a:prstGeom prst="roundRect">
            <a:avLst>
              <a:gd name="adj" fmla="val 25000"/>
            </a:avLst>
          </a:prstGeom>
          <a:solidFill>
            <a:srgbClr val="FFFFFF"/>
          </a:solidFill>
          <a:ln w="19050">
            <a:solidFill>
              <a:srgbClr val="8D99AA"/>
            </a:solidFill>
            <a:prstDash val="dash"/>
          </a:ln>
        </p:spPr>
      </p:sp>
      <p:sp>
        <p:nvSpPr>
          <p:cNvPr id="48" name="anim5_a"/>
          <p:cNvSpPr/>
          <p:nvPr/>
        </p:nvSpPr>
        <p:spPr>
          <a:xfrm>
            <a:off x="9625203" y="4846320"/>
            <a:ext cx="1737360" cy="640080"/>
          </a:xfrm>
          <a:prstGeom prst="roundRect">
            <a:avLst>
              <a:gd name="adj" fmla="val 25000"/>
            </a:avLst>
          </a:prstGeom>
          <a:solidFill>
            <a:srgbClr val="E7EAF2"/>
          </a:solidFill>
          <a:ln w="19050">
            <a:solidFill>
              <a:srgbClr val="24418C"/>
            </a:solidFill>
            <a:prstDash val="solid"/>
          </a:ln>
        </p:spPr>
        <p:txBody>
          <a:bodyPr wrap="square" lIns="0" tIns="0" rIns="0" bIns="0" rtlCol="0" anchor="ctr"/>
          <a:lstStyle/>
          <a:p>
            <a:pPr algn="ctr" indent="0" marL="0">
              <a:buNone/>
            </a:pPr>
            <a:r>
              <a:rPr lang="en-US" sz="2800" b="1" dirty="0">
                <a:solidFill>
                  <a:srgbClr val="24418C"/>
                </a:solidFill>
                <a:latin typeface="Golos Text" pitchFamily="34" charset="0"/>
                <a:ea typeface="Golos Text" pitchFamily="34" charset="-122"/>
                <a:cs typeface="Golos Text" pitchFamily="34" charset="-120"/>
              </a:rPr>
              <a:t>6</a:t>
            </a:r>
            <a:endParaRPr lang="en-US" sz="2800" dirty="0"/>
          </a:p>
        </p:txBody>
      </p:sp>
      <p:sp>
        <p:nvSpPr>
          <p:cNvPr id="49" name="anim6_rule"/>
          <p:cNvSpPr/>
          <p:nvPr/>
        </p:nvSpPr>
        <p:spPr>
          <a:xfrm>
            <a:off x="365760" y="5760720"/>
            <a:ext cx="11457432" cy="530352"/>
          </a:xfrm>
          <a:prstGeom prst="roundRect">
            <a:avLst>
              <a:gd name="adj" fmla="val 50000"/>
            </a:avLst>
          </a:prstGeom>
          <a:solidFill>
            <a:srgbClr val="F3F5FB"/>
          </a:solidFill>
          <a:ln/>
        </p:spPr>
        <p:txBody>
          <a:bodyPr wrap="square" lIns="0" tIns="0" rIns="0" bIns="0" rtlCol="0" anchor="ctr"/>
          <a:lstStyle/>
          <a:p>
            <a:pPr algn="ctr" indent="0" marL="0">
              <a:buNone/>
            </a:pPr>
            <a:r>
              <a:rPr lang="en-US" sz="1700" b="1" dirty="0">
                <a:solidFill>
                  <a:srgbClr val="1D3557"/>
                </a:solidFill>
                <a:latin typeface="Golos Text" pitchFamily="34" charset="0"/>
                <a:ea typeface="Golos Text" pitchFamily="34" charset="-122"/>
                <a:cs typeface="Golos Text" pitchFamily="34" charset="-120"/>
              </a:rPr>
              <a:t>Бул төрт санды бүгүн маселе аркылуу кайра табабыз жана аларга ат беребиз.</a:t>
            </a:r>
            <a:endParaRPr lang="en-US" sz="1700" dirty="0"/>
          </a:p>
        </p:txBody>
      </p:sp>
      <p:sp>
        <p:nvSpPr>
          <p:cNvPr id="50" name="Slide Number Placeholder 0"/>
          <p:cNvSpPr>
            <a:spLocks noGrp="1"/>
          </p:cNvSpPr>
          <p:nvPr>
            <p:ph type="sldNum" sz="quarter" idx="4294967295"/>
          </p:nvPr>
        </p:nvSpPr>
        <p:spPr>
          <a:xfrm>
            <a:off x="11384280" y="6492240"/>
            <a:ext cx="438912"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99AA"/>
                </a:solidFill>
                <a:latin typeface="Golos Text"/>
                <a:ea typeface="Golos Text"/>
                <a:cs typeface="Golos Text"/>
              </a:defRPr>
            </a:lvl1pPr>
          </a:lstStyle>
          <a:p>
            <a:pPr algn="r"/>
            <a:fld id="{F7021451-1387-4CA6-816F-3879F97B5CBC}" type="slidenum">
              <a:rPr b="0" lang="en-US"/>
              <a:t>3</a:t>
            </a:fld>
            <a:endParaRPr lang="en-US"/>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600"/>
                                        <p:tgtEl>
                                          <p:spTgt spid="1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0"/>
                                        </p:tgtEl>
                                        <p:attrNameLst>
                                          <p:attrName>style.visibility</p:attrName>
                                        </p:attrNameLst>
                                      </p:cBhvr>
                                      <p:to>
                                        <p:strVal val="visible"/>
                                      </p:to>
                                    </p:set>
                                    <p:animEffect transition="in" filter="fade">
                                      <p:cBhvr>
                                        <p:cTn id="8" dur="600"/>
                                        <p:tgtEl>
                                          <p:spTgt spid="2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600"/>
                                        <p:tgtEl>
                                          <p:spTgt spid="2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600"/>
                                        <p:tgtEl>
                                          <p:spTgt spid="2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600"/>
                                        <p:tgtEl>
                                          <p:spTgt spid="2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600"/>
                                        <p:tgtEl>
                                          <p:spTgt spid="24"/>
                                        </p:tgtEl>
                                      </p:cBhvr>
                                    </p:animEffect>
                                  </p:childTnLst>
                                </p:cTn>
                              </p:par>
                            </p:childTnLst>
                          </p:cTn>
                        </p:par>
                      </p:childTnLst>
                    </p:cTn>
                  </p:par>
                  <p:par>
                    <p:cTn id="26" fill="hold">
                      <p:stCondLst>
                        <p:cond delay="indefinite"/>
                      </p:stCondLst>
                      <p:childTnLst>
                        <p:par>
                          <p:cTn id="27"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fade">
                                      <p:cBhvr>
                                        <p:cTn id="25" dur="600"/>
                                        <p:tgtEl>
                                          <p:spTgt spid="30"/>
                                        </p:tgtEl>
                                      </p:cBhvr>
                                    </p:animEffect>
                                  </p:childTnLst>
                                </p:cTn>
                              </p:par>
                            </p:childTnLst>
                          </p:cTn>
                        </p:par>
                      </p:childTnLst>
                    </p:cTn>
                  </p:par>
                  <p:par>
                    <p:cTn id="31" fill="hold">
                      <p:stCondLst>
                        <p:cond delay="indefinite"/>
                      </p:stCondLst>
                      <p:childTnLst>
                        <p:par>
                          <p:cTn id="32"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600"/>
                                        <p:tgtEl>
                                          <p:spTgt spid="36"/>
                                        </p:tgtEl>
                                      </p:cBhvr>
                                    </p:animEffect>
                                  </p:childTnLst>
                                </p:cTn>
                              </p:par>
                            </p:childTnLst>
                          </p:cTn>
                        </p:par>
                      </p:childTnLst>
                    </p:cTn>
                  </p:par>
                  <p:par>
                    <p:cTn id="36" fill="hold">
                      <p:stCondLst>
                        <p:cond delay="indefinite"/>
                      </p:stCondLst>
                      <p:childTnLst>
                        <p:par>
                          <p:cTn id="37"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42"/>
                                        </p:tgtEl>
                                        <p:attrNameLst>
                                          <p:attrName>style.visibility</p:attrName>
                                        </p:attrNameLst>
                                      </p:cBhvr>
                                      <p:to>
                                        <p:strVal val="visible"/>
                                      </p:to>
                                    </p:set>
                                    <p:animEffect transition="in" filter="fade">
                                      <p:cBhvr>
                                        <p:cTn id="35" dur="600"/>
                                        <p:tgtEl>
                                          <p:spTgt spid="42"/>
                                        </p:tgtEl>
                                      </p:cBhvr>
                                    </p:animEffect>
                                  </p:childTnLst>
                                </p:cTn>
                              </p:par>
                            </p:childTnLst>
                          </p:cTn>
                        </p:par>
                      </p:childTnLst>
                    </p:cTn>
                  </p:par>
                  <p:par>
                    <p:cTn id="41" fill="hold">
                      <p:stCondLst>
                        <p:cond delay="indefinite"/>
                      </p:stCondLst>
                      <p:childTnLst>
                        <p:par>
                          <p:cTn id="42"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fade">
                                      <p:cBhvr>
                                        <p:cTn id="40" dur="600"/>
                                        <p:tgtEl>
                                          <p:spTgt spid="48"/>
                                        </p:tgtEl>
                                      </p:cBhvr>
                                    </p:animEffect>
                                  </p:childTnLst>
                                </p:cTn>
                              </p:par>
                            </p:childTnLst>
                          </p:cTn>
                        </p:par>
                      </p:childTnLst>
                    </p:cTn>
                  </p:par>
                  <p:par>
                    <p:cTn id="46" fill="hold">
                      <p:stCondLst>
                        <p:cond delay="indefinite"/>
                      </p:stCondLst>
                      <p:childTnLst>
                        <p:par>
                          <p:cTn id="47"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9"/>
                                        </p:tgtEl>
                                        <p:attrNameLst>
                                          <p:attrName>style.visibility</p:attrName>
                                        </p:attrNameLst>
                                      </p:cBhvr>
                                      <p:to>
                                        <p:strVal val="visible"/>
                                      </p:to>
                                    </p:set>
                                    <p:animEffect transition="in" filter="fade">
                                      <p:cBhvr>
                                        <p:cTn id="45" dur="6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30" grpId="0" animBg="1"/>
      <p:bldP spid="36" grpId="0" animBg="1"/>
      <p:bldP spid="42" grpId="0" animBg="1"/>
      <p:bldP spid="48" grpId="0" animBg="1"/>
      <p:bldP spid="4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11457432" cy="640080"/>
          </a:xfrm>
          <a:prstGeom prst="roundRect">
            <a:avLst>
              <a:gd name="adj" fmla="val 22000"/>
            </a:avLst>
          </a:prstGeom>
          <a:solidFill>
            <a:srgbClr val="FFFFFF"/>
          </a:solidFill>
          <a:ln w="19050">
            <a:solidFill>
              <a:srgbClr val="1D3557"/>
            </a:solidFill>
            <a:prstDash val="solid"/>
          </a:ln>
        </p:spPr>
      </p:sp>
      <p:sp>
        <p:nvSpPr>
          <p:cNvPr id="3" name="Shape 1"/>
          <p:cNvSpPr/>
          <p:nvPr/>
        </p:nvSpPr>
        <p:spPr>
          <a:xfrm>
            <a:off x="557784" y="369418"/>
            <a:ext cx="70409" cy="358445"/>
          </a:xfrm>
          <a:prstGeom prst="roundRect">
            <a:avLst>
              <a:gd name="adj" fmla="val 50000"/>
            </a:avLst>
          </a:prstGeom>
          <a:solidFill>
            <a:srgbClr val="007A5A"/>
          </a:solidFill>
          <a:ln/>
        </p:spPr>
      </p:sp>
      <p:sp>
        <p:nvSpPr>
          <p:cNvPr id="4" name="Shape 2"/>
          <p:cNvSpPr/>
          <p:nvPr/>
        </p:nvSpPr>
        <p:spPr>
          <a:xfrm>
            <a:off x="691561" y="369418"/>
            <a:ext cx="70409" cy="358445"/>
          </a:xfrm>
          <a:prstGeom prst="roundRect">
            <a:avLst>
              <a:gd name="adj" fmla="val 50000"/>
            </a:avLst>
          </a:prstGeom>
          <a:solidFill>
            <a:srgbClr val="A84400"/>
          </a:solidFill>
          <a:ln/>
        </p:spPr>
      </p:sp>
      <p:sp>
        <p:nvSpPr>
          <p:cNvPr id="5" name="Shape 3"/>
          <p:cNvSpPr/>
          <p:nvPr/>
        </p:nvSpPr>
        <p:spPr>
          <a:xfrm>
            <a:off x="825337" y="369418"/>
            <a:ext cx="70409" cy="358445"/>
          </a:xfrm>
          <a:prstGeom prst="roundRect">
            <a:avLst>
              <a:gd name="adj" fmla="val 50000"/>
            </a:avLst>
          </a:prstGeom>
          <a:solidFill>
            <a:srgbClr val="24418C"/>
          </a:solidFill>
          <a:ln/>
        </p:spPr>
      </p:sp>
      <p:sp>
        <p:nvSpPr>
          <p:cNvPr id="6" name="Text 4"/>
          <p:cNvSpPr/>
          <p:nvPr/>
        </p:nvSpPr>
        <p:spPr>
          <a:xfrm>
            <a:off x="1096914" y="228600"/>
            <a:ext cx="7589520" cy="640080"/>
          </a:xfrm>
          <a:prstGeom prst="rect">
            <a:avLst/>
          </a:prstGeom>
          <a:noFill/>
          <a:ln/>
        </p:spPr>
        <p:txBody>
          <a:bodyPr wrap="square" lIns="0" tIns="0" rIns="0" bIns="0" rtlCol="0" anchor="ctr"/>
          <a:lstStyle/>
          <a:p>
            <a:pPr algn="l" indent="0" marL="0">
              <a:buNone/>
            </a:pPr>
            <a:r>
              <a:rPr lang="en-US" sz="2200" b="1" dirty="0">
                <a:solidFill>
                  <a:srgbClr val="1D3557"/>
                </a:solidFill>
                <a:latin typeface="Golos Text" pitchFamily="34" charset="0"/>
                <a:ea typeface="Golos Text" pitchFamily="34" charset="-122"/>
                <a:cs typeface="Golos Text" pitchFamily="34" charset="-120"/>
              </a:rPr>
              <a:t>Маселе: кайсы команда жакшыраак секирди?</a:t>
            </a:r>
            <a:endParaRPr lang="en-US" sz="2200" dirty="0"/>
          </a:p>
        </p:txBody>
      </p:sp>
      <p:sp>
        <p:nvSpPr>
          <p:cNvPr id="7" name="Text 5"/>
          <p:cNvSpPr/>
          <p:nvPr/>
        </p:nvSpPr>
        <p:spPr>
          <a:xfrm>
            <a:off x="8778240" y="228600"/>
            <a:ext cx="2880360" cy="640080"/>
          </a:xfrm>
          <a:prstGeom prst="rect">
            <a:avLst/>
          </a:prstGeom>
          <a:noFill/>
          <a:ln/>
        </p:spPr>
        <p:txBody>
          <a:bodyPr wrap="square" lIns="0" tIns="0" rIns="0" bIns="0" rtlCol="0" anchor="ctr"/>
          <a:lstStyle/>
          <a:p>
            <a:pPr algn="r" indent="0" marL="0">
              <a:buNone/>
            </a:pPr>
            <a:r>
              <a:rPr lang="en-US" sz="1100" dirty="0">
                <a:solidFill>
                  <a:srgbClr val="4A5A70"/>
                </a:solidFill>
                <a:latin typeface="Golos Text" pitchFamily="34" charset="0"/>
                <a:ea typeface="Golos Text" pitchFamily="34" charset="-122"/>
                <a:cs typeface="Golos Text" pitchFamily="34" charset="-120"/>
              </a:rPr>
              <a:t>Статистика › Төрт өлчөм</a:t>
            </a:r>
            <a:endParaRPr lang="en-US" sz="1100" dirty="0"/>
          </a:p>
        </p:txBody>
      </p:sp>
      <p:sp>
        <p:nvSpPr>
          <p:cNvPr id="8" name="Text 6"/>
          <p:cNvSpPr/>
          <p:nvPr/>
        </p:nvSpPr>
        <p:spPr>
          <a:xfrm>
            <a:off x="411480" y="960120"/>
            <a:ext cx="8412480" cy="329184"/>
          </a:xfrm>
          <a:prstGeom prst="rect">
            <a:avLst/>
          </a:prstGeom>
          <a:noFill/>
          <a:ln/>
        </p:spPr>
        <p:txBody>
          <a:bodyPr wrap="square" lIns="0" tIns="0" rIns="0" bIns="0" rtlCol="0" anchor="t"/>
          <a:lstStyle/>
          <a:p>
            <a:pPr algn="l" indent="0" marL="0">
              <a:buNone/>
            </a:pPr>
            <a:r>
              <a:rPr lang="en-US" sz="1500" i="1" dirty="0">
                <a:solidFill>
                  <a:srgbClr val="4A5A70"/>
                </a:solidFill>
                <a:latin typeface="Golos Text" pitchFamily="34" charset="0"/>
                <a:ea typeface="Golos Text" pitchFamily="34" charset="-122"/>
                <a:cs typeface="Golos Text" pitchFamily="34" charset="-120"/>
              </a:rPr>
              <a:t>Окуп, түшүнүп ал. Маалымат менен «сүйлөш». Азырынча эсептебе!</a:t>
            </a:r>
            <a:endParaRPr lang="en-US" sz="1500" dirty="0"/>
          </a:p>
        </p:txBody>
      </p:sp>
      <p:sp>
        <p:nvSpPr>
          <p:cNvPr id="9" name="Text 7"/>
          <p:cNvSpPr/>
          <p:nvPr/>
        </p:nvSpPr>
        <p:spPr>
          <a:xfrm>
            <a:off x="8897112" y="969264"/>
            <a:ext cx="2926080" cy="310896"/>
          </a:xfrm>
          <a:prstGeom prst="rect">
            <a:avLst/>
          </a:prstGeom>
          <a:noFill/>
          <a:ln/>
        </p:spPr>
        <p:txBody>
          <a:bodyPr wrap="square" lIns="0" tIns="0" rIns="0" bIns="0" rtlCol="0" anchor="ctr"/>
          <a:lstStyle/>
          <a:p>
            <a:pPr algn="r" indent="0" marL="0">
              <a:buNone/>
            </a:pPr>
            <a:r>
              <a:rPr lang="en-US" sz="1200" dirty="0">
                <a:solidFill>
                  <a:srgbClr val="4A5A70"/>
                </a:solidFill>
                <a:latin typeface="Golos Text" pitchFamily="34" charset="0"/>
                <a:ea typeface="Golos Text" pitchFamily="34" charset="-122"/>
                <a:cs typeface="Golos Text" pitchFamily="34" charset="-120"/>
              </a:rPr>
              <a:t>Маселе · 2,5 мүн</a:t>
            </a:r>
            <a:endParaRPr lang="en-US" sz="1200" dirty="0"/>
          </a:p>
        </p:txBody>
      </p:sp>
      <p:sp>
        <p:nvSpPr>
          <p:cNvPr id="10" name="Text 8"/>
          <p:cNvSpPr/>
          <p:nvPr/>
        </p:nvSpPr>
        <p:spPr>
          <a:xfrm>
            <a:off x="365760" y="6492240"/>
            <a:ext cx="5486400" cy="228600"/>
          </a:xfrm>
          <a:prstGeom prst="rect">
            <a:avLst/>
          </a:prstGeom>
          <a:noFill/>
          <a:ln/>
        </p:spPr>
        <p:txBody>
          <a:bodyPr wrap="square" lIns="0" tIns="0" rIns="0" bIns="0" rtlCol="0" anchor="t"/>
          <a:lstStyle/>
          <a:p>
            <a:pPr algn="l" indent="0" marL="0">
              <a:buNone/>
            </a:pPr>
            <a:r>
              <a:rPr lang="en-US" sz="900" dirty="0">
                <a:solidFill>
                  <a:srgbClr val="8D99AA"/>
                </a:solidFill>
                <a:latin typeface="Golos Text" pitchFamily="34" charset="0"/>
                <a:ea typeface="Golos Text" pitchFamily="34" charset="-122"/>
                <a:cs typeface="Golos Text" pitchFamily="34" charset="-120"/>
              </a:rPr>
              <a:t>MathKG · Математика кыргызча</a:t>
            </a:r>
            <a:endParaRPr lang="en-US" sz="900" dirty="0"/>
          </a:p>
        </p:txBody>
      </p:sp>
      <p:sp>
        <p:nvSpPr>
          <p:cNvPr id="11" name="Text 9"/>
          <p:cNvSpPr/>
          <p:nvPr/>
        </p:nvSpPr>
        <p:spPr>
          <a:xfrm>
            <a:off x="7680960" y="6492240"/>
            <a:ext cx="3657600" cy="228600"/>
          </a:xfrm>
          <a:prstGeom prst="rect">
            <a:avLst/>
          </a:prstGeom>
          <a:noFill/>
          <a:ln/>
        </p:spPr>
        <p:txBody>
          <a:bodyPr wrap="square" lIns="0" tIns="0" rIns="0" bIns="0" rtlCol="0" anchor="t"/>
          <a:lstStyle/>
          <a:p>
            <a:pPr algn="r" indent="0" marL="0">
              <a:buNone/>
            </a:pPr>
            <a:r>
              <a:rPr lang="en-US" sz="900" dirty="0">
                <a:solidFill>
                  <a:srgbClr val="8D99AA"/>
                </a:solidFill>
                <a:latin typeface="Golos Text" pitchFamily="34" charset="0"/>
                <a:ea typeface="Golos Text" pitchFamily="34" charset="-122"/>
                <a:cs typeface="Golos Text" pitchFamily="34" charset="-120"/>
              </a:rPr>
              <a:t>MathKG ыкмасы · 2,5 мүн</a:t>
            </a:r>
            <a:endParaRPr lang="en-US" sz="900" dirty="0"/>
          </a:p>
        </p:txBody>
      </p:sp>
      <p:sp>
        <p:nvSpPr>
          <p:cNvPr id="12" name="Text 10"/>
          <p:cNvSpPr/>
          <p:nvPr/>
        </p:nvSpPr>
        <p:spPr>
          <a:xfrm>
            <a:off x="365760" y="1417320"/>
            <a:ext cx="11457432" cy="868680"/>
          </a:xfrm>
          <a:prstGeom prst="roundRect">
            <a:avLst>
              <a:gd name="adj" fmla="val 20000"/>
            </a:avLst>
          </a:prstGeom>
          <a:solidFill>
            <a:srgbClr val="F3F5FB"/>
          </a:solidFill>
          <a:ln/>
        </p:spPr>
        <p:txBody>
          <a:bodyPr wrap="square" lIns="177800" tIns="177800" rIns="177800" bIns="177800" rtlCol="0" anchor="ctr"/>
          <a:lstStyle/>
          <a:p>
            <a:pPr algn="l" indent="0" marL="0">
              <a:buNone/>
            </a:pPr>
            <a:r>
              <a:rPr lang="en-US" sz="1600" b="1" dirty="0">
                <a:solidFill>
                  <a:srgbClr val="A84400"/>
                </a:solidFill>
                <a:latin typeface="Golos Text" pitchFamily="34" charset="0"/>
                <a:ea typeface="Golos Text" pitchFamily="34" charset="-122"/>
                <a:cs typeface="Golos Text" pitchFamily="34" charset="-120"/>
              </a:rPr>
              <a:t>МАСЕЛЕ  </a:t>
            </a:r>
            <a:r>
              <a:rPr lang="en-US" sz="1600" dirty="0">
                <a:solidFill>
                  <a:srgbClr val="1D3557"/>
                </a:solidFill>
                <a:latin typeface="Golos Text" pitchFamily="34" charset="0"/>
                <a:ea typeface="Golos Text" pitchFamily="34" charset="-122"/>
                <a:cs typeface="Golos Text" pitchFamily="34" charset="-120"/>
              </a:rPr>
              <a:t>Ат-Башы мектебиндеги спорт күнүндө эки команда узундукка секирди (сантиметр менен). Кайсы команда жакшыраак секирди?</a:t>
            </a:r>
            <a:endParaRPr lang="en-US" sz="1600" dirty="0"/>
          </a:p>
        </p:txBody>
      </p:sp>
      <p:sp>
        <p:nvSpPr>
          <p:cNvPr id="13" name="Shape 11"/>
          <p:cNvSpPr/>
          <p:nvPr/>
        </p:nvSpPr>
        <p:spPr>
          <a:xfrm>
            <a:off x="365760" y="2423160"/>
            <a:ext cx="11457432" cy="960120"/>
          </a:xfrm>
          <a:prstGeom prst="roundRect">
            <a:avLst>
              <a:gd name="adj" fmla="val 15000"/>
            </a:avLst>
          </a:prstGeom>
          <a:solidFill>
            <a:srgbClr val="FFFFFF"/>
          </a:solidFill>
          <a:ln w="25400">
            <a:solidFill>
              <a:srgbClr val="007A5A"/>
            </a:solidFill>
            <a:prstDash val="solid"/>
          </a:ln>
        </p:spPr>
      </p:sp>
      <p:sp>
        <p:nvSpPr>
          <p:cNvPr id="14" name="Text 12"/>
          <p:cNvSpPr/>
          <p:nvPr/>
        </p:nvSpPr>
        <p:spPr>
          <a:xfrm>
            <a:off x="594360" y="2532888"/>
            <a:ext cx="2103120" cy="411480"/>
          </a:xfrm>
          <a:prstGeom prst="rect">
            <a:avLst/>
          </a:prstGeom>
          <a:noFill/>
          <a:ln/>
        </p:spPr>
        <p:txBody>
          <a:bodyPr wrap="square" lIns="0" tIns="0" rIns="0" bIns="0" rtlCol="0" anchor="t"/>
          <a:lstStyle/>
          <a:p>
            <a:pPr algn="l" indent="0" marL="0">
              <a:buNone/>
            </a:pPr>
            <a:r>
              <a:rPr lang="en-US" sz="2200" b="1" dirty="0">
                <a:solidFill>
                  <a:srgbClr val="007A5A"/>
                </a:solidFill>
                <a:latin typeface="Golos Text" pitchFamily="34" charset="0"/>
                <a:ea typeface="Golos Text" pitchFamily="34" charset="-122"/>
                <a:cs typeface="Golos Text" pitchFamily="34" charset="-120"/>
              </a:rPr>
              <a:t>«Шумкар»</a:t>
            </a:r>
            <a:endParaRPr lang="en-US" sz="2200" dirty="0"/>
          </a:p>
        </p:txBody>
      </p:sp>
      <p:sp>
        <p:nvSpPr>
          <p:cNvPr id="15" name="Text 13"/>
          <p:cNvSpPr/>
          <p:nvPr/>
        </p:nvSpPr>
        <p:spPr>
          <a:xfrm>
            <a:off x="594360" y="2953512"/>
            <a:ext cx="2103120" cy="320040"/>
          </a:xfrm>
          <a:prstGeom prst="rect">
            <a:avLst/>
          </a:prstGeom>
          <a:noFill/>
          <a:ln/>
        </p:spPr>
        <p:txBody>
          <a:bodyPr wrap="square" lIns="0" tIns="0" rIns="0" bIns="0" rtlCol="0" anchor="t"/>
          <a:lstStyle/>
          <a:p>
            <a:pPr algn="l" indent="0" marL="0">
              <a:buNone/>
            </a:pPr>
            <a:r>
              <a:rPr lang="en-US" sz="1500" dirty="0">
                <a:solidFill>
                  <a:srgbClr val="4A5A70"/>
                </a:solidFill>
                <a:latin typeface="Golos Text" pitchFamily="34" charset="0"/>
                <a:ea typeface="Golos Text" pitchFamily="34" charset="-122"/>
                <a:cs typeface="Golos Text" pitchFamily="34" charset="-120"/>
              </a:rPr>
              <a:t>5 окуучу</a:t>
            </a:r>
            <a:endParaRPr lang="en-US" sz="1500" dirty="0"/>
          </a:p>
        </p:txBody>
      </p:sp>
      <p:sp>
        <p:nvSpPr>
          <p:cNvPr id="16" name="Text 14"/>
          <p:cNvSpPr/>
          <p:nvPr/>
        </p:nvSpPr>
        <p:spPr>
          <a:xfrm>
            <a:off x="2743200" y="2514600"/>
            <a:ext cx="1280160" cy="530352"/>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2200" b="1" dirty="0">
                <a:solidFill>
                  <a:srgbClr val="1D3557"/>
                </a:solidFill>
                <a:latin typeface="Golos Text" pitchFamily="34" charset="0"/>
                <a:ea typeface="Golos Text" pitchFamily="34" charset="-122"/>
                <a:cs typeface="Golos Text" pitchFamily="34" charset="-120"/>
              </a:rPr>
              <a:t>300</a:t>
            </a:r>
            <a:endParaRPr lang="en-US" sz="2200" dirty="0"/>
          </a:p>
        </p:txBody>
      </p:sp>
      <p:sp>
        <p:nvSpPr>
          <p:cNvPr id="17" name="Text 15"/>
          <p:cNvSpPr/>
          <p:nvPr/>
        </p:nvSpPr>
        <p:spPr>
          <a:xfrm>
            <a:off x="4206240" y="2514600"/>
            <a:ext cx="1280160" cy="530352"/>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2200" b="1" dirty="0">
                <a:solidFill>
                  <a:srgbClr val="1D3557"/>
                </a:solidFill>
                <a:latin typeface="Golos Text" pitchFamily="34" charset="0"/>
                <a:ea typeface="Golos Text" pitchFamily="34" charset="-122"/>
                <a:cs typeface="Golos Text" pitchFamily="34" charset="-120"/>
              </a:rPr>
              <a:t>360</a:t>
            </a:r>
            <a:endParaRPr lang="en-US" sz="2200" dirty="0"/>
          </a:p>
        </p:txBody>
      </p:sp>
      <p:sp>
        <p:nvSpPr>
          <p:cNvPr id="18" name="Text 16"/>
          <p:cNvSpPr/>
          <p:nvPr/>
        </p:nvSpPr>
        <p:spPr>
          <a:xfrm>
            <a:off x="5669280" y="2514600"/>
            <a:ext cx="1280160" cy="530352"/>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2200" b="1" dirty="0">
                <a:solidFill>
                  <a:srgbClr val="1D3557"/>
                </a:solidFill>
                <a:latin typeface="Golos Text" pitchFamily="34" charset="0"/>
                <a:ea typeface="Golos Text" pitchFamily="34" charset="-122"/>
                <a:cs typeface="Golos Text" pitchFamily="34" charset="-120"/>
              </a:rPr>
              <a:t>280</a:t>
            </a:r>
            <a:endParaRPr lang="en-US" sz="2200" dirty="0"/>
          </a:p>
        </p:txBody>
      </p:sp>
      <p:sp>
        <p:nvSpPr>
          <p:cNvPr id="19" name="Text 17"/>
          <p:cNvSpPr/>
          <p:nvPr/>
        </p:nvSpPr>
        <p:spPr>
          <a:xfrm>
            <a:off x="7132320" y="2514600"/>
            <a:ext cx="1280160" cy="530352"/>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2200" b="1" dirty="0">
                <a:solidFill>
                  <a:srgbClr val="1D3557"/>
                </a:solidFill>
                <a:latin typeface="Golos Text" pitchFamily="34" charset="0"/>
                <a:ea typeface="Golos Text" pitchFamily="34" charset="-122"/>
                <a:cs typeface="Golos Text" pitchFamily="34" charset="-120"/>
              </a:rPr>
              <a:t>310</a:t>
            </a:r>
            <a:endParaRPr lang="en-US" sz="2200" dirty="0"/>
          </a:p>
        </p:txBody>
      </p:sp>
      <p:sp>
        <p:nvSpPr>
          <p:cNvPr id="20" name="Text 18"/>
          <p:cNvSpPr/>
          <p:nvPr/>
        </p:nvSpPr>
        <p:spPr>
          <a:xfrm>
            <a:off x="8595360" y="2514600"/>
            <a:ext cx="1280160" cy="530352"/>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2200" b="1" dirty="0">
                <a:solidFill>
                  <a:srgbClr val="1D3557"/>
                </a:solidFill>
                <a:latin typeface="Golos Text" pitchFamily="34" charset="0"/>
                <a:ea typeface="Golos Text" pitchFamily="34" charset="-122"/>
                <a:cs typeface="Golos Text" pitchFamily="34" charset="-120"/>
              </a:rPr>
              <a:t>300</a:t>
            </a:r>
            <a:endParaRPr lang="en-US" sz="2200" dirty="0"/>
          </a:p>
        </p:txBody>
      </p:sp>
      <p:sp>
        <p:nvSpPr>
          <p:cNvPr id="21" name="Text 19"/>
          <p:cNvSpPr/>
          <p:nvPr/>
        </p:nvSpPr>
        <p:spPr>
          <a:xfrm>
            <a:off x="2743200" y="3063240"/>
            <a:ext cx="1280160" cy="274320"/>
          </a:xfrm>
          <a:prstGeom prst="rect">
            <a:avLst/>
          </a:prstGeom>
          <a:noFill/>
          <a:ln/>
        </p:spPr>
        <p:txBody>
          <a:bodyPr wrap="square" lIns="0" tIns="0" rIns="0" bIns="0" rtlCol="0" anchor="t"/>
          <a:lstStyle/>
          <a:p>
            <a:pPr algn="ctr" indent="0" marL="0">
              <a:buNone/>
            </a:pPr>
            <a:r>
              <a:rPr lang="en-US" sz="1300" dirty="0">
                <a:solidFill>
                  <a:srgbClr val="4A5A70"/>
                </a:solidFill>
                <a:latin typeface="Golos Text" pitchFamily="34" charset="0"/>
                <a:ea typeface="Golos Text" pitchFamily="34" charset="-122"/>
                <a:cs typeface="Golos Text" pitchFamily="34" charset="-120"/>
              </a:rPr>
              <a:t>Асан</a:t>
            </a:r>
            <a:endParaRPr lang="en-US" sz="1300" dirty="0"/>
          </a:p>
        </p:txBody>
      </p:sp>
      <p:sp>
        <p:nvSpPr>
          <p:cNvPr id="22" name="Text 20"/>
          <p:cNvSpPr/>
          <p:nvPr/>
        </p:nvSpPr>
        <p:spPr>
          <a:xfrm>
            <a:off x="4206240" y="3063240"/>
            <a:ext cx="1280160" cy="274320"/>
          </a:xfrm>
          <a:prstGeom prst="rect">
            <a:avLst/>
          </a:prstGeom>
          <a:noFill/>
          <a:ln/>
        </p:spPr>
        <p:txBody>
          <a:bodyPr wrap="square" lIns="0" tIns="0" rIns="0" bIns="0" rtlCol="0" anchor="t"/>
          <a:lstStyle/>
          <a:p>
            <a:pPr algn="ctr" indent="0" marL="0">
              <a:buNone/>
            </a:pPr>
            <a:r>
              <a:rPr lang="en-US" sz="1300" dirty="0">
                <a:solidFill>
                  <a:srgbClr val="4A5A70"/>
                </a:solidFill>
                <a:latin typeface="Golos Text" pitchFamily="34" charset="0"/>
                <a:ea typeface="Golos Text" pitchFamily="34" charset="-122"/>
                <a:cs typeface="Golos Text" pitchFamily="34" charset="-120"/>
              </a:rPr>
              <a:t>Бегимай</a:t>
            </a:r>
            <a:endParaRPr lang="en-US" sz="1300" dirty="0"/>
          </a:p>
        </p:txBody>
      </p:sp>
      <p:sp>
        <p:nvSpPr>
          <p:cNvPr id="23" name="Text 21"/>
          <p:cNvSpPr/>
          <p:nvPr/>
        </p:nvSpPr>
        <p:spPr>
          <a:xfrm>
            <a:off x="5669280" y="3063240"/>
            <a:ext cx="1280160" cy="274320"/>
          </a:xfrm>
          <a:prstGeom prst="rect">
            <a:avLst/>
          </a:prstGeom>
          <a:noFill/>
          <a:ln/>
        </p:spPr>
        <p:txBody>
          <a:bodyPr wrap="square" lIns="0" tIns="0" rIns="0" bIns="0" rtlCol="0" anchor="t"/>
          <a:lstStyle/>
          <a:p>
            <a:pPr algn="ctr" indent="0" marL="0">
              <a:buNone/>
            </a:pPr>
            <a:r>
              <a:rPr lang="en-US" sz="1300" dirty="0">
                <a:solidFill>
                  <a:srgbClr val="4A5A70"/>
                </a:solidFill>
                <a:latin typeface="Golos Text" pitchFamily="34" charset="0"/>
                <a:ea typeface="Golos Text" pitchFamily="34" charset="-122"/>
                <a:cs typeface="Golos Text" pitchFamily="34" charset="-120"/>
              </a:rPr>
              <a:t>Нурлан</a:t>
            </a:r>
            <a:endParaRPr lang="en-US" sz="1300" dirty="0"/>
          </a:p>
        </p:txBody>
      </p:sp>
      <p:sp>
        <p:nvSpPr>
          <p:cNvPr id="24" name="Text 22"/>
          <p:cNvSpPr/>
          <p:nvPr/>
        </p:nvSpPr>
        <p:spPr>
          <a:xfrm>
            <a:off x="7132320" y="3063240"/>
            <a:ext cx="1280160" cy="274320"/>
          </a:xfrm>
          <a:prstGeom prst="rect">
            <a:avLst/>
          </a:prstGeom>
          <a:noFill/>
          <a:ln/>
        </p:spPr>
        <p:txBody>
          <a:bodyPr wrap="square" lIns="0" tIns="0" rIns="0" bIns="0" rtlCol="0" anchor="t"/>
          <a:lstStyle/>
          <a:p>
            <a:pPr algn="ctr" indent="0" marL="0">
              <a:buNone/>
            </a:pPr>
            <a:r>
              <a:rPr lang="en-US" sz="1300" dirty="0">
                <a:solidFill>
                  <a:srgbClr val="4A5A70"/>
                </a:solidFill>
                <a:latin typeface="Golos Text" pitchFamily="34" charset="0"/>
                <a:ea typeface="Golos Text" pitchFamily="34" charset="-122"/>
                <a:cs typeface="Golos Text" pitchFamily="34" charset="-120"/>
              </a:rPr>
              <a:t>Айпери</a:t>
            </a:r>
            <a:endParaRPr lang="en-US" sz="1300" dirty="0"/>
          </a:p>
        </p:txBody>
      </p:sp>
      <p:sp>
        <p:nvSpPr>
          <p:cNvPr id="25" name="Text 23"/>
          <p:cNvSpPr/>
          <p:nvPr/>
        </p:nvSpPr>
        <p:spPr>
          <a:xfrm>
            <a:off x="8595360" y="3063240"/>
            <a:ext cx="1280160" cy="274320"/>
          </a:xfrm>
          <a:prstGeom prst="rect">
            <a:avLst/>
          </a:prstGeom>
          <a:noFill/>
          <a:ln/>
        </p:spPr>
        <p:txBody>
          <a:bodyPr wrap="square" lIns="0" tIns="0" rIns="0" bIns="0" rtlCol="0" anchor="t"/>
          <a:lstStyle/>
          <a:p>
            <a:pPr algn="ctr" indent="0" marL="0">
              <a:buNone/>
            </a:pPr>
            <a:r>
              <a:rPr lang="en-US" sz="1300" dirty="0">
                <a:solidFill>
                  <a:srgbClr val="4A5A70"/>
                </a:solidFill>
                <a:latin typeface="Golos Text" pitchFamily="34" charset="0"/>
                <a:ea typeface="Golos Text" pitchFamily="34" charset="-122"/>
                <a:cs typeface="Golos Text" pitchFamily="34" charset="-120"/>
              </a:rPr>
              <a:t>Тимур</a:t>
            </a:r>
            <a:endParaRPr lang="en-US" sz="1300" dirty="0"/>
          </a:p>
        </p:txBody>
      </p:sp>
      <p:sp>
        <p:nvSpPr>
          <p:cNvPr id="26" name="Shape 24"/>
          <p:cNvSpPr/>
          <p:nvPr/>
        </p:nvSpPr>
        <p:spPr>
          <a:xfrm>
            <a:off x="365760" y="3520440"/>
            <a:ext cx="11457432" cy="960120"/>
          </a:xfrm>
          <a:prstGeom prst="roundRect">
            <a:avLst>
              <a:gd name="adj" fmla="val 15000"/>
            </a:avLst>
          </a:prstGeom>
          <a:solidFill>
            <a:srgbClr val="FFFFFF"/>
          </a:solidFill>
          <a:ln w="25400">
            <a:solidFill>
              <a:srgbClr val="24418C"/>
            </a:solidFill>
            <a:prstDash val="solid"/>
          </a:ln>
        </p:spPr>
      </p:sp>
      <p:sp>
        <p:nvSpPr>
          <p:cNvPr id="27" name="Text 25"/>
          <p:cNvSpPr/>
          <p:nvPr/>
        </p:nvSpPr>
        <p:spPr>
          <a:xfrm>
            <a:off x="594360" y="3630168"/>
            <a:ext cx="2103120" cy="411480"/>
          </a:xfrm>
          <a:prstGeom prst="rect">
            <a:avLst/>
          </a:prstGeom>
          <a:noFill/>
          <a:ln/>
        </p:spPr>
        <p:txBody>
          <a:bodyPr wrap="square" lIns="0" tIns="0" rIns="0" bIns="0" rtlCol="0" anchor="t"/>
          <a:lstStyle/>
          <a:p>
            <a:pPr algn="l" indent="0" marL="0">
              <a:buNone/>
            </a:pPr>
            <a:r>
              <a:rPr lang="en-US" sz="2200" b="1" dirty="0">
                <a:solidFill>
                  <a:srgbClr val="24418C"/>
                </a:solidFill>
                <a:latin typeface="Golos Text" pitchFamily="34" charset="0"/>
                <a:ea typeface="Golos Text" pitchFamily="34" charset="-122"/>
                <a:cs typeface="Golos Text" pitchFamily="34" charset="-120"/>
              </a:rPr>
              <a:t>«Тулпар»</a:t>
            </a:r>
            <a:endParaRPr lang="en-US" sz="2200" dirty="0"/>
          </a:p>
        </p:txBody>
      </p:sp>
      <p:sp>
        <p:nvSpPr>
          <p:cNvPr id="28" name="Text 26"/>
          <p:cNvSpPr/>
          <p:nvPr/>
        </p:nvSpPr>
        <p:spPr>
          <a:xfrm>
            <a:off x="594360" y="4050792"/>
            <a:ext cx="2103120" cy="320040"/>
          </a:xfrm>
          <a:prstGeom prst="rect">
            <a:avLst/>
          </a:prstGeom>
          <a:noFill/>
          <a:ln/>
        </p:spPr>
        <p:txBody>
          <a:bodyPr wrap="square" lIns="0" tIns="0" rIns="0" bIns="0" rtlCol="0" anchor="t"/>
          <a:lstStyle/>
          <a:p>
            <a:pPr algn="l" indent="0" marL="0">
              <a:buNone/>
            </a:pPr>
            <a:r>
              <a:rPr lang="en-US" sz="1500" dirty="0">
                <a:solidFill>
                  <a:srgbClr val="4A5A70"/>
                </a:solidFill>
                <a:latin typeface="Golos Text" pitchFamily="34" charset="0"/>
                <a:ea typeface="Golos Text" pitchFamily="34" charset="-122"/>
                <a:cs typeface="Golos Text" pitchFamily="34" charset="-120"/>
              </a:rPr>
              <a:t>6 окуучу</a:t>
            </a:r>
            <a:endParaRPr lang="en-US" sz="1500" dirty="0"/>
          </a:p>
        </p:txBody>
      </p:sp>
      <p:sp>
        <p:nvSpPr>
          <p:cNvPr id="29" name="Text 27"/>
          <p:cNvSpPr/>
          <p:nvPr/>
        </p:nvSpPr>
        <p:spPr>
          <a:xfrm>
            <a:off x="2743200" y="3611880"/>
            <a:ext cx="1280160" cy="530352"/>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2200" b="1" dirty="0">
                <a:solidFill>
                  <a:srgbClr val="1D3557"/>
                </a:solidFill>
                <a:latin typeface="Golos Text" pitchFamily="34" charset="0"/>
                <a:ea typeface="Golos Text" pitchFamily="34" charset="-122"/>
                <a:cs typeface="Golos Text" pitchFamily="34" charset="-120"/>
              </a:rPr>
              <a:t>335</a:t>
            </a:r>
            <a:endParaRPr lang="en-US" sz="2200" dirty="0"/>
          </a:p>
        </p:txBody>
      </p:sp>
      <p:sp>
        <p:nvSpPr>
          <p:cNvPr id="30" name="Text 28"/>
          <p:cNvSpPr/>
          <p:nvPr/>
        </p:nvSpPr>
        <p:spPr>
          <a:xfrm>
            <a:off x="4206240" y="3611880"/>
            <a:ext cx="1280160" cy="530352"/>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2200" b="1" dirty="0">
                <a:solidFill>
                  <a:srgbClr val="1D3557"/>
                </a:solidFill>
                <a:latin typeface="Golos Text" pitchFamily="34" charset="0"/>
                <a:ea typeface="Golos Text" pitchFamily="34" charset="-122"/>
                <a:cs typeface="Golos Text" pitchFamily="34" charset="-120"/>
              </a:rPr>
              <a:t>220</a:t>
            </a:r>
            <a:endParaRPr lang="en-US" sz="2200" dirty="0"/>
          </a:p>
        </p:txBody>
      </p:sp>
      <p:sp>
        <p:nvSpPr>
          <p:cNvPr id="31" name="Text 29"/>
          <p:cNvSpPr/>
          <p:nvPr/>
        </p:nvSpPr>
        <p:spPr>
          <a:xfrm>
            <a:off x="5669280" y="3611880"/>
            <a:ext cx="1280160" cy="530352"/>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2200" b="1" dirty="0">
                <a:solidFill>
                  <a:srgbClr val="1D3557"/>
                </a:solidFill>
                <a:latin typeface="Golos Text" pitchFamily="34" charset="0"/>
                <a:ea typeface="Golos Text" pitchFamily="34" charset="-122"/>
                <a:cs typeface="Golos Text" pitchFamily="34" charset="-120"/>
              </a:rPr>
              <a:t>320</a:t>
            </a:r>
            <a:endParaRPr lang="en-US" sz="2200" dirty="0"/>
          </a:p>
        </p:txBody>
      </p:sp>
      <p:sp>
        <p:nvSpPr>
          <p:cNvPr id="32" name="Text 30"/>
          <p:cNvSpPr/>
          <p:nvPr/>
        </p:nvSpPr>
        <p:spPr>
          <a:xfrm>
            <a:off x="7132320" y="3611880"/>
            <a:ext cx="1280160" cy="530352"/>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2200" b="1" dirty="0">
                <a:solidFill>
                  <a:srgbClr val="1D3557"/>
                </a:solidFill>
                <a:latin typeface="Golos Text" pitchFamily="34" charset="0"/>
                <a:ea typeface="Golos Text" pitchFamily="34" charset="-122"/>
                <a:cs typeface="Golos Text" pitchFamily="34" charset="-120"/>
              </a:rPr>
              <a:t>280</a:t>
            </a:r>
            <a:endParaRPr lang="en-US" sz="2200" dirty="0"/>
          </a:p>
        </p:txBody>
      </p:sp>
      <p:sp>
        <p:nvSpPr>
          <p:cNvPr id="33" name="Text 31"/>
          <p:cNvSpPr/>
          <p:nvPr/>
        </p:nvSpPr>
        <p:spPr>
          <a:xfrm>
            <a:off x="8595360" y="3611880"/>
            <a:ext cx="1280160" cy="530352"/>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2200" b="1" dirty="0">
                <a:solidFill>
                  <a:srgbClr val="1D3557"/>
                </a:solidFill>
                <a:latin typeface="Golos Text" pitchFamily="34" charset="0"/>
                <a:ea typeface="Golos Text" pitchFamily="34" charset="-122"/>
                <a:cs typeface="Golos Text" pitchFamily="34" charset="-120"/>
              </a:rPr>
              <a:t>335</a:t>
            </a:r>
            <a:endParaRPr lang="en-US" sz="2200" dirty="0"/>
          </a:p>
        </p:txBody>
      </p:sp>
      <p:sp>
        <p:nvSpPr>
          <p:cNvPr id="34" name="Text 32"/>
          <p:cNvSpPr/>
          <p:nvPr/>
        </p:nvSpPr>
        <p:spPr>
          <a:xfrm>
            <a:off x="10058400" y="3611880"/>
            <a:ext cx="1280160" cy="530352"/>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2200" b="1" dirty="0">
                <a:solidFill>
                  <a:srgbClr val="1D3557"/>
                </a:solidFill>
                <a:latin typeface="Golos Text" pitchFamily="34" charset="0"/>
                <a:ea typeface="Golos Text" pitchFamily="34" charset="-122"/>
                <a:cs typeface="Golos Text" pitchFamily="34" charset="-120"/>
              </a:rPr>
              <a:t>310</a:t>
            </a:r>
            <a:endParaRPr lang="en-US" sz="2200" dirty="0"/>
          </a:p>
        </p:txBody>
      </p:sp>
      <p:sp>
        <p:nvSpPr>
          <p:cNvPr id="35" name="Text 33"/>
          <p:cNvSpPr/>
          <p:nvPr/>
        </p:nvSpPr>
        <p:spPr>
          <a:xfrm>
            <a:off x="2743200" y="4160520"/>
            <a:ext cx="1280160" cy="274320"/>
          </a:xfrm>
          <a:prstGeom prst="rect">
            <a:avLst/>
          </a:prstGeom>
          <a:noFill/>
          <a:ln/>
        </p:spPr>
        <p:txBody>
          <a:bodyPr wrap="square" lIns="0" tIns="0" rIns="0" bIns="0" rtlCol="0" anchor="t"/>
          <a:lstStyle/>
          <a:p>
            <a:pPr algn="ctr" indent="0" marL="0">
              <a:buNone/>
            </a:pPr>
            <a:r>
              <a:rPr lang="en-US" sz="1300" dirty="0">
                <a:solidFill>
                  <a:srgbClr val="4A5A70"/>
                </a:solidFill>
                <a:latin typeface="Golos Text" pitchFamily="34" charset="0"/>
                <a:ea typeface="Golos Text" pitchFamily="34" charset="-122"/>
                <a:cs typeface="Golos Text" pitchFamily="34" charset="-120"/>
              </a:rPr>
              <a:t>Эрлан</a:t>
            </a:r>
            <a:endParaRPr lang="en-US" sz="1300" dirty="0"/>
          </a:p>
        </p:txBody>
      </p:sp>
      <p:sp>
        <p:nvSpPr>
          <p:cNvPr id="36" name="Text 34"/>
          <p:cNvSpPr/>
          <p:nvPr/>
        </p:nvSpPr>
        <p:spPr>
          <a:xfrm>
            <a:off x="4206240" y="4160520"/>
            <a:ext cx="1280160" cy="274320"/>
          </a:xfrm>
          <a:prstGeom prst="rect">
            <a:avLst/>
          </a:prstGeom>
          <a:noFill/>
          <a:ln/>
        </p:spPr>
        <p:txBody>
          <a:bodyPr wrap="square" lIns="0" tIns="0" rIns="0" bIns="0" rtlCol="0" anchor="t"/>
          <a:lstStyle/>
          <a:p>
            <a:pPr algn="ctr" indent="0" marL="0">
              <a:buNone/>
            </a:pPr>
            <a:r>
              <a:rPr lang="en-US" sz="1300" dirty="0">
                <a:solidFill>
                  <a:srgbClr val="4A5A70"/>
                </a:solidFill>
                <a:latin typeface="Golos Text" pitchFamily="34" charset="0"/>
                <a:ea typeface="Golos Text" pitchFamily="34" charset="-122"/>
                <a:cs typeface="Golos Text" pitchFamily="34" charset="-120"/>
              </a:rPr>
              <a:t>Жамила</a:t>
            </a:r>
            <a:endParaRPr lang="en-US" sz="1300" dirty="0"/>
          </a:p>
        </p:txBody>
      </p:sp>
      <p:sp>
        <p:nvSpPr>
          <p:cNvPr id="37" name="Text 35"/>
          <p:cNvSpPr/>
          <p:nvPr/>
        </p:nvSpPr>
        <p:spPr>
          <a:xfrm>
            <a:off x="5669280" y="4160520"/>
            <a:ext cx="1280160" cy="274320"/>
          </a:xfrm>
          <a:prstGeom prst="rect">
            <a:avLst/>
          </a:prstGeom>
          <a:noFill/>
          <a:ln/>
        </p:spPr>
        <p:txBody>
          <a:bodyPr wrap="square" lIns="0" tIns="0" rIns="0" bIns="0" rtlCol="0" anchor="t"/>
          <a:lstStyle/>
          <a:p>
            <a:pPr algn="ctr" indent="0" marL="0">
              <a:buNone/>
            </a:pPr>
            <a:r>
              <a:rPr lang="en-US" sz="1300" dirty="0">
                <a:solidFill>
                  <a:srgbClr val="4A5A70"/>
                </a:solidFill>
                <a:latin typeface="Golos Text" pitchFamily="34" charset="0"/>
                <a:ea typeface="Golos Text" pitchFamily="34" charset="-122"/>
                <a:cs typeface="Golos Text" pitchFamily="34" charset="-120"/>
              </a:rPr>
              <a:t>Канат</a:t>
            </a:r>
            <a:endParaRPr lang="en-US" sz="1300" dirty="0"/>
          </a:p>
        </p:txBody>
      </p:sp>
      <p:sp>
        <p:nvSpPr>
          <p:cNvPr id="38" name="Text 36"/>
          <p:cNvSpPr/>
          <p:nvPr/>
        </p:nvSpPr>
        <p:spPr>
          <a:xfrm>
            <a:off x="7132320" y="4160520"/>
            <a:ext cx="1280160" cy="274320"/>
          </a:xfrm>
          <a:prstGeom prst="rect">
            <a:avLst/>
          </a:prstGeom>
          <a:noFill/>
          <a:ln/>
        </p:spPr>
        <p:txBody>
          <a:bodyPr wrap="square" lIns="0" tIns="0" rIns="0" bIns="0" rtlCol="0" anchor="t"/>
          <a:lstStyle/>
          <a:p>
            <a:pPr algn="ctr" indent="0" marL="0">
              <a:buNone/>
            </a:pPr>
            <a:r>
              <a:rPr lang="en-US" sz="1300" dirty="0">
                <a:solidFill>
                  <a:srgbClr val="4A5A70"/>
                </a:solidFill>
                <a:latin typeface="Golos Text" pitchFamily="34" charset="0"/>
                <a:ea typeface="Golos Text" pitchFamily="34" charset="-122"/>
                <a:cs typeface="Golos Text" pitchFamily="34" charset="-120"/>
              </a:rPr>
              <a:t>Сезим</a:t>
            </a:r>
            <a:endParaRPr lang="en-US" sz="1300" dirty="0"/>
          </a:p>
        </p:txBody>
      </p:sp>
      <p:sp>
        <p:nvSpPr>
          <p:cNvPr id="39" name="Text 37"/>
          <p:cNvSpPr/>
          <p:nvPr/>
        </p:nvSpPr>
        <p:spPr>
          <a:xfrm>
            <a:off x="8595360" y="4160520"/>
            <a:ext cx="1280160" cy="274320"/>
          </a:xfrm>
          <a:prstGeom prst="rect">
            <a:avLst/>
          </a:prstGeom>
          <a:noFill/>
          <a:ln/>
        </p:spPr>
        <p:txBody>
          <a:bodyPr wrap="square" lIns="0" tIns="0" rIns="0" bIns="0" rtlCol="0" anchor="t"/>
          <a:lstStyle/>
          <a:p>
            <a:pPr algn="ctr" indent="0" marL="0">
              <a:buNone/>
            </a:pPr>
            <a:r>
              <a:rPr lang="en-US" sz="1300" dirty="0">
                <a:solidFill>
                  <a:srgbClr val="4A5A70"/>
                </a:solidFill>
                <a:latin typeface="Golos Text" pitchFamily="34" charset="0"/>
                <a:ea typeface="Golos Text" pitchFamily="34" charset="-122"/>
                <a:cs typeface="Golos Text" pitchFamily="34" charset="-120"/>
              </a:rPr>
              <a:t>Данияр</a:t>
            </a:r>
            <a:endParaRPr lang="en-US" sz="1300" dirty="0"/>
          </a:p>
        </p:txBody>
      </p:sp>
      <p:sp>
        <p:nvSpPr>
          <p:cNvPr id="40" name="Text 38"/>
          <p:cNvSpPr/>
          <p:nvPr/>
        </p:nvSpPr>
        <p:spPr>
          <a:xfrm>
            <a:off x="10058400" y="4160520"/>
            <a:ext cx="1280160" cy="274320"/>
          </a:xfrm>
          <a:prstGeom prst="rect">
            <a:avLst/>
          </a:prstGeom>
          <a:noFill/>
          <a:ln/>
        </p:spPr>
        <p:txBody>
          <a:bodyPr wrap="square" lIns="0" tIns="0" rIns="0" bIns="0" rtlCol="0" anchor="t"/>
          <a:lstStyle/>
          <a:p>
            <a:pPr algn="ctr" indent="0" marL="0">
              <a:buNone/>
            </a:pPr>
            <a:r>
              <a:rPr lang="en-US" sz="1300" dirty="0">
                <a:solidFill>
                  <a:srgbClr val="4A5A70"/>
                </a:solidFill>
                <a:latin typeface="Golos Text" pitchFamily="34" charset="0"/>
                <a:ea typeface="Golos Text" pitchFamily="34" charset="-122"/>
                <a:cs typeface="Golos Text" pitchFamily="34" charset="-120"/>
              </a:rPr>
              <a:t>Мээрим</a:t>
            </a:r>
            <a:endParaRPr lang="en-US" sz="1300" dirty="0"/>
          </a:p>
        </p:txBody>
      </p:sp>
      <p:sp>
        <p:nvSpPr>
          <p:cNvPr id="41" name="Shape 39"/>
          <p:cNvSpPr/>
          <p:nvPr/>
        </p:nvSpPr>
        <p:spPr>
          <a:xfrm>
            <a:off x="365760" y="4663440"/>
            <a:ext cx="3697224" cy="1645920"/>
          </a:xfrm>
          <a:prstGeom prst="roundRect">
            <a:avLst>
              <a:gd name="adj" fmla="val 10000"/>
            </a:avLst>
          </a:prstGeom>
          <a:solidFill>
            <a:srgbClr val="FFFFFF"/>
          </a:solidFill>
          <a:ln w="22225">
            <a:solidFill>
              <a:srgbClr val="007A5A"/>
            </a:solidFill>
            <a:prstDash val="solid"/>
          </a:ln>
        </p:spPr>
      </p:sp>
      <p:sp>
        <p:nvSpPr>
          <p:cNvPr id="42" name="Text 40"/>
          <p:cNvSpPr/>
          <p:nvPr/>
        </p:nvSpPr>
        <p:spPr>
          <a:xfrm>
            <a:off x="548640" y="4754880"/>
            <a:ext cx="3331464" cy="365760"/>
          </a:xfrm>
          <a:prstGeom prst="rect">
            <a:avLst/>
          </a:prstGeom>
          <a:noFill/>
          <a:ln/>
        </p:spPr>
        <p:txBody>
          <a:bodyPr wrap="square" lIns="0" tIns="0" rIns="0" bIns="0" rtlCol="0" anchor="t"/>
          <a:lstStyle/>
          <a:p>
            <a:pPr algn="l" indent="0" marL="0">
              <a:buNone/>
            </a:pPr>
            <a:r>
              <a:rPr lang="en-US" sz="1700" b="1" dirty="0">
                <a:solidFill>
                  <a:srgbClr val="007A5A"/>
                </a:solidFill>
                <a:latin typeface="Golos Text" pitchFamily="34" charset="0"/>
                <a:ea typeface="Golos Text" pitchFamily="34" charset="-122"/>
                <a:cs typeface="Golos Text" pitchFamily="34" charset="-120"/>
              </a:rPr>
              <a:t>Мен байкайм…</a:t>
            </a:r>
            <a:endParaRPr lang="en-US" sz="1700" dirty="0"/>
          </a:p>
        </p:txBody>
      </p:sp>
      <p:sp>
        <p:nvSpPr>
          <p:cNvPr id="43" name="anim1_see"/>
          <p:cNvSpPr/>
          <p:nvPr/>
        </p:nvSpPr>
        <p:spPr>
          <a:xfrm>
            <a:off x="548640" y="5166360"/>
            <a:ext cx="3331464" cy="1097280"/>
          </a:xfrm>
          <a:prstGeom prst="rect">
            <a:avLst/>
          </a:prstGeom>
          <a:noFill/>
          <a:ln/>
        </p:spPr>
        <p:txBody>
          <a:bodyPr wrap="square" lIns="0" tIns="0" rIns="0" bIns="0" rtlCol="0" anchor="t"/>
          <a:lstStyle/>
          <a:p>
            <a:pPr algn="l" indent="0" marL="0">
              <a:spcAft>
                <a:spcPts val="300"/>
              </a:spcAft>
              <a:buNone/>
            </a:pPr>
            <a:r>
              <a:rPr lang="en-US" sz="1500" dirty="0">
                <a:solidFill>
                  <a:srgbClr val="1D3557"/>
                </a:solidFill>
                <a:latin typeface="Golos Text" pitchFamily="34" charset="0"/>
                <a:ea typeface="Golos Text" pitchFamily="34" charset="-122"/>
                <a:cs typeface="Golos Text" pitchFamily="34" charset="-120"/>
              </a:rPr>
              <a:t>«Тулпарда» бир окуучу көп.</a:t>
            </a:r>
            <a:endParaRPr lang="en-US" sz="1500" dirty="0"/>
          </a:p>
          <a:p>
            <a:pPr algn="l" indent="0" marL="0">
              <a:spcAft>
                <a:spcPts val="300"/>
              </a:spcAft>
              <a:buNone/>
            </a:pPr>
            <a:r>
              <a:rPr lang="en-US" sz="1500" dirty="0">
                <a:solidFill>
                  <a:srgbClr val="1D3557"/>
                </a:solidFill>
                <a:latin typeface="Golos Text" pitchFamily="34" charset="0"/>
                <a:ea typeface="Golos Text" pitchFamily="34" charset="-122"/>
                <a:cs typeface="Golos Text" pitchFamily="34" charset="-120"/>
              </a:rPr>
              <a:t>Эң узуну — 360 см (Бегимай).</a:t>
            </a:r>
            <a:endParaRPr lang="en-US" sz="1500" dirty="0"/>
          </a:p>
          <a:p>
            <a:pPr algn="l" indent="0" marL="0">
              <a:spcAft>
                <a:spcPts val="300"/>
              </a:spcAft>
              <a:buNone/>
            </a:pPr>
            <a:r>
              <a:rPr lang="en-US" sz="1500" dirty="0">
                <a:solidFill>
                  <a:srgbClr val="1D3557"/>
                </a:solidFill>
                <a:latin typeface="Golos Text" pitchFamily="34" charset="0"/>
                <a:ea typeface="Golos Text" pitchFamily="34" charset="-122"/>
                <a:cs typeface="Golos Text" pitchFamily="34" charset="-120"/>
              </a:rPr>
              <a:t>335 эки жолу кездешет.</a:t>
            </a:r>
            <a:endParaRPr lang="en-US" sz="1500" dirty="0"/>
          </a:p>
        </p:txBody>
      </p:sp>
      <p:sp>
        <p:nvSpPr>
          <p:cNvPr id="44" name="Shape 42"/>
          <p:cNvSpPr/>
          <p:nvPr/>
        </p:nvSpPr>
        <p:spPr>
          <a:xfrm>
            <a:off x="4245864" y="4663440"/>
            <a:ext cx="3697224" cy="1645920"/>
          </a:xfrm>
          <a:prstGeom prst="roundRect">
            <a:avLst>
              <a:gd name="adj" fmla="val 10000"/>
            </a:avLst>
          </a:prstGeom>
          <a:solidFill>
            <a:srgbClr val="FFFFFF"/>
          </a:solidFill>
          <a:ln w="22225">
            <a:solidFill>
              <a:srgbClr val="A84400"/>
            </a:solidFill>
            <a:prstDash val="solid"/>
          </a:ln>
        </p:spPr>
      </p:sp>
      <p:sp>
        <p:nvSpPr>
          <p:cNvPr id="45" name="Text 43"/>
          <p:cNvSpPr/>
          <p:nvPr/>
        </p:nvSpPr>
        <p:spPr>
          <a:xfrm>
            <a:off x="4428744" y="4754880"/>
            <a:ext cx="3331464" cy="365760"/>
          </a:xfrm>
          <a:prstGeom prst="rect">
            <a:avLst/>
          </a:prstGeom>
          <a:noFill/>
          <a:ln/>
        </p:spPr>
        <p:txBody>
          <a:bodyPr wrap="square" lIns="0" tIns="0" rIns="0" bIns="0" rtlCol="0" anchor="t"/>
          <a:lstStyle/>
          <a:p>
            <a:pPr algn="l" indent="0" marL="0">
              <a:buNone/>
            </a:pPr>
            <a:r>
              <a:rPr lang="en-US" sz="1700" b="1" dirty="0">
                <a:solidFill>
                  <a:srgbClr val="A84400"/>
                </a:solidFill>
                <a:latin typeface="Golos Text" pitchFamily="34" charset="0"/>
                <a:ea typeface="Golos Text" pitchFamily="34" charset="-122"/>
                <a:cs typeface="Golos Text" pitchFamily="34" charset="-120"/>
              </a:rPr>
              <a:t>Мен таң калам…</a:t>
            </a:r>
            <a:endParaRPr lang="en-US" sz="1700" dirty="0"/>
          </a:p>
        </p:txBody>
      </p:sp>
      <p:sp>
        <p:nvSpPr>
          <p:cNvPr id="46" name="anim2_wonder"/>
          <p:cNvSpPr/>
          <p:nvPr/>
        </p:nvSpPr>
        <p:spPr>
          <a:xfrm>
            <a:off x="4428744" y="5166360"/>
            <a:ext cx="3331464" cy="1097280"/>
          </a:xfrm>
          <a:prstGeom prst="rect">
            <a:avLst/>
          </a:prstGeom>
          <a:noFill/>
          <a:ln/>
        </p:spPr>
        <p:txBody>
          <a:bodyPr wrap="square" lIns="0" tIns="0" rIns="0" bIns="0" rtlCol="0" anchor="t"/>
          <a:lstStyle/>
          <a:p>
            <a:pPr algn="l" indent="0" marL="0">
              <a:spcAft>
                <a:spcPts val="300"/>
              </a:spcAft>
              <a:buNone/>
            </a:pPr>
            <a:r>
              <a:rPr lang="en-US" sz="1500" dirty="0">
                <a:solidFill>
                  <a:srgbClr val="1D3557"/>
                </a:solidFill>
                <a:latin typeface="Golos Text" pitchFamily="34" charset="0"/>
                <a:ea typeface="Golos Text" pitchFamily="34" charset="-122"/>
                <a:cs typeface="Golos Text" pitchFamily="34" charset="-120"/>
              </a:rPr>
              <a:t>…командалар бирдей эмес — кантип адилет салыштырабыз?</a:t>
            </a:r>
            <a:endParaRPr lang="en-US" sz="1500" dirty="0"/>
          </a:p>
          <a:p>
            <a:pPr algn="l" indent="0" marL="0">
              <a:spcAft>
                <a:spcPts val="300"/>
              </a:spcAft>
              <a:buNone/>
            </a:pPr>
            <a:r>
              <a:rPr lang="en-US" sz="1500" dirty="0">
                <a:solidFill>
                  <a:srgbClr val="1D3557"/>
                </a:solidFill>
                <a:latin typeface="Golos Text" pitchFamily="34" charset="0"/>
                <a:ea typeface="Golos Text" pitchFamily="34" charset="-122"/>
                <a:cs typeface="Golos Text" pitchFamily="34" charset="-120"/>
              </a:rPr>
              <a:t>…Жамиланын 220 см натыйжасы эмнени өзгөртөт?</a:t>
            </a:r>
            <a:endParaRPr lang="en-US" sz="1500" dirty="0"/>
          </a:p>
        </p:txBody>
      </p:sp>
      <p:sp>
        <p:nvSpPr>
          <p:cNvPr id="47" name="anim3_q"/>
          <p:cNvSpPr/>
          <p:nvPr/>
        </p:nvSpPr>
        <p:spPr>
          <a:xfrm>
            <a:off x="8125968" y="4663440"/>
            <a:ext cx="3697224" cy="1645920"/>
          </a:xfrm>
          <a:prstGeom prst="roundRect">
            <a:avLst>
              <a:gd name="adj" fmla="val 15000"/>
            </a:avLst>
          </a:prstGeom>
          <a:solidFill>
            <a:srgbClr val="E7EAF2"/>
          </a:solidFill>
          <a:ln w="28575">
            <a:solidFill>
              <a:srgbClr val="24418C"/>
            </a:solidFill>
            <a:prstDash val="solid"/>
          </a:ln>
        </p:spPr>
        <p:txBody>
          <a:bodyPr wrap="square" lIns="152400" tIns="152400" rIns="152400" bIns="152400" rtlCol="0" anchor="ctr"/>
          <a:lstStyle/>
          <a:p>
            <a:pPr algn="ctr" indent="0" marL="0">
              <a:buNone/>
            </a:pPr>
            <a:r>
              <a:rPr lang="en-US" sz="2000" b="1" dirty="0">
                <a:solidFill>
                  <a:srgbClr val="24418C"/>
                </a:solidFill>
                <a:latin typeface="Golos Text" pitchFamily="34" charset="0"/>
                <a:ea typeface="Golos Text" pitchFamily="34" charset="-122"/>
                <a:cs typeface="Golos Text" pitchFamily="34" charset="-120"/>
              </a:rPr>
              <a:t>«Жакшыраак» дегенди кантип өлчөйбүз?</a:t>
            </a:r>
            <a:endParaRPr lang="en-US" sz="2000" dirty="0"/>
          </a:p>
        </p:txBody>
      </p:sp>
      <p:sp>
        <p:nvSpPr>
          <p:cNvPr id="48" name="Slide Number Placeholder 0"/>
          <p:cNvSpPr>
            <a:spLocks noGrp="1"/>
          </p:cNvSpPr>
          <p:nvPr>
            <p:ph type="sldNum" sz="quarter" idx="4294967295"/>
          </p:nvPr>
        </p:nvSpPr>
        <p:spPr>
          <a:xfrm>
            <a:off x="11384280" y="6492240"/>
            <a:ext cx="438912"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99AA"/>
                </a:solidFill>
                <a:latin typeface="Golos Text"/>
                <a:ea typeface="Golos Text"/>
                <a:cs typeface="Golos Text"/>
              </a:defRPr>
            </a:lvl1pPr>
          </a:lstStyle>
          <a:p>
            <a:pPr algn="r"/>
            <a:fld id="{F7021451-1387-4CA6-816F-3879F97B5CBC}" type="slidenum">
              <a:rPr b="0" lang="en-US"/>
              <a:t>4</a:t>
            </a:fld>
            <a:endParaRPr lang="en-US"/>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3"/>
                                        </p:tgtEl>
                                        <p:attrNameLst>
                                          <p:attrName>style.visibility</p:attrName>
                                        </p:attrNameLst>
                                      </p:cBhvr>
                                      <p:to>
                                        <p:strVal val="visible"/>
                                      </p:to>
                                    </p:set>
                                    <p:animEffect transition="in" filter="fade">
                                      <p:cBhvr>
                                        <p:cTn id="5" dur="600"/>
                                        <p:tgtEl>
                                          <p:spTgt spid="43"/>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fade">
                                      <p:cBhvr>
                                        <p:cTn id="10" dur="600"/>
                                        <p:tgtEl>
                                          <p:spTgt spid="46"/>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fade">
                                      <p:cBhvr>
                                        <p:cTn id="15" dur="6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6" grpId="0" animBg="1"/>
      <p:bldP spid="4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11457432" cy="640080"/>
          </a:xfrm>
          <a:prstGeom prst="roundRect">
            <a:avLst>
              <a:gd name="adj" fmla="val 22000"/>
            </a:avLst>
          </a:prstGeom>
          <a:solidFill>
            <a:srgbClr val="FFFFFF"/>
          </a:solidFill>
          <a:ln w="19050">
            <a:solidFill>
              <a:srgbClr val="1D3557"/>
            </a:solidFill>
            <a:prstDash val="solid"/>
          </a:ln>
        </p:spPr>
      </p:sp>
      <p:sp>
        <p:nvSpPr>
          <p:cNvPr id="3" name="Shape 1"/>
          <p:cNvSpPr/>
          <p:nvPr/>
        </p:nvSpPr>
        <p:spPr>
          <a:xfrm>
            <a:off x="557784" y="369418"/>
            <a:ext cx="70409" cy="358445"/>
          </a:xfrm>
          <a:prstGeom prst="roundRect">
            <a:avLst>
              <a:gd name="adj" fmla="val 50000"/>
            </a:avLst>
          </a:prstGeom>
          <a:solidFill>
            <a:srgbClr val="007A5A"/>
          </a:solidFill>
          <a:ln/>
        </p:spPr>
      </p:sp>
      <p:sp>
        <p:nvSpPr>
          <p:cNvPr id="4" name="Shape 2"/>
          <p:cNvSpPr/>
          <p:nvPr/>
        </p:nvSpPr>
        <p:spPr>
          <a:xfrm>
            <a:off x="691561" y="369418"/>
            <a:ext cx="70409" cy="358445"/>
          </a:xfrm>
          <a:prstGeom prst="roundRect">
            <a:avLst>
              <a:gd name="adj" fmla="val 50000"/>
            </a:avLst>
          </a:prstGeom>
          <a:solidFill>
            <a:srgbClr val="A84400"/>
          </a:solidFill>
          <a:ln/>
        </p:spPr>
      </p:sp>
      <p:sp>
        <p:nvSpPr>
          <p:cNvPr id="5" name="Shape 3"/>
          <p:cNvSpPr/>
          <p:nvPr/>
        </p:nvSpPr>
        <p:spPr>
          <a:xfrm>
            <a:off x="825337" y="369418"/>
            <a:ext cx="70409" cy="358445"/>
          </a:xfrm>
          <a:prstGeom prst="roundRect">
            <a:avLst>
              <a:gd name="adj" fmla="val 50000"/>
            </a:avLst>
          </a:prstGeom>
          <a:solidFill>
            <a:srgbClr val="24418C"/>
          </a:solidFill>
          <a:ln/>
        </p:spPr>
      </p:sp>
      <p:sp>
        <p:nvSpPr>
          <p:cNvPr id="6" name="Text 4"/>
          <p:cNvSpPr/>
          <p:nvPr/>
        </p:nvSpPr>
        <p:spPr>
          <a:xfrm>
            <a:off x="1096914" y="228600"/>
            <a:ext cx="7589520" cy="640080"/>
          </a:xfrm>
          <a:prstGeom prst="rect">
            <a:avLst/>
          </a:prstGeom>
          <a:noFill/>
          <a:ln/>
        </p:spPr>
        <p:txBody>
          <a:bodyPr wrap="square" lIns="0" tIns="0" rIns="0" bIns="0" rtlCol="0" anchor="ctr"/>
          <a:lstStyle/>
          <a:p>
            <a:pPr algn="l" indent="0" marL="0">
              <a:buNone/>
            </a:pPr>
            <a:r>
              <a:rPr lang="en-US" sz="2200" b="1" dirty="0">
                <a:solidFill>
                  <a:srgbClr val="1D3557"/>
                </a:solidFill>
                <a:latin typeface="Golos Text" pitchFamily="34" charset="0"/>
                <a:ea typeface="Golos Text" pitchFamily="34" charset="-122"/>
                <a:cs typeface="Golos Text" pitchFamily="34" charset="-120"/>
              </a:rPr>
              <a:t>Болжолдо, анан өз алдынча чыгар</a:t>
            </a:r>
            <a:endParaRPr lang="en-US" sz="2200" dirty="0"/>
          </a:p>
        </p:txBody>
      </p:sp>
      <p:sp>
        <p:nvSpPr>
          <p:cNvPr id="7" name="Text 5"/>
          <p:cNvSpPr/>
          <p:nvPr/>
        </p:nvSpPr>
        <p:spPr>
          <a:xfrm>
            <a:off x="8778240" y="228600"/>
            <a:ext cx="2880360" cy="640080"/>
          </a:xfrm>
          <a:prstGeom prst="rect">
            <a:avLst/>
          </a:prstGeom>
          <a:noFill/>
          <a:ln/>
        </p:spPr>
        <p:txBody>
          <a:bodyPr wrap="square" lIns="0" tIns="0" rIns="0" bIns="0" rtlCol="0" anchor="ctr"/>
          <a:lstStyle/>
          <a:p>
            <a:pPr algn="r" indent="0" marL="0">
              <a:buNone/>
            </a:pPr>
            <a:r>
              <a:rPr lang="en-US" sz="1100" dirty="0">
                <a:solidFill>
                  <a:srgbClr val="4A5A70"/>
                </a:solidFill>
                <a:latin typeface="Golos Text" pitchFamily="34" charset="0"/>
                <a:ea typeface="Golos Text" pitchFamily="34" charset="-122"/>
                <a:cs typeface="Golos Text" pitchFamily="34" charset="-120"/>
              </a:rPr>
              <a:t>Статистика › Төрт өлчөм</a:t>
            </a:r>
            <a:endParaRPr lang="en-US" sz="1100" dirty="0"/>
          </a:p>
        </p:txBody>
      </p:sp>
      <p:sp>
        <p:nvSpPr>
          <p:cNvPr id="8" name="Text 6"/>
          <p:cNvSpPr/>
          <p:nvPr/>
        </p:nvSpPr>
        <p:spPr>
          <a:xfrm>
            <a:off x="411480" y="960120"/>
            <a:ext cx="8412480" cy="329184"/>
          </a:xfrm>
          <a:prstGeom prst="rect">
            <a:avLst/>
          </a:prstGeom>
          <a:noFill/>
          <a:ln/>
        </p:spPr>
        <p:txBody>
          <a:bodyPr wrap="square" lIns="0" tIns="0" rIns="0" bIns="0" rtlCol="0" anchor="t"/>
          <a:lstStyle/>
          <a:p>
            <a:pPr algn="l" indent="0" marL="0">
              <a:buNone/>
            </a:pPr>
            <a:r>
              <a:rPr lang="en-US" sz="1500" i="1" dirty="0">
                <a:solidFill>
                  <a:srgbClr val="4A5A70"/>
                </a:solidFill>
                <a:latin typeface="Golos Text" pitchFamily="34" charset="0"/>
                <a:ea typeface="Golos Text" pitchFamily="34" charset="-122"/>
                <a:cs typeface="Golos Text" pitchFamily="34" charset="-120"/>
              </a:rPr>
              <a:t>Адегенде эсептебей ойлон. Анан сен билген бардык ыкманы колдон</a:t>
            </a:r>
            <a:endParaRPr lang="en-US" sz="1500" dirty="0"/>
          </a:p>
        </p:txBody>
      </p:sp>
      <p:sp>
        <p:nvSpPr>
          <p:cNvPr id="9" name="Text 7"/>
          <p:cNvSpPr/>
          <p:nvPr/>
        </p:nvSpPr>
        <p:spPr>
          <a:xfrm>
            <a:off x="8897112" y="969264"/>
            <a:ext cx="2926080" cy="310896"/>
          </a:xfrm>
          <a:prstGeom prst="rect">
            <a:avLst/>
          </a:prstGeom>
          <a:noFill/>
          <a:ln/>
        </p:spPr>
        <p:txBody>
          <a:bodyPr wrap="square" lIns="0" tIns="0" rIns="0" bIns="0" rtlCol="0" anchor="ctr"/>
          <a:lstStyle/>
          <a:p>
            <a:pPr algn="r" indent="0" marL="0">
              <a:buNone/>
            </a:pPr>
            <a:r>
              <a:rPr lang="en-US" sz="1200" dirty="0">
                <a:solidFill>
                  <a:srgbClr val="4A5A70"/>
                </a:solidFill>
                <a:latin typeface="Golos Text" pitchFamily="34" charset="0"/>
                <a:ea typeface="Golos Text" pitchFamily="34" charset="-122"/>
                <a:cs typeface="Golos Text" pitchFamily="34" charset="-120"/>
              </a:rPr>
              <a:t>Маселе · 5 мүн</a:t>
            </a:r>
            <a:endParaRPr lang="en-US" sz="1200" dirty="0"/>
          </a:p>
        </p:txBody>
      </p:sp>
      <p:sp>
        <p:nvSpPr>
          <p:cNvPr id="10" name="Text 8"/>
          <p:cNvSpPr/>
          <p:nvPr/>
        </p:nvSpPr>
        <p:spPr>
          <a:xfrm>
            <a:off x="365760" y="6492240"/>
            <a:ext cx="5486400" cy="228600"/>
          </a:xfrm>
          <a:prstGeom prst="rect">
            <a:avLst/>
          </a:prstGeom>
          <a:noFill/>
          <a:ln/>
        </p:spPr>
        <p:txBody>
          <a:bodyPr wrap="square" lIns="0" tIns="0" rIns="0" bIns="0" rtlCol="0" anchor="t"/>
          <a:lstStyle/>
          <a:p>
            <a:pPr algn="l" indent="0" marL="0">
              <a:buNone/>
            </a:pPr>
            <a:r>
              <a:rPr lang="en-US" sz="900" dirty="0">
                <a:solidFill>
                  <a:srgbClr val="8D99AA"/>
                </a:solidFill>
                <a:latin typeface="Golos Text" pitchFamily="34" charset="0"/>
                <a:ea typeface="Golos Text" pitchFamily="34" charset="-122"/>
                <a:cs typeface="Golos Text" pitchFamily="34" charset="-120"/>
              </a:rPr>
              <a:t>MathKG · Математика кыргызча</a:t>
            </a:r>
            <a:endParaRPr lang="en-US" sz="900" dirty="0"/>
          </a:p>
        </p:txBody>
      </p:sp>
      <p:sp>
        <p:nvSpPr>
          <p:cNvPr id="11" name="Text 9"/>
          <p:cNvSpPr/>
          <p:nvPr/>
        </p:nvSpPr>
        <p:spPr>
          <a:xfrm>
            <a:off x="7680960" y="6492240"/>
            <a:ext cx="3657600" cy="228600"/>
          </a:xfrm>
          <a:prstGeom prst="rect">
            <a:avLst/>
          </a:prstGeom>
          <a:noFill/>
          <a:ln/>
        </p:spPr>
        <p:txBody>
          <a:bodyPr wrap="square" lIns="0" tIns="0" rIns="0" bIns="0" rtlCol="0" anchor="t"/>
          <a:lstStyle/>
          <a:p>
            <a:pPr algn="r" indent="0" marL="0">
              <a:buNone/>
            </a:pPr>
            <a:r>
              <a:rPr lang="en-US" sz="900" dirty="0">
                <a:solidFill>
                  <a:srgbClr val="8D99AA"/>
                </a:solidFill>
                <a:latin typeface="Golos Text" pitchFamily="34" charset="0"/>
                <a:ea typeface="Golos Text" pitchFamily="34" charset="-122"/>
                <a:cs typeface="Golos Text" pitchFamily="34" charset="-120"/>
              </a:rPr>
              <a:t>MathKG ыкмасы · 5 мүн</a:t>
            </a:r>
            <a:endParaRPr lang="en-US" sz="900" dirty="0"/>
          </a:p>
        </p:txBody>
      </p:sp>
      <p:sp>
        <p:nvSpPr>
          <p:cNvPr id="12" name="Shape 10"/>
          <p:cNvSpPr/>
          <p:nvPr/>
        </p:nvSpPr>
        <p:spPr>
          <a:xfrm>
            <a:off x="365760" y="1463040"/>
            <a:ext cx="3291840" cy="4846320"/>
          </a:xfrm>
          <a:prstGeom prst="roundRect">
            <a:avLst>
              <a:gd name="adj" fmla="val 6000"/>
            </a:avLst>
          </a:prstGeom>
          <a:solidFill>
            <a:srgbClr val="F3F5FB"/>
          </a:solidFill>
          <a:ln/>
        </p:spPr>
      </p:sp>
      <p:sp>
        <p:nvSpPr>
          <p:cNvPr id="13" name="Text 11"/>
          <p:cNvSpPr/>
          <p:nvPr/>
        </p:nvSpPr>
        <p:spPr>
          <a:xfrm>
            <a:off x="594360" y="1645920"/>
            <a:ext cx="2926080" cy="274320"/>
          </a:xfrm>
          <a:prstGeom prst="rect">
            <a:avLst/>
          </a:prstGeom>
          <a:noFill/>
          <a:ln/>
        </p:spPr>
        <p:txBody>
          <a:bodyPr wrap="square" lIns="0" tIns="0" rIns="0" bIns="0" rtlCol="0" anchor="t"/>
          <a:lstStyle/>
          <a:p>
            <a:pPr algn="l" indent="0" marL="0">
              <a:buNone/>
            </a:pPr>
            <a:r>
              <a:rPr lang="en-US" sz="1300" b="1" dirty="0">
                <a:solidFill>
                  <a:srgbClr val="A84400"/>
                </a:solidFill>
                <a:latin typeface="Golos Text" pitchFamily="34" charset="0"/>
                <a:ea typeface="Golos Text" pitchFamily="34" charset="-122"/>
                <a:cs typeface="Golos Text" pitchFamily="34" charset="-120"/>
              </a:rPr>
              <a:t>1. БОЛЖОЛ · 1 МҮНӨТ</a:t>
            </a:r>
            <a:endParaRPr lang="en-US" sz="1300" dirty="0"/>
          </a:p>
        </p:txBody>
      </p:sp>
      <p:sp>
        <p:nvSpPr>
          <p:cNvPr id="14" name="Text 12"/>
          <p:cNvSpPr/>
          <p:nvPr/>
        </p:nvSpPr>
        <p:spPr>
          <a:xfrm>
            <a:off x="594360" y="2011680"/>
            <a:ext cx="2880360" cy="1005840"/>
          </a:xfrm>
          <a:prstGeom prst="rect">
            <a:avLst/>
          </a:prstGeom>
          <a:noFill/>
          <a:ln/>
        </p:spPr>
        <p:txBody>
          <a:bodyPr wrap="square" lIns="0" tIns="0" rIns="0" bIns="0" rtlCol="0" anchor="t"/>
          <a:lstStyle/>
          <a:p>
            <a:pPr algn="l" indent="0" marL="0">
              <a:buNone/>
            </a:pPr>
            <a:r>
              <a:rPr lang="en-US" sz="1700" b="1" dirty="0">
                <a:solidFill>
                  <a:srgbClr val="1D3557"/>
                </a:solidFill>
                <a:latin typeface="Golos Text" pitchFamily="34" charset="0"/>
                <a:ea typeface="Golos Text" pitchFamily="34" charset="-122"/>
                <a:cs typeface="Golos Text" pitchFamily="34" charset="-120"/>
              </a:rPr>
              <a:t>Сенин оюңча, кайсы команда жакшыраак? Колуңду көтөр.</a:t>
            </a:r>
            <a:endParaRPr lang="en-US" sz="1700" dirty="0"/>
          </a:p>
        </p:txBody>
      </p:sp>
      <p:sp>
        <p:nvSpPr>
          <p:cNvPr id="15" name="Text 13"/>
          <p:cNvSpPr/>
          <p:nvPr/>
        </p:nvSpPr>
        <p:spPr>
          <a:xfrm>
            <a:off x="594360" y="3200400"/>
            <a:ext cx="2834640" cy="566928"/>
          </a:xfrm>
          <a:prstGeom prst="roundRect">
            <a:avLst>
              <a:gd name="adj" fmla="val 50000"/>
            </a:avLst>
          </a:prstGeom>
          <a:solidFill>
            <a:srgbClr val="FFFFFF"/>
          </a:solidFill>
          <a:ln w="19050">
            <a:solidFill>
              <a:srgbClr val="1D3557"/>
            </a:solidFill>
            <a:prstDash val="solid"/>
          </a:ln>
        </p:spPr>
        <p:txBody>
          <a:bodyPr wrap="square" lIns="152400" tIns="152400" rIns="152400" bIns="152400" rtlCol="0" anchor="ctr"/>
          <a:lstStyle/>
          <a:p>
            <a:pPr algn="l" indent="0" marL="0">
              <a:buNone/>
            </a:pPr>
            <a:r>
              <a:rPr lang="en-US" sz="1700" b="1" dirty="0">
                <a:solidFill>
                  <a:srgbClr val="1D3557"/>
                </a:solidFill>
                <a:latin typeface="Golos Text" pitchFamily="34" charset="0"/>
                <a:ea typeface="Golos Text" pitchFamily="34" charset="-122"/>
                <a:cs typeface="Golos Text" pitchFamily="34" charset="-120"/>
              </a:rPr>
              <a:t>А)  «Шумкар»</a:t>
            </a:r>
            <a:endParaRPr lang="en-US" sz="1700" dirty="0"/>
          </a:p>
        </p:txBody>
      </p:sp>
      <p:sp>
        <p:nvSpPr>
          <p:cNvPr id="16" name="Text 14"/>
          <p:cNvSpPr/>
          <p:nvPr/>
        </p:nvSpPr>
        <p:spPr>
          <a:xfrm>
            <a:off x="594360" y="3931920"/>
            <a:ext cx="2834640" cy="566928"/>
          </a:xfrm>
          <a:prstGeom prst="roundRect">
            <a:avLst>
              <a:gd name="adj" fmla="val 50000"/>
            </a:avLst>
          </a:prstGeom>
          <a:solidFill>
            <a:srgbClr val="FFFFFF"/>
          </a:solidFill>
          <a:ln w="19050">
            <a:solidFill>
              <a:srgbClr val="1D3557"/>
            </a:solidFill>
            <a:prstDash val="solid"/>
          </a:ln>
        </p:spPr>
        <p:txBody>
          <a:bodyPr wrap="square" lIns="152400" tIns="152400" rIns="152400" bIns="152400" rtlCol="0" anchor="ctr"/>
          <a:lstStyle/>
          <a:p>
            <a:pPr algn="l" indent="0" marL="0">
              <a:buNone/>
            </a:pPr>
            <a:r>
              <a:rPr lang="en-US" sz="1700" b="1" dirty="0">
                <a:solidFill>
                  <a:srgbClr val="1D3557"/>
                </a:solidFill>
                <a:latin typeface="Golos Text" pitchFamily="34" charset="0"/>
                <a:ea typeface="Golos Text" pitchFamily="34" charset="-122"/>
                <a:cs typeface="Golos Text" pitchFamily="34" charset="-120"/>
              </a:rPr>
              <a:t>Б)  «Тулпар»</a:t>
            </a:r>
            <a:endParaRPr lang="en-US" sz="1700" dirty="0"/>
          </a:p>
        </p:txBody>
      </p:sp>
      <p:sp>
        <p:nvSpPr>
          <p:cNvPr id="17" name="Text 15"/>
          <p:cNvSpPr/>
          <p:nvPr/>
        </p:nvSpPr>
        <p:spPr>
          <a:xfrm>
            <a:off x="594360" y="4663440"/>
            <a:ext cx="2834640" cy="566928"/>
          </a:xfrm>
          <a:prstGeom prst="roundRect">
            <a:avLst>
              <a:gd name="adj" fmla="val 50000"/>
            </a:avLst>
          </a:prstGeom>
          <a:solidFill>
            <a:srgbClr val="FFFFFF"/>
          </a:solidFill>
          <a:ln w="19050">
            <a:solidFill>
              <a:srgbClr val="1D3557"/>
            </a:solidFill>
            <a:prstDash val="solid"/>
          </a:ln>
        </p:spPr>
        <p:txBody>
          <a:bodyPr wrap="square" lIns="152400" tIns="152400" rIns="152400" bIns="152400" rtlCol="0" anchor="ctr"/>
          <a:lstStyle/>
          <a:p>
            <a:pPr algn="l" indent="0" marL="0">
              <a:buNone/>
            </a:pPr>
            <a:r>
              <a:rPr lang="en-US" sz="1700" b="1" dirty="0">
                <a:solidFill>
                  <a:srgbClr val="1D3557"/>
                </a:solidFill>
                <a:latin typeface="Golos Text" pitchFamily="34" charset="0"/>
                <a:ea typeface="Golos Text" pitchFamily="34" charset="-122"/>
                <a:cs typeface="Golos Text" pitchFamily="34" charset="-120"/>
              </a:rPr>
              <a:t>В)  Экөө бирдей</a:t>
            </a:r>
            <a:endParaRPr lang="en-US" sz="1700" dirty="0"/>
          </a:p>
        </p:txBody>
      </p:sp>
      <p:sp>
        <p:nvSpPr>
          <p:cNvPr id="18" name="Text 16"/>
          <p:cNvSpPr/>
          <p:nvPr/>
        </p:nvSpPr>
        <p:spPr>
          <a:xfrm>
            <a:off x="594360" y="5486400"/>
            <a:ext cx="2834640" cy="548640"/>
          </a:xfrm>
          <a:prstGeom prst="rect">
            <a:avLst/>
          </a:prstGeom>
          <a:noFill/>
          <a:ln/>
        </p:spPr>
        <p:txBody>
          <a:bodyPr wrap="square" lIns="0" tIns="0" rIns="0" bIns="0" rtlCol="0" anchor="t"/>
          <a:lstStyle/>
          <a:p>
            <a:pPr algn="l" indent="0" marL="0">
              <a:buNone/>
            </a:pPr>
            <a:r>
              <a:rPr lang="en-US" sz="1400" i="1" dirty="0">
                <a:solidFill>
                  <a:srgbClr val="4A5A70"/>
                </a:solidFill>
                <a:latin typeface="Golos Text" pitchFamily="34" charset="0"/>
                <a:ea typeface="Golos Text" pitchFamily="34" charset="-122"/>
                <a:cs typeface="Golos Text" pitchFamily="34" charset="-120"/>
              </a:rPr>
              <a:t>Болжолуңду дептериңе жаз.</a:t>
            </a:r>
            <a:endParaRPr lang="en-US" sz="1400" dirty="0"/>
          </a:p>
        </p:txBody>
      </p:sp>
      <p:sp>
        <p:nvSpPr>
          <p:cNvPr id="19" name="Shape 17"/>
          <p:cNvSpPr/>
          <p:nvPr/>
        </p:nvSpPr>
        <p:spPr>
          <a:xfrm>
            <a:off x="3840480" y="1463040"/>
            <a:ext cx="4572000" cy="4846320"/>
          </a:xfrm>
          <a:prstGeom prst="roundRect">
            <a:avLst>
              <a:gd name="adj" fmla="val 5000"/>
            </a:avLst>
          </a:prstGeom>
          <a:solidFill>
            <a:srgbClr val="FFFFFF"/>
          </a:solidFill>
          <a:ln w="19050">
            <a:solidFill>
              <a:srgbClr val="1D3557"/>
            </a:solidFill>
            <a:prstDash val="dash"/>
          </a:ln>
        </p:spPr>
      </p:sp>
      <p:sp>
        <p:nvSpPr>
          <p:cNvPr id="20" name="Text 18"/>
          <p:cNvSpPr/>
          <p:nvPr/>
        </p:nvSpPr>
        <p:spPr>
          <a:xfrm>
            <a:off x="4069080" y="1645920"/>
            <a:ext cx="4114800" cy="274320"/>
          </a:xfrm>
          <a:prstGeom prst="rect">
            <a:avLst/>
          </a:prstGeom>
          <a:noFill/>
          <a:ln/>
        </p:spPr>
        <p:txBody>
          <a:bodyPr wrap="square" lIns="0" tIns="0" rIns="0" bIns="0" rtlCol="0" anchor="t"/>
          <a:lstStyle/>
          <a:p>
            <a:pPr algn="l" indent="0" marL="0">
              <a:buNone/>
            </a:pPr>
            <a:r>
              <a:rPr lang="en-US" sz="1300" b="1" dirty="0">
                <a:solidFill>
                  <a:srgbClr val="1D3557"/>
                </a:solidFill>
                <a:latin typeface="Golos Text" pitchFamily="34" charset="0"/>
                <a:ea typeface="Golos Text" pitchFamily="34" charset="-122"/>
                <a:cs typeface="Golos Text" pitchFamily="34" charset="-120"/>
              </a:rPr>
              <a:t>2. ӨЗ АЛДЫНЧА · 4 МҮНӨТ</a:t>
            </a:r>
            <a:endParaRPr lang="en-US" sz="1300" dirty="0"/>
          </a:p>
        </p:txBody>
      </p:sp>
      <p:sp>
        <p:nvSpPr>
          <p:cNvPr id="21" name="Text 19"/>
          <p:cNvSpPr/>
          <p:nvPr/>
        </p:nvSpPr>
        <p:spPr>
          <a:xfrm>
            <a:off x="4069080" y="2011680"/>
            <a:ext cx="4206240" cy="822960"/>
          </a:xfrm>
          <a:prstGeom prst="rect">
            <a:avLst/>
          </a:prstGeom>
          <a:noFill/>
          <a:ln/>
        </p:spPr>
        <p:txBody>
          <a:bodyPr wrap="square" lIns="0" tIns="0" rIns="0" bIns="0" rtlCol="0" anchor="t"/>
          <a:lstStyle/>
          <a:p>
            <a:pPr algn="l" indent="0" marL="0">
              <a:spcAft>
                <a:spcPts val="400"/>
              </a:spcAft>
              <a:buNone/>
            </a:pPr>
            <a:r>
              <a:rPr lang="en-US" sz="1600" b="1" dirty="0">
                <a:solidFill>
                  <a:srgbClr val="007A5A"/>
                </a:solidFill>
                <a:latin typeface="Golos Text" pitchFamily="34" charset="0"/>
                <a:ea typeface="Golos Text" pitchFamily="34" charset="-122"/>
                <a:cs typeface="Golos Text" pitchFamily="34" charset="-120"/>
              </a:rPr>
              <a:t>«Шумкар»: </a:t>
            </a:r>
            <a:r>
              <a:rPr lang="en-US" sz="1600" b="1" dirty="0">
                <a:solidFill>
                  <a:srgbClr val="1D3557"/>
                </a:solidFill>
                <a:latin typeface="Golos Text" pitchFamily="34" charset="0"/>
                <a:ea typeface="Golos Text" pitchFamily="34" charset="-122"/>
                <a:cs typeface="Golos Text" pitchFamily="34" charset="-120"/>
              </a:rPr>
              <a:t>300, 360, 280, 310, 300</a:t>
            </a:r>
            <a:endParaRPr lang="en-US" sz="1600" dirty="0"/>
          </a:p>
          <a:p>
            <a:pPr algn="l" indent="0" marL="0">
              <a:spcAft>
                <a:spcPts val="400"/>
              </a:spcAft>
              <a:buNone/>
            </a:pPr>
            <a:r>
              <a:rPr lang="en-US" sz="1600" b="1" dirty="0">
                <a:solidFill>
                  <a:srgbClr val="24418C"/>
                </a:solidFill>
                <a:latin typeface="Golos Text" pitchFamily="34" charset="0"/>
                <a:ea typeface="Golos Text" pitchFamily="34" charset="-122"/>
                <a:cs typeface="Golos Text" pitchFamily="34" charset="-120"/>
              </a:rPr>
              <a:t>«Тулпар»: </a:t>
            </a:r>
            <a:r>
              <a:rPr lang="en-US" sz="1600" b="1" dirty="0">
                <a:solidFill>
                  <a:srgbClr val="1D3557"/>
                </a:solidFill>
                <a:latin typeface="Golos Text" pitchFamily="34" charset="0"/>
                <a:ea typeface="Golos Text" pitchFamily="34" charset="-122"/>
                <a:cs typeface="Golos Text" pitchFamily="34" charset="-120"/>
              </a:rPr>
              <a:t>335, 220, 320, 280, 335, 310</a:t>
            </a:r>
            <a:endParaRPr lang="en-US" sz="1600" dirty="0"/>
          </a:p>
        </p:txBody>
      </p:sp>
      <p:sp>
        <p:nvSpPr>
          <p:cNvPr id="22" name="Text 20"/>
          <p:cNvSpPr/>
          <p:nvPr/>
        </p:nvSpPr>
        <p:spPr>
          <a:xfrm>
            <a:off x="4069080" y="2880360"/>
            <a:ext cx="4160520" cy="731520"/>
          </a:xfrm>
          <a:prstGeom prst="rect">
            <a:avLst/>
          </a:prstGeom>
          <a:noFill/>
          <a:ln/>
        </p:spPr>
        <p:txBody>
          <a:bodyPr wrap="square" lIns="0" tIns="0" rIns="0" bIns="0" rtlCol="0" anchor="t"/>
          <a:lstStyle/>
          <a:p>
            <a:pPr algn="l" indent="0" marL="0">
              <a:buNone/>
            </a:pPr>
            <a:r>
              <a:rPr lang="en-US" sz="1600" dirty="0">
                <a:solidFill>
                  <a:srgbClr val="1D3557"/>
                </a:solidFill>
                <a:latin typeface="Golos Text" pitchFamily="34" charset="0"/>
                <a:ea typeface="Golos Text" pitchFamily="34" charset="-122"/>
                <a:cs typeface="Golos Text" pitchFamily="34" charset="-120"/>
              </a:rPr>
              <a:t>Маселени чыгар: жок дегенде бир ыкма тап жана жообуңду түшүндүр.</a:t>
            </a:r>
            <a:endParaRPr lang="en-US" sz="1600" dirty="0"/>
          </a:p>
        </p:txBody>
      </p:sp>
      <p:sp>
        <p:nvSpPr>
          <p:cNvPr id="23" name="Text 21"/>
          <p:cNvSpPr/>
          <p:nvPr/>
        </p:nvSpPr>
        <p:spPr>
          <a:xfrm>
            <a:off x="4069080" y="3749040"/>
            <a:ext cx="4206240" cy="502920"/>
          </a:xfrm>
          <a:prstGeom prst="rect">
            <a:avLst/>
          </a:prstGeom>
          <a:noFill/>
          <a:ln/>
        </p:spPr>
        <p:txBody>
          <a:bodyPr wrap="square" lIns="0" tIns="0" rIns="0" bIns="0" rtlCol="0" anchor="ctr"/>
          <a:lstStyle/>
          <a:p>
            <a:pPr algn="l" indent="0" marL="0">
              <a:buNone/>
            </a:pPr>
            <a:r>
              <a:rPr lang="en-US" sz="1600" dirty="0">
                <a:solidFill>
                  <a:srgbClr val="4A5A70"/>
                </a:solidFill>
                <a:latin typeface="Golos Text" pitchFamily="34" charset="0"/>
                <a:ea typeface="Golos Text" pitchFamily="34" charset="-122"/>
                <a:cs typeface="Golos Text" pitchFamily="34" charset="-120"/>
              </a:rPr>
              <a:t>1-ыкма: ____________________</a:t>
            </a:r>
            <a:endParaRPr lang="en-US" sz="1600" dirty="0"/>
          </a:p>
        </p:txBody>
      </p:sp>
      <p:sp>
        <p:nvSpPr>
          <p:cNvPr id="24" name="Text 22"/>
          <p:cNvSpPr/>
          <p:nvPr/>
        </p:nvSpPr>
        <p:spPr>
          <a:xfrm>
            <a:off x="4069080" y="4343400"/>
            <a:ext cx="4206240" cy="502920"/>
          </a:xfrm>
          <a:prstGeom prst="rect">
            <a:avLst/>
          </a:prstGeom>
          <a:noFill/>
          <a:ln/>
        </p:spPr>
        <p:txBody>
          <a:bodyPr wrap="square" lIns="0" tIns="0" rIns="0" bIns="0" rtlCol="0" anchor="ctr"/>
          <a:lstStyle/>
          <a:p>
            <a:pPr algn="l" indent="0" marL="0">
              <a:buNone/>
            </a:pPr>
            <a:r>
              <a:rPr lang="en-US" sz="1600" dirty="0">
                <a:solidFill>
                  <a:srgbClr val="4A5A70"/>
                </a:solidFill>
                <a:latin typeface="Golos Text" pitchFamily="34" charset="0"/>
                <a:ea typeface="Golos Text" pitchFamily="34" charset="-122"/>
                <a:cs typeface="Golos Text" pitchFamily="34" charset="-120"/>
              </a:rPr>
              <a:t>2-ыкма: ____________________</a:t>
            </a:r>
            <a:endParaRPr lang="en-US" sz="1600" dirty="0"/>
          </a:p>
        </p:txBody>
      </p:sp>
      <p:sp>
        <p:nvSpPr>
          <p:cNvPr id="25" name="Text 23"/>
          <p:cNvSpPr/>
          <p:nvPr/>
        </p:nvSpPr>
        <p:spPr>
          <a:xfrm>
            <a:off x="4069080" y="4937760"/>
            <a:ext cx="4206240" cy="502920"/>
          </a:xfrm>
          <a:prstGeom prst="rect">
            <a:avLst/>
          </a:prstGeom>
          <a:noFill/>
          <a:ln/>
        </p:spPr>
        <p:txBody>
          <a:bodyPr wrap="square" lIns="0" tIns="0" rIns="0" bIns="0" rtlCol="0" anchor="ctr"/>
          <a:lstStyle/>
          <a:p>
            <a:pPr algn="l" indent="0" marL="0">
              <a:buNone/>
            </a:pPr>
            <a:r>
              <a:rPr lang="en-US" sz="1600" dirty="0">
                <a:solidFill>
                  <a:srgbClr val="4A5A70"/>
                </a:solidFill>
                <a:latin typeface="Golos Text" pitchFamily="34" charset="0"/>
                <a:ea typeface="Golos Text" pitchFamily="34" charset="-122"/>
                <a:cs typeface="Golos Text" pitchFamily="34" charset="-120"/>
              </a:rPr>
              <a:t>Жыйынтык: ______ жакшыраак,</a:t>
            </a:r>
            <a:endParaRPr lang="en-US" sz="1600" dirty="0"/>
          </a:p>
        </p:txBody>
      </p:sp>
      <p:sp>
        <p:nvSpPr>
          <p:cNvPr id="26" name="Text 24"/>
          <p:cNvSpPr/>
          <p:nvPr/>
        </p:nvSpPr>
        <p:spPr>
          <a:xfrm>
            <a:off x="4069080" y="5532120"/>
            <a:ext cx="4206240" cy="502920"/>
          </a:xfrm>
          <a:prstGeom prst="rect">
            <a:avLst/>
          </a:prstGeom>
          <a:noFill/>
          <a:ln/>
        </p:spPr>
        <p:txBody>
          <a:bodyPr wrap="square" lIns="0" tIns="0" rIns="0" bIns="0" rtlCol="0" anchor="ctr"/>
          <a:lstStyle/>
          <a:p>
            <a:pPr algn="l" indent="0" marL="0">
              <a:buNone/>
            </a:pPr>
            <a:r>
              <a:rPr lang="en-US" sz="1600" dirty="0">
                <a:solidFill>
                  <a:srgbClr val="4A5A70"/>
                </a:solidFill>
                <a:latin typeface="Golos Text" pitchFamily="34" charset="0"/>
                <a:ea typeface="Golos Text" pitchFamily="34" charset="-122"/>
                <a:cs typeface="Golos Text" pitchFamily="34" charset="-120"/>
              </a:rPr>
              <a:t>анткени ____________________</a:t>
            </a:r>
            <a:endParaRPr lang="en-US" sz="1600" dirty="0"/>
          </a:p>
        </p:txBody>
      </p:sp>
      <p:sp>
        <p:nvSpPr>
          <p:cNvPr id="27" name="Shape 25"/>
          <p:cNvSpPr/>
          <p:nvPr/>
        </p:nvSpPr>
        <p:spPr>
          <a:xfrm>
            <a:off x="8595360" y="1463040"/>
            <a:ext cx="3227832" cy="4846320"/>
          </a:xfrm>
          <a:prstGeom prst="roundRect">
            <a:avLst>
              <a:gd name="adj" fmla="val 6000"/>
            </a:avLst>
          </a:prstGeom>
          <a:solidFill>
            <a:srgbClr val="F3F5FB"/>
          </a:solidFill>
          <a:ln/>
        </p:spPr>
      </p:sp>
      <p:sp>
        <p:nvSpPr>
          <p:cNvPr id="28" name="Text 26"/>
          <p:cNvSpPr/>
          <p:nvPr/>
        </p:nvSpPr>
        <p:spPr>
          <a:xfrm>
            <a:off x="8778240" y="1600200"/>
            <a:ext cx="2926080" cy="365760"/>
          </a:xfrm>
          <a:prstGeom prst="rect">
            <a:avLst/>
          </a:prstGeom>
          <a:noFill/>
          <a:ln/>
        </p:spPr>
        <p:txBody>
          <a:bodyPr wrap="square" lIns="0" tIns="0" rIns="0" bIns="0" rtlCol="0" anchor="t"/>
          <a:lstStyle/>
          <a:p>
            <a:pPr algn="l" indent="0" marL="0">
              <a:buNone/>
            </a:pPr>
            <a:r>
              <a:rPr lang="en-US" sz="1600" b="1" dirty="0">
                <a:solidFill>
                  <a:srgbClr val="1D3557"/>
                </a:solidFill>
                <a:latin typeface="Golos Text" pitchFamily="34" charset="0"/>
                <a:ea typeface="Golos Text" pitchFamily="34" charset="-122"/>
                <a:cs typeface="Golos Text" pitchFamily="34" charset="-120"/>
              </a:rPr>
              <a:t>Кыйналсаңбы? Кеңештер</a:t>
            </a:r>
            <a:endParaRPr lang="en-US" sz="1600" dirty="0"/>
          </a:p>
        </p:txBody>
      </p:sp>
      <p:sp>
        <p:nvSpPr>
          <p:cNvPr id="29" name="anim1_hint"/>
          <p:cNvSpPr/>
          <p:nvPr/>
        </p:nvSpPr>
        <p:spPr>
          <a:xfrm>
            <a:off x="8778240" y="2057400"/>
            <a:ext cx="2862072" cy="914400"/>
          </a:xfrm>
          <a:prstGeom prst="roundRect">
            <a:avLst>
              <a:gd name="adj" fmla="val 20000"/>
            </a:avLst>
          </a:prstGeom>
          <a:solidFill>
            <a:srgbClr val="FFFFFF"/>
          </a:solidFill>
          <a:ln w="19050">
            <a:solidFill>
              <a:srgbClr val="1D3557"/>
            </a:solidFill>
            <a:prstDash val="solid"/>
          </a:ln>
        </p:spPr>
        <p:txBody>
          <a:bodyPr wrap="square" lIns="114300" tIns="114300" rIns="114300" bIns="114300" rtlCol="0" anchor="ctr"/>
          <a:lstStyle/>
          <a:p>
            <a:pPr algn="l" indent="0" marL="0">
              <a:buNone/>
            </a:pPr>
            <a:r>
              <a:rPr lang="en-US" sz="1500" dirty="0">
                <a:solidFill>
                  <a:srgbClr val="1D3557"/>
                </a:solidFill>
                <a:latin typeface="Golos Text" pitchFamily="34" charset="0"/>
                <a:ea typeface="Golos Text" pitchFamily="34" charset="-122"/>
                <a:cs typeface="Golos Text" pitchFamily="34" charset="-120"/>
              </a:rPr>
              <a:t>Командада канча окуучу бар экенин унутпа.</a:t>
            </a:r>
            <a:endParaRPr lang="en-US" sz="1500" dirty="0"/>
          </a:p>
        </p:txBody>
      </p:sp>
      <p:sp>
        <p:nvSpPr>
          <p:cNvPr id="30" name="anim2_hint"/>
          <p:cNvSpPr/>
          <p:nvPr/>
        </p:nvSpPr>
        <p:spPr>
          <a:xfrm>
            <a:off x="8778240" y="3108960"/>
            <a:ext cx="2862072" cy="914400"/>
          </a:xfrm>
          <a:prstGeom prst="roundRect">
            <a:avLst>
              <a:gd name="adj" fmla="val 20000"/>
            </a:avLst>
          </a:prstGeom>
          <a:solidFill>
            <a:srgbClr val="FFFFFF"/>
          </a:solidFill>
          <a:ln w="19050">
            <a:solidFill>
              <a:srgbClr val="1D3557"/>
            </a:solidFill>
            <a:prstDash val="solid"/>
          </a:ln>
        </p:spPr>
        <p:txBody>
          <a:bodyPr wrap="square" lIns="114300" tIns="114300" rIns="114300" bIns="114300" rtlCol="0" anchor="ctr"/>
          <a:lstStyle/>
          <a:p>
            <a:pPr algn="l" indent="0" marL="0">
              <a:buNone/>
            </a:pPr>
            <a:r>
              <a:rPr lang="en-US" sz="1500" dirty="0">
                <a:solidFill>
                  <a:srgbClr val="1D3557"/>
                </a:solidFill>
                <a:latin typeface="Golos Text" pitchFamily="34" charset="0"/>
                <a:ea typeface="Golos Text" pitchFamily="34" charset="-122"/>
                <a:cs typeface="Golos Text" pitchFamily="34" charset="-120"/>
              </a:rPr>
              <a:t>Сандарды кичинесинен чоңуна ирээттеп жаз.</a:t>
            </a:r>
            <a:endParaRPr lang="en-US" sz="1500" dirty="0"/>
          </a:p>
        </p:txBody>
      </p:sp>
      <p:sp>
        <p:nvSpPr>
          <p:cNvPr id="31" name="anim3_hint"/>
          <p:cNvSpPr/>
          <p:nvPr/>
        </p:nvSpPr>
        <p:spPr>
          <a:xfrm>
            <a:off x="8778240" y="4160520"/>
            <a:ext cx="2862072" cy="914400"/>
          </a:xfrm>
          <a:prstGeom prst="roundRect">
            <a:avLst>
              <a:gd name="adj" fmla="val 20000"/>
            </a:avLst>
          </a:prstGeom>
          <a:solidFill>
            <a:srgbClr val="FFFFFF"/>
          </a:solidFill>
          <a:ln w="19050">
            <a:solidFill>
              <a:srgbClr val="1D3557"/>
            </a:solidFill>
            <a:prstDash val="solid"/>
          </a:ln>
        </p:spPr>
        <p:txBody>
          <a:bodyPr wrap="square" lIns="114300" tIns="114300" rIns="114300" bIns="114300" rtlCol="0" anchor="ctr"/>
          <a:lstStyle/>
          <a:p>
            <a:pPr algn="l" indent="0" marL="0">
              <a:buNone/>
            </a:pPr>
            <a:r>
              <a:rPr lang="en-US" sz="1500" dirty="0">
                <a:solidFill>
                  <a:srgbClr val="1D3557"/>
                </a:solidFill>
                <a:latin typeface="Golos Text" pitchFamily="34" charset="0"/>
                <a:ea typeface="Golos Text" pitchFamily="34" charset="-122"/>
                <a:cs typeface="Golos Text" pitchFamily="34" charset="-120"/>
              </a:rPr>
              <a:t>Ар бир командада ортодо турган окуучуну тап.</a:t>
            </a:r>
            <a:endParaRPr lang="en-US" sz="1500" dirty="0"/>
          </a:p>
        </p:txBody>
      </p:sp>
      <p:sp>
        <p:nvSpPr>
          <p:cNvPr id="32" name="anim4_hint"/>
          <p:cNvSpPr/>
          <p:nvPr/>
        </p:nvSpPr>
        <p:spPr>
          <a:xfrm>
            <a:off x="8778240" y="5212080"/>
            <a:ext cx="2862072" cy="914400"/>
          </a:xfrm>
          <a:prstGeom prst="roundRect">
            <a:avLst>
              <a:gd name="adj" fmla="val 20000"/>
            </a:avLst>
          </a:prstGeom>
          <a:solidFill>
            <a:srgbClr val="FFFFFF"/>
          </a:solidFill>
          <a:ln w="19050">
            <a:solidFill>
              <a:srgbClr val="007A5A"/>
            </a:solidFill>
            <a:prstDash val="solid"/>
          </a:ln>
        </p:spPr>
        <p:txBody>
          <a:bodyPr wrap="square" lIns="114300" tIns="114300" rIns="114300" bIns="114300" rtlCol="0" anchor="ctr"/>
          <a:lstStyle/>
          <a:p>
            <a:pPr algn="l" indent="0" marL="0">
              <a:buNone/>
            </a:pPr>
            <a:r>
              <a:rPr lang="en-US" sz="1500" b="1" dirty="0">
                <a:solidFill>
                  <a:srgbClr val="007A5A"/>
                </a:solidFill>
                <a:latin typeface="Golos Text" pitchFamily="34" charset="0"/>
                <a:ea typeface="Golos Text" pitchFamily="34" charset="-122"/>
                <a:cs typeface="Golos Text" pitchFamily="34" charset="-120"/>
              </a:rPr>
              <a:t>Бүтүрдүңбү? Башка ыкма менен салыштыр.</a:t>
            </a:r>
            <a:endParaRPr lang="en-US" sz="1500" dirty="0"/>
          </a:p>
        </p:txBody>
      </p:sp>
      <p:sp>
        <p:nvSpPr>
          <p:cNvPr id="33" name="Slide Number Placeholder 0"/>
          <p:cNvSpPr>
            <a:spLocks noGrp="1"/>
          </p:cNvSpPr>
          <p:nvPr>
            <p:ph type="sldNum" sz="quarter" idx="4294967295"/>
          </p:nvPr>
        </p:nvSpPr>
        <p:spPr>
          <a:xfrm>
            <a:off x="11384280" y="6492240"/>
            <a:ext cx="438912"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99AA"/>
                </a:solidFill>
                <a:latin typeface="Golos Text"/>
                <a:ea typeface="Golos Text"/>
                <a:cs typeface="Golos Text"/>
              </a:defRPr>
            </a:lvl1pPr>
          </a:lstStyle>
          <a:p>
            <a:pPr algn="r"/>
            <a:fld id="{F7021451-1387-4CA6-816F-3879F97B5CBC}" type="slidenum">
              <a:rPr b="0" lang="en-US"/>
              <a:t>5</a:t>
            </a:fld>
            <a:endParaRPr lang="en-US"/>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9"/>
                                        </p:tgtEl>
                                        <p:attrNameLst>
                                          <p:attrName>style.visibility</p:attrName>
                                        </p:attrNameLst>
                                      </p:cBhvr>
                                      <p:to>
                                        <p:strVal val="visible"/>
                                      </p:to>
                                    </p:set>
                                    <p:animEffect transition="in" filter="fade">
                                      <p:cBhvr>
                                        <p:cTn id="5" dur="600"/>
                                        <p:tgtEl>
                                          <p:spTgt spid="29"/>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600"/>
                                        <p:tgtEl>
                                          <p:spTgt spid="30"/>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600"/>
                                        <p:tgtEl>
                                          <p:spTgt spid="31"/>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2"/>
                                        </p:tgtEl>
                                        <p:attrNameLst>
                                          <p:attrName>style.visibility</p:attrName>
                                        </p:attrNameLst>
                                      </p:cBhvr>
                                      <p:to>
                                        <p:strVal val="visible"/>
                                      </p:to>
                                    </p:set>
                                    <p:animEffect transition="in" filter="fade">
                                      <p:cBhvr>
                                        <p:cTn id="20" dur="6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11457432" cy="640080"/>
          </a:xfrm>
          <a:prstGeom prst="roundRect">
            <a:avLst>
              <a:gd name="adj" fmla="val 22000"/>
            </a:avLst>
          </a:prstGeom>
          <a:solidFill>
            <a:srgbClr val="FFFFFF"/>
          </a:solidFill>
          <a:ln w="19050">
            <a:solidFill>
              <a:srgbClr val="1D3557"/>
            </a:solidFill>
            <a:prstDash val="solid"/>
          </a:ln>
        </p:spPr>
      </p:sp>
      <p:sp>
        <p:nvSpPr>
          <p:cNvPr id="3" name="Shape 1"/>
          <p:cNvSpPr/>
          <p:nvPr/>
        </p:nvSpPr>
        <p:spPr>
          <a:xfrm>
            <a:off x="557784" y="369418"/>
            <a:ext cx="70409" cy="358445"/>
          </a:xfrm>
          <a:prstGeom prst="roundRect">
            <a:avLst>
              <a:gd name="adj" fmla="val 50000"/>
            </a:avLst>
          </a:prstGeom>
          <a:solidFill>
            <a:srgbClr val="007A5A"/>
          </a:solidFill>
          <a:ln/>
        </p:spPr>
      </p:sp>
      <p:sp>
        <p:nvSpPr>
          <p:cNvPr id="4" name="Shape 2"/>
          <p:cNvSpPr/>
          <p:nvPr/>
        </p:nvSpPr>
        <p:spPr>
          <a:xfrm>
            <a:off x="691561" y="369418"/>
            <a:ext cx="70409" cy="358445"/>
          </a:xfrm>
          <a:prstGeom prst="roundRect">
            <a:avLst>
              <a:gd name="adj" fmla="val 50000"/>
            </a:avLst>
          </a:prstGeom>
          <a:solidFill>
            <a:srgbClr val="A84400"/>
          </a:solidFill>
          <a:ln/>
        </p:spPr>
      </p:sp>
      <p:sp>
        <p:nvSpPr>
          <p:cNvPr id="5" name="Shape 3"/>
          <p:cNvSpPr/>
          <p:nvPr/>
        </p:nvSpPr>
        <p:spPr>
          <a:xfrm>
            <a:off x="825337" y="369418"/>
            <a:ext cx="70409" cy="358445"/>
          </a:xfrm>
          <a:prstGeom prst="roundRect">
            <a:avLst>
              <a:gd name="adj" fmla="val 50000"/>
            </a:avLst>
          </a:prstGeom>
          <a:solidFill>
            <a:srgbClr val="24418C"/>
          </a:solidFill>
          <a:ln/>
        </p:spPr>
      </p:sp>
      <p:sp>
        <p:nvSpPr>
          <p:cNvPr id="6" name="Text 4"/>
          <p:cNvSpPr/>
          <p:nvPr/>
        </p:nvSpPr>
        <p:spPr>
          <a:xfrm>
            <a:off x="1096914" y="228600"/>
            <a:ext cx="7589520" cy="640080"/>
          </a:xfrm>
          <a:prstGeom prst="rect">
            <a:avLst/>
          </a:prstGeom>
          <a:noFill/>
          <a:ln/>
        </p:spPr>
        <p:txBody>
          <a:bodyPr wrap="square" lIns="0" tIns="0" rIns="0" bIns="0" rtlCol="0" anchor="ctr"/>
          <a:lstStyle/>
          <a:p>
            <a:pPr algn="l" indent="0" marL="0">
              <a:buNone/>
            </a:pPr>
            <a:r>
              <a:rPr lang="en-US" sz="2200" b="1" dirty="0">
                <a:solidFill>
                  <a:srgbClr val="1D3557"/>
                </a:solidFill>
                <a:latin typeface="Golos Text" pitchFamily="34" charset="0"/>
                <a:ea typeface="Golos Text" pitchFamily="34" charset="-122"/>
                <a:cs typeface="Golos Text" pitchFamily="34" charset="-120"/>
              </a:rPr>
              <a:t>Ыкмалар А жана Б: кошобуз же бөлөбүз?</a:t>
            </a:r>
            <a:endParaRPr lang="en-US" sz="2200" dirty="0"/>
          </a:p>
        </p:txBody>
      </p:sp>
      <p:sp>
        <p:nvSpPr>
          <p:cNvPr id="7" name="Text 5"/>
          <p:cNvSpPr/>
          <p:nvPr/>
        </p:nvSpPr>
        <p:spPr>
          <a:xfrm>
            <a:off x="8778240" y="228600"/>
            <a:ext cx="2880360" cy="640080"/>
          </a:xfrm>
          <a:prstGeom prst="rect">
            <a:avLst/>
          </a:prstGeom>
          <a:noFill/>
          <a:ln/>
        </p:spPr>
        <p:txBody>
          <a:bodyPr wrap="square" lIns="0" tIns="0" rIns="0" bIns="0" rtlCol="0" anchor="ctr"/>
          <a:lstStyle/>
          <a:p>
            <a:pPr algn="r" indent="0" marL="0">
              <a:buNone/>
            </a:pPr>
            <a:r>
              <a:rPr lang="en-US" sz="1100" dirty="0">
                <a:solidFill>
                  <a:srgbClr val="4A5A70"/>
                </a:solidFill>
                <a:latin typeface="Golos Text" pitchFamily="34" charset="0"/>
                <a:ea typeface="Golos Text" pitchFamily="34" charset="-122"/>
                <a:cs typeface="Golos Text" pitchFamily="34" charset="-120"/>
              </a:rPr>
              <a:t>Статистика › Төрт өлчөм</a:t>
            </a:r>
            <a:endParaRPr lang="en-US" sz="1100" dirty="0"/>
          </a:p>
        </p:txBody>
      </p:sp>
      <p:sp>
        <p:nvSpPr>
          <p:cNvPr id="8" name="Text 6"/>
          <p:cNvSpPr/>
          <p:nvPr/>
        </p:nvSpPr>
        <p:spPr>
          <a:xfrm>
            <a:off x="411480" y="960120"/>
            <a:ext cx="8412480" cy="329184"/>
          </a:xfrm>
          <a:prstGeom prst="rect">
            <a:avLst/>
          </a:prstGeom>
          <a:noFill/>
          <a:ln/>
        </p:spPr>
        <p:txBody>
          <a:bodyPr wrap="square" lIns="0" tIns="0" rIns="0" bIns="0" rtlCol="0" anchor="t"/>
          <a:lstStyle/>
          <a:p>
            <a:pPr algn="l" indent="0" marL="0">
              <a:buNone/>
            </a:pPr>
            <a:r>
              <a:rPr lang="en-US" sz="1500" i="1" dirty="0">
                <a:solidFill>
                  <a:srgbClr val="4A5A70"/>
                </a:solidFill>
                <a:latin typeface="Golos Text" pitchFamily="34" charset="0"/>
                <a:ea typeface="Golos Text" pitchFamily="34" charset="-122"/>
                <a:cs typeface="Golos Text" pitchFamily="34" charset="-120"/>
              </a:rPr>
              <a:t>Азамат менен Берметтин иштери. Ар бир кадамды бирге текшеребиз</a:t>
            </a:r>
            <a:endParaRPr lang="en-US" sz="1500" dirty="0"/>
          </a:p>
        </p:txBody>
      </p:sp>
      <p:sp>
        <p:nvSpPr>
          <p:cNvPr id="9" name="Text 7"/>
          <p:cNvSpPr/>
          <p:nvPr/>
        </p:nvSpPr>
        <p:spPr>
          <a:xfrm>
            <a:off x="8897112" y="969264"/>
            <a:ext cx="2926080" cy="310896"/>
          </a:xfrm>
          <a:prstGeom prst="rect">
            <a:avLst/>
          </a:prstGeom>
          <a:noFill/>
          <a:ln/>
        </p:spPr>
        <p:txBody>
          <a:bodyPr wrap="square" lIns="0" tIns="0" rIns="0" bIns="0" rtlCol="0" anchor="ctr"/>
          <a:lstStyle/>
          <a:p>
            <a:pPr algn="r" indent="0" marL="0">
              <a:buNone/>
            </a:pPr>
            <a:r>
              <a:rPr lang="en-US" sz="1200" dirty="0">
                <a:solidFill>
                  <a:srgbClr val="4A5A70"/>
                </a:solidFill>
                <a:latin typeface="Golos Text" pitchFamily="34" charset="0"/>
                <a:ea typeface="Golos Text" pitchFamily="34" charset="-122"/>
                <a:cs typeface="Golos Text" pitchFamily="34" charset="-120"/>
              </a:rPr>
              <a:t>Салыштыруу · 2 мүн</a:t>
            </a:r>
            <a:endParaRPr lang="en-US" sz="1200" dirty="0"/>
          </a:p>
        </p:txBody>
      </p:sp>
      <p:sp>
        <p:nvSpPr>
          <p:cNvPr id="10" name="Text 8"/>
          <p:cNvSpPr/>
          <p:nvPr/>
        </p:nvSpPr>
        <p:spPr>
          <a:xfrm>
            <a:off x="365760" y="6492240"/>
            <a:ext cx="5486400" cy="228600"/>
          </a:xfrm>
          <a:prstGeom prst="rect">
            <a:avLst/>
          </a:prstGeom>
          <a:noFill/>
          <a:ln/>
        </p:spPr>
        <p:txBody>
          <a:bodyPr wrap="square" lIns="0" tIns="0" rIns="0" bIns="0" rtlCol="0" anchor="t"/>
          <a:lstStyle/>
          <a:p>
            <a:pPr algn="l" indent="0" marL="0">
              <a:buNone/>
            </a:pPr>
            <a:r>
              <a:rPr lang="en-US" sz="900" dirty="0">
                <a:solidFill>
                  <a:srgbClr val="8D99AA"/>
                </a:solidFill>
                <a:latin typeface="Golos Text" pitchFamily="34" charset="0"/>
                <a:ea typeface="Golos Text" pitchFamily="34" charset="-122"/>
                <a:cs typeface="Golos Text" pitchFamily="34" charset="-120"/>
              </a:rPr>
              <a:t>MathKG · Математика кыргызча</a:t>
            </a:r>
            <a:endParaRPr lang="en-US" sz="900" dirty="0"/>
          </a:p>
        </p:txBody>
      </p:sp>
      <p:sp>
        <p:nvSpPr>
          <p:cNvPr id="11" name="Text 9"/>
          <p:cNvSpPr/>
          <p:nvPr/>
        </p:nvSpPr>
        <p:spPr>
          <a:xfrm>
            <a:off x="7680960" y="6492240"/>
            <a:ext cx="3657600" cy="228600"/>
          </a:xfrm>
          <a:prstGeom prst="rect">
            <a:avLst/>
          </a:prstGeom>
          <a:noFill/>
          <a:ln/>
        </p:spPr>
        <p:txBody>
          <a:bodyPr wrap="square" lIns="0" tIns="0" rIns="0" bIns="0" rtlCol="0" anchor="t"/>
          <a:lstStyle/>
          <a:p>
            <a:pPr algn="r" indent="0" marL="0">
              <a:buNone/>
            </a:pPr>
            <a:r>
              <a:rPr lang="en-US" sz="900" dirty="0">
                <a:solidFill>
                  <a:srgbClr val="8D99AA"/>
                </a:solidFill>
                <a:latin typeface="Golos Text" pitchFamily="34" charset="0"/>
                <a:ea typeface="Golos Text" pitchFamily="34" charset="-122"/>
                <a:cs typeface="Golos Text" pitchFamily="34" charset="-120"/>
              </a:rPr>
              <a:t>MathKG ыкмасы · 2 мүн</a:t>
            </a:r>
            <a:endParaRPr lang="en-US" sz="900" dirty="0"/>
          </a:p>
        </p:txBody>
      </p:sp>
      <p:sp>
        <p:nvSpPr>
          <p:cNvPr id="12" name="Shape 10"/>
          <p:cNvSpPr/>
          <p:nvPr/>
        </p:nvSpPr>
        <p:spPr>
          <a:xfrm>
            <a:off x="365760" y="1463040"/>
            <a:ext cx="5650992" cy="3611880"/>
          </a:xfrm>
          <a:prstGeom prst="roundRect">
            <a:avLst>
              <a:gd name="adj" fmla="val 6000"/>
            </a:avLst>
          </a:prstGeom>
          <a:solidFill>
            <a:srgbClr val="FFFFFF"/>
          </a:solidFill>
          <a:ln w="22225">
            <a:solidFill>
              <a:srgbClr val="1D3557"/>
            </a:solidFill>
            <a:prstDash val="solid"/>
          </a:ln>
        </p:spPr>
      </p:sp>
      <p:sp>
        <p:nvSpPr>
          <p:cNvPr id="13" name="Text 11"/>
          <p:cNvSpPr/>
          <p:nvPr/>
        </p:nvSpPr>
        <p:spPr>
          <a:xfrm>
            <a:off x="548640" y="1600200"/>
            <a:ext cx="502920" cy="502920"/>
          </a:xfrm>
          <a:prstGeom prst="roundRect">
            <a:avLst>
              <a:gd name="adj" fmla="val 50000"/>
            </a:avLst>
          </a:prstGeom>
          <a:solidFill>
            <a:srgbClr val="1D3557"/>
          </a:solidFill>
          <a:ln w="19050">
            <a:solidFill>
              <a:srgbClr val="1D3557"/>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А</a:t>
            </a:r>
            <a:endParaRPr lang="en-US" sz="1600" dirty="0"/>
          </a:p>
        </p:txBody>
      </p:sp>
      <p:sp>
        <p:nvSpPr>
          <p:cNvPr id="14" name="Text 12"/>
          <p:cNvSpPr/>
          <p:nvPr/>
        </p:nvSpPr>
        <p:spPr>
          <a:xfrm>
            <a:off x="1188720" y="1600200"/>
            <a:ext cx="2743200" cy="502920"/>
          </a:xfrm>
          <a:prstGeom prst="rect">
            <a:avLst/>
          </a:prstGeom>
          <a:noFill/>
          <a:ln/>
        </p:spPr>
        <p:txBody>
          <a:bodyPr wrap="square" lIns="0" tIns="0" rIns="0" bIns="0" rtlCol="0" anchor="ctr"/>
          <a:lstStyle/>
          <a:p>
            <a:pPr algn="l" indent="0" marL="0">
              <a:buNone/>
            </a:pPr>
            <a:r>
              <a:rPr lang="en-US" sz="2000" b="1" dirty="0">
                <a:solidFill>
                  <a:srgbClr val="1D3557"/>
                </a:solidFill>
                <a:latin typeface="Golos Text" pitchFamily="34" charset="0"/>
                <a:ea typeface="Golos Text" pitchFamily="34" charset="-122"/>
                <a:cs typeface="Golos Text" pitchFamily="34" charset="-120"/>
              </a:rPr>
              <a:t>Азамат</a:t>
            </a:r>
            <a:endParaRPr lang="en-US" sz="2000" dirty="0"/>
          </a:p>
        </p:txBody>
      </p:sp>
      <p:sp>
        <p:nvSpPr>
          <p:cNvPr id="15" name="Text 13"/>
          <p:cNvSpPr/>
          <p:nvPr/>
        </p:nvSpPr>
        <p:spPr>
          <a:xfrm>
            <a:off x="594360" y="2194560"/>
            <a:ext cx="5212080" cy="365760"/>
          </a:xfrm>
          <a:prstGeom prst="rect">
            <a:avLst/>
          </a:prstGeom>
          <a:noFill/>
          <a:ln/>
        </p:spPr>
        <p:txBody>
          <a:bodyPr wrap="square" lIns="0" tIns="0" rIns="0" bIns="0" rtlCol="0" anchor="t"/>
          <a:lstStyle/>
          <a:p>
            <a:pPr algn="l" indent="0" marL="0">
              <a:buNone/>
            </a:pPr>
            <a:r>
              <a:rPr lang="en-US" sz="1500" i="1" dirty="0">
                <a:solidFill>
                  <a:srgbClr val="4A5A70"/>
                </a:solidFill>
                <a:latin typeface="Golos Text" pitchFamily="34" charset="0"/>
                <a:ea typeface="Golos Text" pitchFamily="34" charset="-122"/>
                <a:cs typeface="Golos Text" pitchFamily="34" charset="-120"/>
              </a:rPr>
              <a:t>Ар бир команданын натыйжаларын баарын кошту.</a:t>
            </a:r>
            <a:endParaRPr lang="en-US" sz="1500" dirty="0"/>
          </a:p>
        </p:txBody>
      </p:sp>
      <p:sp>
        <p:nvSpPr>
          <p:cNvPr id="16" name="Shape 14"/>
          <p:cNvSpPr/>
          <p:nvPr/>
        </p:nvSpPr>
        <p:spPr>
          <a:xfrm>
            <a:off x="6172200" y="1463040"/>
            <a:ext cx="5650992" cy="3611880"/>
          </a:xfrm>
          <a:prstGeom prst="roundRect">
            <a:avLst>
              <a:gd name="adj" fmla="val 6000"/>
            </a:avLst>
          </a:prstGeom>
          <a:solidFill>
            <a:srgbClr val="FFFFFF"/>
          </a:solidFill>
          <a:ln w="22225">
            <a:solidFill>
              <a:srgbClr val="007A5A"/>
            </a:solidFill>
            <a:prstDash val="solid"/>
          </a:ln>
        </p:spPr>
      </p:sp>
      <p:sp>
        <p:nvSpPr>
          <p:cNvPr id="17" name="Text 15"/>
          <p:cNvSpPr/>
          <p:nvPr/>
        </p:nvSpPr>
        <p:spPr>
          <a:xfrm>
            <a:off x="6355080" y="1600200"/>
            <a:ext cx="502920" cy="502920"/>
          </a:xfrm>
          <a:prstGeom prst="roundRect">
            <a:avLst>
              <a:gd name="adj" fmla="val 50000"/>
            </a:avLst>
          </a:prstGeom>
          <a:solidFill>
            <a:srgbClr val="007A5A"/>
          </a:solidFill>
          <a:ln w="19050">
            <a:solidFill>
              <a:srgbClr val="007A5A"/>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Б</a:t>
            </a:r>
            <a:endParaRPr lang="en-US" sz="1600" dirty="0"/>
          </a:p>
        </p:txBody>
      </p:sp>
      <p:sp>
        <p:nvSpPr>
          <p:cNvPr id="18" name="Text 16"/>
          <p:cNvSpPr/>
          <p:nvPr/>
        </p:nvSpPr>
        <p:spPr>
          <a:xfrm>
            <a:off x="6995160" y="1600200"/>
            <a:ext cx="2743200" cy="502920"/>
          </a:xfrm>
          <a:prstGeom prst="rect">
            <a:avLst/>
          </a:prstGeom>
          <a:noFill/>
          <a:ln/>
        </p:spPr>
        <p:txBody>
          <a:bodyPr wrap="square" lIns="0" tIns="0" rIns="0" bIns="0" rtlCol="0" anchor="ctr"/>
          <a:lstStyle/>
          <a:p>
            <a:pPr algn="l" indent="0" marL="0">
              <a:buNone/>
            </a:pPr>
            <a:r>
              <a:rPr lang="en-US" sz="2000" b="1" dirty="0">
                <a:solidFill>
                  <a:srgbClr val="1D3557"/>
                </a:solidFill>
                <a:latin typeface="Golos Text" pitchFamily="34" charset="0"/>
                <a:ea typeface="Golos Text" pitchFamily="34" charset="-122"/>
                <a:cs typeface="Golos Text" pitchFamily="34" charset="-120"/>
              </a:rPr>
              <a:t>Бермет</a:t>
            </a:r>
            <a:endParaRPr lang="en-US" sz="2000" dirty="0"/>
          </a:p>
        </p:txBody>
      </p:sp>
      <p:sp>
        <p:nvSpPr>
          <p:cNvPr id="19" name="Text 17"/>
          <p:cNvSpPr/>
          <p:nvPr/>
        </p:nvSpPr>
        <p:spPr>
          <a:xfrm>
            <a:off x="6400800" y="2194560"/>
            <a:ext cx="5212080" cy="365760"/>
          </a:xfrm>
          <a:prstGeom prst="rect">
            <a:avLst/>
          </a:prstGeom>
          <a:noFill/>
          <a:ln/>
        </p:spPr>
        <p:txBody>
          <a:bodyPr wrap="square" lIns="0" tIns="0" rIns="0" bIns="0" rtlCol="0" anchor="t"/>
          <a:lstStyle/>
          <a:p>
            <a:pPr algn="l" indent="0" marL="0">
              <a:buNone/>
            </a:pPr>
            <a:r>
              <a:rPr lang="en-US" sz="1500" i="1" dirty="0">
                <a:solidFill>
                  <a:srgbClr val="4A5A70"/>
                </a:solidFill>
                <a:latin typeface="Golos Text" pitchFamily="34" charset="0"/>
                <a:ea typeface="Golos Text" pitchFamily="34" charset="-122"/>
                <a:cs typeface="Golos Text" pitchFamily="34" charset="-120"/>
              </a:rPr>
              <a:t>Сумманы окуучулардын санына тең бөлдү.</a:t>
            </a:r>
            <a:endParaRPr lang="en-US" sz="1500" dirty="0"/>
          </a:p>
        </p:txBody>
      </p:sp>
      <p:sp>
        <p:nvSpPr>
          <p:cNvPr id="20" name="anim1_a1"/>
          <p:cNvSpPr/>
          <p:nvPr/>
        </p:nvSpPr>
        <p:spPr>
          <a:xfrm>
            <a:off x="502920" y="2651760"/>
            <a:ext cx="5376672" cy="603504"/>
          </a:xfrm>
          <a:prstGeom prst="roundRect">
            <a:avLst>
              <a:gd name="adj" fmla="val 25000"/>
            </a:avLst>
          </a:prstGeom>
          <a:solidFill>
            <a:srgbClr val="FFFFFF"/>
          </a:solidFill>
          <a:ln w="15875">
            <a:solidFill>
              <a:srgbClr val="E7EAF2"/>
            </a:solidFill>
            <a:prstDash val="solid"/>
          </a:ln>
        </p:spPr>
      </p:sp>
      <p:sp>
        <p:nvSpPr>
          <p:cNvPr id="21" name="anim1_a1"/>
          <p:cNvSpPr/>
          <p:nvPr/>
        </p:nvSpPr>
        <p:spPr>
          <a:xfrm>
            <a:off x="612648" y="2743200"/>
            <a:ext cx="420624" cy="420624"/>
          </a:xfrm>
          <a:prstGeom prst="roundRect">
            <a:avLst>
              <a:gd name="adj" fmla="val 50000"/>
            </a:avLst>
          </a:prstGeom>
          <a:solidFill>
            <a:srgbClr val="007A5A"/>
          </a:solidFill>
          <a:ln w="19050">
            <a:solidFill>
              <a:srgbClr val="007A5A"/>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1</a:t>
            </a:r>
            <a:endParaRPr lang="en-US" sz="1600" dirty="0"/>
          </a:p>
        </p:txBody>
      </p:sp>
      <p:sp>
        <p:nvSpPr>
          <p:cNvPr id="22" name="anim1_a1"/>
          <p:cNvSpPr/>
          <p:nvPr/>
        </p:nvSpPr>
        <p:spPr>
          <a:xfrm>
            <a:off x="1161288" y="2651760"/>
            <a:ext cx="4599432" cy="603504"/>
          </a:xfrm>
          <a:prstGeom prst="rect">
            <a:avLst/>
          </a:prstGeom>
          <a:noFill/>
          <a:ln/>
        </p:spPr>
        <p:txBody>
          <a:bodyPr wrap="square" lIns="0" tIns="0" rIns="0" bIns="0" rtlCol="0" anchor="ctr"/>
          <a:lstStyle/>
          <a:p>
            <a:pPr algn="l" indent="0" marL="0">
              <a:buNone/>
            </a:pPr>
            <a:r>
              <a:rPr lang="en-US" sz="1500" dirty="0">
                <a:solidFill>
                  <a:srgbClr val="1D3557"/>
                </a:solidFill>
                <a:latin typeface="Golos Text" pitchFamily="34" charset="0"/>
                <a:ea typeface="Golos Text" pitchFamily="34" charset="-122"/>
                <a:cs typeface="Golos Text" pitchFamily="34" charset="-120"/>
              </a:rPr>
              <a:t>«Шумкар»: 300 + 360 + 280 + 310 + 300 = 1 550</a:t>
            </a:r>
            <a:endParaRPr lang="en-US" sz="1500" dirty="0"/>
          </a:p>
        </p:txBody>
      </p:sp>
      <p:sp>
        <p:nvSpPr>
          <p:cNvPr id="23" name="anim2_a2"/>
          <p:cNvSpPr/>
          <p:nvPr/>
        </p:nvSpPr>
        <p:spPr>
          <a:xfrm>
            <a:off x="502920" y="3337560"/>
            <a:ext cx="5376672" cy="603504"/>
          </a:xfrm>
          <a:prstGeom prst="roundRect">
            <a:avLst>
              <a:gd name="adj" fmla="val 25000"/>
            </a:avLst>
          </a:prstGeom>
          <a:solidFill>
            <a:srgbClr val="FFFFFF"/>
          </a:solidFill>
          <a:ln w="15875">
            <a:solidFill>
              <a:srgbClr val="E7EAF2"/>
            </a:solidFill>
            <a:prstDash val="solid"/>
          </a:ln>
        </p:spPr>
      </p:sp>
      <p:sp>
        <p:nvSpPr>
          <p:cNvPr id="24" name="anim2_a2"/>
          <p:cNvSpPr/>
          <p:nvPr/>
        </p:nvSpPr>
        <p:spPr>
          <a:xfrm>
            <a:off x="612648" y="3429000"/>
            <a:ext cx="420624" cy="420624"/>
          </a:xfrm>
          <a:prstGeom prst="roundRect">
            <a:avLst>
              <a:gd name="adj" fmla="val 50000"/>
            </a:avLst>
          </a:prstGeom>
          <a:solidFill>
            <a:srgbClr val="24418C"/>
          </a:solidFill>
          <a:ln w="19050">
            <a:solidFill>
              <a:srgbClr val="24418C"/>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2</a:t>
            </a:r>
            <a:endParaRPr lang="en-US" sz="1600" dirty="0"/>
          </a:p>
        </p:txBody>
      </p:sp>
      <p:sp>
        <p:nvSpPr>
          <p:cNvPr id="25" name="anim2_a2"/>
          <p:cNvSpPr/>
          <p:nvPr/>
        </p:nvSpPr>
        <p:spPr>
          <a:xfrm>
            <a:off x="1161288" y="3337560"/>
            <a:ext cx="4599432" cy="603504"/>
          </a:xfrm>
          <a:prstGeom prst="rect">
            <a:avLst/>
          </a:prstGeom>
          <a:noFill/>
          <a:ln/>
        </p:spPr>
        <p:txBody>
          <a:bodyPr wrap="square" lIns="0" tIns="0" rIns="0" bIns="0" rtlCol="0" anchor="ctr"/>
          <a:lstStyle/>
          <a:p>
            <a:pPr algn="l" indent="0" marL="0">
              <a:buNone/>
            </a:pPr>
            <a:r>
              <a:rPr lang="en-US" sz="1500" dirty="0">
                <a:solidFill>
                  <a:srgbClr val="1D3557"/>
                </a:solidFill>
                <a:latin typeface="Golos Text" pitchFamily="34" charset="0"/>
                <a:ea typeface="Golos Text" pitchFamily="34" charset="-122"/>
                <a:cs typeface="Golos Text" pitchFamily="34" charset="-120"/>
              </a:rPr>
              <a:t>«Тулпар»: 335 + 220 + 320 + 280 + 335 + 310 = 1 800</a:t>
            </a:r>
            <a:endParaRPr lang="en-US" sz="1500" dirty="0"/>
          </a:p>
        </p:txBody>
      </p:sp>
      <p:sp>
        <p:nvSpPr>
          <p:cNvPr id="26" name="anim3_ac"/>
          <p:cNvSpPr/>
          <p:nvPr/>
        </p:nvSpPr>
        <p:spPr>
          <a:xfrm>
            <a:off x="502920" y="4114800"/>
            <a:ext cx="5376672" cy="777240"/>
          </a:xfrm>
          <a:prstGeom prst="roundRect">
            <a:avLst>
              <a:gd name="adj" fmla="val 35000"/>
            </a:avLst>
          </a:prstGeom>
          <a:solidFill>
            <a:srgbClr val="E7EAF2"/>
          </a:solidFill>
          <a:ln w="19050">
            <a:solidFill>
              <a:srgbClr val="1D3557"/>
            </a:solidFill>
            <a:prstDash val="solid"/>
          </a:ln>
        </p:spPr>
        <p:txBody>
          <a:bodyPr wrap="square" lIns="0" tIns="0" rIns="0" bIns="0" rtlCol="0" anchor="ctr"/>
          <a:lstStyle/>
          <a:p>
            <a:pPr algn="ctr" indent="0" marL="0">
              <a:buNone/>
            </a:pPr>
            <a:r>
              <a:rPr lang="en-US" sz="1700" b="1" dirty="0">
                <a:solidFill>
                  <a:srgbClr val="1D3557"/>
                </a:solidFill>
                <a:latin typeface="Golos Text" pitchFamily="34" charset="0"/>
                <a:ea typeface="Golos Text" pitchFamily="34" charset="-122"/>
                <a:cs typeface="Golos Text" pitchFamily="34" charset="-120"/>
              </a:rPr>
              <a:t>Азамат: «1 800 &gt; 1 550, “Тулпар” жеңди!»</a:t>
            </a:r>
            <a:endParaRPr lang="en-US" sz="1700" dirty="0"/>
          </a:p>
        </p:txBody>
      </p:sp>
      <p:sp>
        <p:nvSpPr>
          <p:cNvPr id="27" name="anim5_b1"/>
          <p:cNvSpPr/>
          <p:nvPr/>
        </p:nvSpPr>
        <p:spPr>
          <a:xfrm>
            <a:off x="6309360" y="2651760"/>
            <a:ext cx="5376672" cy="603504"/>
          </a:xfrm>
          <a:prstGeom prst="roundRect">
            <a:avLst>
              <a:gd name="adj" fmla="val 25000"/>
            </a:avLst>
          </a:prstGeom>
          <a:solidFill>
            <a:srgbClr val="FFFFFF"/>
          </a:solidFill>
          <a:ln w="15875">
            <a:solidFill>
              <a:srgbClr val="E7EAF2"/>
            </a:solidFill>
            <a:prstDash val="solid"/>
          </a:ln>
        </p:spPr>
      </p:sp>
      <p:sp>
        <p:nvSpPr>
          <p:cNvPr id="28" name="anim5_b1"/>
          <p:cNvSpPr/>
          <p:nvPr/>
        </p:nvSpPr>
        <p:spPr>
          <a:xfrm>
            <a:off x="6419088" y="2743200"/>
            <a:ext cx="420624" cy="420624"/>
          </a:xfrm>
          <a:prstGeom prst="roundRect">
            <a:avLst>
              <a:gd name="adj" fmla="val 50000"/>
            </a:avLst>
          </a:prstGeom>
          <a:solidFill>
            <a:srgbClr val="007A5A"/>
          </a:solidFill>
          <a:ln w="19050">
            <a:solidFill>
              <a:srgbClr val="007A5A"/>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1</a:t>
            </a:r>
            <a:endParaRPr lang="en-US" sz="1600" dirty="0"/>
          </a:p>
        </p:txBody>
      </p:sp>
      <p:sp>
        <p:nvSpPr>
          <p:cNvPr id="29" name="anim5_b1"/>
          <p:cNvSpPr/>
          <p:nvPr/>
        </p:nvSpPr>
        <p:spPr>
          <a:xfrm>
            <a:off x="6967728" y="2651760"/>
            <a:ext cx="4599432" cy="603504"/>
          </a:xfrm>
          <a:prstGeom prst="rect">
            <a:avLst/>
          </a:prstGeom>
          <a:noFill/>
          <a:ln/>
        </p:spPr>
        <p:txBody>
          <a:bodyPr wrap="square" lIns="0" tIns="0" rIns="0" bIns="0" rtlCol="0" anchor="ctr"/>
          <a:lstStyle/>
          <a:p>
            <a:pPr algn="l" indent="0" marL="0">
              <a:buNone/>
            </a:pPr>
            <a:r>
              <a:rPr lang="en-US" sz="1700" dirty="0">
                <a:solidFill>
                  <a:srgbClr val="1D3557"/>
                </a:solidFill>
                <a:latin typeface="Golos Text" pitchFamily="34" charset="0"/>
                <a:ea typeface="Golos Text" pitchFamily="34" charset="-122"/>
                <a:cs typeface="Golos Text" pitchFamily="34" charset="-120"/>
              </a:rPr>
              <a:t>«Шумкар»: 1 550 : 5 = 310</a:t>
            </a:r>
            <a:endParaRPr lang="en-US" sz="1700" dirty="0"/>
          </a:p>
        </p:txBody>
      </p:sp>
      <p:sp>
        <p:nvSpPr>
          <p:cNvPr id="30" name="anim6_b2"/>
          <p:cNvSpPr/>
          <p:nvPr/>
        </p:nvSpPr>
        <p:spPr>
          <a:xfrm>
            <a:off x="6309360" y="3337560"/>
            <a:ext cx="5376672" cy="603504"/>
          </a:xfrm>
          <a:prstGeom prst="roundRect">
            <a:avLst>
              <a:gd name="adj" fmla="val 25000"/>
            </a:avLst>
          </a:prstGeom>
          <a:solidFill>
            <a:srgbClr val="FFFFFF"/>
          </a:solidFill>
          <a:ln w="15875">
            <a:solidFill>
              <a:srgbClr val="E7EAF2"/>
            </a:solidFill>
            <a:prstDash val="solid"/>
          </a:ln>
        </p:spPr>
      </p:sp>
      <p:sp>
        <p:nvSpPr>
          <p:cNvPr id="31" name="anim6_b2"/>
          <p:cNvSpPr/>
          <p:nvPr/>
        </p:nvSpPr>
        <p:spPr>
          <a:xfrm>
            <a:off x="6419088" y="3429000"/>
            <a:ext cx="420624" cy="420624"/>
          </a:xfrm>
          <a:prstGeom prst="roundRect">
            <a:avLst>
              <a:gd name="adj" fmla="val 50000"/>
            </a:avLst>
          </a:prstGeom>
          <a:solidFill>
            <a:srgbClr val="24418C"/>
          </a:solidFill>
          <a:ln w="19050">
            <a:solidFill>
              <a:srgbClr val="24418C"/>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2</a:t>
            </a:r>
            <a:endParaRPr lang="en-US" sz="1600" dirty="0"/>
          </a:p>
        </p:txBody>
      </p:sp>
      <p:sp>
        <p:nvSpPr>
          <p:cNvPr id="32" name="anim6_b2"/>
          <p:cNvSpPr/>
          <p:nvPr/>
        </p:nvSpPr>
        <p:spPr>
          <a:xfrm>
            <a:off x="6967728" y="3337560"/>
            <a:ext cx="4599432" cy="603504"/>
          </a:xfrm>
          <a:prstGeom prst="rect">
            <a:avLst/>
          </a:prstGeom>
          <a:noFill/>
          <a:ln/>
        </p:spPr>
        <p:txBody>
          <a:bodyPr wrap="square" lIns="0" tIns="0" rIns="0" bIns="0" rtlCol="0" anchor="ctr"/>
          <a:lstStyle/>
          <a:p>
            <a:pPr algn="l" indent="0" marL="0">
              <a:buNone/>
            </a:pPr>
            <a:r>
              <a:rPr lang="en-US" sz="1700" dirty="0">
                <a:solidFill>
                  <a:srgbClr val="1D3557"/>
                </a:solidFill>
                <a:latin typeface="Golos Text" pitchFamily="34" charset="0"/>
                <a:ea typeface="Golos Text" pitchFamily="34" charset="-122"/>
                <a:cs typeface="Golos Text" pitchFamily="34" charset="-120"/>
              </a:rPr>
              <a:t>«Тулпар»: 1 800 : 6 = 300</a:t>
            </a:r>
            <a:endParaRPr lang="en-US" sz="1700" dirty="0"/>
          </a:p>
        </p:txBody>
      </p:sp>
      <p:sp>
        <p:nvSpPr>
          <p:cNvPr id="33" name="anim7_bc"/>
          <p:cNvSpPr/>
          <p:nvPr/>
        </p:nvSpPr>
        <p:spPr>
          <a:xfrm>
            <a:off x="6309360" y="4114800"/>
            <a:ext cx="5376672" cy="777240"/>
          </a:xfrm>
          <a:prstGeom prst="roundRect">
            <a:avLst>
              <a:gd name="adj" fmla="val 30000"/>
            </a:avLst>
          </a:prstGeom>
          <a:solidFill>
            <a:srgbClr val="D1E7E1"/>
          </a:solidFill>
          <a:ln w="28575">
            <a:solidFill>
              <a:srgbClr val="007A5A"/>
            </a:solidFill>
            <a:prstDash val="solid"/>
          </a:ln>
        </p:spPr>
        <p:txBody>
          <a:bodyPr wrap="square" lIns="76200" tIns="76200" rIns="76200" bIns="76200" rtlCol="0" anchor="ctr"/>
          <a:lstStyle/>
          <a:p>
            <a:pPr algn="ctr" indent="0" marL="0">
              <a:buNone/>
            </a:pPr>
            <a:r>
              <a:rPr lang="en-US" sz="1600" b="1" dirty="0">
                <a:solidFill>
                  <a:srgbClr val="007A5A"/>
                </a:solidFill>
                <a:latin typeface="Golos Text" pitchFamily="34" charset="0"/>
                <a:ea typeface="Golos Text" pitchFamily="34" charset="-122"/>
                <a:cs typeface="Golos Text" pitchFamily="34" charset="-120"/>
              </a:rPr>
              <a:t>Бир окуучуга орто эсеп менен: 310 &gt; 300. «Шумкар» алдыда.</a:t>
            </a:r>
            <a:endParaRPr lang="en-US" sz="1600" dirty="0"/>
          </a:p>
        </p:txBody>
      </p:sp>
      <p:sp>
        <p:nvSpPr>
          <p:cNvPr id="34" name="anim4_why"/>
          <p:cNvSpPr/>
          <p:nvPr/>
        </p:nvSpPr>
        <p:spPr>
          <a:xfrm>
            <a:off x="365760" y="5212080"/>
            <a:ext cx="11457432" cy="1097280"/>
          </a:xfrm>
          <a:prstGeom prst="roundRect">
            <a:avLst>
              <a:gd name="adj" fmla="val 10000"/>
            </a:avLst>
          </a:prstGeom>
          <a:solidFill>
            <a:srgbClr val="F5EBE3"/>
          </a:solidFill>
          <a:ln w="19050">
            <a:solidFill>
              <a:srgbClr val="A84400"/>
            </a:solidFill>
            <a:prstDash val="solid"/>
          </a:ln>
        </p:spPr>
      </p:sp>
      <p:sp>
        <p:nvSpPr>
          <p:cNvPr id="35" name="anim4_why"/>
          <p:cNvSpPr/>
          <p:nvPr/>
        </p:nvSpPr>
        <p:spPr>
          <a:xfrm>
            <a:off x="566928" y="5303520"/>
            <a:ext cx="11055096" cy="347472"/>
          </a:xfrm>
          <a:prstGeom prst="rect">
            <a:avLst/>
          </a:prstGeom>
          <a:noFill/>
          <a:ln/>
        </p:spPr>
        <p:txBody>
          <a:bodyPr wrap="square" lIns="0" tIns="0" rIns="0" bIns="0" rtlCol="0" anchor="t"/>
          <a:lstStyle/>
          <a:p>
            <a:pPr algn="l" indent="0" marL="0">
              <a:buNone/>
            </a:pPr>
            <a:r>
              <a:rPr lang="en-US" sz="1600" b="1" dirty="0">
                <a:solidFill>
                  <a:srgbClr val="A84400"/>
                </a:solidFill>
                <a:latin typeface="Golos Text" pitchFamily="34" charset="0"/>
                <a:ea typeface="Golos Text" pitchFamily="34" charset="-122"/>
                <a:cs typeface="Golos Text" pitchFamily="34" charset="-120"/>
              </a:rPr>
              <a:t>Азаматтын ыкмасы адилетпи?</a:t>
            </a:r>
            <a:endParaRPr lang="en-US" sz="1600" dirty="0"/>
          </a:p>
        </p:txBody>
      </p:sp>
      <p:sp>
        <p:nvSpPr>
          <p:cNvPr id="36" name="anim4_why"/>
          <p:cNvSpPr/>
          <p:nvPr/>
        </p:nvSpPr>
        <p:spPr>
          <a:xfrm>
            <a:off x="566928" y="5669280"/>
            <a:ext cx="11055096" cy="566928"/>
          </a:xfrm>
          <a:prstGeom prst="rect">
            <a:avLst/>
          </a:prstGeom>
          <a:noFill/>
          <a:ln/>
        </p:spPr>
        <p:txBody>
          <a:bodyPr wrap="square" lIns="0" tIns="0" rIns="0" bIns="0" rtlCol="0" anchor="t"/>
          <a:lstStyle/>
          <a:p>
            <a:pPr algn="l" indent="0" marL="0">
              <a:buNone/>
            </a:pPr>
            <a:r>
              <a:rPr lang="en-US" sz="1600" dirty="0">
                <a:solidFill>
                  <a:srgbClr val="1D3557"/>
                </a:solidFill>
                <a:latin typeface="Golos Text" pitchFamily="34" charset="0"/>
                <a:ea typeface="Golos Text" pitchFamily="34" charset="-122"/>
                <a:cs typeface="Golos Text" pitchFamily="34" charset="-120"/>
              </a:rPr>
              <a:t>«Тулпарда» бир окуучу көп: алтынчы окуучу 0 см секирсе да, сумма кичирейбейт. Окуучулардын саны башка болсо, сумманы салыштыруу адилетсиз. Эмне кылуу керек?</a:t>
            </a:r>
            <a:endParaRPr lang="en-US" sz="1600" dirty="0"/>
          </a:p>
        </p:txBody>
      </p:sp>
      <p:sp>
        <p:nvSpPr>
          <p:cNvPr id="37" name="Slide Number Placeholder 0"/>
          <p:cNvSpPr>
            <a:spLocks noGrp="1"/>
          </p:cNvSpPr>
          <p:nvPr>
            <p:ph type="sldNum" sz="quarter" idx="4294967295"/>
          </p:nvPr>
        </p:nvSpPr>
        <p:spPr>
          <a:xfrm>
            <a:off x="11384280" y="6492240"/>
            <a:ext cx="438912"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99AA"/>
                </a:solidFill>
                <a:latin typeface="Golos Text"/>
                <a:ea typeface="Golos Text"/>
                <a:cs typeface="Golos Text"/>
              </a:defRPr>
            </a:lvl1pPr>
          </a:lstStyle>
          <a:p>
            <a:pPr algn="r"/>
            <a:fld id="{F7021451-1387-4CA6-816F-3879F97B5CBC}" type="slidenum">
              <a:rPr b="0" lang="en-US"/>
              <a:t>6</a:t>
            </a:fld>
            <a:endParaRPr lang="en-US"/>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0"/>
                                        </p:tgtEl>
                                        <p:attrNameLst>
                                          <p:attrName>style.visibility</p:attrName>
                                        </p:attrNameLst>
                                      </p:cBhvr>
                                      <p:to>
                                        <p:strVal val="visible"/>
                                      </p:to>
                                    </p:set>
                                    <p:animEffect transition="in" filter="fade">
                                      <p:cBhvr>
                                        <p:cTn id="5" dur="600"/>
                                        <p:tgtEl>
                                          <p:spTgt spid="20"/>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1"/>
                                        </p:tgtEl>
                                        <p:attrNameLst>
                                          <p:attrName>style.visibility</p:attrName>
                                        </p:attrNameLst>
                                      </p:cBhvr>
                                      <p:to>
                                        <p:strVal val="visible"/>
                                      </p:to>
                                    </p:set>
                                    <p:animEffect transition="in" filter="fade">
                                      <p:cBhvr>
                                        <p:cTn id="8" dur="600"/>
                                        <p:tgtEl>
                                          <p:spTgt spid="2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600"/>
                                        <p:tgtEl>
                                          <p:spTgt spid="22"/>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600"/>
                                        <p:tgtEl>
                                          <p:spTgt spid="2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600"/>
                                        <p:tgtEl>
                                          <p:spTgt spid="2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600"/>
                                        <p:tgtEl>
                                          <p:spTgt spid="25"/>
                                        </p:tgtEl>
                                      </p:cBhvr>
                                    </p:animEffect>
                                  </p:childTnLst>
                                </p:cTn>
                              </p:par>
                            </p:childTnLst>
                          </p:cTn>
                        </p:par>
                      </p:childTnLst>
                    </p:cTn>
                  </p:par>
                  <p:par>
                    <p:cTn id="28" fill="hold">
                      <p:stCondLst>
                        <p:cond delay="indefinite"/>
                      </p:stCondLst>
                      <p:childTnLst>
                        <p:par>
                          <p:cTn id="29"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600"/>
                                        <p:tgtEl>
                                          <p:spTgt spid="26"/>
                                        </p:tgtEl>
                                      </p:cBhvr>
                                    </p:animEffect>
                                  </p:childTnLst>
                                </p:cTn>
                              </p:par>
                            </p:childTnLst>
                          </p:cTn>
                        </p:par>
                      </p:childTnLst>
                    </p:cTn>
                  </p:par>
                  <p:par>
                    <p:cTn id="39" fill="hold">
                      <p:stCondLst>
                        <p:cond delay="indefinite"/>
                      </p:stCondLst>
                      <p:childTnLst>
                        <p:par>
                          <p:cTn id="40"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600"/>
                                        <p:tgtEl>
                                          <p:spTgt spid="3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600"/>
                                        <p:tgtEl>
                                          <p:spTgt spid="3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fade">
                                      <p:cBhvr>
                                        <p:cTn id="38" dur="600"/>
                                        <p:tgtEl>
                                          <p:spTgt spid="36"/>
                                        </p:tgtEl>
                                      </p:cBhvr>
                                    </p:animEffect>
                                  </p:childTnLst>
                                </p:cTn>
                              </p:par>
                            </p:childTnLst>
                          </p:cTn>
                        </p:par>
                      </p:childTnLst>
                    </p:cTn>
                  </p:par>
                  <p:par>
                    <p:cTn id="50" fill="hold">
                      <p:stCondLst>
                        <p:cond delay="indefinite"/>
                      </p:stCondLst>
                      <p:childTnLst>
                        <p:par>
                          <p:cTn id="51"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6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6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600"/>
                                        <p:tgtEl>
                                          <p:spTgt spid="29"/>
                                        </p:tgtEl>
                                      </p:cBhvr>
                                    </p:animEffect>
                                  </p:childTnLst>
                                </p:cTn>
                              </p:par>
                            </p:childTnLst>
                          </p:cTn>
                        </p:par>
                      </p:childTnLst>
                    </p:cTn>
                  </p:par>
                  <p:par>
                    <p:cTn id="61" fill="hold">
                      <p:stCondLst>
                        <p:cond delay="indefinite"/>
                      </p:stCondLst>
                      <p:childTnLst>
                        <p:par>
                          <p:cTn id="62"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600"/>
                                        <p:tgtEl>
                                          <p:spTgt spid="3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fade">
                                      <p:cBhvr>
                                        <p:cTn id="57" dur="600"/>
                                        <p:tgtEl>
                                          <p:spTgt spid="3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fade">
                                      <p:cBhvr>
                                        <p:cTn id="60" dur="600"/>
                                        <p:tgtEl>
                                          <p:spTgt spid="32"/>
                                        </p:tgtEl>
                                      </p:cBhvr>
                                    </p:animEffect>
                                  </p:childTnLst>
                                </p:cTn>
                              </p:par>
                            </p:childTnLst>
                          </p:cTn>
                        </p:par>
                      </p:childTnLst>
                    </p:cTn>
                  </p:par>
                  <p:par>
                    <p:cTn id="66" fill="hold">
                      <p:stCondLst>
                        <p:cond delay="indefinite"/>
                      </p:stCondLst>
                      <p:childTnLst>
                        <p:par>
                          <p:cTn id="67"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6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4" grpId="0" animBg="1"/>
      <p:bldP spid="25" grpId="0" animBg="1"/>
      <p:bldP spid="26" grpId="0" animBg="1"/>
      <p:bldP spid="35" grpId="0" animBg="1"/>
      <p:bldP spid="36" grpId="0" animBg="1"/>
      <p:bldP spid="28" grpId="0" animBg="1"/>
      <p:bldP spid="29" grpId="0" animBg="1"/>
      <p:bldP spid="31" grpId="0" animBg="1"/>
      <p:bldP spid="32" grpId="0" animBg="1"/>
      <p:bldP spid="3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11457432" cy="640080"/>
          </a:xfrm>
          <a:prstGeom prst="roundRect">
            <a:avLst>
              <a:gd name="adj" fmla="val 22000"/>
            </a:avLst>
          </a:prstGeom>
          <a:solidFill>
            <a:srgbClr val="FFFFFF"/>
          </a:solidFill>
          <a:ln w="19050">
            <a:solidFill>
              <a:srgbClr val="1D3557"/>
            </a:solidFill>
            <a:prstDash val="solid"/>
          </a:ln>
        </p:spPr>
      </p:sp>
      <p:sp>
        <p:nvSpPr>
          <p:cNvPr id="3" name="Shape 1"/>
          <p:cNvSpPr/>
          <p:nvPr/>
        </p:nvSpPr>
        <p:spPr>
          <a:xfrm>
            <a:off x="557784" y="369418"/>
            <a:ext cx="70409" cy="358445"/>
          </a:xfrm>
          <a:prstGeom prst="roundRect">
            <a:avLst>
              <a:gd name="adj" fmla="val 50000"/>
            </a:avLst>
          </a:prstGeom>
          <a:solidFill>
            <a:srgbClr val="007A5A"/>
          </a:solidFill>
          <a:ln/>
        </p:spPr>
      </p:sp>
      <p:sp>
        <p:nvSpPr>
          <p:cNvPr id="4" name="Shape 2"/>
          <p:cNvSpPr/>
          <p:nvPr/>
        </p:nvSpPr>
        <p:spPr>
          <a:xfrm>
            <a:off x="691561" y="369418"/>
            <a:ext cx="70409" cy="358445"/>
          </a:xfrm>
          <a:prstGeom prst="roundRect">
            <a:avLst>
              <a:gd name="adj" fmla="val 50000"/>
            </a:avLst>
          </a:prstGeom>
          <a:solidFill>
            <a:srgbClr val="A84400"/>
          </a:solidFill>
          <a:ln/>
        </p:spPr>
      </p:sp>
      <p:sp>
        <p:nvSpPr>
          <p:cNvPr id="5" name="Shape 3"/>
          <p:cNvSpPr/>
          <p:nvPr/>
        </p:nvSpPr>
        <p:spPr>
          <a:xfrm>
            <a:off x="825337" y="369418"/>
            <a:ext cx="70409" cy="358445"/>
          </a:xfrm>
          <a:prstGeom prst="roundRect">
            <a:avLst>
              <a:gd name="adj" fmla="val 50000"/>
            </a:avLst>
          </a:prstGeom>
          <a:solidFill>
            <a:srgbClr val="24418C"/>
          </a:solidFill>
          <a:ln/>
        </p:spPr>
      </p:sp>
      <p:sp>
        <p:nvSpPr>
          <p:cNvPr id="6" name="Text 4"/>
          <p:cNvSpPr/>
          <p:nvPr/>
        </p:nvSpPr>
        <p:spPr>
          <a:xfrm>
            <a:off x="1096914" y="228600"/>
            <a:ext cx="7589520" cy="640080"/>
          </a:xfrm>
          <a:prstGeom prst="rect">
            <a:avLst/>
          </a:prstGeom>
          <a:noFill/>
          <a:ln/>
        </p:spPr>
        <p:txBody>
          <a:bodyPr wrap="square" lIns="0" tIns="0" rIns="0" bIns="0" rtlCol="0" anchor="ctr"/>
          <a:lstStyle/>
          <a:p>
            <a:pPr algn="l" indent="0" marL="0">
              <a:buNone/>
            </a:pPr>
            <a:r>
              <a:rPr lang="en-US" sz="2200" b="1" dirty="0">
                <a:solidFill>
                  <a:srgbClr val="1D3557"/>
                </a:solidFill>
                <a:latin typeface="Golos Text" pitchFamily="34" charset="0"/>
                <a:ea typeface="Golos Text" pitchFamily="34" charset="-122"/>
                <a:cs typeface="Golos Text" pitchFamily="34" charset="-120"/>
              </a:rPr>
              <a:t>Ыкмалар В жана Г: ортодогу, эң көп жана айырма</a:t>
            </a:r>
            <a:endParaRPr lang="en-US" sz="2200" dirty="0"/>
          </a:p>
        </p:txBody>
      </p:sp>
      <p:sp>
        <p:nvSpPr>
          <p:cNvPr id="7" name="Text 5"/>
          <p:cNvSpPr/>
          <p:nvPr/>
        </p:nvSpPr>
        <p:spPr>
          <a:xfrm>
            <a:off x="8778240" y="228600"/>
            <a:ext cx="2880360" cy="640080"/>
          </a:xfrm>
          <a:prstGeom prst="rect">
            <a:avLst/>
          </a:prstGeom>
          <a:noFill/>
          <a:ln/>
        </p:spPr>
        <p:txBody>
          <a:bodyPr wrap="square" lIns="0" tIns="0" rIns="0" bIns="0" rtlCol="0" anchor="ctr"/>
          <a:lstStyle/>
          <a:p>
            <a:pPr algn="r" indent="0" marL="0">
              <a:buNone/>
            </a:pPr>
            <a:r>
              <a:rPr lang="en-US" sz="1100" dirty="0">
                <a:solidFill>
                  <a:srgbClr val="4A5A70"/>
                </a:solidFill>
                <a:latin typeface="Golos Text" pitchFamily="34" charset="0"/>
                <a:ea typeface="Golos Text" pitchFamily="34" charset="-122"/>
                <a:cs typeface="Golos Text" pitchFamily="34" charset="-120"/>
              </a:rPr>
              <a:t>Статистика › Төрт өлчөм</a:t>
            </a:r>
            <a:endParaRPr lang="en-US" sz="1100" dirty="0"/>
          </a:p>
        </p:txBody>
      </p:sp>
      <p:sp>
        <p:nvSpPr>
          <p:cNvPr id="8" name="Text 6"/>
          <p:cNvSpPr/>
          <p:nvPr/>
        </p:nvSpPr>
        <p:spPr>
          <a:xfrm>
            <a:off x="411480" y="960120"/>
            <a:ext cx="8412480" cy="329184"/>
          </a:xfrm>
          <a:prstGeom prst="rect">
            <a:avLst/>
          </a:prstGeom>
          <a:noFill/>
          <a:ln/>
        </p:spPr>
        <p:txBody>
          <a:bodyPr wrap="square" lIns="0" tIns="0" rIns="0" bIns="0" rtlCol="0" anchor="t"/>
          <a:lstStyle/>
          <a:p>
            <a:pPr algn="l" indent="0" marL="0">
              <a:buNone/>
            </a:pPr>
            <a:r>
              <a:rPr lang="en-US" sz="1500" i="1" dirty="0">
                <a:solidFill>
                  <a:srgbClr val="4A5A70"/>
                </a:solidFill>
                <a:latin typeface="Golos Text" pitchFamily="34" charset="0"/>
                <a:ea typeface="Golos Text" pitchFamily="34" charset="-122"/>
                <a:cs typeface="Golos Text" pitchFamily="34" charset="-120"/>
              </a:rPr>
              <a:t>Чынгыз сандарды ирээттеди; Динара эң көп кездешкенди жана айырманы карады</a:t>
            </a:r>
            <a:endParaRPr lang="en-US" sz="1500" dirty="0"/>
          </a:p>
        </p:txBody>
      </p:sp>
      <p:sp>
        <p:nvSpPr>
          <p:cNvPr id="9" name="Text 7"/>
          <p:cNvSpPr/>
          <p:nvPr/>
        </p:nvSpPr>
        <p:spPr>
          <a:xfrm>
            <a:off x="8897112" y="969264"/>
            <a:ext cx="2926080" cy="310896"/>
          </a:xfrm>
          <a:prstGeom prst="rect">
            <a:avLst/>
          </a:prstGeom>
          <a:noFill/>
          <a:ln/>
        </p:spPr>
        <p:txBody>
          <a:bodyPr wrap="square" lIns="0" tIns="0" rIns="0" bIns="0" rtlCol="0" anchor="ctr"/>
          <a:lstStyle/>
          <a:p>
            <a:pPr algn="r" indent="0" marL="0">
              <a:buNone/>
            </a:pPr>
            <a:r>
              <a:rPr lang="en-US" sz="1200" dirty="0">
                <a:solidFill>
                  <a:srgbClr val="4A5A70"/>
                </a:solidFill>
                <a:latin typeface="Golos Text" pitchFamily="34" charset="0"/>
                <a:ea typeface="Golos Text" pitchFamily="34" charset="-122"/>
                <a:cs typeface="Golos Text" pitchFamily="34" charset="-120"/>
              </a:rPr>
              <a:t>Салыштыруу · 2 мүн</a:t>
            </a:r>
            <a:endParaRPr lang="en-US" sz="1200" dirty="0"/>
          </a:p>
        </p:txBody>
      </p:sp>
      <p:sp>
        <p:nvSpPr>
          <p:cNvPr id="10" name="Text 8"/>
          <p:cNvSpPr/>
          <p:nvPr/>
        </p:nvSpPr>
        <p:spPr>
          <a:xfrm>
            <a:off x="365760" y="6492240"/>
            <a:ext cx="5486400" cy="228600"/>
          </a:xfrm>
          <a:prstGeom prst="rect">
            <a:avLst/>
          </a:prstGeom>
          <a:noFill/>
          <a:ln/>
        </p:spPr>
        <p:txBody>
          <a:bodyPr wrap="square" lIns="0" tIns="0" rIns="0" bIns="0" rtlCol="0" anchor="t"/>
          <a:lstStyle/>
          <a:p>
            <a:pPr algn="l" indent="0" marL="0">
              <a:buNone/>
            </a:pPr>
            <a:r>
              <a:rPr lang="en-US" sz="900" dirty="0">
                <a:solidFill>
                  <a:srgbClr val="8D99AA"/>
                </a:solidFill>
                <a:latin typeface="Golos Text" pitchFamily="34" charset="0"/>
                <a:ea typeface="Golos Text" pitchFamily="34" charset="-122"/>
                <a:cs typeface="Golos Text" pitchFamily="34" charset="-120"/>
              </a:rPr>
              <a:t>MathKG · Математика кыргызча</a:t>
            </a:r>
            <a:endParaRPr lang="en-US" sz="900" dirty="0"/>
          </a:p>
        </p:txBody>
      </p:sp>
      <p:sp>
        <p:nvSpPr>
          <p:cNvPr id="11" name="Text 9"/>
          <p:cNvSpPr/>
          <p:nvPr/>
        </p:nvSpPr>
        <p:spPr>
          <a:xfrm>
            <a:off x="7680960" y="6492240"/>
            <a:ext cx="3657600" cy="228600"/>
          </a:xfrm>
          <a:prstGeom prst="rect">
            <a:avLst/>
          </a:prstGeom>
          <a:noFill/>
          <a:ln/>
        </p:spPr>
        <p:txBody>
          <a:bodyPr wrap="square" lIns="0" tIns="0" rIns="0" bIns="0" rtlCol="0" anchor="t"/>
          <a:lstStyle/>
          <a:p>
            <a:pPr algn="r" indent="0" marL="0">
              <a:buNone/>
            </a:pPr>
            <a:r>
              <a:rPr lang="en-US" sz="900" dirty="0">
                <a:solidFill>
                  <a:srgbClr val="8D99AA"/>
                </a:solidFill>
                <a:latin typeface="Golos Text" pitchFamily="34" charset="0"/>
                <a:ea typeface="Golos Text" pitchFamily="34" charset="-122"/>
                <a:cs typeface="Golos Text" pitchFamily="34" charset="-120"/>
              </a:rPr>
              <a:t>MathKG ыкмасы · 2 мүн</a:t>
            </a:r>
            <a:endParaRPr lang="en-US" sz="900" dirty="0"/>
          </a:p>
        </p:txBody>
      </p:sp>
      <p:sp>
        <p:nvSpPr>
          <p:cNvPr id="12" name="Shape 10"/>
          <p:cNvSpPr/>
          <p:nvPr/>
        </p:nvSpPr>
        <p:spPr>
          <a:xfrm>
            <a:off x="365760" y="1463040"/>
            <a:ext cx="6675120" cy="4846320"/>
          </a:xfrm>
          <a:prstGeom prst="roundRect">
            <a:avLst>
              <a:gd name="adj" fmla="val 5000"/>
            </a:avLst>
          </a:prstGeom>
          <a:solidFill>
            <a:srgbClr val="FFFFFF"/>
          </a:solidFill>
          <a:ln w="22225">
            <a:solidFill>
              <a:srgbClr val="24418C"/>
            </a:solidFill>
            <a:prstDash val="solid"/>
          </a:ln>
        </p:spPr>
      </p:sp>
      <p:sp>
        <p:nvSpPr>
          <p:cNvPr id="13" name="Text 11"/>
          <p:cNvSpPr/>
          <p:nvPr/>
        </p:nvSpPr>
        <p:spPr>
          <a:xfrm>
            <a:off x="548640" y="1600200"/>
            <a:ext cx="502920" cy="502920"/>
          </a:xfrm>
          <a:prstGeom prst="roundRect">
            <a:avLst>
              <a:gd name="adj" fmla="val 50000"/>
            </a:avLst>
          </a:prstGeom>
          <a:solidFill>
            <a:srgbClr val="24418C"/>
          </a:solidFill>
          <a:ln w="19050">
            <a:solidFill>
              <a:srgbClr val="24418C"/>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В</a:t>
            </a:r>
            <a:endParaRPr lang="en-US" sz="1600" dirty="0"/>
          </a:p>
        </p:txBody>
      </p:sp>
      <p:sp>
        <p:nvSpPr>
          <p:cNvPr id="14" name="Text 12"/>
          <p:cNvSpPr/>
          <p:nvPr/>
        </p:nvSpPr>
        <p:spPr>
          <a:xfrm>
            <a:off x="1188720" y="1600200"/>
            <a:ext cx="5669280" cy="502920"/>
          </a:xfrm>
          <a:prstGeom prst="rect">
            <a:avLst/>
          </a:prstGeom>
          <a:noFill/>
          <a:ln/>
        </p:spPr>
        <p:txBody>
          <a:bodyPr wrap="square" lIns="0" tIns="0" rIns="0" bIns="0" rtlCol="0" anchor="ctr"/>
          <a:lstStyle/>
          <a:p>
            <a:pPr algn="l" indent="0" marL="0">
              <a:buNone/>
            </a:pPr>
            <a:r>
              <a:rPr lang="en-US" sz="1800" b="1" dirty="0">
                <a:solidFill>
                  <a:srgbClr val="1D3557"/>
                </a:solidFill>
                <a:latin typeface="Golos Text" pitchFamily="34" charset="0"/>
                <a:ea typeface="Golos Text" pitchFamily="34" charset="-122"/>
                <a:cs typeface="Golos Text" pitchFamily="34" charset="-120"/>
              </a:rPr>
              <a:t>Чынгыз: ирээттеп, ортодогуну тапты</a:t>
            </a:r>
            <a:endParaRPr lang="en-US" sz="1800" dirty="0"/>
          </a:p>
        </p:txBody>
      </p:sp>
      <p:sp>
        <p:nvSpPr>
          <p:cNvPr id="15" name="Text 13"/>
          <p:cNvSpPr/>
          <p:nvPr/>
        </p:nvSpPr>
        <p:spPr>
          <a:xfrm>
            <a:off x="594360" y="2286000"/>
            <a:ext cx="1463040" cy="548640"/>
          </a:xfrm>
          <a:prstGeom prst="rect">
            <a:avLst/>
          </a:prstGeom>
          <a:noFill/>
          <a:ln/>
        </p:spPr>
        <p:txBody>
          <a:bodyPr wrap="square" lIns="0" tIns="0" rIns="0" bIns="0" rtlCol="0" anchor="ctr"/>
          <a:lstStyle/>
          <a:p>
            <a:pPr algn="l" indent="0" marL="0">
              <a:buNone/>
            </a:pPr>
            <a:r>
              <a:rPr lang="en-US" sz="1600" b="1" dirty="0">
                <a:solidFill>
                  <a:srgbClr val="007A5A"/>
                </a:solidFill>
                <a:latin typeface="Golos Text" pitchFamily="34" charset="0"/>
                <a:ea typeface="Golos Text" pitchFamily="34" charset="-122"/>
                <a:cs typeface="Golos Text" pitchFamily="34" charset="-120"/>
              </a:rPr>
              <a:t>«Шумкар»</a:t>
            </a:r>
            <a:endParaRPr lang="en-US" sz="1600" dirty="0"/>
          </a:p>
        </p:txBody>
      </p:sp>
      <p:sp>
        <p:nvSpPr>
          <p:cNvPr id="16" name="anim1_s"/>
          <p:cNvSpPr/>
          <p:nvPr/>
        </p:nvSpPr>
        <p:spPr>
          <a:xfrm>
            <a:off x="2103120" y="2286000"/>
            <a:ext cx="868680" cy="54864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1800" b="1" dirty="0">
                <a:solidFill>
                  <a:srgbClr val="1D3557"/>
                </a:solidFill>
                <a:latin typeface="Golos Text" pitchFamily="34" charset="0"/>
                <a:ea typeface="Golos Text" pitchFamily="34" charset="-122"/>
                <a:cs typeface="Golos Text" pitchFamily="34" charset="-120"/>
              </a:rPr>
              <a:t>280</a:t>
            </a:r>
            <a:endParaRPr lang="en-US" sz="1800" dirty="0"/>
          </a:p>
        </p:txBody>
      </p:sp>
      <p:sp>
        <p:nvSpPr>
          <p:cNvPr id="17" name="anim1_s"/>
          <p:cNvSpPr/>
          <p:nvPr/>
        </p:nvSpPr>
        <p:spPr>
          <a:xfrm>
            <a:off x="3081528" y="2286000"/>
            <a:ext cx="868680" cy="54864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1800" b="1" dirty="0">
                <a:solidFill>
                  <a:srgbClr val="1D3557"/>
                </a:solidFill>
                <a:latin typeface="Golos Text" pitchFamily="34" charset="0"/>
                <a:ea typeface="Golos Text" pitchFamily="34" charset="-122"/>
                <a:cs typeface="Golos Text" pitchFamily="34" charset="-120"/>
              </a:rPr>
              <a:t>300</a:t>
            </a:r>
            <a:endParaRPr lang="en-US" sz="1800" dirty="0"/>
          </a:p>
        </p:txBody>
      </p:sp>
      <p:sp>
        <p:nvSpPr>
          <p:cNvPr id="18" name="anim1_s"/>
          <p:cNvSpPr/>
          <p:nvPr/>
        </p:nvSpPr>
        <p:spPr>
          <a:xfrm>
            <a:off x="4059936" y="2286000"/>
            <a:ext cx="868680" cy="54864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1800" b="1" dirty="0">
                <a:solidFill>
                  <a:srgbClr val="1D3557"/>
                </a:solidFill>
                <a:latin typeface="Golos Text" pitchFamily="34" charset="0"/>
                <a:ea typeface="Golos Text" pitchFamily="34" charset="-122"/>
                <a:cs typeface="Golos Text" pitchFamily="34" charset="-120"/>
              </a:rPr>
              <a:t>300</a:t>
            </a:r>
            <a:endParaRPr lang="en-US" sz="1800" dirty="0"/>
          </a:p>
        </p:txBody>
      </p:sp>
      <p:sp>
        <p:nvSpPr>
          <p:cNvPr id="19" name="anim1_s"/>
          <p:cNvSpPr/>
          <p:nvPr/>
        </p:nvSpPr>
        <p:spPr>
          <a:xfrm>
            <a:off x="5038344" y="2286000"/>
            <a:ext cx="868680" cy="54864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1800" b="1" dirty="0">
                <a:solidFill>
                  <a:srgbClr val="1D3557"/>
                </a:solidFill>
                <a:latin typeface="Golos Text" pitchFamily="34" charset="0"/>
                <a:ea typeface="Golos Text" pitchFamily="34" charset="-122"/>
                <a:cs typeface="Golos Text" pitchFamily="34" charset="-120"/>
              </a:rPr>
              <a:t>310</a:t>
            </a:r>
            <a:endParaRPr lang="en-US" sz="1800" dirty="0"/>
          </a:p>
        </p:txBody>
      </p:sp>
      <p:sp>
        <p:nvSpPr>
          <p:cNvPr id="20" name="anim1_s"/>
          <p:cNvSpPr/>
          <p:nvPr/>
        </p:nvSpPr>
        <p:spPr>
          <a:xfrm>
            <a:off x="6016752" y="2286000"/>
            <a:ext cx="868680" cy="54864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1800" b="1" dirty="0">
                <a:solidFill>
                  <a:srgbClr val="1D3557"/>
                </a:solidFill>
                <a:latin typeface="Golos Text" pitchFamily="34" charset="0"/>
                <a:ea typeface="Golos Text" pitchFamily="34" charset="-122"/>
                <a:cs typeface="Golos Text" pitchFamily="34" charset="-120"/>
              </a:rPr>
              <a:t>360</a:t>
            </a:r>
            <a:endParaRPr lang="en-US" sz="1800" dirty="0"/>
          </a:p>
        </p:txBody>
      </p:sp>
      <p:sp>
        <p:nvSpPr>
          <p:cNvPr id="21" name="anim1_s"/>
          <p:cNvSpPr/>
          <p:nvPr/>
        </p:nvSpPr>
        <p:spPr>
          <a:xfrm>
            <a:off x="3995928" y="2221992"/>
            <a:ext cx="996696" cy="676656"/>
          </a:xfrm>
          <a:prstGeom prst="roundRect">
            <a:avLst>
              <a:gd name="adj" fmla="val 15000"/>
            </a:avLst>
          </a:prstGeom>
          <a:ln w="38100">
            <a:solidFill>
              <a:srgbClr val="007A5A"/>
            </a:solidFill>
            <a:prstDash val="solid"/>
          </a:ln>
        </p:spPr>
      </p:sp>
      <p:sp>
        <p:nvSpPr>
          <p:cNvPr id="22" name="anim2_s"/>
          <p:cNvSpPr/>
          <p:nvPr/>
        </p:nvSpPr>
        <p:spPr>
          <a:xfrm>
            <a:off x="2103120" y="2926080"/>
            <a:ext cx="4754880" cy="365760"/>
          </a:xfrm>
          <a:prstGeom prst="rect">
            <a:avLst/>
          </a:prstGeom>
          <a:noFill/>
          <a:ln/>
        </p:spPr>
        <p:txBody>
          <a:bodyPr wrap="square" lIns="0" tIns="0" rIns="0" bIns="0" rtlCol="0" anchor="t"/>
          <a:lstStyle/>
          <a:p>
            <a:pPr algn="l" indent="0" marL="0">
              <a:buNone/>
            </a:pPr>
            <a:r>
              <a:rPr lang="en-US" sz="1600" b="1" dirty="0">
                <a:solidFill>
                  <a:srgbClr val="007A5A"/>
                </a:solidFill>
                <a:latin typeface="Golos Text" pitchFamily="34" charset="0"/>
                <a:ea typeface="Golos Text" pitchFamily="34" charset="-122"/>
                <a:cs typeface="Golos Text" pitchFamily="34" charset="-120"/>
              </a:rPr>
              <a:t>5 сан → 3-сан: 300</a:t>
            </a:r>
            <a:endParaRPr lang="en-US" sz="1600" dirty="0"/>
          </a:p>
        </p:txBody>
      </p:sp>
      <p:sp>
        <p:nvSpPr>
          <p:cNvPr id="23" name="Text 21"/>
          <p:cNvSpPr/>
          <p:nvPr/>
        </p:nvSpPr>
        <p:spPr>
          <a:xfrm>
            <a:off x="594360" y="3474720"/>
            <a:ext cx="1463040" cy="548640"/>
          </a:xfrm>
          <a:prstGeom prst="rect">
            <a:avLst/>
          </a:prstGeom>
          <a:noFill/>
          <a:ln/>
        </p:spPr>
        <p:txBody>
          <a:bodyPr wrap="square" lIns="0" tIns="0" rIns="0" bIns="0" rtlCol="0" anchor="ctr"/>
          <a:lstStyle/>
          <a:p>
            <a:pPr algn="l" indent="0" marL="0">
              <a:buNone/>
            </a:pPr>
            <a:r>
              <a:rPr lang="en-US" sz="1600" b="1" dirty="0">
                <a:solidFill>
                  <a:srgbClr val="24418C"/>
                </a:solidFill>
                <a:latin typeface="Golos Text" pitchFamily="34" charset="0"/>
                <a:ea typeface="Golos Text" pitchFamily="34" charset="-122"/>
                <a:cs typeface="Golos Text" pitchFamily="34" charset="-120"/>
              </a:rPr>
              <a:t>«Тулпар»</a:t>
            </a:r>
            <a:endParaRPr lang="en-US" sz="1600" dirty="0"/>
          </a:p>
        </p:txBody>
      </p:sp>
      <p:sp>
        <p:nvSpPr>
          <p:cNvPr id="24" name="anim3_t"/>
          <p:cNvSpPr/>
          <p:nvPr/>
        </p:nvSpPr>
        <p:spPr>
          <a:xfrm>
            <a:off x="2103120" y="3474720"/>
            <a:ext cx="713232" cy="54864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1700" b="1" dirty="0">
                <a:solidFill>
                  <a:srgbClr val="1D3557"/>
                </a:solidFill>
                <a:latin typeface="Golos Text" pitchFamily="34" charset="0"/>
                <a:ea typeface="Golos Text" pitchFamily="34" charset="-122"/>
                <a:cs typeface="Golos Text" pitchFamily="34" charset="-120"/>
              </a:rPr>
              <a:t>220</a:t>
            </a:r>
            <a:endParaRPr lang="en-US" sz="1700" dirty="0"/>
          </a:p>
        </p:txBody>
      </p:sp>
      <p:sp>
        <p:nvSpPr>
          <p:cNvPr id="25" name="anim3_t"/>
          <p:cNvSpPr/>
          <p:nvPr/>
        </p:nvSpPr>
        <p:spPr>
          <a:xfrm>
            <a:off x="2907792" y="3474720"/>
            <a:ext cx="713232" cy="54864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1700" b="1" dirty="0">
                <a:solidFill>
                  <a:srgbClr val="1D3557"/>
                </a:solidFill>
                <a:latin typeface="Golos Text" pitchFamily="34" charset="0"/>
                <a:ea typeface="Golos Text" pitchFamily="34" charset="-122"/>
                <a:cs typeface="Golos Text" pitchFamily="34" charset="-120"/>
              </a:rPr>
              <a:t>280</a:t>
            </a:r>
            <a:endParaRPr lang="en-US" sz="1700" dirty="0"/>
          </a:p>
        </p:txBody>
      </p:sp>
      <p:sp>
        <p:nvSpPr>
          <p:cNvPr id="26" name="anim3_t"/>
          <p:cNvSpPr/>
          <p:nvPr/>
        </p:nvSpPr>
        <p:spPr>
          <a:xfrm>
            <a:off x="3712464" y="3474720"/>
            <a:ext cx="713232" cy="54864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1700" b="1" dirty="0">
                <a:solidFill>
                  <a:srgbClr val="1D3557"/>
                </a:solidFill>
                <a:latin typeface="Golos Text" pitchFamily="34" charset="0"/>
                <a:ea typeface="Golos Text" pitchFamily="34" charset="-122"/>
                <a:cs typeface="Golos Text" pitchFamily="34" charset="-120"/>
              </a:rPr>
              <a:t>310</a:t>
            </a:r>
            <a:endParaRPr lang="en-US" sz="1700" dirty="0"/>
          </a:p>
        </p:txBody>
      </p:sp>
      <p:sp>
        <p:nvSpPr>
          <p:cNvPr id="27" name="anim3_t"/>
          <p:cNvSpPr/>
          <p:nvPr/>
        </p:nvSpPr>
        <p:spPr>
          <a:xfrm>
            <a:off x="4517136" y="3474720"/>
            <a:ext cx="713232" cy="54864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1700" b="1" dirty="0">
                <a:solidFill>
                  <a:srgbClr val="1D3557"/>
                </a:solidFill>
                <a:latin typeface="Golos Text" pitchFamily="34" charset="0"/>
                <a:ea typeface="Golos Text" pitchFamily="34" charset="-122"/>
                <a:cs typeface="Golos Text" pitchFamily="34" charset="-120"/>
              </a:rPr>
              <a:t>320</a:t>
            </a:r>
            <a:endParaRPr lang="en-US" sz="1700" dirty="0"/>
          </a:p>
        </p:txBody>
      </p:sp>
      <p:sp>
        <p:nvSpPr>
          <p:cNvPr id="28" name="anim3_t"/>
          <p:cNvSpPr/>
          <p:nvPr/>
        </p:nvSpPr>
        <p:spPr>
          <a:xfrm>
            <a:off x="5321808" y="3474720"/>
            <a:ext cx="713232" cy="54864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1700" b="1" dirty="0">
                <a:solidFill>
                  <a:srgbClr val="1D3557"/>
                </a:solidFill>
                <a:latin typeface="Golos Text" pitchFamily="34" charset="0"/>
                <a:ea typeface="Golos Text" pitchFamily="34" charset="-122"/>
                <a:cs typeface="Golos Text" pitchFamily="34" charset="-120"/>
              </a:rPr>
              <a:t>335</a:t>
            </a:r>
            <a:endParaRPr lang="en-US" sz="1700" dirty="0"/>
          </a:p>
        </p:txBody>
      </p:sp>
      <p:sp>
        <p:nvSpPr>
          <p:cNvPr id="29" name="anim3_t"/>
          <p:cNvSpPr/>
          <p:nvPr/>
        </p:nvSpPr>
        <p:spPr>
          <a:xfrm>
            <a:off x="6126480" y="3474720"/>
            <a:ext cx="713232" cy="54864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1700" b="1" dirty="0">
                <a:solidFill>
                  <a:srgbClr val="1D3557"/>
                </a:solidFill>
                <a:latin typeface="Golos Text" pitchFamily="34" charset="0"/>
                <a:ea typeface="Golos Text" pitchFamily="34" charset="-122"/>
                <a:cs typeface="Golos Text" pitchFamily="34" charset="-120"/>
              </a:rPr>
              <a:t>335</a:t>
            </a:r>
            <a:endParaRPr lang="en-US" sz="1700" dirty="0"/>
          </a:p>
        </p:txBody>
      </p:sp>
      <p:sp>
        <p:nvSpPr>
          <p:cNvPr id="30" name="anim3_t"/>
          <p:cNvSpPr/>
          <p:nvPr/>
        </p:nvSpPr>
        <p:spPr>
          <a:xfrm>
            <a:off x="3648456" y="3410712"/>
            <a:ext cx="1645920" cy="676656"/>
          </a:xfrm>
          <a:prstGeom prst="roundRect">
            <a:avLst>
              <a:gd name="adj" fmla="val 15000"/>
            </a:avLst>
          </a:prstGeom>
          <a:ln w="38100">
            <a:solidFill>
              <a:srgbClr val="A84400"/>
            </a:solidFill>
            <a:prstDash val="solid"/>
          </a:ln>
        </p:spPr>
      </p:sp>
      <p:sp>
        <p:nvSpPr>
          <p:cNvPr id="31" name="anim3_t"/>
          <p:cNvSpPr/>
          <p:nvPr/>
        </p:nvSpPr>
        <p:spPr>
          <a:xfrm>
            <a:off x="2103120" y="4114800"/>
            <a:ext cx="4846320" cy="365760"/>
          </a:xfrm>
          <a:prstGeom prst="rect">
            <a:avLst/>
          </a:prstGeom>
          <a:noFill/>
          <a:ln/>
        </p:spPr>
        <p:txBody>
          <a:bodyPr wrap="square" lIns="0" tIns="0" rIns="0" bIns="0" rtlCol="0" anchor="t"/>
          <a:lstStyle/>
          <a:p>
            <a:pPr algn="l" indent="0" marL="0">
              <a:buNone/>
            </a:pPr>
            <a:r>
              <a:rPr lang="en-US" sz="1500" b="1" dirty="0">
                <a:solidFill>
                  <a:srgbClr val="A84400"/>
                </a:solidFill>
                <a:latin typeface="Golos Text" pitchFamily="34" charset="0"/>
                <a:ea typeface="Golos Text" pitchFamily="34" charset="-122"/>
                <a:cs typeface="Golos Text" pitchFamily="34" charset="-120"/>
              </a:rPr>
              <a:t>6 сан → ортодо эки сан: 310 жана 320</a:t>
            </a:r>
            <a:endParaRPr lang="en-US" sz="1500" dirty="0"/>
          </a:p>
        </p:txBody>
      </p:sp>
      <p:sp>
        <p:nvSpPr>
          <p:cNvPr id="32" name="anim4_t"/>
          <p:cNvSpPr/>
          <p:nvPr/>
        </p:nvSpPr>
        <p:spPr>
          <a:xfrm>
            <a:off x="594360" y="4617720"/>
            <a:ext cx="6217920" cy="640080"/>
          </a:xfrm>
          <a:prstGeom prst="roundRect">
            <a:avLst>
              <a:gd name="adj" fmla="val 30000"/>
            </a:avLst>
          </a:prstGeom>
          <a:solidFill>
            <a:srgbClr val="D1E7E1"/>
          </a:solidFill>
          <a:ln w="28575">
            <a:solidFill>
              <a:srgbClr val="007A5A"/>
            </a:solidFill>
            <a:prstDash val="solid"/>
          </a:ln>
        </p:spPr>
        <p:txBody>
          <a:bodyPr wrap="square" lIns="76200" tIns="76200" rIns="76200" bIns="76200" rtlCol="0" anchor="ctr"/>
          <a:lstStyle/>
          <a:p>
            <a:pPr algn="ctr" indent="0" marL="0">
              <a:buNone/>
            </a:pPr>
            <a:r>
              <a:rPr lang="en-US" sz="2200" b="1" dirty="0">
                <a:solidFill>
                  <a:srgbClr val="007A5A"/>
                </a:solidFill>
                <a:latin typeface="Golos Text" pitchFamily="34" charset="0"/>
                <a:ea typeface="Golos Text" pitchFamily="34" charset="-122"/>
                <a:cs typeface="Golos Text" pitchFamily="34" charset="-120"/>
              </a:rPr>
              <a:t>(310 + 320) : 2 = 315</a:t>
            </a:r>
            <a:endParaRPr lang="en-US" sz="2200" dirty="0"/>
          </a:p>
        </p:txBody>
      </p:sp>
      <p:sp>
        <p:nvSpPr>
          <p:cNvPr id="33" name="anim4_t"/>
          <p:cNvSpPr/>
          <p:nvPr/>
        </p:nvSpPr>
        <p:spPr>
          <a:xfrm>
            <a:off x="594360" y="5394960"/>
            <a:ext cx="6217920" cy="731520"/>
          </a:xfrm>
          <a:prstGeom prst="rect">
            <a:avLst/>
          </a:prstGeom>
          <a:noFill/>
          <a:ln/>
        </p:spPr>
        <p:txBody>
          <a:bodyPr wrap="square" lIns="0" tIns="0" rIns="0" bIns="0" rtlCol="0" anchor="ctr"/>
          <a:lstStyle/>
          <a:p>
            <a:pPr algn="l" indent="0" marL="0">
              <a:buNone/>
            </a:pPr>
            <a:r>
              <a:rPr lang="en-US" sz="1600" b="1" dirty="0">
                <a:solidFill>
                  <a:srgbClr val="1D3557"/>
                </a:solidFill>
                <a:latin typeface="Golos Text" pitchFamily="34" charset="0"/>
                <a:ea typeface="Golos Text" pitchFamily="34" charset="-122"/>
                <a:cs typeface="Golos Text" pitchFamily="34" charset="-120"/>
              </a:rPr>
              <a:t>Ортодогу окуучу: «Шумкар» 300, «Тулпар» 315 — «Тулпар» алдыда.</a:t>
            </a:r>
            <a:endParaRPr lang="en-US" sz="1600" dirty="0"/>
          </a:p>
        </p:txBody>
      </p:sp>
      <p:sp>
        <p:nvSpPr>
          <p:cNvPr id="34" name="Shape 32"/>
          <p:cNvSpPr/>
          <p:nvPr/>
        </p:nvSpPr>
        <p:spPr>
          <a:xfrm>
            <a:off x="7223760" y="1463040"/>
            <a:ext cx="4599432" cy="4846320"/>
          </a:xfrm>
          <a:prstGeom prst="roundRect">
            <a:avLst>
              <a:gd name="adj" fmla="val 5000"/>
            </a:avLst>
          </a:prstGeom>
          <a:solidFill>
            <a:srgbClr val="FFFFFF"/>
          </a:solidFill>
          <a:ln w="22225">
            <a:solidFill>
              <a:srgbClr val="A84400"/>
            </a:solidFill>
            <a:prstDash val="solid"/>
          </a:ln>
        </p:spPr>
      </p:sp>
      <p:sp>
        <p:nvSpPr>
          <p:cNvPr id="35" name="Text 33"/>
          <p:cNvSpPr/>
          <p:nvPr/>
        </p:nvSpPr>
        <p:spPr>
          <a:xfrm>
            <a:off x="7406640" y="1600200"/>
            <a:ext cx="502920" cy="502920"/>
          </a:xfrm>
          <a:prstGeom prst="roundRect">
            <a:avLst>
              <a:gd name="adj" fmla="val 50000"/>
            </a:avLst>
          </a:prstGeom>
          <a:solidFill>
            <a:srgbClr val="A84400"/>
          </a:solidFill>
          <a:ln w="19050">
            <a:solidFill>
              <a:srgbClr val="A84400"/>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Г</a:t>
            </a:r>
            <a:endParaRPr lang="en-US" sz="1600" dirty="0"/>
          </a:p>
        </p:txBody>
      </p:sp>
      <p:sp>
        <p:nvSpPr>
          <p:cNvPr id="36" name="Text 34"/>
          <p:cNvSpPr/>
          <p:nvPr/>
        </p:nvSpPr>
        <p:spPr>
          <a:xfrm>
            <a:off x="8046720" y="1600200"/>
            <a:ext cx="3657600" cy="502920"/>
          </a:xfrm>
          <a:prstGeom prst="rect">
            <a:avLst/>
          </a:prstGeom>
          <a:noFill/>
          <a:ln/>
        </p:spPr>
        <p:txBody>
          <a:bodyPr wrap="square" lIns="0" tIns="0" rIns="0" bIns="0" rtlCol="0" anchor="ctr"/>
          <a:lstStyle/>
          <a:p>
            <a:pPr algn="l" indent="0" marL="0">
              <a:buNone/>
            </a:pPr>
            <a:r>
              <a:rPr lang="en-US" sz="1800" b="1" dirty="0">
                <a:solidFill>
                  <a:srgbClr val="1D3557"/>
                </a:solidFill>
                <a:latin typeface="Golos Text" pitchFamily="34" charset="0"/>
                <a:ea typeface="Golos Text" pitchFamily="34" charset="-122"/>
                <a:cs typeface="Golos Text" pitchFamily="34" charset="-120"/>
              </a:rPr>
              <a:t>Динара: эң көп жана айырма</a:t>
            </a:r>
            <a:endParaRPr lang="en-US" sz="1800" dirty="0"/>
          </a:p>
        </p:txBody>
      </p:sp>
      <p:sp>
        <p:nvSpPr>
          <p:cNvPr id="37" name="Text 35"/>
          <p:cNvSpPr/>
          <p:nvPr/>
        </p:nvSpPr>
        <p:spPr>
          <a:xfrm>
            <a:off x="7452360" y="2286000"/>
            <a:ext cx="4114800" cy="274320"/>
          </a:xfrm>
          <a:prstGeom prst="rect">
            <a:avLst/>
          </a:prstGeom>
          <a:noFill/>
          <a:ln/>
        </p:spPr>
        <p:txBody>
          <a:bodyPr wrap="square" lIns="0" tIns="0" rIns="0" bIns="0" rtlCol="0" anchor="t"/>
          <a:lstStyle/>
          <a:p>
            <a:pPr algn="l" indent="0" marL="0">
              <a:buNone/>
            </a:pPr>
            <a:r>
              <a:rPr lang="en-US" sz="1300" b="1" dirty="0">
                <a:solidFill>
                  <a:srgbClr val="4A5A70"/>
                </a:solidFill>
                <a:latin typeface="Golos Text" pitchFamily="34" charset="0"/>
                <a:ea typeface="Golos Text" pitchFamily="34" charset="-122"/>
                <a:cs typeface="Golos Text" pitchFamily="34" charset="-120"/>
              </a:rPr>
              <a:t>ЭҢ КӨП КЕЗДЕШКЕН</a:t>
            </a:r>
            <a:endParaRPr lang="en-US" sz="1300" dirty="0"/>
          </a:p>
        </p:txBody>
      </p:sp>
      <p:sp>
        <p:nvSpPr>
          <p:cNvPr id="38" name="anim5_m"/>
          <p:cNvSpPr/>
          <p:nvPr/>
        </p:nvSpPr>
        <p:spPr>
          <a:xfrm>
            <a:off x="7406640" y="2606040"/>
            <a:ext cx="4233672" cy="548640"/>
          </a:xfrm>
          <a:prstGeom prst="roundRect">
            <a:avLst>
              <a:gd name="adj" fmla="val 25000"/>
            </a:avLst>
          </a:prstGeom>
          <a:solidFill>
            <a:srgbClr val="FFFFFF"/>
          </a:solidFill>
          <a:ln w="15875">
            <a:solidFill>
              <a:srgbClr val="E7EAF2"/>
            </a:solidFill>
            <a:prstDash val="solid"/>
          </a:ln>
        </p:spPr>
      </p:sp>
      <p:sp>
        <p:nvSpPr>
          <p:cNvPr id="39" name="anim5_m"/>
          <p:cNvSpPr/>
          <p:nvPr/>
        </p:nvSpPr>
        <p:spPr>
          <a:xfrm>
            <a:off x="7516368" y="2670048"/>
            <a:ext cx="420624" cy="420624"/>
          </a:xfrm>
          <a:prstGeom prst="roundRect">
            <a:avLst>
              <a:gd name="adj" fmla="val 50000"/>
            </a:avLst>
          </a:prstGeom>
          <a:solidFill>
            <a:srgbClr val="007A5A"/>
          </a:solidFill>
          <a:ln w="19050">
            <a:solidFill>
              <a:srgbClr val="007A5A"/>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1</a:t>
            </a:r>
            <a:endParaRPr lang="en-US" sz="1600" dirty="0"/>
          </a:p>
        </p:txBody>
      </p:sp>
      <p:sp>
        <p:nvSpPr>
          <p:cNvPr id="40" name="anim5_m"/>
          <p:cNvSpPr/>
          <p:nvPr/>
        </p:nvSpPr>
        <p:spPr>
          <a:xfrm>
            <a:off x="8065008" y="2606040"/>
            <a:ext cx="3456432" cy="548640"/>
          </a:xfrm>
          <a:prstGeom prst="rect">
            <a:avLst/>
          </a:prstGeom>
          <a:noFill/>
          <a:ln/>
        </p:spPr>
        <p:txBody>
          <a:bodyPr wrap="square" lIns="0" tIns="0" rIns="0" bIns="0" rtlCol="0" anchor="ctr"/>
          <a:lstStyle/>
          <a:p>
            <a:pPr algn="l" indent="0" marL="0">
              <a:buNone/>
            </a:pPr>
            <a:r>
              <a:rPr lang="en-US" sz="1600" dirty="0">
                <a:solidFill>
                  <a:srgbClr val="1D3557"/>
                </a:solidFill>
                <a:latin typeface="Golos Text" pitchFamily="34" charset="0"/>
                <a:ea typeface="Golos Text" pitchFamily="34" charset="-122"/>
                <a:cs typeface="Golos Text" pitchFamily="34" charset="-120"/>
              </a:rPr>
              <a:t>«Шумкар»: 300 (2 жолу)</a:t>
            </a:r>
            <a:endParaRPr lang="en-US" sz="1600" dirty="0"/>
          </a:p>
        </p:txBody>
      </p:sp>
      <p:sp>
        <p:nvSpPr>
          <p:cNvPr id="41" name="anim5_m"/>
          <p:cNvSpPr/>
          <p:nvPr/>
        </p:nvSpPr>
        <p:spPr>
          <a:xfrm>
            <a:off x="7406640" y="3200400"/>
            <a:ext cx="4233672" cy="548640"/>
          </a:xfrm>
          <a:prstGeom prst="roundRect">
            <a:avLst>
              <a:gd name="adj" fmla="val 25000"/>
            </a:avLst>
          </a:prstGeom>
          <a:solidFill>
            <a:srgbClr val="FFFFFF"/>
          </a:solidFill>
          <a:ln w="15875">
            <a:solidFill>
              <a:srgbClr val="E7EAF2"/>
            </a:solidFill>
            <a:prstDash val="solid"/>
          </a:ln>
        </p:spPr>
      </p:sp>
      <p:sp>
        <p:nvSpPr>
          <p:cNvPr id="42" name="anim5_m"/>
          <p:cNvSpPr/>
          <p:nvPr/>
        </p:nvSpPr>
        <p:spPr>
          <a:xfrm>
            <a:off x="7516368" y="3264408"/>
            <a:ext cx="420624" cy="420624"/>
          </a:xfrm>
          <a:prstGeom prst="roundRect">
            <a:avLst>
              <a:gd name="adj" fmla="val 50000"/>
            </a:avLst>
          </a:prstGeom>
          <a:solidFill>
            <a:srgbClr val="24418C"/>
          </a:solidFill>
          <a:ln w="19050">
            <a:solidFill>
              <a:srgbClr val="24418C"/>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2</a:t>
            </a:r>
            <a:endParaRPr lang="en-US" sz="1600" dirty="0"/>
          </a:p>
        </p:txBody>
      </p:sp>
      <p:sp>
        <p:nvSpPr>
          <p:cNvPr id="43" name="anim5_m"/>
          <p:cNvSpPr/>
          <p:nvPr/>
        </p:nvSpPr>
        <p:spPr>
          <a:xfrm>
            <a:off x="8065008" y="3200400"/>
            <a:ext cx="3456432" cy="548640"/>
          </a:xfrm>
          <a:prstGeom prst="rect">
            <a:avLst/>
          </a:prstGeom>
          <a:noFill/>
          <a:ln/>
        </p:spPr>
        <p:txBody>
          <a:bodyPr wrap="square" lIns="0" tIns="0" rIns="0" bIns="0" rtlCol="0" anchor="ctr"/>
          <a:lstStyle/>
          <a:p>
            <a:pPr algn="l" indent="0" marL="0">
              <a:buNone/>
            </a:pPr>
            <a:r>
              <a:rPr lang="en-US" sz="1600" dirty="0">
                <a:solidFill>
                  <a:srgbClr val="1D3557"/>
                </a:solidFill>
                <a:latin typeface="Golos Text" pitchFamily="34" charset="0"/>
                <a:ea typeface="Golos Text" pitchFamily="34" charset="-122"/>
                <a:cs typeface="Golos Text" pitchFamily="34" charset="-120"/>
              </a:rPr>
              <a:t>«Тулпар»: 335 (2 жолу)</a:t>
            </a:r>
            <a:endParaRPr lang="en-US" sz="1600" dirty="0"/>
          </a:p>
        </p:txBody>
      </p:sp>
      <p:sp>
        <p:nvSpPr>
          <p:cNvPr id="44" name="Text 42"/>
          <p:cNvSpPr/>
          <p:nvPr/>
        </p:nvSpPr>
        <p:spPr>
          <a:xfrm>
            <a:off x="7452360" y="3886200"/>
            <a:ext cx="4114800" cy="274320"/>
          </a:xfrm>
          <a:prstGeom prst="rect">
            <a:avLst/>
          </a:prstGeom>
          <a:noFill/>
          <a:ln/>
        </p:spPr>
        <p:txBody>
          <a:bodyPr wrap="square" lIns="0" tIns="0" rIns="0" bIns="0" rtlCol="0" anchor="t"/>
          <a:lstStyle/>
          <a:p>
            <a:pPr algn="l" indent="0" marL="0">
              <a:buNone/>
            </a:pPr>
            <a:r>
              <a:rPr lang="en-US" sz="1300" b="1" dirty="0">
                <a:solidFill>
                  <a:srgbClr val="4A5A70"/>
                </a:solidFill>
                <a:latin typeface="Golos Text" pitchFamily="34" charset="0"/>
                <a:ea typeface="Golos Text" pitchFamily="34" charset="-122"/>
                <a:cs typeface="Golos Text" pitchFamily="34" charset="-120"/>
              </a:rPr>
              <a:t>ЭҢ ЖАКШЫ − ЭҢ НАЧАР</a:t>
            </a:r>
            <a:endParaRPr lang="en-US" sz="1300" dirty="0"/>
          </a:p>
        </p:txBody>
      </p:sp>
      <p:sp>
        <p:nvSpPr>
          <p:cNvPr id="45" name="anim6_r"/>
          <p:cNvSpPr/>
          <p:nvPr/>
        </p:nvSpPr>
        <p:spPr>
          <a:xfrm>
            <a:off x="7406640" y="4206240"/>
            <a:ext cx="4233672" cy="548640"/>
          </a:xfrm>
          <a:prstGeom prst="roundRect">
            <a:avLst>
              <a:gd name="adj" fmla="val 25000"/>
            </a:avLst>
          </a:prstGeom>
          <a:solidFill>
            <a:srgbClr val="FFFFFF"/>
          </a:solidFill>
          <a:ln w="15875">
            <a:solidFill>
              <a:srgbClr val="E7EAF2"/>
            </a:solidFill>
            <a:prstDash val="solid"/>
          </a:ln>
        </p:spPr>
      </p:sp>
      <p:sp>
        <p:nvSpPr>
          <p:cNvPr id="46" name="anim6_r"/>
          <p:cNvSpPr/>
          <p:nvPr/>
        </p:nvSpPr>
        <p:spPr>
          <a:xfrm>
            <a:off x="7516368" y="4270248"/>
            <a:ext cx="420624" cy="420624"/>
          </a:xfrm>
          <a:prstGeom prst="roundRect">
            <a:avLst>
              <a:gd name="adj" fmla="val 50000"/>
            </a:avLst>
          </a:prstGeom>
          <a:solidFill>
            <a:srgbClr val="007A5A"/>
          </a:solidFill>
          <a:ln w="19050">
            <a:solidFill>
              <a:srgbClr val="007A5A"/>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3</a:t>
            </a:r>
            <a:endParaRPr lang="en-US" sz="1600" dirty="0"/>
          </a:p>
        </p:txBody>
      </p:sp>
      <p:sp>
        <p:nvSpPr>
          <p:cNvPr id="47" name="anim6_r"/>
          <p:cNvSpPr/>
          <p:nvPr/>
        </p:nvSpPr>
        <p:spPr>
          <a:xfrm>
            <a:off x="8065008" y="4206240"/>
            <a:ext cx="3456432" cy="548640"/>
          </a:xfrm>
          <a:prstGeom prst="rect">
            <a:avLst/>
          </a:prstGeom>
          <a:noFill/>
          <a:ln/>
        </p:spPr>
        <p:txBody>
          <a:bodyPr wrap="square" lIns="0" tIns="0" rIns="0" bIns="0" rtlCol="0" anchor="ctr"/>
          <a:lstStyle/>
          <a:p>
            <a:pPr algn="l" indent="0" marL="0">
              <a:buNone/>
            </a:pPr>
            <a:r>
              <a:rPr lang="en-US" sz="1600" dirty="0">
                <a:solidFill>
                  <a:srgbClr val="1D3557"/>
                </a:solidFill>
                <a:latin typeface="Golos Text" pitchFamily="34" charset="0"/>
                <a:ea typeface="Golos Text" pitchFamily="34" charset="-122"/>
                <a:cs typeface="Golos Text" pitchFamily="34" charset="-120"/>
              </a:rPr>
              <a:t>«Шумкар»: 360 − 280 = 80</a:t>
            </a:r>
            <a:endParaRPr lang="en-US" sz="1600" dirty="0"/>
          </a:p>
        </p:txBody>
      </p:sp>
      <p:sp>
        <p:nvSpPr>
          <p:cNvPr id="48" name="anim6_r"/>
          <p:cNvSpPr/>
          <p:nvPr/>
        </p:nvSpPr>
        <p:spPr>
          <a:xfrm>
            <a:off x="7406640" y="4800600"/>
            <a:ext cx="4233672" cy="548640"/>
          </a:xfrm>
          <a:prstGeom prst="roundRect">
            <a:avLst>
              <a:gd name="adj" fmla="val 25000"/>
            </a:avLst>
          </a:prstGeom>
          <a:solidFill>
            <a:srgbClr val="FFFFFF"/>
          </a:solidFill>
          <a:ln w="15875">
            <a:solidFill>
              <a:srgbClr val="E7EAF2"/>
            </a:solidFill>
            <a:prstDash val="solid"/>
          </a:ln>
        </p:spPr>
      </p:sp>
      <p:sp>
        <p:nvSpPr>
          <p:cNvPr id="49" name="anim6_r"/>
          <p:cNvSpPr/>
          <p:nvPr/>
        </p:nvSpPr>
        <p:spPr>
          <a:xfrm>
            <a:off x="7516368" y="4864608"/>
            <a:ext cx="420624" cy="420624"/>
          </a:xfrm>
          <a:prstGeom prst="roundRect">
            <a:avLst>
              <a:gd name="adj" fmla="val 50000"/>
            </a:avLst>
          </a:prstGeom>
          <a:solidFill>
            <a:srgbClr val="24418C"/>
          </a:solidFill>
          <a:ln w="19050">
            <a:solidFill>
              <a:srgbClr val="24418C"/>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4</a:t>
            </a:r>
            <a:endParaRPr lang="en-US" sz="1600" dirty="0"/>
          </a:p>
        </p:txBody>
      </p:sp>
      <p:sp>
        <p:nvSpPr>
          <p:cNvPr id="50" name="anim6_r"/>
          <p:cNvSpPr/>
          <p:nvPr/>
        </p:nvSpPr>
        <p:spPr>
          <a:xfrm>
            <a:off x="8065008" y="4800600"/>
            <a:ext cx="3456432" cy="548640"/>
          </a:xfrm>
          <a:prstGeom prst="rect">
            <a:avLst/>
          </a:prstGeom>
          <a:noFill/>
          <a:ln/>
        </p:spPr>
        <p:txBody>
          <a:bodyPr wrap="square" lIns="0" tIns="0" rIns="0" bIns="0" rtlCol="0" anchor="ctr"/>
          <a:lstStyle/>
          <a:p>
            <a:pPr algn="l" indent="0" marL="0">
              <a:buNone/>
            </a:pPr>
            <a:r>
              <a:rPr lang="en-US" sz="1600" dirty="0">
                <a:solidFill>
                  <a:srgbClr val="1D3557"/>
                </a:solidFill>
                <a:latin typeface="Golos Text" pitchFamily="34" charset="0"/>
                <a:ea typeface="Golos Text" pitchFamily="34" charset="-122"/>
                <a:cs typeface="Golos Text" pitchFamily="34" charset="-120"/>
              </a:rPr>
              <a:t>«Тулпар»: 335 − 220 = 115</a:t>
            </a:r>
            <a:endParaRPr lang="en-US" sz="1600" dirty="0"/>
          </a:p>
        </p:txBody>
      </p:sp>
      <p:sp>
        <p:nvSpPr>
          <p:cNvPr id="51" name="anim7_dc"/>
          <p:cNvSpPr/>
          <p:nvPr/>
        </p:nvSpPr>
        <p:spPr>
          <a:xfrm>
            <a:off x="7406640" y="5486400"/>
            <a:ext cx="4233672" cy="640080"/>
          </a:xfrm>
          <a:prstGeom prst="roundRect">
            <a:avLst>
              <a:gd name="adj" fmla="val 35000"/>
            </a:avLst>
          </a:prstGeom>
          <a:solidFill>
            <a:srgbClr val="D1E7E1"/>
          </a:solidFill>
          <a:ln w="25400">
            <a:solidFill>
              <a:srgbClr val="007A5A"/>
            </a:solidFill>
            <a:prstDash val="solid"/>
          </a:ln>
        </p:spPr>
        <p:txBody>
          <a:bodyPr wrap="square" lIns="0" tIns="0" rIns="0" bIns="0" rtlCol="0" anchor="ctr"/>
          <a:lstStyle/>
          <a:p>
            <a:pPr algn="ctr" indent="0" marL="0">
              <a:buNone/>
            </a:pPr>
            <a:r>
              <a:rPr lang="en-US" sz="1600" b="1" dirty="0">
                <a:solidFill>
                  <a:srgbClr val="007A5A"/>
                </a:solidFill>
                <a:latin typeface="Golos Text" pitchFamily="34" charset="0"/>
                <a:ea typeface="Golos Text" pitchFamily="34" charset="-122"/>
                <a:cs typeface="Golos Text" pitchFamily="34" charset="-120"/>
              </a:rPr>
              <a:t>«Шумкар» бир калыпта: 80 &lt; 115</a:t>
            </a:r>
            <a:endParaRPr lang="en-US" sz="1600" dirty="0"/>
          </a:p>
        </p:txBody>
      </p:sp>
      <p:sp>
        <p:nvSpPr>
          <p:cNvPr id="52" name="Slide Number Placeholder 0"/>
          <p:cNvSpPr>
            <a:spLocks noGrp="1"/>
          </p:cNvSpPr>
          <p:nvPr>
            <p:ph type="sldNum" sz="quarter" idx="4294967295"/>
          </p:nvPr>
        </p:nvSpPr>
        <p:spPr>
          <a:xfrm>
            <a:off x="11384280" y="6492240"/>
            <a:ext cx="438912"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99AA"/>
                </a:solidFill>
                <a:latin typeface="Golos Text"/>
                <a:ea typeface="Golos Text"/>
                <a:cs typeface="Golos Text"/>
              </a:defRPr>
            </a:lvl1pPr>
          </a:lstStyle>
          <a:p>
            <a:pPr algn="r"/>
            <a:fld id="{F7021451-1387-4CA6-816F-3879F97B5CBC}" type="slidenum">
              <a:rPr b="0" lang="en-US"/>
              <a:t>7</a:t>
            </a:fld>
            <a:endParaRPr lang="en-US"/>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6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600"/>
                                        <p:tgtEl>
                                          <p:spTgt spid="1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6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600"/>
                                        <p:tgtEl>
                                          <p:spTgt spid="1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6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600"/>
                                        <p:tgtEl>
                                          <p:spTgt spid="21"/>
                                        </p:tgtEl>
                                      </p:cBhvr>
                                    </p:animEffect>
                                  </p:childTnLst>
                                </p:cTn>
                              </p:par>
                            </p:childTnLst>
                          </p:cTn>
                        </p:par>
                      </p:childTnLst>
                    </p:cTn>
                  </p:par>
                  <p:par>
                    <p:cTn id="26" fill="hold">
                      <p:stCondLst>
                        <p:cond delay="indefinite"/>
                      </p:stCondLst>
                      <p:childTnLst>
                        <p:par>
                          <p:cTn id="27"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600"/>
                                        <p:tgtEl>
                                          <p:spTgt spid="22"/>
                                        </p:tgtEl>
                                      </p:cBhvr>
                                    </p:animEffect>
                                  </p:childTnLst>
                                </p:cTn>
                              </p:par>
                            </p:childTnLst>
                          </p:cTn>
                        </p:par>
                      </p:childTnLst>
                    </p:cTn>
                  </p:par>
                  <p:par>
                    <p:cTn id="52" fill="hold">
                      <p:stCondLst>
                        <p:cond delay="indefinite"/>
                      </p:stCondLst>
                      <p:childTnLst>
                        <p:par>
                          <p:cTn id="53"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fade">
                                      <p:cBhvr>
                                        <p:cTn id="30" dur="600"/>
                                        <p:tgtEl>
                                          <p:spTgt spid="2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600"/>
                                        <p:tgtEl>
                                          <p:spTgt spid="2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fade">
                                      <p:cBhvr>
                                        <p:cTn id="36" dur="600"/>
                                        <p:tgtEl>
                                          <p:spTgt spid="2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600"/>
                                        <p:tgtEl>
                                          <p:spTgt spid="2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600"/>
                                        <p:tgtEl>
                                          <p:spTgt spid="2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600"/>
                                        <p:tgtEl>
                                          <p:spTgt spid="2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fade">
                                      <p:cBhvr>
                                        <p:cTn id="48" dur="600"/>
                                        <p:tgtEl>
                                          <p:spTgt spid="3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fade">
                                      <p:cBhvr>
                                        <p:cTn id="51" dur="600"/>
                                        <p:tgtEl>
                                          <p:spTgt spid="31"/>
                                        </p:tgtEl>
                                      </p:cBhvr>
                                    </p:animEffect>
                                  </p:childTnLst>
                                </p:cTn>
                              </p:par>
                            </p:childTnLst>
                          </p:cTn>
                        </p:par>
                      </p:childTnLst>
                    </p:cTn>
                  </p:par>
                  <p:par>
                    <p:cTn id="60" fill="hold">
                      <p:stCondLst>
                        <p:cond delay="indefinite"/>
                      </p:stCondLst>
                      <p:childTnLst>
                        <p:par>
                          <p:cTn id="61"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fade">
                                      <p:cBhvr>
                                        <p:cTn id="56" dur="600"/>
                                        <p:tgtEl>
                                          <p:spTgt spid="3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fade">
                                      <p:cBhvr>
                                        <p:cTn id="59" dur="600"/>
                                        <p:tgtEl>
                                          <p:spTgt spid="33"/>
                                        </p:tgtEl>
                                      </p:cBhvr>
                                    </p:animEffect>
                                  </p:childTnLst>
                                </p:cTn>
                              </p:par>
                            </p:childTnLst>
                          </p:cTn>
                        </p:par>
                      </p:childTnLst>
                    </p:cTn>
                  </p:par>
                  <p:par>
                    <p:cTn id="80" fill="hold">
                      <p:stCondLst>
                        <p:cond delay="indefinite"/>
                      </p:stCondLst>
                      <p:childTnLst>
                        <p:par>
                          <p:cTn id="8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38"/>
                                        </p:tgtEl>
                                        <p:attrNameLst>
                                          <p:attrName>style.visibility</p:attrName>
                                        </p:attrNameLst>
                                      </p:cBhvr>
                                      <p:to>
                                        <p:strVal val="visible"/>
                                      </p:to>
                                    </p:set>
                                    <p:animEffect transition="in" filter="fade">
                                      <p:cBhvr>
                                        <p:cTn id="64" dur="600"/>
                                        <p:tgtEl>
                                          <p:spTgt spid="3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9"/>
                                        </p:tgtEl>
                                        <p:attrNameLst>
                                          <p:attrName>style.visibility</p:attrName>
                                        </p:attrNameLst>
                                      </p:cBhvr>
                                      <p:to>
                                        <p:strVal val="visible"/>
                                      </p:to>
                                    </p:set>
                                    <p:animEffect transition="in" filter="fade">
                                      <p:cBhvr>
                                        <p:cTn id="67" dur="600"/>
                                        <p:tgtEl>
                                          <p:spTgt spid="3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0"/>
                                        </p:tgtEl>
                                        <p:attrNameLst>
                                          <p:attrName>style.visibility</p:attrName>
                                        </p:attrNameLst>
                                      </p:cBhvr>
                                      <p:to>
                                        <p:strVal val="visible"/>
                                      </p:to>
                                    </p:set>
                                    <p:animEffect transition="in" filter="fade">
                                      <p:cBhvr>
                                        <p:cTn id="70" dur="600"/>
                                        <p:tgtEl>
                                          <p:spTgt spid="4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1"/>
                                        </p:tgtEl>
                                        <p:attrNameLst>
                                          <p:attrName>style.visibility</p:attrName>
                                        </p:attrNameLst>
                                      </p:cBhvr>
                                      <p:to>
                                        <p:strVal val="visible"/>
                                      </p:to>
                                    </p:set>
                                    <p:animEffect transition="in" filter="fade">
                                      <p:cBhvr>
                                        <p:cTn id="73" dur="600"/>
                                        <p:tgtEl>
                                          <p:spTgt spid="4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2"/>
                                        </p:tgtEl>
                                        <p:attrNameLst>
                                          <p:attrName>style.visibility</p:attrName>
                                        </p:attrNameLst>
                                      </p:cBhvr>
                                      <p:to>
                                        <p:strVal val="visible"/>
                                      </p:to>
                                    </p:set>
                                    <p:animEffect transition="in" filter="fade">
                                      <p:cBhvr>
                                        <p:cTn id="76" dur="600"/>
                                        <p:tgtEl>
                                          <p:spTgt spid="4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3"/>
                                        </p:tgtEl>
                                        <p:attrNameLst>
                                          <p:attrName>style.visibility</p:attrName>
                                        </p:attrNameLst>
                                      </p:cBhvr>
                                      <p:to>
                                        <p:strVal val="visible"/>
                                      </p:to>
                                    </p:set>
                                    <p:animEffect transition="in" filter="fade">
                                      <p:cBhvr>
                                        <p:cTn id="79" dur="600"/>
                                        <p:tgtEl>
                                          <p:spTgt spid="43"/>
                                        </p:tgtEl>
                                      </p:cBhvr>
                                    </p:animEffect>
                                  </p:childTnLst>
                                </p:cTn>
                              </p:par>
                            </p:childTnLst>
                          </p:cTn>
                        </p:par>
                      </p:childTnLst>
                    </p:cTn>
                  </p:par>
                  <p:par>
                    <p:cTn id="100" fill="hold">
                      <p:stCondLst>
                        <p:cond delay="indefinite"/>
                      </p:stCondLst>
                      <p:childTnLst>
                        <p:par>
                          <p:cTn id="10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45"/>
                                        </p:tgtEl>
                                        <p:attrNameLst>
                                          <p:attrName>style.visibility</p:attrName>
                                        </p:attrNameLst>
                                      </p:cBhvr>
                                      <p:to>
                                        <p:strVal val="visible"/>
                                      </p:to>
                                    </p:set>
                                    <p:animEffect transition="in" filter="fade">
                                      <p:cBhvr>
                                        <p:cTn id="84" dur="600"/>
                                        <p:tgtEl>
                                          <p:spTgt spid="45"/>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6"/>
                                        </p:tgtEl>
                                        <p:attrNameLst>
                                          <p:attrName>style.visibility</p:attrName>
                                        </p:attrNameLst>
                                      </p:cBhvr>
                                      <p:to>
                                        <p:strVal val="visible"/>
                                      </p:to>
                                    </p:set>
                                    <p:animEffect transition="in" filter="fade">
                                      <p:cBhvr>
                                        <p:cTn id="87" dur="600"/>
                                        <p:tgtEl>
                                          <p:spTgt spid="46"/>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7"/>
                                        </p:tgtEl>
                                        <p:attrNameLst>
                                          <p:attrName>style.visibility</p:attrName>
                                        </p:attrNameLst>
                                      </p:cBhvr>
                                      <p:to>
                                        <p:strVal val="visible"/>
                                      </p:to>
                                    </p:set>
                                    <p:animEffect transition="in" filter="fade">
                                      <p:cBhvr>
                                        <p:cTn id="90" dur="600"/>
                                        <p:tgtEl>
                                          <p:spTgt spid="47"/>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8"/>
                                        </p:tgtEl>
                                        <p:attrNameLst>
                                          <p:attrName>style.visibility</p:attrName>
                                        </p:attrNameLst>
                                      </p:cBhvr>
                                      <p:to>
                                        <p:strVal val="visible"/>
                                      </p:to>
                                    </p:set>
                                    <p:animEffect transition="in" filter="fade">
                                      <p:cBhvr>
                                        <p:cTn id="93" dur="600"/>
                                        <p:tgtEl>
                                          <p:spTgt spid="48"/>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9"/>
                                        </p:tgtEl>
                                        <p:attrNameLst>
                                          <p:attrName>style.visibility</p:attrName>
                                        </p:attrNameLst>
                                      </p:cBhvr>
                                      <p:to>
                                        <p:strVal val="visible"/>
                                      </p:to>
                                    </p:set>
                                    <p:animEffect transition="in" filter="fade">
                                      <p:cBhvr>
                                        <p:cTn id="96" dur="600"/>
                                        <p:tgtEl>
                                          <p:spTgt spid="49"/>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50"/>
                                        </p:tgtEl>
                                        <p:attrNameLst>
                                          <p:attrName>style.visibility</p:attrName>
                                        </p:attrNameLst>
                                      </p:cBhvr>
                                      <p:to>
                                        <p:strVal val="visible"/>
                                      </p:to>
                                    </p:set>
                                    <p:animEffect transition="in" filter="fade">
                                      <p:cBhvr>
                                        <p:cTn id="99" dur="600"/>
                                        <p:tgtEl>
                                          <p:spTgt spid="50"/>
                                        </p:tgtEl>
                                      </p:cBhvr>
                                    </p:animEffect>
                                  </p:childTnLst>
                                </p:cTn>
                              </p:par>
                            </p:childTnLst>
                          </p:cTn>
                        </p:par>
                      </p:childTnLst>
                    </p:cTn>
                  </p:par>
                  <p:par>
                    <p:cTn id="105" fill="hold">
                      <p:stCondLst>
                        <p:cond delay="indefinite"/>
                      </p:stCondLst>
                      <p:childTnLst>
                        <p:par>
                          <p:cTn id="106"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51"/>
                                        </p:tgtEl>
                                        <p:attrNameLst>
                                          <p:attrName>style.visibility</p:attrName>
                                        </p:attrNameLst>
                                      </p:cBhvr>
                                      <p:to>
                                        <p:strVal val="visible"/>
                                      </p:to>
                                    </p:set>
                                    <p:animEffect transition="in" filter="fade">
                                      <p:cBhvr>
                                        <p:cTn id="104" dur="6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2" grpId="0" animBg="1"/>
      <p:bldP spid="24" grpId="0" animBg="1"/>
      <p:bldP spid="25" grpId="0" animBg="1"/>
      <p:bldP spid="26" grpId="0" animBg="1"/>
      <p:bldP spid="27" grpId="0" animBg="1"/>
      <p:bldP spid="28" grpId="0" animBg="1"/>
      <p:bldP spid="29" grpId="0" animBg="1"/>
      <p:bldP spid="31" grpId="0" animBg="1"/>
      <p:bldP spid="32" grpId="0" animBg="1"/>
      <p:bldP spid="33" grpId="0" animBg="1"/>
      <p:bldP spid="39" grpId="0" animBg="1"/>
      <p:bldP spid="40" grpId="0" animBg="1"/>
      <p:bldP spid="42" grpId="0" animBg="1"/>
      <p:bldP spid="43" grpId="0" animBg="1"/>
      <p:bldP spid="46" grpId="0" animBg="1"/>
      <p:bldP spid="47" grpId="0" animBg="1"/>
      <p:bldP spid="49" grpId="0" animBg="1"/>
      <p:bldP spid="50" grpId="0" animBg="1"/>
      <p:bldP spid="5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11457432" cy="640080"/>
          </a:xfrm>
          <a:prstGeom prst="roundRect">
            <a:avLst>
              <a:gd name="adj" fmla="val 22000"/>
            </a:avLst>
          </a:prstGeom>
          <a:solidFill>
            <a:srgbClr val="FFFFFF"/>
          </a:solidFill>
          <a:ln w="19050">
            <a:solidFill>
              <a:srgbClr val="1D3557"/>
            </a:solidFill>
            <a:prstDash val="solid"/>
          </a:ln>
        </p:spPr>
      </p:sp>
      <p:sp>
        <p:nvSpPr>
          <p:cNvPr id="3" name="Shape 1"/>
          <p:cNvSpPr/>
          <p:nvPr/>
        </p:nvSpPr>
        <p:spPr>
          <a:xfrm>
            <a:off x="557784" y="369418"/>
            <a:ext cx="70409" cy="358445"/>
          </a:xfrm>
          <a:prstGeom prst="roundRect">
            <a:avLst>
              <a:gd name="adj" fmla="val 50000"/>
            </a:avLst>
          </a:prstGeom>
          <a:solidFill>
            <a:srgbClr val="007A5A"/>
          </a:solidFill>
          <a:ln/>
        </p:spPr>
      </p:sp>
      <p:sp>
        <p:nvSpPr>
          <p:cNvPr id="4" name="Shape 2"/>
          <p:cNvSpPr/>
          <p:nvPr/>
        </p:nvSpPr>
        <p:spPr>
          <a:xfrm>
            <a:off x="691561" y="369418"/>
            <a:ext cx="70409" cy="358445"/>
          </a:xfrm>
          <a:prstGeom prst="roundRect">
            <a:avLst>
              <a:gd name="adj" fmla="val 50000"/>
            </a:avLst>
          </a:prstGeom>
          <a:solidFill>
            <a:srgbClr val="A84400"/>
          </a:solidFill>
          <a:ln/>
        </p:spPr>
      </p:sp>
      <p:sp>
        <p:nvSpPr>
          <p:cNvPr id="5" name="Shape 3"/>
          <p:cNvSpPr/>
          <p:nvPr/>
        </p:nvSpPr>
        <p:spPr>
          <a:xfrm>
            <a:off x="825337" y="369418"/>
            <a:ext cx="70409" cy="358445"/>
          </a:xfrm>
          <a:prstGeom prst="roundRect">
            <a:avLst>
              <a:gd name="adj" fmla="val 50000"/>
            </a:avLst>
          </a:prstGeom>
          <a:solidFill>
            <a:srgbClr val="24418C"/>
          </a:solidFill>
          <a:ln/>
        </p:spPr>
      </p:sp>
      <p:sp>
        <p:nvSpPr>
          <p:cNvPr id="6" name="Text 4"/>
          <p:cNvSpPr/>
          <p:nvPr/>
        </p:nvSpPr>
        <p:spPr>
          <a:xfrm>
            <a:off x="1096914" y="228600"/>
            <a:ext cx="7589520" cy="640080"/>
          </a:xfrm>
          <a:prstGeom prst="rect">
            <a:avLst/>
          </a:prstGeom>
          <a:noFill/>
          <a:ln/>
        </p:spPr>
        <p:txBody>
          <a:bodyPr wrap="square" lIns="0" tIns="0" rIns="0" bIns="0" rtlCol="0" anchor="ctr"/>
          <a:lstStyle/>
          <a:p>
            <a:pPr algn="l" indent="0" marL="0">
              <a:buNone/>
            </a:pPr>
            <a:r>
              <a:rPr lang="en-US" sz="2200" b="1" dirty="0">
                <a:solidFill>
                  <a:srgbClr val="1D3557"/>
                </a:solidFill>
                <a:latin typeface="Golos Text" pitchFamily="34" charset="0"/>
                <a:ea typeface="Golos Text" pitchFamily="34" charset="-122"/>
                <a:cs typeface="Golos Text" pitchFamily="34" charset="-120"/>
              </a:rPr>
              <a:t>Ооба… Жок… Балким…: бул далилге ишенесиңби?</a:t>
            </a:r>
            <a:endParaRPr lang="en-US" sz="2200" dirty="0"/>
          </a:p>
        </p:txBody>
      </p:sp>
      <p:sp>
        <p:nvSpPr>
          <p:cNvPr id="7" name="Text 5"/>
          <p:cNvSpPr/>
          <p:nvPr/>
        </p:nvSpPr>
        <p:spPr>
          <a:xfrm>
            <a:off x="8778240" y="228600"/>
            <a:ext cx="2880360" cy="640080"/>
          </a:xfrm>
          <a:prstGeom prst="rect">
            <a:avLst/>
          </a:prstGeom>
          <a:noFill/>
          <a:ln/>
        </p:spPr>
        <p:txBody>
          <a:bodyPr wrap="square" lIns="0" tIns="0" rIns="0" bIns="0" rtlCol="0" anchor="ctr"/>
          <a:lstStyle/>
          <a:p>
            <a:pPr algn="r" indent="0" marL="0">
              <a:buNone/>
            </a:pPr>
            <a:r>
              <a:rPr lang="en-US" sz="1100" dirty="0">
                <a:solidFill>
                  <a:srgbClr val="4A5A70"/>
                </a:solidFill>
                <a:latin typeface="Golos Text" pitchFamily="34" charset="0"/>
                <a:ea typeface="Golos Text" pitchFamily="34" charset="-122"/>
                <a:cs typeface="Golos Text" pitchFamily="34" charset="-120"/>
              </a:rPr>
              <a:t>Статистика › Төрт өлчөм</a:t>
            </a:r>
            <a:endParaRPr lang="en-US" sz="1100" dirty="0"/>
          </a:p>
        </p:txBody>
      </p:sp>
      <p:sp>
        <p:nvSpPr>
          <p:cNvPr id="8" name="Text 6"/>
          <p:cNvSpPr/>
          <p:nvPr/>
        </p:nvSpPr>
        <p:spPr>
          <a:xfrm>
            <a:off x="411480" y="960120"/>
            <a:ext cx="8412480" cy="329184"/>
          </a:xfrm>
          <a:prstGeom prst="rect">
            <a:avLst/>
          </a:prstGeom>
          <a:noFill/>
          <a:ln/>
        </p:spPr>
        <p:txBody>
          <a:bodyPr wrap="square" lIns="0" tIns="0" rIns="0" bIns="0" rtlCol="0" anchor="t"/>
          <a:lstStyle/>
          <a:p>
            <a:pPr algn="l" indent="0" marL="0">
              <a:buNone/>
            </a:pPr>
            <a:r>
              <a:rPr lang="en-US" sz="1500" i="1" dirty="0">
                <a:solidFill>
                  <a:srgbClr val="4A5A70"/>
                </a:solidFill>
                <a:latin typeface="Golos Text" pitchFamily="34" charset="0"/>
                <a:ea typeface="Golos Text" pitchFamily="34" charset="-122"/>
                <a:cs typeface="Golos Text" pitchFamily="34" charset="-120"/>
              </a:rPr>
              <a:t>Жупта 30 секунд талкуула. Анан белги боюнча: ооба — бармак өйдө, жок — ылдый, балким — капталга</a:t>
            </a:r>
            <a:endParaRPr lang="en-US" sz="1500" dirty="0"/>
          </a:p>
        </p:txBody>
      </p:sp>
      <p:sp>
        <p:nvSpPr>
          <p:cNvPr id="9" name="Text 7"/>
          <p:cNvSpPr/>
          <p:nvPr/>
        </p:nvSpPr>
        <p:spPr>
          <a:xfrm>
            <a:off x="8897112" y="969264"/>
            <a:ext cx="2926080" cy="310896"/>
          </a:xfrm>
          <a:prstGeom prst="rect">
            <a:avLst/>
          </a:prstGeom>
          <a:noFill/>
          <a:ln/>
        </p:spPr>
        <p:txBody>
          <a:bodyPr wrap="square" lIns="0" tIns="0" rIns="0" bIns="0" rtlCol="0" anchor="ctr"/>
          <a:lstStyle/>
          <a:p>
            <a:pPr algn="r" indent="0" marL="0">
              <a:buNone/>
            </a:pPr>
            <a:r>
              <a:rPr lang="en-US" sz="1200" dirty="0">
                <a:solidFill>
                  <a:srgbClr val="4A5A70"/>
                </a:solidFill>
                <a:latin typeface="Golos Text" pitchFamily="34" charset="0"/>
                <a:ea typeface="Golos Text" pitchFamily="34" charset="-122"/>
                <a:cs typeface="Golos Text" pitchFamily="34" charset="-120"/>
              </a:rPr>
              <a:t>Салыштыруу · 2,5 мүн</a:t>
            </a:r>
            <a:endParaRPr lang="en-US" sz="1200" dirty="0"/>
          </a:p>
        </p:txBody>
      </p:sp>
      <p:sp>
        <p:nvSpPr>
          <p:cNvPr id="10" name="Text 8"/>
          <p:cNvSpPr/>
          <p:nvPr/>
        </p:nvSpPr>
        <p:spPr>
          <a:xfrm>
            <a:off x="365760" y="6492240"/>
            <a:ext cx="5486400" cy="228600"/>
          </a:xfrm>
          <a:prstGeom prst="rect">
            <a:avLst/>
          </a:prstGeom>
          <a:noFill/>
          <a:ln/>
        </p:spPr>
        <p:txBody>
          <a:bodyPr wrap="square" lIns="0" tIns="0" rIns="0" bIns="0" rtlCol="0" anchor="t"/>
          <a:lstStyle/>
          <a:p>
            <a:pPr algn="l" indent="0" marL="0">
              <a:buNone/>
            </a:pPr>
            <a:r>
              <a:rPr lang="en-US" sz="900" dirty="0">
                <a:solidFill>
                  <a:srgbClr val="8D99AA"/>
                </a:solidFill>
                <a:latin typeface="Golos Text" pitchFamily="34" charset="0"/>
                <a:ea typeface="Golos Text" pitchFamily="34" charset="-122"/>
                <a:cs typeface="Golos Text" pitchFamily="34" charset="-120"/>
              </a:rPr>
              <a:t>MathKG · Математика кыргызча</a:t>
            </a:r>
            <a:endParaRPr lang="en-US" sz="900" dirty="0"/>
          </a:p>
        </p:txBody>
      </p:sp>
      <p:sp>
        <p:nvSpPr>
          <p:cNvPr id="11" name="Text 9"/>
          <p:cNvSpPr/>
          <p:nvPr/>
        </p:nvSpPr>
        <p:spPr>
          <a:xfrm>
            <a:off x="7680960" y="6492240"/>
            <a:ext cx="3657600" cy="228600"/>
          </a:xfrm>
          <a:prstGeom prst="rect">
            <a:avLst/>
          </a:prstGeom>
          <a:noFill/>
          <a:ln/>
        </p:spPr>
        <p:txBody>
          <a:bodyPr wrap="square" lIns="0" tIns="0" rIns="0" bIns="0" rtlCol="0" anchor="t"/>
          <a:lstStyle/>
          <a:p>
            <a:pPr algn="r" indent="0" marL="0">
              <a:buNone/>
            </a:pPr>
            <a:r>
              <a:rPr lang="en-US" sz="900" dirty="0">
                <a:solidFill>
                  <a:srgbClr val="8D99AA"/>
                </a:solidFill>
                <a:latin typeface="Golos Text" pitchFamily="34" charset="0"/>
                <a:ea typeface="Golos Text" pitchFamily="34" charset="-122"/>
                <a:cs typeface="Golos Text" pitchFamily="34" charset="-120"/>
              </a:rPr>
              <a:t>MathKG ыкмасы · 2,5 мүн</a:t>
            </a:r>
            <a:endParaRPr lang="en-US" sz="900" dirty="0"/>
          </a:p>
        </p:txBody>
      </p:sp>
      <p:sp>
        <p:nvSpPr>
          <p:cNvPr id="12" name="Shape 10"/>
          <p:cNvSpPr/>
          <p:nvPr/>
        </p:nvSpPr>
        <p:spPr>
          <a:xfrm>
            <a:off x="365760" y="1463040"/>
            <a:ext cx="11457432" cy="1417320"/>
          </a:xfrm>
          <a:prstGeom prst="roundRect">
            <a:avLst>
              <a:gd name="adj" fmla="val 12000"/>
            </a:avLst>
          </a:prstGeom>
          <a:solidFill>
            <a:srgbClr val="FFFFFF"/>
          </a:solidFill>
          <a:ln w="19050">
            <a:solidFill>
              <a:srgbClr val="8D99AA"/>
            </a:solidFill>
            <a:prstDash val="solid"/>
          </a:ln>
        </p:spPr>
      </p:sp>
      <p:sp>
        <p:nvSpPr>
          <p:cNvPr id="13" name="Text 11"/>
          <p:cNvSpPr/>
          <p:nvPr/>
        </p:nvSpPr>
        <p:spPr>
          <a:xfrm>
            <a:off x="548640" y="1920240"/>
            <a:ext cx="502920" cy="502920"/>
          </a:xfrm>
          <a:prstGeom prst="roundRect">
            <a:avLst>
              <a:gd name="adj" fmla="val 50000"/>
            </a:avLst>
          </a:prstGeom>
          <a:solidFill>
            <a:srgbClr val="1D3557"/>
          </a:solidFill>
          <a:ln w="19050">
            <a:solidFill>
              <a:srgbClr val="1D3557"/>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1</a:t>
            </a:r>
            <a:endParaRPr lang="en-US" sz="1600" dirty="0"/>
          </a:p>
        </p:txBody>
      </p:sp>
      <p:sp>
        <p:nvSpPr>
          <p:cNvPr id="14" name="Text 12"/>
          <p:cNvSpPr/>
          <p:nvPr/>
        </p:nvSpPr>
        <p:spPr>
          <a:xfrm>
            <a:off x="1234440" y="1536192"/>
            <a:ext cx="6035040" cy="1280160"/>
          </a:xfrm>
          <a:prstGeom prst="rect">
            <a:avLst/>
          </a:prstGeom>
          <a:noFill/>
          <a:ln/>
        </p:spPr>
        <p:txBody>
          <a:bodyPr wrap="square" lIns="0" tIns="0" rIns="0" bIns="0" rtlCol="0" anchor="ctr"/>
          <a:lstStyle/>
          <a:p>
            <a:pPr algn="l" indent="0" marL="0">
              <a:buNone/>
            </a:pPr>
            <a:r>
              <a:rPr lang="en-US" sz="1800" b="1" dirty="0">
                <a:solidFill>
                  <a:srgbClr val="1D3557"/>
                </a:solidFill>
                <a:latin typeface="Golos Text" pitchFamily="34" charset="0"/>
                <a:ea typeface="Golos Text" pitchFamily="34" charset="-122"/>
                <a:cs typeface="Golos Text" pitchFamily="34" charset="-120"/>
              </a:rPr>
              <a:t>«Шумкар» жакшыраак: анын орточосу чоңураак, 310 &gt; 300.</a:t>
            </a:r>
            <a:endParaRPr lang="en-US" sz="1800" dirty="0"/>
          </a:p>
        </p:txBody>
      </p:sp>
      <p:sp>
        <p:nvSpPr>
          <p:cNvPr id="15" name="anim1_v"/>
          <p:cNvSpPr/>
          <p:nvPr/>
        </p:nvSpPr>
        <p:spPr>
          <a:xfrm>
            <a:off x="7406640" y="1645920"/>
            <a:ext cx="1371600" cy="1051560"/>
          </a:xfrm>
          <a:prstGeom prst="roundRect">
            <a:avLst>
              <a:gd name="adj" fmla="val 30000"/>
            </a:avLst>
          </a:prstGeom>
          <a:solidFill>
            <a:srgbClr val="F5EBE3"/>
          </a:solidFill>
          <a:ln w="25400">
            <a:solidFill>
              <a:srgbClr val="A84400"/>
            </a:solidFill>
            <a:prstDash val="solid"/>
          </a:ln>
        </p:spPr>
        <p:txBody>
          <a:bodyPr wrap="square" lIns="0" tIns="0" rIns="0" bIns="0" rtlCol="0" anchor="ctr"/>
          <a:lstStyle/>
          <a:p>
            <a:pPr algn="ctr" indent="0" marL="0">
              <a:buNone/>
            </a:pPr>
            <a:r>
              <a:rPr lang="en-US" sz="2200" b="1" dirty="0">
                <a:solidFill>
                  <a:srgbClr val="A84400"/>
                </a:solidFill>
                <a:latin typeface="Golos Text" pitchFamily="34" charset="0"/>
                <a:ea typeface="Golos Text" pitchFamily="34" charset="-122"/>
                <a:cs typeface="Golos Text" pitchFamily="34" charset="-120"/>
              </a:rPr>
              <a:t>Балким</a:t>
            </a:r>
            <a:endParaRPr lang="en-US" sz="2200" dirty="0"/>
          </a:p>
        </p:txBody>
      </p:sp>
      <p:sp>
        <p:nvSpPr>
          <p:cNvPr id="16" name="anim1_v"/>
          <p:cNvSpPr/>
          <p:nvPr/>
        </p:nvSpPr>
        <p:spPr>
          <a:xfrm>
            <a:off x="8915400" y="1536192"/>
            <a:ext cx="2788920" cy="1280160"/>
          </a:xfrm>
          <a:prstGeom prst="rect">
            <a:avLst/>
          </a:prstGeom>
          <a:noFill/>
          <a:ln/>
        </p:spPr>
        <p:txBody>
          <a:bodyPr wrap="square" lIns="0" tIns="0" rIns="0" bIns="0" rtlCol="0" anchor="ctr"/>
          <a:lstStyle/>
          <a:p>
            <a:pPr algn="l" indent="0" marL="0">
              <a:buNone/>
            </a:pPr>
            <a:r>
              <a:rPr lang="en-US" sz="1300" dirty="0">
                <a:solidFill>
                  <a:srgbClr val="1D3557"/>
                </a:solidFill>
                <a:latin typeface="Golos Text" pitchFamily="34" charset="0"/>
                <a:ea typeface="Golos Text" pitchFamily="34" charset="-122"/>
                <a:cs typeface="Golos Text" pitchFamily="34" charset="-120"/>
              </a:rPr>
              <a:t>Орточо туура эсептелди, бирок «Тулпардын» орточосун Жамиланын 220 см натыйжасы төмөн түшүрөт.</a:t>
            </a:r>
            <a:endParaRPr lang="en-US" sz="1300" dirty="0"/>
          </a:p>
        </p:txBody>
      </p:sp>
      <p:sp>
        <p:nvSpPr>
          <p:cNvPr id="17" name="Shape 15"/>
          <p:cNvSpPr/>
          <p:nvPr/>
        </p:nvSpPr>
        <p:spPr>
          <a:xfrm>
            <a:off x="365760" y="3063240"/>
            <a:ext cx="11457432" cy="1417320"/>
          </a:xfrm>
          <a:prstGeom prst="roundRect">
            <a:avLst>
              <a:gd name="adj" fmla="val 12000"/>
            </a:avLst>
          </a:prstGeom>
          <a:solidFill>
            <a:srgbClr val="FFFFFF"/>
          </a:solidFill>
          <a:ln w="19050">
            <a:solidFill>
              <a:srgbClr val="8D99AA"/>
            </a:solidFill>
            <a:prstDash val="solid"/>
          </a:ln>
        </p:spPr>
      </p:sp>
      <p:sp>
        <p:nvSpPr>
          <p:cNvPr id="18" name="Text 16"/>
          <p:cNvSpPr/>
          <p:nvPr/>
        </p:nvSpPr>
        <p:spPr>
          <a:xfrm>
            <a:off x="548640" y="3520440"/>
            <a:ext cx="502920" cy="502920"/>
          </a:xfrm>
          <a:prstGeom prst="roundRect">
            <a:avLst>
              <a:gd name="adj" fmla="val 50000"/>
            </a:avLst>
          </a:prstGeom>
          <a:solidFill>
            <a:srgbClr val="1D3557"/>
          </a:solidFill>
          <a:ln w="19050">
            <a:solidFill>
              <a:srgbClr val="1D3557"/>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2</a:t>
            </a:r>
            <a:endParaRPr lang="en-US" sz="1600" dirty="0"/>
          </a:p>
        </p:txBody>
      </p:sp>
      <p:sp>
        <p:nvSpPr>
          <p:cNvPr id="19" name="Text 17"/>
          <p:cNvSpPr/>
          <p:nvPr/>
        </p:nvSpPr>
        <p:spPr>
          <a:xfrm>
            <a:off x="1234440" y="3136392"/>
            <a:ext cx="6035040" cy="1280160"/>
          </a:xfrm>
          <a:prstGeom prst="rect">
            <a:avLst/>
          </a:prstGeom>
          <a:noFill/>
          <a:ln/>
        </p:spPr>
        <p:txBody>
          <a:bodyPr wrap="square" lIns="0" tIns="0" rIns="0" bIns="0" rtlCol="0" anchor="ctr"/>
          <a:lstStyle/>
          <a:p>
            <a:pPr algn="l" indent="0" marL="0">
              <a:buNone/>
            </a:pPr>
            <a:r>
              <a:rPr lang="en-US" sz="1800" b="1" dirty="0">
                <a:solidFill>
                  <a:srgbClr val="1D3557"/>
                </a:solidFill>
                <a:latin typeface="Golos Text" pitchFamily="34" charset="0"/>
                <a:ea typeface="Golos Text" pitchFamily="34" charset="-122"/>
                <a:cs typeface="Golos Text" pitchFamily="34" charset="-120"/>
              </a:rPr>
              <a:t>«Тулпардын» суммасы 1 800 см, «Шумкардыкы» 1 550 см. Демек «Тулпар» жеңди.</a:t>
            </a:r>
            <a:endParaRPr lang="en-US" sz="1800" dirty="0"/>
          </a:p>
        </p:txBody>
      </p:sp>
      <p:sp>
        <p:nvSpPr>
          <p:cNvPr id="20" name="anim2_v"/>
          <p:cNvSpPr/>
          <p:nvPr/>
        </p:nvSpPr>
        <p:spPr>
          <a:xfrm>
            <a:off x="7406640" y="3246120"/>
            <a:ext cx="1371600" cy="1051560"/>
          </a:xfrm>
          <a:prstGeom prst="roundRect">
            <a:avLst>
              <a:gd name="adj" fmla="val 30000"/>
            </a:avLst>
          </a:prstGeom>
          <a:solidFill>
            <a:srgbClr val="F3F5FB"/>
          </a:solidFill>
          <a:ln w="25400">
            <a:solidFill>
              <a:srgbClr val="1D3557"/>
            </a:solidFill>
            <a:prstDash val="solid"/>
          </a:ln>
        </p:spPr>
        <p:txBody>
          <a:bodyPr wrap="square" lIns="0" tIns="0" rIns="0" bIns="0" rtlCol="0" anchor="ctr"/>
          <a:lstStyle/>
          <a:p>
            <a:pPr algn="ctr" indent="0" marL="0">
              <a:buNone/>
            </a:pPr>
            <a:r>
              <a:rPr lang="en-US" sz="2200" b="1" dirty="0">
                <a:solidFill>
                  <a:srgbClr val="1D3557"/>
                </a:solidFill>
                <a:latin typeface="Golos Text" pitchFamily="34" charset="0"/>
                <a:ea typeface="Golos Text" pitchFamily="34" charset="-122"/>
                <a:cs typeface="Golos Text" pitchFamily="34" charset="-120"/>
              </a:rPr>
              <a:t>Жок</a:t>
            </a:r>
            <a:endParaRPr lang="en-US" sz="2200" dirty="0"/>
          </a:p>
        </p:txBody>
      </p:sp>
      <p:sp>
        <p:nvSpPr>
          <p:cNvPr id="21" name="anim2_v"/>
          <p:cNvSpPr/>
          <p:nvPr/>
        </p:nvSpPr>
        <p:spPr>
          <a:xfrm>
            <a:off x="8915400" y="3136392"/>
            <a:ext cx="2788920" cy="1280160"/>
          </a:xfrm>
          <a:prstGeom prst="rect">
            <a:avLst/>
          </a:prstGeom>
          <a:noFill/>
          <a:ln/>
        </p:spPr>
        <p:txBody>
          <a:bodyPr wrap="square" lIns="0" tIns="0" rIns="0" bIns="0" rtlCol="0" anchor="ctr"/>
          <a:lstStyle/>
          <a:p>
            <a:pPr algn="l" indent="0" marL="0">
              <a:buNone/>
            </a:pPr>
            <a:r>
              <a:rPr lang="en-US" sz="1300" dirty="0">
                <a:solidFill>
                  <a:srgbClr val="1D3557"/>
                </a:solidFill>
                <a:latin typeface="Golos Text" pitchFamily="34" charset="0"/>
                <a:ea typeface="Golos Text" pitchFamily="34" charset="-122"/>
                <a:cs typeface="Golos Text" pitchFamily="34" charset="-120"/>
              </a:rPr>
              <a:t>Командаларда окуучулардын саны ар башка (6 жана 5). Сумманы эмес, орточону же медиананы салыштырабыз.</a:t>
            </a:r>
            <a:endParaRPr lang="en-US" sz="1300" dirty="0"/>
          </a:p>
        </p:txBody>
      </p:sp>
      <p:sp>
        <p:nvSpPr>
          <p:cNvPr id="22" name="Shape 20"/>
          <p:cNvSpPr/>
          <p:nvPr/>
        </p:nvSpPr>
        <p:spPr>
          <a:xfrm>
            <a:off x="365760" y="4663440"/>
            <a:ext cx="11457432" cy="1417320"/>
          </a:xfrm>
          <a:prstGeom prst="roundRect">
            <a:avLst>
              <a:gd name="adj" fmla="val 12000"/>
            </a:avLst>
          </a:prstGeom>
          <a:solidFill>
            <a:srgbClr val="FFFFFF"/>
          </a:solidFill>
          <a:ln w="19050">
            <a:solidFill>
              <a:srgbClr val="8D99AA"/>
            </a:solidFill>
            <a:prstDash val="solid"/>
          </a:ln>
        </p:spPr>
      </p:sp>
      <p:sp>
        <p:nvSpPr>
          <p:cNvPr id="23" name="Text 21"/>
          <p:cNvSpPr/>
          <p:nvPr/>
        </p:nvSpPr>
        <p:spPr>
          <a:xfrm>
            <a:off x="548640" y="5120640"/>
            <a:ext cx="502920" cy="502920"/>
          </a:xfrm>
          <a:prstGeom prst="roundRect">
            <a:avLst>
              <a:gd name="adj" fmla="val 50000"/>
            </a:avLst>
          </a:prstGeom>
          <a:solidFill>
            <a:srgbClr val="1D3557"/>
          </a:solidFill>
          <a:ln w="19050">
            <a:solidFill>
              <a:srgbClr val="1D3557"/>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3</a:t>
            </a:r>
            <a:endParaRPr lang="en-US" sz="1600" dirty="0"/>
          </a:p>
        </p:txBody>
      </p:sp>
      <p:sp>
        <p:nvSpPr>
          <p:cNvPr id="24" name="Text 22"/>
          <p:cNvSpPr/>
          <p:nvPr/>
        </p:nvSpPr>
        <p:spPr>
          <a:xfrm>
            <a:off x="1234440" y="4736592"/>
            <a:ext cx="6035040" cy="1280160"/>
          </a:xfrm>
          <a:prstGeom prst="rect">
            <a:avLst/>
          </a:prstGeom>
          <a:noFill/>
          <a:ln/>
        </p:spPr>
        <p:txBody>
          <a:bodyPr wrap="square" lIns="0" tIns="0" rIns="0" bIns="0" rtlCol="0" anchor="ctr"/>
          <a:lstStyle/>
          <a:p>
            <a:pPr algn="l" indent="0" marL="0">
              <a:buNone/>
            </a:pPr>
            <a:r>
              <a:rPr lang="en-US" sz="1800" b="1" dirty="0">
                <a:solidFill>
                  <a:srgbClr val="1D3557"/>
                </a:solidFill>
                <a:latin typeface="Golos Text" pitchFamily="34" charset="0"/>
                <a:ea typeface="Golos Text" pitchFamily="34" charset="-122"/>
                <a:cs typeface="Golos Text" pitchFamily="34" charset="-120"/>
              </a:rPr>
              <a:t>Жамиланын 220 см натыйжасын алып салсак, «Тулпардын» орточосу 316 см болот.</a:t>
            </a:r>
            <a:endParaRPr lang="en-US" sz="1800" dirty="0"/>
          </a:p>
        </p:txBody>
      </p:sp>
      <p:sp>
        <p:nvSpPr>
          <p:cNvPr id="25" name="anim3_v"/>
          <p:cNvSpPr/>
          <p:nvPr/>
        </p:nvSpPr>
        <p:spPr>
          <a:xfrm>
            <a:off x="7406640" y="4846320"/>
            <a:ext cx="1371600" cy="1051560"/>
          </a:xfrm>
          <a:prstGeom prst="roundRect">
            <a:avLst>
              <a:gd name="adj" fmla="val 30000"/>
            </a:avLst>
          </a:prstGeom>
          <a:solidFill>
            <a:srgbClr val="D1E7E1"/>
          </a:solidFill>
          <a:ln w="25400">
            <a:solidFill>
              <a:srgbClr val="007A5A"/>
            </a:solidFill>
            <a:prstDash val="solid"/>
          </a:ln>
        </p:spPr>
        <p:txBody>
          <a:bodyPr wrap="square" lIns="0" tIns="0" rIns="0" bIns="0" rtlCol="0" anchor="ctr"/>
          <a:lstStyle/>
          <a:p>
            <a:pPr algn="ctr" indent="0" marL="0">
              <a:buNone/>
            </a:pPr>
            <a:r>
              <a:rPr lang="en-US" sz="2200" b="1" dirty="0">
                <a:solidFill>
                  <a:srgbClr val="007A5A"/>
                </a:solidFill>
                <a:latin typeface="Golos Text" pitchFamily="34" charset="0"/>
                <a:ea typeface="Golos Text" pitchFamily="34" charset="-122"/>
                <a:cs typeface="Golos Text" pitchFamily="34" charset="-120"/>
              </a:rPr>
              <a:t>Ооба</a:t>
            </a:r>
            <a:endParaRPr lang="en-US" sz="2200" dirty="0"/>
          </a:p>
        </p:txBody>
      </p:sp>
      <p:sp>
        <p:nvSpPr>
          <p:cNvPr id="26" name="anim3_v"/>
          <p:cNvSpPr/>
          <p:nvPr/>
        </p:nvSpPr>
        <p:spPr>
          <a:xfrm>
            <a:off x="8915400" y="4736592"/>
            <a:ext cx="2788920" cy="1280160"/>
          </a:xfrm>
          <a:prstGeom prst="rect">
            <a:avLst/>
          </a:prstGeom>
          <a:noFill/>
          <a:ln/>
        </p:spPr>
        <p:txBody>
          <a:bodyPr wrap="square" lIns="0" tIns="0" rIns="0" bIns="0" rtlCol="0" anchor="ctr"/>
          <a:lstStyle/>
          <a:p>
            <a:pPr algn="l" indent="0" marL="0">
              <a:buNone/>
            </a:pPr>
            <a:r>
              <a:rPr lang="en-US" sz="1300" dirty="0">
                <a:solidFill>
                  <a:srgbClr val="1D3557"/>
                </a:solidFill>
                <a:latin typeface="Golos Text" pitchFamily="34" charset="0"/>
                <a:ea typeface="Golos Text" pitchFamily="34" charset="-122"/>
                <a:cs typeface="Golos Text" pitchFamily="34" charset="-120"/>
              </a:rPr>
              <a:t>335 + 320 + 280 + 335 + 310 = 1 580; 1 580 : 5 = 316.</a:t>
            </a:r>
            <a:endParaRPr lang="en-US" sz="1300" dirty="0"/>
          </a:p>
        </p:txBody>
      </p:sp>
      <p:sp>
        <p:nvSpPr>
          <p:cNvPr id="27" name="Text 25"/>
          <p:cNvSpPr/>
          <p:nvPr/>
        </p:nvSpPr>
        <p:spPr>
          <a:xfrm>
            <a:off x="365760" y="6263640"/>
            <a:ext cx="11457432" cy="365760"/>
          </a:xfrm>
          <a:prstGeom prst="rect">
            <a:avLst/>
          </a:prstGeom>
          <a:noFill/>
          <a:ln/>
        </p:spPr>
        <p:txBody>
          <a:bodyPr wrap="square" lIns="0" tIns="0" rIns="0" bIns="0" rtlCol="0" anchor="t"/>
          <a:lstStyle/>
          <a:p>
            <a:pPr algn="ctr" indent="0" marL="0">
              <a:buNone/>
            </a:pPr>
            <a:r>
              <a:rPr lang="en-US" sz="1300" i="1" dirty="0">
                <a:solidFill>
                  <a:srgbClr val="4A5A70"/>
                </a:solidFill>
                <a:latin typeface="Golos Text" pitchFamily="34" charset="0"/>
                <a:ea typeface="Golos Text" pitchFamily="34" charset="-122"/>
                <a:cs typeface="Golos Text" pitchFamily="34" charset="-120"/>
              </a:rPr>
              <a:t>Толук версия (7 ырастоо): «Ооба… Жок… Балким…» презентациясы</a:t>
            </a:r>
            <a:endParaRPr lang="en-US" sz="1300" dirty="0"/>
          </a:p>
        </p:txBody>
      </p:sp>
      <p:sp>
        <p:nvSpPr>
          <p:cNvPr id="28" name="Slide Number Placeholder 0"/>
          <p:cNvSpPr>
            <a:spLocks noGrp="1"/>
          </p:cNvSpPr>
          <p:nvPr>
            <p:ph type="sldNum" sz="quarter" idx="4294967295"/>
          </p:nvPr>
        </p:nvSpPr>
        <p:spPr>
          <a:xfrm>
            <a:off x="11384280" y="6492240"/>
            <a:ext cx="438912"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99AA"/>
                </a:solidFill>
                <a:latin typeface="Golos Text"/>
                <a:ea typeface="Golos Text"/>
                <a:cs typeface="Golos Text"/>
              </a:defRPr>
            </a:lvl1pPr>
          </a:lstStyle>
          <a:p>
            <a:pPr algn="r"/>
            <a:fld id="{F7021451-1387-4CA6-816F-3879F97B5CBC}" type="slidenum">
              <a:rPr b="0" lang="en-US"/>
              <a:t>8</a:t>
            </a:fld>
            <a:endParaRPr lang="en-US"/>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5"/>
                                        </p:tgtEl>
                                        <p:attrNameLst>
                                          <p:attrName>style.visibility</p:attrName>
                                        </p:attrNameLst>
                                      </p:cBhvr>
                                      <p:to>
                                        <p:strVal val="visible"/>
                                      </p:to>
                                    </p:set>
                                    <p:animEffect transition="in" filter="fade">
                                      <p:cBhvr>
                                        <p:cTn id="5" dur="600"/>
                                        <p:tgtEl>
                                          <p:spTgt spid="1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6"/>
                                        </p:tgtEl>
                                        <p:attrNameLst>
                                          <p:attrName>style.visibility</p:attrName>
                                        </p:attrNameLst>
                                      </p:cBhvr>
                                      <p:to>
                                        <p:strVal val="visible"/>
                                      </p:to>
                                    </p:set>
                                    <p:animEffect transition="in" filter="fade">
                                      <p:cBhvr>
                                        <p:cTn id="8" dur="6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60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600"/>
                                        <p:tgtEl>
                                          <p:spTgt spid="21"/>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600"/>
                                        <p:tgtEl>
                                          <p:spTgt spid="2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6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20" grpId="0" animBg="1"/>
      <p:bldP spid="21" grpId="0" animBg="1"/>
      <p:bldP spid="25" grpId="0" animBg="1"/>
      <p:bldP spid="2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11457432" cy="640080"/>
          </a:xfrm>
          <a:prstGeom prst="roundRect">
            <a:avLst>
              <a:gd name="adj" fmla="val 22000"/>
            </a:avLst>
          </a:prstGeom>
          <a:solidFill>
            <a:srgbClr val="FFFFFF"/>
          </a:solidFill>
          <a:ln w="19050">
            <a:solidFill>
              <a:srgbClr val="1D3557"/>
            </a:solidFill>
            <a:prstDash val="solid"/>
          </a:ln>
        </p:spPr>
      </p:sp>
      <p:sp>
        <p:nvSpPr>
          <p:cNvPr id="3" name="Shape 1"/>
          <p:cNvSpPr/>
          <p:nvPr/>
        </p:nvSpPr>
        <p:spPr>
          <a:xfrm>
            <a:off x="557784" y="369418"/>
            <a:ext cx="70409" cy="358445"/>
          </a:xfrm>
          <a:prstGeom prst="roundRect">
            <a:avLst>
              <a:gd name="adj" fmla="val 50000"/>
            </a:avLst>
          </a:prstGeom>
          <a:solidFill>
            <a:srgbClr val="007A5A"/>
          </a:solidFill>
          <a:ln/>
        </p:spPr>
      </p:sp>
      <p:sp>
        <p:nvSpPr>
          <p:cNvPr id="4" name="Shape 2"/>
          <p:cNvSpPr/>
          <p:nvPr/>
        </p:nvSpPr>
        <p:spPr>
          <a:xfrm>
            <a:off x="691561" y="369418"/>
            <a:ext cx="70409" cy="358445"/>
          </a:xfrm>
          <a:prstGeom prst="roundRect">
            <a:avLst>
              <a:gd name="adj" fmla="val 50000"/>
            </a:avLst>
          </a:prstGeom>
          <a:solidFill>
            <a:srgbClr val="A84400"/>
          </a:solidFill>
          <a:ln/>
        </p:spPr>
      </p:sp>
      <p:sp>
        <p:nvSpPr>
          <p:cNvPr id="5" name="Shape 3"/>
          <p:cNvSpPr/>
          <p:nvPr/>
        </p:nvSpPr>
        <p:spPr>
          <a:xfrm>
            <a:off x="825337" y="369418"/>
            <a:ext cx="70409" cy="358445"/>
          </a:xfrm>
          <a:prstGeom prst="roundRect">
            <a:avLst>
              <a:gd name="adj" fmla="val 50000"/>
            </a:avLst>
          </a:prstGeom>
          <a:solidFill>
            <a:srgbClr val="24418C"/>
          </a:solidFill>
          <a:ln/>
        </p:spPr>
      </p:sp>
      <p:sp>
        <p:nvSpPr>
          <p:cNvPr id="6" name="Text 4"/>
          <p:cNvSpPr/>
          <p:nvPr/>
        </p:nvSpPr>
        <p:spPr>
          <a:xfrm>
            <a:off x="1096914" y="228600"/>
            <a:ext cx="7589520" cy="640080"/>
          </a:xfrm>
          <a:prstGeom prst="rect">
            <a:avLst/>
          </a:prstGeom>
          <a:noFill/>
          <a:ln/>
        </p:spPr>
        <p:txBody>
          <a:bodyPr wrap="square" lIns="0" tIns="0" rIns="0" bIns="0" rtlCol="0" anchor="ctr"/>
          <a:lstStyle/>
          <a:p>
            <a:pPr algn="l" indent="0" marL="0">
              <a:buNone/>
            </a:pPr>
            <a:r>
              <a:rPr lang="en-US" sz="2200" b="1" dirty="0">
                <a:solidFill>
                  <a:srgbClr val="1D3557"/>
                </a:solidFill>
                <a:latin typeface="Golos Text" pitchFamily="34" charset="0"/>
                <a:ea typeface="Golos Text" pitchFamily="34" charset="-122"/>
                <a:cs typeface="Golos Text" pitchFamily="34" charset="-120"/>
              </a:rPr>
              <a:t>Салыштыруу: ар бир ыкма — башка суроо</a:t>
            </a:r>
            <a:endParaRPr lang="en-US" sz="2200" dirty="0"/>
          </a:p>
        </p:txBody>
      </p:sp>
      <p:sp>
        <p:nvSpPr>
          <p:cNvPr id="7" name="Text 5"/>
          <p:cNvSpPr/>
          <p:nvPr/>
        </p:nvSpPr>
        <p:spPr>
          <a:xfrm>
            <a:off x="8778240" y="228600"/>
            <a:ext cx="2880360" cy="640080"/>
          </a:xfrm>
          <a:prstGeom prst="rect">
            <a:avLst/>
          </a:prstGeom>
          <a:noFill/>
          <a:ln/>
        </p:spPr>
        <p:txBody>
          <a:bodyPr wrap="square" lIns="0" tIns="0" rIns="0" bIns="0" rtlCol="0" anchor="ctr"/>
          <a:lstStyle/>
          <a:p>
            <a:pPr algn="r" indent="0" marL="0">
              <a:buNone/>
            </a:pPr>
            <a:r>
              <a:rPr lang="en-US" sz="1100" dirty="0">
                <a:solidFill>
                  <a:srgbClr val="4A5A70"/>
                </a:solidFill>
                <a:latin typeface="Golos Text" pitchFamily="34" charset="0"/>
                <a:ea typeface="Golos Text" pitchFamily="34" charset="-122"/>
                <a:cs typeface="Golos Text" pitchFamily="34" charset="-120"/>
              </a:rPr>
              <a:t>Статистика › Төрт өлчөм</a:t>
            </a:r>
            <a:endParaRPr lang="en-US" sz="1100" dirty="0"/>
          </a:p>
        </p:txBody>
      </p:sp>
      <p:sp>
        <p:nvSpPr>
          <p:cNvPr id="8" name="Text 6"/>
          <p:cNvSpPr/>
          <p:nvPr/>
        </p:nvSpPr>
        <p:spPr>
          <a:xfrm>
            <a:off x="411480" y="960120"/>
            <a:ext cx="8412480" cy="329184"/>
          </a:xfrm>
          <a:prstGeom prst="rect">
            <a:avLst/>
          </a:prstGeom>
          <a:noFill/>
          <a:ln/>
        </p:spPr>
        <p:txBody>
          <a:bodyPr wrap="square" lIns="0" tIns="0" rIns="0" bIns="0" rtlCol="0" anchor="t"/>
          <a:lstStyle/>
          <a:p>
            <a:pPr algn="l" indent="0" marL="0">
              <a:buNone/>
            </a:pPr>
            <a:r>
              <a:rPr lang="en-US" sz="1500" i="1" dirty="0">
                <a:solidFill>
                  <a:srgbClr val="4A5A70"/>
                </a:solidFill>
                <a:latin typeface="Golos Text" pitchFamily="34" charset="0"/>
                <a:ea typeface="Golos Text" pitchFamily="34" charset="-122"/>
                <a:cs typeface="Golos Text" pitchFamily="34" charset="-120"/>
              </a:rPr>
              <a:t>Ыкмаларды катар коюп талкуулайбыз: ким алдыда жана эмне үчүн?</a:t>
            </a:r>
            <a:endParaRPr lang="en-US" sz="1500" dirty="0"/>
          </a:p>
        </p:txBody>
      </p:sp>
      <p:sp>
        <p:nvSpPr>
          <p:cNvPr id="9" name="Text 7"/>
          <p:cNvSpPr/>
          <p:nvPr/>
        </p:nvSpPr>
        <p:spPr>
          <a:xfrm>
            <a:off x="8897112" y="969264"/>
            <a:ext cx="2926080" cy="310896"/>
          </a:xfrm>
          <a:prstGeom prst="rect">
            <a:avLst/>
          </a:prstGeom>
          <a:noFill/>
          <a:ln/>
        </p:spPr>
        <p:txBody>
          <a:bodyPr wrap="square" lIns="0" tIns="0" rIns="0" bIns="0" rtlCol="0" anchor="ctr"/>
          <a:lstStyle/>
          <a:p>
            <a:pPr algn="r" indent="0" marL="0">
              <a:buNone/>
            </a:pPr>
            <a:r>
              <a:rPr lang="en-US" sz="1200" dirty="0">
                <a:solidFill>
                  <a:srgbClr val="4A5A70"/>
                </a:solidFill>
                <a:latin typeface="Golos Text" pitchFamily="34" charset="0"/>
                <a:ea typeface="Golos Text" pitchFamily="34" charset="-122"/>
                <a:cs typeface="Golos Text" pitchFamily="34" charset="-120"/>
              </a:rPr>
              <a:t>Салыштыруу · 1,5 мүн</a:t>
            </a:r>
            <a:endParaRPr lang="en-US" sz="1200" dirty="0"/>
          </a:p>
        </p:txBody>
      </p:sp>
      <p:sp>
        <p:nvSpPr>
          <p:cNvPr id="10" name="Text 8"/>
          <p:cNvSpPr/>
          <p:nvPr/>
        </p:nvSpPr>
        <p:spPr>
          <a:xfrm>
            <a:off x="365760" y="6492240"/>
            <a:ext cx="5486400" cy="228600"/>
          </a:xfrm>
          <a:prstGeom prst="rect">
            <a:avLst/>
          </a:prstGeom>
          <a:noFill/>
          <a:ln/>
        </p:spPr>
        <p:txBody>
          <a:bodyPr wrap="square" lIns="0" tIns="0" rIns="0" bIns="0" rtlCol="0" anchor="t"/>
          <a:lstStyle/>
          <a:p>
            <a:pPr algn="l" indent="0" marL="0">
              <a:buNone/>
            </a:pPr>
            <a:r>
              <a:rPr lang="en-US" sz="900" dirty="0">
                <a:solidFill>
                  <a:srgbClr val="8D99AA"/>
                </a:solidFill>
                <a:latin typeface="Golos Text" pitchFamily="34" charset="0"/>
                <a:ea typeface="Golos Text" pitchFamily="34" charset="-122"/>
                <a:cs typeface="Golos Text" pitchFamily="34" charset="-120"/>
              </a:rPr>
              <a:t>MathKG · Математика кыргызча</a:t>
            </a:r>
            <a:endParaRPr lang="en-US" sz="900" dirty="0"/>
          </a:p>
        </p:txBody>
      </p:sp>
      <p:sp>
        <p:nvSpPr>
          <p:cNvPr id="11" name="Text 9"/>
          <p:cNvSpPr/>
          <p:nvPr/>
        </p:nvSpPr>
        <p:spPr>
          <a:xfrm>
            <a:off x="7680960" y="6492240"/>
            <a:ext cx="3657600" cy="228600"/>
          </a:xfrm>
          <a:prstGeom prst="rect">
            <a:avLst/>
          </a:prstGeom>
          <a:noFill/>
          <a:ln/>
        </p:spPr>
        <p:txBody>
          <a:bodyPr wrap="square" lIns="0" tIns="0" rIns="0" bIns="0" rtlCol="0" anchor="t"/>
          <a:lstStyle/>
          <a:p>
            <a:pPr algn="r" indent="0" marL="0">
              <a:buNone/>
            </a:pPr>
            <a:r>
              <a:rPr lang="en-US" sz="900" dirty="0">
                <a:solidFill>
                  <a:srgbClr val="8D99AA"/>
                </a:solidFill>
                <a:latin typeface="Golos Text" pitchFamily="34" charset="0"/>
                <a:ea typeface="Golos Text" pitchFamily="34" charset="-122"/>
                <a:cs typeface="Golos Text" pitchFamily="34" charset="-120"/>
              </a:rPr>
              <a:t>MathKG ыкмасы · 1,5 мүн</a:t>
            </a:r>
            <a:endParaRPr lang="en-US" sz="900" dirty="0"/>
          </a:p>
        </p:txBody>
      </p:sp>
      <p:sp>
        <p:nvSpPr>
          <p:cNvPr id="12" name="Shape 10"/>
          <p:cNvSpPr/>
          <p:nvPr/>
        </p:nvSpPr>
        <p:spPr>
          <a:xfrm>
            <a:off x="365760" y="1417320"/>
            <a:ext cx="11457432" cy="457200"/>
          </a:xfrm>
          <a:prstGeom prst="roundRect">
            <a:avLst>
              <a:gd name="adj" fmla="val 20000"/>
            </a:avLst>
          </a:prstGeom>
          <a:solidFill>
            <a:srgbClr val="1D3557"/>
          </a:solidFill>
          <a:ln/>
        </p:spPr>
      </p:sp>
      <p:sp>
        <p:nvSpPr>
          <p:cNvPr id="13" name="Text 11"/>
          <p:cNvSpPr/>
          <p:nvPr/>
        </p:nvSpPr>
        <p:spPr>
          <a:xfrm>
            <a:off x="475488" y="1417320"/>
            <a:ext cx="2615184" cy="457200"/>
          </a:xfrm>
          <a:prstGeom prst="rect">
            <a:avLst/>
          </a:prstGeom>
          <a:noFill/>
          <a:ln/>
        </p:spPr>
        <p:txBody>
          <a:bodyPr wrap="square" lIns="0" tIns="0" rIns="0" bIns="0" rtlCol="0" anchor="ctr"/>
          <a:lstStyle/>
          <a:p>
            <a:pPr algn="l" indent="0" marL="0">
              <a:buNone/>
            </a:pPr>
            <a:r>
              <a:rPr lang="en-US" sz="1400" b="1" dirty="0">
                <a:solidFill>
                  <a:srgbClr val="FFFFFF"/>
                </a:solidFill>
                <a:latin typeface="Golos Text" pitchFamily="34" charset="0"/>
                <a:ea typeface="Golos Text" pitchFamily="34" charset="-122"/>
                <a:cs typeface="Golos Text" pitchFamily="34" charset="-120"/>
              </a:rPr>
              <a:t>Ыкма</a:t>
            </a:r>
            <a:endParaRPr lang="en-US" sz="1400" dirty="0"/>
          </a:p>
        </p:txBody>
      </p:sp>
      <p:sp>
        <p:nvSpPr>
          <p:cNvPr id="14" name="Text 12"/>
          <p:cNvSpPr/>
          <p:nvPr/>
        </p:nvSpPr>
        <p:spPr>
          <a:xfrm>
            <a:off x="3310128" y="1417320"/>
            <a:ext cx="969264"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Golos Text" pitchFamily="34" charset="0"/>
                <a:ea typeface="Golos Text" pitchFamily="34" charset="-122"/>
                <a:cs typeface="Golos Text" pitchFamily="34" charset="-120"/>
              </a:rPr>
              <a:t>«Шумкар»</a:t>
            </a:r>
            <a:endParaRPr lang="en-US" sz="1400" dirty="0"/>
          </a:p>
        </p:txBody>
      </p:sp>
      <p:sp>
        <p:nvSpPr>
          <p:cNvPr id="15" name="Text 13"/>
          <p:cNvSpPr/>
          <p:nvPr/>
        </p:nvSpPr>
        <p:spPr>
          <a:xfrm>
            <a:off x="4498848" y="1417320"/>
            <a:ext cx="969264"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Golos Text" pitchFamily="34" charset="0"/>
                <a:ea typeface="Golos Text" pitchFamily="34" charset="-122"/>
                <a:cs typeface="Golos Text" pitchFamily="34" charset="-120"/>
              </a:rPr>
              <a:t>«Тулпар»</a:t>
            </a:r>
            <a:endParaRPr lang="en-US" sz="1400" dirty="0"/>
          </a:p>
        </p:txBody>
      </p:sp>
      <p:sp>
        <p:nvSpPr>
          <p:cNvPr id="16" name="Text 14"/>
          <p:cNvSpPr/>
          <p:nvPr/>
        </p:nvSpPr>
        <p:spPr>
          <a:xfrm>
            <a:off x="5687568" y="1417320"/>
            <a:ext cx="1746504"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Golos Text" pitchFamily="34" charset="0"/>
                <a:ea typeface="Golos Text" pitchFamily="34" charset="-122"/>
                <a:cs typeface="Golos Text" pitchFamily="34" charset="-120"/>
              </a:rPr>
              <a:t>Ким алдыда?</a:t>
            </a:r>
            <a:endParaRPr lang="en-US" sz="1400" dirty="0"/>
          </a:p>
        </p:txBody>
      </p:sp>
      <p:sp>
        <p:nvSpPr>
          <p:cNvPr id="17" name="Text 15"/>
          <p:cNvSpPr/>
          <p:nvPr/>
        </p:nvSpPr>
        <p:spPr>
          <a:xfrm>
            <a:off x="7653528" y="1417320"/>
            <a:ext cx="4059936" cy="457200"/>
          </a:xfrm>
          <a:prstGeom prst="rect">
            <a:avLst/>
          </a:prstGeom>
          <a:noFill/>
          <a:ln/>
        </p:spPr>
        <p:txBody>
          <a:bodyPr wrap="square" lIns="0" tIns="0" rIns="0" bIns="0" rtlCol="0" anchor="ctr"/>
          <a:lstStyle/>
          <a:p>
            <a:pPr algn="l" indent="0" marL="0">
              <a:buNone/>
            </a:pPr>
            <a:r>
              <a:rPr lang="en-US" sz="1400" b="1" dirty="0">
                <a:solidFill>
                  <a:srgbClr val="FFFFFF"/>
                </a:solidFill>
                <a:latin typeface="Golos Text" pitchFamily="34" charset="0"/>
                <a:ea typeface="Golos Text" pitchFamily="34" charset="-122"/>
                <a:cs typeface="Golos Text" pitchFamily="34" charset="-120"/>
              </a:rPr>
              <a:t>Кайсы суроого жооп берет?</a:t>
            </a:r>
            <a:endParaRPr lang="en-US" sz="1400" dirty="0"/>
          </a:p>
        </p:txBody>
      </p:sp>
      <p:sp>
        <p:nvSpPr>
          <p:cNvPr id="18" name="Shape 16"/>
          <p:cNvSpPr/>
          <p:nvPr/>
        </p:nvSpPr>
        <p:spPr>
          <a:xfrm>
            <a:off x="365760" y="1965960"/>
            <a:ext cx="11457432" cy="640080"/>
          </a:xfrm>
          <a:prstGeom prst="roundRect">
            <a:avLst>
              <a:gd name="adj" fmla="val 20000"/>
            </a:avLst>
          </a:prstGeom>
          <a:solidFill>
            <a:srgbClr val="F3F5FB"/>
          </a:solidFill>
          <a:ln w="12700">
            <a:solidFill>
              <a:srgbClr val="E7EAF2"/>
            </a:solidFill>
            <a:prstDash val="solid"/>
          </a:ln>
        </p:spPr>
      </p:sp>
      <p:sp>
        <p:nvSpPr>
          <p:cNvPr id="19" name="Text 17"/>
          <p:cNvSpPr/>
          <p:nvPr/>
        </p:nvSpPr>
        <p:spPr>
          <a:xfrm>
            <a:off x="475488" y="1965960"/>
            <a:ext cx="2651760" cy="640080"/>
          </a:xfrm>
          <a:prstGeom prst="rect">
            <a:avLst/>
          </a:prstGeom>
          <a:noFill/>
          <a:ln/>
        </p:spPr>
        <p:txBody>
          <a:bodyPr wrap="square" lIns="0" tIns="0" rIns="0" bIns="0" rtlCol="0" anchor="ctr"/>
          <a:lstStyle/>
          <a:p>
            <a:pPr algn="l" indent="0" marL="0">
              <a:buNone/>
            </a:pPr>
            <a:r>
              <a:rPr lang="en-US" sz="1500" b="1" dirty="0">
                <a:solidFill>
                  <a:srgbClr val="1D3557"/>
                </a:solidFill>
                <a:latin typeface="Golos Text" pitchFamily="34" charset="0"/>
                <a:ea typeface="Golos Text" pitchFamily="34" charset="-122"/>
                <a:cs typeface="Golos Text" pitchFamily="34" charset="-120"/>
              </a:rPr>
              <a:t>А  Баарын кошуу</a:t>
            </a:r>
            <a:endParaRPr lang="en-US" sz="1500" dirty="0"/>
          </a:p>
        </p:txBody>
      </p:sp>
      <p:sp>
        <p:nvSpPr>
          <p:cNvPr id="20" name="Text 18"/>
          <p:cNvSpPr/>
          <p:nvPr/>
        </p:nvSpPr>
        <p:spPr>
          <a:xfrm>
            <a:off x="3200400" y="1965960"/>
            <a:ext cx="1188720" cy="640080"/>
          </a:xfrm>
          <a:prstGeom prst="rect">
            <a:avLst/>
          </a:prstGeom>
          <a:noFill/>
          <a:ln/>
        </p:spPr>
        <p:txBody>
          <a:bodyPr wrap="square" lIns="0" tIns="0" rIns="0" bIns="0" rtlCol="0" anchor="ctr"/>
          <a:lstStyle/>
          <a:p>
            <a:pPr algn="ctr" indent="0" marL="0">
              <a:buNone/>
            </a:pPr>
            <a:r>
              <a:rPr lang="en-US" sz="1800" b="1" dirty="0">
                <a:solidFill>
                  <a:srgbClr val="007A5A"/>
                </a:solidFill>
                <a:latin typeface="Golos Text" pitchFamily="34" charset="0"/>
                <a:ea typeface="Golos Text" pitchFamily="34" charset="-122"/>
                <a:cs typeface="Golos Text" pitchFamily="34" charset="-120"/>
              </a:rPr>
              <a:t>1 550</a:t>
            </a:r>
            <a:endParaRPr lang="en-US" sz="1800" dirty="0"/>
          </a:p>
        </p:txBody>
      </p:sp>
      <p:sp>
        <p:nvSpPr>
          <p:cNvPr id="21" name="Text 19"/>
          <p:cNvSpPr/>
          <p:nvPr/>
        </p:nvSpPr>
        <p:spPr>
          <a:xfrm>
            <a:off x="4389120" y="1965960"/>
            <a:ext cx="1188720" cy="640080"/>
          </a:xfrm>
          <a:prstGeom prst="rect">
            <a:avLst/>
          </a:prstGeom>
          <a:noFill/>
          <a:ln/>
        </p:spPr>
        <p:txBody>
          <a:bodyPr wrap="square" lIns="0" tIns="0" rIns="0" bIns="0" rtlCol="0" anchor="ctr"/>
          <a:lstStyle/>
          <a:p>
            <a:pPr algn="ctr" indent="0" marL="0">
              <a:buNone/>
            </a:pPr>
            <a:r>
              <a:rPr lang="en-US" sz="1800" b="1" dirty="0">
                <a:solidFill>
                  <a:srgbClr val="24418C"/>
                </a:solidFill>
                <a:latin typeface="Golos Text" pitchFamily="34" charset="0"/>
                <a:ea typeface="Golos Text" pitchFamily="34" charset="-122"/>
                <a:cs typeface="Golos Text" pitchFamily="34" charset="-120"/>
              </a:rPr>
              <a:t>1 800</a:t>
            </a:r>
            <a:endParaRPr lang="en-US" sz="1800" dirty="0"/>
          </a:p>
        </p:txBody>
      </p:sp>
      <p:sp>
        <p:nvSpPr>
          <p:cNvPr id="22" name="anim1_r"/>
          <p:cNvSpPr/>
          <p:nvPr/>
        </p:nvSpPr>
        <p:spPr>
          <a:xfrm>
            <a:off x="5650992" y="2039112"/>
            <a:ext cx="1819656" cy="493776"/>
          </a:xfrm>
          <a:prstGeom prst="roundRect">
            <a:avLst>
              <a:gd name="adj" fmla="val 40000"/>
            </a:avLst>
          </a:prstGeom>
          <a:solidFill>
            <a:srgbClr val="FFFFFF"/>
          </a:solidFill>
          <a:ln w="19050">
            <a:solidFill>
              <a:srgbClr val="8D99AA"/>
            </a:solidFill>
            <a:prstDash val="solid"/>
          </a:ln>
        </p:spPr>
        <p:txBody>
          <a:bodyPr wrap="square" lIns="0" tIns="0" rIns="0" bIns="0" rtlCol="0" anchor="ctr"/>
          <a:lstStyle/>
          <a:p>
            <a:pPr algn="ctr" indent="0" marL="0">
              <a:buNone/>
            </a:pPr>
            <a:r>
              <a:rPr lang="en-US" sz="1400" b="1" dirty="0">
                <a:solidFill>
                  <a:srgbClr val="4A5A70"/>
                </a:solidFill>
                <a:latin typeface="Golos Text" pitchFamily="34" charset="0"/>
                <a:ea typeface="Golos Text" pitchFamily="34" charset="-122"/>
                <a:cs typeface="Golos Text" pitchFamily="34" charset="-120"/>
              </a:rPr>
              <a:t>адилетсиз</a:t>
            </a:r>
            <a:endParaRPr lang="en-US" sz="1400" dirty="0"/>
          </a:p>
        </p:txBody>
      </p:sp>
      <p:sp>
        <p:nvSpPr>
          <p:cNvPr id="23" name="anim1_r"/>
          <p:cNvSpPr/>
          <p:nvPr/>
        </p:nvSpPr>
        <p:spPr>
          <a:xfrm>
            <a:off x="7653528" y="1965960"/>
            <a:ext cx="4096512" cy="640080"/>
          </a:xfrm>
          <a:prstGeom prst="rect">
            <a:avLst/>
          </a:prstGeom>
          <a:noFill/>
          <a:ln/>
        </p:spPr>
        <p:txBody>
          <a:bodyPr wrap="square" lIns="0" tIns="0" rIns="0" bIns="0" rtlCol="0" anchor="ctr"/>
          <a:lstStyle/>
          <a:p>
            <a:pPr algn="l" indent="0" marL="0">
              <a:buNone/>
            </a:pPr>
            <a:r>
              <a:rPr lang="en-US" sz="1400" i="1" dirty="0">
                <a:solidFill>
                  <a:srgbClr val="1D3557"/>
                </a:solidFill>
                <a:latin typeface="Golos Text" pitchFamily="34" charset="0"/>
                <a:ea typeface="Golos Text" pitchFamily="34" charset="-122"/>
                <a:cs typeface="Golos Text" pitchFamily="34" charset="-120"/>
              </a:rPr>
              <a:t>Команда баары канча секирди? (саны башка)</a:t>
            </a:r>
            <a:endParaRPr lang="en-US" sz="1400" dirty="0"/>
          </a:p>
        </p:txBody>
      </p:sp>
      <p:sp>
        <p:nvSpPr>
          <p:cNvPr id="24" name="Shape 22"/>
          <p:cNvSpPr/>
          <p:nvPr/>
        </p:nvSpPr>
        <p:spPr>
          <a:xfrm>
            <a:off x="365760" y="2679192"/>
            <a:ext cx="11457432" cy="640080"/>
          </a:xfrm>
          <a:prstGeom prst="roundRect">
            <a:avLst>
              <a:gd name="adj" fmla="val 20000"/>
            </a:avLst>
          </a:prstGeom>
          <a:solidFill>
            <a:srgbClr val="FFFFFF"/>
          </a:solidFill>
          <a:ln w="12700">
            <a:solidFill>
              <a:srgbClr val="E7EAF2"/>
            </a:solidFill>
            <a:prstDash val="solid"/>
          </a:ln>
        </p:spPr>
      </p:sp>
      <p:sp>
        <p:nvSpPr>
          <p:cNvPr id="25" name="Text 23"/>
          <p:cNvSpPr/>
          <p:nvPr/>
        </p:nvSpPr>
        <p:spPr>
          <a:xfrm>
            <a:off x="475488" y="2679192"/>
            <a:ext cx="2651760" cy="640080"/>
          </a:xfrm>
          <a:prstGeom prst="rect">
            <a:avLst/>
          </a:prstGeom>
          <a:noFill/>
          <a:ln/>
        </p:spPr>
        <p:txBody>
          <a:bodyPr wrap="square" lIns="0" tIns="0" rIns="0" bIns="0" rtlCol="0" anchor="ctr"/>
          <a:lstStyle/>
          <a:p>
            <a:pPr algn="l" indent="0" marL="0">
              <a:buNone/>
            </a:pPr>
            <a:r>
              <a:rPr lang="en-US" sz="1500" b="1" dirty="0">
                <a:solidFill>
                  <a:srgbClr val="1D3557"/>
                </a:solidFill>
                <a:latin typeface="Golos Text" pitchFamily="34" charset="0"/>
                <a:ea typeface="Golos Text" pitchFamily="34" charset="-122"/>
                <a:cs typeface="Golos Text" pitchFamily="34" charset="-120"/>
              </a:rPr>
              <a:t>Б  Тең бөлүү</a:t>
            </a:r>
            <a:endParaRPr lang="en-US" sz="1500" dirty="0"/>
          </a:p>
        </p:txBody>
      </p:sp>
      <p:sp>
        <p:nvSpPr>
          <p:cNvPr id="26" name="Text 24"/>
          <p:cNvSpPr/>
          <p:nvPr/>
        </p:nvSpPr>
        <p:spPr>
          <a:xfrm>
            <a:off x="3200400" y="2679192"/>
            <a:ext cx="1188720" cy="640080"/>
          </a:xfrm>
          <a:prstGeom prst="rect">
            <a:avLst/>
          </a:prstGeom>
          <a:noFill/>
          <a:ln/>
        </p:spPr>
        <p:txBody>
          <a:bodyPr wrap="square" lIns="0" tIns="0" rIns="0" bIns="0" rtlCol="0" anchor="ctr"/>
          <a:lstStyle/>
          <a:p>
            <a:pPr algn="ctr" indent="0" marL="0">
              <a:buNone/>
            </a:pPr>
            <a:r>
              <a:rPr lang="en-US" sz="1800" b="1" dirty="0">
                <a:solidFill>
                  <a:srgbClr val="007A5A"/>
                </a:solidFill>
                <a:latin typeface="Golos Text" pitchFamily="34" charset="0"/>
                <a:ea typeface="Golos Text" pitchFamily="34" charset="-122"/>
                <a:cs typeface="Golos Text" pitchFamily="34" charset="-120"/>
              </a:rPr>
              <a:t>310</a:t>
            </a:r>
            <a:endParaRPr lang="en-US" sz="1800" dirty="0"/>
          </a:p>
        </p:txBody>
      </p:sp>
      <p:sp>
        <p:nvSpPr>
          <p:cNvPr id="27" name="Text 25"/>
          <p:cNvSpPr/>
          <p:nvPr/>
        </p:nvSpPr>
        <p:spPr>
          <a:xfrm>
            <a:off x="4389120" y="2679192"/>
            <a:ext cx="1188720" cy="640080"/>
          </a:xfrm>
          <a:prstGeom prst="rect">
            <a:avLst/>
          </a:prstGeom>
          <a:noFill/>
          <a:ln/>
        </p:spPr>
        <p:txBody>
          <a:bodyPr wrap="square" lIns="0" tIns="0" rIns="0" bIns="0" rtlCol="0" anchor="ctr"/>
          <a:lstStyle/>
          <a:p>
            <a:pPr algn="ctr" indent="0" marL="0">
              <a:buNone/>
            </a:pPr>
            <a:r>
              <a:rPr lang="en-US" sz="1800" b="1" dirty="0">
                <a:solidFill>
                  <a:srgbClr val="24418C"/>
                </a:solidFill>
                <a:latin typeface="Golos Text" pitchFamily="34" charset="0"/>
                <a:ea typeface="Golos Text" pitchFamily="34" charset="-122"/>
                <a:cs typeface="Golos Text" pitchFamily="34" charset="-120"/>
              </a:rPr>
              <a:t>300</a:t>
            </a:r>
            <a:endParaRPr lang="en-US" sz="1800" dirty="0"/>
          </a:p>
        </p:txBody>
      </p:sp>
      <p:sp>
        <p:nvSpPr>
          <p:cNvPr id="28" name="anim2_r"/>
          <p:cNvSpPr/>
          <p:nvPr/>
        </p:nvSpPr>
        <p:spPr>
          <a:xfrm>
            <a:off x="5650992" y="2752344"/>
            <a:ext cx="1819656" cy="493776"/>
          </a:xfrm>
          <a:prstGeom prst="roundRect">
            <a:avLst>
              <a:gd name="adj" fmla="val 40000"/>
            </a:avLst>
          </a:prstGeom>
          <a:solidFill>
            <a:srgbClr val="FFFFFF"/>
          </a:solidFill>
          <a:ln w="19050">
            <a:solidFill>
              <a:srgbClr val="007A5A"/>
            </a:solidFill>
            <a:prstDash val="solid"/>
          </a:ln>
        </p:spPr>
        <p:txBody>
          <a:bodyPr wrap="square" lIns="0" tIns="0" rIns="0" bIns="0" rtlCol="0" anchor="ctr"/>
          <a:lstStyle/>
          <a:p>
            <a:pPr algn="ctr" indent="0" marL="0">
              <a:buNone/>
            </a:pPr>
            <a:r>
              <a:rPr lang="en-US" sz="1400" b="1" dirty="0">
                <a:solidFill>
                  <a:srgbClr val="007A5A"/>
                </a:solidFill>
                <a:latin typeface="Golos Text" pitchFamily="34" charset="0"/>
                <a:ea typeface="Golos Text" pitchFamily="34" charset="-122"/>
                <a:cs typeface="Golos Text" pitchFamily="34" charset="-120"/>
              </a:rPr>
              <a:t>«Шумкар»</a:t>
            </a:r>
            <a:endParaRPr lang="en-US" sz="1400" dirty="0"/>
          </a:p>
        </p:txBody>
      </p:sp>
      <p:sp>
        <p:nvSpPr>
          <p:cNvPr id="29" name="anim2_r"/>
          <p:cNvSpPr/>
          <p:nvPr/>
        </p:nvSpPr>
        <p:spPr>
          <a:xfrm>
            <a:off x="7653528" y="2679192"/>
            <a:ext cx="4096512" cy="640080"/>
          </a:xfrm>
          <a:prstGeom prst="rect">
            <a:avLst/>
          </a:prstGeom>
          <a:noFill/>
          <a:ln/>
        </p:spPr>
        <p:txBody>
          <a:bodyPr wrap="square" lIns="0" tIns="0" rIns="0" bIns="0" rtlCol="0" anchor="ctr"/>
          <a:lstStyle/>
          <a:p>
            <a:pPr algn="l" indent="0" marL="0">
              <a:buNone/>
            </a:pPr>
            <a:r>
              <a:rPr lang="en-US" sz="1400" i="1" dirty="0">
                <a:solidFill>
                  <a:srgbClr val="1D3557"/>
                </a:solidFill>
                <a:latin typeface="Golos Text" pitchFamily="34" charset="0"/>
                <a:ea typeface="Golos Text" pitchFamily="34" charset="-122"/>
                <a:cs typeface="Golos Text" pitchFamily="34" charset="-120"/>
              </a:rPr>
              <a:t>Баары бирдей секирсе, ар бири канча?</a:t>
            </a:r>
            <a:endParaRPr lang="en-US" sz="1400" dirty="0"/>
          </a:p>
        </p:txBody>
      </p:sp>
      <p:sp>
        <p:nvSpPr>
          <p:cNvPr id="30" name="Shape 28"/>
          <p:cNvSpPr/>
          <p:nvPr/>
        </p:nvSpPr>
        <p:spPr>
          <a:xfrm>
            <a:off x="365760" y="3392424"/>
            <a:ext cx="11457432" cy="640080"/>
          </a:xfrm>
          <a:prstGeom prst="roundRect">
            <a:avLst>
              <a:gd name="adj" fmla="val 20000"/>
            </a:avLst>
          </a:prstGeom>
          <a:solidFill>
            <a:srgbClr val="F3F5FB"/>
          </a:solidFill>
          <a:ln w="12700">
            <a:solidFill>
              <a:srgbClr val="E7EAF2"/>
            </a:solidFill>
            <a:prstDash val="solid"/>
          </a:ln>
        </p:spPr>
      </p:sp>
      <p:sp>
        <p:nvSpPr>
          <p:cNvPr id="31" name="Text 29"/>
          <p:cNvSpPr/>
          <p:nvPr/>
        </p:nvSpPr>
        <p:spPr>
          <a:xfrm>
            <a:off x="475488" y="3392424"/>
            <a:ext cx="2651760" cy="640080"/>
          </a:xfrm>
          <a:prstGeom prst="rect">
            <a:avLst/>
          </a:prstGeom>
          <a:noFill/>
          <a:ln/>
        </p:spPr>
        <p:txBody>
          <a:bodyPr wrap="square" lIns="0" tIns="0" rIns="0" bIns="0" rtlCol="0" anchor="ctr"/>
          <a:lstStyle/>
          <a:p>
            <a:pPr algn="l" indent="0" marL="0">
              <a:buNone/>
            </a:pPr>
            <a:r>
              <a:rPr lang="en-US" sz="1500" b="1" dirty="0">
                <a:solidFill>
                  <a:srgbClr val="1D3557"/>
                </a:solidFill>
                <a:latin typeface="Golos Text" pitchFamily="34" charset="0"/>
                <a:ea typeface="Golos Text" pitchFamily="34" charset="-122"/>
                <a:cs typeface="Golos Text" pitchFamily="34" charset="-120"/>
              </a:rPr>
              <a:t>В  Ортодогу натыйжа</a:t>
            </a:r>
            <a:endParaRPr lang="en-US" sz="1500" dirty="0"/>
          </a:p>
        </p:txBody>
      </p:sp>
      <p:sp>
        <p:nvSpPr>
          <p:cNvPr id="32" name="Text 30"/>
          <p:cNvSpPr/>
          <p:nvPr/>
        </p:nvSpPr>
        <p:spPr>
          <a:xfrm>
            <a:off x="3200400" y="3392424"/>
            <a:ext cx="1188720" cy="640080"/>
          </a:xfrm>
          <a:prstGeom prst="rect">
            <a:avLst/>
          </a:prstGeom>
          <a:noFill/>
          <a:ln/>
        </p:spPr>
        <p:txBody>
          <a:bodyPr wrap="square" lIns="0" tIns="0" rIns="0" bIns="0" rtlCol="0" anchor="ctr"/>
          <a:lstStyle/>
          <a:p>
            <a:pPr algn="ctr" indent="0" marL="0">
              <a:buNone/>
            </a:pPr>
            <a:r>
              <a:rPr lang="en-US" sz="1800" b="1" dirty="0">
                <a:solidFill>
                  <a:srgbClr val="007A5A"/>
                </a:solidFill>
                <a:latin typeface="Golos Text" pitchFamily="34" charset="0"/>
                <a:ea typeface="Golos Text" pitchFamily="34" charset="-122"/>
                <a:cs typeface="Golos Text" pitchFamily="34" charset="-120"/>
              </a:rPr>
              <a:t>300</a:t>
            </a:r>
            <a:endParaRPr lang="en-US" sz="1800" dirty="0"/>
          </a:p>
        </p:txBody>
      </p:sp>
      <p:sp>
        <p:nvSpPr>
          <p:cNvPr id="33" name="Text 31"/>
          <p:cNvSpPr/>
          <p:nvPr/>
        </p:nvSpPr>
        <p:spPr>
          <a:xfrm>
            <a:off x="4389120" y="3392424"/>
            <a:ext cx="1188720" cy="640080"/>
          </a:xfrm>
          <a:prstGeom prst="rect">
            <a:avLst/>
          </a:prstGeom>
          <a:noFill/>
          <a:ln/>
        </p:spPr>
        <p:txBody>
          <a:bodyPr wrap="square" lIns="0" tIns="0" rIns="0" bIns="0" rtlCol="0" anchor="ctr"/>
          <a:lstStyle/>
          <a:p>
            <a:pPr algn="ctr" indent="0" marL="0">
              <a:buNone/>
            </a:pPr>
            <a:r>
              <a:rPr lang="en-US" sz="1800" b="1" dirty="0">
                <a:solidFill>
                  <a:srgbClr val="24418C"/>
                </a:solidFill>
                <a:latin typeface="Golos Text" pitchFamily="34" charset="0"/>
                <a:ea typeface="Golos Text" pitchFamily="34" charset="-122"/>
                <a:cs typeface="Golos Text" pitchFamily="34" charset="-120"/>
              </a:rPr>
              <a:t>315</a:t>
            </a:r>
            <a:endParaRPr lang="en-US" sz="1800" dirty="0"/>
          </a:p>
        </p:txBody>
      </p:sp>
      <p:sp>
        <p:nvSpPr>
          <p:cNvPr id="34" name="anim3_r"/>
          <p:cNvSpPr/>
          <p:nvPr/>
        </p:nvSpPr>
        <p:spPr>
          <a:xfrm>
            <a:off x="5650992" y="3465576"/>
            <a:ext cx="1819656" cy="493776"/>
          </a:xfrm>
          <a:prstGeom prst="roundRect">
            <a:avLst>
              <a:gd name="adj" fmla="val 40000"/>
            </a:avLst>
          </a:prstGeom>
          <a:solidFill>
            <a:srgbClr val="FFFFFF"/>
          </a:solidFill>
          <a:ln w="19050">
            <a:solidFill>
              <a:srgbClr val="24418C"/>
            </a:solidFill>
            <a:prstDash val="solid"/>
          </a:ln>
        </p:spPr>
        <p:txBody>
          <a:bodyPr wrap="square" lIns="0" tIns="0" rIns="0" bIns="0" rtlCol="0" anchor="ctr"/>
          <a:lstStyle/>
          <a:p>
            <a:pPr algn="ctr" indent="0" marL="0">
              <a:buNone/>
            </a:pPr>
            <a:r>
              <a:rPr lang="en-US" sz="1400" b="1" dirty="0">
                <a:solidFill>
                  <a:srgbClr val="24418C"/>
                </a:solidFill>
                <a:latin typeface="Golos Text" pitchFamily="34" charset="0"/>
                <a:ea typeface="Golos Text" pitchFamily="34" charset="-122"/>
                <a:cs typeface="Golos Text" pitchFamily="34" charset="-120"/>
              </a:rPr>
              <a:t>«Тулпар»</a:t>
            </a:r>
            <a:endParaRPr lang="en-US" sz="1400" dirty="0"/>
          </a:p>
        </p:txBody>
      </p:sp>
      <p:sp>
        <p:nvSpPr>
          <p:cNvPr id="35" name="anim3_r"/>
          <p:cNvSpPr/>
          <p:nvPr/>
        </p:nvSpPr>
        <p:spPr>
          <a:xfrm>
            <a:off x="7653528" y="3392424"/>
            <a:ext cx="4096512" cy="640080"/>
          </a:xfrm>
          <a:prstGeom prst="rect">
            <a:avLst/>
          </a:prstGeom>
          <a:noFill/>
          <a:ln/>
        </p:spPr>
        <p:txBody>
          <a:bodyPr wrap="square" lIns="0" tIns="0" rIns="0" bIns="0" rtlCol="0" anchor="ctr"/>
          <a:lstStyle/>
          <a:p>
            <a:pPr algn="l" indent="0" marL="0">
              <a:buNone/>
            </a:pPr>
            <a:r>
              <a:rPr lang="en-US" sz="1400" i="1" dirty="0">
                <a:solidFill>
                  <a:srgbClr val="1D3557"/>
                </a:solidFill>
                <a:latin typeface="Golos Text" pitchFamily="34" charset="0"/>
                <a:ea typeface="Golos Text" pitchFamily="34" charset="-122"/>
                <a:cs typeface="Golos Text" pitchFamily="34" charset="-120"/>
              </a:rPr>
              <a:t>Ортодо турган окуучу канча секирди?</a:t>
            </a:r>
            <a:endParaRPr lang="en-US" sz="1400" dirty="0"/>
          </a:p>
        </p:txBody>
      </p:sp>
      <p:sp>
        <p:nvSpPr>
          <p:cNvPr id="36" name="Shape 34"/>
          <p:cNvSpPr/>
          <p:nvPr/>
        </p:nvSpPr>
        <p:spPr>
          <a:xfrm>
            <a:off x="365760" y="4105656"/>
            <a:ext cx="11457432" cy="640080"/>
          </a:xfrm>
          <a:prstGeom prst="roundRect">
            <a:avLst>
              <a:gd name="adj" fmla="val 20000"/>
            </a:avLst>
          </a:prstGeom>
          <a:solidFill>
            <a:srgbClr val="FFFFFF"/>
          </a:solidFill>
          <a:ln w="12700">
            <a:solidFill>
              <a:srgbClr val="E7EAF2"/>
            </a:solidFill>
            <a:prstDash val="solid"/>
          </a:ln>
        </p:spPr>
      </p:sp>
      <p:sp>
        <p:nvSpPr>
          <p:cNvPr id="37" name="Text 35"/>
          <p:cNvSpPr/>
          <p:nvPr/>
        </p:nvSpPr>
        <p:spPr>
          <a:xfrm>
            <a:off x="475488" y="4105656"/>
            <a:ext cx="2651760" cy="640080"/>
          </a:xfrm>
          <a:prstGeom prst="rect">
            <a:avLst/>
          </a:prstGeom>
          <a:noFill/>
          <a:ln/>
        </p:spPr>
        <p:txBody>
          <a:bodyPr wrap="square" lIns="0" tIns="0" rIns="0" bIns="0" rtlCol="0" anchor="ctr"/>
          <a:lstStyle/>
          <a:p>
            <a:pPr algn="l" indent="0" marL="0">
              <a:buNone/>
            </a:pPr>
            <a:r>
              <a:rPr lang="en-US" sz="1500" b="1" dirty="0">
                <a:solidFill>
                  <a:srgbClr val="1D3557"/>
                </a:solidFill>
                <a:latin typeface="Golos Text" pitchFamily="34" charset="0"/>
                <a:ea typeface="Golos Text" pitchFamily="34" charset="-122"/>
                <a:cs typeface="Golos Text" pitchFamily="34" charset="-120"/>
              </a:rPr>
              <a:t>Г  Эң көп кездешкен</a:t>
            </a:r>
            <a:endParaRPr lang="en-US" sz="1500" dirty="0"/>
          </a:p>
        </p:txBody>
      </p:sp>
      <p:sp>
        <p:nvSpPr>
          <p:cNvPr id="38" name="Text 36"/>
          <p:cNvSpPr/>
          <p:nvPr/>
        </p:nvSpPr>
        <p:spPr>
          <a:xfrm>
            <a:off x="3200400" y="4105656"/>
            <a:ext cx="1188720" cy="640080"/>
          </a:xfrm>
          <a:prstGeom prst="rect">
            <a:avLst/>
          </a:prstGeom>
          <a:noFill/>
          <a:ln/>
        </p:spPr>
        <p:txBody>
          <a:bodyPr wrap="square" lIns="0" tIns="0" rIns="0" bIns="0" rtlCol="0" anchor="ctr"/>
          <a:lstStyle/>
          <a:p>
            <a:pPr algn="ctr" indent="0" marL="0">
              <a:buNone/>
            </a:pPr>
            <a:r>
              <a:rPr lang="en-US" sz="1800" b="1" dirty="0">
                <a:solidFill>
                  <a:srgbClr val="007A5A"/>
                </a:solidFill>
                <a:latin typeface="Golos Text" pitchFamily="34" charset="0"/>
                <a:ea typeface="Golos Text" pitchFamily="34" charset="-122"/>
                <a:cs typeface="Golos Text" pitchFamily="34" charset="-120"/>
              </a:rPr>
              <a:t>300</a:t>
            </a:r>
            <a:endParaRPr lang="en-US" sz="1800" dirty="0"/>
          </a:p>
        </p:txBody>
      </p:sp>
      <p:sp>
        <p:nvSpPr>
          <p:cNvPr id="39" name="Text 37"/>
          <p:cNvSpPr/>
          <p:nvPr/>
        </p:nvSpPr>
        <p:spPr>
          <a:xfrm>
            <a:off x="4389120" y="4105656"/>
            <a:ext cx="1188720" cy="640080"/>
          </a:xfrm>
          <a:prstGeom prst="rect">
            <a:avLst/>
          </a:prstGeom>
          <a:noFill/>
          <a:ln/>
        </p:spPr>
        <p:txBody>
          <a:bodyPr wrap="square" lIns="0" tIns="0" rIns="0" bIns="0" rtlCol="0" anchor="ctr"/>
          <a:lstStyle/>
          <a:p>
            <a:pPr algn="ctr" indent="0" marL="0">
              <a:buNone/>
            </a:pPr>
            <a:r>
              <a:rPr lang="en-US" sz="1800" b="1" dirty="0">
                <a:solidFill>
                  <a:srgbClr val="24418C"/>
                </a:solidFill>
                <a:latin typeface="Golos Text" pitchFamily="34" charset="0"/>
                <a:ea typeface="Golos Text" pitchFamily="34" charset="-122"/>
                <a:cs typeface="Golos Text" pitchFamily="34" charset="-120"/>
              </a:rPr>
              <a:t>335</a:t>
            </a:r>
            <a:endParaRPr lang="en-US" sz="1800" dirty="0"/>
          </a:p>
        </p:txBody>
      </p:sp>
      <p:sp>
        <p:nvSpPr>
          <p:cNvPr id="40" name="anim4_r"/>
          <p:cNvSpPr/>
          <p:nvPr/>
        </p:nvSpPr>
        <p:spPr>
          <a:xfrm>
            <a:off x="5650992" y="4178808"/>
            <a:ext cx="1819656" cy="493776"/>
          </a:xfrm>
          <a:prstGeom prst="roundRect">
            <a:avLst>
              <a:gd name="adj" fmla="val 40000"/>
            </a:avLst>
          </a:prstGeom>
          <a:solidFill>
            <a:srgbClr val="FFFFFF"/>
          </a:solidFill>
          <a:ln w="19050">
            <a:solidFill>
              <a:srgbClr val="24418C"/>
            </a:solidFill>
            <a:prstDash val="solid"/>
          </a:ln>
        </p:spPr>
        <p:txBody>
          <a:bodyPr wrap="square" lIns="0" tIns="0" rIns="0" bIns="0" rtlCol="0" anchor="ctr"/>
          <a:lstStyle/>
          <a:p>
            <a:pPr algn="ctr" indent="0" marL="0">
              <a:buNone/>
            </a:pPr>
            <a:r>
              <a:rPr lang="en-US" sz="1400" b="1" dirty="0">
                <a:solidFill>
                  <a:srgbClr val="24418C"/>
                </a:solidFill>
                <a:latin typeface="Golos Text" pitchFamily="34" charset="0"/>
                <a:ea typeface="Golos Text" pitchFamily="34" charset="-122"/>
                <a:cs typeface="Golos Text" pitchFamily="34" charset="-120"/>
              </a:rPr>
              <a:t>«Тулпар»</a:t>
            </a:r>
            <a:endParaRPr lang="en-US" sz="1400" dirty="0"/>
          </a:p>
        </p:txBody>
      </p:sp>
      <p:sp>
        <p:nvSpPr>
          <p:cNvPr id="41" name="anim4_r"/>
          <p:cNvSpPr/>
          <p:nvPr/>
        </p:nvSpPr>
        <p:spPr>
          <a:xfrm>
            <a:off x="7653528" y="4105656"/>
            <a:ext cx="4096512" cy="640080"/>
          </a:xfrm>
          <a:prstGeom prst="rect">
            <a:avLst/>
          </a:prstGeom>
          <a:noFill/>
          <a:ln/>
        </p:spPr>
        <p:txBody>
          <a:bodyPr wrap="square" lIns="0" tIns="0" rIns="0" bIns="0" rtlCol="0" anchor="ctr"/>
          <a:lstStyle/>
          <a:p>
            <a:pPr algn="l" indent="0" marL="0">
              <a:buNone/>
            </a:pPr>
            <a:r>
              <a:rPr lang="en-US" sz="1400" i="1" dirty="0">
                <a:solidFill>
                  <a:srgbClr val="1D3557"/>
                </a:solidFill>
                <a:latin typeface="Golos Text" pitchFamily="34" charset="0"/>
                <a:ea typeface="Golos Text" pitchFamily="34" charset="-122"/>
                <a:cs typeface="Golos Text" pitchFamily="34" charset="-120"/>
              </a:rPr>
              <a:t>Кайсы натыйжа эң көп кездешти?</a:t>
            </a:r>
            <a:endParaRPr lang="en-US" sz="1400" dirty="0"/>
          </a:p>
        </p:txBody>
      </p:sp>
      <p:sp>
        <p:nvSpPr>
          <p:cNvPr id="42" name="Shape 40"/>
          <p:cNvSpPr/>
          <p:nvPr/>
        </p:nvSpPr>
        <p:spPr>
          <a:xfrm>
            <a:off x="365760" y="4818888"/>
            <a:ext cx="11457432" cy="640080"/>
          </a:xfrm>
          <a:prstGeom prst="roundRect">
            <a:avLst>
              <a:gd name="adj" fmla="val 20000"/>
            </a:avLst>
          </a:prstGeom>
          <a:solidFill>
            <a:srgbClr val="F3F5FB"/>
          </a:solidFill>
          <a:ln w="12700">
            <a:solidFill>
              <a:srgbClr val="E7EAF2"/>
            </a:solidFill>
            <a:prstDash val="solid"/>
          </a:ln>
        </p:spPr>
      </p:sp>
      <p:sp>
        <p:nvSpPr>
          <p:cNvPr id="43" name="Text 41"/>
          <p:cNvSpPr/>
          <p:nvPr/>
        </p:nvSpPr>
        <p:spPr>
          <a:xfrm>
            <a:off x="475488" y="4818888"/>
            <a:ext cx="2651760" cy="640080"/>
          </a:xfrm>
          <a:prstGeom prst="rect">
            <a:avLst/>
          </a:prstGeom>
          <a:noFill/>
          <a:ln/>
        </p:spPr>
        <p:txBody>
          <a:bodyPr wrap="square" lIns="0" tIns="0" rIns="0" bIns="0" rtlCol="0" anchor="ctr"/>
          <a:lstStyle/>
          <a:p>
            <a:pPr algn="l" indent="0" marL="0">
              <a:buNone/>
            </a:pPr>
            <a:r>
              <a:rPr lang="en-US" sz="1500" b="1" dirty="0">
                <a:solidFill>
                  <a:srgbClr val="1D3557"/>
                </a:solidFill>
                <a:latin typeface="Golos Text" pitchFamily="34" charset="0"/>
                <a:ea typeface="Golos Text" pitchFamily="34" charset="-122"/>
                <a:cs typeface="Golos Text" pitchFamily="34" charset="-120"/>
              </a:rPr>
              <a:t>Г  Эң жакшы − эң начар</a:t>
            </a:r>
            <a:endParaRPr lang="en-US" sz="1500" dirty="0"/>
          </a:p>
        </p:txBody>
      </p:sp>
      <p:sp>
        <p:nvSpPr>
          <p:cNvPr id="44" name="Text 42"/>
          <p:cNvSpPr/>
          <p:nvPr/>
        </p:nvSpPr>
        <p:spPr>
          <a:xfrm>
            <a:off x="3200400" y="4818888"/>
            <a:ext cx="1188720" cy="640080"/>
          </a:xfrm>
          <a:prstGeom prst="rect">
            <a:avLst/>
          </a:prstGeom>
          <a:noFill/>
          <a:ln/>
        </p:spPr>
        <p:txBody>
          <a:bodyPr wrap="square" lIns="0" tIns="0" rIns="0" bIns="0" rtlCol="0" anchor="ctr"/>
          <a:lstStyle/>
          <a:p>
            <a:pPr algn="ctr" indent="0" marL="0">
              <a:buNone/>
            </a:pPr>
            <a:r>
              <a:rPr lang="en-US" sz="1800" b="1" dirty="0">
                <a:solidFill>
                  <a:srgbClr val="007A5A"/>
                </a:solidFill>
                <a:latin typeface="Golos Text" pitchFamily="34" charset="0"/>
                <a:ea typeface="Golos Text" pitchFamily="34" charset="-122"/>
                <a:cs typeface="Golos Text" pitchFamily="34" charset="-120"/>
              </a:rPr>
              <a:t>80</a:t>
            </a:r>
            <a:endParaRPr lang="en-US" sz="1800" dirty="0"/>
          </a:p>
        </p:txBody>
      </p:sp>
      <p:sp>
        <p:nvSpPr>
          <p:cNvPr id="45" name="Text 43"/>
          <p:cNvSpPr/>
          <p:nvPr/>
        </p:nvSpPr>
        <p:spPr>
          <a:xfrm>
            <a:off x="4389120" y="4818888"/>
            <a:ext cx="1188720" cy="640080"/>
          </a:xfrm>
          <a:prstGeom prst="rect">
            <a:avLst/>
          </a:prstGeom>
          <a:noFill/>
          <a:ln/>
        </p:spPr>
        <p:txBody>
          <a:bodyPr wrap="square" lIns="0" tIns="0" rIns="0" bIns="0" rtlCol="0" anchor="ctr"/>
          <a:lstStyle/>
          <a:p>
            <a:pPr algn="ctr" indent="0" marL="0">
              <a:buNone/>
            </a:pPr>
            <a:r>
              <a:rPr lang="en-US" sz="1800" b="1" dirty="0">
                <a:solidFill>
                  <a:srgbClr val="24418C"/>
                </a:solidFill>
                <a:latin typeface="Golos Text" pitchFamily="34" charset="0"/>
                <a:ea typeface="Golos Text" pitchFamily="34" charset="-122"/>
                <a:cs typeface="Golos Text" pitchFamily="34" charset="-120"/>
              </a:rPr>
              <a:t>115</a:t>
            </a:r>
            <a:endParaRPr lang="en-US" sz="1800" dirty="0"/>
          </a:p>
        </p:txBody>
      </p:sp>
      <p:sp>
        <p:nvSpPr>
          <p:cNvPr id="46" name="anim5_r"/>
          <p:cNvSpPr/>
          <p:nvPr/>
        </p:nvSpPr>
        <p:spPr>
          <a:xfrm>
            <a:off x="5650992" y="4892040"/>
            <a:ext cx="1819656" cy="493776"/>
          </a:xfrm>
          <a:prstGeom prst="roundRect">
            <a:avLst>
              <a:gd name="adj" fmla="val 40000"/>
            </a:avLst>
          </a:prstGeom>
          <a:solidFill>
            <a:srgbClr val="FFFFFF"/>
          </a:solidFill>
          <a:ln w="19050">
            <a:solidFill>
              <a:srgbClr val="007A5A"/>
            </a:solidFill>
            <a:prstDash val="solid"/>
          </a:ln>
        </p:spPr>
        <p:txBody>
          <a:bodyPr wrap="square" lIns="0" tIns="0" rIns="0" bIns="0" rtlCol="0" anchor="ctr"/>
          <a:lstStyle/>
          <a:p>
            <a:pPr algn="ctr" indent="0" marL="0">
              <a:buNone/>
            </a:pPr>
            <a:r>
              <a:rPr lang="en-US" sz="1400" b="1" dirty="0">
                <a:solidFill>
                  <a:srgbClr val="007A5A"/>
                </a:solidFill>
                <a:latin typeface="Golos Text" pitchFamily="34" charset="0"/>
                <a:ea typeface="Golos Text" pitchFamily="34" charset="-122"/>
                <a:cs typeface="Golos Text" pitchFamily="34" charset="-120"/>
              </a:rPr>
              <a:t>«Шумкар»</a:t>
            </a:r>
            <a:endParaRPr lang="en-US" sz="1400" dirty="0"/>
          </a:p>
        </p:txBody>
      </p:sp>
      <p:sp>
        <p:nvSpPr>
          <p:cNvPr id="47" name="anim5_r"/>
          <p:cNvSpPr/>
          <p:nvPr/>
        </p:nvSpPr>
        <p:spPr>
          <a:xfrm>
            <a:off x="7653528" y="4818888"/>
            <a:ext cx="4096512" cy="640080"/>
          </a:xfrm>
          <a:prstGeom prst="rect">
            <a:avLst/>
          </a:prstGeom>
          <a:noFill/>
          <a:ln/>
        </p:spPr>
        <p:txBody>
          <a:bodyPr wrap="square" lIns="0" tIns="0" rIns="0" bIns="0" rtlCol="0" anchor="ctr"/>
          <a:lstStyle/>
          <a:p>
            <a:pPr algn="l" indent="0" marL="0">
              <a:buNone/>
            </a:pPr>
            <a:r>
              <a:rPr lang="en-US" sz="1400" i="1" dirty="0">
                <a:solidFill>
                  <a:srgbClr val="1D3557"/>
                </a:solidFill>
                <a:latin typeface="Golos Text" pitchFamily="34" charset="0"/>
                <a:ea typeface="Golos Text" pitchFamily="34" charset="-122"/>
                <a:cs typeface="Golos Text" pitchFamily="34" charset="-120"/>
              </a:rPr>
              <a:t>Натыйжалар канчалык чачыранды?</a:t>
            </a:r>
            <a:endParaRPr lang="en-US" sz="1400" dirty="0"/>
          </a:p>
        </p:txBody>
      </p:sp>
      <p:sp>
        <p:nvSpPr>
          <p:cNvPr id="48" name="anim6_key"/>
          <p:cNvSpPr/>
          <p:nvPr/>
        </p:nvSpPr>
        <p:spPr>
          <a:xfrm>
            <a:off x="365760" y="5623560"/>
            <a:ext cx="11457432" cy="685800"/>
          </a:xfrm>
          <a:prstGeom prst="roundRect">
            <a:avLst>
              <a:gd name="adj" fmla="val 40000"/>
            </a:avLst>
          </a:prstGeom>
          <a:solidFill>
            <a:srgbClr val="D1E7E1"/>
          </a:solidFill>
          <a:ln w="28575">
            <a:solidFill>
              <a:srgbClr val="007A5A"/>
            </a:solidFill>
            <a:prstDash val="solid"/>
          </a:ln>
        </p:spPr>
        <p:txBody>
          <a:bodyPr wrap="square" lIns="0" tIns="0" rIns="0" bIns="0" rtlCol="0" anchor="ctr"/>
          <a:lstStyle/>
          <a:p>
            <a:pPr algn="ctr" indent="0" marL="0">
              <a:buNone/>
            </a:pPr>
            <a:r>
              <a:rPr lang="en-US" sz="1700" b="1" dirty="0">
                <a:solidFill>
                  <a:srgbClr val="007A5A"/>
                </a:solidFill>
                <a:latin typeface="Golos Text" pitchFamily="34" charset="0"/>
                <a:ea typeface="Golos Text" pitchFamily="34" charset="-122"/>
                <a:cs typeface="Golos Text" pitchFamily="34" charset="-120"/>
              </a:rPr>
              <a:t>Бир гана туура жооп жок: адегенде «жакшыраак» деген суроону тактайбыз, анан өлчөмдү тандайбыз.</a:t>
            </a:r>
            <a:endParaRPr lang="en-US" sz="1700" dirty="0"/>
          </a:p>
        </p:txBody>
      </p:sp>
      <p:sp>
        <p:nvSpPr>
          <p:cNvPr id="49" name="Slide Number Placeholder 0"/>
          <p:cNvSpPr>
            <a:spLocks noGrp="1"/>
          </p:cNvSpPr>
          <p:nvPr>
            <p:ph type="sldNum" sz="quarter" idx="4294967295"/>
          </p:nvPr>
        </p:nvSpPr>
        <p:spPr>
          <a:xfrm>
            <a:off x="11384280" y="6492240"/>
            <a:ext cx="438912"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99AA"/>
                </a:solidFill>
                <a:latin typeface="Golos Text"/>
                <a:ea typeface="Golos Text"/>
                <a:cs typeface="Golos Text"/>
              </a:defRPr>
            </a:lvl1pPr>
          </a:lstStyle>
          <a:p>
            <a:pPr algn="r"/>
            <a:fld id="{F7021451-1387-4CA6-816F-3879F97B5CBC}" type="slidenum">
              <a:rPr b="0" lang="en-US"/>
              <a:t>9</a:t>
            </a:fld>
            <a:endParaRPr lang="en-US"/>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600"/>
                                        <p:tgtEl>
                                          <p:spTgt spid="2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6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600"/>
                                        <p:tgtEl>
                                          <p:spTgt spid="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600"/>
                                        <p:tgtEl>
                                          <p:spTgt spid="29"/>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fade">
                                      <p:cBhvr>
                                        <p:cTn id="21" dur="600"/>
                                        <p:tgtEl>
                                          <p:spTgt spid="3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5"/>
                                        </p:tgtEl>
                                        <p:attrNameLst>
                                          <p:attrName>style.visibility</p:attrName>
                                        </p:attrNameLst>
                                      </p:cBhvr>
                                      <p:to>
                                        <p:strVal val="visible"/>
                                      </p:to>
                                    </p:set>
                                    <p:animEffect transition="in" filter="fade">
                                      <p:cBhvr>
                                        <p:cTn id="24" dur="600"/>
                                        <p:tgtEl>
                                          <p:spTgt spid="35"/>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0"/>
                                        </p:tgtEl>
                                        <p:attrNameLst>
                                          <p:attrName>style.visibility</p:attrName>
                                        </p:attrNameLst>
                                      </p:cBhvr>
                                      <p:to>
                                        <p:strVal val="visible"/>
                                      </p:to>
                                    </p:set>
                                    <p:animEffect transition="in" filter="fade">
                                      <p:cBhvr>
                                        <p:cTn id="29" dur="600"/>
                                        <p:tgtEl>
                                          <p:spTgt spid="4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fade">
                                      <p:cBhvr>
                                        <p:cTn id="32" dur="600"/>
                                        <p:tgtEl>
                                          <p:spTgt spid="41"/>
                                        </p:tgtEl>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6"/>
                                        </p:tgtEl>
                                        <p:attrNameLst>
                                          <p:attrName>style.visibility</p:attrName>
                                        </p:attrNameLst>
                                      </p:cBhvr>
                                      <p:to>
                                        <p:strVal val="visible"/>
                                      </p:to>
                                    </p:set>
                                    <p:animEffect transition="in" filter="fade">
                                      <p:cBhvr>
                                        <p:cTn id="37" dur="600"/>
                                        <p:tgtEl>
                                          <p:spTgt spid="4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7"/>
                                        </p:tgtEl>
                                        <p:attrNameLst>
                                          <p:attrName>style.visibility</p:attrName>
                                        </p:attrNameLst>
                                      </p:cBhvr>
                                      <p:to>
                                        <p:strVal val="visible"/>
                                      </p:to>
                                    </p:set>
                                    <p:animEffect transition="in" filter="fade">
                                      <p:cBhvr>
                                        <p:cTn id="40" dur="600"/>
                                        <p:tgtEl>
                                          <p:spTgt spid="47"/>
                                        </p:tgtEl>
                                      </p:cBhvr>
                                    </p:animEffect>
                                  </p:childTnLst>
                                </p:cTn>
                              </p:par>
                            </p:childTnLst>
                          </p:cTn>
                        </p:par>
                      </p:childTnLst>
                    </p:cTn>
                  </p:par>
                  <p:par>
                    <p:cTn id="46" fill="hold">
                      <p:stCondLst>
                        <p:cond delay="indefinite"/>
                      </p:stCondLst>
                      <p:childTnLst>
                        <p:par>
                          <p:cTn id="47"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8"/>
                                        </p:tgtEl>
                                        <p:attrNameLst>
                                          <p:attrName>style.visibility</p:attrName>
                                        </p:attrNameLst>
                                      </p:cBhvr>
                                      <p:to>
                                        <p:strVal val="visible"/>
                                      </p:to>
                                    </p:set>
                                    <p:animEffect transition="in" filter="fade">
                                      <p:cBhvr>
                                        <p:cTn id="45" dur="6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8" grpId="0" animBg="1"/>
      <p:bldP spid="29" grpId="0" animBg="1"/>
      <p:bldP spid="34" grpId="0" animBg="1"/>
      <p:bldP spid="35" grpId="0" animBg="1"/>
      <p:bldP spid="40" grpId="0" animBg="1"/>
      <p:bldP spid="41" grpId="0" animBg="1"/>
      <p:bldP spid="46" grpId="0" animBg="1"/>
      <p:bldP spid="47" grpId="0" animBg="1"/>
      <p:bldP spid="4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11457432" cy="640080"/>
          </a:xfrm>
          <a:prstGeom prst="roundRect">
            <a:avLst>
              <a:gd name="adj" fmla="val 22000"/>
            </a:avLst>
          </a:prstGeom>
          <a:solidFill>
            <a:srgbClr val="FFFFFF"/>
          </a:solidFill>
          <a:ln w="19050">
            <a:solidFill>
              <a:srgbClr val="1D3557"/>
            </a:solidFill>
            <a:prstDash val="solid"/>
          </a:ln>
        </p:spPr>
      </p:sp>
      <p:sp>
        <p:nvSpPr>
          <p:cNvPr id="3" name="Shape 1"/>
          <p:cNvSpPr/>
          <p:nvPr/>
        </p:nvSpPr>
        <p:spPr>
          <a:xfrm>
            <a:off x="557784" y="369418"/>
            <a:ext cx="70409" cy="358445"/>
          </a:xfrm>
          <a:prstGeom prst="roundRect">
            <a:avLst>
              <a:gd name="adj" fmla="val 50000"/>
            </a:avLst>
          </a:prstGeom>
          <a:solidFill>
            <a:srgbClr val="007A5A"/>
          </a:solidFill>
          <a:ln/>
        </p:spPr>
      </p:sp>
      <p:sp>
        <p:nvSpPr>
          <p:cNvPr id="4" name="Shape 2"/>
          <p:cNvSpPr/>
          <p:nvPr/>
        </p:nvSpPr>
        <p:spPr>
          <a:xfrm>
            <a:off x="691561" y="369418"/>
            <a:ext cx="70409" cy="358445"/>
          </a:xfrm>
          <a:prstGeom prst="roundRect">
            <a:avLst>
              <a:gd name="adj" fmla="val 50000"/>
            </a:avLst>
          </a:prstGeom>
          <a:solidFill>
            <a:srgbClr val="A84400"/>
          </a:solidFill>
          <a:ln/>
        </p:spPr>
      </p:sp>
      <p:sp>
        <p:nvSpPr>
          <p:cNvPr id="5" name="Shape 3"/>
          <p:cNvSpPr/>
          <p:nvPr/>
        </p:nvSpPr>
        <p:spPr>
          <a:xfrm>
            <a:off x="825337" y="369418"/>
            <a:ext cx="70409" cy="358445"/>
          </a:xfrm>
          <a:prstGeom prst="roundRect">
            <a:avLst>
              <a:gd name="adj" fmla="val 50000"/>
            </a:avLst>
          </a:prstGeom>
          <a:solidFill>
            <a:srgbClr val="24418C"/>
          </a:solidFill>
          <a:ln/>
        </p:spPr>
      </p:sp>
      <p:sp>
        <p:nvSpPr>
          <p:cNvPr id="6" name="Text 4"/>
          <p:cNvSpPr/>
          <p:nvPr/>
        </p:nvSpPr>
        <p:spPr>
          <a:xfrm>
            <a:off x="1096914" y="228600"/>
            <a:ext cx="7589520" cy="640080"/>
          </a:xfrm>
          <a:prstGeom prst="rect">
            <a:avLst/>
          </a:prstGeom>
          <a:noFill/>
          <a:ln/>
        </p:spPr>
        <p:txBody>
          <a:bodyPr wrap="square" lIns="0" tIns="0" rIns="0" bIns="0" rtlCol="0" anchor="ctr"/>
          <a:lstStyle/>
          <a:p>
            <a:pPr algn="l" indent="0" marL="0">
              <a:buNone/>
            </a:pPr>
            <a:r>
              <a:rPr lang="en-US" sz="2200" b="1" dirty="0">
                <a:solidFill>
                  <a:srgbClr val="1D3557"/>
                </a:solidFill>
                <a:latin typeface="Golos Text" pitchFamily="34" charset="0"/>
                <a:ea typeface="Golos Text" pitchFamily="34" charset="-122"/>
                <a:cs typeface="Golos Text" pitchFamily="34" charset="-120"/>
              </a:rPr>
              <a:t>Жыйынтык тактасы: ыкмаларга ат беребиз</a:t>
            </a:r>
            <a:endParaRPr lang="en-US" sz="2200" dirty="0"/>
          </a:p>
        </p:txBody>
      </p:sp>
      <p:sp>
        <p:nvSpPr>
          <p:cNvPr id="7" name="Text 5"/>
          <p:cNvSpPr/>
          <p:nvPr/>
        </p:nvSpPr>
        <p:spPr>
          <a:xfrm>
            <a:off x="8778240" y="228600"/>
            <a:ext cx="2880360" cy="640080"/>
          </a:xfrm>
          <a:prstGeom prst="rect">
            <a:avLst/>
          </a:prstGeom>
          <a:noFill/>
          <a:ln/>
        </p:spPr>
        <p:txBody>
          <a:bodyPr wrap="square" lIns="0" tIns="0" rIns="0" bIns="0" rtlCol="0" anchor="ctr"/>
          <a:lstStyle/>
          <a:p>
            <a:pPr algn="r" indent="0" marL="0">
              <a:buNone/>
            </a:pPr>
            <a:r>
              <a:rPr lang="en-US" sz="1100" dirty="0">
                <a:solidFill>
                  <a:srgbClr val="4A5A70"/>
                </a:solidFill>
                <a:latin typeface="Golos Text" pitchFamily="34" charset="0"/>
                <a:ea typeface="Golos Text" pitchFamily="34" charset="-122"/>
                <a:cs typeface="Golos Text" pitchFamily="34" charset="-120"/>
              </a:rPr>
              <a:t>Статистика › Төрт өлчөм</a:t>
            </a:r>
            <a:endParaRPr lang="en-US" sz="1100" dirty="0"/>
          </a:p>
        </p:txBody>
      </p:sp>
      <p:sp>
        <p:nvSpPr>
          <p:cNvPr id="8" name="Text 6"/>
          <p:cNvSpPr/>
          <p:nvPr/>
        </p:nvSpPr>
        <p:spPr>
          <a:xfrm>
            <a:off x="411480" y="960120"/>
            <a:ext cx="8412480" cy="329184"/>
          </a:xfrm>
          <a:prstGeom prst="rect">
            <a:avLst/>
          </a:prstGeom>
          <a:noFill/>
          <a:ln/>
        </p:spPr>
        <p:txBody>
          <a:bodyPr wrap="square" lIns="0" tIns="0" rIns="0" bIns="0" rtlCol="0" anchor="t"/>
          <a:lstStyle/>
          <a:p>
            <a:pPr algn="l" indent="0" marL="0">
              <a:buNone/>
            </a:pPr>
            <a:r>
              <a:rPr lang="en-US" sz="1500" i="1" dirty="0">
                <a:solidFill>
                  <a:srgbClr val="4A5A70"/>
                </a:solidFill>
                <a:latin typeface="Golos Text" pitchFamily="34" charset="0"/>
                <a:ea typeface="Golos Text" pitchFamily="34" charset="-122"/>
                <a:cs typeface="Golos Text" pitchFamily="34" charset="-120"/>
              </a:rPr>
              <a:t>Тактадагы бүт жолду карайбыз: маселе → ыкмалар → аталыштар</a:t>
            </a:r>
            <a:endParaRPr lang="en-US" sz="1500" dirty="0"/>
          </a:p>
        </p:txBody>
      </p:sp>
      <p:sp>
        <p:nvSpPr>
          <p:cNvPr id="9" name="Text 7"/>
          <p:cNvSpPr/>
          <p:nvPr/>
        </p:nvSpPr>
        <p:spPr>
          <a:xfrm>
            <a:off x="8897112" y="969264"/>
            <a:ext cx="2926080" cy="310896"/>
          </a:xfrm>
          <a:prstGeom prst="rect">
            <a:avLst/>
          </a:prstGeom>
          <a:noFill/>
          <a:ln/>
        </p:spPr>
        <p:txBody>
          <a:bodyPr wrap="square" lIns="0" tIns="0" rIns="0" bIns="0" rtlCol="0" anchor="ctr"/>
          <a:lstStyle/>
          <a:p>
            <a:pPr algn="r" indent="0" marL="0">
              <a:buNone/>
            </a:pPr>
            <a:r>
              <a:rPr lang="en-US" sz="1200" dirty="0">
                <a:solidFill>
                  <a:srgbClr val="4A5A70"/>
                </a:solidFill>
                <a:latin typeface="Golos Text" pitchFamily="34" charset="0"/>
                <a:ea typeface="Golos Text" pitchFamily="34" charset="-122"/>
                <a:cs typeface="Golos Text" pitchFamily="34" charset="-120"/>
              </a:rPr>
              <a:t>Салыштыруу · 1 мүн</a:t>
            </a:r>
            <a:endParaRPr lang="en-US" sz="1200" dirty="0"/>
          </a:p>
        </p:txBody>
      </p:sp>
      <p:sp>
        <p:nvSpPr>
          <p:cNvPr id="10" name="Text 8"/>
          <p:cNvSpPr/>
          <p:nvPr/>
        </p:nvSpPr>
        <p:spPr>
          <a:xfrm>
            <a:off x="365760" y="6492240"/>
            <a:ext cx="5486400" cy="228600"/>
          </a:xfrm>
          <a:prstGeom prst="rect">
            <a:avLst/>
          </a:prstGeom>
          <a:noFill/>
          <a:ln/>
        </p:spPr>
        <p:txBody>
          <a:bodyPr wrap="square" lIns="0" tIns="0" rIns="0" bIns="0" rtlCol="0" anchor="t"/>
          <a:lstStyle/>
          <a:p>
            <a:pPr algn="l" indent="0" marL="0">
              <a:buNone/>
            </a:pPr>
            <a:r>
              <a:rPr lang="en-US" sz="900" dirty="0">
                <a:solidFill>
                  <a:srgbClr val="8D99AA"/>
                </a:solidFill>
                <a:latin typeface="Golos Text" pitchFamily="34" charset="0"/>
                <a:ea typeface="Golos Text" pitchFamily="34" charset="-122"/>
                <a:cs typeface="Golos Text" pitchFamily="34" charset="-120"/>
              </a:rPr>
              <a:t>MathKG · Математика кыргызча</a:t>
            </a:r>
            <a:endParaRPr lang="en-US" sz="900" dirty="0"/>
          </a:p>
        </p:txBody>
      </p:sp>
      <p:sp>
        <p:nvSpPr>
          <p:cNvPr id="11" name="Text 9"/>
          <p:cNvSpPr/>
          <p:nvPr/>
        </p:nvSpPr>
        <p:spPr>
          <a:xfrm>
            <a:off x="7680960" y="6492240"/>
            <a:ext cx="3657600" cy="228600"/>
          </a:xfrm>
          <a:prstGeom prst="rect">
            <a:avLst/>
          </a:prstGeom>
          <a:noFill/>
          <a:ln/>
        </p:spPr>
        <p:txBody>
          <a:bodyPr wrap="square" lIns="0" tIns="0" rIns="0" bIns="0" rtlCol="0" anchor="t"/>
          <a:lstStyle/>
          <a:p>
            <a:pPr algn="r" indent="0" marL="0">
              <a:buNone/>
            </a:pPr>
            <a:r>
              <a:rPr lang="en-US" sz="900" dirty="0">
                <a:solidFill>
                  <a:srgbClr val="8D99AA"/>
                </a:solidFill>
                <a:latin typeface="Golos Text" pitchFamily="34" charset="0"/>
                <a:ea typeface="Golos Text" pitchFamily="34" charset="-122"/>
                <a:cs typeface="Golos Text" pitchFamily="34" charset="-120"/>
              </a:rPr>
              <a:t>MathKG ыкмасы · 1 мүн</a:t>
            </a:r>
            <a:endParaRPr lang="en-US" sz="900" dirty="0"/>
          </a:p>
        </p:txBody>
      </p:sp>
      <p:sp>
        <p:nvSpPr>
          <p:cNvPr id="12" name="Shape 10"/>
          <p:cNvSpPr/>
          <p:nvPr/>
        </p:nvSpPr>
        <p:spPr>
          <a:xfrm>
            <a:off x="365760" y="1417320"/>
            <a:ext cx="11457432" cy="4892040"/>
          </a:xfrm>
          <a:prstGeom prst="roundRect">
            <a:avLst>
              <a:gd name="adj" fmla="val 4000"/>
            </a:avLst>
          </a:prstGeom>
          <a:solidFill>
            <a:srgbClr val="F3F5FB"/>
          </a:solidFill>
          <a:ln/>
        </p:spPr>
      </p:sp>
      <p:sp>
        <p:nvSpPr>
          <p:cNvPr id="13" name="Text 11"/>
          <p:cNvSpPr/>
          <p:nvPr/>
        </p:nvSpPr>
        <p:spPr>
          <a:xfrm>
            <a:off x="594360" y="1554480"/>
            <a:ext cx="2743200" cy="274320"/>
          </a:xfrm>
          <a:prstGeom prst="rect">
            <a:avLst/>
          </a:prstGeom>
          <a:noFill/>
          <a:ln/>
        </p:spPr>
        <p:txBody>
          <a:bodyPr wrap="square" lIns="0" tIns="0" rIns="0" bIns="0" rtlCol="0" anchor="t"/>
          <a:lstStyle/>
          <a:p>
            <a:pPr algn="l" indent="0" marL="0">
              <a:buNone/>
            </a:pPr>
            <a:r>
              <a:rPr lang="en-US" sz="1300" b="1" dirty="0">
                <a:solidFill>
                  <a:srgbClr val="A84400"/>
                </a:solidFill>
                <a:latin typeface="Golos Text" pitchFamily="34" charset="0"/>
                <a:ea typeface="Golos Text" pitchFamily="34" charset="-122"/>
                <a:cs typeface="Golos Text" pitchFamily="34" charset="-120"/>
              </a:rPr>
              <a:t>МАСЕЛЕ</a:t>
            </a:r>
            <a:endParaRPr lang="en-US" sz="1300" dirty="0"/>
          </a:p>
        </p:txBody>
      </p:sp>
      <p:sp>
        <p:nvSpPr>
          <p:cNvPr id="14" name="Text 12"/>
          <p:cNvSpPr/>
          <p:nvPr/>
        </p:nvSpPr>
        <p:spPr>
          <a:xfrm>
            <a:off x="594360" y="1874520"/>
            <a:ext cx="3291840" cy="1463040"/>
          </a:xfrm>
          <a:prstGeom prst="rect">
            <a:avLst/>
          </a:prstGeom>
          <a:noFill/>
          <a:ln/>
        </p:spPr>
        <p:txBody>
          <a:bodyPr wrap="square" lIns="0" tIns="0" rIns="0" bIns="0" rtlCol="0" anchor="t"/>
          <a:lstStyle/>
          <a:p>
            <a:pPr algn="l" indent="0" marL="0">
              <a:spcAft>
                <a:spcPts val="400"/>
              </a:spcAft>
              <a:buNone/>
            </a:pPr>
            <a:r>
              <a:rPr lang="en-US" sz="1400" dirty="0">
                <a:solidFill>
                  <a:srgbClr val="1D3557"/>
                </a:solidFill>
                <a:latin typeface="Golos Text" pitchFamily="34" charset="0"/>
                <a:ea typeface="Golos Text" pitchFamily="34" charset="-122"/>
                <a:cs typeface="Golos Text" pitchFamily="34" charset="-120"/>
              </a:rPr>
              <a:t>«Шумкар» (5): 300, 360, 280, 310, 300</a:t>
            </a:r>
            <a:endParaRPr lang="en-US" sz="1400" dirty="0"/>
          </a:p>
          <a:p>
            <a:pPr algn="l" indent="0" marL="0">
              <a:spcAft>
                <a:spcPts val="400"/>
              </a:spcAft>
              <a:buNone/>
            </a:pPr>
            <a:r>
              <a:rPr lang="en-US" sz="1400" dirty="0">
                <a:solidFill>
                  <a:srgbClr val="1D3557"/>
                </a:solidFill>
                <a:latin typeface="Golos Text" pitchFamily="34" charset="0"/>
                <a:ea typeface="Golos Text" pitchFamily="34" charset="-122"/>
                <a:cs typeface="Golos Text" pitchFamily="34" charset="-120"/>
              </a:rPr>
              <a:t>«Тулпар» (6): 335, 220, 320, 280, 335, 310</a:t>
            </a:r>
            <a:endParaRPr lang="en-US" sz="1400" dirty="0"/>
          </a:p>
          <a:p>
            <a:pPr algn="l" indent="0" marL="0">
              <a:spcAft>
                <a:spcPts val="400"/>
              </a:spcAft>
              <a:buNone/>
            </a:pPr>
            <a:r>
              <a:rPr lang="en-US" sz="1400" dirty="0">
                <a:solidFill>
                  <a:srgbClr val="1D3557"/>
                </a:solidFill>
                <a:latin typeface="Golos Text" pitchFamily="34" charset="0"/>
                <a:ea typeface="Golos Text" pitchFamily="34" charset="-122"/>
                <a:cs typeface="Golos Text" pitchFamily="34" charset="-120"/>
              </a:rPr>
              <a:t>Кайсы команда жакшыраак?</a:t>
            </a:r>
            <a:endParaRPr lang="en-US" sz="1400" dirty="0"/>
          </a:p>
        </p:txBody>
      </p:sp>
      <p:sp>
        <p:nvSpPr>
          <p:cNvPr id="15" name="Text 13"/>
          <p:cNvSpPr/>
          <p:nvPr/>
        </p:nvSpPr>
        <p:spPr>
          <a:xfrm>
            <a:off x="594360" y="3429000"/>
            <a:ext cx="2743200" cy="274320"/>
          </a:xfrm>
          <a:prstGeom prst="rect">
            <a:avLst/>
          </a:prstGeom>
          <a:noFill/>
          <a:ln/>
        </p:spPr>
        <p:txBody>
          <a:bodyPr wrap="square" lIns="0" tIns="0" rIns="0" bIns="0" rtlCol="0" anchor="t"/>
          <a:lstStyle/>
          <a:p>
            <a:pPr algn="l" indent="0" marL="0">
              <a:buNone/>
            </a:pPr>
            <a:r>
              <a:rPr lang="en-US" sz="1300" b="1" dirty="0">
                <a:solidFill>
                  <a:srgbClr val="A84400"/>
                </a:solidFill>
                <a:latin typeface="Golos Text" pitchFamily="34" charset="0"/>
                <a:ea typeface="Golos Text" pitchFamily="34" charset="-122"/>
                <a:cs typeface="Golos Text" pitchFamily="34" charset="-120"/>
              </a:rPr>
              <a:t>ЫКМАЛАР</a:t>
            </a:r>
            <a:endParaRPr lang="en-US" sz="1300" dirty="0"/>
          </a:p>
        </p:txBody>
      </p:sp>
      <p:sp>
        <p:nvSpPr>
          <p:cNvPr id="16" name="Text 14"/>
          <p:cNvSpPr/>
          <p:nvPr/>
        </p:nvSpPr>
        <p:spPr>
          <a:xfrm>
            <a:off x="594360" y="3749040"/>
            <a:ext cx="3291840" cy="1463040"/>
          </a:xfrm>
          <a:prstGeom prst="rect">
            <a:avLst/>
          </a:prstGeom>
          <a:noFill/>
          <a:ln/>
        </p:spPr>
        <p:txBody>
          <a:bodyPr wrap="square" lIns="0" tIns="0" rIns="0" bIns="0" rtlCol="0" anchor="t"/>
          <a:lstStyle/>
          <a:p>
            <a:pPr algn="l" indent="0" marL="0">
              <a:spcAft>
                <a:spcPts val="400"/>
              </a:spcAft>
              <a:buNone/>
            </a:pPr>
            <a:r>
              <a:rPr lang="en-US" sz="1400" dirty="0">
                <a:solidFill>
                  <a:srgbClr val="1D3557"/>
                </a:solidFill>
                <a:latin typeface="Golos Text" pitchFamily="34" charset="0"/>
                <a:ea typeface="Golos Text" pitchFamily="34" charset="-122"/>
                <a:cs typeface="Golos Text" pitchFamily="34" charset="-120"/>
              </a:rPr>
              <a:t>А Азамат — баарын кошту</a:t>
            </a:r>
            <a:endParaRPr lang="en-US" sz="1400" dirty="0"/>
          </a:p>
          <a:p>
            <a:pPr algn="l" indent="0" marL="0">
              <a:spcAft>
                <a:spcPts val="400"/>
              </a:spcAft>
              <a:buNone/>
            </a:pPr>
            <a:r>
              <a:rPr lang="en-US" sz="1400" dirty="0">
                <a:solidFill>
                  <a:srgbClr val="1D3557"/>
                </a:solidFill>
                <a:latin typeface="Golos Text" pitchFamily="34" charset="0"/>
                <a:ea typeface="Golos Text" pitchFamily="34" charset="-122"/>
                <a:cs typeface="Golos Text" pitchFamily="34" charset="-120"/>
              </a:rPr>
              <a:t>Б Бермет — тең бөлдү</a:t>
            </a:r>
            <a:endParaRPr lang="en-US" sz="1400" dirty="0"/>
          </a:p>
          <a:p>
            <a:pPr algn="l" indent="0" marL="0">
              <a:spcAft>
                <a:spcPts val="400"/>
              </a:spcAft>
              <a:buNone/>
            </a:pPr>
            <a:r>
              <a:rPr lang="en-US" sz="1400" dirty="0">
                <a:solidFill>
                  <a:srgbClr val="1D3557"/>
                </a:solidFill>
                <a:latin typeface="Golos Text" pitchFamily="34" charset="0"/>
                <a:ea typeface="Golos Text" pitchFamily="34" charset="-122"/>
                <a:cs typeface="Golos Text" pitchFamily="34" charset="-120"/>
              </a:rPr>
              <a:t>В Чынгыз — ортодогуну тапты</a:t>
            </a:r>
            <a:endParaRPr lang="en-US" sz="1400" dirty="0"/>
          </a:p>
          <a:p>
            <a:pPr algn="l" indent="0" marL="0">
              <a:spcAft>
                <a:spcPts val="400"/>
              </a:spcAft>
              <a:buNone/>
            </a:pPr>
            <a:r>
              <a:rPr lang="en-US" sz="1400" dirty="0">
                <a:solidFill>
                  <a:srgbClr val="1D3557"/>
                </a:solidFill>
                <a:latin typeface="Golos Text" pitchFamily="34" charset="0"/>
                <a:ea typeface="Golos Text" pitchFamily="34" charset="-122"/>
                <a:cs typeface="Golos Text" pitchFamily="34" charset="-120"/>
              </a:rPr>
              <a:t>Г Динара — эң көп, айырма</a:t>
            </a:r>
            <a:endParaRPr lang="en-US" sz="1400" dirty="0"/>
          </a:p>
        </p:txBody>
      </p:sp>
      <p:sp>
        <p:nvSpPr>
          <p:cNvPr id="17" name="Shape 15"/>
          <p:cNvSpPr/>
          <p:nvPr/>
        </p:nvSpPr>
        <p:spPr>
          <a:xfrm>
            <a:off x="3977640" y="1600200"/>
            <a:ext cx="0" cy="4526280"/>
          </a:xfrm>
          <a:prstGeom prst="line">
            <a:avLst/>
          </a:prstGeom>
          <a:noFill/>
          <a:ln w="15875">
            <a:solidFill>
              <a:srgbClr val="8D99AA"/>
            </a:solidFill>
            <a:prstDash val="dash"/>
          </a:ln>
        </p:spPr>
      </p:sp>
      <p:sp>
        <p:nvSpPr>
          <p:cNvPr id="18" name="anim1_t"/>
          <p:cNvSpPr/>
          <p:nvPr/>
        </p:nvSpPr>
        <p:spPr>
          <a:xfrm>
            <a:off x="4206240" y="1600200"/>
            <a:ext cx="7452360" cy="822960"/>
          </a:xfrm>
          <a:prstGeom prst="roundRect">
            <a:avLst>
              <a:gd name="adj" fmla="val 20000"/>
            </a:avLst>
          </a:prstGeom>
          <a:solidFill>
            <a:srgbClr val="FFFFFF"/>
          </a:solidFill>
          <a:ln w="22225">
            <a:solidFill>
              <a:srgbClr val="007A5A"/>
            </a:solidFill>
            <a:prstDash val="solid"/>
          </a:ln>
        </p:spPr>
      </p:sp>
      <p:sp>
        <p:nvSpPr>
          <p:cNvPr id="19" name="anim1_t"/>
          <p:cNvSpPr/>
          <p:nvPr/>
        </p:nvSpPr>
        <p:spPr>
          <a:xfrm>
            <a:off x="4343400" y="1600200"/>
            <a:ext cx="2240280" cy="822960"/>
          </a:xfrm>
          <a:prstGeom prst="rect">
            <a:avLst/>
          </a:prstGeom>
          <a:noFill/>
          <a:ln/>
        </p:spPr>
        <p:txBody>
          <a:bodyPr wrap="square" lIns="0" tIns="0" rIns="0" bIns="0" rtlCol="0" anchor="ctr"/>
          <a:lstStyle/>
          <a:p>
            <a:pPr algn="l" indent="0" marL="0">
              <a:buNone/>
            </a:pPr>
            <a:r>
              <a:rPr lang="en-US" sz="1600" b="1" dirty="0">
                <a:solidFill>
                  <a:srgbClr val="007A5A"/>
                </a:solidFill>
                <a:latin typeface="Golos Text" pitchFamily="34" charset="0"/>
                <a:ea typeface="Golos Text" pitchFamily="34" charset="-122"/>
                <a:cs typeface="Golos Text" pitchFamily="34" charset="-120"/>
              </a:rPr>
              <a:t>Орточо арифметикалык</a:t>
            </a:r>
            <a:endParaRPr lang="en-US" sz="1600" dirty="0"/>
          </a:p>
        </p:txBody>
      </p:sp>
      <p:sp>
        <p:nvSpPr>
          <p:cNvPr id="20" name="anim1_t"/>
          <p:cNvSpPr/>
          <p:nvPr/>
        </p:nvSpPr>
        <p:spPr>
          <a:xfrm>
            <a:off x="6583680" y="1636776"/>
            <a:ext cx="3886200" cy="749808"/>
          </a:xfrm>
          <a:prstGeom prst="rect">
            <a:avLst/>
          </a:prstGeom>
          <a:noFill/>
          <a:ln/>
        </p:spPr>
        <p:txBody>
          <a:bodyPr wrap="square" lIns="0" tIns="0" rIns="0" bIns="0" rtlCol="0" anchor="ctr"/>
          <a:lstStyle/>
          <a:p>
            <a:pPr algn="l" indent="0" marL="0">
              <a:buNone/>
            </a:pPr>
            <a:r>
              <a:rPr lang="en-US" sz="1300" b="1" dirty="0">
                <a:solidFill>
                  <a:srgbClr val="1D3557"/>
                </a:solidFill>
                <a:latin typeface="Golos Text" pitchFamily="34" charset="0"/>
                <a:ea typeface="Golos Text" pitchFamily="34" charset="-122"/>
                <a:cs typeface="Golos Text" pitchFamily="34" charset="-120"/>
              </a:rPr>
              <a:t>сандардын суммасы : сандардын саны</a:t>
            </a:r>
            <a:endParaRPr lang="en-US" sz="1300" dirty="0"/>
          </a:p>
          <a:p>
            <a:pPr algn="l" indent="0" marL="0">
              <a:buNone/>
            </a:pPr>
            <a:r>
              <a:rPr lang="en-US" sz="1300" i="1" dirty="0">
                <a:solidFill>
                  <a:srgbClr val="4A5A70"/>
                </a:solidFill>
                <a:latin typeface="Golos Text" pitchFamily="34" charset="0"/>
                <a:ea typeface="Golos Text" pitchFamily="34" charset="-122"/>
                <a:cs typeface="Golos Text" pitchFamily="34" charset="-120"/>
              </a:rPr>
              <a:t>Баары тең бөлүшсө, ар бирине канча тиет? (Б)</a:t>
            </a:r>
            <a:endParaRPr lang="en-US" sz="1300" dirty="0"/>
          </a:p>
        </p:txBody>
      </p:sp>
      <p:sp>
        <p:nvSpPr>
          <p:cNvPr id="21" name="anim1_t"/>
          <p:cNvSpPr/>
          <p:nvPr/>
        </p:nvSpPr>
        <p:spPr>
          <a:xfrm>
            <a:off x="10469880" y="1600200"/>
            <a:ext cx="1143000" cy="822960"/>
          </a:xfrm>
          <a:prstGeom prst="rect">
            <a:avLst/>
          </a:prstGeom>
          <a:noFill/>
          <a:ln/>
        </p:spPr>
        <p:txBody>
          <a:bodyPr wrap="square" lIns="0" tIns="0" rIns="0" bIns="0" rtlCol="0" anchor="ctr"/>
          <a:lstStyle/>
          <a:p>
            <a:pPr algn="ctr" indent="0" marL="0">
              <a:buNone/>
            </a:pPr>
            <a:r>
              <a:rPr lang="en-US" sz="1500" b="1" dirty="0">
                <a:solidFill>
                  <a:srgbClr val="007A5A"/>
                </a:solidFill>
                <a:latin typeface="Golos Text" pitchFamily="34" charset="0"/>
                <a:ea typeface="Golos Text" pitchFamily="34" charset="-122"/>
                <a:cs typeface="Golos Text" pitchFamily="34" charset="-120"/>
              </a:rPr>
              <a:t>310 · 300</a:t>
            </a:r>
            <a:endParaRPr lang="en-US" sz="1500" dirty="0"/>
          </a:p>
        </p:txBody>
      </p:sp>
      <p:sp>
        <p:nvSpPr>
          <p:cNvPr id="22" name="anim2_t"/>
          <p:cNvSpPr/>
          <p:nvPr/>
        </p:nvSpPr>
        <p:spPr>
          <a:xfrm>
            <a:off x="4206240" y="2532888"/>
            <a:ext cx="7452360" cy="822960"/>
          </a:xfrm>
          <a:prstGeom prst="roundRect">
            <a:avLst>
              <a:gd name="adj" fmla="val 20000"/>
            </a:avLst>
          </a:prstGeom>
          <a:solidFill>
            <a:srgbClr val="FFFFFF"/>
          </a:solidFill>
          <a:ln w="22225">
            <a:solidFill>
              <a:srgbClr val="24418C"/>
            </a:solidFill>
            <a:prstDash val="solid"/>
          </a:ln>
        </p:spPr>
      </p:sp>
      <p:sp>
        <p:nvSpPr>
          <p:cNvPr id="23" name="anim2_t"/>
          <p:cNvSpPr/>
          <p:nvPr/>
        </p:nvSpPr>
        <p:spPr>
          <a:xfrm>
            <a:off x="4343400" y="2532888"/>
            <a:ext cx="2240280" cy="822960"/>
          </a:xfrm>
          <a:prstGeom prst="rect">
            <a:avLst/>
          </a:prstGeom>
          <a:noFill/>
          <a:ln/>
        </p:spPr>
        <p:txBody>
          <a:bodyPr wrap="square" lIns="0" tIns="0" rIns="0" bIns="0" rtlCol="0" anchor="ctr"/>
          <a:lstStyle/>
          <a:p>
            <a:pPr algn="l" indent="0" marL="0">
              <a:buNone/>
            </a:pPr>
            <a:r>
              <a:rPr lang="en-US" sz="1600" b="1" dirty="0">
                <a:solidFill>
                  <a:srgbClr val="24418C"/>
                </a:solidFill>
                <a:latin typeface="Golos Text" pitchFamily="34" charset="0"/>
                <a:ea typeface="Golos Text" pitchFamily="34" charset="-122"/>
                <a:cs typeface="Golos Text" pitchFamily="34" charset="-120"/>
              </a:rPr>
              <a:t>Медиана</a:t>
            </a:r>
            <a:endParaRPr lang="en-US" sz="1600" dirty="0"/>
          </a:p>
        </p:txBody>
      </p:sp>
      <p:sp>
        <p:nvSpPr>
          <p:cNvPr id="24" name="anim2_t"/>
          <p:cNvSpPr/>
          <p:nvPr/>
        </p:nvSpPr>
        <p:spPr>
          <a:xfrm>
            <a:off x="6583680" y="2569464"/>
            <a:ext cx="3886200" cy="749808"/>
          </a:xfrm>
          <a:prstGeom prst="rect">
            <a:avLst/>
          </a:prstGeom>
          <a:noFill/>
          <a:ln/>
        </p:spPr>
        <p:txBody>
          <a:bodyPr wrap="square" lIns="0" tIns="0" rIns="0" bIns="0" rtlCol="0" anchor="ctr"/>
          <a:lstStyle/>
          <a:p>
            <a:pPr algn="l" indent="0" marL="0">
              <a:buNone/>
            </a:pPr>
            <a:r>
              <a:rPr lang="en-US" sz="1300" b="1" dirty="0">
                <a:solidFill>
                  <a:srgbClr val="1D3557"/>
                </a:solidFill>
                <a:latin typeface="Golos Text" pitchFamily="34" charset="0"/>
                <a:ea typeface="Golos Text" pitchFamily="34" charset="-122"/>
                <a:cs typeface="Golos Text" pitchFamily="34" charset="-120"/>
              </a:rPr>
              <a:t>ирээттелген тизменин так ортосундагы сан; жуп болсо — эки ортонкунун орточосу</a:t>
            </a:r>
            <a:endParaRPr lang="en-US" sz="1300" dirty="0"/>
          </a:p>
          <a:p>
            <a:pPr algn="l" indent="0" marL="0">
              <a:buNone/>
            </a:pPr>
            <a:r>
              <a:rPr lang="en-US" sz="1300" i="1" dirty="0">
                <a:solidFill>
                  <a:srgbClr val="4A5A70"/>
                </a:solidFill>
                <a:latin typeface="Golos Text" pitchFamily="34" charset="0"/>
                <a:ea typeface="Golos Text" pitchFamily="34" charset="-122"/>
                <a:cs typeface="Golos Text" pitchFamily="34" charset="-120"/>
              </a:rPr>
              <a:t>Ортодо турган окуучу канча секирди? (В)</a:t>
            </a:r>
            <a:endParaRPr lang="en-US" sz="1300" dirty="0"/>
          </a:p>
        </p:txBody>
      </p:sp>
      <p:sp>
        <p:nvSpPr>
          <p:cNvPr id="25" name="anim2_t"/>
          <p:cNvSpPr/>
          <p:nvPr/>
        </p:nvSpPr>
        <p:spPr>
          <a:xfrm>
            <a:off x="10469880" y="2532888"/>
            <a:ext cx="1143000" cy="822960"/>
          </a:xfrm>
          <a:prstGeom prst="rect">
            <a:avLst/>
          </a:prstGeom>
          <a:noFill/>
          <a:ln/>
        </p:spPr>
        <p:txBody>
          <a:bodyPr wrap="square" lIns="0" tIns="0" rIns="0" bIns="0" rtlCol="0" anchor="ctr"/>
          <a:lstStyle/>
          <a:p>
            <a:pPr algn="ctr" indent="0" marL="0">
              <a:buNone/>
            </a:pPr>
            <a:r>
              <a:rPr lang="en-US" sz="1500" b="1" dirty="0">
                <a:solidFill>
                  <a:srgbClr val="24418C"/>
                </a:solidFill>
                <a:latin typeface="Golos Text" pitchFamily="34" charset="0"/>
                <a:ea typeface="Golos Text" pitchFamily="34" charset="-122"/>
                <a:cs typeface="Golos Text" pitchFamily="34" charset="-120"/>
              </a:rPr>
              <a:t>300 · 315</a:t>
            </a:r>
            <a:endParaRPr lang="en-US" sz="1500" dirty="0"/>
          </a:p>
        </p:txBody>
      </p:sp>
      <p:sp>
        <p:nvSpPr>
          <p:cNvPr id="26" name="anim3_t"/>
          <p:cNvSpPr/>
          <p:nvPr/>
        </p:nvSpPr>
        <p:spPr>
          <a:xfrm>
            <a:off x="4206240" y="3465576"/>
            <a:ext cx="7452360" cy="822960"/>
          </a:xfrm>
          <a:prstGeom prst="roundRect">
            <a:avLst>
              <a:gd name="adj" fmla="val 20000"/>
            </a:avLst>
          </a:prstGeom>
          <a:solidFill>
            <a:srgbClr val="FFFFFF"/>
          </a:solidFill>
          <a:ln w="22225">
            <a:solidFill>
              <a:srgbClr val="A84400"/>
            </a:solidFill>
            <a:prstDash val="solid"/>
          </a:ln>
        </p:spPr>
      </p:sp>
      <p:sp>
        <p:nvSpPr>
          <p:cNvPr id="27" name="anim3_t"/>
          <p:cNvSpPr/>
          <p:nvPr/>
        </p:nvSpPr>
        <p:spPr>
          <a:xfrm>
            <a:off x="4343400" y="3465576"/>
            <a:ext cx="2240280" cy="822960"/>
          </a:xfrm>
          <a:prstGeom prst="rect">
            <a:avLst/>
          </a:prstGeom>
          <a:noFill/>
          <a:ln/>
        </p:spPr>
        <p:txBody>
          <a:bodyPr wrap="square" lIns="0" tIns="0" rIns="0" bIns="0" rtlCol="0" anchor="ctr"/>
          <a:lstStyle/>
          <a:p>
            <a:pPr algn="l" indent="0" marL="0">
              <a:buNone/>
            </a:pPr>
            <a:r>
              <a:rPr lang="en-US" sz="1600" b="1" dirty="0">
                <a:solidFill>
                  <a:srgbClr val="A84400"/>
                </a:solidFill>
                <a:latin typeface="Golos Text" pitchFamily="34" charset="0"/>
                <a:ea typeface="Golos Text" pitchFamily="34" charset="-122"/>
                <a:cs typeface="Golos Text" pitchFamily="34" charset="-120"/>
              </a:rPr>
              <a:t>Мода</a:t>
            </a:r>
            <a:endParaRPr lang="en-US" sz="1600" dirty="0"/>
          </a:p>
        </p:txBody>
      </p:sp>
      <p:sp>
        <p:nvSpPr>
          <p:cNvPr id="28" name="anim3_t"/>
          <p:cNvSpPr/>
          <p:nvPr/>
        </p:nvSpPr>
        <p:spPr>
          <a:xfrm>
            <a:off x="6583680" y="3502152"/>
            <a:ext cx="3886200" cy="749808"/>
          </a:xfrm>
          <a:prstGeom prst="rect">
            <a:avLst/>
          </a:prstGeom>
          <a:noFill/>
          <a:ln/>
        </p:spPr>
        <p:txBody>
          <a:bodyPr wrap="square" lIns="0" tIns="0" rIns="0" bIns="0" rtlCol="0" anchor="ctr"/>
          <a:lstStyle/>
          <a:p>
            <a:pPr algn="l" indent="0" marL="0">
              <a:buNone/>
            </a:pPr>
            <a:r>
              <a:rPr lang="en-US" sz="1300" b="1" dirty="0">
                <a:solidFill>
                  <a:srgbClr val="1D3557"/>
                </a:solidFill>
                <a:latin typeface="Golos Text" pitchFamily="34" charset="0"/>
                <a:ea typeface="Golos Text" pitchFamily="34" charset="-122"/>
                <a:cs typeface="Golos Text" pitchFamily="34" charset="-120"/>
              </a:rPr>
              <a:t>эң көп кездешкен сан (бир нече же жок болушу мүмкүн)</a:t>
            </a:r>
            <a:endParaRPr lang="en-US" sz="1300" dirty="0"/>
          </a:p>
          <a:p>
            <a:pPr algn="l" indent="0" marL="0">
              <a:buNone/>
            </a:pPr>
            <a:r>
              <a:rPr lang="en-US" sz="1300" i="1" dirty="0">
                <a:solidFill>
                  <a:srgbClr val="4A5A70"/>
                </a:solidFill>
                <a:latin typeface="Golos Text" pitchFamily="34" charset="0"/>
                <a:ea typeface="Golos Text" pitchFamily="34" charset="-122"/>
                <a:cs typeface="Golos Text" pitchFamily="34" charset="-120"/>
              </a:rPr>
              <a:t>Кайсы натыйжа эң көп кездешет? (Г)</a:t>
            </a:r>
            <a:endParaRPr lang="en-US" sz="1300" dirty="0"/>
          </a:p>
        </p:txBody>
      </p:sp>
      <p:sp>
        <p:nvSpPr>
          <p:cNvPr id="29" name="anim3_t"/>
          <p:cNvSpPr/>
          <p:nvPr/>
        </p:nvSpPr>
        <p:spPr>
          <a:xfrm>
            <a:off x="10469880" y="3465576"/>
            <a:ext cx="1143000" cy="822960"/>
          </a:xfrm>
          <a:prstGeom prst="rect">
            <a:avLst/>
          </a:prstGeom>
          <a:noFill/>
          <a:ln/>
        </p:spPr>
        <p:txBody>
          <a:bodyPr wrap="square" lIns="0" tIns="0" rIns="0" bIns="0" rtlCol="0" anchor="ctr"/>
          <a:lstStyle/>
          <a:p>
            <a:pPr algn="ctr" indent="0" marL="0">
              <a:buNone/>
            </a:pPr>
            <a:r>
              <a:rPr lang="en-US" sz="1500" b="1" dirty="0">
                <a:solidFill>
                  <a:srgbClr val="A84400"/>
                </a:solidFill>
                <a:latin typeface="Golos Text" pitchFamily="34" charset="0"/>
                <a:ea typeface="Golos Text" pitchFamily="34" charset="-122"/>
                <a:cs typeface="Golos Text" pitchFamily="34" charset="-120"/>
              </a:rPr>
              <a:t>300 · 335</a:t>
            </a:r>
            <a:endParaRPr lang="en-US" sz="1500" dirty="0"/>
          </a:p>
        </p:txBody>
      </p:sp>
      <p:sp>
        <p:nvSpPr>
          <p:cNvPr id="30" name="anim4_t"/>
          <p:cNvSpPr/>
          <p:nvPr/>
        </p:nvSpPr>
        <p:spPr>
          <a:xfrm>
            <a:off x="4206240" y="4398264"/>
            <a:ext cx="7452360" cy="822960"/>
          </a:xfrm>
          <a:prstGeom prst="roundRect">
            <a:avLst>
              <a:gd name="adj" fmla="val 20000"/>
            </a:avLst>
          </a:prstGeom>
          <a:solidFill>
            <a:srgbClr val="FFFFFF"/>
          </a:solidFill>
          <a:ln w="22225">
            <a:solidFill>
              <a:srgbClr val="1D3557"/>
            </a:solidFill>
            <a:prstDash val="solid"/>
          </a:ln>
        </p:spPr>
      </p:sp>
      <p:sp>
        <p:nvSpPr>
          <p:cNvPr id="31" name="anim4_t"/>
          <p:cNvSpPr/>
          <p:nvPr/>
        </p:nvSpPr>
        <p:spPr>
          <a:xfrm>
            <a:off x="4343400" y="4398264"/>
            <a:ext cx="2240280" cy="822960"/>
          </a:xfrm>
          <a:prstGeom prst="rect">
            <a:avLst/>
          </a:prstGeom>
          <a:noFill/>
          <a:ln/>
        </p:spPr>
        <p:txBody>
          <a:bodyPr wrap="square" lIns="0" tIns="0" rIns="0" bIns="0" rtlCol="0" anchor="ctr"/>
          <a:lstStyle/>
          <a:p>
            <a:pPr algn="l" indent="0" marL="0">
              <a:buNone/>
            </a:pPr>
            <a:r>
              <a:rPr lang="en-US" sz="1600" b="1" dirty="0">
                <a:solidFill>
                  <a:srgbClr val="1D3557"/>
                </a:solidFill>
                <a:latin typeface="Golos Text" pitchFamily="34" charset="0"/>
                <a:ea typeface="Golos Text" pitchFamily="34" charset="-122"/>
                <a:cs typeface="Golos Text" pitchFamily="34" charset="-120"/>
              </a:rPr>
              <a:t>Кулач</a:t>
            </a:r>
            <a:endParaRPr lang="en-US" sz="1600" dirty="0"/>
          </a:p>
        </p:txBody>
      </p:sp>
      <p:sp>
        <p:nvSpPr>
          <p:cNvPr id="32" name="anim4_t"/>
          <p:cNvSpPr/>
          <p:nvPr/>
        </p:nvSpPr>
        <p:spPr>
          <a:xfrm>
            <a:off x="6583680" y="4434840"/>
            <a:ext cx="3886200" cy="749808"/>
          </a:xfrm>
          <a:prstGeom prst="rect">
            <a:avLst/>
          </a:prstGeom>
          <a:noFill/>
          <a:ln/>
        </p:spPr>
        <p:txBody>
          <a:bodyPr wrap="square" lIns="0" tIns="0" rIns="0" bIns="0" rtlCol="0" anchor="ctr"/>
          <a:lstStyle/>
          <a:p>
            <a:pPr algn="l" indent="0" marL="0">
              <a:buNone/>
            </a:pPr>
            <a:r>
              <a:rPr lang="en-US" sz="1300" b="1" dirty="0">
                <a:solidFill>
                  <a:srgbClr val="1D3557"/>
                </a:solidFill>
                <a:latin typeface="Golos Text" pitchFamily="34" charset="0"/>
                <a:ea typeface="Golos Text" pitchFamily="34" charset="-122"/>
                <a:cs typeface="Golos Text" pitchFamily="34" charset="-120"/>
              </a:rPr>
              <a:t>эң чоң сан − эң кичине сан</a:t>
            </a:r>
            <a:endParaRPr lang="en-US" sz="1300" dirty="0"/>
          </a:p>
          <a:p>
            <a:pPr algn="l" indent="0" marL="0">
              <a:buNone/>
            </a:pPr>
            <a:r>
              <a:rPr lang="en-US" sz="1300" i="1" dirty="0">
                <a:solidFill>
                  <a:srgbClr val="4A5A70"/>
                </a:solidFill>
                <a:latin typeface="Golos Text" pitchFamily="34" charset="0"/>
                <a:ea typeface="Golos Text" pitchFamily="34" charset="-122"/>
                <a:cs typeface="Golos Text" pitchFamily="34" charset="-120"/>
              </a:rPr>
              <a:t>Сандар канчалык чачыранды? (Г)</a:t>
            </a:r>
            <a:endParaRPr lang="en-US" sz="1300" dirty="0"/>
          </a:p>
        </p:txBody>
      </p:sp>
      <p:sp>
        <p:nvSpPr>
          <p:cNvPr id="33" name="anim4_t"/>
          <p:cNvSpPr/>
          <p:nvPr/>
        </p:nvSpPr>
        <p:spPr>
          <a:xfrm>
            <a:off x="10469880" y="4398264"/>
            <a:ext cx="1143000" cy="822960"/>
          </a:xfrm>
          <a:prstGeom prst="rect">
            <a:avLst/>
          </a:prstGeom>
          <a:noFill/>
          <a:ln/>
        </p:spPr>
        <p:txBody>
          <a:bodyPr wrap="square" lIns="0" tIns="0" rIns="0" bIns="0" rtlCol="0" anchor="ctr"/>
          <a:lstStyle/>
          <a:p>
            <a:pPr algn="ctr" indent="0" marL="0">
              <a:buNone/>
            </a:pPr>
            <a:r>
              <a:rPr lang="en-US" sz="1500" b="1" dirty="0">
                <a:solidFill>
                  <a:srgbClr val="1D3557"/>
                </a:solidFill>
                <a:latin typeface="Golos Text" pitchFamily="34" charset="0"/>
                <a:ea typeface="Golos Text" pitchFamily="34" charset="-122"/>
                <a:cs typeface="Golos Text" pitchFamily="34" charset="-120"/>
              </a:rPr>
              <a:t>80 · 115</a:t>
            </a:r>
            <a:endParaRPr lang="en-US" sz="1500" dirty="0"/>
          </a:p>
        </p:txBody>
      </p:sp>
      <p:sp>
        <p:nvSpPr>
          <p:cNvPr id="34" name="anim5_ans"/>
          <p:cNvSpPr/>
          <p:nvPr/>
        </p:nvSpPr>
        <p:spPr>
          <a:xfrm>
            <a:off x="4206240" y="5394960"/>
            <a:ext cx="7452360" cy="777240"/>
          </a:xfrm>
          <a:prstGeom prst="roundRect">
            <a:avLst>
              <a:gd name="adj" fmla="val 30000"/>
            </a:avLst>
          </a:prstGeom>
          <a:solidFill>
            <a:srgbClr val="D1E7E1"/>
          </a:solidFill>
          <a:ln w="28575">
            <a:solidFill>
              <a:srgbClr val="007A5A"/>
            </a:solidFill>
            <a:prstDash val="solid"/>
          </a:ln>
        </p:spPr>
        <p:txBody>
          <a:bodyPr wrap="square" lIns="76200" tIns="76200" rIns="76200" bIns="76200" rtlCol="0" anchor="ctr"/>
          <a:lstStyle/>
          <a:p>
            <a:pPr algn="ctr" indent="0" marL="0">
              <a:buNone/>
            </a:pPr>
            <a:r>
              <a:rPr lang="en-US" sz="1500" b="1" dirty="0">
                <a:solidFill>
                  <a:srgbClr val="007A5A"/>
                </a:solidFill>
                <a:latin typeface="Golos Text" pitchFamily="34" charset="0"/>
                <a:ea typeface="Golos Text" pitchFamily="34" charset="-122"/>
                <a:cs typeface="Golos Text" pitchFamily="34" charset="-120"/>
              </a:rPr>
              <a:t>Жооп суроодон көз каранды: орточо боюнча «Шумкар», медиана жана мода боюнча «Тулпар»; «Шумкардын» кулачы кичине.</a:t>
            </a:r>
            <a:endParaRPr lang="en-US" sz="1500" dirty="0"/>
          </a:p>
        </p:txBody>
      </p:sp>
      <p:sp>
        <p:nvSpPr>
          <p:cNvPr id="35" name="Slide Number Placeholder 0"/>
          <p:cNvSpPr>
            <a:spLocks noGrp="1"/>
          </p:cNvSpPr>
          <p:nvPr>
            <p:ph type="sldNum" sz="quarter" idx="4294967295"/>
          </p:nvPr>
        </p:nvSpPr>
        <p:spPr>
          <a:xfrm>
            <a:off x="11384280" y="6492240"/>
            <a:ext cx="438912"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99AA"/>
                </a:solidFill>
                <a:latin typeface="Golos Text"/>
                <a:ea typeface="Golos Text"/>
                <a:cs typeface="Golos Text"/>
              </a:defRPr>
            </a:lvl1pPr>
          </a:lstStyle>
          <a:p>
            <a:pPr algn="r"/>
            <a:fld id="{F7021451-1387-4CA6-816F-3879F97B5CBC}" type="slidenum">
              <a:rPr b="0" lang="en-US"/>
              <a:t>10</a:t>
            </a:fld>
            <a:endParaRPr lang="en-US"/>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8"/>
                                        </p:tgtEl>
                                        <p:attrNameLst>
                                          <p:attrName>style.visibility</p:attrName>
                                        </p:attrNameLst>
                                      </p:cBhvr>
                                      <p:to>
                                        <p:strVal val="visible"/>
                                      </p:to>
                                    </p:set>
                                    <p:animEffect transition="in" filter="fade">
                                      <p:cBhvr>
                                        <p:cTn id="5" dur="600"/>
                                        <p:tgtEl>
                                          <p:spTgt spid="1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9"/>
                                        </p:tgtEl>
                                        <p:attrNameLst>
                                          <p:attrName>style.visibility</p:attrName>
                                        </p:attrNameLst>
                                      </p:cBhvr>
                                      <p:to>
                                        <p:strVal val="visible"/>
                                      </p:to>
                                    </p:set>
                                    <p:animEffect transition="in" filter="fade">
                                      <p:cBhvr>
                                        <p:cTn id="8" dur="600"/>
                                        <p:tgtEl>
                                          <p:spTgt spid="1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600"/>
                                        <p:tgtEl>
                                          <p:spTgt spid="2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600"/>
                                        <p:tgtEl>
                                          <p:spTgt spid="21"/>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600"/>
                                        <p:tgtEl>
                                          <p:spTgt spid="2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600"/>
                                        <p:tgtEl>
                                          <p:spTgt spid="2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600"/>
                                        <p:tgtEl>
                                          <p:spTgt spid="2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600"/>
                                        <p:tgtEl>
                                          <p:spTgt spid="25"/>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fade">
                                      <p:cBhvr>
                                        <p:cTn id="33" dur="600"/>
                                        <p:tgtEl>
                                          <p:spTgt spid="2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600"/>
                                        <p:tgtEl>
                                          <p:spTgt spid="2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600"/>
                                        <p:tgtEl>
                                          <p:spTgt spid="2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600"/>
                                        <p:tgtEl>
                                          <p:spTgt spid="29"/>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600"/>
                                        <p:tgtEl>
                                          <p:spTgt spid="3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fade">
                                      <p:cBhvr>
                                        <p:cTn id="50" dur="600"/>
                                        <p:tgtEl>
                                          <p:spTgt spid="3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600"/>
                                        <p:tgtEl>
                                          <p:spTgt spid="3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fade">
                                      <p:cBhvr>
                                        <p:cTn id="56" dur="600"/>
                                        <p:tgtEl>
                                          <p:spTgt spid="33"/>
                                        </p:tgtEl>
                                      </p:cBhvr>
                                    </p:animEffect>
                                  </p:childTnLst>
                                </p:cTn>
                              </p:par>
                            </p:childTnLst>
                          </p:cTn>
                        </p:par>
                      </p:childTnLst>
                    </p:cTn>
                  </p:par>
                  <p:par>
                    <p:cTn id="62" fill="hold">
                      <p:stCondLst>
                        <p:cond delay="indefinite"/>
                      </p:stCondLst>
                      <p:childTnLst>
                        <p:par>
                          <p:cTn id="63"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6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3" grpId="0" animBg="1"/>
      <p:bldP spid="24" grpId="0" animBg="1"/>
      <p:bldP spid="25" grpId="0" animBg="1"/>
      <p:bldP spid="27" grpId="0" animBg="1"/>
      <p:bldP spid="28" grpId="0" animBg="1"/>
      <p:bldP spid="29" grpId="0" animBg="1"/>
      <p:bldP spid="31" grpId="0" animBg="1"/>
      <p:bldP spid="32" grpId="0" animBg="1"/>
      <p:bldP spid="33" grpId="0" animBg="1"/>
      <p:bldP spid="3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11457432" cy="640080"/>
          </a:xfrm>
          <a:prstGeom prst="roundRect">
            <a:avLst>
              <a:gd name="adj" fmla="val 22000"/>
            </a:avLst>
          </a:prstGeom>
          <a:solidFill>
            <a:srgbClr val="FFFFFF"/>
          </a:solidFill>
          <a:ln w="19050">
            <a:solidFill>
              <a:srgbClr val="1D3557"/>
            </a:solidFill>
            <a:prstDash val="solid"/>
          </a:ln>
        </p:spPr>
      </p:sp>
      <p:sp>
        <p:nvSpPr>
          <p:cNvPr id="3" name="Shape 1"/>
          <p:cNvSpPr/>
          <p:nvPr/>
        </p:nvSpPr>
        <p:spPr>
          <a:xfrm>
            <a:off x="557784" y="369418"/>
            <a:ext cx="70409" cy="358445"/>
          </a:xfrm>
          <a:prstGeom prst="roundRect">
            <a:avLst>
              <a:gd name="adj" fmla="val 50000"/>
            </a:avLst>
          </a:prstGeom>
          <a:solidFill>
            <a:srgbClr val="007A5A"/>
          </a:solidFill>
          <a:ln/>
        </p:spPr>
      </p:sp>
      <p:sp>
        <p:nvSpPr>
          <p:cNvPr id="4" name="Shape 2"/>
          <p:cNvSpPr/>
          <p:nvPr/>
        </p:nvSpPr>
        <p:spPr>
          <a:xfrm>
            <a:off x="691561" y="369418"/>
            <a:ext cx="70409" cy="358445"/>
          </a:xfrm>
          <a:prstGeom prst="roundRect">
            <a:avLst>
              <a:gd name="adj" fmla="val 50000"/>
            </a:avLst>
          </a:prstGeom>
          <a:solidFill>
            <a:srgbClr val="A84400"/>
          </a:solidFill>
          <a:ln/>
        </p:spPr>
      </p:sp>
      <p:sp>
        <p:nvSpPr>
          <p:cNvPr id="5" name="Shape 3"/>
          <p:cNvSpPr/>
          <p:nvPr/>
        </p:nvSpPr>
        <p:spPr>
          <a:xfrm>
            <a:off x="825337" y="369418"/>
            <a:ext cx="70409" cy="358445"/>
          </a:xfrm>
          <a:prstGeom prst="roundRect">
            <a:avLst>
              <a:gd name="adj" fmla="val 50000"/>
            </a:avLst>
          </a:prstGeom>
          <a:solidFill>
            <a:srgbClr val="24418C"/>
          </a:solidFill>
          <a:ln/>
        </p:spPr>
      </p:sp>
      <p:sp>
        <p:nvSpPr>
          <p:cNvPr id="6" name="Text 4"/>
          <p:cNvSpPr/>
          <p:nvPr/>
        </p:nvSpPr>
        <p:spPr>
          <a:xfrm>
            <a:off x="1096914" y="228600"/>
            <a:ext cx="7589520" cy="640080"/>
          </a:xfrm>
          <a:prstGeom prst="rect">
            <a:avLst/>
          </a:prstGeom>
          <a:noFill/>
          <a:ln/>
        </p:spPr>
        <p:txBody>
          <a:bodyPr wrap="square" lIns="0" tIns="0" rIns="0" bIns="0" rtlCol="0" anchor="ctr"/>
          <a:lstStyle/>
          <a:p>
            <a:pPr algn="l" indent="0" marL="0">
              <a:buNone/>
            </a:pPr>
            <a:r>
              <a:rPr lang="en-US" sz="2200" b="1" dirty="0">
                <a:solidFill>
                  <a:srgbClr val="1D3557"/>
                </a:solidFill>
                <a:latin typeface="Golos Text" pitchFamily="34" charset="0"/>
                <a:ea typeface="Golos Text" pitchFamily="34" charset="-122"/>
                <a:cs typeface="Golos Text" pitchFamily="34" charset="-120"/>
              </a:rPr>
              <a:t>Түшүнүү: орточо — «тең бөлүштүрүү»</a:t>
            </a:r>
            <a:endParaRPr lang="en-US" sz="2200" dirty="0"/>
          </a:p>
        </p:txBody>
      </p:sp>
      <p:sp>
        <p:nvSpPr>
          <p:cNvPr id="7" name="Text 5"/>
          <p:cNvSpPr/>
          <p:nvPr/>
        </p:nvSpPr>
        <p:spPr>
          <a:xfrm>
            <a:off x="8778240" y="228600"/>
            <a:ext cx="2880360" cy="640080"/>
          </a:xfrm>
          <a:prstGeom prst="rect">
            <a:avLst/>
          </a:prstGeom>
          <a:noFill/>
          <a:ln/>
        </p:spPr>
        <p:txBody>
          <a:bodyPr wrap="square" lIns="0" tIns="0" rIns="0" bIns="0" rtlCol="0" anchor="ctr"/>
          <a:lstStyle/>
          <a:p>
            <a:pPr algn="r" indent="0" marL="0">
              <a:buNone/>
            </a:pPr>
            <a:r>
              <a:rPr lang="en-US" sz="1100" dirty="0">
                <a:solidFill>
                  <a:srgbClr val="4A5A70"/>
                </a:solidFill>
                <a:latin typeface="Golos Text" pitchFamily="34" charset="0"/>
                <a:ea typeface="Golos Text" pitchFamily="34" charset="-122"/>
                <a:cs typeface="Golos Text" pitchFamily="34" charset="-120"/>
              </a:rPr>
              <a:t>Статистика › Төрт өлчөм</a:t>
            </a:r>
            <a:endParaRPr lang="en-US" sz="1100" dirty="0"/>
          </a:p>
        </p:txBody>
      </p:sp>
      <p:sp>
        <p:nvSpPr>
          <p:cNvPr id="8" name="Text 6"/>
          <p:cNvSpPr/>
          <p:nvPr/>
        </p:nvSpPr>
        <p:spPr>
          <a:xfrm>
            <a:off x="411480" y="960120"/>
            <a:ext cx="8412480" cy="329184"/>
          </a:xfrm>
          <a:prstGeom prst="rect">
            <a:avLst/>
          </a:prstGeom>
          <a:noFill/>
          <a:ln/>
        </p:spPr>
        <p:txBody>
          <a:bodyPr wrap="square" lIns="0" tIns="0" rIns="0" bIns="0" rtlCol="0" anchor="t"/>
          <a:lstStyle/>
          <a:p>
            <a:pPr algn="l" indent="0" marL="0">
              <a:buNone/>
            </a:pPr>
            <a:r>
              <a:rPr lang="en-US" sz="1500" i="1" dirty="0">
                <a:solidFill>
                  <a:srgbClr val="4A5A70"/>
                </a:solidFill>
                <a:latin typeface="Golos Text" pitchFamily="34" charset="0"/>
                <a:ea typeface="Golos Text" pitchFamily="34" charset="-122"/>
                <a:cs typeface="Golos Text" pitchFamily="34" charset="-120"/>
              </a:rPr>
              <a:t>Буюм → сүрөт → символ. Тизме: 4, 7, 7, 9, 3 (эске салуудагы тизме)</a:t>
            </a:r>
            <a:endParaRPr lang="en-US" sz="1500" dirty="0"/>
          </a:p>
        </p:txBody>
      </p:sp>
      <p:sp>
        <p:nvSpPr>
          <p:cNvPr id="9" name="Text 7"/>
          <p:cNvSpPr/>
          <p:nvPr/>
        </p:nvSpPr>
        <p:spPr>
          <a:xfrm>
            <a:off x="8897112" y="969264"/>
            <a:ext cx="2926080" cy="310896"/>
          </a:xfrm>
          <a:prstGeom prst="rect">
            <a:avLst/>
          </a:prstGeom>
          <a:noFill/>
          <a:ln/>
        </p:spPr>
        <p:txBody>
          <a:bodyPr wrap="square" lIns="0" tIns="0" rIns="0" bIns="0" rtlCol="0" anchor="ctr"/>
          <a:lstStyle/>
          <a:p>
            <a:pPr algn="r" indent="0" marL="0">
              <a:buNone/>
            </a:pPr>
            <a:r>
              <a:rPr lang="en-US" sz="1200" dirty="0">
                <a:solidFill>
                  <a:srgbClr val="4A5A70"/>
                </a:solidFill>
                <a:latin typeface="Golos Text" pitchFamily="34" charset="0"/>
                <a:ea typeface="Golos Text" pitchFamily="34" charset="-122"/>
                <a:cs typeface="Golos Text" pitchFamily="34" charset="-120"/>
              </a:rPr>
              <a:t>Түшүнүү · 2 мүн</a:t>
            </a:r>
            <a:endParaRPr lang="en-US" sz="1200" dirty="0"/>
          </a:p>
        </p:txBody>
      </p:sp>
      <p:sp>
        <p:nvSpPr>
          <p:cNvPr id="10" name="Text 8"/>
          <p:cNvSpPr/>
          <p:nvPr/>
        </p:nvSpPr>
        <p:spPr>
          <a:xfrm>
            <a:off x="365760" y="6492240"/>
            <a:ext cx="5486400" cy="228600"/>
          </a:xfrm>
          <a:prstGeom prst="rect">
            <a:avLst/>
          </a:prstGeom>
          <a:noFill/>
          <a:ln/>
        </p:spPr>
        <p:txBody>
          <a:bodyPr wrap="square" lIns="0" tIns="0" rIns="0" bIns="0" rtlCol="0" anchor="t"/>
          <a:lstStyle/>
          <a:p>
            <a:pPr algn="l" indent="0" marL="0">
              <a:buNone/>
            </a:pPr>
            <a:r>
              <a:rPr lang="en-US" sz="900" dirty="0">
                <a:solidFill>
                  <a:srgbClr val="8D99AA"/>
                </a:solidFill>
                <a:latin typeface="Golos Text" pitchFamily="34" charset="0"/>
                <a:ea typeface="Golos Text" pitchFamily="34" charset="-122"/>
                <a:cs typeface="Golos Text" pitchFamily="34" charset="-120"/>
              </a:rPr>
              <a:t>MathKG · Математика кыргызча</a:t>
            </a:r>
            <a:endParaRPr lang="en-US" sz="900" dirty="0"/>
          </a:p>
        </p:txBody>
      </p:sp>
      <p:sp>
        <p:nvSpPr>
          <p:cNvPr id="11" name="Text 9"/>
          <p:cNvSpPr/>
          <p:nvPr/>
        </p:nvSpPr>
        <p:spPr>
          <a:xfrm>
            <a:off x="7680960" y="6492240"/>
            <a:ext cx="3657600" cy="228600"/>
          </a:xfrm>
          <a:prstGeom prst="rect">
            <a:avLst/>
          </a:prstGeom>
          <a:noFill/>
          <a:ln/>
        </p:spPr>
        <p:txBody>
          <a:bodyPr wrap="square" lIns="0" tIns="0" rIns="0" bIns="0" rtlCol="0" anchor="t"/>
          <a:lstStyle/>
          <a:p>
            <a:pPr algn="r" indent="0" marL="0">
              <a:buNone/>
            </a:pPr>
            <a:r>
              <a:rPr lang="en-US" sz="900" dirty="0">
                <a:solidFill>
                  <a:srgbClr val="8D99AA"/>
                </a:solidFill>
                <a:latin typeface="Golos Text" pitchFamily="34" charset="0"/>
                <a:ea typeface="Golos Text" pitchFamily="34" charset="-122"/>
                <a:cs typeface="Golos Text" pitchFamily="34" charset="-120"/>
              </a:rPr>
              <a:t>MathKG ыкмасы · 2 мүн</a:t>
            </a:r>
            <a:endParaRPr lang="en-US" sz="900" dirty="0"/>
          </a:p>
        </p:txBody>
      </p:sp>
      <p:sp>
        <p:nvSpPr>
          <p:cNvPr id="12" name="Shape 10"/>
          <p:cNvSpPr/>
          <p:nvPr/>
        </p:nvSpPr>
        <p:spPr>
          <a:xfrm>
            <a:off x="365760" y="1463040"/>
            <a:ext cx="4297680" cy="4846320"/>
          </a:xfrm>
          <a:prstGeom prst="roundRect">
            <a:avLst>
              <a:gd name="adj" fmla="val 5000"/>
            </a:avLst>
          </a:prstGeom>
          <a:solidFill>
            <a:srgbClr val="F3F5FB"/>
          </a:solidFill>
          <a:ln/>
        </p:spPr>
      </p:sp>
      <p:sp>
        <p:nvSpPr>
          <p:cNvPr id="13" name="Text 11"/>
          <p:cNvSpPr/>
          <p:nvPr/>
        </p:nvSpPr>
        <p:spPr>
          <a:xfrm>
            <a:off x="548640" y="1600200"/>
            <a:ext cx="1463040" cy="384048"/>
          </a:xfrm>
          <a:prstGeom prst="roundRect">
            <a:avLst>
              <a:gd name="adj" fmla="val 50000"/>
            </a:avLst>
          </a:prstGeom>
          <a:solidFill>
            <a:srgbClr val="007A5A"/>
          </a:solidFill>
          <a:ln w="19050">
            <a:solidFill>
              <a:srgbClr val="007A5A"/>
            </a:solidFill>
            <a:prstDash val="solid"/>
          </a:ln>
        </p:spPr>
        <p:txBody>
          <a:bodyPr wrap="square" lIns="0" tIns="0" rIns="0" bIns="0" rtlCol="0" anchor="ctr"/>
          <a:lstStyle/>
          <a:p>
            <a:pPr algn="ctr" indent="0" marL="0">
              <a:buNone/>
            </a:pPr>
            <a:r>
              <a:rPr lang="en-US" sz="1400" b="1" dirty="0">
                <a:solidFill>
                  <a:srgbClr val="FFFFFF"/>
                </a:solidFill>
                <a:latin typeface="Golos Text" pitchFamily="34" charset="0"/>
                <a:ea typeface="Golos Text" pitchFamily="34" charset="-122"/>
                <a:cs typeface="Golos Text" pitchFamily="34" charset="-120"/>
              </a:rPr>
              <a:t>1. Буюм</a:t>
            </a:r>
            <a:endParaRPr lang="en-US" sz="1400" dirty="0"/>
          </a:p>
        </p:txBody>
      </p:sp>
      <p:sp>
        <p:nvSpPr>
          <p:cNvPr id="14" name="Text 12"/>
          <p:cNvSpPr/>
          <p:nvPr/>
        </p:nvSpPr>
        <p:spPr>
          <a:xfrm>
            <a:off x="2103120" y="1600200"/>
            <a:ext cx="2468880" cy="384048"/>
          </a:xfrm>
          <a:prstGeom prst="rect">
            <a:avLst/>
          </a:prstGeom>
          <a:noFill/>
          <a:ln/>
        </p:spPr>
        <p:txBody>
          <a:bodyPr wrap="square" lIns="0" tIns="0" rIns="0" bIns="0" rtlCol="0" anchor="ctr"/>
          <a:lstStyle/>
          <a:p>
            <a:pPr algn="l" indent="0" marL="0">
              <a:buNone/>
            </a:pPr>
            <a:r>
              <a:rPr lang="en-US" sz="1400" dirty="0">
                <a:solidFill>
                  <a:srgbClr val="4A5A70"/>
                </a:solidFill>
                <a:latin typeface="Golos Text" pitchFamily="34" charset="0"/>
                <a:ea typeface="Golos Text" pitchFamily="34" charset="-122"/>
                <a:cs typeface="Golos Text" pitchFamily="34" charset="-120"/>
              </a:rPr>
              <a:t>Кубиктерден мунаралар</a:t>
            </a:r>
            <a:endParaRPr lang="en-US" sz="1400" dirty="0"/>
          </a:p>
        </p:txBody>
      </p:sp>
      <p:sp>
        <p:nvSpPr>
          <p:cNvPr id="15" name="Shape 13"/>
          <p:cNvSpPr/>
          <p:nvPr/>
        </p:nvSpPr>
        <p:spPr>
          <a:xfrm>
            <a:off x="777240" y="5468112"/>
            <a:ext cx="338328" cy="338328"/>
          </a:xfrm>
          <a:prstGeom prst="roundRect">
            <a:avLst>
              <a:gd name="adj" fmla="val 10000"/>
            </a:avLst>
          </a:prstGeom>
          <a:solidFill>
            <a:srgbClr val="E7EAF2"/>
          </a:solidFill>
          <a:ln w="12700">
            <a:solidFill>
              <a:srgbClr val="1D3557"/>
            </a:solidFill>
            <a:prstDash val="solid"/>
          </a:ln>
        </p:spPr>
      </p:sp>
      <p:sp>
        <p:nvSpPr>
          <p:cNvPr id="16" name="Shape 14"/>
          <p:cNvSpPr/>
          <p:nvPr/>
        </p:nvSpPr>
        <p:spPr>
          <a:xfrm>
            <a:off x="777240" y="5129784"/>
            <a:ext cx="338328" cy="338328"/>
          </a:xfrm>
          <a:prstGeom prst="roundRect">
            <a:avLst>
              <a:gd name="adj" fmla="val 10000"/>
            </a:avLst>
          </a:prstGeom>
          <a:solidFill>
            <a:srgbClr val="E7EAF2"/>
          </a:solidFill>
          <a:ln w="12700">
            <a:solidFill>
              <a:srgbClr val="1D3557"/>
            </a:solidFill>
            <a:prstDash val="solid"/>
          </a:ln>
        </p:spPr>
      </p:sp>
      <p:sp>
        <p:nvSpPr>
          <p:cNvPr id="17" name="Shape 15"/>
          <p:cNvSpPr/>
          <p:nvPr/>
        </p:nvSpPr>
        <p:spPr>
          <a:xfrm>
            <a:off x="777240" y="4791456"/>
            <a:ext cx="338328" cy="338328"/>
          </a:xfrm>
          <a:prstGeom prst="roundRect">
            <a:avLst>
              <a:gd name="adj" fmla="val 10000"/>
            </a:avLst>
          </a:prstGeom>
          <a:solidFill>
            <a:srgbClr val="E7EAF2"/>
          </a:solidFill>
          <a:ln w="12700">
            <a:solidFill>
              <a:srgbClr val="1D3557"/>
            </a:solidFill>
            <a:prstDash val="solid"/>
          </a:ln>
        </p:spPr>
      </p:sp>
      <p:sp>
        <p:nvSpPr>
          <p:cNvPr id="18" name="Shape 16"/>
          <p:cNvSpPr/>
          <p:nvPr/>
        </p:nvSpPr>
        <p:spPr>
          <a:xfrm>
            <a:off x="777240" y="4453128"/>
            <a:ext cx="338328" cy="338328"/>
          </a:xfrm>
          <a:prstGeom prst="roundRect">
            <a:avLst>
              <a:gd name="adj" fmla="val 10000"/>
            </a:avLst>
          </a:prstGeom>
          <a:solidFill>
            <a:srgbClr val="E7EAF2"/>
          </a:solidFill>
          <a:ln w="12700">
            <a:solidFill>
              <a:srgbClr val="1D3557"/>
            </a:solidFill>
            <a:prstDash val="solid"/>
          </a:ln>
        </p:spPr>
      </p:sp>
      <p:sp>
        <p:nvSpPr>
          <p:cNvPr id="19" name="Text 17"/>
          <p:cNvSpPr/>
          <p:nvPr/>
        </p:nvSpPr>
        <p:spPr>
          <a:xfrm>
            <a:off x="594360" y="5852160"/>
            <a:ext cx="704088" cy="329184"/>
          </a:xfrm>
          <a:prstGeom prst="rect">
            <a:avLst/>
          </a:prstGeom>
          <a:noFill/>
          <a:ln/>
        </p:spPr>
        <p:txBody>
          <a:bodyPr wrap="square" lIns="0" tIns="0" rIns="0" bIns="0" rtlCol="0" anchor="t"/>
          <a:lstStyle/>
          <a:p>
            <a:pPr algn="ctr" indent="0" marL="0">
              <a:buNone/>
            </a:pPr>
            <a:r>
              <a:rPr lang="en-US" sz="1600" b="1" dirty="0">
                <a:solidFill>
                  <a:srgbClr val="1D3557"/>
                </a:solidFill>
                <a:latin typeface="Golos Text" pitchFamily="34" charset="0"/>
                <a:ea typeface="Golos Text" pitchFamily="34" charset="-122"/>
                <a:cs typeface="Golos Text" pitchFamily="34" charset="-120"/>
              </a:rPr>
              <a:t>4</a:t>
            </a:r>
            <a:endParaRPr lang="en-US" sz="1600" dirty="0"/>
          </a:p>
        </p:txBody>
      </p:sp>
      <p:sp>
        <p:nvSpPr>
          <p:cNvPr id="20" name="Shape 18"/>
          <p:cNvSpPr/>
          <p:nvPr/>
        </p:nvSpPr>
        <p:spPr>
          <a:xfrm>
            <a:off x="1554480" y="5468112"/>
            <a:ext cx="338328" cy="338328"/>
          </a:xfrm>
          <a:prstGeom prst="roundRect">
            <a:avLst>
              <a:gd name="adj" fmla="val 10000"/>
            </a:avLst>
          </a:prstGeom>
          <a:solidFill>
            <a:srgbClr val="E7EAF2"/>
          </a:solidFill>
          <a:ln w="12700">
            <a:solidFill>
              <a:srgbClr val="1D3557"/>
            </a:solidFill>
            <a:prstDash val="solid"/>
          </a:ln>
        </p:spPr>
      </p:sp>
      <p:sp>
        <p:nvSpPr>
          <p:cNvPr id="21" name="Shape 19"/>
          <p:cNvSpPr/>
          <p:nvPr/>
        </p:nvSpPr>
        <p:spPr>
          <a:xfrm>
            <a:off x="1554480" y="5129784"/>
            <a:ext cx="338328" cy="338328"/>
          </a:xfrm>
          <a:prstGeom prst="roundRect">
            <a:avLst>
              <a:gd name="adj" fmla="val 10000"/>
            </a:avLst>
          </a:prstGeom>
          <a:solidFill>
            <a:srgbClr val="E7EAF2"/>
          </a:solidFill>
          <a:ln w="12700">
            <a:solidFill>
              <a:srgbClr val="1D3557"/>
            </a:solidFill>
            <a:prstDash val="solid"/>
          </a:ln>
        </p:spPr>
      </p:sp>
      <p:sp>
        <p:nvSpPr>
          <p:cNvPr id="22" name="Shape 20"/>
          <p:cNvSpPr/>
          <p:nvPr/>
        </p:nvSpPr>
        <p:spPr>
          <a:xfrm>
            <a:off x="1554480" y="4791456"/>
            <a:ext cx="338328" cy="338328"/>
          </a:xfrm>
          <a:prstGeom prst="roundRect">
            <a:avLst>
              <a:gd name="adj" fmla="val 10000"/>
            </a:avLst>
          </a:prstGeom>
          <a:solidFill>
            <a:srgbClr val="E7EAF2"/>
          </a:solidFill>
          <a:ln w="12700">
            <a:solidFill>
              <a:srgbClr val="1D3557"/>
            </a:solidFill>
            <a:prstDash val="solid"/>
          </a:ln>
        </p:spPr>
      </p:sp>
      <p:sp>
        <p:nvSpPr>
          <p:cNvPr id="23" name="Shape 21"/>
          <p:cNvSpPr/>
          <p:nvPr/>
        </p:nvSpPr>
        <p:spPr>
          <a:xfrm>
            <a:off x="1554480" y="4453128"/>
            <a:ext cx="338328" cy="338328"/>
          </a:xfrm>
          <a:prstGeom prst="roundRect">
            <a:avLst>
              <a:gd name="adj" fmla="val 10000"/>
            </a:avLst>
          </a:prstGeom>
          <a:solidFill>
            <a:srgbClr val="E7EAF2"/>
          </a:solidFill>
          <a:ln w="12700">
            <a:solidFill>
              <a:srgbClr val="1D3557"/>
            </a:solidFill>
            <a:prstDash val="solid"/>
          </a:ln>
        </p:spPr>
      </p:sp>
      <p:sp>
        <p:nvSpPr>
          <p:cNvPr id="24" name="Shape 22"/>
          <p:cNvSpPr/>
          <p:nvPr/>
        </p:nvSpPr>
        <p:spPr>
          <a:xfrm>
            <a:off x="1554480" y="4114800"/>
            <a:ext cx="338328" cy="338328"/>
          </a:xfrm>
          <a:prstGeom prst="roundRect">
            <a:avLst>
              <a:gd name="adj" fmla="val 10000"/>
            </a:avLst>
          </a:prstGeom>
          <a:solidFill>
            <a:srgbClr val="E7EAF2"/>
          </a:solidFill>
          <a:ln w="12700">
            <a:solidFill>
              <a:srgbClr val="1D3557"/>
            </a:solidFill>
            <a:prstDash val="solid"/>
          </a:ln>
        </p:spPr>
      </p:sp>
      <p:sp>
        <p:nvSpPr>
          <p:cNvPr id="25" name="Shape 23"/>
          <p:cNvSpPr/>
          <p:nvPr/>
        </p:nvSpPr>
        <p:spPr>
          <a:xfrm>
            <a:off x="1554480" y="3776472"/>
            <a:ext cx="338328" cy="338328"/>
          </a:xfrm>
          <a:prstGeom prst="roundRect">
            <a:avLst>
              <a:gd name="adj" fmla="val 10000"/>
            </a:avLst>
          </a:prstGeom>
          <a:solidFill>
            <a:srgbClr val="E7EAF2"/>
          </a:solidFill>
          <a:ln w="12700">
            <a:solidFill>
              <a:srgbClr val="1D3557"/>
            </a:solidFill>
            <a:prstDash val="solid"/>
          </a:ln>
        </p:spPr>
      </p:sp>
      <p:sp>
        <p:nvSpPr>
          <p:cNvPr id="26" name="Shape 24"/>
          <p:cNvSpPr/>
          <p:nvPr/>
        </p:nvSpPr>
        <p:spPr>
          <a:xfrm>
            <a:off x="1554480" y="3438144"/>
            <a:ext cx="338328" cy="338328"/>
          </a:xfrm>
          <a:prstGeom prst="roundRect">
            <a:avLst>
              <a:gd name="adj" fmla="val 10000"/>
            </a:avLst>
          </a:prstGeom>
          <a:solidFill>
            <a:srgbClr val="E7EAF2"/>
          </a:solidFill>
          <a:ln w="12700">
            <a:solidFill>
              <a:srgbClr val="1D3557"/>
            </a:solidFill>
            <a:prstDash val="solid"/>
          </a:ln>
        </p:spPr>
      </p:sp>
      <p:sp>
        <p:nvSpPr>
          <p:cNvPr id="27" name="Text 25"/>
          <p:cNvSpPr/>
          <p:nvPr/>
        </p:nvSpPr>
        <p:spPr>
          <a:xfrm>
            <a:off x="1371600" y="5852160"/>
            <a:ext cx="704088" cy="329184"/>
          </a:xfrm>
          <a:prstGeom prst="rect">
            <a:avLst/>
          </a:prstGeom>
          <a:noFill/>
          <a:ln/>
        </p:spPr>
        <p:txBody>
          <a:bodyPr wrap="square" lIns="0" tIns="0" rIns="0" bIns="0" rtlCol="0" anchor="t"/>
          <a:lstStyle/>
          <a:p>
            <a:pPr algn="ctr" indent="0" marL="0">
              <a:buNone/>
            </a:pPr>
            <a:r>
              <a:rPr lang="en-US" sz="1600" b="1" dirty="0">
                <a:solidFill>
                  <a:srgbClr val="1D3557"/>
                </a:solidFill>
                <a:latin typeface="Golos Text" pitchFamily="34" charset="0"/>
                <a:ea typeface="Golos Text" pitchFamily="34" charset="-122"/>
                <a:cs typeface="Golos Text" pitchFamily="34" charset="-120"/>
              </a:rPr>
              <a:t>7</a:t>
            </a:r>
            <a:endParaRPr lang="en-US" sz="1600" dirty="0"/>
          </a:p>
        </p:txBody>
      </p:sp>
      <p:sp>
        <p:nvSpPr>
          <p:cNvPr id="28" name="Shape 26"/>
          <p:cNvSpPr/>
          <p:nvPr/>
        </p:nvSpPr>
        <p:spPr>
          <a:xfrm>
            <a:off x="2331720" y="5468112"/>
            <a:ext cx="338328" cy="338328"/>
          </a:xfrm>
          <a:prstGeom prst="roundRect">
            <a:avLst>
              <a:gd name="adj" fmla="val 10000"/>
            </a:avLst>
          </a:prstGeom>
          <a:solidFill>
            <a:srgbClr val="E7EAF2"/>
          </a:solidFill>
          <a:ln w="12700">
            <a:solidFill>
              <a:srgbClr val="1D3557"/>
            </a:solidFill>
            <a:prstDash val="solid"/>
          </a:ln>
        </p:spPr>
      </p:sp>
      <p:sp>
        <p:nvSpPr>
          <p:cNvPr id="29" name="Shape 27"/>
          <p:cNvSpPr/>
          <p:nvPr/>
        </p:nvSpPr>
        <p:spPr>
          <a:xfrm>
            <a:off x="2331720" y="5129784"/>
            <a:ext cx="338328" cy="338328"/>
          </a:xfrm>
          <a:prstGeom prst="roundRect">
            <a:avLst>
              <a:gd name="adj" fmla="val 10000"/>
            </a:avLst>
          </a:prstGeom>
          <a:solidFill>
            <a:srgbClr val="E7EAF2"/>
          </a:solidFill>
          <a:ln w="12700">
            <a:solidFill>
              <a:srgbClr val="1D3557"/>
            </a:solidFill>
            <a:prstDash val="solid"/>
          </a:ln>
        </p:spPr>
      </p:sp>
      <p:sp>
        <p:nvSpPr>
          <p:cNvPr id="30" name="Shape 28"/>
          <p:cNvSpPr/>
          <p:nvPr/>
        </p:nvSpPr>
        <p:spPr>
          <a:xfrm>
            <a:off x="2331720" y="4791456"/>
            <a:ext cx="338328" cy="338328"/>
          </a:xfrm>
          <a:prstGeom prst="roundRect">
            <a:avLst>
              <a:gd name="adj" fmla="val 10000"/>
            </a:avLst>
          </a:prstGeom>
          <a:solidFill>
            <a:srgbClr val="E7EAF2"/>
          </a:solidFill>
          <a:ln w="12700">
            <a:solidFill>
              <a:srgbClr val="1D3557"/>
            </a:solidFill>
            <a:prstDash val="solid"/>
          </a:ln>
        </p:spPr>
      </p:sp>
      <p:sp>
        <p:nvSpPr>
          <p:cNvPr id="31" name="Shape 29"/>
          <p:cNvSpPr/>
          <p:nvPr/>
        </p:nvSpPr>
        <p:spPr>
          <a:xfrm>
            <a:off x="2331720" y="4453128"/>
            <a:ext cx="338328" cy="338328"/>
          </a:xfrm>
          <a:prstGeom prst="roundRect">
            <a:avLst>
              <a:gd name="adj" fmla="val 10000"/>
            </a:avLst>
          </a:prstGeom>
          <a:solidFill>
            <a:srgbClr val="E7EAF2"/>
          </a:solidFill>
          <a:ln w="12700">
            <a:solidFill>
              <a:srgbClr val="1D3557"/>
            </a:solidFill>
            <a:prstDash val="solid"/>
          </a:ln>
        </p:spPr>
      </p:sp>
      <p:sp>
        <p:nvSpPr>
          <p:cNvPr id="32" name="Shape 30"/>
          <p:cNvSpPr/>
          <p:nvPr/>
        </p:nvSpPr>
        <p:spPr>
          <a:xfrm>
            <a:off x="2331720" y="4114800"/>
            <a:ext cx="338328" cy="338328"/>
          </a:xfrm>
          <a:prstGeom prst="roundRect">
            <a:avLst>
              <a:gd name="adj" fmla="val 10000"/>
            </a:avLst>
          </a:prstGeom>
          <a:solidFill>
            <a:srgbClr val="E7EAF2"/>
          </a:solidFill>
          <a:ln w="12700">
            <a:solidFill>
              <a:srgbClr val="1D3557"/>
            </a:solidFill>
            <a:prstDash val="solid"/>
          </a:ln>
        </p:spPr>
      </p:sp>
      <p:sp>
        <p:nvSpPr>
          <p:cNvPr id="33" name="Shape 31"/>
          <p:cNvSpPr/>
          <p:nvPr/>
        </p:nvSpPr>
        <p:spPr>
          <a:xfrm>
            <a:off x="2331720" y="3776472"/>
            <a:ext cx="338328" cy="338328"/>
          </a:xfrm>
          <a:prstGeom prst="roundRect">
            <a:avLst>
              <a:gd name="adj" fmla="val 10000"/>
            </a:avLst>
          </a:prstGeom>
          <a:solidFill>
            <a:srgbClr val="E7EAF2"/>
          </a:solidFill>
          <a:ln w="12700">
            <a:solidFill>
              <a:srgbClr val="1D3557"/>
            </a:solidFill>
            <a:prstDash val="solid"/>
          </a:ln>
        </p:spPr>
      </p:sp>
      <p:sp>
        <p:nvSpPr>
          <p:cNvPr id="34" name="Shape 32"/>
          <p:cNvSpPr/>
          <p:nvPr/>
        </p:nvSpPr>
        <p:spPr>
          <a:xfrm>
            <a:off x="2331720" y="3438144"/>
            <a:ext cx="338328" cy="338328"/>
          </a:xfrm>
          <a:prstGeom prst="roundRect">
            <a:avLst>
              <a:gd name="adj" fmla="val 10000"/>
            </a:avLst>
          </a:prstGeom>
          <a:solidFill>
            <a:srgbClr val="E7EAF2"/>
          </a:solidFill>
          <a:ln w="12700">
            <a:solidFill>
              <a:srgbClr val="1D3557"/>
            </a:solidFill>
            <a:prstDash val="solid"/>
          </a:ln>
        </p:spPr>
      </p:sp>
      <p:sp>
        <p:nvSpPr>
          <p:cNvPr id="35" name="Text 33"/>
          <p:cNvSpPr/>
          <p:nvPr/>
        </p:nvSpPr>
        <p:spPr>
          <a:xfrm>
            <a:off x="2148840" y="5852160"/>
            <a:ext cx="704088" cy="329184"/>
          </a:xfrm>
          <a:prstGeom prst="rect">
            <a:avLst/>
          </a:prstGeom>
          <a:noFill/>
          <a:ln/>
        </p:spPr>
        <p:txBody>
          <a:bodyPr wrap="square" lIns="0" tIns="0" rIns="0" bIns="0" rtlCol="0" anchor="t"/>
          <a:lstStyle/>
          <a:p>
            <a:pPr algn="ctr" indent="0" marL="0">
              <a:buNone/>
            </a:pPr>
            <a:r>
              <a:rPr lang="en-US" sz="1600" b="1" dirty="0">
                <a:solidFill>
                  <a:srgbClr val="1D3557"/>
                </a:solidFill>
                <a:latin typeface="Golos Text" pitchFamily="34" charset="0"/>
                <a:ea typeface="Golos Text" pitchFamily="34" charset="-122"/>
                <a:cs typeface="Golos Text" pitchFamily="34" charset="-120"/>
              </a:rPr>
              <a:t>7</a:t>
            </a:r>
            <a:endParaRPr lang="en-US" sz="1600" dirty="0"/>
          </a:p>
        </p:txBody>
      </p:sp>
      <p:sp>
        <p:nvSpPr>
          <p:cNvPr id="36" name="Shape 34"/>
          <p:cNvSpPr/>
          <p:nvPr/>
        </p:nvSpPr>
        <p:spPr>
          <a:xfrm>
            <a:off x="3108960" y="5468112"/>
            <a:ext cx="338328" cy="338328"/>
          </a:xfrm>
          <a:prstGeom prst="roundRect">
            <a:avLst>
              <a:gd name="adj" fmla="val 10000"/>
            </a:avLst>
          </a:prstGeom>
          <a:solidFill>
            <a:srgbClr val="E7EAF2"/>
          </a:solidFill>
          <a:ln w="12700">
            <a:solidFill>
              <a:srgbClr val="1D3557"/>
            </a:solidFill>
            <a:prstDash val="solid"/>
          </a:ln>
        </p:spPr>
      </p:sp>
      <p:sp>
        <p:nvSpPr>
          <p:cNvPr id="37" name="Shape 35"/>
          <p:cNvSpPr/>
          <p:nvPr/>
        </p:nvSpPr>
        <p:spPr>
          <a:xfrm>
            <a:off x="3108960" y="5129784"/>
            <a:ext cx="338328" cy="338328"/>
          </a:xfrm>
          <a:prstGeom prst="roundRect">
            <a:avLst>
              <a:gd name="adj" fmla="val 10000"/>
            </a:avLst>
          </a:prstGeom>
          <a:solidFill>
            <a:srgbClr val="E7EAF2"/>
          </a:solidFill>
          <a:ln w="12700">
            <a:solidFill>
              <a:srgbClr val="1D3557"/>
            </a:solidFill>
            <a:prstDash val="solid"/>
          </a:ln>
        </p:spPr>
      </p:sp>
      <p:sp>
        <p:nvSpPr>
          <p:cNvPr id="38" name="Shape 36"/>
          <p:cNvSpPr/>
          <p:nvPr/>
        </p:nvSpPr>
        <p:spPr>
          <a:xfrm>
            <a:off x="3108960" y="4791456"/>
            <a:ext cx="338328" cy="338328"/>
          </a:xfrm>
          <a:prstGeom prst="roundRect">
            <a:avLst>
              <a:gd name="adj" fmla="val 10000"/>
            </a:avLst>
          </a:prstGeom>
          <a:solidFill>
            <a:srgbClr val="E7EAF2"/>
          </a:solidFill>
          <a:ln w="12700">
            <a:solidFill>
              <a:srgbClr val="1D3557"/>
            </a:solidFill>
            <a:prstDash val="solid"/>
          </a:ln>
        </p:spPr>
      </p:sp>
      <p:sp>
        <p:nvSpPr>
          <p:cNvPr id="39" name="Shape 37"/>
          <p:cNvSpPr/>
          <p:nvPr/>
        </p:nvSpPr>
        <p:spPr>
          <a:xfrm>
            <a:off x="3108960" y="4453128"/>
            <a:ext cx="338328" cy="338328"/>
          </a:xfrm>
          <a:prstGeom prst="roundRect">
            <a:avLst>
              <a:gd name="adj" fmla="val 10000"/>
            </a:avLst>
          </a:prstGeom>
          <a:solidFill>
            <a:srgbClr val="E7EAF2"/>
          </a:solidFill>
          <a:ln w="12700">
            <a:solidFill>
              <a:srgbClr val="1D3557"/>
            </a:solidFill>
            <a:prstDash val="solid"/>
          </a:ln>
        </p:spPr>
      </p:sp>
      <p:sp>
        <p:nvSpPr>
          <p:cNvPr id="40" name="Shape 38"/>
          <p:cNvSpPr/>
          <p:nvPr/>
        </p:nvSpPr>
        <p:spPr>
          <a:xfrm>
            <a:off x="3108960" y="4114800"/>
            <a:ext cx="338328" cy="338328"/>
          </a:xfrm>
          <a:prstGeom prst="roundRect">
            <a:avLst>
              <a:gd name="adj" fmla="val 10000"/>
            </a:avLst>
          </a:prstGeom>
          <a:solidFill>
            <a:srgbClr val="E7EAF2"/>
          </a:solidFill>
          <a:ln w="12700">
            <a:solidFill>
              <a:srgbClr val="1D3557"/>
            </a:solidFill>
            <a:prstDash val="solid"/>
          </a:ln>
        </p:spPr>
      </p:sp>
      <p:sp>
        <p:nvSpPr>
          <p:cNvPr id="41" name="Shape 39"/>
          <p:cNvSpPr/>
          <p:nvPr/>
        </p:nvSpPr>
        <p:spPr>
          <a:xfrm>
            <a:off x="3108960" y="3776472"/>
            <a:ext cx="338328" cy="338328"/>
          </a:xfrm>
          <a:prstGeom prst="roundRect">
            <a:avLst>
              <a:gd name="adj" fmla="val 10000"/>
            </a:avLst>
          </a:prstGeom>
          <a:solidFill>
            <a:srgbClr val="E7EAF2"/>
          </a:solidFill>
          <a:ln w="12700">
            <a:solidFill>
              <a:srgbClr val="1D3557"/>
            </a:solidFill>
            <a:prstDash val="solid"/>
          </a:ln>
        </p:spPr>
      </p:sp>
      <p:sp>
        <p:nvSpPr>
          <p:cNvPr id="42" name="Shape 40"/>
          <p:cNvSpPr/>
          <p:nvPr/>
        </p:nvSpPr>
        <p:spPr>
          <a:xfrm>
            <a:off x="3108960" y="3438144"/>
            <a:ext cx="338328" cy="338328"/>
          </a:xfrm>
          <a:prstGeom prst="roundRect">
            <a:avLst>
              <a:gd name="adj" fmla="val 10000"/>
            </a:avLst>
          </a:prstGeom>
          <a:solidFill>
            <a:srgbClr val="E7EAF2"/>
          </a:solidFill>
          <a:ln w="12700">
            <a:solidFill>
              <a:srgbClr val="1D3557"/>
            </a:solidFill>
            <a:prstDash val="solid"/>
          </a:ln>
        </p:spPr>
      </p:sp>
      <p:sp>
        <p:nvSpPr>
          <p:cNvPr id="43" name="Shape 41"/>
          <p:cNvSpPr/>
          <p:nvPr/>
        </p:nvSpPr>
        <p:spPr>
          <a:xfrm>
            <a:off x="3108960" y="3099816"/>
            <a:ext cx="338328" cy="338328"/>
          </a:xfrm>
          <a:prstGeom prst="roundRect">
            <a:avLst>
              <a:gd name="adj" fmla="val 10000"/>
            </a:avLst>
          </a:prstGeom>
          <a:solidFill>
            <a:srgbClr val="E7EAF2"/>
          </a:solidFill>
          <a:ln w="12700">
            <a:solidFill>
              <a:srgbClr val="1D3557"/>
            </a:solidFill>
            <a:prstDash val="solid"/>
          </a:ln>
        </p:spPr>
      </p:sp>
      <p:sp>
        <p:nvSpPr>
          <p:cNvPr id="44" name="Shape 42"/>
          <p:cNvSpPr/>
          <p:nvPr/>
        </p:nvSpPr>
        <p:spPr>
          <a:xfrm>
            <a:off x="3108960" y="2761488"/>
            <a:ext cx="338328" cy="338328"/>
          </a:xfrm>
          <a:prstGeom prst="roundRect">
            <a:avLst>
              <a:gd name="adj" fmla="val 10000"/>
            </a:avLst>
          </a:prstGeom>
          <a:solidFill>
            <a:srgbClr val="E7EAF2"/>
          </a:solidFill>
          <a:ln w="12700">
            <a:solidFill>
              <a:srgbClr val="1D3557"/>
            </a:solidFill>
            <a:prstDash val="solid"/>
          </a:ln>
        </p:spPr>
      </p:sp>
      <p:sp>
        <p:nvSpPr>
          <p:cNvPr id="45" name="Text 43"/>
          <p:cNvSpPr/>
          <p:nvPr/>
        </p:nvSpPr>
        <p:spPr>
          <a:xfrm>
            <a:off x="2926080" y="5852160"/>
            <a:ext cx="704088" cy="329184"/>
          </a:xfrm>
          <a:prstGeom prst="rect">
            <a:avLst/>
          </a:prstGeom>
          <a:noFill/>
          <a:ln/>
        </p:spPr>
        <p:txBody>
          <a:bodyPr wrap="square" lIns="0" tIns="0" rIns="0" bIns="0" rtlCol="0" anchor="t"/>
          <a:lstStyle/>
          <a:p>
            <a:pPr algn="ctr" indent="0" marL="0">
              <a:buNone/>
            </a:pPr>
            <a:r>
              <a:rPr lang="en-US" sz="1600" b="1" dirty="0">
                <a:solidFill>
                  <a:srgbClr val="1D3557"/>
                </a:solidFill>
                <a:latin typeface="Golos Text" pitchFamily="34" charset="0"/>
                <a:ea typeface="Golos Text" pitchFamily="34" charset="-122"/>
                <a:cs typeface="Golos Text" pitchFamily="34" charset="-120"/>
              </a:rPr>
              <a:t>9</a:t>
            </a:r>
            <a:endParaRPr lang="en-US" sz="1600" dirty="0"/>
          </a:p>
        </p:txBody>
      </p:sp>
      <p:sp>
        <p:nvSpPr>
          <p:cNvPr id="46" name="Shape 44"/>
          <p:cNvSpPr/>
          <p:nvPr/>
        </p:nvSpPr>
        <p:spPr>
          <a:xfrm>
            <a:off x="3886200" y="5468112"/>
            <a:ext cx="338328" cy="338328"/>
          </a:xfrm>
          <a:prstGeom prst="roundRect">
            <a:avLst>
              <a:gd name="adj" fmla="val 10000"/>
            </a:avLst>
          </a:prstGeom>
          <a:solidFill>
            <a:srgbClr val="E7EAF2"/>
          </a:solidFill>
          <a:ln w="12700">
            <a:solidFill>
              <a:srgbClr val="1D3557"/>
            </a:solidFill>
            <a:prstDash val="solid"/>
          </a:ln>
        </p:spPr>
      </p:sp>
      <p:sp>
        <p:nvSpPr>
          <p:cNvPr id="47" name="Shape 45"/>
          <p:cNvSpPr/>
          <p:nvPr/>
        </p:nvSpPr>
        <p:spPr>
          <a:xfrm>
            <a:off x="3886200" y="5129784"/>
            <a:ext cx="338328" cy="338328"/>
          </a:xfrm>
          <a:prstGeom prst="roundRect">
            <a:avLst>
              <a:gd name="adj" fmla="val 10000"/>
            </a:avLst>
          </a:prstGeom>
          <a:solidFill>
            <a:srgbClr val="E7EAF2"/>
          </a:solidFill>
          <a:ln w="12700">
            <a:solidFill>
              <a:srgbClr val="1D3557"/>
            </a:solidFill>
            <a:prstDash val="solid"/>
          </a:ln>
        </p:spPr>
      </p:sp>
      <p:sp>
        <p:nvSpPr>
          <p:cNvPr id="48" name="Shape 46"/>
          <p:cNvSpPr/>
          <p:nvPr/>
        </p:nvSpPr>
        <p:spPr>
          <a:xfrm>
            <a:off x="3886200" y="4791456"/>
            <a:ext cx="338328" cy="338328"/>
          </a:xfrm>
          <a:prstGeom prst="roundRect">
            <a:avLst>
              <a:gd name="adj" fmla="val 10000"/>
            </a:avLst>
          </a:prstGeom>
          <a:solidFill>
            <a:srgbClr val="E7EAF2"/>
          </a:solidFill>
          <a:ln w="12700">
            <a:solidFill>
              <a:srgbClr val="1D3557"/>
            </a:solidFill>
            <a:prstDash val="solid"/>
          </a:ln>
        </p:spPr>
      </p:sp>
      <p:sp>
        <p:nvSpPr>
          <p:cNvPr id="49" name="Text 47"/>
          <p:cNvSpPr/>
          <p:nvPr/>
        </p:nvSpPr>
        <p:spPr>
          <a:xfrm>
            <a:off x="3703320" y="5852160"/>
            <a:ext cx="704088" cy="329184"/>
          </a:xfrm>
          <a:prstGeom prst="rect">
            <a:avLst/>
          </a:prstGeom>
          <a:noFill/>
          <a:ln/>
        </p:spPr>
        <p:txBody>
          <a:bodyPr wrap="square" lIns="0" tIns="0" rIns="0" bIns="0" rtlCol="0" anchor="t"/>
          <a:lstStyle/>
          <a:p>
            <a:pPr algn="ctr" indent="0" marL="0">
              <a:buNone/>
            </a:pPr>
            <a:r>
              <a:rPr lang="en-US" sz="1600" b="1" dirty="0">
                <a:solidFill>
                  <a:srgbClr val="1D3557"/>
                </a:solidFill>
                <a:latin typeface="Golos Text" pitchFamily="34" charset="0"/>
                <a:ea typeface="Golos Text" pitchFamily="34" charset="-122"/>
                <a:cs typeface="Golos Text" pitchFamily="34" charset="-120"/>
              </a:rPr>
              <a:t>3</a:t>
            </a:r>
            <a:endParaRPr lang="en-US" sz="1600" dirty="0"/>
          </a:p>
        </p:txBody>
      </p:sp>
      <p:sp>
        <p:nvSpPr>
          <p:cNvPr id="50" name="anim1_m"/>
          <p:cNvSpPr/>
          <p:nvPr/>
        </p:nvSpPr>
        <p:spPr>
          <a:xfrm>
            <a:off x="3108960" y="3438144"/>
            <a:ext cx="338328" cy="338328"/>
          </a:xfrm>
          <a:prstGeom prst="roundRect">
            <a:avLst>
              <a:gd name="adj" fmla="val 10000"/>
            </a:avLst>
          </a:prstGeom>
          <a:solidFill>
            <a:srgbClr val="F5EBE3"/>
          </a:solidFill>
          <a:ln w="19050">
            <a:solidFill>
              <a:srgbClr val="A84400"/>
            </a:solidFill>
            <a:prstDash val="solid"/>
          </a:ln>
        </p:spPr>
      </p:sp>
      <p:sp>
        <p:nvSpPr>
          <p:cNvPr id="51" name="anim1_m"/>
          <p:cNvSpPr/>
          <p:nvPr/>
        </p:nvSpPr>
        <p:spPr>
          <a:xfrm>
            <a:off x="3108960" y="3099816"/>
            <a:ext cx="338328" cy="338328"/>
          </a:xfrm>
          <a:prstGeom prst="roundRect">
            <a:avLst>
              <a:gd name="adj" fmla="val 10000"/>
            </a:avLst>
          </a:prstGeom>
          <a:solidFill>
            <a:srgbClr val="F5EBE3"/>
          </a:solidFill>
          <a:ln w="19050">
            <a:solidFill>
              <a:srgbClr val="A84400"/>
            </a:solidFill>
            <a:prstDash val="solid"/>
          </a:ln>
        </p:spPr>
      </p:sp>
      <p:sp>
        <p:nvSpPr>
          <p:cNvPr id="52" name="anim1_m"/>
          <p:cNvSpPr/>
          <p:nvPr/>
        </p:nvSpPr>
        <p:spPr>
          <a:xfrm>
            <a:off x="3108960" y="2761488"/>
            <a:ext cx="338328" cy="338328"/>
          </a:xfrm>
          <a:prstGeom prst="roundRect">
            <a:avLst>
              <a:gd name="adj" fmla="val 10000"/>
            </a:avLst>
          </a:prstGeom>
          <a:solidFill>
            <a:srgbClr val="F5EBE3"/>
          </a:solidFill>
          <a:ln w="19050">
            <a:solidFill>
              <a:srgbClr val="A84400"/>
            </a:solidFill>
            <a:prstDash val="solid"/>
          </a:ln>
        </p:spPr>
      </p:sp>
      <p:sp>
        <p:nvSpPr>
          <p:cNvPr id="53" name="anim1_m"/>
          <p:cNvSpPr/>
          <p:nvPr/>
        </p:nvSpPr>
        <p:spPr>
          <a:xfrm>
            <a:off x="3886200" y="4453128"/>
            <a:ext cx="338328" cy="338328"/>
          </a:xfrm>
          <a:prstGeom prst="roundRect">
            <a:avLst>
              <a:gd name="adj" fmla="val 10000"/>
            </a:avLst>
          </a:prstGeom>
          <a:solidFill>
            <a:srgbClr val="FFFFFF"/>
          </a:solidFill>
          <a:ln w="19050">
            <a:solidFill>
              <a:srgbClr val="A84400"/>
            </a:solidFill>
            <a:prstDash val="dash"/>
          </a:ln>
        </p:spPr>
      </p:sp>
      <p:sp>
        <p:nvSpPr>
          <p:cNvPr id="54" name="anim1_m"/>
          <p:cNvSpPr/>
          <p:nvPr/>
        </p:nvSpPr>
        <p:spPr>
          <a:xfrm>
            <a:off x="3886200" y="4114800"/>
            <a:ext cx="338328" cy="338328"/>
          </a:xfrm>
          <a:prstGeom prst="roundRect">
            <a:avLst>
              <a:gd name="adj" fmla="val 10000"/>
            </a:avLst>
          </a:prstGeom>
          <a:solidFill>
            <a:srgbClr val="FFFFFF"/>
          </a:solidFill>
          <a:ln w="19050">
            <a:solidFill>
              <a:srgbClr val="A84400"/>
            </a:solidFill>
            <a:prstDash val="dash"/>
          </a:ln>
        </p:spPr>
      </p:sp>
      <p:sp>
        <p:nvSpPr>
          <p:cNvPr id="55" name="anim1_m"/>
          <p:cNvSpPr/>
          <p:nvPr/>
        </p:nvSpPr>
        <p:spPr>
          <a:xfrm>
            <a:off x="3886200" y="3776472"/>
            <a:ext cx="338328" cy="338328"/>
          </a:xfrm>
          <a:prstGeom prst="roundRect">
            <a:avLst>
              <a:gd name="adj" fmla="val 10000"/>
            </a:avLst>
          </a:prstGeom>
          <a:solidFill>
            <a:srgbClr val="FFFFFF"/>
          </a:solidFill>
          <a:ln w="19050">
            <a:solidFill>
              <a:srgbClr val="A84400"/>
            </a:solidFill>
            <a:prstDash val="dash"/>
          </a:ln>
        </p:spPr>
      </p:sp>
      <p:sp>
        <p:nvSpPr>
          <p:cNvPr id="56" name="anim1_m"/>
          <p:cNvSpPr/>
          <p:nvPr/>
        </p:nvSpPr>
        <p:spPr>
          <a:xfrm>
            <a:off x="2907792" y="2450592"/>
            <a:ext cx="740664" cy="292608"/>
          </a:xfrm>
          <a:prstGeom prst="rect">
            <a:avLst/>
          </a:prstGeom>
          <a:noFill/>
          <a:ln/>
        </p:spPr>
        <p:txBody>
          <a:bodyPr wrap="square" lIns="0" tIns="0" rIns="0" bIns="0" rtlCol="0" anchor="t"/>
          <a:lstStyle/>
          <a:p>
            <a:pPr algn="ctr" indent="0" marL="0">
              <a:buNone/>
            </a:pPr>
            <a:r>
              <a:rPr lang="en-US" sz="1400" b="1" dirty="0">
                <a:solidFill>
                  <a:srgbClr val="A84400"/>
                </a:solidFill>
                <a:latin typeface="Golos Text" pitchFamily="34" charset="0"/>
                <a:ea typeface="Golos Text" pitchFamily="34" charset="-122"/>
                <a:cs typeface="Golos Text" pitchFamily="34" charset="-120"/>
              </a:rPr>
              <a:t>−3</a:t>
            </a:r>
            <a:endParaRPr lang="en-US" sz="1400" dirty="0"/>
          </a:p>
        </p:txBody>
      </p:sp>
      <p:sp>
        <p:nvSpPr>
          <p:cNvPr id="57" name="anim1_m"/>
          <p:cNvSpPr/>
          <p:nvPr/>
        </p:nvSpPr>
        <p:spPr>
          <a:xfrm>
            <a:off x="3685032" y="3465576"/>
            <a:ext cx="740664" cy="292608"/>
          </a:xfrm>
          <a:prstGeom prst="rect">
            <a:avLst/>
          </a:prstGeom>
          <a:noFill/>
          <a:ln/>
        </p:spPr>
        <p:txBody>
          <a:bodyPr wrap="square" lIns="0" tIns="0" rIns="0" bIns="0" rtlCol="0" anchor="t"/>
          <a:lstStyle/>
          <a:p>
            <a:pPr algn="ctr" indent="0" marL="0">
              <a:buNone/>
            </a:pPr>
            <a:r>
              <a:rPr lang="en-US" sz="1400" b="1" dirty="0">
                <a:solidFill>
                  <a:srgbClr val="A84400"/>
                </a:solidFill>
                <a:latin typeface="Golos Text" pitchFamily="34" charset="0"/>
                <a:ea typeface="Golos Text" pitchFamily="34" charset="-122"/>
                <a:cs typeface="Golos Text" pitchFamily="34" charset="-120"/>
              </a:rPr>
              <a:t>+3</a:t>
            </a:r>
            <a:endParaRPr lang="en-US" sz="1400" dirty="0"/>
          </a:p>
        </p:txBody>
      </p:sp>
      <p:sp>
        <p:nvSpPr>
          <p:cNvPr id="58" name="anim2_m"/>
          <p:cNvSpPr/>
          <p:nvPr/>
        </p:nvSpPr>
        <p:spPr>
          <a:xfrm>
            <a:off x="1554480" y="3438144"/>
            <a:ext cx="338328" cy="338328"/>
          </a:xfrm>
          <a:prstGeom prst="roundRect">
            <a:avLst>
              <a:gd name="adj" fmla="val 10000"/>
            </a:avLst>
          </a:prstGeom>
          <a:solidFill>
            <a:srgbClr val="F5EBE3"/>
          </a:solidFill>
          <a:ln w="19050">
            <a:solidFill>
              <a:srgbClr val="A84400"/>
            </a:solidFill>
            <a:prstDash val="solid"/>
          </a:ln>
        </p:spPr>
      </p:sp>
      <p:sp>
        <p:nvSpPr>
          <p:cNvPr id="59" name="anim2_m"/>
          <p:cNvSpPr/>
          <p:nvPr/>
        </p:nvSpPr>
        <p:spPr>
          <a:xfrm>
            <a:off x="1353312" y="3127248"/>
            <a:ext cx="740664" cy="292608"/>
          </a:xfrm>
          <a:prstGeom prst="rect">
            <a:avLst/>
          </a:prstGeom>
          <a:noFill/>
          <a:ln/>
        </p:spPr>
        <p:txBody>
          <a:bodyPr wrap="square" lIns="0" tIns="0" rIns="0" bIns="0" rtlCol="0" anchor="t"/>
          <a:lstStyle/>
          <a:p>
            <a:pPr algn="ctr" indent="0" marL="0">
              <a:buNone/>
            </a:pPr>
            <a:r>
              <a:rPr lang="en-US" sz="1400" b="1" dirty="0">
                <a:solidFill>
                  <a:srgbClr val="A84400"/>
                </a:solidFill>
                <a:latin typeface="Golos Text" pitchFamily="34" charset="0"/>
                <a:ea typeface="Golos Text" pitchFamily="34" charset="-122"/>
                <a:cs typeface="Golos Text" pitchFamily="34" charset="-120"/>
              </a:rPr>
              <a:t>−1</a:t>
            </a:r>
            <a:endParaRPr lang="en-US" sz="1400" dirty="0"/>
          </a:p>
        </p:txBody>
      </p:sp>
      <p:sp>
        <p:nvSpPr>
          <p:cNvPr id="60" name="anim2_m"/>
          <p:cNvSpPr/>
          <p:nvPr/>
        </p:nvSpPr>
        <p:spPr>
          <a:xfrm>
            <a:off x="2331720" y="3438144"/>
            <a:ext cx="338328" cy="338328"/>
          </a:xfrm>
          <a:prstGeom prst="roundRect">
            <a:avLst>
              <a:gd name="adj" fmla="val 10000"/>
            </a:avLst>
          </a:prstGeom>
          <a:solidFill>
            <a:srgbClr val="F5EBE3"/>
          </a:solidFill>
          <a:ln w="19050">
            <a:solidFill>
              <a:srgbClr val="A84400"/>
            </a:solidFill>
            <a:prstDash val="solid"/>
          </a:ln>
        </p:spPr>
      </p:sp>
      <p:sp>
        <p:nvSpPr>
          <p:cNvPr id="61" name="anim2_m"/>
          <p:cNvSpPr/>
          <p:nvPr/>
        </p:nvSpPr>
        <p:spPr>
          <a:xfrm>
            <a:off x="2130552" y="3127248"/>
            <a:ext cx="740664" cy="292608"/>
          </a:xfrm>
          <a:prstGeom prst="rect">
            <a:avLst/>
          </a:prstGeom>
          <a:noFill/>
          <a:ln/>
        </p:spPr>
        <p:txBody>
          <a:bodyPr wrap="square" lIns="0" tIns="0" rIns="0" bIns="0" rtlCol="0" anchor="t"/>
          <a:lstStyle/>
          <a:p>
            <a:pPr algn="ctr" indent="0" marL="0">
              <a:buNone/>
            </a:pPr>
            <a:r>
              <a:rPr lang="en-US" sz="1400" b="1" dirty="0">
                <a:solidFill>
                  <a:srgbClr val="A84400"/>
                </a:solidFill>
                <a:latin typeface="Golos Text" pitchFamily="34" charset="0"/>
                <a:ea typeface="Golos Text" pitchFamily="34" charset="-122"/>
                <a:cs typeface="Golos Text" pitchFamily="34" charset="-120"/>
              </a:rPr>
              <a:t>−1</a:t>
            </a:r>
            <a:endParaRPr lang="en-US" sz="1400" dirty="0"/>
          </a:p>
        </p:txBody>
      </p:sp>
      <p:sp>
        <p:nvSpPr>
          <p:cNvPr id="62" name="anim2_m"/>
          <p:cNvSpPr/>
          <p:nvPr/>
        </p:nvSpPr>
        <p:spPr>
          <a:xfrm>
            <a:off x="777240" y="4114800"/>
            <a:ext cx="338328" cy="338328"/>
          </a:xfrm>
          <a:prstGeom prst="roundRect">
            <a:avLst>
              <a:gd name="adj" fmla="val 10000"/>
            </a:avLst>
          </a:prstGeom>
          <a:solidFill>
            <a:srgbClr val="FFFFFF"/>
          </a:solidFill>
          <a:ln w="19050">
            <a:solidFill>
              <a:srgbClr val="A84400"/>
            </a:solidFill>
            <a:prstDash val="dash"/>
          </a:ln>
        </p:spPr>
      </p:sp>
      <p:sp>
        <p:nvSpPr>
          <p:cNvPr id="63" name="anim2_m"/>
          <p:cNvSpPr/>
          <p:nvPr/>
        </p:nvSpPr>
        <p:spPr>
          <a:xfrm>
            <a:off x="777240" y="3776472"/>
            <a:ext cx="338328" cy="338328"/>
          </a:xfrm>
          <a:prstGeom prst="roundRect">
            <a:avLst>
              <a:gd name="adj" fmla="val 10000"/>
            </a:avLst>
          </a:prstGeom>
          <a:solidFill>
            <a:srgbClr val="FFFFFF"/>
          </a:solidFill>
          <a:ln w="19050">
            <a:solidFill>
              <a:srgbClr val="A84400"/>
            </a:solidFill>
            <a:prstDash val="dash"/>
          </a:ln>
        </p:spPr>
      </p:sp>
      <p:sp>
        <p:nvSpPr>
          <p:cNvPr id="64" name="anim2_m"/>
          <p:cNvSpPr/>
          <p:nvPr/>
        </p:nvSpPr>
        <p:spPr>
          <a:xfrm>
            <a:off x="576072" y="3465576"/>
            <a:ext cx="740664" cy="292608"/>
          </a:xfrm>
          <a:prstGeom prst="rect">
            <a:avLst/>
          </a:prstGeom>
          <a:noFill/>
          <a:ln/>
        </p:spPr>
        <p:txBody>
          <a:bodyPr wrap="square" lIns="0" tIns="0" rIns="0" bIns="0" rtlCol="0" anchor="t"/>
          <a:lstStyle/>
          <a:p>
            <a:pPr algn="ctr" indent="0" marL="0">
              <a:buNone/>
            </a:pPr>
            <a:r>
              <a:rPr lang="en-US" sz="1400" b="1" dirty="0">
                <a:solidFill>
                  <a:srgbClr val="A84400"/>
                </a:solidFill>
                <a:latin typeface="Golos Text" pitchFamily="34" charset="0"/>
                <a:ea typeface="Golos Text" pitchFamily="34" charset="-122"/>
                <a:cs typeface="Golos Text" pitchFamily="34" charset="-120"/>
              </a:rPr>
              <a:t>+2</a:t>
            </a:r>
            <a:endParaRPr lang="en-US" sz="1400" dirty="0"/>
          </a:p>
        </p:txBody>
      </p:sp>
      <p:sp>
        <p:nvSpPr>
          <p:cNvPr id="65" name="anim3_lvl"/>
          <p:cNvSpPr/>
          <p:nvPr/>
        </p:nvSpPr>
        <p:spPr>
          <a:xfrm>
            <a:off x="548640" y="3776472"/>
            <a:ext cx="3840480" cy="0"/>
          </a:xfrm>
          <a:prstGeom prst="line">
            <a:avLst/>
          </a:prstGeom>
          <a:noFill/>
          <a:ln w="31750">
            <a:solidFill>
              <a:srgbClr val="007A5A"/>
            </a:solidFill>
            <a:prstDash val="dash"/>
          </a:ln>
        </p:spPr>
      </p:sp>
      <p:sp>
        <p:nvSpPr>
          <p:cNvPr id="66" name="anim3_lvl"/>
          <p:cNvSpPr/>
          <p:nvPr/>
        </p:nvSpPr>
        <p:spPr>
          <a:xfrm>
            <a:off x="4224528" y="3593592"/>
            <a:ext cx="365760" cy="365760"/>
          </a:xfrm>
          <a:prstGeom prst="rect">
            <a:avLst/>
          </a:prstGeom>
          <a:noFill/>
          <a:ln/>
        </p:spPr>
        <p:txBody>
          <a:bodyPr wrap="square" lIns="0" tIns="0" rIns="0" bIns="0" rtlCol="0" anchor="ctr"/>
          <a:lstStyle/>
          <a:p>
            <a:pPr algn="ctr" indent="0" marL="0">
              <a:buNone/>
            </a:pPr>
            <a:r>
              <a:rPr lang="en-US" sz="1800" b="1" dirty="0">
                <a:solidFill>
                  <a:srgbClr val="007A5A"/>
                </a:solidFill>
                <a:latin typeface="Golos Text" pitchFamily="34" charset="0"/>
                <a:ea typeface="Golos Text" pitchFamily="34" charset="-122"/>
                <a:cs typeface="Golos Text" pitchFamily="34" charset="-120"/>
              </a:rPr>
              <a:t>6</a:t>
            </a:r>
            <a:endParaRPr lang="en-US" sz="1800" dirty="0"/>
          </a:p>
        </p:txBody>
      </p:sp>
      <p:sp>
        <p:nvSpPr>
          <p:cNvPr id="67" name="Shape 65"/>
          <p:cNvSpPr/>
          <p:nvPr/>
        </p:nvSpPr>
        <p:spPr>
          <a:xfrm>
            <a:off x="4846320" y="1463040"/>
            <a:ext cx="3886200" cy="4846320"/>
          </a:xfrm>
          <a:prstGeom prst="roundRect">
            <a:avLst>
              <a:gd name="adj" fmla="val 5000"/>
            </a:avLst>
          </a:prstGeom>
          <a:solidFill>
            <a:srgbClr val="FFFFFF"/>
          </a:solidFill>
          <a:ln w="19050">
            <a:solidFill>
              <a:srgbClr val="8D99AA"/>
            </a:solidFill>
            <a:prstDash val="dash"/>
          </a:ln>
        </p:spPr>
      </p:sp>
      <p:sp>
        <p:nvSpPr>
          <p:cNvPr id="68" name="Text 66"/>
          <p:cNvSpPr/>
          <p:nvPr/>
        </p:nvSpPr>
        <p:spPr>
          <a:xfrm>
            <a:off x="5029200" y="1600200"/>
            <a:ext cx="1463040" cy="384048"/>
          </a:xfrm>
          <a:prstGeom prst="roundRect">
            <a:avLst>
              <a:gd name="adj" fmla="val 50000"/>
            </a:avLst>
          </a:prstGeom>
          <a:solidFill>
            <a:srgbClr val="A84400"/>
          </a:solidFill>
          <a:ln w="19050">
            <a:solidFill>
              <a:srgbClr val="A84400"/>
            </a:solidFill>
            <a:prstDash val="solid"/>
          </a:ln>
        </p:spPr>
        <p:txBody>
          <a:bodyPr wrap="square" lIns="0" tIns="0" rIns="0" bIns="0" rtlCol="0" anchor="ctr"/>
          <a:lstStyle/>
          <a:p>
            <a:pPr algn="ctr" indent="0" marL="0">
              <a:buNone/>
            </a:pPr>
            <a:r>
              <a:rPr lang="en-US" sz="1400" b="1" dirty="0">
                <a:solidFill>
                  <a:srgbClr val="FFFFFF"/>
                </a:solidFill>
                <a:latin typeface="Golos Text" pitchFamily="34" charset="0"/>
                <a:ea typeface="Golos Text" pitchFamily="34" charset="-122"/>
                <a:cs typeface="Golos Text" pitchFamily="34" charset="-120"/>
              </a:rPr>
              <a:t>2. Сүрөт</a:t>
            </a:r>
            <a:endParaRPr lang="en-US" sz="1400" dirty="0"/>
          </a:p>
        </p:txBody>
      </p:sp>
      <p:sp>
        <p:nvSpPr>
          <p:cNvPr id="69" name="Text 67"/>
          <p:cNvSpPr/>
          <p:nvPr/>
        </p:nvSpPr>
        <p:spPr>
          <a:xfrm>
            <a:off x="6583680" y="1600200"/>
            <a:ext cx="2011680" cy="384048"/>
          </a:xfrm>
          <a:prstGeom prst="rect">
            <a:avLst/>
          </a:prstGeom>
          <a:noFill/>
          <a:ln/>
        </p:spPr>
        <p:txBody>
          <a:bodyPr wrap="square" lIns="0" tIns="0" rIns="0" bIns="0" rtlCol="0" anchor="ctr"/>
          <a:lstStyle/>
          <a:p>
            <a:pPr algn="l" indent="0" marL="0">
              <a:buNone/>
            </a:pPr>
            <a:r>
              <a:rPr lang="en-US" sz="1400" dirty="0">
                <a:solidFill>
                  <a:srgbClr val="4A5A70"/>
                </a:solidFill>
                <a:latin typeface="Golos Text" pitchFamily="34" charset="0"/>
                <a:ea typeface="Golos Text" pitchFamily="34" charset="-122"/>
                <a:cs typeface="Golos Text" pitchFamily="34" charset="-120"/>
              </a:rPr>
              <a:t>Тилке модели</a:t>
            </a:r>
            <a:endParaRPr lang="en-US" sz="1400" dirty="0"/>
          </a:p>
        </p:txBody>
      </p:sp>
      <p:sp>
        <p:nvSpPr>
          <p:cNvPr id="70" name="Text 68"/>
          <p:cNvSpPr/>
          <p:nvPr/>
        </p:nvSpPr>
        <p:spPr>
          <a:xfrm>
            <a:off x="5074920" y="2057400"/>
            <a:ext cx="1097280" cy="274320"/>
          </a:xfrm>
          <a:prstGeom prst="rect">
            <a:avLst/>
          </a:prstGeom>
          <a:noFill/>
          <a:ln/>
        </p:spPr>
        <p:txBody>
          <a:bodyPr wrap="square" lIns="0" tIns="0" rIns="0" bIns="0" rtlCol="0" anchor="t"/>
          <a:lstStyle/>
          <a:p>
            <a:pPr algn="l" indent="0" marL="0">
              <a:buNone/>
            </a:pPr>
            <a:r>
              <a:rPr lang="en-US" sz="1300" i="1" dirty="0">
                <a:solidFill>
                  <a:srgbClr val="4A5A70"/>
                </a:solidFill>
                <a:latin typeface="Golos Text" pitchFamily="34" charset="0"/>
                <a:ea typeface="Golos Text" pitchFamily="34" charset="-122"/>
                <a:cs typeface="Golos Text" pitchFamily="34" charset="-120"/>
              </a:rPr>
              <a:t>мурун</a:t>
            </a:r>
            <a:endParaRPr lang="en-US" sz="1300" dirty="0"/>
          </a:p>
        </p:txBody>
      </p:sp>
      <p:sp>
        <p:nvSpPr>
          <p:cNvPr id="71" name="Text 69"/>
          <p:cNvSpPr/>
          <p:nvPr/>
        </p:nvSpPr>
        <p:spPr>
          <a:xfrm>
            <a:off x="5074920" y="2743200"/>
            <a:ext cx="457200" cy="594360"/>
          </a:xfrm>
          <a:prstGeom prst="roundRect">
            <a:avLst>
              <a:gd name="adj" fmla="val 12000"/>
            </a:avLst>
          </a:prstGeom>
          <a:solidFill>
            <a:srgbClr val="E7EAF2"/>
          </a:solidFill>
          <a:ln w="12700">
            <a:solidFill>
              <a:srgbClr val="1D3557"/>
            </a:solidFill>
            <a:prstDash val="solid"/>
          </a:ln>
        </p:spPr>
        <p:txBody>
          <a:bodyPr wrap="square" lIns="0" tIns="0" rIns="0" bIns="0" rtlCol="0" anchor="ctr"/>
          <a:lstStyle/>
          <a:p>
            <a:pPr algn="ctr" indent="0" marL="0">
              <a:buNone/>
            </a:pPr>
            <a:r>
              <a:rPr lang="en-US" sz="1600" b="1" dirty="0">
                <a:solidFill>
                  <a:srgbClr val="1D3557"/>
                </a:solidFill>
                <a:latin typeface="Golos Text" pitchFamily="34" charset="0"/>
                <a:ea typeface="Golos Text" pitchFamily="34" charset="-122"/>
                <a:cs typeface="Golos Text" pitchFamily="34" charset="-120"/>
              </a:rPr>
              <a:t>4</a:t>
            </a:r>
            <a:endParaRPr lang="en-US" sz="1600" dirty="0"/>
          </a:p>
        </p:txBody>
      </p:sp>
      <p:sp>
        <p:nvSpPr>
          <p:cNvPr id="72" name="Text 70"/>
          <p:cNvSpPr/>
          <p:nvPr/>
        </p:nvSpPr>
        <p:spPr>
          <a:xfrm>
            <a:off x="5532120" y="2743200"/>
            <a:ext cx="800100" cy="594360"/>
          </a:xfrm>
          <a:prstGeom prst="roundRect">
            <a:avLst>
              <a:gd name="adj" fmla="val 12000"/>
            </a:avLst>
          </a:prstGeom>
          <a:solidFill>
            <a:srgbClr val="E7EAF2"/>
          </a:solidFill>
          <a:ln w="12700">
            <a:solidFill>
              <a:srgbClr val="1D3557"/>
            </a:solidFill>
            <a:prstDash val="solid"/>
          </a:ln>
        </p:spPr>
        <p:txBody>
          <a:bodyPr wrap="square" lIns="0" tIns="0" rIns="0" bIns="0" rtlCol="0" anchor="ctr"/>
          <a:lstStyle/>
          <a:p>
            <a:pPr algn="ctr" indent="0" marL="0">
              <a:buNone/>
            </a:pPr>
            <a:r>
              <a:rPr lang="en-US" sz="1600" b="1" dirty="0">
                <a:solidFill>
                  <a:srgbClr val="1D3557"/>
                </a:solidFill>
                <a:latin typeface="Golos Text" pitchFamily="34" charset="0"/>
                <a:ea typeface="Golos Text" pitchFamily="34" charset="-122"/>
                <a:cs typeface="Golos Text" pitchFamily="34" charset="-120"/>
              </a:rPr>
              <a:t>7</a:t>
            </a:r>
            <a:endParaRPr lang="en-US" sz="1600" dirty="0"/>
          </a:p>
        </p:txBody>
      </p:sp>
      <p:sp>
        <p:nvSpPr>
          <p:cNvPr id="73" name="Text 71"/>
          <p:cNvSpPr/>
          <p:nvPr/>
        </p:nvSpPr>
        <p:spPr>
          <a:xfrm>
            <a:off x="6332220" y="2743200"/>
            <a:ext cx="800100" cy="594360"/>
          </a:xfrm>
          <a:prstGeom prst="roundRect">
            <a:avLst>
              <a:gd name="adj" fmla="val 12000"/>
            </a:avLst>
          </a:prstGeom>
          <a:solidFill>
            <a:srgbClr val="E7EAF2"/>
          </a:solidFill>
          <a:ln w="12700">
            <a:solidFill>
              <a:srgbClr val="1D3557"/>
            </a:solidFill>
            <a:prstDash val="solid"/>
          </a:ln>
        </p:spPr>
        <p:txBody>
          <a:bodyPr wrap="square" lIns="0" tIns="0" rIns="0" bIns="0" rtlCol="0" anchor="ctr"/>
          <a:lstStyle/>
          <a:p>
            <a:pPr algn="ctr" indent="0" marL="0">
              <a:buNone/>
            </a:pPr>
            <a:r>
              <a:rPr lang="en-US" sz="1600" b="1" dirty="0">
                <a:solidFill>
                  <a:srgbClr val="1D3557"/>
                </a:solidFill>
                <a:latin typeface="Golos Text" pitchFamily="34" charset="0"/>
                <a:ea typeface="Golos Text" pitchFamily="34" charset="-122"/>
                <a:cs typeface="Golos Text" pitchFamily="34" charset="-120"/>
              </a:rPr>
              <a:t>7</a:t>
            </a:r>
            <a:endParaRPr lang="en-US" sz="1600" dirty="0"/>
          </a:p>
        </p:txBody>
      </p:sp>
      <p:sp>
        <p:nvSpPr>
          <p:cNvPr id="74" name="Text 72"/>
          <p:cNvSpPr/>
          <p:nvPr/>
        </p:nvSpPr>
        <p:spPr>
          <a:xfrm>
            <a:off x="7132320" y="2743200"/>
            <a:ext cx="1028700" cy="594360"/>
          </a:xfrm>
          <a:prstGeom prst="roundRect">
            <a:avLst>
              <a:gd name="adj" fmla="val 12000"/>
            </a:avLst>
          </a:prstGeom>
          <a:solidFill>
            <a:srgbClr val="E7EAF2"/>
          </a:solidFill>
          <a:ln w="12700">
            <a:solidFill>
              <a:srgbClr val="1D3557"/>
            </a:solidFill>
            <a:prstDash val="solid"/>
          </a:ln>
        </p:spPr>
        <p:txBody>
          <a:bodyPr wrap="square" lIns="0" tIns="0" rIns="0" bIns="0" rtlCol="0" anchor="ctr"/>
          <a:lstStyle/>
          <a:p>
            <a:pPr algn="ctr" indent="0" marL="0">
              <a:buNone/>
            </a:pPr>
            <a:r>
              <a:rPr lang="en-US" sz="1600" b="1" dirty="0">
                <a:solidFill>
                  <a:srgbClr val="1D3557"/>
                </a:solidFill>
                <a:latin typeface="Golos Text" pitchFamily="34" charset="0"/>
                <a:ea typeface="Golos Text" pitchFamily="34" charset="-122"/>
                <a:cs typeface="Golos Text" pitchFamily="34" charset="-120"/>
              </a:rPr>
              <a:t>9</a:t>
            </a:r>
            <a:endParaRPr lang="en-US" sz="1600" dirty="0"/>
          </a:p>
        </p:txBody>
      </p:sp>
      <p:sp>
        <p:nvSpPr>
          <p:cNvPr id="75" name="Text 73"/>
          <p:cNvSpPr/>
          <p:nvPr/>
        </p:nvSpPr>
        <p:spPr>
          <a:xfrm>
            <a:off x="8161020" y="2743200"/>
            <a:ext cx="342900" cy="594360"/>
          </a:xfrm>
          <a:prstGeom prst="roundRect">
            <a:avLst>
              <a:gd name="adj" fmla="val 12000"/>
            </a:avLst>
          </a:prstGeom>
          <a:solidFill>
            <a:srgbClr val="E7EAF2"/>
          </a:solidFill>
          <a:ln w="12700">
            <a:solidFill>
              <a:srgbClr val="1D3557"/>
            </a:solidFill>
            <a:prstDash val="solid"/>
          </a:ln>
        </p:spPr>
        <p:txBody>
          <a:bodyPr wrap="square" lIns="0" tIns="0" rIns="0" bIns="0" rtlCol="0" anchor="ctr"/>
          <a:lstStyle/>
          <a:p>
            <a:pPr algn="ctr" indent="0" marL="0">
              <a:buNone/>
            </a:pPr>
            <a:r>
              <a:rPr lang="en-US" sz="1600" b="1" dirty="0">
                <a:solidFill>
                  <a:srgbClr val="1D3557"/>
                </a:solidFill>
                <a:latin typeface="Golos Text" pitchFamily="34" charset="0"/>
                <a:ea typeface="Golos Text" pitchFamily="34" charset="-122"/>
                <a:cs typeface="Golos Text" pitchFamily="34" charset="-120"/>
              </a:rPr>
              <a:t>3</a:t>
            </a:r>
            <a:endParaRPr lang="en-US" sz="1600" dirty="0"/>
          </a:p>
        </p:txBody>
      </p:sp>
      <p:sp>
        <p:nvSpPr>
          <p:cNvPr id="76" name="anim4_tot"/>
          <p:cNvSpPr/>
          <p:nvPr/>
        </p:nvSpPr>
        <p:spPr>
          <a:xfrm>
            <a:off x="5074920" y="2633472"/>
            <a:ext cx="3429000" cy="0"/>
          </a:xfrm>
          <a:prstGeom prst="line">
            <a:avLst/>
          </a:prstGeom>
          <a:noFill/>
          <a:ln w="15875">
            <a:solidFill>
              <a:srgbClr val="1D3557"/>
            </a:solidFill>
            <a:prstDash val="solid"/>
          </a:ln>
        </p:spPr>
      </p:sp>
      <p:sp>
        <p:nvSpPr>
          <p:cNvPr id="77" name="anim4_tot"/>
          <p:cNvSpPr/>
          <p:nvPr/>
        </p:nvSpPr>
        <p:spPr>
          <a:xfrm>
            <a:off x="5074920" y="2633472"/>
            <a:ext cx="0" cy="128016"/>
          </a:xfrm>
          <a:prstGeom prst="line">
            <a:avLst/>
          </a:prstGeom>
          <a:noFill/>
          <a:ln w="15875">
            <a:solidFill>
              <a:srgbClr val="1D3557"/>
            </a:solidFill>
            <a:prstDash val="solid"/>
          </a:ln>
        </p:spPr>
      </p:sp>
      <p:sp>
        <p:nvSpPr>
          <p:cNvPr id="78" name="anim4_tot"/>
          <p:cNvSpPr/>
          <p:nvPr/>
        </p:nvSpPr>
        <p:spPr>
          <a:xfrm>
            <a:off x="8503920" y="2633472"/>
            <a:ext cx="0" cy="128016"/>
          </a:xfrm>
          <a:prstGeom prst="line">
            <a:avLst/>
          </a:prstGeom>
          <a:noFill/>
          <a:ln w="15875">
            <a:solidFill>
              <a:srgbClr val="1D3557"/>
            </a:solidFill>
            <a:prstDash val="solid"/>
          </a:ln>
        </p:spPr>
      </p:sp>
      <p:sp>
        <p:nvSpPr>
          <p:cNvPr id="79" name="anim4_tot"/>
          <p:cNvSpPr/>
          <p:nvPr/>
        </p:nvSpPr>
        <p:spPr>
          <a:xfrm>
            <a:off x="5074920" y="2267712"/>
            <a:ext cx="3429000" cy="329184"/>
          </a:xfrm>
          <a:prstGeom prst="rect">
            <a:avLst/>
          </a:prstGeom>
          <a:noFill/>
          <a:ln/>
        </p:spPr>
        <p:txBody>
          <a:bodyPr wrap="square" lIns="0" tIns="0" rIns="0" bIns="0" rtlCol="0" anchor="b"/>
          <a:lstStyle/>
          <a:p>
            <a:pPr algn="ctr" indent="0" marL="0">
              <a:buNone/>
            </a:pPr>
            <a:r>
              <a:rPr lang="en-US" sz="1500" b="1" dirty="0">
                <a:solidFill>
                  <a:srgbClr val="1D3557"/>
                </a:solidFill>
                <a:latin typeface="Golos Text" pitchFamily="34" charset="0"/>
                <a:ea typeface="Golos Text" pitchFamily="34" charset="-122"/>
                <a:cs typeface="Golos Text" pitchFamily="34" charset="-120"/>
              </a:rPr>
              <a:t>30 кубик</a:t>
            </a:r>
            <a:endParaRPr lang="en-US" sz="1500" dirty="0"/>
          </a:p>
        </p:txBody>
      </p:sp>
      <p:sp>
        <p:nvSpPr>
          <p:cNvPr id="80" name="anim5_eq"/>
          <p:cNvSpPr/>
          <p:nvPr/>
        </p:nvSpPr>
        <p:spPr>
          <a:xfrm>
            <a:off x="5074920" y="3794760"/>
            <a:ext cx="3429000" cy="274320"/>
          </a:xfrm>
          <a:prstGeom prst="rect">
            <a:avLst/>
          </a:prstGeom>
          <a:noFill/>
          <a:ln/>
        </p:spPr>
        <p:txBody>
          <a:bodyPr wrap="square" lIns="0" tIns="0" rIns="0" bIns="0" rtlCol="0" anchor="t"/>
          <a:lstStyle/>
          <a:p>
            <a:pPr algn="l" indent="0" marL="0">
              <a:buNone/>
            </a:pPr>
            <a:r>
              <a:rPr lang="en-US" sz="1300" i="1" dirty="0">
                <a:solidFill>
                  <a:srgbClr val="4A5A70"/>
                </a:solidFill>
                <a:latin typeface="Golos Text" pitchFamily="34" charset="0"/>
                <a:ea typeface="Golos Text" pitchFamily="34" charset="-122"/>
                <a:cs typeface="Golos Text" pitchFamily="34" charset="-120"/>
              </a:rPr>
              <a:t>кийин: 5 бирдей бөлүк</a:t>
            </a:r>
            <a:endParaRPr lang="en-US" sz="1300" dirty="0"/>
          </a:p>
        </p:txBody>
      </p:sp>
      <p:sp>
        <p:nvSpPr>
          <p:cNvPr id="81" name="anim5_eq"/>
          <p:cNvSpPr/>
          <p:nvPr/>
        </p:nvSpPr>
        <p:spPr>
          <a:xfrm>
            <a:off x="5074920" y="4160520"/>
            <a:ext cx="685800" cy="594360"/>
          </a:xfrm>
          <a:prstGeom prst="roundRect">
            <a:avLst>
              <a:gd name="adj" fmla="val 12000"/>
            </a:avLst>
          </a:prstGeom>
          <a:solidFill>
            <a:srgbClr val="D1E7E1"/>
          </a:solidFill>
          <a:ln w="15875">
            <a:solidFill>
              <a:srgbClr val="007A5A"/>
            </a:solidFill>
            <a:prstDash val="solid"/>
          </a:ln>
        </p:spPr>
        <p:txBody>
          <a:bodyPr wrap="square" lIns="0" tIns="0" rIns="0" bIns="0" rtlCol="0" anchor="ctr"/>
          <a:lstStyle/>
          <a:p>
            <a:pPr algn="ctr" indent="0" marL="0">
              <a:buNone/>
            </a:pPr>
            <a:r>
              <a:rPr lang="en-US" sz="1800" b="1" dirty="0">
                <a:solidFill>
                  <a:srgbClr val="007A5A"/>
                </a:solidFill>
                <a:latin typeface="Golos Text" pitchFamily="34" charset="0"/>
                <a:ea typeface="Golos Text" pitchFamily="34" charset="-122"/>
                <a:cs typeface="Golos Text" pitchFamily="34" charset="-120"/>
              </a:rPr>
              <a:t>6</a:t>
            </a:r>
            <a:endParaRPr lang="en-US" sz="1800" dirty="0"/>
          </a:p>
        </p:txBody>
      </p:sp>
      <p:sp>
        <p:nvSpPr>
          <p:cNvPr id="82" name="anim5_eq"/>
          <p:cNvSpPr/>
          <p:nvPr/>
        </p:nvSpPr>
        <p:spPr>
          <a:xfrm>
            <a:off x="5760720" y="4160520"/>
            <a:ext cx="685800" cy="594360"/>
          </a:xfrm>
          <a:prstGeom prst="roundRect">
            <a:avLst>
              <a:gd name="adj" fmla="val 12000"/>
            </a:avLst>
          </a:prstGeom>
          <a:solidFill>
            <a:srgbClr val="D1E7E1"/>
          </a:solidFill>
          <a:ln w="15875">
            <a:solidFill>
              <a:srgbClr val="007A5A"/>
            </a:solidFill>
            <a:prstDash val="solid"/>
          </a:ln>
        </p:spPr>
        <p:txBody>
          <a:bodyPr wrap="square" lIns="0" tIns="0" rIns="0" bIns="0" rtlCol="0" anchor="ctr"/>
          <a:lstStyle/>
          <a:p>
            <a:pPr algn="ctr" indent="0" marL="0">
              <a:buNone/>
            </a:pPr>
            <a:r>
              <a:rPr lang="en-US" sz="1800" b="1" dirty="0">
                <a:solidFill>
                  <a:srgbClr val="007A5A"/>
                </a:solidFill>
                <a:latin typeface="Golos Text" pitchFamily="34" charset="0"/>
                <a:ea typeface="Golos Text" pitchFamily="34" charset="-122"/>
                <a:cs typeface="Golos Text" pitchFamily="34" charset="-120"/>
              </a:rPr>
              <a:t>6</a:t>
            </a:r>
            <a:endParaRPr lang="en-US" sz="1800" dirty="0"/>
          </a:p>
        </p:txBody>
      </p:sp>
      <p:sp>
        <p:nvSpPr>
          <p:cNvPr id="83" name="anim5_eq"/>
          <p:cNvSpPr/>
          <p:nvPr/>
        </p:nvSpPr>
        <p:spPr>
          <a:xfrm>
            <a:off x="6446520" y="4160520"/>
            <a:ext cx="685800" cy="594360"/>
          </a:xfrm>
          <a:prstGeom prst="roundRect">
            <a:avLst>
              <a:gd name="adj" fmla="val 12000"/>
            </a:avLst>
          </a:prstGeom>
          <a:solidFill>
            <a:srgbClr val="D1E7E1"/>
          </a:solidFill>
          <a:ln w="15875">
            <a:solidFill>
              <a:srgbClr val="007A5A"/>
            </a:solidFill>
            <a:prstDash val="solid"/>
          </a:ln>
        </p:spPr>
        <p:txBody>
          <a:bodyPr wrap="square" lIns="0" tIns="0" rIns="0" bIns="0" rtlCol="0" anchor="ctr"/>
          <a:lstStyle/>
          <a:p>
            <a:pPr algn="ctr" indent="0" marL="0">
              <a:buNone/>
            </a:pPr>
            <a:r>
              <a:rPr lang="en-US" sz="1800" b="1" dirty="0">
                <a:solidFill>
                  <a:srgbClr val="007A5A"/>
                </a:solidFill>
                <a:latin typeface="Golos Text" pitchFamily="34" charset="0"/>
                <a:ea typeface="Golos Text" pitchFamily="34" charset="-122"/>
                <a:cs typeface="Golos Text" pitchFamily="34" charset="-120"/>
              </a:rPr>
              <a:t>6</a:t>
            </a:r>
            <a:endParaRPr lang="en-US" sz="1800" dirty="0"/>
          </a:p>
        </p:txBody>
      </p:sp>
      <p:sp>
        <p:nvSpPr>
          <p:cNvPr id="84" name="anim5_eq"/>
          <p:cNvSpPr/>
          <p:nvPr/>
        </p:nvSpPr>
        <p:spPr>
          <a:xfrm>
            <a:off x="7132320" y="4160520"/>
            <a:ext cx="685800" cy="594360"/>
          </a:xfrm>
          <a:prstGeom prst="roundRect">
            <a:avLst>
              <a:gd name="adj" fmla="val 12000"/>
            </a:avLst>
          </a:prstGeom>
          <a:solidFill>
            <a:srgbClr val="D1E7E1"/>
          </a:solidFill>
          <a:ln w="15875">
            <a:solidFill>
              <a:srgbClr val="007A5A"/>
            </a:solidFill>
            <a:prstDash val="solid"/>
          </a:ln>
        </p:spPr>
        <p:txBody>
          <a:bodyPr wrap="square" lIns="0" tIns="0" rIns="0" bIns="0" rtlCol="0" anchor="ctr"/>
          <a:lstStyle/>
          <a:p>
            <a:pPr algn="ctr" indent="0" marL="0">
              <a:buNone/>
            </a:pPr>
            <a:r>
              <a:rPr lang="en-US" sz="1800" b="1" dirty="0">
                <a:solidFill>
                  <a:srgbClr val="007A5A"/>
                </a:solidFill>
                <a:latin typeface="Golos Text" pitchFamily="34" charset="0"/>
                <a:ea typeface="Golos Text" pitchFamily="34" charset="-122"/>
                <a:cs typeface="Golos Text" pitchFamily="34" charset="-120"/>
              </a:rPr>
              <a:t>6</a:t>
            </a:r>
            <a:endParaRPr lang="en-US" sz="1800" dirty="0"/>
          </a:p>
        </p:txBody>
      </p:sp>
      <p:sp>
        <p:nvSpPr>
          <p:cNvPr id="85" name="anim5_eq"/>
          <p:cNvSpPr/>
          <p:nvPr/>
        </p:nvSpPr>
        <p:spPr>
          <a:xfrm>
            <a:off x="7818120" y="4160520"/>
            <a:ext cx="685800" cy="594360"/>
          </a:xfrm>
          <a:prstGeom prst="roundRect">
            <a:avLst>
              <a:gd name="adj" fmla="val 12000"/>
            </a:avLst>
          </a:prstGeom>
          <a:solidFill>
            <a:srgbClr val="D1E7E1"/>
          </a:solidFill>
          <a:ln w="15875">
            <a:solidFill>
              <a:srgbClr val="007A5A"/>
            </a:solidFill>
            <a:prstDash val="solid"/>
          </a:ln>
        </p:spPr>
        <p:txBody>
          <a:bodyPr wrap="square" lIns="0" tIns="0" rIns="0" bIns="0" rtlCol="0" anchor="ctr"/>
          <a:lstStyle/>
          <a:p>
            <a:pPr algn="ctr" indent="0" marL="0">
              <a:buNone/>
            </a:pPr>
            <a:r>
              <a:rPr lang="en-US" sz="1800" b="1" dirty="0">
                <a:solidFill>
                  <a:srgbClr val="007A5A"/>
                </a:solidFill>
                <a:latin typeface="Golos Text" pitchFamily="34" charset="0"/>
                <a:ea typeface="Golos Text" pitchFamily="34" charset="-122"/>
                <a:cs typeface="Golos Text" pitchFamily="34" charset="-120"/>
              </a:rPr>
              <a:t>6</a:t>
            </a:r>
            <a:endParaRPr lang="en-US" sz="1800" dirty="0"/>
          </a:p>
        </p:txBody>
      </p:sp>
      <p:sp>
        <p:nvSpPr>
          <p:cNvPr id="86" name="anim5_eq"/>
          <p:cNvSpPr/>
          <p:nvPr/>
        </p:nvSpPr>
        <p:spPr>
          <a:xfrm>
            <a:off x="5074920" y="4983480"/>
            <a:ext cx="3474720" cy="731520"/>
          </a:xfrm>
          <a:prstGeom prst="rect">
            <a:avLst/>
          </a:prstGeom>
          <a:noFill/>
          <a:ln/>
        </p:spPr>
        <p:txBody>
          <a:bodyPr wrap="square" lIns="0" tIns="0" rIns="0" bIns="0" rtlCol="0" anchor="t"/>
          <a:lstStyle/>
          <a:p>
            <a:pPr algn="l" indent="0" marL="0">
              <a:buNone/>
            </a:pPr>
            <a:r>
              <a:rPr lang="en-US" sz="1400" i="1" dirty="0">
                <a:solidFill>
                  <a:srgbClr val="4A5A70"/>
                </a:solidFill>
                <a:latin typeface="Golos Text" pitchFamily="34" charset="0"/>
                <a:ea typeface="Golos Text" pitchFamily="34" charset="-122"/>
                <a:cs typeface="Golos Text" pitchFamily="34" charset="-120"/>
              </a:rPr>
              <a:t>Тилкенин узундугу өзгөрбөдү — 30 бойдон калды.</a:t>
            </a:r>
            <a:endParaRPr lang="en-US" sz="1400" dirty="0"/>
          </a:p>
        </p:txBody>
      </p:sp>
      <p:sp>
        <p:nvSpPr>
          <p:cNvPr id="87" name="Shape 85"/>
          <p:cNvSpPr/>
          <p:nvPr/>
        </p:nvSpPr>
        <p:spPr>
          <a:xfrm>
            <a:off x="8915400" y="1463040"/>
            <a:ext cx="2907792" cy="4846320"/>
          </a:xfrm>
          <a:prstGeom prst="roundRect">
            <a:avLst>
              <a:gd name="adj" fmla="val 5000"/>
            </a:avLst>
          </a:prstGeom>
          <a:solidFill>
            <a:srgbClr val="F3F5FB"/>
          </a:solidFill>
          <a:ln/>
        </p:spPr>
      </p:sp>
      <p:sp>
        <p:nvSpPr>
          <p:cNvPr id="88" name="Text 86"/>
          <p:cNvSpPr/>
          <p:nvPr/>
        </p:nvSpPr>
        <p:spPr>
          <a:xfrm>
            <a:off x="9098280" y="1600200"/>
            <a:ext cx="1554480" cy="384048"/>
          </a:xfrm>
          <a:prstGeom prst="roundRect">
            <a:avLst>
              <a:gd name="adj" fmla="val 50000"/>
            </a:avLst>
          </a:prstGeom>
          <a:solidFill>
            <a:srgbClr val="24418C"/>
          </a:solidFill>
          <a:ln w="19050">
            <a:solidFill>
              <a:srgbClr val="24418C"/>
            </a:solidFill>
            <a:prstDash val="solid"/>
          </a:ln>
        </p:spPr>
        <p:txBody>
          <a:bodyPr wrap="square" lIns="0" tIns="0" rIns="0" bIns="0" rtlCol="0" anchor="ctr"/>
          <a:lstStyle/>
          <a:p>
            <a:pPr algn="ctr" indent="0" marL="0">
              <a:buNone/>
            </a:pPr>
            <a:r>
              <a:rPr lang="en-US" sz="1400" b="1" dirty="0">
                <a:solidFill>
                  <a:srgbClr val="FFFFFF"/>
                </a:solidFill>
                <a:latin typeface="Golos Text" pitchFamily="34" charset="0"/>
                <a:ea typeface="Golos Text" pitchFamily="34" charset="-122"/>
                <a:cs typeface="Golos Text" pitchFamily="34" charset="-120"/>
              </a:rPr>
              <a:t>3. Символ</a:t>
            </a:r>
            <a:endParaRPr lang="en-US" sz="1400" dirty="0"/>
          </a:p>
        </p:txBody>
      </p:sp>
      <p:sp>
        <p:nvSpPr>
          <p:cNvPr id="89" name="anim6_s1"/>
          <p:cNvSpPr/>
          <p:nvPr/>
        </p:nvSpPr>
        <p:spPr>
          <a:xfrm>
            <a:off x="9052560" y="2240280"/>
            <a:ext cx="2633472" cy="685800"/>
          </a:xfrm>
          <a:prstGeom prst="roundRect">
            <a:avLst>
              <a:gd name="adj" fmla="val 25000"/>
            </a:avLst>
          </a:prstGeom>
          <a:solidFill>
            <a:srgbClr val="FFFFFF"/>
          </a:solidFill>
          <a:ln w="15875">
            <a:solidFill>
              <a:srgbClr val="E7EAF2"/>
            </a:solidFill>
            <a:prstDash val="solid"/>
          </a:ln>
        </p:spPr>
      </p:sp>
      <p:sp>
        <p:nvSpPr>
          <p:cNvPr id="90" name="anim6_s1"/>
          <p:cNvSpPr/>
          <p:nvPr/>
        </p:nvSpPr>
        <p:spPr>
          <a:xfrm>
            <a:off x="9162288" y="2372868"/>
            <a:ext cx="420624" cy="420624"/>
          </a:xfrm>
          <a:prstGeom prst="roundRect">
            <a:avLst>
              <a:gd name="adj" fmla="val 50000"/>
            </a:avLst>
          </a:prstGeom>
          <a:solidFill>
            <a:srgbClr val="24418C"/>
          </a:solidFill>
          <a:ln w="19050">
            <a:solidFill>
              <a:srgbClr val="24418C"/>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1</a:t>
            </a:r>
            <a:endParaRPr lang="en-US" sz="1600" dirty="0"/>
          </a:p>
        </p:txBody>
      </p:sp>
      <p:sp>
        <p:nvSpPr>
          <p:cNvPr id="91" name="anim6_s1"/>
          <p:cNvSpPr/>
          <p:nvPr/>
        </p:nvSpPr>
        <p:spPr>
          <a:xfrm>
            <a:off x="9710928" y="2240280"/>
            <a:ext cx="1856232" cy="685800"/>
          </a:xfrm>
          <a:prstGeom prst="rect">
            <a:avLst/>
          </a:prstGeom>
          <a:noFill/>
          <a:ln/>
        </p:spPr>
        <p:txBody>
          <a:bodyPr wrap="square" lIns="0" tIns="0" rIns="0" bIns="0" rtlCol="0" anchor="ctr"/>
          <a:lstStyle/>
          <a:p>
            <a:pPr algn="l" indent="0" marL="0">
              <a:buNone/>
            </a:pPr>
            <a:r>
              <a:rPr lang="en-US" sz="1400" dirty="0">
                <a:solidFill>
                  <a:srgbClr val="1D3557"/>
                </a:solidFill>
                <a:latin typeface="Golos Text" pitchFamily="34" charset="0"/>
                <a:ea typeface="Golos Text" pitchFamily="34" charset="-122"/>
                <a:cs typeface="Golos Text" pitchFamily="34" charset="-120"/>
              </a:rPr>
              <a:t>4 + 7 + 7 + 9 + 3 = 30</a:t>
            </a:r>
            <a:endParaRPr lang="en-US" sz="1400" dirty="0"/>
          </a:p>
        </p:txBody>
      </p:sp>
      <p:sp>
        <p:nvSpPr>
          <p:cNvPr id="92" name="anim7_s2"/>
          <p:cNvSpPr/>
          <p:nvPr/>
        </p:nvSpPr>
        <p:spPr>
          <a:xfrm>
            <a:off x="9052560" y="3063240"/>
            <a:ext cx="2633472" cy="685800"/>
          </a:xfrm>
          <a:prstGeom prst="roundRect">
            <a:avLst>
              <a:gd name="adj" fmla="val 25000"/>
            </a:avLst>
          </a:prstGeom>
          <a:solidFill>
            <a:srgbClr val="FFFFFF"/>
          </a:solidFill>
          <a:ln w="15875">
            <a:solidFill>
              <a:srgbClr val="E7EAF2"/>
            </a:solidFill>
            <a:prstDash val="solid"/>
          </a:ln>
        </p:spPr>
      </p:sp>
      <p:sp>
        <p:nvSpPr>
          <p:cNvPr id="93" name="anim7_s2"/>
          <p:cNvSpPr/>
          <p:nvPr/>
        </p:nvSpPr>
        <p:spPr>
          <a:xfrm>
            <a:off x="9162288" y="3195828"/>
            <a:ext cx="420624" cy="420624"/>
          </a:xfrm>
          <a:prstGeom prst="roundRect">
            <a:avLst>
              <a:gd name="adj" fmla="val 50000"/>
            </a:avLst>
          </a:prstGeom>
          <a:solidFill>
            <a:srgbClr val="24418C"/>
          </a:solidFill>
          <a:ln w="19050">
            <a:solidFill>
              <a:srgbClr val="24418C"/>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2</a:t>
            </a:r>
            <a:endParaRPr lang="en-US" sz="1600" dirty="0"/>
          </a:p>
        </p:txBody>
      </p:sp>
      <p:sp>
        <p:nvSpPr>
          <p:cNvPr id="94" name="anim7_s2"/>
          <p:cNvSpPr/>
          <p:nvPr/>
        </p:nvSpPr>
        <p:spPr>
          <a:xfrm>
            <a:off x="9710928" y="3063240"/>
            <a:ext cx="1856232" cy="685800"/>
          </a:xfrm>
          <a:prstGeom prst="rect">
            <a:avLst/>
          </a:prstGeom>
          <a:noFill/>
          <a:ln/>
        </p:spPr>
        <p:txBody>
          <a:bodyPr wrap="square" lIns="0" tIns="0" rIns="0" bIns="0" rtlCol="0" anchor="ctr"/>
          <a:lstStyle/>
          <a:p>
            <a:pPr algn="l" indent="0" marL="0">
              <a:buNone/>
            </a:pPr>
            <a:r>
              <a:rPr lang="en-US" sz="1700" dirty="0">
                <a:solidFill>
                  <a:srgbClr val="1D3557"/>
                </a:solidFill>
                <a:latin typeface="Golos Text" pitchFamily="34" charset="0"/>
                <a:ea typeface="Golos Text" pitchFamily="34" charset="-122"/>
                <a:cs typeface="Golos Text" pitchFamily="34" charset="-120"/>
              </a:rPr>
              <a:t>30 : 5 = 6</a:t>
            </a:r>
            <a:endParaRPr lang="en-US" sz="1700" dirty="0"/>
          </a:p>
        </p:txBody>
      </p:sp>
      <p:sp>
        <p:nvSpPr>
          <p:cNvPr id="95" name="anim8_rule"/>
          <p:cNvSpPr/>
          <p:nvPr/>
        </p:nvSpPr>
        <p:spPr>
          <a:xfrm>
            <a:off x="9052560" y="3931920"/>
            <a:ext cx="2633472" cy="1417320"/>
          </a:xfrm>
          <a:prstGeom prst="roundRect">
            <a:avLst>
              <a:gd name="adj" fmla="val 30000"/>
            </a:avLst>
          </a:prstGeom>
          <a:solidFill>
            <a:srgbClr val="D1E7E1"/>
          </a:solidFill>
          <a:ln w="28575">
            <a:solidFill>
              <a:srgbClr val="007A5A"/>
            </a:solidFill>
            <a:prstDash val="solid"/>
          </a:ln>
        </p:spPr>
        <p:txBody>
          <a:bodyPr wrap="square" lIns="76200" tIns="76200" rIns="76200" bIns="76200" rtlCol="0" anchor="ctr"/>
          <a:lstStyle/>
          <a:p>
            <a:pPr algn="ctr" indent="0" marL="0">
              <a:buNone/>
            </a:pPr>
            <a:r>
              <a:rPr lang="en-US" sz="1900" b="1" dirty="0">
                <a:solidFill>
                  <a:srgbClr val="007A5A"/>
                </a:solidFill>
                <a:latin typeface="Golos Text" pitchFamily="34" charset="0"/>
                <a:ea typeface="Golos Text" pitchFamily="34" charset="-122"/>
                <a:cs typeface="Golos Text" pitchFamily="34" charset="-120"/>
              </a:rPr>
              <a:t>Орточо =</a:t>
            </a:r>
            <a:endParaRPr lang="en-US" sz="1900" dirty="0"/>
          </a:p>
          <a:p>
            <a:pPr algn="ctr" indent="0" marL="0">
              <a:buNone/>
            </a:pPr>
            <a:r>
              <a:rPr lang="en-US" sz="1900" b="1" dirty="0">
                <a:solidFill>
                  <a:srgbClr val="007A5A"/>
                </a:solidFill>
                <a:latin typeface="Golos Text" pitchFamily="34" charset="0"/>
                <a:ea typeface="Golos Text" pitchFamily="34" charset="-122"/>
                <a:cs typeface="Golos Text" pitchFamily="34" charset="-120"/>
              </a:rPr>
              <a:t>суммасы : саны</a:t>
            </a:r>
            <a:endParaRPr lang="en-US" sz="1900" dirty="0"/>
          </a:p>
          <a:p>
            <a:pPr algn="ctr" indent="0" marL="0">
              <a:buNone/>
            </a:pPr>
            <a:r>
              <a:rPr lang="en-US" sz="1900" b="1" dirty="0">
                <a:solidFill>
                  <a:srgbClr val="007A5A"/>
                </a:solidFill>
                <a:latin typeface="Golos Text" pitchFamily="34" charset="0"/>
                <a:ea typeface="Golos Text" pitchFamily="34" charset="-122"/>
                <a:cs typeface="Golos Text" pitchFamily="34" charset="-120"/>
              </a:rPr>
              <a:t>= 6</a:t>
            </a:r>
            <a:endParaRPr lang="en-US" sz="1900" dirty="0"/>
          </a:p>
        </p:txBody>
      </p:sp>
      <p:sp>
        <p:nvSpPr>
          <p:cNvPr id="96" name="anim8_rule"/>
          <p:cNvSpPr/>
          <p:nvPr/>
        </p:nvSpPr>
        <p:spPr>
          <a:xfrm>
            <a:off x="9098280" y="5486400"/>
            <a:ext cx="2560320" cy="685800"/>
          </a:xfrm>
          <a:prstGeom prst="rect">
            <a:avLst/>
          </a:prstGeom>
          <a:noFill/>
          <a:ln/>
        </p:spPr>
        <p:txBody>
          <a:bodyPr wrap="square" lIns="0" tIns="0" rIns="0" bIns="0" rtlCol="0" anchor="t"/>
          <a:lstStyle/>
          <a:p>
            <a:pPr algn="l" indent="0" marL="0">
              <a:buNone/>
            </a:pPr>
            <a:r>
              <a:rPr lang="en-US" sz="1300" i="1" dirty="0">
                <a:solidFill>
                  <a:srgbClr val="4A5A70"/>
                </a:solidFill>
                <a:latin typeface="Golos Text" pitchFamily="34" charset="0"/>
                <a:ea typeface="Golos Text" pitchFamily="34" charset="-122"/>
                <a:cs typeface="Golos Text" pitchFamily="34" charset="-120"/>
              </a:rPr>
              <a:t>Буюм, сүрөт жана символ — бир эле жооп.</a:t>
            </a:r>
            <a:endParaRPr lang="en-US" sz="1300" dirty="0"/>
          </a:p>
        </p:txBody>
      </p:sp>
      <p:sp>
        <p:nvSpPr>
          <p:cNvPr id="97" name="Slide Number Placeholder 0"/>
          <p:cNvSpPr>
            <a:spLocks noGrp="1"/>
          </p:cNvSpPr>
          <p:nvPr>
            <p:ph type="sldNum" sz="quarter" idx="4294967295"/>
          </p:nvPr>
        </p:nvSpPr>
        <p:spPr>
          <a:xfrm>
            <a:off x="11384280" y="6492240"/>
            <a:ext cx="438912"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99AA"/>
                </a:solidFill>
                <a:latin typeface="Golos Text"/>
                <a:ea typeface="Golos Text"/>
                <a:cs typeface="Golos Text"/>
              </a:defRPr>
            </a:lvl1pPr>
          </a:lstStyle>
          <a:p>
            <a:pPr algn="r"/>
            <a:fld id="{F7021451-1387-4CA6-816F-3879F97B5CBC}" type="slidenum">
              <a:rPr b="0" lang="en-US"/>
              <a:t>11</a:t>
            </a:fld>
            <a:endParaRPr lang="en-US"/>
          </a:p>
        </p:txBody>
      </p:sp>
    </p:spTree>
  </p:cSld>
  <p:clrMapOvr>
    <a:masterClrMapping/>
  </p:clrMapOvr>
  <p:timing>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0"/>
                                        </p:tgtEl>
                                        <p:attrNameLst>
                                          <p:attrName>style.visibility</p:attrName>
                                        </p:attrNameLst>
                                      </p:cBhvr>
                                      <p:to>
                                        <p:strVal val="visible"/>
                                      </p:to>
                                    </p:set>
                                    <p:animEffect transition="in" filter="fade">
                                      <p:cBhvr>
                                        <p:cTn id="5" dur="600"/>
                                        <p:tgtEl>
                                          <p:spTgt spid="50"/>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1"/>
                                        </p:tgtEl>
                                        <p:attrNameLst>
                                          <p:attrName>style.visibility</p:attrName>
                                        </p:attrNameLst>
                                      </p:cBhvr>
                                      <p:to>
                                        <p:strVal val="visible"/>
                                      </p:to>
                                    </p:set>
                                    <p:animEffect transition="in" filter="fade">
                                      <p:cBhvr>
                                        <p:cTn id="8" dur="600"/>
                                        <p:tgtEl>
                                          <p:spTgt spid="5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52"/>
                                        </p:tgtEl>
                                        <p:attrNameLst>
                                          <p:attrName>style.visibility</p:attrName>
                                        </p:attrNameLst>
                                      </p:cBhvr>
                                      <p:to>
                                        <p:strVal val="visible"/>
                                      </p:to>
                                    </p:set>
                                    <p:animEffect transition="in" filter="fade">
                                      <p:cBhvr>
                                        <p:cTn id="11" dur="600"/>
                                        <p:tgtEl>
                                          <p:spTgt spid="5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3"/>
                                        </p:tgtEl>
                                        <p:attrNameLst>
                                          <p:attrName>style.visibility</p:attrName>
                                        </p:attrNameLst>
                                      </p:cBhvr>
                                      <p:to>
                                        <p:strVal val="visible"/>
                                      </p:to>
                                    </p:set>
                                    <p:animEffect transition="in" filter="fade">
                                      <p:cBhvr>
                                        <p:cTn id="14" dur="600"/>
                                        <p:tgtEl>
                                          <p:spTgt spid="5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54"/>
                                        </p:tgtEl>
                                        <p:attrNameLst>
                                          <p:attrName>style.visibility</p:attrName>
                                        </p:attrNameLst>
                                      </p:cBhvr>
                                      <p:to>
                                        <p:strVal val="visible"/>
                                      </p:to>
                                    </p:set>
                                    <p:animEffect transition="in" filter="fade">
                                      <p:cBhvr>
                                        <p:cTn id="17" dur="600"/>
                                        <p:tgtEl>
                                          <p:spTgt spid="5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5"/>
                                        </p:tgtEl>
                                        <p:attrNameLst>
                                          <p:attrName>style.visibility</p:attrName>
                                        </p:attrNameLst>
                                      </p:cBhvr>
                                      <p:to>
                                        <p:strVal val="visible"/>
                                      </p:to>
                                    </p:set>
                                    <p:animEffect transition="in" filter="fade">
                                      <p:cBhvr>
                                        <p:cTn id="20" dur="600"/>
                                        <p:tgtEl>
                                          <p:spTgt spid="5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6"/>
                                        </p:tgtEl>
                                        <p:attrNameLst>
                                          <p:attrName>style.visibility</p:attrName>
                                        </p:attrNameLst>
                                      </p:cBhvr>
                                      <p:to>
                                        <p:strVal val="visible"/>
                                      </p:to>
                                    </p:set>
                                    <p:animEffect transition="in" filter="fade">
                                      <p:cBhvr>
                                        <p:cTn id="23" dur="600"/>
                                        <p:tgtEl>
                                          <p:spTgt spid="5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7"/>
                                        </p:tgtEl>
                                        <p:attrNameLst>
                                          <p:attrName>style.visibility</p:attrName>
                                        </p:attrNameLst>
                                      </p:cBhvr>
                                      <p:to>
                                        <p:strVal val="visible"/>
                                      </p:to>
                                    </p:set>
                                    <p:animEffect transition="in" filter="fade">
                                      <p:cBhvr>
                                        <p:cTn id="26" dur="600"/>
                                        <p:tgtEl>
                                          <p:spTgt spid="57"/>
                                        </p:tgtEl>
                                      </p:cBhvr>
                                    </p:animEffect>
                                  </p:childTnLst>
                                </p:cTn>
                              </p:par>
                            </p:childTnLst>
                          </p:cTn>
                        </p:par>
                      </p:childTnLst>
                    </p:cTn>
                  </p:par>
                  <p:par>
                    <p:cTn id="50" fill="hold">
                      <p:stCondLst>
                        <p:cond delay="indefinite"/>
                      </p:stCondLst>
                      <p:childTnLst>
                        <p:par>
                          <p:cTn id="51"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58"/>
                                        </p:tgtEl>
                                        <p:attrNameLst>
                                          <p:attrName>style.visibility</p:attrName>
                                        </p:attrNameLst>
                                      </p:cBhvr>
                                      <p:to>
                                        <p:strVal val="visible"/>
                                      </p:to>
                                    </p:set>
                                    <p:animEffect transition="in" filter="fade">
                                      <p:cBhvr>
                                        <p:cTn id="31" dur="600"/>
                                        <p:tgtEl>
                                          <p:spTgt spid="5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9"/>
                                        </p:tgtEl>
                                        <p:attrNameLst>
                                          <p:attrName>style.visibility</p:attrName>
                                        </p:attrNameLst>
                                      </p:cBhvr>
                                      <p:to>
                                        <p:strVal val="visible"/>
                                      </p:to>
                                    </p:set>
                                    <p:animEffect transition="in" filter="fade">
                                      <p:cBhvr>
                                        <p:cTn id="34" dur="600"/>
                                        <p:tgtEl>
                                          <p:spTgt spid="5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60"/>
                                        </p:tgtEl>
                                        <p:attrNameLst>
                                          <p:attrName>style.visibility</p:attrName>
                                        </p:attrNameLst>
                                      </p:cBhvr>
                                      <p:to>
                                        <p:strVal val="visible"/>
                                      </p:to>
                                    </p:set>
                                    <p:animEffect transition="in" filter="fade">
                                      <p:cBhvr>
                                        <p:cTn id="37" dur="600"/>
                                        <p:tgtEl>
                                          <p:spTgt spid="6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61"/>
                                        </p:tgtEl>
                                        <p:attrNameLst>
                                          <p:attrName>style.visibility</p:attrName>
                                        </p:attrNameLst>
                                      </p:cBhvr>
                                      <p:to>
                                        <p:strVal val="visible"/>
                                      </p:to>
                                    </p:set>
                                    <p:animEffect transition="in" filter="fade">
                                      <p:cBhvr>
                                        <p:cTn id="40" dur="600"/>
                                        <p:tgtEl>
                                          <p:spTgt spid="6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62"/>
                                        </p:tgtEl>
                                        <p:attrNameLst>
                                          <p:attrName>style.visibility</p:attrName>
                                        </p:attrNameLst>
                                      </p:cBhvr>
                                      <p:to>
                                        <p:strVal val="visible"/>
                                      </p:to>
                                    </p:set>
                                    <p:animEffect transition="in" filter="fade">
                                      <p:cBhvr>
                                        <p:cTn id="43" dur="600"/>
                                        <p:tgtEl>
                                          <p:spTgt spid="6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63"/>
                                        </p:tgtEl>
                                        <p:attrNameLst>
                                          <p:attrName>style.visibility</p:attrName>
                                        </p:attrNameLst>
                                      </p:cBhvr>
                                      <p:to>
                                        <p:strVal val="visible"/>
                                      </p:to>
                                    </p:set>
                                    <p:animEffect transition="in" filter="fade">
                                      <p:cBhvr>
                                        <p:cTn id="46" dur="600"/>
                                        <p:tgtEl>
                                          <p:spTgt spid="6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64"/>
                                        </p:tgtEl>
                                        <p:attrNameLst>
                                          <p:attrName>style.visibility</p:attrName>
                                        </p:attrNameLst>
                                      </p:cBhvr>
                                      <p:to>
                                        <p:strVal val="visible"/>
                                      </p:to>
                                    </p:set>
                                    <p:animEffect transition="in" filter="fade">
                                      <p:cBhvr>
                                        <p:cTn id="49" dur="600"/>
                                        <p:tgtEl>
                                          <p:spTgt spid="64"/>
                                        </p:tgtEl>
                                      </p:cBhvr>
                                    </p:animEffect>
                                  </p:childTnLst>
                                </p:cTn>
                              </p:par>
                            </p:childTnLst>
                          </p:cTn>
                        </p:par>
                      </p:childTnLst>
                    </p:cTn>
                  </p:par>
                  <p:par>
                    <p:cTn id="58" fill="hold">
                      <p:stCondLst>
                        <p:cond delay="indefinite"/>
                      </p:stCondLst>
                      <p:childTnLst>
                        <p:par>
                          <p:cTn id="59"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65"/>
                                        </p:tgtEl>
                                        <p:attrNameLst>
                                          <p:attrName>style.visibility</p:attrName>
                                        </p:attrNameLst>
                                      </p:cBhvr>
                                      <p:to>
                                        <p:strVal val="visible"/>
                                      </p:to>
                                    </p:set>
                                    <p:animEffect transition="in" filter="fade">
                                      <p:cBhvr>
                                        <p:cTn id="54" dur="600"/>
                                        <p:tgtEl>
                                          <p:spTgt spid="6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66"/>
                                        </p:tgtEl>
                                        <p:attrNameLst>
                                          <p:attrName>style.visibility</p:attrName>
                                        </p:attrNameLst>
                                      </p:cBhvr>
                                      <p:to>
                                        <p:strVal val="visible"/>
                                      </p:to>
                                    </p:set>
                                    <p:animEffect transition="in" filter="fade">
                                      <p:cBhvr>
                                        <p:cTn id="57" dur="600"/>
                                        <p:tgtEl>
                                          <p:spTgt spid="66"/>
                                        </p:tgtEl>
                                      </p:cBhvr>
                                    </p:animEffect>
                                  </p:childTnLst>
                                </p:cTn>
                              </p:par>
                            </p:childTnLst>
                          </p:cTn>
                        </p:par>
                      </p:childTnLst>
                    </p:cTn>
                  </p:par>
                  <p:par>
                    <p:cTn id="72" fill="hold">
                      <p:stCondLst>
                        <p:cond delay="indefinite"/>
                      </p:stCondLst>
                      <p:childTnLst>
                        <p:par>
                          <p:cTn id="73"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76"/>
                                        </p:tgtEl>
                                        <p:attrNameLst>
                                          <p:attrName>style.visibility</p:attrName>
                                        </p:attrNameLst>
                                      </p:cBhvr>
                                      <p:to>
                                        <p:strVal val="visible"/>
                                      </p:to>
                                    </p:set>
                                    <p:animEffect transition="in" filter="fade">
                                      <p:cBhvr>
                                        <p:cTn id="62" dur="600"/>
                                        <p:tgtEl>
                                          <p:spTgt spid="7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77"/>
                                        </p:tgtEl>
                                        <p:attrNameLst>
                                          <p:attrName>style.visibility</p:attrName>
                                        </p:attrNameLst>
                                      </p:cBhvr>
                                      <p:to>
                                        <p:strVal val="visible"/>
                                      </p:to>
                                    </p:set>
                                    <p:animEffect transition="in" filter="fade">
                                      <p:cBhvr>
                                        <p:cTn id="65" dur="600"/>
                                        <p:tgtEl>
                                          <p:spTgt spid="7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78"/>
                                        </p:tgtEl>
                                        <p:attrNameLst>
                                          <p:attrName>style.visibility</p:attrName>
                                        </p:attrNameLst>
                                      </p:cBhvr>
                                      <p:to>
                                        <p:strVal val="visible"/>
                                      </p:to>
                                    </p:set>
                                    <p:animEffect transition="in" filter="fade">
                                      <p:cBhvr>
                                        <p:cTn id="68" dur="600"/>
                                        <p:tgtEl>
                                          <p:spTgt spid="78"/>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79"/>
                                        </p:tgtEl>
                                        <p:attrNameLst>
                                          <p:attrName>style.visibility</p:attrName>
                                        </p:attrNameLst>
                                      </p:cBhvr>
                                      <p:to>
                                        <p:strVal val="visible"/>
                                      </p:to>
                                    </p:set>
                                    <p:animEffect transition="in" filter="fade">
                                      <p:cBhvr>
                                        <p:cTn id="71" dur="600"/>
                                        <p:tgtEl>
                                          <p:spTgt spid="79"/>
                                        </p:tgtEl>
                                      </p:cBhvr>
                                    </p:animEffect>
                                  </p:childTnLst>
                                </p:cTn>
                              </p:par>
                            </p:childTnLst>
                          </p:cTn>
                        </p:par>
                      </p:childTnLst>
                    </p:cTn>
                  </p:par>
                  <p:par>
                    <p:cTn id="95" fill="hold">
                      <p:stCondLst>
                        <p:cond delay="indefinite"/>
                      </p:stCondLst>
                      <p:childTnLst>
                        <p:par>
                          <p:cTn id="96"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80"/>
                                        </p:tgtEl>
                                        <p:attrNameLst>
                                          <p:attrName>style.visibility</p:attrName>
                                        </p:attrNameLst>
                                      </p:cBhvr>
                                      <p:to>
                                        <p:strVal val="visible"/>
                                      </p:to>
                                    </p:set>
                                    <p:animEffect transition="in" filter="fade">
                                      <p:cBhvr>
                                        <p:cTn id="76" dur="600"/>
                                        <p:tgtEl>
                                          <p:spTgt spid="80"/>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81"/>
                                        </p:tgtEl>
                                        <p:attrNameLst>
                                          <p:attrName>style.visibility</p:attrName>
                                        </p:attrNameLst>
                                      </p:cBhvr>
                                      <p:to>
                                        <p:strVal val="visible"/>
                                      </p:to>
                                    </p:set>
                                    <p:animEffect transition="in" filter="fade">
                                      <p:cBhvr>
                                        <p:cTn id="79" dur="600"/>
                                        <p:tgtEl>
                                          <p:spTgt spid="81"/>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82"/>
                                        </p:tgtEl>
                                        <p:attrNameLst>
                                          <p:attrName>style.visibility</p:attrName>
                                        </p:attrNameLst>
                                      </p:cBhvr>
                                      <p:to>
                                        <p:strVal val="visible"/>
                                      </p:to>
                                    </p:set>
                                    <p:animEffect transition="in" filter="fade">
                                      <p:cBhvr>
                                        <p:cTn id="82" dur="600"/>
                                        <p:tgtEl>
                                          <p:spTgt spid="82"/>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83"/>
                                        </p:tgtEl>
                                        <p:attrNameLst>
                                          <p:attrName>style.visibility</p:attrName>
                                        </p:attrNameLst>
                                      </p:cBhvr>
                                      <p:to>
                                        <p:strVal val="visible"/>
                                      </p:to>
                                    </p:set>
                                    <p:animEffect transition="in" filter="fade">
                                      <p:cBhvr>
                                        <p:cTn id="85" dur="600"/>
                                        <p:tgtEl>
                                          <p:spTgt spid="83"/>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84"/>
                                        </p:tgtEl>
                                        <p:attrNameLst>
                                          <p:attrName>style.visibility</p:attrName>
                                        </p:attrNameLst>
                                      </p:cBhvr>
                                      <p:to>
                                        <p:strVal val="visible"/>
                                      </p:to>
                                    </p:set>
                                    <p:animEffect transition="in" filter="fade">
                                      <p:cBhvr>
                                        <p:cTn id="88" dur="600"/>
                                        <p:tgtEl>
                                          <p:spTgt spid="84"/>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85"/>
                                        </p:tgtEl>
                                        <p:attrNameLst>
                                          <p:attrName>style.visibility</p:attrName>
                                        </p:attrNameLst>
                                      </p:cBhvr>
                                      <p:to>
                                        <p:strVal val="visible"/>
                                      </p:to>
                                    </p:set>
                                    <p:animEffect transition="in" filter="fade">
                                      <p:cBhvr>
                                        <p:cTn id="91" dur="600"/>
                                        <p:tgtEl>
                                          <p:spTgt spid="85"/>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86"/>
                                        </p:tgtEl>
                                        <p:attrNameLst>
                                          <p:attrName>style.visibility</p:attrName>
                                        </p:attrNameLst>
                                      </p:cBhvr>
                                      <p:to>
                                        <p:strVal val="visible"/>
                                      </p:to>
                                    </p:set>
                                    <p:animEffect transition="in" filter="fade">
                                      <p:cBhvr>
                                        <p:cTn id="94" dur="600"/>
                                        <p:tgtEl>
                                          <p:spTgt spid="86"/>
                                        </p:tgtEl>
                                      </p:cBhvr>
                                    </p:animEffect>
                                  </p:childTnLst>
                                </p:cTn>
                              </p:par>
                            </p:childTnLst>
                          </p:cTn>
                        </p:par>
                      </p:childTnLst>
                    </p:cTn>
                  </p:par>
                  <p:par>
                    <p:cTn id="106" fill="hold">
                      <p:stCondLst>
                        <p:cond delay="indefinite"/>
                      </p:stCondLst>
                      <p:childTnLst>
                        <p:par>
                          <p:cTn id="107"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89"/>
                                        </p:tgtEl>
                                        <p:attrNameLst>
                                          <p:attrName>style.visibility</p:attrName>
                                        </p:attrNameLst>
                                      </p:cBhvr>
                                      <p:to>
                                        <p:strVal val="visible"/>
                                      </p:to>
                                    </p:set>
                                    <p:animEffect transition="in" filter="fade">
                                      <p:cBhvr>
                                        <p:cTn id="99" dur="600"/>
                                        <p:tgtEl>
                                          <p:spTgt spid="89"/>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90"/>
                                        </p:tgtEl>
                                        <p:attrNameLst>
                                          <p:attrName>style.visibility</p:attrName>
                                        </p:attrNameLst>
                                      </p:cBhvr>
                                      <p:to>
                                        <p:strVal val="visible"/>
                                      </p:to>
                                    </p:set>
                                    <p:animEffect transition="in" filter="fade">
                                      <p:cBhvr>
                                        <p:cTn id="102" dur="600"/>
                                        <p:tgtEl>
                                          <p:spTgt spid="90"/>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91"/>
                                        </p:tgtEl>
                                        <p:attrNameLst>
                                          <p:attrName>style.visibility</p:attrName>
                                        </p:attrNameLst>
                                      </p:cBhvr>
                                      <p:to>
                                        <p:strVal val="visible"/>
                                      </p:to>
                                    </p:set>
                                    <p:animEffect transition="in" filter="fade">
                                      <p:cBhvr>
                                        <p:cTn id="105" dur="600"/>
                                        <p:tgtEl>
                                          <p:spTgt spid="91"/>
                                        </p:tgtEl>
                                      </p:cBhvr>
                                    </p:animEffect>
                                  </p:childTnLst>
                                </p:cTn>
                              </p:par>
                            </p:childTnLst>
                          </p:cTn>
                        </p:par>
                      </p:childTnLst>
                    </p:cTn>
                  </p:par>
                  <p:par>
                    <p:cTn id="117" fill="hold">
                      <p:stCondLst>
                        <p:cond delay="indefinite"/>
                      </p:stCondLst>
                      <p:childTnLst>
                        <p:par>
                          <p:cTn id="118"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92"/>
                                        </p:tgtEl>
                                        <p:attrNameLst>
                                          <p:attrName>style.visibility</p:attrName>
                                        </p:attrNameLst>
                                      </p:cBhvr>
                                      <p:to>
                                        <p:strVal val="visible"/>
                                      </p:to>
                                    </p:set>
                                    <p:animEffect transition="in" filter="fade">
                                      <p:cBhvr>
                                        <p:cTn id="110" dur="600"/>
                                        <p:tgtEl>
                                          <p:spTgt spid="92"/>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93"/>
                                        </p:tgtEl>
                                        <p:attrNameLst>
                                          <p:attrName>style.visibility</p:attrName>
                                        </p:attrNameLst>
                                      </p:cBhvr>
                                      <p:to>
                                        <p:strVal val="visible"/>
                                      </p:to>
                                    </p:set>
                                    <p:animEffect transition="in" filter="fade">
                                      <p:cBhvr>
                                        <p:cTn id="113" dur="600"/>
                                        <p:tgtEl>
                                          <p:spTgt spid="93"/>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94"/>
                                        </p:tgtEl>
                                        <p:attrNameLst>
                                          <p:attrName>style.visibility</p:attrName>
                                        </p:attrNameLst>
                                      </p:cBhvr>
                                      <p:to>
                                        <p:strVal val="visible"/>
                                      </p:to>
                                    </p:set>
                                    <p:animEffect transition="in" filter="fade">
                                      <p:cBhvr>
                                        <p:cTn id="116" dur="600"/>
                                        <p:tgtEl>
                                          <p:spTgt spid="94"/>
                                        </p:tgtEl>
                                      </p:cBhvr>
                                    </p:animEffect>
                                  </p:childTnLst>
                                </p:cTn>
                              </p:par>
                            </p:childTnLst>
                          </p:cTn>
                        </p:par>
                      </p:childTnLst>
                    </p:cTn>
                  </p:par>
                  <p:par>
                    <p:cTn id="125" fill="hold">
                      <p:stCondLst>
                        <p:cond delay="indefinite"/>
                      </p:stCondLst>
                      <p:childTnLst>
                        <p:par>
                          <p:cTn id="126"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95"/>
                                        </p:tgtEl>
                                        <p:attrNameLst>
                                          <p:attrName>style.visibility</p:attrName>
                                        </p:attrNameLst>
                                      </p:cBhvr>
                                      <p:to>
                                        <p:strVal val="visible"/>
                                      </p:to>
                                    </p:set>
                                    <p:animEffect transition="in" filter="fade">
                                      <p:cBhvr>
                                        <p:cTn id="121" dur="600"/>
                                        <p:tgtEl>
                                          <p:spTgt spid="95"/>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96"/>
                                        </p:tgtEl>
                                        <p:attrNameLst>
                                          <p:attrName>style.visibility</p:attrName>
                                        </p:attrNameLst>
                                      </p:cBhvr>
                                      <p:to>
                                        <p:strVal val="visible"/>
                                      </p:to>
                                    </p:set>
                                    <p:animEffect transition="in" filter="fade">
                                      <p:cBhvr>
                                        <p:cTn id="124" dur="6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7" grpId="0" animBg="1"/>
      <p:bldP spid="59" grpId="0" animBg="1"/>
      <p:bldP spid="61" grpId="0" animBg="1"/>
      <p:bldP spid="64" grpId="0" animBg="1"/>
      <p:bldP spid="66" grpId="0" animBg="1"/>
      <p:bldP spid="79" grpId="0" animBg="1"/>
      <p:bldP spid="80" grpId="0" animBg="1"/>
      <p:bldP spid="81" grpId="0" animBg="1"/>
      <p:bldP spid="82" grpId="0" animBg="1"/>
      <p:bldP spid="83" grpId="0" animBg="1"/>
      <p:bldP spid="84" grpId="0" animBg="1"/>
      <p:bldP spid="85" grpId="0" animBg="1"/>
      <p:bldP spid="86" grpId="0" animBg="1"/>
      <p:bldP spid="90" grpId="0" animBg="1"/>
      <p:bldP spid="91" grpId="0" animBg="1"/>
      <p:bldP spid="93" grpId="0" animBg="1"/>
      <p:bldP spid="94" grpId="0" animBg="1"/>
      <p:bldP spid="95" grpId="0" animBg="1"/>
      <p:bldP spid="9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11457432" cy="640080"/>
          </a:xfrm>
          <a:prstGeom prst="roundRect">
            <a:avLst>
              <a:gd name="adj" fmla="val 22000"/>
            </a:avLst>
          </a:prstGeom>
          <a:solidFill>
            <a:srgbClr val="FFFFFF"/>
          </a:solidFill>
          <a:ln w="19050">
            <a:solidFill>
              <a:srgbClr val="1D3557"/>
            </a:solidFill>
            <a:prstDash val="solid"/>
          </a:ln>
        </p:spPr>
      </p:sp>
      <p:sp>
        <p:nvSpPr>
          <p:cNvPr id="3" name="Shape 1"/>
          <p:cNvSpPr/>
          <p:nvPr/>
        </p:nvSpPr>
        <p:spPr>
          <a:xfrm>
            <a:off x="557784" y="369418"/>
            <a:ext cx="70409" cy="358445"/>
          </a:xfrm>
          <a:prstGeom prst="roundRect">
            <a:avLst>
              <a:gd name="adj" fmla="val 50000"/>
            </a:avLst>
          </a:prstGeom>
          <a:solidFill>
            <a:srgbClr val="007A5A"/>
          </a:solidFill>
          <a:ln/>
        </p:spPr>
      </p:sp>
      <p:sp>
        <p:nvSpPr>
          <p:cNvPr id="4" name="Shape 2"/>
          <p:cNvSpPr/>
          <p:nvPr/>
        </p:nvSpPr>
        <p:spPr>
          <a:xfrm>
            <a:off x="691561" y="369418"/>
            <a:ext cx="70409" cy="358445"/>
          </a:xfrm>
          <a:prstGeom prst="roundRect">
            <a:avLst>
              <a:gd name="adj" fmla="val 50000"/>
            </a:avLst>
          </a:prstGeom>
          <a:solidFill>
            <a:srgbClr val="A84400"/>
          </a:solidFill>
          <a:ln/>
        </p:spPr>
      </p:sp>
      <p:sp>
        <p:nvSpPr>
          <p:cNvPr id="5" name="Shape 3"/>
          <p:cNvSpPr/>
          <p:nvPr/>
        </p:nvSpPr>
        <p:spPr>
          <a:xfrm>
            <a:off x="825337" y="369418"/>
            <a:ext cx="70409" cy="358445"/>
          </a:xfrm>
          <a:prstGeom prst="roundRect">
            <a:avLst>
              <a:gd name="adj" fmla="val 50000"/>
            </a:avLst>
          </a:prstGeom>
          <a:solidFill>
            <a:srgbClr val="24418C"/>
          </a:solidFill>
          <a:ln/>
        </p:spPr>
      </p:sp>
      <p:sp>
        <p:nvSpPr>
          <p:cNvPr id="6" name="Text 4"/>
          <p:cNvSpPr/>
          <p:nvPr/>
        </p:nvSpPr>
        <p:spPr>
          <a:xfrm>
            <a:off x="1096914" y="228600"/>
            <a:ext cx="7589520" cy="640080"/>
          </a:xfrm>
          <a:prstGeom prst="rect">
            <a:avLst/>
          </a:prstGeom>
          <a:noFill/>
          <a:ln/>
        </p:spPr>
        <p:txBody>
          <a:bodyPr wrap="square" lIns="0" tIns="0" rIns="0" bIns="0" rtlCol="0" anchor="ctr"/>
          <a:lstStyle/>
          <a:p>
            <a:pPr algn="l" indent="0" marL="0">
              <a:buNone/>
            </a:pPr>
            <a:r>
              <a:rPr lang="en-US" sz="2200" b="1" dirty="0">
                <a:solidFill>
                  <a:srgbClr val="1D3557"/>
                </a:solidFill>
                <a:latin typeface="Golos Text" pitchFamily="34" charset="0"/>
                <a:ea typeface="Golos Text" pitchFamily="34" charset="-122"/>
                <a:cs typeface="Golos Text" pitchFamily="34" charset="-120"/>
              </a:rPr>
              <a:t>Түшүнүү: медиана, мода жана кулачты көрөбүз</a:t>
            </a:r>
            <a:endParaRPr lang="en-US" sz="2200" dirty="0"/>
          </a:p>
        </p:txBody>
      </p:sp>
      <p:sp>
        <p:nvSpPr>
          <p:cNvPr id="7" name="Text 5"/>
          <p:cNvSpPr/>
          <p:nvPr/>
        </p:nvSpPr>
        <p:spPr>
          <a:xfrm>
            <a:off x="8778240" y="228600"/>
            <a:ext cx="2880360" cy="640080"/>
          </a:xfrm>
          <a:prstGeom prst="rect">
            <a:avLst/>
          </a:prstGeom>
          <a:noFill/>
          <a:ln/>
        </p:spPr>
        <p:txBody>
          <a:bodyPr wrap="square" lIns="0" tIns="0" rIns="0" bIns="0" rtlCol="0" anchor="ctr"/>
          <a:lstStyle/>
          <a:p>
            <a:pPr algn="r" indent="0" marL="0">
              <a:buNone/>
            </a:pPr>
            <a:r>
              <a:rPr lang="en-US" sz="1100" dirty="0">
                <a:solidFill>
                  <a:srgbClr val="4A5A70"/>
                </a:solidFill>
                <a:latin typeface="Golos Text" pitchFamily="34" charset="0"/>
                <a:ea typeface="Golos Text" pitchFamily="34" charset="-122"/>
                <a:cs typeface="Golos Text" pitchFamily="34" charset="-120"/>
              </a:rPr>
              <a:t>Статистика › Төрт өлчөм</a:t>
            </a:r>
            <a:endParaRPr lang="en-US" sz="1100" dirty="0"/>
          </a:p>
        </p:txBody>
      </p:sp>
      <p:sp>
        <p:nvSpPr>
          <p:cNvPr id="8" name="Text 6"/>
          <p:cNvSpPr/>
          <p:nvPr/>
        </p:nvSpPr>
        <p:spPr>
          <a:xfrm>
            <a:off x="411480" y="960120"/>
            <a:ext cx="8412480" cy="329184"/>
          </a:xfrm>
          <a:prstGeom prst="rect">
            <a:avLst/>
          </a:prstGeom>
          <a:noFill/>
          <a:ln/>
        </p:spPr>
        <p:txBody>
          <a:bodyPr wrap="square" lIns="0" tIns="0" rIns="0" bIns="0" rtlCol="0" anchor="t"/>
          <a:lstStyle/>
          <a:p>
            <a:pPr algn="l" indent="0" marL="0">
              <a:buNone/>
            </a:pPr>
            <a:r>
              <a:rPr lang="en-US" sz="1500" i="1" dirty="0">
                <a:solidFill>
                  <a:srgbClr val="4A5A70"/>
                </a:solidFill>
                <a:latin typeface="Golos Text" pitchFamily="34" charset="0"/>
                <a:ea typeface="Golos Text" pitchFamily="34" charset="-122"/>
                <a:cs typeface="Golos Text" pitchFamily="34" charset="-120"/>
              </a:rPr>
              <a:t>Карточкалар, чекиттер жана мамычалар. Ошол эле тизме: 4, 7, 7, 9, 3</a:t>
            </a:r>
            <a:endParaRPr lang="en-US" sz="1500" dirty="0"/>
          </a:p>
        </p:txBody>
      </p:sp>
      <p:sp>
        <p:nvSpPr>
          <p:cNvPr id="9" name="Text 7"/>
          <p:cNvSpPr/>
          <p:nvPr/>
        </p:nvSpPr>
        <p:spPr>
          <a:xfrm>
            <a:off x="8897112" y="969264"/>
            <a:ext cx="2926080" cy="310896"/>
          </a:xfrm>
          <a:prstGeom prst="rect">
            <a:avLst/>
          </a:prstGeom>
          <a:noFill/>
          <a:ln/>
        </p:spPr>
        <p:txBody>
          <a:bodyPr wrap="square" lIns="0" tIns="0" rIns="0" bIns="0" rtlCol="0" anchor="ctr"/>
          <a:lstStyle/>
          <a:p>
            <a:pPr algn="r" indent="0" marL="0">
              <a:buNone/>
            </a:pPr>
            <a:r>
              <a:rPr lang="en-US" sz="1200" dirty="0">
                <a:solidFill>
                  <a:srgbClr val="4A5A70"/>
                </a:solidFill>
                <a:latin typeface="Golos Text" pitchFamily="34" charset="0"/>
                <a:ea typeface="Golos Text" pitchFamily="34" charset="-122"/>
                <a:cs typeface="Golos Text" pitchFamily="34" charset="-120"/>
              </a:rPr>
              <a:t>Түшүнүү · 1,5 мүн</a:t>
            </a:r>
            <a:endParaRPr lang="en-US" sz="1200" dirty="0"/>
          </a:p>
        </p:txBody>
      </p:sp>
      <p:sp>
        <p:nvSpPr>
          <p:cNvPr id="10" name="Text 8"/>
          <p:cNvSpPr/>
          <p:nvPr/>
        </p:nvSpPr>
        <p:spPr>
          <a:xfrm>
            <a:off x="365760" y="6492240"/>
            <a:ext cx="5486400" cy="228600"/>
          </a:xfrm>
          <a:prstGeom prst="rect">
            <a:avLst/>
          </a:prstGeom>
          <a:noFill/>
          <a:ln/>
        </p:spPr>
        <p:txBody>
          <a:bodyPr wrap="square" lIns="0" tIns="0" rIns="0" bIns="0" rtlCol="0" anchor="t"/>
          <a:lstStyle/>
          <a:p>
            <a:pPr algn="l" indent="0" marL="0">
              <a:buNone/>
            </a:pPr>
            <a:r>
              <a:rPr lang="en-US" sz="900" dirty="0">
                <a:solidFill>
                  <a:srgbClr val="8D99AA"/>
                </a:solidFill>
                <a:latin typeface="Golos Text" pitchFamily="34" charset="0"/>
                <a:ea typeface="Golos Text" pitchFamily="34" charset="-122"/>
                <a:cs typeface="Golos Text" pitchFamily="34" charset="-120"/>
              </a:rPr>
              <a:t>MathKG · Математика кыргызча</a:t>
            </a:r>
            <a:endParaRPr lang="en-US" sz="900" dirty="0"/>
          </a:p>
        </p:txBody>
      </p:sp>
      <p:sp>
        <p:nvSpPr>
          <p:cNvPr id="11" name="Text 9"/>
          <p:cNvSpPr/>
          <p:nvPr/>
        </p:nvSpPr>
        <p:spPr>
          <a:xfrm>
            <a:off x="7680960" y="6492240"/>
            <a:ext cx="3657600" cy="228600"/>
          </a:xfrm>
          <a:prstGeom prst="rect">
            <a:avLst/>
          </a:prstGeom>
          <a:noFill/>
          <a:ln/>
        </p:spPr>
        <p:txBody>
          <a:bodyPr wrap="square" lIns="0" tIns="0" rIns="0" bIns="0" rtlCol="0" anchor="t"/>
          <a:lstStyle/>
          <a:p>
            <a:pPr algn="r" indent="0" marL="0">
              <a:buNone/>
            </a:pPr>
            <a:r>
              <a:rPr lang="en-US" sz="900" dirty="0">
                <a:solidFill>
                  <a:srgbClr val="8D99AA"/>
                </a:solidFill>
                <a:latin typeface="Golos Text" pitchFamily="34" charset="0"/>
                <a:ea typeface="Golos Text" pitchFamily="34" charset="-122"/>
                <a:cs typeface="Golos Text" pitchFamily="34" charset="-120"/>
              </a:rPr>
              <a:t>MathKG ыкмасы · 1,5 мүн</a:t>
            </a:r>
            <a:endParaRPr lang="en-US" sz="900" dirty="0"/>
          </a:p>
        </p:txBody>
      </p:sp>
      <p:sp>
        <p:nvSpPr>
          <p:cNvPr id="12" name="Shape 10"/>
          <p:cNvSpPr/>
          <p:nvPr/>
        </p:nvSpPr>
        <p:spPr>
          <a:xfrm>
            <a:off x="365760" y="1463040"/>
            <a:ext cx="3685032" cy="4846320"/>
          </a:xfrm>
          <a:prstGeom prst="roundRect">
            <a:avLst>
              <a:gd name="adj" fmla="val 5000"/>
            </a:avLst>
          </a:prstGeom>
          <a:solidFill>
            <a:srgbClr val="FFFFFF"/>
          </a:solidFill>
          <a:ln w="22225">
            <a:solidFill>
              <a:srgbClr val="24418C"/>
            </a:solidFill>
            <a:prstDash val="solid"/>
          </a:ln>
        </p:spPr>
      </p:sp>
      <p:sp>
        <p:nvSpPr>
          <p:cNvPr id="13" name="Text 11"/>
          <p:cNvSpPr/>
          <p:nvPr/>
        </p:nvSpPr>
        <p:spPr>
          <a:xfrm>
            <a:off x="548640" y="1554480"/>
            <a:ext cx="3319272" cy="411480"/>
          </a:xfrm>
          <a:prstGeom prst="rect">
            <a:avLst/>
          </a:prstGeom>
          <a:noFill/>
          <a:ln/>
        </p:spPr>
        <p:txBody>
          <a:bodyPr wrap="square" lIns="0" tIns="0" rIns="0" bIns="0" rtlCol="0" anchor="ctr"/>
          <a:lstStyle/>
          <a:p>
            <a:pPr algn="l" indent="0" marL="0">
              <a:buNone/>
            </a:pPr>
            <a:r>
              <a:rPr lang="en-US" sz="1700" b="1" dirty="0">
                <a:solidFill>
                  <a:srgbClr val="24418C"/>
                </a:solidFill>
                <a:latin typeface="Golos Text" pitchFamily="34" charset="0"/>
                <a:ea typeface="Golos Text" pitchFamily="34" charset="-122"/>
                <a:cs typeface="Golos Text" pitchFamily="34" charset="-120"/>
              </a:rPr>
              <a:t>Медиана: карточкалар</a:t>
            </a:r>
            <a:endParaRPr lang="en-US" sz="1700" dirty="0"/>
          </a:p>
        </p:txBody>
      </p:sp>
      <p:sp>
        <p:nvSpPr>
          <p:cNvPr id="14" name="Shape 12"/>
          <p:cNvSpPr/>
          <p:nvPr/>
        </p:nvSpPr>
        <p:spPr>
          <a:xfrm>
            <a:off x="4251960" y="1463040"/>
            <a:ext cx="3685032" cy="4846320"/>
          </a:xfrm>
          <a:prstGeom prst="roundRect">
            <a:avLst>
              <a:gd name="adj" fmla="val 5000"/>
            </a:avLst>
          </a:prstGeom>
          <a:solidFill>
            <a:srgbClr val="FFFFFF"/>
          </a:solidFill>
          <a:ln w="22225">
            <a:solidFill>
              <a:srgbClr val="A84400"/>
            </a:solidFill>
            <a:prstDash val="solid"/>
          </a:ln>
        </p:spPr>
      </p:sp>
      <p:sp>
        <p:nvSpPr>
          <p:cNvPr id="15" name="Text 13"/>
          <p:cNvSpPr/>
          <p:nvPr/>
        </p:nvSpPr>
        <p:spPr>
          <a:xfrm>
            <a:off x="4434840" y="1554480"/>
            <a:ext cx="3319272" cy="411480"/>
          </a:xfrm>
          <a:prstGeom prst="rect">
            <a:avLst/>
          </a:prstGeom>
          <a:noFill/>
          <a:ln/>
        </p:spPr>
        <p:txBody>
          <a:bodyPr wrap="square" lIns="0" tIns="0" rIns="0" bIns="0" rtlCol="0" anchor="ctr"/>
          <a:lstStyle/>
          <a:p>
            <a:pPr algn="l" indent="0" marL="0">
              <a:buNone/>
            </a:pPr>
            <a:r>
              <a:rPr lang="en-US" sz="1700" b="1" dirty="0">
                <a:solidFill>
                  <a:srgbClr val="A84400"/>
                </a:solidFill>
                <a:latin typeface="Golos Text" pitchFamily="34" charset="0"/>
                <a:ea typeface="Golos Text" pitchFamily="34" charset="-122"/>
                <a:cs typeface="Golos Text" pitchFamily="34" charset="-120"/>
              </a:rPr>
              <a:t>Мода: чекиттер</a:t>
            </a:r>
            <a:endParaRPr lang="en-US" sz="1700" dirty="0"/>
          </a:p>
        </p:txBody>
      </p:sp>
      <p:sp>
        <p:nvSpPr>
          <p:cNvPr id="16" name="Shape 14"/>
          <p:cNvSpPr/>
          <p:nvPr/>
        </p:nvSpPr>
        <p:spPr>
          <a:xfrm>
            <a:off x="8138160" y="1463040"/>
            <a:ext cx="3685032" cy="4846320"/>
          </a:xfrm>
          <a:prstGeom prst="roundRect">
            <a:avLst>
              <a:gd name="adj" fmla="val 5000"/>
            </a:avLst>
          </a:prstGeom>
          <a:solidFill>
            <a:srgbClr val="FFFFFF"/>
          </a:solidFill>
          <a:ln w="22225">
            <a:solidFill>
              <a:srgbClr val="007A5A"/>
            </a:solidFill>
            <a:prstDash val="solid"/>
          </a:ln>
        </p:spPr>
      </p:sp>
      <p:sp>
        <p:nvSpPr>
          <p:cNvPr id="17" name="Text 15"/>
          <p:cNvSpPr/>
          <p:nvPr/>
        </p:nvSpPr>
        <p:spPr>
          <a:xfrm>
            <a:off x="8321040" y="1554480"/>
            <a:ext cx="3319272" cy="411480"/>
          </a:xfrm>
          <a:prstGeom prst="rect">
            <a:avLst/>
          </a:prstGeom>
          <a:noFill/>
          <a:ln/>
        </p:spPr>
        <p:txBody>
          <a:bodyPr wrap="square" lIns="0" tIns="0" rIns="0" bIns="0" rtlCol="0" anchor="ctr"/>
          <a:lstStyle/>
          <a:p>
            <a:pPr algn="l" indent="0" marL="0">
              <a:buNone/>
            </a:pPr>
            <a:r>
              <a:rPr lang="en-US" sz="1700" b="1" dirty="0">
                <a:solidFill>
                  <a:srgbClr val="007A5A"/>
                </a:solidFill>
                <a:latin typeface="Golos Text" pitchFamily="34" charset="0"/>
                <a:ea typeface="Golos Text" pitchFamily="34" charset="-122"/>
                <a:cs typeface="Golos Text" pitchFamily="34" charset="-120"/>
              </a:rPr>
              <a:t>Кулач: аралык</a:t>
            </a:r>
            <a:endParaRPr lang="en-US" sz="1700" dirty="0"/>
          </a:p>
        </p:txBody>
      </p:sp>
      <p:sp>
        <p:nvSpPr>
          <p:cNvPr id="18" name="Text 16"/>
          <p:cNvSpPr/>
          <p:nvPr/>
        </p:nvSpPr>
        <p:spPr>
          <a:xfrm>
            <a:off x="594360" y="2057400"/>
            <a:ext cx="3200400" cy="274320"/>
          </a:xfrm>
          <a:prstGeom prst="rect">
            <a:avLst/>
          </a:prstGeom>
          <a:noFill/>
          <a:ln/>
        </p:spPr>
        <p:txBody>
          <a:bodyPr wrap="square" lIns="0" tIns="0" rIns="0" bIns="0" rtlCol="0" anchor="t"/>
          <a:lstStyle/>
          <a:p>
            <a:pPr algn="l" indent="0" marL="0">
              <a:buNone/>
            </a:pPr>
            <a:r>
              <a:rPr lang="en-US" sz="1300" dirty="0">
                <a:solidFill>
                  <a:srgbClr val="4A5A70"/>
                </a:solidFill>
                <a:latin typeface="Golos Text" pitchFamily="34" charset="0"/>
                <a:ea typeface="Golos Text" pitchFamily="34" charset="-122"/>
                <a:cs typeface="Golos Text" pitchFamily="34" charset="-120"/>
              </a:rPr>
              <a:t>Ирээттелген (так):</a:t>
            </a:r>
            <a:endParaRPr lang="en-US" sz="1300" dirty="0"/>
          </a:p>
        </p:txBody>
      </p:sp>
      <p:sp>
        <p:nvSpPr>
          <p:cNvPr id="19" name="Text 17"/>
          <p:cNvSpPr/>
          <p:nvPr/>
        </p:nvSpPr>
        <p:spPr>
          <a:xfrm>
            <a:off x="594360" y="2377440"/>
            <a:ext cx="548640" cy="59436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2000" b="1" dirty="0">
                <a:solidFill>
                  <a:srgbClr val="1D3557"/>
                </a:solidFill>
                <a:latin typeface="Golos Text" pitchFamily="34" charset="0"/>
                <a:ea typeface="Golos Text" pitchFamily="34" charset="-122"/>
                <a:cs typeface="Golos Text" pitchFamily="34" charset="-120"/>
              </a:rPr>
              <a:t>3</a:t>
            </a:r>
            <a:endParaRPr lang="en-US" sz="2000" dirty="0"/>
          </a:p>
        </p:txBody>
      </p:sp>
      <p:sp>
        <p:nvSpPr>
          <p:cNvPr id="20" name="Text 18"/>
          <p:cNvSpPr/>
          <p:nvPr/>
        </p:nvSpPr>
        <p:spPr>
          <a:xfrm>
            <a:off x="1252728" y="2377440"/>
            <a:ext cx="548640" cy="59436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2000" b="1" dirty="0">
                <a:solidFill>
                  <a:srgbClr val="1D3557"/>
                </a:solidFill>
                <a:latin typeface="Golos Text" pitchFamily="34" charset="0"/>
                <a:ea typeface="Golos Text" pitchFamily="34" charset="-122"/>
                <a:cs typeface="Golos Text" pitchFamily="34" charset="-120"/>
              </a:rPr>
              <a:t>4</a:t>
            </a:r>
            <a:endParaRPr lang="en-US" sz="2000" dirty="0"/>
          </a:p>
        </p:txBody>
      </p:sp>
      <p:sp>
        <p:nvSpPr>
          <p:cNvPr id="21" name="Text 19"/>
          <p:cNvSpPr/>
          <p:nvPr/>
        </p:nvSpPr>
        <p:spPr>
          <a:xfrm>
            <a:off x="1911096" y="2377440"/>
            <a:ext cx="548640" cy="59436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2000" b="1" dirty="0">
                <a:solidFill>
                  <a:srgbClr val="1D3557"/>
                </a:solidFill>
                <a:latin typeface="Golos Text" pitchFamily="34" charset="0"/>
                <a:ea typeface="Golos Text" pitchFamily="34" charset="-122"/>
                <a:cs typeface="Golos Text" pitchFamily="34" charset="-120"/>
              </a:rPr>
              <a:t>7</a:t>
            </a:r>
            <a:endParaRPr lang="en-US" sz="2000" dirty="0"/>
          </a:p>
        </p:txBody>
      </p:sp>
      <p:sp>
        <p:nvSpPr>
          <p:cNvPr id="22" name="Text 20"/>
          <p:cNvSpPr/>
          <p:nvPr/>
        </p:nvSpPr>
        <p:spPr>
          <a:xfrm>
            <a:off x="2569464" y="2377440"/>
            <a:ext cx="548640" cy="59436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2000" b="1" dirty="0">
                <a:solidFill>
                  <a:srgbClr val="1D3557"/>
                </a:solidFill>
                <a:latin typeface="Golos Text" pitchFamily="34" charset="0"/>
                <a:ea typeface="Golos Text" pitchFamily="34" charset="-122"/>
                <a:cs typeface="Golos Text" pitchFamily="34" charset="-120"/>
              </a:rPr>
              <a:t>7</a:t>
            </a:r>
            <a:endParaRPr lang="en-US" sz="2000" dirty="0"/>
          </a:p>
        </p:txBody>
      </p:sp>
      <p:sp>
        <p:nvSpPr>
          <p:cNvPr id="23" name="Text 21"/>
          <p:cNvSpPr/>
          <p:nvPr/>
        </p:nvSpPr>
        <p:spPr>
          <a:xfrm>
            <a:off x="3227832" y="2377440"/>
            <a:ext cx="548640" cy="59436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2000" b="1" dirty="0">
                <a:solidFill>
                  <a:srgbClr val="1D3557"/>
                </a:solidFill>
                <a:latin typeface="Golos Text" pitchFamily="34" charset="0"/>
                <a:ea typeface="Golos Text" pitchFamily="34" charset="-122"/>
                <a:cs typeface="Golos Text" pitchFamily="34" charset="-120"/>
              </a:rPr>
              <a:t>9</a:t>
            </a:r>
            <a:endParaRPr lang="en-US" sz="2000" dirty="0"/>
          </a:p>
        </p:txBody>
      </p:sp>
      <p:sp>
        <p:nvSpPr>
          <p:cNvPr id="24" name="anim1_x"/>
          <p:cNvSpPr/>
          <p:nvPr/>
        </p:nvSpPr>
        <p:spPr>
          <a:xfrm>
            <a:off x="671170" y="2454250"/>
            <a:ext cx="395021" cy="440741"/>
          </a:xfrm>
          <a:prstGeom prst="line">
            <a:avLst/>
          </a:prstGeom>
          <a:noFill/>
          <a:ln w="34925">
            <a:solidFill>
              <a:srgbClr val="A84400"/>
            </a:solidFill>
            <a:prstDash val="solid"/>
          </a:ln>
        </p:spPr>
      </p:sp>
      <p:sp>
        <p:nvSpPr>
          <p:cNvPr id="25" name="anim1_x"/>
          <p:cNvSpPr/>
          <p:nvPr/>
        </p:nvSpPr>
        <p:spPr>
          <a:xfrm flipH="1">
            <a:off x="671170" y="2454250"/>
            <a:ext cx="395021" cy="440741"/>
          </a:xfrm>
          <a:prstGeom prst="line">
            <a:avLst/>
          </a:prstGeom>
          <a:noFill/>
          <a:ln w="34925">
            <a:solidFill>
              <a:srgbClr val="A84400"/>
            </a:solidFill>
            <a:prstDash val="solid"/>
          </a:ln>
        </p:spPr>
      </p:sp>
      <p:sp>
        <p:nvSpPr>
          <p:cNvPr id="26" name="anim1_x"/>
          <p:cNvSpPr/>
          <p:nvPr/>
        </p:nvSpPr>
        <p:spPr>
          <a:xfrm>
            <a:off x="3304642" y="2454250"/>
            <a:ext cx="395021" cy="440741"/>
          </a:xfrm>
          <a:prstGeom prst="line">
            <a:avLst/>
          </a:prstGeom>
          <a:noFill/>
          <a:ln w="34925">
            <a:solidFill>
              <a:srgbClr val="A84400"/>
            </a:solidFill>
            <a:prstDash val="solid"/>
          </a:ln>
        </p:spPr>
      </p:sp>
      <p:sp>
        <p:nvSpPr>
          <p:cNvPr id="27" name="anim1_x"/>
          <p:cNvSpPr/>
          <p:nvPr/>
        </p:nvSpPr>
        <p:spPr>
          <a:xfrm flipH="1">
            <a:off x="3304642" y="2454250"/>
            <a:ext cx="395021" cy="440741"/>
          </a:xfrm>
          <a:prstGeom prst="line">
            <a:avLst/>
          </a:prstGeom>
          <a:noFill/>
          <a:ln w="34925">
            <a:solidFill>
              <a:srgbClr val="A84400"/>
            </a:solidFill>
            <a:prstDash val="solid"/>
          </a:ln>
        </p:spPr>
      </p:sp>
      <p:sp>
        <p:nvSpPr>
          <p:cNvPr id="28" name="anim1_x"/>
          <p:cNvSpPr/>
          <p:nvPr/>
        </p:nvSpPr>
        <p:spPr>
          <a:xfrm>
            <a:off x="1329538" y="2454250"/>
            <a:ext cx="395021" cy="440741"/>
          </a:xfrm>
          <a:prstGeom prst="line">
            <a:avLst/>
          </a:prstGeom>
          <a:noFill/>
          <a:ln w="34925">
            <a:solidFill>
              <a:srgbClr val="A84400"/>
            </a:solidFill>
            <a:prstDash val="solid"/>
          </a:ln>
        </p:spPr>
      </p:sp>
      <p:sp>
        <p:nvSpPr>
          <p:cNvPr id="29" name="anim1_x"/>
          <p:cNvSpPr/>
          <p:nvPr/>
        </p:nvSpPr>
        <p:spPr>
          <a:xfrm flipH="1">
            <a:off x="1329538" y="2454250"/>
            <a:ext cx="395021" cy="440741"/>
          </a:xfrm>
          <a:prstGeom prst="line">
            <a:avLst/>
          </a:prstGeom>
          <a:noFill/>
          <a:ln w="34925">
            <a:solidFill>
              <a:srgbClr val="A84400"/>
            </a:solidFill>
            <a:prstDash val="solid"/>
          </a:ln>
        </p:spPr>
      </p:sp>
      <p:sp>
        <p:nvSpPr>
          <p:cNvPr id="30" name="anim1_x"/>
          <p:cNvSpPr/>
          <p:nvPr/>
        </p:nvSpPr>
        <p:spPr>
          <a:xfrm>
            <a:off x="2646274" y="2454250"/>
            <a:ext cx="395021" cy="440741"/>
          </a:xfrm>
          <a:prstGeom prst="line">
            <a:avLst/>
          </a:prstGeom>
          <a:noFill/>
          <a:ln w="34925">
            <a:solidFill>
              <a:srgbClr val="A84400"/>
            </a:solidFill>
            <a:prstDash val="solid"/>
          </a:ln>
        </p:spPr>
      </p:sp>
      <p:sp>
        <p:nvSpPr>
          <p:cNvPr id="31" name="anim1_x"/>
          <p:cNvSpPr/>
          <p:nvPr/>
        </p:nvSpPr>
        <p:spPr>
          <a:xfrm flipH="1">
            <a:off x="2646274" y="2454250"/>
            <a:ext cx="395021" cy="440741"/>
          </a:xfrm>
          <a:prstGeom prst="line">
            <a:avLst/>
          </a:prstGeom>
          <a:noFill/>
          <a:ln w="34925">
            <a:solidFill>
              <a:srgbClr val="A84400"/>
            </a:solidFill>
            <a:prstDash val="solid"/>
          </a:ln>
        </p:spPr>
      </p:sp>
      <p:sp>
        <p:nvSpPr>
          <p:cNvPr id="32" name="anim2_md"/>
          <p:cNvSpPr/>
          <p:nvPr/>
        </p:nvSpPr>
        <p:spPr>
          <a:xfrm>
            <a:off x="1856232" y="2322576"/>
            <a:ext cx="658368" cy="704088"/>
          </a:xfrm>
          <a:prstGeom prst="roundRect">
            <a:avLst>
              <a:gd name="adj" fmla="val 15000"/>
            </a:avLst>
          </a:prstGeom>
          <a:ln w="38100">
            <a:solidFill>
              <a:srgbClr val="24418C"/>
            </a:solidFill>
            <a:prstDash val="solid"/>
          </a:ln>
        </p:spPr>
      </p:sp>
      <p:sp>
        <p:nvSpPr>
          <p:cNvPr id="33" name="anim2_md"/>
          <p:cNvSpPr/>
          <p:nvPr/>
        </p:nvSpPr>
        <p:spPr>
          <a:xfrm>
            <a:off x="594360" y="3108960"/>
            <a:ext cx="3200400" cy="411480"/>
          </a:xfrm>
          <a:prstGeom prst="rect">
            <a:avLst/>
          </a:prstGeom>
          <a:noFill/>
          <a:ln/>
        </p:spPr>
        <p:txBody>
          <a:bodyPr wrap="square" lIns="0" tIns="0" rIns="0" bIns="0" rtlCol="0" anchor="t"/>
          <a:lstStyle/>
          <a:p>
            <a:pPr algn="l" indent="0" marL="0">
              <a:buNone/>
            </a:pPr>
            <a:r>
              <a:rPr lang="en-US" sz="1800" b="1" dirty="0">
                <a:solidFill>
                  <a:srgbClr val="24418C"/>
                </a:solidFill>
                <a:latin typeface="Golos Text" pitchFamily="34" charset="0"/>
                <a:ea typeface="Golos Text" pitchFamily="34" charset="-122"/>
                <a:cs typeface="Golos Text" pitchFamily="34" charset="-120"/>
              </a:rPr>
              <a:t>Медиана = 7</a:t>
            </a:r>
            <a:endParaRPr lang="en-US" sz="1800" dirty="0"/>
          </a:p>
        </p:txBody>
      </p:sp>
      <p:sp>
        <p:nvSpPr>
          <p:cNvPr id="34" name="anim3_ev"/>
          <p:cNvSpPr/>
          <p:nvPr/>
        </p:nvSpPr>
        <p:spPr>
          <a:xfrm>
            <a:off x="594360" y="3703320"/>
            <a:ext cx="3291840" cy="274320"/>
          </a:xfrm>
          <a:prstGeom prst="rect">
            <a:avLst/>
          </a:prstGeom>
          <a:noFill/>
          <a:ln/>
        </p:spPr>
        <p:txBody>
          <a:bodyPr wrap="square" lIns="0" tIns="0" rIns="0" bIns="0" rtlCol="0" anchor="t"/>
          <a:lstStyle/>
          <a:p>
            <a:pPr algn="l" indent="0" marL="0">
              <a:buNone/>
            </a:pPr>
            <a:r>
              <a:rPr lang="en-US" sz="1300" dirty="0">
                <a:solidFill>
                  <a:srgbClr val="4A5A70"/>
                </a:solidFill>
                <a:latin typeface="Golos Text" pitchFamily="34" charset="0"/>
                <a:ea typeface="Golos Text" pitchFamily="34" charset="-122"/>
                <a:cs typeface="Golos Text" pitchFamily="34" charset="-120"/>
              </a:rPr>
              <a:t>1 карточкасы кошулду (жуп):</a:t>
            </a:r>
            <a:endParaRPr lang="en-US" sz="1300" dirty="0"/>
          </a:p>
        </p:txBody>
      </p:sp>
      <p:sp>
        <p:nvSpPr>
          <p:cNvPr id="35" name="anim3_ev"/>
          <p:cNvSpPr/>
          <p:nvPr/>
        </p:nvSpPr>
        <p:spPr>
          <a:xfrm>
            <a:off x="594360" y="4023360"/>
            <a:ext cx="457200" cy="54864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1800" b="1" dirty="0">
                <a:solidFill>
                  <a:srgbClr val="1D3557"/>
                </a:solidFill>
                <a:latin typeface="Golos Text" pitchFamily="34" charset="0"/>
                <a:ea typeface="Golos Text" pitchFamily="34" charset="-122"/>
                <a:cs typeface="Golos Text" pitchFamily="34" charset="-120"/>
              </a:rPr>
              <a:t>1</a:t>
            </a:r>
            <a:endParaRPr lang="en-US" sz="1800" dirty="0"/>
          </a:p>
        </p:txBody>
      </p:sp>
      <p:sp>
        <p:nvSpPr>
          <p:cNvPr id="36" name="anim3_ev"/>
          <p:cNvSpPr/>
          <p:nvPr/>
        </p:nvSpPr>
        <p:spPr>
          <a:xfrm>
            <a:off x="1143000" y="4023360"/>
            <a:ext cx="457200" cy="54864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1800" b="1" dirty="0">
                <a:solidFill>
                  <a:srgbClr val="1D3557"/>
                </a:solidFill>
                <a:latin typeface="Golos Text" pitchFamily="34" charset="0"/>
                <a:ea typeface="Golos Text" pitchFamily="34" charset="-122"/>
                <a:cs typeface="Golos Text" pitchFamily="34" charset="-120"/>
              </a:rPr>
              <a:t>3</a:t>
            </a:r>
            <a:endParaRPr lang="en-US" sz="1800" dirty="0"/>
          </a:p>
        </p:txBody>
      </p:sp>
      <p:sp>
        <p:nvSpPr>
          <p:cNvPr id="37" name="anim3_ev"/>
          <p:cNvSpPr/>
          <p:nvPr/>
        </p:nvSpPr>
        <p:spPr>
          <a:xfrm>
            <a:off x="1691640" y="4023360"/>
            <a:ext cx="457200" cy="54864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1800" b="1" dirty="0">
                <a:solidFill>
                  <a:srgbClr val="1D3557"/>
                </a:solidFill>
                <a:latin typeface="Golos Text" pitchFamily="34" charset="0"/>
                <a:ea typeface="Golos Text" pitchFamily="34" charset="-122"/>
                <a:cs typeface="Golos Text" pitchFamily="34" charset="-120"/>
              </a:rPr>
              <a:t>4</a:t>
            </a:r>
            <a:endParaRPr lang="en-US" sz="1800" dirty="0"/>
          </a:p>
        </p:txBody>
      </p:sp>
      <p:sp>
        <p:nvSpPr>
          <p:cNvPr id="38" name="anim3_ev"/>
          <p:cNvSpPr/>
          <p:nvPr/>
        </p:nvSpPr>
        <p:spPr>
          <a:xfrm>
            <a:off x="2240280" y="4023360"/>
            <a:ext cx="457200" cy="54864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1800" b="1" dirty="0">
                <a:solidFill>
                  <a:srgbClr val="1D3557"/>
                </a:solidFill>
                <a:latin typeface="Golos Text" pitchFamily="34" charset="0"/>
                <a:ea typeface="Golos Text" pitchFamily="34" charset="-122"/>
                <a:cs typeface="Golos Text" pitchFamily="34" charset="-120"/>
              </a:rPr>
              <a:t>7</a:t>
            </a:r>
            <a:endParaRPr lang="en-US" sz="1800" dirty="0"/>
          </a:p>
        </p:txBody>
      </p:sp>
      <p:sp>
        <p:nvSpPr>
          <p:cNvPr id="39" name="anim3_ev"/>
          <p:cNvSpPr/>
          <p:nvPr/>
        </p:nvSpPr>
        <p:spPr>
          <a:xfrm>
            <a:off x="2788920" y="4023360"/>
            <a:ext cx="457200" cy="54864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1800" b="1" dirty="0">
                <a:solidFill>
                  <a:srgbClr val="1D3557"/>
                </a:solidFill>
                <a:latin typeface="Golos Text" pitchFamily="34" charset="0"/>
                <a:ea typeface="Golos Text" pitchFamily="34" charset="-122"/>
                <a:cs typeface="Golos Text" pitchFamily="34" charset="-120"/>
              </a:rPr>
              <a:t>7</a:t>
            </a:r>
            <a:endParaRPr lang="en-US" sz="1800" dirty="0"/>
          </a:p>
        </p:txBody>
      </p:sp>
      <p:sp>
        <p:nvSpPr>
          <p:cNvPr id="40" name="anim3_ev"/>
          <p:cNvSpPr/>
          <p:nvPr/>
        </p:nvSpPr>
        <p:spPr>
          <a:xfrm>
            <a:off x="3337560" y="4023360"/>
            <a:ext cx="457200" cy="54864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1800" b="1" dirty="0">
                <a:solidFill>
                  <a:srgbClr val="1D3557"/>
                </a:solidFill>
                <a:latin typeface="Golos Text" pitchFamily="34" charset="0"/>
                <a:ea typeface="Golos Text" pitchFamily="34" charset="-122"/>
                <a:cs typeface="Golos Text" pitchFamily="34" charset="-120"/>
              </a:rPr>
              <a:t>9</a:t>
            </a:r>
            <a:endParaRPr lang="en-US" sz="1800" dirty="0"/>
          </a:p>
        </p:txBody>
      </p:sp>
      <p:sp>
        <p:nvSpPr>
          <p:cNvPr id="41" name="anim3_ev"/>
          <p:cNvSpPr/>
          <p:nvPr/>
        </p:nvSpPr>
        <p:spPr>
          <a:xfrm>
            <a:off x="1636776" y="3968496"/>
            <a:ext cx="1115568" cy="658368"/>
          </a:xfrm>
          <a:prstGeom prst="roundRect">
            <a:avLst>
              <a:gd name="adj" fmla="val 15000"/>
            </a:avLst>
          </a:prstGeom>
          <a:ln w="38100">
            <a:solidFill>
              <a:srgbClr val="A84400"/>
            </a:solidFill>
            <a:prstDash val="solid"/>
          </a:ln>
        </p:spPr>
      </p:sp>
      <p:sp>
        <p:nvSpPr>
          <p:cNvPr id="42" name="anim4_me"/>
          <p:cNvSpPr/>
          <p:nvPr/>
        </p:nvSpPr>
        <p:spPr>
          <a:xfrm>
            <a:off x="594360" y="4800600"/>
            <a:ext cx="3246120" cy="594360"/>
          </a:xfrm>
          <a:prstGeom prst="roundRect">
            <a:avLst>
              <a:gd name="adj" fmla="val 30000"/>
            </a:avLst>
          </a:prstGeom>
          <a:solidFill>
            <a:srgbClr val="D1E7E1"/>
          </a:solidFill>
          <a:ln w="28575">
            <a:solidFill>
              <a:srgbClr val="007A5A"/>
            </a:solidFill>
            <a:prstDash val="solid"/>
          </a:ln>
        </p:spPr>
        <p:txBody>
          <a:bodyPr wrap="square" lIns="76200" tIns="76200" rIns="76200" bIns="76200" rtlCol="0" anchor="ctr"/>
          <a:lstStyle/>
          <a:p>
            <a:pPr algn="ctr" indent="0" marL="0">
              <a:buNone/>
            </a:pPr>
            <a:r>
              <a:rPr lang="en-US" sz="1900" b="1" dirty="0">
                <a:solidFill>
                  <a:srgbClr val="007A5A"/>
                </a:solidFill>
                <a:latin typeface="Golos Text" pitchFamily="34" charset="0"/>
                <a:ea typeface="Golos Text" pitchFamily="34" charset="-122"/>
                <a:cs typeface="Golos Text" pitchFamily="34" charset="-120"/>
              </a:rPr>
              <a:t>(4 + 7) : 2 = 5,5</a:t>
            </a:r>
            <a:endParaRPr lang="en-US" sz="1900" dirty="0"/>
          </a:p>
        </p:txBody>
      </p:sp>
      <p:sp>
        <p:nvSpPr>
          <p:cNvPr id="43" name="anim4_me"/>
          <p:cNvSpPr/>
          <p:nvPr/>
        </p:nvSpPr>
        <p:spPr>
          <a:xfrm>
            <a:off x="594360" y="5486400"/>
            <a:ext cx="3246120" cy="640080"/>
          </a:xfrm>
          <a:prstGeom prst="rect">
            <a:avLst/>
          </a:prstGeom>
          <a:noFill/>
          <a:ln/>
        </p:spPr>
        <p:txBody>
          <a:bodyPr wrap="square" lIns="0" tIns="0" rIns="0" bIns="0" rtlCol="0" anchor="t"/>
          <a:lstStyle/>
          <a:p>
            <a:pPr algn="l" indent="0" marL="0">
              <a:buNone/>
            </a:pPr>
            <a:r>
              <a:rPr lang="en-US" sz="1400" i="1" dirty="0">
                <a:solidFill>
                  <a:srgbClr val="4A5A70"/>
                </a:solidFill>
                <a:latin typeface="Golos Text" pitchFamily="34" charset="0"/>
                <a:ea typeface="Golos Text" pitchFamily="34" charset="-122"/>
                <a:cs typeface="Golos Text" pitchFamily="34" charset="-120"/>
              </a:rPr>
              <a:t>Ортодо эки сан — алардын орточосу.</a:t>
            </a:r>
            <a:endParaRPr lang="en-US" sz="1400" dirty="0"/>
          </a:p>
        </p:txBody>
      </p:sp>
      <p:sp>
        <p:nvSpPr>
          <p:cNvPr id="44" name="Text 42"/>
          <p:cNvSpPr/>
          <p:nvPr/>
        </p:nvSpPr>
        <p:spPr>
          <a:xfrm>
            <a:off x="4480560" y="2057400"/>
            <a:ext cx="3291840" cy="274320"/>
          </a:xfrm>
          <a:prstGeom prst="rect">
            <a:avLst/>
          </a:prstGeom>
          <a:noFill/>
          <a:ln/>
        </p:spPr>
        <p:txBody>
          <a:bodyPr wrap="square" lIns="0" tIns="0" rIns="0" bIns="0" rtlCol="0" anchor="t"/>
          <a:lstStyle/>
          <a:p>
            <a:pPr algn="l" indent="0" marL="0">
              <a:buNone/>
            </a:pPr>
            <a:r>
              <a:rPr lang="en-US" sz="1300" b="1" dirty="0">
                <a:solidFill>
                  <a:srgbClr val="4A5A70"/>
                </a:solidFill>
                <a:latin typeface="Golos Text" pitchFamily="34" charset="0"/>
                <a:ea typeface="Golos Text" pitchFamily="34" charset="-122"/>
                <a:cs typeface="Golos Text" pitchFamily="34" charset="-120"/>
              </a:rPr>
              <a:t>АР БИР САН — БИР ЧЕКИТ</a:t>
            </a:r>
            <a:endParaRPr lang="en-US" sz="1300" dirty="0"/>
          </a:p>
        </p:txBody>
      </p:sp>
      <p:sp>
        <p:nvSpPr>
          <p:cNvPr id="45" name="Shape 43"/>
          <p:cNvSpPr/>
          <p:nvPr/>
        </p:nvSpPr>
        <p:spPr>
          <a:xfrm>
            <a:off x="4434840" y="4206240"/>
            <a:ext cx="2926080" cy="0"/>
          </a:xfrm>
          <a:prstGeom prst="line">
            <a:avLst/>
          </a:prstGeom>
          <a:noFill/>
          <a:ln w="19050">
            <a:solidFill>
              <a:srgbClr val="1D3557"/>
            </a:solidFill>
            <a:prstDash val="solid"/>
          </a:ln>
        </p:spPr>
      </p:sp>
      <p:sp>
        <p:nvSpPr>
          <p:cNvPr id="46" name="Shape 44"/>
          <p:cNvSpPr/>
          <p:nvPr/>
        </p:nvSpPr>
        <p:spPr>
          <a:xfrm>
            <a:off x="4526280" y="4206240"/>
            <a:ext cx="0" cy="91440"/>
          </a:xfrm>
          <a:prstGeom prst="line">
            <a:avLst/>
          </a:prstGeom>
          <a:noFill/>
          <a:ln w="15875">
            <a:solidFill>
              <a:srgbClr val="1D3557"/>
            </a:solidFill>
            <a:prstDash val="solid"/>
          </a:ln>
        </p:spPr>
      </p:sp>
      <p:sp>
        <p:nvSpPr>
          <p:cNvPr id="47" name="Text 45"/>
          <p:cNvSpPr/>
          <p:nvPr/>
        </p:nvSpPr>
        <p:spPr>
          <a:xfrm>
            <a:off x="4297680" y="4315968"/>
            <a:ext cx="457200" cy="292608"/>
          </a:xfrm>
          <a:prstGeom prst="rect">
            <a:avLst/>
          </a:prstGeom>
          <a:noFill/>
          <a:ln/>
        </p:spPr>
        <p:txBody>
          <a:bodyPr wrap="square" lIns="0" tIns="0" rIns="0" bIns="0" rtlCol="0" anchor="t"/>
          <a:lstStyle/>
          <a:p>
            <a:pPr algn="ctr" indent="0" marL="0">
              <a:buNone/>
            </a:pPr>
            <a:r>
              <a:rPr lang="en-US" sz="1500" dirty="0">
                <a:solidFill>
                  <a:srgbClr val="1D3557"/>
                </a:solidFill>
                <a:latin typeface="Golos Text" pitchFamily="34" charset="0"/>
                <a:ea typeface="Golos Text" pitchFamily="34" charset="-122"/>
                <a:cs typeface="Golos Text" pitchFamily="34" charset="-120"/>
              </a:rPr>
              <a:t>3</a:t>
            </a:r>
            <a:endParaRPr lang="en-US" sz="1500" dirty="0"/>
          </a:p>
        </p:txBody>
      </p:sp>
      <p:sp>
        <p:nvSpPr>
          <p:cNvPr id="48" name="Shape 46"/>
          <p:cNvSpPr/>
          <p:nvPr/>
        </p:nvSpPr>
        <p:spPr>
          <a:xfrm>
            <a:off x="4983480" y="4206240"/>
            <a:ext cx="0" cy="91440"/>
          </a:xfrm>
          <a:prstGeom prst="line">
            <a:avLst/>
          </a:prstGeom>
          <a:noFill/>
          <a:ln w="15875">
            <a:solidFill>
              <a:srgbClr val="1D3557"/>
            </a:solidFill>
            <a:prstDash val="solid"/>
          </a:ln>
        </p:spPr>
      </p:sp>
      <p:sp>
        <p:nvSpPr>
          <p:cNvPr id="49" name="Text 47"/>
          <p:cNvSpPr/>
          <p:nvPr/>
        </p:nvSpPr>
        <p:spPr>
          <a:xfrm>
            <a:off x="4754880" y="4315968"/>
            <a:ext cx="457200" cy="292608"/>
          </a:xfrm>
          <a:prstGeom prst="rect">
            <a:avLst/>
          </a:prstGeom>
          <a:noFill/>
          <a:ln/>
        </p:spPr>
        <p:txBody>
          <a:bodyPr wrap="square" lIns="0" tIns="0" rIns="0" bIns="0" rtlCol="0" anchor="t"/>
          <a:lstStyle/>
          <a:p>
            <a:pPr algn="ctr" indent="0" marL="0">
              <a:buNone/>
            </a:pPr>
            <a:r>
              <a:rPr lang="en-US" sz="1500" dirty="0">
                <a:solidFill>
                  <a:srgbClr val="1D3557"/>
                </a:solidFill>
                <a:latin typeface="Golos Text" pitchFamily="34" charset="0"/>
                <a:ea typeface="Golos Text" pitchFamily="34" charset="-122"/>
                <a:cs typeface="Golos Text" pitchFamily="34" charset="-120"/>
              </a:rPr>
              <a:t>4</a:t>
            </a:r>
            <a:endParaRPr lang="en-US" sz="1500" dirty="0"/>
          </a:p>
        </p:txBody>
      </p:sp>
      <p:sp>
        <p:nvSpPr>
          <p:cNvPr id="50" name="Shape 48"/>
          <p:cNvSpPr/>
          <p:nvPr/>
        </p:nvSpPr>
        <p:spPr>
          <a:xfrm>
            <a:off x="5440680" y="4206240"/>
            <a:ext cx="0" cy="91440"/>
          </a:xfrm>
          <a:prstGeom prst="line">
            <a:avLst/>
          </a:prstGeom>
          <a:noFill/>
          <a:ln w="15875">
            <a:solidFill>
              <a:srgbClr val="1D3557"/>
            </a:solidFill>
            <a:prstDash val="solid"/>
          </a:ln>
        </p:spPr>
      </p:sp>
      <p:sp>
        <p:nvSpPr>
          <p:cNvPr id="51" name="Text 49"/>
          <p:cNvSpPr/>
          <p:nvPr/>
        </p:nvSpPr>
        <p:spPr>
          <a:xfrm>
            <a:off x="5212080" y="4315968"/>
            <a:ext cx="457200" cy="292608"/>
          </a:xfrm>
          <a:prstGeom prst="rect">
            <a:avLst/>
          </a:prstGeom>
          <a:noFill/>
          <a:ln/>
        </p:spPr>
        <p:txBody>
          <a:bodyPr wrap="square" lIns="0" tIns="0" rIns="0" bIns="0" rtlCol="0" anchor="t"/>
          <a:lstStyle/>
          <a:p>
            <a:pPr algn="ctr" indent="0" marL="0">
              <a:buNone/>
            </a:pPr>
            <a:r>
              <a:rPr lang="en-US" sz="1500" dirty="0">
                <a:solidFill>
                  <a:srgbClr val="1D3557"/>
                </a:solidFill>
                <a:latin typeface="Golos Text" pitchFamily="34" charset="0"/>
                <a:ea typeface="Golos Text" pitchFamily="34" charset="-122"/>
                <a:cs typeface="Golos Text" pitchFamily="34" charset="-120"/>
              </a:rPr>
              <a:t>5</a:t>
            </a:r>
            <a:endParaRPr lang="en-US" sz="1500" dirty="0"/>
          </a:p>
        </p:txBody>
      </p:sp>
      <p:sp>
        <p:nvSpPr>
          <p:cNvPr id="52" name="Shape 50"/>
          <p:cNvSpPr/>
          <p:nvPr/>
        </p:nvSpPr>
        <p:spPr>
          <a:xfrm>
            <a:off x="5897880" y="4206240"/>
            <a:ext cx="0" cy="91440"/>
          </a:xfrm>
          <a:prstGeom prst="line">
            <a:avLst/>
          </a:prstGeom>
          <a:noFill/>
          <a:ln w="15875">
            <a:solidFill>
              <a:srgbClr val="1D3557"/>
            </a:solidFill>
            <a:prstDash val="solid"/>
          </a:ln>
        </p:spPr>
      </p:sp>
      <p:sp>
        <p:nvSpPr>
          <p:cNvPr id="53" name="Text 51"/>
          <p:cNvSpPr/>
          <p:nvPr/>
        </p:nvSpPr>
        <p:spPr>
          <a:xfrm>
            <a:off x="5669280" y="4315968"/>
            <a:ext cx="457200" cy="292608"/>
          </a:xfrm>
          <a:prstGeom prst="rect">
            <a:avLst/>
          </a:prstGeom>
          <a:noFill/>
          <a:ln/>
        </p:spPr>
        <p:txBody>
          <a:bodyPr wrap="square" lIns="0" tIns="0" rIns="0" bIns="0" rtlCol="0" anchor="t"/>
          <a:lstStyle/>
          <a:p>
            <a:pPr algn="ctr" indent="0" marL="0">
              <a:buNone/>
            </a:pPr>
            <a:r>
              <a:rPr lang="en-US" sz="1500" dirty="0">
                <a:solidFill>
                  <a:srgbClr val="1D3557"/>
                </a:solidFill>
                <a:latin typeface="Golos Text" pitchFamily="34" charset="0"/>
                <a:ea typeface="Golos Text" pitchFamily="34" charset="-122"/>
                <a:cs typeface="Golos Text" pitchFamily="34" charset="-120"/>
              </a:rPr>
              <a:t>6</a:t>
            </a:r>
            <a:endParaRPr lang="en-US" sz="1500" dirty="0"/>
          </a:p>
        </p:txBody>
      </p:sp>
      <p:sp>
        <p:nvSpPr>
          <p:cNvPr id="54" name="Shape 52"/>
          <p:cNvSpPr/>
          <p:nvPr/>
        </p:nvSpPr>
        <p:spPr>
          <a:xfrm>
            <a:off x="6355080" y="4206240"/>
            <a:ext cx="0" cy="91440"/>
          </a:xfrm>
          <a:prstGeom prst="line">
            <a:avLst/>
          </a:prstGeom>
          <a:noFill/>
          <a:ln w="15875">
            <a:solidFill>
              <a:srgbClr val="1D3557"/>
            </a:solidFill>
            <a:prstDash val="solid"/>
          </a:ln>
        </p:spPr>
      </p:sp>
      <p:sp>
        <p:nvSpPr>
          <p:cNvPr id="55" name="Text 53"/>
          <p:cNvSpPr/>
          <p:nvPr/>
        </p:nvSpPr>
        <p:spPr>
          <a:xfrm>
            <a:off x="6126480" y="4315968"/>
            <a:ext cx="457200" cy="292608"/>
          </a:xfrm>
          <a:prstGeom prst="rect">
            <a:avLst/>
          </a:prstGeom>
          <a:noFill/>
          <a:ln/>
        </p:spPr>
        <p:txBody>
          <a:bodyPr wrap="square" lIns="0" tIns="0" rIns="0" bIns="0" rtlCol="0" anchor="t"/>
          <a:lstStyle/>
          <a:p>
            <a:pPr algn="ctr" indent="0" marL="0">
              <a:buNone/>
            </a:pPr>
            <a:r>
              <a:rPr lang="en-US" sz="1500" dirty="0">
                <a:solidFill>
                  <a:srgbClr val="1D3557"/>
                </a:solidFill>
                <a:latin typeface="Golos Text" pitchFamily="34" charset="0"/>
                <a:ea typeface="Golos Text" pitchFamily="34" charset="-122"/>
                <a:cs typeface="Golos Text" pitchFamily="34" charset="-120"/>
              </a:rPr>
              <a:t>7</a:t>
            </a:r>
            <a:endParaRPr lang="en-US" sz="1500" dirty="0"/>
          </a:p>
        </p:txBody>
      </p:sp>
      <p:sp>
        <p:nvSpPr>
          <p:cNvPr id="56" name="Shape 54"/>
          <p:cNvSpPr/>
          <p:nvPr/>
        </p:nvSpPr>
        <p:spPr>
          <a:xfrm>
            <a:off x="6812280" y="4206240"/>
            <a:ext cx="0" cy="91440"/>
          </a:xfrm>
          <a:prstGeom prst="line">
            <a:avLst/>
          </a:prstGeom>
          <a:noFill/>
          <a:ln w="15875">
            <a:solidFill>
              <a:srgbClr val="1D3557"/>
            </a:solidFill>
            <a:prstDash val="solid"/>
          </a:ln>
        </p:spPr>
      </p:sp>
      <p:sp>
        <p:nvSpPr>
          <p:cNvPr id="57" name="Text 55"/>
          <p:cNvSpPr/>
          <p:nvPr/>
        </p:nvSpPr>
        <p:spPr>
          <a:xfrm>
            <a:off x="6583680" y="4315968"/>
            <a:ext cx="457200" cy="292608"/>
          </a:xfrm>
          <a:prstGeom prst="rect">
            <a:avLst/>
          </a:prstGeom>
          <a:noFill/>
          <a:ln/>
        </p:spPr>
        <p:txBody>
          <a:bodyPr wrap="square" lIns="0" tIns="0" rIns="0" bIns="0" rtlCol="0" anchor="t"/>
          <a:lstStyle/>
          <a:p>
            <a:pPr algn="ctr" indent="0" marL="0">
              <a:buNone/>
            </a:pPr>
            <a:r>
              <a:rPr lang="en-US" sz="1500" dirty="0">
                <a:solidFill>
                  <a:srgbClr val="1D3557"/>
                </a:solidFill>
                <a:latin typeface="Golos Text" pitchFamily="34" charset="0"/>
                <a:ea typeface="Golos Text" pitchFamily="34" charset="-122"/>
                <a:cs typeface="Golos Text" pitchFamily="34" charset="-120"/>
              </a:rPr>
              <a:t>8</a:t>
            </a:r>
            <a:endParaRPr lang="en-US" sz="1500" dirty="0"/>
          </a:p>
        </p:txBody>
      </p:sp>
      <p:sp>
        <p:nvSpPr>
          <p:cNvPr id="58" name="Shape 56"/>
          <p:cNvSpPr/>
          <p:nvPr/>
        </p:nvSpPr>
        <p:spPr>
          <a:xfrm>
            <a:off x="7269480" y="4206240"/>
            <a:ext cx="0" cy="91440"/>
          </a:xfrm>
          <a:prstGeom prst="line">
            <a:avLst/>
          </a:prstGeom>
          <a:noFill/>
          <a:ln w="15875">
            <a:solidFill>
              <a:srgbClr val="1D3557"/>
            </a:solidFill>
            <a:prstDash val="solid"/>
          </a:ln>
        </p:spPr>
      </p:sp>
      <p:sp>
        <p:nvSpPr>
          <p:cNvPr id="59" name="Text 57"/>
          <p:cNvSpPr/>
          <p:nvPr/>
        </p:nvSpPr>
        <p:spPr>
          <a:xfrm>
            <a:off x="7040880" y="4315968"/>
            <a:ext cx="457200" cy="292608"/>
          </a:xfrm>
          <a:prstGeom prst="rect">
            <a:avLst/>
          </a:prstGeom>
          <a:noFill/>
          <a:ln/>
        </p:spPr>
        <p:txBody>
          <a:bodyPr wrap="square" lIns="0" tIns="0" rIns="0" bIns="0" rtlCol="0" anchor="t"/>
          <a:lstStyle/>
          <a:p>
            <a:pPr algn="ctr" indent="0" marL="0">
              <a:buNone/>
            </a:pPr>
            <a:r>
              <a:rPr lang="en-US" sz="1500" dirty="0">
                <a:solidFill>
                  <a:srgbClr val="1D3557"/>
                </a:solidFill>
                <a:latin typeface="Golos Text" pitchFamily="34" charset="0"/>
                <a:ea typeface="Golos Text" pitchFamily="34" charset="-122"/>
                <a:cs typeface="Golos Text" pitchFamily="34" charset="-120"/>
              </a:rPr>
              <a:t>9</a:t>
            </a:r>
            <a:endParaRPr lang="en-US" sz="1500" dirty="0"/>
          </a:p>
        </p:txBody>
      </p:sp>
      <p:sp>
        <p:nvSpPr>
          <p:cNvPr id="60" name="anim5_d"/>
          <p:cNvSpPr/>
          <p:nvPr/>
        </p:nvSpPr>
        <p:spPr>
          <a:xfrm>
            <a:off x="4361688" y="3767328"/>
            <a:ext cx="329184" cy="329184"/>
          </a:xfrm>
          <a:prstGeom prst="ellipse">
            <a:avLst/>
          </a:prstGeom>
          <a:solidFill>
            <a:srgbClr val="24418C"/>
          </a:solidFill>
          <a:ln w="15875">
            <a:solidFill>
              <a:srgbClr val="24418C"/>
            </a:solidFill>
            <a:prstDash val="solid"/>
          </a:ln>
        </p:spPr>
      </p:sp>
      <p:sp>
        <p:nvSpPr>
          <p:cNvPr id="61" name="anim5_d"/>
          <p:cNvSpPr/>
          <p:nvPr/>
        </p:nvSpPr>
        <p:spPr>
          <a:xfrm>
            <a:off x="4818888" y="3767328"/>
            <a:ext cx="329184" cy="329184"/>
          </a:xfrm>
          <a:prstGeom prst="ellipse">
            <a:avLst/>
          </a:prstGeom>
          <a:solidFill>
            <a:srgbClr val="24418C"/>
          </a:solidFill>
          <a:ln w="15875">
            <a:solidFill>
              <a:srgbClr val="24418C"/>
            </a:solidFill>
            <a:prstDash val="solid"/>
          </a:ln>
        </p:spPr>
      </p:sp>
      <p:sp>
        <p:nvSpPr>
          <p:cNvPr id="62" name="anim5_d"/>
          <p:cNvSpPr/>
          <p:nvPr/>
        </p:nvSpPr>
        <p:spPr>
          <a:xfrm>
            <a:off x="6190488" y="3767328"/>
            <a:ext cx="329184" cy="329184"/>
          </a:xfrm>
          <a:prstGeom prst="ellipse">
            <a:avLst/>
          </a:prstGeom>
          <a:solidFill>
            <a:srgbClr val="24418C"/>
          </a:solidFill>
          <a:ln w="15875">
            <a:solidFill>
              <a:srgbClr val="24418C"/>
            </a:solidFill>
            <a:prstDash val="solid"/>
          </a:ln>
        </p:spPr>
      </p:sp>
      <p:sp>
        <p:nvSpPr>
          <p:cNvPr id="63" name="anim5_d"/>
          <p:cNvSpPr/>
          <p:nvPr/>
        </p:nvSpPr>
        <p:spPr>
          <a:xfrm>
            <a:off x="6190488" y="3383280"/>
            <a:ext cx="329184" cy="329184"/>
          </a:xfrm>
          <a:prstGeom prst="ellipse">
            <a:avLst/>
          </a:prstGeom>
          <a:solidFill>
            <a:srgbClr val="24418C"/>
          </a:solidFill>
          <a:ln w="15875">
            <a:solidFill>
              <a:srgbClr val="24418C"/>
            </a:solidFill>
            <a:prstDash val="solid"/>
          </a:ln>
        </p:spPr>
      </p:sp>
      <p:sp>
        <p:nvSpPr>
          <p:cNvPr id="64" name="anim5_d"/>
          <p:cNvSpPr/>
          <p:nvPr/>
        </p:nvSpPr>
        <p:spPr>
          <a:xfrm>
            <a:off x="7104888" y="3767328"/>
            <a:ext cx="329184" cy="329184"/>
          </a:xfrm>
          <a:prstGeom prst="ellipse">
            <a:avLst/>
          </a:prstGeom>
          <a:solidFill>
            <a:srgbClr val="24418C"/>
          </a:solidFill>
          <a:ln w="15875">
            <a:solidFill>
              <a:srgbClr val="24418C"/>
            </a:solidFill>
            <a:prstDash val="solid"/>
          </a:ln>
        </p:spPr>
      </p:sp>
      <p:sp>
        <p:nvSpPr>
          <p:cNvPr id="65" name="anim6_mo"/>
          <p:cNvSpPr/>
          <p:nvPr/>
        </p:nvSpPr>
        <p:spPr>
          <a:xfrm>
            <a:off x="6080760" y="3291840"/>
            <a:ext cx="548640" cy="868680"/>
          </a:xfrm>
          <a:prstGeom prst="roundRect">
            <a:avLst>
              <a:gd name="adj" fmla="val 15000"/>
            </a:avLst>
          </a:prstGeom>
          <a:ln w="38100">
            <a:solidFill>
              <a:srgbClr val="A84400"/>
            </a:solidFill>
            <a:prstDash val="solid"/>
          </a:ln>
        </p:spPr>
      </p:sp>
      <p:sp>
        <p:nvSpPr>
          <p:cNvPr id="66" name="anim6_mo"/>
          <p:cNvSpPr/>
          <p:nvPr/>
        </p:nvSpPr>
        <p:spPr>
          <a:xfrm>
            <a:off x="5440680" y="2880360"/>
            <a:ext cx="1828800" cy="320040"/>
          </a:xfrm>
          <a:prstGeom prst="rect">
            <a:avLst/>
          </a:prstGeom>
          <a:noFill/>
          <a:ln/>
        </p:spPr>
        <p:txBody>
          <a:bodyPr wrap="square" lIns="0" tIns="0" rIns="0" bIns="0" rtlCol="0" anchor="t"/>
          <a:lstStyle/>
          <a:p>
            <a:pPr algn="ctr" indent="0" marL="0">
              <a:buNone/>
            </a:pPr>
            <a:r>
              <a:rPr lang="en-US" sz="1400" b="1" dirty="0">
                <a:solidFill>
                  <a:srgbClr val="A84400"/>
                </a:solidFill>
                <a:latin typeface="Golos Text" pitchFamily="34" charset="0"/>
                <a:ea typeface="Golos Text" pitchFamily="34" charset="-122"/>
                <a:cs typeface="Golos Text" pitchFamily="34" charset="-120"/>
              </a:rPr>
              <a:t>эң бийик мамыча</a:t>
            </a:r>
            <a:endParaRPr lang="en-US" sz="1400" dirty="0"/>
          </a:p>
        </p:txBody>
      </p:sp>
      <p:sp>
        <p:nvSpPr>
          <p:cNvPr id="67" name="anim6_mo"/>
          <p:cNvSpPr/>
          <p:nvPr/>
        </p:nvSpPr>
        <p:spPr>
          <a:xfrm>
            <a:off x="4480560" y="4800600"/>
            <a:ext cx="3246120" cy="594360"/>
          </a:xfrm>
          <a:prstGeom prst="roundRect">
            <a:avLst>
              <a:gd name="adj" fmla="val 30000"/>
            </a:avLst>
          </a:prstGeom>
          <a:solidFill>
            <a:srgbClr val="D1E7E1"/>
          </a:solidFill>
          <a:ln w="28575">
            <a:solidFill>
              <a:srgbClr val="007A5A"/>
            </a:solidFill>
            <a:prstDash val="solid"/>
          </a:ln>
        </p:spPr>
        <p:txBody>
          <a:bodyPr wrap="square" lIns="76200" tIns="76200" rIns="76200" bIns="76200" rtlCol="0" anchor="ctr"/>
          <a:lstStyle/>
          <a:p>
            <a:pPr algn="ctr" indent="0" marL="0">
              <a:buNone/>
            </a:pPr>
            <a:r>
              <a:rPr lang="en-US" sz="1900" b="1" dirty="0">
                <a:solidFill>
                  <a:srgbClr val="007A5A"/>
                </a:solidFill>
                <a:latin typeface="Golos Text" pitchFamily="34" charset="0"/>
                <a:ea typeface="Golos Text" pitchFamily="34" charset="-122"/>
                <a:cs typeface="Golos Text" pitchFamily="34" charset="-120"/>
              </a:rPr>
              <a:t>Мода = 7</a:t>
            </a:r>
            <a:endParaRPr lang="en-US" sz="1900" dirty="0"/>
          </a:p>
        </p:txBody>
      </p:sp>
      <p:sp>
        <p:nvSpPr>
          <p:cNvPr id="68" name="anim6_mo"/>
          <p:cNvSpPr/>
          <p:nvPr/>
        </p:nvSpPr>
        <p:spPr>
          <a:xfrm>
            <a:off x="4480560" y="5486400"/>
            <a:ext cx="3246120" cy="640080"/>
          </a:xfrm>
          <a:prstGeom prst="rect">
            <a:avLst/>
          </a:prstGeom>
          <a:noFill/>
          <a:ln/>
        </p:spPr>
        <p:txBody>
          <a:bodyPr wrap="square" lIns="0" tIns="0" rIns="0" bIns="0" rtlCol="0" anchor="t"/>
          <a:lstStyle/>
          <a:p>
            <a:pPr algn="l" indent="0" marL="0">
              <a:buNone/>
            </a:pPr>
            <a:r>
              <a:rPr lang="en-US" sz="1400" i="1" dirty="0">
                <a:solidFill>
                  <a:srgbClr val="4A5A70"/>
                </a:solidFill>
                <a:latin typeface="Golos Text" pitchFamily="34" charset="0"/>
                <a:ea typeface="Golos Text" pitchFamily="34" charset="-122"/>
                <a:cs typeface="Golos Text" pitchFamily="34" charset="-120"/>
              </a:rPr>
              <a:t>Эң көп кездешкен сан.</a:t>
            </a:r>
            <a:endParaRPr lang="en-US" sz="1400" dirty="0"/>
          </a:p>
        </p:txBody>
      </p:sp>
      <p:sp>
        <p:nvSpPr>
          <p:cNvPr id="69" name="Shape 67"/>
          <p:cNvSpPr/>
          <p:nvPr/>
        </p:nvSpPr>
        <p:spPr>
          <a:xfrm>
            <a:off x="8458200" y="3355848"/>
            <a:ext cx="384048" cy="987552"/>
          </a:xfrm>
          <a:prstGeom prst="roundRect">
            <a:avLst>
              <a:gd name="adj" fmla="val 8000"/>
            </a:avLst>
          </a:prstGeom>
          <a:solidFill>
            <a:srgbClr val="E7EAF2"/>
          </a:solidFill>
          <a:ln w="12700">
            <a:solidFill>
              <a:srgbClr val="1D3557"/>
            </a:solidFill>
            <a:prstDash val="solid"/>
          </a:ln>
        </p:spPr>
      </p:sp>
      <p:sp>
        <p:nvSpPr>
          <p:cNvPr id="70" name="Text 68"/>
          <p:cNvSpPr/>
          <p:nvPr/>
        </p:nvSpPr>
        <p:spPr>
          <a:xfrm>
            <a:off x="8366760" y="4389120"/>
            <a:ext cx="566928" cy="292608"/>
          </a:xfrm>
          <a:prstGeom prst="rect">
            <a:avLst/>
          </a:prstGeom>
          <a:noFill/>
          <a:ln/>
        </p:spPr>
        <p:txBody>
          <a:bodyPr wrap="square" lIns="0" tIns="0" rIns="0" bIns="0" rtlCol="0" anchor="t"/>
          <a:lstStyle/>
          <a:p>
            <a:pPr algn="ctr" indent="0" marL="0">
              <a:buNone/>
            </a:pPr>
            <a:r>
              <a:rPr lang="en-US" sz="1500" b="1" dirty="0">
                <a:solidFill>
                  <a:srgbClr val="1D3557"/>
                </a:solidFill>
                <a:latin typeface="Golos Text" pitchFamily="34" charset="0"/>
                <a:ea typeface="Golos Text" pitchFamily="34" charset="-122"/>
                <a:cs typeface="Golos Text" pitchFamily="34" charset="-120"/>
              </a:rPr>
              <a:t>4</a:t>
            </a:r>
            <a:endParaRPr lang="en-US" sz="1500" dirty="0"/>
          </a:p>
        </p:txBody>
      </p:sp>
      <p:sp>
        <p:nvSpPr>
          <p:cNvPr id="71" name="Shape 69"/>
          <p:cNvSpPr/>
          <p:nvPr/>
        </p:nvSpPr>
        <p:spPr>
          <a:xfrm>
            <a:off x="9006840" y="2615184"/>
            <a:ext cx="384048" cy="1728216"/>
          </a:xfrm>
          <a:prstGeom prst="roundRect">
            <a:avLst>
              <a:gd name="adj" fmla="val 8000"/>
            </a:avLst>
          </a:prstGeom>
          <a:solidFill>
            <a:srgbClr val="E7EAF2"/>
          </a:solidFill>
          <a:ln w="12700">
            <a:solidFill>
              <a:srgbClr val="1D3557"/>
            </a:solidFill>
            <a:prstDash val="solid"/>
          </a:ln>
        </p:spPr>
      </p:sp>
      <p:sp>
        <p:nvSpPr>
          <p:cNvPr id="72" name="Text 70"/>
          <p:cNvSpPr/>
          <p:nvPr/>
        </p:nvSpPr>
        <p:spPr>
          <a:xfrm>
            <a:off x="8915400" y="4389120"/>
            <a:ext cx="566928" cy="292608"/>
          </a:xfrm>
          <a:prstGeom prst="rect">
            <a:avLst/>
          </a:prstGeom>
          <a:noFill/>
          <a:ln/>
        </p:spPr>
        <p:txBody>
          <a:bodyPr wrap="square" lIns="0" tIns="0" rIns="0" bIns="0" rtlCol="0" anchor="t"/>
          <a:lstStyle/>
          <a:p>
            <a:pPr algn="ctr" indent="0" marL="0">
              <a:buNone/>
            </a:pPr>
            <a:r>
              <a:rPr lang="en-US" sz="1500" b="1" dirty="0">
                <a:solidFill>
                  <a:srgbClr val="1D3557"/>
                </a:solidFill>
                <a:latin typeface="Golos Text" pitchFamily="34" charset="0"/>
                <a:ea typeface="Golos Text" pitchFamily="34" charset="-122"/>
                <a:cs typeface="Golos Text" pitchFamily="34" charset="-120"/>
              </a:rPr>
              <a:t>7</a:t>
            </a:r>
            <a:endParaRPr lang="en-US" sz="1500" dirty="0"/>
          </a:p>
        </p:txBody>
      </p:sp>
      <p:sp>
        <p:nvSpPr>
          <p:cNvPr id="73" name="Shape 71"/>
          <p:cNvSpPr/>
          <p:nvPr/>
        </p:nvSpPr>
        <p:spPr>
          <a:xfrm>
            <a:off x="9555480" y="2615184"/>
            <a:ext cx="384048" cy="1728216"/>
          </a:xfrm>
          <a:prstGeom prst="roundRect">
            <a:avLst>
              <a:gd name="adj" fmla="val 8000"/>
            </a:avLst>
          </a:prstGeom>
          <a:solidFill>
            <a:srgbClr val="E7EAF2"/>
          </a:solidFill>
          <a:ln w="12700">
            <a:solidFill>
              <a:srgbClr val="1D3557"/>
            </a:solidFill>
            <a:prstDash val="solid"/>
          </a:ln>
        </p:spPr>
      </p:sp>
      <p:sp>
        <p:nvSpPr>
          <p:cNvPr id="74" name="Text 72"/>
          <p:cNvSpPr/>
          <p:nvPr/>
        </p:nvSpPr>
        <p:spPr>
          <a:xfrm>
            <a:off x="9464040" y="4389120"/>
            <a:ext cx="566928" cy="292608"/>
          </a:xfrm>
          <a:prstGeom prst="rect">
            <a:avLst/>
          </a:prstGeom>
          <a:noFill/>
          <a:ln/>
        </p:spPr>
        <p:txBody>
          <a:bodyPr wrap="square" lIns="0" tIns="0" rIns="0" bIns="0" rtlCol="0" anchor="t"/>
          <a:lstStyle/>
          <a:p>
            <a:pPr algn="ctr" indent="0" marL="0">
              <a:buNone/>
            </a:pPr>
            <a:r>
              <a:rPr lang="en-US" sz="1500" b="1" dirty="0">
                <a:solidFill>
                  <a:srgbClr val="1D3557"/>
                </a:solidFill>
                <a:latin typeface="Golos Text" pitchFamily="34" charset="0"/>
                <a:ea typeface="Golos Text" pitchFamily="34" charset="-122"/>
                <a:cs typeface="Golos Text" pitchFamily="34" charset="-120"/>
              </a:rPr>
              <a:t>7</a:t>
            </a:r>
            <a:endParaRPr lang="en-US" sz="1500" dirty="0"/>
          </a:p>
        </p:txBody>
      </p:sp>
      <p:sp>
        <p:nvSpPr>
          <p:cNvPr id="75" name="Shape 73"/>
          <p:cNvSpPr/>
          <p:nvPr/>
        </p:nvSpPr>
        <p:spPr>
          <a:xfrm>
            <a:off x="10104120" y="2121408"/>
            <a:ext cx="384048" cy="2221992"/>
          </a:xfrm>
          <a:prstGeom prst="roundRect">
            <a:avLst>
              <a:gd name="adj" fmla="val 8000"/>
            </a:avLst>
          </a:prstGeom>
          <a:solidFill>
            <a:srgbClr val="E7EAF2"/>
          </a:solidFill>
          <a:ln w="12700">
            <a:solidFill>
              <a:srgbClr val="1D3557"/>
            </a:solidFill>
            <a:prstDash val="solid"/>
          </a:ln>
        </p:spPr>
      </p:sp>
      <p:sp>
        <p:nvSpPr>
          <p:cNvPr id="76" name="anim7_g"/>
          <p:cNvSpPr/>
          <p:nvPr/>
        </p:nvSpPr>
        <p:spPr>
          <a:xfrm>
            <a:off x="10104120" y="2121408"/>
            <a:ext cx="384048" cy="2221992"/>
          </a:xfrm>
          <a:prstGeom prst="roundRect">
            <a:avLst>
              <a:gd name="adj" fmla="val 8000"/>
            </a:avLst>
          </a:prstGeom>
          <a:solidFill>
            <a:srgbClr val="F5EBE3"/>
          </a:solidFill>
          <a:ln w="25400">
            <a:solidFill>
              <a:srgbClr val="A84400"/>
            </a:solidFill>
            <a:prstDash val="solid"/>
          </a:ln>
        </p:spPr>
      </p:sp>
      <p:sp>
        <p:nvSpPr>
          <p:cNvPr id="77" name="Text 75"/>
          <p:cNvSpPr/>
          <p:nvPr/>
        </p:nvSpPr>
        <p:spPr>
          <a:xfrm>
            <a:off x="10012680" y="4389120"/>
            <a:ext cx="566928" cy="292608"/>
          </a:xfrm>
          <a:prstGeom prst="rect">
            <a:avLst/>
          </a:prstGeom>
          <a:noFill/>
          <a:ln/>
        </p:spPr>
        <p:txBody>
          <a:bodyPr wrap="square" lIns="0" tIns="0" rIns="0" bIns="0" rtlCol="0" anchor="t"/>
          <a:lstStyle/>
          <a:p>
            <a:pPr algn="ctr" indent="0" marL="0">
              <a:buNone/>
            </a:pPr>
            <a:r>
              <a:rPr lang="en-US" sz="1500" b="1" dirty="0">
                <a:solidFill>
                  <a:srgbClr val="1D3557"/>
                </a:solidFill>
                <a:latin typeface="Golos Text" pitchFamily="34" charset="0"/>
                <a:ea typeface="Golos Text" pitchFamily="34" charset="-122"/>
                <a:cs typeface="Golos Text" pitchFamily="34" charset="-120"/>
              </a:rPr>
              <a:t>9</a:t>
            </a:r>
            <a:endParaRPr lang="en-US" sz="1500" dirty="0"/>
          </a:p>
        </p:txBody>
      </p:sp>
      <p:sp>
        <p:nvSpPr>
          <p:cNvPr id="78" name="Shape 76"/>
          <p:cNvSpPr/>
          <p:nvPr/>
        </p:nvSpPr>
        <p:spPr>
          <a:xfrm>
            <a:off x="10652760" y="3602736"/>
            <a:ext cx="384048" cy="740664"/>
          </a:xfrm>
          <a:prstGeom prst="roundRect">
            <a:avLst>
              <a:gd name="adj" fmla="val 8000"/>
            </a:avLst>
          </a:prstGeom>
          <a:solidFill>
            <a:srgbClr val="E7EAF2"/>
          </a:solidFill>
          <a:ln w="12700">
            <a:solidFill>
              <a:srgbClr val="1D3557"/>
            </a:solidFill>
            <a:prstDash val="solid"/>
          </a:ln>
        </p:spPr>
      </p:sp>
      <p:sp>
        <p:nvSpPr>
          <p:cNvPr id="79" name="anim7_g"/>
          <p:cNvSpPr/>
          <p:nvPr/>
        </p:nvSpPr>
        <p:spPr>
          <a:xfrm>
            <a:off x="10652760" y="3602736"/>
            <a:ext cx="384048" cy="740664"/>
          </a:xfrm>
          <a:prstGeom prst="roundRect">
            <a:avLst>
              <a:gd name="adj" fmla="val 8000"/>
            </a:avLst>
          </a:prstGeom>
          <a:solidFill>
            <a:srgbClr val="D1E7E1"/>
          </a:solidFill>
          <a:ln w="25400">
            <a:solidFill>
              <a:srgbClr val="007A5A"/>
            </a:solidFill>
            <a:prstDash val="solid"/>
          </a:ln>
        </p:spPr>
      </p:sp>
      <p:sp>
        <p:nvSpPr>
          <p:cNvPr id="80" name="Text 78"/>
          <p:cNvSpPr/>
          <p:nvPr/>
        </p:nvSpPr>
        <p:spPr>
          <a:xfrm>
            <a:off x="10561320" y="4389120"/>
            <a:ext cx="566928" cy="292608"/>
          </a:xfrm>
          <a:prstGeom prst="rect">
            <a:avLst/>
          </a:prstGeom>
          <a:noFill/>
          <a:ln/>
        </p:spPr>
        <p:txBody>
          <a:bodyPr wrap="square" lIns="0" tIns="0" rIns="0" bIns="0" rtlCol="0" anchor="t"/>
          <a:lstStyle/>
          <a:p>
            <a:pPr algn="ctr" indent="0" marL="0">
              <a:buNone/>
            </a:pPr>
            <a:r>
              <a:rPr lang="en-US" sz="1500" b="1" dirty="0">
                <a:solidFill>
                  <a:srgbClr val="1D3557"/>
                </a:solidFill>
                <a:latin typeface="Golos Text" pitchFamily="34" charset="0"/>
                <a:ea typeface="Golos Text" pitchFamily="34" charset="-122"/>
                <a:cs typeface="Golos Text" pitchFamily="34" charset="-120"/>
              </a:rPr>
              <a:t>3</a:t>
            </a:r>
            <a:endParaRPr lang="en-US" sz="1500" dirty="0"/>
          </a:p>
        </p:txBody>
      </p:sp>
      <p:sp>
        <p:nvSpPr>
          <p:cNvPr id="81" name="anim7_g"/>
          <p:cNvSpPr/>
          <p:nvPr/>
        </p:nvSpPr>
        <p:spPr>
          <a:xfrm>
            <a:off x="8366760" y="2121408"/>
            <a:ext cx="2971800" cy="0"/>
          </a:xfrm>
          <a:prstGeom prst="line">
            <a:avLst/>
          </a:prstGeom>
          <a:noFill/>
          <a:ln w="19050">
            <a:solidFill>
              <a:srgbClr val="A84400"/>
            </a:solidFill>
            <a:prstDash val="dash"/>
          </a:ln>
        </p:spPr>
      </p:sp>
      <p:sp>
        <p:nvSpPr>
          <p:cNvPr id="82" name="anim7_g"/>
          <p:cNvSpPr/>
          <p:nvPr/>
        </p:nvSpPr>
        <p:spPr>
          <a:xfrm>
            <a:off x="8366760" y="3602736"/>
            <a:ext cx="2971800" cy="0"/>
          </a:xfrm>
          <a:prstGeom prst="line">
            <a:avLst/>
          </a:prstGeom>
          <a:noFill/>
          <a:ln w="19050">
            <a:solidFill>
              <a:srgbClr val="007A5A"/>
            </a:solidFill>
            <a:prstDash val="dash"/>
          </a:ln>
        </p:spPr>
      </p:sp>
      <p:sp>
        <p:nvSpPr>
          <p:cNvPr id="83" name="anim7_g"/>
          <p:cNvSpPr/>
          <p:nvPr/>
        </p:nvSpPr>
        <p:spPr>
          <a:xfrm>
            <a:off x="11247120" y="2121408"/>
            <a:ext cx="0" cy="1481328"/>
          </a:xfrm>
          <a:prstGeom prst="line">
            <a:avLst/>
          </a:prstGeom>
          <a:noFill/>
          <a:ln w="31750">
            <a:solidFill>
              <a:srgbClr val="1D3557"/>
            </a:solidFill>
            <a:prstDash val="solid"/>
          </a:ln>
        </p:spPr>
      </p:sp>
      <p:sp>
        <p:nvSpPr>
          <p:cNvPr id="84" name="anim7_g"/>
          <p:cNvSpPr/>
          <p:nvPr/>
        </p:nvSpPr>
        <p:spPr>
          <a:xfrm>
            <a:off x="11301984" y="2679192"/>
            <a:ext cx="274320" cy="365760"/>
          </a:xfrm>
          <a:prstGeom prst="rect">
            <a:avLst/>
          </a:prstGeom>
          <a:noFill/>
          <a:ln/>
        </p:spPr>
        <p:txBody>
          <a:bodyPr wrap="square" lIns="0" tIns="0" rIns="0" bIns="0" rtlCol="0" anchor="t"/>
          <a:lstStyle/>
          <a:p>
            <a:pPr algn="l" indent="0" marL="0">
              <a:buNone/>
            </a:pPr>
            <a:r>
              <a:rPr lang="en-US" sz="1800" b="1" dirty="0">
                <a:solidFill>
                  <a:srgbClr val="1D3557"/>
                </a:solidFill>
                <a:latin typeface="Golos Text" pitchFamily="34" charset="0"/>
                <a:ea typeface="Golos Text" pitchFamily="34" charset="-122"/>
                <a:cs typeface="Golos Text" pitchFamily="34" charset="-120"/>
              </a:rPr>
              <a:t>?</a:t>
            </a:r>
            <a:endParaRPr lang="en-US" sz="1800" dirty="0"/>
          </a:p>
        </p:txBody>
      </p:sp>
      <p:sp>
        <p:nvSpPr>
          <p:cNvPr id="85" name="anim8_r"/>
          <p:cNvSpPr/>
          <p:nvPr/>
        </p:nvSpPr>
        <p:spPr>
          <a:xfrm>
            <a:off x="8366760" y="4800600"/>
            <a:ext cx="3246120" cy="594360"/>
          </a:xfrm>
          <a:prstGeom prst="roundRect">
            <a:avLst>
              <a:gd name="adj" fmla="val 30000"/>
            </a:avLst>
          </a:prstGeom>
          <a:solidFill>
            <a:srgbClr val="D1E7E1"/>
          </a:solidFill>
          <a:ln w="28575">
            <a:solidFill>
              <a:srgbClr val="007A5A"/>
            </a:solidFill>
            <a:prstDash val="solid"/>
          </a:ln>
        </p:spPr>
        <p:txBody>
          <a:bodyPr wrap="square" lIns="76200" tIns="76200" rIns="76200" bIns="76200" rtlCol="0" anchor="ctr"/>
          <a:lstStyle/>
          <a:p>
            <a:pPr algn="ctr" indent="0" marL="0">
              <a:buNone/>
            </a:pPr>
            <a:r>
              <a:rPr lang="en-US" sz="1900" b="1" dirty="0">
                <a:solidFill>
                  <a:srgbClr val="007A5A"/>
                </a:solidFill>
                <a:latin typeface="Golos Text" pitchFamily="34" charset="0"/>
                <a:ea typeface="Golos Text" pitchFamily="34" charset="-122"/>
                <a:cs typeface="Golos Text" pitchFamily="34" charset="-120"/>
              </a:rPr>
              <a:t>9 − 3 = 6</a:t>
            </a:r>
            <a:endParaRPr lang="en-US" sz="1900" dirty="0"/>
          </a:p>
        </p:txBody>
      </p:sp>
      <p:sp>
        <p:nvSpPr>
          <p:cNvPr id="86" name="anim8_r"/>
          <p:cNvSpPr/>
          <p:nvPr/>
        </p:nvSpPr>
        <p:spPr>
          <a:xfrm>
            <a:off x="8366760" y="5486400"/>
            <a:ext cx="3246120" cy="640080"/>
          </a:xfrm>
          <a:prstGeom prst="rect">
            <a:avLst/>
          </a:prstGeom>
          <a:noFill/>
          <a:ln/>
        </p:spPr>
        <p:txBody>
          <a:bodyPr wrap="square" lIns="0" tIns="0" rIns="0" bIns="0" rtlCol="0" anchor="t"/>
          <a:lstStyle/>
          <a:p>
            <a:pPr algn="l" indent="0" marL="0">
              <a:buNone/>
            </a:pPr>
            <a:r>
              <a:rPr lang="en-US" sz="1400" i="1" dirty="0">
                <a:solidFill>
                  <a:srgbClr val="4A5A70"/>
                </a:solidFill>
                <a:latin typeface="Golos Text" pitchFamily="34" charset="0"/>
                <a:ea typeface="Golos Text" pitchFamily="34" charset="-122"/>
                <a:cs typeface="Golos Text" pitchFamily="34" charset="-120"/>
              </a:rPr>
              <a:t>Кулач = 6: сандар канчалык чачыранды.</a:t>
            </a:r>
            <a:endParaRPr lang="en-US" sz="1400" dirty="0"/>
          </a:p>
        </p:txBody>
      </p:sp>
      <p:sp>
        <p:nvSpPr>
          <p:cNvPr id="87" name="Slide Number Placeholder 0"/>
          <p:cNvSpPr>
            <a:spLocks noGrp="1"/>
          </p:cNvSpPr>
          <p:nvPr>
            <p:ph type="sldNum" sz="quarter" idx="4294967295"/>
          </p:nvPr>
        </p:nvSpPr>
        <p:spPr>
          <a:xfrm>
            <a:off x="11384280" y="6492240"/>
            <a:ext cx="438912"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99AA"/>
                </a:solidFill>
                <a:latin typeface="Golos Text"/>
                <a:ea typeface="Golos Text"/>
                <a:cs typeface="Golos Text"/>
              </a:defRPr>
            </a:lvl1pPr>
          </a:lstStyle>
          <a:p>
            <a:pPr algn="r"/>
            <a:fld id="{F7021451-1387-4CA6-816F-3879F97B5CBC}" type="slidenum">
              <a:rPr b="0" lang="en-US"/>
              <a:t>12</a:t>
            </a:fld>
            <a:endParaRPr lang="en-US"/>
          </a:p>
        </p:txBody>
      </p:sp>
    </p:spTree>
  </p:cSld>
  <p:clrMapOvr>
    <a:masterClrMapping/>
  </p:clrMapOvr>
  <p:timing>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4"/>
                                        </p:tgtEl>
                                        <p:attrNameLst>
                                          <p:attrName>style.visibility</p:attrName>
                                        </p:attrNameLst>
                                      </p:cBhvr>
                                      <p:to>
                                        <p:strVal val="visible"/>
                                      </p:to>
                                    </p:set>
                                    <p:animEffect transition="in" filter="fade">
                                      <p:cBhvr>
                                        <p:cTn id="5" dur="600"/>
                                        <p:tgtEl>
                                          <p:spTgt spid="2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5"/>
                                        </p:tgtEl>
                                        <p:attrNameLst>
                                          <p:attrName>style.visibility</p:attrName>
                                        </p:attrNameLst>
                                      </p:cBhvr>
                                      <p:to>
                                        <p:strVal val="visible"/>
                                      </p:to>
                                    </p:set>
                                    <p:animEffect transition="in" filter="fade">
                                      <p:cBhvr>
                                        <p:cTn id="8" dur="600"/>
                                        <p:tgtEl>
                                          <p:spTgt spid="2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600"/>
                                        <p:tgtEl>
                                          <p:spTgt spid="2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fade">
                                      <p:cBhvr>
                                        <p:cTn id="14" dur="600"/>
                                        <p:tgtEl>
                                          <p:spTgt spid="2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600"/>
                                        <p:tgtEl>
                                          <p:spTgt spid="2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600"/>
                                        <p:tgtEl>
                                          <p:spTgt spid="2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600"/>
                                        <p:tgtEl>
                                          <p:spTgt spid="3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fade">
                                      <p:cBhvr>
                                        <p:cTn id="26" dur="600"/>
                                        <p:tgtEl>
                                          <p:spTgt spid="31"/>
                                        </p:tgtEl>
                                      </p:cBhvr>
                                    </p:animEffect>
                                  </p:childTnLst>
                                </p:cTn>
                              </p:par>
                            </p:childTnLst>
                          </p:cTn>
                        </p:par>
                      </p:childTnLst>
                    </p:cTn>
                  </p:par>
                  <p:par>
                    <p:cTn id="35" fill="hold">
                      <p:stCondLst>
                        <p:cond delay="indefinite"/>
                      </p:stCondLst>
                      <p:childTnLst>
                        <p:par>
                          <p:cTn id="36"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600"/>
                                        <p:tgtEl>
                                          <p:spTgt spid="3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fade">
                                      <p:cBhvr>
                                        <p:cTn id="34" dur="600"/>
                                        <p:tgtEl>
                                          <p:spTgt spid="33"/>
                                        </p:tgtEl>
                                      </p:cBhvr>
                                    </p:animEffect>
                                  </p:childTnLst>
                                </p:cTn>
                              </p:par>
                            </p:childTnLst>
                          </p:cTn>
                        </p:par>
                      </p:childTnLst>
                    </p:cTn>
                  </p:par>
                  <p:par>
                    <p:cTn id="61" fill="hold">
                      <p:stCondLst>
                        <p:cond delay="indefinite"/>
                      </p:stCondLst>
                      <p:childTnLst>
                        <p:par>
                          <p:cTn id="62"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fade">
                                      <p:cBhvr>
                                        <p:cTn id="39" dur="600"/>
                                        <p:tgtEl>
                                          <p:spTgt spid="3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600"/>
                                        <p:tgtEl>
                                          <p:spTgt spid="3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animEffect transition="in" filter="fade">
                                      <p:cBhvr>
                                        <p:cTn id="45" dur="600"/>
                                        <p:tgtEl>
                                          <p:spTgt spid="3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fade">
                                      <p:cBhvr>
                                        <p:cTn id="48" dur="600"/>
                                        <p:tgtEl>
                                          <p:spTgt spid="3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8"/>
                                        </p:tgtEl>
                                        <p:attrNameLst>
                                          <p:attrName>style.visibility</p:attrName>
                                        </p:attrNameLst>
                                      </p:cBhvr>
                                      <p:to>
                                        <p:strVal val="visible"/>
                                      </p:to>
                                    </p:set>
                                    <p:animEffect transition="in" filter="fade">
                                      <p:cBhvr>
                                        <p:cTn id="51" dur="600"/>
                                        <p:tgtEl>
                                          <p:spTgt spid="3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9"/>
                                        </p:tgtEl>
                                        <p:attrNameLst>
                                          <p:attrName>style.visibility</p:attrName>
                                        </p:attrNameLst>
                                      </p:cBhvr>
                                      <p:to>
                                        <p:strVal val="visible"/>
                                      </p:to>
                                    </p:set>
                                    <p:animEffect transition="in" filter="fade">
                                      <p:cBhvr>
                                        <p:cTn id="54" dur="600"/>
                                        <p:tgtEl>
                                          <p:spTgt spid="3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fade">
                                      <p:cBhvr>
                                        <p:cTn id="57" dur="600"/>
                                        <p:tgtEl>
                                          <p:spTgt spid="4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1"/>
                                        </p:tgtEl>
                                        <p:attrNameLst>
                                          <p:attrName>style.visibility</p:attrName>
                                        </p:attrNameLst>
                                      </p:cBhvr>
                                      <p:to>
                                        <p:strVal val="visible"/>
                                      </p:to>
                                    </p:set>
                                    <p:animEffect transition="in" filter="fade">
                                      <p:cBhvr>
                                        <p:cTn id="60" dur="600"/>
                                        <p:tgtEl>
                                          <p:spTgt spid="41"/>
                                        </p:tgtEl>
                                      </p:cBhvr>
                                    </p:animEffect>
                                  </p:childTnLst>
                                </p:cTn>
                              </p:par>
                            </p:childTnLst>
                          </p:cTn>
                        </p:par>
                      </p:childTnLst>
                    </p:cTn>
                  </p:par>
                  <p:par>
                    <p:cTn id="69" fill="hold">
                      <p:stCondLst>
                        <p:cond delay="indefinite"/>
                      </p:stCondLst>
                      <p:childTnLst>
                        <p:par>
                          <p:cTn id="70"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42"/>
                                        </p:tgtEl>
                                        <p:attrNameLst>
                                          <p:attrName>style.visibility</p:attrName>
                                        </p:attrNameLst>
                                      </p:cBhvr>
                                      <p:to>
                                        <p:strVal val="visible"/>
                                      </p:to>
                                    </p:set>
                                    <p:animEffect transition="in" filter="fade">
                                      <p:cBhvr>
                                        <p:cTn id="65" dur="600"/>
                                        <p:tgtEl>
                                          <p:spTgt spid="42"/>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3"/>
                                        </p:tgtEl>
                                        <p:attrNameLst>
                                          <p:attrName>style.visibility</p:attrName>
                                        </p:attrNameLst>
                                      </p:cBhvr>
                                      <p:to>
                                        <p:strVal val="visible"/>
                                      </p:to>
                                    </p:set>
                                    <p:animEffect transition="in" filter="fade">
                                      <p:cBhvr>
                                        <p:cTn id="68" dur="600"/>
                                        <p:tgtEl>
                                          <p:spTgt spid="43"/>
                                        </p:tgtEl>
                                      </p:cBhvr>
                                    </p:animEffect>
                                  </p:childTnLst>
                                </p:cTn>
                              </p:par>
                            </p:childTnLst>
                          </p:cTn>
                        </p:par>
                      </p:childTnLst>
                    </p:cTn>
                  </p:par>
                  <p:par>
                    <p:cTn id="86" fill="hold">
                      <p:stCondLst>
                        <p:cond delay="indefinite"/>
                      </p:stCondLst>
                      <p:childTnLst>
                        <p:par>
                          <p:cTn id="87"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60"/>
                                        </p:tgtEl>
                                        <p:attrNameLst>
                                          <p:attrName>style.visibility</p:attrName>
                                        </p:attrNameLst>
                                      </p:cBhvr>
                                      <p:to>
                                        <p:strVal val="visible"/>
                                      </p:to>
                                    </p:set>
                                    <p:animEffect transition="in" filter="fade">
                                      <p:cBhvr>
                                        <p:cTn id="73" dur="600"/>
                                        <p:tgtEl>
                                          <p:spTgt spid="60"/>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61"/>
                                        </p:tgtEl>
                                        <p:attrNameLst>
                                          <p:attrName>style.visibility</p:attrName>
                                        </p:attrNameLst>
                                      </p:cBhvr>
                                      <p:to>
                                        <p:strVal val="visible"/>
                                      </p:to>
                                    </p:set>
                                    <p:animEffect transition="in" filter="fade">
                                      <p:cBhvr>
                                        <p:cTn id="76" dur="600"/>
                                        <p:tgtEl>
                                          <p:spTgt spid="61"/>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62"/>
                                        </p:tgtEl>
                                        <p:attrNameLst>
                                          <p:attrName>style.visibility</p:attrName>
                                        </p:attrNameLst>
                                      </p:cBhvr>
                                      <p:to>
                                        <p:strVal val="visible"/>
                                      </p:to>
                                    </p:set>
                                    <p:animEffect transition="in" filter="fade">
                                      <p:cBhvr>
                                        <p:cTn id="79" dur="600"/>
                                        <p:tgtEl>
                                          <p:spTgt spid="62"/>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63"/>
                                        </p:tgtEl>
                                        <p:attrNameLst>
                                          <p:attrName>style.visibility</p:attrName>
                                        </p:attrNameLst>
                                      </p:cBhvr>
                                      <p:to>
                                        <p:strVal val="visible"/>
                                      </p:to>
                                    </p:set>
                                    <p:animEffect transition="in" filter="fade">
                                      <p:cBhvr>
                                        <p:cTn id="82" dur="600"/>
                                        <p:tgtEl>
                                          <p:spTgt spid="63"/>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64"/>
                                        </p:tgtEl>
                                        <p:attrNameLst>
                                          <p:attrName>style.visibility</p:attrName>
                                        </p:attrNameLst>
                                      </p:cBhvr>
                                      <p:to>
                                        <p:strVal val="visible"/>
                                      </p:to>
                                    </p:set>
                                    <p:animEffect transition="in" filter="fade">
                                      <p:cBhvr>
                                        <p:cTn id="85" dur="600"/>
                                        <p:tgtEl>
                                          <p:spTgt spid="64"/>
                                        </p:tgtEl>
                                      </p:cBhvr>
                                    </p:animEffect>
                                  </p:childTnLst>
                                </p:cTn>
                              </p:par>
                            </p:childTnLst>
                          </p:cTn>
                        </p:par>
                      </p:childTnLst>
                    </p:cTn>
                  </p:par>
                  <p:par>
                    <p:cTn id="100" fill="hold">
                      <p:stCondLst>
                        <p:cond delay="indefinite"/>
                      </p:stCondLst>
                      <p:childTnLst>
                        <p:par>
                          <p:cTn id="101"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65"/>
                                        </p:tgtEl>
                                        <p:attrNameLst>
                                          <p:attrName>style.visibility</p:attrName>
                                        </p:attrNameLst>
                                      </p:cBhvr>
                                      <p:to>
                                        <p:strVal val="visible"/>
                                      </p:to>
                                    </p:set>
                                    <p:animEffect transition="in" filter="fade">
                                      <p:cBhvr>
                                        <p:cTn id="90" dur="600"/>
                                        <p:tgtEl>
                                          <p:spTgt spid="65"/>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66"/>
                                        </p:tgtEl>
                                        <p:attrNameLst>
                                          <p:attrName>style.visibility</p:attrName>
                                        </p:attrNameLst>
                                      </p:cBhvr>
                                      <p:to>
                                        <p:strVal val="visible"/>
                                      </p:to>
                                    </p:set>
                                    <p:animEffect transition="in" filter="fade">
                                      <p:cBhvr>
                                        <p:cTn id="93" dur="600"/>
                                        <p:tgtEl>
                                          <p:spTgt spid="66"/>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67"/>
                                        </p:tgtEl>
                                        <p:attrNameLst>
                                          <p:attrName>style.visibility</p:attrName>
                                        </p:attrNameLst>
                                      </p:cBhvr>
                                      <p:to>
                                        <p:strVal val="visible"/>
                                      </p:to>
                                    </p:set>
                                    <p:animEffect transition="in" filter="fade">
                                      <p:cBhvr>
                                        <p:cTn id="96" dur="600"/>
                                        <p:tgtEl>
                                          <p:spTgt spid="67"/>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68"/>
                                        </p:tgtEl>
                                        <p:attrNameLst>
                                          <p:attrName>style.visibility</p:attrName>
                                        </p:attrNameLst>
                                      </p:cBhvr>
                                      <p:to>
                                        <p:strVal val="visible"/>
                                      </p:to>
                                    </p:set>
                                    <p:animEffect transition="in" filter="fade">
                                      <p:cBhvr>
                                        <p:cTn id="99" dur="600"/>
                                        <p:tgtEl>
                                          <p:spTgt spid="68"/>
                                        </p:tgtEl>
                                      </p:cBhvr>
                                    </p:animEffect>
                                  </p:childTnLst>
                                </p:cTn>
                              </p:par>
                            </p:childTnLst>
                          </p:cTn>
                        </p:par>
                      </p:childTnLst>
                    </p:cTn>
                  </p:par>
                  <p:par>
                    <p:cTn id="120" fill="hold">
                      <p:stCondLst>
                        <p:cond delay="indefinite"/>
                      </p:stCondLst>
                      <p:childTnLst>
                        <p:par>
                          <p:cTn id="12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76"/>
                                        </p:tgtEl>
                                        <p:attrNameLst>
                                          <p:attrName>style.visibility</p:attrName>
                                        </p:attrNameLst>
                                      </p:cBhvr>
                                      <p:to>
                                        <p:strVal val="visible"/>
                                      </p:to>
                                    </p:set>
                                    <p:animEffect transition="in" filter="fade">
                                      <p:cBhvr>
                                        <p:cTn id="104" dur="600"/>
                                        <p:tgtEl>
                                          <p:spTgt spid="76"/>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79"/>
                                        </p:tgtEl>
                                        <p:attrNameLst>
                                          <p:attrName>style.visibility</p:attrName>
                                        </p:attrNameLst>
                                      </p:cBhvr>
                                      <p:to>
                                        <p:strVal val="visible"/>
                                      </p:to>
                                    </p:set>
                                    <p:animEffect transition="in" filter="fade">
                                      <p:cBhvr>
                                        <p:cTn id="107" dur="600"/>
                                        <p:tgtEl>
                                          <p:spTgt spid="79"/>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81"/>
                                        </p:tgtEl>
                                        <p:attrNameLst>
                                          <p:attrName>style.visibility</p:attrName>
                                        </p:attrNameLst>
                                      </p:cBhvr>
                                      <p:to>
                                        <p:strVal val="visible"/>
                                      </p:to>
                                    </p:set>
                                    <p:animEffect transition="in" filter="fade">
                                      <p:cBhvr>
                                        <p:cTn id="110" dur="600"/>
                                        <p:tgtEl>
                                          <p:spTgt spid="81"/>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82"/>
                                        </p:tgtEl>
                                        <p:attrNameLst>
                                          <p:attrName>style.visibility</p:attrName>
                                        </p:attrNameLst>
                                      </p:cBhvr>
                                      <p:to>
                                        <p:strVal val="visible"/>
                                      </p:to>
                                    </p:set>
                                    <p:animEffect transition="in" filter="fade">
                                      <p:cBhvr>
                                        <p:cTn id="113" dur="600"/>
                                        <p:tgtEl>
                                          <p:spTgt spid="82"/>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83"/>
                                        </p:tgtEl>
                                        <p:attrNameLst>
                                          <p:attrName>style.visibility</p:attrName>
                                        </p:attrNameLst>
                                      </p:cBhvr>
                                      <p:to>
                                        <p:strVal val="visible"/>
                                      </p:to>
                                    </p:set>
                                    <p:animEffect transition="in" filter="fade">
                                      <p:cBhvr>
                                        <p:cTn id="116" dur="600"/>
                                        <p:tgtEl>
                                          <p:spTgt spid="83"/>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84"/>
                                        </p:tgtEl>
                                        <p:attrNameLst>
                                          <p:attrName>style.visibility</p:attrName>
                                        </p:attrNameLst>
                                      </p:cBhvr>
                                      <p:to>
                                        <p:strVal val="visible"/>
                                      </p:to>
                                    </p:set>
                                    <p:animEffect transition="in" filter="fade">
                                      <p:cBhvr>
                                        <p:cTn id="119" dur="600"/>
                                        <p:tgtEl>
                                          <p:spTgt spid="84"/>
                                        </p:tgtEl>
                                      </p:cBhvr>
                                    </p:animEffect>
                                  </p:childTnLst>
                                </p:cTn>
                              </p:par>
                            </p:childTnLst>
                          </p:cTn>
                        </p:par>
                      </p:childTnLst>
                    </p:cTn>
                  </p:par>
                  <p:par>
                    <p:cTn id="128" fill="hold">
                      <p:stCondLst>
                        <p:cond delay="indefinite"/>
                      </p:stCondLst>
                      <p:childTnLst>
                        <p:par>
                          <p:cTn id="129" fill="hold">
                            <p:stCondLst>
                              <p:cond delay="0"/>
                            </p:stCondLst>
                            <p:childTnLst>
                              <p:par>
                                <p:cTn id="122" presetID="10" presetClass="entr" presetSubtype="0" fill="hold" grpId="0" nodeType="clickEffect">
                                  <p:stCondLst>
                                    <p:cond delay="0"/>
                                  </p:stCondLst>
                                  <p:childTnLst>
                                    <p:set>
                                      <p:cBhvr>
                                        <p:cTn id="123" dur="1" fill="hold">
                                          <p:stCondLst>
                                            <p:cond delay="0"/>
                                          </p:stCondLst>
                                        </p:cTn>
                                        <p:tgtEl>
                                          <p:spTgt spid="85"/>
                                        </p:tgtEl>
                                        <p:attrNameLst>
                                          <p:attrName>style.visibility</p:attrName>
                                        </p:attrNameLst>
                                      </p:cBhvr>
                                      <p:to>
                                        <p:strVal val="visible"/>
                                      </p:to>
                                    </p:set>
                                    <p:animEffect transition="in" filter="fade">
                                      <p:cBhvr>
                                        <p:cTn id="124" dur="600"/>
                                        <p:tgtEl>
                                          <p:spTgt spid="85"/>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86"/>
                                        </p:tgtEl>
                                        <p:attrNameLst>
                                          <p:attrName>style.visibility</p:attrName>
                                        </p:attrNameLst>
                                      </p:cBhvr>
                                      <p:to>
                                        <p:strVal val="visible"/>
                                      </p:to>
                                    </p:set>
                                    <p:animEffect transition="in" filter="fade">
                                      <p:cBhvr>
                                        <p:cTn id="127" dur="6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35" grpId="0" animBg="1"/>
      <p:bldP spid="36" grpId="0" animBg="1"/>
      <p:bldP spid="37" grpId="0" animBg="1"/>
      <p:bldP spid="38" grpId="0" animBg="1"/>
      <p:bldP spid="39" grpId="0" animBg="1"/>
      <p:bldP spid="40" grpId="0" animBg="1"/>
      <p:bldP spid="42" grpId="0" animBg="1"/>
      <p:bldP spid="43" grpId="0" animBg="1"/>
      <p:bldP spid="66" grpId="0" animBg="1"/>
      <p:bldP spid="67" grpId="0" animBg="1"/>
      <p:bldP spid="68" grpId="0" animBg="1"/>
      <p:bldP spid="84" grpId="0" animBg="1"/>
      <p:bldP spid="85" grpId="0" animBg="1"/>
      <p:bldP spid="8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11457432" cy="640080"/>
          </a:xfrm>
          <a:prstGeom prst="roundRect">
            <a:avLst>
              <a:gd name="adj" fmla="val 22000"/>
            </a:avLst>
          </a:prstGeom>
          <a:solidFill>
            <a:srgbClr val="FFFFFF"/>
          </a:solidFill>
          <a:ln w="19050">
            <a:solidFill>
              <a:srgbClr val="1D3557"/>
            </a:solidFill>
            <a:prstDash val="solid"/>
          </a:ln>
        </p:spPr>
      </p:sp>
      <p:sp>
        <p:nvSpPr>
          <p:cNvPr id="3" name="Shape 1"/>
          <p:cNvSpPr/>
          <p:nvPr/>
        </p:nvSpPr>
        <p:spPr>
          <a:xfrm>
            <a:off x="557784" y="369418"/>
            <a:ext cx="70409" cy="358445"/>
          </a:xfrm>
          <a:prstGeom prst="roundRect">
            <a:avLst>
              <a:gd name="adj" fmla="val 50000"/>
            </a:avLst>
          </a:prstGeom>
          <a:solidFill>
            <a:srgbClr val="007A5A"/>
          </a:solidFill>
          <a:ln/>
        </p:spPr>
      </p:sp>
      <p:sp>
        <p:nvSpPr>
          <p:cNvPr id="4" name="Shape 2"/>
          <p:cNvSpPr/>
          <p:nvPr/>
        </p:nvSpPr>
        <p:spPr>
          <a:xfrm>
            <a:off x="691561" y="369418"/>
            <a:ext cx="70409" cy="358445"/>
          </a:xfrm>
          <a:prstGeom prst="roundRect">
            <a:avLst>
              <a:gd name="adj" fmla="val 50000"/>
            </a:avLst>
          </a:prstGeom>
          <a:solidFill>
            <a:srgbClr val="A84400"/>
          </a:solidFill>
          <a:ln/>
        </p:spPr>
      </p:sp>
      <p:sp>
        <p:nvSpPr>
          <p:cNvPr id="5" name="Shape 3"/>
          <p:cNvSpPr/>
          <p:nvPr/>
        </p:nvSpPr>
        <p:spPr>
          <a:xfrm>
            <a:off x="825337" y="369418"/>
            <a:ext cx="70409" cy="358445"/>
          </a:xfrm>
          <a:prstGeom prst="roundRect">
            <a:avLst>
              <a:gd name="adj" fmla="val 50000"/>
            </a:avLst>
          </a:prstGeom>
          <a:solidFill>
            <a:srgbClr val="24418C"/>
          </a:solidFill>
          <a:ln/>
        </p:spPr>
      </p:sp>
      <p:sp>
        <p:nvSpPr>
          <p:cNvPr id="6" name="Text 4"/>
          <p:cNvSpPr/>
          <p:nvPr/>
        </p:nvSpPr>
        <p:spPr>
          <a:xfrm>
            <a:off x="1096914" y="228600"/>
            <a:ext cx="7589520" cy="640080"/>
          </a:xfrm>
          <a:prstGeom prst="rect">
            <a:avLst/>
          </a:prstGeom>
          <a:noFill/>
          <a:ln/>
        </p:spPr>
        <p:txBody>
          <a:bodyPr wrap="square" lIns="0" tIns="0" rIns="0" bIns="0" rtlCol="0" anchor="ctr"/>
          <a:lstStyle/>
          <a:p>
            <a:pPr algn="l" indent="0" marL="0">
              <a:buNone/>
            </a:pPr>
            <a:r>
              <a:rPr lang="en-US" sz="2200" b="1" dirty="0">
                <a:solidFill>
                  <a:srgbClr val="1D3557"/>
                </a:solidFill>
                <a:latin typeface="Golos Text" pitchFamily="34" charset="0"/>
                <a:ea typeface="Golos Text" pitchFamily="34" charset="-122"/>
                <a:cs typeface="Golos Text" pitchFamily="34" charset="-120"/>
              </a:rPr>
              <a:t>Так аныктамалар: мисал жана мисал эмес</a:t>
            </a:r>
            <a:endParaRPr lang="en-US" sz="2200" dirty="0"/>
          </a:p>
        </p:txBody>
      </p:sp>
      <p:sp>
        <p:nvSpPr>
          <p:cNvPr id="7" name="Text 5"/>
          <p:cNvSpPr/>
          <p:nvPr/>
        </p:nvSpPr>
        <p:spPr>
          <a:xfrm>
            <a:off x="8778240" y="228600"/>
            <a:ext cx="2880360" cy="640080"/>
          </a:xfrm>
          <a:prstGeom prst="rect">
            <a:avLst/>
          </a:prstGeom>
          <a:noFill/>
          <a:ln/>
        </p:spPr>
        <p:txBody>
          <a:bodyPr wrap="square" lIns="0" tIns="0" rIns="0" bIns="0" rtlCol="0" anchor="ctr"/>
          <a:lstStyle/>
          <a:p>
            <a:pPr algn="r" indent="0" marL="0">
              <a:buNone/>
            </a:pPr>
            <a:r>
              <a:rPr lang="en-US" sz="1100" dirty="0">
                <a:solidFill>
                  <a:srgbClr val="4A5A70"/>
                </a:solidFill>
                <a:latin typeface="Golos Text" pitchFamily="34" charset="0"/>
                <a:ea typeface="Golos Text" pitchFamily="34" charset="-122"/>
                <a:cs typeface="Golos Text" pitchFamily="34" charset="-120"/>
              </a:rPr>
              <a:t>Статистика › Төрт өлчөм</a:t>
            </a:r>
            <a:endParaRPr lang="en-US" sz="1100" dirty="0"/>
          </a:p>
        </p:txBody>
      </p:sp>
      <p:sp>
        <p:nvSpPr>
          <p:cNvPr id="8" name="Text 6"/>
          <p:cNvSpPr/>
          <p:nvPr/>
        </p:nvSpPr>
        <p:spPr>
          <a:xfrm>
            <a:off x="411480" y="960120"/>
            <a:ext cx="8412480" cy="329184"/>
          </a:xfrm>
          <a:prstGeom prst="rect">
            <a:avLst/>
          </a:prstGeom>
          <a:noFill/>
          <a:ln/>
        </p:spPr>
        <p:txBody>
          <a:bodyPr wrap="square" lIns="0" tIns="0" rIns="0" bIns="0" rtlCol="0" anchor="t"/>
          <a:lstStyle/>
          <a:p>
            <a:pPr algn="l" indent="0" marL="0">
              <a:buNone/>
            </a:pPr>
            <a:r>
              <a:rPr lang="en-US" sz="1500" i="1" dirty="0">
                <a:solidFill>
                  <a:srgbClr val="4A5A70"/>
                </a:solidFill>
                <a:latin typeface="Golos Text" pitchFamily="34" charset="0"/>
                <a:ea typeface="Golos Text" pitchFamily="34" charset="-122"/>
                <a:cs typeface="Golos Text" pitchFamily="34" charset="-120"/>
              </a:rPr>
              <a:t>Ар бир аныктаманы окуп, «мисал эмес» деген жерде ката кайда экенин тап</a:t>
            </a:r>
            <a:endParaRPr lang="en-US" sz="1500" dirty="0"/>
          </a:p>
        </p:txBody>
      </p:sp>
      <p:sp>
        <p:nvSpPr>
          <p:cNvPr id="9" name="Text 7"/>
          <p:cNvSpPr/>
          <p:nvPr/>
        </p:nvSpPr>
        <p:spPr>
          <a:xfrm>
            <a:off x="8897112" y="969264"/>
            <a:ext cx="2926080" cy="310896"/>
          </a:xfrm>
          <a:prstGeom prst="rect">
            <a:avLst/>
          </a:prstGeom>
          <a:noFill/>
          <a:ln/>
        </p:spPr>
        <p:txBody>
          <a:bodyPr wrap="square" lIns="0" tIns="0" rIns="0" bIns="0" rtlCol="0" anchor="ctr"/>
          <a:lstStyle/>
          <a:p>
            <a:pPr algn="r" indent="0" marL="0">
              <a:buNone/>
            </a:pPr>
            <a:r>
              <a:rPr lang="en-US" sz="1200" dirty="0">
                <a:solidFill>
                  <a:srgbClr val="4A5A70"/>
                </a:solidFill>
                <a:latin typeface="Golos Text" pitchFamily="34" charset="0"/>
                <a:ea typeface="Golos Text" pitchFamily="34" charset="-122"/>
                <a:cs typeface="Golos Text" pitchFamily="34" charset="-120"/>
              </a:rPr>
              <a:t>Түшүнүү · 1,5 мүн</a:t>
            </a:r>
            <a:endParaRPr lang="en-US" sz="1200" dirty="0"/>
          </a:p>
        </p:txBody>
      </p:sp>
      <p:sp>
        <p:nvSpPr>
          <p:cNvPr id="10" name="Text 8"/>
          <p:cNvSpPr/>
          <p:nvPr/>
        </p:nvSpPr>
        <p:spPr>
          <a:xfrm>
            <a:off x="365760" y="6492240"/>
            <a:ext cx="5486400" cy="228600"/>
          </a:xfrm>
          <a:prstGeom prst="rect">
            <a:avLst/>
          </a:prstGeom>
          <a:noFill/>
          <a:ln/>
        </p:spPr>
        <p:txBody>
          <a:bodyPr wrap="square" lIns="0" tIns="0" rIns="0" bIns="0" rtlCol="0" anchor="t"/>
          <a:lstStyle/>
          <a:p>
            <a:pPr algn="l" indent="0" marL="0">
              <a:buNone/>
            </a:pPr>
            <a:r>
              <a:rPr lang="en-US" sz="900" dirty="0">
                <a:solidFill>
                  <a:srgbClr val="8D99AA"/>
                </a:solidFill>
                <a:latin typeface="Golos Text" pitchFamily="34" charset="0"/>
                <a:ea typeface="Golos Text" pitchFamily="34" charset="-122"/>
                <a:cs typeface="Golos Text" pitchFamily="34" charset="-120"/>
              </a:rPr>
              <a:t>MathKG · Математика кыргызча</a:t>
            </a:r>
            <a:endParaRPr lang="en-US" sz="900" dirty="0"/>
          </a:p>
        </p:txBody>
      </p:sp>
      <p:sp>
        <p:nvSpPr>
          <p:cNvPr id="11" name="Text 9"/>
          <p:cNvSpPr/>
          <p:nvPr/>
        </p:nvSpPr>
        <p:spPr>
          <a:xfrm>
            <a:off x="7680960" y="6492240"/>
            <a:ext cx="3657600" cy="228600"/>
          </a:xfrm>
          <a:prstGeom prst="rect">
            <a:avLst/>
          </a:prstGeom>
          <a:noFill/>
          <a:ln/>
        </p:spPr>
        <p:txBody>
          <a:bodyPr wrap="square" lIns="0" tIns="0" rIns="0" bIns="0" rtlCol="0" anchor="t"/>
          <a:lstStyle/>
          <a:p>
            <a:pPr algn="r" indent="0" marL="0">
              <a:buNone/>
            </a:pPr>
            <a:r>
              <a:rPr lang="en-US" sz="900" dirty="0">
                <a:solidFill>
                  <a:srgbClr val="8D99AA"/>
                </a:solidFill>
                <a:latin typeface="Golos Text" pitchFamily="34" charset="0"/>
                <a:ea typeface="Golos Text" pitchFamily="34" charset="-122"/>
                <a:cs typeface="Golos Text" pitchFamily="34" charset="-120"/>
              </a:rPr>
              <a:t>MathKG ыкмасы · 1,5 мүн</a:t>
            </a:r>
            <a:endParaRPr lang="en-US" sz="900" dirty="0"/>
          </a:p>
        </p:txBody>
      </p:sp>
      <p:sp>
        <p:nvSpPr>
          <p:cNvPr id="12" name="Shape 10"/>
          <p:cNvSpPr/>
          <p:nvPr/>
        </p:nvSpPr>
        <p:spPr>
          <a:xfrm>
            <a:off x="365760" y="1417320"/>
            <a:ext cx="11457432" cy="457200"/>
          </a:xfrm>
          <a:prstGeom prst="roundRect">
            <a:avLst>
              <a:gd name="adj" fmla="val 20000"/>
            </a:avLst>
          </a:prstGeom>
          <a:solidFill>
            <a:srgbClr val="1D3557"/>
          </a:solidFill>
          <a:ln/>
        </p:spPr>
      </p:sp>
      <p:sp>
        <p:nvSpPr>
          <p:cNvPr id="13" name="Text 11"/>
          <p:cNvSpPr/>
          <p:nvPr/>
        </p:nvSpPr>
        <p:spPr>
          <a:xfrm>
            <a:off x="475488" y="1417320"/>
            <a:ext cx="1965960" cy="457200"/>
          </a:xfrm>
          <a:prstGeom prst="rect">
            <a:avLst/>
          </a:prstGeom>
          <a:noFill/>
          <a:ln/>
        </p:spPr>
        <p:txBody>
          <a:bodyPr wrap="square" lIns="0" tIns="0" rIns="0" bIns="0" rtlCol="0" anchor="ctr"/>
          <a:lstStyle/>
          <a:p>
            <a:pPr algn="l" indent="0" marL="0">
              <a:buNone/>
            </a:pPr>
            <a:r>
              <a:rPr lang="en-US" sz="1400" b="1" dirty="0">
                <a:solidFill>
                  <a:srgbClr val="FFFFFF"/>
                </a:solidFill>
                <a:latin typeface="Golos Text" pitchFamily="34" charset="0"/>
                <a:ea typeface="Golos Text" pitchFamily="34" charset="-122"/>
                <a:cs typeface="Golos Text" pitchFamily="34" charset="-120"/>
              </a:rPr>
              <a:t>Аталыш</a:t>
            </a:r>
            <a:endParaRPr lang="en-US" sz="1400" dirty="0"/>
          </a:p>
        </p:txBody>
      </p:sp>
      <p:sp>
        <p:nvSpPr>
          <p:cNvPr id="14" name="Text 12"/>
          <p:cNvSpPr/>
          <p:nvPr/>
        </p:nvSpPr>
        <p:spPr>
          <a:xfrm>
            <a:off x="2624328" y="1417320"/>
            <a:ext cx="3429000" cy="457200"/>
          </a:xfrm>
          <a:prstGeom prst="rect">
            <a:avLst/>
          </a:prstGeom>
          <a:noFill/>
          <a:ln/>
        </p:spPr>
        <p:txBody>
          <a:bodyPr wrap="square" lIns="0" tIns="0" rIns="0" bIns="0" rtlCol="0" anchor="ctr"/>
          <a:lstStyle/>
          <a:p>
            <a:pPr algn="l" indent="0" marL="0">
              <a:buNone/>
            </a:pPr>
            <a:r>
              <a:rPr lang="en-US" sz="1400" b="1" dirty="0">
                <a:solidFill>
                  <a:srgbClr val="FFFFFF"/>
                </a:solidFill>
                <a:latin typeface="Golos Text" pitchFamily="34" charset="0"/>
                <a:ea typeface="Golos Text" pitchFamily="34" charset="-122"/>
                <a:cs typeface="Golos Text" pitchFamily="34" charset="-120"/>
              </a:rPr>
              <a:t>Так аныктама</a:t>
            </a:r>
            <a:endParaRPr lang="en-US" sz="1400" dirty="0"/>
          </a:p>
        </p:txBody>
      </p:sp>
      <p:sp>
        <p:nvSpPr>
          <p:cNvPr id="15" name="Text 13"/>
          <p:cNvSpPr/>
          <p:nvPr/>
        </p:nvSpPr>
        <p:spPr>
          <a:xfrm>
            <a:off x="6236208" y="1417320"/>
            <a:ext cx="2331720" cy="457200"/>
          </a:xfrm>
          <a:prstGeom prst="rect">
            <a:avLst/>
          </a:prstGeom>
          <a:noFill/>
          <a:ln/>
        </p:spPr>
        <p:txBody>
          <a:bodyPr wrap="square" lIns="0" tIns="0" rIns="0" bIns="0" rtlCol="0" anchor="ctr"/>
          <a:lstStyle/>
          <a:p>
            <a:pPr algn="l" indent="0" marL="0">
              <a:buNone/>
            </a:pPr>
            <a:r>
              <a:rPr lang="en-US" sz="1400" b="1" dirty="0">
                <a:solidFill>
                  <a:srgbClr val="FFFFFF"/>
                </a:solidFill>
                <a:latin typeface="Golos Text" pitchFamily="34" charset="0"/>
                <a:ea typeface="Golos Text" pitchFamily="34" charset="-122"/>
                <a:cs typeface="Golos Text" pitchFamily="34" charset="-120"/>
              </a:rPr>
              <a:t>Мисал</a:t>
            </a:r>
            <a:endParaRPr lang="en-US" sz="1400" dirty="0"/>
          </a:p>
        </p:txBody>
      </p:sp>
      <p:sp>
        <p:nvSpPr>
          <p:cNvPr id="16" name="Text 14"/>
          <p:cNvSpPr/>
          <p:nvPr/>
        </p:nvSpPr>
        <p:spPr>
          <a:xfrm>
            <a:off x="8750808" y="1417320"/>
            <a:ext cx="2999232" cy="457200"/>
          </a:xfrm>
          <a:prstGeom prst="rect">
            <a:avLst/>
          </a:prstGeom>
          <a:noFill/>
          <a:ln/>
        </p:spPr>
        <p:txBody>
          <a:bodyPr wrap="square" lIns="0" tIns="0" rIns="0" bIns="0" rtlCol="0" anchor="ctr"/>
          <a:lstStyle/>
          <a:p>
            <a:pPr algn="l" indent="0" marL="0">
              <a:buNone/>
            </a:pPr>
            <a:r>
              <a:rPr lang="en-US" sz="1400" b="1" dirty="0">
                <a:solidFill>
                  <a:srgbClr val="FFFFFF"/>
                </a:solidFill>
                <a:latin typeface="Golos Text" pitchFamily="34" charset="0"/>
                <a:ea typeface="Golos Text" pitchFamily="34" charset="-122"/>
                <a:cs typeface="Golos Text" pitchFamily="34" charset="-120"/>
              </a:rPr>
              <a:t>Мисал эмес — эмне үчүн?</a:t>
            </a:r>
            <a:endParaRPr lang="en-US" sz="1400" dirty="0"/>
          </a:p>
        </p:txBody>
      </p:sp>
      <p:sp>
        <p:nvSpPr>
          <p:cNvPr id="17" name="Shape 15"/>
          <p:cNvSpPr/>
          <p:nvPr/>
        </p:nvSpPr>
        <p:spPr>
          <a:xfrm>
            <a:off x="365760" y="1965960"/>
            <a:ext cx="11457432" cy="822960"/>
          </a:xfrm>
          <a:prstGeom prst="roundRect">
            <a:avLst>
              <a:gd name="adj" fmla="val 15000"/>
            </a:avLst>
          </a:prstGeom>
          <a:solidFill>
            <a:srgbClr val="F3F5FB"/>
          </a:solidFill>
          <a:ln w="12700">
            <a:solidFill>
              <a:srgbClr val="E7EAF2"/>
            </a:solidFill>
            <a:prstDash val="solid"/>
          </a:ln>
        </p:spPr>
      </p:sp>
      <p:sp>
        <p:nvSpPr>
          <p:cNvPr id="18" name="Text 16"/>
          <p:cNvSpPr/>
          <p:nvPr/>
        </p:nvSpPr>
        <p:spPr>
          <a:xfrm>
            <a:off x="475488" y="1965960"/>
            <a:ext cx="1965960" cy="822960"/>
          </a:xfrm>
          <a:prstGeom prst="rect">
            <a:avLst/>
          </a:prstGeom>
          <a:noFill/>
          <a:ln/>
        </p:spPr>
        <p:txBody>
          <a:bodyPr wrap="square" lIns="0" tIns="0" rIns="0" bIns="0" rtlCol="0" anchor="ctr"/>
          <a:lstStyle/>
          <a:p>
            <a:pPr algn="l" indent="0" marL="0">
              <a:buNone/>
            </a:pPr>
            <a:r>
              <a:rPr lang="en-US" sz="1500" b="1" dirty="0">
                <a:solidFill>
                  <a:srgbClr val="007A5A"/>
                </a:solidFill>
                <a:latin typeface="Golos Text" pitchFamily="34" charset="0"/>
                <a:ea typeface="Golos Text" pitchFamily="34" charset="-122"/>
                <a:cs typeface="Golos Text" pitchFamily="34" charset="-120"/>
              </a:rPr>
              <a:t>Орточо арифметикалык</a:t>
            </a:r>
            <a:endParaRPr lang="en-US" sz="1500" dirty="0"/>
          </a:p>
        </p:txBody>
      </p:sp>
      <p:sp>
        <p:nvSpPr>
          <p:cNvPr id="19" name="Text 17"/>
          <p:cNvSpPr/>
          <p:nvPr/>
        </p:nvSpPr>
        <p:spPr>
          <a:xfrm>
            <a:off x="2624328" y="1965960"/>
            <a:ext cx="3429000" cy="822960"/>
          </a:xfrm>
          <a:prstGeom prst="rect">
            <a:avLst/>
          </a:prstGeom>
          <a:noFill/>
          <a:ln/>
        </p:spPr>
        <p:txBody>
          <a:bodyPr wrap="square" lIns="0" tIns="0" rIns="0" bIns="0" rtlCol="0" anchor="ctr"/>
          <a:lstStyle/>
          <a:p>
            <a:pPr algn="l" indent="0" marL="0">
              <a:buNone/>
            </a:pPr>
            <a:r>
              <a:rPr lang="en-US" sz="1400" dirty="0">
                <a:solidFill>
                  <a:srgbClr val="1D3557"/>
                </a:solidFill>
                <a:latin typeface="Golos Text" pitchFamily="34" charset="0"/>
                <a:ea typeface="Golos Text" pitchFamily="34" charset="-122"/>
                <a:cs typeface="Golos Text" pitchFamily="34" charset="-120"/>
              </a:rPr>
              <a:t>Сандардын суммасын сандардын санына бөлөбүз.</a:t>
            </a:r>
            <a:endParaRPr lang="en-US" sz="1400" dirty="0"/>
          </a:p>
        </p:txBody>
      </p:sp>
      <p:sp>
        <p:nvSpPr>
          <p:cNvPr id="20" name="Text 18"/>
          <p:cNvSpPr/>
          <p:nvPr/>
        </p:nvSpPr>
        <p:spPr>
          <a:xfrm>
            <a:off x="6236208" y="1965960"/>
            <a:ext cx="2331720" cy="822960"/>
          </a:xfrm>
          <a:prstGeom prst="rect">
            <a:avLst/>
          </a:prstGeom>
          <a:noFill/>
          <a:ln/>
        </p:spPr>
        <p:txBody>
          <a:bodyPr wrap="square" lIns="0" tIns="0" rIns="0" bIns="0" rtlCol="0" anchor="ctr"/>
          <a:lstStyle/>
          <a:p>
            <a:pPr algn="l" indent="0" marL="0">
              <a:buNone/>
            </a:pPr>
            <a:r>
              <a:rPr lang="en-US" sz="1500" b="1" dirty="0">
                <a:solidFill>
                  <a:srgbClr val="007A5A"/>
                </a:solidFill>
                <a:latin typeface="Golos Text" pitchFamily="34" charset="0"/>
                <a:ea typeface="Golos Text" pitchFamily="34" charset="-122"/>
                <a:cs typeface="Golos Text" pitchFamily="34" charset="-120"/>
              </a:rPr>
              <a:t>2, 4, 9, 5 → 20 : 4 = 5</a:t>
            </a:r>
            <a:endParaRPr lang="en-US" sz="1500" dirty="0"/>
          </a:p>
        </p:txBody>
      </p:sp>
      <p:sp>
        <p:nvSpPr>
          <p:cNvPr id="21" name="anim1_n"/>
          <p:cNvSpPr/>
          <p:nvPr/>
        </p:nvSpPr>
        <p:spPr>
          <a:xfrm>
            <a:off x="8714232" y="2039112"/>
            <a:ext cx="3035808" cy="676656"/>
          </a:xfrm>
          <a:prstGeom prst="roundRect">
            <a:avLst>
              <a:gd name="adj" fmla="val 20000"/>
            </a:avLst>
          </a:prstGeom>
          <a:solidFill>
            <a:srgbClr val="F5EBE3"/>
          </a:solidFill>
          <a:ln w="15875">
            <a:solidFill>
              <a:srgbClr val="A84400"/>
            </a:solidFill>
            <a:prstDash val="solid"/>
          </a:ln>
        </p:spPr>
        <p:txBody>
          <a:bodyPr wrap="square" lIns="76200" tIns="76200" rIns="76200" bIns="76200" rtlCol="0" anchor="ctr"/>
          <a:lstStyle/>
          <a:p>
            <a:pPr algn="l" indent="0" marL="0">
              <a:buNone/>
            </a:pPr>
            <a:r>
              <a:rPr lang="en-US" sz="1300" b="1" dirty="0">
                <a:solidFill>
                  <a:srgbClr val="A84400"/>
                </a:solidFill>
                <a:latin typeface="Golos Text" pitchFamily="34" charset="0"/>
                <a:ea typeface="Golos Text" pitchFamily="34" charset="-122"/>
                <a:cs typeface="Golos Text" pitchFamily="34" charset="-120"/>
              </a:rPr>
              <a:t>20 : 5 = 4 — ката: сандар 4, 5 эмес.</a:t>
            </a:r>
            <a:endParaRPr lang="en-US" sz="1300" dirty="0"/>
          </a:p>
        </p:txBody>
      </p:sp>
      <p:sp>
        <p:nvSpPr>
          <p:cNvPr id="22" name="Shape 20"/>
          <p:cNvSpPr/>
          <p:nvPr/>
        </p:nvSpPr>
        <p:spPr>
          <a:xfrm>
            <a:off x="365760" y="2862072"/>
            <a:ext cx="11457432" cy="822960"/>
          </a:xfrm>
          <a:prstGeom prst="roundRect">
            <a:avLst>
              <a:gd name="adj" fmla="val 15000"/>
            </a:avLst>
          </a:prstGeom>
          <a:solidFill>
            <a:srgbClr val="FFFFFF"/>
          </a:solidFill>
          <a:ln w="12700">
            <a:solidFill>
              <a:srgbClr val="E7EAF2"/>
            </a:solidFill>
            <a:prstDash val="solid"/>
          </a:ln>
        </p:spPr>
      </p:sp>
      <p:sp>
        <p:nvSpPr>
          <p:cNvPr id="23" name="Text 21"/>
          <p:cNvSpPr/>
          <p:nvPr/>
        </p:nvSpPr>
        <p:spPr>
          <a:xfrm>
            <a:off x="475488" y="2862072"/>
            <a:ext cx="1965960" cy="822960"/>
          </a:xfrm>
          <a:prstGeom prst="rect">
            <a:avLst/>
          </a:prstGeom>
          <a:noFill/>
          <a:ln/>
        </p:spPr>
        <p:txBody>
          <a:bodyPr wrap="square" lIns="0" tIns="0" rIns="0" bIns="0" rtlCol="0" anchor="ctr"/>
          <a:lstStyle/>
          <a:p>
            <a:pPr algn="l" indent="0" marL="0">
              <a:buNone/>
            </a:pPr>
            <a:r>
              <a:rPr lang="en-US" sz="1500" b="1" dirty="0">
                <a:solidFill>
                  <a:srgbClr val="24418C"/>
                </a:solidFill>
                <a:latin typeface="Golos Text" pitchFamily="34" charset="0"/>
                <a:ea typeface="Golos Text" pitchFamily="34" charset="-122"/>
                <a:cs typeface="Golos Text" pitchFamily="34" charset="-120"/>
              </a:rPr>
              <a:t>Медиана</a:t>
            </a:r>
            <a:endParaRPr lang="en-US" sz="1500" dirty="0"/>
          </a:p>
        </p:txBody>
      </p:sp>
      <p:sp>
        <p:nvSpPr>
          <p:cNvPr id="24" name="Text 22"/>
          <p:cNvSpPr/>
          <p:nvPr/>
        </p:nvSpPr>
        <p:spPr>
          <a:xfrm>
            <a:off x="2624328" y="2862072"/>
            <a:ext cx="3429000" cy="822960"/>
          </a:xfrm>
          <a:prstGeom prst="rect">
            <a:avLst/>
          </a:prstGeom>
          <a:noFill/>
          <a:ln/>
        </p:spPr>
        <p:txBody>
          <a:bodyPr wrap="square" lIns="0" tIns="0" rIns="0" bIns="0" rtlCol="0" anchor="ctr"/>
          <a:lstStyle/>
          <a:p>
            <a:pPr algn="l" indent="0" marL="0">
              <a:buNone/>
            </a:pPr>
            <a:r>
              <a:rPr lang="en-US" sz="1400" dirty="0">
                <a:solidFill>
                  <a:srgbClr val="1D3557"/>
                </a:solidFill>
                <a:latin typeface="Golos Text" pitchFamily="34" charset="0"/>
                <a:ea typeface="Golos Text" pitchFamily="34" charset="-122"/>
                <a:cs typeface="Golos Text" pitchFamily="34" charset="-120"/>
              </a:rPr>
              <a:t>Ирээттелген тизменин так ортосундагы сан (жуп болсо — эки ортонкунун орточосу).</a:t>
            </a:r>
            <a:endParaRPr lang="en-US" sz="1400" dirty="0"/>
          </a:p>
        </p:txBody>
      </p:sp>
      <p:sp>
        <p:nvSpPr>
          <p:cNvPr id="25" name="Text 23"/>
          <p:cNvSpPr/>
          <p:nvPr/>
        </p:nvSpPr>
        <p:spPr>
          <a:xfrm>
            <a:off x="6236208" y="2862072"/>
            <a:ext cx="2331720" cy="822960"/>
          </a:xfrm>
          <a:prstGeom prst="rect">
            <a:avLst/>
          </a:prstGeom>
          <a:noFill/>
          <a:ln/>
        </p:spPr>
        <p:txBody>
          <a:bodyPr wrap="square" lIns="0" tIns="0" rIns="0" bIns="0" rtlCol="0" anchor="ctr"/>
          <a:lstStyle/>
          <a:p>
            <a:pPr algn="l" indent="0" marL="0">
              <a:buNone/>
            </a:pPr>
            <a:r>
              <a:rPr lang="en-US" sz="1500" b="1" dirty="0">
                <a:solidFill>
                  <a:srgbClr val="007A5A"/>
                </a:solidFill>
                <a:latin typeface="Golos Text" pitchFamily="34" charset="0"/>
                <a:ea typeface="Golos Text" pitchFamily="34" charset="-122"/>
                <a:cs typeface="Golos Text" pitchFamily="34" charset="-120"/>
              </a:rPr>
              <a:t>8, 2, 5 → 2, 5, 8 → 5</a:t>
            </a:r>
            <a:endParaRPr lang="en-US" sz="1500" dirty="0"/>
          </a:p>
        </p:txBody>
      </p:sp>
      <p:sp>
        <p:nvSpPr>
          <p:cNvPr id="26" name="anim2_n"/>
          <p:cNvSpPr/>
          <p:nvPr/>
        </p:nvSpPr>
        <p:spPr>
          <a:xfrm>
            <a:off x="8714232" y="2935224"/>
            <a:ext cx="3035808" cy="676656"/>
          </a:xfrm>
          <a:prstGeom prst="roundRect">
            <a:avLst>
              <a:gd name="adj" fmla="val 20000"/>
            </a:avLst>
          </a:prstGeom>
          <a:solidFill>
            <a:srgbClr val="F5EBE3"/>
          </a:solidFill>
          <a:ln w="15875">
            <a:solidFill>
              <a:srgbClr val="A84400"/>
            </a:solidFill>
            <a:prstDash val="solid"/>
          </a:ln>
        </p:spPr>
        <p:txBody>
          <a:bodyPr wrap="square" lIns="76200" tIns="76200" rIns="76200" bIns="76200" rtlCol="0" anchor="ctr"/>
          <a:lstStyle/>
          <a:p>
            <a:pPr algn="l" indent="0" marL="0">
              <a:buNone/>
            </a:pPr>
            <a:r>
              <a:rPr lang="en-US" sz="1300" b="1" dirty="0">
                <a:solidFill>
                  <a:srgbClr val="A84400"/>
                </a:solidFill>
                <a:latin typeface="Golos Text" pitchFamily="34" charset="0"/>
                <a:ea typeface="Golos Text" pitchFamily="34" charset="-122"/>
                <a:cs typeface="Golos Text" pitchFamily="34" charset="-120"/>
              </a:rPr>
              <a:t>8, 2, 5 → 2 — ката: тизме ирээттелген эмес.</a:t>
            </a:r>
            <a:endParaRPr lang="en-US" sz="1300" dirty="0"/>
          </a:p>
        </p:txBody>
      </p:sp>
      <p:sp>
        <p:nvSpPr>
          <p:cNvPr id="27" name="Shape 25"/>
          <p:cNvSpPr/>
          <p:nvPr/>
        </p:nvSpPr>
        <p:spPr>
          <a:xfrm>
            <a:off x="365760" y="3758184"/>
            <a:ext cx="11457432" cy="822960"/>
          </a:xfrm>
          <a:prstGeom prst="roundRect">
            <a:avLst>
              <a:gd name="adj" fmla="val 15000"/>
            </a:avLst>
          </a:prstGeom>
          <a:solidFill>
            <a:srgbClr val="F3F5FB"/>
          </a:solidFill>
          <a:ln w="12700">
            <a:solidFill>
              <a:srgbClr val="E7EAF2"/>
            </a:solidFill>
            <a:prstDash val="solid"/>
          </a:ln>
        </p:spPr>
      </p:sp>
      <p:sp>
        <p:nvSpPr>
          <p:cNvPr id="28" name="Text 26"/>
          <p:cNvSpPr/>
          <p:nvPr/>
        </p:nvSpPr>
        <p:spPr>
          <a:xfrm>
            <a:off x="475488" y="3758184"/>
            <a:ext cx="1965960" cy="822960"/>
          </a:xfrm>
          <a:prstGeom prst="rect">
            <a:avLst/>
          </a:prstGeom>
          <a:noFill/>
          <a:ln/>
        </p:spPr>
        <p:txBody>
          <a:bodyPr wrap="square" lIns="0" tIns="0" rIns="0" bIns="0" rtlCol="0" anchor="ctr"/>
          <a:lstStyle/>
          <a:p>
            <a:pPr algn="l" indent="0" marL="0">
              <a:buNone/>
            </a:pPr>
            <a:r>
              <a:rPr lang="en-US" sz="1500" b="1" dirty="0">
                <a:solidFill>
                  <a:srgbClr val="A84400"/>
                </a:solidFill>
                <a:latin typeface="Golos Text" pitchFamily="34" charset="0"/>
                <a:ea typeface="Golos Text" pitchFamily="34" charset="-122"/>
                <a:cs typeface="Golos Text" pitchFamily="34" charset="-120"/>
              </a:rPr>
              <a:t>Мода</a:t>
            </a:r>
            <a:endParaRPr lang="en-US" sz="1500" dirty="0"/>
          </a:p>
        </p:txBody>
      </p:sp>
      <p:sp>
        <p:nvSpPr>
          <p:cNvPr id="29" name="Text 27"/>
          <p:cNvSpPr/>
          <p:nvPr/>
        </p:nvSpPr>
        <p:spPr>
          <a:xfrm>
            <a:off x="2624328" y="3758184"/>
            <a:ext cx="3429000" cy="822960"/>
          </a:xfrm>
          <a:prstGeom prst="rect">
            <a:avLst/>
          </a:prstGeom>
          <a:noFill/>
          <a:ln/>
        </p:spPr>
        <p:txBody>
          <a:bodyPr wrap="square" lIns="0" tIns="0" rIns="0" bIns="0" rtlCol="0" anchor="ctr"/>
          <a:lstStyle/>
          <a:p>
            <a:pPr algn="l" indent="0" marL="0">
              <a:buNone/>
            </a:pPr>
            <a:r>
              <a:rPr lang="en-US" sz="1400" dirty="0">
                <a:solidFill>
                  <a:srgbClr val="1D3557"/>
                </a:solidFill>
                <a:latin typeface="Golos Text" pitchFamily="34" charset="0"/>
                <a:ea typeface="Golos Text" pitchFamily="34" charset="-122"/>
                <a:cs typeface="Golos Text" pitchFamily="34" charset="-120"/>
              </a:rPr>
              <a:t>Тизмеде эң көп кездешкен сан.</a:t>
            </a:r>
            <a:endParaRPr lang="en-US" sz="1400" dirty="0"/>
          </a:p>
        </p:txBody>
      </p:sp>
      <p:sp>
        <p:nvSpPr>
          <p:cNvPr id="30" name="Text 28"/>
          <p:cNvSpPr/>
          <p:nvPr/>
        </p:nvSpPr>
        <p:spPr>
          <a:xfrm>
            <a:off x="6236208" y="3758184"/>
            <a:ext cx="2331720" cy="822960"/>
          </a:xfrm>
          <a:prstGeom prst="rect">
            <a:avLst/>
          </a:prstGeom>
          <a:noFill/>
          <a:ln/>
        </p:spPr>
        <p:txBody>
          <a:bodyPr wrap="square" lIns="0" tIns="0" rIns="0" bIns="0" rtlCol="0" anchor="ctr"/>
          <a:lstStyle/>
          <a:p>
            <a:pPr algn="l" indent="0" marL="0">
              <a:buNone/>
            </a:pPr>
            <a:r>
              <a:rPr lang="en-US" sz="1500" b="1" dirty="0">
                <a:solidFill>
                  <a:srgbClr val="007A5A"/>
                </a:solidFill>
                <a:latin typeface="Golos Text" pitchFamily="34" charset="0"/>
                <a:ea typeface="Golos Text" pitchFamily="34" charset="-122"/>
                <a:cs typeface="Golos Text" pitchFamily="34" charset="-120"/>
              </a:rPr>
              <a:t>1, 6, 6, 9 → 6</a:t>
            </a:r>
            <a:endParaRPr lang="en-US" sz="1500" dirty="0"/>
          </a:p>
        </p:txBody>
      </p:sp>
      <p:sp>
        <p:nvSpPr>
          <p:cNvPr id="31" name="anim3_n"/>
          <p:cNvSpPr/>
          <p:nvPr/>
        </p:nvSpPr>
        <p:spPr>
          <a:xfrm>
            <a:off x="8714232" y="3831336"/>
            <a:ext cx="3035808" cy="676656"/>
          </a:xfrm>
          <a:prstGeom prst="roundRect">
            <a:avLst>
              <a:gd name="adj" fmla="val 20000"/>
            </a:avLst>
          </a:prstGeom>
          <a:solidFill>
            <a:srgbClr val="F5EBE3"/>
          </a:solidFill>
          <a:ln w="15875">
            <a:solidFill>
              <a:srgbClr val="A84400"/>
            </a:solidFill>
            <a:prstDash val="solid"/>
          </a:ln>
        </p:spPr>
        <p:txBody>
          <a:bodyPr wrap="square" lIns="76200" tIns="76200" rIns="76200" bIns="76200" rtlCol="0" anchor="ctr"/>
          <a:lstStyle/>
          <a:p>
            <a:pPr algn="l" indent="0" marL="0">
              <a:buNone/>
            </a:pPr>
            <a:r>
              <a:rPr lang="en-US" sz="1300" b="1" dirty="0">
                <a:solidFill>
                  <a:srgbClr val="A84400"/>
                </a:solidFill>
                <a:latin typeface="Golos Text" pitchFamily="34" charset="0"/>
                <a:ea typeface="Golos Text" pitchFamily="34" charset="-122"/>
                <a:cs typeface="Golos Text" pitchFamily="34" charset="-120"/>
              </a:rPr>
              <a:t>1, 6, 6, 9 → 9 — ката: 9 эң чоң, бирок бир жолу гана.</a:t>
            </a:r>
            <a:endParaRPr lang="en-US" sz="1300" dirty="0"/>
          </a:p>
        </p:txBody>
      </p:sp>
      <p:sp>
        <p:nvSpPr>
          <p:cNvPr id="32" name="Shape 30"/>
          <p:cNvSpPr/>
          <p:nvPr/>
        </p:nvSpPr>
        <p:spPr>
          <a:xfrm>
            <a:off x="365760" y="4654296"/>
            <a:ext cx="11457432" cy="822960"/>
          </a:xfrm>
          <a:prstGeom prst="roundRect">
            <a:avLst>
              <a:gd name="adj" fmla="val 15000"/>
            </a:avLst>
          </a:prstGeom>
          <a:solidFill>
            <a:srgbClr val="FFFFFF"/>
          </a:solidFill>
          <a:ln w="12700">
            <a:solidFill>
              <a:srgbClr val="E7EAF2"/>
            </a:solidFill>
            <a:prstDash val="solid"/>
          </a:ln>
        </p:spPr>
      </p:sp>
      <p:sp>
        <p:nvSpPr>
          <p:cNvPr id="33" name="Text 31"/>
          <p:cNvSpPr/>
          <p:nvPr/>
        </p:nvSpPr>
        <p:spPr>
          <a:xfrm>
            <a:off x="475488" y="4654296"/>
            <a:ext cx="1965960" cy="822960"/>
          </a:xfrm>
          <a:prstGeom prst="rect">
            <a:avLst/>
          </a:prstGeom>
          <a:noFill/>
          <a:ln/>
        </p:spPr>
        <p:txBody>
          <a:bodyPr wrap="square" lIns="0" tIns="0" rIns="0" bIns="0" rtlCol="0" anchor="ctr"/>
          <a:lstStyle/>
          <a:p>
            <a:pPr algn="l" indent="0" marL="0">
              <a:buNone/>
            </a:pPr>
            <a:r>
              <a:rPr lang="en-US" sz="1500" b="1" dirty="0">
                <a:solidFill>
                  <a:srgbClr val="1D3557"/>
                </a:solidFill>
                <a:latin typeface="Golos Text" pitchFamily="34" charset="0"/>
                <a:ea typeface="Golos Text" pitchFamily="34" charset="-122"/>
                <a:cs typeface="Golos Text" pitchFamily="34" charset="-120"/>
              </a:rPr>
              <a:t>Кулач</a:t>
            </a:r>
            <a:endParaRPr lang="en-US" sz="1500" dirty="0"/>
          </a:p>
        </p:txBody>
      </p:sp>
      <p:sp>
        <p:nvSpPr>
          <p:cNvPr id="34" name="Text 32"/>
          <p:cNvSpPr/>
          <p:nvPr/>
        </p:nvSpPr>
        <p:spPr>
          <a:xfrm>
            <a:off x="2624328" y="4654296"/>
            <a:ext cx="3429000" cy="822960"/>
          </a:xfrm>
          <a:prstGeom prst="rect">
            <a:avLst/>
          </a:prstGeom>
          <a:noFill/>
          <a:ln/>
        </p:spPr>
        <p:txBody>
          <a:bodyPr wrap="square" lIns="0" tIns="0" rIns="0" bIns="0" rtlCol="0" anchor="ctr"/>
          <a:lstStyle/>
          <a:p>
            <a:pPr algn="l" indent="0" marL="0">
              <a:buNone/>
            </a:pPr>
            <a:r>
              <a:rPr lang="en-US" sz="1400" dirty="0">
                <a:solidFill>
                  <a:srgbClr val="1D3557"/>
                </a:solidFill>
                <a:latin typeface="Golos Text" pitchFamily="34" charset="0"/>
                <a:ea typeface="Golos Text" pitchFamily="34" charset="-122"/>
                <a:cs typeface="Golos Text" pitchFamily="34" charset="-120"/>
              </a:rPr>
              <a:t>Эң чоң сан менен эң кичине сандын айырмасы.</a:t>
            </a:r>
            <a:endParaRPr lang="en-US" sz="1400" dirty="0"/>
          </a:p>
        </p:txBody>
      </p:sp>
      <p:sp>
        <p:nvSpPr>
          <p:cNvPr id="35" name="Text 33"/>
          <p:cNvSpPr/>
          <p:nvPr/>
        </p:nvSpPr>
        <p:spPr>
          <a:xfrm>
            <a:off x="6236208" y="4654296"/>
            <a:ext cx="2331720" cy="822960"/>
          </a:xfrm>
          <a:prstGeom prst="rect">
            <a:avLst/>
          </a:prstGeom>
          <a:noFill/>
          <a:ln/>
        </p:spPr>
        <p:txBody>
          <a:bodyPr wrap="square" lIns="0" tIns="0" rIns="0" bIns="0" rtlCol="0" anchor="ctr"/>
          <a:lstStyle/>
          <a:p>
            <a:pPr algn="l" indent="0" marL="0">
              <a:buNone/>
            </a:pPr>
            <a:r>
              <a:rPr lang="en-US" sz="1500" b="1" dirty="0">
                <a:solidFill>
                  <a:srgbClr val="007A5A"/>
                </a:solidFill>
                <a:latin typeface="Golos Text" pitchFamily="34" charset="0"/>
                <a:ea typeface="Golos Text" pitchFamily="34" charset="-122"/>
                <a:cs typeface="Golos Text" pitchFamily="34" charset="-120"/>
              </a:rPr>
              <a:t>3, 10, 6 → 10 − 3 = 7</a:t>
            </a:r>
            <a:endParaRPr lang="en-US" sz="1500" dirty="0"/>
          </a:p>
        </p:txBody>
      </p:sp>
      <p:sp>
        <p:nvSpPr>
          <p:cNvPr id="36" name="anim4_n"/>
          <p:cNvSpPr/>
          <p:nvPr/>
        </p:nvSpPr>
        <p:spPr>
          <a:xfrm>
            <a:off x="8714232" y="4727448"/>
            <a:ext cx="3035808" cy="676656"/>
          </a:xfrm>
          <a:prstGeom prst="roundRect">
            <a:avLst>
              <a:gd name="adj" fmla="val 20000"/>
            </a:avLst>
          </a:prstGeom>
          <a:solidFill>
            <a:srgbClr val="F5EBE3"/>
          </a:solidFill>
          <a:ln w="15875">
            <a:solidFill>
              <a:srgbClr val="A84400"/>
            </a:solidFill>
            <a:prstDash val="solid"/>
          </a:ln>
        </p:spPr>
        <p:txBody>
          <a:bodyPr wrap="square" lIns="76200" tIns="76200" rIns="76200" bIns="76200" rtlCol="0" anchor="ctr"/>
          <a:lstStyle/>
          <a:p>
            <a:pPr algn="l" indent="0" marL="0">
              <a:buNone/>
            </a:pPr>
            <a:r>
              <a:rPr lang="en-US" sz="1300" b="1" dirty="0">
                <a:solidFill>
                  <a:srgbClr val="A84400"/>
                </a:solidFill>
                <a:latin typeface="Golos Text" pitchFamily="34" charset="0"/>
                <a:ea typeface="Golos Text" pitchFamily="34" charset="-122"/>
                <a:cs typeface="Golos Text" pitchFamily="34" charset="-120"/>
              </a:rPr>
              <a:t>3, 10, 6 → 10 — ката: бул эң чоң сан, айырма эмес.</a:t>
            </a:r>
            <a:endParaRPr lang="en-US" sz="1300" dirty="0"/>
          </a:p>
        </p:txBody>
      </p:sp>
      <p:sp>
        <p:nvSpPr>
          <p:cNvPr id="37" name="anim5_note"/>
          <p:cNvSpPr/>
          <p:nvPr/>
        </p:nvSpPr>
        <p:spPr>
          <a:xfrm>
            <a:off x="365760" y="5577840"/>
            <a:ext cx="11457432" cy="731520"/>
          </a:xfrm>
          <a:prstGeom prst="roundRect">
            <a:avLst>
              <a:gd name="adj" fmla="val 30000"/>
            </a:avLst>
          </a:prstGeom>
          <a:solidFill>
            <a:srgbClr val="D1E7E1"/>
          </a:solidFill>
          <a:ln w="28575">
            <a:solidFill>
              <a:srgbClr val="007A5A"/>
            </a:solidFill>
            <a:prstDash val="solid"/>
          </a:ln>
        </p:spPr>
        <p:txBody>
          <a:bodyPr wrap="square" lIns="76200" tIns="76200" rIns="76200" bIns="76200" rtlCol="0" anchor="ctr"/>
          <a:lstStyle/>
          <a:p>
            <a:pPr algn="ctr" indent="0" marL="0">
              <a:buNone/>
            </a:pPr>
            <a:r>
              <a:rPr lang="en-US" sz="1400" b="1" dirty="0">
                <a:solidFill>
                  <a:srgbClr val="007A5A"/>
                </a:solidFill>
                <a:latin typeface="Golos Text" pitchFamily="34" charset="0"/>
                <a:ea typeface="Golos Text" pitchFamily="34" charset="-122"/>
                <a:cs typeface="Golos Text" pitchFamily="34" charset="-120"/>
              </a:rPr>
              <a:t>Эскертүү: орточо жана медиана тизмеде жок сан болушу мүмкүн: 3, 4, 7, 7, 9 → орточо 6;  1, 3, 4, 7, 7, 9 → медиана 5,5.</a:t>
            </a:r>
            <a:endParaRPr lang="en-US" sz="1400" dirty="0"/>
          </a:p>
        </p:txBody>
      </p:sp>
      <p:sp>
        <p:nvSpPr>
          <p:cNvPr id="38" name="Slide Number Placeholder 0"/>
          <p:cNvSpPr>
            <a:spLocks noGrp="1"/>
          </p:cNvSpPr>
          <p:nvPr>
            <p:ph type="sldNum" sz="quarter" idx="4294967295"/>
          </p:nvPr>
        </p:nvSpPr>
        <p:spPr>
          <a:xfrm>
            <a:off x="11384280" y="6492240"/>
            <a:ext cx="438912"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99AA"/>
                </a:solidFill>
                <a:latin typeface="Golos Text"/>
                <a:ea typeface="Golos Text"/>
                <a:cs typeface="Golos Text"/>
              </a:defRPr>
            </a:lvl1pPr>
          </a:lstStyle>
          <a:p>
            <a:pPr algn="r"/>
            <a:fld id="{F7021451-1387-4CA6-816F-3879F97B5CBC}" type="slidenum">
              <a:rPr b="0" lang="en-US"/>
              <a:t>13</a:t>
            </a:fld>
            <a:endParaRPr lang="en-US"/>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600"/>
                                        <p:tgtEl>
                                          <p:spTgt spid="2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600"/>
                                        <p:tgtEl>
                                          <p:spTgt spid="26"/>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600"/>
                                        <p:tgtEl>
                                          <p:spTgt spid="31"/>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6"/>
                                        </p:tgtEl>
                                        <p:attrNameLst>
                                          <p:attrName>style.visibility</p:attrName>
                                        </p:attrNameLst>
                                      </p:cBhvr>
                                      <p:to>
                                        <p:strVal val="visible"/>
                                      </p:to>
                                    </p:set>
                                    <p:animEffect transition="in" filter="fade">
                                      <p:cBhvr>
                                        <p:cTn id="20" dur="600"/>
                                        <p:tgtEl>
                                          <p:spTgt spid="36"/>
                                        </p:tgtEl>
                                      </p:cBhvr>
                                    </p:animEffect>
                                  </p:childTnLst>
                                </p:cTn>
                              </p:par>
                            </p:childTnLst>
                          </p:cTn>
                        </p:par>
                      </p:childTnLst>
                    </p:cTn>
                  </p:par>
                  <p:par>
                    <p:cTn id="26" fill="hold">
                      <p:stCondLst>
                        <p:cond delay="indefinite"/>
                      </p:stCondLst>
                      <p:childTnLst>
                        <p:par>
                          <p:cTn id="27"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6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6" grpId="0" animBg="1"/>
      <p:bldP spid="31" grpId="0" animBg="1"/>
      <p:bldP spid="36" grpId="0" animBg="1"/>
      <p:bldP spid="3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11457432" cy="640080"/>
          </a:xfrm>
          <a:prstGeom prst="roundRect">
            <a:avLst>
              <a:gd name="adj" fmla="val 22000"/>
            </a:avLst>
          </a:prstGeom>
          <a:solidFill>
            <a:srgbClr val="FFFFFF"/>
          </a:solidFill>
          <a:ln w="19050">
            <a:solidFill>
              <a:srgbClr val="1D3557"/>
            </a:solidFill>
            <a:prstDash val="solid"/>
          </a:ln>
        </p:spPr>
      </p:sp>
      <p:sp>
        <p:nvSpPr>
          <p:cNvPr id="3" name="Shape 1"/>
          <p:cNvSpPr/>
          <p:nvPr/>
        </p:nvSpPr>
        <p:spPr>
          <a:xfrm>
            <a:off x="557784" y="369418"/>
            <a:ext cx="70409" cy="358445"/>
          </a:xfrm>
          <a:prstGeom prst="roundRect">
            <a:avLst>
              <a:gd name="adj" fmla="val 50000"/>
            </a:avLst>
          </a:prstGeom>
          <a:solidFill>
            <a:srgbClr val="007A5A"/>
          </a:solidFill>
          <a:ln/>
        </p:spPr>
      </p:sp>
      <p:sp>
        <p:nvSpPr>
          <p:cNvPr id="4" name="Shape 2"/>
          <p:cNvSpPr/>
          <p:nvPr/>
        </p:nvSpPr>
        <p:spPr>
          <a:xfrm>
            <a:off x="691561" y="369418"/>
            <a:ext cx="70409" cy="358445"/>
          </a:xfrm>
          <a:prstGeom prst="roundRect">
            <a:avLst>
              <a:gd name="adj" fmla="val 50000"/>
            </a:avLst>
          </a:prstGeom>
          <a:solidFill>
            <a:srgbClr val="A84400"/>
          </a:solidFill>
          <a:ln/>
        </p:spPr>
      </p:sp>
      <p:sp>
        <p:nvSpPr>
          <p:cNvPr id="5" name="Shape 3"/>
          <p:cNvSpPr/>
          <p:nvPr/>
        </p:nvSpPr>
        <p:spPr>
          <a:xfrm>
            <a:off x="825337" y="369418"/>
            <a:ext cx="70409" cy="358445"/>
          </a:xfrm>
          <a:prstGeom prst="roundRect">
            <a:avLst>
              <a:gd name="adj" fmla="val 50000"/>
            </a:avLst>
          </a:prstGeom>
          <a:solidFill>
            <a:srgbClr val="24418C"/>
          </a:solidFill>
          <a:ln/>
        </p:spPr>
      </p:sp>
      <p:sp>
        <p:nvSpPr>
          <p:cNvPr id="6" name="Text 4"/>
          <p:cNvSpPr/>
          <p:nvPr/>
        </p:nvSpPr>
        <p:spPr>
          <a:xfrm>
            <a:off x="1096914" y="228600"/>
            <a:ext cx="7589520" cy="640080"/>
          </a:xfrm>
          <a:prstGeom prst="rect">
            <a:avLst/>
          </a:prstGeom>
          <a:noFill/>
          <a:ln/>
        </p:spPr>
        <p:txBody>
          <a:bodyPr wrap="square" lIns="0" tIns="0" rIns="0" bIns="0" rtlCol="0" anchor="ctr"/>
          <a:lstStyle/>
          <a:p>
            <a:pPr algn="l" indent="0" marL="0">
              <a:buNone/>
            </a:pPr>
            <a:r>
              <a:rPr lang="en-US" sz="2200" b="1" dirty="0">
                <a:solidFill>
                  <a:srgbClr val="1D3557"/>
                </a:solidFill>
                <a:latin typeface="Golos Text" pitchFamily="34" charset="0"/>
                <a:ea typeface="Golos Text" pitchFamily="34" charset="-122"/>
                <a:cs typeface="Golos Text" pitchFamily="34" charset="-120"/>
              </a:rPr>
              <a:t>Мисал 1: бир жуманын сүтү</a:t>
            </a:r>
            <a:endParaRPr lang="en-US" sz="2200" dirty="0"/>
          </a:p>
        </p:txBody>
      </p:sp>
      <p:sp>
        <p:nvSpPr>
          <p:cNvPr id="7" name="Text 5"/>
          <p:cNvSpPr/>
          <p:nvPr/>
        </p:nvSpPr>
        <p:spPr>
          <a:xfrm>
            <a:off x="8778240" y="228600"/>
            <a:ext cx="2880360" cy="640080"/>
          </a:xfrm>
          <a:prstGeom prst="rect">
            <a:avLst/>
          </a:prstGeom>
          <a:noFill/>
          <a:ln/>
        </p:spPr>
        <p:txBody>
          <a:bodyPr wrap="square" lIns="0" tIns="0" rIns="0" bIns="0" rtlCol="0" anchor="ctr"/>
          <a:lstStyle/>
          <a:p>
            <a:pPr algn="r" indent="0" marL="0">
              <a:buNone/>
            </a:pPr>
            <a:r>
              <a:rPr lang="en-US" sz="1100" dirty="0">
                <a:solidFill>
                  <a:srgbClr val="4A5A70"/>
                </a:solidFill>
                <a:latin typeface="Golos Text" pitchFamily="34" charset="0"/>
                <a:ea typeface="Golos Text" pitchFamily="34" charset="-122"/>
                <a:cs typeface="Golos Text" pitchFamily="34" charset="-120"/>
              </a:rPr>
              <a:t>Статистика › Төрт өлчөм</a:t>
            </a:r>
            <a:endParaRPr lang="en-US" sz="1100" dirty="0"/>
          </a:p>
        </p:txBody>
      </p:sp>
      <p:sp>
        <p:nvSpPr>
          <p:cNvPr id="8" name="Text 6"/>
          <p:cNvSpPr/>
          <p:nvPr/>
        </p:nvSpPr>
        <p:spPr>
          <a:xfrm>
            <a:off x="411480" y="960120"/>
            <a:ext cx="8412480" cy="329184"/>
          </a:xfrm>
          <a:prstGeom prst="rect">
            <a:avLst/>
          </a:prstGeom>
          <a:noFill/>
          <a:ln/>
        </p:spPr>
        <p:txBody>
          <a:bodyPr wrap="square" lIns="0" tIns="0" rIns="0" bIns="0" rtlCol="0" anchor="t"/>
          <a:lstStyle/>
          <a:p>
            <a:pPr algn="l" indent="0" marL="0">
              <a:buNone/>
            </a:pPr>
            <a:r>
              <a:rPr lang="en-US" sz="1500" i="1" dirty="0">
                <a:solidFill>
                  <a:srgbClr val="4A5A70"/>
                </a:solidFill>
                <a:latin typeface="Golos Text" pitchFamily="34" charset="0"/>
                <a:ea typeface="Golos Text" pitchFamily="34" charset="-122"/>
                <a:cs typeface="Golos Text" pitchFamily="34" charset="-120"/>
              </a:rPr>
              <a:t>Так сандагы тизме (7 сан). Ар бир кадамды бирге жазабыз</a:t>
            </a:r>
            <a:endParaRPr lang="en-US" sz="1500" dirty="0"/>
          </a:p>
        </p:txBody>
      </p:sp>
      <p:sp>
        <p:nvSpPr>
          <p:cNvPr id="9" name="Text 7"/>
          <p:cNvSpPr/>
          <p:nvPr/>
        </p:nvSpPr>
        <p:spPr>
          <a:xfrm>
            <a:off x="8897112" y="969264"/>
            <a:ext cx="2926080" cy="310896"/>
          </a:xfrm>
          <a:prstGeom prst="rect">
            <a:avLst/>
          </a:prstGeom>
          <a:noFill/>
          <a:ln/>
        </p:spPr>
        <p:txBody>
          <a:bodyPr wrap="square" lIns="0" tIns="0" rIns="0" bIns="0" rtlCol="0" anchor="ctr"/>
          <a:lstStyle/>
          <a:p>
            <a:pPr algn="r" indent="0" marL="0">
              <a:buNone/>
            </a:pPr>
            <a:r>
              <a:rPr lang="en-US" sz="1200" dirty="0">
                <a:solidFill>
                  <a:srgbClr val="4A5A70"/>
                </a:solidFill>
                <a:latin typeface="Golos Text" pitchFamily="34" charset="0"/>
                <a:ea typeface="Golos Text" pitchFamily="34" charset="-122"/>
                <a:cs typeface="Golos Text" pitchFamily="34" charset="-120"/>
              </a:rPr>
              <a:t>Чеберчилик · 1,5 мүн</a:t>
            </a:r>
            <a:endParaRPr lang="en-US" sz="1200" dirty="0"/>
          </a:p>
        </p:txBody>
      </p:sp>
      <p:sp>
        <p:nvSpPr>
          <p:cNvPr id="10" name="Text 8"/>
          <p:cNvSpPr/>
          <p:nvPr/>
        </p:nvSpPr>
        <p:spPr>
          <a:xfrm>
            <a:off x="365760" y="6492240"/>
            <a:ext cx="5486400" cy="228600"/>
          </a:xfrm>
          <a:prstGeom prst="rect">
            <a:avLst/>
          </a:prstGeom>
          <a:noFill/>
          <a:ln/>
        </p:spPr>
        <p:txBody>
          <a:bodyPr wrap="square" lIns="0" tIns="0" rIns="0" bIns="0" rtlCol="0" anchor="t"/>
          <a:lstStyle/>
          <a:p>
            <a:pPr algn="l" indent="0" marL="0">
              <a:buNone/>
            </a:pPr>
            <a:r>
              <a:rPr lang="en-US" sz="900" dirty="0">
                <a:solidFill>
                  <a:srgbClr val="8D99AA"/>
                </a:solidFill>
                <a:latin typeface="Golos Text" pitchFamily="34" charset="0"/>
                <a:ea typeface="Golos Text" pitchFamily="34" charset="-122"/>
                <a:cs typeface="Golos Text" pitchFamily="34" charset="-120"/>
              </a:rPr>
              <a:t>MathKG · Математика кыргызча</a:t>
            </a:r>
            <a:endParaRPr lang="en-US" sz="900" dirty="0"/>
          </a:p>
        </p:txBody>
      </p:sp>
      <p:sp>
        <p:nvSpPr>
          <p:cNvPr id="11" name="Text 9"/>
          <p:cNvSpPr/>
          <p:nvPr/>
        </p:nvSpPr>
        <p:spPr>
          <a:xfrm>
            <a:off x="7680960" y="6492240"/>
            <a:ext cx="3657600" cy="228600"/>
          </a:xfrm>
          <a:prstGeom prst="rect">
            <a:avLst/>
          </a:prstGeom>
          <a:noFill/>
          <a:ln/>
        </p:spPr>
        <p:txBody>
          <a:bodyPr wrap="square" lIns="0" tIns="0" rIns="0" bIns="0" rtlCol="0" anchor="t"/>
          <a:lstStyle/>
          <a:p>
            <a:pPr algn="r" indent="0" marL="0">
              <a:buNone/>
            </a:pPr>
            <a:r>
              <a:rPr lang="en-US" sz="900" dirty="0">
                <a:solidFill>
                  <a:srgbClr val="8D99AA"/>
                </a:solidFill>
                <a:latin typeface="Golos Text" pitchFamily="34" charset="0"/>
                <a:ea typeface="Golos Text" pitchFamily="34" charset="-122"/>
                <a:cs typeface="Golos Text" pitchFamily="34" charset="-120"/>
              </a:rPr>
              <a:t>MathKG ыкмасы · 1,5 мүн</a:t>
            </a:r>
            <a:endParaRPr lang="en-US" sz="900" dirty="0"/>
          </a:p>
        </p:txBody>
      </p:sp>
      <p:sp>
        <p:nvSpPr>
          <p:cNvPr id="12" name="Shape 10"/>
          <p:cNvSpPr/>
          <p:nvPr/>
        </p:nvSpPr>
        <p:spPr>
          <a:xfrm>
            <a:off x="365760" y="1463040"/>
            <a:ext cx="4480560" cy="4846320"/>
          </a:xfrm>
          <a:prstGeom prst="roundRect">
            <a:avLst>
              <a:gd name="adj" fmla="val 5000"/>
            </a:avLst>
          </a:prstGeom>
          <a:solidFill>
            <a:srgbClr val="F3F5FB"/>
          </a:solidFill>
          <a:ln/>
        </p:spPr>
      </p:sp>
      <p:sp>
        <p:nvSpPr>
          <p:cNvPr id="13" name="Text 11"/>
          <p:cNvSpPr/>
          <p:nvPr/>
        </p:nvSpPr>
        <p:spPr>
          <a:xfrm>
            <a:off x="594360" y="1645920"/>
            <a:ext cx="2743200" cy="274320"/>
          </a:xfrm>
          <a:prstGeom prst="rect">
            <a:avLst/>
          </a:prstGeom>
          <a:noFill/>
          <a:ln/>
        </p:spPr>
        <p:txBody>
          <a:bodyPr wrap="square" lIns="0" tIns="0" rIns="0" bIns="0" rtlCol="0" anchor="t"/>
          <a:lstStyle/>
          <a:p>
            <a:pPr algn="l" indent="0" marL="0">
              <a:buNone/>
            </a:pPr>
            <a:r>
              <a:rPr lang="en-US" sz="1300" b="1" dirty="0">
                <a:solidFill>
                  <a:srgbClr val="A84400"/>
                </a:solidFill>
                <a:latin typeface="Golos Text" pitchFamily="34" charset="0"/>
                <a:ea typeface="Golos Text" pitchFamily="34" charset="-122"/>
                <a:cs typeface="Golos Text" pitchFamily="34" charset="-120"/>
              </a:rPr>
              <a:t>МАСЕЛЕ</a:t>
            </a:r>
            <a:endParaRPr lang="en-US" sz="1300" dirty="0"/>
          </a:p>
        </p:txBody>
      </p:sp>
      <p:sp>
        <p:nvSpPr>
          <p:cNvPr id="14" name="Text 12"/>
          <p:cNvSpPr/>
          <p:nvPr/>
        </p:nvSpPr>
        <p:spPr>
          <a:xfrm>
            <a:off x="594360" y="1965960"/>
            <a:ext cx="4069080" cy="1097280"/>
          </a:xfrm>
          <a:prstGeom prst="rect">
            <a:avLst/>
          </a:prstGeom>
          <a:noFill/>
          <a:ln/>
        </p:spPr>
        <p:txBody>
          <a:bodyPr wrap="square" lIns="0" tIns="0" rIns="0" bIns="0" rtlCol="0" anchor="t"/>
          <a:lstStyle/>
          <a:p>
            <a:pPr algn="l" indent="0" marL="0">
              <a:buNone/>
            </a:pPr>
            <a:r>
              <a:rPr lang="en-US" sz="1700" dirty="0">
                <a:solidFill>
                  <a:srgbClr val="1D3557"/>
                </a:solidFill>
                <a:latin typeface="Golos Text" pitchFamily="34" charset="0"/>
                <a:ea typeface="Golos Text" pitchFamily="34" charset="-122"/>
                <a:cs typeface="Golos Text" pitchFamily="34" charset="-120"/>
              </a:rPr>
              <a:t>Нарындагы Айгүл эже бир уйдан 7 күн бою саалган сүттү (литр менен) жазып алды:</a:t>
            </a:r>
            <a:endParaRPr lang="en-US" sz="1700" dirty="0"/>
          </a:p>
        </p:txBody>
      </p:sp>
      <p:sp>
        <p:nvSpPr>
          <p:cNvPr id="15" name="Text 13"/>
          <p:cNvSpPr/>
          <p:nvPr/>
        </p:nvSpPr>
        <p:spPr>
          <a:xfrm>
            <a:off x="594360" y="3154680"/>
            <a:ext cx="475488" cy="54864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1700" b="1" dirty="0">
                <a:solidFill>
                  <a:srgbClr val="1D3557"/>
                </a:solidFill>
                <a:latin typeface="Golos Text" pitchFamily="34" charset="0"/>
                <a:ea typeface="Golos Text" pitchFamily="34" charset="-122"/>
                <a:cs typeface="Golos Text" pitchFamily="34" charset="-120"/>
              </a:rPr>
              <a:t>12</a:t>
            </a:r>
            <a:endParaRPr lang="en-US" sz="1700" dirty="0"/>
          </a:p>
        </p:txBody>
      </p:sp>
      <p:sp>
        <p:nvSpPr>
          <p:cNvPr id="16" name="Text 14"/>
          <p:cNvSpPr/>
          <p:nvPr/>
        </p:nvSpPr>
        <p:spPr>
          <a:xfrm>
            <a:off x="1143000" y="3154680"/>
            <a:ext cx="475488" cy="54864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1700" b="1" dirty="0">
                <a:solidFill>
                  <a:srgbClr val="1D3557"/>
                </a:solidFill>
                <a:latin typeface="Golos Text" pitchFamily="34" charset="0"/>
                <a:ea typeface="Golos Text" pitchFamily="34" charset="-122"/>
                <a:cs typeface="Golos Text" pitchFamily="34" charset="-120"/>
              </a:rPr>
              <a:t>9</a:t>
            </a:r>
            <a:endParaRPr lang="en-US" sz="1700" dirty="0"/>
          </a:p>
        </p:txBody>
      </p:sp>
      <p:sp>
        <p:nvSpPr>
          <p:cNvPr id="17" name="Text 15"/>
          <p:cNvSpPr/>
          <p:nvPr/>
        </p:nvSpPr>
        <p:spPr>
          <a:xfrm>
            <a:off x="1691640" y="3154680"/>
            <a:ext cx="475488" cy="54864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1700" b="1" dirty="0">
                <a:solidFill>
                  <a:srgbClr val="1D3557"/>
                </a:solidFill>
                <a:latin typeface="Golos Text" pitchFamily="34" charset="0"/>
                <a:ea typeface="Golos Text" pitchFamily="34" charset="-122"/>
                <a:cs typeface="Golos Text" pitchFamily="34" charset="-120"/>
              </a:rPr>
              <a:t>14</a:t>
            </a:r>
            <a:endParaRPr lang="en-US" sz="1700" dirty="0"/>
          </a:p>
        </p:txBody>
      </p:sp>
      <p:sp>
        <p:nvSpPr>
          <p:cNvPr id="18" name="Text 16"/>
          <p:cNvSpPr/>
          <p:nvPr/>
        </p:nvSpPr>
        <p:spPr>
          <a:xfrm>
            <a:off x="2240280" y="3154680"/>
            <a:ext cx="475488" cy="54864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1700" b="1" dirty="0">
                <a:solidFill>
                  <a:srgbClr val="1D3557"/>
                </a:solidFill>
                <a:latin typeface="Golos Text" pitchFamily="34" charset="0"/>
                <a:ea typeface="Golos Text" pitchFamily="34" charset="-122"/>
                <a:cs typeface="Golos Text" pitchFamily="34" charset="-120"/>
              </a:rPr>
              <a:t>12</a:t>
            </a:r>
            <a:endParaRPr lang="en-US" sz="1700" dirty="0"/>
          </a:p>
        </p:txBody>
      </p:sp>
      <p:sp>
        <p:nvSpPr>
          <p:cNvPr id="19" name="Text 17"/>
          <p:cNvSpPr/>
          <p:nvPr/>
        </p:nvSpPr>
        <p:spPr>
          <a:xfrm>
            <a:off x="2788920" y="3154680"/>
            <a:ext cx="475488" cy="54864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1700" b="1" dirty="0">
                <a:solidFill>
                  <a:srgbClr val="1D3557"/>
                </a:solidFill>
                <a:latin typeface="Golos Text" pitchFamily="34" charset="0"/>
                <a:ea typeface="Golos Text" pitchFamily="34" charset="-122"/>
                <a:cs typeface="Golos Text" pitchFamily="34" charset="-120"/>
              </a:rPr>
              <a:t>15</a:t>
            </a:r>
            <a:endParaRPr lang="en-US" sz="1700" dirty="0"/>
          </a:p>
        </p:txBody>
      </p:sp>
      <p:sp>
        <p:nvSpPr>
          <p:cNvPr id="20" name="Text 18"/>
          <p:cNvSpPr/>
          <p:nvPr/>
        </p:nvSpPr>
        <p:spPr>
          <a:xfrm>
            <a:off x="3337560" y="3154680"/>
            <a:ext cx="475488" cy="54864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1700" b="1" dirty="0">
                <a:solidFill>
                  <a:srgbClr val="1D3557"/>
                </a:solidFill>
                <a:latin typeface="Golos Text" pitchFamily="34" charset="0"/>
                <a:ea typeface="Golos Text" pitchFamily="34" charset="-122"/>
                <a:cs typeface="Golos Text" pitchFamily="34" charset="-120"/>
              </a:rPr>
              <a:t>11</a:t>
            </a:r>
            <a:endParaRPr lang="en-US" sz="1700" dirty="0"/>
          </a:p>
        </p:txBody>
      </p:sp>
      <p:sp>
        <p:nvSpPr>
          <p:cNvPr id="21" name="Text 19"/>
          <p:cNvSpPr/>
          <p:nvPr/>
        </p:nvSpPr>
        <p:spPr>
          <a:xfrm>
            <a:off x="3886200" y="3154680"/>
            <a:ext cx="475488" cy="54864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1700" b="1" dirty="0">
                <a:solidFill>
                  <a:srgbClr val="1D3557"/>
                </a:solidFill>
                <a:latin typeface="Golos Text" pitchFamily="34" charset="0"/>
                <a:ea typeface="Golos Text" pitchFamily="34" charset="-122"/>
                <a:cs typeface="Golos Text" pitchFamily="34" charset="-120"/>
              </a:rPr>
              <a:t>18</a:t>
            </a:r>
            <a:endParaRPr lang="en-US" sz="1700" dirty="0"/>
          </a:p>
        </p:txBody>
      </p:sp>
      <p:sp>
        <p:nvSpPr>
          <p:cNvPr id="22" name="Text 20"/>
          <p:cNvSpPr/>
          <p:nvPr/>
        </p:nvSpPr>
        <p:spPr>
          <a:xfrm>
            <a:off x="594360" y="3886200"/>
            <a:ext cx="4069080" cy="685800"/>
          </a:xfrm>
          <a:prstGeom prst="rect">
            <a:avLst/>
          </a:prstGeom>
          <a:noFill/>
          <a:ln/>
        </p:spPr>
        <p:txBody>
          <a:bodyPr wrap="square" lIns="0" tIns="0" rIns="0" bIns="0" rtlCol="0" anchor="t"/>
          <a:lstStyle/>
          <a:p>
            <a:pPr algn="l" indent="0" marL="0">
              <a:buNone/>
            </a:pPr>
            <a:r>
              <a:rPr lang="en-US" sz="1600" b="1" dirty="0">
                <a:solidFill>
                  <a:srgbClr val="1D3557"/>
                </a:solidFill>
                <a:latin typeface="Golos Text" pitchFamily="34" charset="0"/>
                <a:ea typeface="Golos Text" pitchFamily="34" charset="-122"/>
                <a:cs typeface="Golos Text" pitchFamily="34" charset="-120"/>
              </a:rPr>
              <a:t>Орточону, медиананы, моданы жана кулачты тап.</a:t>
            </a:r>
            <a:endParaRPr lang="en-US" sz="1600" dirty="0"/>
          </a:p>
        </p:txBody>
      </p:sp>
      <p:sp>
        <p:nvSpPr>
          <p:cNvPr id="23" name="anim6_why"/>
          <p:cNvSpPr/>
          <p:nvPr/>
        </p:nvSpPr>
        <p:spPr>
          <a:xfrm>
            <a:off x="502920" y="4709160"/>
            <a:ext cx="4206240" cy="1463040"/>
          </a:xfrm>
          <a:prstGeom prst="roundRect">
            <a:avLst>
              <a:gd name="adj" fmla="val 10000"/>
            </a:avLst>
          </a:prstGeom>
          <a:solidFill>
            <a:srgbClr val="F5EBE3"/>
          </a:solidFill>
          <a:ln w="19050">
            <a:solidFill>
              <a:srgbClr val="A84400"/>
            </a:solidFill>
            <a:prstDash val="solid"/>
          </a:ln>
        </p:spPr>
      </p:sp>
      <p:sp>
        <p:nvSpPr>
          <p:cNvPr id="24" name="anim6_why"/>
          <p:cNvSpPr/>
          <p:nvPr/>
        </p:nvSpPr>
        <p:spPr>
          <a:xfrm>
            <a:off x="704088" y="4800600"/>
            <a:ext cx="3803904" cy="347472"/>
          </a:xfrm>
          <a:prstGeom prst="rect">
            <a:avLst/>
          </a:prstGeom>
          <a:noFill/>
          <a:ln/>
        </p:spPr>
        <p:txBody>
          <a:bodyPr wrap="square" lIns="0" tIns="0" rIns="0" bIns="0" rtlCol="0" anchor="t"/>
          <a:lstStyle/>
          <a:p>
            <a:pPr algn="l" indent="0" marL="0">
              <a:buNone/>
            </a:pPr>
            <a:r>
              <a:rPr lang="en-US" sz="1600" b="1" dirty="0">
                <a:solidFill>
                  <a:srgbClr val="A84400"/>
                </a:solidFill>
                <a:latin typeface="Golos Text" pitchFamily="34" charset="0"/>
                <a:ea typeface="Golos Text" pitchFamily="34" charset="-122"/>
                <a:cs typeface="Golos Text" pitchFamily="34" charset="-120"/>
              </a:rPr>
              <a:t>Эмне үчүн?</a:t>
            </a:r>
            <a:endParaRPr lang="en-US" sz="1600" dirty="0"/>
          </a:p>
        </p:txBody>
      </p:sp>
      <p:sp>
        <p:nvSpPr>
          <p:cNvPr id="25" name="anim6_why"/>
          <p:cNvSpPr/>
          <p:nvPr/>
        </p:nvSpPr>
        <p:spPr>
          <a:xfrm>
            <a:off x="704088" y="5166360"/>
            <a:ext cx="3803904" cy="932688"/>
          </a:xfrm>
          <a:prstGeom prst="rect">
            <a:avLst/>
          </a:prstGeom>
          <a:noFill/>
          <a:ln/>
        </p:spPr>
        <p:txBody>
          <a:bodyPr wrap="square" lIns="0" tIns="0" rIns="0" bIns="0" rtlCol="0" anchor="t"/>
          <a:lstStyle/>
          <a:p>
            <a:pPr algn="l" indent="0" marL="0">
              <a:buNone/>
            </a:pPr>
            <a:r>
              <a:rPr lang="en-US" sz="1500" dirty="0">
                <a:solidFill>
                  <a:srgbClr val="1D3557"/>
                </a:solidFill>
                <a:latin typeface="Golos Text" pitchFamily="34" charset="0"/>
                <a:ea typeface="Golos Text" pitchFamily="34" charset="-122"/>
                <a:cs typeface="Golos Text" pitchFamily="34" charset="-120"/>
              </a:rPr>
              <a:t>Эмне үчүн орточо (13) медианадан (12) чоң? Кайсы сан орточону өйдө тартты?</a:t>
            </a:r>
            <a:endParaRPr lang="en-US" sz="1500" dirty="0"/>
          </a:p>
        </p:txBody>
      </p:sp>
      <p:sp>
        <p:nvSpPr>
          <p:cNvPr id="26" name="anim1_s"/>
          <p:cNvSpPr/>
          <p:nvPr/>
        </p:nvSpPr>
        <p:spPr>
          <a:xfrm>
            <a:off x="5074920" y="1463040"/>
            <a:ext cx="6748272" cy="603504"/>
          </a:xfrm>
          <a:prstGeom prst="roundRect">
            <a:avLst>
              <a:gd name="adj" fmla="val 25000"/>
            </a:avLst>
          </a:prstGeom>
          <a:solidFill>
            <a:srgbClr val="FFFFFF"/>
          </a:solidFill>
          <a:ln w="15875">
            <a:solidFill>
              <a:srgbClr val="E7EAF2"/>
            </a:solidFill>
            <a:prstDash val="solid"/>
          </a:ln>
        </p:spPr>
      </p:sp>
      <p:sp>
        <p:nvSpPr>
          <p:cNvPr id="27" name="anim1_s"/>
          <p:cNvSpPr/>
          <p:nvPr/>
        </p:nvSpPr>
        <p:spPr>
          <a:xfrm>
            <a:off x="5184648" y="1554480"/>
            <a:ext cx="420624" cy="420624"/>
          </a:xfrm>
          <a:prstGeom prst="roundRect">
            <a:avLst>
              <a:gd name="adj" fmla="val 50000"/>
            </a:avLst>
          </a:prstGeom>
          <a:solidFill>
            <a:srgbClr val="24418C"/>
          </a:solidFill>
          <a:ln w="19050">
            <a:solidFill>
              <a:srgbClr val="24418C"/>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1</a:t>
            </a:r>
            <a:endParaRPr lang="en-US" sz="1600" dirty="0"/>
          </a:p>
        </p:txBody>
      </p:sp>
      <p:sp>
        <p:nvSpPr>
          <p:cNvPr id="28" name="anim1_s"/>
          <p:cNvSpPr/>
          <p:nvPr/>
        </p:nvSpPr>
        <p:spPr>
          <a:xfrm>
            <a:off x="5733288" y="1463040"/>
            <a:ext cx="5971032" cy="603504"/>
          </a:xfrm>
          <a:prstGeom prst="rect">
            <a:avLst/>
          </a:prstGeom>
          <a:noFill/>
          <a:ln/>
        </p:spPr>
        <p:txBody>
          <a:bodyPr wrap="square" lIns="0" tIns="0" rIns="0" bIns="0" rtlCol="0" anchor="ctr"/>
          <a:lstStyle/>
          <a:p>
            <a:pPr algn="l" indent="0" marL="0">
              <a:buNone/>
            </a:pPr>
            <a:r>
              <a:rPr lang="en-US" sz="1700" dirty="0">
                <a:solidFill>
                  <a:srgbClr val="1D3557"/>
                </a:solidFill>
                <a:latin typeface="Golos Text" pitchFamily="34" charset="0"/>
                <a:ea typeface="Golos Text" pitchFamily="34" charset="-122"/>
                <a:cs typeface="Golos Text" pitchFamily="34" charset="-120"/>
              </a:rPr>
              <a:t>Ирээттейбиз: 9, 11, 12, 12, 14, 15, 18</a:t>
            </a:r>
            <a:endParaRPr lang="en-US" sz="1700" dirty="0"/>
          </a:p>
        </p:txBody>
      </p:sp>
      <p:sp>
        <p:nvSpPr>
          <p:cNvPr id="29" name="anim2_s"/>
          <p:cNvSpPr/>
          <p:nvPr/>
        </p:nvSpPr>
        <p:spPr>
          <a:xfrm>
            <a:off x="5074920" y="2157984"/>
            <a:ext cx="6748272" cy="603504"/>
          </a:xfrm>
          <a:prstGeom prst="roundRect">
            <a:avLst>
              <a:gd name="adj" fmla="val 25000"/>
            </a:avLst>
          </a:prstGeom>
          <a:solidFill>
            <a:srgbClr val="FFFFFF"/>
          </a:solidFill>
          <a:ln w="15875">
            <a:solidFill>
              <a:srgbClr val="E7EAF2"/>
            </a:solidFill>
            <a:prstDash val="solid"/>
          </a:ln>
        </p:spPr>
      </p:sp>
      <p:sp>
        <p:nvSpPr>
          <p:cNvPr id="30" name="anim2_s"/>
          <p:cNvSpPr/>
          <p:nvPr/>
        </p:nvSpPr>
        <p:spPr>
          <a:xfrm>
            <a:off x="5184648" y="2249424"/>
            <a:ext cx="420624" cy="420624"/>
          </a:xfrm>
          <a:prstGeom prst="roundRect">
            <a:avLst>
              <a:gd name="adj" fmla="val 50000"/>
            </a:avLst>
          </a:prstGeom>
          <a:solidFill>
            <a:srgbClr val="24418C"/>
          </a:solidFill>
          <a:ln w="19050">
            <a:solidFill>
              <a:srgbClr val="24418C"/>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2</a:t>
            </a:r>
            <a:endParaRPr lang="en-US" sz="1600" dirty="0"/>
          </a:p>
        </p:txBody>
      </p:sp>
      <p:sp>
        <p:nvSpPr>
          <p:cNvPr id="31" name="anim2_s"/>
          <p:cNvSpPr/>
          <p:nvPr/>
        </p:nvSpPr>
        <p:spPr>
          <a:xfrm>
            <a:off x="5733288" y="2157984"/>
            <a:ext cx="5971032" cy="603504"/>
          </a:xfrm>
          <a:prstGeom prst="rect">
            <a:avLst/>
          </a:prstGeom>
          <a:noFill/>
          <a:ln/>
        </p:spPr>
        <p:txBody>
          <a:bodyPr wrap="square" lIns="0" tIns="0" rIns="0" bIns="0" rtlCol="0" anchor="ctr"/>
          <a:lstStyle/>
          <a:p>
            <a:pPr algn="l" indent="0" marL="0">
              <a:buNone/>
            </a:pPr>
            <a:r>
              <a:rPr lang="en-US" sz="1600" dirty="0">
                <a:solidFill>
                  <a:srgbClr val="1D3557"/>
                </a:solidFill>
                <a:latin typeface="Golos Text" pitchFamily="34" charset="0"/>
                <a:ea typeface="Golos Text" pitchFamily="34" charset="-122"/>
                <a:cs typeface="Golos Text" pitchFamily="34" charset="-120"/>
              </a:rPr>
              <a:t>Орточо: 12 + 9 + 14 + 12 + 15 + 11 + 18 = 91;  91 : 7 = 13</a:t>
            </a:r>
            <a:endParaRPr lang="en-US" sz="1600" dirty="0"/>
          </a:p>
        </p:txBody>
      </p:sp>
      <p:sp>
        <p:nvSpPr>
          <p:cNvPr id="32" name="anim3_s"/>
          <p:cNvSpPr/>
          <p:nvPr/>
        </p:nvSpPr>
        <p:spPr>
          <a:xfrm>
            <a:off x="5074920" y="2852928"/>
            <a:ext cx="6748272" cy="603504"/>
          </a:xfrm>
          <a:prstGeom prst="roundRect">
            <a:avLst>
              <a:gd name="adj" fmla="val 25000"/>
            </a:avLst>
          </a:prstGeom>
          <a:solidFill>
            <a:srgbClr val="FFFFFF"/>
          </a:solidFill>
          <a:ln w="15875">
            <a:solidFill>
              <a:srgbClr val="E7EAF2"/>
            </a:solidFill>
            <a:prstDash val="solid"/>
          </a:ln>
        </p:spPr>
      </p:sp>
      <p:sp>
        <p:nvSpPr>
          <p:cNvPr id="33" name="anim3_s"/>
          <p:cNvSpPr/>
          <p:nvPr/>
        </p:nvSpPr>
        <p:spPr>
          <a:xfrm>
            <a:off x="5184648" y="2944368"/>
            <a:ext cx="420624" cy="420624"/>
          </a:xfrm>
          <a:prstGeom prst="roundRect">
            <a:avLst>
              <a:gd name="adj" fmla="val 50000"/>
            </a:avLst>
          </a:prstGeom>
          <a:solidFill>
            <a:srgbClr val="24418C"/>
          </a:solidFill>
          <a:ln w="19050">
            <a:solidFill>
              <a:srgbClr val="24418C"/>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3</a:t>
            </a:r>
            <a:endParaRPr lang="en-US" sz="1600" dirty="0"/>
          </a:p>
        </p:txBody>
      </p:sp>
      <p:sp>
        <p:nvSpPr>
          <p:cNvPr id="34" name="anim3_s"/>
          <p:cNvSpPr/>
          <p:nvPr/>
        </p:nvSpPr>
        <p:spPr>
          <a:xfrm>
            <a:off x="5733288" y="2852928"/>
            <a:ext cx="5971032" cy="603504"/>
          </a:xfrm>
          <a:prstGeom prst="rect">
            <a:avLst/>
          </a:prstGeom>
          <a:noFill/>
          <a:ln/>
        </p:spPr>
        <p:txBody>
          <a:bodyPr wrap="square" lIns="0" tIns="0" rIns="0" bIns="0" rtlCol="0" anchor="ctr"/>
          <a:lstStyle/>
          <a:p>
            <a:pPr algn="l" indent="0" marL="0">
              <a:buNone/>
            </a:pPr>
            <a:r>
              <a:rPr lang="en-US" sz="1700" dirty="0">
                <a:solidFill>
                  <a:srgbClr val="1D3557"/>
                </a:solidFill>
                <a:latin typeface="Golos Text" pitchFamily="34" charset="0"/>
                <a:ea typeface="Golos Text" pitchFamily="34" charset="-122"/>
                <a:cs typeface="Golos Text" pitchFamily="34" charset="-120"/>
              </a:rPr>
              <a:t>Медиана: 7 сан → ортодогусу 4-сан: 12</a:t>
            </a:r>
            <a:endParaRPr lang="en-US" sz="1700" dirty="0"/>
          </a:p>
        </p:txBody>
      </p:sp>
      <p:sp>
        <p:nvSpPr>
          <p:cNvPr id="35" name="anim4_s"/>
          <p:cNvSpPr/>
          <p:nvPr/>
        </p:nvSpPr>
        <p:spPr>
          <a:xfrm>
            <a:off x="5074920" y="3547872"/>
            <a:ext cx="6748272" cy="603504"/>
          </a:xfrm>
          <a:prstGeom prst="roundRect">
            <a:avLst>
              <a:gd name="adj" fmla="val 25000"/>
            </a:avLst>
          </a:prstGeom>
          <a:solidFill>
            <a:srgbClr val="FFFFFF"/>
          </a:solidFill>
          <a:ln w="15875">
            <a:solidFill>
              <a:srgbClr val="E7EAF2"/>
            </a:solidFill>
            <a:prstDash val="solid"/>
          </a:ln>
        </p:spPr>
      </p:sp>
      <p:sp>
        <p:nvSpPr>
          <p:cNvPr id="36" name="anim4_s"/>
          <p:cNvSpPr/>
          <p:nvPr/>
        </p:nvSpPr>
        <p:spPr>
          <a:xfrm>
            <a:off x="5184648" y="3639312"/>
            <a:ext cx="420624" cy="420624"/>
          </a:xfrm>
          <a:prstGeom prst="roundRect">
            <a:avLst>
              <a:gd name="adj" fmla="val 50000"/>
            </a:avLst>
          </a:prstGeom>
          <a:solidFill>
            <a:srgbClr val="24418C"/>
          </a:solidFill>
          <a:ln w="19050">
            <a:solidFill>
              <a:srgbClr val="24418C"/>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4</a:t>
            </a:r>
            <a:endParaRPr lang="en-US" sz="1600" dirty="0"/>
          </a:p>
        </p:txBody>
      </p:sp>
      <p:sp>
        <p:nvSpPr>
          <p:cNvPr id="37" name="anim4_s"/>
          <p:cNvSpPr/>
          <p:nvPr/>
        </p:nvSpPr>
        <p:spPr>
          <a:xfrm>
            <a:off x="5733288" y="3547872"/>
            <a:ext cx="5971032" cy="603504"/>
          </a:xfrm>
          <a:prstGeom prst="rect">
            <a:avLst/>
          </a:prstGeom>
          <a:noFill/>
          <a:ln/>
        </p:spPr>
        <p:txBody>
          <a:bodyPr wrap="square" lIns="0" tIns="0" rIns="0" bIns="0" rtlCol="0" anchor="ctr"/>
          <a:lstStyle/>
          <a:p>
            <a:pPr algn="l" indent="0" marL="0">
              <a:buNone/>
            </a:pPr>
            <a:r>
              <a:rPr lang="en-US" sz="1700" dirty="0">
                <a:solidFill>
                  <a:srgbClr val="1D3557"/>
                </a:solidFill>
                <a:latin typeface="Golos Text" pitchFamily="34" charset="0"/>
                <a:ea typeface="Golos Text" pitchFamily="34" charset="-122"/>
                <a:cs typeface="Golos Text" pitchFamily="34" charset="-120"/>
              </a:rPr>
              <a:t>Мода: 12 (эки жолу кездешет)</a:t>
            </a:r>
            <a:endParaRPr lang="en-US" sz="1700" dirty="0"/>
          </a:p>
        </p:txBody>
      </p:sp>
      <p:sp>
        <p:nvSpPr>
          <p:cNvPr id="38" name="anim5_s"/>
          <p:cNvSpPr/>
          <p:nvPr/>
        </p:nvSpPr>
        <p:spPr>
          <a:xfrm>
            <a:off x="5074920" y="4242816"/>
            <a:ext cx="6748272" cy="603504"/>
          </a:xfrm>
          <a:prstGeom prst="roundRect">
            <a:avLst>
              <a:gd name="adj" fmla="val 25000"/>
            </a:avLst>
          </a:prstGeom>
          <a:solidFill>
            <a:srgbClr val="FFFFFF"/>
          </a:solidFill>
          <a:ln w="15875">
            <a:solidFill>
              <a:srgbClr val="E7EAF2"/>
            </a:solidFill>
            <a:prstDash val="solid"/>
          </a:ln>
        </p:spPr>
      </p:sp>
      <p:sp>
        <p:nvSpPr>
          <p:cNvPr id="39" name="anim5_s"/>
          <p:cNvSpPr/>
          <p:nvPr/>
        </p:nvSpPr>
        <p:spPr>
          <a:xfrm>
            <a:off x="5184648" y="4334256"/>
            <a:ext cx="420624" cy="420624"/>
          </a:xfrm>
          <a:prstGeom prst="roundRect">
            <a:avLst>
              <a:gd name="adj" fmla="val 50000"/>
            </a:avLst>
          </a:prstGeom>
          <a:solidFill>
            <a:srgbClr val="24418C"/>
          </a:solidFill>
          <a:ln w="19050">
            <a:solidFill>
              <a:srgbClr val="24418C"/>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5</a:t>
            </a:r>
            <a:endParaRPr lang="en-US" sz="1600" dirty="0"/>
          </a:p>
        </p:txBody>
      </p:sp>
      <p:sp>
        <p:nvSpPr>
          <p:cNvPr id="40" name="anim5_s"/>
          <p:cNvSpPr/>
          <p:nvPr/>
        </p:nvSpPr>
        <p:spPr>
          <a:xfrm>
            <a:off x="5733288" y="4242816"/>
            <a:ext cx="5971032" cy="603504"/>
          </a:xfrm>
          <a:prstGeom prst="rect">
            <a:avLst/>
          </a:prstGeom>
          <a:noFill/>
          <a:ln/>
        </p:spPr>
        <p:txBody>
          <a:bodyPr wrap="square" lIns="0" tIns="0" rIns="0" bIns="0" rtlCol="0" anchor="ctr"/>
          <a:lstStyle/>
          <a:p>
            <a:pPr algn="l" indent="0" marL="0">
              <a:buNone/>
            </a:pPr>
            <a:r>
              <a:rPr lang="en-US" sz="1700" dirty="0">
                <a:solidFill>
                  <a:srgbClr val="1D3557"/>
                </a:solidFill>
                <a:latin typeface="Golos Text" pitchFamily="34" charset="0"/>
                <a:ea typeface="Golos Text" pitchFamily="34" charset="-122"/>
                <a:cs typeface="Golos Text" pitchFamily="34" charset="-120"/>
              </a:rPr>
              <a:t>Кулач: 18 − 9 = 9</a:t>
            </a:r>
            <a:endParaRPr lang="en-US" sz="1700" dirty="0"/>
          </a:p>
        </p:txBody>
      </p:sp>
      <p:sp>
        <p:nvSpPr>
          <p:cNvPr id="41" name="anim7_ans"/>
          <p:cNvSpPr/>
          <p:nvPr/>
        </p:nvSpPr>
        <p:spPr>
          <a:xfrm>
            <a:off x="5074920" y="5074920"/>
            <a:ext cx="6748272" cy="1097280"/>
          </a:xfrm>
          <a:prstGeom prst="roundRect">
            <a:avLst>
              <a:gd name="adj" fmla="val 30000"/>
            </a:avLst>
          </a:prstGeom>
          <a:solidFill>
            <a:srgbClr val="D1E7E1"/>
          </a:solidFill>
          <a:ln w="28575">
            <a:solidFill>
              <a:srgbClr val="007A5A"/>
            </a:solidFill>
            <a:prstDash val="solid"/>
          </a:ln>
        </p:spPr>
        <p:txBody>
          <a:bodyPr wrap="square" lIns="76200" tIns="76200" rIns="76200" bIns="76200" rtlCol="0" anchor="ctr"/>
          <a:lstStyle/>
          <a:p>
            <a:pPr algn="ctr" indent="0" marL="0">
              <a:buNone/>
            </a:pPr>
            <a:r>
              <a:rPr lang="en-US" sz="2100" b="1" dirty="0">
                <a:solidFill>
                  <a:srgbClr val="007A5A"/>
                </a:solidFill>
                <a:latin typeface="Golos Text" pitchFamily="34" charset="0"/>
                <a:ea typeface="Golos Text" pitchFamily="34" charset="-122"/>
                <a:cs typeface="Golos Text" pitchFamily="34" charset="-120"/>
              </a:rPr>
              <a:t>Орточо 13 л · медиана 12 л</a:t>
            </a:r>
            <a:endParaRPr lang="en-US" sz="2100" dirty="0"/>
          </a:p>
          <a:p>
            <a:pPr algn="ctr" indent="0" marL="0">
              <a:buNone/>
            </a:pPr>
            <a:r>
              <a:rPr lang="en-US" sz="2100" b="1" dirty="0">
                <a:solidFill>
                  <a:srgbClr val="007A5A"/>
                </a:solidFill>
                <a:latin typeface="Golos Text" pitchFamily="34" charset="0"/>
                <a:ea typeface="Golos Text" pitchFamily="34" charset="-122"/>
                <a:cs typeface="Golos Text" pitchFamily="34" charset="-120"/>
              </a:rPr>
              <a:t>мода 12 л · кулач 9 л</a:t>
            </a:r>
            <a:endParaRPr lang="en-US" sz="2100" dirty="0"/>
          </a:p>
        </p:txBody>
      </p:sp>
      <p:sp>
        <p:nvSpPr>
          <p:cNvPr id="42" name="Slide Number Placeholder 0"/>
          <p:cNvSpPr>
            <a:spLocks noGrp="1"/>
          </p:cNvSpPr>
          <p:nvPr>
            <p:ph type="sldNum" sz="quarter" idx="4294967295"/>
          </p:nvPr>
        </p:nvSpPr>
        <p:spPr>
          <a:xfrm>
            <a:off x="11384280" y="6492240"/>
            <a:ext cx="438912"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99AA"/>
                </a:solidFill>
                <a:latin typeface="Golos Text"/>
                <a:ea typeface="Golos Text"/>
                <a:cs typeface="Golos Text"/>
              </a:defRPr>
            </a:lvl1pPr>
          </a:lstStyle>
          <a:p>
            <a:pPr algn="r"/>
            <a:fld id="{F7021451-1387-4CA6-816F-3879F97B5CBC}" type="slidenum">
              <a:rPr b="0" lang="en-US"/>
              <a:t>14</a:t>
            </a:fld>
            <a:endParaRPr lang="en-US"/>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6"/>
                                        </p:tgtEl>
                                        <p:attrNameLst>
                                          <p:attrName>style.visibility</p:attrName>
                                        </p:attrNameLst>
                                      </p:cBhvr>
                                      <p:to>
                                        <p:strVal val="visible"/>
                                      </p:to>
                                    </p:set>
                                    <p:animEffect transition="in" filter="fade">
                                      <p:cBhvr>
                                        <p:cTn id="5" dur="600"/>
                                        <p:tgtEl>
                                          <p:spTgt spid="2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7"/>
                                        </p:tgtEl>
                                        <p:attrNameLst>
                                          <p:attrName>style.visibility</p:attrName>
                                        </p:attrNameLst>
                                      </p:cBhvr>
                                      <p:to>
                                        <p:strVal val="visible"/>
                                      </p:to>
                                    </p:set>
                                    <p:animEffect transition="in" filter="fade">
                                      <p:cBhvr>
                                        <p:cTn id="8" dur="600"/>
                                        <p:tgtEl>
                                          <p:spTgt spid="2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600"/>
                                        <p:tgtEl>
                                          <p:spTgt spid="2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600"/>
                                        <p:tgtEl>
                                          <p:spTgt spid="2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600"/>
                                        <p:tgtEl>
                                          <p:spTgt spid="3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600"/>
                                        <p:tgtEl>
                                          <p:spTgt spid="31"/>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600"/>
                                        <p:tgtEl>
                                          <p:spTgt spid="3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fade">
                                      <p:cBhvr>
                                        <p:cTn id="30" dur="600"/>
                                        <p:tgtEl>
                                          <p:spTgt spid="3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4"/>
                                        </p:tgtEl>
                                        <p:attrNameLst>
                                          <p:attrName>style.visibility</p:attrName>
                                        </p:attrNameLst>
                                      </p:cBhvr>
                                      <p:to>
                                        <p:strVal val="visible"/>
                                      </p:to>
                                    </p:set>
                                    <p:animEffect transition="in" filter="fade">
                                      <p:cBhvr>
                                        <p:cTn id="33" dur="600"/>
                                        <p:tgtEl>
                                          <p:spTgt spid="34"/>
                                        </p:tgtEl>
                                      </p:cBhvr>
                                    </p:animEffect>
                                  </p:childTnLst>
                                </p:cTn>
                              </p:par>
                            </p:childTnLst>
                          </p:cTn>
                        </p:par>
                      </p:childTnLst>
                    </p:cTn>
                  </p:par>
                  <p:par>
                    <p:cTn id="45" fill="hold">
                      <p:stCondLst>
                        <p:cond delay="indefinite"/>
                      </p:stCondLst>
                      <p:childTnLst>
                        <p:par>
                          <p:cTn id="46"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fade">
                                      <p:cBhvr>
                                        <p:cTn id="38" dur="600"/>
                                        <p:tgtEl>
                                          <p:spTgt spid="3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fade">
                                      <p:cBhvr>
                                        <p:cTn id="41" dur="600"/>
                                        <p:tgtEl>
                                          <p:spTgt spid="3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7"/>
                                        </p:tgtEl>
                                        <p:attrNameLst>
                                          <p:attrName>style.visibility</p:attrName>
                                        </p:attrNameLst>
                                      </p:cBhvr>
                                      <p:to>
                                        <p:strVal val="visible"/>
                                      </p:to>
                                    </p:set>
                                    <p:animEffect transition="in" filter="fade">
                                      <p:cBhvr>
                                        <p:cTn id="44" dur="600"/>
                                        <p:tgtEl>
                                          <p:spTgt spid="37"/>
                                        </p:tgtEl>
                                      </p:cBhvr>
                                    </p:animEffect>
                                  </p:childTnLst>
                                </p:cTn>
                              </p:par>
                            </p:childTnLst>
                          </p:cTn>
                        </p:par>
                      </p:childTnLst>
                    </p:cTn>
                  </p:par>
                  <p:par>
                    <p:cTn id="56" fill="hold">
                      <p:stCondLst>
                        <p:cond delay="indefinite"/>
                      </p:stCondLst>
                      <p:childTnLst>
                        <p:par>
                          <p:cTn id="57"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8"/>
                                        </p:tgtEl>
                                        <p:attrNameLst>
                                          <p:attrName>style.visibility</p:attrName>
                                        </p:attrNameLst>
                                      </p:cBhvr>
                                      <p:to>
                                        <p:strVal val="visible"/>
                                      </p:to>
                                    </p:set>
                                    <p:animEffect transition="in" filter="fade">
                                      <p:cBhvr>
                                        <p:cTn id="49" dur="600"/>
                                        <p:tgtEl>
                                          <p:spTgt spid="3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fade">
                                      <p:cBhvr>
                                        <p:cTn id="52" dur="600"/>
                                        <p:tgtEl>
                                          <p:spTgt spid="3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0"/>
                                        </p:tgtEl>
                                        <p:attrNameLst>
                                          <p:attrName>style.visibility</p:attrName>
                                        </p:attrNameLst>
                                      </p:cBhvr>
                                      <p:to>
                                        <p:strVal val="visible"/>
                                      </p:to>
                                    </p:set>
                                    <p:animEffect transition="in" filter="fade">
                                      <p:cBhvr>
                                        <p:cTn id="55" dur="600"/>
                                        <p:tgtEl>
                                          <p:spTgt spid="40"/>
                                        </p:tgtEl>
                                      </p:cBhvr>
                                    </p:animEffect>
                                  </p:childTnLst>
                                </p:cTn>
                              </p:par>
                            </p:childTnLst>
                          </p:cTn>
                        </p:par>
                      </p:childTnLst>
                    </p:cTn>
                  </p:par>
                  <p:par>
                    <p:cTn id="67" fill="hold">
                      <p:stCondLst>
                        <p:cond delay="indefinite"/>
                      </p:stCondLst>
                      <p:childTnLst>
                        <p:par>
                          <p:cTn id="68"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60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60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600"/>
                                        <p:tgtEl>
                                          <p:spTgt spid="25"/>
                                        </p:tgtEl>
                                      </p:cBhvr>
                                    </p:animEffect>
                                  </p:childTnLst>
                                </p:cTn>
                              </p:par>
                            </p:childTnLst>
                          </p:cTn>
                        </p:par>
                      </p:childTnLst>
                    </p:cTn>
                  </p:par>
                  <p:par>
                    <p:cTn id="72" fill="hold">
                      <p:stCondLst>
                        <p:cond delay="indefinite"/>
                      </p:stCondLst>
                      <p:childTnLst>
                        <p:par>
                          <p:cTn id="73"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41"/>
                                        </p:tgtEl>
                                        <p:attrNameLst>
                                          <p:attrName>style.visibility</p:attrName>
                                        </p:attrNameLst>
                                      </p:cBhvr>
                                      <p:to>
                                        <p:strVal val="visible"/>
                                      </p:to>
                                    </p:set>
                                    <p:animEffect transition="in" filter="fade">
                                      <p:cBhvr>
                                        <p:cTn id="71" dur="6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30" grpId="0" animBg="1"/>
      <p:bldP spid="31" grpId="0" animBg="1"/>
      <p:bldP spid="33" grpId="0" animBg="1"/>
      <p:bldP spid="34" grpId="0" animBg="1"/>
      <p:bldP spid="36" grpId="0" animBg="1"/>
      <p:bldP spid="37" grpId="0" animBg="1"/>
      <p:bldP spid="39" grpId="0" animBg="1"/>
      <p:bldP spid="40" grpId="0" animBg="1"/>
      <p:bldP spid="24" grpId="0" animBg="1"/>
      <p:bldP spid="25" grpId="0" animBg="1"/>
      <p:bldP spid="4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11457432" cy="640080"/>
          </a:xfrm>
          <a:prstGeom prst="roundRect">
            <a:avLst>
              <a:gd name="adj" fmla="val 22000"/>
            </a:avLst>
          </a:prstGeom>
          <a:solidFill>
            <a:srgbClr val="FFFFFF"/>
          </a:solidFill>
          <a:ln w="19050">
            <a:solidFill>
              <a:srgbClr val="1D3557"/>
            </a:solidFill>
            <a:prstDash val="solid"/>
          </a:ln>
        </p:spPr>
      </p:sp>
      <p:sp>
        <p:nvSpPr>
          <p:cNvPr id="3" name="Shape 1"/>
          <p:cNvSpPr/>
          <p:nvPr/>
        </p:nvSpPr>
        <p:spPr>
          <a:xfrm>
            <a:off x="557784" y="369418"/>
            <a:ext cx="70409" cy="358445"/>
          </a:xfrm>
          <a:prstGeom prst="roundRect">
            <a:avLst>
              <a:gd name="adj" fmla="val 50000"/>
            </a:avLst>
          </a:prstGeom>
          <a:solidFill>
            <a:srgbClr val="007A5A"/>
          </a:solidFill>
          <a:ln/>
        </p:spPr>
      </p:sp>
      <p:sp>
        <p:nvSpPr>
          <p:cNvPr id="4" name="Shape 2"/>
          <p:cNvSpPr/>
          <p:nvPr/>
        </p:nvSpPr>
        <p:spPr>
          <a:xfrm>
            <a:off x="691561" y="369418"/>
            <a:ext cx="70409" cy="358445"/>
          </a:xfrm>
          <a:prstGeom prst="roundRect">
            <a:avLst>
              <a:gd name="adj" fmla="val 50000"/>
            </a:avLst>
          </a:prstGeom>
          <a:solidFill>
            <a:srgbClr val="A84400"/>
          </a:solidFill>
          <a:ln/>
        </p:spPr>
      </p:sp>
      <p:sp>
        <p:nvSpPr>
          <p:cNvPr id="5" name="Shape 3"/>
          <p:cNvSpPr/>
          <p:nvPr/>
        </p:nvSpPr>
        <p:spPr>
          <a:xfrm>
            <a:off x="825337" y="369418"/>
            <a:ext cx="70409" cy="358445"/>
          </a:xfrm>
          <a:prstGeom prst="roundRect">
            <a:avLst>
              <a:gd name="adj" fmla="val 50000"/>
            </a:avLst>
          </a:prstGeom>
          <a:solidFill>
            <a:srgbClr val="24418C"/>
          </a:solidFill>
          <a:ln/>
        </p:spPr>
      </p:sp>
      <p:sp>
        <p:nvSpPr>
          <p:cNvPr id="6" name="Text 4"/>
          <p:cNvSpPr/>
          <p:nvPr/>
        </p:nvSpPr>
        <p:spPr>
          <a:xfrm>
            <a:off x="1096914" y="228600"/>
            <a:ext cx="7589520" cy="640080"/>
          </a:xfrm>
          <a:prstGeom prst="rect">
            <a:avLst/>
          </a:prstGeom>
          <a:noFill/>
          <a:ln/>
        </p:spPr>
        <p:txBody>
          <a:bodyPr wrap="square" lIns="0" tIns="0" rIns="0" bIns="0" rtlCol="0" anchor="ctr"/>
          <a:lstStyle/>
          <a:p>
            <a:pPr algn="l" indent="0" marL="0">
              <a:buNone/>
            </a:pPr>
            <a:r>
              <a:rPr lang="en-US" sz="2200" b="1" dirty="0">
                <a:solidFill>
                  <a:srgbClr val="1D3557"/>
                </a:solidFill>
                <a:latin typeface="Golos Text" pitchFamily="34" charset="0"/>
                <a:ea typeface="Golos Text" pitchFamily="34" charset="-122"/>
                <a:cs typeface="Golos Text" pitchFamily="34" charset="-120"/>
              </a:rPr>
              <a:t>Мисал 2: жуп сандагы тизме — сен толукта</a:t>
            </a:r>
            <a:endParaRPr lang="en-US" sz="2200" dirty="0"/>
          </a:p>
        </p:txBody>
      </p:sp>
      <p:sp>
        <p:nvSpPr>
          <p:cNvPr id="7" name="Text 5"/>
          <p:cNvSpPr/>
          <p:nvPr/>
        </p:nvSpPr>
        <p:spPr>
          <a:xfrm>
            <a:off x="8778240" y="228600"/>
            <a:ext cx="2880360" cy="640080"/>
          </a:xfrm>
          <a:prstGeom prst="rect">
            <a:avLst/>
          </a:prstGeom>
          <a:noFill/>
          <a:ln/>
        </p:spPr>
        <p:txBody>
          <a:bodyPr wrap="square" lIns="0" tIns="0" rIns="0" bIns="0" rtlCol="0" anchor="ctr"/>
          <a:lstStyle/>
          <a:p>
            <a:pPr algn="r" indent="0" marL="0">
              <a:buNone/>
            </a:pPr>
            <a:r>
              <a:rPr lang="en-US" sz="1100" dirty="0">
                <a:solidFill>
                  <a:srgbClr val="4A5A70"/>
                </a:solidFill>
                <a:latin typeface="Golos Text" pitchFamily="34" charset="0"/>
                <a:ea typeface="Golos Text" pitchFamily="34" charset="-122"/>
                <a:cs typeface="Golos Text" pitchFamily="34" charset="-120"/>
              </a:rPr>
              <a:t>Статистика › Төрт өлчөм</a:t>
            </a:r>
            <a:endParaRPr lang="en-US" sz="1100" dirty="0"/>
          </a:p>
        </p:txBody>
      </p:sp>
      <p:sp>
        <p:nvSpPr>
          <p:cNvPr id="8" name="Text 6"/>
          <p:cNvSpPr/>
          <p:nvPr/>
        </p:nvSpPr>
        <p:spPr>
          <a:xfrm>
            <a:off x="411480" y="960120"/>
            <a:ext cx="8412480" cy="329184"/>
          </a:xfrm>
          <a:prstGeom prst="rect">
            <a:avLst/>
          </a:prstGeom>
          <a:noFill/>
          <a:ln/>
        </p:spPr>
        <p:txBody>
          <a:bodyPr wrap="square" lIns="0" tIns="0" rIns="0" bIns="0" rtlCol="0" anchor="t"/>
          <a:lstStyle/>
          <a:p>
            <a:pPr algn="l" indent="0" marL="0">
              <a:buNone/>
            </a:pPr>
            <a:r>
              <a:rPr lang="en-US" sz="1500" i="1" dirty="0">
                <a:solidFill>
                  <a:srgbClr val="4A5A70"/>
                </a:solidFill>
                <a:latin typeface="Golos Text" pitchFamily="34" charset="0"/>
                <a:ea typeface="Golos Text" pitchFamily="34" charset="-122"/>
                <a:cs typeface="Golos Text" pitchFamily="34" charset="-120"/>
              </a:rPr>
              <a:t>Кадамдар берилди, сандарды сен жазасың. Мини тактада көрсөт, анан текшер</a:t>
            </a:r>
            <a:endParaRPr lang="en-US" sz="1500" dirty="0"/>
          </a:p>
        </p:txBody>
      </p:sp>
      <p:sp>
        <p:nvSpPr>
          <p:cNvPr id="9" name="Text 7"/>
          <p:cNvSpPr/>
          <p:nvPr/>
        </p:nvSpPr>
        <p:spPr>
          <a:xfrm>
            <a:off x="8897112" y="969264"/>
            <a:ext cx="2926080" cy="310896"/>
          </a:xfrm>
          <a:prstGeom prst="rect">
            <a:avLst/>
          </a:prstGeom>
          <a:noFill/>
          <a:ln/>
        </p:spPr>
        <p:txBody>
          <a:bodyPr wrap="square" lIns="0" tIns="0" rIns="0" bIns="0" rtlCol="0" anchor="ctr"/>
          <a:lstStyle/>
          <a:p>
            <a:pPr algn="r" indent="0" marL="0">
              <a:buNone/>
            </a:pPr>
            <a:r>
              <a:rPr lang="en-US" sz="1200" dirty="0">
                <a:solidFill>
                  <a:srgbClr val="4A5A70"/>
                </a:solidFill>
                <a:latin typeface="Golos Text" pitchFamily="34" charset="0"/>
                <a:ea typeface="Golos Text" pitchFamily="34" charset="-122"/>
                <a:cs typeface="Golos Text" pitchFamily="34" charset="-120"/>
              </a:rPr>
              <a:t>Чеберчилик · 1,5 мүн</a:t>
            </a:r>
            <a:endParaRPr lang="en-US" sz="1200" dirty="0"/>
          </a:p>
        </p:txBody>
      </p:sp>
      <p:sp>
        <p:nvSpPr>
          <p:cNvPr id="10" name="Text 8"/>
          <p:cNvSpPr/>
          <p:nvPr/>
        </p:nvSpPr>
        <p:spPr>
          <a:xfrm>
            <a:off x="365760" y="6492240"/>
            <a:ext cx="5486400" cy="228600"/>
          </a:xfrm>
          <a:prstGeom prst="rect">
            <a:avLst/>
          </a:prstGeom>
          <a:noFill/>
          <a:ln/>
        </p:spPr>
        <p:txBody>
          <a:bodyPr wrap="square" lIns="0" tIns="0" rIns="0" bIns="0" rtlCol="0" anchor="t"/>
          <a:lstStyle/>
          <a:p>
            <a:pPr algn="l" indent="0" marL="0">
              <a:buNone/>
            </a:pPr>
            <a:r>
              <a:rPr lang="en-US" sz="900" dirty="0">
                <a:solidFill>
                  <a:srgbClr val="8D99AA"/>
                </a:solidFill>
                <a:latin typeface="Golos Text" pitchFamily="34" charset="0"/>
                <a:ea typeface="Golos Text" pitchFamily="34" charset="-122"/>
                <a:cs typeface="Golos Text" pitchFamily="34" charset="-120"/>
              </a:rPr>
              <a:t>MathKG · Математика кыргызча</a:t>
            </a:r>
            <a:endParaRPr lang="en-US" sz="900" dirty="0"/>
          </a:p>
        </p:txBody>
      </p:sp>
      <p:sp>
        <p:nvSpPr>
          <p:cNvPr id="11" name="Text 9"/>
          <p:cNvSpPr/>
          <p:nvPr/>
        </p:nvSpPr>
        <p:spPr>
          <a:xfrm>
            <a:off x="7680960" y="6492240"/>
            <a:ext cx="3657600" cy="228600"/>
          </a:xfrm>
          <a:prstGeom prst="rect">
            <a:avLst/>
          </a:prstGeom>
          <a:noFill/>
          <a:ln/>
        </p:spPr>
        <p:txBody>
          <a:bodyPr wrap="square" lIns="0" tIns="0" rIns="0" bIns="0" rtlCol="0" anchor="t"/>
          <a:lstStyle/>
          <a:p>
            <a:pPr algn="r" indent="0" marL="0">
              <a:buNone/>
            </a:pPr>
            <a:r>
              <a:rPr lang="en-US" sz="900" dirty="0">
                <a:solidFill>
                  <a:srgbClr val="8D99AA"/>
                </a:solidFill>
                <a:latin typeface="Golos Text" pitchFamily="34" charset="0"/>
                <a:ea typeface="Golos Text" pitchFamily="34" charset="-122"/>
                <a:cs typeface="Golos Text" pitchFamily="34" charset="-120"/>
              </a:rPr>
              <a:t>MathKG ыкмасы · 1,5 мүн</a:t>
            </a:r>
            <a:endParaRPr lang="en-US" sz="900" dirty="0"/>
          </a:p>
        </p:txBody>
      </p:sp>
      <p:sp>
        <p:nvSpPr>
          <p:cNvPr id="12" name="Shape 10"/>
          <p:cNvSpPr/>
          <p:nvPr/>
        </p:nvSpPr>
        <p:spPr>
          <a:xfrm>
            <a:off x="365760" y="1463040"/>
            <a:ext cx="4480560" cy="4846320"/>
          </a:xfrm>
          <a:prstGeom prst="roundRect">
            <a:avLst>
              <a:gd name="adj" fmla="val 5000"/>
            </a:avLst>
          </a:prstGeom>
          <a:solidFill>
            <a:srgbClr val="FFFFFF"/>
          </a:solidFill>
          <a:ln w="19050">
            <a:solidFill>
              <a:srgbClr val="1D3557"/>
            </a:solidFill>
            <a:prstDash val="dash"/>
          </a:ln>
        </p:spPr>
      </p:sp>
      <p:sp>
        <p:nvSpPr>
          <p:cNvPr id="13" name="Text 11"/>
          <p:cNvSpPr/>
          <p:nvPr/>
        </p:nvSpPr>
        <p:spPr>
          <a:xfrm>
            <a:off x="594360" y="1645920"/>
            <a:ext cx="2743200" cy="274320"/>
          </a:xfrm>
          <a:prstGeom prst="rect">
            <a:avLst/>
          </a:prstGeom>
          <a:noFill/>
          <a:ln/>
        </p:spPr>
        <p:txBody>
          <a:bodyPr wrap="square" lIns="0" tIns="0" rIns="0" bIns="0" rtlCol="0" anchor="t"/>
          <a:lstStyle/>
          <a:p>
            <a:pPr algn="l" indent="0" marL="0">
              <a:buNone/>
            </a:pPr>
            <a:r>
              <a:rPr lang="en-US" sz="1300" b="1" dirty="0">
                <a:solidFill>
                  <a:srgbClr val="A84400"/>
                </a:solidFill>
                <a:latin typeface="Golos Text" pitchFamily="34" charset="0"/>
                <a:ea typeface="Golos Text" pitchFamily="34" charset="-122"/>
                <a:cs typeface="Golos Text" pitchFamily="34" charset="-120"/>
              </a:rPr>
              <a:t>МАСЕЛЕ</a:t>
            </a:r>
            <a:endParaRPr lang="en-US" sz="1300" dirty="0"/>
          </a:p>
        </p:txBody>
      </p:sp>
      <p:sp>
        <p:nvSpPr>
          <p:cNvPr id="14" name="Text 12"/>
          <p:cNvSpPr/>
          <p:nvPr/>
        </p:nvSpPr>
        <p:spPr>
          <a:xfrm>
            <a:off x="594360" y="1965960"/>
            <a:ext cx="4069080" cy="777240"/>
          </a:xfrm>
          <a:prstGeom prst="rect">
            <a:avLst/>
          </a:prstGeom>
          <a:noFill/>
          <a:ln/>
        </p:spPr>
        <p:txBody>
          <a:bodyPr wrap="square" lIns="0" tIns="0" rIns="0" bIns="0" rtlCol="0" anchor="t"/>
          <a:lstStyle/>
          <a:p>
            <a:pPr algn="l" indent="0" marL="0">
              <a:buNone/>
            </a:pPr>
            <a:r>
              <a:rPr lang="en-US" sz="1700" dirty="0">
                <a:solidFill>
                  <a:srgbClr val="1D3557"/>
                </a:solidFill>
                <a:latin typeface="Golos Text" pitchFamily="34" charset="0"/>
                <a:ea typeface="Golos Text" pitchFamily="34" charset="-122"/>
                <a:cs typeface="Golos Text" pitchFamily="34" charset="-120"/>
              </a:rPr>
              <a:t>«Китеп айлыгында» 6 окуучу окуган китептердин саны:</a:t>
            </a:r>
            <a:endParaRPr lang="en-US" sz="1700" dirty="0"/>
          </a:p>
        </p:txBody>
      </p:sp>
      <p:sp>
        <p:nvSpPr>
          <p:cNvPr id="15" name="Text 13"/>
          <p:cNvSpPr/>
          <p:nvPr/>
        </p:nvSpPr>
        <p:spPr>
          <a:xfrm>
            <a:off x="594360" y="2834640"/>
            <a:ext cx="566928" cy="566928"/>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1900" b="1" dirty="0">
                <a:solidFill>
                  <a:srgbClr val="1D3557"/>
                </a:solidFill>
                <a:latin typeface="Golos Text" pitchFamily="34" charset="0"/>
                <a:ea typeface="Golos Text" pitchFamily="34" charset="-122"/>
                <a:cs typeface="Golos Text" pitchFamily="34" charset="-120"/>
              </a:rPr>
              <a:t>9</a:t>
            </a:r>
            <a:endParaRPr lang="en-US" sz="1900" dirty="0"/>
          </a:p>
        </p:txBody>
      </p:sp>
      <p:sp>
        <p:nvSpPr>
          <p:cNvPr id="16" name="Text 14"/>
          <p:cNvSpPr/>
          <p:nvPr/>
        </p:nvSpPr>
        <p:spPr>
          <a:xfrm>
            <a:off x="1252728" y="2834640"/>
            <a:ext cx="566928" cy="566928"/>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1900" b="1" dirty="0">
                <a:solidFill>
                  <a:srgbClr val="1D3557"/>
                </a:solidFill>
                <a:latin typeface="Golos Text" pitchFamily="34" charset="0"/>
                <a:ea typeface="Golos Text" pitchFamily="34" charset="-122"/>
                <a:cs typeface="Golos Text" pitchFamily="34" charset="-120"/>
              </a:rPr>
              <a:t>5</a:t>
            </a:r>
            <a:endParaRPr lang="en-US" sz="1900" dirty="0"/>
          </a:p>
        </p:txBody>
      </p:sp>
      <p:sp>
        <p:nvSpPr>
          <p:cNvPr id="17" name="Text 15"/>
          <p:cNvSpPr/>
          <p:nvPr/>
        </p:nvSpPr>
        <p:spPr>
          <a:xfrm>
            <a:off x="1911096" y="2834640"/>
            <a:ext cx="566928" cy="566928"/>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1900" b="1" dirty="0">
                <a:solidFill>
                  <a:srgbClr val="1D3557"/>
                </a:solidFill>
                <a:latin typeface="Golos Text" pitchFamily="34" charset="0"/>
                <a:ea typeface="Golos Text" pitchFamily="34" charset="-122"/>
                <a:cs typeface="Golos Text" pitchFamily="34" charset="-120"/>
              </a:rPr>
              <a:t>12</a:t>
            </a:r>
            <a:endParaRPr lang="en-US" sz="1900" dirty="0"/>
          </a:p>
        </p:txBody>
      </p:sp>
      <p:sp>
        <p:nvSpPr>
          <p:cNvPr id="18" name="Text 16"/>
          <p:cNvSpPr/>
          <p:nvPr/>
        </p:nvSpPr>
        <p:spPr>
          <a:xfrm>
            <a:off x="2569464" y="2834640"/>
            <a:ext cx="566928" cy="566928"/>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1900" b="1" dirty="0">
                <a:solidFill>
                  <a:srgbClr val="1D3557"/>
                </a:solidFill>
                <a:latin typeface="Golos Text" pitchFamily="34" charset="0"/>
                <a:ea typeface="Golos Text" pitchFamily="34" charset="-122"/>
                <a:cs typeface="Golos Text" pitchFamily="34" charset="-120"/>
              </a:rPr>
              <a:t>6</a:t>
            </a:r>
            <a:endParaRPr lang="en-US" sz="1900" dirty="0"/>
          </a:p>
        </p:txBody>
      </p:sp>
      <p:sp>
        <p:nvSpPr>
          <p:cNvPr id="19" name="Text 17"/>
          <p:cNvSpPr/>
          <p:nvPr/>
        </p:nvSpPr>
        <p:spPr>
          <a:xfrm>
            <a:off x="3227832" y="2834640"/>
            <a:ext cx="566928" cy="566928"/>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1900" b="1" dirty="0">
                <a:solidFill>
                  <a:srgbClr val="1D3557"/>
                </a:solidFill>
                <a:latin typeface="Golos Text" pitchFamily="34" charset="0"/>
                <a:ea typeface="Golos Text" pitchFamily="34" charset="-122"/>
                <a:cs typeface="Golos Text" pitchFamily="34" charset="-120"/>
              </a:rPr>
              <a:t>9</a:t>
            </a:r>
            <a:endParaRPr lang="en-US" sz="1900" dirty="0"/>
          </a:p>
        </p:txBody>
      </p:sp>
      <p:sp>
        <p:nvSpPr>
          <p:cNvPr id="20" name="Text 18"/>
          <p:cNvSpPr/>
          <p:nvPr/>
        </p:nvSpPr>
        <p:spPr>
          <a:xfrm>
            <a:off x="3886200" y="2834640"/>
            <a:ext cx="566928" cy="566928"/>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1900" b="1" dirty="0">
                <a:solidFill>
                  <a:srgbClr val="1D3557"/>
                </a:solidFill>
                <a:latin typeface="Golos Text" pitchFamily="34" charset="0"/>
                <a:ea typeface="Golos Text" pitchFamily="34" charset="-122"/>
                <a:cs typeface="Golos Text" pitchFamily="34" charset="-120"/>
              </a:rPr>
              <a:t>1</a:t>
            </a:r>
            <a:endParaRPr lang="en-US" sz="1900" dirty="0"/>
          </a:p>
        </p:txBody>
      </p:sp>
      <p:sp>
        <p:nvSpPr>
          <p:cNvPr id="21" name="Text 19"/>
          <p:cNvSpPr/>
          <p:nvPr/>
        </p:nvSpPr>
        <p:spPr>
          <a:xfrm>
            <a:off x="594360" y="3611880"/>
            <a:ext cx="4069080" cy="411480"/>
          </a:xfrm>
          <a:prstGeom prst="rect">
            <a:avLst/>
          </a:prstGeom>
          <a:noFill/>
          <a:ln/>
        </p:spPr>
        <p:txBody>
          <a:bodyPr wrap="square" lIns="0" tIns="0" rIns="0" bIns="0" rtlCol="0" anchor="t"/>
          <a:lstStyle/>
          <a:p>
            <a:pPr algn="l" indent="0" marL="0">
              <a:buNone/>
            </a:pPr>
            <a:r>
              <a:rPr lang="en-US" sz="1600" b="1" dirty="0">
                <a:solidFill>
                  <a:srgbClr val="1D3557"/>
                </a:solidFill>
                <a:latin typeface="Golos Text" pitchFamily="34" charset="0"/>
                <a:ea typeface="Golos Text" pitchFamily="34" charset="-122"/>
                <a:cs typeface="Golos Text" pitchFamily="34" charset="-120"/>
              </a:rPr>
              <a:t>Төрт өлчөмдү тап.</a:t>
            </a:r>
            <a:endParaRPr lang="en-US" sz="1600" dirty="0"/>
          </a:p>
        </p:txBody>
      </p:sp>
      <p:sp>
        <p:nvSpPr>
          <p:cNvPr id="22" name="Shape 20"/>
          <p:cNvSpPr/>
          <p:nvPr/>
        </p:nvSpPr>
        <p:spPr>
          <a:xfrm>
            <a:off x="594360" y="4206240"/>
            <a:ext cx="4023360" cy="1874520"/>
          </a:xfrm>
          <a:prstGeom prst="roundRect">
            <a:avLst>
              <a:gd name="adj" fmla="val 10000"/>
            </a:avLst>
          </a:prstGeom>
          <a:solidFill>
            <a:srgbClr val="F3F5FB"/>
          </a:solidFill>
          <a:ln/>
        </p:spPr>
      </p:sp>
      <p:sp>
        <p:nvSpPr>
          <p:cNvPr id="23" name="Text 21"/>
          <p:cNvSpPr/>
          <p:nvPr/>
        </p:nvSpPr>
        <p:spPr>
          <a:xfrm>
            <a:off x="777240" y="4343400"/>
            <a:ext cx="3657600" cy="1600200"/>
          </a:xfrm>
          <a:prstGeom prst="rect">
            <a:avLst/>
          </a:prstGeom>
          <a:noFill/>
          <a:ln/>
        </p:spPr>
        <p:txBody>
          <a:bodyPr wrap="square" lIns="0" tIns="0" rIns="0" bIns="0" rtlCol="0" anchor="t"/>
          <a:lstStyle/>
          <a:p>
            <a:pPr algn="l" indent="0" marL="0">
              <a:spcAft>
                <a:spcPts val="400"/>
              </a:spcAft>
              <a:buNone/>
            </a:pPr>
            <a:r>
              <a:rPr lang="en-US" sz="1600" b="1" dirty="0">
                <a:solidFill>
                  <a:srgbClr val="24418C"/>
                </a:solidFill>
                <a:latin typeface="Golos Text" pitchFamily="34" charset="0"/>
                <a:ea typeface="Golos Text" pitchFamily="34" charset="-122"/>
                <a:cs typeface="Golos Text" pitchFamily="34" charset="-120"/>
              </a:rPr>
              <a:t>Жуп сандагы тизмеде медиана:</a:t>
            </a:r>
            <a:endParaRPr lang="en-US" sz="1600" dirty="0"/>
          </a:p>
          <a:p>
            <a:pPr algn="l" indent="0" marL="0">
              <a:spcAft>
                <a:spcPts val="400"/>
              </a:spcAft>
              <a:buNone/>
            </a:pPr>
            <a:r>
              <a:rPr lang="en-US" sz="1600" b="1" dirty="0">
                <a:solidFill>
                  <a:srgbClr val="24418C"/>
                </a:solidFill>
                <a:latin typeface="Golos Text" pitchFamily="34" charset="0"/>
                <a:ea typeface="Golos Text" pitchFamily="34" charset="-122"/>
                <a:cs typeface="Golos Text" pitchFamily="34" charset="-120"/>
              </a:rPr>
              <a:t>ортодогу ЭКИ сандын орточосу.</a:t>
            </a:r>
            <a:endParaRPr lang="en-US" sz="1600" dirty="0"/>
          </a:p>
          <a:p>
            <a:pPr algn="l" indent="0" marL="0">
              <a:spcAft>
                <a:spcPts val="400"/>
              </a:spcAft>
              <a:buNone/>
            </a:pPr>
            <a:r>
              <a:rPr lang="en-US" sz="1600" b="1" dirty="0">
                <a:solidFill>
                  <a:srgbClr val="24418C"/>
                </a:solidFill>
                <a:latin typeface="Golos Text" pitchFamily="34" charset="0"/>
                <a:ea typeface="Golos Text" pitchFamily="34" charset="-122"/>
                <a:cs typeface="Golos Text" pitchFamily="34" charset="-120"/>
              </a:rPr>
              <a:t>6 сан → 3- жана 4-сандар.</a:t>
            </a:r>
            <a:endParaRPr lang="en-US" sz="1600" dirty="0"/>
          </a:p>
        </p:txBody>
      </p:sp>
      <p:sp>
        <p:nvSpPr>
          <p:cNvPr id="24" name="Shape 22"/>
          <p:cNvSpPr/>
          <p:nvPr/>
        </p:nvSpPr>
        <p:spPr>
          <a:xfrm>
            <a:off x="5074920" y="1463040"/>
            <a:ext cx="6748272" cy="603504"/>
          </a:xfrm>
          <a:prstGeom prst="roundRect">
            <a:avLst>
              <a:gd name="adj" fmla="val 25000"/>
            </a:avLst>
          </a:prstGeom>
          <a:solidFill>
            <a:srgbClr val="FFFFFF"/>
          </a:solidFill>
          <a:ln w="15875">
            <a:solidFill>
              <a:srgbClr val="E7EAF2"/>
            </a:solidFill>
            <a:prstDash val="solid"/>
          </a:ln>
        </p:spPr>
      </p:sp>
      <p:sp>
        <p:nvSpPr>
          <p:cNvPr id="25" name="Text 23"/>
          <p:cNvSpPr/>
          <p:nvPr/>
        </p:nvSpPr>
        <p:spPr>
          <a:xfrm>
            <a:off x="5184648" y="1554480"/>
            <a:ext cx="420624" cy="420624"/>
          </a:xfrm>
          <a:prstGeom prst="roundRect">
            <a:avLst>
              <a:gd name="adj" fmla="val 50000"/>
            </a:avLst>
          </a:prstGeom>
          <a:solidFill>
            <a:srgbClr val="24418C"/>
          </a:solidFill>
          <a:ln w="19050">
            <a:solidFill>
              <a:srgbClr val="24418C"/>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1</a:t>
            </a:r>
            <a:endParaRPr lang="en-US" sz="1600" dirty="0"/>
          </a:p>
        </p:txBody>
      </p:sp>
      <p:sp>
        <p:nvSpPr>
          <p:cNvPr id="26" name="Text 24"/>
          <p:cNvSpPr/>
          <p:nvPr/>
        </p:nvSpPr>
        <p:spPr>
          <a:xfrm>
            <a:off x="5733288" y="1463040"/>
            <a:ext cx="1463040" cy="603504"/>
          </a:xfrm>
          <a:prstGeom prst="rect">
            <a:avLst/>
          </a:prstGeom>
          <a:noFill/>
          <a:ln/>
        </p:spPr>
        <p:txBody>
          <a:bodyPr wrap="square" lIns="0" tIns="0" rIns="0" bIns="0" rtlCol="0" anchor="ctr"/>
          <a:lstStyle/>
          <a:p>
            <a:pPr algn="l" indent="0" marL="0">
              <a:buNone/>
            </a:pPr>
            <a:r>
              <a:rPr lang="en-US" sz="1700" b="1" dirty="0">
                <a:solidFill>
                  <a:srgbClr val="1D3557"/>
                </a:solidFill>
                <a:latin typeface="Golos Text" pitchFamily="34" charset="0"/>
                <a:ea typeface="Golos Text" pitchFamily="34" charset="-122"/>
                <a:cs typeface="Golos Text" pitchFamily="34" charset="-120"/>
              </a:rPr>
              <a:t>Ирээттө:</a:t>
            </a:r>
            <a:endParaRPr lang="en-US" sz="1700" dirty="0"/>
          </a:p>
        </p:txBody>
      </p:sp>
      <p:sp>
        <p:nvSpPr>
          <p:cNvPr id="27" name="Shape 25"/>
          <p:cNvSpPr/>
          <p:nvPr/>
        </p:nvSpPr>
        <p:spPr>
          <a:xfrm>
            <a:off x="7269480" y="1536192"/>
            <a:ext cx="4389120" cy="457200"/>
          </a:xfrm>
          <a:prstGeom prst="roundRect">
            <a:avLst>
              <a:gd name="adj" fmla="val 30000"/>
            </a:avLst>
          </a:prstGeom>
          <a:solidFill>
            <a:srgbClr val="FFFFFF"/>
          </a:solidFill>
          <a:ln w="19050">
            <a:solidFill>
              <a:srgbClr val="8D99AA"/>
            </a:solidFill>
            <a:prstDash val="dash"/>
          </a:ln>
        </p:spPr>
      </p:sp>
      <p:sp>
        <p:nvSpPr>
          <p:cNvPr id="28" name="anim1_f"/>
          <p:cNvSpPr/>
          <p:nvPr/>
        </p:nvSpPr>
        <p:spPr>
          <a:xfrm>
            <a:off x="7269480" y="1536192"/>
            <a:ext cx="4389120" cy="457200"/>
          </a:xfrm>
          <a:prstGeom prst="roundRect">
            <a:avLst>
              <a:gd name="adj" fmla="val 30000"/>
            </a:avLst>
          </a:prstGeom>
          <a:solidFill>
            <a:srgbClr val="E7EAF2"/>
          </a:solidFill>
          <a:ln w="19050">
            <a:solidFill>
              <a:srgbClr val="24418C"/>
            </a:solidFill>
            <a:prstDash val="solid"/>
          </a:ln>
        </p:spPr>
        <p:txBody>
          <a:bodyPr wrap="square" lIns="0" tIns="0" rIns="0" bIns="0" rtlCol="0" anchor="ctr"/>
          <a:lstStyle/>
          <a:p>
            <a:pPr algn="ctr" indent="0" marL="0">
              <a:buNone/>
            </a:pPr>
            <a:r>
              <a:rPr lang="en-US" sz="1800" b="1" dirty="0">
                <a:solidFill>
                  <a:srgbClr val="24418C"/>
                </a:solidFill>
                <a:latin typeface="Golos Text" pitchFamily="34" charset="0"/>
                <a:ea typeface="Golos Text" pitchFamily="34" charset="-122"/>
                <a:cs typeface="Golos Text" pitchFamily="34" charset="-120"/>
              </a:rPr>
              <a:t>1, 5, 6, 9, 9, 12</a:t>
            </a:r>
            <a:endParaRPr lang="en-US" sz="1800" dirty="0"/>
          </a:p>
        </p:txBody>
      </p:sp>
      <p:sp>
        <p:nvSpPr>
          <p:cNvPr id="29" name="Shape 27"/>
          <p:cNvSpPr/>
          <p:nvPr/>
        </p:nvSpPr>
        <p:spPr>
          <a:xfrm>
            <a:off x="5074920" y="2157984"/>
            <a:ext cx="6748272" cy="603504"/>
          </a:xfrm>
          <a:prstGeom prst="roundRect">
            <a:avLst>
              <a:gd name="adj" fmla="val 25000"/>
            </a:avLst>
          </a:prstGeom>
          <a:solidFill>
            <a:srgbClr val="FFFFFF"/>
          </a:solidFill>
          <a:ln w="15875">
            <a:solidFill>
              <a:srgbClr val="E7EAF2"/>
            </a:solidFill>
            <a:prstDash val="solid"/>
          </a:ln>
        </p:spPr>
      </p:sp>
      <p:sp>
        <p:nvSpPr>
          <p:cNvPr id="30" name="Text 28"/>
          <p:cNvSpPr/>
          <p:nvPr/>
        </p:nvSpPr>
        <p:spPr>
          <a:xfrm>
            <a:off x="5184648" y="2249424"/>
            <a:ext cx="420624" cy="420624"/>
          </a:xfrm>
          <a:prstGeom prst="roundRect">
            <a:avLst>
              <a:gd name="adj" fmla="val 50000"/>
            </a:avLst>
          </a:prstGeom>
          <a:solidFill>
            <a:srgbClr val="24418C"/>
          </a:solidFill>
          <a:ln w="19050">
            <a:solidFill>
              <a:srgbClr val="24418C"/>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2</a:t>
            </a:r>
            <a:endParaRPr lang="en-US" sz="1600" dirty="0"/>
          </a:p>
        </p:txBody>
      </p:sp>
      <p:sp>
        <p:nvSpPr>
          <p:cNvPr id="31" name="Text 29"/>
          <p:cNvSpPr/>
          <p:nvPr/>
        </p:nvSpPr>
        <p:spPr>
          <a:xfrm>
            <a:off x="5733288" y="2157984"/>
            <a:ext cx="1463040" cy="603504"/>
          </a:xfrm>
          <a:prstGeom prst="rect">
            <a:avLst/>
          </a:prstGeom>
          <a:noFill/>
          <a:ln/>
        </p:spPr>
        <p:txBody>
          <a:bodyPr wrap="square" lIns="0" tIns="0" rIns="0" bIns="0" rtlCol="0" anchor="ctr"/>
          <a:lstStyle/>
          <a:p>
            <a:pPr algn="l" indent="0" marL="0">
              <a:buNone/>
            </a:pPr>
            <a:r>
              <a:rPr lang="en-US" sz="1700" b="1" dirty="0">
                <a:solidFill>
                  <a:srgbClr val="1D3557"/>
                </a:solidFill>
                <a:latin typeface="Golos Text" pitchFamily="34" charset="0"/>
                <a:ea typeface="Golos Text" pitchFamily="34" charset="-122"/>
                <a:cs typeface="Golos Text" pitchFamily="34" charset="-120"/>
              </a:rPr>
              <a:t>Орточо:</a:t>
            </a:r>
            <a:endParaRPr lang="en-US" sz="1700" dirty="0"/>
          </a:p>
        </p:txBody>
      </p:sp>
      <p:sp>
        <p:nvSpPr>
          <p:cNvPr id="32" name="Shape 30"/>
          <p:cNvSpPr/>
          <p:nvPr/>
        </p:nvSpPr>
        <p:spPr>
          <a:xfrm>
            <a:off x="7269480" y="2231136"/>
            <a:ext cx="4389120" cy="457200"/>
          </a:xfrm>
          <a:prstGeom prst="roundRect">
            <a:avLst>
              <a:gd name="adj" fmla="val 30000"/>
            </a:avLst>
          </a:prstGeom>
          <a:solidFill>
            <a:srgbClr val="FFFFFF"/>
          </a:solidFill>
          <a:ln w="19050">
            <a:solidFill>
              <a:srgbClr val="8D99AA"/>
            </a:solidFill>
            <a:prstDash val="dash"/>
          </a:ln>
        </p:spPr>
      </p:sp>
      <p:sp>
        <p:nvSpPr>
          <p:cNvPr id="33" name="anim2_f"/>
          <p:cNvSpPr/>
          <p:nvPr/>
        </p:nvSpPr>
        <p:spPr>
          <a:xfrm>
            <a:off x="7269480" y="2231136"/>
            <a:ext cx="4389120" cy="457200"/>
          </a:xfrm>
          <a:prstGeom prst="roundRect">
            <a:avLst>
              <a:gd name="adj" fmla="val 30000"/>
            </a:avLst>
          </a:prstGeom>
          <a:solidFill>
            <a:srgbClr val="E7EAF2"/>
          </a:solidFill>
          <a:ln w="19050">
            <a:solidFill>
              <a:srgbClr val="24418C"/>
            </a:solidFill>
            <a:prstDash val="solid"/>
          </a:ln>
        </p:spPr>
        <p:txBody>
          <a:bodyPr wrap="square" lIns="0" tIns="0" rIns="0" bIns="0" rtlCol="0" anchor="ctr"/>
          <a:lstStyle/>
          <a:p>
            <a:pPr algn="ctr" indent="0" marL="0">
              <a:buNone/>
            </a:pPr>
            <a:r>
              <a:rPr lang="en-US" sz="1800" b="1" dirty="0">
                <a:solidFill>
                  <a:srgbClr val="24418C"/>
                </a:solidFill>
                <a:latin typeface="Golos Text" pitchFamily="34" charset="0"/>
                <a:ea typeface="Golos Text" pitchFamily="34" charset="-122"/>
                <a:cs typeface="Golos Text" pitchFamily="34" charset="-120"/>
              </a:rPr>
              <a:t>42 : 6 = 7</a:t>
            </a:r>
            <a:endParaRPr lang="en-US" sz="1800" dirty="0"/>
          </a:p>
        </p:txBody>
      </p:sp>
      <p:sp>
        <p:nvSpPr>
          <p:cNvPr id="34" name="Shape 32"/>
          <p:cNvSpPr/>
          <p:nvPr/>
        </p:nvSpPr>
        <p:spPr>
          <a:xfrm>
            <a:off x="5074920" y="2852928"/>
            <a:ext cx="6748272" cy="603504"/>
          </a:xfrm>
          <a:prstGeom prst="roundRect">
            <a:avLst>
              <a:gd name="adj" fmla="val 25000"/>
            </a:avLst>
          </a:prstGeom>
          <a:solidFill>
            <a:srgbClr val="FFFFFF"/>
          </a:solidFill>
          <a:ln w="15875">
            <a:solidFill>
              <a:srgbClr val="E7EAF2"/>
            </a:solidFill>
            <a:prstDash val="solid"/>
          </a:ln>
        </p:spPr>
      </p:sp>
      <p:sp>
        <p:nvSpPr>
          <p:cNvPr id="35" name="Text 33"/>
          <p:cNvSpPr/>
          <p:nvPr/>
        </p:nvSpPr>
        <p:spPr>
          <a:xfrm>
            <a:off x="5184648" y="2944368"/>
            <a:ext cx="420624" cy="420624"/>
          </a:xfrm>
          <a:prstGeom prst="roundRect">
            <a:avLst>
              <a:gd name="adj" fmla="val 50000"/>
            </a:avLst>
          </a:prstGeom>
          <a:solidFill>
            <a:srgbClr val="24418C"/>
          </a:solidFill>
          <a:ln w="19050">
            <a:solidFill>
              <a:srgbClr val="24418C"/>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3</a:t>
            </a:r>
            <a:endParaRPr lang="en-US" sz="1600" dirty="0"/>
          </a:p>
        </p:txBody>
      </p:sp>
      <p:sp>
        <p:nvSpPr>
          <p:cNvPr id="36" name="Text 34"/>
          <p:cNvSpPr/>
          <p:nvPr/>
        </p:nvSpPr>
        <p:spPr>
          <a:xfrm>
            <a:off x="5733288" y="2852928"/>
            <a:ext cx="1463040" cy="603504"/>
          </a:xfrm>
          <a:prstGeom prst="rect">
            <a:avLst/>
          </a:prstGeom>
          <a:noFill/>
          <a:ln/>
        </p:spPr>
        <p:txBody>
          <a:bodyPr wrap="square" lIns="0" tIns="0" rIns="0" bIns="0" rtlCol="0" anchor="ctr"/>
          <a:lstStyle/>
          <a:p>
            <a:pPr algn="l" indent="0" marL="0">
              <a:buNone/>
            </a:pPr>
            <a:r>
              <a:rPr lang="en-US" sz="1700" b="1" dirty="0">
                <a:solidFill>
                  <a:srgbClr val="1D3557"/>
                </a:solidFill>
                <a:latin typeface="Golos Text" pitchFamily="34" charset="0"/>
                <a:ea typeface="Golos Text" pitchFamily="34" charset="-122"/>
                <a:cs typeface="Golos Text" pitchFamily="34" charset="-120"/>
              </a:rPr>
              <a:t>Медиана:</a:t>
            </a:r>
            <a:endParaRPr lang="en-US" sz="1700" dirty="0"/>
          </a:p>
        </p:txBody>
      </p:sp>
      <p:sp>
        <p:nvSpPr>
          <p:cNvPr id="37" name="Shape 35"/>
          <p:cNvSpPr/>
          <p:nvPr/>
        </p:nvSpPr>
        <p:spPr>
          <a:xfrm>
            <a:off x="7269480" y="2926080"/>
            <a:ext cx="4389120" cy="457200"/>
          </a:xfrm>
          <a:prstGeom prst="roundRect">
            <a:avLst>
              <a:gd name="adj" fmla="val 30000"/>
            </a:avLst>
          </a:prstGeom>
          <a:solidFill>
            <a:srgbClr val="FFFFFF"/>
          </a:solidFill>
          <a:ln w="19050">
            <a:solidFill>
              <a:srgbClr val="8D99AA"/>
            </a:solidFill>
            <a:prstDash val="dash"/>
          </a:ln>
        </p:spPr>
      </p:sp>
      <p:sp>
        <p:nvSpPr>
          <p:cNvPr id="38" name="anim3_f"/>
          <p:cNvSpPr/>
          <p:nvPr/>
        </p:nvSpPr>
        <p:spPr>
          <a:xfrm>
            <a:off x="7269480" y="2926080"/>
            <a:ext cx="4389120" cy="457200"/>
          </a:xfrm>
          <a:prstGeom prst="roundRect">
            <a:avLst>
              <a:gd name="adj" fmla="val 30000"/>
            </a:avLst>
          </a:prstGeom>
          <a:solidFill>
            <a:srgbClr val="E7EAF2"/>
          </a:solidFill>
          <a:ln w="19050">
            <a:solidFill>
              <a:srgbClr val="24418C"/>
            </a:solidFill>
            <a:prstDash val="solid"/>
          </a:ln>
        </p:spPr>
        <p:txBody>
          <a:bodyPr wrap="square" lIns="0" tIns="0" rIns="0" bIns="0" rtlCol="0" anchor="ctr"/>
          <a:lstStyle/>
          <a:p>
            <a:pPr algn="ctr" indent="0" marL="0">
              <a:buNone/>
            </a:pPr>
            <a:r>
              <a:rPr lang="en-US" sz="1800" b="1" dirty="0">
                <a:solidFill>
                  <a:srgbClr val="24418C"/>
                </a:solidFill>
                <a:latin typeface="Golos Text" pitchFamily="34" charset="0"/>
                <a:ea typeface="Golos Text" pitchFamily="34" charset="-122"/>
                <a:cs typeface="Golos Text" pitchFamily="34" charset="-120"/>
              </a:rPr>
              <a:t>(6 + 9) : 2 = 7,5</a:t>
            </a:r>
            <a:endParaRPr lang="en-US" sz="1800" dirty="0"/>
          </a:p>
        </p:txBody>
      </p:sp>
      <p:sp>
        <p:nvSpPr>
          <p:cNvPr id="39" name="Shape 37"/>
          <p:cNvSpPr/>
          <p:nvPr/>
        </p:nvSpPr>
        <p:spPr>
          <a:xfrm>
            <a:off x="5074920" y="3547872"/>
            <a:ext cx="6748272" cy="603504"/>
          </a:xfrm>
          <a:prstGeom prst="roundRect">
            <a:avLst>
              <a:gd name="adj" fmla="val 25000"/>
            </a:avLst>
          </a:prstGeom>
          <a:solidFill>
            <a:srgbClr val="FFFFFF"/>
          </a:solidFill>
          <a:ln w="15875">
            <a:solidFill>
              <a:srgbClr val="E7EAF2"/>
            </a:solidFill>
            <a:prstDash val="solid"/>
          </a:ln>
        </p:spPr>
      </p:sp>
      <p:sp>
        <p:nvSpPr>
          <p:cNvPr id="40" name="Text 38"/>
          <p:cNvSpPr/>
          <p:nvPr/>
        </p:nvSpPr>
        <p:spPr>
          <a:xfrm>
            <a:off x="5184648" y="3639312"/>
            <a:ext cx="420624" cy="420624"/>
          </a:xfrm>
          <a:prstGeom prst="roundRect">
            <a:avLst>
              <a:gd name="adj" fmla="val 50000"/>
            </a:avLst>
          </a:prstGeom>
          <a:solidFill>
            <a:srgbClr val="24418C"/>
          </a:solidFill>
          <a:ln w="19050">
            <a:solidFill>
              <a:srgbClr val="24418C"/>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4</a:t>
            </a:r>
            <a:endParaRPr lang="en-US" sz="1600" dirty="0"/>
          </a:p>
        </p:txBody>
      </p:sp>
      <p:sp>
        <p:nvSpPr>
          <p:cNvPr id="41" name="Text 39"/>
          <p:cNvSpPr/>
          <p:nvPr/>
        </p:nvSpPr>
        <p:spPr>
          <a:xfrm>
            <a:off x="5733288" y="3547872"/>
            <a:ext cx="1463040" cy="603504"/>
          </a:xfrm>
          <a:prstGeom prst="rect">
            <a:avLst/>
          </a:prstGeom>
          <a:noFill/>
          <a:ln/>
        </p:spPr>
        <p:txBody>
          <a:bodyPr wrap="square" lIns="0" tIns="0" rIns="0" bIns="0" rtlCol="0" anchor="ctr"/>
          <a:lstStyle/>
          <a:p>
            <a:pPr algn="l" indent="0" marL="0">
              <a:buNone/>
            </a:pPr>
            <a:r>
              <a:rPr lang="en-US" sz="1700" b="1" dirty="0">
                <a:solidFill>
                  <a:srgbClr val="1D3557"/>
                </a:solidFill>
                <a:latin typeface="Golos Text" pitchFamily="34" charset="0"/>
                <a:ea typeface="Golos Text" pitchFamily="34" charset="-122"/>
                <a:cs typeface="Golos Text" pitchFamily="34" charset="-120"/>
              </a:rPr>
              <a:t>Мода:</a:t>
            </a:r>
            <a:endParaRPr lang="en-US" sz="1700" dirty="0"/>
          </a:p>
        </p:txBody>
      </p:sp>
      <p:sp>
        <p:nvSpPr>
          <p:cNvPr id="42" name="Shape 40"/>
          <p:cNvSpPr/>
          <p:nvPr/>
        </p:nvSpPr>
        <p:spPr>
          <a:xfrm>
            <a:off x="7269480" y="3621024"/>
            <a:ext cx="4389120" cy="457200"/>
          </a:xfrm>
          <a:prstGeom prst="roundRect">
            <a:avLst>
              <a:gd name="adj" fmla="val 30000"/>
            </a:avLst>
          </a:prstGeom>
          <a:solidFill>
            <a:srgbClr val="FFFFFF"/>
          </a:solidFill>
          <a:ln w="19050">
            <a:solidFill>
              <a:srgbClr val="8D99AA"/>
            </a:solidFill>
            <a:prstDash val="dash"/>
          </a:ln>
        </p:spPr>
      </p:sp>
      <p:sp>
        <p:nvSpPr>
          <p:cNvPr id="43" name="anim4_f"/>
          <p:cNvSpPr/>
          <p:nvPr/>
        </p:nvSpPr>
        <p:spPr>
          <a:xfrm>
            <a:off x="7269480" y="3621024"/>
            <a:ext cx="4389120" cy="457200"/>
          </a:xfrm>
          <a:prstGeom prst="roundRect">
            <a:avLst>
              <a:gd name="adj" fmla="val 30000"/>
            </a:avLst>
          </a:prstGeom>
          <a:solidFill>
            <a:srgbClr val="E7EAF2"/>
          </a:solidFill>
          <a:ln w="19050">
            <a:solidFill>
              <a:srgbClr val="24418C"/>
            </a:solidFill>
            <a:prstDash val="solid"/>
          </a:ln>
        </p:spPr>
        <p:txBody>
          <a:bodyPr wrap="square" lIns="0" tIns="0" rIns="0" bIns="0" rtlCol="0" anchor="ctr"/>
          <a:lstStyle/>
          <a:p>
            <a:pPr algn="ctr" indent="0" marL="0">
              <a:buNone/>
            </a:pPr>
            <a:r>
              <a:rPr lang="en-US" sz="1800" b="1" dirty="0">
                <a:solidFill>
                  <a:srgbClr val="24418C"/>
                </a:solidFill>
                <a:latin typeface="Golos Text" pitchFamily="34" charset="0"/>
                <a:ea typeface="Golos Text" pitchFamily="34" charset="-122"/>
                <a:cs typeface="Golos Text" pitchFamily="34" charset="-120"/>
              </a:rPr>
              <a:t>9</a:t>
            </a:r>
            <a:endParaRPr lang="en-US" sz="1800" dirty="0"/>
          </a:p>
        </p:txBody>
      </p:sp>
      <p:sp>
        <p:nvSpPr>
          <p:cNvPr id="44" name="Shape 42"/>
          <p:cNvSpPr/>
          <p:nvPr/>
        </p:nvSpPr>
        <p:spPr>
          <a:xfrm>
            <a:off x="5074920" y="4242816"/>
            <a:ext cx="6748272" cy="603504"/>
          </a:xfrm>
          <a:prstGeom prst="roundRect">
            <a:avLst>
              <a:gd name="adj" fmla="val 25000"/>
            </a:avLst>
          </a:prstGeom>
          <a:solidFill>
            <a:srgbClr val="FFFFFF"/>
          </a:solidFill>
          <a:ln w="15875">
            <a:solidFill>
              <a:srgbClr val="E7EAF2"/>
            </a:solidFill>
            <a:prstDash val="solid"/>
          </a:ln>
        </p:spPr>
      </p:sp>
      <p:sp>
        <p:nvSpPr>
          <p:cNvPr id="45" name="Text 43"/>
          <p:cNvSpPr/>
          <p:nvPr/>
        </p:nvSpPr>
        <p:spPr>
          <a:xfrm>
            <a:off x="5184648" y="4334256"/>
            <a:ext cx="420624" cy="420624"/>
          </a:xfrm>
          <a:prstGeom prst="roundRect">
            <a:avLst>
              <a:gd name="adj" fmla="val 50000"/>
            </a:avLst>
          </a:prstGeom>
          <a:solidFill>
            <a:srgbClr val="24418C"/>
          </a:solidFill>
          <a:ln w="19050">
            <a:solidFill>
              <a:srgbClr val="24418C"/>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5</a:t>
            </a:r>
            <a:endParaRPr lang="en-US" sz="1600" dirty="0"/>
          </a:p>
        </p:txBody>
      </p:sp>
      <p:sp>
        <p:nvSpPr>
          <p:cNvPr id="46" name="Text 44"/>
          <p:cNvSpPr/>
          <p:nvPr/>
        </p:nvSpPr>
        <p:spPr>
          <a:xfrm>
            <a:off x="5733288" y="4242816"/>
            <a:ext cx="1463040" cy="603504"/>
          </a:xfrm>
          <a:prstGeom prst="rect">
            <a:avLst/>
          </a:prstGeom>
          <a:noFill/>
          <a:ln/>
        </p:spPr>
        <p:txBody>
          <a:bodyPr wrap="square" lIns="0" tIns="0" rIns="0" bIns="0" rtlCol="0" anchor="ctr"/>
          <a:lstStyle/>
          <a:p>
            <a:pPr algn="l" indent="0" marL="0">
              <a:buNone/>
            </a:pPr>
            <a:r>
              <a:rPr lang="en-US" sz="1700" b="1" dirty="0">
                <a:solidFill>
                  <a:srgbClr val="1D3557"/>
                </a:solidFill>
                <a:latin typeface="Golos Text" pitchFamily="34" charset="0"/>
                <a:ea typeface="Golos Text" pitchFamily="34" charset="-122"/>
                <a:cs typeface="Golos Text" pitchFamily="34" charset="-120"/>
              </a:rPr>
              <a:t>Кулач:</a:t>
            </a:r>
            <a:endParaRPr lang="en-US" sz="1700" dirty="0"/>
          </a:p>
        </p:txBody>
      </p:sp>
      <p:sp>
        <p:nvSpPr>
          <p:cNvPr id="47" name="Shape 45"/>
          <p:cNvSpPr/>
          <p:nvPr/>
        </p:nvSpPr>
        <p:spPr>
          <a:xfrm>
            <a:off x="7269480" y="4315968"/>
            <a:ext cx="4389120" cy="457200"/>
          </a:xfrm>
          <a:prstGeom prst="roundRect">
            <a:avLst>
              <a:gd name="adj" fmla="val 30000"/>
            </a:avLst>
          </a:prstGeom>
          <a:solidFill>
            <a:srgbClr val="FFFFFF"/>
          </a:solidFill>
          <a:ln w="19050">
            <a:solidFill>
              <a:srgbClr val="8D99AA"/>
            </a:solidFill>
            <a:prstDash val="dash"/>
          </a:ln>
        </p:spPr>
      </p:sp>
      <p:sp>
        <p:nvSpPr>
          <p:cNvPr id="48" name="anim5_f"/>
          <p:cNvSpPr/>
          <p:nvPr/>
        </p:nvSpPr>
        <p:spPr>
          <a:xfrm>
            <a:off x="7269480" y="4315968"/>
            <a:ext cx="4389120" cy="457200"/>
          </a:xfrm>
          <a:prstGeom prst="roundRect">
            <a:avLst>
              <a:gd name="adj" fmla="val 30000"/>
            </a:avLst>
          </a:prstGeom>
          <a:solidFill>
            <a:srgbClr val="E7EAF2"/>
          </a:solidFill>
          <a:ln w="19050">
            <a:solidFill>
              <a:srgbClr val="24418C"/>
            </a:solidFill>
            <a:prstDash val="solid"/>
          </a:ln>
        </p:spPr>
        <p:txBody>
          <a:bodyPr wrap="square" lIns="0" tIns="0" rIns="0" bIns="0" rtlCol="0" anchor="ctr"/>
          <a:lstStyle/>
          <a:p>
            <a:pPr algn="ctr" indent="0" marL="0">
              <a:buNone/>
            </a:pPr>
            <a:r>
              <a:rPr lang="en-US" sz="1800" b="1" dirty="0">
                <a:solidFill>
                  <a:srgbClr val="24418C"/>
                </a:solidFill>
                <a:latin typeface="Golos Text" pitchFamily="34" charset="0"/>
                <a:ea typeface="Golos Text" pitchFamily="34" charset="-122"/>
                <a:cs typeface="Golos Text" pitchFamily="34" charset="-120"/>
              </a:rPr>
              <a:t>12 − 1 = 11</a:t>
            </a:r>
            <a:endParaRPr lang="en-US" sz="1800" dirty="0"/>
          </a:p>
        </p:txBody>
      </p:sp>
      <p:sp>
        <p:nvSpPr>
          <p:cNvPr id="49" name="anim6_ans"/>
          <p:cNvSpPr/>
          <p:nvPr/>
        </p:nvSpPr>
        <p:spPr>
          <a:xfrm>
            <a:off x="5074920" y="5074920"/>
            <a:ext cx="6748272" cy="1097280"/>
          </a:xfrm>
          <a:prstGeom prst="roundRect">
            <a:avLst>
              <a:gd name="adj" fmla="val 30000"/>
            </a:avLst>
          </a:prstGeom>
          <a:solidFill>
            <a:srgbClr val="D1E7E1"/>
          </a:solidFill>
          <a:ln w="28575">
            <a:solidFill>
              <a:srgbClr val="007A5A"/>
            </a:solidFill>
            <a:prstDash val="solid"/>
          </a:ln>
        </p:spPr>
        <p:txBody>
          <a:bodyPr wrap="square" lIns="76200" tIns="76200" rIns="76200" bIns="76200" rtlCol="0" anchor="ctr"/>
          <a:lstStyle/>
          <a:p>
            <a:pPr algn="ctr" indent="0" marL="0">
              <a:buNone/>
            </a:pPr>
            <a:r>
              <a:rPr lang="en-US" sz="2200" b="1" dirty="0">
                <a:solidFill>
                  <a:srgbClr val="007A5A"/>
                </a:solidFill>
                <a:latin typeface="Golos Text" pitchFamily="34" charset="0"/>
                <a:ea typeface="Golos Text" pitchFamily="34" charset="-122"/>
                <a:cs typeface="Golos Text" pitchFamily="34" charset="-120"/>
              </a:rPr>
              <a:t>Орточо 7 · медиана 7,5 · мода 9 · кулач 11</a:t>
            </a:r>
            <a:endParaRPr lang="en-US" sz="2200" dirty="0"/>
          </a:p>
        </p:txBody>
      </p:sp>
      <p:sp>
        <p:nvSpPr>
          <p:cNvPr id="50" name="Slide Number Placeholder 0"/>
          <p:cNvSpPr>
            <a:spLocks noGrp="1"/>
          </p:cNvSpPr>
          <p:nvPr>
            <p:ph type="sldNum" sz="quarter" idx="4294967295"/>
          </p:nvPr>
        </p:nvSpPr>
        <p:spPr>
          <a:xfrm>
            <a:off x="11384280" y="6492240"/>
            <a:ext cx="438912"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99AA"/>
                </a:solidFill>
                <a:latin typeface="Golos Text"/>
                <a:ea typeface="Golos Text"/>
                <a:cs typeface="Golos Text"/>
              </a:defRPr>
            </a:lvl1pPr>
          </a:lstStyle>
          <a:p>
            <a:pPr algn="r"/>
            <a:fld id="{F7021451-1387-4CA6-816F-3879F97B5CBC}" type="slidenum">
              <a:rPr b="0" lang="en-US"/>
              <a:t>15</a:t>
            </a:fld>
            <a:endParaRPr lang="en-US"/>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8"/>
                                        </p:tgtEl>
                                        <p:attrNameLst>
                                          <p:attrName>style.visibility</p:attrName>
                                        </p:attrNameLst>
                                      </p:cBhvr>
                                      <p:to>
                                        <p:strVal val="visible"/>
                                      </p:to>
                                    </p:set>
                                    <p:animEffect transition="in" filter="fade">
                                      <p:cBhvr>
                                        <p:cTn id="5" dur="600"/>
                                        <p:tgtEl>
                                          <p:spTgt spid="2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600"/>
                                        <p:tgtEl>
                                          <p:spTgt spid="3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fade">
                                      <p:cBhvr>
                                        <p:cTn id="15" dur="600"/>
                                        <p:tgtEl>
                                          <p:spTgt spid="38"/>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3"/>
                                        </p:tgtEl>
                                        <p:attrNameLst>
                                          <p:attrName>style.visibility</p:attrName>
                                        </p:attrNameLst>
                                      </p:cBhvr>
                                      <p:to>
                                        <p:strVal val="visible"/>
                                      </p:to>
                                    </p:set>
                                    <p:animEffect transition="in" filter="fade">
                                      <p:cBhvr>
                                        <p:cTn id="20" dur="600"/>
                                        <p:tgtEl>
                                          <p:spTgt spid="43"/>
                                        </p:tgtEl>
                                      </p:cBhvr>
                                    </p:animEffect>
                                  </p:childTnLst>
                                </p:cTn>
                              </p:par>
                            </p:childTnLst>
                          </p:cTn>
                        </p:par>
                      </p:childTnLst>
                    </p:cTn>
                  </p:par>
                  <p:par>
                    <p:cTn id="26" fill="hold">
                      <p:stCondLst>
                        <p:cond delay="indefinite"/>
                      </p:stCondLst>
                      <p:childTnLst>
                        <p:par>
                          <p:cTn id="27"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8"/>
                                        </p:tgtEl>
                                        <p:attrNameLst>
                                          <p:attrName>style.visibility</p:attrName>
                                        </p:attrNameLst>
                                      </p:cBhvr>
                                      <p:to>
                                        <p:strVal val="visible"/>
                                      </p:to>
                                    </p:set>
                                    <p:animEffect transition="in" filter="fade">
                                      <p:cBhvr>
                                        <p:cTn id="25" dur="600"/>
                                        <p:tgtEl>
                                          <p:spTgt spid="48"/>
                                        </p:tgtEl>
                                      </p:cBhvr>
                                    </p:animEffect>
                                  </p:childTnLst>
                                </p:cTn>
                              </p:par>
                            </p:childTnLst>
                          </p:cTn>
                        </p:par>
                      </p:childTnLst>
                    </p:cTn>
                  </p:par>
                  <p:par>
                    <p:cTn id="31" fill="hold">
                      <p:stCondLst>
                        <p:cond delay="indefinite"/>
                      </p:stCondLst>
                      <p:childTnLst>
                        <p:par>
                          <p:cTn id="32"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fade">
                                      <p:cBhvr>
                                        <p:cTn id="30" dur="6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3" grpId="0" animBg="1"/>
      <p:bldP spid="38" grpId="0" animBg="1"/>
      <p:bldP spid="43" grpId="0" animBg="1"/>
      <p:bldP spid="48" grpId="0" animBg="1"/>
      <p:bldP spid="4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11457432" cy="640080"/>
          </a:xfrm>
          <a:prstGeom prst="roundRect">
            <a:avLst>
              <a:gd name="adj" fmla="val 22000"/>
            </a:avLst>
          </a:prstGeom>
          <a:solidFill>
            <a:srgbClr val="FFFFFF"/>
          </a:solidFill>
          <a:ln w="19050">
            <a:solidFill>
              <a:srgbClr val="1D3557"/>
            </a:solidFill>
            <a:prstDash val="solid"/>
          </a:ln>
        </p:spPr>
      </p:sp>
      <p:sp>
        <p:nvSpPr>
          <p:cNvPr id="3" name="Shape 1"/>
          <p:cNvSpPr/>
          <p:nvPr/>
        </p:nvSpPr>
        <p:spPr>
          <a:xfrm>
            <a:off x="557784" y="369418"/>
            <a:ext cx="70409" cy="358445"/>
          </a:xfrm>
          <a:prstGeom prst="roundRect">
            <a:avLst>
              <a:gd name="adj" fmla="val 50000"/>
            </a:avLst>
          </a:prstGeom>
          <a:solidFill>
            <a:srgbClr val="007A5A"/>
          </a:solidFill>
          <a:ln/>
        </p:spPr>
      </p:sp>
      <p:sp>
        <p:nvSpPr>
          <p:cNvPr id="4" name="Shape 2"/>
          <p:cNvSpPr/>
          <p:nvPr/>
        </p:nvSpPr>
        <p:spPr>
          <a:xfrm>
            <a:off x="691561" y="369418"/>
            <a:ext cx="70409" cy="358445"/>
          </a:xfrm>
          <a:prstGeom prst="roundRect">
            <a:avLst>
              <a:gd name="adj" fmla="val 50000"/>
            </a:avLst>
          </a:prstGeom>
          <a:solidFill>
            <a:srgbClr val="A84400"/>
          </a:solidFill>
          <a:ln/>
        </p:spPr>
      </p:sp>
      <p:sp>
        <p:nvSpPr>
          <p:cNvPr id="5" name="Shape 3"/>
          <p:cNvSpPr/>
          <p:nvPr/>
        </p:nvSpPr>
        <p:spPr>
          <a:xfrm>
            <a:off x="825337" y="369418"/>
            <a:ext cx="70409" cy="358445"/>
          </a:xfrm>
          <a:prstGeom prst="roundRect">
            <a:avLst>
              <a:gd name="adj" fmla="val 50000"/>
            </a:avLst>
          </a:prstGeom>
          <a:solidFill>
            <a:srgbClr val="24418C"/>
          </a:solidFill>
          <a:ln/>
        </p:spPr>
      </p:sp>
      <p:sp>
        <p:nvSpPr>
          <p:cNvPr id="6" name="Text 4"/>
          <p:cNvSpPr/>
          <p:nvPr/>
        </p:nvSpPr>
        <p:spPr>
          <a:xfrm>
            <a:off x="1096914" y="228600"/>
            <a:ext cx="7589520" cy="640080"/>
          </a:xfrm>
          <a:prstGeom prst="rect">
            <a:avLst/>
          </a:prstGeom>
          <a:noFill/>
          <a:ln/>
        </p:spPr>
        <p:txBody>
          <a:bodyPr wrap="square" lIns="0" tIns="0" rIns="0" bIns="0" rtlCol="0" anchor="ctr"/>
          <a:lstStyle/>
          <a:p>
            <a:pPr algn="l" indent="0" marL="0">
              <a:buNone/>
            </a:pPr>
            <a:r>
              <a:rPr lang="en-US" sz="2200" b="1" dirty="0">
                <a:solidFill>
                  <a:srgbClr val="1D3557"/>
                </a:solidFill>
                <a:latin typeface="Golos Text" pitchFamily="34" charset="0"/>
                <a:ea typeface="Golos Text" pitchFamily="34" charset="-122"/>
                <a:cs typeface="Golos Text" pitchFamily="34" charset="-120"/>
              </a:rPr>
              <a:t>Вариация: бир нерсе өзгөрөт — эмне өзгөрөт?</a:t>
            </a:r>
            <a:endParaRPr lang="en-US" sz="2200" dirty="0"/>
          </a:p>
        </p:txBody>
      </p:sp>
      <p:sp>
        <p:nvSpPr>
          <p:cNvPr id="7" name="Text 5"/>
          <p:cNvSpPr/>
          <p:nvPr/>
        </p:nvSpPr>
        <p:spPr>
          <a:xfrm>
            <a:off x="8778240" y="228600"/>
            <a:ext cx="2880360" cy="640080"/>
          </a:xfrm>
          <a:prstGeom prst="rect">
            <a:avLst/>
          </a:prstGeom>
          <a:noFill/>
          <a:ln/>
        </p:spPr>
        <p:txBody>
          <a:bodyPr wrap="square" lIns="0" tIns="0" rIns="0" bIns="0" rtlCol="0" anchor="ctr"/>
          <a:lstStyle/>
          <a:p>
            <a:pPr algn="r" indent="0" marL="0">
              <a:buNone/>
            </a:pPr>
            <a:r>
              <a:rPr lang="en-US" sz="1100" dirty="0">
                <a:solidFill>
                  <a:srgbClr val="4A5A70"/>
                </a:solidFill>
                <a:latin typeface="Golos Text" pitchFamily="34" charset="0"/>
                <a:ea typeface="Golos Text" pitchFamily="34" charset="-122"/>
                <a:cs typeface="Golos Text" pitchFamily="34" charset="-120"/>
              </a:rPr>
              <a:t>Статистика › Төрт өлчөм</a:t>
            </a:r>
            <a:endParaRPr lang="en-US" sz="1100" dirty="0"/>
          </a:p>
        </p:txBody>
      </p:sp>
      <p:sp>
        <p:nvSpPr>
          <p:cNvPr id="8" name="Text 6"/>
          <p:cNvSpPr/>
          <p:nvPr/>
        </p:nvSpPr>
        <p:spPr>
          <a:xfrm>
            <a:off x="411480" y="960120"/>
            <a:ext cx="8412480" cy="329184"/>
          </a:xfrm>
          <a:prstGeom prst="rect">
            <a:avLst/>
          </a:prstGeom>
          <a:noFill/>
          <a:ln/>
        </p:spPr>
        <p:txBody>
          <a:bodyPr wrap="square" lIns="0" tIns="0" rIns="0" bIns="0" rtlCol="0" anchor="t"/>
          <a:lstStyle/>
          <a:p>
            <a:pPr algn="l" indent="0" marL="0">
              <a:buNone/>
            </a:pPr>
            <a:r>
              <a:rPr lang="en-US" sz="1500" i="1" dirty="0">
                <a:solidFill>
                  <a:srgbClr val="4A5A70"/>
                </a:solidFill>
                <a:latin typeface="Golos Text" pitchFamily="34" charset="0"/>
                <a:ea typeface="Golos Text" pitchFamily="34" charset="-122"/>
                <a:cs typeface="Golos Text" pitchFamily="34" charset="-120"/>
              </a:rPr>
              <a:t>Ар бир катарда адегенде болжолдо, анан текшер. Өзгөргөн сан кызгылт сары</a:t>
            </a:r>
            <a:endParaRPr lang="en-US" sz="1500" dirty="0"/>
          </a:p>
        </p:txBody>
      </p:sp>
      <p:sp>
        <p:nvSpPr>
          <p:cNvPr id="9" name="Text 7"/>
          <p:cNvSpPr/>
          <p:nvPr/>
        </p:nvSpPr>
        <p:spPr>
          <a:xfrm>
            <a:off x="8897112" y="969264"/>
            <a:ext cx="2926080" cy="310896"/>
          </a:xfrm>
          <a:prstGeom prst="rect">
            <a:avLst/>
          </a:prstGeom>
          <a:noFill/>
          <a:ln/>
        </p:spPr>
        <p:txBody>
          <a:bodyPr wrap="square" lIns="0" tIns="0" rIns="0" bIns="0" rtlCol="0" anchor="ctr"/>
          <a:lstStyle/>
          <a:p>
            <a:pPr algn="r" indent="0" marL="0">
              <a:buNone/>
            </a:pPr>
            <a:r>
              <a:rPr lang="en-US" sz="1200" dirty="0">
                <a:solidFill>
                  <a:srgbClr val="4A5A70"/>
                </a:solidFill>
                <a:latin typeface="Golos Text" pitchFamily="34" charset="0"/>
                <a:ea typeface="Golos Text" pitchFamily="34" charset="-122"/>
                <a:cs typeface="Golos Text" pitchFamily="34" charset="-120"/>
              </a:rPr>
              <a:t>Чеберчилик · 1,5 мүн</a:t>
            </a:r>
            <a:endParaRPr lang="en-US" sz="1200" dirty="0"/>
          </a:p>
        </p:txBody>
      </p:sp>
      <p:sp>
        <p:nvSpPr>
          <p:cNvPr id="10" name="Text 8"/>
          <p:cNvSpPr/>
          <p:nvPr/>
        </p:nvSpPr>
        <p:spPr>
          <a:xfrm>
            <a:off x="365760" y="6492240"/>
            <a:ext cx="5486400" cy="228600"/>
          </a:xfrm>
          <a:prstGeom prst="rect">
            <a:avLst/>
          </a:prstGeom>
          <a:noFill/>
          <a:ln/>
        </p:spPr>
        <p:txBody>
          <a:bodyPr wrap="square" lIns="0" tIns="0" rIns="0" bIns="0" rtlCol="0" anchor="t"/>
          <a:lstStyle/>
          <a:p>
            <a:pPr algn="l" indent="0" marL="0">
              <a:buNone/>
            </a:pPr>
            <a:r>
              <a:rPr lang="en-US" sz="900" dirty="0">
                <a:solidFill>
                  <a:srgbClr val="8D99AA"/>
                </a:solidFill>
                <a:latin typeface="Golos Text" pitchFamily="34" charset="0"/>
                <a:ea typeface="Golos Text" pitchFamily="34" charset="-122"/>
                <a:cs typeface="Golos Text" pitchFamily="34" charset="-120"/>
              </a:rPr>
              <a:t>MathKG · Математика кыргызча</a:t>
            </a:r>
            <a:endParaRPr lang="en-US" sz="900" dirty="0"/>
          </a:p>
        </p:txBody>
      </p:sp>
      <p:sp>
        <p:nvSpPr>
          <p:cNvPr id="11" name="Text 9"/>
          <p:cNvSpPr/>
          <p:nvPr/>
        </p:nvSpPr>
        <p:spPr>
          <a:xfrm>
            <a:off x="7680960" y="6492240"/>
            <a:ext cx="3657600" cy="228600"/>
          </a:xfrm>
          <a:prstGeom prst="rect">
            <a:avLst/>
          </a:prstGeom>
          <a:noFill/>
          <a:ln/>
        </p:spPr>
        <p:txBody>
          <a:bodyPr wrap="square" lIns="0" tIns="0" rIns="0" bIns="0" rtlCol="0" anchor="t"/>
          <a:lstStyle/>
          <a:p>
            <a:pPr algn="r" indent="0" marL="0">
              <a:buNone/>
            </a:pPr>
            <a:r>
              <a:rPr lang="en-US" sz="900" dirty="0">
                <a:solidFill>
                  <a:srgbClr val="8D99AA"/>
                </a:solidFill>
                <a:latin typeface="Golos Text" pitchFamily="34" charset="0"/>
                <a:ea typeface="Golos Text" pitchFamily="34" charset="-122"/>
                <a:cs typeface="Golos Text" pitchFamily="34" charset="-120"/>
              </a:rPr>
              <a:t>MathKG ыкмасы · 1,5 мүн</a:t>
            </a:r>
            <a:endParaRPr lang="en-US" sz="900" dirty="0"/>
          </a:p>
        </p:txBody>
      </p:sp>
      <p:sp>
        <p:nvSpPr>
          <p:cNvPr id="12" name="Shape 10"/>
          <p:cNvSpPr/>
          <p:nvPr/>
        </p:nvSpPr>
        <p:spPr>
          <a:xfrm>
            <a:off x="365760" y="1417320"/>
            <a:ext cx="11457432" cy="457200"/>
          </a:xfrm>
          <a:prstGeom prst="roundRect">
            <a:avLst>
              <a:gd name="adj" fmla="val 20000"/>
            </a:avLst>
          </a:prstGeom>
          <a:solidFill>
            <a:srgbClr val="1D3557"/>
          </a:solidFill>
          <a:ln/>
        </p:spPr>
      </p:sp>
      <p:sp>
        <p:nvSpPr>
          <p:cNvPr id="13" name="Text 11"/>
          <p:cNvSpPr/>
          <p:nvPr/>
        </p:nvSpPr>
        <p:spPr>
          <a:xfrm>
            <a:off x="457200" y="1417320"/>
            <a:ext cx="3063240" cy="457200"/>
          </a:xfrm>
          <a:prstGeom prst="rect">
            <a:avLst/>
          </a:prstGeom>
          <a:noFill/>
          <a:ln/>
        </p:spPr>
        <p:txBody>
          <a:bodyPr wrap="square" lIns="0" tIns="0" rIns="0" bIns="0" rtlCol="0" anchor="ctr"/>
          <a:lstStyle/>
          <a:p>
            <a:pPr algn="l" indent="0" marL="0">
              <a:buNone/>
            </a:pPr>
            <a:r>
              <a:rPr lang="en-US" sz="1400" b="1" dirty="0">
                <a:solidFill>
                  <a:srgbClr val="FFFFFF"/>
                </a:solidFill>
                <a:latin typeface="Golos Text" pitchFamily="34" charset="0"/>
                <a:ea typeface="Golos Text" pitchFamily="34" charset="-122"/>
                <a:cs typeface="Golos Text" pitchFamily="34" charset="-120"/>
              </a:rPr>
              <a:t>Тизме</a:t>
            </a:r>
            <a:endParaRPr lang="en-US" sz="1400" dirty="0"/>
          </a:p>
        </p:txBody>
      </p:sp>
      <p:sp>
        <p:nvSpPr>
          <p:cNvPr id="14" name="Text 12"/>
          <p:cNvSpPr/>
          <p:nvPr/>
        </p:nvSpPr>
        <p:spPr>
          <a:xfrm>
            <a:off x="3703320" y="1417320"/>
            <a:ext cx="2194560" cy="457200"/>
          </a:xfrm>
          <a:prstGeom prst="rect">
            <a:avLst/>
          </a:prstGeom>
          <a:noFill/>
          <a:ln/>
        </p:spPr>
        <p:txBody>
          <a:bodyPr wrap="square" lIns="0" tIns="0" rIns="0" bIns="0" rtlCol="0" anchor="ctr"/>
          <a:lstStyle/>
          <a:p>
            <a:pPr algn="l" indent="0" marL="0">
              <a:buNone/>
            </a:pPr>
            <a:r>
              <a:rPr lang="en-US" sz="1400" b="1" dirty="0">
                <a:solidFill>
                  <a:srgbClr val="FFFFFF"/>
                </a:solidFill>
                <a:latin typeface="Golos Text" pitchFamily="34" charset="0"/>
                <a:ea typeface="Golos Text" pitchFamily="34" charset="-122"/>
                <a:cs typeface="Golos Text" pitchFamily="34" charset="-120"/>
              </a:rPr>
              <a:t>Эмне өзгөрдү?</a:t>
            </a:r>
            <a:endParaRPr lang="en-US" sz="1400" dirty="0"/>
          </a:p>
        </p:txBody>
      </p:sp>
      <p:sp>
        <p:nvSpPr>
          <p:cNvPr id="15" name="Text 13"/>
          <p:cNvSpPr/>
          <p:nvPr/>
        </p:nvSpPr>
        <p:spPr>
          <a:xfrm>
            <a:off x="6080760" y="1417320"/>
            <a:ext cx="128016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Golos Text" pitchFamily="34" charset="0"/>
                <a:ea typeface="Golos Text" pitchFamily="34" charset="-122"/>
                <a:cs typeface="Golos Text" pitchFamily="34" charset="-120"/>
              </a:rPr>
              <a:t>Орточо</a:t>
            </a:r>
            <a:endParaRPr lang="en-US" sz="1400" dirty="0"/>
          </a:p>
        </p:txBody>
      </p:sp>
      <p:sp>
        <p:nvSpPr>
          <p:cNvPr id="16" name="Text 14"/>
          <p:cNvSpPr/>
          <p:nvPr/>
        </p:nvSpPr>
        <p:spPr>
          <a:xfrm>
            <a:off x="7543800" y="1417320"/>
            <a:ext cx="128016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Golos Text" pitchFamily="34" charset="0"/>
                <a:ea typeface="Golos Text" pitchFamily="34" charset="-122"/>
                <a:cs typeface="Golos Text" pitchFamily="34" charset="-120"/>
              </a:rPr>
              <a:t>Медиана</a:t>
            </a:r>
            <a:endParaRPr lang="en-US" sz="1400" dirty="0"/>
          </a:p>
        </p:txBody>
      </p:sp>
      <p:sp>
        <p:nvSpPr>
          <p:cNvPr id="17" name="Text 15"/>
          <p:cNvSpPr/>
          <p:nvPr/>
        </p:nvSpPr>
        <p:spPr>
          <a:xfrm>
            <a:off x="9006840" y="1417320"/>
            <a:ext cx="128016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Golos Text" pitchFamily="34" charset="0"/>
                <a:ea typeface="Golos Text" pitchFamily="34" charset="-122"/>
                <a:cs typeface="Golos Text" pitchFamily="34" charset="-120"/>
              </a:rPr>
              <a:t>Мода</a:t>
            </a:r>
            <a:endParaRPr lang="en-US" sz="1400" dirty="0"/>
          </a:p>
        </p:txBody>
      </p:sp>
      <p:sp>
        <p:nvSpPr>
          <p:cNvPr id="18" name="Text 16"/>
          <p:cNvSpPr/>
          <p:nvPr/>
        </p:nvSpPr>
        <p:spPr>
          <a:xfrm>
            <a:off x="10469880" y="1417320"/>
            <a:ext cx="1261872"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Golos Text" pitchFamily="34" charset="0"/>
                <a:ea typeface="Golos Text" pitchFamily="34" charset="-122"/>
                <a:cs typeface="Golos Text" pitchFamily="34" charset="-120"/>
              </a:rPr>
              <a:t>Кулач</a:t>
            </a:r>
            <a:endParaRPr lang="en-US" sz="1400" dirty="0"/>
          </a:p>
        </p:txBody>
      </p:sp>
      <p:sp>
        <p:nvSpPr>
          <p:cNvPr id="19" name="Shape 17"/>
          <p:cNvSpPr/>
          <p:nvPr/>
        </p:nvSpPr>
        <p:spPr>
          <a:xfrm>
            <a:off x="365760" y="1965960"/>
            <a:ext cx="11457432" cy="603504"/>
          </a:xfrm>
          <a:prstGeom prst="roundRect">
            <a:avLst>
              <a:gd name="adj" fmla="val 20000"/>
            </a:avLst>
          </a:prstGeom>
          <a:solidFill>
            <a:srgbClr val="F3F5FB"/>
          </a:solidFill>
          <a:ln w="12700">
            <a:solidFill>
              <a:srgbClr val="E7EAF2"/>
            </a:solidFill>
            <a:prstDash val="solid"/>
          </a:ln>
        </p:spPr>
      </p:sp>
      <p:sp>
        <p:nvSpPr>
          <p:cNvPr id="20" name="Text 18"/>
          <p:cNvSpPr/>
          <p:nvPr/>
        </p:nvSpPr>
        <p:spPr>
          <a:xfrm>
            <a:off x="475488" y="1965960"/>
            <a:ext cx="3063240" cy="603504"/>
          </a:xfrm>
          <a:prstGeom prst="rect">
            <a:avLst/>
          </a:prstGeom>
          <a:noFill/>
          <a:ln/>
        </p:spPr>
        <p:txBody>
          <a:bodyPr wrap="square" lIns="0" tIns="0" rIns="0" bIns="0" rtlCol="0" anchor="ctr"/>
          <a:lstStyle/>
          <a:p>
            <a:pPr algn="l" indent="0" marL="0">
              <a:buNone/>
            </a:pPr>
            <a:r>
              <a:rPr lang="en-US" sz="1600" b="1" dirty="0">
                <a:solidFill>
                  <a:srgbClr val="1D3557"/>
                </a:solidFill>
                <a:latin typeface="Golos Text" pitchFamily="34" charset="0"/>
                <a:ea typeface="Golos Text" pitchFamily="34" charset="-122"/>
                <a:cs typeface="Golos Text" pitchFamily="34" charset="-120"/>
              </a:rPr>
              <a:t>3, 4, 7, 7, 9</a:t>
            </a:r>
            <a:endParaRPr lang="en-US" sz="1600" dirty="0"/>
          </a:p>
        </p:txBody>
      </p:sp>
      <p:sp>
        <p:nvSpPr>
          <p:cNvPr id="21" name="Text 19"/>
          <p:cNvSpPr/>
          <p:nvPr/>
        </p:nvSpPr>
        <p:spPr>
          <a:xfrm>
            <a:off x="3703320" y="1965960"/>
            <a:ext cx="2194560" cy="603504"/>
          </a:xfrm>
          <a:prstGeom prst="rect">
            <a:avLst/>
          </a:prstGeom>
          <a:noFill/>
          <a:ln/>
        </p:spPr>
        <p:txBody>
          <a:bodyPr wrap="square" lIns="0" tIns="0" rIns="0" bIns="0" rtlCol="0" anchor="ctr"/>
          <a:lstStyle/>
          <a:p>
            <a:pPr algn="l" indent="0" marL="0">
              <a:buNone/>
            </a:pPr>
            <a:r>
              <a:rPr lang="en-US" sz="1500" i="1" dirty="0">
                <a:solidFill>
                  <a:srgbClr val="4A5A70"/>
                </a:solidFill>
                <a:latin typeface="Golos Text" pitchFamily="34" charset="0"/>
                <a:ea typeface="Golos Text" pitchFamily="34" charset="-122"/>
                <a:cs typeface="Golos Text" pitchFamily="34" charset="-120"/>
              </a:rPr>
              <a:t>баштапкы тизме</a:t>
            </a:r>
            <a:endParaRPr lang="en-US" sz="1500" dirty="0"/>
          </a:p>
        </p:txBody>
      </p:sp>
      <p:sp>
        <p:nvSpPr>
          <p:cNvPr id="22" name="Text 20"/>
          <p:cNvSpPr/>
          <p:nvPr/>
        </p:nvSpPr>
        <p:spPr>
          <a:xfrm>
            <a:off x="6217920" y="2039112"/>
            <a:ext cx="1005840" cy="457200"/>
          </a:xfrm>
          <a:prstGeom prst="roundRect">
            <a:avLst>
              <a:gd name="adj" fmla="val 30000"/>
            </a:avLst>
          </a:prstGeom>
          <a:solidFill>
            <a:srgbClr val="FFFFFF"/>
          </a:solidFill>
          <a:ln w="12700">
            <a:solidFill>
              <a:srgbClr val="8D99AA"/>
            </a:solidFill>
            <a:prstDash val="solid"/>
          </a:ln>
        </p:spPr>
        <p:txBody>
          <a:bodyPr wrap="square" lIns="0" tIns="0" rIns="0" bIns="0" rtlCol="0" anchor="ctr"/>
          <a:lstStyle/>
          <a:p>
            <a:pPr algn="ctr" indent="0" marL="0">
              <a:buNone/>
            </a:pPr>
            <a:r>
              <a:rPr lang="en-US" sz="1800" b="1" dirty="0">
                <a:solidFill>
                  <a:srgbClr val="1D3557"/>
                </a:solidFill>
                <a:latin typeface="Golos Text" pitchFamily="34" charset="0"/>
                <a:ea typeface="Golos Text" pitchFamily="34" charset="-122"/>
                <a:cs typeface="Golos Text" pitchFamily="34" charset="-120"/>
              </a:rPr>
              <a:t>6</a:t>
            </a:r>
            <a:endParaRPr lang="en-US" sz="1800" dirty="0"/>
          </a:p>
        </p:txBody>
      </p:sp>
      <p:sp>
        <p:nvSpPr>
          <p:cNvPr id="23" name="Text 21"/>
          <p:cNvSpPr/>
          <p:nvPr/>
        </p:nvSpPr>
        <p:spPr>
          <a:xfrm>
            <a:off x="7680960" y="2039112"/>
            <a:ext cx="1005840" cy="457200"/>
          </a:xfrm>
          <a:prstGeom prst="roundRect">
            <a:avLst>
              <a:gd name="adj" fmla="val 30000"/>
            </a:avLst>
          </a:prstGeom>
          <a:solidFill>
            <a:srgbClr val="FFFFFF"/>
          </a:solidFill>
          <a:ln w="12700">
            <a:solidFill>
              <a:srgbClr val="8D99AA"/>
            </a:solidFill>
            <a:prstDash val="solid"/>
          </a:ln>
        </p:spPr>
        <p:txBody>
          <a:bodyPr wrap="square" lIns="0" tIns="0" rIns="0" bIns="0" rtlCol="0" anchor="ctr"/>
          <a:lstStyle/>
          <a:p>
            <a:pPr algn="ctr" indent="0" marL="0">
              <a:buNone/>
            </a:pPr>
            <a:r>
              <a:rPr lang="en-US" sz="1800" b="1" dirty="0">
                <a:solidFill>
                  <a:srgbClr val="1D3557"/>
                </a:solidFill>
                <a:latin typeface="Golos Text" pitchFamily="34" charset="0"/>
                <a:ea typeface="Golos Text" pitchFamily="34" charset="-122"/>
                <a:cs typeface="Golos Text" pitchFamily="34" charset="-120"/>
              </a:rPr>
              <a:t>7</a:t>
            </a:r>
            <a:endParaRPr lang="en-US" sz="1800" dirty="0"/>
          </a:p>
        </p:txBody>
      </p:sp>
      <p:sp>
        <p:nvSpPr>
          <p:cNvPr id="24" name="Text 22"/>
          <p:cNvSpPr/>
          <p:nvPr/>
        </p:nvSpPr>
        <p:spPr>
          <a:xfrm>
            <a:off x="9144000" y="2039112"/>
            <a:ext cx="1005840" cy="457200"/>
          </a:xfrm>
          <a:prstGeom prst="roundRect">
            <a:avLst>
              <a:gd name="adj" fmla="val 30000"/>
            </a:avLst>
          </a:prstGeom>
          <a:solidFill>
            <a:srgbClr val="FFFFFF"/>
          </a:solidFill>
          <a:ln w="12700">
            <a:solidFill>
              <a:srgbClr val="8D99AA"/>
            </a:solidFill>
            <a:prstDash val="solid"/>
          </a:ln>
        </p:spPr>
        <p:txBody>
          <a:bodyPr wrap="square" lIns="0" tIns="0" rIns="0" bIns="0" rtlCol="0" anchor="ctr"/>
          <a:lstStyle/>
          <a:p>
            <a:pPr algn="ctr" indent="0" marL="0">
              <a:buNone/>
            </a:pPr>
            <a:r>
              <a:rPr lang="en-US" sz="1800" b="1" dirty="0">
                <a:solidFill>
                  <a:srgbClr val="1D3557"/>
                </a:solidFill>
                <a:latin typeface="Golos Text" pitchFamily="34" charset="0"/>
                <a:ea typeface="Golos Text" pitchFamily="34" charset="-122"/>
                <a:cs typeface="Golos Text" pitchFamily="34" charset="-120"/>
              </a:rPr>
              <a:t>7</a:t>
            </a:r>
            <a:endParaRPr lang="en-US" sz="1800" dirty="0"/>
          </a:p>
        </p:txBody>
      </p:sp>
      <p:sp>
        <p:nvSpPr>
          <p:cNvPr id="25" name="Text 23"/>
          <p:cNvSpPr/>
          <p:nvPr/>
        </p:nvSpPr>
        <p:spPr>
          <a:xfrm>
            <a:off x="10607040" y="2039112"/>
            <a:ext cx="987552" cy="457200"/>
          </a:xfrm>
          <a:prstGeom prst="roundRect">
            <a:avLst>
              <a:gd name="adj" fmla="val 30000"/>
            </a:avLst>
          </a:prstGeom>
          <a:solidFill>
            <a:srgbClr val="FFFFFF"/>
          </a:solidFill>
          <a:ln w="12700">
            <a:solidFill>
              <a:srgbClr val="8D99AA"/>
            </a:solidFill>
            <a:prstDash val="solid"/>
          </a:ln>
        </p:spPr>
        <p:txBody>
          <a:bodyPr wrap="square" lIns="0" tIns="0" rIns="0" bIns="0" rtlCol="0" anchor="ctr"/>
          <a:lstStyle/>
          <a:p>
            <a:pPr algn="ctr" indent="0" marL="0">
              <a:buNone/>
            </a:pPr>
            <a:r>
              <a:rPr lang="en-US" sz="1800" b="1" dirty="0">
                <a:solidFill>
                  <a:srgbClr val="1D3557"/>
                </a:solidFill>
                <a:latin typeface="Golos Text" pitchFamily="34" charset="0"/>
                <a:ea typeface="Golos Text" pitchFamily="34" charset="-122"/>
                <a:cs typeface="Golos Text" pitchFamily="34" charset="-120"/>
              </a:rPr>
              <a:t>6</a:t>
            </a:r>
            <a:endParaRPr lang="en-US" sz="1800" dirty="0"/>
          </a:p>
        </p:txBody>
      </p:sp>
      <p:sp>
        <p:nvSpPr>
          <p:cNvPr id="26" name="Shape 24"/>
          <p:cNvSpPr/>
          <p:nvPr/>
        </p:nvSpPr>
        <p:spPr>
          <a:xfrm>
            <a:off x="365760" y="2642616"/>
            <a:ext cx="11457432" cy="603504"/>
          </a:xfrm>
          <a:prstGeom prst="roundRect">
            <a:avLst>
              <a:gd name="adj" fmla="val 20000"/>
            </a:avLst>
          </a:prstGeom>
          <a:solidFill>
            <a:srgbClr val="FFFFFF"/>
          </a:solidFill>
          <a:ln w="12700">
            <a:solidFill>
              <a:srgbClr val="E7EAF2"/>
            </a:solidFill>
            <a:prstDash val="solid"/>
          </a:ln>
        </p:spPr>
      </p:sp>
      <p:sp>
        <p:nvSpPr>
          <p:cNvPr id="27" name="Text 25"/>
          <p:cNvSpPr/>
          <p:nvPr/>
        </p:nvSpPr>
        <p:spPr>
          <a:xfrm>
            <a:off x="475488" y="2642616"/>
            <a:ext cx="3063240" cy="603504"/>
          </a:xfrm>
          <a:prstGeom prst="rect">
            <a:avLst/>
          </a:prstGeom>
          <a:noFill/>
          <a:ln/>
        </p:spPr>
        <p:txBody>
          <a:bodyPr wrap="square" lIns="0" tIns="0" rIns="0" bIns="0" rtlCol="0" anchor="ctr"/>
          <a:lstStyle/>
          <a:p>
            <a:pPr algn="l" indent="0" marL="0">
              <a:buNone/>
            </a:pPr>
            <a:r>
              <a:rPr lang="en-US" sz="1600" b="1" dirty="0">
                <a:solidFill>
                  <a:srgbClr val="1D3557"/>
                </a:solidFill>
                <a:latin typeface="Golos Text" pitchFamily="34" charset="0"/>
                <a:ea typeface="Golos Text" pitchFamily="34" charset="-122"/>
                <a:cs typeface="Golos Text" pitchFamily="34" charset="-120"/>
              </a:rPr>
              <a:t>3, 4, 7, 7, 14</a:t>
            </a:r>
            <a:endParaRPr lang="en-US" sz="1600" dirty="0"/>
          </a:p>
        </p:txBody>
      </p:sp>
      <p:sp>
        <p:nvSpPr>
          <p:cNvPr id="28" name="Text 26"/>
          <p:cNvSpPr/>
          <p:nvPr/>
        </p:nvSpPr>
        <p:spPr>
          <a:xfrm>
            <a:off x="3703320" y="2642616"/>
            <a:ext cx="2194560" cy="603504"/>
          </a:xfrm>
          <a:prstGeom prst="rect">
            <a:avLst/>
          </a:prstGeom>
          <a:noFill/>
          <a:ln/>
        </p:spPr>
        <p:txBody>
          <a:bodyPr wrap="square" lIns="0" tIns="0" rIns="0" bIns="0" rtlCol="0" anchor="ctr"/>
          <a:lstStyle/>
          <a:p>
            <a:pPr algn="l" indent="0" marL="0">
              <a:buNone/>
            </a:pPr>
            <a:r>
              <a:rPr lang="en-US" sz="1500" b="1" dirty="0">
                <a:solidFill>
                  <a:srgbClr val="A84400"/>
                </a:solidFill>
                <a:latin typeface="Golos Text" pitchFamily="34" charset="0"/>
                <a:ea typeface="Golos Text" pitchFamily="34" charset="-122"/>
                <a:cs typeface="Golos Text" pitchFamily="34" charset="-120"/>
              </a:rPr>
              <a:t>9 → 14</a:t>
            </a:r>
            <a:endParaRPr lang="en-US" sz="1500" dirty="0"/>
          </a:p>
        </p:txBody>
      </p:sp>
      <p:sp>
        <p:nvSpPr>
          <p:cNvPr id="29" name="anim1_v"/>
          <p:cNvSpPr/>
          <p:nvPr/>
        </p:nvSpPr>
        <p:spPr>
          <a:xfrm>
            <a:off x="6217920" y="2715768"/>
            <a:ext cx="1005840" cy="457200"/>
          </a:xfrm>
          <a:prstGeom prst="roundRect">
            <a:avLst>
              <a:gd name="adj" fmla="val 30000"/>
            </a:avLst>
          </a:prstGeom>
          <a:solidFill>
            <a:srgbClr val="F5EBE3"/>
          </a:solidFill>
          <a:ln w="25400">
            <a:solidFill>
              <a:srgbClr val="A84400"/>
            </a:solidFill>
            <a:prstDash val="solid"/>
          </a:ln>
        </p:spPr>
        <p:txBody>
          <a:bodyPr wrap="square" lIns="0" tIns="0" rIns="0" bIns="0" rtlCol="0" anchor="ctr"/>
          <a:lstStyle/>
          <a:p>
            <a:pPr algn="ctr" indent="0" marL="0">
              <a:buNone/>
            </a:pPr>
            <a:r>
              <a:rPr lang="en-US" sz="1800" b="1" dirty="0">
                <a:solidFill>
                  <a:srgbClr val="A84400"/>
                </a:solidFill>
                <a:latin typeface="Golos Text" pitchFamily="34" charset="0"/>
                <a:ea typeface="Golos Text" pitchFamily="34" charset="-122"/>
                <a:cs typeface="Golos Text" pitchFamily="34" charset="-120"/>
              </a:rPr>
              <a:t>7</a:t>
            </a:r>
            <a:endParaRPr lang="en-US" sz="1800" dirty="0"/>
          </a:p>
        </p:txBody>
      </p:sp>
      <p:sp>
        <p:nvSpPr>
          <p:cNvPr id="30" name="anim1_v"/>
          <p:cNvSpPr/>
          <p:nvPr/>
        </p:nvSpPr>
        <p:spPr>
          <a:xfrm>
            <a:off x="7680960" y="2715768"/>
            <a:ext cx="1005840" cy="457200"/>
          </a:xfrm>
          <a:prstGeom prst="roundRect">
            <a:avLst>
              <a:gd name="adj" fmla="val 30000"/>
            </a:avLst>
          </a:prstGeom>
          <a:solidFill>
            <a:srgbClr val="FFFFFF"/>
          </a:solidFill>
          <a:ln w="12700">
            <a:solidFill>
              <a:srgbClr val="8D99AA"/>
            </a:solidFill>
            <a:prstDash val="solid"/>
          </a:ln>
        </p:spPr>
        <p:txBody>
          <a:bodyPr wrap="square" lIns="0" tIns="0" rIns="0" bIns="0" rtlCol="0" anchor="ctr"/>
          <a:lstStyle/>
          <a:p>
            <a:pPr algn="ctr" indent="0" marL="0">
              <a:buNone/>
            </a:pPr>
            <a:r>
              <a:rPr lang="en-US" sz="1800" b="1" dirty="0">
                <a:solidFill>
                  <a:srgbClr val="1D3557"/>
                </a:solidFill>
                <a:latin typeface="Golos Text" pitchFamily="34" charset="0"/>
                <a:ea typeface="Golos Text" pitchFamily="34" charset="-122"/>
                <a:cs typeface="Golos Text" pitchFamily="34" charset="-120"/>
              </a:rPr>
              <a:t>7</a:t>
            </a:r>
            <a:endParaRPr lang="en-US" sz="1800" dirty="0"/>
          </a:p>
        </p:txBody>
      </p:sp>
      <p:sp>
        <p:nvSpPr>
          <p:cNvPr id="31" name="anim1_v"/>
          <p:cNvSpPr/>
          <p:nvPr/>
        </p:nvSpPr>
        <p:spPr>
          <a:xfrm>
            <a:off x="9144000" y="2715768"/>
            <a:ext cx="1005840" cy="457200"/>
          </a:xfrm>
          <a:prstGeom prst="roundRect">
            <a:avLst>
              <a:gd name="adj" fmla="val 30000"/>
            </a:avLst>
          </a:prstGeom>
          <a:solidFill>
            <a:srgbClr val="FFFFFF"/>
          </a:solidFill>
          <a:ln w="12700">
            <a:solidFill>
              <a:srgbClr val="8D99AA"/>
            </a:solidFill>
            <a:prstDash val="solid"/>
          </a:ln>
        </p:spPr>
        <p:txBody>
          <a:bodyPr wrap="square" lIns="0" tIns="0" rIns="0" bIns="0" rtlCol="0" anchor="ctr"/>
          <a:lstStyle/>
          <a:p>
            <a:pPr algn="ctr" indent="0" marL="0">
              <a:buNone/>
            </a:pPr>
            <a:r>
              <a:rPr lang="en-US" sz="1800" b="1" dirty="0">
                <a:solidFill>
                  <a:srgbClr val="1D3557"/>
                </a:solidFill>
                <a:latin typeface="Golos Text" pitchFamily="34" charset="0"/>
                <a:ea typeface="Golos Text" pitchFamily="34" charset="-122"/>
                <a:cs typeface="Golos Text" pitchFamily="34" charset="-120"/>
              </a:rPr>
              <a:t>7</a:t>
            </a:r>
            <a:endParaRPr lang="en-US" sz="1800" dirty="0"/>
          </a:p>
        </p:txBody>
      </p:sp>
      <p:sp>
        <p:nvSpPr>
          <p:cNvPr id="32" name="anim1_v"/>
          <p:cNvSpPr/>
          <p:nvPr/>
        </p:nvSpPr>
        <p:spPr>
          <a:xfrm>
            <a:off x="10607040" y="2715768"/>
            <a:ext cx="987552" cy="457200"/>
          </a:xfrm>
          <a:prstGeom prst="roundRect">
            <a:avLst>
              <a:gd name="adj" fmla="val 30000"/>
            </a:avLst>
          </a:prstGeom>
          <a:solidFill>
            <a:srgbClr val="F5EBE3"/>
          </a:solidFill>
          <a:ln w="25400">
            <a:solidFill>
              <a:srgbClr val="A84400"/>
            </a:solidFill>
            <a:prstDash val="solid"/>
          </a:ln>
        </p:spPr>
        <p:txBody>
          <a:bodyPr wrap="square" lIns="0" tIns="0" rIns="0" bIns="0" rtlCol="0" anchor="ctr"/>
          <a:lstStyle/>
          <a:p>
            <a:pPr algn="ctr" indent="0" marL="0">
              <a:buNone/>
            </a:pPr>
            <a:r>
              <a:rPr lang="en-US" sz="1800" b="1" dirty="0">
                <a:solidFill>
                  <a:srgbClr val="A84400"/>
                </a:solidFill>
                <a:latin typeface="Golos Text" pitchFamily="34" charset="0"/>
                <a:ea typeface="Golos Text" pitchFamily="34" charset="-122"/>
                <a:cs typeface="Golos Text" pitchFamily="34" charset="-120"/>
              </a:rPr>
              <a:t>11</a:t>
            </a:r>
            <a:endParaRPr lang="en-US" sz="1800" dirty="0"/>
          </a:p>
        </p:txBody>
      </p:sp>
      <p:sp>
        <p:nvSpPr>
          <p:cNvPr id="33" name="Shape 31"/>
          <p:cNvSpPr/>
          <p:nvPr/>
        </p:nvSpPr>
        <p:spPr>
          <a:xfrm>
            <a:off x="365760" y="3319272"/>
            <a:ext cx="11457432" cy="603504"/>
          </a:xfrm>
          <a:prstGeom prst="roundRect">
            <a:avLst>
              <a:gd name="adj" fmla="val 20000"/>
            </a:avLst>
          </a:prstGeom>
          <a:solidFill>
            <a:srgbClr val="F3F5FB"/>
          </a:solidFill>
          <a:ln w="12700">
            <a:solidFill>
              <a:srgbClr val="E7EAF2"/>
            </a:solidFill>
            <a:prstDash val="solid"/>
          </a:ln>
        </p:spPr>
      </p:sp>
      <p:sp>
        <p:nvSpPr>
          <p:cNvPr id="34" name="Text 32"/>
          <p:cNvSpPr/>
          <p:nvPr/>
        </p:nvSpPr>
        <p:spPr>
          <a:xfrm>
            <a:off x="475488" y="3319272"/>
            <a:ext cx="3063240" cy="603504"/>
          </a:xfrm>
          <a:prstGeom prst="rect">
            <a:avLst/>
          </a:prstGeom>
          <a:noFill/>
          <a:ln/>
        </p:spPr>
        <p:txBody>
          <a:bodyPr wrap="square" lIns="0" tIns="0" rIns="0" bIns="0" rtlCol="0" anchor="ctr"/>
          <a:lstStyle/>
          <a:p>
            <a:pPr algn="l" indent="0" marL="0">
              <a:buNone/>
            </a:pPr>
            <a:r>
              <a:rPr lang="en-US" sz="1600" b="1" dirty="0">
                <a:solidFill>
                  <a:srgbClr val="1D3557"/>
                </a:solidFill>
                <a:latin typeface="Golos Text" pitchFamily="34" charset="0"/>
                <a:ea typeface="Golos Text" pitchFamily="34" charset="-122"/>
                <a:cs typeface="Golos Text" pitchFamily="34" charset="-120"/>
              </a:rPr>
              <a:t>13, 14, 17, 17, 24</a:t>
            </a:r>
            <a:endParaRPr lang="en-US" sz="1600" dirty="0"/>
          </a:p>
        </p:txBody>
      </p:sp>
      <p:sp>
        <p:nvSpPr>
          <p:cNvPr id="35" name="Text 33"/>
          <p:cNvSpPr/>
          <p:nvPr/>
        </p:nvSpPr>
        <p:spPr>
          <a:xfrm>
            <a:off x="3703320" y="3319272"/>
            <a:ext cx="2194560" cy="603504"/>
          </a:xfrm>
          <a:prstGeom prst="rect">
            <a:avLst/>
          </a:prstGeom>
          <a:noFill/>
          <a:ln/>
        </p:spPr>
        <p:txBody>
          <a:bodyPr wrap="square" lIns="0" tIns="0" rIns="0" bIns="0" rtlCol="0" anchor="ctr"/>
          <a:lstStyle/>
          <a:p>
            <a:pPr algn="l" indent="0" marL="0">
              <a:buNone/>
            </a:pPr>
            <a:r>
              <a:rPr lang="en-US" sz="1500" b="1" dirty="0">
                <a:solidFill>
                  <a:srgbClr val="A84400"/>
                </a:solidFill>
                <a:latin typeface="Golos Text" pitchFamily="34" charset="0"/>
                <a:ea typeface="Golos Text" pitchFamily="34" charset="-122"/>
                <a:cs typeface="Golos Text" pitchFamily="34" charset="-120"/>
              </a:rPr>
              <a:t>ар бирине +10</a:t>
            </a:r>
            <a:endParaRPr lang="en-US" sz="1500" dirty="0"/>
          </a:p>
        </p:txBody>
      </p:sp>
      <p:sp>
        <p:nvSpPr>
          <p:cNvPr id="36" name="anim2_v"/>
          <p:cNvSpPr/>
          <p:nvPr/>
        </p:nvSpPr>
        <p:spPr>
          <a:xfrm>
            <a:off x="6217920" y="3392424"/>
            <a:ext cx="1005840" cy="457200"/>
          </a:xfrm>
          <a:prstGeom prst="roundRect">
            <a:avLst>
              <a:gd name="adj" fmla="val 30000"/>
            </a:avLst>
          </a:prstGeom>
          <a:solidFill>
            <a:srgbClr val="F5EBE3"/>
          </a:solidFill>
          <a:ln w="25400">
            <a:solidFill>
              <a:srgbClr val="A84400"/>
            </a:solidFill>
            <a:prstDash val="solid"/>
          </a:ln>
        </p:spPr>
        <p:txBody>
          <a:bodyPr wrap="square" lIns="0" tIns="0" rIns="0" bIns="0" rtlCol="0" anchor="ctr"/>
          <a:lstStyle/>
          <a:p>
            <a:pPr algn="ctr" indent="0" marL="0">
              <a:buNone/>
            </a:pPr>
            <a:r>
              <a:rPr lang="en-US" sz="1800" b="1" dirty="0">
                <a:solidFill>
                  <a:srgbClr val="A84400"/>
                </a:solidFill>
                <a:latin typeface="Golos Text" pitchFamily="34" charset="0"/>
                <a:ea typeface="Golos Text" pitchFamily="34" charset="-122"/>
                <a:cs typeface="Golos Text" pitchFamily="34" charset="-120"/>
              </a:rPr>
              <a:t>17</a:t>
            </a:r>
            <a:endParaRPr lang="en-US" sz="1800" dirty="0"/>
          </a:p>
        </p:txBody>
      </p:sp>
      <p:sp>
        <p:nvSpPr>
          <p:cNvPr id="37" name="anim2_v"/>
          <p:cNvSpPr/>
          <p:nvPr/>
        </p:nvSpPr>
        <p:spPr>
          <a:xfrm>
            <a:off x="7680960" y="3392424"/>
            <a:ext cx="1005840" cy="457200"/>
          </a:xfrm>
          <a:prstGeom prst="roundRect">
            <a:avLst>
              <a:gd name="adj" fmla="val 30000"/>
            </a:avLst>
          </a:prstGeom>
          <a:solidFill>
            <a:srgbClr val="F5EBE3"/>
          </a:solidFill>
          <a:ln w="25400">
            <a:solidFill>
              <a:srgbClr val="A84400"/>
            </a:solidFill>
            <a:prstDash val="solid"/>
          </a:ln>
        </p:spPr>
        <p:txBody>
          <a:bodyPr wrap="square" lIns="0" tIns="0" rIns="0" bIns="0" rtlCol="0" anchor="ctr"/>
          <a:lstStyle/>
          <a:p>
            <a:pPr algn="ctr" indent="0" marL="0">
              <a:buNone/>
            </a:pPr>
            <a:r>
              <a:rPr lang="en-US" sz="1800" b="1" dirty="0">
                <a:solidFill>
                  <a:srgbClr val="A84400"/>
                </a:solidFill>
                <a:latin typeface="Golos Text" pitchFamily="34" charset="0"/>
                <a:ea typeface="Golos Text" pitchFamily="34" charset="-122"/>
                <a:cs typeface="Golos Text" pitchFamily="34" charset="-120"/>
              </a:rPr>
              <a:t>17</a:t>
            </a:r>
            <a:endParaRPr lang="en-US" sz="1800" dirty="0"/>
          </a:p>
        </p:txBody>
      </p:sp>
      <p:sp>
        <p:nvSpPr>
          <p:cNvPr id="38" name="anim2_v"/>
          <p:cNvSpPr/>
          <p:nvPr/>
        </p:nvSpPr>
        <p:spPr>
          <a:xfrm>
            <a:off x="9144000" y="3392424"/>
            <a:ext cx="1005840" cy="457200"/>
          </a:xfrm>
          <a:prstGeom prst="roundRect">
            <a:avLst>
              <a:gd name="adj" fmla="val 30000"/>
            </a:avLst>
          </a:prstGeom>
          <a:solidFill>
            <a:srgbClr val="F5EBE3"/>
          </a:solidFill>
          <a:ln w="25400">
            <a:solidFill>
              <a:srgbClr val="A84400"/>
            </a:solidFill>
            <a:prstDash val="solid"/>
          </a:ln>
        </p:spPr>
        <p:txBody>
          <a:bodyPr wrap="square" lIns="0" tIns="0" rIns="0" bIns="0" rtlCol="0" anchor="ctr"/>
          <a:lstStyle/>
          <a:p>
            <a:pPr algn="ctr" indent="0" marL="0">
              <a:buNone/>
            </a:pPr>
            <a:r>
              <a:rPr lang="en-US" sz="1800" b="1" dirty="0">
                <a:solidFill>
                  <a:srgbClr val="A84400"/>
                </a:solidFill>
                <a:latin typeface="Golos Text" pitchFamily="34" charset="0"/>
                <a:ea typeface="Golos Text" pitchFamily="34" charset="-122"/>
                <a:cs typeface="Golos Text" pitchFamily="34" charset="-120"/>
              </a:rPr>
              <a:t>17</a:t>
            </a:r>
            <a:endParaRPr lang="en-US" sz="1800" dirty="0"/>
          </a:p>
        </p:txBody>
      </p:sp>
      <p:sp>
        <p:nvSpPr>
          <p:cNvPr id="39" name="anim2_v"/>
          <p:cNvSpPr/>
          <p:nvPr/>
        </p:nvSpPr>
        <p:spPr>
          <a:xfrm>
            <a:off x="10607040" y="3392424"/>
            <a:ext cx="987552" cy="457200"/>
          </a:xfrm>
          <a:prstGeom prst="roundRect">
            <a:avLst>
              <a:gd name="adj" fmla="val 30000"/>
            </a:avLst>
          </a:prstGeom>
          <a:solidFill>
            <a:srgbClr val="FFFFFF"/>
          </a:solidFill>
          <a:ln w="12700">
            <a:solidFill>
              <a:srgbClr val="8D99AA"/>
            </a:solidFill>
            <a:prstDash val="solid"/>
          </a:ln>
        </p:spPr>
        <p:txBody>
          <a:bodyPr wrap="square" lIns="0" tIns="0" rIns="0" bIns="0" rtlCol="0" anchor="ctr"/>
          <a:lstStyle/>
          <a:p>
            <a:pPr algn="ctr" indent="0" marL="0">
              <a:buNone/>
            </a:pPr>
            <a:r>
              <a:rPr lang="en-US" sz="1800" b="1" dirty="0">
                <a:solidFill>
                  <a:srgbClr val="1D3557"/>
                </a:solidFill>
                <a:latin typeface="Golos Text" pitchFamily="34" charset="0"/>
                <a:ea typeface="Golos Text" pitchFamily="34" charset="-122"/>
                <a:cs typeface="Golos Text" pitchFamily="34" charset="-120"/>
              </a:rPr>
              <a:t>11</a:t>
            </a:r>
            <a:endParaRPr lang="en-US" sz="1800" dirty="0"/>
          </a:p>
        </p:txBody>
      </p:sp>
      <p:sp>
        <p:nvSpPr>
          <p:cNvPr id="40" name="Shape 38"/>
          <p:cNvSpPr/>
          <p:nvPr/>
        </p:nvSpPr>
        <p:spPr>
          <a:xfrm>
            <a:off x="365760" y="3995928"/>
            <a:ext cx="11457432" cy="603504"/>
          </a:xfrm>
          <a:prstGeom prst="roundRect">
            <a:avLst>
              <a:gd name="adj" fmla="val 20000"/>
            </a:avLst>
          </a:prstGeom>
          <a:solidFill>
            <a:srgbClr val="FFFFFF"/>
          </a:solidFill>
          <a:ln w="12700">
            <a:solidFill>
              <a:srgbClr val="E7EAF2"/>
            </a:solidFill>
            <a:prstDash val="solid"/>
          </a:ln>
        </p:spPr>
      </p:sp>
      <p:sp>
        <p:nvSpPr>
          <p:cNvPr id="41" name="Text 39"/>
          <p:cNvSpPr/>
          <p:nvPr/>
        </p:nvSpPr>
        <p:spPr>
          <a:xfrm>
            <a:off x="475488" y="3995928"/>
            <a:ext cx="3063240" cy="603504"/>
          </a:xfrm>
          <a:prstGeom prst="rect">
            <a:avLst/>
          </a:prstGeom>
          <a:noFill/>
          <a:ln/>
        </p:spPr>
        <p:txBody>
          <a:bodyPr wrap="square" lIns="0" tIns="0" rIns="0" bIns="0" rtlCol="0" anchor="ctr"/>
          <a:lstStyle/>
          <a:p>
            <a:pPr algn="l" indent="0" marL="0">
              <a:buNone/>
            </a:pPr>
            <a:r>
              <a:rPr lang="en-US" sz="1600" b="1" dirty="0">
                <a:solidFill>
                  <a:srgbClr val="1D3557"/>
                </a:solidFill>
                <a:latin typeface="Golos Text" pitchFamily="34" charset="0"/>
                <a:ea typeface="Golos Text" pitchFamily="34" charset="-122"/>
                <a:cs typeface="Golos Text" pitchFamily="34" charset="-120"/>
              </a:rPr>
              <a:t>11, 13, 14, 17, 17, 24</a:t>
            </a:r>
            <a:endParaRPr lang="en-US" sz="1600" dirty="0"/>
          </a:p>
        </p:txBody>
      </p:sp>
      <p:sp>
        <p:nvSpPr>
          <p:cNvPr id="42" name="Text 40"/>
          <p:cNvSpPr/>
          <p:nvPr/>
        </p:nvSpPr>
        <p:spPr>
          <a:xfrm>
            <a:off x="3703320" y="3995928"/>
            <a:ext cx="2194560" cy="603504"/>
          </a:xfrm>
          <a:prstGeom prst="rect">
            <a:avLst/>
          </a:prstGeom>
          <a:noFill/>
          <a:ln/>
        </p:spPr>
        <p:txBody>
          <a:bodyPr wrap="square" lIns="0" tIns="0" rIns="0" bIns="0" rtlCol="0" anchor="ctr"/>
          <a:lstStyle/>
          <a:p>
            <a:pPr algn="l" indent="0" marL="0">
              <a:buNone/>
            </a:pPr>
            <a:r>
              <a:rPr lang="en-US" sz="1500" b="1" dirty="0">
                <a:solidFill>
                  <a:srgbClr val="A84400"/>
                </a:solidFill>
                <a:latin typeface="Golos Text" pitchFamily="34" charset="0"/>
                <a:ea typeface="Golos Text" pitchFamily="34" charset="-122"/>
                <a:cs typeface="Golos Text" pitchFamily="34" charset="-120"/>
              </a:rPr>
              <a:t>11 кошулду (6 сан)</a:t>
            </a:r>
            <a:endParaRPr lang="en-US" sz="1500" dirty="0"/>
          </a:p>
        </p:txBody>
      </p:sp>
      <p:sp>
        <p:nvSpPr>
          <p:cNvPr id="43" name="anim3_v"/>
          <p:cNvSpPr/>
          <p:nvPr/>
        </p:nvSpPr>
        <p:spPr>
          <a:xfrm>
            <a:off x="6217920" y="4069080"/>
            <a:ext cx="1005840" cy="457200"/>
          </a:xfrm>
          <a:prstGeom prst="roundRect">
            <a:avLst>
              <a:gd name="adj" fmla="val 30000"/>
            </a:avLst>
          </a:prstGeom>
          <a:solidFill>
            <a:srgbClr val="F5EBE3"/>
          </a:solidFill>
          <a:ln w="25400">
            <a:solidFill>
              <a:srgbClr val="A84400"/>
            </a:solidFill>
            <a:prstDash val="solid"/>
          </a:ln>
        </p:spPr>
        <p:txBody>
          <a:bodyPr wrap="square" lIns="0" tIns="0" rIns="0" bIns="0" rtlCol="0" anchor="ctr"/>
          <a:lstStyle/>
          <a:p>
            <a:pPr algn="ctr" indent="0" marL="0">
              <a:buNone/>
            </a:pPr>
            <a:r>
              <a:rPr lang="en-US" sz="1800" b="1" dirty="0">
                <a:solidFill>
                  <a:srgbClr val="A84400"/>
                </a:solidFill>
                <a:latin typeface="Golos Text" pitchFamily="34" charset="0"/>
                <a:ea typeface="Golos Text" pitchFamily="34" charset="-122"/>
                <a:cs typeface="Golos Text" pitchFamily="34" charset="-120"/>
              </a:rPr>
              <a:t>16</a:t>
            </a:r>
            <a:endParaRPr lang="en-US" sz="1800" dirty="0"/>
          </a:p>
        </p:txBody>
      </p:sp>
      <p:sp>
        <p:nvSpPr>
          <p:cNvPr id="44" name="anim3_v"/>
          <p:cNvSpPr/>
          <p:nvPr/>
        </p:nvSpPr>
        <p:spPr>
          <a:xfrm>
            <a:off x="7680960" y="4069080"/>
            <a:ext cx="1005840" cy="457200"/>
          </a:xfrm>
          <a:prstGeom prst="roundRect">
            <a:avLst>
              <a:gd name="adj" fmla="val 30000"/>
            </a:avLst>
          </a:prstGeom>
          <a:solidFill>
            <a:srgbClr val="F5EBE3"/>
          </a:solidFill>
          <a:ln w="25400">
            <a:solidFill>
              <a:srgbClr val="A84400"/>
            </a:solidFill>
            <a:prstDash val="solid"/>
          </a:ln>
        </p:spPr>
        <p:txBody>
          <a:bodyPr wrap="square" lIns="0" tIns="0" rIns="0" bIns="0" rtlCol="0" anchor="ctr"/>
          <a:lstStyle/>
          <a:p>
            <a:pPr algn="ctr" indent="0" marL="0">
              <a:buNone/>
            </a:pPr>
            <a:r>
              <a:rPr lang="en-US" sz="1800" b="1" dirty="0">
                <a:solidFill>
                  <a:srgbClr val="A84400"/>
                </a:solidFill>
                <a:latin typeface="Golos Text" pitchFamily="34" charset="0"/>
                <a:ea typeface="Golos Text" pitchFamily="34" charset="-122"/>
                <a:cs typeface="Golos Text" pitchFamily="34" charset="-120"/>
              </a:rPr>
              <a:t>15,5</a:t>
            </a:r>
            <a:endParaRPr lang="en-US" sz="1800" dirty="0"/>
          </a:p>
        </p:txBody>
      </p:sp>
      <p:sp>
        <p:nvSpPr>
          <p:cNvPr id="45" name="anim3_v"/>
          <p:cNvSpPr/>
          <p:nvPr/>
        </p:nvSpPr>
        <p:spPr>
          <a:xfrm>
            <a:off x="9144000" y="4069080"/>
            <a:ext cx="1005840" cy="457200"/>
          </a:xfrm>
          <a:prstGeom prst="roundRect">
            <a:avLst>
              <a:gd name="adj" fmla="val 30000"/>
            </a:avLst>
          </a:prstGeom>
          <a:solidFill>
            <a:srgbClr val="FFFFFF"/>
          </a:solidFill>
          <a:ln w="12700">
            <a:solidFill>
              <a:srgbClr val="8D99AA"/>
            </a:solidFill>
            <a:prstDash val="solid"/>
          </a:ln>
        </p:spPr>
        <p:txBody>
          <a:bodyPr wrap="square" lIns="0" tIns="0" rIns="0" bIns="0" rtlCol="0" anchor="ctr"/>
          <a:lstStyle/>
          <a:p>
            <a:pPr algn="ctr" indent="0" marL="0">
              <a:buNone/>
            </a:pPr>
            <a:r>
              <a:rPr lang="en-US" sz="1800" b="1" dirty="0">
                <a:solidFill>
                  <a:srgbClr val="1D3557"/>
                </a:solidFill>
                <a:latin typeface="Golos Text" pitchFamily="34" charset="0"/>
                <a:ea typeface="Golos Text" pitchFamily="34" charset="-122"/>
                <a:cs typeface="Golos Text" pitchFamily="34" charset="-120"/>
              </a:rPr>
              <a:t>17</a:t>
            </a:r>
            <a:endParaRPr lang="en-US" sz="1800" dirty="0"/>
          </a:p>
        </p:txBody>
      </p:sp>
      <p:sp>
        <p:nvSpPr>
          <p:cNvPr id="46" name="anim3_v"/>
          <p:cNvSpPr/>
          <p:nvPr/>
        </p:nvSpPr>
        <p:spPr>
          <a:xfrm>
            <a:off x="10607040" y="4069080"/>
            <a:ext cx="987552" cy="457200"/>
          </a:xfrm>
          <a:prstGeom prst="roundRect">
            <a:avLst>
              <a:gd name="adj" fmla="val 30000"/>
            </a:avLst>
          </a:prstGeom>
          <a:solidFill>
            <a:srgbClr val="F5EBE3"/>
          </a:solidFill>
          <a:ln w="25400">
            <a:solidFill>
              <a:srgbClr val="A84400"/>
            </a:solidFill>
            <a:prstDash val="solid"/>
          </a:ln>
        </p:spPr>
        <p:txBody>
          <a:bodyPr wrap="square" lIns="0" tIns="0" rIns="0" bIns="0" rtlCol="0" anchor="ctr"/>
          <a:lstStyle/>
          <a:p>
            <a:pPr algn="ctr" indent="0" marL="0">
              <a:buNone/>
            </a:pPr>
            <a:r>
              <a:rPr lang="en-US" sz="1800" b="1" dirty="0">
                <a:solidFill>
                  <a:srgbClr val="A84400"/>
                </a:solidFill>
                <a:latin typeface="Golos Text" pitchFamily="34" charset="0"/>
                <a:ea typeface="Golos Text" pitchFamily="34" charset="-122"/>
                <a:cs typeface="Golos Text" pitchFamily="34" charset="-120"/>
              </a:rPr>
              <a:t>13</a:t>
            </a:r>
            <a:endParaRPr lang="en-US" sz="1800" dirty="0"/>
          </a:p>
        </p:txBody>
      </p:sp>
      <p:sp>
        <p:nvSpPr>
          <p:cNvPr id="47" name="Shape 45"/>
          <p:cNvSpPr/>
          <p:nvPr/>
        </p:nvSpPr>
        <p:spPr>
          <a:xfrm>
            <a:off x="365760" y="4672584"/>
            <a:ext cx="11457432" cy="603504"/>
          </a:xfrm>
          <a:prstGeom prst="roundRect">
            <a:avLst>
              <a:gd name="adj" fmla="val 20000"/>
            </a:avLst>
          </a:prstGeom>
          <a:solidFill>
            <a:srgbClr val="F3F5FB"/>
          </a:solidFill>
          <a:ln w="12700">
            <a:solidFill>
              <a:srgbClr val="E7EAF2"/>
            </a:solidFill>
            <a:prstDash val="solid"/>
          </a:ln>
        </p:spPr>
      </p:sp>
      <p:sp>
        <p:nvSpPr>
          <p:cNvPr id="48" name="Text 46"/>
          <p:cNvSpPr/>
          <p:nvPr/>
        </p:nvSpPr>
        <p:spPr>
          <a:xfrm>
            <a:off x="475488" y="4672584"/>
            <a:ext cx="3063240" cy="603504"/>
          </a:xfrm>
          <a:prstGeom prst="rect">
            <a:avLst/>
          </a:prstGeom>
          <a:noFill/>
          <a:ln/>
        </p:spPr>
        <p:txBody>
          <a:bodyPr wrap="square" lIns="0" tIns="0" rIns="0" bIns="0" rtlCol="0" anchor="ctr"/>
          <a:lstStyle/>
          <a:p>
            <a:pPr algn="l" indent="0" marL="0">
              <a:buNone/>
            </a:pPr>
            <a:r>
              <a:rPr lang="en-US" sz="1600" b="1" dirty="0">
                <a:solidFill>
                  <a:srgbClr val="1D3557"/>
                </a:solidFill>
                <a:latin typeface="Golos Text" pitchFamily="34" charset="0"/>
                <a:ea typeface="Golos Text" pitchFamily="34" charset="-122"/>
                <a:cs typeface="Golos Text" pitchFamily="34" charset="-120"/>
              </a:rPr>
              <a:t>22, 26, 28, 34, 34, 48</a:t>
            </a:r>
            <a:endParaRPr lang="en-US" sz="1600" dirty="0"/>
          </a:p>
        </p:txBody>
      </p:sp>
      <p:sp>
        <p:nvSpPr>
          <p:cNvPr id="49" name="Text 47"/>
          <p:cNvSpPr/>
          <p:nvPr/>
        </p:nvSpPr>
        <p:spPr>
          <a:xfrm>
            <a:off x="3703320" y="4672584"/>
            <a:ext cx="2194560" cy="603504"/>
          </a:xfrm>
          <a:prstGeom prst="rect">
            <a:avLst/>
          </a:prstGeom>
          <a:noFill/>
          <a:ln/>
        </p:spPr>
        <p:txBody>
          <a:bodyPr wrap="square" lIns="0" tIns="0" rIns="0" bIns="0" rtlCol="0" anchor="ctr"/>
          <a:lstStyle/>
          <a:p>
            <a:pPr algn="l" indent="0" marL="0">
              <a:buNone/>
            </a:pPr>
            <a:r>
              <a:rPr lang="en-US" sz="1500" b="1" dirty="0">
                <a:solidFill>
                  <a:srgbClr val="A84400"/>
                </a:solidFill>
                <a:latin typeface="Golos Text" pitchFamily="34" charset="0"/>
                <a:ea typeface="Golos Text" pitchFamily="34" charset="-122"/>
                <a:cs typeface="Golos Text" pitchFamily="34" charset="-120"/>
              </a:rPr>
              <a:t>ар бирин × 2</a:t>
            </a:r>
            <a:endParaRPr lang="en-US" sz="1500" dirty="0"/>
          </a:p>
        </p:txBody>
      </p:sp>
      <p:sp>
        <p:nvSpPr>
          <p:cNvPr id="50" name="anim4_v"/>
          <p:cNvSpPr/>
          <p:nvPr/>
        </p:nvSpPr>
        <p:spPr>
          <a:xfrm>
            <a:off x="6217920" y="4745736"/>
            <a:ext cx="1005840" cy="457200"/>
          </a:xfrm>
          <a:prstGeom prst="roundRect">
            <a:avLst>
              <a:gd name="adj" fmla="val 30000"/>
            </a:avLst>
          </a:prstGeom>
          <a:solidFill>
            <a:srgbClr val="F5EBE3"/>
          </a:solidFill>
          <a:ln w="25400">
            <a:solidFill>
              <a:srgbClr val="A84400"/>
            </a:solidFill>
            <a:prstDash val="solid"/>
          </a:ln>
        </p:spPr>
        <p:txBody>
          <a:bodyPr wrap="square" lIns="0" tIns="0" rIns="0" bIns="0" rtlCol="0" anchor="ctr"/>
          <a:lstStyle/>
          <a:p>
            <a:pPr algn="ctr" indent="0" marL="0">
              <a:buNone/>
            </a:pPr>
            <a:r>
              <a:rPr lang="en-US" sz="1800" b="1" dirty="0">
                <a:solidFill>
                  <a:srgbClr val="A84400"/>
                </a:solidFill>
                <a:latin typeface="Golos Text" pitchFamily="34" charset="0"/>
                <a:ea typeface="Golos Text" pitchFamily="34" charset="-122"/>
                <a:cs typeface="Golos Text" pitchFamily="34" charset="-120"/>
              </a:rPr>
              <a:t>32</a:t>
            </a:r>
            <a:endParaRPr lang="en-US" sz="1800" dirty="0"/>
          </a:p>
        </p:txBody>
      </p:sp>
      <p:sp>
        <p:nvSpPr>
          <p:cNvPr id="51" name="anim4_v"/>
          <p:cNvSpPr/>
          <p:nvPr/>
        </p:nvSpPr>
        <p:spPr>
          <a:xfrm>
            <a:off x="7680960" y="4745736"/>
            <a:ext cx="1005840" cy="457200"/>
          </a:xfrm>
          <a:prstGeom prst="roundRect">
            <a:avLst>
              <a:gd name="adj" fmla="val 30000"/>
            </a:avLst>
          </a:prstGeom>
          <a:solidFill>
            <a:srgbClr val="F5EBE3"/>
          </a:solidFill>
          <a:ln w="25400">
            <a:solidFill>
              <a:srgbClr val="A84400"/>
            </a:solidFill>
            <a:prstDash val="solid"/>
          </a:ln>
        </p:spPr>
        <p:txBody>
          <a:bodyPr wrap="square" lIns="0" tIns="0" rIns="0" bIns="0" rtlCol="0" anchor="ctr"/>
          <a:lstStyle/>
          <a:p>
            <a:pPr algn="ctr" indent="0" marL="0">
              <a:buNone/>
            </a:pPr>
            <a:r>
              <a:rPr lang="en-US" sz="1800" b="1" dirty="0">
                <a:solidFill>
                  <a:srgbClr val="A84400"/>
                </a:solidFill>
                <a:latin typeface="Golos Text" pitchFamily="34" charset="0"/>
                <a:ea typeface="Golos Text" pitchFamily="34" charset="-122"/>
                <a:cs typeface="Golos Text" pitchFamily="34" charset="-120"/>
              </a:rPr>
              <a:t>31</a:t>
            </a:r>
            <a:endParaRPr lang="en-US" sz="1800" dirty="0"/>
          </a:p>
        </p:txBody>
      </p:sp>
      <p:sp>
        <p:nvSpPr>
          <p:cNvPr id="52" name="anim4_v"/>
          <p:cNvSpPr/>
          <p:nvPr/>
        </p:nvSpPr>
        <p:spPr>
          <a:xfrm>
            <a:off x="9144000" y="4745736"/>
            <a:ext cx="1005840" cy="457200"/>
          </a:xfrm>
          <a:prstGeom prst="roundRect">
            <a:avLst>
              <a:gd name="adj" fmla="val 30000"/>
            </a:avLst>
          </a:prstGeom>
          <a:solidFill>
            <a:srgbClr val="F5EBE3"/>
          </a:solidFill>
          <a:ln w="25400">
            <a:solidFill>
              <a:srgbClr val="A84400"/>
            </a:solidFill>
            <a:prstDash val="solid"/>
          </a:ln>
        </p:spPr>
        <p:txBody>
          <a:bodyPr wrap="square" lIns="0" tIns="0" rIns="0" bIns="0" rtlCol="0" anchor="ctr"/>
          <a:lstStyle/>
          <a:p>
            <a:pPr algn="ctr" indent="0" marL="0">
              <a:buNone/>
            </a:pPr>
            <a:r>
              <a:rPr lang="en-US" sz="1800" b="1" dirty="0">
                <a:solidFill>
                  <a:srgbClr val="A84400"/>
                </a:solidFill>
                <a:latin typeface="Golos Text" pitchFamily="34" charset="0"/>
                <a:ea typeface="Golos Text" pitchFamily="34" charset="-122"/>
                <a:cs typeface="Golos Text" pitchFamily="34" charset="-120"/>
              </a:rPr>
              <a:t>34</a:t>
            </a:r>
            <a:endParaRPr lang="en-US" sz="1800" dirty="0"/>
          </a:p>
        </p:txBody>
      </p:sp>
      <p:sp>
        <p:nvSpPr>
          <p:cNvPr id="53" name="anim4_v"/>
          <p:cNvSpPr/>
          <p:nvPr/>
        </p:nvSpPr>
        <p:spPr>
          <a:xfrm>
            <a:off x="10607040" y="4745736"/>
            <a:ext cx="987552" cy="457200"/>
          </a:xfrm>
          <a:prstGeom prst="roundRect">
            <a:avLst>
              <a:gd name="adj" fmla="val 30000"/>
            </a:avLst>
          </a:prstGeom>
          <a:solidFill>
            <a:srgbClr val="F5EBE3"/>
          </a:solidFill>
          <a:ln w="25400">
            <a:solidFill>
              <a:srgbClr val="A84400"/>
            </a:solidFill>
            <a:prstDash val="solid"/>
          </a:ln>
        </p:spPr>
        <p:txBody>
          <a:bodyPr wrap="square" lIns="0" tIns="0" rIns="0" bIns="0" rtlCol="0" anchor="ctr"/>
          <a:lstStyle/>
          <a:p>
            <a:pPr algn="ctr" indent="0" marL="0">
              <a:buNone/>
            </a:pPr>
            <a:r>
              <a:rPr lang="en-US" sz="1800" b="1" dirty="0">
                <a:solidFill>
                  <a:srgbClr val="A84400"/>
                </a:solidFill>
                <a:latin typeface="Golos Text" pitchFamily="34" charset="0"/>
                <a:ea typeface="Golos Text" pitchFamily="34" charset="-122"/>
                <a:cs typeface="Golos Text" pitchFamily="34" charset="-120"/>
              </a:rPr>
              <a:t>26</a:t>
            </a:r>
            <a:endParaRPr lang="en-US" sz="1800" dirty="0"/>
          </a:p>
        </p:txBody>
      </p:sp>
      <p:sp>
        <p:nvSpPr>
          <p:cNvPr id="54" name="anim5_key"/>
          <p:cNvSpPr/>
          <p:nvPr/>
        </p:nvSpPr>
        <p:spPr>
          <a:xfrm>
            <a:off x="365760" y="5440680"/>
            <a:ext cx="11457432" cy="868680"/>
          </a:xfrm>
          <a:prstGeom prst="roundRect">
            <a:avLst>
              <a:gd name="adj" fmla="val 25000"/>
            </a:avLst>
          </a:prstGeom>
          <a:solidFill>
            <a:srgbClr val="D1E7E1"/>
          </a:solidFill>
          <a:ln w="28575">
            <a:solidFill>
              <a:srgbClr val="007A5A"/>
            </a:solidFill>
            <a:prstDash val="solid"/>
          </a:ln>
        </p:spPr>
        <p:txBody>
          <a:bodyPr wrap="square" lIns="0" tIns="0" rIns="0" bIns="0" rtlCol="0" anchor="ctr"/>
          <a:lstStyle/>
          <a:p>
            <a:pPr algn="ctr" indent="0" marL="0">
              <a:buNone/>
            </a:pPr>
            <a:r>
              <a:rPr lang="en-US" sz="1600" b="1" dirty="0">
                <a:solidFill>
                  <a:srgbClr val="007A5A"/>
                </a:solidFill>
                <a:latin typeface="Golos Text" pitchFamily="34" charset="0"/>
                <a:ea typeface="Golos Text" pitchFamily="34" charset="-122"/>
                <a:cs typeface="Golos Text" pitchFamily="34" charset="-120"/>
              </a:rPr>
              <a:t>Бир чоң сан орточону жана кулачты өзгөртөт, медиананы өзгөртпөйт.</a:t>
            </a:r>
            <a:endParaRPr lang="en-US" sz="1600" dirty="0"/>
          </a:p>
          <a:p>
            <a:pPr algn="ctr" indent="0" marL="0">
              <a:buNone/>
            </a:pPr>
            <a:r>
              <a:rPr lang="en-US" sz="1600" b="1" dirty="0">
                <a:solidFill>
                  <a:srgbClr val="007A5A"/>
                </a:solidFill>
                <a:latin typeface="Golos Text" pitchFamily="34" charset="0"/>
                <a:ea typeface="Golos Text" pitchFamily="34" charset="-122"/>
                <a:cs typeface="Golos Text" pitchFamily="34" charset="-120"/>
              </a:rPr>
              <a:t>Ар бирине +10: кулачтан башкасы +10.   Ар бирин × 2: баары 2 эсе.</a:t>
            </a:r>
            <a:endParaRPr lang="en-US" sz="1600" dirty="0"/>
          </a:p>
        </p:txBody>
      </p:sp>
      <p:sp>
        <p:nvSpPr>
          <p:cNvPr id="55" name="Slide Number Placeholder 0"/>
          <p:cNvSpPr>
            <a:spLocks noGrp="1"/>
          </p:cNvSpPr>
          <p:nvPr>
            <p:ph type="sldNum" sz="quarter" idx="4294967295"/>
          </p:nvPr>
        </p:nvSpPr>
        <p:spPr>
          <a:xfrm>
            <a:off x="11384280" y="6492240"/>
            <a:ext cx="438912"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99AA"/>
                </a:solidFill>
                <a:latin typeface="Golos Text"/>
                <a:ea typeface="Golos Text"/>
                <a:cs typeface="Golos Text"/>
              </a:defRPr>
            </a:lvl1pPr>
          </a:lstStyle>
          <a:p>
            <a:pPr algn="r"/>
            <a:fld id="{F7021451-1387-4CA6-816F-3879F97B5CBC}" type="slidenum">
              <a:rPr b="0" lang="en-US"/>
              <a:t>16</a:t>
            </a:fld>
            <a:endParaRPr lang="en-US"/>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9"/>
                                        </p:tgtEl>
                                        <p:attrNameLst>
                                          <p:attrName>style.visibility</p:attrName>
                                        </p:attrNameLst>
                                      </p:cBhvr>
                                      <p:to>
                                        <p:strVal val="visible"/>
                                      </p:to>
                                    </p:set>
                                    <p:animEffect transition="in" filter="fade">
                                      <p:cBhvr>
                                        <p:cTn id="5" dur="600"/>
                                        <p:tgtEl>
                                          <p:spTgt spid="2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0"/>
                                        </p:tgtEl>
                                        <p:attrNameLst>
                                          <p:attrName>style.visibility</p:attrName>
                                        </p:attrNameLst>
                                      </p:cBhvr>
                                      <p:to>
                                        <p:strVal val="visible"/>
                                      </p:to>
                                    </p:set>
                                    <p:animEffect transition="in" filter="fade">
                                      <p:cBhvr>
                                        <p:cTn id="8" dur="600"/>
                                        <p:tgtEl>
                                          <p:spTgt spid="3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600"/>
                                        <p:tgtEl>
                                          <p:spTgt spid="3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fade">
                                      <p:cBhvr>
                                        <p:cTn id="14" dur="600"/>
                                        <p:tgtEl>
                                          <p:spTgt spid="32"/>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600"/>
                                        <p:tgtEl>
                                          <p:spTgt spid="3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600"/>
                                        <p:tgtEl>
                                          <p:spTgt spid="3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fade">
                                      <p:cBhvr>
                                        <p:cTn id="25" dur="600"/>
                                        <p:tgtEl>
                                          <p:spTgt spid="3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9"/>
                                        </p:tgtEl>
                                        <p:attrNameLst>
                                          <p:attrName>style.visibility</p:attrName>
                                        </p:attrNameLst>
                                      </p:cBhvr>
                                      <p:to>
                                        <p:strVal val="visible"/>
                                      </p:to>
                                    </p:set>
                                    <p:animEffect transition="in" filter="fade">
                                      <p:cBhvr>
                                        <p:cTn id="28" dur="600"/>
                                        <p:tgtEl>
                                          <p:spTgt spid="39"/>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43"/>
                                        </p:tgtEl>
                                        <p:attrNameLst>
                                          <p:attrName>style.visibility</p:attrName>
                                        </p:attrNameLst>
                                      </p:cBhvr>
                                      <p:to>
                                        <p:strVal val="visible"/>
                                      </p:to>
                                    </p:set>
                                    <p:animEffect transition="in" filter="fade">
                                      <p:cBhvr>
                                        <p:cTn id="33" dur="600"/>
                                        <p:tgtEl>
                                          <p:spTgt spid="4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44"/>
                                        </p:tgtEl>
                                        <p:attrNameLst>
                                          <p:attrName>style.visibility</p:attrName>
                                        </p:attrNameLst>
                                      </p:cBhvr>
                                      <p:to>
                                        <p:strVal val="visible"/>
                                      </p:to>
                                    </p:set>
                                    <p:animEffect transition="in" filter="fade">
                                      <p:cBhvr>
                                        <p:cTn id="36" dur="600"/>
                                        <p:tgtEl>
                                          <p:spTgt spid="4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5"/>
                                        </p:tgtEl>
                                        <p:attrNameLst>
                                          <p:attrName>style.visibility</p:attrName>
                                        </p:attrNameLst>
                                      </p:cBhvr>
                                      <p:to>
                                        <p:strVal val="visible"/>
                                      </p:to>
                                    </p:set>
                                    <p:animEffect transition="in" filter="fade">
                                      <p:cBhvr>
                                        <p:cTn id="39" dur="600"/>
                                        <p:tgtEl>
                                          <p:spTgt spid="4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6"/>
                                        </p:tgtEl>
                                        <p:attrNameLst>
                                          <p:attrName>style.visibility</p:attrName>
                                        </p:attrNameLst>
                                      </p:cBhvr>
                                      <p:to>
                                        <p:strVal val="visible"/>
                                      </p:to>
                                    </p:set>
                                    <p:animEffect transition="in" filter="fade">
                                      <p:cBhvr>
                                        <p:cTn id="42" dur="600"/>
                                        <p:tgtEl>
                                          <p:spTgt spid="46"/>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0"/>
                                        </p:tgtEl>
                                        <p:attrNameLst>
                                          <p:attrName>style.visibility</p:attrName>
                                        </p:attrNameLst>
                                      </p:cBhvr>
                                      <p:to>
                                        <p:strVal val="visible"/>
                                      </p:to>
                                    </p:set>
                                    <p:animEffect transition="in" filter="fade">
                                      <p:cBhvr>
                                        <p:cTn id="47" dur="600"/>
                                        <p:tgtEl>
                                          <p:spTgt spid="5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51"/>
                                        </p:tgtEl>
                                        <p:attrNameLst>
                                          <p:attrName>style.visibility</p:attrName>
                                        </p:attrNameLst>
                                      </p:cBhvr>
                                      <p:to>
                                        <p:strVal val="visible"/>
                                      </p:to>
                                    </p:set>
                                    <p:animEffect transition="in" filter="fade">
                                      <p:cBhvr>
                                        <p:cTn id="50" dur="600"/>
                                        <p:tgtEl>
                                          <p:spTgt spid="5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2"/>
                                        </p:tgtEl>
                                        <p:attrNameLst>
                                          <p:attrName>style.visibility</p:attrName>
                                        </p:attrNameLst>
                                      </p:cBhvr>
                                      <p:to>
                                        <p:strVal val="visible"/>
                                      </p:to>
                                    </p:set>
                                    <p:animEffect transition="in" filter="fade">
                                      <p:cBhvr>
                                        <p:cTn id="53" dur="600"/>
                                        <p:tgtEl>
                                          <p:spTgt spid="5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53"/>
                                        </p:tgtEl>
                                        <p:attrNameLst>
                                          <p:attrName>style.visibility</p:attrName>
                                        </p:attrNameLst>
                                      </p:cBhvr>
                                      <p:to>
                                        <p:strVal val="visible"/>
                                      </p:to>
                                    </p:set>
                                    <p:animEffect transition="in" filter="fade">
                                      <p:cBhvr>
                                        <p:cTn id="56" dur="600"/>
                                        <p:tgtEl>
                                          <p:spTgt spid="53"/>
                                        </p:tgtEl>
                                      </p:cBhvr>
                                    </p:animEffect>
                                  </p:childTnLst>
                                </p:cTn>
                              </p:par>
                            </p:childTnLst>
                          </p:cTn>
                        </p:par>
                      </p:childTnLst>
                    </p:cTn>
                  </p:par>
                  <p:par>
                    <p:cTn id="62" fill="hold">
                      <p:stCondLst>
                        <p:cond delay="indefinite"/>
                      </p:stCondLst>
                      <p:childTnLst>
                        <p:par>
                          <p:cTn id="63"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54"/>
                                        </p:tgtEl>
                                        <p:attrNameLst>
                                          <p:attrName>style.visibility</p:attrName>
                                        </p:attrNameLst>
                                      </p:cBhvr>
                                      <p:to>
                                        <p:strVal val="visible"/>
                                      </p:to>
                                    </p:set>
                                    <p:animEffect transition="in" filter="fade">
                                      <p:cBhvr>
                                        <p:cTn id="61" dur="6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6" grpId="0" animBg="1"/>
      <p:bldP spid="37" grpId="0" animBg="1"/>
      <p:bldP spid="38" grpId="0" animBg="1"/>
      <p:bldP spid="39" grpId="0" animBg="1"/>
      <p:bldP spid="43" grpId="0" animBg="1"/>
      <p:bldP spid="44" grpId="0" animBg="1"/>
      <p:bldP spid="45" grpId="0" animBg="1"/>
      <p:bldP spid="46" grpId="0" animBg="1"/>
      <p:bldP spid="50" grpId="0" animBg="1"/>
      <p:bldP spid="51" grpId="0" animBg="1"/>
      <p:bldP spid="52" grpId="0" animBg="1"/>
      <p:bldP spid="53" grpId="0" animBg="1"/>
      <p:bldP spid="5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11457432" cy="640080"/>
          </a:xfrm>
          <a:prstGeom prst="roundRect">
            <a:avLst>
              <a:gd name="adj" fmla="val 22000"/>
            </a:avLst>
          </a:prstGeom>
          <a:solidFill>
            <a:srgbClr val="FFFFFF"/>
          </a:solidFill>
          <a:ln w="19050">
            <a:solidFill>
              <a:srgbClr val="1D3557"/>
            </a:solidFill>
            <a:prstDash val="solid"/>
          </a:ln>
        </p:spPr>
      </p:sp>
      <p:sp>
        <p:nvSpPr>
          <p:cNvPr id="3" name="Shape 1"/>
          <p:cNvSpPr/>
          <p:nvPr/>
        </p:nvSpPr>
        <p:spPr>
          <a:xfrm>
            <a:off x="557784" y="369418"/>
            <a:ext cx="70409" cy="358445"/>
          </a:xfrm>
          <a:prstGeom prst="roundRect">
            <a:avLst>
              <a:gd name="adj" fmla="val 50000"/>
            </a:avLst>
          </a:prstGeom>
          <a:solidFill>
            <a:srgbClr val="007A5A"/>
          </a:solidFill>
          <a:ln/>
        </p:spPr>
      </p:sp>
      <p:sp>
        <p:nvSpPr>
          <p:cNvPr id="4" name="Shape 2"/>
          <p:cNvSpPr/>
          <p:nvPr/>
        </p:nvSpPr>
        <p:spPr>
          <a:xfrm>
            <a:off x="691561" y="369418"/>
            <a:ext cx="70409" cy="358445"/>
          </a:xfrm>
          <a:prstGeom prst="roundRect">
            <a:avLst>
              <a:gd name="adj" fmla="val 50000"/>
            </a:avLst>
          </a:prstGeom>
          <a:solidFill>
            <a:srgbClr val="A84400"/>
          </a:solidFill>
          <a:ln/>
        </p:spPr>
      </p:sp>
      <p:sp>
        <p:nvSpPr>
          <p:cNvPr id="5" name="Shape 3"/>
          <p:cNvSpPr/>
          <p:nvPr/>
        </p:nvSpPr>
        <p:spPr>
          <a:xfrm>
            <a:off x="825337" y="369418"/>
            <a:ext cx="70409" cy="358445"/>
          </a:xfrm>
          <a:prstGeom prst="roundRect">
            <a:avLst>
              <a:gd name="adj" fmla="val 50000"/>
            </a:avLst>
          </a:prstGeom>
          <a:solidFill>
            <a:srgbClr val="24418C"/>
          </a:solidFill>
          <a:ln/>
        </p:spPr>
      </p:sp>
      <p:sp>
        <p:nvSpPr>
          <p:cNvPr id="6" name="Text 4"/>
          <p:cNvSpPr/>
          <p:nvPr/>
        </p:nvSpPr>
        <p:spPr>
          <a:xfrm>
            <a:off x="1096914" y="228600"/>
            <a:ext cx="7589520" cy="640080"/>
          </a:xfrm>
          <a:prstGeom prst="rect">
            <a:avLst/>
          </a:prstGeom>
          <a:noFill/>
          <a:ln/>
        </p:spPr>
        <p:txBody>
          <a:bodyPr wrap="square" lIns="0" tIns="0" rIns="0" bIns="0" rtlCol="0" anchor="ctr"/>
          <a:lstStyle/>
          <a:p>
            <a:pPr algn="l" indent="0" marL="0">
              <a:buNone/>
            </a:pPr>
            <a:r>
              <a:rPr lang="en-US" sz="2200" b="1" dirty="0">
                <a:solidFill>
                  <a:srgbClr val="1D3557"/>
                </a:solidFill>
                <a:latin typeface="Golos Text" pitchFamily="34" charset="0"/>
                <a:ea typeface="Golos Text" pitchFamily="34" charset="-122"/>
                <a:cs typeface="Golos Text" pitchFamily="34" charset="-120"/>
              </a:rPr>
              <a:t>Кенч издөө: 16 плакат класстын дубалында</a:t>
            </a:r>
            <a:endParaRPr lang="en-US" sz="2200" dirty="0"/>
          </a:p>
        </p:txBody>
      </p:sp>
      <p:sp>
        <p:nvSpPr>
          <p:cNvPr id="7" name="Text 5"/>
          <p:cNvSpPr/>
          <p:nvPr/>
        </p:nvSpPr>
        <p:spPr>
          <a:xfrm>
            <a:off x="8778240" y="228600"/>
            <a:ext cx="2880360" cy="640080"/>
          </a:xfrm>
          <a:prstGeom prst="rect">
            <a:avLst/>
          </a:prstGeom>
          <a:noFill/>
          <a:ln/>
        </p:spPr>
        <p:txBody>
          <a:bodyPr wrap="square" lIns="0" tIns="0" rIns="0" bIns="0" rtlCol="0" anchor="ctr"/>
          <a:lstStyle/>
          <a:p>
            <a:pPr algn="r" indent="0" marL="0">
              <a:buNone/>
            </a:pPr>
            <a:r>
              <a:rPr lang="en-US" sz="1100" dirty="0">
                <a:solidFill>
                  <a:srgbClr val="4A5A70"/>
                </a:solidFill>
                <a:latin typeface="Golos Text" pitchFamily="34" charset="0"/>
                <a:ea typeface="Golos Text" pitchFamily="34" charset="-122"/>
                <a:cs typeface="Golos Text" pitchFamily="34" charset="-120"/>
              </a:rPr>
              <a:t>Статистика › Төрт өлчөм</a:t>
            </a:r>
            <a:endParaRPr lang="en-US" sz="1100" dirty="0"/>
          </a:p>
        </p:txBody>
      </p:sp>
      <p:sp>
        <p:nvSpPr>
          <p:cNvPr id="8" name="Text 6"/>
          <p:cNvSpPr/>
          <p:nvPr/>
        </p:nvSpPr>
        <p:spPr>
          <a:xfrm>
            <a:off x="411480" y="960120"/>
            <a:ext cx="8412480" cy="329184"/>
          </a:xfrm>
          <a:prstGeom prst="rect">
            <a:avLst/>
          </a:prstGeom>
          <a:noFill/>
          <a:ln/>
        </p:spPr>
        <p:txBody>
          <a:bodyPr wrap="square" lIns="0" tIns="0" rIns="0" bIns="0" rtlCol="0" anchor="t"/>
          <a:lstStyle/>
          <a:p>
            <a:pPr algn="l" indent="0" marL="0">
              <a:buNone/>
            </a:pPr>
            <a:r>
              <a:rPr lang="en-US" sz="1500" i="1" dirty="0">
                <a:solidFill>
                  <a:srgbClr val="4A5A70"/>
                </a:solidFill>
                <a:latin typeface="Golos Text" pitchFamily="34" charset="0"/>
                <a:ea typeface="Golos Text" pitchFamily="34" charset="-122"/>
                <a:cs typeface="Golos Text" pitchFamily="34" charset="-120"/>
              </a:rPr>
              <a:t>Жупта иштейбиз. Каалаган плакаттан башта — баштаган плакатыңа кайтып келсең, кенч табылды</a:t>
            </a:r>
            <a:endParaRPr lang="en-US" sz="1500" dirty="0"/>
          </a:p>
        </p:txBody>
      </p:sp>
      <p:sp>
        <p:nvSpPr>
          <p:cNvPr id="9" name="Text 7"/>
          <p:cNvSpPr/>
          <p:nvPr/>
        </p:nvSpPr>
        <p:spPr>
          <a:xfrm>
            <a:off x="8897112" y="969264"/>
            <a:ext cx="2926080" cy="310896"/>
          </a:xfrm>
          <a:prstGeom prst="rect">
            <a:avLst/>
          </a:prstGeom>
          <a:noFill/>
          <a:ln/>
        </p:spPr>
        <p:txBody>
          <a:bodyPr wrap="square" lIns="0" tIns="0" rIns="0" bIns="0" rtlCol="0" anchor="ctr"/>
          <a:lstStyle/>
          <a:p>
            <a:pPr algn="r" indent="0" marL="0">
              <a:buNone/>
            </a:pPr>
            <a:r>
              <a:rPr lang="en-US" sz="1200" dirty="0">
                <a:solidFill>
                  <a:srgbClr val="4A5A70"/>
                </a:solidFill>
                <a:latin typeface="Golos Text" pitchFamily="34" charset="0"/>
                <a:ea typeface="Golos Text" pitchFamily="34" charset="-122"/>
                <a:cs typeface="Golos Text" pitchFamily="34" charset="-120"/>
              </a:rPr>
              <a:t>Чеберчилик · 5 мүн</a:t>
            </a:r>
            <a:endParaRPr lang="en-US" sz="1200" dirty="0"/>
          </a:p>
        </p:txBody>
      </p:sp>
      <p:sp>
        <p:nvSpPr>
          <p:cNvPr id="10" name="Text 8"/>
          <p:cNvSpPr/>
          <p:nvPr/>
        </p:nvSpPr>
        <p:spPr>
          <a:xfrm>
            <a:off x="365760" y="6492240"/>
            <a:ext cx="5486400" cy="228600"/>
          </a:xfrm>
          <a:prstGeom prst="rect">
            <a:avLst/>
          </a:prstGeom>
          <a:noFill/>
          <a:ln/>
        </p:spPr>
        <p:txBody>
          <a:bodyPr wrap="square" lIns="0" tIns="0" rIns="0" bIns="0" rtlCol="0" anchor="t"/>
          <a:lstStyle/>
          <a:p>
            <a:pPr algn="l" indent="0" marL="0">
              <a:buNone/>
            </a:pPr>
            <a:r>
              <a:rPr lang="en-US" sz="900" dirty="0">
                <a:solidFill>
                  <a:srgbClr val="8D99AA"/>
                </a:solidFill>
                <a:latin typeface="Golos Text" pitchFamily="34" charset="0"/>
                <a:ea typeface="Golos Text" pitchFamily="34" charset="-122"/>
                <a:cs typeface="Golos Text" pitchFamily="34" charset="-120"/>
              </a:rPr>
              <a:t>MathKG · Математика кыргызча</a:t>
            </a:r>
            <a:endParaRPr lang="en-US" sz="900" dirty="0"/>
          </a:p>
        </p:txBody>
      </p:sp>
      <p:sp>
        <p:nvSpPr>
          <p:cNvPr id="11" name="Text 9"/>
          <p:cNvSpPr/>
          <p:nvPr/>
        </p:nvSpPr>
        <p:spPr>
          <a:xfrm>
            <a:off x="7680960" y="6492240"/>
            <a:ext cx="3657600" cy="228600"/>
          </a:xfrm>
          <a:prstGeom prst="rect">
            <a:avLst/>
          </a:prstGeom>
          <a:noFill/>
          <a:ln/>
        </p:spPr>
        <p:txBody>
          <a:bodyPr wrap="square" lIns="0" tIns="0" rIns="0" bIns="0" rtlCol="0" anchor="t"/>
          <a:lstStyle/>
          <a:p>
            <a:pPr algn="r" indent="0" marL="0">
              <a:buNone/>
            </a:pPr>
            <a:r>
              <a:rPr lang="en-US" sz="900" dirty="0">
                <a:solidFill>
                  <a:srgbClr val="8D99AA"/>
                </a:solidFill>
                <a:latin typeface="Golos Text" pitchFamily="34" charset="0"/>
                <a:ea typeface="Golos Text" pitchFamily="34" charset="-122"/>
                <a:cs typeface="Golos Text" pitchFamily="34" charset="-120"/>
              </a:rPr>
              <a:t>MathKG ыкмасы · 5 мүн</a:t>
            </a:r>
            <a:endParaRPr lang="en-US" sz="900" dirty="0"/>
          </a:p>
        </p:txBody>
      </p:sp>
      <p:sp>
        <p:nvSpPr>
          <p:cNvPr id="12" name="anim1_st"/>
          <p:cNvSpPr/>
          <p:nvPr/>
        </p:nvSpPr>
        <p:spPr>
          <a:xfrm>
            <a:off x="365760" y="1463040"/>
            <a:ext cx="6035040" cy="777240"/>
          </a:xfrm>
          <a:prstGeom prst="roundRect">
            <a:avLst>
              <a:gd name="adj" fmla="val 15000"/>
            </a:avLst>
          </a:prstGeom>
          <a:solidFill>
            <a:srgbClr val="F3F5FB"/>
          </a:solidFill>
          <a:ln/>
        </p:spPr>
        <p:txBody>
          <a:bodyPr wrap="square" lIns="127000" tIns="127000" rIns="127000" bIns="127000" rtlCol="0" anchor="ctr"/>
          <a:lstStyle/>
          <a:p>
            <a:pPr algn="l" indent="0" marL="0">
              <a:buNone/>
            </a:pPr>
            <a:r>
              <a:rPr lang="en-US" sz="1700" b="1" dirty="0">
                <a:solidFill>
                  <a:srgbClr val="24418C"/>
                </a:solidFill>
                <a:latin typeface="Golos Text" pitchFamily="34" charset="0"/>
                <a:ea typeface="Golos Text" pitchFamily="34" charset="-122"/>
                <a:cs typeface="Golos Text" pitchFamily="34" charset="-120"/>
              </a:rPr>
              <a:t>1-кадам  </a:t>
            </a:r>
            <a:r>
              <a:rPr lang="en-US" sz="1700" dirty="0">
                <a:solidFill>
                  <a:srgbClr val="1D3557"/>
                </a:solidFill>
                <a:latin typeface="Golos Text" pitchFamily="34" charset="0"/>
                <a:ea typeface="Golos Text" pitchFamily="34" charset="-122"/>
                <a:cs typeface="Golos Text" pitchFamily="34" charset="-120"/>
              </a:rPr>
              <a:t>Плакаттагы суроону дептериңе чыгар.</a:t>
            </a:r>
            <a:endParaRPr lang="en-US" sz="1700" dirty="0"/>
          </a:p>
        </p:txBody>
      </p:sp>
      <p:sp>
        <p:nvSpPr>
          <p:cNvPr id="13" name="anim2_st"/>
          <p:cNvSpPr/>
          <p:nvPr/>
        </p:nvSpPr>
        <p:spPr>
          <a:xfrm>
            <a:off x="365760" y="2377440"/>
            <a:ext cx="6035040" cy="777240"/>
          </a:xfrm>
          <a:prstGeom prst="roundRect">
            <a:avLst>
              <a:gd name="adj" fmla="val 15000"/>
            </a:avLst>
          </a:prstGeom>
          <a:solidFill>
            <a:srgbClr val="F3F5FB"/>
          </a:solidFill>
          <a:ln/>
        </p:spPr>
        <p:txBody>
          <a:bodyPr wrap="square" lIns="127000" tIns="127000" rIns="127000" bIns="127000" rtlCol="0" anchor="ctr"/>
          <a:lstStyle/>
          <a:p>
            <a:pPr algn="l" indent="0" marL="0">
              <a:buNone/>
            </a:pPr>
            <a:r>
              <a:rPr lang="en-US" sz="1700" b="1" dirty="0">
                <a:solidFill>
                  <a:srgbClr val="24418C"/>
                </a:solidFill>
                <a:latin typeface="Golos Text" pitchFamily="34" charset="0"/>
                <a:ea typeface="Golos Text" pitchFamily="34" charset="-122"/>
                <a:cs typeface="Golos Text" pitchFamily="34" charset="-120"/>
              </a:rPr>
              <a:t>2-кадам  </a:t>
            </a:r>
            <a:r>
              <a:rPr lang="en-US" sz="1700" dirty="0">
                <a:solidFill>
                  <a:srgbClr val="1D3557"/>
                </a:solidFill>
                <a:latin typeface="Golos Text" pitchFamily="34" charset="0"/>
                <a:ea typeface="Golos Text" pitchFamily="34" charset="-122"/>
                <a:cs typeface="Golos Text" pitchFamily="34" charset="-120"/>
              </a:rPr>
              <a:t>Жообуңду кайсы плакаттын ЖОГОРКУ кутусунан табасың? Ошол плакатка бар.</a:t>
            </a:r>
            <a:endParaRPr lang="en-US" sz="1700" dirty="0"/>
          </a:p>
        </p:txBody>
      </p:sp>
      <p:sp>
        <p:nvSpPr>
          <p:cNvPr id="14" name="anim3_st"/>
          <p:cNvSpPr/>
          <p:nvPr/>
        </p:nvSpPr>
        <p:spPr>
          <a:xfrm>
            <a:off x="365760" y="3291840"/>
            <a:ext cx="6035040" cy="777240"/>
          </a:xfrm>
          <a:prstGeom prst="roundRect">
            <a:avLst>
              <a:gd name="adj" fmla="val 15000"/>
            </a:avLst>
          </a:prstGeom>
          <a:solidFill>
            <a:srgbClr val="F3F5FB"/>
          </a:solidFill>
          <a:ln/>
        </p:spPr>
        <p:txBody>
          <a:bodyPr wrap="square" lIns="127000" tIns="127000" rIns="127000" bIns="127000" rtlCol="0" anchor="ctr"/>
          <a:lstStyle/>
          <a:p>
            <a:pPr algn="l" indent="0" marL="0">
              <a:buNone/>
            </a:pPr>
            <a:r>
              <a:rPr lang="en-US" sz="1700" b="1" dirty="0">
                <a:solidFill>
                  <a:srgbClr val="24418C"/>
                </a:solidFill>
                <a:latin typeface="Golos Text" pitchFamily="34" charset="0"/>
                <a:ea typeface="Golos Text" pitchFamily="34" charset="-122"/>
                <a:cs typeface="Golos Text" pitchFamily="34" charset="-120"/>
              </a:rPr>
              <a:t>3-кадам  </a:t>
            </a:r>
            <a:r>
              <a:rPr lang="en-US" sz="1700" dirty="0">
                <a:solidFill>
                  <a:srgbClr val="1D3557"/>
                </a:solidFill>
                <a:latin typeface="Golos Text" pitchFamily="34" charset="0"/>
                <a:ea typeface="Golos Text" pitchFamily="34" charset="-122"/>
                <a:cs typeface="Golos Text" pitchFamily="34" charset="-120"/>
              </a:rPr>
              <a:t>Жооп барагына плакаттын тамгасын жана жообуңду жаз. Кайра 1-кадам.</a:t>
            </a:r>
            <a:endParaRPr lang="en-US" sz="1700" dirty="0"/>
          </a:p>
        </p:txBody>
      </p:sp>
      <p:sp>
        <p:nvSpPr>
          <p:cNvPr id="15" name="Shape 13"/>
          <p:cNvSpPr/>
          <p:nvPr/>
        </p:nvSpPr>
        <p:spPr>
          <a:xfrm>
            <a:off x="6766560" y="1463040"/>
            <a:ext cx="5056632" cy="914400"/>
          </a:xfrm>
          <a:prstGeom prst="roundRect">
            <a:avLst>
              <a:gd name="adj" fmla="val 12000"/>
            </a:avLst>
          </a:prstGeom>
          <a:solidFill>
            <a:srgbClr val="FFFFFF"/>
          </a:solidFill>
          <a:ln w="19050">
            <a:solidFill>
              <a:srgbClr val="1D3557"/>
            </a:solidFill>
            <a:prstDash val="solid"/>
          </a:ln>
        </p:spPr>
      </p:sp>
      <p:sp>
        <p:nvSpPr>
          <p:cNvPr id="16" name="Text 14"/>
          <p:cNvSpPr/>
          <p:nvPr/>
        </p:nvSpPr>
        <p:spPr>
          <a:xfrm>
            <a:off x="6766560" y="1463040"/>
            <a:ext cx="4023360" cy="914400"/>
          </a:xfrm>
          <a:prstGeom prst="rect">
            <a:avLst/>
          </a:prstGeom>
          <a:noFill/>
          <a:ln/>
        </p:spPr>
        <p:txBody>
          <a:bodyPr wrap="square" lIns="0" tIns="0" rIns="0" bIns="0" rtlCol="0" anchor="ctr"/>
          <a:lstStyle/>
          <a:p>
            <a:pPr algn="ctr" indent="0" marL="0">
              <a:buNone/>
            </a:pPr>
            <a:r>
              <a:rPr lang="en-US" sz="3200" b="1" dirty="0">
                <a:solidFill>
                  <a:srgbClr val="1D3557"/>
                </a:solidFill>
                <a:latin typeface="Golos Text" pitchFamily="34" charset="0"/>
                <a:ea typeface="Golos Text" pitchFamily="34" charset="-122"/>
                <a:cs typeface="Golos Text" pitchFamily="34" charset="-120"/>
              </a:rPr>
              <a:t>3</a:t>
            </a:r>
            <a:endParaRPr lang="en-US" sz="3200" dirty="0"/>
          </a:p>
        </p:txBody>
      </p:sp>
      <p:sp>
        <p:nvSpPr>
          <p:cNvPr id="17" name="Text 15"/>
          <p:cNvSpPr/>
          <p:nvPr/>
        </p:nvSpPr>
        <p:spPr>
          <a:xfrm>
            <a:off x="10881360" y="1554480"/>
            <a:ext cx="777240" cy="731520"/>
          </a:xfrm>
          <a:prstGeom prst="roundRect">
            <a:avLst>
              <a:gd name="adj" fmla="val 10000"/>
            </a:avLst>
          </a:prstGeom>
          <a:solidFill>
            <a:srgbClr val="FFFFFF"/>
          </a:solidFill>
          <a:ln w="19050">
            <a:solidFill>
              <a:srgbClr val="1D3557"/>
            </a:solidFill>
            <a:prstDash val="solid"/>
          </a:ln>
        </p:spPr>
        <p:txBody>
          <a:bodyPr wrap="square" lIns="0" tIns="0" rIns="0" bIns="0" rtlCol="0" anchor="ctr"/>
          <a:lstStyle/>
          <a:p>
            <a:pPr algn="ctr" indent="0" marL="0">
              <a:buNone/>
            </a:pPr>
            <a:r>
              <a:rPr lang="en-US" sz="3000" b="1" dirty="0">
                <a:solidFill>
                  <a:srgbClr val="1D3557"/>
                </a:solidFill>
                <a:latin typeface="Golos Text" pitchFamily="34" charset="0"/>
                <a:ea typeface="Golos Text" pitchFamily="34" charset="-122"/>
                <a:cs typeface="Golos Text" pitchFamily="34" charset="-120"/>
              </a:rPr>
              <a:t>А</a:t>
            </a:r>
            <a:endParaRPr lang="en-US" sz="3000" dirty="0"/>
          </a:p>
        </p:txBody>
      </p:sp>
      <p:sp>
        <p:nvSpPr>
          <p:cNvPr id="18" name="Shape 16"/>
          <p:cNvSpPr/>
          <p:nvPr/>
        </p:nvSpPr>
        <p:spPr>
          <a:xfrm>
            <a:off x="6766560" y="2514600"/>
            <a:ext cx="5056632" cy="1828800"/>
          </a:xfrm>
          <a:prstGeom prst="roundRect">
            <a:avLst>
              <a:gd name="adj" fmla="val 12000"/>
            </a:avLst>
          </a:prstGeom>
          <a:solidFill>
            <a:srgbClr val="FFFFFF"/>
          </a:solidFill>
          <a:ln w="19050">
            <a:solidFill>
              <a:srgbClr val="1D3557"/>
            </a:solidFill>
            <a:prstDash val="solid"/>
          </a:ln>
        </p:spPr>
      </p:sp>
      <p:sp>
        <p:nvSpPr>
          <p:cNvPr id="19" name="Text 17"/>
          <p:cNvSpPr/>
          <p:nvPr/>
        </p:nvSpPr>
        <p:spPr>
          <a:xfrm>
            <a:off x="6949440" y="2514600"/>
            <a:ext cx="4690872" cy="1828800"/>
          </a:xfrm>
          <a:prstGeom prst="rect">
            <a:avLst/>
          </a:prstGeom>
          <a:noFill/>
          <a:ln/>
        </p:spPr>
        <p:txBody>
          <a:bodyPr wrap="square" lIns="0" tIns="0" rIns="0" bIns="0" rtlCol="0" anchor="ctr"/>
          <a:lstStyle/>
          <a:p>
            <a:pPr algn="ctr" indent="0" marL="0">
              <a:buNone/>
            </a:pPr>
            <a:r>
              <a:rPr lang="en-US" sz="2000" b="1" dirty="0">
                <a:solidFill>
                  <a:srgbClr val="1D3557"/>
                </a:solidFill>
                <a:latin typeface="Golos Text" pitchFamily="34" charset="0"/>
                <a:ea typeface="Golos Text" pitchFamily="34" charset="-122"/>
                <a:cs typeface="Golos Text" pitchFamily="34" charset="-120"/>
              </a:rPr>
              <a:t>4, 8, 6, 2 тизмесинин орточосу канча?</a:t>
            </a:r>
            <a:endParaRPr lang="en-US" sz="2000" dirty="0"/>
          </a:p>
        </p:txBody>
      </p:sp>
      <p:sp>
        <p:nvSpPr>
          <p:cNvPr id="20" name="anim4_a"/>
          <p:cNvSpPr/>
          <p:nvPr/>
        </p:nvSpPr>
        <p:spPr>
          <a:xfrm>
            <a:off x="6766560" y="4526280"/>
            <a:ext cx="5056632" cy="1097280"/>
          </a:xfrm>
          <a:prstGeom prst="roundRect">
            <a:avLst>
              <a:gd name="adj" fmla="val 30000"/>
            </a:avLst>
          </a:prstGeom>
          <a:solidFill>
            <a:srgbClr val="D1E7E1"/>
          </a:solidFill>
          <a:ln w="28575">
            <a:solidFill>
              <a:srgbClr val="007A5A"/>
            </a:solidFill>
            <a:prstDash val="solid"/>
          </a:ln>
        </p:spPr>
        <p:txBody>
          <a:bodyPr wrap="square" lIns="76200" tIns="76200" rIns="76200" bIns="76200" rtlCol="0" anchor="ctr"/>
          <a:lstStyle/>
          <a:p>
            <a:pPr algn="ctr" indent="0" marL="0">
              <a:buNone/>
            </a:pPr>
            <a:r>
              <a:rPr lang="en-US" sz="1600" b="1" dirty="0">
                <a:solidFill>
                  <a:srgbClr val="007A5A"/>
                </a:solidFill>
                <a:latin typeface="Golos Text" pitchFamily="34" charset="0"/>
                <a:ea typeface="Golos Text" pitchFamily="34" charset="-122"/>
                <a:cs typeface="Golos Text" pitchFamily="34" charset="-120"/>
              </a:rPr>
              <a:t>4 + 8 + 6 + 2 = 20; 20 : 4 = 5 → жогорусунда «5» жазылган плакатка бар</a:t>
            </a:r>
            <a:endParaRPr lang="en-US" sz="1600" dirty="0"/>
          </a:p>
        </p:txBody>
      </p:sp>
      <p:sp>
        <p:nvSpPr>
          <p:cNvPr id="21" name="Text 19"/>
          <p:cNvSpPr/>
          <p:nvPr/>
        </p:nvSpPr>
        <p:spPr>
          <a:xfrm>
            <a:off x="365760" y="6263640"/>
            <a:ext cx="11457432" cy="365760"/>
          </a:xfrm>
          <a:prstGeom prst="rect">
            <a:avLst/>
          </a:prstGeom>
          <a:noFill/>
          <a:ln/>
        </p:spPr>
        <p:txBody>
          <a:bodyPr wrap="square" lIns="0" tIns="0" rIns="0" bIns="0" rtlCol="0" anchor="t"/>
          <a:lstStyle/>
          <a:p>
            <a:pPr algn="ctr" indent="0" marL="0">
              <a:buNone/>
            </a:pPr>
            <a:r>
              <a:rPr lang="en-US" sz="1300" i="1" dirty="0">
                <a:solidFill>
                  <a:srgbClr val="4A5A70"/>
                </a:solidFill>
                <a:latin typeface="Golos Text" pitchFamily="34" charset="0"/>
                <a:ea typeface="Golos Text" pitchFamily="34" charset="-122"/>
                <a:cs typeface="Golos Text" pitchFamily="34" charset="-120"/>
              </a:rPr>
              <a:t>«Кенч издөө» файлы (16 плакат, мугалимдин жооп барагы, окуучунун жооп барагы)</a:t>
            </a:r>
            <a:endParaRPr lang="en-US" sz="1300" dirty="0"/>
          </a:p>
        </p:txBody>
      </p:sp>
      <p:sp>
        <p:nvSpPr>
          <p:cNvPr id="25" name="Slide Number Placeholder 0"/>
          <p:cNvSpPr>
            <a:spLocks noGrp="1"/>
          </p:cNvSpPr>
          <p:nvPr>
            <p:ph type="sldNum" sz="quarter" idx="4294967295"/>
          </p:nvPr>
        </p:nvSpPr>
        <p:spPr>
          <a:xfrm>
            <a:off x="11384280" y="6492240"/>
            <a:ext cx="438912"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99AA"/>
                </a:solidFill>
                <a:latin typeface="Golos Text"/>
                <a:ea typeface="Golos Text"/>
                <a:cs typeface="Golos Text"/>
              </a:defRPr>
            </a:lvl1pPr>
          </a:lstStyle>
          <a:p>
            <a:pPr algn="r"/>
            <a:fld id="{F7021451-1387-4CA6-816F-3879F97B5CBC}" type="slidenum">
              <a:rPr b="0" lang="en-US"/>
              <a:t>17</a:t>
            </a:fld>
            <a:endParaRPr lang="en-US"/>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6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6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600"/>
                                        <p:tgtEl>
                                          <p:spTgt spid="14"/>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2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11457432" cy="640080"/>
          </a:xfrm>
          <a:prstGeom prst="roundRect">
            <a:avLst>
              <a:gd name="adj" fmla="val 22000"/>
            </a:avLst>
          </a:prstGeom>
          <a:solidFill>
            <a:srgbClr val="FFFFFF"/>
          </a:solidFill>
          <a:ln w="19050">
            <a:solidFill>
              <a:srgbClr val="1D3557"/>
            </a:solidFill>
            <a:prstDash val="solid"/>
          </a:ln>
        </p:spPr>
      </p:sp>
      <p:sp>
        <p:nvSpPr>
          <p:cNvPr id="3" name="Shape 1"/>
          <p:cNvSpPr/>
          <p:nvPr/>
        </p:nvSpPr>
        <p:spPr>
          <a:xfrm>
            <a:off x="557784" y="369418"/>
            <a:ext cx="70409" cy="358445"/>
          </a:xfrm>
          <a:prstGeom prst="roundRect">
            <a:avLst>
              <a:gd name="adj" fmla="val 50000"/>
            </a:avLst>
          </a:prstGeom>
          <a:solidFill>
            <a:srgbClr val="007A5A"/>
          </a:solidFill>
          <a:ln/>
        </p:spPr>
      </p:sp>
      <p:sp>
        <p:nvSpPr>
          <p:cNvPr id="4" name="Shape 2"/>
          <p:cNvSpPr/>
          <p:nvPr/>
        </p:nvSpPr>
        <p:spPr>
          <a:xfrm>
            <a:off x="691561" y="369418"/>
            <a:ext cx="70409" cy="358445"/>
          </a:xfrm>
          <a:prstGeom prst="roundRect">
            <a:avLst>
              <a:gd name="adj" fmla="val 50000"/>
            </a:avLst>
          </a:prstGeom>
          <a:solidFill>
            <a:srgbClr val="A84400"/>
          </a:solidFill>
          <a:ln/>
        </p:spPr>
      </p:sp>
      <p:sp>
        <p:nvSpPr>
          <p:cNvPr id="5" name="Shape 3"/>
          <p:cNvSpPr/>
          <p:nvPr/>
        </p:nvSpPr>
        <p:spPr>
          <a:xfrm>
            <a:off x="825337" y="369418"/>
            <a:ext cx="70409" cy="358445"/>
          </a:xfrm>
          <a:prstGeom prst="roundRect">
            <a:avLst>
              <a:gd name="adj" fmla="val 50000"/>
            </a:avLst>
          </a:prstGeom>
          <a:solidFill>
            <a:srgbClr val="24418C"/>
          </a:solidFill>
          <a:ln/>
        </p:spPr>
      </p:sp>
      <p:sp>
        <p:nvSpPr>
          <p:cNvPr id="6" name="Text 4"/>
          <p:cNvSpPr/>
          <p:nvPr/>
        </p:nvSpPr>
        <p:spPr>
          <a:xfrm>
            <a:off x="1096914" y="228600"/>
            <a:ext cx="7589520" cy="640080"/>
          </a:xfrm>
          <a:prstGeom prst="rect">
            <a:avLst/>
          </a:prstGeom>
          <a:noFill/>
          <a:ln/>
        </p:spPr>
        <p:txBody>
          <a:bodyPr wrap="square" lIns="0" tIns="0" rIns="0" bIns="0" rtlCol="0" anchor="ctr"/>
          <a:lstStyle/>
          <a:p>
            <a:pPr algn="l" indent="0" marL="0">
              <a:buNone/>
            </a:pPr>
            <a:r>
              <a:rPr lang="en-US" sz="2200" b="1" dirty="0">
                <a:solidFill>
                  <a:srgbClr val="1D3557"/>
                </a:solidFill>
                <a:latin typeface="Golos Text" pitchFamily="34" charset="0"/>
                <a:ea typeface="Golos Text" pitchFamily="34" charset="-122"/>
                <a:cs typeface="Golos Text" pitchFamily="34" charset="-120"/>
              </a:rPr>
              <a:t>Катаны тап</a:t>
            </a:r>
            <a:endParaRPr lang="en-US" sz="2200" dirty="0"/>
          </a:p>
        </p:txBody>
      </p:sp>
      <p:sp>
        <p:nvSpPr>
          <p:cNvPr id="7" name="Text 5"/>
          <p:cNvSpPr/>
          <p:nvPr/>
        </p:nvSpPr>
        <p:spPr>
          <a:xfrm>
            <a:off x="8778240" y="228600"/>
            <a:ext cx="2880360" cy="640080"/>
          </a:xfrm>
          <a:prstGeom prst="rect">
            <a:avLst/>
          </a:prstGeom>
          <a:noFill/>
          <a:ln/>
        </p:spPr>
        <p:txBody>
          <a:bodyPr wrap="square" lIns="0" tIns="0" rIns="0" bIns="0" rtlCol="0" anchor="ctr"/>
          <a:lstStyle/>
          <a:p>
            <a:pPr algn="r" indent="0" marL="0">
              <a:buNone/>
            </a:pPr>
            <a:r>
              <a:rPr lang="en-US" sz="1100" dirty="0">
                <a:solidFill>
                  <a:srgbClr val="4A5A70"/>
                </a:solidFill>
                <a:latin typeface="Golos Text" pitchFamily="34" charset="0"/>
                <a:ea typeface="Golos Text" pitchFamily="34" charset="-122"/>
                <a:cs typeface="Golos Text" pitchFamily="34" charset="-120"/>
              </a:rPr>
              <a:t>Статистика › Төрт өлчөм</a:t>
            </a:r>
            <a:endParaRPr lang="en-US" sz="1100" dirty="0"/>
          </a:p>
        </p:txBody>
      </p:sp>
      <p:sp>
        <p:nvSpPr>
          <p:cNvPr id="8" name="Text 6"/>
          <p:cNvSpPr/>
          <p:nvPr/>
        </p:nvSpPr>
        <p:spPr>
          <a:xfrm>
            <a:off x="411480" y="960120"/>
            <a:ext cx="8412480" cy="329184"/>
          </a:xfrm>
          <a:prstGeom prst="rect">
            <a:avLst/>
          </a:prstGeom>
          <a:noFill/>
          <a:ln/>
        </p:spPr>
        <p:txBody>
          <a:bodyPr wrap="square" lIns="0" tIns="0" rIns="0" bIns="0" rtlCol="0" anchor="t"/>
          <a:lstStyle/>
          <a:p>
            <a:pPr algn="l" indent="0" marL="0">
              <a:buNone/>
            </a:pPr>
            <a:r>
              <a:rPr lang="en-US" sz="1500" i="1" dirty="0">
                <a:solidFill>
                  <a:srgbClr val="4A5A70"/>
                </a:solidFill>
                <a:latin typeface="Golos Text" pitchFamily="34" charset="0"/>
                <a:ea typeface="Golos Text" pitchFamily="34" charset="-122"/>
                <a:cs typeface="Golos Text" pitchFamily="34" charset="-120"/>
              </a:rPr>
              <a:t>Эки окуучу бир эле тизме менен иштеди: 8, 3, 10, 5, 4, 6. Ката кайда?</a:t>
            </a:r>
            <a:endParaRPr lang="en-US" sz="1500" dirty="0"/>
          </a:p>
        </p:txBody>
      </p:sp>
      <p:sp>
        <p:nvSpPr>
          <p:cNvPr id="9" name="Text 7"/>
          <p:cNvSpPr/>
          <p:nvPr/>
        </p:nvSpPr>
        <p:spPr>
          <a:xfrm>
            <a:off x="8897112" y="969264"/>
            <a:ext cx="2926080" cy="310896"/>
          </a:xfrm>
          <a:prstGeom prst="rect">
            <a:avLst/>
          </a:prstGeom>
          <a:noFill/>
          <a:ln/>
        </p:spPr>
        <p:txBody>
          <a:bodyPr wrap="square" lIns="0" tIns="0" rIns="0" bIns="0" rtlCol="0" anchor="ctr"/>
          <a:lstStyle/>
          <a:p>
            <a:pPr algn="r" indent="0" marL="0">
              <a:buNone/>
            </a:pPr>
            <a:r>
              <a:rPr lang="en-US" sz="1200" dirty="0">
                <a:solidFill>
                  <a:srgbClr val="4A5A70"/>
                </a:solidFill>
                <a:latin typeface="Golos Text" pitchFamily="34" charset="0"/>
                <a:ea typeface="Golos Text" pitchFamily="34" charset="-122"/>
                <a:cs typeface="Golos Text" pitchFamily="34" charset="-120"/>
              </a:rPr>
              <a:t>Ой жүгүртүү · 1 мүн</a:t>
            </a:r>
            <a:endParaRPr lang="en-US" sz="1200" dirty="0"/>
          </a:p>
        </p:txBody>
      </p:sp>
      <p:sp>
        <p:nvSpPr>
          <p:cNvPr id="10" name="Text 8"/>
          <p:cNvSpPr/>
          <p:nvPr/>
        </p:nvSpPr>
        <p:spPr>
          <a:xfrm>
            <a:off x="365760" y="6492240"/>
            <a:ext cx="5486400" cy="228600"/>
          </a:xfrm>
          <a:prstGeom prst="rect">
            <a:avLst/>
          </a:prstGeom>
          <a:noFill/>
          <a:ln/>
        </p:spPr>
        <p:txBody>
          <a:bodyPr wrap="square" lIns="0" tIns="0" rIns="0" bIns="0" rtlCol="0" anchor="t"/>
          <a:lstStyle/>
          <a:p>
            <a:pPr algn="l" indent="0" marL="0">
              <a:buNone/>
            </a:pPr>
            <a:r>
              <a:rPr lang="en-US" sz="900" dirty="0">
                <a:solidFill>
                  <a:srgbClr val="8D99AA"/>
                </a:solidFill>
                <a:latin typeface="Golos Text" pitchFamily="34" charset="0"/>
                <a:ea typeface="Golos Text" pitchFamily="34" charset="-122"/>
                <a:cs typeface="Golos Text" pitchFamily="34" charset="-120"/>
              </a:rPr>
              <a:t>MathKG · Математика кыргызча</a:t>
            </a:r>
            <a:endParaRPr lang="en-US" sz="900" dirty="0"/>
          </a:p>
        </p:txBody>
      </p:sp>
      <p:sp>
        <p:nvSpPr>
          <p:cNvPr id="11" name="Text 9"/>
          <p:cNvSpPr/>
          <p:nvPr/>
        </p:nvSpPr>
        <p:spPr>
          <a:xfrm>
            <a:off x="7680960" y="6492240"/>
            <a:ext cx="3657600" cy="228600"/>
          </a:xfrm>
          <a:prstGeom prst="rect">
            <a:avLst/>
          </a:prstGeom>
          <a:noFill/>
          <a:ln/>
        </p:spPr>
        <p:txBody>
          <a:bodyPr wrap="square" lIns="0" tIns="0" rIns="0" bIns="0" rtlCol="0" anchor="t"/>
          <a:lstStyle/>
          <a:p>
            <a:pPr algn="r" indent="0" marL="0">
              <a:buNone/>
            </a:pPr>
            <a:r>
              <a:rPr lang="en-US" sz="900" dirty="0">
                <a:solidFill>
                  <a:srgbClr val="8D99AA"/>
                </a:solidFill>
                <a:latin typeface="Golos Text" pitchFamily="34" charset="0"/>
                <a:ea typeface="Golos Text" pitchFamily="34" charset="-122"/>
                <a:cs typeface="Golos Text" pitchFamily="34" charset="-120"/>
              </a:rPr>
              <a:t>MathKG ыкмасы · 1 мүн</a:t>
            </a:r>
            <a:endParaRPr lang="en-US" sz="900" dirty="0"/>
          </a:p>
        </p:txBody>
      </p:sp>
      <p:sp>
        <p:nvSpPr>
          <p:cNvPr id="12" name="Shape 10"/>
          <p:cNvSpPr/>
          <p:nvPr/>
        </p:nvSpPr>
        <p:spPr>
          <a:xfrm>
            <a:off x="365760" y="1463040"/>
            <a:ext cx="5650992" cy="3977640"/>
          </a:xfrm>
          <a:prstGeom prst="roundRect">
            <a:avLst>
              <a:gd name="adj" fmla="val 5000"/>
            </a:avLst>
          </a:prstGeom>
          <a:solidFill>
            <a:srgbClr val="FFFFFF"/>
          </a:solidFill>
          <a:ln w="19050">
            <a:solidFill>
              <a:srgbClr val="1D3557"/>
            </a:solidFill>
            <a:prstDash val="solid"/>
          </a:ln>
        </p:spPr>
      </p:sp>
      <p:sp>
        <p:nvSpPr>
          <p:cNvPr id="13" name="Text 11"/>
          <p:cNvSpPr/>
          <p:nvPr/>
        </p:nvSpPr>
        <p:spPr>
          <a:xfrm>
            <a:off x="594360" y="1600200"/>
            <a:ext cx="2011680" cy="411480"/>
          </a:xfrm>
          <a:prstGeom prst="rect">
            <a:avLst/>
          </a:prstGeom>
          <a:noFill/>
          <a:ln/>
        </p:spPr>
        <p:txBody>
          <a:bodyPr wrap="square" lIns="0" tIns="0" rIns="0" bIns="0" rtlCol="0" anchor="t"/>
          <a:lstStyle/>
          <a:p>
            <a:pPr algn="l" indent="0" marL="0">
              <a:buNone/>
            </a:pPr>
            <a:r>
              <a:rPr lang="en-US" sz="2000" b="1" dirty="0">
                <a:solidFill>
                  <a:srgbClr val="1D3557"/>
                </a:solidFill>
                <a:latin typeface="Golos Text" pitchFamily="34" charset="0"/>
                <a:ea typeface="Golos Text" pitchFamily="34" charset="-122"/>
                <a:cs typeface="Golos Text" pitchFamily="34" charset="-120"/>
              </a:rPr>
              <a:t>Эрлан</a:t>
            </a:r>
            <a:endParaRPr lang="en-US" sz="2000" dirty="0"/>
          </a:p>
        </p:txBody>
      </p:sp>
      <p:sp>
        <p:nvSpPr>
          <p:cNvPr id="14" name="Text 12"/>
          <p:cNvSpPr/>
          <p:nvPr/>
        </p:nvSpPr>
        <p:spPr>
          <a:xfrm>
            <a:off x="2743200" y="1600200"/>
            <a:ext cx="3063240" cy="411480"/>
          </a:xfrm>
          <a:prstGeom prst="rect">
            <a:avLst/>
          </a:prstGeom>
          <a:noFill/>
          <a:ln/>
        </p:spPr>
        <p:txBody>
          <a:bodyPr wrap="square" lIns="0" tIns="0" rIns="0" bIns="0" rtlCol="0" anchor="ctr"/>
          <a:lstStyle/>
          <a:p>
            <a:pPr algn="r" indent="0" marL="0">
              <a:buNone/>
            </a:pPr>
            <a:r>
              <a:rPr lang="en-US" sz="1500" i="1" dirty="0">
                <a:solidFill>
                  <a:srgbClr val="4A5A70"/>
                </a:solidFill>
                <a:latin typeface="Golos Text" pitchFamily="34" charset="0"/>
                <a:ea typeface="Golos Text" pitchFamily="34" charset="-122"/>
                <a:cs typeface="Golos Text" pitchFamily="34" charset="-120"/>
              </a:rPr>
              <a:t>Медиананы тапты</a:t>
            </a:r>
            <a:endParaRPr lang="en-US" sz="1500" dirty="0"/>
          </a:p>
        </p:txBody>
      </p:sp>
      <p:sp>
        <p:nvSpPr>
          <p:cNvPr id="15" name="Text 13"/>
          <p:cNvSpPr/>
          <p:nvPr/>
        </p:nvSpPr>
        <p:spPr>
          <a:xfrm>
            <a:off x="594360" y="2103120"/>
            <a:ext cx="5193792" cy="1234440"/>
          </a:xfrm>
          <a:prstGeom prst="roundRect">
            <a:avLst>
              <a:gd name="adj" fmla="val 10000"/>
            </a:avLst>
          </a:prstGeom>
          <a:solidFill>
            <a:srgbClr val="F3F5FB"/>
          </a:solidFill>
          <a:ln/>
        </p:spPr>
        <p:txBody>
          <a:bodyPr wrap="square" lIns="127000" tIns="127000" rIns="127000" bIns="127000" rtlCol="0" anchor="t"/>
          <a:lstStyle/>
          <a:p>
            <a:pPr algn="l" indent="0" marL="0">
              <a:spcAft>
                <a:spcPts val="400"/>
              </a:spcAft>
              <a:buNone/>
            </a:pPr>
            <a:r>
              <a:rPr lang="en-US" sz="1800" dirty="0">
                <a:solidFill>
                  <a:srgbClr val="1D3557"/>
                </a:solidFill>
                <a:latin typeface="Golos Text" pitchFamily="34" charset="0"/>
                <a:ea typeface="Golos Text" pitchFamily="34" charset="-122"/>
                <a:cs typeface="Golos Text" pitchFamily="34" charset="-120"/>
              </a:rPr>
              <a:t>Ортодо 10 жана 5 турат.</a:t>
            </a:r>
            <a:endParaRPr lang="en-US" sz="1800" dirty="0"/>
          </a:p>
          <a:p>
            <a:pPr algn="l" indent="0" marL="0">
              <a:spcAft>
                <a:spcPts val="400"/>
              </a:spcAft>
              <a:buNone/>
            </a:pPr>
            <a:r>
              <a:rPr lang="en-US" sz="1800" dirty="0">
                <a:solidFill>
                  <a:srgbClr val="1D3557"/>
                </a:solidFill>
                <a:latin typeface="Golos Text" pitchFamily="34" charset="0"/>
                <a:ea typeface="Golos Text" pitchFamily="34" charset="-122"/>
                <a:cs typeface="Golos Text" pitchFamily="34" charset="-120"/>
              </a:rPr>
              <a:t>(10 + 5) : 2 = 7,5</a:t>
            </a:r>
            <a:endParaRPr lang="en-US" sz="1800" dirty="0"/>
          </a:p>
          <a:p>
            <a:pPr algn="l" indent="0" marL="0">
              <a:spcAft>
                <a:spcPts val="400"/>
              </a:spcAft>
              <a:buNone/>
            </a:pPr>
            <a:r>
              <a:rPr lang="en-US" sz="1800" dirty="0">
                <a:solidFill>
                  <a:srgbClr val="1D3557"/>
                </a:solidFill>
                <a:latin typeface="Golos Text" pitchFamily="34" charset="0"/>
                <a:ea typeface="Golos Text" pitchFamily="34" charset="-122"/>
                <a:cs typeface="Golos Text" pitchFamily="34" charset="-120"/>
              </a:rPr>
              <a:t>Медиана = 7,5</a:t>
            </a:r>
            <a:endParaRPr lang="en-US" sz="1800" dirty="0"/>
          </a:p>
        </p:txBody>
      </p:sp>
      <p:sp>
        <p:nvSpPr>
          <p:cNvPr id="16" name="anim1_e"/>
          <p:cNvSpPr/>
          <p:nvPr/>
        </p:nvSpPr>
        <p:spPr>
          <a:xfrm>
            <a:off x="594360" y="3474720"/>
            <a:ext cx="5193792" cy="548640"/>
          </a:xfrm>
          <a:prstGeom prst="roundRect">
            <a:avLst>
              <a:gd name="adj" fmla="val 30000"/>
            </a:avLst>
          </a:prstGeom>
          <a:solidFill>
            <a:srgbClr val="F5EBE3"/>
          </a:solidFill>
          <a:ln w="19050">
            <a:solidFill>
              <a:srgbClr val="A84400"/>
            </a:solidFill>
            <a:prstDash val="solid"/>
          </a:ln>
        </p:spPr>
        <p:txBody>
          <a:bodyPr wrap="square" lIns="127000" tIns="127000" rIns="127000" bIns="127000" rtlCol="0" anchor="ctr"/>
          <a:lstStyle/>
          <a:p>
            <a:pPr algn="l" indent="0" marL="0">
              <a:buNone/>
            </a:pPr>
            <a:r>
              <a:rPr lang="en-US" sz="1700" b="1" dirty="0">
                <a:solidFill>
                  <a:srgbClr val="A84400"/>
                </a:solidFill>
                <a:latin typeface="Golos Text" pitchFamily="34" charset="0"/>
                <a:ea typeface="Golos Text" pitchFamily="34" charset="-122"/>
                <a:cs typeface="Golos Text" pitchFamily="34" charset="-120"/>
              </a:rPr>
              <a:t>Ката: тизме ирээттелген эмес!</a:t>
            </a:r>
            <a:endParaRPr lang="en-US" sz="1700" dirty="0"/>
          </a:p>
        </p:txBody>
      </p:sp>
      <p:sp>
        <p:nvSpPr>
          <p:cNvPr id="17" name="anim2_f"/>
          <p:cNvSpPr/>
          <p:nvPr/>
        </p:nvSpPr>
        <p:spPr>
          <a:xfrm>
            <a:off x="594360" y="4160520"/>
            <a:ext cx="5193792" cy="1097280"/>
          </a:xfrm>
          <a:prstGeom prst="roundRect">
            <a:avLst>
              <a:gd name="adj" fmla="val 30000"/>
            </a:avLst>
          </a:prstGeom>
          <a:solidFill>
            <a:srgbClr val="D1E7E1"/>
          </a:solidFill>
          <a:ln w="28575">
            <a:solidFill>
              <a:srgbClr val="007A5A"/>
            </a:solidFill>
            <a:prstDash val="solid"/>
          </a:ln>
        </p:spPr>
        <p:txBody>
          <a:bodyPr wrap="square" lIns="76200" tIns="76200" rIns="76200" bIns="76200" rtlCol="0" anchor="ctr"/>
          <a:lstStyle/>
          <a:p>
            <a:pPr algn="ctr" indent="0" marL="0">
              <a:buNone/>
            </a:pPr>
            <a:r>
              <a:rPr lang="en-US" sz="1900" b="1" dirty="0">
                <a:solidFill>
                  <a:srgbClr val="007A5A"/>
                </a:solidFill>
                <a:latin typeface="Golos Text" pitchFamily="34" charset="0"/>
                <a:ea typeface="Golos Text" pitchFamily="34" charset="-122"/>
                <a:cs typeface="Golos Text" pitchFamily="34" charset="-120"/>
              </a:rPr>
              <a:t>3, 4, 5, 6, 8, 10</a:t>
            </a:r>
            <a:endParaRPr lang="en-US" sz="1900" dirty="0"/>
          </a:p>
          <a:p>
            <a:pPr algn="ctr" indent="0" marL="0">
              <a:buNone/>
            </a:pPr>
            <a:r>
              <a:rPr lang="en-US" sz="1900" b="1" dirty="0">
                <a:solidFill>
                  <a:srgbClr val="007A5A"/>
                </a:solidFill>
                <a:latin typeface="Golos Text" pitchFamily="34" charset="0"/>
                <a:ea typeface="Golos Text" pitchFamily="34" charset="-122"/>
                <a:cs typeface="Golos Text" pitchFamily="34" charset="-120"/>
              </a:rPr>
              <a:t>(5 + 6) : 2 = 5,5</a:t>
            </a:r>
            <a:endParaRPr lang="en-US" sz="1900" dirty="0"/>
          </a:p>
        </p:txBody>
      </p:sp>
      <p:sp>
        <p:nvSpPr>
          <p:cNvPr id="18" name="Shape 16"/>
          <p:cNvSpPr/>
          <p:nvPr/>
        </p:nvSpPr>
        <p:spPr>
          <a:xfrm>
            <a:off x="6172200" y="1463040"/>
            <a:ext cx="5650992" cy="3977640"/>
          </a:xfrm>
          <a:prstGeom prst="roundRect">
            <a:avLst>
              <a:gd name="adj" fmla="val 5000"/>
            </a:avLst>
          </a:prstGeom>
          <a:solidFill>
            <a:srgbClr val="FFFFFF"/>
          </a:solidFill>
          <a:ln w="19050">
            <a:solidFill>
              <a:srgbClr val="1D3557"/>
            </a:solidFill>
            <a:prstDash val="solid"/>
          </a:ln>
        </p:spPr>
      </p:sp>
      <p:sp>
        <p:nvSpPr>
          <p:cNvPr id="19" name="Text 17"/>
          <p:cNvSpPr/>
          <p:nvPr/>
        </p:nvSpPr>
        <p:spPr>
          <a:xfrm>
            <a:off x="6400800" y="1600200"/>
            <a:ext cx="2011680" cy="411480"/>
          </a:xfrm>
          <a:prstGeom prst="rect">
            <a:avLst/>
          </a:prstGeom>
          <a:noFill/>
          <a:ln/>
        </p:spPr>
        <p:txBody>
          <a:bodyPr wrap="square" lIns="0" tIns="0" rIns="0" bIns="0" rtlCol="0" anchor="t"/>
          <a:lstStyle/>
          <a:p>
            <a:pPr algn="l" indent="0" marL="0">
              <a:buNone/>
            </a:pPr>
            <a:r>
              <a:rPr lang="en-US" sz="2000" b="1" dirty="0">
                <a:solidFill>
                  <a:srgbClr val="1D3557"/>
                </a:solidFill>
                <a:latin typeface="Golos Text" pitchFamily="34" charset="0"/>
                <a:ea typeface="Golos Text" pitchFamily="34" charset="-122"/>
                <a:cs typeface="Golos Text" pitchFamily="34" charset="-120"/>
              </a:rPr>
              <a:t>Сезим</a:t>
            </a:r>
            <a:endParaRPr lang="en-US" sz="2000" dirty="0"/>
          </a:p>
        </p:txBody>
      </p:sp>
      <p:sp>
        <p:nvSpPr>
          <p:cNvPr id="20" name="Text 18"/>
          <p:cNvSpPr/>
          <p:nvPr/>
        </p:nvSpPr>
        <p:spPr>
          <a:xfrm>
            <a:off x="8549640" y="1600200"/>
            <a:ext cx="3063240" cy="411480"/>
          </a:xfrm>
          <a:prstGeom prst="rect">
            <a:avLst/>
          </a:prstGeom>
          <a:noFill/>
          <a:ln/>
        </p:spPr>
        <p:txBody>
          <a:bodyPr wrap="square" lIns="0" tIns="0" rIns="0" bIns="0" rtlCol="0" anchor="ctr"/>
          <a:lstStyle/>
          <a:p>
            <a:pPr algn="r" indent="0" marL="0">
              <a:buNone/>
            </a:pPr>
            <a:r>
              <a:rPr lang="en-US" sz="1500" i="1" dirty="0">
                <a:solidFill>
                  <a:srgbClr val="4A5A70"/>
                </a:solidFill>
                <a:latin typeface="Golos Text" pitchFamily="34" charset="0"/>
                <a:ea typeface="Golos Text" pitchFamily="34" charset="-122"/>
                <a:cs typeface="Golos Text" pitchFamily="34" charset="-120"/>
              </a:rPr>
              <a:t>Орточону тапты</a:t>
            </a:r>
            <a:endParaRPr lang="en-US" sz="1500" dirty="0"/>
          </a:p>
        </p:txBody>
      </p:sp>
      <p:sp>
        <p:nvSpPr>
          <p:cNvPr id="21" name="Text 19"/>
          <p:cNvSpPr/>
          <p:nvPr/>
        </p:nvSpPr>
        <p:spPr>
          <a:xfrm>
            <a:off x="6400800" y="2103120"/>
            <a:ext cx="5193792" cy="1234440"/>
          </a:xfrm>
          <a:prstGeom prst="roundRect">
            <a:avLst>
              <a:gd name="adj" fmla="val 10000"/>
            </a:avLst>
          </a:prstGeom>
          <a:solidFill>
            <a:srgbClr val="F3F5FB"/>
          </a:solidFill>
          <a:ln/>
        </p:spPr>
        <p:txBody>
          <a:bodyPr wrap="square" lIns="127000" tIns="127000" rIns="127000" bIns="127000" rtlCol="0" anchor="t"/>
          <a:lstStyle/>
          <a:p>
            <a:pPr algn="l" indent="0" marL="0">
              <a:spcAft>
                <a:spcPts val="400"/>
              </a:spcAft>
              <a:buNone/>
            </a:pPr>
            <a:r>
              <a:rPr lang="en-US" sz="1800" dirty="0">
                <a:solidFill>
                  <a:srgbClr val="1D3557"/>
                </a:solidFill>
                <a:latin typeface="Golos Text" pitchFamily="34" charset="0"/>
                <a:ea typeface="Golos Text" pitchFamily="34" charset="-122"/>
                <a:cs typeface="Golos Text" pitchFamily="34" charset="-120"/>
              </a:rPr>
              <a:t>8 + 3 + 10 + 5 + 4 + 6 = 36</a:t>
            </a:r>
            <a:endParaRPr lang="en-US" sz="1800" dirty="0"/>
          </a:p>
          <a:p>
            <a:pPr algn="l" indent="0" marL="0">
              <a:spcAft>
                <a:spcPts val="400"/>
              </a:spcAft>
              <a:buNone/>
            </a:pPr>
            <a:r>
              <a:rPr lang="en-US" sz="1800" dirty="0">
                <a:solidFill>
                  <a:srgbClr val="1D3557"/>
                </a:solidFill>
                <a:latin typeface="Golos Text" pitchFamily="34" charset="0"/>
                <a:ea typeface="Golos Text" pitchFamily="34" charset="-122"/>
                <a:cs typeface="Golos Text" pitchFamily="34" charset="-120"/>
              </a:rPr>
              <a:t>36 : 5 = 7,2</a:t>
            </a:r>
            <a:endParaRPr lang="en-US" sz="1800" dirty="0"/>
          </a:p>
          <a:p>
            <a:pPr algn="l" indent="0" marL="0">
              <a:spcAft>
                <a:spcPts val="400"/>
              </a:spcAft>
              <a:buNone/>
            </a:pPr>
            <a:r>
              <a:rPr lang="en-US" sz="1800" dirty="0">
                <a:solidFill>
                  <a:srgbClr val="1D3557"/>
                </a:solidFill>
                <a:latin typeface="Golos Text" pitchFamily="34" charset="0"/>
                <a:ea typeface="Golos Text" pitchFamily="34" charset="-122"/>
                <a:cs typeface="Golos Text" pitchFamily="34" charset="-120"/>
              </a:rPr>
              <a:t>Орточо = 7,2</a:t>
            </a:r>
            <a:endParaRPr lang="en-US" sz="1800" dirty="0"/>
          </a:p>
        </p:txBody>
      </p:sp>
      <p:sp>
        <p:nvSpPr>
          <p:cNvPr id="22" name="anim3_e"/>
          <p:cNvSpPr/>
          <p:nvPr/>
        </p:nvSpPr>
        <p:spPr>
          <a:xfrm>
            <a:off x="6400800" y="3474720"/>
            <a:ext cx="5193792" cy="548640"/>
          </a:xfrm>
          <a:prstGeom prst="roundRect">
            <a:avLst>
              <a:gd name="adj" fmla="val 30000"/>
            </a:avLst>
          </a:prstGeom>
          <a:solidFill>
            <a:srgbClr val="F5EBE3"/>
          </a:solidFill>
          <a:ln w="19050">
            <a:solidFill>
              <a:srgbClr val="A84400"/>
            </a:solidFill>
            <a:prstDash val="solid"/>
          </a:ln>
        </p:spPr>
        <p:txBody>
          <a:bodyPr wrap="square" lIns="127000" tIns="127000" rIns="127000" bIns="127000" rtlCol="0" anchor="ctr"/>
          <a:lstStyle/>
          <a:p>
            <a:pPr algn="l" indent="0" marL="0">
              <a:buNone/>
            </a:pPr>
            <a:r>
              <a:rPr lang="en-US" sz="1700" b="1" dirty="0">
                <a:solidFill>
                  <a:srgbClr val="A84400"/>
                </a:solidFill>
                <a:latin typeface="Golos Text" pitchFamily="34" charset="0"/>
                <a:ea typeface="Golos Text" pitchFamily="34" charset="-122"/>
                <a:cs typeface="Golos Text" pitchFamily="34" charset="-120"/>
              </a:rPr>
              <a:t>Ката: сандар 6, 5 эмес!</a:t>
            </a:r>
            <a:endParaRPr lang="en-US" sz="1700" dirty="0"/>
          </a:p>
        </p:txBody>
      </p:sp>
      <p:sp>
        <p:nvSpPr>
          <p:cNvPr id="23" name="anim4_f"/>
          <p:cNvSpPr/>
          <p:nvPr/>
        </p:nvSpPr>
        <p:spPr>
          <a:xfrm>
            <a:off x="6400800" y="4160520"/>
            <a:ext cx="5193792" cy="1097280"/>
          </a:xfrm>
          <a:prstGeom prst="roundRect">
            <a:avLst>
              <a:gd name="adj" fmla="val 30000"/>
            </a:avLst>
          </a:prstGeom>
          <a:solidFill>
            <a:srgbClr val="D1E7E1"/>
          </a:solidFill>
          <a:ln w="28575">
            <a:solidFill>
              <a:srgbClr val="007A5A"/>
            </a:solidFill>
            <a:prstDash val="solid"/>
          </a:ln>
        </p:spPr>
        <p:txBody>
          <a:bodyPr wrap="square" lIns="76200" tIns="76200" rIns="76200" bIns="76200" rtlCol="0" anchor="ctr"/>
          <a:lstStyle/>
          <a:p>
            <a:pPr algn="ctr" indent="0" marL="0">
              <a:buNone/>
            </a:pPr>
            <a:r>
              <a:rPr lang="en-US" sz="1900" b="1" dirty="0">
                <a:solidFill>
                  <a:srgbClr val="007A5A"/>
                </a:solidFill>
                <a:latin typeface="Golos Text" pitchFamily="34" charset="0"/>
                <a:ea typeface="Golos Text" pitchFamily="34" charset="-122"/>
                <a:cs typeface="Golos Text" pitchFamily="34" charset="-120"/>
              </a:rPr>
              <a:t>36 : 6 = 6</a:t>
            </a:r>
            <a:endParaRPr lang="en-US" sz="1900" dirty="0"/>
          </a:p>
          <a:p>
            <a:pPr algn="ctr" indent="0" marL="0">
              <a:buNone/>
            </a:pPr>
            <a:r>
              <a:rPr lang="en-US" sz="1900" b="1" dirty="0">
                <a:solidFill>
                  <a:srgbClr val="007A5A"/>
                </a:solidFill>
                <a:latin typeface="Golos Text" pitchFamily="34" charset="0"/>
                <a:ea typeface="Golos Text" pitchFamily="34" charset="-122"/>
                <a:cs typeface="Golos Text" pitchFamily="34" charset="-120"/>
              </a:rPr>
              <a:t>Орточо = 6</a:t>
            </a:r>
            <a:endParaRPr lang="en-US" sz="1900" dirty="0"/>
          </a:p>
        </p:txBody>
      </p:sp>
      <p:sp>
        <p:nvSpPr>
          <p:cNvPr id="24" name="anim5_rule"/>
          <p:cNvSpPr/>
          <p:nvPr/>
        </p:nvSpPr>
        <p:spPr>
          <a:xfrm>
            <a:off x="365760" y="5577840"/>
            <a:ext cx="11457432" cy="731520"/>
          </a:xfrm>
          <a:prstGeom prst="roundRect">
            <a:avLst>
              <a:gd name="adj" fmla="val 40000"/>
            </a:avLst>
          </a:prstGeom>
          <a:solidFill>
            <a:srgbClr val="E7EAF2"/>
          </a:solidFill>
          <a:ln w="25400">
            <a:solidFill>
              <a:srgbClr val="24418C"/>
            </a:solidFill>
            <a:prstDash val="solid"/>
          </a:ln>
        </p:spPr>
        <p:txBody>
          <a:bodyPr wrap="square" lIns="0" tIns="0" rIns="0" bIns="0" rtlCol="0" anchor="ctr"/>
          <a:lstStyle/>
          <a:p>
            <a:pPr algn="ctr" indent="0" marL="0">
              <a:buNone/>
            </a:pPr>
            <a:r>
              <a:rPr lang="en-US" sz="1700" b="1" dirty="0">
                <a:solidFill>
                  <a:srgbClr val="1D3557"/>
                </a:solidFill>
                <a:latin typeface="Golos Text" pitchFamily="34" charset="0"/>
                <a:ea typeface="Golos Text" pitchFamily="34" charset="-122"/>
                <a:cs typeface="Golos Text" pitchFamily="34" charset="-120"/>
              </a:rPr>
              <a:t>Эрежени эсте: адегенде ирээтте; анан сандарды сана; жуп болсо — ортодогу эки сандын орточосу.</a:t>
            </a:r>
            <a:endParaRPr lang="en-US" sz="1700" dirty="0"/>
          </a:p>
        </p:txBody>
      </p:sp>
      <p:sp>
        <p:nvSpPr>
          <p:cNvPr id="25" name="Slide Number Placeholder 0"/>
          <p:cNvSpPr>
            <a:spLocks noGrp="1"/>
          </p:cNvSpPr>
          <p:nvPr>
            <p:ph type="sldNum" sz="quarter" idx="4294967295"/>
          </p:nvPr>
        </p:nvSpPr>
        <p:spPr>
          <a:xfrm>
            <a:off x="11384280" y="6492240"/>
            <a:ext cx="438912"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99AA"/>
                </a:solidFill>
                <a:latin typeface="Golos Text"/>
                <a:ea typeface="Golos Text"/>
                <a:cs typeface="Golos Text"/>
              </a:defRPr>
            </a:lvl1pPr>
          </a:lstStyle>
          <a:p>
            <a:pPr algn="r"/>
            <a:fld id="{F7021451-1387-4CA6-816F-3879F97B5CBC}" type="slidenum">
              <a:rPr b="0" lang="en-US"/>
              <a:t>18</a:t>
            </a:fld>
            <a:endParaRPr lang="en-US"/>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600"/>
                                        <p:tgtEl>
                                          <p:spTgt spid="1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6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600"/>
                                        <p:tgtEl>
                                          <p:spTgt spid="22"/>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600"/>
                                        <p:tgtEl>
                                          <p:spTgt spid="23"/>
                                        </p:tgtEl>
                                      </p:cBhvr>
                                    </p:animEffect>
                                  </p:childTnLst>
                                </p:cTn>
                              </p:par>
                            </p:childTnLst>
                          </p:cTn>
                        </p:par>
                      </p:childTnLst>
                    </p:cTn>
                  </p:par>
                  <p:par>
                    <p:cTn id="26" fill="hold">
                      <p:stCondLst>
                        <p:cond delay="indefinite"/>
                      </p:stCondLst>
                      <p:childTnLst>
                        <p:par>
                          <p:cTn id="27"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6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22" grpId="0" animBg="1"/>
      <p:bldP spid="23" grpId="0" animBg="1"/>
      <p:bldP spid="2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11457432" cy="640080"/>
          </a:xfrm>
          <a:prstGeom prst="roundRect">
            <a:avLst>
              <a:gd name="adj" fmla="val 22000"/>
            </a:avLst>
          </a:prstGeom>
          <a:solidFill>
            <a:srgbClr val="FFFFFF"/>
          </a:solidFill>
          <a:ln w="19050">
            <a:solidFill>
              <a:srgbClr val="1D3557"/>
            </a:solidFill>
            <a:prstDash val="solid"/>
          </a:ln>
        </p:spPr>
      </p:sp>
      <p:sp>
        <p:nvSpPr>
          <p:cNvPr id="3" name="Shape 1"/>
          <p:cNvSpPr/>
          <p:nvPr/>
        </p:nvSpPr>
        <p:spPr>
          <a:xfrm>
            <a:off x="557784" y="369418"/>
            <a:ext cx="70409" cy="358445"/>
          </a:xfrm>
          <a:prstGeom prst="roundRect">
            <a:avLst>
              <a:gd name="adj" fmla="val 50000"/>
            </a:avLst>
          </a:prstGeom>
          <a:solidFill>
            <a:srgbClr val="007A5A"/>
          </a:solidFill>
          <a:ln/>
        </p:spPr>
      </p:sp>
      <p:sp>
        <p:nvSpPr>
          <p:cNvPr id="4" name="Shape 2"/>
          <p:cNvSpPr/>
          <p:nvPr/>
        </p:nvSpPr>
        <p:spPr>
          <a:xfrm>
            <a:off x="691561" y="369418"/>
            <a:ext cx="70409" cy="358445"/>
          </a:xfrm>
          <a:prstGeom prst="roundRect">
            <a:avLst>
              <a:gd name="adj" fmla="val 50000"/>
            </a:avLst>
          </a:prstGeom>
          <a:solidFill>
            <a:srgbClr val="A84400"/>
          </a:solidFill>
          <a:ln/>
        </p:spPr>
      </p:sp>
      <p:sp>
        <p:nvSpPr>
          <p:cNvPr id="5" name="Shape 3"/>
          <p:cNvSpPr/>
          <p:nvPr/>
        </p:nvSpPr>
        <p:spPr>
          <a:xfrm>
            <a:off x="825337" y="369418"/>
            <a:ext cx="70409" cy="358445"/>
          </a:xfrm>
          <a:prstGeom prst="roundRect">
            <a:avLst>
              <a:gd name="adj" fmla="val 50000"/>
            </a:avLst>
          </a:prstGeom>
          <a:solidFill>
            <a:srgbClr val="24418C"/>
          </a:solidFill>
          <a:ln/>
        </p:spPr>
      </p:sp>
      <p:sp>
        <p:nvSpPr>
          <p:cNvPr id="6" name="Text 4"/>
          <p:cNvSpPr/>
          <p:nvPr/>
        </p:nvSpPr>
        <p:spPr>
          <a:xfrm>
            <a:off x="1096914" y="228600"/>
            <a:ext cx="7589520" cy="640080"/>
          </a:xfrm>
          <a:prstGeom prst="rect">
            <a:avLst/>
          </a:prstGeom>
          <a:noFill/>
          <a:ln/>
        </p:spPr>
        <p:txBody>
          <a:bodyPr wrap="square" lIns="0" tIns="0" rIns="0" bIns="0" rtlCol="0" anchor="ctr"/>
          <a:lstStyle/>
          <a:p>
            <a:pPr algn="l" indent="0" marL="0">
              <a:buNone/>
            </a:pPr>
            <a:r>
              <a:rPr lang="en-US" sz="2200" b="1" dirty="0">
                <a:solidFill>
                  <a:srgbClr val="1D3557"/>
                </a:solidFill>
                <a:latin typeface="Golos Text" pitchFamily="34" charset="0"/>
                <a:ea typeface="Golos Text" pitchFamily="34" charset="-122"/>
                <a:cs typeface="Golos Text" pitchFamily="34" charset="-120"/>
              </a:rPr>
              <a:t>Текшерүү суроосу: бир суроо — бүт класс</a:t>
            </a:r>
            <a:endParaRPr lang="en-US" sz="2200" dirty="0"/>
          </a:p>
        </p:txBody>
      </p:sp>
      <p:sp>
        <p:nvSpPr>
          <p:cNvPr id="7" name="Text 5"/>
          <p:cNvSpPr/>
          <p:nvPr/>
        </p:nvSpPr>
        <p:spPr>
          <a:xfrm>
            <a:off x="8778240" y="228600"/>
            <a:ext cx="2880360" cy="640080"/>
          </a:xfrm>
          <a:prstGeom prst="rect">
            <a:avLst/>
          </a:prstGeom>
          <a:noFill/>
          <a:ln/>
        </p:spPr>
        <p:txBody>
          <a:bodyPr wrap="square" lIns="0" tIns="0" rIns="0" bIns="0" rtlCol="0" anchor="ctr"/>
          <a:lstStyle/>
          <a:p>
            <a:pPr algn="r" indent="0" marL="0">
              <a:buNone/>
            </a:pPr>
            <a:r>
              <a:rPr lang="en-US" sz="1100" dirty="0">
                <a:solidFill>
                  <a:srgbClr val="4A5A70"/>
                </a:solidFill>
                <a:latin typeface="Golos Text" pitchFamily="34" charset="0"/>
                <a:ea typeface="Golos Text" pitchFamily="34" charset="-122"/>
                <a:cs typeface="Golos Text" pitchFamily="34" charset="-120"/>
              </a:rPr>
              <a:t>Статистика › Төрт өлчөм</a:t>
            </a:r>
            <a:endParaRPr lang="en-US" sz="1100" dirty="0"/>
          </a:p>
        </p:txBody>
      </p:sp>
      <p:sp>
        <p:nvSpPr>
          <p:cNvPr id="8" name="Text 6"/>
          <p:cNvSpPr/>
          <p:nvPr/>
        </p:nvSpPr>
        <p:spPr>
          <a:xfrm>
            <a:off x="411480" y="960120"/>
            <a:ext cx="8412480" cy="329184"/>
          </a:xfrm>
          <a:prstGeom prst="rect">
            <a:avLst/>
          </a:prstGeom>
          <a:noFill/>
          <a:ln/>
        </p:spPr>
        <p:txBody>
          <a:bodyPr wrap="square" lIns="0" tIns="0" rIns="0" bIns="0" rtlCol="0" anchor="t"/>
          <a:lstStyle/>
          <a:p>
            <a:pPr algn="l" indent="0" marL="0">
              <a:buNone/>
            </a:pPr>
            <a:r>
              <a:rPr lang="en-US" sz="1500" i="1" dirty="0">
                <a:solidFill>
                  <a:srgbClr val="4A5A70"/>
                </a:solidFill>
                <a:latin typeface="Golos Text" pitchFamily="34" charset="0"/>
                <a:ea typeface="Golos Text" pitchFamily="34" charset="-122"/>
                <a:cs typeface="Golos Text" pitchFamily="34" charset="-120"/>
              </a:rPr>
              <a:t>Мини тактага тамганы жаз. Белги боюнча баары бирге көтөрөт</a:t>
            </a:r>
            <a:endParaRPr lang="en-US" sz="1500" dirty="0"/>
          </a:p>
        </p:txBody>
      </p:sp>
      <p:sp>
        <p:nvSpPr>
          <p:cNvPr id="9" name="Text 7"/>
          <p:cNvSpPr/>
          <p:nvPr/>
        </p:nvSpPr>
        <p:spPr>
          <a:xfrm>
            <a:off x="8897112" y="969264"/>
            <a:ext cx="2926080" cy="310896"/>
          </a:xfrm>
          <a:prstGeom prst="rect">
            <a:avLst/>
          </a:prstGeom>
          <a:noFill/>
          <a:ln/>
        </p:spPr>
        <p:txBody>
          <a:bodyPr wrap="square" lIns="0" tIns="0" rIns="0" bIns="0" rtlCol="0" anchor="ctr"/>
          <a:lstStyle/>
          <a:p>
            <a:pPr algn="r" indent="0" marL="0">
              <a:buNone/>
            </a:pPr>
            <a:r>
              <a:rPr lang="en-US" sz="1200" dirty="0">
                <a:solidFill>
                  <a:srgbClr val="4A5A70"/>
                </a:solidFill>
                <a:latin typeface="Golos Text" pitchFamily="34" charset="0"/>
                <a:ea typeface="Golos Text" pitchFamily="34" charset="-122"/>
                <a:cs typeface="Golos Text" pitchFamily="34" charset="-120"/>
              </a:rPr>
              <a:t>Ой жүгүртүү · 1 мүн</a:t>
            </a:r>
            <a:endParaRPr lang="en-US" sz="1200" dirty="0"/>
          </a:p>
        </p:txBody>
      </p:sp>
      <p:sp>
        <p:nvSpPr>
          <p:cNvPr id="10" name="Text 8"/>
          <p:cNvSpPr/>
          <p:nvPr/>
        </p:nvSpPr>
        <p:spPr>
          <a:xfrm>
            <a:off x="365760" y="6492240"/>
            <a:ext cx="5486400" cy="228600"/>
          </a:xfrm>
          <a:prstGeom prst="rect">
            <a:avLst/>
          </a:prstGeom>
          <a:noFill/>
          <a:ln/>
        </p:spPr>
        <p:txBody>
          <a:bodyPr wrap="square" lIns="0" tIns="0" rIns="0" bIns="0" rtlCol="0" anchor="t"/>
          <a:lstStyle/>
          <a:p>
            <a:pPr algn="l" indent="0" marL="0">
              <a:buNone/>
            </a:pPr>
            <a:r>
              <a:rPr lang="en-US" sz="900" dirty="0">
                <a:solidFill>
                  <a:srgbClr val="8D99AA"/>
                </a:solidFill>
                <a:latin typeface="Golos Text" pitchFamily="34" charset="0"/>
                <a:ea typeface="Golos Text" pitchFamily="34" charset="-122"/>
                <a:cs typeface="Golos Text" pitchFamily="34" charset="-120"/>
              </a:rPr>
              <a:t>MathKG · Математика кыргызча</a:t>
            </a:r>
            <a:endParaRPr lang="en-US" sz="900" dirty="0"/>
          </a:p>
        </p:txBody>
      </p:sp>
      <p:sp>
        <p:nvSpPr>
          <p:cNvPr id="11" name="Text 9"/>
          <p:cNvSpPr/>
          <p:nvPr/>
        </p:nvSpPr>
        <p:spPr>
          <a:xfrm>
            <a:off x="7680960" y="6492240"/>
            <a:ext cx="3657600" cy="228600"/>
          </a:xfrm>
          <a:prstGeom prst="rect">
            <a:avLst/>
          </a:prstGeom>
          <a:noFill/>
          <a:ln/>
        </p:spPr>
        <p:txBody>
          <a:bodyPr wrap="square" lIns="0" tIns="0" rIns="0" bIns="0" rtlCol="0" anchor="t"/>
          <a:lstStyle/>
          <a:p>
            <a:pPr algn="r" indent="0" marL="0">
              <a:buNone/>
            </a:pPr>
            <a:r>
              <a:rPr lang="en-US" sz="900" dirty="0">
                <a:solidFill>
                  <a:srgbClr val="8D99AA"/>
                </a:solidFill>
                <a:latin typeface="Golos Text" pitchFamily="34" charset="0"/>
                <a:ea typeface="Golos Text" pitchFamily="34" charset="-122"/>
                <a:cs typeface="Golos Text" pitchFamily="34" charset="-120"/>
              </a:rPr>
              <a:t>MathKG ыкмасы · 1 мүн</a:t>
            </a:r>
            <a:endParaRPr lang="en-US" sz="900" dirty="0"/>
          </a:p>
        </p:txBody>
      </p:sp>
      <p:sp>
        <p:nvSpPr>
          <p:cNvPr id="12" name="Shape 10"/>
          <p:cNvSpPr/>
          <p:nvPr/>
        </p:nvSpPr>
        <p:spPr>
          <a:xfrm>
            <a:off x="365760" y="1463040"/>
            <a:ext cx="11457432" cy="1143000"/>
          </a:xfrm>
          <a:prstGeom prst="roundRect">
            <a:avLst>
              <a:gd name="adj" fmla="val 15000"/>
            </a:avLst>
          </a:prstGeom>
          <a:solidFill>
            <a:srgbClr val="F3F5FB"/>
          </a:solidFill>
          <a:ln/>
        </p:spPr>
      </p:sp>
      <p:sp>
        <p:nvSpPr>
          <p:cNvPr id="13" name="Text 11"/>
          <p:cNvSpPr/>
          <p:nvPr/>
        </p:nvSpPr>
        <p:spPr>
          <a:xfrm>
            <a:off x="640080" y="1463040"/>
            <a:ext cx="1097280" cy="1143000"/>
          </a:xfrm>
          <a:prstGeom prst="rect">
            <a:avLst/>
          </a:prstGeom>
          <a:noFill/>
          <a:ln/>
        </p:spPr>
        <p:txBody>
          <a:bodyPr wrap="square" lIns="0" tIns="0" rIns="0" bIns="0" rtlCol="0" anchor="ctr"/>
          <a:lstStyle/>
          <a:p>
            <a:pPr algn="l" indent="0" marL="0">
              <a:buNone/>
            </a:pPr>
            <a:r>
              <a:rPr lang="en-US" sz="2000" b="1" dirty="0">
                <a:solidFill>
                  <a:srgbClr val="1D3557"/>
                </a:solidFill>
                <a:latin typeface="Golos Text" pitchFamily="34" charset="0"/>
                <a:ea typeface="Golos Text" pitchFamily="34" charset="-122"/>
                <a:cs typeface="Golos Text" pitchFamily="34" charset="-120"/>
              </a:rPr>
              <a:t>Тизме:</a:t>
            </a:r>
            <a:endParaRPr lang="en-US" sz="2000" dirty="0"/>
          </a:p>
        </p:txBody>
      </p:sp>
      <p:sp>
        <p:nvSpPr>
          <p:cNvPr id="14" name="Text 12"/>
          <p:cNvSpPr/>
          <p:nvPr/>
        </p:nvSpPr>
        <p:spPr>
          <a:xfrm>
            <a:off x="1737360" y="1719072"/>
            <a:ext cx="731520" cy="64008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2400" b="1" dirty="0">
                <a:solidFill>
                  <a:srgbClr val="1D3557"/>
                </a:solidFill>
                <a:latin typeface="Golos Text" pitchFamily="34" charset="0"/>
                <a:ea typeface="Golos Text" pitchFamily="34" charset="-122"/>
                <a:cs typeface="Golos Text" pitchFamily="34" charset="-120"/>
              </a:rPr>
              <a:t>7</a:t>
            </a:r>
            <a:endParaRPr lang="en-US" sz="2400" dirty="0"/>
          </a:p>
        </p:txBody>
      </p:sp>
      <p:sp>
        <p:nvSpPr>
          <p:cNvPr id="15" name="Text 13"/>
          <p:cNvSpPr/>
          <p:nvPr/>
        </p:nvSpPr>
        <p:spPr>
          <a:xfrm>
            <a:off x="2578608" y="1719072"/>
            <a:ext cx="731520" cy="64008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2400" b="1" dirty="0">
                <a:solidFill>
                  <a:srgbClr val="1D3557"/>
                </a:solidFill>
                <a:latin typeface="Golos Text" pitchFamily="34" charset="0"/>
                <a:ea typeface="Golos Text" pitchFamily="34" charset="-122"/>
                <a:cs typeface="Golos Text" pitchFamily="34" charset="-120"/>
              </a:rPr>
              <a:t>2</a:t>
            </a:r>
            <a:endParaRPr lang="en-US" sz="2400" dirty="0"/>
          </a:p>
        </p:txBody>
      </p:sp>
      <p:sp>
        <p:nvSpPr>
          <p:cNvPr id="16" name="Text 14"/>
          <p:cNvSpPr/>
          <p:nvPr/>
        </p:nvSpPr>
        <p:spPr>
          <a:xfrm>
            <a:off x="3419856" y="1719072"/>
            <a:ext cx="731520" cy="64008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2400" b="1" dirty="0">
                <a:solidFill>
                  <a:srgbClr val="1D3557"/>
                </a:solidFill>
                <a:latin typeface="Golos Text" pitchFamily="34" charset="0"/>
                <a:ea typeface="Golos Text" pitchFamily="34" charset="-122"/>
                <a:cs typeface="Golos Text" pitchFamily="34" charset="-120"/>
              </a:rPr>
              <a:t>10</a:t>
            </a:r>
            <a:endParaRPr lang="en-US" sz="2400" dirty="0"/>
          </a:p>
        </p:txBody>
      </p:sp>
      <p:sp>
        <p:nvSpPr>
          <p:cNvPr id="17" name="Text 15"/>
          <p:cNvSpPr/>
          <p:nvPr/>
        </p:nvSpPr>
        <p:spPr>
          <a:xfrm>
            <a:off x="4261104" y="1719072"/>
            <a:ext cx="731520" cy="64008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2400" b="1" dirty="0">
                <a:solidFill>
                  <a:srgbClr val="1D3557"/>
                </a:solidFill>
                <a:latin typeface="Golos Text" pitchFamily="34" charset="0"/>
                <a:ea typeface="Golos Text" pitchFamily="34" charset="-122"/>
                <a:cs typeface="Golos Text" pitchFamily="34" charset="-120"/>
              </a:rPr>
              <a:t>2</a:t>
            </a:r>
            <a:endParaRPr lang="en-US" sz="2400" dirty="0"/>
          </a:p>
        </p:txBody>
      </p:sp>
      <p:sp>
        <p:nvSpPr>
          <p:cNvPr id="18" name="Text 16"/>
          <p:cNvSpPr/>
          <p:nvPr/>
        </p:nvSpPr>
        <p:spPr>
          <a:xfrm>
            <a:off x="5102352" y="1719072"/>
            <a:ext cx="731520" cy="640080"/>
          </a:xfrm>
          <a:prstGeom prst="roundRect">
            <a:avLst>
              <a:gd name="adj" fmla="val 20000"/>
            </a:avLst>
          </a:prstGeom>
          <a:solidFill>
            <a:srgbClr val="E7EAF2"/>
          </a:solidFill>
          <a:ln w="15875">
            <a:solidFill>
              <a:srgbClr val="1D3557"/>
            </a:solidFill>
            <a:prstDash val="solid"/>
          </a:ln>
        </p:spPr>
        <p:txBody>
          <a:bodyPr wrap="square" lIns="0" tIns="0" rIns="0" bIns="0" rtlCol="0" anchor="ctr"/>
          <a:lstStyle/>
          <a:p>
            <a:pPr algn="ctr" indent="0" marL="0">
              <a:buNone/>
            </a:pPr>
            <a:r>
              <a:rPr lang="en-US" sz="2400" b="1" dirty="0">
                <a:solidFill>
                  <a:srgbClr val="1D3557"/>
                </a:solidFill>
                <a:latin typeface="Golos Text" pitchFamily="34" charset="0"/>
                <a:ea typeface="Golos Text" pitchFamily="34" charset="-122"/>
                <a:cs typeface="Golos Text" pitchFamily="34" charset="-120"/>
              </a:rPr>
              <a:t>4</a:t>
            </a:r>
            <a:endParaRPr lang="en-US" sz="2400" dirty="0"/>
          </a:p>
        </p:txBody>
      </p:sp>
      <p:sp>
        <p:nvSpPr>
          <p:cNvPr id="19" name="Text 17"/>
          <p:cNvSpPr/>
          <p:nvPr/>
        </p:nvSpPr>
        <p:spPr>
          <a:xfrm>
            <a:off x="6400800" y="1463040"/>
            <a:ext cx="5212080" cy="1143000"/>
          </a:xfrm>
          <a:prstGeom prst="rect">
            <a:avLst/>
          </a:prstGeom>
          <a:noFill/>
          <a:ln/>
        </p:spPr>
        <p:txBody>
          <a:bodyPr wrap="square" lIns="0" tIns="0" rIns="0" bIns="0" rtlCol="0" anchor="ctr"/>
          <a:lstStyle/>
          <a:p>
            <a:pPr algn="l" indent="0" marL="0">
              <a:buNone/>
            </a:pPr>
            <a:r>
              <a:rPr lang="en-US" sz="2800" b="1" dirty="0">
                <a:solidFill>
                  <a:srgbClr val="24418C"/>
                </a:solidFill>
                <a:latin typeface="Golos Text" pitchFamily="34" charset="0"/>
                <a:ea typeface="Golos Text" pitchFamily="34" charset="-122"/>
                <a:cs typeface="Golos Text" pitchFamily="34" charset="-120"/>
              </a:rPr>
              <a:t>Медианасы канча?</a:t>
            </a:r>
            <a:endParaRPr lang="en-US" sz="2800" dirty="0"/>
          </a:p>
        </p:txBody>
      </p:sp>
      <p:sp>
        <p:nvSpPr>
          <p:cNvPr id="20" name="Shape 18"/>
          <p:cNvSpPr/>
          <p:nvPr/>
        </p:nvSpPr>
        <p:spPr>
          <a:xfrm>
            <a:off x="365760" y="2834640"/>
            <a:ext cx="2692908" cy="1417320"/>
          </a:xfrm>
          <a:prstGeom prst="roundRect">
            <a:avLst>
              <a:gd name="adj" fmla="val 12000"/>
            </a:avLst>
          </a:prstGeom>
          <a:solidFill>
            <a:srgbClr val="FFFFFF"/>
          </a:solidFill>
          <a:ln w="22225">
            <a:solidFill>
              <a:srgbClr val="1D3557"/>
            </a:solidFill>
            <a:prstDash val="solid"/>
          </a:ln>
        </p:spPr>
      </p:sp>
      <p:sp>
        <p:nvSpPr>
          <p:cNvPr id="21" name="Text 19"/>
          <p:cNvSpPr/>
          <p:nvPr/>
        </p:nvSpPr>
        <p:spPr>
          <a:xfrm>
            <a:off x="548640" y="2971800"/>
            <a:ext cx="502920" cy="502920"/>
          </a:xfrm>
          <a:prstGeom prst="roundRect">
            <a:avLst>
              <a:gd name="adj" fmla="val 50000"/>
            </a:avLst>
          </a:prstGeom>
          <a:solidFill>
            <a:srgbClr val="1D3557"/>
          </a:solidFill>
          <a:ln w="19050">
            <a:solidFill>
              <a:srgbClr val="1D3557"/>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А</a:t>
            </a:r>
            <a:endParaRPr lang="en-US" sz="1600" dirty="0"/>
          </a:p>
        </p:txBody>
      </p:sp>
      <p:sp>
        <p:nvSpPr>
          <p:cNvPr id="22" name="Text 20"/>
          <p:cNvSpPr/>
          <p:nvPr/>
        </p:nvSpPr>
        <p:spPr>
          <a:xfrm>
            <a:off x="365760" y="2880360"/>
            <a:ext cx="2692908" cy="1325880"/>
          </a:xfrm>
          <a:prstGeom prst="rect">
            <a:avLst/>
          </a:prstGeom>
          <a:noFill/>
          <a:ln/>
        </p:spPr>
        <p:txBody>
          <a:bodyPr wrap="square" lIns="0" tIns="0" rIns="0" bIns="0" rtlCol="0" anchor="ctr"/>
          <a:lstStyle/>
          <a:p>
            <a:pPr algn="ctr" indent="0" marL="0">
              <a:buNone/>
            </a:pPr>
            <a:r>
              <a:rPr lang="en-US" sz="4000" b="1" dirty="0">
                <a:solidFill>
                  <a:srgbClr val="1D3557"/>
                </a:solidFill>
                <a:latin typeface="Golos Text" pitchFamily="34" charset="0"/>
                <a:ea typeface="Golos Text" pitchFamily="34" charset="-122"/>
                <a:cs typeface="Golos Text" pitchFamily="34" charset="-120"/>
              </a:rPr>
              <a:t>10</a:t>
            </a:r>
            <a:endParaRPr lang="en-US" sz="4000" dirty="0"/>
          </a:p>
        </p:txBody>
      </p:sp>
      <p:sp>
        <p:nvSpPr>
          <p:cNvPr id="23" name="anim1_mis"/>
          <p:cNvSpPr/>
          <p:nvPr/>
        </p:nvSpPr>
        <p:spPr>
          <a:xfrm>
            <a:off x="365760" y="4434840"/>
            <a:ext cx="2692908" cy="1188720"/>
          </a:xfrm>
          <a:prstGeom prst="roundRect">
            <a:avLst>
              <a:gd name="adj" fmla="val 15000"/>
            </a:avLst>
          </a:prstGeom>
          <a:solidFill>
            <a:srgbClr val="F5EBE3"/>
          </a:solidFill>
          <a:ln w="19050">
            <a:solidFill>
              <a:srgbClr val="A84400"/>
            </a:solidFill>
            <a:prstDash val="solid"/>
          </a:ln>
        </p:spPr>
        <p:txBody>
          <a:bodyPr wrap="square" lIns="101600" tIns="101600" rIns="101600" bIns="101600" rtlCol="0" anchor="ctr"/>
          <a:lstStyle/>
          <a:p>
            <a:pPr algn="ctr" indent="0" marL="0">
              <a:buNone/>
            </a:pPr>
            <a:r>
              <a:rPr lang="en-US" sz="1500" b="1" dirty="0">
                <a:solidFill>
                  <a:srgbClr val="A84400"/>
                </a:solidFill>
                <a:latin typeface="Golos Text" pitchFamily="34" charset="0"/>
                <a:ea typeface="Golos Text" pitchFamily="34" charset="-122"/>
                <a:cs typeface="Golos Text" pitchFamily="34" charset="-120"/>
              </a:rPr>
              <a:t>Ирээттебей ортодогу санды алды.</a:t>
            </a:r>
            <a:endParaRPr lang="en-US" sz="1500" dirty="0"/>
          </a:p>
        </p:txBody>
      </p:sp>
      <p:sp>
        <p:nvSpPr>
          <p:cNvPr id="24" name="Shape 22"/>
          <p:cNvSpPr/>
          <p:nvPr/>
        </p:nvSpPr>
        <p:spPr>
          <a:xfrm>
            <a:off x="3287268" y="2834640"/>
            <a:ext cx="2692908" cy="1417320"/>
          </a:xfrm>
          <a:prstGeom prst="roundRect">
            <a:avLst>
              <a:gd name="adj" fmla="val 12000"/>
            </a:avLst>
          </a:prstGeom>
          <a:solidFill>
            <a:srgbClr val="FFFFFF"/>
          </a:solidFill>
          <a:ln w="22225">
            <a:solidFill>
              <a:srgbClr val="1D3557"/>
            </a:solidFill>
            <a:prstDash val="solid"/>
          </a:ln>
        </p:spPr>
      </p:sp>
      <p:sp>
        <p:nvSpPr>
          <p:cNvPr id="25" name="Text 23"/>
          <p:cNvSpPr/>
          <p:nvPr/>
        </p:nvSpPr>
        <p:spPr>
          <a:xfrm>
            <a:off x="3470148" y="2971800"/>
            <a:ext cx="502920" cy="502920"/>
          </a:xfrm>
          <a:prstGeom prst="roundRect">
            <a:avLst>
              <a:gd name="adj" fmla="val 50000"/>
            </a:avLst>
          </a:prstGeom>
          <a:solidFill>
            <a:srgbClr val="1D3557"/>
          </a:solidFill>
          <a:ln w="19050">
            <a:solidFill>
              <a:srgbClr val="1D3557"/>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Б</a:t>
            </a:r>
            <a:endParaRPr lang="en-US" sz="1600" dirty="0"/>
          </a:p>
        </p:txBody>
      </p:sp>
      <p:sp>
        <p:nvSpPr>
          <p:cNvPr id="26" name="Text 24"/>
          <p:cNvSpPr/>
          <p:nvPr/>
        </p:nvSpPr>
        <p:spPr>
          <a:xfrm>
            <a:off x="3287268" y="2880360"/>
            <a:ext cx="2692908" cy="1325880"/>
          </a:xfrm>
          <a:prstGeom prst="rect">
            <a:avLst/>
          </a:prstGeom>
          <a:noFill/>
          <a:ln/>
        </p:spPr>
        <p:txBody>
          <a:bodyPr wrap="square" lIns="0" tIns="0" rIns="0" bIns="0" rtlCol="0" anchor="ctr"/>
          <a:lstStyle/>
          <a:p>
            <a:pPr algn="ctr" indent="0" marL="0">
              <a:buNone/>
            </a:pPr>
            <a:r>
              <a:rPr lang="en-US" sz="4000" b="1" dirty="0">
                <a:solidFill>
                  <a:srgbClr val="1D3557"/>
                </a:solidFill>
                <a:latin typeface="Golos Text" pitchFamily="34" charset="0"/>
                <a:ea typeface="Golos Text" pitchFamily="34" charset="-122"/>
                <a:cs typeface="Golos Text" pitchFamily="34" charset="-120"/>
              </a:rPr>
              <a:t>5</a:t>
            </a:r>
            <a:endParaRPr lang="en-US" sz="4000" dirty="0"/>
          </a:p>
        </p:txBody>
      </p:sp>
      <p:sp>
        <p:nvSpPr>
          <p:cNvPr id="27" name="anim1_mis"/>
          <p:cNvSpPr/>
          <p:nvPr/>
        </p:nvSpPr>
        <p:spPr>
          <a:xfrm>
            <a:off x="3287268" y="4434840"/>
            <a:ext cx="2692908" cy="1188720"/>
          </a:xfrm>
          <a:prstGeom prst="roundRect">
            <a:avLst>
              <a:gd name="adj" fmla="val 15000"/>
            </a:avLst>
          </a:prstGeom>
          <a:solidFill>
            <a:srgbClr val="F5EBE3"/>
          </a:solidFill>
          <a:ln w="19050">
            <a:solidFill>
              <a:srgbClr val="A84400"/>
            </a:solidFill>
            <a:prstDash val="solid"/>
          </a:ln>
        </p:spPr>
        <p:txBody>
          <a:bodyPr wrap="square" lIns="101600" tIns="101600" rIns="101600" bIns="101600" rtlCol="0" anchor="ctr"/>
          <a:lstStyle/>
          <a:p>
            <a:pPr algn="ctr" indent="0" marL="0">
              <a:buNone/>
            </a:pPr>
            <a:r>
              <a:rPr lang="en-US" sz="1500" b="1" dirty="0">
                <a:solidFill>
                  <a:srgbClr val="A84400"/>
                </a:solidFill>
                <a:latin typeface="Golos Text" pitchFamily="34" charset="0"/>
                <a:ea typeface="Golos Text" pitchFamily="34" charset="-122"/>
                <a:cs typeface="Golos Text" pitchFamily="34" charset="-120"/>
              </a:rPr>
              <a:t>Орточону эсептеди: 25 : 5 = 5.</a:t>
            </a:r>
            <a:endParaRPr lang="en-US" sz="1500" dirty="0"/>
          </a:p>
        </p:txBody>
      </p:sp>
      <p:sp>
        <p:nvSpPr>
          <p:cNvPr id="28" name="Shape 26"/>
          <p:cNvSpPr/>
          <p:nvPr/>
        </p:nvSpPr>
        <p:spPr>
          <a:xfrm>
            <a:off x="6208776" y="2834640"/>
            <a:ext cx="2692908" cy="1417320"/>
          </a:xfrm>
          <a:prstGeom prst="roundRect">
            <a:avLst>
              <a:gd name="adj" fmla="val 12000"/>
            </a:avLst>
          </a:prstGeom>
          <a:solidFill>
            <a:srgbClr val="FFFFFF"/>
          </a:solidFill>
          <a:ln w="22225">
            <a:solidFill>
              <a:srgbClr val="1D3557"/>
            </a:solidFill>
            <a:prstDash val="solid"/>
          </a:ln>
        </p:spPr>
      </p:sp>
      <p:sp>
        <p:nvSpPr>
          <p:cNvPr id="29" name="Text 27"/>
          <p:cNvSpPr/>
          <p:nvPr/>
        </p:nvSpPr>
        <p:spPr>
          <a:xfrm>
            <a:off x="6391656" y="2971800"/>
            <a:ext cx="502920" cy="502920"/>
          </a:xfrm>
          <a:prstGeom prst="roundRect">
            <a:avLst>
              <a:gd name="adj" fmla="val 50000"/>
            </a:avLst>
          </a:prstGeom>
          <a:solidFill>
            <a:srgbClr val="1D3557"/>
          </a:solidFill>
          <a:ln w="19050">
            <a:solidFill>
              <a:srgbClr val="1D3557"/>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В</a:t>
            </a:r>
            <a:endParaRPr lang="en-US" sz="1600" dirty="0"/>
          </a:p>
        </p:txBody>
      </p:sp>
      <p:sp>
        <p:nvSpPr>
          <p:cNvPr id="30" name="Text 28"/>
          <p:cNvSpPr/>
          <p:nvPr/>
        </p:nvSpPr>
        <p:spPr>
          <a:xfrm>
            <a:off x="6208776" y="2880360"/>
            <a:ext cx="2692908" cy="1325880"/>
          </a:xfrm>
          <a:prstGeom prst="rect">
            <a:avLst/>
          </a:prstGeom>
          <a:noFill/>
          <a:ln/>
        </p:spPr>
        <p:txBody>
          <a:bodyPr wrap="square" lIns="0" tIns="0" rIns="0" bIns="0" rtlCol="0" anchor="ctr"/>
          <a:lstStyle/>
          <a:p>
            <a:pPr algn="ctr" indent="0" marL="0">
              <a:buNone/>
            </a:pPr>
            <a:r>
              <a:rPr lang="en-US" sz="4000" b="1" dirty="0">
                <a:solidFill>
                  <a:srgbClr val="1D3557"/>
                </a:solidFill>
                <a:latin typeface="Golos Text" pitchFamily="34" charset="0"/>
                <a:ea typeface="Golos Text" pitchFamily="34" charset="-122"/>
                <a:cs typeface="Golos Text" pitchFamily="34" charset="-120"/>
              </a:rPr>
              <a:t>2</a:t>
            </a:r>
            <a:endParaRPr lang="en-US" sz="4000" dirty="0"/>
          </a:p>
        </p:txBody>
      </p:sp>
      <p:sp>
        <p:nvSpPr>
          <p:cNvPr id="31" name="anim1_mis"/>
          <p:cNvSpPr/>
          <p:nvPr/>
        </p:nvSpPr>
        <p:spPr>
          <a:xfrm>
            <a:off x="6208776" y="4434840"/>
            <a:ext cx="2692908" cy="1188720"/>
          </a:xfrm>
          <a:prstGeom prst="roundRect">
            <a:avLst>
              <a:gd name="adj" fmla="val 15000"/>
            </a:avLst>
          </a:prstGeom>
          <a:solidFill>
            <a:srgbClr val="F5EBE3"/>
          </a:solidFill>
          <a:ln w="19050">
            <a:solidFill>
              <a:srgbClr val="A84400"/>
            </a:solidFill>
            <a:prstDash val="solid"/>
          </a:ln>
        </p:spPr>
        <p:txBody>
          <a:bodyPr wrap="square" lIns="101600" tIns="101600" rIns="101600" bIns="101600" rtlCol="0" anchor="ctr"/>
          <a:lstStyle/>
          <a:p>
            <a:pPr algn="ctr" indent="0" marL="0">
              <a:buNone/>
            </a:pPr>
            <a:r>
              <a:rPr lang="en-US" sz="1500" b="1" dirty="0">
                <a:solidFill>
                  <a:srgbClr val="A84400"/>
                </a:solidFill>
                <a:latin typeface="Golos Text" pitchFamily="34" charset="0"/>
                <a:ea typeface="Golos Text" pitchFamily="34" charset="-122"/>
                <a:cs typeface="Golos Text" pitchFamily="34" charset="-120"/>
              </a:rPr>
              <a:t>Моданы алды: 2 эки жолу.</a:t>
            </a:r>
            <a:endParaRPr lang="en-US" sz="1500" dirty="0"/>
          </a:p>
        </p:txBody>
      </p:sp>
      <p:sp>
        <p:nvSpPr>
          <p:cNvPr id="32" name="Shape 30"/>
          <p:cNvSpPr/>
          <p:nvPr/>
        </p:nvSpPr>
        <p:spPr>
          <a:xfrm>
            <a:off x="9130284" y="2834640"/>
            <a:ext cx="2692908" cy="1417320"/>
          </a:xfrm>
          <a:prstGeom prst="roundRect">
            <a:avLst>
              <a:gd name="adj" fmla="val 12000"/>
            </a:avLst>
          </a:prstGeom>
          <a:solidFill>
            <a:srgbClr val="FFFFFF"/>
          </a:solidFill>
          <a:ln w="22225">
            <a:solidFill>
              <a:srgbClr val="1D3557"/>
            </a:solidFill>
            <a:prstDash val="solid"/>
          </a:ln>
        </p:spPr>
      </p:sp>
      <p:sp>
        <p:nvSpPr>
          <p:cNvPr id="33" name="Text 31"/>
          <p:cNvSpPr/>
          <p:nvPr/>
        </p:nvSpPr>
        <p:spPr>
          <a:xfrm>
            <a:off x="9313164" y="2971800"/>
            <a:ext cx="502920" cy="502920"/>
          </a:xfrm>
          <a:prstGeom prst="roundRect">
            <a:avLst>
              <a:gd name="adj" fmla="val 50000"/>
            </a:avLst>
          </a:prstGeom>
          <a:solidFill>
            <a:srgbClr val="1D3557"/>
          </a:solidFill>
          <a:ln w="19050">
            <a:solidFill>
              <a:srgbClr val="1D3557"/>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Г</a:t>
            </a:r>
            <a:endParaRPr lang="en-US" sz="1600" dirty="0"/>
          </a:p>
        </p:txBody>
      </p:sp>
      <p:sp>
        <p:nvSpPr>
          <p:cNvPr id="34" name="Text 32"/>
          <p:cNvSpPr/>
          <p:nvPr/>
        </p:nvSpPr>
        <p:spPr>
          <a:xfrm>
            <a:off x="9130284" y="2880360"/>
            <a:ext cx="2692908" cy="1325880"/>
          </a:xfrm>
          <a:prstGeom prst="rect">
            <a:avLst/>
          </a:prstGeom>
          <a:noFill/>
          <a:ln/>
        </p:spPr>
        <p:txBody>
          <a:bodyPr wrap="square" lIns="0" tIns="0" rIns="0" bIns="0" rtlCol="0" anchor="ctr"/>
          <a:lstStyle/>
          <a:p>
            <a:pPr algn="ctr" indent="0" marL="0">
              <a:buNone/>
            </a:pPr>
            <a:r>
              <a:rPr lang="en-US" sz="4000" b="1" dirty="0">
                <a:solidFill>
                  <a:srgbClr val="1D3557"/>
                </a:solidFill>
                <a:latin typeface="Golos Text" pitchFamily="34" charset="0"/>
                <a:ea typeface="Golos Text" pitchFamily="34" charset="-122"/>
                <a:cs typeface="Golos Text" pitchFamily="34" charset="-120"/>
              </a:rPr>
              <a:t>4</a:t>
            </a:r>
            <a:endParaRPr lang="en-US" sz="4000" dirty="0"/>
          </a:p>
        </p:txBody>
      </p:sp>
      <p:sp>
        <p:nvSpPr>
          <p:cNvPr id="35" name="anim2_ok"/>
          <p:cNvSpPr/>
          <p:nvPr/>
        </p:nvSpPr>
        <p:spPr>
          <a:xfrm>
            <a:off x="9130284" y="2834640"/>
            <a:ext cx="2692908" cy="1417320"/>
          </a:xfrm>
          <a:prstGeom prst="roundRect">
            <a:avLst>
              <a:gd name="adj" fmla="val 12000"/>
            </a:avLst>
          </a:prstGeom>
          <a:solidFill>
            <a:srgbClr val="D1E7E1"/>
          </a:solidFill>
          <a:ln w="38100">
            <a:solidFill>
              <a:srgbClr val="007A5A"/>
            </a:solidFill>
            <a:prstDash val="solid"/>
          </a:ln>
        </p:spPr>
      </p:sp>
      <p:sp>
        <p:nvSpPr>
          <p:cNvPr id="36" name="anim2_ok"/>
          <p:cNvSpPr/>
          <p:nvPr/>
        </p:nvSpPr>
        <p:spPr>
          <a:xfrm>
            <a:off x="9313164" y="2971800"/>
            <a:ext cx="502920" cy="502920"/>
          </a:xfrm>
          <a:prstGeom prst="roundRect">
            <a:avLst>
              <a:gd name="adj" fmla="val 50000"/>
            </a:avLst>
          </a:prstGeom>
          <a:solidFill>
            <a:srgbClr val="007A5A"/>
          </a:solidFill>
          <a:ln w="19050">
            <a:solidFill>
              <a:srgbClr val="007A5A"/>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Г</a:t>
            </a:r>
            <a:endParaRPr lang="en-US" sz="1600" dirty="0"/>
          </a:p>
        </p:txBody>
      </p:sp>
      <p:sp>
        <p:nvSpPr>
          <p:cNvPr id="37" name="anim2_ok"/>
          <p:cNvSpPr/>
          <p:nvPr/>
        </p:nvSpPr>
        <p:spPr>
          <a:xfrm>
            <a:off x="9130284" y="2880360"/>
            <a:ext cx="2692908" cy="1325880"/>
          </a:xfrm>
          <a:prstGeom prst="rect">
            <a:avLst/>
          </a:prstGeom>
          <a:noFill/>
          <a:ln/>
        </p:spPr>
        <p:txBody>
          <a:bodyPr wrap="square" lIns="0" tIns="0" rIns="0" bIns="0" rtlCol="0" anchor="ctr"/>
          <a:lstStyle/>
          <a:p>
            <a:pPr algn="ctr" indent="0" marL="0">
              <a:buNone/>
            </a:pPr>
            <a:r>
              <a:rPr lang="en-US" sz="4000" b="1" dirty="0">
                <a:solidFill>
                  <a:srgbClr val="007A5A"/>
                </a:solidFill>
                <a:latin typeface="Golos Text" pitchFamily="34" charset="0"/>
                <a:ea typeface="Golos Text" pitchFamily="34" charset="-122"/>
                <a:cs typeface="Golos Text" pitchFamily="34" charset="-120"/>
              </a:rPr>
              <a:t>4</a:t>
            </a:r>
            <a:endParaRPr lang="en-US" sz="4000" dirty="0"/>
          </a:p>
        </p:txBody>
      </p:sp>
      <p:sp>
        <p:nvSpPr>
          <p:cNvPr id="38" name="anim2_ok"/>
          <p:cNvSpPr/>
          <p:nvPr/>
        </p:nvSpPr>
        <p:spPr>
          <a:xfrm>
            <a:off x="9130284" y="4434840"/>
            <a:ext cx="2692908" cy="1188720"/>
          </a:xfrm>
          <a:prstGeom prst="roundRect">
            <a:avLst>
              <a:gd name="adj" fmla="val 30000"/>
            </a:avLst>
          </a:prstGeom>
          <a:solidFill>
            <a:srgbClr val="D1E7E1"/>
          </a:solidFill>
          <a:ln w="28575">
            <a:solidFill>
              <a:srgbClr val="007A5A"/>
            </a:solidFill>
            <a:prstDash val="solid"/>
          </a:ln>
        </p:spPr>
        <p:txBody>
          <a:bodyPr wrap="square" lIns="76200" tIns="76200" rIns="76200" bIns="76200" rtlCol="0" anchor="ctr"/>
          <a:lstStyle/>
          <a:p>
            <a:pPr algn="ctr" indent="0" marL="0">
              <a:buNone/>
            </a:pPr>
            <a:r>
              <a:rPr lang="en-US" sz="1700" b="1" dirty="0">
                <a:solidFill>
                  <a:srgbClr val="007A5A"/>
                </a:solidFill>
                <a:latin typeface="Golos Text" pitchFamily="34" charset="0"/>
                <a:ea typeface="Golos Text" pitchFamily="34" charset="-122"/>
                <a:cs typeface="Golos Text" pitchFamily="34" charset="-120"/>
              </a:rPr>
              <a:t>Туура: 2, 2, 4, 7, 10 → 4.</a:t>
            </a:r>
            <a:endParaRPr lang="en-US" sz="1700" dirty="0"/>
          </a:p>
        </p:txBody>
      </p:sp>
      <p:sp>
        <p:nvSpPr>
          <p:cNvPr id="39" name="Text 37"/>
          <p:cNvSpPr/>
          <p:nvPr/>
        </p:nvSpPr>
        <p:spPr>
          <a:xfrm>
            <a:off x="365760" y="5806440"/>
            <a:ext cx="11457432" cy="457200"/>
          </a:xfrm>
          <a:prstGeom prst="rect">
            <a:avLst/>
          </a:prstGeom>
          <a:noFill/>
          <a:ln/>
        </p:spPr>
        <p:txBody>
          <a:bodyPr wrap="square" lIns="0" tIns="0" rIns="0" bIns="0" rtlCol="0" anchor="t"/>
          <a:lstStyle/>
          <a:p>
            <a:pPr algn="ctr" indent="0" marL="0">
              <a:buNone/>
            </a:pPr>
            <a:r>
              <a:rPr lang="en-US" sz="1600" i="1" dirty="0">
                <a:solidFill>
                  <a:srgbClr val="4A5A70"/>
                </a:solidFill>
                <a:latin typeface="Golos Text" pitchFamily="34" charset="0"/>
                <a:ea typeface="Golos Text" pitchFamily="34" charset="-122"/>
                <a:cs typeface="Golos Text" pitchFamily="34" charset="-120"/>
              </a:rPr>
              <a:t>Ар бир туура эмес жооп — белгилүү бир жаңылыштык. Сенин жообуң кайсы?</a:t>
            </a:r>
            <a:endParaRPr lang="en-US" sz="1600" dirty="0"/>
          </a:p>
        </p:txBody>
      </p:sp>
      <p:sp>
        <p:nvSpPr>
          <p:cNvPr id="40" name="Slide Number Placeholder 0"/>
          <p:cNvSpPr>
            <a:spLocks noGrp="1"/>
          </p:cNvSpPr>
          <p:nvPr>
            <p:ph type="sldNum" sz="quarter" idx="4294967295"/>
          </p:nvPr>
        </p:nvSpPr>
        <p:spPr>
          <a:xfrm>
            <a:off x="11384280" y="6492240"/>
            <a:ext cx="438912"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99AA"/>
                </a:solidFill>
                <a:latin typeface="Golos Text"/>
                <a:ea typeface="Golos Text"/>
                <a:cs typeface="Golos Text"/>
              </a:defRPr>
            </a:lvl1pPr>
          </a:lstStyle>
          <a:p>
            <a:pPr algn="r"/>
            <a:fld id="{F7021451-1387-4CA6-816F-3879F97B5CBC}" type="slidenum">
              <a:rPr b="0" lang="en-US"/>
              <a:t>19</a:t>
            </a:fld>
            <a:endParaRPr lang="en-US"/>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3"/>
                                        </p:tgtEl>
                                        <p:attrNameLst>
                                          <p:attrName>style.visibility</p:attrName>
                                        </p:attrNameLst>
                                      </p:cBhvr>
                                      <p:to>
                                        <p:strVal val="visible"/>
                                      </p:to>
                                    </p:set>
                                    <p:animEffect transition="in" filter="fade">
                                      <p:cBhvr>
                                        <p:cTn id="5" dur="600"/>
                                        <p:tgtEl>
                                          <p:spTgt spid="2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7"/>
                                        </p:tgtEl>
                                        <p:attrNameLst>
                                          <p:attrName>style.visibility</p:attrName>
                                        </p:attrNameLst>
                                      </p:cBhvr>
                                      <p:to>
                                        <p:strVal val="visible"/>
                                      </p:to>
                                    </p:set>
                                    <p:animEffect transition="in" filter="fade">
                                      <p:cBhvr>
                                        <p:cTn id="8" dur="600"/>
                                        <p:tgtEl>
                                          <p:spTgt spid="2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600"/>
                                        <p:tgtEl>
                                          <p:spTgt spid="31"/>
                                        </p:tgtEl>
                                      </p:cBhvr>
                                    </p:animEffect>
                                  </p:childTnLst>
                                </p:cTn>
                              </p:par>
                            </p:childTnLst>
                          </p:cTn>
                        </p:par>
                      </p:childTnLst>
                    </p:cTn>
                  </p:par>
                  <p:par>
                    <p:cTn id="26" fill="hold">
                      <p:stCondLst>
                        <p:cond delay="indefinite"/>
                      </p:stCondLst>
                      <p:childTnLst>
                        <p:par>
                          <p:cTn id="27"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fade">
                                      <p:cBhvr>
                                        <p:cTn id="16" dur="600"/>
                                        <p:tgtEl>
                                          <p:spTgt spid="3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600"/>
                                        <p:tgtEl>
                                          <p:spTgt spid="3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600"/>
                                        <p:tgtEl>
                                          <p:spTgt spid="3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fade">
                                      <p:cBhvr>
                                        <p:cTn id="25" dur="6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7" grpId="0" animBg="1"/>
      <p:bldP spid="31" grpId="0" animBg="1"/>
      <p:bldP spid="36" grpId="0" animBg="1"/>
      <p:bldP spid="37" grpId="0" animBg="1"/>
      <p:bldP spid="3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11457432" cy="640080"/>
          </a:xfrm>
          <a:prstGeom prst="roundRect">
            <a:avLst>
              <a:gd name="adj" fmla="val 22000"/>
            </a:avLst>
          </a:prstGeom>
          <a:solidFill>
            <a:srgbClr val="FFFFFF"/>
          </a:solidFill>
          <a:ln w="19050">
            <a:solidFill>
              <a:srgbClr val="1D3557"/>
            </a:solidFill>
            <a:prstDash val="solid"/>
          </a:ln>
        </p:spPr>
      </p:sp>
      <p:sp>
        <p:nvSpPr>
          <p:cNvPr id="3" name="Shape 1"/>
          <p:cNvSpPr/>
          <p:nvPr/>
        </p:nvSpPr>
        <p:spPr>
          <a:xfrm>
            <a:off x="557784" y="369418"/>
            <a:ext cx="70409" cy="358445"/>
          </a:xfrm>
          <a:prstGeom prst="roundRect">
            <a:avLst>
              <a:gd name="adj" fmla="val 50000"/>
            </a:avLst>
          </a:prstGeom>
          <a:solidFill>
            <a:srgbClr val="007A5A"/>
          </a:solidFill>
          <a:ln/>
        </p:spPr>
      </p:sp>
      <p:sp>
        <p:nvSpPr>
          <p:cNvPr id="4" name="Shape 2"/>
          <p:cNvSpPr/>
          <p:nvPr/>
        </p:nvSpPr>
        <p:spPr>
          <a:xfrm>
            <a:off x="691561" y="369418"/>
            <a:ext cx="70409" cy="358445"/>
          </a:xfrm>
          <a:prstGeom prst="roundRect">
            <a:avLst>
              <a:gd name="adj" fmla="val 50000"/>
            </a:avLst>
          </a:prstGeom>
          <a:solidFill>
            <a:srgbClr val="A84400"/>
          </a:solidFill>
          <a:ln/>
        </p:spPr>
      </p:sp>
      <p:sp>
        <p:nvSpPr>
          <p:cNvPr id="5" name="Shape 3"/>
          <p:cNvSpPr/>
          <p:nvPr/>
        </p:nvSpPr>
        <p:spPr>
          <a:xfrm>
            <a:off x="825337" y="369418"/>
            <a:ext cx="70409" cy="358445"/>
          </a:xfrm>
          <a:prstGeom prst="roundRect">
            <a:avLst>
              <a:gd name="adj" fmla="val 50000"/>
            </a:avLst>
          </a:prstGeom>
          <a:solidFill>
            <a:srgbClr val="24418C"/>
          </a:solidFill>
          <a:ln/>
        </p:spPr>
      </p:sp>
      <p:sp>
        <p:nvSpPr>
          <p:cNvPr id="6" name="Text 4"/>
          <p:cNvSpPr/>
          <p:nvPr/>
        </p:nvSpPr>
        <p:spPr>
          <a:xfrm>
            <a:off x="1096914" y="228600"/>
            <a:ext cx="7589520" cy="640080"/>
          </a:xfrm>
          <a:prstGeom prst="rect">
            <a:avLst/>
          </a:prstGeom>
          <a:noFill/>
          <a:ln/>
        </p:spPr>
        <p:txBody>
          <a:bodyPr wrap="square" lIns="0" tIns="0" rIns="0" bIns="0" rtlCol="0" anchor="ctr"/>
          <a:lstStyle/>
          <a:p>
            <a:pPr algn="l" indent="0" marL="0">
              <a:buNone/>
            </a:pPr>
            <a:r>
              <a:rPr lang="en-US" sz="2200" b="1" dirty="0">
                <a:solidFill>
                  <a:srgbClr val="1D3557"/>
                </a:solidFill>
                <a:latin typeface="Golos Text" pitchFamily="34" charset="0"/>
                <a:ea typeface="Golos Text" pitchFamily="34" charset="-122"/>
                <a:cs typeface="Golos Text" pitchFamily="34" charset="-120"/>
              </a:rPr>
              <a:t>Көрсөт…: өзүңдүн мисалыңды түз</a:t>
            </a:r>
            <a:endParaRPr lang="en-US" sz="2200" dirty="0"/>
          </a:p>
        </p:txBody>
      </p:sp>
      <p:sp>
        <p:nvSpPr>
          <p:cNvPr id="7" name="Text 5"/>
          <p:cNvSpPr/>
          <p:nvPr/>
        </p:nvSpPr>
        <p:spPr>
          <a:xfrm>
            <a:off x="8778240" y="228600"/>
            <a:ext cx="2880360" cy="640080"/>
          </a:xfrm>
          <a:prstGeom prst="rect">
            <a:avLst/>
          </a:prstGeom>
          <a:noFill/>
          <a:ln/>
        </p:spPr>
        <p:txBody>
          <a:bodyPr wrap="square" lIns="0" tIns="0" rIns="0" bIns="0" rtlCol="0" anchor="ctr"/>
          <a:lstStyle/>
          <a:p>
            <a:pPr algn="r" indent="0" marL="0">
              <a:buNone/>
            </a:pPr>
            <a:r>
              <a:rPr lang="en-US" sz="1100" dirty="0">
                <a:solidFill>
                  <a:srgbClr val="4A5A70"/>
                </a:solidFill>
                <a:latin typeface="Golos Text" pitchFamily="34" charset="0"/>
                <a:ea typeface="Golos Text" pitchFamily="34" charset="-122"/>
                <a:cs typeface="Golos Text" pitchFamily="34" charset="-120"/>
              </a:rPr>
              <a:t>Статистика › Төрт өлчөм</a:t>
            </a:r>
            <a:endParaRPr lang="en-US" sz="1100" dirty="0"/>
          </a:p>
        </p:txBody>
      </p:sp>
      <p:sp>
        <p:nvSpPr>
          <p:cNvPr id="8" name="Text 6"/>
          <p:cNvSpPr/>
          <p:nvPr/>
        </p:nvSpPr>
        <p:spPr>
          <a:xfrm>
            <a:off x="411480" y="960120"/>
            <a:ext cx="8412480" cy="329184"/>
          </a:xfrm>
          <a:prstGeom prst="rect">
            <a:avLst/>
          </a:prstGeom>
          <a:noFill/>
          <a:ln/>
        </p:spPr>
        <p:txBody>
          <a:bodyPr wrap="square" lIns="0" tIns="0" rIns="0" bIns="0" rtlCol="0" anchor="t"/>
          <a:lstStyle/>
          <a:p>
            <a:pPr algn="l" indent="0" marL="0">
              <a:buNone/>
            </a:pPr>
            <a:r>
              <a:rPr lang="en-US" sz="1500" i="1" dirty="0">
                <a:solidFill>
                  <a:srgbClr val="4A5A70"/>
                </a:solidFill>
                <a:latin typeface="Golos Text" pitchFamily="34" charset="0"/>
                <a:ea typeface="Golos Text" pitchFamily="34" charset="-122"/>
                <a:cs typeface="Golos Text" pitchFamily="34" charset="-120"/>
              </a:rPr>
              <a:t>Мини тактага жаз. «3, 2, 1 — көрсөткүлө!» Жооптор ар түрдүү болушу мүмкүн</a:t>
            </a:r>
            <a:endParaRPr lang="en-US" sz="1500" dirty="0"/>
          </a:p>
        </p:txBody>
      </p:sp>
      <p:sp>
        <p:nvSpPr>
          <p:cNvPr id="9" name="Text 7"/>
          <p:cNvSpPr/>
          <p:nvPr/>
        </p:nvSpPr>
        <p:spPr>
          <a:xfrm>
            <a:off x="8897112" y="969264"/>
            <a:ext cx="2926080" cy="310896"/>
          </a:xfrm>
          <a:prstGeom prst="rect">
            <a:avLst/>
          </a:prstGeom>
          <a:noFill/>
          <a:ln/>
        </p:spPr>
        <p:txBody>
          <a:bodyPr wrap="square" lIns="0" tIns="0" rIns="0" bIns="0" rtlCol="0" anchor="ctr"/>
          <a:lstStyle/>
          <a:p>
            <a:pPr algn="r" indent="0" marL="0">
              <a:buNone/>
            </a:pPr>
            <a:r>
              <a:rPr lang="en-US" sz="1200" dirty="0">
                <a:solidFill>
                  <a:srgbClr val="4A5A70"/>
                </a:solidFill>
                <a:latin typeface="Golos Text" pitchFamily="34" charset="0"/>
                <a:ea typeface="Golos Text" pitchFamily="34" charset="-122"/>
                <a:cs typeface="Golos Text" pitchFamily="34" charset="-120"/>
              </a:rPr>
              <a:t>Ой жүгүртүү · 1,5 мүн</a:t>
            </a:r>
            <a:endParaRPr lang="en-US" sz="1200" dirty="0"/>
          </a:p>
        </p:txBody>
      </p:sp>
      <p:sp>
        <p:nvSpPr>
          <p:cNvPr id="10" name="Text 8"/>
          <p:cNvSpPr/>
          <p:nvPr/>
        </p:nvSpPr>
        <p:spPr>
          <a:xfrm>
            <a:off x="365760" y="6492240"/>
            <a:ext cx="5486400" cy="228600"/>
          </a:xfrm>
          <a:prstGeom prst="rect">
            <a:avLst/>
          </a:prstGeom>
          <a:noFill/>
          <a:ln/>
        </p:spPr>
        <p:txBody>
          <a:bodyPr wrap="square" lIns="0" tIns="0" rIns="0" bIns="0" rtlCol="0" anchor="t"/>
          <a:lstStyle/>
          <a:p>
            <a:pPr algn="l" indent="0" marL="0">
              <a:buNone/>
            </a:pPr>
            <a:r>
              <a:rPr lang="en-US" sz="900" dirty="0">
                <a:solidFill>
                  <a:srgbClr val="8D99AA"/>
                </a:solidFill>
                <a:latin typeface="Golos Text" pitchFamily="34" charset="0"/>
                <a:ea typeface="Golos Text" pitchFamily="34" charset="-122"/>
                <a:cs typeface="Golos Text" pitchFamily="34" charset="-120"/>
              </a:rPr>
              <a:t>MathKG · Математика кыргызча</a:t>
            </a:r>
            <a:endParaRPr lang="en-US" sz="900" dirty="0"/>
          </a:p>
        </p:txBody>
      </p:sp>
      <p:sp>
        <p:nvSpPr>
          <p:cNvPr id="11" name="Text 9"/>
          <p:cNvSpPr/>
          <p:nvPr/>
        </p:nvSpPr>
        <p:spPr>
          <a:xfrm>
            <a:off x="7680960" y="6492240"/>
            <a:ext cx="3657600" cy="228600"/>
          </a:xfrm>
          <a:prstGeom prst="rect">
            <a:avLst/>
          </a:prstGeom>
          <a:noFill/>
          <a:ln/>
        </p:spPr>
        <p:txBody>
          <a:bodyPr wrap="square" lIns="0" tIns="0" rIns="0" bIns="0" rtlCol="0" anchor="t"/>
          <a:lstStyle/>
          <a:p>
            <a:pPr algn="r" indent="0" marL="0">
              <a:buNone/>
            </a:pPr>
            <a:r>
              <a:rPr lang="en-US" sz="900" dirty="0">
                <a:solidFill>
                  <a:srgbClr val="8D99AA"/>
                </a:solidFill>
                <a:latin typeface="Golos Text" pitchFamily="34" charset="0"/>
                <a:ea typeface="Golos Text" pitchFamily="34" charset="-122"/>
                <a:cs typeface="Golos Text" pitchFamily="34" charset="-120"/>
              </a:rPr>
              <a:t>MathKG ыкмасы · 1,5 мүн</a:t>
            </a:r>
            <a:endParaRPr lang="en-US" sz="900" dirty="0"/>
          </a:p>
        </p:txBody>
      </p:sp>
      <p:sp>
        <p:nvSpPr>
          <p:cNvPr id="12" name="Text 10"/>
          <p:cNvSpPr/>
          <p:nvPr/>
        </p:nvSpPr>
        <p:spPr>
          <a:xfrm>
            <a:off x="365760" y="1463040"/>
            <a:ext cx="6583680" cy="1417320"/>
          </a:xfrm>
          <a:prstGeom prst="roundRect">
            <a:avLst>
              <a:gd name="adj" fmla="val 15000"/>
            </a:avLst>
          </a:prstGeom>
          <a:solidFill>
            <a:srgbClr val="E7EAF2"/>
          </a:solidFill>
          <a:ln/>
        </p:spPr>
        <p:txBody>
          <a:bodyPr wrap="square" lIns="152400" tIns="152400" rIns="152400" bIns="152400" rtlCol="0" anchor="ctr"/>
          <a:lstStyle/>
          <a:p>
            <a:pPr algn="l" indent="0" marL="0">
              <a:buNone/>
            </a:pPr>
            <a:r>
              <a:rPr lang="en-US" sz="1900" b="1" dirty="0">
                <a:solidFill>
                  <a:srgbClr val="24418C"/>
                </a:solidFill>
                <a:latin typeface="Golos Text" pitchFamily="34" charset="0"/>
                <a:ea typeface="Golos Text" pitchFamily="34" charset="-122"/>
                <a:cs typeface="Golos Text" pitchFamily="34" charset="-120"/>
              </a:rPr>
              <a:t>Көрсөт </a:t>
            </a:r>
            <a:r>
              <a:rPr lang="en-US" sz="1900" b="1" dirty="0">
                <a:solidFill>
                  <a:srgbClr val="1D3557"/>
                </a:solidFill>
                <a:latin typeface="Golos Text" pitchFamily="34" charset="0"/>
                <a:ea typeface="Golos Text" pitchFamily="34" charset="-122"/>
                <a:cs typeface="Golos Text" pitchFamily="34" charset="-120"/>
              </a:rPr>
              <a:t>…5 сандан турган, медианасы 6 болгон тизмени.</a:t>
            </a:r>
            <a:endParaRPr lang="en-US" sz="1900" dirty="0"/>
          </a:p>
        </p:txBody>
      </p:sp>
      <p:sp>
        <p:nvSpPr>
          <p:cNvPr id="13" name="anim1_ex"/>
          <p:cNvSpPr/>
          <p:nvPr/>
        </p:nvSpPr>
        <p:spPr>
          <a:xfrm>
            <a:off x="7178040" y="1554480"/>
            <a:ext cx="4645152" cy="1234440"/>
          </a:xfrm>
          <a:prstGeom prst="roundRect">
            <a:avLst>
              <a:gd name="adj" fmla="val 30000"/>
            </a:avLst>
          </a:prstGeom>
          <a:solidFill>
            <a:srgbClr val="D1E7E1"/>
          </a:solidFill>
          <a:ln w="28575">
            <a:solidFill>
              <a:srgbClr val="007A5A"/>
            </a:solidFill>
            <a:prstDash val="solid"/>
          </a:ln>
        </p:spPr>
        <p:txBody>
          <a:bodyPr wrap="square" lIns="76200" tIns="76200" rIns="76200" bIns="76200" rtlCol="0" anchor="ctr"/>
          <a:lstStyle/>
          <a:p>
            <a:pPr algn="ctr" indent="0" marL="0">
              <a:buNone/>
            </a:pPr>
            <a:r>
              <a:rPr lang="en-US" sz="1600" b="1" dirty="0">
                <a:solidFill>
                  <a:srgbClr val="007A5A"/>
                </a:solidFill>
                <a:latin typeface="Golos Text" pitchFamily="34" charset="0"/>
                <a:ea typeface="Golos Text" pitchFamily="34" charset="-122"/>
                <a:cs typeface="Golos Text" pitchFamily="34" charset="-120"/>
              </a:rPr>
              <a:t>Мисалы: 1, 2, 6, 8, 9 — ирээттелген, ортодогусу 6.</a:t>
            </a:r>
            <a:endParaRPr lang="en-US" sz="1600" dirty="0"/>
          </a:p>
        </p:txBody>
      </p:sp>
      <p:sp>
        <p:nvSpPr>
          <p:cNvPr id="14" name="Text 12"/>
          <p:cNvSpPr/>
          <p:nvPr/>
        </p:nvSpPr>
        <p:spPr>
          <a:xfrm>
            <a:off x="365760" y="3063240"/>
            <a:ext cx="6583680" cy="1417320"/>
          </a:xfrm>
          <a:prstGeom prst="roundRect">
            <a:avLst>
              <a:gd name="adj" fmla="val 15000"/>
            </a:avLst>
          </a:prstGeom>
          <a:solidFill>
            <a:srgbClr val="E7EAF2"/>
          </a:solidFill>
          <a:ln/>
        </p:spPr>
        <p:txBody>
          <a:bodyPr wrap="square" lIns="152400" tIns="152400" rIns="152400" bIns="152400" rtlCol="0" anchor="ctr"/>
          <a:lstStyle/>
          <a:p>
            <a:pPr algn="l" indent="0" marL="0">
              <a:buNone/>
            </a:pPr>
            <a:r>
              <a:rPr lang="en-US" sz="1900" b="1" dirty="0">
                <a:solidFill>
                  <a:srgbClr val="24418C"/>
                </a:solidFill>
                <a:latin typeface="Golos Text" pitchFamily="34" charset="0"/>
                <a:ea typeface="Golos Text" pitchFamily="34" charset="-122"/>
                <a:cs typeface="Golos Text" pitchFamily="34" charset="-120"/>
              </a:rPr>
              <a:t>Көрсөт </a:t>
            </a:r>
            <a:r>
              <a:rPr lang="en-US" sz="1900" b="1" dirty="0">
                <a:solidFill>
                  <a:srgbClr val="1D3557"/>
                </a:solidFill>
                <a:latin typeface="Golos Text" pitchFamily="34" charset="0"/>
                <a:ea typeface="Golos Text" pitchFamily="34" charset="-122"/>
                <a:cs typeface="Golos Text" pitchFamily="34" charset="-120"/>
              </a:rPr>
              <a:t>…орточосу 10, кулачы 0 болгон тизмени.</a:t>
            </a:r>
            <a:endParaRPr lang="en-US" sz="1900" dirty="0"/>
          </a:p>
        </p:txBody>
      </p:sp>
      <p:sp>
        <p:nvSpPr>
          <p:cNvPr id="15" name="anim2_ex"/>
          <p:cNvSpPr/>
          <p:nvPr/>
        </p:nvSpPr>
        <p:spPr>
          <a:xfrm>
            <a:off x="7178040" y="3154680"/>
            <a:ext cx="4645152" cy="1234440"/>
          </a:xfrm>
          <a:prstGeom prst="roundRect">
            <a:avLst>
              <a:gd name="adj" fmla="val 30000"/>
            </a:avLst>
          </a:prstGeom>
          <a:solidFill>
            <a:srgbClr val="D1E7E1"/>
          </a:solidFill>
          <a:ln w="28575">
            <a:solidFill>
              <a:srgbClr val="007A5A"/>
            </a:solidFill>
            <a:prstDash val="solid"/>
          </a:ln>
        </p:spPr>
        <p:txBody>
          <a:bodyPr wrap="square" lIns="76200" tIns="76200" rIns="76200" bIns="76200" rtlCol="0" anchor="ctr"/>
          <a:lstStyle/>
          <a:p>
            <a:pPr algn="ctr" indent="0" marL="0">
              <a:buNone/>
            </a:pPr>
            <a:r>
              <a:rPr lang="en-US" sz="1600" b="1" dirty="0">
                <a:solidFill>
                  <a:srgbClr val="007A5A"/>
                </a:solidFill>
                <a:latin typeface="Golos Text" pitchFamily="34" charset="0"/>
                <a:ea typeface="Golos Text" pitchFamily="34" charset="-122"/>
                <a:cs typeface="Golos Text" pitchFamily="34" charset="-120"/>
              </a:rPr>
              <a:t>Мисалы: 10, 10, 10 — кулачы 0 болсо, бардык сандар бирдей.</a:t>
            </a:r>
            <a:endParaRPr lang="en-US" sz="1600" dirty="0"/>
          </a:p>
        </p:txBody>
      </p:sp>
      <p:sp>
        <p:nvSpPr>
          <p:cNvPr id="16" name="Text 14"/>
          <p:cNvSpPr/>
          <p:nvPr/>
        </p:nvSpPr>
        <p:spPr>
          <a:xfrm>
            <a:off x="365760" y="4663440"/>
            <a:ext cx="6583680" cy="1417320"/>
          </a:xfrm>
          <a:prstGeom prst="roundRect">
            <a:avLst>
              <a:gd name="adj" fmla="val 15000"/>
            </a:avLst>
          </a:prstGeom>
          <a:solidFill>
            <a:srgbClr val="E7EAF2"/>
          </a:solidFill>
          <a:ln/>
        </p:spPr>
        <p:txBody>
          <a:bodyPr wrap="square" lIns="152400" tIns="152400" rIns="152400" bIns="152400" rtlCol="0" anchor="ctr"/>
          <a:lstStyle/>
          <a:p>
            <a:pPr algn="l" indent="0" marL="0">
              <a:buNone/>
            </a:pPr>
            <a:r>
              <a:rPr lang="en-US" sz="1900" b="1" dirty="0">
                <a:solidFill>
                  <a:srgbClr val="24418C"/>
                </a:solidFill>
                <a:latin typeface="Golos Text" pitchFamily="34" charset="0"/>
                <a:ea typeface="Golos Text" pitchFamily="34" charset="-122"/>
                <a:cs typeface="Golos Text" pitchFamily="34" charset="-120"/>
              </a:rPr>
              <a:t>Көрсөт </a:t>
            </a:r>
            <a:r>
              <a:rPr lang="en-US" sz="1900" b="1" dirty="0">
                <a:solidFill>
                  <a:srgbClr val="1D3557"/>
                </a:solidFill>
                <a:latin typeface="Golos Text" pitchFamily="34" charset="0"/>
                <a:ea typeface="Golos Text" pitchFamily="34" charset="-122"/>
                <a:cs typeface="Golos Text" pitchFamily="34" charset="-120"/>
              </a:rPr>
              <a:t>…орточосу медианасынан чоң болгон 5 сандуу тизмени.</a:t>
            </a:r>
            <a:endParaRPr lang="en-US" sz="1900" dirty="0"/>
          </a:p>
        </p:txBody>
      </p:sp>
      <p:sp>
        <p:nvSpPr>
          <p:cNvPr id="17" name="anim3_ex"/>
          <p:cNvSpPr/>
          <p:nvPr/>
        </p:nvSpPr>
        <p:spPr>
          <a:xfrm>
            <a:off x="7178040" y="4754880"/>
            <a:ext cx="4645152" cy="1234440"/>
          </a:xfrm>
          <a:prstGeom prst="roundRect">
            <a:avLst>
              <a:gd name="adj" fmla="val 30000"/>
            </a:avLst>
          </a:prstGeom>
          <a:solidFill>
            <a:srgbClr val="D1E7E1"/>
          </a:solidFill>
          <a:ln w="28575">
            <a:solidFill>
              <a:srgbClr val="007A5A"/>
            </a:solidFill>
            <a:prstDash val="solid"/>
          </a:ln>
        </p:spPr>
        <p:txBody>
          <a:bodyPr wrap="square" lIns="76200" tIns="76200" rIns="76200" bIns="76200" rtlCol="0" anchor="ctr"/>
          <a:lstStyle/>
          <a:p>
            <a:pPr algn="ctr" indent="0" marL="0">
              <a:buNone/>
            </a:pPr>
            <a:r>
              <a:rPr lang="en-US" sz="1600" b="1" dirty="0">
                <a:solidFill>
                  <a:srgbClr val="007A5A"/>
                </a:solidFill>
                <a:latin typeface="Golos Text" pitchFamily="34" charset="0"/>
                <a:ea typeface="Golos Text" pitchFamily="34" charset="-122"/>
                <a:cs typeface="Golos Text" pitchFamily="34" charset="-120"/>
              </a:rPr>
              <a:t>Мисалы: 1, 2, 3, 4, 20 — медиана 3, орточо 30 : 5 = 6.</a:t>
            </a:r>
            <a:endParaRPr lang="en-US" sz="1600" dirty="0"/>
          </a:p>
        </p:txBody>
      </p:sp>
      <p:sp>
        <p:nvSpPr>
          <p:cNvPr id="18" name="Text 16"/>
          <p:cNvSpPr/>
          <p:nvPr/>
        </p:nvSpPr>
        <p:spPr>
          <a:xfrm>
            <a:off x="365760" y="6263640"/>
            <a:ext cx="11457432" cy="365760"/>
          </a:xfrm>
          <a:prstGeom prst="rect">
            <a:avLst/>
          </a:prstGeom>
          <a:noFill/>
          <a:ln/>
        </p:spPr>
        <p:txBody>
          <a:bodyPr wrap="square" lIns="0" tIns="0" rIns="0" bIns="0" rtlCol="0" anchor="t"/>
          <a:lstStyle/>
          <a:p>
            <a:pPr algn="ctr" indent="0" marL="0">
              <a:buNone/>
            </a:pPr>
            <a:r>
              <a:rPr lang="en-US" sz="1300" i="1" dirty="0">
                <a:solidFill>
                  <a:srgbClr val="4A5A70"/>
                </a:solidFill>
                <a:latin typeface="Golos Text" pitchFamily="34" charset="0"/>
                <a:ea typeface="Golos Text" pitchFamily="34" charset="-122"/>
                <a:cs typeface="Golos Text" pitchFamily="34" charset="-120"/>
              </a:rPr>
              <a:t>Толук версия (6 суроо): «Көрсөт…» презентациясы</a:t>
            </a:r>
            <a:endParaRPr lang="en-US" sz="1300" dirty="0"/>
          </a:p>
        </p:txBody>
      </p:sp>
      <p:sp>
        <p:nvSpPr>
          <p:cNvPr id="25" name="Slide Number Placeholder 0"/>
          <p:cNvSpPr>
            <a:spLocks noGrp="1"/>
          </p:cNvSpPr>
          <p:nvPr>
            <p:ph type="sldNum" sz="quarter" idx="4294967295"/>
          </p:nvPr>
        </p:nvSpPr>
        <p:spPr>
          <a:xfrm>
            <a:off x="11384280" y="6492240"/>
            <a:ext cx="438912"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99AA"/>
                </a:solidFill>
                <a:latin typeface="Golos Text"/>
                <a:ea typeface="Golos Text"/>
                <a:cs typeface="Golos Text"/>
              </a:defRPr>
            </a:lvl1pPr>
          </a:lstStyle>
          <a:p>
            <a:pPr algn="r"/>
            <a:fld id="{F7021451-1387-4CA6-816F-3879F97B5CBC}" type="slidenum">
              <a:rPr b="0" lang="en-US"/>
              <a:t>20</a:t>
            </a:fld>
            <a:endParaRPr lang="en-US"/>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600"/>
                                        <p:tgtEl>
                                          <p:spTgt spid="13"/>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6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6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11457432" cy="640080"/>
          </a:xfrm>
          <a:prstGeom prst="roundRect">
            <a:avLst>
              <a:gd name="adj" fmla="val 22000"/>
            </a:avLst>
          </a:prstGeom>
          <a:solidFill>
            <a:srgbClr val="FFFFFF"/>
          </a:solidFill>
          <a:ln w="19050">
            <a:solidFill>
              <a:srgbClr val="1D3557"/>
            </a:solidFill>
            <a:prstDash val="solid"/>
          </a:ln>
        </p:spPr>
      </p:sp>
      <p:sp>
        <p:nvSpPr>
          <p:cNvPr id="3" name="Shape 1"/>
          <p:cNvSpPr/>
          <p:nvPr/>
        </p:nvSpPr>
        <p:spPr>
          <a:xfrm>
            <a:off x="557784" y="369418"/>
            <a:ext cx="70409" cy="358445"/>
          </a:xfrm>
          <a:prstGeom prst="roundRect">
            <a:avLst>
              <a:gd name="adj" fmla="val 50000"/>
            </a:avLst>
          </a:prstGeom>
          <a:solidFill>
            <a:srgbClr val="007A5A"/>
          </a:solidFill>
          <a:ln/>
        </p:spPr>
      </p:sp>
      <p:sp>
        <p:nvSpPr>
          <p:cNvPr id="4" name="Shape 2"/>
          <p:cNvSpPr/>
          <p:nvPr/>
        </p:nvSpPr>
        <p:spPr>
          <a:xfrm>
            <a:off x="691561" y="369418"/>
            <a:ext cx="70409" cy="358445"/>
          </a:xfrm>
          <a:prstGeom prst="roundRect">
            <a:avLst>
              <a:gd name="adj" fmla="val 50000"/>
            </a:avLst>
          </a:prstGeom>
          <a:solidFill>
            <a:srgbClr val="A84400"/>
          </a:solidFill>
          <a:ln/>
        </p:spPr>
      </p:sp>
      <p:sp>
        <p:nvSpPr>
          <p:cNvPr id="5" name="Shape 3"/>
          <p:cNvSpPr/>
          <p:nvPr/>
        </p:nvSpPr>
        <p:spPr>
          <a:xfrm>
            <a:off x="825337" y="369418"/>
            <a:ext cx="70409" cy="358445"/>
          </a:xfrm>
          <a:prstGeom prst="roundRect">
            <a:avLst>
              <a:gd name="adj" fmla="val 50000"/>
            </a:avLst>
          </a:prstGeom>
          <a:solidFill>
            <a:srgbClr val="24418C"/>
          </a:solidFill>
          <a:ln/>
        </p:spPr>
      </p:sp>
      <p:sp>
        <p:nvSpPr>
          <p:cNvPr id="6" name="Text 4"/>
          <p:cNvSpPr/>
          <p:nvPr/>
        </p:nvSpPr>
        <p:spPr>
          <a:xfrm>
            <a:off x="1096914" y="228600"/>
            <a:ext cx="7589520" cy="640080"/>
          </a:xfrm>
          <a:prstGeom prst="rect">
            <a:avLst/>
          </a:prstGeom>
          <a:noFill/>
          <a:ln/>
        </p:spPr>
        <p:txBody>
          <a:bodyPr wrap="square" lIns="0" tIns="0" rIns="0" bIns="0" rtlCol="0" anchor="ctr"/>
          <a:lstStyle/>
          <a:p>
            <a:pPr algn="l" indent="0" marL="0">
              <a:buNone/>
            </a:pPr>
            <a:r>
              <a:rPr lang="en-US" sz="2200" b="1" dirty="0">
                <a:solidFill>
                  <a:srgbClr val="1D3557"/>
                </a:solidFill>
                <a:latin typeface="Golos Text" pitchFamily="34" charset="0"/>
                <a:ea typeface="Golos Text" pitchFamily="34" charset="-122"/>
                <a:cs typeface="Golos Text" pitchFamily="34" charset="-120"/>
              </a:rPr>
              <a:t>Ойлонуп ишен: «орточо айлык 50 000 сом»</a:t>
            </a:r>
            <a:endParaRPr lang="en-US" sz="2200" dirty="0"/>
          </a:p>
        </p:txBody>
      </p:sp>
      <p:sp>
        <p:nvSpPr>
          <p:cNvPr id="7" name="Text 5"/>
          <p:cNvSpPr/>
          <p:nvPr/>
        </p:nvSpPr>
        <p:spPr>
          <a:xfrm>
            <a:off x="8778240" y="228600"/>
            <a:ext cx="2880360" cy="640080"/>
          </a:xfrm>
          <a:prstGeom prst="rect">
            <a:avLst/>
          </a:prstGeom>
          <a:noFill/>
          <a:ln/>
        </p:spPr>
        <p:txBody>
          <a:bodyPr wrap="square" lIns="0" tIns="0" rIns="0" bIns="0" rtlCol="0" anchor="ctr"/>
          <a:lstStyle/>
          <a:p>
            <a:pPr algn="r" indent="0" marL="0">
              <a:buNone/>
            </a:pPr>
            <a:r>
              <a:rPr lang="en-US" sz="1100" dirty="0">
                <a:solidFill>
                  <a:srgbClr val="4A5A70"/>
                </a:solidFill>
                <a:latin typeface="Golos Text" pitchFamily="34" charset="0"/>
                <a:ea typeface="Golos Text" pitchFamily="34" charset="-122"/>
                <a:cs typeface="Golos Text" pitchFamily="34" charset="-120"/>
              </a:rPr>
              <a:t>Статистика › Төрт өлчөм</a:t>
            </a:r>
            <a:endParaRPr lang="en-US" sz="1100" dirty="0"/>
          </a:p>
        </p:txBody>
      </p:sp>
      <p:sp>
        <p:nvSpPr>
          <p:cNvPr id="8" name="Text 6"/>
          <p:cNvSpPr/>
          <p:nvPr/>
        </p:nvSpPr>
        <p:spPr>
          <a:xfrm>
            <a:off x="411480" y="960120"/>
            <a:ext cx="8412480" cy="329184"/>
          </a:xfrm>
          <a:prstGeom prst="rect">
            <a:avLst/>
          </a:prstGeom>
          <a:noFill/>
          <a:ln/>
        </p:spPr>
        <p:txBody>
          <a:bodyPr wrap="square" lIns="0" tIns="0" rIns="0" bIns="0" rtlCol="0" anchor="t"/>
          <a:lstStyle/>
          <a:p>
            <a:pPr algn="l" indent="0" marL="0">
              <a:buNone/>
            </a:pPr>
            <a:r>
              <a:rPr lang="en-US" sz="1500" i="1" dirty="0">
                <a:solidFill>
                  <a:srgbClr val="4A5A70"/>
                </a:solidFill>
                <a:latin typeface="Golos Text" pitchFamily="34" charset="0"/>
                <a:ea typeface="Golos Text" pitchFamily="34" charset="-122"/>
                <a:cs typeface="Golos Text" pitchFamily="34" charset="-120"/>
              </a:rPr>
              <a:t>Жасалма интеллект (ЖИ) же жарнама бир сан айтты. Ал чынчылбы?</a:t>
            </a:r>
            <a:endParaRPr lang="en-US" sz="1500" dirty="0"/>
          </a:p>
        </p:txBody>
      </p:sp>
      <p:sp>
        <p:nvSpPr>
          <p:cNvPr id="9" name="Text 7"/>
          <p:cNvSpPr/>
          <p:nvPr/>
        </p:nvSpPr>
        <p:spPr>
          <a:xfrm>
            <a:off x="8897112" y="969264"/>
            <a:ext cx="2926080" cy="310896"/>
          </a:xfrm>
          <a:prstGeom prst="rect">
            <a:avLst/>
          </a:prstGeom>
          <a:noFill/>
          <a:ln/>
        </p:spPr>
        <p:txBody>
          <a:bodyPr wrap="square" lIns="0" tIns="0" rIns="0" bIns="0" rtlCol="0" anchor="ctr"/>
          <a:lstStyle/>
          <a:p>
            <a:pPr algn="r" indent="0" marL="0">
              <a:buNone/>
            </a:pPr>
            <a:r>
              <a:rPr lang="en-US" sz="1200" dirty="0">
                <a:solidFill>
                  <a:srgbClr val="4A5A70"/>
                </a:solidFill>
                <a:latin typeface="Golos Text" pitchFamily="34" charset="0"/>
                <a:ea typeface="Golos Text" pitchFamily="34" charset="-122"/>
                <a:cs typeface="Golos Text" pitchFamily="34" charset="-120"/>
              </a:rPr>
              <a:t>Ой жүгүртүү · 1,5 мүн</a:t>
            </a:r>
            <a:endParaRPr lang="en-US" sz="1200" dirty="0"/>
          </a:p>
        </p:txBody>
      </p:sp>
      <p:sp>
        <p:nvSpPr>
          <p:cNvPr id="10" name="Text 8"/>
          <p:cNvSpPr/>
          <p:nvPr/>
        </p:nvSpPr>
        <p:spPr>
          <a:xfrm>
            <a:off x="365760" y="6492240"/>
            <a:ext cx="5486400" cy="228600"/>
          </a:xfrm>
          <a:prstGeom prst="rect">
            <a:avLst/>
          </a:prstGeom>
          <a:noFill/>
          <a:ln/>
        </p:spPr>
        <p:txBody>
          <a:bodyPr wrap="square" lIns="0" tIns="0" rIns="0" bIns="0" rtlCol="0" anchor="t"/>
          <a:lstStyle/>
          <a:p>
            <a:pPr algn="l" indent="0" marL="0">
              <a:buNone/>
            </a:pPr>
            <a:r>
              <a:rPr lang="en-US" sz="900" dirty="0">
                <a:solidFill>
                  <a:srgbClr val="8D99AA"/>
                </a:solidFill>
                <a:latin typeface="Golos Text" pitchFamily="34" charset="0"/>
                <a:ea typeface="Golos Text" pitchFamily="34" charset="-122"/>
                <a:cs typeface="Golos Text" pitchFamily="34" charset="-120"/>
              </a:rPr>
              <a:t>MathKG · Математика кыргызча</a:t>
            </a:r>
            <a:endParaRPr lang="en-US" sz="900" dirty="0"/>
          </a:p>
        </p:txBody>
      </p:sp>
      <p:sp>
        <p:nvSpPr>
          <p:cNvPr id="11" name="Text 9"/>
          <p:cNvSpPr/>
          <p:nvPr/>
        </p:nvSpPr>
        <p:spPr>
          <a:xfrm>
            <a:off x="7680960" y="6492240"/>
            <a:ext cx="3657600" cy="228600"/>
          </a:xfrm>
          <a:prstGeom prst="rect">
            <a:avLst/>
          </a:prstGeom>
          <a:noFill/>
          <a:ln/>
        </p:spPr>
        <p:txBody>
          <a:bodyPr wrap="square" lIns="0" tIns="0" rIns="0" bIns="0" rtlCol="0" anchor="t"/>
          <a:lstStyle/>
          <a:p>
            <a:pPr algn="r" indent="0" marL="0">
              <a:buNone/>
            </a:pPr>
            <a:r>
              <a:rPr lang="en-US" sz="900" dirty="0">
                <a:solidFill>
                  <a:srgbClr val="8D99AA"/>
                </a:solidFill>
                <a:latin typeface="Golos Text" pitchFamily="34" charset="0"/>
                <a:ea typeface="Golos Text" pitchFamily="34" charset="-122"/>
                <a:cs typeface="Golos Text" pitchFamily="34" charset="-120"/>
              </a:rPr>
              <a:t>MathKG ыкмасы · 1,5 мүн</a:t>
            </a:r>
            <a:endParaRPr lang="en-US" sz="900" dirty="0"/>
          </a:p>
        </p:txBody>
      </p:sp>
      <p:sp>
        <p:nvSpPr>
          <p:cNvPr id="12" name="Text 10"/>
          <p:cNvSpPr/>
          <p:nvPr/>
        </p:nvSpPr>
        <p:spPr>
          <a:xfrm>
            <a:off x="365760" y="1417320"/>
            <a:ext cx="11457432" cy="731520"/>
          </a:xfrm>
          <a:prstGeom prst="roundRect">
            <a:avLst>
              <a:gd name="adj" fmla="val 30000"/>
            </a:avLst>
          </a:prstGeom>
          <a:solidFill>
            <a:srgbClr val="F5EBE3"/>
          </a:solidFill>
          <a:ln w="22225">
            <a:solidFill>
              <a:srgbClr val="A84400"/>
            </a:solidFill>
            <a:prstDash val="solid"/>
          </a:ln>
        </p:spPr>
        <p:txBody>
          <a:bodyPr wrap="square" lIns="177800" tIns="177800" rIns="177800" bIns="177800" rtlCol="0" anchor="ctr"/>
          <a:lstStyle/>
          <a:p>
            <a:pPr algn="l" indent="0" marL="0">
              <a:buNone/>
            </a:pPr>
            <a:r>
              <a:rPr lang="en-US" sz="1700" b="1" dirty="0">
                <a:solidFill>
                  <a:srgbClr val="A84400"/>
                </a:solidFill>
                <a:latin typeface="Golos Text" pitchFamily="34" charset="0"/>
                <a:ea typeface="Golos Text" pitchFamily="34" charset="-122"/>
                <a:cs typeface="Golos Text" pitchFamily="34" charset="-120"/>
              </a:rPr>
              <a:t>ЖИ-жардамчы жазды: </a:t>
            </a:r>
            <a:r>
              <a:rPr lang="en-US" sz="1700" b="1" dirty="0">
                <a:solidFill>
                  <a:srgbClr val="1D3557"/>
                </a:solidFill>
                <a:latin typeface="Golos Text" pitchFamily="34" charset="0"/>
                <a:ea typeface="Golos Text" pitchFamily="34" charset="-122"/>
                <a:cs typeface="Golos Text" pitchFamily="34" charset="-120"/>
              </a:rPr>
              <a:t>«„Ала-Тоо“ фирмасында орточо айлык — 50 000 сом. Бул жерде иштесең, 50 000 сом аласың!»</a:t>
            </a:r>
            <a:endParaRPr lang="en-US" sz="1700" dirty="0"/>
          </a:p>
        </p:txBody>
      </p:sp>
      <p:sp>
        <p:nvSpPr>
          <p:cNvPr id="13" name="Shape 11"/>
          <p:cNvSpPr/>
          <p:nvPr/>
        </p:nvSpPr>
        <p:spPr>
          <a:xfrm>
            <a:off x="365760" y="2286000"/>
            <a:ext cx="6492240" cy="4023360"/>
          </a:xfrm>
          <a:prstGeom prst="roundRect">
            <a:avLst>
              <a:gd name="adj" fmla="val 5000"/>
            </a:avLst>
          </a:prstGeom>
          <a:solidFill>
            <a:srgbClr val="F3F5FB"/>
          </a:solidFill>
          <a:ln/>
        </p:spPr>
      </p:sp>
      <p:sp>
        <p:nvSpPr>
          <p:cNvPr id="14" name="Text 12"/>
          <p:cNvSpPr/>
          <p:nvPr/>
        </p:nvSpPr>
        <p:spPr>
          <a:xfrm>
            <a:off x="594360" y="2395728"/>
            <a:ext cx="5486400" cy="274320"/>
          </a:xfrm>
          <a:prstGeom prst="rect">
            <a:avLst/>
          </a:prstGeom>
          <a:noFill/>
          <a:ln/>
        </p:spPr>
        <p:txBody>
          <a:bodyPr wrap="square" lIns="0" tIns="0" rIns="0" bIns="0" rtlCol="0" anchor="t"/>
          <a:lstStyle/>
          <a:p>
            <a:pPr algn="l" indent="0" marL="0">
              <a:buNone/>
            </a:pPr>
            <a:r>
              <a:rPr lang="en-US" sz="1300" b="1" dirty="0">
                <a:solidFill>
                  <a:srgbClr val="4A5A70"/>
                </a:solidFill>
                <a:latin typeface="Golos Text" pitchFamily="34" charset="0"/>
                <a:ea typeface="Golos Text" pitchFamily="34" charset="-122"/>
                <a:cs typeface="Golos Text" pitchFamily="34" charset="-120"/>
              </a:rPr>
              <a:t>6 КЫЗМАТКЕРДИН АЙЛЫГЫ, СОМ</a:t>
            </a:r>
            <a:endParaRPr lang="en-US" sz="1300" dirty="0"/>
          </a:p>
        </p:txBody>
      </p:sp>
      <p:sp>
        <p:nvSpPr>
          <p:cNvPr id="15" name="Text 13"/>
          <p:cNvSpPr/>
          <p:nvPr/>
        </p:nvSpPr>
        <p:spPr>
          <a:xfrm>
            <a:off x="548640" y="2743200"/>
            <a:ext cx="1234440" cy="384048"/>
          </a:xfrm>
          <a:prstGeom prst="rect">
            <a:avLst/>
          </a:prstGeom>
          <a:noFill/>
          <a:ln/>
        </p:spPr>
        <p:txBody>
          <a:bodyPr wrap="square" lIns="0" tIns="0" rIns="0" bIns="0" rtlCol="0" anchor="ctr"/>
          <a:lstStyle/>
          <a:p>
            <a:pPr algn="r" indent="0" marL="0">
              <a:buNone/>
            </a:pPr>
            <a:r>
              <a:rPr lang="en-US" sz="1400" dirty="0">
                <a:solidFill>
                  <a:srgbClr val="1D3557"/>
                </a:solidFill>
                <a:latin typeface="Golos Text" pitchFamily="34" charset="0"/>
                <a:ea typeface="Golos Text" pitchFamily="34" charset="-122"/>
                <a:cs typeface="Golos Text" pitchFamily="34" charset="-120"/>
              </a:rPr>
              <a:t>Айбек</a:t>
            </a:r>
            <a:endParaRPr lang="en-US" sz="1400" dirty="0"/>
          </a:p>
        </p:txBody>
      </p:sp>
      <p:sp>
        <p:nvSpPr>
          <p:cNvPr id="16" name="Shape 14"/>
          <p:cNvSpPr/>
          <p:nvPr/>
        </p:nvSpPr>
        <p:spPr>
          <a:xfrm>
            <a:off x="1828800" y="2743200"/>
            <a:ext cx="370703" cy="384048"/>
          </a:xfrm>
          <a:prstGeom prst="roundRect">
            <a:avLst>
              <a:gd name="adj" fmla="val 15000"/>
            </a:avLst>
          </a:prstGeom>
          <a:solidFill>
            <a:srgbClr val="E7EAF2"/>
          </a:solidFill>
          <a:ln w="12700">
            <a:solidFill>
              <a:srgbClr val="1D3557"/>
            </a:solidFill>
            <a:prstDash val="solid"/>
          </a:ln>
        </p:spPr>
      </p:sp>
      <p:sp>
        <p:nvSpPr>
          <p:cNvPr id="17" name="Text 15"/>
          <p:cNvSpPr/>
          <p:nvPr/>
        </p:nvSpPr>
        <p:spPr>
          <a:xfrm>
            <a:off x="5349240" y="2743200"/>
            <a:ext cx="1325880" cy="384048"/>
          </a:xfrm>
          <a:prstGeom prst="rect">
            <a:avLst/>
          </a:prstGeom>
          <a:noFill/>
          <a:ln/>
        </p:spPr>
        <p:txBody>
          <a:bodyPr wrap="square" lIns="0" tIns="0" rIns="0" bIns="0" rtlCol="0" anchor="ctr"/>
          <a:lstStyle/>
          <a:p>
            <a:pPr algn="r" indent="0" marL="0">
              <a:buNone/>
            </a:pPr>
            <a:r>
              <a:rPr lang="en-US" sz="1400" b="1" dirty="0">
                <a:solidFill>
                  <a:srgbClr val="1D3557"/>
                </a:solidFill>
                <a:latin typeface="Golos Text" pitchFamily="34" charset="0"/>
                <a:ea typeface="Golos Text" pitchFamily="34" charset="-122"/>
                <a:cs typeface="Golos Text" pitchFamily="34" charset="-120"/>
              </a:rPr>
              <a:t>20 000</a:t>
            </a:r>
            <a:endParaRPr lang="en-US" sz="1400" dirty="0"/>
          </a:p>
        </p:txBody>
      </p:sp>
      <p:sp>
        <p:nvSpPr>
          <p:cNvPr id="18" name="Text 16"/>
          <p:cNvSpPr/>
          <p:nvPr/>
        </p:nvSpPr>
        <p:spPr>
          <a:xfrm>
            <a:off x="548640" y="3291840"/>
            <a:ext cx="1234440" cy="384048"/>
          </a:xfrm>
          <a:prstGeom prst="rect">
            <a:avLst/>
          </a:prstGeom>
          <a:noFill/>
          <a:ln/>
        </p:spPr>
        <p:txBody>
          <a:bodyPr wrap="square" lIns="0" tIns="0" rIns="0" bIns="0" rtlCol="0" anchor="ctr"/>
          <a:lstStyle/>
          <a:p>
            <a:pPr algn="r" indent="0" marL="0">
              <a:buNone/>
            </a:pPr>
            <a:r>
              <a:rPr lang="en-US" sz="1400" dirty="0">
                <a:solidFill>
                  <a:srgbClr val="1D3557"/>
                </a:solidFill>
                <a:latin typeface="Golos Text" pitchFamily="34" charset="0"/>
                <a:ea typeface="Golos Text" pitchFamily="34" charset="-122"/>
                <a:cs typeface="Golos Text" pitchFamily="34" charset="-120"/>
              </a:rPr>
              <a:t>Нургүл</a:t>
            </a:r>
            <a:endParaRPr lang="en-US" sz="1400" dirty="0"/>
          </a:p>
        </p:txBody>
      </p:sp>
      <p:sp>
        <p:nvSpPr>
          <p:cNvPr id="19" name="Shape 17"/>
          <p:cNvSpPr/>
          <p:nvPr/>
        </p:nvSpPr>
        <p:spPr>
          <a:xfrm>
            <a:off x="1828800" y="3291840"/>
            <a:ext cx="407773" cy="384048"/>
          </a:xfrm>
          <a:prstGeom prst="roundRect">
            <a:avLst>
              <a:gd name="adj" fmla="val 15000"/>
            </a:avLst>
          </a:prstGeom>
          <a:solidFill>
            <a:srgbClr val="E7EAF2"/>
          </a:solidFill>
          <a:ln w="12700">
            <a:solidFill>
              <a:srgbClr val="1D3557"/>
            </a:solidFill>
            <a:prstDash val="solid"/>
          </a:ln>
        </p:spPr>
      </p:sp>
      <p:sp>
        <p:nvSpPr>
          <p:cNvPr id="20" name="Text 18"/>
          <p:cNvSpPr/>
          <p:nvPr/>
        </p:nvSpPr>
        <p:spPr>
          <a:xfrm>
            <a:off x="5349240" y="3291840"/>
            <a:ext cx="1325880" cy="384048"/>
          </a:xfrm>
          <a:prstGeom prst="rect">
            <a:avLst/>
          </a:prstGeom>
          <a:noFill/>
          <a:ln/>
        </p:spPr>
        <p:txBody>
          <a:bodyPr wrap="square" lIns="0" tIns="0" rIns="0" bIns="0" rtlCol="0" anchor="ctr"/>
          <a:lstStyle/>
          <a:p>
            <a:pPr algn="r" indent="0" marL="0">
              <a:buNone/>
            </a:pPr>
            <a:r>
              <a:rPr lang="en-US" sz="1400" b="1" dirty="0">
                <a:solidFill>
                  <a:srgbClr val="1D3557"/>
                </a:solidFill>
                <a:latin typeface="Golos Text" pitchFamily="34" charset="0"/>
                <a:ea typeface="Golos Text" pitchFamily="34" charset="-122"/>
                <a:cs typeface="Golos Text" pitchFamily="34" charset="-120"/>
              </a:rPr>
              <a:t>22 000</a:t>
            </a:r>
            <a:endParaRPr lang="en-US" sz="1400" dirty="0"/>
          </a:p>
        </p:txBody>
      </p:sp>
      <p:sp>
        <p:nvSpPr>
          <p:cNvPr id="21" name="Text 19"/>
          <p:cNvSpPr/>
          <p:nvPr/>
        </p:nvSpPr>
        <p:spPr>
          <a:xfrm>
            <a:off x="548640" y="3840480"/>
            <a:ext cx="1234440" cy="384048"/>
          </a:xfrm>
          <a:prstGeom prst="rect">
            <a:avLst/>
          </a:prstGeom>
          <a:noFill/>
          <a:ln/>
        </p:spPr>
        <p:txBody>
          <a:bodyPr wrap="square" lIns="0" tIns="0" rIns="0" bIns="0" rtlCol="0" anchor="ctr"/>
          <a:lstStyle/>
          <a:p>
            <a:pPr algn="r" indent="0" marL="0">
              <a:buNone/>
            </a:pPr>
            <a:r>
              <a:rPr lang="en-US" sz="1400" dirty="0">
                <a:solidFill>
                  <a:srgbClr val="1D3557"/>
                </a:solidFill>
                <a:latin typeface="Golos Text" pitchFamily="34" charset="0"/>
                <a:ea typeface="Golos Text" pitchFamily="34" charset="-122"/>
                <a:cs typeface="Golos Text" pitchFamily="34" charset="-120"/>
              </a:rPr>
              <a:t>Бакыт</a:t>
            </a:r>
            <a:endParaRPr lang="en-US" sz="1400" dirty="0"/>
          </a:p>
        </p:txBody>
      </p:sp>
      <p:sp>
        <p:nvSpPr>
          <p:cNvPr id="22" name="Shape 20"/>
          <p:cNvSpPr/>
          <p:nvPr/>
        </p:nvSpPr>
        <p:spPr>
          <a:xfrm>
            <a:off x="1828800" y="3840480"/>
            <a:ext cx="407773" cy="384048"/>
          </a:xfrm>
          <a:prstGeom prst="roundRect">
            <a:avLst>
              <a:gd name="adj" fmla="val 15000"/>
            </a:avLst>
          </a:prstGeom>
          <a:solidFill>
            <a:srgbClr val="E7EAF2"/>
          </a:solidFill>
          <a:ln w="12700">
            <a:solidFill>
              <a:srgbClr val="1D3557"/>
            </a:solidFill>
            <a:prstDash val="solid"/>
          </a:ln>
        </p:spPr>
      </p:sp>
      <p:sp>
        <p:nvSpPr>
          <p:cNvPr id="23" name="Text 21"/>
          <p:cNvSpPr/>
          <p:nvPr/>
        </p:nvSpPr>
        <p:spPr>
          <a:xfrm>
            <a:off x="5349240" y="3840480"/>
            <a:ext cx="1325880" cy="384048"/>
          </a:xfrm>
          <a:prstGeom prst="rect">
            <a:avLst/>
          </a:prstGeom>
          <a:noFill/>
          <a:ln/>
        </p:spPr>
        <p:txBody>
          <a:bodyPr wrap="square" lIns="0" tIns="0" rIns="0" bIns="0" rtlCol="0" anchor="ctr"/>
          <a:lstStyle/>
          <a:p>
            <a:pPr algn="r" indent="0" marL="0">
              <a:buNone/>
            </a:pPr>
            <a:r>
              <a:rPr lang="en-US" sz="1400" b="1" dirty="0">
                <a:solidFill>
                  <a:srgbClr val="1D3557"/>
                </a:solidFill>
                <a:latin typeface="Golos Text" pitchFamily="34" charset="0"/>
                <a:ea typeface="Golos Text" pitchFamily="34" charset="-122"/>
                <a:cs typeface="Golos Text" pitchFamily="34" charset="-120"/>
              </a:rPr>
              <a:t>22 000</a:t>
            </a:r>
            <a:endParaRPr lang="en-US" sz="1400" dirty="0"/>
          </a:p>
        </p:txBody>
      </p:sp>
      <p:sp>
        <p:nvSpPr>
          <p:cNvPr id="24" name="Text 22"/>
          <p:cNvSpPr/>
          <p:nvPr/>
        </p:nvSpPr>
        <p:spPr>
          <a:xfrm>
            <a:off x="548640" y="4389120"/>
            <a:ext cx="1234440" cy="384048"/>
          </a:xfrm>
          <a:prstGeom prst="rect">
            <a:avLst/>
          </a:prstGeom>
          <a:noFill/>
          <a:ln/>
        </p:spPr>
        <p:txBody>
          <a:bodyPr wrap="square" lIns="0" tIns="0" rIns="0" bIns="0" rtlCol="0" anchor="ctr"/>
          <a:lstStyle/>
          <a:p>
            <a:pPr algn="r" indent="0" marL="0">
              <a:buNone/>
            </a:pPr>
            <a:r>
              <a:rPr lang="en-US" sz="1400" dirty="0">
                <a:solidFill>
                  <a:srgbClr val="1D3557"/>
                </a:solidFill>
                <a:latin typeface="Golos Text" pitchFamily="34" charset="0"/>
                <a:ea typeface="Golos Text" pitchFamily="34" charset="-122"/>
                <a:cs typeface="Golos Text" pitchFamily="34" charset="-120"/>
              </a:rPr>
              <a:t>Чолпон</a:t>
            </a:r>
            <a:endParaRPr lang="en-US" sz="1400" dirty="0"/>
          </a:p>
        </p:txBody>
      </p:sp>
      <p:sp>
        <p:nvSpPr>
          <p:cNvPr id="25" name="Shape 23"/>
          <p:cNvSpPr/>
          <p:nvPr/>
        </p:nvSpPr>
        <p:spPr>
          <a:xfrm>
            <a:off x="1828800" y="4389120"/>
            <a:ext cx="463378" cy="384048"/>
          </a:xfrm>
          <a:prstGeom prst="roundRect">
            <a:avLst>
              <a:gd name="adj" fmla="val 15000"/>
            </a:avLst>
          </a:prstGeom>
          <a:solidFill>
            <a:srgbClr val="E7EAF2"/>
          </a:solidFill>
          <a:ln w="12700">
            <a:solidFill>
              <a:srgbClr val="1D3557"/>
            </a:solidFill>
            <a:prstDash val="solid"/>
          </a:ln>
        </p:spPr>
      </p:sp>
      <p:sp>
        <p:nvSpPr>
          <p:cNvPr id="26" name="Text 24"/>
          <p:cNvSpPr/>
          <p:nvPr/>
        </p:nvSpPr>
        <p:spPr>
          <a:xfrm>
            <a:off x="5349240" y="4389120"/>
            <a:ext cx="1325880" cy="384048"/>
          </a:xfrm>
          <a:prstGeom prst="rect">
            <a:avLst/>
          </a:prstGeom>
          <a:noFill/>
          <a:ln/>
        </p:spPr>
        <p:txBody>
          <a:bodyPr wrap="square" lIns="0" tIns="0" rIns="0" bIns="0" rtlCol="0" anchor="ctr"/>
          <a:lstStyle/>
          <a:p>
            <a:pPr algn="r" indent="0" marL="0">
              <a:buNone/>
            </a:pPr>
            <a:r>
              <a:rPr lang="en-US" sz="1400" b="1" dirty="0">
                <a:solidFill>
                  <a:srgbClr val="1D3557"/>
                </a:solidFill>
                <a:latin typeface="Golos Text" pitchFamily="34" charset="0"/>
                <a:ea typeface="Golos Text" pitchFamily="34" charset="-122"/>
                <a:cs typeface="Golos Text" pitchFamily="34" charset="-120"/>
              </a:rPr>
              <a:t>25 000</a:t>
            </a:r>
            <a:endParaRPr lang="en-US" sz="1400" dirty="0"/>
          </a:p>
        </p:txBody>
      </p:sp>
      <p:sp>
        <p:nvSpPr>
          <p:cNvPr id="27" name="Text 25"/>
          <p:cNvSpPr/>
          <p:nvPr/>
        </p:nvSpPr>
        <p:spPr>
          <a:xfrm>
            <a:off x="548640" y="4937760"/>
            <a:ext cx="1234440" cy="384048"/>
          </a:xfrm>
          <a:prstGeom prst="rect">
            <a:avLst/>
          </a:prstGeom>
          <a:noFill/>
          <a:ln/>
        </p:spPr>
        <p:txBody>
          <a:bodyPr wrap="square" lIns="0" tIns="0" rIns="0" bIns="0" rtlCol="0" anchor="ctr"/>
          <a:lstStyle/>
          <a:p>
            <a:pPr algn="r" indent="0" marL="0">
              <a:buNone/>
            </a:pPr>
            <a:r>
              <a:rPr lang="en-US" sz="1400" dirty="0">
                <a:solidFill>
                  <a:srgbClr val="1D3557"/>
                </a:solidFill>
                <a:latin typeface="Golos Text" pitchFamily="34" charset="0"/>
                <a:ea typeface="Golos Text" pitchFamily="34" charset="-122"/>
                <a:cs typeface="Golos Text" pitchFamily="34" charset="-120"/>
              </a:rPr>
              <a:t>Улан</a:t>
            </a:r>
            <a:endParaRPr lang="en-US" sz="1400" dirty="0"/>
          </a:p>
        </p:txBody>
      </p:sp>
      <p:sp>
        <p:nvSpPr>
          <p:cNvPr id="28" name="Shape 26"/>
          <p:cNvSpPr/>
          <p:nvPr/>
        </p:nvSpPr>
        <p:spPr>
          <a:xfrm>
            <a:off x="1828800" y="4937760"/>
            <a:ext cx="481914" cy="384048"/>
          </a:xfrm>
          <a:prstGeom prst="roundRect">
            <a:avLst>
              <a:gd name="adj" fmla="val 15000"/>
            </a:avLst>
          </a:prstGeom>
          <a:solidFill>
            <a:srgbClr val="E7EAF2"/>
          </a:solidFill>
          <a:ln w="12700">
            <a:solidFill>
              <a:srgbClr val="1D3557"/>
            </a:solidFill>
            <a:prstDash val="solid"/>
          </a:ln>
        </p:spPr>
      </p:sp>
      <p:sp>
        <p:nvSpPr>
          <p:cNvPr id="29" name="Text 27"/>
          <p:cNvSpPr/>
          <p:nvPr/>
        </p:nvSpPr>
        <p:spPr>
          <a:xfrm>
            <a:off x="5349240" y="4937760"/>
            <a:ext cx="1325880" cy="384048"/>
          </a:xfrm>
          <a:prstGeom prst="rect">
            <a:avLst/>
          </a:prstGeom>
          <a:noFill/>
          <a:ln/>
        </p:spPr>
        <p:txBody>
          <a:bodyPr wrap="square" lIns="0" tIns="0" rIns="0" bIns="0" rtlCol="0" anchor="ctr"/>
          <a:lstStyle/>
          <a:p>
            <a:pPr algn="r" indent="0" marL="0">
              <a:buNone/>
            </a:pPr>
            <a:r>
              <a:rPr lang="en-US" sz="1400" b="1" dirty="0">
                <a:solidFill>
                  <a:srgbClr val="1D3557"/>
                </a:solidFill>
                <a:latin typeface="Golos Text" pitchFamily="34" charset="0"/>
                <a:ea typeface="Golos Text" pitchFamily="34" charset="-122"/>
                <a:cs typeface="Golos Text" pitchFamily="34" charset="-120"/>
              </a:rPr>
              <a:t>26 000</a:t>
            </a:r>
            <a:endParaRPr lang="en-US" sz="1400" dirty="0"/>
          </a:p>
        </p:txBody>
      </p:sp>
      <p:sp>
        <p:nvSpPr>
          <p:cNvPr id="30" name="Text 28"/>
          <p:cNvSpPr/>
          <p:nvPr/>
        </p:nvSpPr>
        <p:spPr>
          <a:xfrm>
            <a:off x="548640" y="5486400"/>
            <a:ext cx="1234440" cy="384048"/>
          </a:xfrm>
          <a:prstGeom prst="rect">
            <a:avLst/>
          </a:prstGeom>
          <a:noFill/>
          <a:ln/>
        </p:spPr>
        <p:txBody>
          <a:bodyPr wrap="square" lIns="0" tIns="0" rIns="0" bIns="0" rtlCol="0" anchor="ctr"/>
          <a:lstStyle/>
          <a:p>
            <a:pPr algn="r" indent="0" marL="0">
              <a:buNone/>
            </a:pPr>
            <a:r>
              <a:rPr lang="en-US" sz="1400" b="1" dirty="0">
                <a:solidFill>
                  <a:srgbClr val="1D3557"/>
                </a:solidFill>
                <a:latin typeface="Golos Text" pitchFamily="34" charset="0"/>
                <a:ea typeface="Golos Text" pitchFamily="34" charset="-122"/>
                <a:cs typeface="Golos Text" pitchFamily="34" charset="-120"/>
              </a:rPr>
              <a:t>Директор</a:t>
            </a:r>
            <a:endParaRPr lang="en-US" sz="1400" dirty="0"/>
          </a:p>
        </p:txBody>
      </p:sp>
      <p:sp>
        <p:nvSpPr>
          <p:cNvPr id="31" name="Shape 29"/>
          <p:cNvSpPr/>
          <p:nvPr/>
        </p:nvSpPr>
        <p:spPr>
          <a:xfrm>
            <a:off x="1828800" y="5486400"/>
            <a:ext cx="3429000" cy="384048"/>
          </a:xfrm>
          <a:prstGeom prst="roundRect">
            <a:avLst>
              <a:gd name="adj" fmla="val 15000"/>
            </a:avLst>
          </a:prstGeom>
          <a:solidFill>
            <a:srgbClr val="F5EBE3"/>
          </a:solidFill>
          <a:ln w="12700">
            <a:solidFill>
              <a:srgbClr val="A84400"/>
            </a:solidFill>
            <a:prstDash val="solid"/>
          </a:ln>
        </p:spPr>
      </p:sp>
      <p:sp>
        <p:nvSpPr>
          <p:cNvPr id="32" name="Text 30"/>
          <p:cNvSpPr/>
          <p:nvPr/>
        </p:nvSpPr>
        <p:spPr>
          <a:xfrm>
            <a:off x="5349240" y="5486400"/>
            <a:ext cx="1325880" cy="384048"/>
          </a:xfrm>
          <a:prstGeom prst="rect">
            <a:avLst/>
          </a:prstGeom>
          <a:noFill/>
          <a:ln/>
        </p:spPr>
        <p:txBody>
          <a:bodyPr wrap="square" lIns="0" tIns="0" rIns="0" bIns="0" rtlCol="0" anchor="ctr"/>
          <a:lstStyle/>
          <a:p>
            <a:pPr algn="r" indent="0" marL="0">
              <a:buNone/>
            </a:pPr>
            <a:r>
              <a:rPr lang="en-US" sz="1400" b="1" dirty="0">
                <a:solidFill>
                  <a:srgbClr val="A84400"/>
                </a:solidFill>
                <a:latin typeface="Golos Text" pitchFamily="34" charset="0"/>
                <a:ea typeface="Golos Text" pitchFamily="34" charset="-122"/>
                <a:cs typeface="Golos Text" pitchFamily="34" charset="-120"/>
              </a:rPr>
              <a:t>185 000</a:t>
            </a:r>
            <a:endParaRPr lang="en-US" sz="1400" dirty="0"/>
          </a:p>
        </p:txBody>
      </p:sp>
      <p:sp>
        <p:nvSpPr>
          <p:cNvPr id="33" name="anim1_mean"/>
          <p:cNvSpPr/>
          <p:nvPr/>
        </p:nvSpPr>
        <p:spPr>
          <a:xfrm>
            <a:off x="2755557" y="2651760"/>
            <a:ext cx="0" cy="3310128"/>
          </a:xfrm>
          <a:prstGeom prst="line">
            <a:avLst/>
          </a:prstGeom>
          <a:noFill/>
          <a:ln w="31750">
            <a:solidFill>
              <a:srgbClr val="A84400"/>
            </a:solidFill>
            <a:prstDash val="dash"/>
          </a:ln>
        </p:spPr>
      </p:sp>
      <p:sp>
        <p:nvSpPr>
          <p:cNvPr id="34" name="anim1_mean"/>
          <p:cNvSpPr/>
          <p:nvPr/>
        </p:nvSpPr>
        <p:spPr>
          <a:xfrm>
            <a:off x="2664117" y="5980176"/>
            <a:ext cx="1828800" cy="292608"/>
          </a:xfrm>
          <a:prstGeom prst="rect">
            <a:avLst/>
          </a:prstGeom>
          <a:noFill/>
          <a:ln/>
        </p:spPr>
        <p:txBody>
          <a:bodyPr wrap="square" lIns="0" tIns="0" rIns="0" bIns="0" rtlCol="0" anchor="t"/>
          <a:lstStyle/>
          <a:p>
            <a:pPr algn="l" indent="0" marL="0">
              <a:buNone/>
            </a:pPr>
            <a:r>
              <a:rPr lang="en-US" sz="1300" b="1" dirty="0">
                <a:solidFill>
                  <a:srgbClr val="A84400"/>
                </a:solidFill>
                <a:latin typeface="Golos Text" pitchFamily="34" charset="0"/>
                <a:ea typeface="Golos Text" pitchFamily="34" charset="-122"/>
                <a:cs typeface="Golos Text" pitchFamily="34" charset="-120"/>
              </a:rPr>
              <a:t>орточо 50 000</a:t>
            </a:r>
            <a:endParaRPr lang="en-US" sz="1300" dirty="0"/>
          </a:p>
        </p:txBody>
      </p:sp>
      <p:sp>
        <p:nvSpPr>
          <p:cNvPr id="35" name="anim3_med"/>
          <p:cNvSpPr/>
          <p:nvPr/>
        </p:nvSpPr>
        <p:spPr>
          <a:xfrm>
            <a:off x="2264376" y="2651760"/>
            <a:ext cx="0" cy="3310128"/>
          </a:xfrm>
          <a:prstGeom prst="line">
            <a:avLst/>
          </a:prstGeom>
          <a:noFill/>
          <a:ln w="31750">
            <a:solidFill>
              <a:srgbClr val="007A5A"/>
            </a:solidFill>
            <a:prstDash val="dash"/>
          </a:ln>
        </p:spPr>
      </p:sp>
      <p:sp>
        <p:nvSpPr>
          <p:cNvPr id="36" name="anim3_med"/>
          <p:cNvSpPr/>
          <p:nvPr/>
        </p:nvSpPr>
        <p:spPr>
          <a:xfrm>
            <a:off x="481296" y="5980176"/>
            <a:ext cx="1691640" cy="292608"/>
          </a:xfrm>
          <a:prstGeom prst="rect">
            <a:avLst/>
          </a:prstGeom>
          <a:noFill/>
          <a:ln/>
        </p:spPr>
        <p:txBody>
          <a:bodyPr wrap="square" lIns="0" tIns="0" rIns="0" bIns="0" rtlCol="0" anchor="t"/>
          <a:lstStyle/>
          <a:p>
            <a:pPr algn="r" indent="0" marL="0">
              <a:buNone/>
            </a:pPr>
            <a:r>
              <a:rPr lang="en-US" sz="1300" b="1" dirty="0">
                <a:solidFill>
                  <a:srgbClr val="007A5A"/>
                </a:solidFill>
                <a:latin typeface="Golos Text" pitchFamily="34" charset="0"/>
                <a:ea typeface="Golos Text" pitchFamily="34" charset="-122"/>
                <a:cs typeface="Golos Text" pitchFamily="34" charset="-120"/>
              </a:rPr>
              <a:t>медиана 23 500</a:t>
            </a:r>
            <a:endParaRPr lang="en-US" sz="1300" dirty="0"/>
          </a:p>
        </p:txBody>
      </p:sp>
      <p:sp>
        <p:nvSpPr>
          <p:cNvPr id="37" name="anim1_mean"/>
          <p:cNvSpPr/>
          <p:nvPr/>
        </p:nvSpPr>
        <p:spPr>
          <a:xfrm>
            <a:off x="7040880" y="2286000"/>
            <a:ext cx="4782312" cy="566928"/>
          </a:xfrm>
          <a:prstGeom prst="roundRect">
            <a:avLst>
              <a:gd name="adj" fmla="val 25000"/>
            </a:avLst>
          </a:prstGeom>
          <a:solidFill>
            <a:srgbClr val="FFFFFF"/>
          </a:solidFill>
          <a:ln w="15875">
            <a:solidFill>
              <a:srgbClr val="E7EAF2"/>
            </a:solidFill>
            <a:prstDash val="solid"/>
          </a:ln>
        </p:spPr>
      </p:sp>
      <p:sp>
        <p:nvSpPr>
          <p:cNvPr id="38" name="anim1_mean"/>
          <p:cNvSpPr/>
          <p:nvPr/>
        </p:nvSpPr>
        <p:spPr>
          <a:xfrm>
            <a:off x="7150608" y="2359152"/>
            <a:ext cx="420624" cy="420624"/>
          </a:xfrm>
          <a:prstGeom prst="roundRect">
            <a:avLst>
              <a:gd name="adj" fmla="val 50000"/>
            </a:avLst>
          </a:prstGeom>
          <a:solidFill>
            <a:srgbClr val="24418C"/>
          </a:solidFill>
          <a:ln w="19050">
            <a:solidFill>
              <a:srgbClr val="24418C"/>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1</a:t>
            </a:r>
            <a:endParaRPr lang="en-US" sz="1600" dirty="0"/>
          </a:p>
        </p:txBody>
      </p:sp>
      <p:sp>
        <p:nvSpPr>
          <p:cNvPr id="39" name="anim1_mean"/>
          <p:cNvSpPr/>
          <p:nvPr/>
        </p:nvSpPr>
        <p:spPr>
          <a:xfrm>
            <a:off x="7699248" y="2286000"/>
            <a:ext cx="4005072" cy="566928"/>
          </a:xfrm>
          <a:prstGeom prst="rect">
            <a:avLst/>
          </a:prstGeom>
          <a:noFill/>
          <a:ln/>
        </p:spPr>
        <p:txBody>
          <a:bodyPr wrap="square" lIns="0" tIns="0" rIns="0" bIns="0" rtlCol="0" anchor="ctr"/>
          <a:lstStyle/>
          <a:p>
            <a:pPr algn="l" indent="0" marL="0">
              <a:buNone/>
            </a:pPr>
            <a:r>
              <a:rPr lang="en-US" sz="1500" dirty="0">
                <a:solidFill>
                  <a:srgbClr val="1D3557"/>
                </a:solidFill>
                <a:latin typeface="Golos Text" pitchFamily="34" charset="0"/>
                <a:ea typeface="Golos Text" pitchFamily="34" charset="-122"/>
                <a:cs typeface="Golos Text" pitchFamily="34" charset="-120"/>
              </a:rPr>
              <a:t>300 000 : 6 = 50 000 — эсеп туура</a:t>
            </a:r>
            <a:endParaRPr lang="en-US" sz="1500" dirty="0"/>
          </a:p>
        </p:txBody>
      </p:sp>
      <p:sp>
        <p:nvSpPr>
          <p:cNvPr id="40" name="anim2_few"/>
          <p:cNvSpPr/>
          <p:nvPr/>
        </p:nvSpPr>
        <p:spPr>
          <a:xfrm>
            <a:off x="7040880" y="2944368"/>
            <a:ext cx="4782312" cy="566928"/>
          </a:xfrm>
          <a:prstGeom prst="roundRect">
            <a:avLst>
              <a:gd name="adj" fmla="val 25000"/>
            </a:avLst>
          </a:prstGeom>
          <a:solidFill>
            <a:srgbClr val="FFFFFF"/>
          </a:solidFill>
          <a:ln w="15875">
            <a:solidFill>
              <a:srgbClr val="E7EAF2"/>
            </a:solidFill>
            <a:prstDash val="solid"/>
          </a:ln>
        </p:spPr>
      </p:sp>
      <p:sp>
        <p:nvSpPr>
          <p:cNvPr id="41" name="anim2_few"/>
          <p:cNvSpPr/>
          <p:nvPr/>
        </p:nvSpPr>
        <p:spPr>
          <a:xfrm>
            <a:off x="7150608" y="3017520"/>
            <a:ext cx="420624" cy="420624"/>
          </a:xfrm>
          <a:prstGeom prst="roundRect">
            <a:avLst>
              <a:gd name="adj" fmla="val 50000"/>
            </a:avLst>
          </a:prstGeom>
          <a:solidFill>
            <a:srgbClr val="A84400"/>
          </a:solidFill>
          <a:ln w="19050">
            <a:solidFill>
              <a:srgbClr val="A84400"/>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2</a:t>
            </a:r>
            <a:endParaRPr lang="en-US" sz="1600" dirty="0"/>
          </a:p>
        </p:txBody>
      </p:sp>
      <p:sp>
        <p:nvSpPr>
          <p:cNvPr id="42" name="anim2_few"/>
          <p:cNvSpPr/>
          <p:nvPr/>
        </p:nvSpPr>
        <p:spPr>
          <a:xfrm>
            <a:off x="7699248" y="2944368"/>
            <a:ext cx="4005072" cy="566928"/>
          </a:xfrm>
          <a:prstGeom prst="rect">
            <a:avLst/>
          </a:prstGeom>
          <a:noFill/>
          <a:ln/>
        </p:spPr>
        <p:txBody>
          <a:bodyPr wrap="square" lIns="0" tIns="0" rIns="0" bIns="0" rtlCol="0" anchor="ctr"/>
          <a:lstStyle/>
          <a:p>
            <a:pPr algn="l" indent="0" marL="0">
              <a:buNone/>
            </a:pPr>
            <a:r>
              <a:rPr lang="en-US" sz="1500" dirty="0">
                <a:solidFill>
                  <a:srgbClr val="1D3557"/>
                </a:solidFill>
                <a:latin typeface="Golos Text" pitchFamily="34" charset="0"/>
                <a:ea typeface="Golos Text" pitchFamily="34" charset="-122"/>
                <a:cs typeface="Golos Text" pitchFamily="34" charset="-120"/>
              </a:rPr>
              <a:t>6 кишинин 5и 50 000дөн аз алат!</a:t>
            </a:r>
            <a:endParaRPr lang="en-US" sz="1500" dirty="0"/>
          </a:p>
        </p:txBody>
      </p:sp>
      <p:sp>
        <p:nvSpPr>
          <p:cNvPr id="43" name="anim3_med"/>
          <p:cNvSpPr/>
          <p:nvPr/>
        </p:nvSpPr>
        <p:spPr>
          <a:xfrm>
            <a:off x="7040880" y="3602736"/>
            <a:ext cx="4782312" cy="566928"/>
          </a:xfrm>
          <a:prstGeom prst="roundRect">
            <a:avLst>
              <a:gd name="adj" fmla="val 25000"/>
            </a:avLst>
          </a:prstGeom>
          <a:solidFill>
            <a:srgbClr val="FFFFFF"/>
          </a:solidFill>
          <a:ln w="15875">
            <a:solidFill>
              <a:srgbClr val="E7EAF2"/>
            </a:solidFill>
            <a:prstDash val="solid"/>
          </a:ln>
        </p:spPr>
      </p:sp>
      <p:sp>
        <p:nvSpPr>
          <p:cNvPr id="44" name="anim3_med"/>
          <p:cNvSpPr/>
          <p:nvPr/>
        </p:nvSpPr>
        <p:spPr>
          <a:xfrm>
            <a:off x="7150608" y="3675888"/>
            <a:ext cx="420624" cy="420624"/>
          </a:xfrm>
          <a:prstGeom prst="roundRect">
            <a:avLst>
              <a:gd name="adj" fmla="val 50000"/>
            </a:avLst>
          </a:prstGeom>
          <a:solidFill>
            <a:srgbClr val="007A5A"/>
          </a:solidFill>
          <a:ln w="19050">
            <a:solidFill>
              <a:srgbClr val="007A5A"/>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3</a:t>
            </a:r>
            <a:endParaRPr lang="en-US" sz="1600" dirty="0"/>
          </a:p>
        </p:txBody>
      </p:sp>
      <p:sp>
        <p:nvSpPr>
          <p:cNvPr id="45" name="anim3_med"/>
          <p:cNvSpPr/>
          <p:nvPr/>
        </p:nvSpPr>
        <p:spPr>
          <a:xfrm>
            <a:off x="7699248" y="3602736"/>
            <a:ext cx="4005072" cy="566928"/>
          </a:xfrm>
          <a:prstGeom prst="rect">
            <a:avLst/>
          </a:prstGeom>
          <a:noFill/>
          <a:ln/>
        </p:spPr>
        <p:txBody>
          <a:bodyPr wrap="square" lIns="0" tIns="0" rIns="0" bIns="0" rtlCol="0" anchor="ctr"/>
          <a:lstStyle/>
          <a:p>
            <a:pPr algn="l" indent="0" marL="0">
              <a:buNone/>
            </a:pPr>
            <a:r>
              <a:rPr lang="en-US" sz="1500" dirty="0">
                <a:solidFill>
                  <a:srgbClr val="1D3557"/>
                </a:solidFill>
                <a:latin typeface="Golos Text" pitchFamily="34" charset="0"/>
                <a:ea typeface="Golos Text" pitchFamily="34" charset="-122"/>
                <a:cs typeface="Golos Text" pitchFamily="34" charset="-120"/>
              </a:rPr>
              <a:t>Медиана: (22 000 + 25 000) : 2 = 23 500</a:t>
            </a:r>
            <a:endParaRPr lang="en-US" sz="1500" dirty="0"/>
          </a:p>
        </p:txBody>
      </p:sp>
      <p:sp>
        <p:nvSpPr>
          <p:cNvPr id="46" name="anim4_mod"/>
          <p:cNvSpPr/>
          <p:nvPr/>
        </p:nvSpPr>
        <p:spPr>
          <a:xfrm>
            <a:off x="7040880" y="4261104"/>
            <a:ext cx="4782312" cy="566928"/>
          </a:xfrm>
          <a:prstGeom prst="roundRect">
            <a:avLst>
              <a:gd name="adj" fmla="val 25000"/>
            </a:avLst>
          </a:prstGeom>
          <a:solidFill>
            <a:srgbClr val="FFFFFF"/>
          </a:solidFill>
          <a:ln w="15875">
            <a:solidFill>
              <a:srgbClr val="E7EAF2"/>
            </a:solidFill>
            <a:prstDash val="solid"/>
          </a:ln>
        </p:spPr>
      </p:sp>
      <p:sp>
        <p:nvSpPr>
          <p:cNvPr id="47" name="anim4_mod"/>
          <p:cNvSpPr/>
          <p:nvPr/>
        </p:nvSpPr>
        <p:spPr>
          <a:xfrm>
            <a:off x="7150608" y="4334256"/>
            <a:ext cx="420624" cy="420624"/>
          </a:xfrm>
          <a:prstGeom prst="roundRect">
            <a:avLst>
              <a:gd name="adj" fmla="val 50000"/>
            </a:avLst>
          </a:prstGeom>
          <a:solidFill>
            <a:srgbClr val="24418C"/>
          </a:solidFill>
          <a:ln w="19050">
            <a:solidFill>
              <a:srgbClr val="24418C"/>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4</a:t>
            </a:r>
            <a:endParaRPr lang="en-US" sz="1600" dirty="0"/>
          </a:p>
        </p:txBody>
      </p:sp>
      <p:sp>
        <p:nvSpPr>
          <p:cNvPr id="48" name="anim4_mod"/>
          <p:cNvSpPr/>
          <p:nvPr/>
        </p:nvSpPr>
        <p:spPr>
          <a:xfrm>
            <a:off x="7699248" y="4261104"/>
            <a:ext cx="4005072" cy="566928"/>
          </a:xfrm>
          <a:prstGeom prst="rect">
            <a:avLst/>
          </a:prstGeom>
          <a:noFill/>
          <a:ln/>
        </p:spPr>
        <p:txBody>
          <a:bodyPr wrap="square" lIns="0" tIns="0" rIns="0" bIns="0" rtlCol="0" anchor="ctr"/>
          <a:lstStyle/>
          <a:p>
            <a:pPr algn="l" indent="0" marL="0">
              <a:buNone/>
            </a:pPr>
            <a:r>
              <a:rPr lang="en-US" sz="1500" dirty="0">
                <a:solidFill>
                  <a:srgbClr val="1D3557"/>
                </a:solidFill>
                <a:latin typeface="Golos Text" pitchFamily="34" charset="0"/>
                <a:ea typeface="Golos Text" pitchFamily="34" charset="-122"/>
                <a:cs typeface="Golos Text" pitchFamily="34" charset="-120"/>
              </a:rPr>
              <a:t>Мода: 22 000</a:t>
            </a:r>
            <a:endParaRPr lang="en-US" sz="1500" dirty="0"/>
          </a:p>
        </p:txBody>
      </p:sp>
      <p:sp>
        <p:nvSpPr>
          <p:cNvPr id="49" name="anim5_ans"/>
          <p:cNvSpPr/>
          <p:nvPr/>
        </p:nvSpPr>
        <p:spPr>
          <a:xfrm>
            <a:off x="7040880" y="4983480"/>
            <a:ext cx="4782312" cy="1325880"/>
          </a:xfrm>
          <a:prstGeom prst="roundRect">
            <a:avLst>
              <a:gd name="adj" fmla="val 30000"/>
            </a:avLst>
          </a:prstGeom>
          <a:solidFill>
            <a:srgbClr val="D1E7E1"/>
          </a:solidFill>
          <a:ln w="28575">
            <a:solidFill>
              <a:srgbClr val="007A5A"/>
            </a:solidFill>
            <a:prstDash val="solid"/>
          </a:ln>
        </p:spPr>
        <p:txBody>
          <a:bodyPr wrap="square" lIns="76200" tIns="76200" rIns="76200" bIns="76200" rtlCol="0" anchor="ctr"/>
          <a:lstStyle/>
          <a:p>
            <a:pPr algn="ctr" indent="0" marL="0">
              <a:buNone/>
            </a:pPr>
            <a:r>
              <a:rPr lang="en-US" sz="1500" b="1" dirty="0">
                <a:solidFill>
                  <a:srgbClr val="007A5A"/>
                </a:solidFill>
                <a:latin typeface="Golos Text" pitchFamily="34" charset="0"/>
                <a:ea typeface="Golos Text" pitchFamily="34" charset="-122"/>
                <a:cs typeface="Golos Text" pitchFamily="34" charset="-120"/>
              </a:rPr>
              <a:t>Кадимки кызматкер үчүн чынчыл өлчөм — медиана: 23 500 сом.</a:t>
            </a:r>
            <a:endParaRPr lang="en-US" sz="1500" dirty="0"/>
          </a:p>
          <a:p>
            <a:pPr algn="ctr" indent="0" marL="0">
              <a:buNone/>
            </a:pPr>
            <a:r>
              <a:rPr lang="en-US" sz="1500" b="1" dirty="0">
                <a:solidFill>
                  <a:srgbClr val="007A5A"/>
                </a:solidFill>
                <a:latin typeface="Golos Text" pitchFamily="34" charset="0"/>
                <a:ea typeface="Golos Text" pitchFamily="34" charset="-122"/>
                <a:cs typeface="Golos Text" pitchFamily="34" charset="-120"/>
              </a:rPr>
              <a:t>Текшер: ким кирди? өтө чоң сан барбы?</a:t>
            </a:r>
            <a:endParaRPr lang="en-US" sz="1500" dirty="0"/>
          </a:p>
        </p:txBody>
      </p:sp>
      <p:sp>
        <p:nvSpPr>
          <p:cNvPr id="50" name="Slide Number Placeholder 0"/>
          <p:cNvSpPr>
            <a:spLocks noGrp="1"/>
          </p:cNvSpPr>
          <p:nvPr>
            <p:ph type="sldNum" sz="quarter" idx="4294967295"/>
          </p:nvPr>
        </p:nvSpPr>
        <p:spPr>
          <a:xfrm>
            <a:off x="11384280" y="6492240"/>
            <a:ext cx="438912"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99AA"/>
                </a:solidFill>
                <a:latin typeface="Golos Text"/>
                <a:ea typeface="Golos Text"/>
                <a:cs typeface="Golos Text"/>
              </a:defRPr>
            </a:lvl1pPr>
          </a:lstStyle>
          <a:p>
            <a:pPr algn="r"/>
            <a:fld id="{F7021451-1387-4CA6-816F-3879F97B5CBC}" type="slidenum">
              <a:rPr b="0" lang="en-US"/>
              <a:t>21</a:t>
            </a:fld>
            <a:endParaRPr lang="en-US"/>
          </a:p>
        </p:txBody>
      </p:sp>
    </p:spTree>
  </p:cSld>
  <p:clrMapOvr>
    <a:masterClrMapping/>
  </p:clrMapOvr>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3"/>
                                        </p:tgtEl>
                                        <p:attrNameLst>
                                          <p:attrName>style.visibility</p:attrName>
                                        </p:attrNameLst>
                                      </p:cBhvr>
                                      <p:to>
                                        <p:strVal val="visible"/>
                                      </p:to>
                                    </p:set>
                                    <p:animEffect transition="in" filter="fade">
                                      <p:cBhvr>
                                        <p:cTn id="5" dur="600"/>
                                        <p:tgtEl>
                                          <p:spTgt spid="3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4"/>
                                        </p:tgtEl>
                                        <p:attrNameLst>
                                          <p:attrName>style.visibility</p:attrName>
                                        </p:attrNameLst>
                                      </p:cBhvr>
                                      <p:to>
                                        <p:strVal val="visible"/>
                                      </p:to>
                                    </p:set>
                                    <p:animEffect transition="in" filter="fade">
                                      <p:cBhvr>
                                        <p:cTn id="8" dur="600"/>
                                        <p:tgtEl>
                                          <p:spTgt spid="34"/>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600"/>
                                        <p:tgtEl>
                                          <p:spTgt spid="3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8"/>
                                        </p:tgtEl>
                                        <p:attrNameLst>
                                          <p:attrName>style.visibility</p:attrName>
                                        </p:attrNameLst>
                                      </p:cBhvr>
                                      <p:to>
                                        <p:strVal val="visible"/>
                                      </p:to>
                                    </p:set>
                                    <p:animEffect transition="in" filter="fade">
                                      <p:cBhvr>
                                        <p:cTn id="14" dur="600"/>
                                        <p:tgtEl>
                                          <p:spTgt spid="3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600"/>
                                        <p:tgtEl>
                                          <p:spTgt spid="39"/>
                                        </p:tgtEl>
                                      </p:cBhvr>
                                    </p:animEffect>
                                  </p:childTnLst>
                                </p:cTn>
                              </p:par>
                            </p:childTnLst>
                          </p:cTn>
                        </p:par>
                      </p:childTnLst>
                    </p:cTn>
                  </p:par>
                  <p:par>
                    <p:cTn id="29" fill="hold">
                      <p:stCondLst>
                        <p:cond delay="indefinite"/>
                      </p:stCondLst>
                      <p:childTnLst>
                        <p:par>
                          <p:cTn id="30"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600"/>
                                        <p:tgtEl>
                                          <p:spTgt spid="4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600"/>
                                        <p:tgtEl>
                                          <p:spTgt spid="4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2"/>
                                        </p:tgtEl>
                                        <p:attrNameLst>
                                          <p:attrName>style.visibility</p:attrName>
                                        </p:attrNameLst>
                                      </p:cBhvr>
                                      <p:to>
                                        <p:strVal val="visible"/>
                                      </p:to>
                                    </p:set>
                                    <p:animEffect transition="in" filter="fade">
                                      <p:cBhvr>
                                        <p:cTn id="28" dur="600"/>
                                        <p:tgtEl>
                                          <p:spTgt spid="42"/>
                                        </p:tgtEl>
                                      </p:cBhvr>
                                    </p:animEffect>
                                  </p:childTnLst>
                                </p:cTn>
                              </p:par>
                            </p:childTnLst>
                          </p:cTn>
                        </p:par>
                      </p:childTnLst>
                    </p:cTn>
                  </p:par>
                  <p:par>
                    <p:cTn id="46" fill="hold">
                      <p:stCondLst>
                        <p:cond delay="indefinite"/>
                      </p:stCondLst>
                      <p:childTnLst>
                        <p:par>
                          <p:cTn id="47"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fade">
                                      <p:cBhvr>
                                        <p:cTn id="33" dur="600"/>
                                        <p:tgtEl>
                                          <p:spTgt spid="3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fade">
                                      <p:cBhvr>
                                        <p:cTn id="36" dur="600"/>
                                        <p:tgtEl>
                                          <p:spTgt spid="3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animEffect transition="in" filter="fade">
                                      <p:cBhvr>
                                        <p:cTn id="39" dur="600"/>
                                        <p:tgtEl>
                                          <p:spTgt spid="4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fade">
                                      <p:cBhvr>
                                        <p:cTn id="42" dur="600"/>
                                        <p:tgtEl>
                                          <p:spTgt spid="4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5"/>
                                        </p:tgtEl>
                                        <p:attrNameLst>
                                          <p:attrName>style.visibility</p:attrName>
                                        </p:attrNameLst>
                                      </p:cBhvr>
                                      <p:to>
                                        <p:strVal val="visible"/>
                                      </p:to>
                                    </p:set>
                                    <p:animEffect transition="in" filter="fade">
                                      <p:cBhvr>
                                        <p:cTn id="45" dur="600"/>
                                        <p:tgtEl>
                                          <p:spTgt spid="45"/>
                                        </p:tgtEl>
                                      </p:cBhvr>
                                    </p:animEffect>
                                  </p:childTnLst>
                                </p:cTn>
                              </p:par>
                            </p:childTnLst>
                          </p:cTn>
                        </p:par>
                      </p:childTnLst>
                    </p:cTn>
                  </p:par>
                  <p:par>
                    <p:cTn id="57" fill="hold">
                      <p:stCondLst>
                        <p:cond delay="indefinite"/>
                      </p:stCondLst>
                      <p:childTnLst>
                        <p:par>
                          <p:cTn id="58"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46"/>
                                        </p:tgtEl>
                                        <p:attrNameLst>
                                          <p:attrName>style.visibility</p:attrName>
                                        </p:attrNameLst>
                                      </p:cBhvr>
                                      <p:to>
                                        <p:strVal val="visible"/>
                                      </p:to>
                                    </p:set>
                                    <p:animEffect transition="in" filter="fade">
                                      <p:cBhvr>
                                        <p:cTn id="50" dur="600"/>
                                        <p:tgtEl>
                                          <p:spTgt spid="4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7"/>
                                        </p:tgtEl>
                                        <p:attrNameLst>
                                          <p:attrName>style.visibility</p:attrName>
                                        </p:attrNameLst>
                                      </p:cBhvr>
                                      <p:to>
                                        <p:strVal val="visible"/>
                                      </p:to>
                                    </p:set>
                                    <p:animEffect transition="in" filter="fade">
                                      <p:cBhvr>
                                        <p:cTn id="53" dur="600"/>
                                        <p:tgtEl>
                                          <p:spTgt spid="4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8"/>
                                        </p:tgtEl>
                                        <p:attrNameLst>
                                          <p:attrName>style.visibility</p:attrName>
                                        </p:attrNameLst>
                                      </p:cBhvr>
                                      <p:to>
                                        <p:strVal val="visible"/>
                                      </p:to>
                                    </p:set>
                                    <p:animEffect transition="in" filter="fade">
                                      <p:cBhvr>
                                        <p:cTn id="56" dur="600"/>
                                        <p:tgtEl>
                                          <p:spTgt spid="48"/>
                                        </p:tgtEl>
                                      </p:cBhvr>
                                    </p:animEffect>
                                  </p:childTnLst>
                                </p:cTn>
                              </p:par>
                            </p:childTnLst>
                          </p:cTn>
                        </p:par>
                      </p:childTnLst>
                    </p:cTn>
                  </p:par>
                  <p:par>
                    <p:cTn id="62" fill="hold">
                      <p:stCondLst>
                        <p:cond delay="indefinite"/>
                      </p:stCondLst>
                      <p:childTnLst>
                        <p:par>
                          <p:cTn id="63"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49"/>
                                        </p:tgtEl>
                                        <p:attrNameLst>
                                          <p:attrName>style.visibility</p:attrName>
                                        </p:attrNameLst>
                                      </p:cBhvr>
                                      <p:to>
                                        <p:strVal val="visible"/>
                                      </p:to>
                                    </p:set>
                                    <p:animEffect transition="in" filter="fade">
                                      <p:cBhvr>
                                        <p:cTn id="61" dur="6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8" grpId="0" animBg="1"/>
      <p:bldP spid="39" grpId="0" animBg="1"/>
      <p:bldP spid="41" grpId="0" animBg="1"/>
      <p:bldP spid="42" grpId="0" animBg="1"/>
      <p:bldP spid="36" grpId="0" animBg="1"/>
      <p:bldP spid="44" grpId="0" animBg="1"/>
      <p:bldP spid="45" grpId="0" animBg="1"/>
      <p:bldP spid="47" grpId="0" animBg="1"/>
      <p:bldP spid="48" grpId="0" animBg="1"/>
      <p:bldP spid="4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11457432" cy="640080"/>
          </a:xfrm>
          <a:prstGeom prst="roundRect">
            <a:avLst>
              <a:gd name="adj" fmla="val 22000"/>
            </a:avLst>
          </a:prstGeom>
          <a:solidFill>
            <a:srgbClr val="FFFFFF"/>
          </a:solidFill>
          <a:ln w="19050">
            <a:solidFill>
              <a:srgbClr val="1D3557"/>
            </a:solidFill>
            <a:prstDash val="solid"/>
          </a:ln>
        </p:spPr>
      </p:sp>
      <p:sp>
        <p:nvSpPr>
          <p:cNvPr id="3" name="Shape 1"/>
          <p:cNvSpPr/>
          <p:nvPr/>
        </p:nvSpPr>
        <p:spPr>
          <a:xfrm>
            <a:off x="557784" y="369418"/>
            <a:ext cx="70409" cy="358445"/>
          </a:xfrm>
          <a:prstGeom prst="roundRect">
            <a:avLst>
              <a:gd name="adj" fmla="val 50000"/>
            </a:avLst>
          </a:prstGeom>
          <a:solidFill>
            <a:srgbClr val="007A5A"/>
          </a:solidFill>
          <a:ln/>
        </p:spPr>
      </p:sp>
      <p:sp>
        <p:nvSpPr>
          <p:cNvPr id="4" name="Shape 2"/>
          <p:cNvSpPr/>
          <p:nvPr/>
        </p:nvSpPr>
        <p:spPr>
          <a:xfrm>
            <a:off x="691561" y="369418"/>
            <a:ext cx="70409" cy="358445"/>
          </a:xfrm>
          <a:prstGeom prst="roundRect">
            <a:avLst>
              <a:gd name="adj" fmla="val 50000"/>
            </a:avLst>
          </a:prstGeom>
          <a:solidFill>
            <a:srgbClr val="A84400"/>
          </a:solidFill>
          <a:ln/>
        </p:spPr>
      </p:sp>
      <p:sp>
        <p:nvSpPr>
          <p:cNvPr id="5" name="Shape 3"/>
          <p:cNvSpPr/>
          <p:nvPr/>
        </p:nvSpPr>
        <p:spPr>
          <a:xfrm>
            <a:off x="825337" y="369418"/>
            <a:ext cx="70409" cy="358445"/>
          </a:xfrm>
          <a:prstGeom prst="roundRect">
            <a:avLst>
              <a:gd name="adj" fmla="val 50000"/>
            </a:avLst>
          </a:prstGeom>
          <a:solidFill>
            <a:srgbClr val="24418C"/>
          </a:solidFill>
          <a:ln/>
        </p:spPr>
      </p:sp>
      <p:sp>
        <p:nvSpPr>
          <p:cNvPr id="6" name="Text 4"/>
          <p:cNvSpPr/>
          <p:nvPr/>
        </p:nvSpPr>
        <p:spPr>
          <a:xfrm>
            <a:off x="1096914" y="228600"/>
            <a:ext cx="7589520" cy="640080"/>
          </a:xfrm>
          <a:prstGeom prst="rect">
            <a:avLst/>
          </a:prstGeom>
          <a:noFill/>
          <a:ln/>
        </p:spPr>
        <p:txBody>
          <a:bodyPr wrap="square" lIns="0" tIns="0" rIns="0" bIns="0" rtlCol="0" anchor="ctr"/>
          <a:lstStyle/>
          <a:p>
            <a:pPr algn="l" indent="0" marL="0">
              <a:buNone/>
            </a:pPr>
            <a:r>
              <a:rPr lang="en-US" sz="2200" b="1" dirty="0">
                <a:solidFill>
                  <a:srgbClr val="1D3557"/>
                </a:solidFill>
                <a:latin typeface="Golos Text" pitchFamily="34" charset="0"/>
                <a:ea typeface="Golos Text" pitchFamily="34" charset="-122"/>
                <a:cs typeface="Golos Text" pitchFamily="34" charset="-120"/>
              </a:rPr>
              <a:t>Бекемдөө: ар дайым, кээде же эч качан?</a:t>
            </a:r>
            <a:endParaRPr lang="en-US" sz="2200" dirty="0"/>
          </a:p>
        </p:txBody>
      </p:sp>
      <p:sp>
        <p:nvSpPr>
          <p:cNvPr id="7" name="Text 5"/>
          <p:cNvSpPr/>
          <p:nvPr/>
        </p:nvSpPr>
        <p:spPr>
          <a:xfrm>
            <a:off x="8778240" y="228600"/>
            <a:ext cx="2880360" cy="640080"/>
          </a:xfrm>
          <a:prstGeom prst="rect">
            <a:avLst/>
          </a:prstGeom>
          <a:noFill/>
          <a:ln/>
        </p:spPr>
        <p:txBody>
          <a:bodyPr wrap="square" lIns="0" tIns="0" rIns="0" bIns="0" rtlCol="0" anchor="ctr"/>
          <a:lstStyle/>
          <a:p>
            <a:pPr algn="r" indent="0" marL="0">
              <a:buNone/>
            </a:pPr>
            <a:r>
              <a:rPr lang="en-US" sz="1100" dirty="0">
                <a:solidFill>
                  <a:srgbClr val="4A5A70"/>
                </a:solidFill>
                <a:latin typeface="Golos Text" pitchFamily="34" charset="0"/>
                <a:ea typeface="Golos Text" pitchFamily="34" charset="-122"/>
                <a:cs typeface="Golos Text" pitchFamily="34" charset="-120"/>
              </a:rPr>
              <a:t>Статистика › Төрт өлчөм</a:t>
            </a:r>
            <a:endParaRPr lang="en-US" sz="1100" dirty="0"/>
          </a:p>
        </p:txBody>
      </p:sp>
      <p:sp>
        <p:nvSpPr>
          <p:cNvPr id="8" name="Text 6"/>
          <p:cNvSpPr/>
          <p:nvPr/>
        </p:nvSpPr>
        <p:spPr>
          <a:xfrm>
            <a:off x="411480" y="960120"/>
            <a:ext cx="8412480" cy="329184"/>
          </a:xfrm>
          <a:prstGeom prst="rect">
            <a:avLst/>
          </a:prstGeom>
          <a:noFill/>
          <a:ln/>
        </p:spPr>
        <p:txBody>
          <a:bodyPr wrap="square" lIns="0" tIns="0" rIns="0" bIns="0" rtlCol="0" anchor="t"/>
          <a:lstStyle/>
          <a:p>
            <a:pPr algn="l" indent="0" marL="0">
              <a:buNone/>
            </a:pPr>
            <a:r>
              <a:rPr lang="en-US" sz="1500" i="1" dirty="0">
                <a:solidFill>
                  <a:srgbClr val="4A5A70"/>
                </a:solidFill>
                <a:latin typeface="Golos Text" pitchFamily="34" charset="0"/>
                <a:ea typeface="Golos Text" pitchFamily="34" charset="-122"/>
                <a:cs typeface="Golos Text" pitchFamily="34" charset="-120"/>
              </a:rPr>
              <a:t>Ар бир пикир үчүн тандап, мисал менен далилде</a:t>
            </a:r>
            <a:endParaRPr lang="en-US" sz="1500" dirty="0"/>
          </a:p>
        </p:txBody>
      </p:sp>
      <p:sp>
        <p:nvSpPr>
          <p:cNvPr id="9" name="Text 7"/>
          <p:cNvSpPr/>
          <p:nvPr/>
        </p:nvSpPr>
        <p:spPr>
          <a:xfrm>
            <a:off x="8897112" y="969264"/>
            <a:ext cx="2926080" cy="310896"/>
          </a:xfrm>
          <a:prstGeom prst="rect">
            <a:avLst/>
          </a:prstGeom>
          <a:noFill/>
          <a:ln/>
        </p:spPr>
        <p:txBody>
          <a:bodyPr wrap="square" lIns="0" tIns="0" rIns="0" bIns="0" rtlCol="0" anchor="ctr"/>
          <a:lstStyle/>
          <a:p>
            <a:pPr algn="r" indent="0" marL="0">
              <a:buNone/>
            </a:pPr>
            <a:r>
              <a:rPr lang="en-US" sz="1200" dirty="0">
                <a:solidFill>
                  <a:srgbClr val="4A5A70"/>
                </a:solidFill>
                <a:latin typeface="Golos Text" pitchFamily="34" charset="0"/>
                <a:ea typeface="Golos Text" pitchFamily="34" charset="-122"/>
                <a:cs typeface="Golos Text" pitchFamily="34" charset="-120"/>
              </a:rPr>
              <a:t>Ой жүгүртүү · 1 мүн</a:t>
            </a:r>
            <a:endParaRPr lang="en-US" sz="1200" dirty="0"/>
          </a:p>
        </p:txBody>
      </p:sp>
      <p:sp>
        <p:nvSpPr>
          <p:cNvPr id="10" name="Text 8"/>
          <p:cNvSpPr/>
          <p:nvPr/>
        </p:nvSpPr>
        <p:spPr>
          <a:xfrm>
            <a:off x="365760" y="6492240"/>
            <a:ext cx="5486400" cy="228600"/>
          </a:xfrm>
          <a:prstGeom prst="rect">
            <a:avLst/>
          </a:prstGeom>
          <a:noFill/>
          <a:ln/>
        </p:spPr>
        <p:txBody>
          <a:bodyPr wrap="square" lIns="0" tIns="0" rIns="0" bIns="0" rtlCol="0" anchor="t"/>
          <a:lstStyle/>
          <a:p>
            <a:pPr algn="l" indent="0" marL="0">
              <a:buNone/>
            </a:pPr>
            <a:r>
              <a:rPr lang="en-US" sz="900" dirty="0">
                <a:solidFill>
                  <a:srgbClr val="8D99AA"/>
                </a:solidFill>
                <a:latin typeface="Golos Text" pitchFamily="34" charset="0"/>
                <a:ea typeface="Golos Text" pitchFamily="34" charset="-122"/>
                <a:cs typeface="Golos Text" pitchFamily="34" charset="-120"/>
              </a:rPr>
              <a:t>MathKG · Математика кыргызча</a:t>
            </a:r>
            <a:endParaRPr lang="en-US" sz="900" dirty="0"/>
          </a:p>
        </p:txBody>
      </p:sp>
      <p:sp>
        <p:nvSpPr>
          <p:cNvPr id="11" name="Text 9"/>
          <p:cNvSpPr/>
          <p:nvPr/>
        </p:nvSpPr>
        <p:spPr>
          <a:xfrm>
            <a:off x="7680960" y="6492240"/>
            <a:ext cx="3657600" cy="228600"/>
          </a:xfrm>
          <a:prstGeom prst="rect">
            <a:avLst/>
          </a:prstGeom>
          <a:noFill/>
          <a:ln/>
        </p:spPr>
        <p:txBody>
          <a:bodyPr wrap="square" lIns="0" tIns="0" rIns="0" bIns="0" rtlCol="0" anchor="t"/>
          <a:lstStyle/>
          <a:p>
            <a:pPr algn="r" indent="0" marL="0">
              <a:buNone/>
            </a:pPr>
            <a:r>
              <a:rPr lang="en-US" sz="900" dirty="0">
                <a:solidFill>
                  <a:srgbClr val="8D99AA"/>
                </a:solidFill>
                <a:latin typeface="Golos Text" pitchFamily="34" charset="0"/>
                <a:ea typeface="Golos Text" pitchFamily="34" charset="-122"/>
                <a:cs typeface="Golos Text" pitchFamily="34" charset="-120"/>
              </a:rPr>
              <a:t>MathKG ыкмасы · 1 мүн</a:t>
            </a:r>
            <a:endParaRPr lang="en-US" sz="900" dirty="0"/>
          </a:p>
        </p:txBody>
      </p:sp>
      <p:sp>
        <p:nvSpPr>
          <p:cNvPr id="12" name="Shape 10"/>
          <p:cNvSpPr/>
          <p:nvPr/>
        </p:nvSpPr>
        <p:spPr>
          <a:xfrm>
            <a:off x="365760" y="1463040"/>
            <a:ext cx="11457432" cy="1097280"/>
          </a:xfrm>
          <a:prstGeom prst="roundRect">
            <a:avLst>
              <a:gd name="adj" fmla="val 12000"/>
            </a:avLst>
          </a:prstGeom>
          <a:solidFill>
            <a:srgbClr val="F3F5FB"/>
          </a:solidFill>
          <a:ln w="12700">
            <a:solidFill>
              <a:srgbClr val="E7EAF2"/>
            </a:solidFill>
            <a:prstDash val="solid"/>
          </a:ln>
        </p:spPr>
      </p:sp>
      <p:sp>
        <p:nvSpPr>
          <p:cNvPr id="13" name="Text 11"/>
          <p:cNvSpPr/>
          <p:nvPr/>
        </p:nvSpPr>
        <p:spPr>
          <a:xfrm>
            <a:off x="502920" y="1764792"/>
            <a:ext cx="475488" cy="475488"/>
          </a:xfrm>
          <a:prstGeom prst="roundRect">
            <a:avLst>
              <a:gd name="adj" fmla="val 50000"/>
            </a:avLst>
          </a:prstGeom>
          <a:solidFill>
            <a:srgbClr val="1D3557"/>
          </a:solidFill>
          <a:ln w="19050">
            <a:solidFill>
              <a:srgbClr val="1D3557"/>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1</a:t>
            </a:r>
            <a:endParaRPr lang="en-US" sz="1600" dirty="0"/>
          </a:p>
        </p:txBody>
      </p:sp>
      <p:sp>
        <p:nvSpPr>
          <p:cNvPr id="14" name="Text 12"/>
          <p:cNvSpPr/>
          <p:nvPr/>
        </p:nvSpPr>
        <p:spPr>
          <a:xfrm>
            <a:off x="1143000" y="1536192"/>
            <a:ext cx="5120640" cy="566928"/>
          </a:xfrm>
          <a:prstGeom prst="rect">
            <a:avLst/>
          </a:prstGeom>
          <a:noFill/>
          <a:ln/>
        </p:spPr>
        <p:txBody>
          <a:bodyPr wrap="square" lIns="0" tIns="0" rIns="0" bIns="0" rtlCol="0" anchor="ctr"/>
          <a:lstStyle/>
          <a:p>
            <a:pPr algn="l" indent="0" marL="0">
              <a:buNone/>
            </a:pPr>
            <a:r>
              <a:rPr lang="en-US" sz="1600" b="1" dirty="0">
                <a:solidFill>
                  <a:srgbClr val="1D3557"/>
                </a:solidFill>
                <a:latin typeface="Golos Text" pitchFamily="34" charset="0"/>
                <a:ea typeface="Golos Text" pitchFamily="34" charset="-122"/>
                <a:cs typeface="Golos Text" pitchFamily="34" charset="-120"/>
              </a:rPr>
              <a:t>Орточо — тизмедеги сандардын бири.</a:t>
            </a:r>
            <a:endParaRPr lang="en-US" sz="1600" dirty="0"/>
          </a:p>
        </p:txBody>
      </p:sp>
      <p:sp>
        <p:nvSpPr>
          <p:cNvPr id="15" name="anim1_a"/>
          <p:cNvSpPr/>
          <p:nvPr/>
        </p:nvSpPr>
        <p:spPr>
          <a:xfrm>
            <a:off x="1143000" y="2121408"/>
            <a:ext cx="5120640" cy="411480"/>
          </a:xfrm>
          <a:prstGeom prst="rect">
            <a:avLst/>
          </a:prstGeom>
          <a:noFill/>
          <a:ln/>
        </p:spPr>
        <p:txBody>
          <a:bodyPr wrap="square" lIns="0" tIns="0" rIns="0" bIns="0" rtlCol="0" anchor="t"/>
          <a:lstStyle/>
          <a:p>
            <a:pPr algn="l" indent="0" marL="0">
              <a:buNone/>
            </a:pPr>
            <a:r>
              <a:rPr lang="en-US" sz="1300" i="1" dirty="0">
                <a:solidFill>
                  <a:srgbClr val="4A5A70"/>
                </a:solidFill>
                <a:latin typeface="Golos Text" pitchFamily="34" charset="0"/>
                <a:ea typeface="Golos Text" pitchFamily="34" charset="-122"/>
                <a:cs typeface="Golos Text" pitchFamily="34" charset="-120"/>
              </a:rPr>
              <a:t>2, 4, 6 → 4 (бар); 3, 4, 7, 7, 9 → 6 (жок).</a:t>
            </a:r>
            <a:endParaRPr lang="en-US" sz="1300" dirty="0"/>
          </a:p>
        </p:txBody>
      </p:sp>
      <p:sp>
        <p:nvSpPr>
          <p:cNvPr id="16" name="Text 14"/>
          <p:cNvSpPr/>
          <p:nvPr/>
        </p:nvSpPr>
        <p:spPr>
          <a:xfrm>
            <a:off x="6400800" y="1737360"/>
            <a:ext cx="1691640" cy="548640"/>
          </a:xfrm>
          <a:prstGeom prst="roundRect">
            <a:avLst>
              <a:gd name="adj" fmla="val 50000"/>
            </a:avLst>
          </a:prstGeom>
          <a:solidFill>
            <a:srgbClr val="FFFFFF"/>
          </a:solidFill>
          <a:ln w="19050">
            <a:solidFill>
              <a:srgbClr val="8D99AA"/>
            </a:solidFill>
            <a:prstDash val="solid"/>
          </a:ln>
        </p:spPr>
        <p:txBody>
          <a:bodyPr wrap="square" lIns="0" tIns="0" rIns="0" bIns="0" rtlCol="0" anchor="ctr"/>
          <a:lstStyle/>
          <a:p>
            <a:pPr algn="ctr" indent="0" marL="0">
              <a:buNone/>
            </a:pPr>
            <a:r>
              <a:rPr lang="en-US" sz="1500" b="1" dirty="0">
                <a:solidFill>
                  <a:srgbClr val="1D3557"/>
                </a:solidFill>
                <a:latin typeface="Golos Text" pitchFamily="34" charset="0"/>
                <a:ea typeface="Golos Text" pitchFamily="34" charset="-122"/>
                <a:cs typeface="Golos Text" pitchFamily="34" charset="-120"/>
              </a:rPr>
              <a:t>Ар дайым</a:t>
            </a:r>
            <a:endParaRPr lang="en-US" sz="1500" dirty="0"/>
          </a:p>
        </p:txBody>
      </p:sp>
      <p:sp>
        <p:nvSpPr>
          <p:cNvPr id="17" name="Text 15"/>
          <p:cNvSpPr/>
          <p:nvPr/>
        </p:nvSpPr>
        <p:spPr>
          <a:xfrm>
            <a:off x="8211312" y="1737360"/>
            <a:ext cx="1691640" cy="548640"/>
          </a:xfrm>
          <a:prstGeom prst="roundRect">
            <a:avLst>
              <a:gd name="adj" fmla="val 50000"/>
            </a:avLst>
          </a:prstGeom>
          <a:solidFill>
            <a:srgbClr val="FFFFFF"/>
          </a:solidFill>
          <a:ln w="19050">
            <a:solidFill>
              <a:srgbClr val="8D99AA"/>
            </a:solidFill>
            <a:prstDash val="solid"/>
          </a:ln>
        </p:spPr>
        <p:txBody>
          <a:bodyPr wrap="square" lIns="0" tIns="0" rIns="0" bIns="0" rtlCol="0" anchor="ctr"/>
          <a:lstStyle/>
          <a:p>
            <a:pPr algn="ctr" indent="0" marL="0">
              <a:buNone/>
            </a:pPr>
            <a:r>
              <a:rPr lang="en-US" sz="1500" b="1" dirty="0">
                <a:solidFill>
                  <a:srgbClr val="1D3557"/>
                </a:solidFill>
                <a:latin typeface="Golos Text" pitchFamily="34" charset="0"/>
                <a:ea typeface="Golos Text" pitchFamily="34" charset="-122"/>
                <a:cs typeface="Golos Text" pitchFamily="34" charset="-120"/>
              </a:rPr>
              <a:t>Кээде</a:t>
            </a:r>
            <a:endParaRPr lang="en-US" sz="1500" dirty="0"/>
          </a:p>
        </p:txBody>
      </p:sp>
      <p:sp>
        <p:nvSpPr>
          <p:cNvPr id="18" name="anim1_a"/>
          <p:cNvSpPr/>
          <p:nvPr/>
        </p:nvSpPr>
        <p:spPr>
          <a:xfrm>
            <a:off x="8211312" y="1737360"/>
            <a:ext cx="1691640" cy="548640"/>
          </a:xfrm>
          <a:prstGeom prst="roundRect">
            <a:avLst>
              <a:gd name="adj" fmla="val 50000"/>
            </a:avLst>
          </a:prstGeom>
          <a:solidFill>
            <a:srgbClr val="F5EBE3"/>
          </a:solidFill>
          <a:ln w="34925">
            <a:solidFill>
              <a:srgbClr val="A84400"/>
            </a:solidFill>
            <a:prstDash val="solid"/>
          </a:ln>
        </p:spPr>
        <p:txBody>
          <a:bodyPr wrap="square" lIns="0" tIns="0" rIns="0" bIns="0" rtlCol="0" anchor="ctr"/>
          <a:lstStyle/>
          <a:p>
            <a:pPr algn="ctr" indent="0" marL="0">
              <a:buNone/>
            </a:pPr>
            <a:r>
              <a:rPr lang="en-US" sz="1500" b="1" dirty="0">
                <a:solidFill>
                  <a:srgbClr val="A84400"/>
                </a:solidFill>
                <a:latin typeface="Golos Text" pitchFamily="34" charset="0"/>
                <a:ea typeface="Golos Text" pitchFamily="34" charset="-122"/>
                <a:cs typeface="Golos Text" pitchFamily="34" charset="-120"/>
              </a:rPr>
              <a:t>Кээде</a:t>
            </a:r>
            <a:endParaRPr lang="en-US" sz="1500" dirty="0"/>
          </a:p>
        </p:txBody>
      </p:sp>
      <p:sp>
        <p:nvSpPr>
          <p:cNvPr id="19" name="Text 17"/>
          <p:cNvSpPr/>
          <p:nvPr/>
        </p:nvSpPr>
        <p:spPr>
          <a:xfrm>
            <a:off x="10021824" y="1737360"/>
            <a:ext cx="1691640" cy="548640"/>
          </a:xfrm>
          <a:prstGeom prst="roundRect">
            <a:avLst>
              <a:gd name="adj" fmla="val 50000"/>
            </a:avLst>
          </a:prstGeom>
          <a:solidFill>
            <a:srgbClr val="FFFFFF"/>
          </a:solidFill>
          <a:ln w="19050">
            <a:solidFill>
              <a:srgbClr val="8D99AA"/>
            </a:solidFill>
            <a:prstDash val="solid"/>
          </a:ln>
        </p:spPr>
        <p:txBody>
          <a:bodyPr wrap="square" lIns="0" tIns="0" rIns="0" bIns="0" rtlCol="0" anchor="ctr"/>
          <a:lstStyle/>
          <a:p>
            <a:pPr algn="ctr" indent="0" marL="0">
              <a:buNone/>
            </a:pPr>
            <a:r>
              <a:rPr lang="en-US" sz="1500" b="1" dirty="0">
                <a:solidFill>
                  <a:srgbClr val="1D3557"/>
                </a:solidFill>
                <a:latin typeface="Golos Text" pitchFamily="34" charset="0"/>
                <a:ea typeface="Golos Text" pitchFamily="34" charset="-122"/>
                <a:cs typeface="Golos Text" pitchFamily="34" charset="-120"/>
              </a:rPr>
              <a:t>Эч качан</a:t>
            </a:r>
            <a:endParaRPr lang="en-US" sz="1500" dirty="0"/>
          </a:p>
        </p:txBody>
      </p:sp>
      <p:sp>
        <p:nvSpPr>
          <p:cNvPr id="20" name="Shape 18"/>
          <p:cNvSpPr/>
          <p:nvPr/>
        </p:nvSpPr>
        <p:spPr>
          <a:xfrm>
            <a:off x="365760" y="2679192"/>
            <a:ext cx="11457432" cy="1097280"/>
          </a:xfrm>
          <a:prstGeom prst="roundRect">
            <a:avLst>
              <a:gd name="adj" fmla="val 12000"/>
            </a:avLst>
          </a:prstGeom>
          <a:solidFill>
            <a:srgbClr val="FFFFFF"/>
          </a:solidFill>
          <a:ln w="12700">
            <a:solidFill>
              <a:srgbClr val="E7EAF2"/>
            </a:solidFill>
            <a:prstDash val="solid"/>
          </a:ln>
        </p:spPr>
      </p:sp>
      <p:sp>
        <p:nvSpPr>
          <p:cNvPr id="21" name="Text 19"/>
          <p:cNvSpPr/>
          <p:nvPr/>
        </p:nvSpPr>
        <p:spPr>
          <a:xfrm>
            <a:off x="502920" y="2980944"/>
            <a:ext cx="475488" cy="475488"/>
          </a:xfrm>
          <a:prstGeom prst="roundRect">
            <a:avLst>
              <a:gd name="adj" fmla="val 50000"/>
            </a:avLst>
          </a:prstGeom>
          <a:solidFill>
            <a:srgbClr val="1D3557"/>
          </a:solidFill>
          <a:ln w="19050">
            <a:solidFill>
              <a:srgbClr val="1D3557"/>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2</a:t>
            </a:r>
            <a:endParaRPr lang="en-US" sz="1600" dirty="0"/>
          </a:p>
        </p:txBody>
      </p:sp>
      <p:sp>
        <p:nvSpPr>
          <p:cNvPr id="22" name="Text 20"/>
          <p:cNvSpPr/>
          <p:nvPr/>
        </p:nvSpPr>
        <p:spPr>
          <a:xfrm>
            <a:off x="1143000" y="2752344"/>
            <a:ext cx="5120640" cy="566928"/>
          </a:xfrm>
          <a:prstGeom prst="rect">
            <a:avLst/>
          </a:prstGeom>
          <a:noFill/>
          <a:ln/>
        </p:spPr>
        <p:txBody>
          <a:bodyPr wrap="square" lIns="0" tIns="0" rIns="0" bIns="0" rtlCol="0" anchor="ctr"/>
          <a:lstStyle/>
          <a:p>
            <a:pPr algn="l" indent="0" marL="0">
              <a:buNone/>
            </a:pPr>
            <a:r>
              <a:rPr lang="en-US" sz="1600" b="1" dirty="0">
                <a:solidFill>
                  <a:srgbClr val="1D3557"/>
                </a:solidFill>
                <a:latin typeface="Golos Text" pitchFamily="34" charset="0"/>
                <a:ea typeface="Golos Text" pitchFamily="34" charset="-122"/>
                <a:cs typeface="Golos Text" pitchFamily="34" charset="-120"/>
              </a:rPr>
              <a:t>Медиана эң кичине сандан кичине эмес жана эң чоң сандан чоң эмес.</a:t>
            </a:r>
            <a:endParaRPr lang="en-US" sz="1600" dirty="0"/>
          </a:p>
        </p:txBody>
      </p:sp>
      <p:sp>
        <p:nvSpPr>
          <p:cNvPr id="23" name="anim2_a"/>
          <p:cNvSpPr/>
          <p:nvPr/>
        </p:nvSpPr>
        <p:spPr>
          <a:xfrm>
            <a:off x="1143000" y="3337560"/>
            <a:ext cx="5120640" cy="411480"/>
          </a:xfrm>
          <a:prstGeom prst="rect">
            <a:avLst/>
          </a:prstGeom>
          <a:noFill/>
          <a:ln/>
        </p:spPr>
        <p:txBody>
          <a:bodyPr wrap="square" lIns="0" tIns="0" rIns="0" bIns="0" rtlCol="0" anchor="t"/>
          <a:lstStyle/>
          <a:p>
            <a:pPr algn="l" indent="0" marL="0">
              <a:buNone/>
            </a:pPr>
            <a:r>
              <a:rPr lang="en-US" sz="1300" i="1" dirty="0">
                <a:solidFill>
                  <a:srgbClr val="4A5A70"/>
                </a:solidFill>
                <a:latin typeface="Golos Text" pitchFamily="34" charset="0"/>
                <a:ea typeface="Golos Text" pitchFamily="34" charset="-122"/>
                <a:cs typeface="Golos Text" pitchFamily="34" charset="-120"/>
              </a:rPr>
              <a:t>Медиана ирээттелген тизменин ортосунда турат.</a:t>
            </a:r>
            <a:endParaRPr lang="en-US" sz="1300" dirty="0"/>
          </a:p>
        </p:txBody>
      </p:sp>
      <p:sp>
        <p:nvSpPr>
          <p:cNvPr id="24" name="Text 22"/>
          <p:cNvSpPr/>
          <p:nvPr/>
        </p:nvSpPr>
        <p:spPr>
          <a:xfrm>
            <a:off x="6400800" y="2953512"/>
            <a:ext cx="1691640" cy="548640"/>
          </a:xfrm>
          <a:prstGeom prst="roundRect">
            <a:avLst>
              <a:gd name="adj" fmla="val 50000"/>
            </a:avLst>
          </a:prstGeom>
          <a:solidFill>
            <a:srgbClr val="FFFFFF"/>
          </a:solidFill>
          <a:ln w="19050">
            <a:solidFill>
              <a:srgbClr val="8D99AA"/>
            </a:solidFill>
            <a:prstDash val="solid"/>
          </a:ln>
        </p:spPr>
        <p:txBody>
          <a:bodyPr wrap="square" lIns="0" tIns="0" rIns="0" bIns="0" rtlCol="0" anchor="ctr"/>
          <a:lstStyle/>
          <a:p>
            <a:pPr algn="ctr" indent="0" marL="0">
              <a:buNone/>
            </a:pPr>
            <a:r>
              <a:rPr lang="en-US" sz="1500" b="1" dirty="0">
                <a:solidFill>
                  <a:srgbClr val="1D3557"/>
                </a:solidFill>
                <a:latin typeface="Golos Text" pitchFamily="34" charset="0"/>
                <a:ea typeface="Golos Text" pitchFamily="34" charset="-122"/>
                <a:cs typeface="Golos Text" pitchFamily="34" charset="-120"/>
              </a:rPr>
              <a:t>Ар дайым</a:t>
            </a:r>
            <a:endParaRPr lang="en-US" sz="1500" dirty="0"/>
          </a:p>
        </p:txBody>
      </p:sp>
      <p:sp>
        <p:nvSpPr>
          <p:cNvPr id="25" name="anim2_a"/>
          <p:cNvSpPr/>
          <p:nvPr/>
        </p:nvSpPr>
        <p:spPr>
          <a:xfrm>
            <a:off x="6400800" y="2953512"/>
            <a:ext cx="1691640" cy="548640"/>
          </a:xfrm>
          <a:prstGeom prst="roundRect">
            <a:avLst>
              <a:gd name="adj" fmla="val 50000"/>
            </a:avLst>
          </a:prstGeom>
          <a:solidFill>
            <a:srgbClr val="D1E7E1"/>
          </a:solidFill>
          <a:ln w="34925">
            <a:solidFill>
              <a:srgbClr val="007A5A"/>
            </a:solidFill>
            <a:prstDash val="solid"/>
          </a:ln>
        </p:spPr>
        <p:txBody>
          <a:bodyPr wrap="square" lIns="0" tIns="0" rIns="0" bIns="0" rtlCol="0" anchor="ctr"/>
          <a:lstStyle/>
          <a:p>
            <a:pPr algn="ctr" indent="0" marL="0">
              <a:buNone/>
            </a:pPr>
            <a:r>
              <a:rPr lang="en-US" sz="1500" b="1" dirty="0">
                <a:solidFill>
                  <a:srgbClr val="007A5A"/>
                </a:solidFill>
                <a:latin typeface="Golos Text" pitchFamily="34" charset="0"/>
                <a:ea typeface="Golos Text" pitchFamily="34" charset="-122"/>
                <a:cs typeface="Golos Text" pitchFamily="34" charset="-120"/>
              </a:rPr>
              <a:t>Ар дайым</a:t>
            </a:r>
            <a:endParaRPr lang="en-US" sz="1500" dirty="0"/>
          </a:p>
        </p:txBody>
      </p:sp>
      <p:sp>
        <p:nvSpPr>
          <p:cNvPr id="26" name="Text 24"/>
          <p:cNvSpPr/>
          <p:nvPr/>
        </p:nvSpPr>
        <p:spPr>
          <a:xfrm>
            <a:off x="8211312" y="2953512"/>
            <a:ext cx="1691640" cy="548640"/>
          </a:xfrm>
          <a:prstGeom prst="roundRect">
            <a:avLst>
              <a:gd name="adj" fmla="val 50000"/>
            </a:avLst>
          </a:prstGeom>
          <a:solidFill>
            <a:srgbClr val="FFFFFF"/>
          </a:solidFill>
          <a:ln w="19050">
            <a:solidFill>
              <a:srgbClr val="8D99AA"/>
            </a:solidFill>
            <a:prstDash val="solid"/>
          </a:ln>
        </p:spPr>
        <p:txBody>
          <a:bodyPr wrap="square" lIns="0" tIns="0" rIns="0" bIns="0" rtlCol="0" anchor="ctr"/>
          <a:lstStyle/>
          <a:p>
            <a:pPr algn="ctr" indent="0" marL="0">
              <a:buNone/>
            </a:pPr>
            <a:r>
              <a:rPr lang="en-US" sz="1500" b="1" dirty="0">
                <a:solidFill>
                  <a:srgbClr val="1D3557"/>
                </a:solidFill>
                <a:latin typeface="Golos Text" pitchFamily="34" charset="0"/>
                <a:ea typeface="Golos Text" pitchFamily="34" charset="-122"/>
                <a:cs typeface="Golos Text" pitchFamily="34" charset="-120"/>
              </a:rPr>
              <a:t>Кээде</a:t>
            </a:r>
            <a:endParaRPr lang="en-US" sz="1500" dirty="0"/>
          </a:p>
        </p:txBody>
      </p:sp>
      <p:sp>
        <p:nvSpPr>
          <p:cNvPr id="27" name="Text 25"/>
          <p:cNvSpPr/>
          <p:nvPr/>
        </p:nvSpPr>
        <p:spPr>
          <a:xfrm>
            <a:off x="10021824" y="2953512"/>
            <a:ext cx="1691640" cy="548640"/>
          </a:xfrm>
          <a:prstGeom prst="roundRect">
            <a:avLst>
              <a:gd name="adj" fmla="val 50000"/>
            </a:avLst>
          </a:prstGeom>
          <a:solidFill>
            <a:srgbClr val="FFFFFF"/>
          </a:solidFill>
          <a:ln w="19050">
            <a:solidFill>
              <a:srgbClr val="8D99AA"/>
            </a:solidFill>
            <a:prstDash val="solid"/>
          </a:ln>
        </p:spPr>
        <p:txBody>
          <a:bodyPr wrap="square" lIns="0" tIns="0" rIns="0" bIns="0" rtlCol="0" anchor="ctr"/>
          <a:lstStyle/>
          <a:p>
            <a:pPr algn="ctr" indent="0" marL="0">
              <a:buNone/>
            </a:pPr>
            <a:r>
              <a:rPr lang="en-US" sz="1500" b="1" dirty="0">
                <a:solidFill>
                  <a:srgbClr val="1D3557"/>
                </a:solidFill>
                <a:latin typeface="Golos Text" pitchFamily="34" charset="0"/>
                <a:ea typeface="Golos Text" pitchFamily="34" charset="-122"/>
                <a:cs typeface="Golos Text" pitchFamily="34" charset="-120"/>
              </a:rPr>
              <a:t>Эч качан</a:t>
            </a:r>
            <a:endParaRPr lang="en-US" sz="1500" dirty="0"/>
          </a:p>
        </p:txBody>
      </p:sp>
      <p:sp>
        <p:nvSpPr>
          <p:cNvPr id="28" name="Shape 26"/>
          <p:cNvSpPr/>
          <p:nvPr/>
        </p:nvSpPr>
        <p:spPr>
          <a:xfrm>
            <a:off x="365760" y="3895344"/>
            <a:ext cx="11457432" cy="1097280"/>
          </a:xfrm>
          <a:prstGeom prst="roundRect">
            <a:avLst>
              <a:gd name="adj" fmla="val 12000"/>
            </a:avLst>
          </a:prstGeom>
          <a:solidFill>
            <a:srgbClr val="F3F5FB"/>
          </a:solidFill>
          <a:ln w="12700">
            <a:solidFill>
              <a:srgbClr val="E7EAF2"/>
            </a:solidFill>
            <a:prstDash val="solid"/>
          </a:ln>
        </p:spPr>
      </p:sp>
      <p:sp>
        <p:nvSpPr>
          <p:cNvPr id="29" name="Text 27"/>
          <p:cNvSpPr/>
          <p:nvPr/>
        </p:nvSpPr>
        <p:spPr>
          <a:xfrm>
            <a:off x="502920" y="4197096"/>
            <a:ext cx="475488" cy="475488"/>
          </a:xfrm>
          <a:prstGeom prst="roundRect">
            <a:avLst>
              <a:gd name="adj" fmla="val 50000"/>
            </a:avLst>
          </a:prstGeom>
          <a:solidFill>
            <a:srgbClr val="1D3557"/>
          </a:solidFill>
          <a:ln w="19050">
            <a:solidFill>
              <a:srgbClr val="1D3557"/>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3</a:t>
            </a:r>
            <a:endParaRPr lang="en-US" sz="1600" dirty="0"/>
          </a:p>
        </p:txBody>
      </p:sp>
      <p:sp>
        <p:nvSpPr>
          <p:cNvPr id="30" name="Text 28"/>
          <p:cNvSpPr/>
          <p:nvPr/>
        </p:nvSpPr>
        <p:spPr>
          <a:xfrm>
            <a:off x="1143000" y="3968496"/>
            <a:ext cx="5120640" cy="566928"/>
          </a:xfrm>
          <a:prstGeom prst="rect">
            <a:avLst/>
          </a:prstGeom>
          <a:noFill/>
          <a:ln/>
        </p:spPr>
        <p:txBody>
          <a:bodyPr wrap="square" lIns="0" tIns="0" rIns="0" bIns="0" rtlCol="0" anchor="ctr"/>
          <a:lstStyle/>
          <a:p>
            <a:pPr algn="l" indent="0" marL="0">
              <a:buNone/>
            </a:pPr>
            <a:r>
              <a:rPr lang="en-US" sz="1600" b="1" dirty="0">
                <a:solidFill>
                  <a:srgbClr val="1D3557"/>
                </a:solidFill>
                <a:latin typeface="Golos Text" pitchFamily="34" charset="0"/>
                <a:ea typeface="Golos Text" pitchFamily="34" charset="-122"/>
                <a:cs typeface="Golos Text" pitchFamily="34" charset="-120"/>
              </a:rPr>
              <a:t>Кулач терс сан болот.</a:t>
            </a:r>
            <a:endParaRPr lang="en-US" sz="1600" dirty="0"/>
          </a:p>
        </p:txBody>
      </p:sp>
      <p:sp>
        <p:nvSpPr>
          <p:cNvPr id="31" name="anim3_a"/>
          <p:cNvSpPr/>
          <p:nvPr/>
        </p:nvSpPr>
        <p:spPr>
          <a:xfrm>
            <a:off x="1143000" y="4553712"/>
            <a:ext cx="5120640" cy="411480"/>
          </a:xfrm>
          <a:prstGeom prst="rect">
            <a:avLst/>
          </a:prstGeom>
          <a:noFill/>
          <a:ln/>
        </p:spPr>
        <p:txBody>
          <a:bodyPr wrap="square" lIns="0" tIns="0" rIns="0" bIns="0" rtlCol="0" anchor="t"/>
          <a:lstStyle/>
          <a:p>
            <a:pPr algn="l" indent="0" marL="0">
              <a:buNone/>
            </a:pPr>
            <a:r>
              <a:rPr lang="en-US" sz="1300" i="1" dirty="0">
                <a:solidFill>
                  <a:srgbClr val="4A5A70"/>
                </a:solidFill>
                <a:latin typeface="Golos Text" pitchFamily="34" charset="0"/>
                <a:ea typeface="Golos Text" pitchFamily="34" charset="-122"/>
                <a:cs typeface="Golos Text" pitchFamily="34" charset="-120"/>
              </a:rPr>
              <a:t>Эң чоң − эң кичине: эң аз дегенде 0 (5, 5, 5 → 0).</a:t>
            </a:r>
            <a:endParaRPr lang="en-US" sz="1300" dirty="0"/>
          </a:p>
        </p:txBody>
      </p:sp>
      <p:sp>
        <p:nvSpPr>
          <p:cNvPr id="32" name="Text 30"/>
          <p:cNvSpPr/>
          <p:nvPr/>
        </p:nvSpPr>
        <p:spPr>
          <a:xfrm>
            <a:off x="6400800" y="4169664"/>
            <a:ext cx="1691640" cy="548640"/>
          </a:xfrm>
          <a:prstGeom prst="roundRect">
            <a:avLst>
              <a:gd name="adj" fmla="val 50000"/>
            </a:avLst>
          </a:prstGeom>
          <a:solidFill>
            <a:srgbClr val="FFFFFF"/>
          </a:solidFill>
          <a:ln w="19050">
            <a:solidFill>
              <a:srgbClr val="8D99AA"/>
            </a:solidFill>
            <a:prstDash val="solid"/>
          </a:ln>
        </p:spPr>
        <p:txBody>
          <a:bodyPr wrap="square" lIns="0" tIns="0" rIns="0" bIns="0" rtlCol="0" anchor="ctr"/>
          <a:lstStyle/>
          <a:p>
            <a:pPr algn="ctr" indent="0" marL="0">
              <a:buNone/>
            </a:pPr>
            <a:r>
              <a:rPr lang="en-US" sz="1500" b="1" dirty="0">
                <a:solidFill>
                  <a:srgbClr val="1D3557"/>
                </a:solidFill>
                <a:latin typeface="Golos Text" pitchFamily="34" charset="0"/>
                <a:ea typeface="Golos Text" pitchFamily="34" charset="-122"/>
                <a:cs typeface="Golos Text" pitchFamily="34" charset="-120"/>
              </a:rPr>
              <a:t>Ар дайым</a:t>
            </a:r>
            <a:endParaRPr lang="en-US" sz="1500" dirty="0"/>
          </a:p>
        </p:txBody>
      </p:sp>
      <p:sp>
        <p:nvSpPr>
          <p:cNvPr id="33" name="Text 31"/>
          <p:cNvSpPr/>
          <p:nvPr/>
        </p:nvSpPr>
        <p:spPr>
          <a:xfrm>
            <a:off x="8211312" y="4169664"/>
            <a:ext cx="1691640" cy="548640"/>
          </a:xfrm>
          <a:prstGeom prst="roundRect">
            <a:avLst>
              <a:gd name="adj" fmla="val 50000"/>
            </a:avLst>
          </a:prstGeom>
          <a:solidFill>
            <a:srgbClr val="FFFFFF"/>
          </a:solidFill>
          <a:ln w="19050">
            <a:solidFill>
              <a:srgbClr val="8D99AA"/>
            </a:solidFill>
            <a:prstDash val="solid"/>
          </a:ln>
        </p:spPr>
        <p:txBody>
          <a:bodyPr wrap="square" lIns="0" tIns="0" rIns="0" bIns="0" rtlCol="0" anchor="ctr"/>
          <a:lstStyle/>
          <a:p>
            <a:pPr algn="ctr" indent="0" marL="0">
              <a:buNone/>
            </a:pPr>
            <a:r>
              <a:rPr lang="en-US" sz="1500" b="1" dirty="0">
                <a:solidFill>
                  <a:srgbClr val="1D3557"/>
                </a:solidFill>
                <a:latin typeface="Golos Text" pitchFamily="34" charset="0"/>
                <a:ea typeface="Golos Text" pitchFamily="34" charset="-122"/>
                <a:cs typeface="Golos Text" pitchFamily="34" charset="-120"/>
              </a:rPr>
              <a:t>Кээде</a:t>
            </a:r>
            <a:endParaRPr lang="en-US" sz="1500" dirty="0"/>
          </a:p>
        </p:txBody>
      </p:sp>
      <p:sp>
        <p:nvSpPr>
          <p:cNvPr id="34" name="Text 32"/>
          <p:cNvSpPr/>
          <p:nvPr/>
        </p:nvSpPr>
        <p:spPr>
          <a:xfrm>
            <a:off x="10021824" y="4169664"/>
            <a:ext cx="1691640" cy="548640"/>
          </a:xfrm>
          <a:prstGeom prst="roundRect">
            <a:avLst>
              <a:gd name="adj" fmla="val 50000"/>
            </a:avLst>
          </a:prstGeom>
          <a:solidFill>
            <a:srgbClr val="FFFFFF"/>
          </a:solidFill>
          <a:ln w="19050">
            <a:solidFill>
              <a:srgbClr val="8D99AA"/>
            </a:solidFill>
            <a:prstDash val="solid"/>
          </a:ln>
        </p:spPr>
        <p:txBody>
          <a:bodyPr wrap="square" lIns="0" tIns="0" rIns="0" bIns="0" rtlCol="0" anchor="ctr"/>
          <a:lstStyle/>
          <a:p>
            <a:pPr algn="ctr" indent="0" marL="0">
              <a:buNone/>
            </a:pPr>
            <a:r>
              <a:rPr lang="en-US" sz="1500" b="1" dirty="0">
                <a:solidFill>
                  <a:srgbClr val="1D3557"/>
                </a:solidFill>
                <a:latin typeface="Golos Text" pitchFamily="34" charset="0"/>
                <a:ea typeface="Golos Text" pitchFamily="34" charset="-122"/>
                <a:cs typeface="Golos Text" pitchFamily="34" charset="-120"/>
              </a:rPr>
              <a:t>Эч качан</a:t>
            </a:r>
            <a:endParaRPr lang="en-US" sz="1500" dirty="0"/>
          </a:p>
        </p:txBody>
      </p:sp>
      <p:sp>
        <p:nvSpPr>
          <p:cNvPr id="35" name="anim3_a"/>
          <p:cNvSpPr/>
          <p:nvPr/>
        </p:nvSpPr>
        <p:spPr>
          <a:xfrm>
            <a:off x="10021824" y="4169664"/>
            <a:ext cx="1691640" cy="548640"/>
          </a:xfrm>
          <a:prstGeom prst="roundRect">
            <a:avLst>
              <a:gd name="adj" fmla="val 50000"/>
            </a:avLst>
          </a:prstGeom>
          <a:solidFill>
            <a:srgbClr val="E7EAF2"/>
          </a:solidFill>
          <a:ln w="34925">
            <a:solidFill>
              <a:srgbClr val="24418C"/>
            </a:solidFill>
            <a:prstDash val="solid"/>
          </a:ln>
        </p:spPr>
        <p:txBody>
          <a:bodyPr wrap="square" lIns="0" tIns="0" rIns="0" bIns="0" rtlCol="0" anchor="ctr"/>
          <a:lstStyle/>
          <a:p>
            <a:pPr algn="ctr" indent="0" marL="0">
              <a:buNone/>
            </a:pPr>
            <a:r>
              <a:rPr lang="en-US" sz="1500" b="1" dirty="0">
                <a:solidFill>
                  <a:srgbClr val="24418C"/>
                </a:solidFill>
                <a:latin typeface="Golos Text" pitchFamily="34" charset="0"/>
                <a:ea typeface="Golos Text" pitchFamily="34" charset="-122"/>
                <a:cs typeface="Golos Text" pitchFamily="34" charset="-120"/>
              </a:rPr>
              <a:t>Эч качан</a:t>
            </a:r>
            <a:endParaRPr lang="en-US" sz="1500" dirty="0"/>
          </a:p>
        </p:txBody>
      </p:sp>
      <p:sp>
        <p:nvSpPr>
          <p:cNvPr id="36" name="Shape 34"/>
          <p:cNvSpPr/>
          <p:nvPr/>
        </p:nvSpPr>
        <p:spPr>
          <a:xfrm>
            <a:off x="365760" y="5111496"/>
            <a:ext cx="11457432" cy="1097280"/>
          </a:xfrm>
          <a:prstGeom prst="roundRect">
            <a:avLst>
              <a:gd name="adj" fmla="val 12000"/>
            </a:avLst>
          </a:prstGeom>
          <a:solidFill>
            <a:srgbClr val="FFFFFF"/>
          </a:solidFill>
          <a:ln w="12700">
            <a:solidFill>
              <a:srgbClr val="E7EAF2"/>
            </a:solidFill>
            <a:prstDash val="solid"/>
          </a:ln>
        </p:spPr>
      </p:sp>
      <p:sp>
        <p:nvSpPr>
          <p:cNvPr id="37" name="Text 35"/>
          <p:cNvSpPr/>
          <p:nvPr/>
        </p:nvSpPr>
        <p:spPr>
          <a:xfrm>
            <a:off x="502920" y="5413248"/>
            <a:ext cx="475488" cy="475488"/>
          </a:xfrm>
          <a:prstGeom prst="roundRect">
            <a:avLst>
              <a:gd name="adj" fmla="val 50000"/>
            </a:avLst>
          </a:prstGeom>
          <a:solidFill>
            <a:srgbClr val="1D3557"/>
          </a:solidFill>
          <a:ln w="19050">
            <a:solidFill>
              <a:srgbClr val="1D3557"/>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4</a:t>
            </a:r>
            <a:endParaRPr lang="en-US" sz="1600" dirty="0"/>
          </a:p>
        </p:txBody>
      </p:sp>
      <p:sp>
        <p:nvSpPr>
          <p:cNvPr id="38" name="Text 36"/>
          <p:cNvSpPr/>
          <p:nvPr/>
        </p:nvSpPr>
        <p:spPr>
          <a:xfrm>
            <a:off x="1143000" y="5184648"/>
            <a:ext cx="5120640" cy="566928"/>
          </a:xfrm>
          <a:prstGeom prst="rect">
            <a:avLst/>
          </a:prstGeom>
          <a:noFill/>
          <a:ln/>
        </p:spPr>
        <p:txBody>
          <a:bodyPr wrap="square" lIns="0" tIns="0" rIns="0" bIns="0" rtlCol="0" anchor="ctr"/>
          <a:lstStyle/>
          <a:p>
            <a:pPr algn="l" indent="0" marL="0">
              <a:buNone/>
            </a:pPr>
            <a:r>
              <a:rPr lang="en-US" sz="1600" b="1" dirty="0">
                <a:solidFill>
                  <a:srgbClr val="1D3557"/>
                </a:solidFill>
                <a:latin typeface="Golos Text" pitchFamily="34" charset="0"/>
                <a:ea typeface="Golos Text" pitchFamily="34" charset="-122"/>
                <a:cs typeface="Golos Text" pitchFamily="34" charset="-120"/>
              </a:rPr>
              <a:t>Бир санды чоңойтсок, медиана өзгөрөт.</a:t>
            </a:r>
            <a:endParaRPr lang="en-US" sz="1600" dirty="0"/>
          </a:p>
        </p:txBody>
      </p:sp>
      <p:sp>
        <p:nvSpPr>
          <p:cNvPr id="39" name="anim4_a"/>
          <p:cNvSpPr/>
          <p:nvPr/>
        </p:nvSpPr>
        <p:spPr>
          <a:xfrm>
            <a:off x="1143000" y="5769864"/>
            <a:ext cx="5120640" cy="411480"/>
          </a:xfrm>
          <a:prstGeom prst="rect">
            <a:avLst/>
          </a:prstGeom>
          <a:noFill/>
          <a:ln/>
        </p:spPr>
        <p:txBody>
          <a:bodyPr wrap="square" lIns="0" tIns="0" rIns="0" bIns="0" rtlCol="0" anchor="t"/>
          <a:lstStyle/>
          <a:p>
            <a:pPr algn="l" indent="0" marL="0">
              <a:buNone/>
            </a:pPr>
            <a:r>
              <a:rPr lang="en-US" sz="1300" i="1" dirty="0">
                <a:solidFill>
                  <a:srgbClr val="4A5A70"/>
                </a:solidFill>
                <a:latin typeface="Golos Text" pitchFamily="34" charset="0"/>
                <a:ea typeface="Golos Text" pitchFamily="34" charset="-122"/>
                <a:cs typeface="Golos Text" pitchFamily="34" charset="-120"/>
              </a:rPr>
              <a:t>1, 2, 3 → 1, 5, 3: 3 (өзгөрдү); 1, 2, 3 → 1, 2, 10: 2 (өзгөргөн жок).</a:t>
            </a:r>
            <a:endParaRPr lang="en-US" sz="1300" dirty="0"/>
          </a:p>
        </p:txBody>
      </p:sp>
      <p:sp>
        <p:nvSpPr>
          <p:cNvPr id="40" name="Text 38"/>
          <p:cNvSpPr/>
          <p:nvPr/>
        </p:nvSpPr>
        <p:spPr>
          <a:xfrm>
            <a:off x="6400800" y="5385816"/>
            <a:ext cx="1691640" cy="548640"/>
          </a:xfrm>
          <a:prstGeom prst="roundRect">
            <a:avLst>
              <a:gd name="adj" fmla="val 50000"/>
            </a:avLst>
          </a:prstGeom>
          <a:solidFill>
            <a:srgbClr val="FFFFFF"/>
          </a:solidFill>
          <a:ln w="19050">
            <a:solidFill>
              <a:srgbClr val="8D99AA"/>
            </a:solidFill>
            <a:prstDash val="solid"/>
          </a:ln>
        </p:spPr>
        <p:txBody>
          <a:bodyPr wrap="square" lIns="0" tIns="0" rIns="0" bIns="0" rtlCol="0" anchor="ctr"/>
          <a:lstStyle/>
          <a:p>
            <a:pPr algn="ctr" indent="0" marL="0">
              <a:buNone/>
            </a:pPr>
            <a:r>
              <a:rPr lang="en-US" sz="1500" b="1" dirty="0">
                <a:solidFill>
                  <a:srgbClr val="1D3557"/>
                </a:solidFill>
                <a:latin typeface="Golos Text" pitchFamily="34" charset="0"/>
                <a:ea typeface="Golos Text" pitchFamily="34" charset="-122"/>
                <a:cs typeface="Golos Text" pitchFamily="34" charset="-120"/>
              </a:rPr>
              <a:t>Ар дайым</a:t>
            </a:r>
            <a:endParaRPr lang="en-US" sz="1500" dirty="0"/>
          </a:p>
        </p:txBody>
      </p:sp>
      <p:sp>
        <p:nvSpPr>
          <p:cNvPr id="41" name="Text 39"/>
          <p:cNvSpPr/>
          <p:nvPr/>
        </p:nvSpPr>
        <p:spPr>
          <a:xfrm>
            <a:off x="8211312" y="5385816"/>
            <a:ext cx="1691640" cy="548640"/>
          </a:xfrm>
          <a:prstGeom prst="roundRect">
            <a:avLst>
              <a:gd name="adj" fmla="val 50000"/>
            </a:avLst>
          </a:prstGeom>
          <a:solidFill>
            <a:srgbClr val="FFFFFF"/>
          </a:solidFill>
          <a:ln w="19050">
            <a:solidFill>
              <a:srgbClr val="8D99AA"/>
            </a:solidFill>
            <a:prstDash val="solid"/>
          </a:ln>
        </p:spPr>
        <p:txBody>
          <a:bodyPr wrap="square" lIns="0" tIns="0" rIns="0" bIns="0" rtlCol="0" anchor="ctr"/>
          <a:lstStyle/>
          <a:p>
            <a:pPr algn="ctr" indent="0" marL="0">
              <a:buNone/>
            </a:pPr>
            <a:r>
              <a:rPr lang="en-US" sz="1500" b="1" dirty="0">
                <a:solidFill>
                  <a:srgbClr val="1D3557"/>
                </a:solidFill>
                <a:latin typeface="Golos Text" pitchFamily="34" charset="0"/>
                <a:ea typeface="Golos Text" pitchFamily="34" charset="-122"/>
                <a:cs typeface="Golos Text" pitchFamily="34" charset="-120"/>
              </a:rPr>
              <a:t>Кээде</a:t>
            </a:r>
            <a:endParaRPr lang="en-US" sz="1500" dirty="0"/>
          </a:p>
        </p:txBody>
      </p:sp>
      <p:sp>
        <p:nvSpPr>
          <p:cNvPr id="42" name="anim4_a"/>
          <p:cNvSpPr/>
          <p:nvPr/>
        </p:nvSpPr>
        <p:spPr>
          <a:xfrm>
            <a:off x="8211312" y="5385816"/>
            <a:ext cx="1691640" cy="548640"/>
          </a:xfrm>
          <a:prstGeom prst="roundRect">
            <a:avLst>
              <a:gd name="adj" fmla="val 50000"/>
            </a:avLst>
          </a:prstGeom>
          <a:solidFill>
            <a:srgbClr val="F5EBE3"/>
          </a:solidFill>
          <a:ln w="34925">
            <a:solidFill>
              <a:srgbClr val="A84400"/>
            </a:solidFill>
            <a:prstDash val="solid"/>
          </a:ln>
        </p:spPr>
        <p:txBody>
          <a:bodyPr wrap="square" lIns="0" tIns="0" rIns="0" bIns="0" rtlCol="0" anchor="ctr"/>
          <a:lstStyle/>
          <a:p>
            <a:pPr algn="ctr" indent="0" marL="0">
              <a:buNone/>
            </a:pPr>
            <a:r>
              <a:rPr lang="en-US" sz="1500" b="1" dirty="0">
                <a:solidFill>
                  <a:srgbClr val="A84400"/>
                </a:solidFill>
                <a:latin typeface="Golos Text" pitchFamily="34" charset="0"/>
                <a:ea typeface="Golos Text" pitchFamily="34" charset="-122"/>
                <a:cs typeface="Golos Text" pitchFamily="34" charset="-120"/>
              </a:rPr>
              <a:t>Кээде</a:t>
            </a:r>
            <a:endParaRPr lang="en-US" sz="1500" dirty="0"/>
          </a:p>
        </p:txBody>
      </p:sp>
      <p:sp>
        <p:nvSpPr>
          <p:cNvPr id="43" name="Text 41"/>
          <p:cNvSpPr/>
          <p:nvPr/>
        </p:nvSpPr>
        <p:spPr>
          <a:xfrm>
            <a:off x="10021824" y="5385816"/>
            <a:ext cx="1691640" cy="548640"/>
          </a:xfrm>
          <a:prstGeom prst="roundRect">
            <a:avLst>
              <a:gd name="adj" fmla="val 50000"/>
            </a:avLst>
          </a:prstGeom>
          <a:solidFill>
            <a:srgbClr val="FFFFFF"/>
          </a:solidFill>
          <a:ln w="19050">
            <a:solidFill>
              <a:srgbClr val="8D99AA"/>
            </a:solidFill>
            <a:prstDash val="solid"/>
          </a:ln>
        </p:spPr>
        <p:txBody>
          <a:bodyPr wrap="square" lIns="0" tIns="0" rIns="0" bIns="0" rtlCol="0" anchor="ctr"/>
          <a:lstStyle/>
          <a:p>
            <a:pPr algn="ctr" indent="0" marL="0">
              <a:buNone/>
            </a:pPr>
            <a:r>
              <a:rPr lang="en-US" sz="1500" b="1" dirty="0">
                <a:solidFill>
                  <a:srgbClr val="1D3557"/>
                </a:solidFill>
                <a:latin typeface="Golos Text" pitchFamily="34" charset="0"/>
                <a:ea typeface="Golos Text" pitchFamily="34" charset="-122"/>
                <a:cs typeface="Golos Text" pitchFamily="34" charset="-120"/>
              </a:rPr>
              <a:t>Эч качан</a:t>
            </a:r>
            <a:endParaRPr lang="en-US" sz="1500" dirty="0"/>
          </a:p>
        </p:txBody>
      </p:sp>
      <p:sp>
        <p:nvSpPr>
          <p:cNvPr id="44" name="Slide Number Placeholder 0"/>
          <p:cNvSpPr>
            <a:spLocks noGrp="1"/>
          </p:cNvSpPr>
          <p:nvPr>
            <p:ph type="sldNum" sz="quarter" idx="4294967295"/>
          </p:nvPr>
        </p:nvSpPr>
        <p:spPr>
          <a:xfrm>
            <a:off x="11384280" y="6492240"/>
            <a:ext cx="438912"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99AA"/>
                </a:solidFill>
                <a:latin typeface="Golos Text"/>
                <a:ea typeface="Golos Text"/>
                <a:cs typeface="Golos Text"/>
              </a:defRPr>
            </a:lvl1pPr>
          </a:lstStyle>
          <a:p>
            <a:pPr algn="r"/>
            <a:fld id="{F7021451-1387-4CA6-816F-3879F97B5CBC}" type="slidenum">
              <a:rPr b="0" lang="en-US"/>
              <a:t>22</a:t>
            </a:fld>
            <a:endParaRPr lang="en-US"/>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5"/>
                                        </p:tgtEl>
                                        <p:attrNameLst>
                                          <p:attrName>style.visibility</p:attrName>
                                        </p:attrNameLst>
                                      </p:cBhvr>
                                      <p:to>
                                        <p:strVal val="visible"/>
                                      </p:to>
                                    </p:set>
                                    <p:animEffect transition="in" filter="fade">
                                      <p:cBhvr>
                                        <p:cTn id="5" dur="600"/>
                                        <p:tgtEl>
                                          <p:spTgt spid="1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8"/>
                                        </p:tgtEl>
                                        <p:attrNameLst>
                                          <p:attrName>style.visibility</p:attrName>
                                        </p:attrNameLst>
                                      </p:cBhvr>
                                      <p:to>
                                        <p:strVal val="visible"/>
                                      </p:to>
                                    </p:set>
                                    <p:animEffect transition="in" filter="fade">
                                      <p:cBhvr>
                                        <p:cTn id="8" dur="6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600"/>
                                        <p:tgtEl>
                                          <p:spTgt spid="2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600"/>
                                        <p:tgtEl>
                                          <p:spTgt spid="25"/>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600"/>
                                        <p:tgtEl>
                                          <p:spTgt spid="3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5"/>
                                        </p:tgtEl>
                                        <p:attrNameLst>
                                          <p:attrName>style.visibility</p:attrName>
                                        </p:attrNameLst>
                                      </p:cBhvr>
                                      <p:to>
                                        <p:strVal val="visible"/>
                                      </p:to>
                                    </p:set>
                                    <p:animEffect transition="in" filter="fade">
                                      <p:cBhvr>
                                        <p:cTn id="24" dur="600"/>
                                        <p:tgtEl>
                                          <p:spTgt spid="35"/>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9"/>
                                        </p:tgtEl>
                                        <p:attrNameLst>
                                          <p:attrName>style.visibility</p:attrName>
                                        </p:attrNameLst>
                                      </p:cBhvr>
                                      <p:to>
                                        <p:strVal val="visible"/>
                                      </p:to>
                                    </p:set>
                                    <p:animEffect transition="in" filter="fade">
                                      <p:cBhvr>
                                        <p:cTn id="29" dur="600"/>
                                        <p:tgtEl>
                                          <p:spTgt spid="3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fade">
                                      <p:cBhvr>
                                        <p:cTn id="32" dur="6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animBg="1"/>
      <p:bldP spid="23" grpId="0" animBg="1"/>
      <p:bldP spid="25" grpId="0" animBg="1"/>
      <p:bldP spid="31" grpId="0" animBg="1"/>
      <p:bldP spid="35" grpId="0" animBg="1"/>
      <p:bldP spid="39" grpId="0" animBg="1"/>
      <p:bldP spid="4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11457432" cy="640080"/>
          </a:xfrm>
          <a:prstGeom prst="roundRect">
            <a:avLst>
              <a:gd name="adj" fmla="val 22000"/>
            </a:avLst>
          </a:prstGeom>
          <a:solidFill>
            <a:srgbClr val="FFFFFF"/>
          </a:solidFill>
          <a:ln w="19050">
            <a:solidFill>
              <a:srgbClr val="1D3557"/>
            </a:solidFill>
            <a:prstDash val="solid"/>
          </a:ln>
        </p:spPr>
      </p:sp>
      <p:sp>
        <p:nvSpPr>
          <p:cNvPr id="3" name="Shape 1"/>
          <p:cNvSpPr/>
          <p:nvPr/>
        </p:nvSpPr>
        <p:spPr>
          <a:xfrm>
            <a:off x="557784" y="369418"/>
            <a:ext cx="70409" cy="358445"/>
          </a:xfrm>
          <a:prstGeom prst="roundRect">
            <a:avLst>
              <a:gd name="adj" fmla="val 50000"/>
            </a:avLst>
          </a:prstGeom>
          <a:solidFill>
            <a:srgbClr val="007A5A"/>
          </a:solidFill>
          <a:ln/>
        </p:spPr>
      </p:sp>
      <p:sp>
        <p:nvSpPr>
          <p:cNvPr id="4" name="Shape 2"/>
          <p:cNvSpPr/>
          <p:nvPr/>
        </p:nvSpPr>
        <p:spPr>
          <a:xfrm>
            <a:off x="691561" y="369418"/>
            <a:ext cx="70409" cy="358445"/>
          </a:xfrm>
          <a:prstGeom prst="roundRect">
            <a:avLst>
              <a:gd name="adj" fmla="val 50000"/>
            </a:avLst>
          </a:prstGeom>
          <a:solidFill>
            <a:srgbClr val="A84400"/>
          </a:solidFill>
          <a:ln/>
        </p:spPr>
      </p:sp>
      <p:sp>
        <p:nvSpPr>
          <p:cNvPr id="5" name="Shape 3"/>
          <p:cNvSpPr/>
          <p:nvPr/>
        </p:nvSpPr>
        <p:spPr>
          <a:xfrm>
            <a:off x="825337" y="369418"/>
            <a:ext cx="70409" cy="358445"/>
          </a:xfrm>
          <a:prstGeom prst="roundRect">
            <a:avLst>
              <a:gd name="adj" fmla="val 50000"/>
            </a:avLst>
          </a:prstGeom>
          <a:solidFill>
            <a:srgbClr val="24418C"/>
          </a:solidFill>
          <a:ln/>
        </p:spPr>
      </p:sp>
      <p:sp>
        <p:nvSpPr>
          <p:cNvPr id="6" name="Text 4"/>
          <p:cNvSpPr/>
          <p:nvPr/>
        </p:nvSpPr>
        <p:spPr>
          <a:xfrm>
            <a:off x="1096914" y="228600"/>
            <a:ext cx="7589520" cy="640080"/>
          </a:xfrm>
          <a:prstGeom prst="rect">
            <a:avLst/>
          </a:prstGeom>
          <a:noFill/>
          <a:ln/>
        </p:spPr>
        <p:txBody>
          <a:bodyPr wrap="square" lIns="0" tIns="0" rIns="0" bIns="0" rtlCol="0" anchor="ctr"/>
          <a:lstStyle/>
          <a:p>
            <a:pPr algn="l" indent="0" marL="0">
              <a:buNone/>
            </a:pPr>
            <a:r>
              <a:rPr lang="en-US" sz="2200" b="1" dirty="0">
                <a:solidFill>
                  <a:srgbClr val="1D3557"/>
                </a:solidFill>
                <a:latin typeface="Golos Text" pitchFamily="34" charset="0"/>
                <a:ea typeface="Golos Text" pitchFamily="34" charset="-122"/>
                <a:cs typeface="Golos Text" pitchFamily="34" charset="-120"/>
              </a:rPr>
              <a:t>Өзүңдү баала</a:t>
            </a:r>
            <a:endParaRPr lang="en-US" sz="2200" dirty="0"/>
          </a:p>
        </p:txBody>
      </p:sp>
      <p:sp>
        <p:nvSpPr>
          <p:cNvPr id="7" name="Text 5"/>
          <p:cNvSpPr/>
          <p:nvPr/>
        </p:nvSpPr>
        <p:spPr>
          <a:xfrm>
            <a:off x="8778240" y="228600"/>
            <a:ext cx="2880360" cy="640080"/>
          </a:xfrm>
          <a:prstGeom prst="rect">
            <a:avLst/>
          </a:prstGeom>
          <a:noFill/>
          <a:ln/>
        </p:spPr>
        <p:txBody>
          <a:bodyPr wrap="square" lIns="0" tIns="0" rIns="0" bIns="0" rtlCol="0" anchor="ctr"/>
          <a:lstStyle/>
          <a:p>
            <a:pPr algn="r" indent="0" marL="0">
              <a:buNone/>
            </a:pPr>
            <a:r>
              <a:rPr lang="en-US" sz="1100" dirty="0">
                <a:solidFill>
                  <a:srgbClr val="4A5A70"/>
                </a:solidFill>
                <a:latin typeface="Golos Text" pitchFamily="34" charset="0"/>
                <a:ea typeface="Golos Text" pitchFamily="34" charset="-122"/>
                <a:cs typeface="Golos Text" pitchFamily="34" charset="-120"/>
              </a:rPr>
              <a:t>Статистика › Төрт өлчөм</a:t>
            </a:r>
            <a:endParaRPr lang="en-US" sz="1100" dirty="0"/>
          </a:p>
        </p:txBody>
      </p:sp>
      <p:sp>
        <p:nvSpPr>
          <p:cNvPr id="8" name="Text 6"/>
          <p:cNvSpPr/>
          <p:nvPr/>
        </p:nvSpPr>
        <p:spPr>
          <a:xfrm>
            <a:off x="411480" y="960120"/>
            <a:ext cx="8412480" cy="329184"/>
          </a:xfrm>
          <a:prstGeom prst="rect">
            <a:avLst/>
          </a:prstGeom>
          <a:noFill/>
          <a:ln/>
        </p:spPr>
        <p:txBody>
          <a:bodyPr wrap="square" lIns="0" tIns="0" rIns="0" bIns="0" rtlCol="0" anchor="t"/>
          <a:lstStyle/>
          <a:p>
            <a:pPr algn="l" indent="0" marL="0">
              <a:buNone/>
            </a:pPr>
            <a:r>
              <a:rPr lang="en-US" sz="1500" i="1" dirty="0">
                <a:solidFill>
                  <a:srgbClr val="4A5A70"/>
                </a:solidFill>
                <a:latin typeface="Golos Text" pitchFamily="34" charset="0"/>
                <a:ea typeface="Golos Text" pitchFamily="34" charset="-122"/>
                <a:cs typeface="Golos Text" pitchFamily="34" charset="-120"/>
              </a:rPr>
              <a:t>Ар бир сапта бир тегерекче белгиле. Чынчыл бол — бул сен үчүн</a:t>
            </a:r>
            <a:endParaRPr lang="en-US" sz="1500" dirty="0"/>
          </a:p>
        </p:txBody>
      </p:sp>
      <p:sp>
        <p:nvSpPr>
          <p:cNvPr id="9" name="Text 7"/>
          <p:cNvSpPr/>
          <p:nvPr/>
        </p:nvSpPr>
        <p:spPr>
          <a:xfrm>
            <a:off x="8897112" y="969264"/>
            <a:ext cx="2926080" cy="310896"/>
          </a:xfrm>
          <a:prstGeom prst="rect">
            <a:avLst/>
          </a:prstGeom>
          <a:noFill/>
          <a:ln/>
        </p:spPr>
        <p:txBody>
          <a:bodyPr wrap="square" lIns="0" tIns="0" rIns="0" bIns="0" rtlCol="0" anchor="ctr"/>
          <a:lstStyle/>
          <a:p>
            <a:pPr algn="r" indent="0" marL="0">
              <a:buNone/>
            </a:pPr>
            <a:r>
              <a:rPr lang="en-US" sz="1200" dirty="0">
                <a:solidFill>
                  <a:srgbClr val="4A5A70"/>
                </a:solidFill>
                <a:latin typeface="Golos Text" pitchFamily="34" charset="0"/>
                <a:ea typeface="Golos Text" pitchFamily="34" charset="-122"/>
                <a:cs typeface="Golos Text" pitchFamily="34" charset="-120"/>
              </a:rPr>
              <a:t>Жабуу · 30 сек</a:t>
            </a:r>
            <a:endParaRPr lang="en-US" sz="1200" dirty="0"/>
          </a:p>
        </p:txBody>
      </p:sp>
      <p:sp>
        <p:nvSpPr>
          <p:cNvPr id="10" name="Text 8"/>
          <p:cNvSpPr/>
          <p:nvPr/>
        </p:nvSpPr>
        <p:spPr>
          <a:xfrm>
            <a:off x="365760" y="6492240"/>
            <a:ext cx="5486400" cy="228600"/>
          </a:xfrm>
          <a:prstGeom prst="rect">
            <a:avLst/>
          </a:prstGeom>
          <a:noFill/>
          <a:ln/>
        </p:spPr>
        <p:txBody>
          <a:bodyPr wrap="square" lIns="0" tIns="0" rIns="0" bIns="0" rtlCol="0" anchor="t"/>
          <a:lstStyle/>
          <a:p>
            <a:pPr algn="l" indent="0" marL="0">
              <a:buNone/>
            </a:pPr>
            <a:r>
              <a:rPr lang="en-US" sz="900" dirty="0">
                <a:solidFill>
                  <a:srgbClr val="8D99AA"/>
                </a:solidFill>
                <a:latin typeface="Golos Text" pitchFamily="34" charset="0"/>
                <a:ea typeface="Golos Text" pitchFamily="34" charset="-122"/>
                <a:cs typeface="Golos Text" pitchFamily="34" charset="-120"/>
              </a:rPr>
              <a:t>MathKG · Математика кыргызча</a:t>
            </a:r>
            <a:endParaRPr lang="en-US" sz="900" dirty="0"/>
          </a:p>
        </p:txBody>
      </p:sp>
      <p:sp>
        <p:nvSpPr>
          <p:cNvPr id="11" name="Text 9"/>
          <p:cNvSpPr/>
          <p:nvPr/>
        </p:nvSpPr>
        <p:spPr>
          <a:xfrm>
            <a:off x="7680960" y="6492240"/>
            <a:ext cx="3657600" cy="228600"/>
          </a:xfrm>
          <a:prstGeom prst="rect">
            <a:avLst/>
          </a:prstGeom>
          <a:noFill/>
          <a:ln/>
        </p:spPr>
        <p:txBody>
          <a:bodyPr wrap="square" lIns="0" tIns="0" rIns="0" bIns="0" rtlCol="0" anchor="t"/>
          <a:lstStyle/>
          <a:p>
            <a:pPr algn="r" indent="0" marL="0">
              <a:buNone/>
            </a:pPr>
            <a:r>
              <a:rPr lang="en-US" sz="900" dirty="0">
                <a:solidFill>
                  <a:srgbClr val="8D99AA"/>
                </a:solidFill>
                <a:latin typeface="Golos Text" pitchFamily="34" charset="0"/>
                <a:ea typeface="Golos Text" pitchFamily="34" charset="-122"/>
                <a:cs typeface="Golos Text" pitchFamily="34" charset="-120"/>
              </a:rPr>
              <a:t>MathKG ыкмасы · 30 сек</a:t>
            </a:r>
            <a:endParaRPr lang="en-US" sz="900" dirty="0"/>
          </a:p>
        </p:txBody>
      </p:sp>
      <p:sp>
        <p:nvSpPr>
          <p:cNvPr id="12" name="Shape 10"/>
          <p:cNvSpPr/>
          <p:nvPr/>
        </p:nvSpPr>
        <p:spPr>
          <a:xfrm>
            <a:off x="365760" y="1417320"/>
            <a:ext cx="7589520" cy="548640"/>
          </a:xfrm>
          <a:prstGeom prst="roundRect">
            <a:avLst>
              <a:gd name="adj" fmla="val 25000"/>
            </a:avLst>
          </a:prstGeom>
          <a:solidFill>
            <a:srgbClr val="1D3557"/>
          </a:solidFill>
          <a:ln/>
        </p:spPr>
      </p:sp>
      <p:sp>
        <p:nvSpPr>
          <p:cNvPr id="13" name="Text 11"/>
          <p:cNvSpPr/>
          <p:nvPr/>
        </p:nvSpPr>
        <p:spPr>
          <a:xfrm>
            <a:off x="548640" y="1417320"/>
            <a:ext cx="2743200" cy="548640"/>
          </a:xfrm>
          <a:prstGeom prst="rect">
            <a:avLst/>
          </a:prstGeom>
          <a:noFill/>
          <a:ln/>
        </p:spPr>
        <p:txBody>
          <a:bodyPr wrap="square" lIns="0" tIns="0" rIns="0" bIns="0" rtlCol="0" anchor="ctr"/>
          <a:lstStyle/>
          <a:p>
            <a:pPr algn="l" indent="0" marL="0">
              <a:buNone/>
            </a:pPr>
            <a:r>
              <a:rPr lang="en-US" sz="1500" b="1" dirty="0">
                <a:solidFill>
                  <a:srgbClr val="FFFFFF"/>
                </a:solidFill>
                <a:latin typeface="Golos Text" pitchFamily="34" charset="0"/>
                <a:ea typeface="Golos Text" pitchFamily="34" charset="-122"/>
                <a:cs typeface="Golos Text" pitchFamily="34" charset="-120"/>
              </a:rPr>
              <a:t>Мен…</a:t>
            </a:r>
            <a:endParaRPr lang="en-US" sz="1500" dirty="0"/>
          </a:p>
        </p:txBody>
      </p:sp>
      <p:sp>
        <p:nvSpPr>
          <p:cNvPr id="14" name="Text 12"/>
          <p:cNvSpPr/>
          <p:nvPr/>
        </p:nvSpPr>
        <p:spPr>
          <a:xfrm>
            <a:off x="4572000" y="1417320"/>
            <a:ext cx="10972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Golos Text" pitchFamily="34" charset="0"/>
                <a:ea typeface="Golos Text" pitchFamily="34" charset="-122"/>
                <a:cs typeface="Golos Text" pitchFamily="34" charset="-120"/>
              </a:rPr>
              <a:t>Түшүндүм</a:t>
            </a:r>
            <a:endParaRPr lang="en-US" sz="1200" dirty="0"/>
          </a:p>
        </p:txBody>
      </p:sp>
      <p:sp>
        <p:nvSpPr>
          <p:cNvPr id="15" name="Text 13"/>
          <p:cNvSpPr/>
          <p:nvPr/>
        </p:nvSpPr>
        <p:spPr>
          <a:xfrm>
            <a:off x="5669280" y="1417320"/>
            <a:ext cx="10972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Golos Text" pitchFamily="34" charset="0"/>
                <a:ea typeface="Golos Text" pitchFamily="34" charset="-122"/>
                <a:cs typeface="Golos Text" pitchFamily="34" charset="-120"/>
              </a:rPr>
              <a:t>Дагы машыгам</a:t>
            </a:r>
            <a:endParaRPr lang="en-US" sz="1200" dirty="0"/>
          </a:p>
        </p:txBody>
      </p:sp>
      <p:sp>
        <p:nvSpPr>
          <p:cNvPr id="16" name="Text 14"/>
          <p:cNvSpPr/>
          <p:nvPr/>
        </p:nvSpPr>
        <p:spPr>
          <a:xfrm>
            <a:off x="6766560" y="1417320"/>
            <a:ext cx="10972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Golos Text" pitchFamily="34" charset="0"/>
                <a:ea typeface="Golos Text" pitchFamily="34" charset="-122"/>
                <a:cs typeface="Golos Text" pitchFamily="34" charset="-120"/>
              </a:rPr>
              <a:t>Жардам керек</a:t>
            </a:r>
            <a:endParaRPr lang="en-US" sz="1200" dirty="0"/>
          </a:p>
        </p:txBody>
      </p:sp>
      <p:sp>
        <p:nvSpPr>
          <p:cNvPr id="17" name="Shape 15"/>
          <p:cNvSpPr/>
          <p:nvPr/>
        </p:nvSpPr>
        <p:spPr>
          <a:xfrm>
            <a:off x="365760" y="2103120"/>
            <a:ext cx="7589520" cy="713232"/>
          </a:xfrm>
          <a:prstGeom prst="roundRect">
            <a:avLst>
              <a:gd name="adj" fmla="val 20000"/>
            </a:avLst>
          </a:prstGeom>
          <a:solidFill>
            <a:srgbClr val="F3F5FB"/>
          </a:solidFill>
          <a:ln w="12700">
            <a:solidFill>
              <a:srgbClr val="E7EAF2"/>
            </a:solidFill>
            <a:prstDash val="solid"/>
          </a:ln>
        </p:spPr>
      </p:sp>
      <p:sp>
        <p:nvSpPr>
          <p:cNvPr id="18" name="Text 16"/>
          <p:cNvSpPr/>
          <p:nvPr/>
        </p:nvSpPr>
        <p:spPr>
          <a:xfrm>
            <a:off x="548640" y="2103120"/>
            <a:ext cx="3931920" cy="713232"/>
          </a:xfrm>
          <a:prstGeom prst="rect">
            <a:avLst/>
          </a:prstGeom>
          <a:noFill/>
          <a:ln/>
        </p:spPr>
        <p:txBody>
          <a:bodyPr wrap="square" lIns="0" tIns="0" rIns="0" bIns="0" rtlCol="0" anchor="ctr"/>
          <a:lstStyle/>
          <a:p>
            <a:pPr algn="l" indent="0" marL="0">
              <a:buNone/>
            </a:pPr>
            <a:r>
              <a:rPr lang="en-US" sz="1500" dirty="0">
                <a:solidFill>
                  <a:srgbClr val="1D3557"/>
                </a:solidFill>
                <a:latin typeface="Golos Text" pitchFamily="34" charset="0"/>
                <a:ea typeface="Golos Text" pitchFamily="34" charset="-122"/>
                <a:cs typeface="Golos Text" pitchFamily="34" charset="-120"/>
              </a:rPr>
              <a:t>орточо арифметикалыкты таба алам</a:t>
            </a:r>
            <a:endParaRPr lang="en-US" sz="1500" dirty="0"/>
          </a:p>
        </p:txBody>
      </p:sp>
      <p:sp>
        <p:nvSpPr>
          <p:cNvPr id="19" name="Shape 17"/>
          <p:cNvSpPr/>
          <p:nvPr/>
        </p:nvSpPr>
        <p:spPr>
          <a:xfrm>
            <a:off x="4919472" y="2258568"/>
            <a:ext cx="402336" cy="402336"/>
          </a:xfrm>
          <a:prstGeom prst="ellipse">
            <a:avLst/>
          </a:prstGeom>
          <a:solidFill>
            <a:srgbClr val="FFFFFF"/>
          </a:solidFill>
          <a:ln w="25400">
            <a:solidFill>
              <a:srgbClr val="007A5A"/>
            </a:solidFill>
            <a:prstDash val="solid"/>
          </a:ln>
        </p:spPr>
      </p:sp>
      <p:sp>
        <p:nvSpPr>
          <p:cNvPr id="20" name="Shape 18"/>
          <p:cNvSpPr/>
          <p:nvPr/>
        </p:nvSpPr>
        <p:spPr>
          <a:xfrm>
            <a:off x="6016752" y="2258568"/>
            <a:ext cx="402336" cy="402336"/>
          </a:xfrm>
          <a:prstGeom prst="ellipse">
            <a:avLst/>
          </a:prstGeom>
          <a:solidFill>
            <a:srgbClr val="FFFFFF"/>
          </a:solidFill>
          <a:ln w="25400">
            <a:solidFill>
              <a:srgbClr val="A84400"/>
            </a:solidFill>
            <a:prstDash val="solid"/>
          </a:ln>
        </p:spPr>
      </p:sp>
      <p:sp>
        <p:nvSpPr>
          <p:cNvPr id="21" name="Shape 19"/>
          <p:cNvSpPr/>
          <p:nvPr/>
        </p:nvSpPr>
        <p:spPr>
          <a:xfrm>
            <a:off x="7114032" y="2258568"/>
            <a:ext cx="402336" cy="402336"/>
          </a:xfrm>
          <a:prstGeom prst="ellipse">
            <a:avLst/>
          </a:prstGeom>
          <a:solidFill>
            <a:srgbClr val="FFFFFF"/>
          </a:solidFill>
          <a:ln w="25400">
            <a:solidFill>
              <a:srgbClr val="24418C"/>
            </a:solidFill>
            <a:prstDash val="solid"/>
          </a:ln>
        </p:spPr>
      </p:sp>
      <p:sp>
        <p:nvSpPr>
          <p:cNvPr id="22" name="Shape 20"/>
          <p:cNvSpPr/>
          <p:nvPr/>
        </p:nvSpPr>
        <p:spPr>
          <a:xfrm>
            <a:off x="365760" y="2926080"/>
            <a:ext cx="7589520" cy="713232"/>
          </a:xfrm>
          <a:prstGeom prst="roundRect">
            <a:avLst>
              <a:gd name="adj" fmla="val 20000"/>
            </a:avLst>
          </a:prstGeom>
          <a:solidFill>
            <a:srgbClr val="FFFFFF"/>
          </a:solidFill>
          <a:ln w="12700">
            <a:solidFill>
              <a:srgbClr val="E7EAF2"/>
            </a:solidFill>
            <a:prstDash val="solid"/>
          </a:ln>
        </p:spPr>
      </p:sp>
      <p:sp>
        <p:nvSpPr>
          <p:cNvPr id="23" name="Text 21"/>
          <p:cNvSpPr/>
          <p:nvPr/>
        </p:nvSpPr>
        <p:spPr>
          <a:xfrm>
            <a:off x="548640" y="2926080"/>
            <a:ext cx="3931920" cy="713232"/>
          </a:xfrm>
          <a:prstGeom prst="rect">
            <a:avLst/>
          </a:prstGeom>
          <a:noFill/>
          <a:ln/>
        </p:spPr>
        <p:txBody>
          <a:bodyPr wrap="square" lIns="0" tIns="0" rIns="0" bIns="0" rtlCol="0" anchor="ctr"/>
          <a:lstStyle/>
          <a:p>
            <a:pPr algn="l" indent="0" marL="0">
              <a:buNone/>
            </a:pPr>
            <a:r>
              <a:rPr lang="en-US" sz="1500" dirty="0">
                <a:solidFill>
                  <a:srgbClr val="1D3557"/>
                </a:solidFill>
                <a:latin typeface="Golos Text" pitchFamily="34" charset="0"/>
                <a:ea typeface="Golos Text" pitchFamily="34" charset="-122"/>
                <a:cs typeface="Golos Text" pitchFamily="34" charset="-120"/>
              </a:rPr>
              <a:t>так жана жуп тизменин медианасын таба алам</a:t>
            </a:r>
            <a:endParaRPr lang="en-US" sz="1500" dirty="0"/>
          </a:p>
        </p:txBody>
      </p:sp>
      <p:sp>
        <p:nvSpPr>
          <p:cNvPr id="24" name="Shape 22"/>
          <p:cNvSpPr/>
          <p:nvPr/>
        </p:nvSpPr>
        <p:spPr>
          <a:xfrm>
            <a:off x="4919472" y="3081528"/>
            <a:ext cx="402336" cy="402336"/>
          </a:xfrm>
          <a:prstGeom prst="ellipse">
            <a:avLst/>
          </a:prstGeom>
          <a:solidFill>
            <a:srgbClr val="FFFFFF"/>
          </a:solidFill>
          <a:ln w="25400">
            <a:solidFill>
              <a:srgbClr val="007A5A"/>
            </a:solidFill>
            <a:prstDash val="solid"/>
          </a:ln>
        </p:spPr>
      </p:sp>
      <p:sp>
        <p:nvSpPr>
          <p:cNvPr id="25" name="Shape 23"/>
          <p:cNvSpPr/>
          <p:nvPr/>
        </p:nvSpPr>
        <p:spPr>
          <a:xfrm>
            <a:off x="6016752" y="3081528"/>
            <a:ext cx="402336" cy="402336"/>
          </a:xfrm>
          <a:prstGeom prst="ellipse">
            <a:avLst/>
          </a:prstGeom>
          <a:solidFill>
            <a:srgbClr val="FFFFFF"/>
          </a:solidFill>
          <a:ln w="25400">
            <a:solidFill>
              <a:srgbClr val="A84400"/>
            </a:solidFill>
            <a:prstDash val="solid"/>
          </a:ln>
        </p:spPr>
      </p:sp>
      <p:sp>
        <p:nvSpPr>
          <p:cNvPr id="26" name="Shape 24"/>
          <p:cNvSpPr/>
          <p:nvPr/>
        </p:nvSpPr>
        <p:spPr>
          <a:xfrm>
            <a:off x="7114032" y="3081528"/>
            <a:ext cx="402336" cy="402336"/>
          </a:xfrm>
          <a:prstGeom prst="ellipse">
            <a:avLst/>
          </a:prstGeom>
          <a:solidFill>
            <a:srgbClr val="FFFFFF"/>
          </a:solidFill>
          <a:ln w="25400">
            <a:solidFill>
              <a:srgbClr val="24418C"/>
            </a:solidFill>
            <a:prstDash val="solid"/>
          </a:ln>
        </p:spPr>
      </p:sp>
      <p:sp>
        <p:nvSpPr>
          <p:cNvPr id="27" name="Shape 25"/>
          <p:cNvSpPr/>
          <p:nvPr/>
        </p:nvSpPr>
        <p:spPr>
          <a:xfrm>
            <a:off x="365760" y="3749040"/>
            <a:ext cx="7589520" cy="713232"/>
          </a:xfrm>
          <a:prstGeom prst="roundRect">
            <a:avLst>
              <a:gd name="adj" fmla="val 20000"/>
            </a:avLst>
          </a:prstGeom>
          <a:solidFill>
            <a:srgbClr val="F3F5FB"/>
          </a:solidFill>
          <a:ln w="12700">
            <a:solidFill>
              <a:srgbClr val="E7EAF2"/>
            </a:solidFill>
            <a:prstDash val="solid"/>
          </a:ln>
        </p:spPr>
      </p:sp>
      <p:sp>
        <p:nvSpPr>
          <p:cNvPr id="28" name="Text 26"/>
          <p:cNvSpPr/>
          <p:nvPr/>
        </p:nvSpPr>
        <p:spPr>
          <a:xfrm>
            <a:off x="548640" y="3749040"/>
            <a:ext cx="3931920" cy="713232"/>
          </a:xfrm>
          <a:prstGeom prst="rect">
            <a:avLst/>
          </a:prstGeom>
          <a:noFill/>
          <a:ln/>
        </p:spPr>
        <p:txBody>
          <a:bodyPr wrap="square" lIns="0" tIns="0" rIns="0" bIns="0" rtlCol="0" anchor="ctr"/>
          <a:lstStyle/>
          <a:p>
            <a:pPr algn="l" indent="0" marL="0">
              <a:buNone/>
            </a:pPr>
            <a:r>
              <a:rPr lang="en-US" sz="1500" dirty="0">
                <a:solidFill>
                  <a:srgbClr val="1D3557"/>
                </a:solidFill>
                <a:latin typeface="Golos Text" pitchFamily="34" charset="0"/>
                <a:ea typeface="Golos Text" pitchFamily="34" charset="-122"/>
                <a:cs typeface="Golos Text" pitchFamily="34" charset="-120"/>
              </a:rPr>
              <a:t>моданы жана кулачты таба алам</a:t>
            </a:r>
            <a:endParaRPr lang="en-US" sz="1500" dirty="0"/>
          </a:p>
        </p:txBody>
      </p:sp>
      <p:sp>
        <p:nvSpPr>
          <p:cNvPr id="29" name="Shape 27"/>
          <p:cNvSpPr/>
          <p:nvPr/>
        </p:nvSpPr>
        <p:spPr>
          <a:xfrm>
            <a:off x="4919472" y="3904488"/>
            <a:ext cx="402336" cy="402336"/>
          </a:xfrm>
          <a:prstGeom prst="ellipse">
            <a:avLst/>
          </a:prstGeom>
          <a:solidFill>
            <a:srgbClr val="FFFFFF"/>
          </a:solidFill>
          <a:ln w="25400">
            <a:solidFill>
              <a:srgbClr val="007A5A"/>
            </a:solidFill>
            <a:prstDash val="solid"/>
          </a:ln>
        </p:spPr>
      </p:sp>
      <p:sp>
        <p:nvSpPr>
          <p:cNvPr id="30" name="Shape 28"/>
          <p:cNvSpPr/>
          <p:nvPr/>
        </p:nvSpPr>
        <p:spPr>
          <a:xfrm>
            <a:off x="6016752" y="3904488"/>
            <a:ext cx="402336" cy="402336"/>
          </a:xfrm>
          <a:prstGeom prst="ellipse">
            <a:avLst/>
          </a:prstGeom>
          <a:solidFill>
            <a:srgbClr val="FFFFFF"/>
          </a:solidFill>
          <a:ln w="25400">
            <a:solidFill>
              <a:srgbClr val="A84400"/>
            </a:solidFill>
            <a:prstDash val="solid"/>
          </a:ln>
        </p:spPr>
      </p:sp>
      <p:sp>
        <p:nvSpPr>
          <p:cNvPr id="31" name="Shape 29"/>
          <p:cNvSpPr/>
          <p:nvPr/>
        </p:nvSpPr>
        <p:spPr>
          <a:xfrm>
            <a:off x="7114032" y="3904488"/>
            <a:ext cx="402336" cy="402336"/>
          </a:xfrm>
          <a:prstGeom prst="ellipse">
            <a:avLst/>
          </a:prstGeom>
          <a:solidFill>
            <a:srgbClr val="FFFFFF"/>
          </a:solidFill>
          <a:ln w="25400">
            <a:solidFill>
              <a:srgbClr val="24418C"/>
            </a:solidFill>
            <a:prstDash val="solid"/>
          </a:ln>
        </p:spPr>
      </p:sp>
      <p:sp>
        <p:nvSpPr>
          <p:cNvPr id="32" name="Shape 30"/>
          <p:cNvSpPr/>
          <p:nvPr/>
        </p:nvSpPr>
        <p:spPr>
          <a:xfrm>
            <a:off x="365760" y="4572000"/>
            <a:ext cx="7589520" cy="713232"/>
          </a:xfrm>
          <a:prstGeom prst="roundRect">
            <a:avLst>
              <a:gd name="adj" fmla="val 20000"/>
            </a:avLst>
          </a:prstGeom>
          <a:solidFill>
            <a:srgbClr val="FFFFFF"/>
          </a:solidFill>
          <a:ln w="12700">
            <a:solidFill>
              <a:srgbClr val="E7EAF2"/>
            </a:solidFill>
            <a:prstDash val="solid"/>
          </a:ln>
        </p:spPr>
      </p:sp>
      <p:sp>
        <p:nvSpPr>
          <p:cNvPr id="33" name="Text 31"/>
          <p:cNvSpPr/>
          <p:nvPr/>
        </p:nvSpPr>
        <p:spPr>
          <a:xfrm>
            <a:off x="548640" y="4572000"/>
            <a:ext cx="3931920" cy="713232"/>
          </a:xfrm>
          <a:prstGeom prst="rect">
            <a:avLst/>
          </a:prstGeom>
          <a:noFill/>
          <a:ln/>
        </p:spPr>
        <p:txBody>
          <a:bodyPr wrap="square" lIns="0" tIns="0" rIns="0" bIns="0" rtlCol="0" anchor="ctr"/>
          <a:lstStyle/>
          <a:p>
            <a:pPr algn="l" indent="0" marL="0">
              <a:buNone/>
            </a:pPr>
            <a:r>
              <a:rPr lang="en-US" sz="1500" dirty="0">
                <a:solidFill>
                  <a:srgbClr val="1D3557"/>
                </a:solidFill>
                <a:latin typeface="Golos Text" pitchFamily="34" charset="0"/>
                <a:ea typeface="Golos Text" pitchFamily="34" charset="-122"/>
                <a:cs typeface="Golos Text" pitchFamily="34" charset="-120"/>
              </a:rPr>
              <a:t>ар бир өлчөм кайсы суроого жооп берерин айта алам</a:t>
            </a:r>
            <a:endParaRPr lang="en-US" sz="1500" dirty="0"/>
          </a:p>
        </p:txBody>
      </p:sp>
      <p:sp>
        <p:nvSpPr>
          <p:cNvPr id="34" name="Shape 32"/>
          <p:cNvSpPr/>
          <p:nvPr/>
        </p:nvSpPr>
        <p:spPr>
          <a:xfrm>
            <a:off x="4919472" y="4727448"/>
            <a:ext cx="402336" cy="402336"/>
          </a:xfrm>
          <a:prstGeom prst="ellipse">
            <a:avLst/>
          </a:prstGeom>
          <a:solidFill>
            <a:srgbClr val="FFFFFF"/>
          </a:solidFill>
          <a:ln w="25400">
            <a:solidFill>
              <a:srgbClr val="007A5A"/>
            </a:solidFill>
            <a:prstDash val="solid"/>
          </a:ln>
        </p:spPr>
      </p:sp>
      <p:sp>
        <p:nvSpPr>
          <p:cNvPr id="35" name="Shape 33"/>
          <p:cNvSpPr/>
          <p:nvPr/>
        </p:nvSpPr>
        <p:spPr>
          <a:xfrm>
            <a:off x="6016752" y="4727448"/>
            <a:ext cx="402336" cy="402336"/>
          </a:xfrm>
          <a:prstGeom prst="ellipse">
            <a:avLst/>
          </a:prstGeom>
          <a:solidFill>
            <a:srgbClr val="FFFFFF"/>
          </a:solidFill>
          <a:ln w="25400">
            <a:solidFill>
              <a:srgbClr val="A84400"/>
            </a:solidFill>
            <a:prstDash val="solid"/>
          </a:ln>
        </p:spPr>
      </p:sp>
      <p:sp>
        <p:nvSpPr>
          <p:cNvPr id="36" name="Shape 34"/>
          <p:cNvSpPr/>
          <p:nvPr/>
        </p:nvSpPr>
        <p:spPr>
          <a:xfrm>
            <a:off x="7114032" y="4727448"/>
            <a:ext cx="402336" cy="402336"/>
          </a:xfrm>
          <a:prstGeom prst="ellipse">
            <a:avLst/>
          </a:prstGeom>
          <a:solidFill>
            <a:srgbClr val="FFFFFF"/>
          </a:solidFill>
          <a:ln w="25400">
            <a:solidFill>
              <a:srgbClr val="24418C"/>
            </a:solidFill>
            <a:prstDash val="solid"/>
          </a:ln>
        </p:spPr>
      </p:sp>
      <p:sp>
        <p:nvSpPr>
          <p:cNvPr id="37" name="Shape 35"/>
          <p:cNvSpPr/>
          <p:nvPr/>
        </p:nvSpPr>
        <p:spPr>
          <a:xfrm>
            <a:off x="365760" y="5394960"/>
            <a:ext cx="7589520" cy="713232"/>
          </a:xfrm>
          <a:prstGeom prst="roundRect">
            <a:avLst>
              <a:gd name="adj" fmla="val 20000"/>
            </a:avLst>
          </a:prstGeom>
          <a:solidFill>
            <a:srgbClr val="F3F5FB"/>
          </a:solidFill>
          <a:ln w="12700">
            <a:solidFill>
              <a:srgbClr val="E7EAF2"/>
            </a:solidFill>
            <a:prstDash val="solid"/>
          </a:ln>
        </p:spPr>
      </p:sp>
      <p:sp>
        <p:nvSpPr>
          <p:cNvPr id="38" name="Text 36"/>
          <p:cNvSpPr/>
          <p:nvPr/>
        </p:nvSpPr>
        <p:spPr>
          <a:xfrm>
            <a:off x="548640" y="5394960"/>
            <a:ext cx="3931920" cy="713232"/>
          </a:xfrm>
          <a:prstGeom prst="rect">
            <a:avLst/>
          </a:prstGeom>
          <a:noFill/>
          <a:ln/>
        </p:spPr>
        <p:txBody>
          <a:bodyPr wrap="square" lIns="0" tIns="0" rIns="0" bIns="0" rtlCol="0" anchor="ctr"/>
          <a:lstStyle/>
          <a:p>
            <a:pPr algn="l" indent="0" marL="0">
              <a:buNone/>
            </a:pPr>
            <a:r>
              <a:rPr lang="en-US" sz="1500" dirty="0">
                <a:solidFill>
                  <a:srgbClr val="1D3557"/>
                </a:solidFill>
                <a:latin typeface="Golos Text" pitchFamily="34" charset="0"/>
                <a:ea typeface="Golos Text" pitchFamily="34" charset="-122"/>
                <a:cs typeface="Golos Text" pitchFamily="34" charset="-120"/>
              </a:rPr>
              <a:t>«орточо» деген сөздү текшерип, чынчыл өлчөмдү тандай алам</a:t>
            </a:r>
            <a:endParaRPr lang="en-US" sz="1500" dirty="0"/>
          </a:p>
        </p:txBody>
      </p:sp>
      <p:sp>
        <p:nvSpPr>
          <p:cNvPr id="39" name="Shape 37"/>
          <p:cNvSpPr/>
          <p:nvPr/>
        </p:nvSpPr>
        <p:spPr>
          <a:xfrm>
            <a:off x="4919472" y="5550408"/>
            <a:ext cx="402336" cy="402336"/>
          </a:xfrm>
          <a:prstGeom prst="ellipse">
            <a:avLst/>
          </a:prstGeom>
          <a:solidFill>
            <a:srgbClr val="FFFFFF"/>
          </a:solidFill>
          <a:ln w="25400">
            <a:solidFill>
              <a:srgbClr val="007A5A"/>
            </a:solidFill>
            <a:prstDash val="solid"/>
          </a:ln>
        </p:spPr>
      </p:sp>
      <p:sp>
        <p:nvSpPr>
          <p:cNvPr id="40" name="Shape 38"/>
          <p:cNvSpPr/>
          <p:nvPr/>
        </p:nvSpPr>
        <p:spPr>
          <a:xfrm>
            <a:off x="6016752" y="5550408"/>
            <a:ext cx="402336" cy="402336"/>
          </a:xfrm>
          <a:prstGeom prst="ellipse">
            <a:avLst/>
          </a:prstGeom>
          <a:solidFill>
            <a:srgbClr val="FFFFFF"/>
          </a:solidFill>
          <a:ln w="25400">
            <a:solidFill>
              <a:srgbClr val="A84400"/>
            </a:solidFill>
            <a:prstDash val="solid"/>
          </a:ln>
        </p:spPr>
      </p:sp>
      <p:sp>
        <p:nvSpPr>
          <p:cNvPr id="41" name="Shape 39"/>
          <p:cNvSpPr/>
          <p:nvPr/>
        </p:nvSpPr>
        <p:spPr>
          <a:xfrm>
            <a:off x="7114032" y="5550408"/>
            <a:ext cx="402336" cy="402336"/>
          </a:xfrm>
          <a:prstGeom prst="ellipse">
            <a:avLst/>
          </a:prstGeom>
          <a:solidFill>
            <a:srgbClr val="FFFFFF"/>
          </a:solidFill>
          <a:ln w="25400">
            <a:solidFill>
              <a:srgbClr val="24418C"/>
            </a:solidFill>
            <a:prstDash val="solid"/>
          </a:ln>
        </p:spPr>
      </p:sp>
      <p:sp>
        <p:nvSpPr>
          <p:cNvPr id="42" name="Shape 40"/>
          <p:cNvSpPr/>
          <p:nvPr/>
        </p:nvSpPr>
        <p:spPr>
          <a:xfrm>
            <a:off x="8183880" y="1417320"/>
            <a:ext cx="3639312" cy="4892040"/>
          </a:xfrm>
          <a:prstGeom prst="roundRect">
            <a:avLst>
              <a:gd name="adj" fmla="val 6000"/>
            </a:avLst>
          </a:prstGeom>
          <a:solidFill>
            <a:srgbClr val="F5EBE3"/>
          </a:solidFill>
          <a:ln w="19050">
            <a:solidFill>
              <a:srgbClr val="A84400"/>
            </a:solidFill>
            <a:prstDash val="solid"/>
          </a:ln>
        </p:spPr>
      </p:sp>
      <p:sp>
        <p:nvSpPr>
          <p:cNvPr id="43" name="Text 41"/>
          <p:cNvSpPr/>
          <p:nvPr/>
        </p:nvSpPr>
        <p:spPr>
          <a:xfrm>
            <a:off x="8412480" y="1600200"/>
            <a:ext cx="3200400" cy="411480"/>
          </a:xfrm>
          <a:prstGeom prst="rect">
            <a:avLst/>
          </a:prstGeom>
          <a:noFill/>
          <a:ln/>
        </p:spPr>
        <p:txBody>
          <a:bodyPr wrap="square" lIns="0" tIns="0" rIns="0" bIns="0" rtlCol="0" anchor="t"/>
          <a:lstStyle/>
          <a:p>
            <a:pPr algn="l" indent="0" marL="0">
              <a:buNone/>
            </a:pPr>
            <a:r>
              <a:rPr lang="en-US" sz="1900" b="1" dirty="0">
                <a:solidFill>
                  <a:srgbClr val="A84400"/>
                </a:solidFill>
                <a:latin typeface="Golos Text" pitchFamily="34" charset="0"/>
                <a:ea typeface="Golos Text" pitchFamily="34" charset="-122"/>
                <a:cs typeface="Golos Text" pitchFamily="34" charset="-120"/>
              </a:rPr>
              <a:t>Ойлон</a:t>
            </a:r>
            <a:endParaRPr lang="en-US" sz="1900" dirty="0"/>
          </a:p>
        </p:txBody>
      </p:sp>
      <p:sp>
        <p:nvSpPr>
          <p:cNvPr id="44" name="Text 42"/>
          <p:cNvSpPr/>
          <p:nvPr/>
        </p:nvSpPr>
        <p:spPr>
          <a:xfrm>
            <a:off x="8412480" y="2103120"/>
            <a:ext cx="3200400" cy="2743200"/>
          </a:xfrm>
          <a:prstGeom prst="rect">
            <a:avLst/>
          </a:prstGeom>
          <a:noFill/>
          <a:ln/>
        </p:spPr>
        <p:txBody>
          <a:bodyPr wrap="square" lIns="0" tIns="0" rIns="0" bIns="0" rtlCol="0" anchor="t"/>
          <a:lstStyle/>
          <a:p>
            <a:pPr algn="l" indent="0" marL="0">
              <a:spcAft>
                <a:spcPts val="400"/>
              </a:spcAft>
              <a:buNone/>
            </a:pPr>
            <a:r>
              <a:rPr lang="en-US" sz="1600" dirty="0">
                <a:solidFill>
                  <a:srgbClr val="1D3557"/>
                </a:solidFill>
                <a:latin typeface="Golos Text" pitchFamily="34" charset="0"/>
                <a:ea typeface="Golos Text" pitchFamily="34" charset="-122"/>
                <a:cs typeface="Golos Text" pitchFamily="34" charset="-120"/>
              </a:rPr>
              <a:t>Бүгүн кимдин ыкмасы (А, Б, В, Г) сага эң жакты? Эмне үчүн?</a:t>
            </a:r>
            <a:endParaRPr lang="en-US" sz="1600" dirty="0"/>
          </a:p>
          <a:p>
            <a:pPr algn="l" indent="0" marL="0">
              <a:spcAft>
                <a:spcPts val="400"/>
              </a:spcAft>
              <a:buNone/>
            </a:pPr>
            <a:endParaRPr lang="en-US" sz="1600" dirty="0"/>
          </a:p>
          <a:p>
            <a:pPr algn="l" indent="0" marL="0">
              <a:spcAft>
                <a:spcPts val="400"/>
              </a:spcAft>
              <a:buNone/>
            </a:pPr>
            <a:r>
              <a:rPr lang="en-US" sz="1600" dirty="0">
                <a:solidFill>
                  <a:srgbClr val="1D3557"/>
                </a:solidFill>
                <a:latin typeface="Golos Text" pitchFamily="34" charset="0"/>
                <a:ea typeface="Golos Text" pitchFamily="34" charset="-122"/>
                <a:cs typeface="Golos Text" pitchFamily="34" charset="-120"/>
              </a:rPr>
              <a:t>Кайсы кадамда дагы эле шектенесиң?</a:t>
            </a:r>
            <a:endParaRPr lang="en-US" sz="1600" dirty="0"/>
          </a:p>
        </p:txBody>
      </p:sp>
      <p:sp>
        <p:nvSpPr>
          <p:cNvPr id="45" name="Text 43"/>
          <p:cNvSpPr/>
          <p:nvPr/>
        </p:nvSpPr>
        <p:spPr>
          <a:xfrm>
            <a:off x="8412480" y="5394960"/>
            <a:ext cx="3200400" cy="548640"/>
          </a:xfrm>
          <a:prstGeom prst="rect">
            <a:avLst/>
          </a:prstGeom>
          <a:noFill/>
          <a:ln/>
        </p:spPr>
        <p:txBody>
          <a:bodyPr wrap="square" lIns="0" tIns="0" rIns="0" bIns="0" rtlCol="0" anchor="t"/>
          <a:lstStyle/>
          <a:p>
            <a:pPr algn="l" indent="0" marL="0">
              <a:buNone/>
            </a:pPr>
            <a:r>
              <a:rPr lang="en-US" sz="1400" i="1" dirty="0">
                <a:solidFill>
                  <a:srgbClr val="4A5A70"/>
                </a:solidFill>
                <a:latin typeface="Golos Text" pitchFamily="34" charset="0"/>
                <a:ea typeface="Golos Text" pitchFamily="34" charset="-122"/>
                <a:cs typeface="Golos Text" pitchFamily="34" charset="-120"/>
              </a:rPr>
              <a:t>Дептериңе бир сүйлөм жаз.</a:t>
            </a:r>
            <a:endParaRPr lang="en-US" sz="1400" dirty="0"/>
          </a:p>
        </p:txBody>
      </p:sp>
      <p:sp>
        <p:nvSpPr>
          <p:cNvPr id="46" name="Slide Number Placeholder 0"/>
          <p:cNvSpPr>
            <a:spLocks noGrp="1"/>
          </p:cNvSpPr>
          <p:nvPr>
            <p:ph type="sldNum" sz="quarter" idx="4294967295"/>
          </p:nvPr>
        </p:nvSpPr>
        <p:spPr>
          <a:xfrm>
            <a:off x="11384280" y="6492240"/>
            <a:ext cx="438912"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99AA"/>
                </a:solidFill>
                <a:latin typeface="Golos Text"/>
                <a:ea typeface="Golos Text"/>
                <a:cs typeface="Golos Text"/>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11457432" cy="640080"/>
          </a:xfrm>
          <a:prstGeom prst="roundRect">
            <a:avLst>
              <a:gd name="adj" fmla="val 22000"/>
            </a:avLst>
          </a:prstGeom>
          <a:solidFill>
            <a:srgbClr val="FFFFFF"/>
          </a:solidFill>
          <a:ln w="19050">
            <a:solidFill>
              <a:srgbClr val="1D3557"/>
            </a:solidFill>
            <a:prstDash val="solid"/>
          </a:ln>
        </p:spPr>
      </p:sp>
      <p:sp>
        <p:nvSpPr>
          <p:cNvPr id="3" name="Shape 1"/>
          <p:cNvSpPr/>
          <p:nvPr/>
        </p:nvSpPr>
        <p:spPr>
          <a:xfrm>
            <a:off x="557784" y="369418"/>
            <a:ext cx="70409" cy="358445"/>
          </a:xfrm>
          <a:prstGeom prst="roundRect">
            <a:avLst>
              <a:gd name="adj" fmla="val 50000"/>
            </a:avLst>
          </a:prstGeom>
          <a:solidFill>
            <a:srgbClr val="007A5A"/>
          </a:solidFill>
          <a:ln/>
        </p:spPr>
      </p:sp>
      <p:sp>
        <p:nvSpPr>
          <p:cNvPr id="4" name="Shape 2"/>
          <p:cNvSpPr/>
          <p:nvPr/>
        </p:nvSpPr>
        <p:spPr>
          <a:xfrm>
            <a:off x="691561" y="369418"/>
            <a:ext cx="70409" cy="358445"/>
          </a:xfrm>
          <a:prstGeom prst="roundRect">
            <a:avLst>
              <a:gd name="adj" fmla="val 50000"/>
            </a:avLst>
          </a:prstGeom>
          <a:solidFill>
            <a:srgbClr val="A84400"/>
          </a:solidFill>
          <a:ln/>
        </p:spPr>
      </p:sp>
      <p:sp>
        <p:nvSpPr>
          <p:cNvPr id="5" name="Shape 3"/>
          <p:cNvSpPr/>
          <p:nvPr/>
        </p:nvSpPr>
        <p:spPr>
          <a:xfrm>
            <a:off x="825337" y="369418"/>
            <a:ext cx="70409" cy="358445"/>
          </a:xfrm>
          <a:prstGeom prst="roundRect">
            <a:avLst>
              <a:gd name="adj" fmla="val 50000"/>
            </a:avLst>
          </a:prstGeom>
          <a:solidFill>
            <a:srgbClr val="24418C"/>
          </a:solidFill>
          <a:ln/>
        </p:spPr>
      </p:sp>
      <p:sp>
        <p:nvSpPr>
          <p:cNvPr id="6" name="Text 4"/>
          <p:cNvSpPr/>
          <p:nvPr/>
        </p:nvSpPr>
        <p:spPr>
          <a:xfrm>
            <a:off x="1096914" y="228600"/>
            <a:ext cx="7589520" cy="640080"/>
          </a:xfrm>
          <a:prstGeom prst="rect">
            <a:avLst/>
          </a:prstGeom>
          <a:noFill/>
          <a:ln/>
        </p:spPr>
        <p:txBody>
          <a:bodyPr wrap="square" lIns="0" tIns="0" rIns="0" bIns="0" rtlCol="0" anchor="ctr"/>
          <a:lstStyle/>
          <a:p>
            <a:pPr algn="l" indent="0" marL="0">
              <a:buNone/>
            </a:pPr>
            <a:r>
              <a:rPr lang="en-US" sz="2200" b="1" dirty="0">
                <a:solidFill>
                  <a:srgbClr val="1D3557"/>
                </a:solidFill>
                <a:latin typeface="Golos Text" pitchFamily="34" charset="0"/>
                <a:ea typeface="Golos Text" pitchFamily="34" charset="-122"/>
                <a:cs typeface="Golos Text" pitchFamily="34" charset="-120"/>
              </a:rPr>
              <a:t>Чыгуу билети</a:t>
            </a:r>
            <a:endParaRPr lang="en-US" sz="2200" dirty="0"/>
          </a:p>
        </p:txBody>
      </p:sp>
      <p:sp>
        <p:nvSpPr>
          <p:cNvPr id="7" name="Text 5"/>
          <p:cNvSpPr/>
          <p:nvPr/>
        </p:nvSpPr>
        <p:spPr>
          <a:xfrm>
            <a:off x="8778240" y="228600"/>
            <a:ext cx="2880360" cy="640080"/>
          </a:xfrm>
          <a:prstGeom prst="rect">
            <a:avLst/>
          </a:prstGeom>
          <a:noFill/>
          <a:ln/>
        </p:spPr>
        <p:txBody>
          <a:bodyPr wrap="square" lIns="0" tIns="0" rIns="0" bIns="0" rtlCol="0" anchor="ctr"/>
          <a:lstStyle/>
          <a:p>
            <a:pPr algn="r" indent="0" marL="0">
              <a:buNone/>
            </a:pPr>
            <a:r>
              <a:rPr lang="en-US" sz="1100" dirty="0">
                <a:solidFill>
                  <a:srgbClr val="4A5A70"/>
                </a:solidFill>
                <a:latin typeface="Golos Text" pitchFamily="34" charset="0"/>
                <a:ea typeface="Golos Text" pitchFamily="34" charset="-122"/>
                <a:cs typeface="Golos Text" pitchFamily="34" charset="-120"/>
              </a:rPr>
              <a:t>Статистика › Төрт өлчөм</a:t>
            </a:r>
            <a:endParaRPr lang="en-US" sz="1100" dirty="0"/>
          </a:p>
        </p:txBody>
      </p:sp>
      <p:sp>
        <p:nvSpPr>
          <p:cNvPr id="8" name="Text 6"/>
          <p:cNvSpPr/>
          <p:nvPr/>
        </p:nvSpPr>
        <p:spPr>
          <a:xfrm>
            <a:off x="411480" y="960120"/>
            <a:ext cx="8412480" cy="329184"/>
          </a:xfrm>
          <a:prstGeom prst="rect">
            <a:avLst/>
          </a:prstGeom>
          <a:noFill/>
          <a:ln/>
        </p:spPr>
        <p:txBody>
          <a:bodyPr wrap="square" lIns="0" tIns="0" rIns="0" bIns="0" rtlCol="0" anchor="t"/>
          <a:lstStyle/>
          <a:p>
            <a:pPr algn="l" indent="0" marL="0">
              <a:buNone/>
            </a:pPr>
            <a:r>
              <a:rPr lang="en-US" sz="1500" i="1" dirty="0">
                <a:solidFill>
                  <a:srgbClr val="4A5A70"/>
                </a:solidFill>
                <a:latin typeface="Golos Text" pitchFamily="34" charset="0"/>
                <a:ea typeface="Golos Text" pitchFamily="34" charset="-122"/>
                <a:cs typeface="Golos Text" pitchFamily="34" charset="-120"/>
              </a:rPr>
              <a:t>Баракка өз алдынча жаз жана чыгып баратканда тапшыр</a:t>
            </a:r>
            <a:endParaRPr lang="en-US" sz="1500" dirty="0"/>
          </a:p>
        </p:txBody>
      </p:sp>
      <p:sp>
        <p:nvSpPr>
          <p:cNvPr id="9" name="Text 7"/>
          <p:cNvSpPr/>
          <p:nvPr/>
        </p:nvSpPr>
        <p:spPr>
          <a:xfrm>
            <a:off x="8897112" y="969264"/>
            <a:ext cx="2926080" cy="310896"/>
          </a:xfrm>
          <a:prstGeom prst="rect">
            <a:avLst/>
          </a:prstGeom>
          <a:noFill/>
          <a:ln/>
        </p:spPr>
        <p:txBody>
          <a:bodyPr wrap="square" lIns="0" tIns="0" rIns="0" bIns="0" rtlCol="0" anchor="ctr"/>
          <a:lstStyle/>
          <a:p>
            <a:pPr algn="r" indent="0" marL="0">
              <a:buNone/>
            </a:pPr>
            <a:r>
              <a:rPr lang="en-US" sz="1200" dirty="0">
                <a:solidFill>
                  <a:srgbClr val="4A5A70"/>
                </a:solidFill>
                <a:latin typeface="Golos Text" pitchFamily="34" charset="0"/>
                <a:ea typeface="Golos Text" pitchFamily="34" charset="-122"/>
                <a:cs typeface="Golos Text" pitchFamily="34" charset="-120"/>
              </a:rPr>
              <a:t>Жабуу · 2 мүн</a:t>
            </a:r>
            <a:endParaRPr lang="en-US" sz="1200" dirty="0"/>
          </a:p>
        </p:txBody>
      </p:sp>
      <p:sp>
        <p:nvSpPr>
          <p:cNvPr id="10" name="Text 8"/>
          <p:cNvSpPr/>
          <p:nvPr/>
        </p:nvSpPr>
        <p:spPr>
          <a:xfrm>
            <a:off x="365760" y="6492240"/>
            <a:ext cx="5486400" cy="228600"/>
          </a:xfrm>
          <a:prstGeom prst="rect">
            <a:avLst/>
          </a:prstGeom>
          <a:noFill/>
          <a:ln/>
        </p:spPr>
        <p:txBody>
          <a:bodyPr wrap="square" lIns="0" tIns="0" rIns="0" bIns="0" rtlCol="0" anchor="t"/>
          <a:lstStyle/>
          <a:p>
            <a:pPr algn="l" indent="0" marL="0">
              <a:buNone/>
            </a:pPr>
            <a:r>
              <a:rPr lang="en-US" sz="900" dirty="0">
                <a:solidFill>
                  <a:srgbClr val="8D99AA"/>
                </a:solidFill>
                <a:latin typeface="Golos Text" pitchFamily="34" charset="0"/>
                <a:ea typeface="Golos Text" pitchFamily="34" charset="-122"/>
                <a:cs typeface="Golos Text" pitchFamily="34" charset="-120"/>
              </a:rPr>
              <a:t>MathKG · Математика кыргызча</a:t>
            </a:r>
            <a:endParaRPr lang="en-US" sz="900" dirty="0"/>
          </a:p>
        </p:txBody>
      </p:sp>
      <p:sp>
        <p:nvSpPr>
          <p:cNvPr id="11" name="Text 9"/>
          <p:cNvSpPr/>
          <p:nvPr/>
        </p:nvSpPr>
        <p:spPr>
          <a:xfrm>
            <a:off x="7680960" y="6492240"/>
            <a:ext cx="3657600" cy="228600"/>
          </a:xfrm>
          <a:prstGeom prst="rect">
            <a:avLst/>
          </a:prstGeom>
          <a:noFill/>
          <a:ln/>
        </p:spPr>
        <p:txBody>
          <a:bodyPr wrap="square" lIns="0" tIns="0" rIns="0" bIns="0" rtlCol="0" anchor="t"/>
          <a:lstStyle/>
          <a:p>
            <a:pPr algn="r" indent="0" marL="0">
              <a:buNone/>
            </a:pPr>
            <a:r>
              <a:rPr lang="en-US" sz="900" dirty="0">
                <a:solidFill>
                  <a:srgbClr val="8D99AA"/>
                </a:solidFill>
                <a:latin typeface="Golos Text" pitchFamily="34" charset="0"/>
                <a:ea typeface="Golos Text" pitchFamily="34" charset="-122"/>
                <a:cs typeface="Golos Text" pitchFamily="34" charset="-120"/>
              </a:rPr>
              <a:t>MathKG ыкмасы · 2 мүн</a:t>
            </a:r>
            <a:endParaRPr lang="en-US" sz="900" dirty="0"/>
          </a:p>
        </p:txBody>
      </p:sp>
      <p:sp>
        <p:nvSpPr>
          <p:cNvPr id="12" name="Shape 10"/>
          <p:cNvSpPr/>
          <p:nvPr/>
        </p:nvSpPr>
        <p:spPr>
          <a:xfrm>
            <a:off x="365760" y="1417320"/>
            <a:ext cx="7680960" cy="4892040"/>
          </a:xfrm>
          <a:prstGeom prst="roundRect">
            <a:avLst>
              <a:gd name="adj" fmla="val 4000"/>
            </a:avLst>
          </a:prstGeom>
          <a:solidFill>
            <a:srgbClr val="FFFFFF"/>
          </a:solidFill>
          <a:ln w="19050">
            <a:solidFill>
              <a:srgbClr val="1D3557"/>
            </a:solidFill>
            <a:prstDash val="dash"/>
          </a:ln>
        </p:spPr>
      </p:sp>
      <p:sp>
        <p:nvSpPr>
          <p:cNvPr id="13" name="Text 11"/>
          <p:cNvSpPr/>
          <p:nvPr/>
        </p:nvSpPr>
        <p:spPr>
          <a:xfrm>
            <a:off x="594360" y="1554480"/>
            <a:ext cx="7223760" cy="411480"/>
          </a:xfrm>
          <a:prstGeom prst="rect">
            <a:avLst/>
          </a:prstGeom>
          <a:noFill/>
          <a:ln/>
        </p:spPr>
        <p:txBody>
          <a:bodyPr wrap="square" lIns="0" tIns="0" rIns="0" bIns="0" rtlCol="0" anchor="t"/>
          <a:lstStyle/>
          <a:p>
            <a:pPr algn="l" indent="0" marL="0">
              <a:buNone/>
            </a:pPr>
            <a:r>
              <a:rPr lang="en-US" sz="1500" dirty="0">
                <a:solidFill>
                  <a:srgbClr val="4A5A70"/>
                </a:solidFill>
                <a:latin typeface="Golos Text" pitchFamily="34" charset="0"/>
                <a:ea typeface="Golos Text" pitchFamily="34" charset="-122"/>
                <a:cs typeface="Golos Text" pitchFamily="34" charset="-120"/>
              </a:rPr>
              <a:t>Аты-жөнү: ____________________   Класс: _______</a:t>
            </a:r>
            <a:endParaRPr lang="en-US" sz="1500" dirty="0"/>
          </a:p>
        </p:txBody>
      </p:sp>
      <p:sp>
        <p:nvSpPr>
          <p:cNvPr id="14" name="Text 12"/>
          <p:cNvSpPr/>
          <p:nvPr/>
        </p:nvSpPr>
        <p:spPr>
          <a:xfrm>
            <a:off x="594360" y="2103120"/>
            <a:ext cx="457200" cy="457200"/>
          </a:xfrm>
          <a:prstGeom prst="roundRect">
            <a:avLst>
              <a:gd name="adj" fmla="val 50000"/>
            </a:avLst>
          </a:prstGeom>
          <a:solidFill>
            <a:srgbClr val="24418C"/>
          </a:solidFill>
          <a:ln w="19050">
            <a:solidFill>
              <a:srgbClr val="24418C"/>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1</a:t>
            </a:r>
            <a:endParaRPr lang="en-US" sz="1600" dirty="0"/>
          </a:p>
        </p:txBody>
      </p:sp>
      <p:sp>
        <p:nvSpPr>
          <p:cNvPr id="15" name="Text 13"/>
          <p:cNvSpPr/>
          <p:nvPr/>
        </p:nvSpPr>
        <p:spPr>
          <a:xfrm>
            <a:off x="1234440" y="2066544"/>
            <a:ext cx="6629400" cy="868680"/>
          </a:xfrm>
          <a:prstGeom prst="rect">
            <a:avLst/>
          </a:prstGeom>
          <a:noFill/>
          <a:ln/>
        </p:spPr>
        <p:txBody>
          <a:bodyPr wrap="square" lIns="0" tIns="0" rIns="0" bIns="0" rtlCol="0" anchor="t"/>
          <a:lstStyle/>
          <a:p>
            <a:pPr algn="l" indent="0" marL="0">
              <a:buNone/>
            </a:pPr>
            <a:r>
              <a:rPr lang="en-US" sz="1600" b="1" dirty="0">
                <a:solidFill>
                  <a:srgbClr val="1D3557"/>
                </a:solidFill>
                <a:latin typeface="Golos Text" pitchFamily="34" charset="0"/>
                <a:ea typeface="Golos Text" pitchFamily="34" charset="-122"/>
                <a:cs typeface="Golos Text" pitchFamily="34" charset="-120"/>
              </a:rPr>
              <a:t>Тизме: 5, 9, 4, 9, 8. Орточону, медиананы, моданы жана кулачты тап.</a:t>
            </a:r>
            <a:endParaRPr lang="en-US" sz="1600" dirty="0"/>
          </a:p>
        </p:txBody>
      </p:sp>
      <p:sp>
        <p:nvSpPr>
          <p:cNvPr id="16" name="Text 14"/>
          <p:cNvSpPr/>
          <p:nvPr/>
        </p:nvSpPr>
        <p:spPr>
          <a:xfrm>
            <a:off x="1234440" y="2971800"/>
            <a:ext cx="6629400" cy="365760"/>
          </a:xfrm>
          <a:prstGeom prst="rect">
            <a:avLst/>
          </a:prstGeom>
          <a:noFill/>
          <a:ln/>
        </p:spPr>
        <p:txBody>
          <a:bodyPr wrap="square" lIns="0" tIns="0" rIns="0" bIns="0" rtlCol="0" anchor="t"/>
          <a:lstStyle/>
          <a:p>
            <a:pPr algn="l" indent="0" marL="0">
              <a:buNone/>
            </a:pPr>
            <a:r>
              <a:rPr lang="en-US" sz="1400" dirty="0">
                <a:solidFill>
                  <a:srgbClr val="8D99AA"/>
                </a:solidFill>
                <a:latin typeface="Golos Text" pitchFamily="34" charset="0"/>
                <a:ea typeface="Golos Text" pitchFamily="34" charset="-122"/>
                <a:cs typeface="Golos Text" pitchFamily="34" charset="-120"/>
              </a:rPr>
              <a:t>______________________________________________</a:t>
            </a:r>
            <a:endParaRPr lang="en-US" sz="1400" dirty="0"/>
          </a:p>
        </p:txBody>
      </p:sp>
      <p:sp>
        <p:nvSpPr>
          <p:cNvPr id="17" name="Text 15"/>
          <p:cNvSpPr/>
          <p:nvPr/>
        </p:nvSpPr>
        <p:spPr>
          <a:xfrm>
            <a:off x="594360" y="3474720"/>
            <a:ext cx="457200" cy="457200"/>
          </a:xfrm>
          <a:prstGeom prst="roundRect">
            <a:avLst>
              <a:gd name="adj" fmla="val 50000"/>
            </a:avLst>
          </a:prstGeom>
          <a:solidFill>
            <a:srgbClr val="24418C"/>
          </a:solidFill>
          <a:ln w="19050">
            <a:solidFill>
              <a:srgbClr val="24418C"/>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2</a:t>
            </a:r>
            <a:endParaRPr lang="en-US" sz="1600" dirty="0"/>
          </a:p>
        </p:txBody>
      </p:sp>
      <p:sp>
        <p:nvSpPr>
          <p:cNvPr id="18" name="Text 16"/>
          <p:cNvSpPr/>
          <p:nvPr/>
        </p:nvSpPr>
        <p:spPr>
          <a:xfrm>
            <a:off x="1234440" y="3438144"/>
            <a:ext cx="6629400" cy="868680"/>
          </a:xfrm>
          <a:prstGeom prst="rect">
            <a:avLst/>
          </a:prstGeom>
          <a:noFill/>
          <a:ln/>
        </p:spPr>
        <p:txBody>
          <a:bodyPr wrap="square" lIns="0" tIns="0" rIns="0" bIns="0" rtlCol="0" anchor="t"/>
          <a:lstStyle/>
          <a:p>
            <a:pPr algn="l" indent="0" marL="0">
              <a:buNone/>
            </a:pPr>
            <a:r>
              <a:rPr lang="en-US" sz="1600" b="1" dirty="0">
                <a:solidFill>
                  <a:srgbClr val="1D3557"/>
                </a:solidFill>
                <a:latin typeface="Golos Text" pitchFamily="34" charset="0"/>
                <a:ea typeface="Golos Text" pitchFamily="34" charset="-122"/>
                <a:cs typeface="Golos Text" pitchFamily="34" charset="-120"/>
              </a:rPr>
              <a:t>Ушул тизмеге 3 саны кошулду. Эми медиана канча?</a:t>
            </a:r>
            <a:endParaRPr lang="en-US" sz="1600" dirty="0"/>
          </a:p>
        </p:txBody>
      </p:sp>
      <p:sp>
        <p:nvSpPr>
          <p:cNvPr id="19" name="Text 17"/>
          <p:cNvSpPr/>
          <p:nvPr/>
        </p:nvSpPr>
        <p:spPr>
          <a:xfrm>
            <a:off x="1234440" y="4343400"/>
            <a:ext cx="6629400" cy="365760"/>
          </a:xfrm>
          <a:prstGeom prst="rect">
            <a:avLst/>
          </a:prstGeom>
          <a:noFill/>
          <a:ln/>
        </p:spPr>
        <p:txBody>
          <a:bodyPr wrap="square" lIns="0" tIns="0" rIns="0" bIns="0" rtlCol="0" anchor="t"/>
          <a:lstStyle/>
          <a:p>
            <a:pPr algn="l" indent="0" marL="0">
              <a:buNone/>
            </a:pPr>
            <a:r>
              <a:rPr lang="en-US" sz="1400" dirty="0">
                <a:solidFill>
                  <a:srgbClr val="8D99AA"/>
                </a:solidFill>
                <a:latin typeface="Golos Text" pitchFamily="34" charset="0"/>
                <a:ea typeface="Golos Text" pitchFamily="34" charset="-122"/>
                <a:cs typeface="Golos Text" pitchFamily="34" charset="-120"/>
              </a:rPr>
              <a:t>______________________________________________</a:t>
            </a:r>
            <a:endParaRPr lang="en-US" sz="1400" dirty="0"/>
          </a:p>
        </p:txBody>
      </p:sp>
      <p:sp>
        <p:nvSpPr>
          <p:cNvPr id="20" name="Text 18"/>
          <p:cNvSpPr/>
          <p:nvPr/>
        </p:nvSpPr>
        <p:spPr>
          <a:xfrm>
            <a:off x="594360" y="4846320"/>
            <a:ext cx="457200" cy="457200"/>
          </a:xfrm>
          <a:prstGeom prst="roundRect">
            <a:avLst>
              <a:gd name="adj" fmla="val 50000"/>
            </a:avLst>
          </a:prstGeom>
          <a:solidFill>
            <a:srgbClr val="24418C"/>
          </a:solidFill>
          <a:ln w="19050">
            <a:solidFill>
              <a:srgbClr val="24418C"/>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3</a:t>
            </a:r>
            <a:endParaRPr lang="en-US" sz="1600" dirty="0"/>
          </a:p>
        </p:txBody>
      </p:sp>
      <p:sp>
        <p:nvSpPr>
          <p:cNvPr id="21" name="Text 19"/>
          <p:cNvSpPr/>
          <p:nvPr/>
        </p:nvSpPr>
        <p:spPr>
          <a:xfrm>
            <a:off x="1234440" y="4809744"/>
            <a:ext cx="6629400" cy="868680"/>
          </a:xfrm>
          <a:prstGeom prst="rect">
            <a:avLst/>
          </a:prstGeom>
          <a:noFill/>
          <a:ln/>
        </p:spPr>
        <p:txBody>
          <a:bodyPr wrap="square" lIns="0" tIns="0" rIns="0" bIns="0" rtlCol="0" anchor="t"/>
          <a:lstStyle/>
          <a:p>
            <a:pPr algn="l" indent="0" marL="0">
              <a:buNone/>
            </a:pPr>
            <a:r>
              <a:rPr lang="en-US" sz="1600" b="1" dirty="0">
                <a:solidFill>
                  <a:srgbClr val="1D3557"/>
                </a:solidFill>
                <a:latin typeface="Golos Text" pitchFamily="34" charset="0"/>
                <a:ea typeface="Golos Text" pitchFamily="34" charset="-122"/>
                <a:cs typeface="Golos Text" pitchFamily="34" charset="-120"/>
              </a:rPr>
              <a:t>Бир көчөдөгү 5 үйдүн баасы (миң сом): 900, 950, 1 000, 1 050, 6 000. Кадимки үйдүн баасын кайсы өлчөм чынчыл көрсөтөт? Эмне үчүн?</a:t>
            </a:r>
            <a:endParaRPr lang="en-US" sz="1600" dirty="0"/>
          </a:p>
        </p:txBody>
      </p:sp>
      <p:sp>
        <p:nvSpPr>
          <p:cNvPr id="22" name="Text 20"/>
          <p:cNvSpPr/>
          <p:nvPr/>
        </p:nvSpPr>
        <p:spPr>
          <a:xfrm>
            <a:off x="1234440" y="5715000"/>
            <a:ext cx="6629400" cy="365760"/>
          </a:xfrm>
          <a:prstGeom prst="rect">
            <a:avLst/>
          </a:prstGeom>
          <a:noFill/>
          <a:ln/>
        </p:spPr>
        <p:txBody>
          <a:bodyPr wrap="square" lIns="0" tIns="0" rIns="0" bIns="0" rtlCol="0" anchor="t"/>
          <a:lstStyle/>
          <a:p>
            <a:pPr algn="l" indent="0" marL="0">
              <a:buNone/>
            </a:pPr>
            <a:r>
              <a:rPr lang="en-US" sz="1400" dirty="0">
                <a:solidFill>
                  <a:srgbClr val="8D99AA"/>
                </a:solidFill>
                <a:latin typeface="Golos Text" pitchFamily="34" charset="0"/>
                <a:ea typeface="Golos Text" pitchFamily="34" charset="-122"/>
                <a:cs typeface="Golos Text" pitchFamily="34" charset="-120"/>
              </a:rPr>
              <a:t>______________________________________________</a:t>
            </a:r>
            <a:endParaRPr lang="en-US" sz="1400" dirty="0"/>
          </a:p>
        </p:txBody>
      </p:sp>
      <p:sp>
        <p:nvSpPr>
          <p:cNvPr id="23" name="Shape 21"/>
          <p:cNvSpPr/>
          <p:nvPr/>
        </p:nvSpPr>
        <p:spPr>
          <a:xfrm>
            <a:off x="8275320" y="1417320"/>
            <a:ext cx="3547872" cy="4892040"/>
          </a:xfrm>
          <a:prstGeom prst="roundRect">
            <a:avLst>
              <a:gd name="adj" fmla="val 6000"/>
            </a:avLst>
          </a:prstGeom>
          <a:solidFill>
            <a:srgbClr val="F3F5FB"/>
          </a:solidFill>
          <a:ln/>
        </p:spPr>
      </p:sp>
      <p:sp>
        <p:nvSpPr>
          <p:cNvPr id="24" name="Text 22"/>
          <p:cNvSpPr/>
          <p:nvPr/>
        </p:nvSpPr>
        <p:spPr>
          <a:xfrm>
            <a:off x="8458200" y="1554480"/>
            <a:ext cx="3200400" cy="594360"/>
          </a:xfrm>
          <a:prstGeom prst="rect">
            <a:avLst/>
          </a:prstGeom>
          <a:noFill/>
          <a:ln/>
        </p:spPr>
        <p:txBody>
          <a:bodyPr wrap="square" lIns="0" tIns="0" rIns="0" bIns="0" rtlCol="0" anchor="t"/>
          <a:lstStyle/>
          <a:p>
            <a:pPr algn="l" indent="0" marL="0">
              <a:buNone/>
            </a:pPr>
            <a:r>
              <a:rPr lang="en-US" sz="1400" b="1" dirty="0">
                <a:solidFill>
                  <a:srgbClr val="4A5A70"/>
                </a:solidFill>
                <a:latin typeface="Golos Text" pitchFamily="34" charset="0"/>
                <a:ea typeface="Golos Text" pitchFamily="34" charset="-122"/>
                <a:cs typeface="Golos Text" pitchFamily="34" charset="-120"/>
              </a:rPr>
              <a:t>Жооптор (баары тапшыргандан кийин)</a:t>
            </a:r>
            <a:endParaRPr lang="en-US" sz="1400" dirty="0"/>
          </a:p>
        </p:txBody>
      </p:sp>
      <p:sp>
        <p:nvSpPr>
          <p:cNvPr id="25" name="anim1_ans"/>
          <p:cNvSpPr/>
          <p:nvPr/>
        </p:nvSpPr>
        <p:spPr>
          <a:xfrm>
            <a:off x="8412480" y="2240280"/>
            <a:ext cx="3273552" cy="3566160"/>
          </a:xfrm>
          <a:prstGeom prst="roundRect">
            <a:avLst>
              <a:gd name="adj" fmla="val 10000"/>
            </a:avLst>
          </a:prstGeom>
          <a:solidFill>
            <a:srgbClr val="D1E7E1"/>
          </a:solidFill>
          <a:ln w="28575">
            <a:solidFill>
              <a:srgbClr val="007A5A"/>
            </a:solidFill>
            <a:prstDash val="solid"/>
          </a:ln>
        </p:spPr>
        <p:txBody>
          <a:bodyPr wrap="square" lIns="152400" tIns="152400" rIns="152400" bIns="152400" rtlCol="0" anchor="ctr"/>
          <a:lstStyle/>
          <a:p>
            <a:pPr algn="l" indent="0" marL="0">
              <a:spcAft>
                <a:spcPts val="800"/>
              </a:spcAft>
              <a:buNone/>
            </a:pPr>
            <a:r>
              <a:rPr lang="en-US" sz="1600" b="1" dirty="0">
                <a:solidFill>
                  <a:srgbClr val="007A5A"/>
                </a:solidFill>
                <a:latin typeface="Golos Text" pitchFamily="34" charset="0"/>
                <a:ea typeface="Golos Text" pitchFamily="34" charset="-122"/>
                <a:cs typeface="Golos Text" pitchFamily="34" charset="-120"/>
              </a:rPr>
              <a:t>1) орточо 7, медиана 8, мода 9, кулач 5</a:t>
            </a:r>
            <a:endParaRPr lang="en-US" sz="1600" dirty="0"/>
          </a:p>
          <a:p>
            <a:pPr algn="l" indent="0" marL="0">
              <a:spcAft>
                <a:spcPts val="800"/>
              </a:spcAft>
              <a:buNone/>
            </a:pPr>
            <a:r>
              <a:rPr lang="en-US" sz="1600" b="1" dirty="0">
                <a:solidFill>
                  <a:srgbClr val="007A5A"/>
                </a:solidFill>
                <a:latin typeface="Golos Text" pitchFamily="34" charset="0"/>
                <a:ea typeface="Golos Text" pitchFamily="34" charset="-122"/>
                <a:cs typeface="Golos Text" pitchFamily="34" charset="-120"/>
              </a:rPr>
              <a:t>2) медиана (5 + 8) : 2 = 6,5</a:t>
            </a:r>
            <a:endParaRPr lang="en-US" sz="1600" dirty="0"/>
          </a:p>
          <a:p>
            <a:pPr algn="l" indent="0" marL="0">
              <a:spcAft>
                <a:spcPts val="800"/>
              </a:spcAft>
              <a:buNone/>
            </a:pPr>
            <a:r>
              <a:rPr lang="en-US" sz="1600" b="1" dirty="0">
                <a:solidFill>
                  <a:srgbClr val="007A5A"/>
                </a:solidFill>
                <a:latin typeface="Golos Text" pitchFamily="34" charset="0"/>
                <a:ea typeface="Golos Text" pitchFamily="34" charset="-122"/>
                <a:cs typeface="Golos Text" pitchFamily="34" charset="-120"/>
              </a:rPr>
              <a:t>3) медиана — 1 000 миң сом; орточо 1 980 миң сом жаңылыштырат: бир кымбат үй аны өйдө тартат</a:t>
            </a:r>
            <a:endParaRPr lang="en-US" sz="1600" dirty="0"/>
          </a:p>
        </p:txBody>
      </p:sp>
      <p:sp>
        <p:nvSpPr>
          <p:cNvPr id="26" name="Slide Number Placeholder 0"/>
          <p:cNvSpPr>
            <a:spLocks noGrp="1"/>
          </p:cNvSpPr>
          <p:nvPr>
            <p:ph type="sldNum" sz="quarter" idx="4294967295"/>
          </p:nvPr>
        </p:nvSpPr>
        <p:spPr>
          <a:xfrm>
            <a:off x="11384280" y="6492240"/>
            <a:ext cx="438912"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99AA"/>
                </a:solidFill>
                <a:latin typeface="Golos Text"/>
                <a:ea typeface="Golos Text"/>
                <a:cs typeface="Golos Text"/>
              </a:defRPr>
            </a:lvl1pPr>
          </a:lstStyle>
          <a:p>
            <a:pPr algn="r"/>
            <a:fld id="{F7021451-1387-4CA6-816F-3879F97B5CBC}" type="slidenum">
              <a:rPr b="0" lang="en-US"/>
              <a:t>24</a:t>
            </a:fld>
            <a:endParaRPr lang="en-US"/>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5"/>
                                        </p:tgtEl>
                                        <p:attrNameLst>
                                          <p:attrName>style.visibility</p:attrName>
                                        </p:attrNameLst>
                                      </p:cBhvr>
                                      <p:to>
                                        <p:strVal val="visible"/>
                                      </p:to>
                                    </p:set>
                                    <p:animEffect transition="in" filter="fade">
                                      <p:cBhvr>
                                        <p:cTn id="5" dur="6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11457432" cy="640080"/>
          </a:xfrm>
          <a:prstGeom prst="roundRect">
            <a:avLst>
              <a:gd name="adj" fmla="val 22000"/>
            </a:avLst>
          </a:prstGeom>
          <a:solidFill>
            <a:srgbClr val="FFFFFF"/>
          </a:solidFill>
          <a:ln w="19050">
            <a:solidFill>
              <a:srgbClr val="1D3557"/>
            </a:solidFill>
            <a:prstDash val="solid"/>
          </a:ln>
        </p:spPr>
      </p:sp>
      <p:sp>
        <p:nvSpPr>
          <p:cNvPr id="3" name="Shape 1"/>
          <p:cNvSpPr/>
          <p:nvPr/>
        </p:nvSpPr>
        <p:spPr>
          <a:xfrm>
            <a:off x="557784" y="369418"/>
            <a:ext cx="70409" cy="358445"/>
          </a:xfrm>
          <a:prstGeom prst="roundRect">
            <a:avLst>
              <a:gd name="adj" fmla="val 50000"/>
            </a:avLst>
          </a:prstGeom>
          <a:solidFill>
            <a:srgbClr val="007A5A"/>
          </a:solidFill>
          <a:ln/>
        </p:spPr>
      </p:sp>
      <p:sp>
        <p:nvSpPr>
          <p:cNvPr id="4" name="Shape 2"/>
          <p:cNvSpPr/>
          <p:nvPr/>
        </p:nvSpPr>
        <p:spPr>
          <a:xfrm>
            <a:off x="691561" y="369418"/>
            <a:ext cx="70409" cy="358445"/>
          </a:xfrm>
          <a:prstGeom prst="roundRect">
            <a:avLst>
              <a:gd name="adj" fmla="val 50000"/>
            </a:avLst>
          </a:prstGeom>
          <a:solidFill>
            <a:srgbClr val="A84400"/>
          </a:solidFill>
          <a:ln/>
        </p:spPr>
      </p:sp>
      <p:sp>
        <p:nvSpPr>
          <p:cNvPr id="5" name="Shape 3"/>
          <p:cNvSpPr/>
          <p:nvPr/>
        </p:nvSpPr>
        <p:spPr>
          <a:xfrm>
            <a:off x="825337" y="369418"/>
            <a:ext cx="70409" cy="358445"/>
          </a:xfrm>
          <a:prstGeom prst="roundRect">
            <a:avLst>
              <a:gd name="adj" fmla="val 50000"/>
            </a:avLst>
          </a:prstGeom>
          <a:solidFill>
            <a:srgbClr val="24418C"/>
          </a:solidFill>
          <a:ln/>
        </p:spPr>
      </p:sp>
      <p:sp>
        <p:nvSpPr>
          <p:cNvPr id="6" name="Text 4"/>
          <p:cNvSpPr/>
          <p:nvPr/>
        </p:nvSpPr>
        <p:spPr>
          <a:xfrm>
            <a:off x="1096914" y="228600"/>
            <a:ext cx="7589520" cy="640080"/>
          </a:xfrm>
          <a:prstGeom prst="rect">
            <a:avLst/>
          </a:prstGeom>
          <a:noFill/>
          <a:ln/>
        </p:spPr>
        <p:txBody>
          <a:bodyPr wrap="square" lIns="0" tIns="0" rIns="0" bIns="0" rtlCol="0" anchor="ctr"/>
          <a:lstStyle/>
          <a:p>
            <a:pPr algn="l" indent="0" marL="0">
              <a:buNone/>
            </a:pPr>
            <a:r>
              <a:rPr lang="en-US" sz="2200" b="1" dirty="0">
                <a:solidFill>
                  <a:srgbClr val="1D3557"/>
                </a:solidFill>
                <a:latin typeface="Golos Text" pitchFamily="34" charset="0"/>
                <a:ea typeface="Golos Text" pitchFamily="34" charset="-122"/>
                <a:cs typeface="Golos Text" pitchFamily="34" charset="-120"/>
              </a:rPr>
              <a:t>Үй тапшырмасы</a:t>
            </a:r>
            <a:endParaRPr lang="en-US" sz="2200" dirty="0"/>
          </a:p>
        </p:txBody>
      </p:sp>
      <p:sp>
        <p:nvSpPr>
          <p:cNvPr id="7" name="Text 5"/>
          <p:cNvSpPr/>
          <p:nvPr/>
        </p:nvSpPr>
        <p:spPr>
          <a:xfrm>
            <a:off x="8778240" y="228600"/>
            <a:ext cx="2880360" cy="640080"/>
          </a:xfrm>
          <a:prstGeom prst="rect">
            <a:avLst/>
          </a:prstGeom>
          <a:noFill/>
          <a:ln/>
        </p:spPr>
        <p:txBody>
          <a:bodyPr wrap="square" lIns="0" tIns="0" rIns="0" bIns="0" rtlCol="0" anchor="ctr"/>
          <a:lstStyle/>
          <a:p>
            <a:pPr algn="r" indent="0" marL="0">
              <a:buNone/>
            </a:pPr>
            <a:r>
              <a:rPr lang="en-US" sz="1100" dirty="0">
                <a:solidFill>
                  <a:srgbClr val="4A5A70"/>
                </a:solidFill>
                <a:latin typeface="Golos Text" pitchFamily="34" charset="0"/>
                <a:ea typeface="Golos Text" pitchFamily="34" charset="-122"/>
                <a:cs typeface="Golos Text" pitchFamily="34" charset="-120"/>
              </a:rPr>
              <a:t>Статистика › Төрт өлчөм</a:t>
            </a:r>
            <a:endParaRPr lang="en-US" sz="1100" dirty="0"/>
          </a:p>
        </p:txBody>
      </p:sp>
      <p:sp>
        <p:nvSpPr>
          <p:cNvPr id="8" name="Text 6"/>
          <p:cNvSpPr/>
          <p:nvPr/>
        </p:nvSpPr>
        <p:spPr>
          <a:xfrm>
            <a:off x="411480" y="960120"/>
            <a:ext cx="8412480" cy="329184"/>
          </a:xfrm>
          <a:prstGeom prst="rect">
            <a:avLst/>
          </a:prstGeom>
          <a:noFill/>
          <a:ln/>
        </p:spPr>
        <p:txBody>
          <a:bodyPr wrap="square" lIns="0" tIns="0" rIns="0" bIns="0" rtlCol="0" anchor="t"/>
          <a:lstStyle/>
          <a:p>
            <a:pPr algn="l" indent="0" marL="0">
              <a:buNone/>
            </a:pPr>
            <a:r>
              <a:rPr lang="en-US" sz="1500" i="1" dirty="0">
                <a:solidFill>
                  <a:srgbClr val="4A5A70"/>
                </a:solidFill>
                <a:latin typeface="Golos Text" pitchFamily="34" charset="0"/>
                <a:ea typeface="Golos Text" pitchFamily="34" charset="-122"/>
                <a:cs typeface="Golos Text" pitchFamily="34" charset="-120"/>
              </a:rPr>
              <a:t>Бардыгы 1–3-тапшырманы аткарат; 4–5 — ой жүгүртүү үчүн</a:t>
            </a:r>
            <a:endParaRPr lang="en-US" sz="1500" dirty="0"/>
          </a:p>
        </p:txBody>
      </p:sp>
      <p:sp>
        <p:nvSpPr>
          <p:cNvPr id="9" name="Text 7"/>
          <p:cNvSpPr/>
          <p:nvPr/>
        </p:nvSpPr>
        <p:spPr>
          <a:xfrm>
            <a:off x="8897112" y="969264"/>
            <a:ext cx="2926080" cy="310896"/>
          </a:xfrm>
          <a:prstGeom prst="rect">
            <a:avLst/>
          </a:prstGeom>
          <a:noFill/>
          <a:ln/>
        </p:spPr>
        <p:txBody>
          <a:bodyPr wrap="square" lIns="0" tIns="0" rIns="0" bIns="0" rtlCol="0" anchor="ctr"/>
          <a:lstStyle/>
          <a:p>
            <a:pPr algn="r" indent="0" marL="0">
              <a:buNone/>
            </a:pPr>
            <a:r>
              <a:rPr lang="en-US" sz="1200" dirty="0">
                <a:solidFill>
                  <a:srgbClr val="4A5A70"/>
                </a:solidFill>
                <a:latin typeface="Golos Text" pitchFamily="34" charset="0"/>
                <a:ea typeface="Golos Text" pitchFamily="34" charset="-122"/>
                <a:cs typeface="Golos Text" pitchFamily="34" charset="-120"/>
              </a:rPr>
              <a:t>Жабуу · 1 мүн</a:t>
            </a:r>
            <a:endParaRPr lang="en-US" sz="1200" dirty="0"/>
          </a:p>
        </p:txBody>
      </p:sp>
      <p:sp>
        <p:nvSpPr>
          <p:cNvPr id="10" name="Text 8"/>
          <p:cNvSpPr/>
          <p:nvPr/>
        </p:nvSpPr>
        <p:spPr>
          <a:xfrm>
            <a:off x="365760" y="6492240"/>
            <a:ext cx="5486400" cy="228600"/>
          </a:xfrm>
          <a:prstGeom prst="rect">
            <a:avLst/>
          </a:prstGeom>
          <a:noFill/>
          <a:ln/>
        </p:spPr>
        <p:txBody>
          <a:bodyPr wrap="square" lIns="0" tIns="0" rIns="0" bIns="0" rtlCol="0" anchor="t"/>
          <a:lstStyle/>
          <a:p>
            <a:pPr algn="l" indent="0" marL="0">
              <a:buNone/>
            </a:pPr>
            <a:r>
              <a:rPr lang="en-US" sz="900" dirty="0">
                <a:solidFill>
                  <a:srgbClr val="8D99AA"/>
                </a:solidFill>
                <a:latin typeface="Golos Text" pitchFamily="34" charset="0"/>
                <a:ea typeface="Golos Text" pitchFamily="34" charset="-122"/>
                <a:cs typeface="Golos Text" pitchFamily="34" charset="-120"/>
              </a:rPr>
              <a:t>MathKG · Математика кыргызча</a:t>
            </a:r>
            <a:endParaRPr lang="en-US" sz="900" dirty="0"/>
          </a:p>
        </p:txBody>
      </p:sp>
      <p:sp>
        <p:nvSpPr>
          <p:cNvPr id="11" name="Text 9"/>
          <p:cNvSpPr/>
          <p:nvPr/>
        </p:nvSpPr>
        <p:spPr>
          <a:xfrm>
            <a:off x="7680960" y="6492240"/>
            <a:ext cx="3657600" cy="228600"/>
          </a:xfrm>
          <a:prstGeom prst="rect">
            <a:avLst/>
          </a:prstGeom>
          <a:noFill/>
          <a:ln/>
        </p:spPr>
        <p:txBody>
          <a:bodyPr wrap="square" lIns="0" tIns="0" rIns="0" bIns="0" rtlCol="0" anchor="t"/>
          <a:lstStyle/>
          <a:p>
            <a:pPr algn="r" indent="0" marL="0">
              <a:buNone/>
            </a:pPr>
            <a:r>
              <a:rPr lang="en-US" sz="900" dirty="0">
                <a:solidFill>
                  <a:srgbClr val="8D99AA"/>
                </a:solidFill>
                <a:latin typeface="Golos Text" pitchFamily="34" charset="0"/>
                <a:ea typeface="Golos Text" pitchFamily="34" charset="-122"/>
                <a:cs typeface="Golos Text" pitchFamily="34" charset="-120"/>
              </a:rPr>
              <a:t>MathKG ыкмасы · 1 мүн</a:t>
            </a:r>
            <a:endParaRPr lang="en-US" sz="900" dirty="0"/>
          </a:p>
        </p:txBody>
      </p:sp>
      <p:sp>
        <p:nvSpPr>
          <p:cNvPr id="12" name="Shape 10"/>
          <p:cNvSpPr/>
          <p:nvPr/>
        </p:nvSpPr>
        <p:spPr>
          <a:xfrm>
            <a:off x="365760" y="1463040"/>
            <a:ext cx="11457432" cy="868680"/>
          </a:xfrm>
          <a:prstGeom prst="roundRect">
            <a:avLst>
              <a:gd name="adj" fmla="val 20000"/>
            </a:avLst>
          </a:prstGeom>
          <a:solidFill>
            <a:srgbClr val="FFFFFF"/>
          </a:solidFill>
          <a:ln w="22225">
            <a:solidFill>
              <a:srgbClr val="007A5A"/>
            </a:solidFill>
            <a:prstDash val="solid"/>
          </a:ln>
        </p:spPr>
      </p:sp>
      <p:sp>
        <p:nvSpPr>
          <p:cNvPr id="13" name="Text 11"/>
          <p:cNvSpPr/>
          <p:nvPr/>
        </p:nvSpPr>
        <p:spPr>
          <a:xfrm>
            <a:off x="548640" y="1655064"/>
            <a:ext cx="475488" cy="475488"/>
          </a:xfrm>
          <a:prstGeom prst="roundRect">
            <a:avLst>
              <a:gd name="adj" fmla="val 50000"/>
            </a:avLst>
          </a:prstGeom>
          <a:solidFill>
            <a:srgbClr val="007A5A"/>
          </a:solidFill>
          <a:ln w="19050">
            <a:solidFill>
              <a:srgbClr val="007A5A"/>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1</a:t>
            </a:r>
            <a:endParaRPr lang="en-US" sz="1600" dirty="0"/>
          </a:p>
        </p:txBody>
      </p:sp>
      <p:sp>
        <p:nvSpPr>
          <p:cNvPr id="14" name="Text 12"/>
          <p:cNvSpPr/>
          <p:nvPr/>
        </p:nvSpPr>
        <p:spPr>
          <a:xfrm>
            <a:off x="1234440" y="1463040"/>
            <a:ext cx="10424160" cy="868680"/>
          </a:xfrm>
          <a:prstGeom prst="rect">
            <a:avLst/>
          </a:prstGeom>
          <a:noFill/>
          <a:ln/>
        </p:spPr>
        <p:txBody>
          <a:bodyPr wrap="square" lIns="0" tIns="0" rIns="0" bIns="0" rtlCol="0" anchor="ctr"/>
          <a:lstStyle/>
          <a:p>
            <a:pPr algn="l" indent="0" marL="0">
              <a:buNone/>
            </a:pPr>
            <a:r>
              <a:rPr lang="en-US" sz="1700" dirty="0">
                <a:solidFill>
                  <a:srgbClr val="1D3557"/>
                </a:solidFill>
                <a:latin typeface="Golos Text" pitchFamily="34" charset="0"/>
                <a:ea typeface="Golos Text" pitchFamily="34" charset="-122"/>
                <a:cs typeface="Golos Text" pitchFamily="34" charset="-120"/>
              </a:rPr>
              <a:t>Тизме: 6, 10, 3, 8, 3. Орточону, медиананы, моданы жана кулачты тап.</a:t>
            </a:r>
            <a:endParaRPr lang="en-US" sz="1700" dirty="0"/>
          </a:p>
        </p:txBody>
      </p:sp>
      <p:sp>
        <p:nvSpPr>
          <p:cNvPr id="15" name="Shape 13"/>
          <p:cNvSpPr/>
          <p:nvPr/>
        </p:nvSpPr>
        <p:spPr>
          <a:xfrm>
            <a:off x="365760" y="2441448"/>
            <a:ext cx="11457432" cy="868680"/>
          </a:xfrm>
          <a:prstGeom prst="roundRect">
            <a:avLst>
              <a:gd name="adj" fmla="val 20000"/>
            </a:avLst>
          </a:prstGeom>
          <a:solidFill>
            <a:srgbClr val="FFFFFF"/>
          </a:solidFill>
          <a:ln w="22225">
            <a:solidFill>
              <a:srgbClr val="007A5A"/>
            </a:solidFill>
            <a:prstDash val="solid"/>
          </a:ln>
        </p:spPr>
      </p:sp>
      <p:sp>
        <p:nvSpPr>
          <p:cNvPr id="16" name="Text 14"/>
          <p:cNvSpPr/>
          <p:nvPr/>
        </p:nvSpPr>
        <p:spPr>
          <a:xfrm>
            <a:off x="548640" y="2633472"/>
            <a:ext cx="475488" cy="475488"/>
          </a:xfrm>
          <a:prstGeom prst="roundRect">
            <a:avLst>
              <a:gd name="adj" fmla="val 50000"/>
            </a:avLst>
          </a:prstGeom>
          <a:solidFill>
            <a:srgbClr val="007A5A"/>
          </a:solidFill>
          <a:ln w="19050">
            <a:solidFill>
              <a:srgbClr val="007A5A"/>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2</a:t>
            </a:r>
            <a:endParaRPr lang="en-US" sz="1600" dirty="0"/>
          </a:p>
        </p:txBody>
      </p:sp>
      <p:sp>
        <p:nvSpPr>
          <p:cNvPr id="17" name="Text 15"/>
          <p:cNvSpPr/>
          <p:nvPr/>
        </p:nvSpPr>
        <p:spPr>
          <a:xfrm>
            <a:off x="1234440" y="2441448"/>
            <a:ext cx="10424160" cy="868680"/>
          </a:xfrm>
          <a:prstGeom prst="rect">
            <a:avLst/>
          </a:prstGeom>
          <a:noFill/>
          <a:ln/>
        </p:spPr>
        <p:txBody>
          <a:bodyPr wrap="square" lIns="0" tIns="0" rIns="0" bIns="0" rtlCol="0" anchor="ctr"/>
          <a:lstStyle/>
          <a:p>
            <a:pPr algn="l" indent="0" marL="0">
              <a:buNone/>
            </a:pPr>
            <a:r>
              <a:rPr lang="en-US" sz="1700" dirty="0">
                <a:solidFill>
                  <a:srgbClr val="1D3557"/>
                </a:solidFill>
                <a:latin typeface="Golos Text" pitchFamily="34" charset="0"/>
                <a:ea typeface="Golos Text" pitchFamily="34" charset="-122"/>
                <a:cs typeface="Golos Text" pitchFamily="34" charset="-120"/>
              </a:rPr>
              <a:t>Тизме: 14, 9, 11, 16, 12, 10. Төрт өлчөмдү тап (көңүл бур: сандардын саны жуп).</a:t>
            </a:r>
            <a:endParaRPr lang="en-US" sz="1700" dirty="0"/>
          </a:p>
        </p:txBody>
      </p:sp>
      <p:sp>
        <p:nvSpPr>
          <p:cNvPr id="18" name="Shape 16"/>
          <p:cNvSpPr/>
          <p:nvPr/>
        </p:nvSpPr>
        <p:spPr>
          <a:xfrm>
            <a:off x="365760" y="3419856"/>
            <a:ext cx="11457432" cy="868680"/>
          </a:xfrm>
          <a:prstGeom prst="roundRect">
            <a:avLst>
              <a:gd name="adj" fmla="val 20000"/>
            </a:avLst>
          </a:prstGeom>
          <a:solidFill>
            <a:srgbClr val="FFFFFF"/>
          </a:solidFill>
          <a:ln w="22225">
            <a:solidFill>
              <a:srgbClr val="A84400"/>
            </a:solidFill>
            <a:prstDash val="solid"/>
          </a:ln>
        </p:spPr>
      </p:sp>
      <p:sp>
        <p:nvSpPr>
          <p:cNvPr id="19" name="Text 17"/>
          <p:cNvSpPr/>
          <p:nvPr/>
        </p:nvSpPr>
        <p:spPr>
          <a:xfrm>
            <a:off x="548640" y="3611880"/>
            <a:ext cx="475488" cy="475488"/>
          </a:xfrm>
          <a:prstGeom prst="roundRect">
            <a:avLst>
              <a:gd name="adj" fmla="val 50000"/>
            </a:avLst>
          </a:prstGeom>
          <a:solidFill>
            <a:srgbClr val="A84400"/>
          </a:solidFill>
          <a:ln w="19050">
            <a:solidFill>
              <a:srgbClr val="A84400"/>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3</a:t>
            </a:r>
            <a:endParaRPr lang="en-US" sz="1600" dirty="0"/>
          </a:p>
        </p:txBody>
      </p:sp>
      <p:sp>
        <p:nvSpPr>
          <p:cNvPr id="20" name="Text 18"/>
          <p:cNvSpPr/>
          <p:nvPr/>
        </p:nvSpPr>
        <p:spPr>
          <a:xfrm>
            <a:off x="1234440" y="3419856"/>
            <a:ext cx="10424160" cy="868680"/>
          </a:xfrm>
          <a:prstGeom prst="rect">
            <a:avLst/>
          </a:prstGeom>
          <a:noFill/>
          <a:ln/>
        </p:spPr>
        <p:txBody>
          <a:bodyPr wrap="square" lIns="0" tIns="0" rIns="0" bIns="0" rtlCol="0" anchor="ctr"/>
          <a:lstStyle/>
          <a:p>
            <a:pPr algn="l" indent="0" marL="0">
              <a:buNone/>
            </a:pPr>
            <a:r>
              <a:rPr lang="en-US" sz="1700" dirty="0">
                <a:solidFill>
                  <a:srgbClr val="1D3557"/>
                </a:solidFill>
                <a:latin typeface="Golos Text" pitchFamily="34" charset="0"/>
                <a:ea typeface="Golos Text" pitchFamily="34" charset="-122"/>
                <a:cs typeface="Golos Text" pitchFamily="34" charset="-120"/>
              </a:rPr>
              <a:t>Үй-бүлөдөгү 5 адамдын жашынын орточосу 18. Чоң ата (72 жаш) кошулду. Эми орточо жаш канча?</a:t>
            </a:r>
            <a:endParaRPr lang="en-US" sz="1700" dirty="0"/>
          </a:p>
        </p:txBody>
      </p:sp>
      <p:sp>
        <p:nvSpPr>
          <p:cNvPr id="21" name="Shape 19"/>
          <p:cNvSpPr/>
          <p:nvPr/>
        </p:nvSpPr>
        <p:spPr>
          <a:xfrm>
            <a:off x="365760" y="4398264"/>
            <a:ext cx="11457432" cy="868680"/>
          </a:xfrm>
          <a:prstGeom prst="roundRect">
            <a:avLst>
              <a:gd name="adj" fmla="val 20000"/>
            </a:avLst>
          </a:prstGeom>
          <a:solidFill>
            <a:srgbClr val="FFFFFF"/>
          </a:solidFill>
          <a:ln w="22225">
            <a:solidFill>
              <a:srgbClr val="A84400"/>
            </a:solidFill>
            <a:prstDash val="solid"/>
          </a:ln>
        </p:spPr>
      </p:sp>
      <p:sp>
        <p:nvSpPr>
          <p:cNvPr id="22" name="Text 20"/>
          <p:cNvSpPr/>
          <p:nvPr/>
        </p:nvSpPr>
        <p:spPr>
          <a:xfrm>
            <a:off x="548640" y="4590288"/>
            <a:ext cx="475488" cy="475488"/>
          </a:xfrm>
          <a:prstGeom prst="roundRect">
            <a:avLst>
              <a:gd name="adj" fmla="val 50000"/>
            </a:avLst>
          </a:prstGeom>
          <a:solidFill>
            <a:srgbClr val="A84400"/>
          </a:solidFill>
          <a:ln w="19050">
            <a:solidFill>
              <a:srgbClr val="A84400"/>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4</a:t>
            </a:r>
            <a:endParaRPr lang="en-US" sz="1600" dirty="0"/>
          </a:p>
        </p:txBody>
      </p:sp>
      <p:sp>
        <p:nvSpPr>
          <p:cNvPr id="23" name="Text 21"/>
          <p:cNvSpPr/>
          <p:nvPr/>
        </p:nvSpPr>
        <p:spPr>
          <a:xfrm>
            <a:off x="1234440" y="4398264"/>
            <a:ext cx="10424160" cy="868680"/>
          </a:xfrm>
          <a:prstGeom prst="rect">
            <a:avLst/>
          </a:prstGeom>
          <a:noFill/>
          <a:ln/>
        </p:spPr>
        <p:txBody>
          <a:bodyPr wrap="square" lIns="0" tIns="0" rIns="0" bIns="0" rtlCol="0" anchor="ctr"/>
          <a:lstStyle/>
          <a:p>
            <a:pPr algn="l" indent="0" marL="0">
              <a:buNone/>
            </a:pPr>
            <a:r>
              <a:rPr lang="en-US" sz="1700" dirty="0">
                <a:solidFill>
                  <a:srgbClr val="1D3557"/>
                </a:solidFill>
                <a:latin typeface="Golos Text" pitchFamily="34" charset="0"/>
                <a:ea typeface="Golos Text" pitchFamily="34" charset="-122"/>
                <a:cs typeface="Golos Text" pitchFamily="34" charset="-120"/>
              </a:rPr>
              <a:t>Футбол командасы 5 оюнда 0, 1, 0, 2, 12 гол киргизди. Машыктыруучу: «Биз орточо 3 гол киргизебиз». Бул чынчылбы? Кайсы өлчөм жакшыраак?</a:t>
            </a:r>
            <a:endParaRPr lang="en-US" sz="1700" dirty="0"/>
          </a:p>
        </p:txBody>
      </p:sp>
      <p:sp>
        <p:nvSpPr>
          <p:cNvPr id="24" name="Shape 22"/>
          <p:cNvSpPr/>
          <p:nvPr/>
        </p:nvSpPr>
        <p:spPr>
          <a:xfrm>
            <a:off x="365760" y="5376672"/>
            <a:ext cx="11457432" cy="868680"/>
          </a:xfrm>
          <a:prstGeom prst="roundRect">
            <a:avLst>
              <a:gd name="adj" fmla="val 20000"/>
            </a:avLst>
          </a:prstGeom>
          <a:solidFill>
            <a:srgbClr val="FFFFFF"/>
          </a:solidFill>
          <a:ln w="22225">
            <a:solidFill>
              <a:srgbClr val="24418C"/>
            </a:solidFill>
            <a:prstDash val="solid"/>
          </a:ln>
        </p:spPr>
      </p:sp>
      <p:sp>
        <p:nvSpPr>
          <p:cNvPr id="25" name="Text 23"/>
          <p:cNvSpPr/>
          <p:nvPr/>
        </p:nvSpPr>
        <p:spPr>
          <a:xfrm>
            <a:off x="548640" y="5568696"/>
            <a:ext cx="475488" cy="475488"/>
          </a:xfrm>
          <a:prstGeom prst="roundRect">
            <a:avLst>
              <a:gd name="adj" fmla="val 50000"/>
            </a:avLst>
          </a:prstGeom>
          <a:solidFill>
            <a:srgbClr val="24418C"/>
          </a:solidFill>
          <a:ln w="19050">
            <a:solidFill>
              <a:srgbClr val="24418C"/>
            </a:solidFill>
            <a:prstDash val="solid"/>
          </a:ln>
        </p:spPr>
        <p:txBody>
          <a:bodyPr wrap="square" lIns="0" tIns="0" rIns="0" bIns="0" rtlCol="0" anchor="ctr"/>
          <a:lstStyle/>
          <a:p>
            <a:pPr algn="ctr" indent="0" marL="0">
              <a:buNone/>
            </a:pPr>
            <a:r>
              <a:rPr lang="en-US" sz="1600" b="1" dirty="0">
                <a:solidFill>
                  <a:srgbClr val="FFFFFF"/>
                </a:solidFill>
                <a:latin typeface="Golos Text" pitchFamily="34" charset="0"/>
                <a:ea typeface="Golos Text" pitchFamily="34" charset="-122"/>
                <a:cs typeface="Golos Text" pitchFamily="34" charset="-120"/>
              </a:rPr>
              <a:t>5</a:t>
            </a:r>
            <a:endParaRPr lang="en-US" sz="1600" dirty="0"/>
          </a:p>
        </p:txBody>
      </p:sp>
      <p:sp>
        <p:nvSpPr>
          <p:cNvPr id="26" name="Text 24"/>
          <p:cNvSpPr/>
          <p:nvPr/>
        </p:nvSpPr>
        <p:spPr>
          <a:xfrm>
            <a:off x="1234440" y="5376672"/>
            <a:ext cx="10424160" cy="868680"/>
          </a:xfrm>
          <a:prstGeom prst="rect">
            <a:avLst/>
          </a:prstGeom>
          <a:noFill/>
          <a:ln/>
        </p:spPr>
        <p:txBody>
          <a:bodyPr wrap="square" lIns="0" tIns="0" rIns="0" bIns="0" rtlCol="0" anchor="ctr"/>
          <a:lstStyle/>
          <a:p>
            <a:pPr algn="l" indent="0" marL="0">
              <a:buNone/>
            </a:pPr>
            <a:r>
              <a:rPr lang="en-US" sz="1700" dirty="0">
                <a:solidFill>
                  <a:srgbClr val="1D3557"/>
                </a:solidFill>
                <a:latin typeface="Golos Text" pitchFamily="34" charset="0"/>
                <a:ea typeface="Golos Text" pitchFamily="34" charset="-122"/>
                <a:cs typeface="Golos Text" pitchFamily="34" charset="-120"/>
              </a:rPr>
              <a:t>Ар дайым, кээде же эч качан? «Бардык сандарга 5 кошсок, кулач өзгөрбөйт». Эки мисал менен текшер жана эмне үчүн экенин түшүндүр.</a:t>
            </a:r>
            <a:endParaRPr lang="en-US" sz="1700" dirty="0"/>
          </a:p>
        </p:txBody>
      </p:sp>
      <p:sp>
        <p:nvSpPr>
          <p:cNvPr id="27" name="Slide Number Placeholder 0"/>
          <p:cNvSpPr>
            <a:spLocks noGrp="1"/>
          </p:cNvSpPr>
          <p:nvPr>
            <p:ph type="sldNum" sz="quarter" idx="4294967295"/>
          </p:nvPr>
        </p:nvSpPr>
        <p:spPr>
          <a:xfrm>
            <a:off x="11384280" y="6492240"/>
            <a:ext cx="438912"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99AA"/>
                </a:solidFill>
                <a:latin typeface="Golos Text"/>
                <a:ea typeface="Golos Text"/>
                <a:cs typeface="Golos Text"/>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11457432" cy="640080"/>
          </a:xfrm>
          <a:prstGeom prst="roundRect">
            <a:avLst>
              <a:gd name="adj" fmla="val 22000"/>
            </a:avLst>
          </a:prstGeom>
          <a:solidFill>
            <a:srgbClr val="FFFFFF"/>
          </a:solidFill>
          <a:ln w="19050">
            <a:solidFill>
              <a:srgbClr val="1D3557"/>
            </a:solidFill>
            <a:prstDash val="solid"/>
          </a:ln>
        </p:spPr>
      </p:sp>
      <p:sp>
        <p:nvSpPr>
          <p:cNvPr id="3" name="Shape 1"/>
          <p:cNvSpPr/>
          <p:nvPr/>
        </p:nvSpPr>
        <p:spPr>
          <a:xfrm>
            <a:off x="557784" y="369418"/>
            <a:ext cx="70409" cy="358445"/>
          </a:xfrm>
          <a:prstGeom prst="roundRect">
            <a:avLst>
              <a:gd name="adj" fmla="val 50000"/>
            </a:avLst>
          </a:prstGeom>
          <a:solidFill>
            <a:srgbClr val="007A5A"/>
          </a:solidFill>
          <a:ln/>
        </p:spPr>
      </p:sp>
      <p:sp>
        <p:nvSpPr>
          <p:cNvPr id="4" name="Shape 2"/>
          <p:cNvSpPr/>
          <p:nvPr/>
        </p:nvSpPr>
        <p:spPr>
          <a:xfrm>
            <a:off x="691561" y="369418"/>
            <a:ext cx="70409" cy="358445"/>
          </a:xfrm>
          <a:prstGeom prst="roundRect">
            <a:avLst>
              <a:gd name="adj" fmla="val 50000"/>
            </a:avLst>
          </a:prstGeom>
          <a:solidFill>
            <a:srgbClr val="A84400"/>
          </a:solidFill>
          <a:ln/>
        </p:spPr>
      </p:sp>
      <p:sp>
        <p:nvSpPr>
          <p:cNvPr id="5" name="Shape 3"/>
          <p:cNvSpPr/>
          <p:nvPr/>
        </p:nvSpPr>
        <p:spPr>
          <a:xfrm>
            <a:off x="825337" y="369418"/>
            <a:ext cx="70409" cy="358445"/>
          </a:xfrm>
          <a:prstGeom prst="roundRect">
            <a:avLst>
              <a:gd name="adj" fmla="val 50000"/>
            </a:avLst>
          </a:prstGeom>
          <a:solidFill>
            <a:srgbClr val="24418C"/>
          </a:solidFill>
          <a:ln/>
        </p:spPr>
      </p:sp>
      <p:sp>
        <p:nvSpPr>
          <p:cNvPr id="6" name="Text 4"/>
          <p:cNvSpPr/>
          <p:nvPr/>
        </p:nvSpPr>
        <p:spPr>
          <a:xfrm>
            <a:off x="1096914" y="228600"/>
            <a:ext cx="7589520" cy="640080"/>
          </a:xfrm>
          <a:prstGeom prst="rect">
            <a:avLst/>
          </a:prstGeom>
          <a:noFill/>
          <a:ln/>
        </p:spPr>
        <p:txBody>
          <a:bodyPr wrap="square" lIns="0" tIns="0" rIns="0" bIns="0" rtlCol="0" anchor="ctr"/>
          <a:lstStyle/>
          <a:p>
            <a:pPr algn="l" indent="0" marL="0">
              <a:buNone/>
            </a:pPr>
            <a:r>
              <a:rPr lang="en-US" sz="2200" b="1" dirty="0">
                <a:solidFill>
                  <a:srgbClr val="1D3557"/>
                </a:solidFill>
                <a:latin typeface="Golos Text" pitchFamily="34" charset="0"/>
                <a:ea typeface="Golos Text" pitchFamily="34" charset="-122"/>
                <a:cs typeface="Golos Text" pitchFamily="34" charset="-120"/>
              </a:rPr>
              <a:t>Кийинки сабак: көп маалымат — жыштык таблицасы</a:t>
            </a:r>
            <a:endParaRPr lang="en-US" sz="2200" dirty="0"/>
          </a:p>
        </p:txBody>
      </p:sp>
      <p:sp>
        <p:nvSpPr>
          <p:cNvPr id="7" name="Text 5"/>
          <p:cNvSpPr/>
          <p:nvPr/>
        </p:nvSpPr>
        <p:spPr>
          <a:xfrm>
            <a:off x="8778240" y="228600"/>
            <a:ext cx="2880360" cy="640080"/>
          </a:xfrm>
          <a:prstGeom prst="rect">
            <a:avLst/>
          </a:prstGeom>
          <a:noFill/>
          <a:ln/>
        </p:spPr>
        <p:txBody>
          <a:bodyPr wrap="square" lIns="0" tIns="0" rIns="0" bIns="0" rtlCol="0" anchor="ctr"/>
          <a:lstStyle/>
          <a:p>
            <a:pPr algn="r" indent="0" marL="0">
              <a:buNone/>
            </a:pPr>
            <a:r>
              <a:rPr lang="en-US" sz="1100" dirty="0">
                <a:solidFill>
                  <a:srgbClr val="4A5A70"/>
                </a:solidFill>
                <a:latin typeface="Golos Text" pitchFamily="34" charset="0"/>
                <a:ea typeface="Golos Text" pitchFamily="34" charset="-122"/>
                <a:cs typeface="Golos Text" pitchFamily="34" charset="-120"/>
              </a:rPr>
              <a:t>Статистика › Төрт өлчөм</a:t>
            </a:r>
            <a:endParaRPr lang="en-US" sz="1100" dirty="0"/>
          </a:p>
        </p:txBody>
      </p:sp>
      <p:sp>
        <p:nvSpPr>
          <p:cNvPr id="8" name="Text 6"/>
          <p:cNvSpPr/>
          <p:nvPr/>
        </p:nvSpPr>
        <p:spPr>
          <a:xfrm>
            <a:off x="411480" y="960120"/>
            <a:ext cx="8412480" cy="329184"/>
          </a:xfrm>
          <a:prstGeom prst="rect">
            <a:avLst/>
          </a:prstGeom>
          <a:noFill/>
          <a:ln/>
        </p:spPr>
        <p:txBody>
          <a:bodyPr wrap="square" lIns="0" tIns="0" rIns="0" bIns="0" rtlCol="0" anchor="t"/>
          <a:lstStyle/>
          <a:p>
            <a:pPr algn="l" indent="0" marL="0">
              <a:buNone/>
            </a:pPr>
            <a:r>
              <a:rPr lang="en-US" sz="1500" i="1" dirty="0">
                <a:solidFill>
                  <a:srgbClr val="4A5A70"/>
                </a:solidFill>
                <a:latin typeface="Golos Text" pitchFamily="34" charset="0"/>
                <a:ea typeface="Golos Text" pitchFamily="34" charset="-122"/>
                <a:cs typeface="Golos Text" pitchFamily="34" charset="-120"/>
              </a:rPr>
              <a:t>Сандар көп болгондо аларды кантип тез иштетебиз?</a:t>
            </a:r>
            <a:endParaRPr lang="en-US" sz="1500" dirty="0"/>
          </a:p>
        </p:txBody>
      </p:sp>
      <p:sp>
        <p:nvSpPr>
          <p:cNvPr id="9" name="Text 7"/>
          <p:cNvSpPr/>
          <p:nvPr/>
        </p:nvSpPr>
        <p:spPr>
          <a:xfrm>
            <a:off x="8897112" y="969264"/>
            <a:ext cx="2926080" cy="310896"/>
          </a:xfrm>
          <a:prstGeom prst="rect">
            <a:avLst/>
          </a:prstGeom>
          <a:noFill/>
          <a:ln/>
        </p:spPr>
        <p:txBody>
          <a:bodyPr wrap="square" lIns="0" tIns="0" rIns="0" bIns="0" rtlCol="0" anchor="ctr"/>
          <a:lstStyle/>
          <a:p>
            <a:pPr algn="r" indent="0" marL="0">
              <a:buNone/>
            </a:pPr>
            <a:r>
              <a:rPr lang="en-US" sz="1200" dirty="0">
                <a:solidFill>
                  <a:srgbClr val="4A5A70"/>
                </a:solidFill>
                <a:latin typeface="Golos Text" pitchFamily="34" charset="0"/>
                <a:ea typeface="Golos Text" pitchFamily="34" charset="-122"/>
                <a:cs typeface="Golos Text" pitchFamily="34" charset="-120"/>
              </a:rPr>
              <a:t>Жабуу · 15 сек</a:t>
            </a:r>
            <a:endParaRPr lang="en-US" sz="1200" dirty="0"/>
          </a:p>
        </p:txBody>
      </p:sp>
      <p:sp>
        <p:nvSpPr>
          <p:cNvPr id="10" name="Text 8"/>
          <p:cNvSpPr/>
          <p:nvPr/>
        </p:nvSpPr>
        <p:spPr>
          <a:xfrm>
            <a:off x="365760" y="6492240"/>
            <a:ext cx="5486400" cy="228600"/>
          </a:xfrm>
          <a:prstGeom prst="rect">
            <a:avLst/>
          </a:prstGeom>
          <a:noFill/>
          <a:ln/>
        </p:spPr>
        <p:txBody>
          <a:bodyPr wrap="square" lIns="0" tIns="0" rIns="0" bIns="0" rtlCol="0" anchor="t"/>
          <a:lstStyle/>
          <a:p>
            <a:pPr algn="l" indent="0" marL="0">
              <a:buNone/>
            </a:pPr>
            <a:r>
              <a:rPr lang="en-US" sz="900" dirty="0">
                <a:solidFill>
                  <a:srgbClr val="8D99AA"/>
                </a:solidFill>
                <a:latin typeface="Golos Text" pitchFamily="34" charset="0"/>
                <a:ea typeface="Golos Text" pitchFamily="34" charset="-122"/>
                <a:cs typeface="Golos Text" pitchFamily="34" charset="-120"/>
              </a:rPr>
              <a:t>MathKG · Математика кыргызча</a:t>
            </a:r>
            <a:endParaRPr lang="en-US" sz="900" dirty="0"/>
          </a:p>
        </p:txBody>
      </p:sp>
      <p:sp>
        <p:nvSpPr>
          <p:cNvPr id="11" name="Text 9"/>
          <p:cNvSpPr/>
          <p:nvPr/>
        </p:nvSpPr>
        <p:spPr>
          <a:xfrm>
            <a:off x="7680960" y="6492240"/>
            <a:ext cx="3657600" cy="228600"/>
          </a:xfrm>
          <a:prstGeom prst="rect">
            <a:avLst/>
          </a:prstGeom>
          <a:noFill/>
          <a:ln/>
        </p:spPr>
        <p:txBody>
          <a:bodyPr wrap="square" lIns="0" tIns="0" rIns="0" bIns="0" rtlCol="0" anchor="t"/>
          <a:lstStyle/>
          <a:p>
            <a:pPr algn="r" indent="0" marL="0">
              <a:buNone/>
            </a:pPr>
            <a:r>
              <a:rPr lang="en-US" sz="900" dirty="0">
                <a:solidFill>
                  <a:srgbClr val="8D99AA"/>
                </a:solidFill>
                <a:latin typeface="Golos Text" pitchFamily="34" charset="0"/>
                <a:ea typeface="Golos Text" pitchFamily="34" charset="-122"/>
                <a:cs typeface="Golos Text" pitchFamily="34" charset="-120"/>
              </a:rPr>
              <a:t>MathKG ыкмасы · 15 сек</a:t>
            </a:r>
            <a:endParaRPr lang="en-US" sz="900" dirty="0"/>
          </a:p>
        </p:txBody>
      </p:sp>
      <p:sp>
        <p:nvSpPr>
          <p:cNvPr id="12" name="Shape 10"/>
          <p:cNvSpPr/>
          <p:nvPr/>
        </p:nvSpPr>
        <p:spPr>
          <a:xfrm>
            <a:off x="365760" y="1463040"/>
            <a:ext cx="5486400" cy="4846320"/>
          </a:xfrm>
          <a:prstGeom prst="roundRect">
            <a:avLst>
              <a:gd name="adj" fmla="val 5000"/>
            </a:avLst>
          </a:prstGeom>
          <a:solidFill>
            <a:srgbClr val="F3F5FB"/>
          </a:solidFill>
          <a:ln/>
        </p:spPr>
      </p:sp>
      <p:sp>
        <p:nvSpPr>
          <p:cNvPr id="13" name="Text 11"/>
          <p:cNvSpPr/>
          <p:nvPr/>
        </p:nvSpPr>
        <p:spPr>
          <a:xfrm>
            <a:off x="594360" y="1645920"/>
            <a:ext cx="3657600" cy="274320"/>
          </a:xfrm>
          <a:prstGeom prst="rect">
            <a:avLst/>
          </a:prstGeom>
          <a:noFill/>
          <a:ln/>
        </p:spPr>
        <p:txBody>
          <a:bodyPr wrap="square" lIns="0" tIns="0" rIns="0" bIns="0" rtlCol="0" anchor="t"/>
          <a:lstStyle/>
          <a:p>
            <a:pPr algn="l" indent="0" marL="0">
              <a:buNone/>
            </a:pPr>
            <a:r>
              <a:rPr lang="en-US" sz="1300" b="1" dirty="0">
                <a:solidFill>
                  <a:srgbClr val="A84400"/>
                </a:solidFill>
                <a:latin typeface="Golos Text" pitchFamily="34" charset="0"/>
                <a:ea typeface="Golos Text" pitchFamily="34" charset="-122"/>
                <a:cs typeface="Golos Text" pitchFamily="34" charset="-120"/>
              </a:rPr>
              <a:t>ОЙЛОНУП КЕЛ</a:t>
            </a:r>
            <a:endParaRPr lang="en-US" sz="1300" dirty="0"/>
          </a:p>
        </p:txBody>
      </p:sp>
      <p:sp>
        <p:nvSpPr>
          <p:cNvPr id="14" name="Text 12"/>
          <p:cNvSpPr/>
          <p:nvPr/>
        </p:nvSpPr>
        <p:spPr>
          <a:xfrm>
            <a:off x="594360" y="2011680"/>
            <a:ext cx="5029200" cy="822960"/>
          </a:xfrm>
          <a:prstGeom prst="rect">
            <a:avLst/>
          </a:prstGeom>
          <a:noFill/>
          <a:ln/>
        </p:spPr>
        <p:txBody>
          <a:bodyPr wrap="square" lIns="0" tIns="0" rIns="0" bIns="0" rtlCol="0" anchor="t"/>
          <a:lstStyle/>
          <a:p>
            <a:pPr algn="l" indent="0" marL="0">
              <a:buNone/>
            </a:pPr>
            <a:r>
              <a:rPr lang="en-US" sz="1800" b="1" dirty="0">
                <a:solidFill>
                  <a:srgbClr val="1D3557"/>
                </a:solidFill>
                <a:latin typeface="Golos Text" pitchFamily="34" charset="0"/>
                <a:ea typeface="Golos Text" pitchFamily="34" charset="-122"/>
                <a:cs typeface="Golos Text" pitchFamily="34" charset="-120"/>
              </a:rPr>
              <a:t>Класстагы 20 окуучунун үй-бүлөсүндөгү балдардын саны:</a:t>
            </a:r>
            <a:endParaRPr lang="en-US" sz="1800" dirty="0"/>
          </a:p>
        </p:txBody>
      </p:sp>
      <p:sp>
        <p:nvSpPr>
          <p:cNvPr id="15" name="Text 13"/>
          <p:cNvSpPr/>
          <p:nvPr/>
        </p:nvSpPr>
        <p:spPr>
          <a:xfrm>
            <a:off x="594360" y="2926080"/>
            <a:ext cx="5029200" cy="914400"/>
          </a:xfrm>
          <a:prstGeom prst="rect">
            <a:avLst/>
          </a:prstGeom>
          <a:noFill/>
          <a:ln/>
        </p:spPr>
        <p:txBody>
          <a:bodyPr wrap="square" lIns="0" tIns="0" rIns="0" bIns="0" rtlCol="0" anchor="t"/>
          <a:lstStyle/>
          <a:p>
            <a:pPr algn="l" indent="0" marL="0">
              <a:buNone/>
            </a:pPr>
            <a:r>
              <a:rPr lang="en-US" sz="1800" b="1" dirty="0">
                <a:solidFill>
                  <a:srgbClr val="24418C"/>
                </a:solidFill>
                <a:latin typeface="Golos Text" pitchFamily="34" charset="0"/>
                <a:ea typeface="Golos Text" pitchFamily="34" charset="-122"/>
                <a:cs typeface="Golos Text" pitchFamily="34" charset="-120"/>
              </a:rPr>
              <a:t>2, 3, 1, 2, 4, 2, 3, 2, 1, 5, 2, 3, 2, 1, 2, 3, 4, 2, 3, 2</a:t>
            </a:r>
            <a:endParaRPr lang="en-US" sz="1800" dirty="0"/>
          </a:p>
        </p:txBody>
      </p:sp>
      <p:sp>
        <p:nvSpPr>
          <p:cNvPr id="16" name="Text 14"/>
          <p:cNvSpPr/>
          <p:nvPr/>
        </p:nvSpPr>
        <p:spPr>
          <a:xfrm>
            <a:off x="594360" y="4114800"/>
            <a:ext cx="5029200" cy="1097280"/>
          </a:xfrm>
          <a:prstGeom prst="roundRect">
            <a:avLst>
              <a:gd name="adj" fmla="val 30000"/>
            </a:avLst>
          </a:prstGeom>
          <a:solidFill>
            <a:srgbClr val="FFFFFF"/>
          </a:solidFill>
          <a:ln w="19050">
            <a:solidFill>
              <a:srgbClr val="1D3557"/>
            </a:solidFill>
            <a:prstDash val="solid"/>
          </a:ln>
        </p:spPr>
        <p:txBody>
          <a:bodyPr wrap="square" lIns="127000" tIns="127000" rIns="127000" bIns="127000" rtlCol="0" anchor="ctr"/>
          <a:lstStyle/>
          <a:p>
            <a:pPr algn="ctr" indent="0" marL="0">
              <a:buNone/>
            </a:pPr>
            <a:r>
              <a:rPr lang="en-US" sz="1700" b="1" dirty="0">
                <a:solidFill>
                  <a:srgbClr val="1D3557"/>
                </a:solidFill>
                <a:latin typeface="Golos Text" pitchFamily="34" charset="0"/>
                <a:ea typeface="Golos Text" pitchFamily="34" charset="-122"/>
                <a:cs typeface="Golos Text" pitchFamily="34" charset="-120"/>
              </a:rPr>
              <a:t>20 санды ирээттебей туруп, моданы жана медиананы кантип тез табабыз?</a:t>
            </a:r>
            <a:endParaRPr lang="en-US" sz="1700" dirty="0"/>
          </a:p>
        </p:txBody>
      </p:sp>
      <p:sp>
        <p:nvSpPr>
          <p:cNvPr id="17" name="Shape 15"/>
          <p:cNvSpPr/>
          <p:nvPr/>
        </p:nvSpPr>
        <p:spPr>
          <a:xfrm>
            <a:off x="6035040" y="1463040"/>
            <a:ext cx="5788152" cy="4846320"/>
          </a:xfrm>
          <a:prstGeom prst="roundRect">
            <a:avLst>
              <a:gd name="adj" fmla="val 5000"/>
            </a:avLst>
          </a:prstGeom>
          <a:solidFill>
            <a:srgbClr val="FFFFFF"/>
          </a:solidFill>
          <a:ln w="19050">
            <a:solidFill>
              <a:srgbClr val="8D99AA"/>
            </a:solidFill>
            <a:prstDash val="dash"/>
          </a:ln>
        </p:spPr>
      </p:sp>
      <p:sp>
        <p:nvSpPr>
          <p:cNvPr id="18" name="Text 16"/>
          <p:cNvSpPr/>
          <p:nvPr/>
        </p:nvSpPr>
        <p:spPr>
          <a:xfrm>
            <a:off x="6263640" y="1645920"/>
            <a:ext cx="4572000" cy="274320"/>
          </a:xfrm>
          <a:prstGeom prst="rect">
            <a:avLst/>
          </a:prstGeom>
          <a:noFill/>
          <a:ln/>
        </p:spPr>
        <p:txBody>
          <a:bodyPr wrap="square" lIns="0" tIns="0" rIns="0" bIns="0" rtlCol="0" anchor="t"/>
          <a:lstStyle/>
          <a:p>
            <a:pPr algn="l" indent="0" marL="0">
              <a:buNone/>
            </a:pPr>
            <a:r>
              <a:rPr lang="en-US" sz="1300" b="1" dirty="0">
                <a:solidFill>
                  <a:srgbClr val="4A5A70"/>
                </a:solidFill>
                <a:latin typeface="Golos Text" pitchFamily="34" charset="0"/>
                <a:ea typeface="Golos Text" pitchFamily="34" charset="-122"/>
                <a:cs typeface="Golos Text" pitchFamily="34" charset="-120"/>
              </a:rPr>
              <a:t>КИЙИНКИ САБАКТА</a:t>
            </a:r>
            <a:endParaRPr lang="en-US" sz="1300" dirty="0"/>
          </a:p>
        </p:txBody>
      </p:sp>
      <p:sp>
        <p:nvSpPr>
          <p:cNvPr id="19" name="Text 17"/>
          <p:cNvSpPr/>
          <p:nvPr/>
        </p:nvSpPr>
        <p:spPr>
          <a:xfrm>
            <a:off x="6263640" y="2011680"/>
            <a:ext cx="1463040" cy="411480"/>
          </a:xfrm>
          <a:prstGeom prst="rect">
            <a:avLst/>
          </a:prstGeom>
          <a:noFill/>
          <a:ln/>
        </p:spPr>
        <p:txBody>
          <a:bodyPr wrap="square" lIns="0" tIns="0" rIns="0" bIns="0" rtlCol="0" anchor="t"/>
          <a:lstStyle/>
          <a:p>
            <a:pPr algn="ctr" indent="0" marL="0">
              <a:buNone/>
            </a:pPr>
            <a:r>
              <a:rPr lang="en-US" sz="1500" b="1" dirty="0">
                <a:solidFill>
                  <a:srgbClr val="4A5A70"/>
                </a:solidFill>
                <a:latin typeface="Golos Text" pitchFamily="34" charset="0"/>
                <a:ea typeface="Golos Text" pitchFamily="34" charset="-122"/>
                <a:cs typeface="Golos Text" pitchFamily="34" charset="-120"/>
              </a:rPr>
              <a:t>Балдар</a:t>
            </a:r>
            <a:endParaRPr lang="en-US" sz="1500" dirty="0"/>
          </a:p>
        </p:txBody>
      </p:sp>
      <p:sp>
        <p:nvSpPr>
          <p:cNvPr id="20" name="Text 18"/>
          <p:cNvSpPr/>
          <p:nvPr/>
        </p:nvSpPr>
        <p:spPr>
          <a:xfrm>
            <a:off x="7726680" y="2011680"/>
            <a:ext cx="2377440" cy="411480"/>
          </a:xfrm>
          <a:prstGeom prst="rect">
            <a:avLst/>
          </a:prstGeom>
          <a:noFill/>
          <a:ln/>
        </p:spPr>
        <p:txBody>
          <a:bodyPr wrap="square" lIns="0" tIns="0" rIns="0" bIns="0" rtlCol="0" anchor="t"/>
          <a:lstStyle/>
          <a:p>
            <a:pPr algn="ctr" indent="0" marL="0">
              <a:buNone/>
            </a:pPr>
            <a:r>
              <a:rPr lang="en-US" sz="1500" b="1" dirty="0">
                <a:solidFill>
                  <a:srgbClr val="4A5A70"/>
                </a:solidFill>
                <a:latin typeface="Golos Text" pitchFamily="34" charset="0"/>
                <a:ea typeface="Golos Text" pitchFamily="34" charset="-122"/>
                <a:cs typeface="Golos Text" pitchFamily="34" charset="-120"/>
              </a:rPr>
              <a:t>Чийиктер</a:t>
            </a:r>
            <a:endParaRPr lang="en-US" sz="1500" dirty="0"/>
          </a:p>
        </p:txBody>
      </p:sp>
      <p:sp>
        <p:nvSpPr>
          <p:cNvPr id="21" name="Text 19"/>
          <p:cNvSpPr/>
          <p:nvPr/>
        </p:nvSpPr>
        <p:spPr>
          <a:xfrm>
            <a:off x="10104120" y="2011680"/>
            <a:ext cx="1371600" cy="411480"/>
          </a:xfrm>
          <a:prstGeom prst="rect">
            <a:avLst/>
          </a:prstGeom>
          <a:noFill/>
          <a:ln/>
        </p:spPr>
        <p:txBody>
          <a:bodyPr wrap="square" lIns="0" tIns="0" rIns="0" bIns="0" rtlCol="0" anchor="t"/>
          <a:lstStyle/>
          <a:p>
            <a:pPr algn="ctr" indent="0" marL="0">
              <a:buNone/>
            </a:pPr>
            <a:r>
              <a:rPr lang="en-US" sz="1500" b="1" dirty="0">
                <a:solidFill>
                  <a:srgbClr val="4A5A70"/>
                </a:solidFill>
                <a:latin typeface="Golos Text" pitchFamily="34" charset="0"/>
                <a:ea typeface="Golos Text" pitchFamily="34" charset="-122"/>
                <a:cs typeface="Golos Text" pitchFamily="34" charset="-120"/>
              </a:rPr>
              <a:t>Саны</a:t>
            </a:r>
            <a:endParaRPr lang="en-US" sz="1500" dirty="0"/>
          </a:p>
        </p:txBody>
      </p:sp>
      <p:sp>
        <p:nvSpPr>
          <p:cNvPr id="22" name="Shape 20"/>
          <p:cNvSpPr/>
          <p:nvPr/>
        </p:nvSpPr>
        <p:spPr>
          <a:xfrm>
            <a:off x="6263640" y="2514600"/>
            <a:ext cx="5349240" cy="475488"/>
          </a:xfrm>
          <a:prstGeom prst="roundRect">
            <a:avLst>
              <a:gd name="adj" fmla="val 30000"/>
            </a:avLst>
          </a:prstGeom>
          <a:solidFill>
            <a:srgbClr val="F3F5FB"/>
          </a:solidFill>
          <a:ln/>
        </p:spPr>
      </p:sp>
      <p:sp>
        <p:nvSpPr>
          <p:cNvPr id="23" name="Text 21"/>
          <p:cNvSpPr/>
          <p:nvPr/>
        </p:nvSpPr>
        <p:spPr>
          <a:xfrm>
            <a:off x="6263640" y="2514600"/>
            <a:ext cx="1463040" cy="475488"/>
          </a:xfrm>
          <a:prstGeom prst="rect">
            <a:avLst/>
          </a:prstGeom>
          <a:noFill/>
          <a:ln/>
        </p:spPr>
        <p:txBody>
          <a:bodyPr wrap="square" lIns="0" tIns="0" rIns="0" bIns="0" rtlCol="0" anchor="ctr"/>
          <a:lstStyle/>
          <a:p>
            <a:pPr algn="ctr" indent="0" marL="0">
              <a:buNone/>
            </a:pPr>
            <a:r>
              <a:rPr lang="en-US" sz="1800" b="1" dirty="0">
                <a:solidFill>
                  <a:srgbClr val="1D3557"/>
                </a:solidFill>
                <a:latin typeface="Golos Text" pitchFamily="34" charset="0"/>
                <a:ea typeface="Golos Text" pitchFamily="34" charset="-122"/>
                <a:cs typeface="Golos Text" pitchFamily="34" charset="-120"/>
              </a:rPr>
              <a:t>1</a:t>
            </a:r>
            <a:endParaRPr lang="en-US" sz="1800" dirty="0"/>
          </a:p>
        </p:txBody>
      </p:sp>
      <p:sp>
        <p:nvSpPr>
          <p:cNvPr id="24" name="Text 22"/>
          <p:cNvSpPr/>
          <p:nvPr/>
        </p:nvSpPr>
        <p:spPr>
          <a:xfrm>
            <a:off x="10104120" y="2514600"/>
            <a:ext cx="1371600" cy="475488"/>
          </a:xfrm>
          <a:prstGeom prst="rect">
            <a:avLst/>
          </a:prstGeom>
          <a:noFill/>
          <a:ln/>
        </p:spPr>
        <p:txBody>
          <a:bodyPr wrap="square" lIns="0" tIns="0" rIns="0" bIns="0" rtlCol="0" anchor="ctr"/>
          <a:lstStyle/>
          <a:p>
            <a:pPr algn="ctr" indent="0" marL="0">
              <a:buNone/>
            </a:pPr>
            <a:r>
              <a:rPr lang="en-US" sz="1800" b="1" dirty="0">
                <a:solidFill>
                  <a:srgbClr val="24418C"/>
                </a:solidFill>
                <a:latin typeface="Golos Text" pitchFamily="34" charset="0"/>
                <a:ea typeface="Golos Text" pitchFamily="34" charset="-122"/>
                <a:cs typeface="Golos Text" pitchFamily="34" charset="-120"/>
              </a:rPr>
              <a:t>?</a:t>
            </a:r>
            <a:endParaRPr lang="en-US" sz="1800" dirty="0"/>
          </a:p>
        </p:txBody>
      </p:sp>
      <p:sp>
        <p:nvSpPr>
          <p:cNvPr id="25" name="Shape 23"/>
          <p:cNvSpPr/>
          <p:nvPr/>
        </p:nvSpPr>
        <p:spPr>
          <a:xfrm>
            <a:off x="6263640" y="3081528"/>
            <a:ext cx="5349240" cy="475488"/>
          </a:xfrm>
          <a:prstGeom prst="roundRect">
            <a:avLst>
              <a:gd name="adj" fmla="val 30000"/>
            </a:avLst>
          </a:prstGeom>
          <a:solidFill>
            <a:srgbClr val="F3F5FB"/>
          </a:solidFill>
          <a:ln/>
        </p:spPr>
      </p:sp>
      <p:sp>
        <p:nvSpPr>
          <p:cNvPr id="26" name="Text 24"/>
          <p:cNvSpPr/>
          <p:nvPr/>
        </p:nvSpPr>
        <p:spPr>
          <a:xfrm>
            <a:off x="6263640" y="3081528"/>
            <a:ext cx="1463040" cy="475488"/>
          </a:xfrm>
          <a:prstGeom prst="rect">
            <a:avLst/>
          </a:prstGeom>
          <a:noFill/>
          <a:ln/>
        </p:spPr>
        <p:txBody>
          <a:bodyPr wrap="square" lIns="0" tIns="0" rIns="0" bIns="0" rtlCol="0" anchor="ctr"/>
          <a:lstStyle/>
          <a:p>
            <a:pPr algn="ctr" indent="0" marL="0">
              <a:buNone/>
            </a:pPr>
            <a:r>
              <a:rPr lang="en-US" sz="1800" b="1" dirty="0">
                <a:solidFill>
                  <a:srgbClr val="1D3557"/>
                </a:solidFill>
                <a:latin typeface="Golos Text" pitchFamily="34" charset="0"/>
                <a:ea typeface="Golos Text" pitchFamily="34" charset="-122"/>
                <a:cs typeface="Golos Text" pitchFamily="34" charset="-120"/>
              </a:rPr>
              <a:t>2</a:t>
            </a:r>
            <a:endParaRPr lang="en-US" sz="1800" dirty="0"/>
          </a:p>
        </p:txBody>
      </p:sp>
      <p:sp>
        <p:nvSpPr>
          <p:cNvPr id="27" name="Text 25"/>
          <p:cNvSpPr/>
          <p:nvPr/>
        </p:nvSpPr>
        <p:spPr>
          <a:xfrm>
            <a:off x="10104120" y="3081528"/>
            <a:ext cx="1371600" cy="475488"/>
          </a:xfrm>
          <a:prstGeom prst="rect">
            <a:avLst/>
          </a:prstGeom>
          <a:noFill/>
          <a:ln/>
        </p:spPr>
        <p:txBody>
          <a:bodyPr wrap="square" lIns="0" tIns="0" rIns="0" bIns="0" rtlCol="0" anchor="ctr"/>
          <a:lstStyle/>
          <a:p>
            <a:pPr algn="ctr" indent="0" marL="0">
              <a:buNone/>
            </a:pPr>
            <a:r>
              <a:rPr lang="en-US" sz="1800" b="1" dirty="0">
                <a:solidFill>
                  <a:srgbClr val="24418C"/>
                </a:solidFill>
                <a:latin typeface="Golos Text" pitchFamily="34" charset="0"/>
                <a:ea typeface="Golos Text" pitchFamily="34" charset="-122"/>
                <a:cs typeface="Golos Text" pitchFamily="34" charset="-120"/>
              </a:rPr>
              <a:t>?</a:t>
            </a:r>
            <a:endParaRPr lang="en-US" sz="1800" dirty="0"/>
          </a:p>
        </p:txBody>
      </p:sp>
      <p:sp>
        <p:nvSpPr>
          <p:cNvPr id="28" name="Shape 26"/>
          <p:cNvSpPr/>
          <p:nvPr/>
        </p:nvSpPr>
        <p:spPr>
          <a:xfrm>
            <a:off x="6263640" y="3648456"/>
            <a:ext cx="5349240" cy="475488"/>
          </a:xfrm>
          <a:prstGeom prst="roundRect">
            <a:avLst>
              <a:gd name="adj" fmla="val 30000"/>
            </a:avLst>
          </a:prstGeom>
          <a:solidFill>
            <a:srgbClr val="F3F5FB"/>
          </a:solidFill>
          <a:ln/>
        </p:spPr>
      </p:sp>
      <p:sp>
        <p:nvSpPr>
          <p:cNvPr id="29" name="Text 27"/>
          <p:cNvSpPr/>
          <p:nvPr/>
        </p:nvSpPr>
        <p:spPr>
          <a:xfrm>
            <a:off x="6263640" y="3648456"/>
            <a:ext cx="1463040" cy="475488"/>
          </a:xfrm>
          <a:prstGeom prst="rect">
            <a:avLst/>
          </a:prstGeom>
          <a:noFill/>
          <a:ln/>
        </p:spPr>
        <p:txBody>
          <a:bodyPr wrap="square" lIns="0" tIns="0" rIns="0" bIns="0" rtlCol="0" anchor="ctr"/>
          <a:lstStyle/>
          <a:p>
            <a:pPr algn="ctr" indent="0" marL="0">
              <a:buNone/>
            </a:pPr>
            <a:r>
              <a:rPr lang="en-US" sz="1800" b="1" dirty="0">
                <a:solidFill>
                  <a:srgbClr val="1D3557"/>
                </a:solidFill>
                <a:latin typeface="Golos Text" pitchFamily="34" charset="0"/>
                <a:ea typeface="Golos Text" pitchFamily="34" charset="-122"/>
                <a:cs typeface="Golos Text" pitchFamily="34" charset="-120"/>
              </a:rPr>
              <a:t>3</a:t>
            </a:r>
            <a:endParaRPr lang="en-US" sz="1800" dirty="0"/>
          </a:p>
        </p:txBody>
      </p:sp>
      <p:sp>
        <p:nvSpPr>
          <p:cNvPr id="30" name="Text 28"/>
          <p:cNvSpPr/>
          <p:nvPr/>
        </p:nvSpPr>
        <p:spPr>
          <a:xfrm>
            <a:off x="10104120" y="3648456"/>
            <a:ext cx="1371600" cy="475488"/>
          </a:xfrm>
          <a:prstGeom prst="rect">
            <a:avLst/>
          </a:prstGeom>
          <a:noFill/>
          <a:ln/>
        </p:spPr>
        <p:txBody>
          <a:bodyPr wrap="square" lIns="0" tIns="0" rIns="0" bIns="0" rtlCol="0" anchor="ctr"/>
          <a:lstStyle/>
          <a:p>
            <a:pPr algn="ctr" indent="0" marL="0">
              <a:buNone/>
            </a:pPr>
            <a:r>
              <a:rPr lang="en-US" sz="1800" b="1" dirty="0">
                <a:solidFill>
                  <a:srgbClr val="24418C"/>
                </a:solidFill>
                <a:latin typeface="Golos Text" pitchFamily="34" charset="0"/>
                <a:ea typeface="Golos Text" pitchFamily="34" charset="-122"/>
                <a:cs typeface="Golos Text" pitchFamily="34" charset="-120"/>
              </a:rPr>
              <a:t>?</a:t>
            </a:r>
            <a:endParaRPr lang="en-US" sz="1800" dirty="0"/>
          </a:p>
        </p:txBody>
      </p:sp>
      <p:sp>
        <p:nvSpPr>
          <p:cNvPr id="31" name="Shape 29"/>
          <p:cNvSpPr/>
          <p:nvPr/>
        </p:nvSpPr>
        <p:spPr>
          <a:xfrm>
            <a:off x="6263640" y="4215384"/>
            <a:ext cx="5349240" cy="475488"/>
          </a:xfrm>
          <a:prstGeom prst="roundRect">
            <a:avLst>
              <a:gd name="adj" fmla="val 30000"/>
            </a:avLst>
          </a:prstGeom>
          <a:solidFill>
            <a:srgbClr val="F3F5FB"/>
          </a:solidFill>
          <a:ln/>
        </p:spPr>
      </p:sp>
      <p:sp>
        <p:nvSpPr>
          <p:cNvPr id="32" name="Text 30"/>
          <p:cNvSpPr/>
          <p:nvPr/>
        </p:nvSpPr>
        <p:spPr>
          <a:xfrm>
            <a:off x="6263640" y="4215384"/>
            <a:ext cx="1463040" cy="475488"/>
          </a:xfrm>
          <a:prstGeom prst="rect">
            <a:avLst/>
          </a:prstGeom>
          <a:noFill/>
          <a:ln/>
        </p:spPr>
        <p:txBody>
          <a:bodyPr wrap="square" lIns="0" tIns="0" rIns="0" bIns="0" rtlCol="0" anchor="ctr"/>
          <a:lstStyle/>
          <a:p>
            <a:pPr algn="ctr" indent="0" marL="0">
              <a:buNone/>
            </a:pPr>
            <a:r>
              <a:rPr lang="en-US" sz="1800" b="1" dirty="0">
                <a:solidFill>
                  <a:srgbClr val="1D3557"/>
                </a:solidFill>
                <a:latin typeface="Golos Text" pitchFamily="34" charset="0"/>
                <a:ea typeface="Golos Text" pitchFamily="34" charset="-122"/>
                <a:cs typeface="Golos Text" pitchFamily="34" charset="-120"/>
              </a:rPr>
              <a:t>4</a:t>
            </a:r>
            <a:endParaRPr lang="en-US" sz="1800" dirty="0"/>
          </a:p>
        </p:txBody>
      </p:sp>
      <p:sp>
        <p:nvSpPr>
          <p:cNvPr id="33" name="Text 31"/>
          <p:cNvSpPr/>
          <p:nvPr/>
        </p:nvSpPr>
        <p:spPr>
          <a:xfrm>
            <a:off x="10104120" y="4215384"/>
            <a:ext cx="1371600" cy="475488"/>
          </a:xfrm>
          <a:prstGeom prst="rect">
            <a:avLst/>
          </a:prstGeom>
          <a:noFill/>
          <a:ln/>
        </p:spPr>
        <p:txBody>
          <a:bodyPr wrap="square" lIns="0" tIns="0" rIns="0" bIns="0" rtlCol="0" anchor="ctr"/>
          <a:lstStyle/>
          <a:p>
            <a:pPr algn="ctr" indent="0" marL="0">
              <a:buNone/>
            </a:pPr>
            <a:r>
              <a:rPr lang="en-US" sz="1800" b="1" dirty="0">
                <a:solidFill>
                  <a:srgbClr val="24418C"/>
                </a:solidFill>
                <a:latin typeface="Golos Text" pitchFamily="34" charset="0"/>
                <a:ea typeface="Golos Text" pitchFamily="34" charset="-122"/>
                <a:cs typeface="Golos Text" pitchFamily="34" charset="-120"/>
              </a:rPr>
              <a:t>?</a:t>
            </a:r>
            <a:endParaRPr lang="en-US" sz="1800" dirty="0"/>
          </a:p>
        </p:txBody>
      </p:sp>
      <p:sp>
        <p:nvSpPr>
          <p:cNvPr id="34" name="Shape 32"/>
          <p:cNvSpPr/>
          <p:nvPr/>
        </p:nvSpPr>
        <p:spPr>
          <a:xfrm>
            <a:off x="6263640" y="4782312"/>
            <a:ext cx="5349240" cy="475488"/>
          </a:xfrm>
          <a:prstGeom prst="roundRect">
            <a:avLst>
              <a:gd name="adj" fmla="val 30000"/>
            </a:avLst>
          </a:prstGeom>
          <a:solidFill>
            <a:srgbClr val="F3F5FB"/>
          </a:solidFill>
          <a:ln/>
        </p:spPr>
      </p:sp>
      <p:sp>
        <p:nvSpPr>
          <p:cNvPr id="35" name="Text 33"/>
          <p:cNvSpPr/>
          <p:nvPr/>
        </p:nvSpPr>
        <p:spPr>
          <a:xfrm>
            <a:off x="6263640" y="4782312"/>
            <a:ext cx="1463040" cy="475488"/>
          </a:xfrm>
          <a:prstGeom prst="rect">
            <a:avLst/>
          </a:prstGeom>
          <a:noFill/>
          <a:ln/>
        </p:spPr>
        <p:txBody>
          <a:bodyPr wrap="square" lIns="0" tIns="0" rIns="0" bIns="0" rtlCol="0" anchor="ctr"/>
          <a:lstStyle/>
          <a:p>
            <a:pPr algn="ctr" indent="0" marL="0">
              <a:buNone/>
            </a:pPr>
            <a:r>
              <a:rPr lang="en-US" sz="1800" b="1" dirty="0">
                <a:solidFill>
                  <a:srgbClr val="1D3557"/>
                </a:solidFill>
                <a:latin typeface="Golos Text" pitchFamily="34" charset="0"/>
                <a:ea typeface="Golos Text" pitchFamily="34" charset="-122"/>
                <a:cs typeface="Golos Text" pitchFamily="34" charset="-120"/>
              </a:rPr>
              <a:t>5</a:t>
            </a:r>
            <a:endParaRPr lang="en-US" sz="1800" dirty="0"/>
          </a:p>
        </p:txBody>
      </p:sp>
      <p:sp>
        <p:nvSpPr>
          <p:cNvPr id="36" name="Text 34"/>
          <p:cNvSpPr/>
          <p:nvPr/>
        </p:nvSpPr>
        <p:spPr>
          <a:xfrm>
            <a:off x="10104120" y="4782312"/>
            <a:ext cx="1371600" cy="475488"/>
          </a:xfrm>
          <a:prstGeom prst="rect">
            <a:avLst/>
          </a:prstGeom>
          <a:noFill/>
          <a:ln/>
        </p:spPr>
        <p:txBody>
          <a:bodyPr wrap="square" lIns="0" tIns="0" rIns="0" bIns="0" rtlCol="0" anchor="ctr"/>
          <a:lstStyle/>
          <a:p>
            <a:pPr algn="ctr" indent="0" marL="0">
              <a:buNone/>
            </a:pPr>
            <a:r>
              <a:rPr lang="en-US" sz="1800" b="1" dirty="0">
                <a:solidFill>
                  <a:srgbClr val="24418C"/>
                </a:solidFill>
                <a:latin typeface="Golos Text" pitchFamily="34" charset="0"/>
                <a:ea typeface="Golos Text" pitchFamily="34" charset="-122"/>
                <a:cs typeface="Golos Text" pitchFamily="34" charset="-120"/>
              </a:rPr>
              <a:t>?</a:t>
            </a:r>
            <a:endParaRPr lang="en-US" sz="1800" dirty="0"/>
          </a:p>
        </p:txBody>
      </p:sp>
      <p:sp>
        <p:nvSpPr>
          <p:cNvPr id="37" name="Text 35"/>
          <p:cNvSpPr/>
          <p:nvPr/>
        </p:nvSpPr>
        <p:spPr>
          <a:xfrm>
            <a:off x="6263640" y="5440680"/>
            <a:ext cx="5349240" cy="640080"/>
          </a:xfrm>
          <a:prstGeom prst="roundRect">
            <a:avLst>
              <a:gd name="adj" fmla="val 40000"/>
            </a:avLst>
          </a:prstGeom>
          <a:solidFill>
            <a:srgbClr val="D1E7E1"/>
          </a:solidFill>
          <a:ln w="19050">
            <a:solidFill>
              <a:srgbClr val="007A5A"/>
            </a:solidFill>
            <a:prstDash val="solid"/>
          </a:ln>
        </p:spPr>
        <p:txBody>
          <a:bodyPr wrap="square" lIns="0" tIns="0" rIns="0" bIns="0" rtlCol="0" anchor="ctr"/>
          <a:lstStyle/>
          <a:p>
            <a:pPr algn="ctr" indent="0" marL="0">
              <a:buNone/>
            </a:pPr>
            <a:r>
              <a:rPr lang="en-US" sz="1600" b="1" dirty="0">
                <a:solidFill>
                  <a:srgbClr val="007A5A"/>
                </a:solidFill>
                <a:latin typeface="Golos Text" pitchFamily="34" charset="0"/>
                <a:ea typeface="Golos Text" pitchFamily="34" charset="-122"/>
                <a:cs typeface="Golos Text" pitchFamily="34" charset="-120"/>
              </a:rPr>
              <a:t>Жыштык таблицасы жана тилке диаграммасы</a:t>
            </a:r>
            <a:endParaRPr lang="en-US" sz="1600" dirty="0"/>
          </a:p>
        </p:txBody>
      </p:sp>
      <p:sp>
        <p:nvSpPr>
          <p:cNvPr id="38" name="Slide Number Placeholder 0"/>
          <p:cNvSpPr>
            <a:spLocks noGrp="1"/>
          </p:cNvSpPr>
          <p:nvPr>
            <p:ph type="sldNum" sz="quarter" idx="4294967295"/>
          </p:nvPr>
        </p:nvSpPr>
        <p:spPr>
          <a:xfrm>
            <a:off x="11384280" y="6492240"/>
            <a:ext cx="438912"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99AA"/>
                </a:solidFill>
                <a:latin typeface="Golos Text"/>
                <a:ea typeface="Golos Text"/>
                <a:cs typeface="Golos Text"/>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11457432" cy="640080"/>
          </a:xfrm>
          <a:prstGeom prst="roundRect">
            <a:avLst>
              <a:gd name="adj" fmla="val 22000"/>
            </a:avLst>
          </a:prstGeom>
          <a:solidFill>
            <a:srgbClr val="FFFFFF"/>
          </a:solidFill>
          <a:ln w="19050">
            <a:solidFill>
              <a:srgbClr val="1D3557"/>
            </a:solidFill>
            <a:prstDash val="solid"/>
          </a:ln>
        </p:spPr>
      </p:sp>
      <p:sp>
        <p:nvSpPr>
          <p:cNvPr id="3" name="Shape 1"/>
          <p:cNvSpPr/>
          <p:nvPr/>
        </p:nvSpPr>
        <p:spPr>
          <a:xfrm>
            <a:off x="557784" y="369418"/>
            <a:ext cx="70409" cy="358445"/>
          </a:xfrm>
          <a:prstGeom prst="roundRect">
            <a:avLst>
              <a:gd name="adj" fmla="val 50000"/>
            </a:avLst>
          </a:prstGeom>
          <a:solidFill>
            <a:srgbClr val="007A5A"/>
          </a:solidFill>
          <a:ln/>
        </p:spPr>
      </p:sp>
      <p:sp>
        <p:nvSpPr>
          <p:cNvPr id="4" name="Shape 2"/>
          <p:cNvSpPr/>
          <p:nvPr/>
        </p:nvSpPr>
        <p:spPr>
          <a:xfrm>
            <a:off x="691561" y="369418"/>
            <a:ext cx="70409" cy="358445"/>
          </a:xfrm>
          <a:prstGeom prst="roundRect">
            <a:avLst>
              <a:gd name="adj" fmla="val 50000"/>
            </a:avLst>
          </a:prstGeom>
          <a:solidFill>
            <a:srgbClr val="A84400"/>
          </a:solidFill>
          <a:ln/>
        </p:spPr>
      </p:sp>
      <p:sp>
        <p:nvSpPr>
          <p:cNvPr id="5" name="Shape 3"/>
          <p:cNvSpPr/>
          <p:nvPr/>
        </p:nvSpPr>
        <p:spPr>
          <a:xfrm>
            <a:off x="825337" y="369418"/>
            <a:ext cx="70409" cy="358445"/>
          </a:xfrm>
          <a:prstGeom prst="roundRect">
            <a:avLst>
              <a:gd name="adj" fmla="val 50000"/>
            </a:avLst>
          </a:prstGeom>
          <a:solidFill>
            <a:srgbClr val="24418C"/>
          </a:solidFill>
          <a:ln/>
        </p:spPr>
      </p:sp>
      <p:sp>
        <p:nvSpPr>
          <p:cNvPr id="6" name="Text 4"/>
          <p:cNvSpPr/>
          <p:nvPr/>
        </p:nvSpPr>
        <p:spPr>
          <a:xfrm>
            <a:off x="1096914" y="228600"/>
            <a:ext cx="7589520" cy="640080"/>
          </a:xfrm>
          <a:prstGeom prst="rect">
            <a:avLst/>
          </a:prstGeom>
          <a:noFill/>
          <a:ln/>
        </p:spPr>
        <p:txBody>
          <a:bodyPr wrap="square" lIns="0" tIns="0" rIns="0" bIns="0" rtlCol="0" anchor="ctr"/>
          <a:lstStyle/>
          <a:p>
            <a:pPr algn="l" indent="0" marL="0">
              <a:buNone/>
            </a:pPr>
            <a:r>
              <a:rPr lang="en-US" sz="2200" b="1" dirty="0">
                <a:solidFill>
                  <a:srgbClr val="1D3557"/>
                </a:solidFill>
                <a:latin typeface="Golos Text" pitchFamily="34" charset="0"/>
                <a:ea typeface="Golos Text" pitchFamily="34" charset="-122"/>
                <a:cs typeface="Golos Text" pitchFamily="34" charset="-120"/>
              </a:rPr>
              <a:t>Пикир жана байланыш</a:t>
            </a:r>
            <a:endParaRPr lang="en-US" sz="2200" dirty="0"/>
          </a:p>
        </p:txBody>
      </p:sp>
      <p:sp>
        <p:nvSpPr>
          <p:cNvPr id="7" name="Text 5"/>
          <p:cNvSpPr/>
          <p:nvPr/>
        </p:nvSpPr>
        <p:spPr>
          <a:xfrm>
            <a:off x="8778240" y="228600"/>
            <a:ext cx="2880360" cy="640080"/>
          </a:xfrm>
          <a:prstGeom prst="rect">
            <a:avLst/>
          </a:prstGeom>
          <a:noFill/>
          <a:ln/>
        </p:spPr>
        <p:txBody>
          <a:bodyPr wrap="square" lIns="0" tIns="0" rIns="0" bIns="0" rtlCol="0" anchor="ctr"/>
          <a:lstStyle/>
          <a:p>
            <a:pPr algn="r" indent="0" marL="0">
              <a:buNone/>
            </a:pPr>
            <a:r>
              <a:rPr lang="en-US" sz="1100" dirty="0">
                <a:solidFill>
                  <a:srgbClr val="4A5A70"/>
                </a:solidFill>
                <a:latin typeface="Golos Text" pitchFamily="34" charset="0"/>
                <a:ea typeface="Golos Text" pitchFamily="34" charset="-122"/>
                <a:cs typeface="Golos Text" pitchFamily="34" charset="-120"/>
              </a:rPr>
              <a:t>Статистика › Төрт өлчөм</a:t>
            </a:r>
            <a:endParaRPr lang="en-US" sz="1100" dirty="0"/>
          </a:p>
        </p:txBody>
      </p:sp>
      <p:sp>
        <p:nvSpPr>
          <p:cNvPr id="8" name="Text 6"/>
          <p:cNvSpPr/>
          <p:nvPr/>
        </p:nvSpPr>
        <p:spPr>
          <a:xfrm>
            <a:off x="8897112" y="969264"/>
            <a:ext cx="2926080" cy="310896"/>
          </a:xfrm>
          <a:prstGeom prst="rect">
            <a:avLst/>
          </a:prstGeom>
          <a:noFill/>
          <a:ln/>
        </p:spPr>
        <p:txBody>
          <a:bodyPr wrap="square" lIns="0" tIns="0" rIns="0" bIns="0" rtlCol="0" anchor="ctr"/>
          <a:lstStyle/>
          <a:p>
            <a:pPr algn="r" indent="0" marL="0">
              <a:buNone/>
            </a:pPr>
            <a:r>
              <a:rPr lang="en-US" sz="1200" dirty="0">
                <a:solidFill>
                  <a:srgbClr val="4A5A70"/>
                </a:solidFill>
                <a:latin typeface="Golos Text" pitchFamily="34" charset="0"/>
                <a:ea typeface="Golos Text" pitchFamily="34" charset="-122"/>
                <a:cs typeface="Golos Text" pitchFamily="34" charset="-120"/>
              </a:rPr>
              <a:t>Жабуу · 15 сек</a:t>
            </a:r>
            <a:endParaRPr lang="en-US" sz="1200" dirty="0"/>
          </a:p>
        </p:txBody>
      </p:sp>
      <p:sp>
        <p:nvSpPr>
          <p:cNvPr id="9" name="Text 7"/>
          <p:cNvSpPr/>
          <p:nvPr/>
        </p:nvSpPr>
        <p:spPr>
          <a:xfrm>
            <a:off x="365760" y="6492240"/>
            <a:ext cx="5486400" cy="228600"/>
          </a:xfrm>
          <a:prstGeom prst="rect">
            <a:avLst/>
          </a:prstGeom>
          <a:noFill/>
          <a:ln/>
        </p:spPr>
        <p:txBody>
          <a:bodyPr wrap="square" lIns="0" tIns="0" rIns="0" bIns="0" rtlCol="0" anchor="t"/>
          <a:lstStyle/>
          <a:p>
            <a:pPr algn="l" indent="0" marL="0">
              <a:buNone/>
            </a:pPr>
            <a:r>
              <a:rPr lang="en-US" sz="900" dirty="0">
                <a:solidFill>
                  <a:srgbClr val="8D99AA"/>
                </a:solidFill>
                <a:latin typeface="Golos Text" pitchFamily="34" charset="0"/>
                <a:ea typeface="Golos Text" pitchFamily="34" charset="-122"/>
                <a:cs typeface="Golos Text" pitchFamily="34" charset="-120"/>
              </a:rPr>
              <a:t>MathKG · Математика кыргызча</a:t>
            </a:r>
            <a:endParaRPr lang="en-US" sz="900" dirty="0"/>
          </a:p>
        </p:txBody>
      </p:sp>
      <p:sp>
        <p:nvSpPr>
          <p:cNvPr id="10" name="Text 8"/>
          <p:cNvSpPr/>
          <p:nvPr/>
        </p:nvSpPr>
        <p:spPr>
          <a:xfrm>
            <a:off x="7680960" y="6492240"/>
            <a:ext cx="3657600" cy="228600"/>
          </a:xfrm>
          <a:prstGeom prst="rect">
            <a:avLst/>
          </a:prstGeom>
          <a:noFill/>
          <a:ln/>
        </p:spPr>
        <p:txBody>
          <a:bodyPr wrap="square" lIns="0" tIns="0" rIns="0" bIns="0" rtlCol="0" anchor="t"/>
          <a:lstStyle/>
          <a:p>
            <a:pPr algn="r" indent="0" marL="0">
              <a:buNone/>
            </a:pPr>
            <a:r>
              <a:rPr lang="en-US" sz="900" dirty="0">
                <a:solidFill>
                  <a:srgbClr val="8D99AA"/>
                </a:solidFill>
                <a:latin typeface="Golos Text" pitchFamily="34" charset="0"/>
                <a:ea typeface="Golos Text" pitchFamily="34" charset="-122"/>
                <a:cs typeface="Golos Text" pitchFamily="34" charset="-120"/>
              </a:rPr>
              <a:t>MathKG ыкмасы · 15 сек</a:t>
            </a:r>
            <a:endParaRPr lang="en-US" sz="900" dirty="0"/>
          </a:p>
        </p:txBody>
      </p:sp>
      <p:sp>
        <p:nvSpPr>
          <p:cNvPr id="11" name="Shape 9"/>
          <p:cNvSpPr/>
          <p:nvPr/>
        </p:nvSpPr>
        <p:spPr>
          <a:xfrm>
            <a:off x="2194560" y="1417320"/>
            <a:ext cx="7799832" cy="4663440"/>
          </a:xfrm>
          <a:prstGeom prst="roundRect">
            <a:avLst>
              <a:gd name="adj" fmla="val 8000"/>
            </a:avLst>
          </a:prstGeom>
          <a:solidFill>
            <a:srgbClr val="F3F5FB"/>
          </a:solidFill>
          <a:ln/>
        </p:spPr>
      </p:sp>
      <p:sp>
        <p:nvSpPr>
          <p:cNvPr id="12" name="Shape 10"/>
          <p:cNvSpPr/>
          <p:nvPr/>
        </p:nvSpPr>
        <p:spPr>
          <a:xfrm>
            <a:off x="5877215" y="1781251"/>
            <a:ext cx="90526" cy="460858"/>
          </a:xfrm>
          <a:prstGeom prst="roundRect">
            <a:avLst>
              <a:gd name="adj" fmla="val 50000"/>
            </a:avLst>
          </a:prstGeom>
          <a:solidFill>
            <a:srgbClr val="007A5A"/>
          </a:solidFill>
          <a:ln/>
        </p:spPr>
      </p:sp>
      <p:sp>
        <p:nvSpPr>
          <p:cNvPr id="13" name="Shape 11"/>
          <p:cNvSpPr/>
          <p:nvPr/>
        </p:nvSpPr>
        <p:spPr>
          <a:xfrm>
            <a:off x="6049213" y="1781251"/>
            <a:ext cx="90526" cy="460858"/>
          </a:xfrm>
          <a:prstGeom prst="roundRect">
            <a:avLst>
              <a:gd name="adj" fmla="val 50000"/>
            </a:avLst>
          </a:prstGeom>
          <a:solidFill>
            <a:srgbClr val="A84400"/>
          </a:solidFill>
          <a:ln/>
        </p:spPr>
      </p:sp>
      <p:sp>
        <p:nvSpPr>
          <p:cNvPr id="14" name="Shape 12"/>
          <p:cNvSpPr/>
          <p:nvPr/>
        </p:nvSpPr>
        <p:spPr>
          <a:xfrm>
            <a:off x="6221212" y="1781251"/>
            <a:ext cx="90526" cy="460858"/>
          </a:xfrm>
          <a:prstGeom prst="roundRect">
            <a:avLst>
              <a:gd name="adj" fmla="val 50000"/>
            </a:avLst>
          </a:prstGeom>
          <a:solidFill>
            <a:srgbClr val="24418C"/>
          </a:solidFill>
          <a:ln/>
        </p:spPr>
      </p:sp>
      <p:sp>
        <p:nvSpPr>
          <p:cNvPr id="15" name="Text 13"/>
          <p:cNvSpPr/>
          <p:nvPr/>
        </p:nvSpPr>
        <p:spPr>
          <a:xfrm>
            <a:off x="2651760" y="2560320"/>
            <a:ext cx="6885432" cy="868680"/>
          </a:xfrm>
          <a:prstGeom prst="rect">
            <a:avLst/>
          </a:prstGeom>
          <a:noFill/>
          <a:ln/>
        </p:spPr>
        <p:txBody>
          <a:bodyPr wrap="square" lIns="0" tIns="0" rIns="0" bIns="0" rtlCol="0" anchor="ctr"/>
          <a:lstStyle/>
          <a:p>
            <a:pPr algn="ctr" indent="0" marL="0">
              <a:buNone/>
            </a:pPr>
            <a:r>
              <a:rPr lang="en-US" sz="2200" dirty="0">
                <a:solidFill>
                  <a:srgbClr val="1D3557"/>
                </a:solidFill>
                <a:latin typeface="Golos Text" pitchFamily="34" charset="0"/>
                <a:ea typeface="Golos Text" pitchFamily="34" charset="-122"/>
                <a:cs typeface="Golos Text" pitchFamily="34" charset="-120"/>
              </a:rPr>
              <a:t>Сабак жактыбы? Ката тапсаңыз же сунушуңуз болсо, бизге жазыңыз:</a:t>
            </a:r>
            <a:endParaRPr lang="en-US" sz="2200" dirty="0"/>
          </a:p>
        </p:txBody>
      </p:sp>
      <p:sp>
        <p:nvSpPr>
          <p:cNvPr id="16" name="Text 14"/>
          <p:cNvSpPr/>
          <p:nvPr/>
        </p:nvSpPr>
        <p:spPr>
          <a:xfrm>
            <a:off x="3172968" y="3611880"/>
            <a:ext cx="5852160" cy="868680"/>
          </a:xfrm>
          <a:prstGeom prst="roundRect">
            <a:avLst>
              <a:gd name="adj" fmla="val 50000"/>
            </a:avLst>
          </a:prstGeom>
          <a:solidFill>
            <a:srgbClr val="FFFFFF"/>
          </a:solidFill>
          <a:ln w="19050">
            <a:solidFill>
              <a:srgbClr val="1D3557"/>
            </a:solidFill>
            <a:prstDash val="solid"/>
          </a:ln>
        </p:spPr>
        <p:txBody>
          <a:bodyPr wrap="square" lIns="0" tIns="0" rIns="0" bIns="0" rtlCol="0" anchor="ctr"/>
          <a:lstStyle/>
          <a:p>
            <a:pPr algn="ctr" indent="0" marL="0">
              <a:buNone/>
            </a:pPr>
            <a:r>
              <a:rPr lang="en-US" sz="3000" b="1" u="sng" dirty="0">
                <a:solidFill>
                  <a:srgbClr val="1D3557"/>
                </a:solidFill>
                <a:latin typeface="Golos Text" pitchFamily="34" charset="0"/>
                <a:ea typeface="Golos Text" pitchFamily="34" charset="-122"/>
                <a:cs typeface="Golos Text" pitchFamily="34" charset="-120"/>
                <a:hlinkClick r:id="rId1" invalidUrl="" action="" tgtFrame="" tooltip="" history="1" highlightClick="0" endSnd="0">
                  <a:extLst>
                    <a:ext uri="{A12FA001-AC4F-418D-AE19-62706E023703}">
                      <ahyp:hlinkClr xmlns:ahyp="http://schemas.microsoft.com/office/drawing/2018/hyperlinkcolor" val="tx"/>
                    </a:ext>
                  </a:extLst>
                </a:hlinkClick>
              </a:rPr>
              <a:t>mathematicskgz@gmail.com</a:t>
            </a:r>
            <a:endParaRPr lang="en-US" sz="3000" dirty="0"/>
          </a:p>
        </p:txBody>
      </p:sp>
      <p:sp>
        <p:nvSpPr>
          <p:cNvPr id="17" name="Text 15"/>
          <p:cNvSpPr/>
          <p:nvPr/>
        </p:nvSpPr>
        <p:spPr>
          <a:xfrm>
            <a:off x="2651760" y="4663440"/>
            <a:ext cx="6885432" cy="411480"/>
          </a:xfrm>
          <a:prstGeom prst="rect">
            <a:avLst/>
          </a:prstGeom>
          <a:noFill/>
          <a:ln/>
        </p:spPr>
        <p:txBody>
          <a:bodyPr wrap="square" lIns="0" tIns="0" rIns="0" bIns="0" rtlCol="0" anchor="t"/>
          <a:lstStyle/>
          <a:p>
            <a:pPr algn="ctr" indent="0" marL="0">
              <a:buNone/>
            </a:pPr>
            <a:r>
              <a:rPr lang="en-US" sz="1500" dirty="0">
                <a:solidFill>
                  <a:srgbClr val="4A5A70"/>
                </a:solidFill>
                <a:latin typeface="Golos Text" pitchFamily="34" charset="0"/>
                <a:ea typeface="Golos Text" pitchFamily="34" charset="-122"/>
                <a:cs typeface="Golos Text" pitchFamily="34" charset="-120"/>
              </a:rPr>
              <a:t>MathKG ыкмасы: маселе → ыкмалар → түшүнүү → чеберчилик → ой жүгүртүү</a:t>
            </a:r>
            <a:endParaRPr lang="en-US" sz="1500" dirty="0"/>
          </a:p>
        </p:txBody>
      </p:sp>
      <p:sp>
        <p:nvSpPr>
          <p:cNvPr id="18" name="Text 16"/>
          <p:cNvSpPr/>
          <p:nvPr/>
        </p:nvSpPr>
        <p:spPr>
          <a:xfrm>
            <a:off x="2651760" y="5166360"/>
            <a:ext cx="6885432" cy="548640"/>
          </a:xfrm>
          <a:prstGeom prst="rect">
            <a:avLst/>
          </a:prstGeom>
          <a:noFill/>
          <a:ln/>
        </p:spPr>
        <p:txBody>
          <a:bodyPr wrap="square" lIns="0" tIns="0" rIns="0" bIns="0" rtlCol="0" anchor="t"/>
          <a:lstStyle/>
          <a:p>
            <a:pPr algn="ctr" indent="0" marL="0">
              <a:buNone/>
            </a:pPr>
            <a:r>
              <a:rPr lang="en-US" sz="2600" b="1" dirty="0">
                <a:solidFill>
                  <a:srgbClr val="007A5A"/>
                </a:solidFill>
                <a:latin typeface="Golos Text" pitchFamily="34" charset="0"/>
                <a:ea typeface="Golos Text" pitchFamily="34" charset="-122"/>
                <a:cs typeface="Golos Text" pitchFamily="34" charset="-120"/>
              </a:rPr>
              <a:t>Рахмат!</a:t>
            </a:r>
            <a:endParaRPr lang="en-US" sz="2600" dirty="0"/>
          </a:p>
        </p:txBody>
      </p:sp>
      <p:sp>
        <p:nvSpPr>
          <p:cNvPr id="25" name="Slide Number Placeholder 0"/>
          <p:cNvSpPr>
            <a:spLocks noGrp="1"/>
          </p:cNvSpPr>
          <p:nvPr>
            <p:ph type="sldNum" sz="quarter" idx="4294967295"/>
          </p:nvPr>
        </p:nvSpPr>
        <p:spPr>
          <a:xfrm>
            <a:off x="11384280" y="6492240"/>
            <a:ext cx="438912"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99AA"/>
                </a:solidFill>
                <a:latin typeface="Golos Text"/>
                <a:ea typeface="Golos Text"/>
                <a:cs typeface="Golos Text"/>
              </a:defRPr>
            </a:lvl1pPr>
          </a:lstStyle>
          <a:p>
            <a:pPr algn="r"/>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olos Tex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olos Tex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MathKG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Орточо, медиана, мода жана кулач · MathKG ыкмасы</dc:title>
  <dc:subject>PptxGenJS Presentation</dc:subject>
  <dc:creator>MathKG</dc:creator>
  <cp:lastModifiedBy>MathKG</cp:lastModifiedBy>
  <cp:revision>1</cp:revision>
  <dcterms:created xsi:type="dcterms:W3CDTF">2026-10-28T02:40:33Z</dcterms:created>
  <dcterms:modified xsi:type="dcterms:W3CDTF">2026-10-28T02:40:33Z</dcterms:modified>
</cp:coreProperties>
</file>