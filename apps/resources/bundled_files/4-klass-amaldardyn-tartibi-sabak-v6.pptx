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Суроону тактага жазыңыз. Окуучулар мини-тактага жооп жазып, көтөрүшөт. 14 жана 11 деген жооптор чыгат. Азыр ким туура экенин айтпаңыз: сабактын аягында кайра кайрылабыз.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Бүгүн 1- жана 2-деңгээлди өтөбүз. 3-деңгээл (даража) 5-класста.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Ийгилик критерийлери. Сабактын башында окуп бериңиз, аягында окуучулар ар бирине ✓ коюшат. Ар бир критерийдин далили: чечүүчү суроо (Ч, «baaloo-kuraldary/1-chechuuchu-suroolor») жана чыгуу билетинин суроосу (Б, «baaloo-kuraldary/3b-chyguu-biletteri-A6.pdf»).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Сингапурдагыдай спираль: ар бир класс мурункусунун үстүнө курулат. Окуучулар 3-класста эмне үйрөнгөнүн эстешет (көбөйтүү жадыбалы, тилке модели). Бүгүн 4-класстын эки деңгээлин өтөбүз, даража 5-класста.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Сингапур ыкмасы: ар бир түшүнүк адегенде буюм менен (бөтөлкө капкактары, таштар, кагаз чөйчөктөр), анан сүрөт менен (тилке модели чакмак дептерде: 1 чакмак = 1 бирдик), акырында сан менен берилет. Буюм ар бир жуптун колунда болот. Ар бир слайддын оң жак ылдыйында К, С же А белгиси бар.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3C: сынчыл ой, кызматташуу, байланыштыруу. Ар бир слайддын ылдыйында кайсы C колдонулуп жатканы белгиленет.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Мугалимге: окуучулардын алдында «математика кыйын» же «мен да билчү эмесмин» дебеңиз. Ката кетирген окуучуну мактаңыз: «Кызыктуу ката! Кайсы кадамды текшеребиз?» Бул үч сөздү сабак бою колдонуңуз.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Тез оозеки суроолор. Жооптору: 1) 60  2) 20  3) 9  4) 15 (5 топ, ар биринде 3). Эгер окуучулар 1–4-суроодо кыйналса, көбөйтүүнү «бирдей топтор» катары кагаз чөйчөк жана капкак менен кайра көрсөтүңүз: 5 чөйчөк, ар биринде 3 капкак.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жупка 4 кагаз чөйчөк (же кагаз табак) жана 12 бөтөлкө капкагын (же таш, бурчак) бериңиз. «4 × 2» – 4 чөйчөк, ар биринде 2 капкак (Сингапур ыкмасында биринчи сан – топтордун саны). Окуучулар адегенде чөйчөктөрдү толтурушат, анан 3 капкакты өзүнчө коюшат: 3 + 8 = 11. Демек, 11 туура жооп. Буюм аз болсо, жуптар кезек менен иштешет.</a:t>
            </a:r>
          </a:p>
          <a:p>
            <a:r>
              <a:t>3C (Кызматташуу): Жуптар бирге курушат: бирөө чөйчөктөрдү толтурат, экинчиси 3 капкакты коёт.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Окуучулар жуп болуп эсептешет. 40 + 3 × 20 туюнтмасын тактага жазыңыз. Эки жоопту салыштырыңыз: 860 сом болушу мүмкүнбү? (Акылга сыярлыкпы? Бир нан 20 сом гана.)</a:t>
            </a:r>
          </a:p>
          <a:p>
            <a:r>
              <a:t>3C (Байланыштыруу): Дүкөндөгү сатып алууну туюнтма менен байланыштырабыз.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Сүрөттүү кадамды узартабыз. Окуучулар азыр эч нерсе эсептебейт: сүрөттү сөз менен айтып беришет. Күтүлгөн жооптор: үч нан бирдей, ошондуктан үч бирдей тилке; аны 3 × 20 деп жазабыз; адегенде нандарды табабыз.</a:t>
            </a:r>
          </a:p>
          <a:p>
            <a:r>
              <a:t>3C (Сынчыл ой): Окуучулар сүрөттү талдап, эмнени адегенде табуу керектигин өздөрү айтышат.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Тилке модели: сүт бир тилке, нандар үч бирдей тилке. 3 × 20 – бул үч нандын баасы, ошондуктан аны биринчи табабыз.</a:t>
            </a:r>
          </a:p>
          <a:p>
            <a:r>
              <a:t>3C (Байланыштыруу): Тилке моделин туюнтманын бөлүктөрү менен байланыштырабыз.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Эки кадам. 1) Көбөйтүү менен бөлүү, солдон оңго. 2) Кошуу менен кемитүү, солдон оңго. Бул «БөКө – КоКе».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Оозеки ыкма: эсептебей туруп, жооптун чоңдугун болжолдойбуз. Окуучулар ар бир туюнтманы үч кутунун бирине коюшат (мини-тактага А, Б же В). Жооптору: 1) 4 + 6 × 9 = 58 → В; 2) 30 − 24 ÷ 4 = 24 → Б; 3) 40 ÷ 8 + 2 = 7 → А; 4) 100 − 9 × 9 = 19 → Б. Сураңыз: «Кантип болжолдодуң?» Болжол катаны кармайт: 4 + 6 × 9 = 90 чыкса (М1), 6 × 9 болжол менен 50, ага 4 кошсок, 60тан аз болот.</a:t>
            </a:r>
          </a:p>
          <a:p>
            <a:r>
              <a:t>3C (Сынчыл ой): Окуучулар жооп акылга сыярлык экенин эсептөөдөн мурун текшеришет.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Адегенде болжолдойбуз: 12 ÷ 4 = 3, 2 × 5 = 10, демек болжол менен 18 − 3 + 10, 20дан көп, 30дан аз. Ар бир кадамда кайсы амалды аткарып жатканыбызды көрсөтүңүз. Оң жактагы белги аткарылган амал. Акырында жоопту болжол менен салыштырабыз.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Тилке модели – үйрөнүлүүчү көндүм. Бул 4 кадам ар бир маселеде бирдей: окуучулар кадамдарды үн чыгарып айтышат. Жооп: 3 × 8 + 5 = 29 карандаш. Окуучулар тилкени чакмак дептерге чийишет: 1 чакмак = 1 карандаш, бир кутуча = 8 чакмак, 5 карандаш = 5 чакмак.</a:t>
            </a:r>
          </a:p>
          <a:p>
            <a:r>
              <a:t>3C (Байланыштыруу): Маселенин сөздөрүн тилкедеги бөлүктөр менен байланыштырабыз.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Кыска машыгуу (5 мүнөт). Окуучулар тилкени бүтүрүп, «?» коюшат жана туюнтма жазышат. Жооптору: 1) 12 + 15 = 27  2) 60 − 25 = 35  3) 4 × 6 = 24. Тилкени чакмак дептерге чийдиремин; 3-маселени массив катары да чийсе болот: 4 катар, ар катарда 6 чакмак.</a:t>
            </a:r>
          </a:p>
          <a:p>
            <a:r>
              <a:t>3C (Кызматташуу): Жуптар тилкелерин салыштырышат: бирдей чийдикпи?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Салыштыруу модели: эки тилке бири-биринин астында, айырма шабдалы түс менен. Жооптору: 1) 18 + 7 = 25  2) 40 − 28 = 12  3) 3 × 5 = 15 см.</a:t>
            </a:r>
          </a:p>
          <a:p>
            <a:r>
              <a:t>3C (Сынчыл ой): Окуучулар кайсы тилке узун, кайсынысы кыска экенин далилдешет.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Жуптар ар бир тилке моделине бир туюнтма жазып, эсептешет. Жооптору: 1) 15 + 4 × 5 = 35  2) 50 − 3 × 10 = 20  3) 24 ÷ 4 + 7 = 13.</a:t>
            </a:r>
          </a:p>
          <a:p>
            <a:r>
              <a:t>3C (Байланыштыруу): Сүрөттү (тилке) сан жазуусу менен байланыштырабыз.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Туурасы: Нурай. 20 ÷ 4 × 5 = 5 × 5 = 25. Бөлүү менен көбөйтүү бирдей деңгээлде, ошондуктан солдон оңго аткарылат.</a:t>
            </a:r>
          </a:p>
          <a:p>
            <a:r>
              <a:t>3C (Сынчыл ой): Окуучулар эки чыгарылышты салыштырып, катаны далилдешет.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Жооптору: 1) 14  2) 26  3) 4  4) 8  5) 31  6) 3. Окуучулар мини-тактага жазып көтөрүшөт, жубу текшерет.</a:t>
            </a:r>
          </a:p>
          <a:p>
            <a:r>
              <a:t>3C (Кызматташуу): Жуптар бири-биринин мини-тактасын текшерет.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Эвристика: чийме чий. Тилке модели: 100 сом бүтүн, 5 дептер (12ден) жана 1 калем (30) бөлүктөр, калганы белгисиз. Туюнтма: 100 − 5 × 12 − 30 = 100 − 60 − 30 = 10 сом.</a:t>
            </a:r>
          </a:p>
          <a:p>
            <a:r>
              <a:t>3C (Байланыштыруу): Турмуштук маселени тилке модели жана бир туюнтма менен чыгарабыз.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1) Ката: 12 + 6 биринчи эсептелген. Туурасы: 12 + 6 ÷ 3 = 12 + 2 = 14.  2) Туура: 20 − 6 = 14.  3) Ката: 10 − 5 биринчи эсептелген. Туурасы солдон оңго: 40 − 10 − 5 = 30 − 5 = 25.</a:t>
            </a:r>
          </a:p>
          <a:p>
            <a:r>
              <a:t>3C (Сынчыл ой): Окуучулар ар бир чыгарылышты текшерип, катаны далилдешет.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Экинчи сабак ушул слайддан башталат. Сабакка чейин ар бир жупка 7 кагаз чөйчөк (же кагаз табак) жана 20 капкак же таш даярдаңыз; окуучулар чакмак дептерин ачышат. Башында 1-сабактын чыгуу билетинин (Б1) каталары боюнча 2–3 мисал кайталайм.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Эми эки бала ар бири бир сүт жана бир нан алды. 2 × (40 + 20) = 120. Кашаасыз жазсак, 2 × 40 + 20 = 100 чыгат, бул туура эмес.</a:t>
            </a:r>
          </a:p>
          <a:p>
            <a:r>
              <a:t>3C (Байланыштыруу): Турмуштук кырдаалдан кашаа эмне үчүн керек экенин көрөбүз.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жупта 7 кагаз чөйчөк жана 20дай капкак (же таш) бар. Жуптар эки түрдүү курушат. Сол жак: 3 + 4 × 2 – 3 капкак жана 4 чөйчөк, 2ден: 3 + 8 = 11. Оң жак: (3 + 4) × 2 – адегенде чөйчөктөрдү кошобуз: 3 + 4 = 7 чөйчөк, ар биринде 2: 7 × 2 = 14. Адегенде эсептебей сураңыз: кайсы жакта капкак көп? Эмне үчүн?</a:t>
            </a:r>
          </a:p>
          <a:p>
            <a:r>
              <a:t>3C (Кызматташуу): Жуптун бири сол жакты, экинчиси оң жакты курат, анан салыштырышат.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Үч кадам: Кашаа, анан БөКө, анан КоКе. Окуучулар «Ка – БөКө – КоКе» деп кайталашат.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Адегенде болжолдойбуз: кашаанын ичи 20, 2 × 20 = 40, 50дөн 40 алынса, жооп 10го жакын. Кашаанын ичин биринчи эсептейбиз, анан көбөйтүү, анан кемитүү. Тилке модели: 50 бүтүн, андан 2 топ «(12 + 8)» алынат.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Жооптору: 1) 2 × (8 + 4) = 24  2) (60 − 15) ÷ 3 = 15  3) (25 + 15) ÷ 4 = 10. Сураңыз: кашаа эмне үчүн керек болду?</a:t>
            </a:r>
          </a:p>
          <a:p>
            <a:r>
              <a:t>3C (Байланыштыруу): Тилкедеги «бир топ» туюнтмада кашаа болуп жазыларын байланыштырабыз.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Бөлүштүрүү касиети кашаа менен оозеки эсептин көпүрөсү. Сол жак: эки баланын сатып алганы (23-слайд) – 2 × (40 + 20) = 2 × 40 + 2 × 20 = 80 + 40 = 120. Оң жак: 5 × 18 – чакмак дептерде 5 катар, 20дан, анан ар катардан 2 чакмак алып салабыз: 5 × 20 − 5 × 2 = 100 − 10 = 90. Машыгуу: 1) 3 × 21 = 60 + 3 = 63  2) 4 × 19 = 80 − 4 = 76  3) 6 × 12 = 60 + 12 = 72  4) 5 × 98 = 500 − 10 = 490. Окуучу кайсы жолду тандаганын түшүндүрөт; бир гана туура жол жок.</a:t>
            </a:r>
          </a:p>
          <a:p>
            <a:r>
              <a:t>3C (Байланыштыруу): Кашааны оозеки эсептин ыкмасы менен байланыштырабыз.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Туурасы: Нурай, 30. Айбек кашааны унутуп, адегенде 4 × 3 эсептеп алды.</a:t>
            </a:r>
          </a:p>
          <a:p>
            <a:r>
              <a:t>3C (Сынчыл ой): Окуучулар эки чыгарылышты салыштырып, катаны далилдешет.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Жооптору: 1) 32  2) 5  3) 42  4) 42  5) 6  6) 23. 3 жана 4 бирдей жооп берет: эмне үчүн экенин талкуулаңыз.</a:t>
            </a:r>
          </a:p>
          <a:p>
            <a:r>
              <a:t>3C (Кызматташуу): Жуптар бири-биринин мини-тактасын текшерет, 3 жана 4 жоопту бирге талкуулашат.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Эвристика: тандап текшер. Жооптору: 1) (2 + 3) × 4 = 20  2) 24 ÷ (4 + 2) = 4  3) 10 − (4 − 2) = 8  4) 5 × (6 − 2) = 20.</a:t>
            </a:r>
          </a:p>
          <a:p>
            <a:r>
              <a:t>3C (Сынчыл ой): Окуучулар кашааны ар кайсы жерге коюп текшерип көрүшөт.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Тилке модели: 28 бүтүн, 4 окуучу (шабдалы түс) кетти, калганы 3 бирдей бөлүк. Туюнтма: (28 − 4) ÷ 3 = 24 ÷ 3 = 8 окуучу.</a:t>
            </a:r>
          </a:p>
          <a:p>
            <a:r>
              <a:t>3C (Байланыштыруу): Класстагы кырдаалды тилке модели жана кашаалуу туюнтма менен байланыштырабыз.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Басма нускасы (A6) жана ийгилик критерийлеринин далили: baaloo-kuraldary/3b-chyguu-biletteri-A6.pdf (Б1, Б2, Б3). Жооптор: 1) 14  2) 5  3) (3 + 7) × 2 = 20  4) 4 × 2 биринчи аткарылат: 6 + 8 = 14. 5) Тилке: 3 бирдей бөлүк 10дон жана 5 → 3 × 10 + 5 = 35.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 оозеки талкуу менен бүтөт. 2–3 окуучу жооп берет. Өзүн баалоо: окуучулар бир картаны тандап колун көтөрөт; «Жардам керек» дегендер менен кийинки сабакта капкак жана чөйчөк менен кайра иштеңиз.</a:t>
            </a:r>
          </a:p>
          <a:p>
            <a:r>
              <a:t>3C (Сынчыл ой): Окуучулар өз ой жүгүртүүсүн байкашат: «мен муну кантип чыгардым?»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Окуучулар эрежени өз сөзү менен айтып беришет. Сабактын башындагы суроого кайтыңыз: 3 + 4 × 2 = 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Бул слайд окуучуларга көрсөтүлбөйт. «Бүттү» деген эреже: чыгуу билети жана чечүүчү суроо боюнча чечим. Класс трекериндеги «Өтөбүзбү» барагы ушуну өзү эсептейт (baaloo-kuraldary/6-klass-trekeri.xlsx).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Бул слайд окуучуларга көрсөтүлбөйт. Сингапур тажрыйбасы: тилке модели – программанын «таажысы», аны кадам-кадам менен жана көп кыска машыгуу менен үйрөтөбүз; мугалимдин сөзү окуучунун математикага мамилесин түзөт.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Амалдардын тартиби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 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Киришүү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29416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6000" b="1" i="0">
                <a:solidFill>
                  <a:srgbClr val="1D3557"/>
                </a:solidFill>
                <a:latin typeface="PT Sans"/>
              </a:rPr>
              <a:t>3 + 4 × 2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51460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0" i="0">
                <a:solidFill>
                  <a:srgbClr val="4A5A70"/>
                </a:solidFill>
                <a:latin typeface="PT Sans"/>
              </a:rPr>
              <a:t>Бирөө 14 дейт, экинчиси 11 дейт. Ким туура?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03120" y="3429000"/>
            <a:ext cx="3749039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3429000"/>
            <a:ext cx="338328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3 + 4 = 7, 7 × 2 =</a:t>
            </a:r>
          </a:p>
          <a:p>
            <a:pPr algn="ctr">
              <a:lnSpc>
                <a:spcPct val="105000"/>
              </a:lnSpc>
            </a:pPr>
            <a:r>
              <a:rPr sz="4000" b="1" i="0">
                <a:solidFill>
                  <a:srgbClr val="24418C"/>
                </a:solidFill>
                <a:latin typeface="PT Sans"/>
              </a:rPr>
              <a:t>14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3429000"/>
            <a:ext cx="3749039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429000"/>
            <a:ext cx="338328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4 × 2 = 8, 3 + 8 =</a:t>
            </a:r>
          </a:p>
          <a:p>
            <a:pPr algn="ctr">
              <a:lnSpc>
                <a:spcPct val="105000"/>
              </a:lnSpc>
            </a:pPr>
            <a:r>
              <a:rPr sz="4000" b="1" i="0">
                <a:solidFill>
                  <a:srgbClr val="24418C"/>
                </a:solidFill>
                <a:latin typeface="PT Sans"/>
              </a:rPr>
              <a:t>11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92727" y="5257800"/>
            <a:ext cx="42062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Мини-тактага жообуңду жаз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Сабактын максаты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 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Максат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409944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29768" y="1865376"/>
            <a:ext cx="6409944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1225296"/>
            <a:ext cx="604418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Бүгүн биз үйрөнөбүз</a:t>
            </a:r>
          </a:p>
        </p:txBody>
      </p:sp>
      <p:sp>
        <p:nvSpPr>
          <p:cNvPr id="13" name="Oval 12"/>
          <p:cNvSpPr/>
          <p:nvPr/>
        </p:nvSpPr>
        <p:spPr>
          <a:xfrm>
            <a:off x="722376" y="21488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11226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Көбөйтүү жана бөлүү кошуу менен кемитүүдөн мурун аткарылат.</a:t>
            </a:r>
          </a:p>
        </p:txBody>
      </p:sp>
      <p:sp>
        <p:nvSpPr>
          <p:cNvPr id="15" name="Oval 14"/>
          <p:cNvSpPr/>
          <p:nvPr/>
        </p:nvSpPr>
        <p:spPr>
          <a:xfrm>
            <a:off x="722376" y="342900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39242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Бирдей деңгээлдеги амалдар солдон оңго карай аткарылат.</a:t>
            </a:r>
          </a:p>
        </p:txBody>
      </p:sp>
      <p:sp>
        <p:nvSpPr>
          <p:cNvPr id="17" name="Oval 16"/>
          <p:cNvSpPr/>
          <p:nvPr/>
        </p:nvSpPr>
        <p:spPr>
          <a:xfrm>
            <a:off x="722376" y="470916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67258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Кашаа болсо, адегенде кашаанын ичи эсептелет.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1225296"/>
            <a:ext cx="4636008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132320" y="1865376"/>
            <a:ext cx="46360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06056" y="1225296"/>
            <a:ext cx="4270248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Деңгээлдер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103120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057400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+ − × ÷ гана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3127248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081528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кашаа ( 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4151376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4A5A70"/>
                </a:solidFill>
                <a:latin typeface="PT San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105656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6B7280"/>
                </a:solidFill>
                <a:latin typeface="PT Sans"/>
              </a:rPr>
              <a:t>даража (5-класс)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Мен ийгиликке жеттимби?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 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Ийгилик критерийлери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5527548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29768" y="1783080"/>
            <a:ext cx="552754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29768" y="1225296"/>
            <a:ext cx="5527548" cy="5577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1-сабак: төрт амал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993392"/>
            <a:ext cx="292608" cy="292608"/>
          </a:xfrm>
          <a:prstGeom prst="rect">
            <a:avLst/>
          </a:prstGeom>
          <a:noFill/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1920240"/>
            <a:ext cx="4613148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Мен + жана − бар туюнтманы солдон оңго эсептей алам.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487168"/>
            <a:ext cx="4613148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A84400"/>
                </a:solidFill>
                <a:latin typeface="PT Sans"/>
              </a:rPr>
              <a:t>Ч1 · Б1 №3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907792"/>
            <a:ext cx="292608" cy="292608"/>
          </a:xfrm>
          <a:prstGeom prst="rect">
            <a:avLst/>
          </a:prstGeom>
          <a:noFill/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2834640"/>
            <a:ext cx="4613148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Мен × жана ÷ амалдарын + жана − дан мурун аткарам.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3401568"/>
            <a:ext cx="4613148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A84400"/>
                </a:solidFill>
                <a:latin typeface="PT Sans"/>
              </a:rPr>
              <a:t>Ч2 · Б1 №1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822191"/>
            <a:ext cx="292608" cy="292608"/>
          </a:xfrm>
          <a:prstGeom prst="rect">
            <a:avLst/>
          </a:prstGeom>
          <a:noFill/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3749039"/>
            <a:ext cx="4613148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Мен ÷ жана × катар турса, солдон оңго аткарам.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4315968"/>
            <a:ext cx="4613148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A84400"/>
                </a:solidFill>
                <a:latin typeface="PT Sans"/>
              </a:rPr>
              <a:t>Ч2 · Б1 №2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736592"/>
            <a:ext cx="292608" cy="292608"/>
          </a:xfrm>
          <a:prstGeom prst="rect">
            <a:avLst/>
          </a:prstGeom>
          <a:noFill/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5568" y="4663440"/>
            <a:ext cx="4613148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Мен ар бир жаңы сапты «=» менен баштайм, ар бир сап чын.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5230368"/>
            <a:ext cx="4613148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A84400"/>
                </a:solidFill>
                <a:latin typeface="PT Sans"/>
              </a:rPr>
              <a:t>Ч1 · Б1 №3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1636" y="1225296"/>
            <a:ext cx="5527548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6231636" y="1783080"/>
            <a:ext cx="552754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231636" y="1225296"/>
            <a:ext cx="5527548" cy="5577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2-сабак: кашаа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60236" y="1993392"/>
            <a:ext cx="292608" cy="292608"/>
          </a:xfrm>
          <a:prstGeom prst="rect">
            <a:avLst/>
          </a:prstGeom>
          <a:noFill/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17436" y="1920240"/>
            <a:ext cx="4613148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Мен кашаа бар туюнтмада адегенде кашаанын ичин эсептейм.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17436" y="2487168"/>
            <a:ext cx="4613148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A84400"/>
                </a:solidFill>
                <a:latin typeface="PT Sans"/>
              </a:rPr>
              <a:t>Ч4 · Б3 №1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60236" y="2907792"/>
            <a:ext cx="292608" cy="292608"/>
          </a:xfrm>
          <a:prstGeom prst="rect">
            <a:avLst/>
          </a:prstGeom>
          <a:noFill/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17436" y="2834640"/>
            <a:ext cx="4613148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Мен кашаа маанини качан өзгөртөрүн түшүндүрө алам.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17436" y="3401568"/>
            <a:ext cx="4613148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A84400"/>
                </a:solidFill>
                <a:latin typeface="PT Sans"/>
              </a:rPr>
              <a:t>Ч6 · Б3 №2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60236" y="3822191"/>
            <a:ext cx="292608" cy="292608"/>
          </a:xfrm>
          <a:prstGeom prst="rect">
            <a:avLst/>
          </a:prstGeom>
          <a:noFill/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17436" y="3749039"/>
            <a:ext cx="4613148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Мен маселеге тилке чийип, кашаа менен бир туюнтма жазам.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17436" y="4315968"/>
            <a:ext cx="4613148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A84400"/>
                </a:solidFill>
                <a:latin typeface="PT Sans"/>
              </a:rPr>
              <a:t>Ч5 · Б3 №3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9768" y="5779008"/>
            <a:ext cx="11329416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007A5A"/>
                </a:solidFill>
                <a:latin typeface="PT Sans"/>
              </a:rPr>
              <a:t>Сабактын аягында ар бир критерийге ✓ кой. Далил: чечүүчү суроо (Ч) жана чыгуу билети (Б).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Биз кайдабыз?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 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Спираль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3017520"/>
            <a:ext cx="2660904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1089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>3-класс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" y="3657600"/>
            <a:ext cx="2112264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7" y="3749039"/>
            <a:ext cx="2295144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Көбөйтүү жадыбалы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Тилке: бөлүк – бүтүн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2560320"/>
            <a:ext cx="266090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26517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4-класс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93591" y="3200400"/>
            <a:ext cx="2112265" cy="0"/>
          </a:xfrm>
          <a:prstGeom prst="line">
            <a:avLst/>
          </a:prstGeom>
          <a:ln w="127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02152" y="3291839"/>
            <a:ext cx="2295144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1-деңгээл: + − × ÷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2-деңгээл: кашаа ( )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Тилке: салыштыруу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18204" y="2057400"/>
            <a:ext cx="1463040" cy="38404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Бүгүн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8776" y="2103120"/>
            <a:ext cx="2660904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21945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4A5A70"/>
                </a:solidFill>
                <a:latin typeface="PT Sans"/>
              </a:rPr>
              <a:t>5-класс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83096" y="2743200"/>
            <a:ext cx="2112263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391656" y="2834639"/>
            <a:ext cx="2295144" cy="2834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3-деңгээл: даража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Катыш маселелери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645919"/>
            <a:ext cx="2660904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7373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4A5A70"/>
                </a:solidFill>
                <a:latin typeface="PT Sans"/>
              </a:rPr>
              <a:t>6-класс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72600" y="2286000"/>
            <a:ext cx="2112264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81160" y="2377439"/>
            <a:ext cx="2295144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Кашаа ичинде кашаа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Бөлчөк менен амалдар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5806440"/>
            <a:ext cx="11329416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1">
                <a:solidFill>
                  <a:srgbClr val="6B7280"/>
                </a:solidFill>
                <a:latin typeface="PT Sans"/>
              </a:rPr>
              <a:t>Ар бир класс мурункусунун үстүнө курулат.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Биз кантип үйрөнөбүз: К → С → 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 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Ыкма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3593592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7" y="1325880"/>
            <a:ext cx="3227832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К · Конкреттүү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7" y="1828800"/>
            <a:ext cx="322783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0" i="0">
                <a:solidFill>
                  <a:srgbClr val="6B7280"/>
                </a:solidFill>
                <a:latin typeface="PT Sans"/>
              </a:rPr>
              <a:t>капкак, таш, кагаз чөйчөк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4088" y="237744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023360" y="338328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7680" y="1225296"/>
            <a:ext cx="3593592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325880"/>
            <a:ext cx="3227832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С · Сүрөттүү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1828800"/>
            <a:ext cx="322783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0" i="0">
                <a:solidFill>
                  <a:srgbClr val="6B7280"/>
                </a:solidFill>
                <a:latin typeface="PT Sans"/>
              </a:rPr>
              <a:t>тилке: чакмак дептерде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2000" y="237744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891272" y="338328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165592" y="1225296"/>
            <a:ext cx="3593592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8472" y="1325880"/>
            <a:ext cx="3227832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А · Абстракттуу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1828800"/>
            <a:ext cx="322783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0" i="0">
                <a:solidFill>
                  <a:srgbClr val="6B7280"/>
                </a:solidFill>
                <a:latin typeface="PT Sans"/>
              </a:rPr>
              <a:t>сандар жана белгилер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39912" y="237744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566928" y="2670048"/>
            <a:ext cx="201168" cy="201168"/>
          </a:xfrm>
          <a:prstGeom prst="ellipse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23255" y="2726375"/>
            <a:ext cx="88513" cy="88513"/>
          </a:xfrm>
          <a:prstGeom prst="ellipse">
            <a:avLst/>
          </a:prstGeom>
          <a:noFill/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2104" y="2670048"/>
            <a:ext cx="201168" cy="201168"/>
          </a:xfrm>
          <a:prstGeom prst="ellipse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88431" y="2726375"/>
            <a:ext cx="88513" cy="88513"/>
          </a:xfrm>
          <a:prstGeom prst="ellipse">
            <a:avLst/>
          </a:prstGeom>
          <a:noFill/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97280" y="2670048"/>
            <a:ext cx="201168" cy="201168"/>
          </a:xfrm>
          <a:prstGeom prst="ellipse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53607" y="2726375"/>
            <a:ext cx="88513" cy="88513"/>
          </a:xfrm>
          <a:prstGeom prst="ellipse">
            <a:avLst/>
          </a:prstGeom>
          <a:noFill/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Manual Operation 29"/>
          <p:cNvSpPr/>
          <p:nvPr/>
        </p:nvSpPr>
        <p:spPr>
          <a:xfrm>
            <a:off x="1664208" y="2560320"/>
            <a:ext cx="804672" cy="612648"/>
          </a:xfrm>
          <a:prstGeom prst="flowChartManualOperation">
            <a:avLst/>
          </a:prstGeom>
          <a:noFill/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833372" y="2670048"/>
            <a:ext cx="201168" cy="201168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889699" y="2726375"/>
            <a:ext cx="88513" cy="88513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098548" y="2670048"/>
            <a:ext cx="201168" cy="201168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154875" y="2726375"/>
            <a:ext cx="88513" cy="88513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Manual Operation 34"/>
          <p:cNvSpPr/>
          <p:nvPr/>
        </p:nvSpPr>
        <p:spPr>
          <a:xfrm>
            <a:off x="2606040" y="2560320"/>
            <a:ext cx="804672" cy="612648"/>
          </a:xfrm>
          <a:prstGeom prst="flowChartManualOperation">
            <a:avLst/>
          </a:prstGeom>
          <a:noFill/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775204" y="2670048"/>
            <a:ext cx="201168" cy="201168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831531" y="2726375"/>
            <a:ext cx="88513" cy="88513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040380" y="2670048"/>
            <a:ext cx="201168" cy="201168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096707" y="2726375"/>
            <a:ext cx="88513" cy="88513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Manual Operation 39"/>
          <p:cNvSpPr/>
          <p:nvPr/>
        </p:nvSpPr>
        <p:spPr>
          <a:xfrm>
            <a:off x="1664208" y="3401568"/>
            <a:ext cx="804672" cy="612648"/>
          </a:xfrm>
          <a:prstGeom prst="flowChartManualOperation">
            <a:avLst/>
          </a:prstGeom>
          <a:noFill/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833372" y="3511296"/>
            <a:ext cx="201168" cy="201168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889699" y="3567623"/>
            <a:ext cx="88513" cy="88513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098548" y="3511296"/>
            <a:ext cx="201168" cy="201168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154875" y="3567623"/>
            <a:ext cx="88513" cy="88513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Manual Operation 44"/>
          <p:cNvSpPr/>
          <p:nvPr/>
        </p:nvSpPr>
        <p:spPr>
          <a:xfrm>
            <a:off x="2606040" y="3401568"/>
            <a:ext cx="804672" cy="612648"/>
          </a:xfrm>
          <a:prstGeom prst="flowChartManualOperation">
            <a:avLst/>
          </a:prstGeom>
          <a:noFill/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775204" y="3511296"/>
            <a:ext cx="201168" cy="201168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831531" y="3567623"/>
            <a:ext cx="88513" cy="88513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040380" y="3511296"/>
            <a:ext cx="201168" cy="201168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096707" y="3567623"/>
            <a:ext cx="88513" cy="88513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2647" y="4206240"/>
            <a:ext cx="3227832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3 капкак жана
4 чөйчөк, ар биринде 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83480" y="3017520"/>
            <a:ext cx="603504" cy="50292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586984" y="3017520"/>
            <a:ext cx="402336" cy="50292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89320" y="3017520"/>
            <a:ext cx="402336" cy="50292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91656" y="3017520"/>
            <a:ext cx="402336" cy="50292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93992" y="3017520"/>
            <a:ext cx="402336" cy="50292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586984" y="3566160"/>
            <a:ext cx="0" cy="137160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7196328" y="3566160"/>
            <a:ext cx="0" cy="137160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586984" y="3703320"/>
            <a:ext cx="1609344" cy="0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020056" y="3749039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A84400"/>
                </a:solidFill>
                <a:latin typeface="PT Sans"/>
              </a:rPr>
              <a:t>4 × 2</a:t>
            </a:r>
          </a:p>
        </p:txBody>
      </p:sp>
      <p:cxnSp>
        <p:nvCxnSpPr>
          <p:cNvPr id="60" name="Connector 59"/>
          <p:cNvCxnSpPr/>
          <p:nvPr/>
        </p:nvCxnSpPr>
        <p:spPr>
          <a:xfrm flipV="1">
            <a:off x="4983480" y="2834640"/>
            <a:ext cx="0" cy="13716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7196328" y="2834640"/>
            <a:ext cx="0" cy="13716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983480" y="2834640"/>
            <a:ext cx="2212848" cy="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4718304" y="242316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1D3557"/>
                </a:solidFill>
                <a:latin typeface="PT Sans"/>
              </a:rPr>
              <a:t>?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480560" y="4206240"/>
            <a:ext cx="3227832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бир тилке 3,
төрт тилке 2ден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48472" y="2606040"/>
            <a:ext cx="3227832" cy="1554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3 + 4 × 2</a:t>
            </a:r>
          </a:p>
          <a:p>
            <a:pPr algn="ct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3 + 8</a:t>
            </a:r>
          </a:p>
          <a:p>
            <a:pPr algn="ct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= 11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48472" y="4206240"/>
            <a:ext cx="3227832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сан менен жазабыз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874519" y="5669280"/>
            <a:ext cx="8449056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Буюм → сүрөт → сан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Бүгүн кантип иштейбиз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 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Сынчыл 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Эки чыгарылышты салыштырып, катаны таап, эмне үчүн экенин далилдейбиз.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4088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«Ким туура?»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«Катаны тап»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«Кашаа кой»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Кызматташуу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 менен иштейбиз: бирөө эсептейт, экинчиси текшерет.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0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26280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Капкак жана чөйчөк менен иш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Мини-тактадагы текшерүү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39912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Байланыштыруу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Туюнтманы турмуш жана сүрөт менен байланыштырабыз.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39912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394192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Дүкөн, дептер, класс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Тилке → туюнтма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Биздин класстагы ой жүгүртүү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 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Ой жүгүртүү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«Азырынча билбейм»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«Билбейм» дебейбиз. «Азырынча билбейм, бирок үйрөнөм» дейбиз.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39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11039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«Ката – үйрөнүү»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1039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Ката мээни өстүрөт. Катаны таап, оңдогон адам көп үйрөнөт.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5112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3712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«Адегенде чий»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3712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Кыйын болсо, тилке же сүрөт чий. Түшүн, анан эсепте.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эсеп: даярданабыз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 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Даярдык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Мини-тактага жообун гана жаз.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F2430"/>
                </a:solidFill>
                <a:latin typeface="PT Sans"/>
              </a:rPr>
              <a:t>3 × 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F2430"/>
                </a:solidFill>
                <a:latin typeface="PT Sans"/>
              </a:rPr>
              <a:t>4 × 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F2430"/>
                </a:solidFill>
                <a:latin typeface="PT Sans"/>
              </a:rPr>
              <a:t>36 ÷ 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F2430"/>
                </a:solidFill>
                <a:latin typeface="PT Sans"/>
              </a:rPr>
              <a:t/>
            </a:r>
          </a:p>
        </p:txBody>
      </p:sp>
      <p:sp>
        <p:nvSpPr>
          <p:cNvPr id="23" name="Manual Operation 22"/>
          <p:cNvSpPr/>
          <p:nvPr/>
        </p:nvSpPr>
        <p:spPr>
          <a:xfrm>
            <a:off x="6940296" y="4869180"/>
            <a:ext cx="822960" cy="530352"/>
          </a:xfrm>
          <a:prstGeom prst="flowChartManualOperation">
            <a:avLst/>
          </a:prstGeom>
          <a:noFill/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09460" y="4978908"/>
            <a:ext cx="118872" cy="118872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142744" y="5012192"/>
            <a:ext cx="52303" cy="52303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292340" y="4978908"/>
            <a:ext cx="118872" cy="118872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25624" y="5012192"/>
            <a:ext cx="52303" cy="52303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475220" y="4978908"/>
            <a:ext cx="118872" cy="118872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508504" y="5012192"/>
            <a:ext cx="52303" cy="52303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Manual Operation 29"/>
          <p:cNvSpPr/>
          <p:nvPr/>
        </p:nvSpPr>
        <p:spPr>
          <a:xfrm>
            <a:off x="7900416" y="4869180"/>
            <a:ext cx="822960" cy="530352"/>
          </a:xfrm>
          <a:prstGeom prst="flowChartManualOperation">
            <a:avLst/>
          </a:prstGeom>
          <a:noFill/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69580" y="4978908"/>
            <a:ext cx="118872" cy="118872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102864" y="5012192"/>
            <a:ext cx="52303" cy="52303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52460" y="4978908"/>
            <a:ext cx="118872" cy="118872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85744" y="5012192"/>
            <a:ext cx="52303" cy="52303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35340" y="4978908"/>
            <a:ext cx="118872" cy="118872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468624" y="5012192"/>
            <a:ext cx="52303" cy="52303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Manual Operation 36"/>
          <p:cNvSpPr/>
          <p:nvPr/>
        </p:nvSpPr>
        <p:spPr>
          <a:xfrm>
            <a:off x="8860536" y="4869180"/>
            <a:ext cx="822960" cy="530352"/>
          </a:xfrm>
          <a:prstGeom prst="flowChartManualOperation">
            <a:avLst/>
          </a:prstGeom>
          <a:noFill/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029700" y="4978908"/>
            <a:ext cx="118872" cy="118872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062984" y="5012192"/>
            <a:ext cx="52303" cy="52303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212580" y="4978908"/>
            <a:ext cx="118872" cy="118872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245864" y="5012192"/>
            <a:ext cx="52303" cy="52303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395460" y="4978908"/>
            <a:ext cx="118872" cy="118872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428744" y="5012192"/>
            <a:ext cx="52303" cy="52303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Manual Operation 43"/>
          <p:cNvSpPr/>
          <p:nvPr/>
        </p:nvSpPr>
        <p:spPr>
          <a:xfrm>
            <a:off x="9820656" y="4869180"/>
            <a:ext cx="822960" cy="530352"/>
          </a:xfrm>
          <a:prstGeom prst="flowChartManualOperation">
            <a:avLst/>
          </a:prstGeom>
          <a:noFill/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989820" y="4978908"/>
            <a:ext cx="118872" cy="118872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023104" y="5012192"/>
            <a:ext cx="52303" cy="52303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172700" y="4978908"/>
            <a:ext cx="118872" cy="118872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205984" y="5012192"/>
            <a:ext cx="52303" cy="52303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355580" y="4978908"/>
            <a:ext cx="118872" cy="118872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88864" y="5012192"/>
            <a:ext cx="52303" cy="52303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Manual Operation 50"/>
          <p:cNvSpPr/>
          <p:nvPr/>
        </p:nvSpPr>
        <p:spPr>
          <a:xfrm>
            <a:off x="10780776" y="4869180"/>
            <a:ext cx="822960" cy="530352"/>
          </a:xfrm>
          <a:prstGeom prst="flowChartManualOperation">
            <a:avLst/>
          </a:prstGeom>
          <a:noFill/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949940" y="4978908"/>
            <a:ext cx="118872" cy="118872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983224" y="5012192"/>
            <a:ext cx="52303" cy="52303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132819" y="4978908"/>
            <a:ext cx="118872" cy="118872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1166104" y="5012192"/>
            <a:ext cx="52303" cy="52303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315700" y="4978908"/>
            <a:ext cx="118872" cy="118872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348984" y="5012192"/>
            <a:ext cx="52303" cy="52303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86016" y="4091939"/>
            <a:ext cx="45720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F2430"/>
                </a:solidFill>
                <a:latin typeface="PT Sans"/>
              </a:rPr>
              <a:t>Канча капкак? Көбөйтүү менен жаз.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К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Капкак жана чөйчөк менен курабыз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 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1-деңгээл · Изилдөө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3C · Кызматташуу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3 + 4 × 2: капкак жана чөйчөк менен кур. «4 × 2» деген эмне?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" y="2103120"/>
            <a:ext cx="585216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04088" y="2807208"/>
            <a:ext cx="310896" cy="310896"/>
          </a:xfrm>
          <a:prstGeom prst="ellipse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91138" y="2894258"/>
            <a:ext cx="136794" cy="136794"/>
          </a:xfrm>
          <a:prstGeom prst="ellipse">
            <a:avLst/>
          </a:prstGeom>
          <a:noFill/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78992" y="2807208"/>
            <a:ext cx="310896" cy="310896"/>
          </a:xfrm>
          <a:prstGeom prst="ellipse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66042" y="2894258"/>
            <a:ext cx="136794" cy="136794"/>
          </a:xfrm>
          <a:prstGeom prst="ellipse">
            <a:avLst/>
          </a:prstGeom>
          <a:noFill/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53896" y="2807208"/>
            <a:ext cx="310896" cy="310896"/>
          </a:xfrm>
          <a:prstGeom prst="ellipse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40946" y="2894258"/>
            <a:ext cx="136794" cy="136794"/>
          </a:xfrm>
          <a:prstGeom prst="ellipse">
            <a:avLst/>
          </a:prstGeom>
          <a:noFill/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Manual Operation 19"/>
          <p:cNvSpPr/>
          <p:nvPr/>
        </p:nvSpPr>
        <p:spPr>
          <a:xfrm>
            <a:off x="2130552" y="2697480"/>
            <a:ext cx="1024128" cy="722376"/>
          </a:xfrm>
          <a:prstGeom prst="flowChartManualOperation">
            <a:avLst/>
          </a:prstGeom>
          <a:noFill/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299716" y="2807208"/>
            <a:ext cx="310896" cy="310896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386766" y="2894258"/>
            <a:ext cx="136794" cy="136794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674620" y="2807208"/>
            <a:ext cx="310896" cy="310896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761670" y="2894258"/>
            <a:ext cx="136794" cy="136794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Manual Operation 24"/>
          <p:cNvSpPr/>
          <p:nvPr/>
        </p:nvSpPr>
        <p:spPr>
          <a:xfrm>
            <a:off x="3291840" y="2697480"/>
            <a:ext cx="1024128" cy="722376"/>
          </a:xfrm>
          <a:prstGeom prst="flowChartManualOperation">
            <a:avLst/>
          </a:prstGeom>
          <a:noFill/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61004" y="2807208"/>
            <a:ext cx="310896" cy="310896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548054" y="2894258"/>
            <a:ext cx="136794" cy="136794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35908" y="2807208"/>
            <a:ext cx="310896" cy="310896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922958" y="2894258"/>
            <a:ext cx="136794" cy="136794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Manual Operation 29"/>
          <p:cNvSpPr/>
          <p:nvPr/>
        </p:nvSpPr>
        <p:spPr>
          <a:xfrm>
            <a:off x="2130552" y="3648456"/>
            <a:ext cx="1024128" cy="722376"/>
          </a:xfrm>
          <a:prstGeom prst="flowChartManualOperation">
            <a:avLst/>
          </a:prstGeom>
          <a:noFill/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299716" y="3758184"/>
            <a:ext cx="310896" cy="310896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386766" y="3845234"/>
            <a:ext cx="136794" cy="136794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674620" y="3758184"/>
            <a:ext cx="310896" cy="310896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761670" y="3845234"/>
            <a:ext cx="136794" cy="136794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Manual Operation 34"/>
          <p:cNvSpPr/>
          <p:nvPr/>
        </p:nvSpPr>
        <p:spPr>
          <a:xfrm>
            <a:off x="3291840" y="3648456"/>
            <a:ext cx="1024128" cy="722376"/>
          </a:xfrm>
          <a:prstGeom prst="flowChartManualOperation">
            <a:avLst/>
          </a:prstGeom>
          <a:noFill/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461004" y="3758184"/>
            <a:ext cx="310896" cy="310896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548054" y="3845234"/>
            <a:ext cx="136794" cy="136794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835908" y="3758184"/>
            <a:ext cx="310896" cy="310896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922958" y="3845234"/>
            <a:ext cx="136794" cy="136794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4088" y="2148840"/>
            <a:ext cx="20116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3 капкак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07208" y="2148840"/>
            <a:ext cx="33832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007A5A"/>
                </a:solidFill>
                <a:latin typeface="PT Sans"/>
              </a:rPr>
              <a:t>4 × 2: 4 чөйчөк, 2ден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" y="4526280"/>
            <a:ext cx="5303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24418C"/>
                </a:solidFill>
                <a:latin typeface="PT Sans"/>
              </a:rPr>
              <a:t>Баары: 3 + 8 = 11 капкак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675120" y="2103120"/>
            <a:ext cx="256032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Жуп менен иште</a:t>
            </a:r>
          </a:p>
        </p:txBody>
      </p:sp>
      <p:sp>
        <p:nvSpPr>
          <p:cNvPr id="44" name="Oval 43"/>
          <p:cNvSpPr/>
          <p:nvPr/>
        </p:nvSpPr>
        <p:spPr>
          <a:xfrm>
            <a:off x="6675120" y="269748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05472" y="2679192"/>
            <a:ext cx="4480560" cy="6583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4 чөйчөккө 2ден капкак сал.</a:t>
            </a:r>
          </a:p>
        </p:txBody>
      </p:sp>
      <p:sp>
        <p:nvSpPr>
          <p:cNvPr id="46" name="Oval 45"/>
          <p:cNvSpPr/>
          <p:nvPr/>
        </p:nvSpPr>
        <p:spPr>
          <a:xfrm>
            <a:off x="6675120" y="3355848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05472" y="3337560"/>
            <a:ext cx="4480560" cy="6583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Чөйчөктөрдө канча? 4 × 2 = 8.</a:t>
            </a:r>
          </a:p>
        </p:txBody>
      </p:sp>
      <p:sp>
        <p:nvSpPr>
          <p:cNvPr id="48" name="Oval 47"/>
          <p:cNvSpPr/>
          <p:nvPr/>
        </p:nvSpPr>
        <p:spPr>
          <a:xfrm>
            <a:off x="6675120" y="401421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05472" y="3995928"/>
            <a:ext cx="4480560" cy="6583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Дагы 3 капкак кой.</a:t>
            </a:r>
          </a:p>
        </p:txBody>
      </p:sp>
      <p:sp>
        <p:nvSpPr>
          <p:cNvPr id="50" name="Oval 49"/>
          <p:cNvSpPr/>
          <p:nvPr/>
        </p:nvSpPr>
        <p:spPr>
          <a:xfrm>
            <a:off x="6675120" y="467258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05472" y="4654296"/>
            <a:ext cx="4480560" cy="6583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Баары канча? 3 + 8 = 11.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8" y="553212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Чөйчөктөр (×) биринчи, анан кошобуз (+).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К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Тилектин дүкөнү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 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1-деңгээл · Кызыктыруу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Тилек 1 сүт (40 сом) жана 3 нан (ар бири 20 сомдон) сатып алды. Баары канча сом?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429768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29768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Нурай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834640"/>
            <a:ext cx="502920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40 + 3 × 20
40 + 3 = 43
43 × 20 = 860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480560"/>
            <a:ext cx="50292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3200" b="1" i="0">
                <a:solidFill>
                  <a:srgbClr val="24418C"/>
                </a:solidFill>
                <a:latin typeface="PT Sans"/>
              </a:rPr>
              <a:t>860 сом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6208776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208776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Тилек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3096" y="2834640"/>
            <a:ext cx="502920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40 + 3 × 20
3 × 20 = 60
40 + 60 = 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3096" y="4480560"/>
            <a:ext cx="50292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3200" b="1" i="0">
                <a:solidFill>
                  <a:srgbClr val="24418C"/>
                </a:solidFill>
                <a:latin typeface="PT Sans"/>
              </a:rPr>
              <a:t>100 сом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" y="534924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Бир сүт жана үч нан 860 сом турабы?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Адегенде түшүн, анан эсепте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 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1-деңгээл · Сүрөт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Тилек 1 сүт (40 сом) жана 3 нан (ар бири 20 сомдон) сатып алды. Баары канча сом?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2606040"/>
            <a:ext cx="1828800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сүт 40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0" y="2606040"/>
            <a:ext cx="1097280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2606040"/>
            <a:ext cx="1097280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20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2606040"/>
            <a:ext cx="1097280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20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3108960" y="2423160"/>
            <a:ext cx="0" cy="13716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229600" y="2423160"/>
            <a:ext cx="0" cy="13716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108960" y="2423160"/>
            <a:ext cx="5120640" cy="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297680" y="2011679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? сом</a:t>
            </a:r>
          </a:p>
        </p:txBody>
      </p:sp>
      <p:sp>
        <p:nvSpPr>
          <p:cNvPr id="21" name="Oval 20"/>
          <p:cNvSpPr/>
          <p:nvPr/>
        </p:nvSpPr>
        <p:spPr>
          <a:xfrm>
            <a:off x="978407" y="35204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3502152"/>
            <a:ext cx="9683496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Сүрөттө эмнени көрүп турасың?</a:t>
            </a:r>
          </a:p>
        </p:txBody>
      </p:sp>
      <p:sp>
        <p:nvSpPr>
          <p:cNvPr id="23" name="Oval 22"/>
          <p:cNvSpPr/>
          <p:nvPr/>
        </p:nvSpPr>
        <p:spPr>
          <a:xfrm>
            <a:off x="978407" y="4087368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069080"/>
            <a:ext cx="9683496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Кайсы тилкелер бирдей? Эмне үчүн?</a:t>
            </a:r>
          </a:p>
        </p:txBody>
      </p:sp>
      <p:sp>
        <p:nvSpPr>
          <p:cNvPr id="25" name="Oval 24"/>
          <p:cNvSpPr/>
          <p:nvPr/>
        </p:nvSpPr>
        <p:spPr>
          <a:xfrm>
            <a:off x="978407" y="465429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4636008"/>
            <a:ext cx="9683496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Үч бирдей тилкени бир амал менен кантип жазабыз?</a:t>
            </a:r>
          </a:p>
        </p:txBody>
      </p:sp>
      <p:sp>
        <p:nvSpPr>
          <p:cNvPr id="27" name="Oval 26"/>
          <p:cNvSpPr/>
          <p:nvPr/>
        </p:nvSpPr>
        <p:spPr>
          <a:xfrm>
            <a:off x="978407" y="522122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202936"/>
            <a:ext cx="9683496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Эмнени адегенде табабыз?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модели менен көрөбүз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 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1-деңгээл · Сүрөт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40 + 3 × 20: «3 × 20» деген эмне? Бул үч нандын баасы!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" y="2103120"/>
            <a:ext cx="23774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Мен көрсөтөм</a:t>
            </a:r>
          </a:p>
        </p:txBody>
      </p:sp>
      <p:sp>
        <p:nvSpPr>
          <p:cNvPr id="14" name="Oval 13"/>
          <p:cNvSpPr/>
          <p:nvPr/>
        </p:nvSpPr>
        <p:spPr>
          <a:xfrm>
            <a:off x="429768" y="278892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19" y="2770632"/>
            <a:ext cx="5212080" cy="6583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Сүттү бир тилке менен чийебиз: 40.</a:t>
            </a:r>
          </a:p>
        </p:txBody>
      </p:sp>
      <p:sp>
        <p:nvSpPr>
          <p:cNvPr id="16" name="Oval 15"/>
          <p:cNvSpPr/>
          <p:nvPr/>
        </p:nvSpPr>
        <p:spPr>
          <a:xfrm>
            <a:off x="429768" y="3447287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19" y="3428999"/>
            <a:ext cx="5212080" cy="6583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Ар бир нан 20. Үч нан = үч тилке.</a:t>
            </a:r>
          </a:p>
        </p:txBody>
      </p:sp>
      <p:sp>
        <p:nvSpPr>
          <p:cNvPr id="18" name="Oval 17"/>
          <p:cNvSpPr/>
          <p:nvPr/>
        </p:nvSpPr>
        <p:spPr>
          <a:xfrm>
            <a:off x="429768" y="410565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19" y="4087368"/>
            <a:ext cx="5212080" cy="6583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Адегенде нандарды эсептейбиз: 3 × 20 = 60.</a:t>
            </a:r>
          </a:p>
        </p:txBody>
      </p:sp>
      <p:sp>
        <p:nvSpPr>
          <p:cNvPr id="20" name="Oval 19"/>
          <p:cNvSpPr/>
          <p:nvPr/>
        </p:nvSpPr>
        <p:spPr>
          <a:xfrm>
            <a:off x="429768" y="476402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19" y="4745736"/>
            <a:ext cx="5212080" cy="6583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Анан кошобуз: 40 + 60 = 100.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2926080"/>
            <a:ext cx="1828800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сүт 40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2926080"/>
            <a:ext cx="1097280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20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18319" y="2926080"/>
            <a:ext cx="1097280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20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515599" y="2926080"/>
            <a:ext cx="1097280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20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321040" y="3520440"/>
            <a:ext cx="0" cy="137160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1612880" y="3520440"/>
            <a:ext cx="0" cy="137160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321040" y="3657600"/>
            <a:ext cx="3291840" cy="0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595359" y="370332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3 × 20 = 60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6492240" y="2743200"/>
            <a:ext cx="0" cy="13716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1612880" y="2743200"/>
            <a:ext cx="0" cy="13716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492240" y="2743200"/>
            <a:ext cx="5120640" cy="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680959" y="233172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? сом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40 + 3 × 20 = </a:t>
            </a:r>
            <a:r>
              <a:rPr sz="3400" b="1">
                <a:solidFill>
                  <a:srgbClr val="24418C"/>
                </a:solidFill>
                <a:latin typeface="PT Sans"/>
              </a:rPr>
              <a:t>100 сом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Эреже: адегенде × жана 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 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1-деңгээл · Эреже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71600"/>
            <a:ext cx="5527548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73501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2377440"/>
            <a:ext cx="5344668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БөКө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3063240"/>
            <a:ext cx="5344668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Бөлүү · Көбөйтүү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566160"/>
            <a:ext cx="5253228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солдон оңго, кайсысы биринчи келсе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57316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31636" y="1371600"/>
            <a:ext cx="5527548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75369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3075" y="2377440"/>
            <a:ext cx="5344668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КоКе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3075" y="3063240"/>
            <a:ext cx="5344668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Кошуу · Кемитүү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8796" y="3566160"/>
            <a:ext cx="5253228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солдон оңго, кайсысы биринчи келсе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74519" y="4709160"/>
            <a:ext cx="8449056" cy="758952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A84400"/>
                </a:solidFill>
                <a:latin typeface="PT Sans"/>
              </a:rPr>
              <a:t>Адегенде × жана ÷, анан + жана 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Адегенде болжолдо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 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Оозеки ыкма · Болжолдоо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Эсептебе! Жооп кайсы кутуга түшөт? Мини-тактага А, Б же В жаз.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1691640"/>
            <a:ext cx="3624072" cy="685800"/>
          </a:xfrm>
          <a:prstGeom prst="roundRect">
            <a:avLst>
              <a:gd name="adj" fmla="val 300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А: 10дон аз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39" y="1691640"/>
            <a:ext cx="3624072" cy="685800"/>
          </a:xfrm>
          <a:prstGeom prst="roundRect">
            <a:avLst>
              <a:gd name="adj" fmla="val 300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Б: 10 менен 50дүн ортосунда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5112" y="1691640"/>
            <a:ext cx="3624072" cy="685800"/>
          </a:xfrm>
          <a:prstGeom prst="roundRect">
            <a:avLst>
              <a:gd name="adj" fmla="val 300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В: 50дөн көп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" y="2651760"/>
            <a:ext cx="555040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12647" y="2953512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2651760"/>
            <a:ext cx="4572000" cy="1051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1F2430"/>
                </a:solidFill>
                <a:latin typeface="PT Sans"/>
              </a:rPr>
              <a:t>4 + 6 × 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651760"/>
            <a:ext cx="555040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91656" y="2953512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86016" y="2651760"/>
            <a:ext cx="4572000" cy="1051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1F2430"/>
                </a:solidFill>
                <a:latin typeface="PT Sans"/>
              </a:rPr>
              <a:t>30 − 24 ÷ 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" y="3886200"/>
            <a:ext cx="555040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12647" y="4187952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7" y="3886200"/>
            <a:ext cx="4572000" cy="1051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1F2430"/>
                </a:solidFill>
                <a:latin typeface="PT Sans"/>
              </a:rPr>
              <a:t>40 ÷ 8 + 2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8776" y="3886200"/>
            <a:ext cx="555040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91656" y="4187952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86016" y="3886200"/>
            <a:ext cx="4572000" cy="1051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1F2430"/>
                </a:solidFill>
                <a:latin typeface="PT Sans"/>
              </a:rPr>
              <a:t>100 − 9 × 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" y="5559552"/>
            <a:ext cx="11329416" cy="56692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900" b="1">
                <a:solidFill>
                  <a:srgbClr val="A84400"/>
                </a:solidFill>
                <a:latin typeface="PT Sans"/>
              </a:rPr>
              <a:t>Болжол: × жана ÷ бөлүгүн «тегерек» сан менен ойлон. 6 × 9 → 50гө жакын.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Кадам-кадам менен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 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1-деңгээл · Мисал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Эсепте: 18 − 12 ÷ 4 + 2 × 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103120"/>
            <a:ext cx="23774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Мен көрсөтөм</a:t>
            </a:r>
          </a:p>
        </p:txBody>
      </p:sp>
      <p:sp>
        <p:nvSpPr>
          <p:cNvPr id="13" name="Oval 12"/>
          <p:cNvSpPr/>
          <p:nvPr/>
        </p:nvSpPr>
        <p:spPr>
          <a:xfrm>
            <a:off x="429768" y="274320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19" y="2724912"/>
            <a:ext cx="42976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Бөлүүнү тап: 12 ÷ 4 = 3.</a:t>
            </a:r>
          </a:p>
        </p:txBody>
      </p:sp>
      <p:sp>
        <p:nvSpPr>
          <p:cNvPr id="15" name="Oval 14"/>
          <p:cNvSpPr/>
          <p:nvPr/>
        </p:nvSpPr>
        <p:spPr>
          <a:xfrm>
            <a:off x="429768" y="338328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19" y="3364992"/>
            <a:ext cx="42976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Көбөйтүүнү тап: 2 × 5 = 10.</a:t>
            </a:r>
          </a:p>
        </p:txBody>
      </p:sp>
      <p:sp>
        <p:nvSpPr>
          <p:cNvPr id="17" name="Oval 16"/>
          <p:cNvSpPr/>
          <p:nvPr/>
        </p:nvSpPr>
        <p:spPr>
          <a:xfrm>
            <a:off x="429768" y="402336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19" y="4005072"/>
            <a:ext cx="42976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Эми солдон оңго: 18 − 3 = 15.</a:t>
            </a:r>
          </a:p>
        </p:txBody>
      </p:sp>
      <p:sp>
        <p:nvSpPr>
          <p:cNvPr id="19" name="Oval 18"/>
          <p:cNvSpPr/>
          <p:nvPr/>
        </p:nvSpPr>
        <p:spPr>
          <a:xfrm>
            <a:off x="429768" y="46634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19" y="4645152"/>
            <a:ext cx="42976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15 + 10 = 25.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2286000"/>
            <a:ext cx="5486400" cy="6035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18 − 12 ÷ 4 + 2 ×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2889504"/>
            <a:ext cx="5486400" cy="6035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18 − 3 + 2 ×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2889504"/>
            <a:ext cx="731520" cy="6035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493008"/>
            <a:ext cx="5486400" cy="6035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18 − 3 + 10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3493008"/>
            <a:ext cx="731520" cy="6035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4096512"/>
            <a:ext cx="5486400" cy="6035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15 + 10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4096512"/>
            <a:ext cx="731520" cy="6035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4700016"/>
            <a:ext cx="5486400" cy="6035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= 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4700016"/>
            <a:ext cx="731520" cy="6035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+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8" y="5559552"/>
            <a:ext cx="11329416" cy="56692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900" b="1">
                <a:solidFill>
                  <a:srgbClr val="A84400"/>
                </a:solidFill>
                <a:latin typeface="PT Sans"/>
              </a:rPr>
              <a:t>Адегенде болжолдо: 20 менен 30дун ортосунда. Жооп 25 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модели: 4 кадам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 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Тилке модели · Көндүм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Айпериде 3 кутуча бар, ар биринде 8 карандаш. Анын дагы 5 карандашы бар. Баары канча?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" y="2103120"/>
            <a:ext cx="2695194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66928" y="2212848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2167128"/>
            <a:ext cx="2009394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Оку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7" y="2834640"/>
            <a:ext cx="2329434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Ким? Айпери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700" b="0" i="0">
                <a:solidFill>
                  <a:srgbClr val="1F2430"/>
                </a:solidFill>
                <a:latin typeface="PT Sans"/>
              </a:rPr>
              <a:t>Эмне? карандаш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700" b="0" i="0">
                <a:solidFill>
                  <a:srgbClr val="1F2430"/>
                </a:solidFill>
                <a:latin typeface="PT Sans"/>
              </a:rPr>
              <a:t>Бирдей бөлүктөр? 3 кутуча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700" b="1" i="0">
                <a:solidFill>
                  <a:srgbClr val="A84400"/>
                </a:solidFill>
                <a:latin typeface="PT Sans"/>
              </a:rPr>
              <a:t>Белгисиз? баары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124962" y="3749039"/>
            <a:ext cx="18288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307842" y="2103120"/>
            <a:ext cx="2695194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45002" y="2212848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02202" y="2167128"/>
            <a:ext cx="2009394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Чий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90722" y="3383280"/>
            <a:ext cx="566928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57650" y="3383280"/>
            <a:ext cx="566928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24578" y="3383280"/>
            <a:ext cx="566928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91506" y="3383280"/>
            <a:ext cx="411480" cy="41148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90722" y="4023360"/>
            <a:ext cx="2329434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Бирдей кутучалар = бирдей тилкелер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03036" y="3749039"/>
            <a:ext cx="18288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185916" y="2103120"/>
            <a:ext cx="2695194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323076" y="2212848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80276" y="2167128"/>
            <a:ext cx="2009394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Белгиле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68796" y="3383280"/>
            <a:ext cx="566928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35724" y="3383280"/>
            <a:ext cx="566928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02652" y="3383280"/>
            <a:ext cx="566928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69579" y="3383280"/>
            <a:ext cx="411480" cy="41148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6368796" y="3200400"/>
            <a:ext cx="0" cy="13716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481059" y="3200400"/>
            <a:ext cx="0" cy="13716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368796" y="3200400"/>
            <a:ext cx="2112263" cy="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053327" y="278892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1D3557"/>
                </a:solidFill>
                <a:latin typeface="PT Sans"/>
              </a:rPr>
              <a:t>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8796" y="4023360"/>
            <a:ext cx="2329434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Белгилүүнү жаз, белгисизге «?»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881110" y="3749039"/>
            <a:ext cx="18288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063990" y="2103120"/>
            <a:ext cx="2695194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201150" y="2212848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58350" y="2167128"/>
            <a:ext cx="2009394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Жаз, эсепте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46870" y="2834640"/>
            <a:ext cx="2329434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3 × 8 + 5</a:t>
            </a:r>
          </a:p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= 24 + 5</a:t>
            </a:r>
          </a:p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24418C"/>
                </a:solidFill>
                <a:latin typeface="PT Sans"/>
              </a:rPr>
              <a:t>= 29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874519" y="5596128"/>
            <a:ext cx="8449056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Оку → Чий → Белгиле → Жаз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Бөлүк – бүтүн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 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Тилке машыгуусу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3C · Кызматташуу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6928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Класста 12 кыз жана 15 бала бар. Баары канча окуучу?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8" y="3429000"/>
            <a:ext cx="1097280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1368" y="3429000"/>
            <a:ext cx="1371600" cy="41148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15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704088" y="3246120"/>
            <a:ext cx="0" cy="13716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172968" y="3246120"/>
            <a:ext cx="0" cy="13716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04088" y="3246120"/>
            <a:ext cx="2468880" cy="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6928" y="283464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1D3557"/>
                </a:solidFill>
                <a:latin typeface="PT Sans"/>
              </a:rPr>
              <a:t>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167128" y="4956048"/>
            <a:ext cx="170383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12647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618488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282439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19600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76800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Китепте 60 бет бар. Нурай 25 бетин окуду. Канча бет калды?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56759" y="3429000"/>
            <a:ext cx="914400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25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71159" y="3429000"/>
            <a:ext cx="1463040" cy="41148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4556759" y="3246120"/>
            <a:ext cx="0" cy="13716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6934199" y="3246120"/>
            <a:ext cx="0" cy="13716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556759" y="3246120"/>
            <a:ext cx="2377440" cy="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373879" y="283464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1D3557"/>
                </a:solidFill>
                <a:latin typeface="PT Sans"/>
              </a:rPr>
              <a:t>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65320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019800" y="4956048"/>
            <a:ext cx="170383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465320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471159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8135112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272272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29472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4 кутуча бар, ар биринде 6 карандаш. Баары канча?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09432" y="3429000"/>
            <a:ext cx="548640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958072" y="3429000"/>
            <a:ext cx="548640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506712" y="3429000"/>
            <a:ext cx="548640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55352" y="3429000"/>
            <a:ext cx="548640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8409432" y="3246120"/>
            <a:ext cx="0" cy="13716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0603992" y="3246120"/>
            <a:ext cx="0" cy="13716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409432" y="3246120"/>
            <a:ext cx="2194560" cy="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135112" y="283464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1D3557"/>
                </a:solidFill>
                <a:latin typeface="PT Sans"/>
              </a:rPr>
              <a:t>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17991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872471" y="4956048"/>
            <a:ext cx="170383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8317991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323831" y="5641848"/>
            <a:ext cx="225247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Салыштыруу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 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Тилке машыгуусу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6928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Айбекте 18 марка бар. Бекте андан 7 марка көп. Бекте канча?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017520"/>
            <a:ext cx="731519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300" b="1" i="0">
                <a:solidFill>
                  <a:srgbClr val="1F2430"/>
                </a:solidFill>
                <a:latin typeface="PT Sans"/>
              </a:rPr>
              <a:t>Айбек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81328" y="3017520"/>
            <a:ext cx="1463040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3520440"/>
            <a:ext cx="731519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300" b="1" i="0">
                <a:solidFill>
                  <a:srgbClr val="1F2430"/>
                </a:solidFill>
                <a:latin typeface="PT Sans"/>
              </a:rPr>
              <a:t>Бек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81328" y="3520440"/>
            <a:ext cx="1463040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18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520440"/>
            <a:ext cx="640080" cy="41148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0168" y="3520440"/>
            <a:ext cx="36576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167128" y="4956048"/>
            <a:ext cx="170383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12647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618488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282439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19600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76800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Ата 40 жашта. Уулу атасынан 28 жашка кичүү. Уулу канча жашта?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6759" y="3017520"/>
            <a:ext cx="731519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300" b="1" i="0">
                <a:solidFill>
                  <a:srgbClr val="1F2430"/>
                </a:solidFill>
                <a:latin typeface="PT Sans"/>
              </a:rPr>
              <a:t>Ата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33999" y="3017520"/>
            <a:ext cx="2011680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6759" y="3520440"/>
            <a:ext cx="731519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300" b="1" i="0">
                <a:solidFill>
                  <a:srgbClr val="1F2430"/>
                </a:solidFill>
                <a:latin typeface="PT Sans"/>
              </a:rPr>
              <a:t>Уулу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33999" y="3520440"/>
            <a:ext cx="594360" cy="41148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928359" y="3977639"/>
            <a:ext cx="0" cy="137161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345679" y="3977639"/>
            <a:ext cx="0" cy="137161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928359" y="4114800"/>
            <a:ext cx="1417320" cy="0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265419" y="416052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28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65320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019800" y="4956048"/>
            <a:ext cx="170383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465320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471159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8135112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272272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29472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Көк лента 5 см. Кызыл лента көктөн 3 эсе узун. Кызыл канча?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09432" y="3017520"/>
            <a:ext cx="731519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300" b="1" i="0">
                <a:solidFill>
                  <a:srgbClr val="1F2430"/>
                </a:solidFill>
                <a:latin typeface="PT Sans"/>
              </a:rPr>
              <a:t>Көк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86672" y="3017520"/>
            <a:ext cx="548640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09432" y="3520440"/>
            <a:ext cx="731519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300" b="1" i="0">
                <a:solidFill>
                  <a:srgbClr val="1F2430"/>
                </a:solidFill>
                <a:latin typeface="PT Sans"/>
              </a:rPr>
              <a:t>Кызыл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86672" y="3520440"/>
            <a:ext cx="548640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735312" y="3520440"/>
            <a:ext cx="548640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283952" y="3520440"/>
            <a:ext cx="548640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78312" y="3520440"/>
            <a:ext cx="36576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17991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872471" y="4956048"/>
            <a:ext cx="170383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317991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323831" y="5641848"/>
            <a:ext cx="225247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Тилкени туюнтма менен жаз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 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1-деңгээл · Сүрөттөн санга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Ар бир тилке моделине туюнтма жаз жана эсепте.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6928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67128" y="4956048"/>
            <a:ext cx="170383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7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18488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82439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19600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5320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19800" y="4956048"/>
            <a:ext cx="170383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465320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71159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35112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72272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7991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872471" y="4956048"/>
            <a:ext cx="170383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317991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23831" y="5641848"/>
            <a:ext cx="225247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49808" y="2926080"/>
            <a:ext cx="1097280" cy="50292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15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47088" y="2926080"/>
            <a:ext cx="502920" cy="50292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50008" y="2926080"/>
            <a:ext cx="502920" cy="50292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52928" y="2926080"/>
            <a:ext cx="502920" cy="50292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55848" y="2926080"/>
            <a:ext cx="502920" cy="50292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847088" y="3474720"/>
            <a:ext cx="0" cy="137159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858768" y="3474720"/>
            <a:ext cx="0" cy="137159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847088" y="3611879"/>
            <a:ext cx="2011680" cy="0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481328" y="3657599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4 тилке, 5тен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749808" y="2743200"/>
            <a:ext cx="0" cy="13716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3858768" y="2743200"/>
            <a:ext cx="0" cy="13716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49808" y="2743200"/>
            <a:ext cx="3108960" cy="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32688" y="233172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02480" y="2926080"/>
            <a:ext cx="566928" cy="50292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10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69408" y="2926080"/>
            <a:ext cx="566928" cy="50292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10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736336" y="2926080"/>
            <a:ext cx="566928" cy="50292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10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3264" y="2926080"/>
            <a:ext cx="1133856" cy="50292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cxnSp>
        <p:nvCxnSpPr>
          <p:cNvPr id="47" name="Connector 46"/>
          <p:cNvCxnSpPr/>
          <p:nvPr/>
        </p:nvCxnSpPr>
        <p:spPr>
          <a:xfrm flipV="1">
            <a:off x="4602480" y="2743200"/>
            <a:ext cx="0" cy="13716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7437120" y="2743200"/>
            <a:ext cx="0" cy="13716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602480" y="2743200"/>
            <a:ext cx="2834640" cy="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648200" y="233172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50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4602480" y="3474720"/>
            <a:ext cx="0" cy="137159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6303264" y="3474720"/>
            <a:ext cx="0" cy="137159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602480" y="3611879"/>
            <a:ext cx="1700784" cy="0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4081271" y="3657599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3 тилке, 10дон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455152" y="2514600"/>
            <a:ext cx="548640" cy="50292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003792" y="2514600"/>
            <a:ext cx="548640" cy="50292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552431" y="2514600"/>
            <a:ext cx="548640" cy="50292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101071" y="2514600"/>
            <a:ext cx="548640" cy="50292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 flipV="1">
            <a:off x="8455152" y="2331720"/>
            <a:ext cx="0" cy="13716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10649711" y="2331720"/>
            <a:ext cx="0" cy="13716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8455152" y="2331720"/>
            <a:ext cx="2194559" cy="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8180831" y="192024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24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55152" y="3035808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4 бирдей бөлүк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455152" y="3474720"/>
            <a:ext cx="548640" cy="50292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003792" y="3474720"/>
            <a:ext cx="914400" cy="50292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8455152" y="4023360"/>
            <a:ext cx="0" cy="137160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918192" y="4023360"/>
            <a:ext cx="0" cy="137160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8455152" y="4160520"/>
            <a:ext cx="1463040" cy="0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7815072" y="420624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? = бир бөлүк жана 7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Ким туура?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 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1-деңгээл · Талдоо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20 ÷ 4 × 5 =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429768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29768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Айбек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Адегенде көбөйтөм:
4 × 5 = 20
20 ÷ 20 =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6208776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208776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Нурай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3096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Солдон оңго:
20 ÷ 4 = 5
5 × 5 = 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" y="534924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Ким туура? Эмне үчүн?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Кел, текшерип көрөлү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 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1-деңгээл · Машыгуу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3C · Кызматташуу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Мини-тактага эсептеп жаз.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7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6 + 4 × 2 =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91656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30 − 20 ÷ 5 =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8 × 3 − 4 × 5 =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91656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86016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24 ÷ 6 × 2 =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7007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7 + 6 × 4 =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8776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391656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86016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45 ÷ 5 − 6 =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Айгүлдүн дептерлери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 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Тилке машыгуусу 3 · көп кадам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Айгүл 5 дептер (ар бири 12 сомдон) жана 1 калем (30 сом) алды. 100 сом берди. Канча кайтарып алат?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" y="2103120"/>
            <a:ext cx="31089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Эвристика: чийме чий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4560" y="3246120"/>
            <a:ext cx="822960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3246120"/>
            <a:ext cx="822960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12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3246120"/>
            <a:ext cx="822960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12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3246120"/>
            <a:ext cx="822960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12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3246120"/>
            <a:ext cx="822960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246120"/>
            <a:ext cx="2057400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калем 30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66760" y="3246120"/>
            <a:ext cx="685800" cy="54864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2194560" y="3063240"/>
            <a:ext cx="0" cy="13716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052560" y="3063240"/>
            <a:ext cx="0" cy="13716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194560" y="3063240"/>
            <a:ext cx="6858000" cy="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251960" y="265176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100 сом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194560" y="3840480"/>
            <a:ext cx="0" cy="137160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309360" y="3840480"/>
            <a:ext cx="0" cy="137160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194560" y="3977640"/>
            <a:ext cx="4114800" cy="0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880360" y="402336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5 × 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4560" y="466344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749039" y="5047488"/>
            <a:ext cx="530352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194560" y="534924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200400" y="5733288"/>
            <a:ext cx="5852160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Катаны тап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 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1-деңгээл · Талдоо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Ката – үйрөнүүнүн бир бөлүгү. Ар бир чыгарылышты текшер, ката болсо оңдо.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6928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2331720"/>
            <a:ext cx="3075432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12 + 6 ÷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926080"/>
            <a:ext cx="307543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0" i="0">
                <a:solidFill>
                  <a:srgbClr val="1F2430"/>
                </a:solidFill>
                <a:latin typeface="PT Sans"/>
              </a:rPr>
              <a:t>= 18 ÷ 3
= 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" y="4663440"/>
            <a:ext cx="1417320" cy="50292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Туура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04288" y="4663440"/>
            <a:ext cx="1417320" cy="50292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Ката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7" y="534924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Оңдо: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618488" y="573328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282439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419600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6759" y="2331720"/>
            <a:ext cx="3075432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5 × 4 − 2 ×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6759" y="2926080"/>
            <a:ext cx="307543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0" i="0">
                <a:solidFill>
                  <a:srgbClr val="1F2430"/>
                </a:solidFill>
                <a:latin typeface="PT Sans"/>
              </a:rPr>
              <a:t>= 20 − 6
= 14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56759" y="4663440"/>
            <a:ext cx="1417320" cy="50292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Туура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56959" y="4663440"/>
            <a:ext cx="1417320" cy="50292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Ката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5320" y="534924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Оңдо: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71159" y="573328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135112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72272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09432" y="2331720"/>
            <a:ext cx="3075432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40 − 10 − 5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09432" y="2926080"/>
            <a:ext cx="307543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0" i="0">
                <a:solidFill>
                  <a:srgbClr val="1F2430"/>
                </a:solidFill>
                <a:latin typeface="PT Sans"/>
              </a:rPr>
              <a:t>= 40 − 5
= 35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09432" y="4663440"/>
            <a:ext cx="1417320" cy="50292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Туура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09632" y="4663440"/>
            <a:ext cx="1417320" cy="50292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Ката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7991" y="534924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Оңдо: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23831" y="5733288"/>
            <a:ext cx="225247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2-сабак: кашаа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 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2-сабак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325880"/>
            <a:ext cx="1132941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4800" b="1" i="0">
                <a:solidFill>
                  <a:srgbClr val="1D3557"/>
                </a:solidFill>
                <a:latin typeface="PT Sans"/>
              </a:rPr>
              <a:t>2-сабак: кашаа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14884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0">
                <a:solidFill>
                  <a:srgbClr val="4A5A70"/>
                </a:solidFill>
                <a:latin typeface="PT Sans"/>
              </a:rPr>
              <a:t>1-сабакта: адегенде × жана ÷, анан + жана −, солдон оңго.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880360"/>
            <a:ext cx="667512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2926080"/>
            <a:ext cx="621792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D3557"/>
                </a:solidFill>
                <a:latin typeface="PT Sans"/>
              </a:rPr>
              <a:t>Бүгүн мен…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8" y="3547872"/>
            <a:ext cx="292608" cy="292608"/>
          </a:xfrm>
          <a:prstGeom prst="rect">
            <a:avLst/>
          </a:prstGeom>
          <a:noFill/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61288" y="3474720"/>
            <a:ext cx="576072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Кашаа бар туюнтмада адегенде кашаанын ичин эсептейм.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8" y="4370832"/>
            <a:ext cx="292608" cy="292608"/>
          </a:xfrm>
          <a:prstGeom prst="rect">
            <a:avLst/>
          </a:prstGeom>
          <a:noFill/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61288" y="4297680"/>
            <a:ext cx="576072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Кашаа маанини качан өзгөртөрүн түшүндүрө алам.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4088" y="5193792"/>
            <a:ext cx="292608" cy="292608"/>
          </a:xfrm>
          <a:prstGeom prst="rect">
            <a:avLst/>
          </a:prstGeom>
          <a:noFill/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61288" y="5120640"/>
            <a:ext cx="576072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Маселеге тилке чийип, кашаа менен бир туюнтма жазам.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33488" y="2880360"/>
            <a:ext cx="4425696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62088" y="2926080"/>
            <a:ext cx="4014216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D3557"/>
                </a:solidFill>
                <a:latin typeface="PT Sans"/>
              </a:rPr>
              <a:t>Жупка керек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62088" y="3474720"/>
            <a:ext cx="4014216" cy="2468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7 кагаз чөйчөк же табак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20 капкак, таш же бурчак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чакмак дептер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мини-такта (же дептер барагы)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Кашаа эмне үчүн керек?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 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2-деңгээл · Кызыктыруу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Эки баланын ар бири 1 сүт (40 сом) жана 1 нан (20 сом) алды. Баары канча?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2286000"/>
            <a:ext cx="14630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1-бала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0" y="2286000"/>
            <a:ext cx="2194560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40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2286000"/>
            <a:ext cx="1097280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" y="2971800"/>
            <a:ext cx="14630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2-бала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0" y="2971800"/>
            <a:ext cx="2194560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40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2971800"/>
            <a:ext cx="1097280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2240280"/>
            <a:ext cx="585216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Бир баланын сатып алганы: 40 + 20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2200" b="1" i="0">
                <a:solidFill>
                  <a:srgbClr val="1F2430"/>
                </a:solidFill>
                <a:latin typeface="PT Sans"/>
              </a:rPr>
              <a:t>Эки бала: 2 × (40 + 20)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3931920"/>
            <a:ext cx="5550408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3931920"/>
            <a:ext cx="3474720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2 × 40 + 20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87368" y="3931920"/>
            <a:ext cx="1645920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3200" b="1" i="0">
                <a:solidFill>
                  <a:srgbClr val="6B7280"/>
                </a:solidFill>
                <a:latin typeface="PT Sans"/>
              </a:rPr>
              <a:t>= 100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8776" y="3931920"/>
            <a:ext cx="5550408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3096" y="3931920"/>
            <a:ext cx="3474720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2 × (40 + 20)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66376" y="3931920"/>
            <a:ext cx="1645920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3200" b="1" i="0">
                <a:solidFill>
                  <a:srgbClr val="24418C"/>
                </a:solidFill>
                <a:latin typeface="PT Sans"/>
              </a:rPr>
              <a:t>= 120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" y="534924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Кашаа «муну биринчи эсепте» дейт.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Кашаа менен жана кашаасыз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 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2-деңгээл · Изилдөө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26/39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3C · Кызматташуу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225296"/>
            <a:ext cx="5550408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1280160"/>
            <a:ext cx="5550408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200" b="1" i="0">
                <a:solidFill>
                  <a:srgbClr val="1D3557"/>
                </a:solidFill>
                <a:latin typeface="PT Sans"/>
              </a:rPr>
              <a:t>3 + 4 × 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9768" y="196596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9768" y="4343400"/>
            <a:ext cx="5550408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4418C"/>
                </a:solidFill>
                <a:latin typeface="PT Sans"/>
              </a:rPr>
              <a:t>= 3 + 8 = 11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1225296"/>
            <a:ext cx="5550408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8776" y="1280160"/>
            <a:ext cx="5550408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200" b="1" i="0">
                <a:solidFill>
                  <a:srgbClr val="1D3557"/>
                </a:solidFill>
                <a:latin typeface="PT Sans"/>
              </a:rPr>
              <a:t>(3 + 4) × 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08776" y="196596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08776" y="4343400"/>
            <a:ext cx="5550408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4418C"/>
                </a:solidFill>
                <a:latin typeface="PT Sans"/>
              </a:rPr>
              <a:t>= 7 × 2 = 14</a:t>
            </a:r>
          </a:p>
        </p:txBody>
      </p:sp>
      <p:sp>
        <p:nvSpPr>
          <p:cNvPr id="19" name="Oval 18"/>
          <p:cNvSpPr/>
          <p:nvPr/>
        </p:nvSpPr>
        <p:spPr>
          <a:xfrm>
            <a:off x="749808" y="2350008"/>
            <a:ext cx="256032" cy="256032"/>
          </a:xfrm>
          <a:prstGeom prst="ellipse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1496" y="2421696"/>
            <a:ext cx="112654" cy="112654"/>
          </a:xfrm>
          <a:prstGeom prst="ellipse">
            <a:avLst/>
          </a:prstGeom>
          <a:noFill/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69848" y="2350008"/>
            <a:ext cx="256032" cy="256032"/>
          </a:xfrm>
          <a:prstGeom prst="ellipse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1536" y="2421696"/>
            <a:ext cx="112654" cy="112654"/>
          </a:xfrm>
          <a:prstGeom prst="ellipse">
            <a:avLst/>
          </a:prstGeom>
          <a:noFill/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89888" y="2350008"/>
            <a:ext cx="256032" cy="256032"/>
          </a:xfrm>
          <a:prstGeom prst="ellipse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61576" y="2421696"/>
            <a:ext cx="112654" cy="112654"/>
          </a:xfrm>
          <a:prstGeom prst="ellipse">
            <a:avLst/>
          </a:prstGeom>
          <a:noFill/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Manual Operation 24"/>
          <p:cNvSpPr/>
          <p:nvPr/>
        </p:nvSpPr>
        <p:spPr>
          <a:xfrm>
            <a:off x="2011679" y="2240280"/>
            <a:ext cx="914400" cy="667512"/>
          </a:xfrm>
          <a:prstGeom prst="flowChartManualOperation">
            <a:avLst/>
          </a:prstGeom>
          <a:noFill/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180844" y="2350008"/>
            <a:ext cx="256032" cy="256032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252532" y="2421696"/>
            <a:ext cx="112654" cy="112654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00884" y="2350008"/>
            <a:ext cx="256032" cy="256032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572572" y="2421696"/>
            <a:ext cx="112654" cy="112654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Manual Operation 29"/>
          <p:cNvSpPr/>
          <p:nvPr/>
        </p:nvSpPr>
        <p:spPr>
          <a:xfrm>
            <a:off x="3063239" y="2240280"/>
            <a:ext cx="914400" cy="667512"/>
          </a:xfrm>
          <a:prstGeom prst="flowChartManualOperation">
            <a:avLst/>
          </a:prstGeom>
          <a:noFill/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232403" y="2350008"/>
            <a:ext cx="256032" cy="256032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04092" y="2421696"/>
            <a:ext cx="112654" cy="112654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52444" y="2350008"/>
            <a:ext cx="256032" cy="256032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624132" y="2421696"/>
            <a:ext cx="112654" cy="112654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Manual Operation 34"/>
          <p:cNvSpPr/>
          <p:nvPr/>
        </p:nvSpPr>
        <p:spPr>
          <a:xfrm>
            <a:off x="2011679" y="3136392"/>
            <a:ext cx="914400" cy="667512"/>
          </a:xfrm>
          <a:prstGeom prst="flowChartManualOperation">
            <a:avLst/>
          </a:prstGeom>
          <a:noFill/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180844" y="3246120"/>
            <a:ext cx="256032" cy="256032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252532" y="3317808"/>
            <a:ext cx="112654" cy="112654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500884" y="3246120"/>
            <a:ext cx="256032" cy="256032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572572" y="3317808"/>
            <a:ext cx="112654" cy="112654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Manual Operation 39"/>
          <p:cNvSpPr/>
          <p:nvPr/>
        </p:nvSpPr>
        <p:spPr>
          <a:xfrm>
            <a:off x="3063239" y="3136392"/>
            <a:ext cx="914400" cy="667512"/>
          </a:xfrm>
          <a:prstGeom prst="flowChartManualOperation">
            <a:avLst/>
          </a:prstGeom>
          <a:noFill/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232403" y="3246120"/>
            <a:ext cx="256032" cy="256032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304092" y="3317808"/>
            <a:ext cx="112654" cy="112654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552444" y="3246120"/>
            <a:ext cx="256032" cy="256032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624132" y="3317808"/>
            <a:ext cx="112654" cy="112654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Manual Operation 44"/>
          <p:cNvSpPr/>
          <p:nvPr/>
        </p:nvSpPr>
        <p:spPr>
          <a:xfrm>
            <a:off x="6483096" y="2148840"/>
            <a:ext cx="841247" cy="630936"/>
          </a:xfrm>
          <a:prstGeom prst="flowChartManualOperation">
            <a:avLst/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652259" y="2258568"/>
            <a:ext cx="219456" cy="219456"/>
          </a:xfrm>
          <a:prstGeom prst="ellipse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713707" y="2320015"/>
            <a:ext cx="96560" cy="96560"/>
          </a:xfrm>
          <a:prstGeom prst="ellipse">
            <a:avLst/>
          </a:prstGeom>
          <a:noFill/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935723" y="2258568"/>
            <a:ext cx="219456" cy="219456"/>
          </a:xfrm>
          <a:prstGeom prst="ellipse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997171" y="2320015"/>
            <a:ext cx="96560" cy="96560"/>
          </a:xfrm>
          <a:prstGeom prst="ellipse">
            <a:avLst/>
          </a:prstGeom>
          <a:noFill/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Manual Operation 49"/>
          <p:cNvSpPr/>
          <p:nvPr/>
        </p:nvSpPr>
        <p:spPr>
          <a:xfrm>
            <a:off x="7461504" y="2148840"/>
            <a:ext cx="841247" cy="630936"/>
          </a:xfrm>
          <a:prstGeom prst="flowChartManualOperation">
            <a:avLst/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630668" y="2258568"/>
            <a:ext cx="219456" cy="219456"/>
          </a:xfrm>
          <a:prstGeom prst="ellipse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692115" y="2320015"/>
            <a:ext cx="96560" cy="96560"/>
          </a:xfrm>
          <a:prstGeom prst="ellipse">
            <a:avLst/>
          </a:prstGeom>
          <a:noFill/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914132" y="2258568"/>
            <a:ext cx="219456" cy="219456"/>
          </a:xfrm>
          <a:prstGeom prst="ellipse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975579" y="2320015"/>
            <a:ext cx="96560" cy="96560"/>
          </a:xfrm>
          <a:prstGeom prst="ellipse">
            <a:avLst/>
          </a:prstGeom>
          <a:noFill/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Manual Operation 54"/>
          <p:cNvSpPr/>
          <p:nvPr/>
        </p:nvSpPr>
        <p:spPr>
          <a:xfrm>
            <a:off x="8439912" y="2148840"/>
            <a:ext cx="841247" cy="630936"/>
          </a:xfrm>
          <a:prstGeom prst="flowChartManualOperation">
            <a:avLst/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609076" y="2258568"/>
            <a:ext cx="219456" cy="219456"/>
          </a:xfrm>
          <a:prstGeom prst="ellipse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670523" y="2320015"/>
            <a:ext cx="96560" cy="96560"/>
          </a:xfrm>
          <a:prstGeom prst="ellipse">
            <a:avLst/>
          </a:prstGeom>
          <a:noFill/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892540" y="2258568"/>
            <a:ext cx="219456" cy="219456"/>
          </a:xfrm>
          <a:prstGeom prst="ellipse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953987" y="2320015"/>
            <a:ext cx="96560" cy="96560"/>
          </a:xfrm>
          <a:prstGeom prst="ellipse">
            <a:avLst/>
          </a:prstGeom>
          <a:noFill/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Manual Operation 59"/>
          <p:cNvSpPr/>
          <p:nvPr/>
        </p:nvSpPr>
        <p:spPr>
          <a:xfrm>
            <a:off x="9418319" y="2148840"/>
            <a:ext cx="841247" cy="630936"/>
          </a:xfrm>
          <a:prstGeom prst="flowChartManualOperation">
            <a:avLst/>
          </a:prstGeom>
          <a:noFill/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587484" y="2258568"/>
            <a:ext cx="219456" cy="219456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9648931" y="2320015"/>
            <a:ext cx="96560" cy="96560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9870948" y="2258568"/>
            <a:ext cx="219456" cy="219456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9932395" y="2320015"/>
            <a:ext cx="96560" cy="96560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Manual Operation 64"/>
          <p:cNvSpPr/>
          <p:nvPr/>
        </p:nvSpPr>
        <p:spPr>
          <a:xfrm>
            <a:off x="6483096" y="3008376"/>
            <a:ext cx="841247" cy="630936"/>
          </a:xfrm>
          <a:prstGeom prst="flowChartManualOperation">
            <a:avLst/>
          </a:prstGeom>
          <a:noFill/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652259" y="3118104"/>
            <a:ext cx="219456" cy="219456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713707" y="3179551"/>
            <a:ext cx="96560" cy="96560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935723" y="3118104"/>
            <a:ext cx="219456" cy="219456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997171" y="3179551"/>
            <a:ext cx="96560" cy="96560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Manual Operation 69"/>
          <p:cNvSpPr/>
          <p:nvPr/>
        </p:nvSpPr>
        <p:spPr>
          <a:xfrm>
            <a:off x="7461504" y="3008376"/>
            <a:ext cx="841247" cy="630936"/>
          </a:xfrm>
          <a:prstGeom prst="flowChartManualOperation">
            <a:avLst/>
          </a:prstGeom>
          <a:noFill/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630668" y="3118104"/>
            <a:ext cx="219456" cy="219456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692115" y="3179551"/>
            <a:ext cx="96560" cy="96560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914132" y="3118104"/>
            <a:ext cx="219456" cy="219456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975579" y="3179551"/>
            <a:ext cx="96560" cy="96560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Manual Operation 74"/>
          <p:cNvSpPr/>
          <p:nvPr/>
        </p:nvSpPr>
        <p:spPr>
          <a:xfrm>
            <a:off x="8439912" y="3008376"/>
            <a:ext cx="841247" cy="630936"/>
          </a:xfrm>
          <a:prstGeom prst="flowChartManualOperation">
            <a:avLst/>
          </a:prstGeom>
          <a:noFill/>
          <a:ln w="190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609076" y="3118104"/>
            <a:ext cx="219456" cy="219456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670523" y="3179551"/>
            <a:ext cx="96560" cy="96560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892540" y="3118104"/>
            <a:ext cx="219456" cy="219456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953987" y="3179551"/>
            <a:ext cx="96560" cy="96560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208776" y="3886200"/>
            <a:ext cx="555040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6B7280"/>
                </a:solidFill>
                <a:latin typeface="PT Sans"/>
              </a:rPr>
              <a:t>3 чөйчөк + 4 чөйчөк = 7 чөйчөк, ар биринде 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9768" y="3886200"/>
            <a:ext cx="555040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6B7280"/>
                </a:solidFill>
                <a:latin typeface="PT Sans"/>
              </a:rPr>
              <a:t>3 капкак + 4 чөйчөк, ар биринде 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29768" y="548640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Кашаа: адегенде (3 + 4) чөйчөктү кошобуз, анан көбөйтөбүз.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К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Эреже: адегенде кашаа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 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2-деңгээл · Эреже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27/39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71600"/>
            <a:ext cx="359359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06524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2377440"/>
            <a:ext cx="341071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3063240"/>
            <a:ext cx="341071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Кашаа ( 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566160"/>
            <a:ext cx="3319272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адегенде кашаанын ичи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23360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297680" y="1371600"/>
            <a:ext cx="359359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74436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377440"/>
            <a:ext cx="341071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БөКө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063240"/>
            <a:ext cx="341071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Бөлүү · Көбөйтүү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566160"/>
            <a:ext cx="3319272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солдон оңго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91272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165592" y="1371600"/>
            <a:ext cx="359359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42348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2" y="2377440"/>
            <a:ext cx="341071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КоКе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2" y="3063240"/>
            <a:ext cx="341071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Кошуу · Кемитүү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3566160"/>
            <a:ext cx="3319272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солдон оңго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74519" y="4709160"/>
            <a:ext cx="8449056" cy="758952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A84400"/>
                </a:solidFill>
                <a:latin typeface="PT Sans"/>
              </a:rPr>
              <a:t>Ка → БөКө → КоКе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Кадам-кадам менен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 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2-деңгээл · Мисал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28/39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Эсепте: 50 − 2 × (12 + 8)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103120"/>
            <a:ext cx="23774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Мен көрсөтөм</a:t>
            </a:r>
          </a:p>
        </p:txBody>
      </p:sp>
      <p:sp>
        <p:nvSpPr>
          <p:cNvPr id="13" name="Oval 12"/>
          <p:cNvSpPr/>
          <p:nvPr/>
        </p:nvSpPr>
        <p:spPr>
          <a:xfrm>
            <a:off x="429768" y="274320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19" y="2724912"/>
            <a:ext cx="429768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Кашаанын ичи: 12 + 8 = 20.</a:t>
            </a:r>
          </a:p>
        </p:txBody>
      </p:sp>
      <p:sp>
        <p:nvSpPr>
          <p:cNvPr id="15" name="Oval 14"/>
          <p:cNvSpPr/>
          <p:nvPr/>
        </p:nvSpPr>
        <p:spPr>
          <a:xfrm>
            <a:off x="429768" y="342900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19" y="3410712"/>
            <a:ext cx="429768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Көбөйтүү: 2 × 20 = 40.</a:t>
            </a:r>
          </a:p>
        </p:txBody>
      </p:sp>
      <p:sp>
        <p:nvSpPr>
          <p:cNvPr id="17" name="Oval 16"/>
          <p:cNvSpPr/>
          <p:nvPr/>
        </p:nvSpPr>
        <p:spPr>
          <a:xfrm>
            <a:off x="429768" y="411480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19" y="4096512"/>
            <a:ext cx="429768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Кемитүү: 50 − 40 = 10.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194560"/>
            <a:ext cx="539495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50 − 2 × (12 + 8)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2761488"/>
            <a:ext cx="539495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50 − 2 × 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8520" y="2761488"/>
            <a:ext cx="822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( 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3328415"/>
            <a:ext cx="539495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50 − 40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18520" y="3328415"/>
            <a:ext cx="822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895344"/>
            <a:ext cx="539495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= 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3895344"/>
            <a:ext cx="822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7" y="5074920"/>
            <a:ext cx="658368" cy="45720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12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71016" y="5074920"/>
            <a:ext cx="438912" cy="45720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09928" y="5074920"/>
            <a:ext cx="658368" cy="45720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12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68296" y="5074920"/>
            <a:ext cx="438912" cy="45720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07208" y="5074920"/>
            <a:ext cx="548640" cy="45720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612647" y="4892040"/>
            <a:ext cx="0" cy="13716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3355848" y="4892040"/>
            <a:ext cx="0" cy="13716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12647" y="4892040"/>
            <a:ext cx="2743201" cy="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12647" y="4480559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1D3557"/>
                </a:solidFill>
                <a:latin typeface="PT Sans"/>
              </a:rPr>
              <a:t>50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12647" y="5577840"/>
            <a:ext cx="0" cy="137160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807208" y="5577840"/>
            <a:ext cx="0" cy="137160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12647" y="5715000"/>
            <a:ext cx="2194561" cy="0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38327" y="576072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2 × (12 + 8)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760720" y="4983480"/>
            <a:ext cx="5989320" cy="56692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700" b="1">
                <a:solidFill>
                  <a:srgbClr val="A84400"/>
                </a:solidFill>
                <a:latin typeface="PT Sans"/>
              </a:rPr>
              <a:t>Болжол: 10го жакынбы, 100гө? → 10го ✓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Тилкени кашаа менен жаз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 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2-деңгээл · Сүрөттөн санга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29/39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Ар бир тилке моделине кашаасы бар туюнтма жаз жана эсепте.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6928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67128" y="4956048"/>
            <a:ext cx="170383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7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18488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82439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19600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5320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19800" y="4956048"/>
            <a:ext cx="170383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465320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71159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35112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72272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7991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872471" y="4956048"/>
            <a:ext cx="170383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317991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23831" y="5641848"/>
            <a:ext cx="225247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978407" y="2651760"/>
            <a:ext cx="1280160" cy="50292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58568" y="2651760"/>
            <a:ext cx="640080" cy="50292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78407" y="3291839"/>
            <a:ext cx="1280160" cy="50292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58568" y="3291839"/>
            <a:ext cx="640080" cy="50292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90088" y="2834640"/>
            <a:ext cx="91440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D3557"/>
                </a:solidFill>
                <a:latin typeface="PT Sans"/>
              </a:rPr>
              <a:t>? баары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7" y="388620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2 бирдей катар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02480" y="2926080"/>
            <a:ext cx="685800" cy="50292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15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88280" y="2926080"/>
            <a:ext cx="685800" cy="50292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74080" y="2926080"/>
            <a:ext cx="685800" cy="50292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59880" y="2926080"/>
            <a:ext cx="685800" cy="50292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4602480" y="2743200"/>
            <a:ext cx="0" cy="13716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7345680" y="2743200"/>
            <a:ext cx="0" cy="13716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602480" y="2743200"/>
            <a:ext cx="2743200" cy="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602480" y="233172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60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288280" y="3474720"/>
            <a:ext cx="0" cy="137159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345680" y="3474720"/>
            <a:ext cx="0" cy="137159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288280" y="3611879"/>
            <a:ext cx="2057400" cy="0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945380" y="3657599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3 бирдей бөлүк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55152" y="2606040"/>
            <a:ext cx="1600200" cy="50292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25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055352" y="2606040"/>
            <a:ext cx="960120" cy="50292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15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55152" y="3429000"/>
            <a:ext cx="640080" cy="50292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95231" y="3429000"/>
            <a:ext cx="640080" cy="50292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735311" y="3429000"/>
            <a:ext cx="640080" cy="50292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375391" y="3429000"/>
            <a:ext cx="640080" cy="50292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55152" y="3108960"/>
            <a:ext cx="2743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ушуну 4кө бөлөбүз: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455152" y="3977639"/>
            <a:ext cx="0" cy="137161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095231" y="3977639"/>
            <a:ext cx="0" cy="137161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8455152" y="4114800"/>
            <a:ext cx="640079" cy="0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403591" y="416052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ыкма: кашааны ачабыз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 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Оозеки ыкма · Бөлүштүрүү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30/39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225296"/>
            <a:ext cx="5550408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08776" y="1225296"/>
            <a:ext cx="5550408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7" y="1280160"/>
            <a:ext cx="52120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 × (40 + 20)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" y="1874519"/>
            <a:ext cx="2377440" cy="45720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40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64408" y="1874519"/>
            <a:ext cx="1188720" cy="45720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20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" y="2441448"/>
            <a:ext cx="2377440" cy="45720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40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64408" y="2441448"/>
            <a:ext cx="1188720" cy="45720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7" y="3108960"/>
            <a:ext cx="521208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= 2 × 40 + 2 × 20</a:t>
            </a:r>
          </a:p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24418C"/>
                </a:solidFill>
                <a:latin typeface="PT Sans"/>
              </a:rPr>
              <a:t>= 80 + 40 = 120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6" y="1280160"/>
            <a:ext cx="52120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5 × 18 = 5 × 20 − 5 × 2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28816" y="1828800"/>
            <a:ext cx="0" cy="109728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711696" y="1828800"/>
            <a:ext cx="0" cy="109728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894576" y="1828800"/>
            <a:ext cx="0" cy="109728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077456" y="1828800"/>
            <a:ext cx="0" cy="109728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260336" y="1828800"/>
            <a:ext cx="0" cy="109728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43216" y="1828800"/>
            <a:ext cx="0" cy="109728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626096" y="1828800"/>
            <a:ext cx="0" cy="109728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808975" y="1828800"/>
            <a:ext cx="0" cy="109728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991856" y="1828800"/>
            <a:ext cx="0" cy="109728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174736" y="1828800"/>
            <a:ext cx="0" cy="109728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357616" y="1828800"/>
            <a:ext cx="0" cy="109728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540496" y="1828800"/>
            <a:ext cx="0" cy="109728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723376" y="1828800"/>
            <a:ext cx="0" cy="109728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906256" y="1828800"/>
            <a:ext cx="0" cy="109728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089136" y="1828800"/>
            <a:ext cx="0" cy="109728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272016" y="1828800"/>
            <a:ext cx="0" cy="109728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454896" y="1828800"/>
            <a:ext cx="0" cy="109728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637776" y="1828800"/>
            <a:ext cx="0" cy="109728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820656" y="1828800"/>
            <a:ext cx="0" cy="109728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0003536" y="1828800"/>
            <a:ext cx="0" cy="109728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0186416" y="1828800"/>
            <a:ext cx="0" cy="109728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0369296" y="1828800"/>
            <a:ext cx="0" cy="109728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0552176" y="1828800"/>
            <a:ext cx="0" cy="109728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528816" y="1828800"/>
            <a:ext cx="4023360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528816" y="2011680"/>
            <a:ext cx="4023360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528816" y="2194560"/>
            <a:ext cx="4023360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528816" y="2377440"/>
            <a:ext cx="4023360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528816" y="2560320"/>
            <a:ext cx="4023360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6528816" y="2743200"/>
            <a:ext cx="4023360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528816" y="2926080"/>
            <a:ext cx="4023360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6711696" y="201168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94576" y="201168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77456" y="201168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260336" y="201168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443216" y="201168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26096" y="201168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08975" y="201168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991856" y="201168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174736" y="201168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357616" y="201168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540496" y="201168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723376" y="201168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906256" y="201168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089136" y="201168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272016" y="201168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454896" y="201168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637776" y="201168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820656" y="201168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003536" y="2011680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186416" y="2011680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711696" y="219456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894576" y="219456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077456" y="219456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260336" y="219456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443216" y="219456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626096" y="219456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808975" y="219456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991856" y="219456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174736" y="219456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357616" y="219456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540496" y="219456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723376" y="219456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906256" y="219456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089136" y="219456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272016" y="219456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454896" y="219456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637776" y="219456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820656" y="219456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003536" y="2194560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186416" y="2194560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711696" y="237744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894576" y="237744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077456" y="237744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260336" y="237744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443216" y="237744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626096" y="237744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808975" y="237744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991856" y="237744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174736" y="237744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357616" y="237744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540496" y="237744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23376" y="237744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06256" y="237744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089136" y="237744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72016" y="237744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454896" y="237744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637776" y="237744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820656" y="237744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0003536" y="2377440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0186416" y="2377440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711696" y="256032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894576" y="256032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7077456" y="256032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7260336" y="256032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7443216" y="256032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7626096" y="256032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7808975" y="256032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7991856" y="256032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174736" y="256032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357616" y="256032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8540496" y="256032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723376" y="256032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8906256" y="256032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9089136" y="256032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9272016" y="256032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9454896" y="256032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9637776" y="256032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9820656" y="256032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0003536" y="2560320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10186416" y="2560320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6711696" y="274320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6894576" y="274320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7077456" y="274320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7260336" y="274320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7443216" y="274320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7626096" y="274320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7808975" y="274320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7991856" y="274320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8174736" y="274320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8357616" y="274320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8540496" y="274320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8723376" y="274320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8906256" y="274320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9089136" y="274320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9272016" y="274320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9454896" y="274320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9637776" y="274320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9820656" y="2743200"/>
            <a:ext cx="182880" cy="18288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10003536" y="2743200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10186416" y="2743200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391656" y="3017520"/>
            <a:ext cx="521208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6B7280"/>
                </a:solidFill>
                <a:latin typeface="PT Sans"/>
              </a:rPr>
              <a:t>чакмак дептерде: 5 катар, 20дан,</a:t>
            </a:r>
          </a:p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6B7280"/>
                </a:solidFill>
                <a:latin typeface="PT Sans"/>
              </a:rPr>
              <a:t>ар катардан 2 чакмак алабыз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2400" b="1" i="0">
                <a:solidFill>
                  <a:srgbClr val="24418C"/>
                </a:solidFill>
                <a:latin typeface="PT Sans"/>
              </a:rPr>
              <a:t>= 100 − 10 = 90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9768" y="4572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1">
                <a:solidFill>
                  <a:srgbClr val="6B7280"/>
                </a:solidFill>
                <a:latin typeface="PT Sans"/>
              </a:rPr>
              <a:t>Оозеки эсепте. Кайсы жолду тандадың? Эмне үчүн?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429768" y="5029200"/>
            <a:ext cx="2660904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1F2430"/>
                </a:solidFill>
                <a:latin typeface="PT Sans"/>
              </a:rPr>
              <a:t>3 × 21 = ?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3319272" y="5029200"/>
            <a:ext cx="2660904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1F2430"/>
                </a:solidFill>
                <a:latin typeface="PT Sans"/>
              </a:rPr>
              <a:t>4 × 19 = ?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6208776" y="5029200"/>
            <a:ext cx="2660904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1F2430"/>
                </a:solidFill>
                <a:latin typeface="PT Sans"/>
              </a:rPr>
              <a:t>6 × 12 = ?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9098280" y="5029200"/>
            <a:ext cx="2660904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1F2430"/>
                </a:solidFill>
                <a:latin typeface="PT Sans"/>
              </a:rPr>
              <a:t>5 × 98 = ?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Ким туура?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 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2-деңгээл · Талдоо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31/39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(6 + 4) × 3 =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429768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29768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Айбек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4 × 3 = 12
6 + 12 = 18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6208776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208776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Нурай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3096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6 + 4 = 10
10 × 3 = 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" y="534924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Ким туура? Катаны тап.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Кел, текшерип көрөлү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 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2-деңгээл · Машыгуу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32/39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3C · Кызматташуу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Мини-тактага эсептеп жаз.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7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(5 + 3) × 4 =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91656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40 ÷ (2 + 6) =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7 × (10 − 4) =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91656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86016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(9 − 3) × (2 + 5) =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7007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36 ÷ (3 × 2) =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8776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391656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86016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50 − (6 + 3) × 3 =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Кашаа кой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 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2-деңгээл · Талдоо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33/39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Барабардык туура болушу үчүн кашаа кой. Тандап, текшер!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2647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7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2 + 3 × 4 = 20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91656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24 ÷ 4 + 2 = 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12647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10 − 4 − 2 = 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91656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86016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5 × 6 − 2 = 20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Класстагы топтор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 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Тилке машыгуусу 3 · көп кадам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34/39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Класста 28 окуучу бар. 4 окуучу ооруп калды. Калгандары 3 бирдей топко бөлүндү. Ар бир топто канча?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" y="2103120"/>
            <a:ext cx="31089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Эвристика: чийме чий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3246120"/>
            <a:ext cx="731520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3246120"/>
            <a:ext cx="1463040" cy="54864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3246120"/>
            <a:ext cx="1463040" cy="54864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79" y="3246120"/>
            <a:ext cx="1463040" cy="54864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2926080" y="3063240"/>
            <a:ext cx="0" cy="13716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8046719" y="3063240"/>
            <a:ext cx="0" cy="13716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926080" y="3063240"/>
            <a:ext cx="5120639" cy="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114800" y="265176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28 окуучу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657600" y="3840480"/>
            <a:ext cx="0" cy="137160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046719" y="3840480"/>
            <a:ext cx="0" cy="137160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57600" y="3977640"/>
            <a:ext cx="4389119" cy="0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480559" y="402336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3 бирдей топ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466344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749039" y="5047488"/>
            <a:ext cx="530352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194560" y="534924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200400" y="5733288"/>
            <a:ext cx="5852160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Чыгуу билети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 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Баалоо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35/39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8503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2648" y="145389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225296"/>
            <a:ext cx="8046720" cy="8503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12 + 8 ÷ 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0" y="1472184"/>
            <a:ext cx="1737360" cy="347472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Блум: Колдонуу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2203704"/>
            <a:ext cx="11329416" cy="8503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2648" y="243230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203704"/>
            <a:ext cx="8046720" cy="8503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(12 + 8) ÷ 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84080" y="2450592"/>
            <a:ext cx="1737360" cy="347472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Блум: Колдонуу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182112"/>
            <a:ext cx="11329416" cy="8503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12648" y="3410712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182112"/>
            <a:ext cx="8046720" cy="8503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Кашаа кой: 3 + 7 × 2 = 20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84080" y="3429000"/>
            <a:ext cx="1737360" cy="347472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Блум: Талдоо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" y="4160520"/>
            <a:ext cx="11329416" cy="8503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12648" y="438912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160520"/>
            <a:ext cx="8046720" cy="8503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Эмне үчүн 6 + 4 × 2 жообу 20 эмес? Түшүндүр.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84080" y="4407408"/>
            <a:ext cx="1737360" cy="347472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Блум: Баалоо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5138928"/>
            <a:ext cx="11329416" cy="8503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12648" y="5367528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138928"/>
            <a:ext cx="8046720" cy="8503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Тилке модели чий: 3 × 10 + 5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84080" y="5385816"/>
            <a:ext cx="1737360" cy="347472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Блум: Түзүү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Бүгүн эмне үйрөндүк?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 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36/39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225296"/>
            <a:ext cx="11329416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1280160"/>
            <a:ext cx="1078077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13" name="Oval 12"/>
          <p:cNvSpPr/>
          <p:nvPr/>
        </p:nvSpPr>
        <p:spPr>
          <a:xfrm>
            <a:off x="704088" y="1920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1901952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Эрежени өз сөзүң менен айт.</a:t>
            </a:r>
          </a:p>
        </p:txBody>
      </p:sp>
      <p:sp>
        <p:nvSpPr>
          <p:cNvPr id="15" name="Oval 14"/>
          <p:cNvSpPr/>
          <p:nvPr/>
        </p:nvSpPr>
        <p:spPr>
          <a:xfrm>
            <a:off x="704088" y="2542032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523744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Кайсы ыкма жакты: капкак, тилке модели же сандар?</a:t>
            </a:r>
          </a:p>
        </p:txBody>
      </p:sp>
      <p:sp>
        <p:nvSpPr>
          <p:cNvPr id="17" name="Oval 16"/>
          <p:cNvSpPr/>
          <p:nvPr/>
        </p:nvSpPr>
        <p:spPr>
          <a:xfrm>
            <a:off x="704088" y="316382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145536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Кашаа эмне үчүн керек? Өз мисалыңды айт.</a:t>
            </a:r>
          </a:p>
        </p:txBody>
      </p:sp>
      <p:sp>
        <p:nvSpPr>
          <p:cNvPr id="19" name="Oval 18"/>
          <p:cNvSpPr/>
          <p:nvPr/>
        </p:nvSpPr>
        <p:spPr>
          <a:xfrm>
            <a:off x="704088" y="378561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767328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Бүгүн кайсы катадан үйрөндүң?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" y="461772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1">
                <a:solidFill>
                  <a:srgbClr val="6B7280"/>
                </a:solidFill>
                <a:latin typeface="PT Sans"/>
              </a:rPr>
              <a:t>Өзүңдү баала: колуңду көтөр.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8407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007A5A"/>
                </a:solidFill>
                <a:latin typeface="PT Sans"/>
              </a:rPr>
              <a:t>Түшүндүм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360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Дагы машыгам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936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Жардам керек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Кыскача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 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Кыскача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37/39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61872"/>
            <a:ext cx="11329416" cy="886968"/>
          </a:xfrm>
          <a:prstGeom prst="roundRect">
            <a:avLst>
              <a:gd name="adj" fmla="val 207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2648" y="150876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" y="1261872"/>
            <a:ext cx="7863840" cy="8869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Адегенде кашаанын ичи.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1261872"/>
            <a:ext cx="2651760" cy="8869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( 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2258568"/>
            <a:ext cx="11329416" cy="886968"/>
          </a:xfrm>
          <a:prstGeom prst="roundRect">
            <a:avLst>
              <a:gd name="adj" fmla="val 207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2648" y="250545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2258568"/>
            <a:ext cx="7863840" cy="8869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Анан көбөйтүү жана бөлүү, солдон оңго.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258568"/>
            <a:ext cx="2651760" cy="8869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× 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255264"/>
            <a:ext cx="11329416" cy="886968"/>
          </a:xfrm>
          <a:prstGeom prst="roundRect">
            <a:avLst>
              <a:gd name="adj" fmla="val 207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12648" y="3502152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" y="3255264"/>
            <a:ext cx="7863840" cy="8869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Анан кошуу жана кемитүү, солдон оңго.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255264"/>
            <a:ext cx="2651760" cy="8869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+ 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" y="4251960"/>
            <a:ext cx="11329416" cy="886968"/>
          </a:xfrm>
          <a:prstGeom prst="roundRect">
            <a:avLst>
              <a:gd name="adj" fmla="val 207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12648" y="4498848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" y="4251960"/>
            <a:ext cx="7863840" cy="8869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 + 4 × 2 = 3 + 8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4251960"/>
            <a:ext cx="2651760" cy="8869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11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74519" y="5358384"/>
            <a:ext cx="8449056" cy="758952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A84400"/>
                </a:solidFill>
                <a:latin typeface="PT Sans"/>
              </a:rPr>
              <a:t>Ка → БөКө → КоКе!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Кийинки темага качан өтөбүз?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 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Мугалим үчүн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38/39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91440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71016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A84400"/>
                </a:solidFill>
                <a:latin typeface="PT Sans"/>
              </a:rPr>
              <a:t>1-сабак: төрт амал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8" y="1271016"/>
            <a:ext cx="7854696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Чыгуу билети Б1: класстын кеминде 80%ы 3 суроонун 2сине туура + чечүүчү суроо Ч2: туура жооп (32) → 2-сабак: кашаа.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" y="2249424"/>
            <a:ext cx="11329416" cy="91440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295144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A84400"/>
                </a:solidFill>
                <a:latin typeface="PT Sans"/>
              </a:rPr>
              <a:t>2-сабак: кашаа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1608" y="2295144"/>
            <a:ext cx="7854696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Чыгуу билети Б3: класстын кеминде 80%ы 3 суроонун 2сине туура + чечүүчү суроо Ч4: туура жооп (18) → 4-класстын блок тести.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410712"/>
            <a:ext cx="3624072" cy="27340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7" y="3502152"/>
            <a:ext cx="325831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007A5A"/>
                </a:solidFill>
                <a:latin typeface="PT Sans"/>
              </a:rPr>
              <a:t>80% жана андан көп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7" y="3959352"/>
            <a:ext cx="3258312" cy="209397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Кийинки сабакка өтөбүз. Калган окуучулар кийинки сабактын башында 10 мүнөт ката коду боюнча кичи топто иштешет.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82439" y="3410712"/>
            <a:ext cx="3624072" cy="27340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65320" y="3502152"/>
            <a:ext cx="325831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A84400"/>
                </a:solidFill>
                <a:latin typeface="PT Sans"/>
              </a:rPr>
              <a:t>60–79%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5320" y="3959352"/>
            <a:ext cx="3258312" cy="209397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Кийинки сабактын биринчи 15 мүнөтүндө кайталайбыз (ката коддору боюнча топтор), анан өтөбүз.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5112" y="3410712"/>
            <a:ext cx="3624072" cy="27340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17991" y="3502152"/>
            <a:ext cx="325831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24418C"/>
                </a:solidFill>
                <a:latin typeface="PT Sans"/>
              </a:rPr>
              <a:t>60%дан аз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7991" y="3959352"/>
            <a:ext cx="3258312" cy="209397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Өтпөйбүз. Сабакты сүрөт модели жана тилке менен кайра өтөбүз.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Мугалим үчүн: тилке жана ой жүгүртүү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 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Мугалим үчүн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39/39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5120640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80160"/>
            <a:ext cx="46634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Тилке моделин кантип үйрөтөбүз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187451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1856231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4 кадам ар дайым бирдей: оку → чий → белгиле → жаз.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898648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2880360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сабакта 5 мүнөт тилке машыгуусу: бөлүк – бүтүн → салыштыруу → көп кадам.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392277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3904488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«Чийе албайм» деген окуучуга бир гана кадамды чийдириңиз, анан кийинкисин.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494690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4928616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Тилкени окуучулар билген нерселерге байланыштырыңыз: акча, нан, дептер.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79007" y="1225296"/>
            <a:ext cx="5980176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7607" y="1280160"/>
            <a:ext cx="54864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Ой жүгүртүү: эмне деп айтабыз?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7" y="178308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6B7280"/>
                </a:solidFill>
                <a:latin typeface="PT Sans"/>
              </a:rPr>
              <a:t>Айтпайбыз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178308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Айтабыз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607" y="219456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«Математика кыйын.»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67928" y="2468879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796528" y="219456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«Бул азырынча кыйын, бирок биз үйрөнөбүз.»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7607" y="315468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«Туура эмес!»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67928" y="342900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796528" y="315468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«Кызыктуу ката! Кайсы кадамды текшеребиз?»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7607" y="411480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«Мен да математиканы билчү эмесмин.»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67928" y="438912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796528" y="411480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«Мен да машыгып үйрөнгөм.»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07607" y="507492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«Тез чыгардың, акылдуусуң!»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567928" y="534924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796528" y="507492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«Тилке чийип, жакшы аракет кылдың!»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