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Окуучулар болжолдошсун: 6 баштыкпы, 12би, 24пү? Жоопту сабактын аягында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Айгерим: 6 жана 8 – курама сандар (М1).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12 бурчак (же таш), 18 бөтөлкө капкагы, 6–9 кагаз чөйчөк, чакмак дептер. Жуптар 2, 3, 4… топ кылып көрүшөт: 6 топ – эң көп (2 бурчак + 3 капкак). Анан 12 чакмакты 1 × 12, 2 × 6, 3 × 4 тик бурчтук кылып чийишет: тик бурчтуктун жактары – бөлүүчүлөр.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Дарактарды доскага чийем, окуучулар дептерге чийишет. Ар бир «жалбырак» (жөнөкөй сан) тегеректелет. Анан эки ажыралыштагы жалпы көбөйтүүчүлөрдү жуп-жубу менен сызабыз: 2, 2, 3 (М5).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«Бирдей топторго бөлөбүз» → ЭЧЖБ. «Кайра жолугат», «бирдей сан алабыз» → ЭКЖБ. Текшерүү: ЭЧЖБ · ЭКЖБ = эки сандын көбөйтүндүсү.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айтышат. Оозеки беш мүнөттө ушул ыкмалар кайталанат.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М2; Б = М5; В = ✓; Г = М3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бирдей топтор → экжб: кайра жолугуу → көп кадам. Жооптор: 48 : 12 = 4 алма; ЭКЖБ (4; 6) = 12 м; 30 : 15 = 2;  45 : 15 = 3;  2 + 3 =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48 жана 36нын жалпы жөнөкөй көбөйтүүчүлөрү: 2, 2, 3 → ЭЧЖБ = 12. 48 : 12 = 4 алма, 36 : 12 = 3 анар. 24 баштык болбойт: 36 24кө бөлүнбөйт.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2 · 2 · 3 · 5; 8; 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Жөнөкөй көбөйтүүчүлөргө ажыратуу. ЭЧЖБ жана ЭКЖБ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Белек баштыктар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Айгеримдин агасынын тоюна даярданып жатышат: жемиштерди бирдей белек баштыктарга бөлүштүрүү керек.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С.К. Кыдыралиев ж.б., «Математика 6-класс», §9 «Натуралдык сандарды көбөйтүүчүлөргө ажыратуу. ЭКЖБ» (9.1–9.11, № 243–262) жана §10 (ЭЧЖБ).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Белек баштыктар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Айгеримдин агасынын үйлөнүү тою жакындап калды.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Сайра таеже белек баштыктарды даярдайт: 48 алма жана 36 анар бар.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Эрмек менен Айгерим жардам беришет: ар бир баштыкта бирдей сандагы алма жана бирдей сандагы анар болушу керек.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Эң көп канча баштык чыгат?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48 алма жана 36 анарды бирдей белек баштыктарга калдыксыз бөлөбүз. Эң көп канча баштык чыгат? Ар биринде канчадан?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Жөнөкөй жана курама сандарды айырмалайм.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Санды көбөйтүүчү дарагы менен жөнөкөй көбөйтүүчүлөргө ажыратам.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ЭЧЖБ жана ЭКЖБны таап, кайсынысы керектигин маселеден аныктайм.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Жөнөкөй/курама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Ажыратуу, ЭЧЖБ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ЭЧЖБ же ЭКЖБ маселе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Каршы мисал издөө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бурчак менен топтор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Карта сорттоо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Белек баштыктар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Чакмак дептерде тик бурчтуктар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Бөлүүчү, эселүү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Жөнөкөй сан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6-класс §8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Бөлүнүү белгилери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6-класс §9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Ажыратуу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ЭЧЖБ, ЭКЖБ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6-класс §10–11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Бөлчөктү кыскартуу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Жалпы бөлүм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 · 2 ·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48 : 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9 – 36нын бөлүүчүсүбү?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6 · 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 · 2 ·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48 :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9 – 36нын бөлүүчүсүбү?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ооба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6 ·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Сайра таеже: «48ди жөнөкөй көбөйтүүчүлөргө ажыраткыла».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Эрмек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48 = 6 · 8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Даяр!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Айгерим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6 = 2 · 3;  8 = 2 · 2 · 2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48 = 2 · 2 · 2 · 2 ·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жөнөкөй көбөйтүүчүлөргө ажыратты?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12 бурчак («алма») жана 18 капкак («анар») – эң көп канча бирдей топ түзөсүңөр? Анан 12 чакмактан бардык тик бурчтуктарды чийгиле.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331720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" y="2331720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08760" y="2331720"/>
            <a:ext cx="274320" cy="2743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37943" y="2331720"/>
            <a:ext cx="274320" cy="2743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7128" y="2331720"/>
            <a:ext cx="274320" cy="2743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2240279"/>
            <a:ext cx="1828800" cy="45720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679191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1-топ</a:t>
            </a:r>
          </a:p>
        </p:txBody>
      </p:sp>
      <p:sp>
        <p:nvSpPr>
          <p:cNvPr id="19" name="Oval 18"/>
          <p:cNvSpPr/>
          <p:nvPr/>
        </p:nvSpPr>
        <p:spPr>
          <a:xfrm>
            <a:off x="3063240" y="2331720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55848" y="2331720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49039" y="2331720"/>
            <a:ext cx="274320" cy="2743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78224" y="2331720"/>
            <a:ext cx="274320" cy="2743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07407" y="2331720"/>
            <a:ext cx="274320" cy="2743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71800" y="2240279"/>
            <a:ext cx="1828800" cy="45720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3240" y="2679191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2-топ</a:t>
            </a:r>
          </a:p>
        </p:txBody>
      </p:sp>
      <p:sp>
        <p:nvSpPr>
          <p:cNvPr id="26" name="Oval 25"/>
          <p:cNvSpPr/>
          <p:nvPr/>
        </p:nvSpPr>
        <p:spPr>
          <a:xfrm>
            <a:off x="5303520" y="2331720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96128" y="2331720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89320" y="2331720"/>
            <a:ext cx="274320" cy="2743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18504" y="2331720"/>
            <a:ext cx="274320" cy="2743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47688" y="2331720"/>
            <a:ext cx="274320" cy="2743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212080" y="2240279"/>
            <a:ext cx="1828800" cy="45720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0" y="2679191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3-топ</a:t>
            </a:r>
          </a:p>
        </p:txBody>
      </p:sp>
      <p:sp>
        <p:nvSpPr>
          <p:cNvPr id="33" name="Oval 32"/>
          <p:cNvSpPr/>
          <p:nvPr/>
        </p:nvSpPr>
        <p:spPr>
          <a:xfrm>
            <a:off x="822960" y="3291839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15568" y="3291839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508760" y="3291839"/>
            <a:ext cx="274320" cy="2743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37943" y="3291839"/>
            <a:ext cx="274320" cy="2743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167128" y="3291839"/>
            <a:ext cx="274320" cy="2743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1520" y="3200399"/>
            <a:ext cx="1828800" cy="45720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3639311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4-топ</a:t>
            </a:r>
          </a:p>
        </p:txBody>
      </p:sp>
      <p:sp>
        <p:nvSpPr>
          <p:cNvPr id="40" name="Oval 39"/>
          <p:cNvSpPr/>
          <p:nvPr/>
        </p:nvSpPr>
        <p:spPr>
          <a:xfrm>
            <a:off x="3063240" y="3291839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355848" y="3291839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749039" y="3291839"/>
            <a:ext cx="274320" cy="2743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078224" y="3291839"/>
            <a:ext cx="274320" cy="2743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07407" y="3291839"/>
            <a:ext cx="274320" cy="2743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971800" y="3200399"/>
            <a:ext cx="1828800" cy="45720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63240" y="3639311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5-топ</a:t>
            </a:r>
          </a:p>
        </p:txBody>
      </p:sp>
      <p:sp>
        <p:nvSpPr>
          <p:cNvPr id="47" name="Oval 46"/>
          <p:cNvSpPr/>
          <p:nvPr/>
        </p:nvSpPr>
        <p:spPr>
          <a:xfrm>
            <a:off x="5303520" y="3291839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96128" y="3291839"/>
            <a:ext cx="237744" cy="237744"/>
          </a:xfrm>
          <a:prstGeom prst="ellipse">
            <a:avLst/>
          </a:prstGeom>
          <a:solidFill>
            <a:srgbClr val="F5E9E0"/>
          </a:solidFill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989320" y="3291839"/>
            <a:ext cx="274320" cy="2743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18504" y="3291839"/>
            <a:ext cx="274320" cy="2743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47688" y="3291839"/>
            <a:ext cx="274320" cy="274320"/>
          </a:xfrm>
          <a:prstGeom prst="ellipse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212080" y="3200399"/>
            <a:ext cx="1828800" cy="457200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03520" y="3639311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PT Sans"/>
              </a:rPr>
              <a:t>6-топ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4251960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4A5A70"/>
                </a:solidFill>
                <a:latin typeface="PT Sans"/>
              </a:rPr>
              <a:t>12 чакмак: тик бурчтуктун жактары – 12нин бөлүүчүлөрү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0584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8872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37160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2960" y="484632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05840" y="484632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88720" y="484632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371600" y="484632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2960" y="502920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05840" y="502920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88720" y="502920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371600" y="502920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5257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3 × 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01168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19456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37744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56032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74320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828800" y="484632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011680" y="484632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194560" y="484632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377440" y="484632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560320" y="484632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743200" y="484632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737360" y="507492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2 × 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0040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38328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56616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749039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93192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11480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29768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48056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66344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84632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02920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212080" y="4663440"/>
            <a:ext cx="182880" cy="182880"/>
          </a:xfrm>
          <a:prstGeom prst="rect">
            <a:avLst/>
          </a:prstGeom>
          <a:solidFill>
            <a:srgbClr val="B5E2D3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108960" y="4892040"/>
            <a:ext cx="25603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F2430"/>
                </a:solidFill>
                <a:latin typeface="PT Sans"/>
              </a:rPr>
              <a:t>1 × 12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863840" y="2240280"/>
            <a:ext cx="388620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046720" y="2331720"/>
            <a:ext cx="356616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12 бурчак, 18 капкак</a:t>
            </a:r>
          </a:p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430"/>
                </a:solidFill>
                <a:latin typeface="PT Sans"/>
              </a:rPr>
              <a:t>Эң көп 6 бирдей топ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ар биринде 2 + 3</a:t>
            </a:r>
          </a:p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ЭЧЖБ (12; 18) = 6</a:t>
            </a:r>
          </a:p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A5A70"/>
                </a:solidFill>
                <a:latin typeface="PT Sans"/>
              </a:rPr>
              <a:t>Жупта: 12 бурчак, 18 капкак, чөйчөктөр, чакмак дептер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көбөйтүүчү дарагы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48 жана 36ны көбөйтүүчү дарагы менен ажыратабыз. Жалбырактар – жөнөкөй сандар.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463040" y="2606039"/>
            <a:ext cx="914400" cy="137161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77440" y="2606039"/>
            <a:ext cx="914400" cy="137161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05840" y="3291839"/>
            <a:ext cx="457200" cy="137161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63040" y="3291839"/>
            <a:ext cx="457200" cy="137161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291839"/>
            <a:ext cx="457200" cy="137161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91840" y="3291839"/>
            <a:ext cx="457199" cy="137161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91840" y="3977639"/>
            <a:ext cx="457199" cy="137161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49039" y="3977639"/>
            <a:ext cx="457201" cy="137161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075688" y="2057400"/>
            <a:ext cx="603504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48</a:t>
            </a:r>
          </a:p>
        </p:txBody>
      </p:sp>
      <p:sp>
        <p:nvSpPr>
          <p:cNvPr id="21" name="Oval 20"/>
          <p:cNvSpPr/>
          <p:nvPr/>
        </p:nvSpPr>
        <p:spPr>
          <a:xfrm>
            <a:off x="1161288" y="2743200"/>
            <a:ext cx="603504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22" name="Oval 21"/>
          <p:cNvSpPr/>
          <p:nvPr/>
        </p:nvSpPr>
        <p:spPr>
          <a:xfrm>
            <a:off x="2990088" y="2743200"/>
            <a:ext cx="603504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23" name="Oval 22"/>
          <p:cNvSpPr/>
          <p:nvPr/>
        </p:nvSpPr>
        <p:spPr>
          <a:xfrm>
            <a:off x="704088" y="3429000"/>
            <a:ext cx="603504" cy="548640"/>
          </a:xfrm>
          <a:prstGeom prst="ellipse">
            <a:avLst/>
          </a:prstGeom>
          <a:solidFill>
            <a:srgbClr val="B5E2D3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1618488" y="3429000"/>
            <a:ext cx="603504" cy="548640"/>
          </a:xfrm>
          <a:prstGeom prst="ellipse">
            <a:avLst/>
          </a:prstGeom>
          <a:solidFill>
            <a:srgbClr val="B5E2D3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2532888" y="3429000"/>
            <a:ext cx="603504" cy="548640"/>
          </a:xfrm>
          <a:prstGeom prst="ellipse">
            <a:avLst/>
          </a:prstGeom>
          <a:solidFill>
            <a:srgbClr val="B5E2D3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26" name="Oval 25"/>
          <p:cNvSpPr/>
          <p:nvPr/>
        </p:nvSpPr>
        <p:spPr>
          <a:xfrm>
            <a:off x="3447287" y="3429000"/>
            <a:ext cx="603504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7" name="Oval 26"/>
          <p:cNvSpPr/>
          <p:nvPr/>
        </p:nvSpPr>
        <p:spPr>
          <a:xfrm>
            <a:off x="2990088" y="4114800"/>
            <a:ext cx="603504" cy="548640"/>
          </a:xfrm>
          <a:prstGeom prst="ellipse">
            <a:avLst/>
          </a:prstGeom>
          <a:solidFill>
            <a:srgbClr val="B5E2D3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3904487" y="4114800"/>
            <a:ext cx="603504" cy="548640"/>
          </a:xfrm>
          <a:prstGeom prst="ellipse">
            <a:avLst/>
          </a:prstGeom>
          <a:solidFill>
            <a:srgbClr val="B5E2D3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5486400" y="2606039"/>
            <a:ext cx="914400" cy="137161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400800" y="2606039"/>
            <a:ext cx="914400" cy="137161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029200" y="3291839"/>
            <a:ext cx="457200" cy="137161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486400" y="3291839"/>
            <a:ext cx="457200" cy="137161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858000" y="3291839"/>
            <a:ext cx="457200" cy="137161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315200" y="3291839"/>
            <a:ext cx="457200" cy="137161"/>
          </a:xfrm>
          <a:prstGeom prst="line">
            <a:avLst/>
          </a:prstGeom>
          <a:ln w="1905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099048" y="2057400"/>
            <a:ext cx="603504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36</a:t>
            </a:r>
          </a:p>
        </p:txBody>
      </p:sp>
      <p:sp>
        <p:nvSpPr>
          <p:cNvPr id="36" name="Oval 35"/>
          <p:cNvSpPr/>
          <p:nvPr/>
        </p:nvSpPr>
        <p:spPr>
          <a:xfrm>
            <a:off x="5184648" y="2743200"/>
            <a:ext cx="603504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7" name="Oval 36"/>
          <p:cNvSpPr/>
          <p:nvPr/>
        </p:nvSpPr>
        <p:spPr>
          <a:xfrm>
            <a:off x="7013448" y="2743200"/>
            <a:ext cx="603504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38" name="Oval 37"/>
          <p:cNvSpPr/>
          <p:nvPr/>
        </p:nvSpPr>
        <p:spPr>
          <a:xfrm>
            <a:off x="4727448" y="3429000"/>
            <a:ext cx="603504" cy="548640"/>
          </a:xfrm>
          <a:prstGeom prst="ellipse">
            <a:avLst/>
          </a:prstGeom>
          <a:solidFill>
            <a:srgbClr val="B5E2D3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39" name="Oval 38"/>
          <p:cNvSpPr/>
          <p:nvPr/>
        </p:nvSpPr>
        <p:spPr>
          <a:xfrm>
            <a:off x="5641848" y="3429000"/>
            <a:ext cx="603504" cy="548640"/>
          </a:xfrm>
          <a:prstGeom prst="ellipse">
            <a:avLst/>
          </a:prstGeom>
          <a:solidFill>
            <a:srgbClr val="B5E2D3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3429000"/>
            <a:ext cx="603504" cy="548640"/>
          </a:xfrm>
          <a:prstGeom prst="ellipse">
            <a:avLst/>
          </a:prstGeom>
          <a:solidFill>
            <a:srgbClr val="B5E2D3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1" name="Oval 40"/>
          <p:cNvSpPr/>
          <p:nvPr/>
        </p:nvSpPr>
        <p:spPr>
          <a:xfrm>
            <a:off x="7470648" y="3429000"/>
            <a:ext cx="603504" cy="548640"/>
          </a:xfrm>
          <a:prstGeom prst="ellipse">
            <a:avLst/>
          </a:prstGeom>
          <a:solidFill>
            <a:srgbClr val="B5E2D3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 tIns="0" bIns="0"/>
          <a:lstStyle/>
          <a:p>
            <a:pPr algn="ctr"/>
            <a:r>
              <a:rPr sz="16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846320"/>
            <a:ext cx="4023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1F2430"/>
                </a:solidFill>
                <a:latin typeface="PT Sans"/>
              </a:rPr>
              <a:t>48 = 2 · 2 · 2 · 2 ·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4846320"/>
            <a:ext cx="35661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 i="0">
                <a:solidFill>
                  <a:srgbClr val="1F2430"/>
                </a:solidFill>
                <a:latin typeface="PT Sans"/>
              </a:rPr>
              <a:t>36 = 2 · 2 · 3 · 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95360" y="2148840"/>
            <a:ext cx="31546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32520" y="2240280"/>
            <a:ext cx="2926080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F2430"/>
                </a:solidFill>
                <a:latin typeface="PT Sans"/>
              </a:rPr>
              <a:t>Жалпы көбөйтүүчүлөр:</a:t>
            </a:r>
          </a:p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2, 2, 3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ЭЧЖБ = 2 · 2 · 3 = 12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48 : 12 = 4 алма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36 : 12 = 3 анар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4A5A70"/>
                </a:solidFill>
                <a:latin typeface="PT Sans"/>
              </a:rPr>
              <a:t>ЭКЖБ = 48 · 3 = 144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ЭЧЖБ (48; 36) = 2 · 2 · 3 = 12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06524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2 · 2 ·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Ажыратуу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Эң кичине жөнөкөй бөлүүчүдөн баштап бөл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4436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ЭЧЖБ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Жалпы бөлүүчү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Эң чоңу: жалпы жөнөкөй көбөйтүүчүлөрдү көбөйт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65592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42348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ЭКЖБ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Жалпы бөлүнүүчү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Эң кичинеси: чоң санга жетпегендерин кош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ЭЧЖБ (48; 36) = 12;   ЭКЖБ (48; 36) = 144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Тойго 42 алма жана 56 алмурут. Бирдей белек баштыктар: эң көп канча?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42 = 2 · 3 ·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56 = 2 · 2 · 2 ·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ЭЧЖБ = 2 · 7 = 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жалпылары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Баштык = </a:t>
            </a:r>
            <a:r>
              <a:rPr sz="3400" b="1">
                <a:solidFill>
                  <a:srgbClr val="24418C"/>
                </a:solidFill>
                <a:latin typeface="PT Sans"/>
              </a:rPr>
              <a:t>14 (3 алма, 4 алмурут)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Салфетка 12ден, кесе 18ден кутуда. Бирдей сан алуу үчүн эң аз канчадан?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12 = 2 · 2 ·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18 = 2 · 3 ·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ЭКЖБ = 2 · 2 · 3 · 3 =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Эң аз = </a:t>
            </a:r>
            <a:r>
              <a:rPr sz="3400" b="1">
                <a:solidFill>
                  <a:srgbClr val="24418C"/>
                </a:solidFill>
                <a:latin typeface="PT Sans"/>
              </a:rPr>
              <a:t>36 (3 жана 2 куту)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бөлүүчү жана эселүү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Жадыбалдан баштап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48 = 6 ·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6 = 2 · 3;  8 = 2 · 2 ·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48 = 2·2·2·2·3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Тааныш көбөйтүүдөн баштап, ар бир көбөйтүүчүнү андан ары ажырат.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Кичине сандын бөлүүчүсү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ЭЧЖБ (48; 36)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36? 18? 12?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48 : 12 = 4 →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Кичине сандын эң чоң бөлүүчүсүнөн баштап текшер.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Чоң сандын эселүүсү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ЭКЖБ (6; 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8, 16, 24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24 : 6 = 4 → 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Чоң сандын эселүүлөрүн санап, кичинесине бөлүнгөнүн изде.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Ыкмаңды үн чыгарып айт: «Мен ... деп ойлодум».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Той үчүн 48 алма жана 36 анарды бирдей белек баштыктарга калдыксыз бөлөбүз. Эң көп канча баштык?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144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1 728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Тойго 48 алманы 12 баштыкка бирдей салышты. Ар бир баштыкта канча алма? Тилкеге сандарды жаз.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Кызыл тасманын ар бир бөлүгү 4 м, көк тасманыкы 6 м. Эки тасма биринчи жолу кайсы узундукта бирдей бүтөт?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Сайра таеже 30 алма жана 45 анарды 15 баштыкка бирдей салды. Бир баштыкта бардыгы канча жемиш?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Тойго 48 алманы 12 баштыкка бирдей салышты. Ар бир баштыкта канча алма? Тилкеге сандарды жаз.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195326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254" y="3017520"/>
            <a:ext cx="19532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7580" y="3017520"/>
            <a:ext cx="19532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52906" y="3017520"/>
            <a:ext cx="19532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48232" y="3017520"/>
            <a:ext cx="19532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43558" y="3017520"/>
            <a:ext cx="19532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8884" y="3017520"/>
            <a:ext cx="19532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34210" y="3017520"/>
            <a:ext cx="19532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29536" y="3017520"/>
            <a:ext cx="19532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24862" y="3017520"/>
            <a:ext cx="19532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20188" y="3017520"/>
            <a:ext cx="19532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15514" y="3017520"/>
            <a:ext cx="19532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48 : 12 = 4 алма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Кызыл тасманын ар бир бөлүгү 4 м, көк тасманыкы 6 м. Эки тасма биринчи жолу кайсы узундукта бирдей бүтөт?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9600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Кызыл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82640" y="3017520"/>
            <a:ext cx="29362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6264" y="3017520"/>
            <a:ext cx="29362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69887" y="3017520"/>
            <a:ext cx="29362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19600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Көк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82640" y="3574389"/>
            <a:ext cx="440435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23076" y="3574389"/>
            <a:ext cx="440435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992112" y="3017520"/>
            <a:ext cx="0" cy="940917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54951" y="3958437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037832" y="3213658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ЭКЖБ (4; 6) = 12 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Сайра таеже 30 алма жана 45 анарды 15 баштыкка бирдей салды. Бир баштыкта бардыгы канча жемиш?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2272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1 баштык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35312" y="3017520"/>
            <a:ext cx="35234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87660" y="3017520"/>
            <a:ext cx="528523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30 : 15 = 2;  45 : 15 = 3;  2 + 3 = 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Ажырат: 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ЭЧЖБ (30; 45)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ЭКЖБ (9; 12)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Жөнөкөйбү: 87?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24 кызыл, 40 ак гүл: эң көп канча бирдей десте?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Автобус ар 12, маршрутка ар 15 мүнөттө. Канча мүнөттөн кийин бирге?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Ажырат: 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 · 2 · 2 · 3 ·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ЭЧЖБ (30; 45)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ЭКЖБ (9; 12)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Жөнөкөйбү: 87?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жок: 3 · 29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24 кызыл, 40 ак гүл: эң көп канча бирдей десте?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Автобус ар 12, маршрутка ар 15 мүнөттө. Канча мүнөттөн кийин бирге?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48 алма жана 36 анарды бирдей белек баштыктарга калдыксыз бөлөбүз. Эң көп канча баштык чыгат? Ар биринде канчадан?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Алма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9900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42359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4820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07280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9739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199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04659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37120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9579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02040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34499" y="2240280"/>
            <a:ext cx="6324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035808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Анар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035808"/>
            <a:ext cx="47434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51785" y="3035808"/>
            <a:ext cx="47434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26129" y="3035808"/>
            <a:ext cx="47434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00475" y="3035808"/>
            <a:ext cx="47434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4820" y="3035808"/>
            <a:ext cx="47434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49165" y="3035808"/>
            <a:ext cx="47434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23509" y="3035808"/>
            <a:ext cx="47434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97854" y="3035808"/>
            <a:ext cx="47434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199" y="3035808"/>
            <a:ext cx="47434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46544" y="3035808"/>
            <a:ext cx="47434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20889" y="3035808"/>
            <a:ext cx="47434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95234" y="3035808"/>
            <a:ext cx="47434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39227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48 = 2·2·2·2·3;  36 = 2·2·3·3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4897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ЭЧЖБ = 2 · 2 · 3 = 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44897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жалпылары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12 баштык: ар биринде 4 алма жана 3 анар.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Белек баштыктар жөнүндө маселе түз: бири ЭЧЖБ менен, экинчиси ЭКЖБ менен чыксын.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Айгерим, Эрмек, Сайра таеже.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Жөнөкөй көбөйтүүчүлөргө ажырат: 60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ЭЧЖБ (16; 24) =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ЭКЖБ (6; 10) = 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Жөнөкөй сан менен курама сандын айырмасы эмнеде? 1 кайсынысы?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Маселеде ЭЧЖБ керекпи же ЭКЖБбы – кантип билесиң?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ЭЧЖБ эки сандан тең чоң болбойт?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Көбөйтүүчүлөр, ЭЧЖБ (§9)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жупка бурчак жана капкак: «эң көп бирдей топту» колу менен табышат.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Чакмак дептерде тик бурчтуктар: 12 = 1 × 12 = 2 × 6 = 3 × 4 – жактары бөлүүчүлөр.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Көбөйтүүчү дарагында жалбыракты тегеректетиңиз: жөнөкөй сан гана (М1).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Маселенин сөзүнө көңүл: «бөлөбүз» → ЭЧЖБ, «жолугат» → ЭКЖБ (М2).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