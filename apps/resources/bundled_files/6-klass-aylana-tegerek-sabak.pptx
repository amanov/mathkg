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беремин. Мүмкүн болсо, класстын полуна же короого бор менен жип циркуль аркылуу тегерек сызып көрсөтүүнү сунуштайм. Окуучулар болжолдошсун: бордюр 6 мден канча эсе узун? Топурак канча?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Арген: C = 3,14 × d, d = 6 м. Бегимай радиусту алды (М1): 9,42 м – айлананын жарымы гана.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 м жип, сызгыч, 3 тегерек буюм (бөтөлкө капкагы, кесе, табак же токоч). Жипти буюмдун четине ороп, бир жолу айланган жерин манжа менен кармап, сызгычка коюп ченешет (C). Диаметр – эң кең жери, борбор аркылуу (d). Таблицага жазып, C ÷ d болжол менен эсептешет. Бардык жуптарда 3төн бир аз көп чыгат: бул сан π, биз 3,14 алабыз. Анан жипти диаметр менен «өлчөп» көрсөтөм: 3 толук диаметр жана дагы бир аз калат. Проектор жок болсо, таблицаны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окуучу дептер барагынан тегерек кесет (жип циркуль же кесе менен чийип), 8 же 16 секторго бүктөп кесет, кезектештирип тизет. Сурайм: «Узуну эмнеге барабар? Бийиктиги?» Узуну – айлананын жарымы (3,14 × r), бийиктиги – радиус. Секторлор канчалык көп болсо, ошончолук тик бурчтукка жакын. Ошондуктан S = 3,14 × r × r = 3,14 × r². Аянтта радиус керек, диаметр эмес (М4).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Формуладан мурун: айлана – сызык (жип), тегерек – анын ичиндеги бет (секторлор). Хорда – айлананын эки чекитин туташтырган кесинди; борбор аркылуу өткөн хорда – диаметр, ал эң узун хорда (М7). Ар бир маселеде адегенде «r = ?, d = ?» жазабыз (М1, М4), анан π ≈ 3 менен болжолдойбуз (М6).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«адегенде π ≈ 3 менен болжолдойм».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М3; Б = ✓; В = М1; Г = М6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диаметр = 2 радиус → бордюрдун баасы → калган аянт. Жооптор: 3 + 3 = 6 м; 19 × 150 = 2 850;  2 150 сом; 16 − 12,56 = 3,44 м²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Бордюр – айлана: 3 толук диаметр (18 м) жана дагы 0,14 диаметр (0,84 м) = 18,84 м; бүтүн метр менен 19 м алабыз. Топурак – тегерек: S = 3,14 × 3² = 28,26 м². 18,84 жана 28,26ны салыштырууга болбойт: бири метр, экинчиси чарчы метр (М2). Бегимай 3,14 × 3 деп эсептесе – 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r = 6 см;  C ≈ 37,68 см; S ≈ 78,5 м²; S ≈ 6,28 м²;  P ≈ 10,28 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Айлана жана тегерек: узундугу жана аянты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Кара-Балтадагы тегерек гүлзар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Мектептин багбаны Токтосун ата жип менен тегерек сызат. Бегимай менен Арген бордюр жана топурак эсептешет.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(2018), 6-класс «Геометриялык маалымат»; 6-класстын китебиндеги «Айлана. Тегерек. Сектор» темасы. Мазмуну, сандары жана окуясы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Кара-Балтадагы тегерек гүлзар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Кара-Балтадагы мектептин короосуна жаз келди. 6-класс тегерек гүлзар жасайт.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Мектептин багбаны Токтосун ата жерге казык какты, ага 3 м жип байлап, жерге тегерек сызды.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Бегимай менен Арген гүлзардын айланасына кирпич бордюр коюп, ичине кара топурак төшөшөт.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Канча метр бордюр жана канча чарчы метр топурак керек?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Гүлзардын радиусу 3 м, диаметри 6 м. Айланасына канча метр бордюр, ичине канча м² кара топурак керек? π ≈ 3,14.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Айлананын борборун, радиусун, диаметрин жана хордасын көрсөтөм; d = 2 × r.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Айлананын узундугун C = 3,14 × d менен табам жана жип менен ченеп текшерем.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Тегеректин, жарым жана чейрек тегеректин аянтын S = 3,14 × r² менен табам.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Борбор, r, d, хорда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C жана 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Жарым, чейрек, кайра табуу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r беле же d беле?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жип менен ченөө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Кагаз тегеректи кесүү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Кара-Балтадагы гүлзар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Дөңгөлөк, токоч, чака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Тегерек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Фигуралар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Периметр, аянт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Ондук бөлчөк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π ≈ 3,14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C жана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Сектор, жаа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Цилиндр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 ×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3,14 ×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28,26 ÷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 ×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3,14 ×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6,28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28,26 ÷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14,13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Токтосун ата: «Гүлзардын диаметри 6 м. Айланасына канча метр бордюр керек?»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Бегимай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C = 3,14 × 3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9,42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9,42 м бордюр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Арген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C = 3,14 × 6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18,84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18,84 м бордюр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Айланага 6 метрлик жип канча жолу батат?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тегерек буюмдун айланасын жип менен, диаметрин сызгыч менен ченегиле. C ÷ d канча чыгат?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13969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85800" y="2331720"/>
            <a:ext cx="384048" cy="0"/>
          </a:xfrm>
          <a:prstGeom prst="line">
            <a:avLst/>
          </a:prstGeom>
          <a:ln w="25400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36675" y="2290572"/>
            <a:ext cx="82296" cy="82296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4519" y="2176272"/>
            <a:ext cx="384048" cy="310896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58568" y="2176272"/>
            <a:ext cx="384048" cy="310896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42615" y="2176272"/>
            <a:ext cx="384048" cy="310896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26663" y="2176272"/>
            <a:ext cx="53766" cy="310896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874519" y="2057400"/>
            <a:ext cx="1205911" cy="0"/>
          </a:xfrm>
          <a:prstGeom prst="line">
            <a:avLst/>
          </a:prstGeom>
          <a:ln w="38100">
            <a:solidFill>
              <a:srgbClr val="B0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17590" y="2039112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Бөтөлкө капкагы</a:t>
            </a:r>
          </a:p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d = 3 см,  C ≈ 9,5 см</a:t>
            </a:r>
          </a:p>
        </p:txBody>
      </p:sp>
      <p:sp>
        <p:nvSpPr>
          <p:cNvPr id="21" name="Oval 20"/>
          <p:cNvSpPr/>
          <p:nvPr/>
        </p:nvSpPr>
        <p:spPr>
          <a:xfrm>
            <a:off x="685799" y="2871216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85799" y="3200400"/>
            <a:ext cx="658368" cy="0"/>
          </a:xfrm>
          <a:prstGeom prst="line">
            <a:avLst/>
          </a:prstGeom>
          <a:ln w="25400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73836" y="3159252"/>
            <a:ext cx="82296" cy="82296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74519" y="3044952"/>
            <a:ext cx="658368" cy="310896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2887" y="3044952"/>
            <a:ext cx="658368" cy="310896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91255" y="3044952"/>
            <a:ext cx="658368" cy="310896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9623" y="3044952"/>
            <a:ext cx="92171" cy="310896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874519" y="2926080"/>
            <a:ext cx="2067276" cy="0"/>
          </a:xfrm>
          <a:prstGeom prst="line">
            <a:avLst/>
          </a:prstGeom>
          <a:ln w="38100">
            <a:solidFill>
              <a:srgbClr val="B0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78955" y="2907792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Кесе</a:t>
            </a:r>
          </a:p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d = 8 см,  C ≈ 25 см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38862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85800" y="4343400"/>
            <a:ext cx="914400" cy="0"/>
          </a:xfrm>
          <a:prstGeom prst="line">
            <a:avLst/>
          </a:prstGeom>
          <a:ln w="25400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101852" y="4302252"/>
            <a:ext cx="82296" cy="82296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74519" y="4187952"/>
            <a:ext cx="914400" cy="310896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4187952"/>
            <a:ext cx="914400" cy="310896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3320" y="4187952"/>
            <a:ext cx="914400" cy="310896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4187952"/>
            <a:ext cx="128016" cy="310896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874519" y="4069080"/>
            <a:ext cx="2871217" cy="0"/>
          </a:xfrm>
          <a:prstGeom prst="line">
            <a:avLst/>
          </a:prstGeom>
          <a:ln w="38100">
            <a:solidFill>
              <a:srgbClr val="B0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82896" y="4050791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Табак</a:t>
            </a:r>
          </a:p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d = 24 см,  C ≈ 75 см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029200"/>
            <a:ext cx="6675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A5A70"/>
                </a:solidFill>
                <a:latin typeface="PT Sans"/>
              </a:rPr>
              <a:t>Күрөң сызык – жип (C). Ар бир жипке 3 диаметр батат, дагы бир аз калат:</a:t>
            </a:r>
          </a:p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C ≈ 3 × d + 0,14 × d = 3,14 × 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06640" y="2148840"/>
            <a:ext cx="43434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800" y="2194560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Биздин ченөөлөр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2651760"/>
            <a:ext cx="1691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Буюм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651760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d, см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265176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C, см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265176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C ÷ 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43800" y="3035808"/>
            <a:ext cx="4069080" cy="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543800" y="3108960"/>
            <a:ext cx="1691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Бөтөлкө капкагы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108960"/>
            <a:ext cx="6400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40" y="3108960"/>
            <a:ext cx="777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9,5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44200" y="310896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≈ 3,2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3611880"/>
            <a:ext cx="1691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Кесе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611880"/>
            <a:ext cx="6400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3611880"/>
            <a:ext cx="777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361188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≈ 3,1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4114800"/>
            <a:ext cx="1691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Табак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114800"/>
            <a:ext cx="6400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4114800"/>
            <a:ext cx="777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75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44200" y="41148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≈ 3,1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43800" y="4709160"/>
            <a:ext cx="40690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4727448"/>
            <a:ext cx="3886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Бардыгында 3төн бир аз көп!</a:t>
            </a:r>
          </a:p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C ÷ d ≈ 3,14 = 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тегеректи секторлорго кесебиз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Кагаз тегеректи 8 секторго кесип, кезектештирип тизсек, тик бурчтукка окшош фигура чыгат.</a:t>
            </a:r>
          </a:p>
        </p:txBody>
      </p:sp>
      <p:sp>
        <p:nvSpPr>
          <p:cNvPr id="12" name="Freeform 11"/>
          <p:cNvSpPr/>
          <p:nvPr/>
        </p:nvSpPr>
        <p:spPr>
          <a:xfrm>
            <a:off x="942334" y="2604900"/>
            <a:ext cx="839966" cy="1188200"/>
          </a:xfrm>
          <a:custGeom>
            <a:avLst/>
            <a:gdLst/>
            <a:ahLst/>
            <a:cxnLst/>
            <a:rect l="l" t="t" r="r" b="b"/>
            <a:pathLst>
              <a:path w="919" h="1300">
                <a:moveTo>
                  <a:pt x="919" y="1300"/>
                </a:moveTo>
                <a:lnTo>
                  <a:pt x="919" y="0"/>
                </a:lnTo>
                <a:lnTo>
                  <a:pt x="876" y="1"/>
                </a:lnTo>
                <a:lnTo>
                  <a:pt x="834" y="3"/>
                </a:lnTo>
                <a:lnTo>
                  <a:pt x="792" y="6"/>
                </a:lnTo>
                <a:lnTo>
                  <a:pt x="749" y="11"/>
                </a:lnTo>
                <a:lnTo>
                  <a:pt x="707" y="17"/>
                </a:lnTo>
                <a:lnTo>
                  <a:pt x="665" y="25"/>
                </a:lnTo>
                <a:lnTo>
                  <a:pt x="624" y="34"/>
                </a:lnTo>
                <a:lnTo>
                  <a:pt x="583" y="44"/>
                </a:lnTo>
                <a:lnTo>
                  <a:pt x="542" y="56"/>
                </a:lnTo>
                <a:lnTo>
                  <a:pt x="501" y="69"/>
                </a:lnTo>
                <a:lnTo>
                  <a:pt x="461" y="83"/>
                </a:lnTo>
                <a:lnTo>
                  <a:pt x="422" y="99"/>
                </a:lnTo>
                <a:lnTo>
                  <a:pt x="382" y="116"/>
                </a:lnTo>
                <a:lnTo>
                  <a:pt x="344" y="134"/>
                </a:lnTo>
                <a:lnTo>
                  <a:pt x="306" y="154"/>
                </a:lnTo>
                <a:lnTo>
                  <a:pt x="269" y="174"/>
                </a:lnTo>
                <a:lnTo>
                  <a:pt x="233" y="196"/>
                </a:lnTo>
                <a:lnTo>
                  <a:pt x="197" y="219"/>
                </a:lnTo>
                <a:lnTo>
                  <a:pt x="162" y="243"/>
                </a:lnTo>
                <a:lnTo>
                  <a:pt x="128" y="269"/>
                </a:lnTo>
                <a:lnTo>
                  <a:pt x="94" y="295"/>
                </a:lnTo>
                <a:lnTo>
                  <a:pt x="62" y="323"/>
                </a:lnTo>
                <a:lnTo>
                  <a:pt x="30" y="351"/>
                </a:lnTo>
                <a:lnTo>
                  <a:pt x="0" y="381"/>
                </a:lnTo>
                <a:close/>
              </a:path>
            </a:pathLst>
          </a:cu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94100" y="2953134"/>
            <a:ext cx="1188200" cy="839966"/>
          </a:xfrm>
          <a:custGeom>
            <a:avLst/>
            <a:gdLst/>
            <a:ahLst/>
            <a:cxnLst/>
            <a:rect l="l" t="t" r="r" b="b"/>
            <a:pathLst>
              <a:path w="1300" h="919">
                <a:moveTo>
                  <a:pt x="1300" y="919"/>
                </a:moveTo>
                <a:lnTo>
                  <a:pt x="381" y="0"/>
                </a:lnTo>
                <a:lnTo>
                  <a:pt x="351" y="30"/>
                </a:lnTo>
                <a:lnTo>
                  <a:pt x="323" y="62"/>
                </a:lnTo>
                <a:lnTo>
                  <a:pt x="295" y="94"/>
                </a:lnTo>
                <a:lnTo>
                  <a:pt x="269" y="128"/>
                </a:lnTo>
                <a:lnTo>
                  <a:pt x="243" y="162"/>
                </a:lnTo>
                <a:lnTo>
                  <a:pt x="219" y="197"/>
                </a:lnTo>
                <a:lnTo>
                  <a:pt x="196" y="233"/>
                </a:lnTo>
                <a:lnTo>
                  <a:pt x="174" y="269"/>
                </a:lnTo>
                <a:lnTo>
                  <a:pt x="154" y="306"/>
                </a:lnTo>
                <a:lnTo>
                  <a:pt x="134" y="344"/>
                </a:lnTo>
                <a:lnTo>
                  <a:pt x="116" y="382"/>
                </a:lnTo>
                <a:lnTo>
                  <a:pt x="99" y="422"/>
                </a:lnTo>
                <a:lnTo>
                  <a:pt x="83" y="461"/>
                </a:lnTo>
                <a:lnTo>
                  <a:pt x="69" y="501"/>
                </a:lnTo>
                <a:lnTo>
                  <a:pt x="56" y="542"/>
                </a:lnTo>
                <a:lnTo>
                  <a:pt x="44" y="583"/>
                </a:lnTo>
                <a:lnTo>
                  <a:pt x="34" y="624"/>
                </a:lnTo>
                <a:lnTo>
                  <a:pt x="25" y="665"/>
                </a:lnTo>
                <a:lnTo>
                  <a:pt x="17" y="707"/>
                </a:lnTo>
                <a:lnTo>
                  <a:pt x="11" y="749"/>
                </a:lnTo>
                <a:lnTo>
                  <a:pt x="6" y="792"/>
                </a:lnTo>
                <a:lnTo>
                  <a:pt x="3" y="834"/>
                </a:lnTo>
                <a:lnTo>
                  <a:pt x="1" y="876"/>
                </a:lnTo>
                <a:lnTo>
                  <a:pt x="0" y="919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94100" y="3793100"/>
            <a:ext cx="1188200" cy="839966"/>
          </a:xfrm>
          <a:custGeom>
            <a:avLst/>
            <a:gdLst/>
            <a:ahLst/>
            <a:cxnLst/>
            <a:rect l="l" t="t" r="r" b="b"/>
            <a:pathLst>
              <a:path w="1300" h="919">
                <a:moveTo>
                  <a:pt x="1300" y="0"/>
                </a:moveTo>
                <a:lnTo>
                  <a:pt x="0" y="0"/>
                </a:lnTo>
                <a:lnTo>
                  <a:pt x="1" y="43"/>
                </a:lnTo>
                <a:lnTo>
                  <a:pt x="3" y="85"/>
                </a:lnTo>
                <a:lnTo>
                  <a:pt x="6" y="127"/>
                </a:lnTo>
                <a:lnTo>
                  <a:pt x="11" y="170"/>
                </a:lnTo>
                <a:lnTo>
                  <a:pt x="17" y="212"/>
                </a:lnTo>
                <a:lnTo>
                  <a:pt x="25" y="254"/>
                </a:lnTo>
                <a:lnTo>
                  <a:pt x="34" y="295"/>
                </a:lnTo>
                <a:lnTo>
                  <a:pt x="44" y="336"/>
                </a:lnTo>
                <a:lnTo>
                  <a:pt x="56" y="377"/>
                </a:lnTo>
                <a:lnTo>
                  <a:pt x="69" y="418"/>
                </a:lnTo>
                <a:lnTo>
                  <a:pt x="83" y="458"/>
                </a:lnTo>
                <a:lnTo>
                  <a:pt x="99" y="497"/>
                </a:lnTo>
                <a:lnTo>
                  <a:pt x="116" y="537"/>
                </a:lnTo>
                <a:lnTo>
                  <a:pt x="134" y="575"/>
                </a:lnTo>
                <a:lnTo>
                  <a:pt x="154" y="613"/>
                </a:lnTo>
                <a:lnTo>
                  <a:pt x="174" y="650"/>
                </a:lnTo>
                <a:lnTo>
                  <a:pt x="196" y="686"/>
                </a:lnTo>
                <a:lnTo>
                  <a:pt x="219" y="722"/>
                </a:lnTo>
                <a:lnTo>
                  <a:pt x="243" y="757"/>
                </a:lnTo>
                <a:lnTo>
                  <a:pt x="269" y="791"/>
                </a:lnTo>
                <a:lnTo>
                  <a:pt x="295" y="825"/>
                </a:lnTo>
                <a:lnTo>
                  <a:pt x="323" y="857"/>
                </a:lnTo>
                <a:lnTo>
                  <a:pt x="351" y="889"/>
                </a:lnTo>
                <a:lnTo>
                  <a:pt x="381" y="919"/>
                </a:lnTo>
                <a:close/>
              </a:path>
            </a:pathLst>
          </a:cu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42334" y="3793100"/>
            <a:ext cx="839966" cy="1188200"/>
          </a:xfrm>
          <a:custGeom>
            <a:avLst/>
            <a:gdLst/>
            <a:ahLst/>
            <a:cxnLst/>
            <a:rect l="l" t="t" r="r" b="b"/>
            <a:pathLst>
              <a:path w="919" h="1300">
                <a:moveTo>
                  <a:pt x="919" y="0"/>
                </a:moveTo>
                <a:lnTo>
                  <a:pt x="0" y="919"/>
                </a:lnTo>
                <a:lnTo>
                  <a:pt x="30" y="949"/>
                </a:lnTo>
                <a:lnTo>
                  <a:pt x="62" y="977"/>
                </a:lnTo>
                <a:lnTo>
                  <a:pt x="94" y="1005"/>
                </a:lnTo>
                <a:lnTo>
                  <a:pt x="128" y="1031"/>
                </a:lnTo>
                <a:lnTo>
                  <a:pt x="162" y="1057"/>
                </a:lnTo>
                <a:lnTo>
                  <a:pt x="197" y="1081"/>
                </a:lnTo>
                <a:lnTo>
                  <a:pt x="233" y="1104"/>
                </a:lnTo>
                <a:lnTo>
                  <a:pt x="269" y="1126"/>
                </a:lnTo>
                <a:lnTo>
                  <a:pt x="306" y="1146"/>
                </a:lnTo>
                <a:lnTo>
                  <a:pt x="344" y="1166"/>
                </a:lnTo>
                <a:lnTo>
                  <a:pt x="382" y="1184"/>
                </a:lnTo>
                <a:lnTo>
                  <a:pt x="422" y="1201"/>
                </a:lnTo>
                <a:lnTo>
                  <a:pt x="461" y="1217"/>
                </a:lnTo>
                <a:lnTo>
                  <a:pt x="501" y="1231"/>
                </a:lnTo>
                <a:lnTo>
                  <a:pt x="542" y="1244"/>
                </a:lnTo>
                <a:lnTo>
                  <a:pt x="583" y="1256"/>
                </a:lnTo>
                <a:lnTo>
                  <a:pt x="624" y="1266"/>
                </a:lnTo>
                <a:lnTo>
                  <a:pt x="665" y="1275"/>
                </a:lnTo>
                <a:lnTo>
                  <a:pt x="707" y="1283"/>
                </a:lnTo>
                <a:lnTo>
                  <a:pt x="749" y="1289"/>
                </a:lnTo>
                <a:lnTo>
                  <a:pt x="792" y="1294"/>
                </a:lnTo>
                <a:lnTo>
                  <a:pt x="834" y="1297"/>
                </a:lnTo>
                <a:lnTo>
                  <a:pt x="876" y="1299"/>
                </a:lnTo>
                <a:lnTo>
                  <a:pt x="919" y="1300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782300" y="3793100"/>
            <a:ext cx="839966" cy="1188200"/>
          </a:xfrm>
          <a:custGeom>
            <a:avLst/>
            <a:gdLst/>
            <a:ahLst/>
            <a:cxnLst/>
            <a:rect l="l" t="t" r="r" b="b"/>
            <a:pathLst>
              <a:path w="919" h="1300">
                <a:moveTo>
                  <a:pt x="0" y="0"/>
                </a:moveTo>
                <a:lnTo>
                  <a:pt x="0" y="1300"/>
                </a:lnTo>
                <a:lnTo>
                  <a:pt x="43" y="1299"/>
                </a:lnTo>
                <a:lnTo>
                  <a:pt x="85" y="1297"/>
                </a:lnTo>
                <a:lnTo>
                  <a:pt x="127" y="1294"/>
                </a:lnTo>
                <a:lnTo>
                  <a:pt x="170" y="1289"/>
                </a:lnTo>
                <a:lnTo>
                  <a:pt x="212" y="1283"/>
                </a:lnTo>
                <a:lnTo>
                  <a:pt x="254" y="1275"/>
                </a:lnTo>
                <a:lnTo>
                  <a:pt x="295" y="1266"/>
                </a:lnTo>
                <a:lnTo>
                  <a:pt x="336" y="1256"/>
                </a:lnTo>
                <a:lnTo>
                  <a:pt x="377" y="1244"/>
                </a:lnTo>
                <a:lnTo>
                  <a:pt x="418" y="1231"/>
                </a:lnTo>
                <a:lnTo>
                  <a:pt x="458" y="1217"/>
                </a:lnTo>
                <a:lnTo>
                  <a:pt x="497" y="1201"/>
                </a:lnTo>
                <a:lnTo>
                  <a:pt x="537" y="1184"/>
                </a:lnTo>
                <a:lnTo>
                  <a:pt x="575" y="1166"/>
                </a:lnTo>
                <a:lnTo>
                  <a:pt x="613" y="1146"/>
                </a:lnTo>
                <a:lnTo>
                  <a:pt x="650" y="1126"/>
                </a:lnTo>
                <a:lnTo>
                  <a:pt x="686" y="1104"/>
                </a:lnTo>
                <a:lnTo>
                  <a:pt x="722" y="1081"/>
                </a:lnTo>
                <a:lnTo>
                  <a:pt x="757" y="1057"/>
                </a:lnTo>
                <a:lnTo>
                  <a:pt x="791" y="1031"/>
                </a:lnTo>
                <a:lnTo>
                  <a:pt x="825" y="1005"/>
                </a:lnTo>
                <a:lnTo>
                  <a:pt x="857" y="977"/>
                </a:lnTo>
                <a:lnTo>
                  <a:pt x="889" y="949"/>
                </a:lnTo>
                <a:lnTo>
                  <a:pt x="919" y="919"/>
                </a:lnTo>
                <a:close/>
              </a:path>
            </a:pathLst>
          </a:cu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782300" y="3793100"/>
            <a:ext cx="1188200" cy="839966"/>
          </a:xfrm>
          <a:custGeom>
            <a:avLst/>
            <a:gdLst/>
            <a:ahLst/>
            <a:cxnLst/>
            <a:rect l="l" t="t" r="r" b="b"/>
            <a:pathLst>
              <a:path w="1300" h="919">
                <a:moveTo>
                  <a:pt x="0" y="0"/>
                </a:moveTo>
                <a:lnTo>
                  <a:pt x="919" y="919"/>
                </a:lnTo>
                <a:lnTo>
                  <a:pt x="949" y="889"/>
                </a:lnTo>
                <a:lnTo>
                  <a:pt x="977" y="857"/>
                </a:lnTo>
                <a:lnTo>
                  <a:pt x="1005" y="825"/>
                </a:lnTo>
                <a:lnTo>
                  <a:pt x="1031" y="791"/>
                </a:lnTo>
                <a:lnTo>
                  <a:pt x="1057" y="757"/>
                </a:lnTo>
                <a:lnTo>
                  <a:pt x="1081" y="722"/>
                </a:lnTo>
                <a:lnTo>
                  <a:pt x="1104" y="686"/>
                </a:lnTo>
                <a:lnTo>
                  <a:pt x="1126" y="650"/>
                </a:lnTo>
                <a:lnTo>
                  <a:pt x="1146" y="613"/>
                </a:lnTo>
                <a:lnTo>
                  <a:pt x="1166" y="575"/>
                </a:lnTo>
                <a:lnTo>
                  <a:pt x="1184" y="537"/>
                </a:lnTo>
                <a:lnTo>
                  <a:pt x="1201" y="497"/>
                </a:lnTo>
                <a:lnTo>
                  <a:pt x="1217" y="458"/>
                </a:lnTo>
                <a:lnTo>
                  <a:pt x="1231" y="418"/>
                </a:lnTo>
                <a:lnTo>
                  <a:pt x="1244" y="377"/>
                </a:lnTo>
                <a:lnTo>
                  <a:pt x="1256" y="336"/>
                </a:lnTo>
                <a:lnTo>
                  <a:pt x="1266" y="295"/>
                </a:lnTo>
                <a:lnTo>
                  <a:pt x="1275" y="254"/>
                </a:lnTo>
                <a:lnTo>
                  <a:pt x="1283" y="212"/>
                </a:lnTo>
                <a:lnTo>
                  <a:pt x="1289" y="170"/>
                </a:lnTo>
                <a:lnTo>
                  <a:pt x="1294" y="127"/>
                </a:lnTo>
                <a:lnTo>
                  <a:pt x="1297" y="85"/>
                </a:lnTo>
                <a:lnTo>
                  <a:pt x="1299" y="43"/>
                </a:lnTo>
                <a:lnTo>
                  <a:pt x="1300" y="0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782300" y="2953134"/>
            <a:ext cx="1188200" cy="839966"/>
          </a:xfrm>
          <a:custGeom>
            <a:avLst/>
            <a:gdLst/>
            <a:ahLst/>
            <a:cxnLst/>
            <a:rect l="l" t="t" r="r" b="b"/>
            <a:pathLst>
              <a:path w="1300" h="919">
                <a:moveTo>
                  <a:pt x="0" y="919"/>
                </a:moveTo>
                <a:lnTo>
                  <a:pt x="1300" y="919"/>
                </a:lnTo>
                <a:lnTo>
                  <a:pt x="1299" y="876"/>
                </a:lnTo>
                <a:lnTo>
                  <a:pt x="1297" y="834"/>
                </a:lnTo>
                <a:lnTo>
                  <a:pt x="1294" y="792"/>
                </a:lnTo>
                <a:lnTo>
                  <a:pt x="1289" y="749"/>
                </a:lnTo>
                <a:lnTo>
                  <a:pt x="1283" y="707"/>
                </a:lnTo>
                <a:lnTo>
                  <a:pt x="1275" y="665"/>
                </a:lnTo>
                <a:lnTo>
                  <a:pt x="1266" y="624"/>
                </a:lnTo>
                <a:lnTo>
                  <a:pt x="1256" y="583"/>
                </a:lnTo>
                <a:lnTo>
                  <a:pt x="1244" y="542"/>
                </a:lnTo>
                <a:lnTo>
                  <a:pt x="1231" y="501"/>
                </a:lnTo>
                <a:lnTo>
                  <a:pt x="1217" y="461"/>
                </a:lnTo>
                <a:lnTo>
                  <a:pt x="1201" y="422"/>
                </a:lnTo>
                <a:lnTo>
                  <a:pt x="1184" y="382"/>
                </a:lnTo>
                <a:lnTo>
                  <a:pt x="1166" y="344"/>
                </a:lnTo>
                <a:lnTo>
                  <a:pt x="1146" y="306"/>
                </a:lnTo>
                <a:lnTo>
                  <a:pt x="1126" y="269"/>
                </a:lnTo>
                <a:lnTo>
                  <a:pt x="1104" y="233"/>
                </a:lnTo>
                <a:lnTo>
                  <a:pt x="1081" y="197"/>
                </a:lnTo>
                <a:lnTo>
                  <a:pt x="1057" y="162"/>
                </a:lnTo>
                <a:lnTo>
                  <a:pt x="1031" y="128"/>
                </a:lnTo>
                <a:lnTo>
                  <a:pt x="1005" y="94"/>
                </a:lnTo>
                <a:lnTo>
                  <a:pt x="977" y="62"/>
                </a:lnTo>
                <a:lnTo>
                  <a:pt x="949" y="30"/>
                </a:lnTo>
                <a:lnTo>
                  <a:pt x="919" y="0"/>
                </a:lnTo>
                <a:close/>
              </a:path>
            </a:pathLst>
          </a:cu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782300" y="2604900"/>
            <a:ext cx="839966" cy="1188200"/>
          </a:xfrm>
          <a:custGeom>
            <a:avLst/>
            <a:gdLst/>
            <a:ahLst/>
            <a:cxnLst/>
            <a:rect l="l" t="t" r="r" b="b"/>
            <a:pathLst>
              <a:path w="919" h="1300">
                <a:moveTo>
                  <a:pt x="0" y="1300"/>
                </a:moveTo>
                <a:lnTo>
                  <a:pt x="919" y="381"/>
                </a:lnTo>
                <a:lnTo>
                  <a:pt x="889" y="351"/>
                </a:lnTo>
                <a:lnTo>
                  <a:pt x="857" y="323"/>
                </a:lnTo>
                <a:lnTo>
                  <a:pt x="825" y="295"/>
                </a:lnTo>
                <a:lnTo>
                  <a:pt x="791" y="269"/>
                </a:lnTo>
                <a:lnTo>
                  <a:pt x="757" y="243"/>
                </a:lnTo>
                <a:lnTo>
                  <a:pt x="722" y="219"/>
                </a:lnTo>
                <a:lnTo>
                  <a:pt x="686" y="196"/>
                </a:lnTo>
                <a:lnTo>
                  <a:pt x="650" y="174"/>
                </a:lnTo>
                <a:lnTo>
                  <a:pt x="613" y="154"/>
                </a:lnTo>
                <a:lnTo>
                  <a:pt x="575" y="134"/>
                </a:lnTo>
                <a:lnTo>
                  <a:pt x="537" y="116"/>
                </a:lnTo>
                <a:lnTo>
                  <a:pt x="497" y="99"/>
                </a:lnTo>
                <a:lnTo>
                  <a:pt x="458" y="83"/>
                </a:lnTo>
                <a:lnTo>
                  <a:pt x="418" y="69"/>
                </a:lnTo>
                <a:lnTo>
                  <a:pt x="377" y="56"/>
                </a:lnTo>
                <a:lnTo>
                  <a:pt x="336" y="44"/>
                </a:lnTo>
                <a:lnTo>
                  <a:pt x="295" y="34"/>
                </a:lnTo>
                <a:lnTo>
                  <a:pt x="254" y="25"/>
                </a:lnTo>
                <a:lnTo>
                  <a:pt x="212" y="17"/>
                </a:lnTo>
                <a:lnTo>
                  <a:pt x="170" y="11"/>
                </a:lnTo>
                <a:lnTo>
                  <a:pt x="127" y="6"/>
                </a:lnTo>
                <a:lnTo>
                  <a:pt x="85" y="3"/>
                </a:lnTo>
                <a:lnTo>
                  <a:pt x="43" y="1"/>
                </a:lnTo>
                <a:lnTo>
                  <a:pt x="0" y="0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783080" y="3794760"/>
            <a:ext cx="1188720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65960" y="3776472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r</a:t>
            </a:r>
          </a:p>
        </p:txBody>
      </p:sp>
      <p:sp>
        <p:nvSpPr>
          <p:cNvPr id="22" name="Oval 21"/>
          <p:cNvSpPr/>
          <p:nvPr/>
        </p:nvSpPr>
        <p:spPr>
          <a:xfrm>
            <a:off x="1728216" y="3739896"/>
            <a:ext cx="109728" cy="109728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1488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4A5A70"/>
                </a:solidFill>
                <a:latin typeface="PT Sans"/>
              </a:rPr>
              <a:t>8 сектор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54680" y="3794760"/>
            <a:ext cx="640080" cy="0"/>
          </a:xfrm>
          <a:prstGeom prst="line">
            <a:avLst/>
          </a:prstGeom>
          <a:ln w="317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3793100" y="3656000"/>
            <a:ext cx="228500" cy="274200"/>
          </a:xfrm>
          <a:custGeom>
            <a:avLst/>
            <a:gdLst/>
            <a:ahLst/>
            <a:cxnLst/>
            <a:rect l="l" t="t" r="r" b="b"/>
            <a:pathLst>
              <a:path w="250" h="300">
                <a:moveTo>
                  <a:pt x="0" y="0"/>
                </a:moveTo>
                <a:lnTo>
                  <a:pt x="250" y="150"/>
                </a:lnTo>
                <a:lnTo>
                  <a:pt x="0" y="300"/>
                </a:lnTo>
                <a:close/>
              </a:path>
            </a:pathLst>
          </a:custGeom>
          <a:solidFill>
            <a:srgbClr val="4A5A7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250100" y="3244700"/>
            <a:ext cx="909430" cy="1188200"/>
          </a:xfrm>
          <a:custGeom>
            <a:avLst/>
            <a:gdLst/>
            <a:ahLst/>
            <a:cxnLst/>
            <a:rect l="l" t="t" r="r" b="b"/>
            <a:pathLst>
              <a:path w="995" h="1300">
                <a:moveTo>
                  <a:pt x="497" y="1300"/>
                </a:moveTo>
                <a:lnTo>
                  <a:pt x="995" y="99"/>
                </a:lnTo>
                <a:lnTo>
                  <a:pt x="955" y="83"/>
                </a:lnTo>
                <a:lnTo>
                  <a:pt x="915" y="69"/>
                </a:lnTo>
                <a:lnTo>
                  <a:pt x="875" y="56"/>
                </a:lnTo>
                <a:lnTo>
                  <a:pt x="834" y="44"/>
                </a:lnTo>
                <a:lnTo>
                  <a:pt x="793" y="34"/>
                </a:lnTo>
                <a:lnTo>
                  <a:pt x="751" y="25"/>
                </a:lnTo>
                <a:lnTo>
                  <a:pt x="709" y="17"/>
                </a:lnTo>
                <a:lnTo>
                  <a:pt x="667" y="11"/>
                </a:lnTo>
                <a:lnTo>
                  <a:pt x="625" y="6"/>
                </a:lnTo>
                <a:lnTo>
                  <a:pt x="583" y="3"/>
                </a:lnTo>
                <a:lnTo>
                  <a:pt x="540" y="1"/>
                </a:lnTo>
                <a:lnTo>
                  <a:pt x="497" y="0"/>
                </a:lnTo>
                <a:lnTo>
                  <a:pt x="455" y="1"/>
                </a:lnTo>
                <a:lnTo>
                  <a:pt x="412" y="3"/>
                </a:lnTo>
                <a:lnTo>
                  <a:pt x="370" y="6"/>
                </a:lnTo>
                <a:lnTo>
                  <a:pt x="328" y="11"/>
                </a:lnTo>
                <a:lnTo>
                  <a:pt x="286" y="17"/>
                </a:lnTo>
                <a:lnTo>
                  <a:pt x="244" y="25"/>
                </a:lnTo>
                <a:lnTo>
                  <a:pt x="202" y="34"/>
                </a:lnTo>
                <a:lnTo>
                  <a:pt x="161" y="44"/>
                </a:lnTo>
                <a:lnTo>
                  <a:pt x="120" y="56"/>
                </a:lnTo>
                <a:lnTo>
                  <a:pt x="80" y="69"/>
                </a:lnTo>
                <a:lnTo>
                  <a:pt x="40" y="83"/>
                </a:lnTo>
                <a:lnTo>
                  <a:pt x="0" y="99"/>
                </a:lnTo>
                <a:close/>
              </a:path>
            </a:pathLst>
          </a:cu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704358" y="3335186"/>
            <a:ext cx="909430" cy="1188200"/>
          </a:xfrm>
          <a:custGeom>
            <a:avLst/>
            <a:gdLst/>
            <a:ahLst/>
            <a:cxnLst/>
            <a:rect l="l" t="t" r="r" b="b"/>
            <a:pathLst>
              <a:path w="995" h="1300">
                <a:moveTo>
                  <a:pt x="498" y="0"/>
                </a:moveTo>
                <a:lnTo>
                  <a:pt x="0" y="1201"/>
                </a:lnTo>
                <a:lnTo>
                  <a:pt x="40" y="1217"/>
                </a:lnTo>
                <a:lnTo>
                  <a:pt x="80" y="1231"/>
                </a:lnTo>
                <a:lnTo>
                  <a:pt x="121" y="1244"/>
                </a:lnTo>
                <a:lnTo>
                  <a:pt x="162" y="1256"/>
                </a:lnTo>
                <a:lnTo>
                  <a:pt x="203" y="1266"/>
                </a:lnTo>
                <a:lnTo>
                  <a:pt x="244" y="1275"/>
                </a:lnTo>
                <a:lnTo>
                  <a:pt x="286" y="1283"/>
                </a:lnTo>
                <a:lnTo>
                  <a:pt x="328" y="1289"/>
                </a:lnTo>
                <a:lnTo>
                  <a:pt x="371" y="1294"/>
                </a:lnTo>
                <a:lnTo>
                  <a:pt x="413" y="1297"/>
                </a:lnTo>
                <a:lnTo>
                  <a:pt x="455" y="1299"/>
                </a:lnTo>
                <a:lnTo>
                  <a:pt x="498" y="1300"/>
                </a:lnTo>
                <a:lnTo>
                  <a:pt x="541" y="1299"/>
                </a:lnTo>
                <a:lnTo>
                  <a:pt x="583" y="1297"/>
                </a:lnTo>
                <a:lnTo>
                  <a:pt x="625" y="1294"/>
                </a:lnTo>
                <a:lnTo>
                  <a:pt x="668" y="1289"/>
                </a:lnTo>
                <a:lnTo>
                  <a:pt x="710" y="1283"/>
                </a:lnTo>
                <a:lnTo>
                  <a:pt x="752" y="1275"/>
                </a:lnTo>
                <a:lnTo>
                  <a:pt x="793" y="1266"/>
                </a:lnTo>
                <a:lnTo>
                  <a:pt x="834" y="1256"/>
                </a:lnTo>
                <a:lnTo>
                  <a:pt x="875" y="1244"/>
                </a:lnTo>
                <a:lnTo>
                  <a:pt x="916" y="1231"/>
                </a:lnTo>
                <a:lnTo>
                  <a:pt x="956" y="1217"/>
                </a:lnTo>
                <a:lnTo>
                  <a:pt x="995" y="1201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159530" y="3244700"/>
            <a:ext cx="909430" cy="1188200"/>
          </a:xfrm>
          <a:custGeom>
            <a:avLst/>
            <a:gdLst/>
            <a:ahLst/>
            <a:cxnLst/>
            <a:rect l="l" t="t" r="r" b="b"/>
            <a:pathLst>
              <a:path w="995" h="1300">
                <a:moveTo>
                  <a:pt x="497" y="1300"/>
                </a:moveTo>
                <a:lnTo>
                  <a:pt x="995" y="99"/>
                </a:lnTo>
                <a:lnTo>
                  <a:pt x="955" y="83"/>
                </a:lnTo>
                <a:lnTo>
                  <a:pt x="915" y="69"/>
                </a:lnTo>
                <a:lnTo>
                  <a:pt x="875" y="56"/>
                </a:lnTo>
                <a:lnTo>
                  <a:pt x="834" y="44"/>
                </a:lnTo>
                <a:lnTo>
                  <a:pt x="793" y="34"/>
                </a:lnTo>
                <a:lnTo>
                  <a:pt x="751" y="25"/>
                </a:lnTo>
                <a:lnTo>
                  <a:pt x="709" y="17"/>
                </a:lnTo>
                <a:lnTo>
                  <a:pt x="667" y="11"/>
                </a:lnTo>
                <a:lnTo>
                  <a:pt x="625" y="6"/>
                </a:lnTo>
                <a:lnTo>
                  <a:pt x="582" y="3"/>
                </a:lnTo>
                <a:lnTo>
                  <a:pt x="540" y="1"/>
                </a:lnTo>
                <a:lnTo>
                  <a:pt x="497" y="0"/>
                </a:lnTo>
                <a:lnTo>
                  <a:pt x="455" y="1"/>
                </a:lnTo>
                <a:lnTo>
                  <a:pt x="412" y="3"/>
                </a:lnTo>
                <a:lnTo>
                  <a:pt x="370" y="6"/>
                </a:lnTo>
                <a:lnTo>
                  <a:pt x="328" y="11"/>
                </a:lnTo>
                <a:lnTo>
                  <a:pt x="286" y="17"/>
                </a:lnTo>
                <a:lnTo>
                  <a:pt x="244" y="25"/>
                </a:lnTo>
                <a:lnTo>
                  <a:pt x="202" y="34"/>
                </a:lnTo>
                <a:lnTo>
                  <a:pt x="161" y="44"/>
                </a:lnTo>
                <a:lnTo>
                  <a:pt x="120" y="56"/>
                </a:lnTo>
                <a:lnTo>
                  <a:pt x="80" y="69"/>
                </a:lnTo>
                <a:lnTo>
                  <a:pt x="40" y="83"/>
                </a:lnTo>
                <a:lnTo>
                  <a:pt x="0" y="99"/>
                </a:lnTo>
                <a:close/>
              </a:path>
            </a:pathLst>
          </a:cu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5613788" y="3335186"/>
            <a:ext cx="909430" cy="1188200"/>
          </a:xfrm>
          <a:custGeom>
            <a:avLst/>
            <a:gdLst/>
            <a:ahLst/>
            <a:cxnLst/>
            <a:rect l="l" t="t" r="r" b="b"/>
            <a:pathLst>
              <a:path w="995" h="1300">
                <a:moveTo>
                  <a:pt x="498" y="0"/>
                </a:moveTo>
                <a:lnTo>
                  <a:pt x="0" y="1201"/>
                </a:lnTo>
                <a:lnTo>
                  <a:pt x="40" y="1217"/>
                </a:lnTo>
                <a:lnTo>
                  <a:pt x="80" y="1231"/>
                </a:lnTo>
                <a:lnTo>
                  <a:pt x="121" y="1244"/>
                </a:lnTo>
                <a:lnTo>
                  <a:pt x="161" y="1256"/>
                </a:lnTo>
                <a:lnTo>
                  <a:pt x="203" y="1266"/>
                </a:lnTo>
                <a:lnTo>
                  <a:pt x="244" y="1275"/>
                </a:lnTo>
                <a:lnTo>
                  <a:pt x="286" y="1283"/>
                </a:lnTo>
                <a:lnTo>
                  <a:pt x="328" y="1289"/>
                </a:lnTo>
                <a:lnTo>
                  <a:pt x="371" y="1294"/>
                </a:lnTo>
                <a:lnTo>
                  <a:pt x="413" y="1297"/>
                </a:lnTo>
                <a:lnTo>
                  <a:pt x="455" y="1299"/>
                </a:lnTo>
                <a:lnTo>
                  <a:pt x="498" y="1300"/>
                </a:lnTo>
                <a:lnTo>
                  <a:pt x="540" y="1299"/>
                </a:lnTo>
                <a:lnTo>
                  <a:pt x="583" y="1297"/>
                </a:lnTo>
                <a:lnTo>
                  <a:pt x="625" y="1294"/>
                </a:lnTo>
                <a:lnTo>
                  <a:pt x="668" y="1289"/>
                </a:lnTo>
                <a:lnTo>
                  <a:pt x="710" y="1283"/>
                </a:lnTo>
                <a:lnTo>
                  <a:pt x="752" y="1275"/>
                </a:lnTo>
                <a:lnTo>
                  <a:pt x="793" y="1266"/>
                </a:lnTo>
                <a:lnTo>
                  <a:pt x="834" y="1256"/>
                </a:lnTo>
                <a:lnTo>
                  <a:pt x="875" y="1244"/>
                </a:lnTo>
                <a:lnTo>
                  <a:pt x="916" y="1231"/>
                </a:lnTo>
                <a:lnTo>
                  <a:pt x="956" y="1217"/>
                </a:lnTo>
                <a:lnTo>
                  <a:pt x="995" y="1201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6068960" y="3244700"/>
            <a:ext cx="909430" cy="1188200"/>
          </a:xfrm>
          <a:custGeom>
            <a:avLst/>
            <a:gdLst/>
            <a:ahLst/>
            <a:cxnLst/>
            <a:rect l="l" t="t" r="r" b="b"/>
            <a:pathLst>
              <a:path w="995" h="1300">
                <a:moveTo>
                  <a:pt x="497" y="1300"/>
                </a:moveTo>
                <a:lnTo>
                  <a:pt x="995" y="99"/>
                </a:lnTo>
                <a:lnTo>
                  <a:pt x="955" y="83"/>
                </a:lnTo>
                <a:lnTo>
                  <a:pt x="915" y="69"/>
                </a:lnTo>
                <a:lnTo>
                  <a:pt x="875" y="56"/>
                </a:lnTo>
                <a:lnTo>
                  <a:pt x="834" y="44"/>
                </a:lnTo>
                <a:lnTo>
                  <a:pt x="793" y="34"/>
                </a:lnTo>
                <a:lnTo>
                  <a:pt x="751" y="25"/>
                </a:lnTo>
                <a:lnTo>
                  <a:pt x="709" y="17"/>
                </a:lnTo>
                <a:lnTo>
                  <a:pt x="667" y="11"/>
                </a:lnTo>
                <a:lnTo>
                  <a:pt x="625" y="6"/>
                </a:lnTo>
                <a:lnTo>
                  <a:pt x="582" y="3"/>
                </a:lnTo>
                <a:lnTo>
                  <a:pt x="540" y="1"/>
                </a:lnTo>
                <a:lnTo>
                  <a:pt x="497" y="0"/>
                </a:lnTo>
                <a:lnTo>
                  <a:pt x="455" y="1"/>
                </a:lnTo>
                <a:lnTo>
                  <a:pt x="412" y="3"/>
                </a:lnTo>
                <a:lnTo>
                  <a:pt x="370" y="6"/>
                </a:lnTo>
                <a:lnTo>
                  <a:pt x="328" y="11"/>
                </a:lnTo>
                <a:lnTo>
                  <a:pt x="286" y="17"/>
                </a:lnTo>
                <a:lnTo>
                  <a:pt x="244" y="25"/>
                </a:lnTo>
                <a:lnTo>
                  <a:pt x="202" y="34"/>
                </a:lnTo>
                <a:lnTo>
                  <a:pt x="161" y="44"/>
                </a:lnTo>
                <a:lnTo>
                  <a:pt x="120" y="56"/>
                </a:lnTo>
                <a:lnTo>
                  <a:pt x="80" y="69"/>
                </a:lnTo>
                <a:lnTo>
                  <a:pt x="40" y="83"/>
                </a:lnTo>
                <a:lnTo>
                  <a:pt x="0" y="99"/>
                </a:lnTo>
                <a:close/>
              </a:path>
            </a:pathLst>
          </a:cu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6523218" y="3335186"/>
            <a:ext cx="909430" cy="1188200"/>
          </a:xfrm>
          <a:custGeom>
            <a:avLst/>
            <a:gdLst/>
            <a:ahLst/>
            <a:cxnLst/>
            <a:rect l="l" t="t" r="r" b="b"/>
            <a:pathLst>
              <a:path w="995" h="1300">
                <a:moveTo>
                  <a:pt x="498" y="0"/>
                </a:moveTo>
                <a:lnTo>
                  <a:pt x="0" y="1201"/>
                </a:lnTo>
                <a:lnTo>
                  <a:pt x="40" y="1217"/>
                </a:lnTo>
                <a:lnTo>
                  <a:pt x="80" y="1231"/>
                </a:lnTo>
                <a:lnTo>
                  <a:pt x="121" y="1244"/>
                </a:lnTo>
                <a:lnTo>
                  <a:pt x="161" y="1256"/>
                </a:lnTo>
                <a:lnTo>
                  <a:pt x="203" y="1266"/>
                </a:lnTo>
                <a:lnTo>
                  <a:pt x="244" y="1275"/>
                </a:lnTo>
                <a:lnTo>
                  <a:pt x="286" y="1283"/>
                </a:lnTo>
                <a:lnTo>
                  <a:pt x="328" y="1289"/>
                </a:lnTo>
                <a:lnTo>
                  <a:pt x="371" y="1294"/>
                </a:lnTo>
                <a:lnTo>
                  <a:pt x="413" y="1297"/>
                </a:lnTo>
                <a:lnTo>
                  <a:pt x="455" y="1299"/>
                </a:lnTo>
                <a:lnTo>
                  <a:pt x="498" y="1300"/>
                </a:lnTo>
                <a:lnTo>
                  <a:pt x="540" y="1299"/>
                </a:lnTo>
                <a:lnTo>
                  <a:pt x="583" y="1297"/>
                </a:lnTo>
                <a:lnTo>
                  <a:pt x="625" y="1294"/>
                </a:lnTo>
                <a:lnTo>
                  <a:pt x="668" y="1289"/>
                </a:lnTo>
                <a:lnTo>
                  <a:pt x="710" y="1283"/>
                </a:lnTo>
                <a:lnTo>
                  <a:pt x="752" y="1275"/>
                </a:lnTo>
                <a:lnTo>
                  <a:pt x="793" y="1266"/>
                </a:lnTo>
                <a:lnTo>
                  <a:pt x="834" y="1256"/>
                </a:lnTo>
                <a:lnTo>
                  <a:pt x="875" y="1244"/>
                </a:lnTo>
                <a:lnTo>
                  <a:pt x="916" y="1231"/>
                </a:lnTo>
                <a:lnTo>
                  <a:pt x="956" y="1217"/>
                </a:lnTo>
                <a:lnTo>
                  <a:pt x="995" y="1201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978390" y="3244700"/>
            <a:ext cx="909430" cy="1188200"/>
          </a:xfrm>
          <a:custGeom>
            <a:avLst/>
            <a:gdLst/>
            <a:ahLst/>
            <a:cxnLst/>
            <a:rect l="l" t="t" r="r" b="b"/>
            <a:pathLst>
              <a:path w="995" h="1300">
                <a:moveTo>
                  <a:pt x="497" y="1300"/>
                </a:moveTo>
                <a:lnTo>
                  <a:pt x="995" y="99"/>
                </a:lnTo>
                <a:lnTo>
                  <a:pt x="955" y="83"/>
                </a:lnTo>
                <a:lnTo>
                  <a:pt x="915" y="69"/>
                </a:lnTo>
                <a:lnTo>
                  <a:pt x="875" y="56"/>
                </a:lnTo>
                <a:lnTo>
                  <a:pt x="834" y="44"/>
                </a:lnTo>
                <a:lnTo>
                  <a:pt x="793" y="34"/>
                </a:lnTo>
                <a:lnTo>
                  <a:pt x="751" y="25"/>
                </a:lnTo>
                <a:lnTo>
                  <a:pt x="709" y="17"/>
                </a:lnTo>
                <a:lnTo>
                  <a:pt x="667" y="11"/>
                </a:lnTo>
                <a:lnTo>
                  <a:pt x="625" y="6"/>
                </a:lnTo>
                <a:lnTo>
                  <a:pt x="582" y="3"/>
                </a:lnTo>
                <a:lnTo>
                  <a:pt x="540" y="1"/>
                </a:lnTo>
                <a:lnTo>
                  <a:pt x="497" y="0"/>
                </a:lnTo>
                <a:lnTo>
                  <a:pt x="455" y="1"/>
                </a:lnTo>
                <a:lnTo>
                  <a:pt x="412" y="3"/>
                </a:lnTo>
                <a:lnTo>
                  <a:pt x="370" y="6"/>
                </a:lnTo>
                <a:lnTo>
                  <a:pt x="328" y="11"/>
                </a:lnTo>
                <a:lnTo>
                  <a:pt x="286" y="17"/>
                </a:lnTo>
                <a:lnTo>
                  <a:pt x="244" y="25"/>
                </a:lnTo>
                <a:lnTo>
                  <a:pt x="202" y="34"/>
                </a:lnTo>
                <a:lnTo>
                  <a:pt x="161" y="44"/>
                </a:lnTo>
                <a:lnTo>
                  <a:pt x="120" y="56"/>
                </a:lnTo>
                <a:lnTo>
                  <a:pt x="80" y="69"/>
                </a:lnTo>
                <a:lnTo>
                  <a:pt x="39" y="83"/>
                </a:lnTo>
                <a:lnTo>
                  <a:pt x="0" y="99"/>
                </a:lnTo>
                <a:close/>
              </a:path>
            </a:pathLst>
          </a:cu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7432648" y="3335186"/>
            <a:ext cx="909430" cy="1188200"/>
          </a:xfrm>
          <a:custGeom>
            <a:avLst/>
            <a:gdLst/>
            <a:ahLst/>
            <a:cxnLst/>
            <a:rect l="l" t="t" r="r" b="b"/>
            <a:pathLst>
              <a:path w="995" h="1300">
                <a:moveTo>
                  <a:pt x="498" y="0"/>
                </a:moveTo>
                <a:lnTo>
                  <a:pt x="0" y="1201"/>
                </a:lnTo>
                <a:lnTo>
                  <a:pt x="40" y="1217"/>
                </a:lnTo>
                <a:lnTo>
                  <a:pt x="80" y="1231"/>
                </a:lnTo>
                <a:lnTo>
                  <a:pt x="121" y="1244"/>
                </a:lnTo>
                <a:lnTo>
                  <a:pt x="161" y="1256"/>
                </a:lnTo>
                <a:lnTo>
                  <a:pt x="203" y="1266"/>
                </a:lnTo>
                <a:lnTo>
                  <a:pt x="244" y="1275"/>
                </a:lnTo>
                <a:lnTo>
                  <a:pt x="286" y="1283"/>
                </a:lnTo>
                <a:lnTo>
                  <a:pt x="328" y="1289"/>
                </a:lnTo>
                <a:lnTo>
                  <a:pt x="370" y="1294"/>
                </a:lnTo>
                <a:lnTo>
                  <a:pt x="413" y="1297"/>
                </a:lnTo>
                <a:lnTo>
                  <a:pt x="455" y="1299"/>
                </a:lnTo>
                <a:lnTo>
                  <a:pt x="498" y="1300"/>
                </a:lnTo>
                <a:lnTo>
                  <a:pt x="540" y="1299"/>
                </a:lnTo>
                <a:lnTo>
                  <a:pt x="583" y="1297"/>
                </a:lnTo>
                <a:lnTo>
                  <a:pt x="625" y="1294"/>
                </a:lnTo>
                <a:lnTo>
                  <a:pt x="668" y="1289"/>
                </a:lnTo>
                <a:lnTo>
                  <a:pt x="710" y="1283"/>
                </a:lnTo>
                <a:lnTo>
                  <a:pt x="752" y="1275"/>
                </a:lnTo>
                <a:lnTo>
                  <a:pt x="793" y="1266"/>
                </a:lnTo>
                <a:lnTo>
                  <a:pt x="834" y="1256"/>
                </a:lnTo>
                <a:lnTo>
                  <a:pt x="875" y="1244"/>
                </a:lnTo>
                <a:lnTo>
                  <a:pt x="916" y="1231"/>
                </a:lnTo>
                <a:lnTo>
                  <a:pt x="956" y="1217"/>
                </a:lnTo>
                <a:lnTo>
                  <a:pt x="995" y="1201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4706863" y="3336605"/>
            <a:ext cx="0" cy="1116522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22815" y="370284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51960" y="3136391"/>
            <a:ext cx="409413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51960" y="3136391"/>
            <a:ext cx="0" cy="109729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346091" y="3136391"/>
            <a:ext cx="0" cy="109729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069080" y="2697479"/>
            <a:ext cx="4459891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жарым айлана ≈ 3,14 × 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4709159"/>
            <a:ext cx="445989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1">
                <a:solidFill>
                  <a:srgbClr val="4A5A70"/>
                </a:solidFill>
                <a:latin typeface="PT Sans"/>
              </a:rPr>
              <a:t>16 сектор кессек, тик бурчтукка дагы жакын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214884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2212848"/>
            <a:ext cx="237744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Тик бурчтуктай: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узуну = 3,14 × r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бийиктиги = r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S = 3,14 × r × r</a:t>
            </a:r>
          </a:p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= 3,14 × r²</a:t>
            </a:r>
          </a:p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Аянтта – радиус!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S = (3,14 × r) × r = 3,14 × r²   ·   Гүлзар: 3,14 × 3² = 28,26 м²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d = 2r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Диаметр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r = d ÷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C = πd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Айлананын узундугу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π ≈ 3,14; бирдиги м, см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S = πr²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Тегеректин аянты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r² = r × r; бирдиги м², см²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½ · 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Жарым, чейрек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S ÷ 2, S ÷ 4; четине r же d кош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d = 6 м:  C = 3,14 × 6 = 18,84 м,  S = 28,26 м²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Тегерек токочтун диаметри 20 см. Айланасы жана аянты канча? Адегенде болжолдо: π ≈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r = 20 ÷ 2 =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C = 3,14 × 20 = 62,8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см (≈ 60 ✓)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S = 3,14 × 10²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r² =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3,14 × 100 = 314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см²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S = </a:t>
            </a:r>
            <a:r>
              <a:rPr sz="3400" b="1">
                <a:solidFill>
                  <a:srgbClr val="24418C"/>
                </a:solidFill>
                <a:latin typeface="PT Sans"/>
              </a:rPr>
              <a:t>314 см²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Гүлзардын жанында жарым тегерек отургуч: диаметри 6 м. Аянты жана четинин узундугу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r = 6 ÷ 2 =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S = 3,14 × 3² ÷ 2 = 14,13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3,14 × 6 ÷ 2 = 9,42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м: жарым айлана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P = 9,42 + 6 = 15,42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м: + диаметр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P = </a:t>
            </a:r>
            <a:r>
              <a:rPr sz="3400" b="1">
                <a:solidFill>
                  <a:srgbClr val="24418C"/>
                </a:solidFill>
                <a:latin typeface="PT Sans"/>
              </a:rPr>
              <a:t>15,42 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болжолдо, бөлүп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π ≈ 3 менен болжолдо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d = 7 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C ≈ 3 × 7 =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так: 21,98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Жооп 3 × dдан бир аз көп болушу керек.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3,14 × d бөлүп эсепте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3,14 ×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3 × 6 + 0,14 ×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18 + 0,84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18,84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3 эсеси, анан 0,14 эсеси.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Квадрат адегенде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r =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r² = 3 × 3 =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S = 3,14 ×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28,26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r² = r × r. Анан гана 3,14кө көбөйтөм.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 (π ≈ 3) → так эсепте (π ≈ 3,14) → болжол менен салыштыр.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Гүлзардын радиусу 4 м. Аянты канча? (π ≈ 3,14)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25,12 м²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50,24 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200,96 м²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502,4 м²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Токтосун атанын жиби (радиус) 3 м. Гүлзардын диаметри канча? Тилке: d = r + 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Айланасы 18,84 м: 19 м бордюр алышты, 1 метри 150 сом. 5 000 сом беришти. Канча сом кайтарып беришет?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Квадрат жер 4 м × 4 м. Ортосуна диаметри 4 м тегерек гүлзар жасалды. Калган жерге чөп себилет. Канча м²?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Токтосун атанын жиби (радиус) 3 м. Гүлзардын диаметри канча? Тилке: d = r + 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1719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8884" y="3017520"/>
            <a:ext cx="11719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 + 3 = 6 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Айланасы 18,84 м: 19 м бордюр алышты, 1 метри 150 сом. 5 000 сом беришти. Канча сом кайтарып беришет?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133602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2 850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55629" y="3017520"/>
            <a:ext cx="10078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2 150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5 000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19 × 150 = 2 850;  2 150 сом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Квадрат жер 4 м × 4 м. Ортосуна диаметри 4 м тегерек гүлзар жасалды. Калган жерге чөп себилет. Канча м²?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2272" y="3017520"/>
            <a:ext cx="183997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12,56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12242" y="3017520"/>
            <a:ext cx="50394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16 − 12,56 = 3,44 м²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d = 14 см. C ≈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r = 6 м. S ≈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C = 47,1 см. d =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Жарым тегерек, r = 4 см. S ≈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Чейрек тегерек, r = 10 м. S ≈ 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Жарым тегерек, d = 10 м. P ≈ 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d = 14 см. C ≈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43,96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r = 6 м. S ≈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113,04 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C = 47,1 см. d =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 см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Жарым тегерек, r = 4 см. S ≈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25,12 см²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Чейрек тегерек, r = 10 м. S ≈ 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78,5 м²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Жарым тегерек, d = 10 м. P ≈ 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25,7 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Гүлзардын радиусу 3 м, диаметри 6 м. Айланасына канча метр бордюр, ичине канча м² кара топурак керек? π ≈ 3,14.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Айлана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2417044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94484" y="2240280"/>
            <a:ext cx="2417044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11529" y="2240280"/>
            <a:ext cx="2417044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8573" y="2240280"/>
            <a:ext cx="338386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18,84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C = 3,14 × 6 = 18,84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м: бордюр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r = 6 ÷ 2 =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S = 3,14 × 3² = 3,14 ×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r² =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= 28,26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м²: топурак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Бордюр ≈ 18,84 м (19 м алабыз), кара топурак ≈ 28,26 м².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Кара-Балтадагы гүлзар жөнүндө маселе түз: бордюр (айлана) же топурак (тегерек) керек болсун; жарым же чейрек тегерек да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Бегимай, Арген, Токтосун ата.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Тегеректин диаметри 12 см. Радиусу жана айлананын узундугу канча?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Радиусу 5 м гүлзардын аянты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Жарым тегерек, d = 4 м. Аянты жана периметри канча?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Айлана менен тегеректин айырмасы эмнеде? Бирдиктери кандай?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C ÷ d бардык тегерек буюмдарда 3,14кө жакын чыкты?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Аянтты тапканда эмне үчүн радиус керек, диаметр эмес?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маселеде адегенде «r = ?, d = ?» деп жаздырам (М1, М4).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«Айланабы же жабабы?»: жип – C (м), сектор – S (м²) (М2).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3,14 × … эсебинен мурун π ≈ 3 менен болжолдотом (М6).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окуучунун колунда жип жана кагаз тегерек болушун сунуштайм.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