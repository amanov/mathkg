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аталышы жана бүгүнкү окуя.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жолу: ар бир бөлүк өз слайды менен ачылат.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Окуяны окуп берем. Адегенде болжолдошсун: жетеби, жетпейби? Колдорун көтөрүп добуш беришет. Жоопту сабактын аягында (22-слайд) текшеребиз.</a:t>
            </a:r>
          </a:p>
          <a:p>
            <a:r>
              <a:t>3C (Байланыштыруу): Окуя турмуштан: бул суроого сабактын аягында кайтабыз.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Ой жүгүртүү маданияты (Wenxi Lee, 2.6).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Ийгилик критерийлери: сабактын аягында ар бирине ✓ коёбуз.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Спираль: тема класстан класска тереңдейт.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Мини-тактага жазышат.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Жоопту дароо айтпайбыз. Жупта талкуулашат. Жооп: Айдана: 18 сом – 60 сомдун 30%ы. Бекзат бөлүктү эле пайыз деп жазды (М4).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жупка чакмак дептерден кесилген 10 × 10 тор жана 20 буурчак (же таш). 1) Бүт тор = 480 сом = 100%. 2) Бир тилке (10 чакмак) = 10% = 48 сом: тилкенин үстүнө 48 деп жазышат. 3) Бир чакмак = 1% = 4,8 сом. 4) 15 чакмакка буурчак коюшат: бир тилке жана жарым тилке = 48 + 24 = 72 сом. 5) Калган 85 чакмак = 408 сом. Проектор жок болсо, доскага чоң тор чийем.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Кагаз тилкени 10го бүктөйбүз (адегенде экиге, анан бешке). Үстүнө сом, астына пайыз жазабыз: эки шкала бир тилкеде. 85%дын тушунда 408 сом. Окуучулар ушул тилкени дептерге чийишет; кийинки маселелерде да ушундай тилке чийебиз.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Жаңысы: каалаган пайызды 10% жана 1%дан курап алабыз; баа өзгөрсө, көбөйтүүчү 100%дан башталат: 100% − 15% = 85% = 0,85. Канча пайызы: бөлүктү бүтүнгө бөлөбүз, өзгөрүүнү МУРУНКУ баага бөлөбүз. Ката коддору: М1 (15% = 15 сом), М3 (1% = ÷ 10), М4 (18 сом = 18%), М5 (жаңы баага бөлүү), М7 (5% = 0,5).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Окуучулар ыкманы үн чыгарып айтышат: «адегенде 10%ды табам, анан курайм». «Оозеки беш мүнөт» (класста колдонуу картасы, 3-бет) эки апта ушуларды кайталайт.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Баары бир убакта манжа менен көрсөтөт (1–4). Туура эмес жооптун коду: А = М1; Б = М2; В = ✓; Г = М7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деңгээл: чоңдуктун пайызы → кымбаттоо → пайыздык өзгөрүү. Жооптор: 300 ÷ 10 × 3 = 90 китеп; 150 + 30 = 180 сом; 80 ÷ 320 = 25%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Жеңилден баштап, мүмкүн болушунча алдыга.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10% = 48 сом, 5% = 24 сом, арзандатуу 72 сом. 480 − 72 = 408, 410 − 408 = 2 сом калат. Бекзат башында «480 − 15 = 465, жетпейт» деген (М1): ката чечимди да өзгөртөт. Көбөйтүүчү менен текшеребиз: 480 × 0,85 = 408.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Блум: Түзүү. Жупта алмашып, бири-биринин маселесин чыгарышат.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Жооптор: 54; 25%; 544 сом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Бул слайд окуучуларга көрсөтүлбөйт.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728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7160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1188720"/>
            <a:ext cx="96012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691640"/>
            <a:ext cx="9601200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D3557"/>
                </a:solidFill>
                <a:latin typeface="PT Sans"/>
              </a:rPr>
              <a:t>Пайыз: чоңдуктун пайызы, пайызга көбөйтүү жана азайтуу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0" y="3611880"/>
            <a:ext cx="8778240" cy="14630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57400" y="3657600"/>
            <a:ext cx="8321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Бүгүнкү окуя: Ноокаттагы китеп жарманкеси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4160520"/>
            <a:ext cx="83210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Айдана менен Бекзат Ноокаттагы күзгү китеп жарманкесине барышат: баалар пайыз менен өзгөрөт.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349240"/>
            <a:ext cx="9601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6B7280"/>
                </a:solidFill>
                <a:latin typeface="PT Sans"/>
              </a:rPr>
              <a:t>Китеп: Стандарт 2018, 6-класс «Пайыз» (пайыз). Мурунку пакеттер: «Бөлчөк, ондук бөлчөк жана пайыз», «Пропорция жана процент». Мазмуну оригиналдуу.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Сабактын мазмуну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Пайыз: чоңдуктун пайызы, өзгөрүү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0080" y="1463039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280160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Кириш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280160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Окуя, эрежелер, максаттар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2212848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2395728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212848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Даярдык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212848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Эстейбиз, «Ким туура?»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145536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0080" y="3328416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45536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Түшүнөбүз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145536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 → С → А: буюм, тилке, эреже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" y="4078224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0080" y="426110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4078224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Машыгабыз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078224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Чечүүчү суроо, тилке, өз алдынча иш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5010912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0080" y="5193792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5010912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Жыйынтык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5010912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Окуяга кайтуу, түзүү, чыгуу билети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Окуя: Ноокаттагы китеп жарманкеси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Пайыз: чоңдуктун пайызы, өзгөрүү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76656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25880"/>
            <a:ext cx="6217920" cy="4389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Ноокат шаарынын маданият үйүндө күзгү китеп жарманкеси ачылды.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Айдана менен Бекзат 6-класста окушат. Апасы Айданага 410 сом берди: 200 сомдук эки кагаз акча жана 10 сомдук бир тыйын.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Сатуучу Гүлнара эже: «Бүгүн балдар китептери 15% арзан!»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Айдана «Манас» эпосунун балдар үчүн басылышын тандады. Анын баасы 480 сом.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1225296"/>
            <a:ext cx="4352544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1325880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Суроо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1828800"/>
            <a:ext cx="39319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Китеп 480 сом, бүгүн 15% арзан. Айдананын 410 сому бар. Акчасы жетеби? Канча калат?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4572000"/>
            <a:ext cx="3931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1">
                <a:solidFill>
                  <a:srgbClr val="6B7280"/>
                </a:solidFill>
                <a:latin typeface="PT Sans"/>
              </a:rPr>
              <a:t>Азыр жообун айтпайбыз. Ойлон: кантип билебиз?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Математикада биз…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Пайыз: чоңдуктун пайызы, өзгөрүү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Ката – үйрөнүүнүн бир бөлүгү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Ката кетсе, эмне үчүн кеткенин издейбиз.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2439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11039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«Азырынча билбейм»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1039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«Билбейм» эмес, «азырынча». Машыксак, үйрөнөбүз.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112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63712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Адегенде түшүн, анан эсепте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3712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Сүрөт же тилке чийип, анан сан менен жазабыз.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Максаттар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Пайыз: чоңдуктун пайызы, өзгөрүү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409944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29768" y="1865376"/>
            <a:ext cx="6409944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12648" y="1225296"/>
            <a:ext cx="604418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Бүгүн биз үйрөнөбүз</a:t>
            </a:r>
          </a:p>
        </p:txBody>
      </p:sp>
      <p:sp>
        <p:nvSpPr>
          <p:cNvPr id="13" name="Oval 12"/>
          <p:cNvSpPr/>
          <p:nvPr/>
        </p:nvSpPr>
        <p:spPr>
          <a:xfrm>
            <a:off x="722376" y="21488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211226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Чоңдуктун 10%ын жана 1%ын таап, каалаган пайызды курап табам; көбөйтүүчү менен да эсептейм.</a:t>
            </a:r>
          </a:p>
        </p:txBody>
      </p:sp>
      <p:sp>
        <p:nvSpPr>
          <p:cNvPr id="15" name="Oval 14"/>
          <p:cNvSpPr/>
          <p:nvPr/>
        </p:nvSpPr>
        <p:spPr>
          <a:xfrm>
            <a:off x="722376" y="342900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1872" y="339242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Бир чоңдук экинчисинин канча пайызы экенин табам.</a:t>
            </a:r>
          </a:p>
        </p:txBody>
      </p:sp>
      <p:sp>
        <p:nvSpPr>
          <p:cNvPr id="17" name="Oval 16"/>
          <p:cNvSpPr/>
          <p:nvPr/>
        </p:nvSpPr>
        <p:spPr>
          <a:xfrm>
            <a:off x="722376" y="470916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467258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Баа канча пайызга өзгөргөнүн табам; арзандатуудан жана кымбаттоодон кийинки бааны эсептейм.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0" y="1225296"/>
            <a:ext cx="4636008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7132320" y="1865376"/>
            <a:ext cx="46360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06056" y="1225296"/>
            <a:ext cx="4270248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Деңгээлдер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60920" y="2103120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007A5A"/>
                </a:solidFill>
                <a:latin typeface="PT Sans"/>
              </a:rPr>
              <a:t>Жеңил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2057400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10% жана 1%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60920" y="3127248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Орто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1080" y="3081528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Канча пайызы, көбөйтүүчү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60920" y="4151376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4A5A70"/>
                </a:solidFill>
                <a:latin typeface="PT Sans"/>
              </a:rPr>
              <a:t>Оор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1080" y="4105656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6B7280"/>
                </a:solidFill>
                <a:latin typeface="PT Sans"/>
              </a:rPr>
              <a:t>Пайыздык өзгөрүү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3C: бүгүн кантип ойлонобуз?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Пайыз: чоңдуктун пайызы, өзгөрүү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04088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Сынчыл ой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Текшеребиз, далилдейбиз, катаны издейбиз.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04088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«Ким туура?»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18% же 30%?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72000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Кызматташуу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 жана топто сүйлөшөбүз.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572000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526280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Жупта тор, карта сорттоо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65592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39912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Байланыштыруу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Математиканы турмуш менен байланыштырабыз.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39912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394192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2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Китеп жарманкеси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Арзандатуу, сом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Мурун – бүгүн – кийин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Пайыз: чоңдуктун пайызы, өзгөрүү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3017520"/>
            <a:ext cx="2660904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1089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/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4088" y="3657600"/>
            <a:ext cx="2112264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12647" y="3749039"/>
            <a:ext cx="2295144" cy="1920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Ондук бөлчөк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100дүн үлүшү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9272" y="2560320"/>
            <a:ext cx="2660904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6432" y="26517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/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93591" y="3200400"/>
            <a:ext cx="2112265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02152" y="3291839"/>
            <a:ext cx="2295144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Бөлчөк = ондук = пайыз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10%, 25%, 50%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8776" y="2103120"/>
            <a:ext cx="2660904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45936" y="21945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/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83096" y="2743200"/>
            <a:ext cx="2112263" cy="0"/>
          </a:xfrm>
          <a:prstGeom prst="line">
            <a:avLst/>
          </a:prstGeom>
          <a:ln w="127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391656" y="2834639"/>
            <a:ext cx="2295144" cy="2834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10% жана 1%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Пайызга өзгөрүү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07708" y="1600199"/>
            <a:ext cx="1463040" cy="38404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Бүгүн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98280" y="1645919"/>
            <a:ext cx="2660904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17373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72600" y="2286000"/>
            <a:ext cx="2112264" cy="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281160" y="2377439"/>
            <a:ext cx="2295144" cy="3291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Пайыздык өзгөрүү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Пайыз жана сом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" y="5806440"/>
            <a:ext cx="1132941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1">
                <a:solidFill>
                  <a:srgbClr val="6B7280"/>
                </a:solidFill>
                <a:latin typeface="PT Sans"/>
              </a:rPr>
              <a:t>Ар бир класс мурункусунун үстүнө курулат.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эстейли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Пайыз: чоңдуктун пайызы, өзгөрүү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Мини-тактага жаз. 2 мүнөт.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200дүн 10%ы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1/4 = ?%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0,15 = ?%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480 ÷ 100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Пайыз: чоңдуктун пайызы, өзгөрүү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200дүн 10%ы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20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1/4 = ?%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25%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0,15 = ?%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15%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480 ÷ 100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4,8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Ким туура?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Пайыз: чоңдуктун пайызы, өзгөрүү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Гүлнара эже: «Блокнот 60 сом эле, 18 сомго арзандады». Канча пайызга арзандады?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429768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29768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Бекзат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18 сом арзан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→ 18%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6208776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08776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Айдана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18 ÷ 60 = 3/10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= 30/100 = 30%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349240"/>
            <a:ext cx="113294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A84400"/>
                </a:solidFill>
                <a:latin typeface="PT Sans"/>
              </a:rPr>
              <a:t>Ким туура? 10 × 10 тор менен текшер.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К: буюм менен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Пайыз: чоңдуктун пайызы, өзгөрүү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Жупта: 10 × 10 тор = 480 сом. Бир тилке = 10%, бир чакмак = 1%. Арзандатууга 15 буурчак койгула.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212848"/>
            <a:ext cx="4846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 i="0">
                <a:solidFill>
                  <a:srgbClr val="4A5A70"/>
                </a:solidFill>
                <a:latin typeface="PT Sans"/>
              </a:rPr>
              <a:t>48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14600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816352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3118104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4400" y="3419856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3721608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4400" y="4023360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4400" y="4325112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4400" y="4626864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" y="4928616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" y="5230368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24712" y="2212848"/>
            <a:ext cx="4846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 i="0">
                <a:solidFill>
                  <a:srgbClr val="4A5A70"/>
                </a:solidFill>
                <a:latin typeface="PT Sans"/>
              </a:rPr>
              <a:t>48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216152" y="2514600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216152" y="2816352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216152" y="3118104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216152" y="3419856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216152" y="3721608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216152" y="4023360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216152" y="4325112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216152" y="4626864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216152" y="4928616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216152" y="5230368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426464" y="2212848"/>
            <a:ext cx="4846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 i="0">
                <a:solidFill>
                  <a:srgbClr val="4A5A70"/>
                </a:solidFill>
                <a:latin typeface="PT Sans"/>
              </a:rPr>
              <a:t>48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517904" y="2514600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517904" y="2816352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517904" y="3118104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517904" y="3419856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517904" y="3721608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517904" y="4023360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517904" y="4325112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517904" y="4626864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517904" y="4928616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517904" y="5230368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728216" y="2212848"/>
            <a:ext cx="4846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 i="0">
                <a:solidFill>
                  <a:srgbClr val="4A5A70"/>
                </a:solidFill>
                <a:latin typeface="PT Sans"/>
              </a:rPr>
              <a:t>48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819656" y="2514600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819656" y="2816352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819656" y="3118104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819656" y="3419856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819656" y="3721608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819656" y="4023360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819656" y="4325112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819656" y="4626864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819656" y="4928616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819656" y="5230368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029968" y="2212848"/>
            <a:ext cx="4846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 i="0">
                <a:solidFill>
                  <a:srgbClr val="4A5A70"/>
                </a:solidFill>
                <a:latin typeface="PT Sans"/>
              </a:rPr>
              <a:t>48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121408" y="2514600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121408" y="2816352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121408" y="3118104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2121408" y="3419856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121408" y="3721608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121408" y="4023360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2121408" y="4325112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2121408" y="4626864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121408" y="4928616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121408" y="5230368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331720" y="2212848"/>
            <a:ext cx="4846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 i="0">
                <a:solidFill>
                  <a:srgbClr val="4A5A70"/>
                </a:solidFill>
                <a:latin typeface="PT Sans"/>
              </a:rPr>
              <a:t>48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423160" y="2514600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423160" y="2816352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2423160" y="3118104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2423160" y="3419856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2423160" y="3721608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2423160" y="4023360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2423160" y="4325112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2423160" y="4626864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2423160" y="4928616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2423160" y="5230368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633472" y="2212848"/>
            <a:ext cx="4846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 i="0">
                <a:solidFill>
                  <a:srgbClr val="4A5A70"/>
                </a:solidFill>
                <a:latin typeface="PT Sans"/>
              </a:rPr>
              <a:t>48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724912" y="2514600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2724912" y="2816352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2724912" y="3118104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2724912" y="3419856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2724912" y="3721608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2724912" y="4023360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2724912" y="4325112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2724912" y="4626864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2724912" y="4928616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2724912" y="5230368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2935224" y="2212848"/>
            <a:ext cx="4846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 i="0">
                <a:solidFill>
                  <a:srgbClr val="4A5A70"/>
                </a:solidFill>
                <a:latin typeface="PT Sans"/>
              </a:rPr>
              <a:t>48</a:t>
            </a:r>
          </a:p>
        </p:txBody>
      </p:sp>
      <p:sp>
        <p:nvSpPr>
          <p:cNvPr id="90" name="Rectangle 89"/>
          <p:cNvSpPr/>
          <p:nvPr/>
        </p:nvSpPr>
        <p:spPr>
          <a:xfrm>
            <a:off x="3026664" y="2514600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3026664" y="2816352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3026664" y="3118104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026664" y="3419856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026664" y="3721608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3026664" y="4023360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3026664" y="4325112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3026664" y="4626864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3026664" y="4928616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3026664" y="5230368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3236976" y="2212848"/>
            <a:ext cx="4846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 i="0">
                <a:solidFill>
                  <a:srgbClr val="4A5A70"/>
                </a:solidFill>
                <a:latin typeface="PT Sans"/>
              </a:rPr>
              <a:t>48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3328416" y="2514600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3328416" y="2816352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3328416" y="3118104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3328416" y="3419856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3328416" y="3721608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3328416" y="4023360"/>
            <a:ext cx="301752" cy="301752"/>
          </a:xfrm>
          <a:prstGeom prst="rect">
            <a:avLst/>
          </a:prstGeom>
          <a:solidFill>
            <a:srgbClr val="F5E9E0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3328416" y="4325112"/>
            <a:ext cx="301752" cy="301752"/>
          </a:xfrm>
          <a:prstGeom prst="rect">
            <a:avLst/>
          </a:prstGeom>
          <a:solidFill>
            <a:srgbClr val="F5E9E0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3328416" y="4626864"/>
            <a:ext cx="301752" cy="301752"/>
          </a:xfrm>
          <a:prstGeom prst="rect">
            <a:avLst/>
          </a:prstGeom>
          <a:solidFill>
            <a:srgbClr val="F5E9E0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3328416" y="4928616"/>
            <a:ext cx="301752" cy="301752"/>
          </a:xfrm>
          <a:prstGeom prst="rect">
            <a:avLst/>
          </a:prstGeom>
          <a:solidFill>
            <a:srgbClr val="F5E9E0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3328416" y="5230368"/>
            <a:ext cx="301752" cy="301752"/>
          </a:xfrm>
          <a:prstGeom prst="rect">
            <a:avLst/>
          </a:prstGeom>
          <a:solidFill>
            <a:srgbClr val="F5E9E0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3538728" y="2212848"/>
            <a:ext cx="4846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 i="0">
                <a:solidFill>
                  <a:srgbClr val="4A5A70"/>
                </a:solidFill>
                <a:latin typeface="PT Sans"/>
              </a:rPr>
              <a:t>48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3630168" y="2514600"/>
            <a:ext cx="301752" cy="301752"/>
          </a:xfrm>
          <a:prstGeom prst="rect">
            <a:avLst/>
          </a:prstGeom>
          <a:solidFill>
            <a:srgbClr val="F5E9E0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3630168" y="2816352"/>
            <a:ext cx="301752" cy="301752"/>
          </a:xfrm>
          <a:prstGeom prst="rect">
            <a:avLst/>
          </a:prstGeom>
          <a:solidFill>
            <a:srgbClr val="F5E9E0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3630168" y="3118104"/>
            <a:ext cx="301752" cy="301752"/>
          </a:xfrm>
          <a:prstGeom prst="rect">
            <a:avLst/>
          </a:prstGeom>
          <a:solidFill>
            <a:srgbClr val="F5E9E0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3630168" y="3419856"/>
            <a:ext cx="301752" cy="301752"/>
          </a:xfrm>
          <a:prstGeom prst="rect">
            <a:avLst/>
          </a:prstGeom>
          <a:solidFill>
            <a:srgbClr val="F5E9E0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3630168" y="3721608"/>
            <a:ext cx="301752" cy="301752"/>
          </a:xfrm>
          <a:prstGeom prst="rect">
            <a:avLst/>
          </a:prstGeom>
          <a:solidFill>
            <a:srgbClr val="F5E9E0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3630168" y="4023360"/>
            <a:ext cx="301752" cy="301752"/>
          </a:xfrm>
          <a:prstGeom prst="rect">
            <a:avLst/>
          </a:prstGeom>
          <a:solidFill>
            <a:srgbClr val="F5E9E0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3630168" y="4325112"/>
            <a:ext cx="301752" cy="301752"/>
          </a:xfrm>
          <a:prstGeom prst="rect">
            <a:avLst/>
          </a:prstGeom>
          <a:solidFill>
            <a:srgbClr val="F5E9E0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3630168" y="4626864"/>
            <a:ext cx="301752" cy="301752"/>
          </a:xfrm>
          <a:prstGeom prst="rect">
            <a:avLst/>
          </a:prstGeom>
          <a:solidFill>
            <a:srgbClr val="F5E9E0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3630168" y="4928616"/>
            <a:ext cx="301752" cy="301752"/>
          </a:xfrm>
          <a:prstGeom prst="rect">
            <a:avLst/>
          </a:prstGeom>
          <a:solidFill>
            <a:srgbClr val="F5E9E0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3630168" y="5230368"/>
            <a:ext cx="301752" cy="301752"/>
          </a:xfrm>
          <a:prstGeom prst="rect">
            <a:avLst/>
          </a:prstGeom>
          <a:solidFill>
            <a:srgbClr val="F5E9E0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3401568" y="4096512"/>
            <a:ext cx="155448" cy="155448"/>
          </a:xfrm>
          <a:prstGeom prst="ellipse">
            <a:avLst/>
          </a:prstGeom>
          <a:solidFill>
            <a:srgbClr val="A84400"/>
          </a:solidFill>
          <a:ln w="63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3401568" y="4398264"/>
            <a:ext cx="155448" cy="155448"/>
          </a:xfrm>
          <a:prstGeom prst="ellipse">
            <a:avLst/>
          </a:prstGeom>
          <a:solidFill>
            <a:srgbClr val="A84400"/>
          </a:solidFill>
          <a:ln w="63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3401568" y="4700016"/>
            <a:ext cx="155448" cy="155448"/>
          </a:xfrm>
          <a:prstGeom prst="ellipse">
            <a:avLst/>
          </a:prstGeom>
          <a:solidFill>
            <a:srgbClr val="A84400"/>
          </a:solidFill>
          <a:ln w="63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3401568" y="5001768"/>
            <a:ext cx="155448" cy="155448"/>
          </a:xfrm>
          <a:prstGeom prst="ellipse">
            <a:avLst/>
          </a:prstGeom>
          <a:solidFill>
            <a:srgbClr val="A84400"/>
          </a:solidFill>
          <a:ln w="63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3401568" y="5303520"/>
            <a:ext cx="155448" cy="155448"/>
          </a:xfrm>
          <a:prstGeom prst="ellipse">
            <a:avLst/>
          </a:prstGeom>
          <a:solidFill>
            <a:srgbClr val="A84400"/>
          </a:solidFill>
          <a:ln w="63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3703320" y="2587752"/>
            <a:ext cx="155448" cy="155448"/>
          </a:xfrm>
          <a:prstGeom prst="ellipse">
            <a:avLst/>
          </a:prstGeom>
          <a:solidFill>
            <a:srgbClr val="A84400"/>
          </a:solidFill>
          <a:ln w="63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3703320" y="2889504"/>
            <a:ext cx="155448" cy="155448"/>
          </a:xfrm>
          <a:prstGeom prst="ellipse">
            <a:avLst/>
          </a:prstGeom>
          <a:solidFill>
            <a:srgbClr val="A84400"/>
          </a:solidFill>
          <a:ln w="63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3703320" y="3191256"/>
            <a:ext cx="155448" cy="155448"/>
          </a:xfrm>
          <a:prstGeom prst="ellipse">
            <a:avLst/>
          </a:prstGeom>
          <a:solidFill>
            <a:srgbClr val="A84400"/>
          </a:solidFill>
          <a:ln w="63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3703320" y="3493008"/>
            <a:ext cx="155448" cy="155448"/>
          </a:xfrm>
          <a:prstGeom prst="ellipse">
            <a:avLst/>
          </a:prstGeom>
          <a:solidFill>
            <a:srgbClr val="A84400"/>
          </a:solidFill>
          <a:ln w="63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3703320" y="3794760"/>
            <a:ext cx="155448" cy="155448"/>
          </a:xfrm>
          <a:prstGeom prst="ellipse">
            <a:avLst/>
          </a:prstGeom>
          <a:solidFill>
            <a:srgbClr val="A84400"/>
          </a:solidFill>
          <a:ln w="63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3703320" y="4096512"/>
            <a:ext cx="155448" cy="155448"/>
          </a:xfrm>
          <a:prstGeom prst="ellipse">
            <a:avLst/>
          </a:prstGeom>
          <a:solidFill>
            <a:srgbClr val="A84400"/>
          </a:solidFill>
          <a:ln w="63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3703320" y="4398264"/>
            <a:ext cx="155448" cy="155448"/>
          </a:xfrm>
          <a:prstGeom prst="ellipse">
            <a:avLst/>
          </a:prstGeom>
          <a:solidFill>
            <a:srgbClr val="A84400"/>
          </a:solidFill>
          <a:ln w="63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3703320" y="4700016"/>
            <a:ext cx="155448" cy="155448"/>
          </a:xfrm>
          <a:prstGeom prst="ellipse">
            <a:avLst/>
          </a:prstGeom>
          <a:solidFill>
            <a:srgbClr val="A84400"/>
          </a:solidFill>
          <a:ln w="63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3703320" y="5001768"/>
            <a:ext cx="155448" cy="155448"/>
          </a:xfrm>
          <a:prstGeom prst="ellipse">
            <a:avLst/>
          </a:prstGeom>
          <a:solidFill>
            <a:srgbClr val="A84400"/>
          </a:solidFill>
          <a:ln w="63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3703320" y="5303520"/>
            <a:ext cx="155448" cy="155448"/>
          </a:xfrm>
          <a:prstGeom prst="ellipse">
            <a:avLst/>
          </a:prstGeom>
          <a:solidFill>
            <a:srgbClr val="A84400"/>
          </a:solidFill>
          <a:ln w="63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731520" y="5577840"/>
            <a:ext cx="33832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1D3557"/>
                </a:solidFill>
                <a:latin typeface="PT Sans"/>
              </a:rPr>
              <a:t>Бүт тор = 480 сом = 100%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343400" y="2240280"/>
            <a:ext cx="28346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1 тилке = 10%</a:t>
            </a:r>
          </a:p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007A5A"/>
                </a:solidFill>
                <a:latin typeface="PT Sans"/>
              </a:rPr>
              <a:t>= 48 сом</a:t>
            </a:r>
          </a:p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1 чакмак = 1%</a:t>
            </a:r>
          </a:p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007A5A"/>
                </a:solidFill>
                <a:latin typeface="PT Sans"/>
              </a:rPr>
              <a:t>= 4,8 сом</a:t>
            </a:r>
          </a:p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15 буурчак = 15%</a:t>
            </a:r>
          </a:p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A84400"/>
                </a:solidFill>
                <a:latin typeface="PT Sans"/>
              </a:rPr>
              <a:t>= 48 + 24 = 72 сом</a:t>
            </a:r>
          </a:p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85 чакмак = 408 сом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7315200" y="2194560"/>
            <a:ext cx="443484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7498079" y="2286000"/>
            <a:ext cx="4114800" cy="3383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Ар бир жупта: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10 × 10 тор (чакмак дептерден)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20 буурчак же майда таш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түстүү карандаш</a:t>
            </a:r>
          </a:p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07A5A"/>
                </a:solidFill>
                <a:latin typeface="PT Sans"/>
              </a:rPr>
              <a:t>Тилке = 10%, чакмак = 1%</a:t>
            </a:r>
          </a:p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4418C"/>
                </a:solidFill>
                <a:latin typeface="PT Sans"/>
              </a:rPr>
              <a:t>15% = 10% + 5%</a:t>
            </a:r>
          </a:p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4418C"/>
                </a:solidFill>
                <a:latin typeface="PT Sans"/>
              </a:rPr>
              <a:t>= 48 + 24 = 72 сом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К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С: пайыз тилкеси (0%–100%)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Пайыз: чоңдуктун пайызы, өзгөрүү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Тилке = 480 сом = 100%. 10 бөлүк: 1 бөлүк = 10% = 48 сом. Арзандатуу 15%, калганы 85%.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0" y="2313432"/>
            <a:ext cx="777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500" b="0" i="1">
                <a:solidFill>
                  <a:srgbClr val="24418C"/>
                </a:solidFill>
                <a:latin typeface="PT Sans"/>
              </a:rPr>
              <a:t>сом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0" y="3794760"/>
            <a:ext cx="777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500" b="0" i="1">
                <a:solidFill>
                  <a:srgbClr val="007A5A"/>
                </a:solidFill>
                <a:latin typeface="PT Sans"/>
              </a:rPr>
              <a:t>пайыз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80160" y="2880360"/>
            <a:ext cx="960120" cy="73152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48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40280" y="2880360"/>
            <a:ext cx="960119" cy="73152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48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2880360"/>
            <a:ext cx="960119" cy="73152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48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60520" y="2880360"/>
            <a:ext cx="960119" cy="73152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48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20640" y="2880360"/>
            <a:ext cx="960120" cy="73152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48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80760" y="2880360"/>
            <a:ext cx="960119" cy="73152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48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40879" y="2880360"/>
            <a:ext cx="960120" cy="73152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48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01000" y="2880360"/>
            <a:ext cx="960120" cy="73152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48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61120" y="2880360"/>
            <a:ext cx="480060" cy="73152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24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441180" y="2880360"/>
            <a:ext cx="480059" cy="73152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24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921240" y="2880360"/>
            <a:ext cx="960120" cy="73152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48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280160" y="2715768"/>
            <a:ext cx="0" cy="164592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280160" y="3611880"/>
            <a:ext cx="0" cy="164592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22959" y="2350008"/>
            <a:ext cx="91440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24418C"/>
                </a:solidFill>
                <a:latin typeface="PT Sans"/>
              </a:rP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3794760"/>
            <a:ext cx="822960" cy="32918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07A5A"/>
                </a:solidFill>
                <a:latin typeface="PT Sans"/>
              </a:rPr>
              <a:t>0%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240280" y="2715768"/>
            <a:ext cx="0" cy="164592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2240280" y="3611880"/>
            <a:ext cx="0" cy="164592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1828800" y="3794760"/>
            <a:ext cx="822960" cy="32918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07A5A"/>
                </a:solidFill>
                <a:latin typeface="PT Sans"/>
              </a:rPr>
              <a:t>10%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3200400" y="2715768"/>
            <a:ext cx="0" cy="164592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3200400" y="3611880"/>
            <a:ext cx="0" cy="164592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2788920" y="3794760"/>
            <a:ext cx="822960" cy="32918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07A5A"/>
                </a:solidFill>
                <a:latin typeface="PT Sans"/>
              </a:rPr>
              <a:t>20%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160520" y="2715768"/>
            <a:ext cx="0" cy="164592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4160520" y="3611880"/>
            <a:ext cx="0" cy="164592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3749039" y="3794760"/>
            <a:ext cx="822960" cy="32918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07A5A"/>
                </a:solidFill>
                <a:latin typeface="PT Sans"/>
              </a:rPr>
              <a:t>30%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120640" y="2715768"/>
            <a:ext cx="0" cy="164592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5120640" y="3611880"/>
            <a:ext cx="0" cy="164592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4709159" y="3794760"/>
            <a:ext cx="822960" cy="32918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07A5A"/>
                </a:solidFill>
                <a:latin typeface="PT Sans"/>
              </a:rPr>
              <a:t>40%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6080760" y="2715768"/>
            <a:ext cx="0" cy="164592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6080760" y="3611880"/>
            <a:ext cx="0" cy="164592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5623560" y="2350008"/>
            <a:ext cx="91440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24418C"/>
                </a:solidFill>
                <a:latin typeface="PT Sans"/>
              </a:rPr>
              <a:t>240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0" y="3794760"/>
            <a:ext cx="822960" cy="32918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07A5A"/>
                </a:solidFill>
                <a:latin typeface="PT Sans"/>
              </a:rPr>
              <a:t>50%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7040879" y="2715768"/>
            <a:ext cx="0" cy="164592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7040879" y="3611880"/>
            <a:ext cx="0" cy="164592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6629399" y="3794760"/>
            <a:ext cx="822960" cy="32918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07A5A"/>
                </a:solidFill>
                <a:latin typeface="PT Sans"/>
              </a:rPr>
              <a:t>60%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8001000" y="2715768"/>
            <a:ext cx="0" cy="164592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8001000" y="3611880"/>
            <a:ext cx="0" cy="164592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7589520" y="3794760"/>
            <a:ext cx="822960" cy="32918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07A5A"/>
                </a:solidFill>
                <a:latin typeface="PT Sans"/>
              </a:rPr>
              <a:t>70%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8961120" y="2715768"/>
            <a:ext cx="0" cy="164592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8961120" y="3611880"/>
            <a:ext cx="0" cy="164592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8549640" y="3794760"/>
            <a:ext cx="822960" cy="32918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07A5A"/>
                </a:solidFill>
                <a:latin typeface="PT Sans"/>
              </a:rPr>
              <a:t>80%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9921240" y="2715768"/>
            <a:ext cx="0" cy="164592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9921240" y="3611880"/>
            <a:ext cx="0" cy="164592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9509760" y="3794760"/>
            <a:ext cx="822960" cy="32918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07A5A"/>
                </a:solidFill>
                <a:latin typeface="PT Sans"/>
              </a:rPr>
              <a:t>90%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10881360" y="2715768"/>
            <a:ext cx="0" cy="164592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0881360" y="3611880"/>
            <a:ext cx="0" cy="164592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10424160" y="2350008"/>
            <a:ext cx="91440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24418C"/>
                </a:solidFill>
                <a:latin typeface="PT Sans"/>
              </a:rPr>
              <a:t>480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469880" y="3794760"/>
            <a:ext cx="822960" cy="32918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07A5A"/>
                </a:solidFill>
                <a:latin typeface="PT Sans"/>
              </a:rPr>
              <a:t>100%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9441180" y="2377439"/>
            <a:ext cx="0" cy="1828801"/>
          </a:xfrm>
          <a:prstGeom prst="line">
            <a:avLst/>
          </a:prstGeom>
          <a:ln w="25400">
            <a:solidFill>
              <a:srgbClr val="A844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8526780" y="2011680"/>
            <a:ext cx="182880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A84400"/>
                </a:solidFill>
                <a:latin typeface="PT Sans"/>
              </a:rPr>
              <a:t>408 сом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709660" y="4178808"/>
            <a:ext cx="1463040" cy="32918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A84400"/>
                </a:solidFill>
                <a:latin typeface="PT Sans"/>
              </a:rPr>
              <a:t>85%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1280160" y="4663440"/>
            <a:ext cx="8161020" cy="0"/>
          </a:xfrm>
          <a:prstGeom prst="line">
            <a:avLst/>
          </a:prstGeom>
          <a:ln w="254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1280160" y="4690872"/>
            <a:ext cx="81610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007A5A"/>
                </a:solidFill>
                <a:latin typeface="PT Sans"/>
              </a:rPr>
              <a:t>Калганы: 85% = 408 сом (төлөйбүз)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9486900" y="4663440"/>
            <a:ext cx="13944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9166860" y="4690872"/>
            <a:ext cx="1988819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15% = 72 сом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9768" y="562356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480 × 0,85 = 408 сом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А: эреже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Пайыз: чоңдуктун пайызы, өзгөрүү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23035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10%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7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÷ 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480 → 48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056382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330702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323969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2142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1%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2142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÷ 100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67862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480 → 4,8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957316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231636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224902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3075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p%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23075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Курап ал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8796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15% = 10% + 5%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858250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132570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25837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24010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±p%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24010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Көбөйтүүчү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69730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−15% → × 0,85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874519" y="4709160"/>
            <a:ext cx="8449056" cy="758952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A84400"/>
                </a:solidFill>
                <a:latin typeface="PT Sans"/>
              </a:rPr>
              <a:t>Канча пайызы? бөлүк ÷ бүтүн (мурунку баа)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1: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Пайыз: чоңдуктун пайызы, өзгөрүү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Адегенде болжолдо: арзандатуу 1/3тен бир аз көп.  Китеп 360 сом, 35%га арзандады. Жаңы баасы?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10% = 360 ÷ 10 = 36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240280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10%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35% = 3 × 36 + 18 = 126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30% + 5%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360 − 126 = 234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кемитем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215384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Текшер: 360 × 0,65 = 234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4215384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көбөйтүүчү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Жаңы баа = </a:t>
            </a:r>
            <a:r>
              <a:rPr sz="3400" b="1">
                <a:solidFill>
                  <a:srgbClr val="24418C"/>
                </a:solidFill>
                <a:latin typeface="PT Sans"/>
              </a:rPr>
              <a:t>234 сом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2: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Пайыз: чоңдуктун пайызы, өзгөрүү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Адегенде болжолдо: 400дүн чейрек бөлүгү 100.  Былтыр китеп 400 сом, быйыл 500 сом. Канча пайызга кымбаттады?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500 − 400 = 100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240280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өзгөрүү, сом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100 ÷ 400 = 1/4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мурункуга бөлөм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1/4 = 25/100 = 25%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пайыз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215384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Текшер: 400 × 1,25 = 500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4215384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көбөйтүүчү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Кымбаттады = </a:t>
            </a:r>
            <a:r>
              <a:rPr sz="3400" b="1">
                <a:solidFill>
                  <a:srgbClr val="24418C"/>
                </a:solidFill>
                <a:latin typeface="PT Sans"/>
              </a:rPr>
              <a:t>25%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ыкма: 10%, 1%, көбөйтүүчү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Пайыз: чоңдуктун пайызы, өзгөрүү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12647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10% жана 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10% = 480 ÷ 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48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1% = 480 ÷ 100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4,8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10% – үтүр бир орун солго, 1% – эки орун солго.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80560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Курап ал: 240тын 35%ы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35% = 3 × 10% + 5%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3 × 24 + 12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72 + 12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84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5% = 10%дын жарымы; 17% = 10% + 5% + 2 × 1%.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65592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348472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42832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Көбөйтүүчү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−15% → × 0,85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94192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+12% → × 1,12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94192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200 × 1,12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94192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224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94192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100%дан баштайм: 100 − 15 = 85; 100 + 12 = 112.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9768" y="5577840"/>
            <a:ext cx="11329416" cy="50292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700" b="1">
                <a:solidFill>
                  <a:srgbClr val="007A5A"/>
                </a:solidFill>
                <a:latin typeface="PT Sans"/>
              </a:rPr>
              <a:t>Адегенде болжолдо → 10% жана 1% → курап ал → көбөйтүүчү менен текшер.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Чечүүчү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Пайыз: чоңдуктун пайызы, өзгөрүү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Китеп 480 сом, бүгүн 5%га арзан. Жаңы баасы канча?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4088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7048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475 сом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8776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83096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06056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24 сом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4088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7048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456 сом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08776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83096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06056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240 сом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чий, анан эсепте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Пайыз: чоңдуктун пайызы, өзгөрүү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Жарманкеде 300 китеп бар, анын 30%ы – жомок китептери. Канча жомок китеби бар?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7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167128" y="4956048"/>
            <a:ext cx="170383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12647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618488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282439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19600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6800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Түстүү карандаштар 150 сом эле, 20%га кымбаттады. Азыр канча сом?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6759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5320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19800" y="4956048"/>
            <a:ext cx="1703831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465320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71159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135112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72272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29472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Китеп былтыр 320 сом эле, быйыл 400 сом. Канча пайызга кымбаттады?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09432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17991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872471" y="4956048"/>
            <a:ext cx="170383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317991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323831" y="5641848"/>
            <a:ext cx="225247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Пайыз: чоңдуктун пайызы, өзгөрүү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Жарманкеде 300 китеп бар, анын 30%ы – жомок китептери. Канча жомок китеби бар?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017520"/>
            <a:ext cx="703173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30% = 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70101" y="3017520"/>
            <a:ext cx="1640738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70%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002280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139440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002280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185160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300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7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300 ÷ 10 × 3 = 90 китеп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82439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419600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76800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Түстүү карандаштар 150 сом эле, 20%га кымбаттады. Азыр канча сом?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19600" y="3017520"/>
            <a:ext cx="1953260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Мурун 150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19600" y="3574389"/>
            <a:ext cx="1953260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Азыр 150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72860" y="3574389"/>
            <a:ext cx="390652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65320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150 + 30 = 180 сом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35112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272272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29472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Китеп былтыр 320 сом эле, быйыл 400 сом. Канча пайызга кымбаттады?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72272" y="3017520"/>
            <a:ext cx="1875129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Былтыр 320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72272" y="3574389"/>
            <a:ext cx="1875129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Быйыл 320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147401" y="3574389"/>
            <a:ext cx="468782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80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17991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80 ÷ 320 = 25%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Пайыз: чоңдуктун пайызы, өзгөрүү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Дептериңе чыгар. Кыйын болсо – жакшы! Мээң өсүп жатат.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420нын 30%ы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250нүн 12%ы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36 сом 120 сомдун канча пайызы?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640 сом, 25%га арзандады. Жаңы баа?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07007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250 сом, 8%га кымбаттады. Жаңы баа?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08776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91656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86016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Баа 400 → 340. Канча пайызга арзандады?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Пайыз: чоңдуктун пайызы, өзгөрүү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420нын 30%ы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126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250нүн 12%ы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30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36 сом 120 сомдун канча пайызы?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30%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640 сом, 25%га арзандады. Жаңы баа?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480 сом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66928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250 сом, 8%га кымбаттады. Жаңы баа?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4804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270 сом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08776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45936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4576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Баа 400 → 340. Канча пайызга арзандады?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13812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15%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Окуяга кайтабыз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Пайыз: чоңдуктун пайызы, өзгөрүү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Китеп 480 сом, бүгүн 15% арзан. Айдананын 410 сому бар. Акчасы жетеби? Канча калат?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240280"/>
            <a:ext cx="13716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480 сом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77440" y="2240280"/>
            <a:ext cx="758951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48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36391" y="2240280"/>
            <a:ext cx="758951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48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95344" y="2240280"/>
            <a:ext cx="758951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48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54296" y="2240280"/>
            <a:ext cx="758951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48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13248" y="2240280"/>
            <a:ext cx="758951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48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2240280"/>
            <a:ext cx="758951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48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31152" y="2240280"/>
            <a:ext cx="758951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48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90104" y="2240280"/>
            <a:ext cx="758951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48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449056" y="2240280"/>
            <a:ext cx="379475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828532" y="2240280"/>
            <a:ext cx="1138427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72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0058399" y="224028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195559" y="2240280"/>
            <a:ext cx="0" cy="54864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0058399" y="27889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0241279" y="2240280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480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3127248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15% = 48 + 24 = 72 сом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66760" y="3127248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10% + 5%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3694176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480 − 72 = 408 сом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66760" y="3694176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жаңы баа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4261104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24418C"/>
                </a:solidFill>
                <a:latin typeface="PT Sans"/>
              </a:rPr>
              <a:t>410 − 408 = 2 сом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66760" y="4261104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калат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874519" y="5486400"/>
            <a:ext cx="8449056" cy="640080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Акчасы жетет: китеп 408 сом, 2 сом калат!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Түз: өзүң маселе түз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Пайыз: чоңдуктун пайызы, өзгөрүү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4892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71600"/>
            <a:ext cx="10780776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Жарманке жөнүндө маселе түз: баа пайызга арзандасын же кымбаттасын, жообу бүтүн сом болсун.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256032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54203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Окуядагы каармандарды колдон: Айдана, Бекзат, Гүлнара эже.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338327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364991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Тилкесин чий жана туюнтмасын жаз.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4206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18795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Жупуңа бер: ал чыгарсын, сен текшер.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3C · Кызматташуу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Чыгуу билети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Пайыз: чоңдуктун пайызы, өзгөрүү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Өз алдынча, 3 мүнөт. Кагазыңа жазып бер.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Тап: 360тын 15%ы.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323088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7" y="323088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18 сом 72 сомдун канча пайызы?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77012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77012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Китеп 640 сом, 15%га арзандады. Жаңы баасы канча?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Пайыз: чоңдуктун пайызы, өзгөрүү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80160"/>
            <a:ext cx="1078077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1920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901952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Эмне үчүн 15% арзан болсо, 15 сом эмес, 72 сом арзан?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2542032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523744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15%га арзандатуу эмне үчүн × 0,85?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316382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145536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Канча пайызга өзгөргөнүн тапканда эмне үчүн мурунку баага бөлөбүз?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461772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1">
                <a:solidFill>
                  <a:srgbClr val="6B7280"/>
                </a:solidFill>
                <a:latin typeface="PT Sans"/>
              </a:rPr>
              <a:t>Өзүңдү баала: колуңду көтөр.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7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007A5A"/>
                </a:solidFill>
                <a:latin typeface="PT Sans"/>
              </a:rPr>
              <a:t>Түшүндүм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360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Дагы машыгам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936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Жардам керек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Мугалим үчүн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Пайыз: чоңдуктун пайызы, өзгөрүү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5120640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80160"/>
            <a:ext cx="46634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Тилке моделин кантип үйрөтөбүз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187451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19" y="1856231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 бир жупка 10 × 10 тор (чакмак дептерден) жана 20 буурчак: 1 тилке = 10%.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898648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19" y="2880360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 бир маселеден мурун: «Адегенде болжолдо: жооп бүтүндөн аз же көп?»</a:t>
            </a:r>
          </a:p>
        </p:txBody>
      </p:sp>
      <p:sp>
        <p:nvSpPr>
          <p:cNvPr id="16" name="Oval 15"/>
          <p:cNvSpPr/>
          <p:nvPr/>
        </p:nvSpPr>
        <p:spPr>
          <a:xfrm>
            <a:off x="658368" y="3922776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19" y="3904488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Арзандатуу жана кымбаттоо: адегенде 10% жана 1%, анан көбөйтүүчү менен текшерүү.</a:t>
            </a:r>
          </a:p>
        </p:txBody>
      </p:sp>
      <p:sp>
        <p:nvSpPr>
          <p:cNvPr id="18" name="Oval 17"/>
          <p:cNvSpPr/>
          <p:nvPr/>
        </p:nvSpPr>
        <p:spPr>
          <a:xfrm>
            <a:off x="658368" y="494690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19" y="4928616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«15 эмнеден?» жана «мурункуга бөлдүңбү?» деп ар сабакта сурайм (М1, М5).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79007" y="1225296"/>
            <a:ext cx="5980176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07607" y="1280160"/>
            <a:ext cx="54864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Ой жүгүртүү: эмне деп айтабыз?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07607" y="1783080"/>
            <a:ext cx="2651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6B7280"/>
                </a:solidFill>
                <a:latin typeface="PT Sans"/>
              </a:rPr>
              <a:t>Айтпайбыз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96528" y="178308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07A5A"/>
                </a:solidFill>
                <a:latin typeface="PT Sans"/>
              </a:rPr>
              <a:t>Айтабыз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07607" y="219456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«Бул оңой эмеспи?»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567928" y="2468879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796528" y="219456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«Кадамдарды бирге карайлы.»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07607" y="315468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«Туура эмес!»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567928" y="342900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796528" y="315468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«Кантип таптың? Текшерип көрөлүчү.»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07607" y="411480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«Сен математикага жөндөмсүзсүң»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567928" y="438912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796528" y="411480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«Азырынча. Машыксаң, үйрөнөсүң.»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07607" y="507492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«Тез чыгар»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567928" y="534924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796528" y="507492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«Шашпа, адегенде тилке чий.»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