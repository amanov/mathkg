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берем. Окуучулар болжолдошот: ордо 3 м кенен болобу же көппү? Жоопту сабактын аягында (22-слайд) текшеребиз. Колумда жип жана бор болот; мүмкүн болсо, класстын полуна 50 см жип менен кичине тегерек чийип көрсөтөм.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Нурбек: бурчтун чоңдугу – ачылышы, жактарынын узундугу эмес (М1).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окуучу эски дептер барагын эки жолу бүктөп, тик бурч текшергич жасайт. Класстагы 6 бурчту текшерет: текшергич бурчтун ичине батса жана жагы ачык калса – кең; дал келсе – тик; бурч текшергичтин ичинде калса – тар. Анан жупка 50 см жип жана бор берем: бирөө жиптин учун бармагы менен партага басып турат (борбор), экинчиси жипти тартып айланат. Жип = радиус. Проектор жок болсо, ушул сүрөттү доскага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Беш төрт бурчтукту доскага чийем. Ар биринде адегенде тик бурчтарды кагаз менен текшеребиз, анан жактарын сызгыч же жип менен өлчөйбүз. Квадратта баары бар: ал тик бурчтук да, ромб да (М5). Тегеректе радиус борбордон четке, диаметр борбор аркылуу четтен четке (М3, М6).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Бурчтун чоңдугу – ачылышы (М1). Буралган бурчту да, фигураны да кагаз менен текшеребиз (М2). Төрт бурчтукту атоодо адегенде бурчтарды, анан жактарды карайбыз (М4, М7). Квадрат – тик бурчтук да, ромб да (М5). Диаметр борбор аркылуу өтөт жана эки радиуска барабар (М3, М6).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ыкманы окуучу үн чыгарып айтат: «радиус 7, демек диаметр 7 + 7 = 14». «Оозеки беш мүнөт» (класста колдонуу картасы) эки апта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М5; Б = ✓; В = М4; Г = М7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эки бөлүк → бирдей бөлүктөр → бүтүн жана белгисиз. Жооптор: 7 + 4 = 11 м; 4 × 2 = 8 м; 7 + 7 = 14;  20 − 14 = 6 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Жип = радиус. Диаметр казыктан эки жакка: 3 + 3 = 6 м. Кимдир бирөө 3 м десе, жипти казыктан аркы четке чейин тартып көрсөтөм: жетпейт (М3).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12 м; Квадрат; ооба; Кең бурч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3-класс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Бурчтар, төрт бурчтуктар жана тегерек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Кызыл-Кыяда ордо аянтчасы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Айпери менен Нурбек мектептин короосуна жип жана казык менен ордо тегерегин чийишет.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2011-стандарт 2.1.5 (тик бурчтук, квадрат) жана Cambridge Stage 3 (тик бурч, тар жана кең бурчтар, төрт бурчтуктар, тегеректин бөлүктөрү). Кыргызча 3-класс китеби али чыга элек; мазмуну толук жаңы.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Кызыл-Кыяда ордо аянтчасы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Кызыл-Кыядагы мектепте улуттук оюндар жумалыгы. 3-класс короого оюн аянтчаларын чийет.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Ордо оюнуна чоң тегерек керек: ортосуна «хан» чүкө коюлат, сака менен чүкөлөрдү тегеректен чыгарышат.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Мамыт ава казык, жип жана бор алып келди. Казыкты борборго кагып, жипти тартып айланса – тегерек чыгат.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Андан кийин балдар тик бурчтук волейбол аянтчасын жана трапеция гүлзарды белгилешет.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Мамыт ава казыкка 3 м жип байлады. Айпери жиптин учундагы бор менен тегерек чийди. Ордонун диаметри канча метр болот?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Бурчту бүктөлгөн кагаз менен текшерип, тар, тик же кең деп атайм.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Төрт бурчтуктарды бурчтары жана жактары боюнча атайм жана топтойм.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Тегеректин борборун, радиусун жана диаметрин көрсөтөм, чийип белгилейм.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Бурчту атайм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Төрт бурчтукту атайм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Чийем, белгилейм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Бурчту кагаз менен текшерүү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Жупта: жип менен тегерек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Кызыл-Кыя короосу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Үйдөгү бурчтар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2-класс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Тик бурч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Квадрат, тик бурчтук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3-класс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Тар, тик, кең бурч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Ромб, радиус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18204" y="2057400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4-класс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Симметрия огу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Чагылдыруу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5-класс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Градус, транспортир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Периметр, аянт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+ 3 =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12 ÷ 2 =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Класстан тик бурчу бар буюмду ата.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Квадраттын канча тик бурчу бар?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+ 3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12 ÷ 2 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Класстан тик бурчу бар буюмду ата.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Мис.: эшик, китеп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Мамыт ава асфальтка эки бурч чийди: биринчисинин жактары узун, экинчисинин жактары кыска, бирок кенен ачылган.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Айпери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Биринчи бурч чоң: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жактары узун.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Нурбек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Экинчи бурч чоң: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кененирээк ачылган.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Бүктөлгөн кагаз менен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cxnSp>
        <p:nvCxnSpPr>
          <p:cNvPr id="22" name="g3geo"/>
          <p:cNvCxnSpPr/>
          <p:nvPr/>
        </p:nvCxnSpPr>
        <p:spPr>
          <a:xfrm flipV="1">
            <a:off x="3721607" y="4751910"/>
            <a:ext cx="1737360" cy="151999"/>
          </a:xfrm>
          <a:prstGeom prst="line">
            <a:avLst/>
          </a:prstGeom>
          <a:ln w="2088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3geo"/>
          <p:cNvCxnSpPr/>
          <p:nvPr/>
        </p:nvCxnSpPr>
        <p:spPr>
          <a:xfrm flipV="1">
            <a:off x="3721607" y="3782890"/>
            <a:ext cx="1335979" cy="1121019"/>
          </a:xfrm>
          <a:prstGeom prst="line">
            <a:avLst/>
          </a:prstGeom>
          <a:ln w="2088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g3geo"/>
          <p:cNvSpPr/>
          <p:nvPr/>
        </p:nvSpPr>
        <p:spPr>
          <a:xfrm>
            <a:off x="3931749" y="4727580"/>
            <a:ext cx="63135" cy="152421"/>
          </a:xfrm>
          <a:custGeom>
            <a:avLst/>
            <a:gdLst/>
            <a:ahLst/>
            <a:cxnLst/>
            <a:rect l="l" t="t" r="r" b="b"/>
            <a:pathLst>
              <a:path w="63135" h="152421">
                <a:moveTo>
                  <a:pt x="63135" y="152421"/>
                </a:moveTo>
                <a:lnTo>
                  <a:pt x="62023" y="142008"/>
                </a:lnTo>
                <a:lnTo>
                  <a:pt x="60515" y="131644"/>
                </a:lnTo>
                <a:lnTo>
                  <a:pt x="58612" y="121346"/>
                </a:lnTo>
                <a:lnTo>
                  <a:pt x="56318" y="111128"/>
                </a:lnTo>
                <a:lnTo>
                  <a:pt x="53635" y="101004"/>
                </a:lnTo>
                <a:lnTo>
                  <a:pt x="50567" y="90991"/>
                </a:lnTo>
                <a:lnTo>
                  <a:pt x="47120" y="81102"/>
                </a:lnTo>
                <a:lnTo>
                  <a:pt x="43298" y="71352"/>
                </a:lnTo>
                <a:lnTo>
                  <a:pt x="39106" y="61755"/>
                </a:lnTo>
                <a:lnTo>
                  <a:pt x="34551" y="52325"/>
                </a:lnTo>
                <a:lnTo>
                  <a:pt x="29639" y="43075"/>
                </a:lnTo>
                <a:lnTo>
                  <a:pt x="24378" y="34020"/>
                </a:lnTo>
                <a:lnTo>
                  <a:pt x="18776" y="25172"/>
                </a:lnTo>
                <a:lnTo>
                  <a:pt x="12839" y="16544"/>
                </a:lnTo>
                <a:lnTo>
                  <a:pt x="6578" y="8150"/>
                </a:lnTo>
                <a:lnTo>
                  <a:pt x="0" y="0"/>
                </a:lnTo>
              </a:path>
            </a:pathLst>
          </a:custGeom>
          <a:noFill/>
          <a:ln w="14619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3geo"/>
          <p:cNvSpPr/>
          <p:nvPr/>
        </p:nvSpPr>
        <p:spPr>
          <a:xfrm>
            <a:off x="3680002" y="4862304"/>
            <a:ext cx="83210" cy="83210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g3geo"/>
          <p:cNvCxnSpPr/>
          <p:nvPr/>
        </p:nvCxnSpPr>
        <p:spPr>
          <a:xfrm flipV="1">
            <a:off x="10263202" y="4421065"/>
            <a:ext cx="791894" cy="212188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3geo"/>
          <p:cNvCxnSpPr/>
          <p:nvPr/>
        </p:nvCxnSpPr>
        <p:spPr>
          <a:xfrm flipH="1" flipV="1">
            <a:off x="9683496" y="4053546"/>
            <a:ext cx="579706" cy="579707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g3geo"/>
          <p:cNvSpPr/>
          <p:nvPr/>
        </p:nvSpPr>
        <p:spPr>
          <a:xfrm>
            <a:off x="10077696" y="4370908"/>
            <a:ext cx="438912" cy="194445"/>
          </a:xfrm>
          <a:custGeom>
            <a:avLst/>
            <a:gdLst/>
            <a:ahLst/>
            <a:cxnLst/>
            <a:rect l="l" t="t" r="r" b="b"/>
            <a:pathLst>
              <a:path w="438912" h="194445">
                <a:moveTo>
                  <a:pt x="438912" y="194445"/>
                </a:moveTo>
                <a:lnTo>
                  <a:pt x="427882" y="161950"/>
                </a:lnTo>
                <a:lnTo>
                  <a:pt x="412704" y="131173"/>
                </a:lnTo>
                <a:lnTo>
                  <a:pt x="393639" y="102640"/>
                </a:lnTo>
                <a:lnTo>
                  <a:pt x="371012" y="76839"/>
                </a:lnTo>
                <a:lnTo>
                  <a:pt x="345212" y="54213"/>
                </a:lnTo>
                <a:lnTo>
                  <a:pt x="316679" y="35148"/>
                </a:lnTo>
                <a:lnTo>
                  <a:pt x="285902" y="19970"/>
                </a:lnTo>
                <a:lnTo>
                  <a:pt x="253406" y="8939"/>
                </a:lnTo>
                <a:lnTo>
                  <a:pt x="219749" y="2244"/>
                </a:lnTo>
                <a:lnTo>
                  <a:pt x="185506" y="0"/>
                </a:lnTo>
                <a:lnTo>
                  <a:pt x="151263" y="2244"/>
                </a:lnTo>
                <a:lnTo>
                  <a:pt x="117606" y="8939"/>
                </a:lnTo>
                <a:lnTo>
                  <a:pt x="85111" y="19970"/>
                </a:lnTo>
                <a:lnTo>
                  <a:pt x="54334" y="35148"/>
                </a:lnTo>
                <a:lnTo>
                  <a:pt x="25801" y="54213"/>
                </a:lnTo>
                <a:lnTo>
                  <a:pt x="0" y="76839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g3geo"/>
          <p:cNvSpPr/>
          <p:nvPr/>
        </p:nvSpPr>
        <p:spPr>
          <a:xfrm>
            <a:off x="10231198" y="4601249"/>
            <a:ext cx="64008" cy="6400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кагазды эки жолу бүктөп тик бурч текшергич жасагыла. Анан жип менен тегерек чийгиле.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59" y="2032000"/>
            <a:ext cx="4754880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PT Sans"/>
              </a:rPr>
              <a:t>1. Бүктөлгөн кагаз менен текшер</a:t>
            </a:r>
          </a:p>
        </p:txBody>
      </p:sp>
      <p:sp>
        <p:nvSpPr>
          <p:cNvPr id="13" name="Freeform 12"/>
          <p:cNvSpPr/>
          <p:nvPr/>
        </p:nvSpPr>
        <p:spPr>
          <a:xfrm>
            <a:off x="502920" y="2560320"/>
            <a:ext cx="777240" cy="777240"/>
          </a:xfrm>
          <a:custGeom>
            <a:avLst/>
            <a:gdLst/>
            <a:ahLst/>
            <a:cxnLst/>
            <a:rect l="l" t="t" r="r" b="b"/>
            <a:pathLst>
              <a:path w="777240" h="777240">
                <a:moveTo>
                  <a:pt x="0" y="45720"/>
                </a:moveTo>
                <a:lnTo>
                  <a:pt x="731520" y="0"/>
                </a:lnTo>
                <a:lnTo>
                  <a:pt x="777240" y="731520"/>
                </a:lnTo>
                <a:lnTo>
                  <a:pt x="0" y="777240"/>
                </a:lnTo>
                <a:close/>
              </a:path>
            </a:pathLst>
          </a:custGeom>
          <a:solidFill>
            <a:srgbClr val="FFFFFF"/>
          </a:solidFill>
          <a:ln w="15875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59" y="3489960"/>
            <a:ext cx="100584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A5A70"/>
                </a:solidFill>
                <a:latin typeface="PT Sans"/>
              </a:rPr>
              <a:t>кагаз</a:t>
            </a:r>
          </a:p>
        </p:txBody>
      </p:sp>
      <p:sp>
        <p:nvSpPr>
          <p:cNvPr id="15" name="Freeform 14"/>
          <p:cNvSpPr/>
          <p:nvPr/>
        </p:nvSpPr>
        <p:spPr>
          <a:xfrm>
            <a:off x="1490472" y="2926080"/>
            <a:ext cx="768096" cy="411480"/>
          </a:xfrm>
          <a:custGeom>
            <a:avLst/>
            <a:gdLst/>
            <a:ahLst/>
            <a:cxnLst/>
            <a:rect l="l" t="t" r="r" b="b"/>
            <a:pathLst>
              <a:path w="768096" h="411480">
                <a:moveTo>
                  <a:pt x="0" y="0"/>
                </a:moveTo>
                <a:lnTo>
                  <a:pt x="768096" y="0"/>
                </a:lnTo>
                <a:lnTo>
                  <a:pt x="768096" y="411480"/>
                </a:lnTo>
                <a:lnTo>
                  <a:pt x="18288" y="411480"/>
                </a:lnTo>
                <a:close/>
              </a:path>
            </a:pathLst>
          </a:custGeom>
          <a:solidFill>
            <a:srgbClr val="FFFFFF"/>
          </a:solidFill>
          <a:ln w="15875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1490472" y="2926080"/>
            <a:ext cx="768096" cy="0"/>
          </a:xfrm>
          <a:prstGeom prst="line">
            <a:avLst/>
          </a:prstGeom>
          <a:ln w="28575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599" y="3489960"/>
            <a:ext cx="100584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A5A70"/>
                </a:solidFill>
                <a:latin typeface="PT Sans"/>
              </a:rPr>
              <a:t>бүктө</a:t>
            </a:r>
          </a:p>
        </p:txBody>
      </p:sp>
      <p:sp>
        <p:nvSpPr>
          <p:cNvPr id="18" name="Freeform 17"/>
          <p:cNvSpPr/>
          <p:nvPr/>
        </p:nvSpPr>
        <p:spPr>
          <a:xfrm>
            <a:off x="2560320" y="2926080"/>
            <a:ext cx="484632" cy="411480"/>
          </a:xfrm>
          <a:custGeom>
            <a:avLst/>
            <a:gdLst/>
            <a:ahLst/>
            <a:cxnLst/>
            <a:rect l="l" t="t" r="r" b="b"/>
            <a:pathLst>
              <a:path w="484632" h="411480">
                <a:moveTo>
                  <a:pt x="0" y="0"/>
                </a:moveTo>
                <a:lnTo>
                  <a:pt x="484632" y="0"/>
                </a:lnTo>
                <a:lnTo>
                  <a:pt x="457200" y="393192"/>
                </a:lnTo>
                <a:lnTo>
                  <a:pt x="0" y="411480"/>
                </a:lnTo>
                <a:close/>
              </a:path>
            </a:pathLst>
          </a:custGeom>
          <a:solidFill>
            <a:srgbClr val="FFFFFF"/>
          </a:solidFill>
          <a:ln w="15875" cap="rnd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2560320" y="2926080"/>
            <a:ext cx="484632" cy="0"/>
          </a:xfrm>
          <a:prstGeom prst="line">
            <a:avLst/>
          </a:prstGeom>
          <a:ln w="28575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560320" y="2926080"/>
            <a:ext cx="0" cy="411480"/>
          </a:xfrm>
          <a:prstGeom prst="line">
            <a:avLst/>
          </a:prstGeom>
          <a:ln w="28575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2560320" y="2926080"/>
            <a:ext cx="109728" cy="109728"/>
          </a:xfrm>
          <a:custGeom>
            <a:avLst/>
            <a:gdLst/>
            <a:ahLst/>
            <a:cxnLst/>
            <a:rect l="l" t="t" r="r" b="b"/>
            <a:pathLst>
              <a:path w="109728" h="109728">
                <a:moveTo>
                  <a:pt x="109728" y="0"/>
                </a:moveTo>
                <a:lnTo>
                  <a:pt x="109728" y="109728"/>
                </a:lnTo>
                <a:lnTo>
                  <a:pt x="0" y="109728"/>
                </a:lnTo>
              </a:path>
            </a:pathLst>
          </a:custGeom>
          <a:noFill/>
          <a:ln w="15875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3489960"/>
            <a:ext cx="100584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A5A70"/>
                </a:solidFill>
                <a:latin typeface="PT Sans"/>
              </a:rPr>
              <a:t>дагы бүктө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371600" y="2971800"/>
            <a:ext cx="109728" cy="0"/>
          </a:xfrm>
          <a:prstGeom prst="line">
            <a:avLst/>
          </a:prstGeom>
          <a:ln w="19050" cap="rnd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31720" y="2971800"/>
            <a:ext cx="109728" cy="0"/>
          </a:xfrm>
          <a:prstGeom prst="line">
            <a:avLst/>
          </a:prstGeom>
          <a:ln w="19050" cap="rnd">
            <a:solidFill>
              <a:srgbClr val="1D35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40211" y="4845852"/>
            <a:ext cx="1039817" cy="183348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0211" y="4114800"/>
            <a:ext cx="527929" cy="914400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577371" y="4791632"/>
            <a:ext cx="132993" cy="189933"/>
          </a:xfrm>
          <a:custGeom>
            <a:avLst/>
            <a:gdLst/>
            <a:ahLst/>
            <a:cxnLst/>
            <a:rect l="l" t="t" r="r" b="b"/>
            <a:pathLst>
              <a:path w="132993" h="189933">
                <a:moveTo>
                  <a:pt x="132993" y="189933"/>
                </a:moveTo>
                <a:lnTo>
                  <a:pt x="129994" y="175276"/>
                </a:lnTo>
                <a:lnTo>
                  <a:pt x="126201" y="160805"/>
                </a:lnTo>
                <a:lnTo>
                  <a:pt x="121625" y="146562"/>
                </a:lnTo>
                <a:lnTo>
                  <a:pt x="116279" y="132590"/>
                </a:lnTo>
                <a:lnTo>
                  <a:pt x="110179" y="118930"/>
                </a:lnTo>
                <a:lnTo>
                  <a:pt x="103344" y="105623"/>
                </a:lnTo>
                <a:lnTo>
                  <a:pt x="95793" y="92708"/>
                </a:lnTo>
                <a:lnTo>
                  <a:pt x="87550" y="80225"/>
                </a:lnTo>
                <a:lnTo>
                  <a:pt x="78638" y="68209"/>
                </a:lnTo>
                <a:lnTo>
                  <a:pt x="69085" y="56696"/>
                </a:lnTo>
                <a:lnTo>
                  <a:pt x="58918" y="45722"/>
                </a:lnTo>
                <a:lnTo>
                  <a:pt x="48168" y="35318"/>
                </a:lnTo>
                <a:lnTo>
                  <a:pt x="36867" y="25516"/>
                </a:lnTo>
                <a:lnTo>
                  <a:pt x="25048" y="16344"/>
                </a:lnTo>
                <a:lnTo>
                  <a:pt x="12747" y="783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8207" y="4997196"/>
            <a:ext cx="64008" cy="6400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352880" y="4446589"/>
            <a:ext cx="582611" cy="582611"/>
          </a:xfrm>
          <a:custGeom>
            <a:avLst/>
            <a:gdLst/>
            <a:ahLst/>
            <a:cxnLst/>
            <a:rect l="l" t="t" r="r" b="b"/>
            <a:pathLst>
              <a:path w="582611" h="582611">
                <a:moveTo>
                  <a:pt x="87331" y="582611"/>
                </a:moveTo>
                <a:lnTo>
                  <a:pt x="582611" y="495280"/>
                </a:lnTo>
                <a:lnTo>
                  <a:pt x="495280" y="0"/>
                </a:lnTo>
                <a:lnTo>
                  <a:pt x="0" y="87331"/>
                </a:lnTo>
                <a:close/>
              </a:path>
            </a:pathLst>
          </a:custGeom>
          <a:noFill/>
          <a:ln w="15875" cap="rnd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5278120"/>
            <a:ext cx="1554480" cy="233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A84400"/>
                </a:solidFill>
                <a:latin typeface="PT Sans"/>
              </a:rPr>
              <a:t>ичинде калат: тар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03120" y="5029200"/>
            <a:ext cx="914400" cy="0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2103120" y="4114800"/>
            <a:ext cx="0" cy="914400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reeform 32"/>
          <p:cNvSpPr/>
          <p:nvPr/>
        </p:nvSpPr>
        <p:spPr>
          <a:xfrm>
            <a:off x="2103120" y="4823460"/>
            <a:ext cx="205740" cy="205740"/>
          </a:xfrm>
          <a:custGeom>
            <a:avLst/>
            <a:gdLst/>
            <a:ahLst/>
            <a:cxnLst/>
            <a:rect l="l" t="t" r="r" b="b"/>
            <a:pathLst>
              <a:path w="205740" h="205740">
                <a:moveTo>
                  <a:pt x="205740" y="205740"/>
                </a:moveTo>
                <a:lnTo>
                  <a:pt x="205740" y="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071115" y="4997196"/>
            <a:ext cx="64008" cy="6400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103120" y="4526280"/>
            <a:ext cx="502920" cy="502920"/>
          </a:xfrm>
          <a:custGeom>
            <a:avLst/>
            <a:gdLst/>
            <a:ahLst/>
            <a:cxnLst/>
            <a:rect l="l" t="t" r="r" b="b"/>
            <a:pathLst>
              <a:path w="502920" h="502920">
                <a:moveTo>
                  <a:pt x="0" y="502920"/>
                </a:moveTo>
                <a:lnTo>
                  <a:pt x="502920" y="502920"/>
                </a:lnTo>
                <a:lnTo>
                  <a:pt x="502920" y="0"/>
                </a:lnTo>
                <a:lnTo>
                  <a:pt x="0" y="0"/>
                </a:lnTo>
                <a:close/>
              </a:path>
            </a:pathLst>
          </a:custGeom>
          <a:noFill/>
          <a:ln w="15875" cap="rnd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83079" y="5278120"/>
            <a:ext cx="1554480" cy="233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A84400"/>
                </a:solidFill>
                <a:latin typeface="PT Sans"/>
              </a:rPr>
              <a:t>дал келет: тик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4089112" y="4668452"/>
            <a:ext cx="642908" cy="113361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 flipV="1">
            <a:off x="3589019" y="4362186"/>
            <a:ext cx="500093" cy="419627"/>
          </a:xfrm>
          <a:prstGeom prst="line">
            <a:avLst/>
          </a:prstGeom>
          <a:ln w="16065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Freeform 38"/>
          <p:cNvSpPr/>
          <p:nvPr/>
        </p:nvSpPr>
        <p:spPr>
          <a:xfrm>
            <a:off x="3929083" y="4572960"/>
            <a:ext cx="365760" cy="172578"/>
          </a:xfrm>
          <a:custGeom>
            <a:avLst/>
            <a:gdLst/>
            <a:ahLst/>
            <a:cxnLst/>
            <a:rect l="l" t="t" r="r" b="b"/>
            <a:pathLst>
              <a:path w="365760" h="172578">
                <a:moveTo>
                  <a:pt x="365760" y="172578"/>
                </a:moveTo>
                <a:lnTo>
                  <a:pt x="358568" y="143866"/>
                </a:lnTo>
                <a:lnTo>
                  <a:pt x="347390" y="116458"/>
                </a:lnTo>
                <a:lnTo>
                  <a:pt x="332451" y="90905"/>
                </a:lnTo>
                <a:lnTo>
                  <a:pt x="314050" y="67720"/>
                </a:lnTo>
                <a:lnTo>
                  <a:pt x="292557" y="47369"/>
                </a:lnTo>
                <a:lnTo>
                  <a:pt x="268404" y="30259"/>
                </a:lnTo>
                <a:lnTo>
                  <a:pt x="242075" y="16735"/>
                </a:lnTo>
                <a:lnTo>
                  <a:pt x="214098" y="7068"/>
                </a:lnTo>
                <a:lnTo>
                  <a:pt x="185036" y="1452"/>
                </a:lnTo>
                <a:lnTo>
                  <a:pt x="155473" y="0"/>
                </a:lnTo>
                <a:lnTo>
                  <a:pt x="126000" y="2740"/>
                </a:lnTo>
                <a:lnTo>
                  <a:pt x="97211" y="9619"/>
                </a:lnTo>
                <a:lnTo>
                  <a:pt x="69683" y="20497"/>
                </a:lnTo>
                <a:lnTo>
                  <a:pt x="43969" y="35157"/>
                </a:lnTo>
                <a:lnTo>
                  <a:pt x="20585" y="53303"/>
                </a:lnTo>
                <a:lnTo>
                  <a:pt x="0" y="74573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057108" y="4749809"/>
            <a:ext cx="64008" cy="6400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001782" y="4199203"/>
            <a:ext cx="582610" cy="582611"/>
          </a:xfrm>
          <a:custGeom>
            <a:avLst/>
            <a:gdLst/>
            <a:ahLst/>
            <a:cxnLst/>
            <a:rect l="l" t="t" r="r" b="b"/>
            <a:pathLst>
              <a:path w="582610" h="582611">
                <a:moveTo>
                  <a:pt x="87331" y="582611"/>
                </a:moveTo>
                <a:lnTo>
                  <a:pt x="582610" y="495280"/>
                </a:lnTo>
                <a:lnTo>
                  <a:pt x="495279" y="0"/>
                </a:lnTo>
                <a:lnTo>
                  <a:pt x="0" y="87331"/>
                </a:lnTo>
                <a:close/>
              </a:path>
            </a:pathLst>
          </a:custGeom>
          <a:noFill/>
          <a:ln w="15875" cap="rnd">
            <a:solidFill>
              <a:srgbClr val="2441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79" y="5278120"/>
            <a:ext cx="1554480" cy="2336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A84400"/>
                </a:solidFill>
                <a:latin typeface="PT Sans"/>
              </a:rPr>
              <a:t>чыгып кетет: кең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2032000"/>
            <a:ext cx="3291840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PT Sans"/>
              </a:rPr>
              <a:t>2. Жип менен тегерек</a:t>
            </a:r>
          </a:p>
        </p:txBody>
      </p:sp>
      <p:sp>
        <p:nvSpPr>
          <p:cNvPr id="44" name="Oval 43"/>
          <p:cNvSpPr/>
          <p:nvPr/>
        </p:nvSpPr>
        <p:spPr>
          <a:xfrm>
            <a:off x="5715000" y="2788920"/>
            <a:ext cx="2377440" cy="2377440"/>
          </a:xfrm>
          <a:prstGeom prst="ellipse">
            <a:avLst/>
          </a:prstGeom>
          <a:noFill/>
          <a:ln w="28575">
            <a:solidFill>
              <a:srgbClr val="007A5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 flipV="1">
            <a:off x="6903720" y="3383279"/>
            <a:ext cx="1029461" cy="594360"/>
          </a:xfrm>
          <a:prstGeom prst="line">
            <a:avLst/>
          </a:prstGeom>
          <a:ln w="44450" cap="rnd">
            <a:solidFill>
              <a:srgbClr val="B07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830568" y="3904487"/>
            <a:ext cx="146304" cy="146304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869173" y="3319272"/>
            <a:ext cx="128016" cy="12801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59" y="4094480"/>
            <a:ext cx="73152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4A5A70"/>
                </a:solidFill>
                <a:latin typeface="PT Sans"/>
              </a:rPr>
              <a:t>казык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41741" y="3042919"/>
            <a:ext cx="54864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1">
                <a:solidFill>
                  <a:srgbClr val="4A5A70"/>
                </a:solidFill>
                <a:latin typeface="PT Sans"/>
              </a:rPr>
              <a:t>бор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035040" y="3169919"/>
            <a:ext cx="137160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A84400"/>
                </a:solidFill>
                <a:latin typeface="PT Sans"/>
              </a:rPr>
              <a:t>жип = радиус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15000" y="5273040"/>
            <a:ext cx="2377440" cy="2438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1">
                <a:solidFill>
                  <a:srgbClr val="4A5A70"/>
                </a:solidFill>
                <a:latin typeface="PT Sans"/>
              </a:rPr>
              <a:t>Жипти тартып айлан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06840" y="2057400"/>
            <a:ext cx="2743200" cy="3703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2121408"/>
            <a:ext cx="25146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 эски дептер барагы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50 см жип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бор же карандаш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Короодо: казык, 3 м жип, бор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Бурчтун чоңдугу – ачылышы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сүрөт менен: фигуралар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Ар бир төрт бурчтукта тик бурчту (□) жана барабар жактарды (|) белгилейбиз. Тегеректе: О, радиус, диаметр.</a:t>
            </a:r>
          </a:p>
        </p:txBody>
      </p:sp>
      <p:sp>
        <p:nvSpPr>
          <p:cNvPr id="12" name="Freeform 11"/>
          <p:cNvSpPr/>
          <p:nvPr/>
        </p:nvSpPr>
        <p:spPr>
          <a:xfrm>
            <a:off x="525780" y="2308860"/>
            <a:ext cx="1234440" cy="1234440"/>
          </a:xfrm>
          <a:custGeom>
            <a:avLst/>
            <a:gdLst/>
            <a:ahLst/>
            <a:cxnLst/>
            <a:rect l="l" t="t" r="r" b="b"/>
            <a:pathLst>
              <a:path w="1234440" h="1234440">
                <a:moveTo>
                  <a:pt x="0" y="0"/>
                </a:moveTo>
                <a:lnTo>
                  <a:pt x="1234440" y="0"/>
                </a:lnTo>
                <a:lnTo>
                  <a:pt x="123444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B5E2D3"/>
          </a:solidFill>
          <a:ln w="19716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525780" y="230886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0" y="146304"/>
                </a:moveTo>
                <a:lnTo>
                  <a:pt x="146304" y="146304"/>
                </a:lnTo>
                <a:lnTo>
                  <a:pt x="146304" y="0"/>
                </a:lnTo>
              </a:path>
            </a:pathLst>
          </a:custGeom>
          <a:noFill/>
          <a:ln w="1380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613916" y="2308860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0" y="0"/>
                </a:moveTo>
                <a:lnTo>
                  <a:pt x="0" y="146304"/>
                </a:lnTo>
                <a:lnTo>
                  <a:pt x="146304" y="146304"/>
                </a:lnTo>
              </a:path>
            </a:pathLst>
          </a:custGeom>
          <a:noFill/>
          <a:ln w="1380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613916" y="339699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146304" y="0"/>
                </a:moveTo>
                <a:lnTo>
                  <a:pt x="0" y="0"/>
                </a:lnTo>
                <a:lnTo>
                  <a:pt x="0" y="146304"/>
                </a:lnTo>
              </a:path>
            </a:pathLst>
          </a:custGeom>
          <a:noFill/>
          <a:ln w="1380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525780" y="3396996"/>
            <a:ext cx="146304" cy="146304"/>
          </a:xfrm>
          <a:custGeom>
            <a:avLst/>
            <a:gdLst/>
            <a:ahLst/>
            <a:cxnLst/>
            <a:rect l="l" t="t" r="r" b="b"/>
            <a:pathLst>
              <a:path w="146304" h="146304">
                <a:moveTo>
                  <a:pt x="146304" y="146304"/>
                </a:moveTo>
                <a:lnTo>
                  <a:pt x="146304" y="0"/>
                </a:lnTo>
                <a:lnTo>
                  <a:pt x="0" y="0"/>
                </a:lnTo>
              </a:path>
            </a:pathLst>
          </a:custGeom>
          <a:noFill/>
          <a:ln w="13801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43000" y="2253310"/>
            <a:ext cx="0" cy="111099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704670" y="2926080"/>
            <a:ext cx="111099" cy="0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143000" y="3487750"/>
            <a:ext cx="0" cy="111099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70230" y="2926080"/>
            <a:ext cx="111099" cy="0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65760" y="3743959"/>
            <a:ext cx="1554480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Квадрат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112767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4 тик бурч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332224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4 барабар жак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551680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2 жуп параллель</a:t>
            </a:r>
          </a:p>
        </p:txBody>
      </p:sp>
      <p:sp>
        <p:nvSpPr>
          <p:cNvPr id="25" name="Freeform 24"/>
          <p:cNvSpPr/>
          <p:nvPr/>
        </p:nvSpPr>
        <p:spPr>
          <a:xfrm>
            <a:off x="2029968" y="2651760"/>
            <a:ext cx="1371600" cy="548640"/>
          </a:xfrm>
          <a:custGeom>
            <a:avLst/>
            <a:gdLst/>
            <a:ahLst/>
            <a:cxnLst/>
            <a:rect l="l" t="t" r="r" b="b"/>
            <a:pathLst>
              <a:path w="1371600" h="548640">
                <a:moveTo>
                  <a:pt x="0" y="0"/>
                </a:moveTo>
                <a:lnTo>
                  <a:pt x="1371600" y="0"/>
                </a:lnTo>
                <a:lnTo>
                  <a:pt x="137160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2029968" y="2651760"/>
            <a:ext cx="71323" cy="71323"/>
          </a:xfrm>
          <a:custGeom>
            <a:avLst/>
            <a:gdLst/>
            <a:ahLst/>
            <a:cxnLst/>
            <a:rect l="l" t="t" r="r" b="b"/>
            <a:pathLst>
              <a:path w="71323" h="71323">
                <a:moveTo>
                  <a:pt x="0" y="71323"/>
                </a:moveTo>
                <a:lnTo>
                  <a:pt x="71323" y="71323"/>
                </a:lnTo>
                <a:lnTo>
                  <a:pt x="71323" y="0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3330245" y="2651760"/>
            <a:ext cx="71323" cy="71323"/>
          </a:xfrm>
          <a:custGeom>
            <a:avLst/>
            <a:gdLst/>
            <a:ahLst/>
            <a:cxnLst/>
            <a:rect l="l" t="t" r="r" b="b"/>
            <a:pathLst>
              <a:path w="71323" h="71323">
                <a:moveTo>
                  <a:pt x="0" y="0"/>
                </a:moveTo>
                <a:lnTo>
                  <a:pt x="0" y="71323"/>
                </a:lnTo>
                <a:lnTo>
                  <a:pt x="71323" y="71323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330245" y="3129077"/>
            <a:ext cx="71323" cy="71323"/>
          </a:xfrm>
          <a:custGeom>
            <a:avLst/>
            <a:gdLst/>
            <a:ahLst/>
            <a:cxnLst/>
            <a:rect l="l" t="t" r="r" b="b"/>
            <a:pathLst>
              <a:path w="71323" h="71323">
                <a:moveTo>
                  <a:pt x="71323" y="0"/>
                </a:moveTo>
                <a:lnTo>
                  <a:pt x="0" y="0"/>
                </a:lnTo>
                <a:lnTo>
                  <a:pt x="0" y="71323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2029968" y="3129077"/>
            <a:ext cx="71323" cy="71323"/>
          </a:xfrm>
          <a:custGeom>
            <a:avLst/>
            <a:gdLst/>
            <a:ahLst/>
            <a:cxnLst/>
            <a:rect l="l" t="t" r="r" b="b"/>
            <a:pathLst>
              <a:path w="71323" h="71323">
                <a:moveTo>
                  <a:pt x="71323" y="71323"/>
                </a:moveTo>
                <a:lnTo>
                  <a:pt x="71323" y="0"/>
                </a:lnTo>
                <a:lnTo>
                  <a:pt x="0" y="0"/>
                </a:lnTo>
              </a:path>
            </a:pathLst>
          </a:custGeom>
          <a:noFill/>
          <a:ln w="12700" cap="rnd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3364991" y="2926080"/>
            <a:ext cx="73153" cy="0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993391" y="2926080"/>
            <a:ext cx="73152" cy="0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699308" y="261518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32227" y="261518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732227" y="316382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699308" y="316382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938527" y="3743959"/>
            <a:ext cx="1554480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Тик бурчтук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38527" y="4112767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4 тик бурч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38527" y="4332224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2 жуп параллель</a:t>
            </a:r>
          </a:p>
        </p:txBody>
      </p:sp>
      <p:sp>
        <p:nvSpPr>
          <p:cNvPr id="39" name="Freeform 38"/>
          <p:cNvSpPr/>
          <p:nvPr/>
        </p:nvSpPr>
        <p:spPr>
          <a:xfrm>
            <a:off x="3602736" y="2583180"/>
            <a:ext cx="1371600" cy="685800"/>
          </a:xfrm>
          <a:custGeom>
            <a:avLst/>
            <a:gdLst/>
            <a:ahLst/>
            <a:cxnLst/>
            <a:rect l="l" t="t" r="r" b="b"/>
            <a:pathLst>
              <a:path w="1371600" h="685800">
                <a:moveTo>
                  <a:pt x="0" y="0"/>
                </a:moveTo>
                <a:lnTo>
                  <a:pt x="857250" y="0"/>
                </a:lnTo>
                <a:lnTo>
                  <a:pt x="1371600" y="685800"/>
                </a:lnTo>
                <a:lnTo>
                  <a:pt x="514350" y="685800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>
            <a:off x="4031360" y="254660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687900" y="2904134"/>
            <a:ext cx="58521" cy="43891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45711" y="323240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3830650" y="2904134"/>
            <a:ext cx="58521" cy="43891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11295" y="3743959"/>
            <a:ext cx="1554480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Ромб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11295" y="4112767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4 барабар жак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11295" y="4332224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2 жуп параллель</a:t>
            </a:r>
          </a:p>
        </p:txBody>
      </p:sp>
      <p:sp>
        <p:nvSpPr>
          <p:cNvPr id="47" name="Freeform 46"/>
          <p:cNvSpPr/>
          <p:nvPr/>
        </p:nvSpPr>
        <p:spPr>
          <a:xfrm>
            <a:off x="5175504" y="2651760"/>
            <a:ext cx="1371600" cy="548640"/>
          </a:xfrm>
          <a:custGeom>
            <a:avLst/>
            <a:gdLst/>
            <a:ahLst/>
            <a:cxnLst/>
            <a:rect l="l" t="t" r="r" b="b"/>
            <a:pathLst>
              <a:path w="1371600" h="548640">
                <a:moveTo>
                  <a:pt x="274320" y="0"/>
                </a:moveTo>
                <a:lnTo>
                  <a:pt x="1371600" y="0"/>
                </a:lnTo>
                <a:lnTo>
                  <a:pt x="109728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6377229" y="2909722"/>
            <a:ext cx="65429" cy="32715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279949" y="2909722"/>
            <a:ext cx="65429" cy="32715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5982004" y="261518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6014923" y="261518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740603" y="316382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707684" y="3163824"/>
            <a:ext cx="0" cy="73152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084064" y="3743959"/>
            <a:ext cx="1554480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Параллелограмм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4064" y="4112767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2 жуп параллель</a:t>
            </a:r>
          </a:p>
        </p:txBody>
      </p:sp>
      <p:sp>
        <p:nvSpPr>
          <p:cNvPr id="56" name="Freeform 55"/>
          <p:cNvSpPr/>
          <p:nvPr/>
        </p:nvSpPr>
        <p:spPr>
          <a:xfrm>
            <a:off x="6748272" y="2651760"/>
            <a:ext cx="1371600" cy="548640"/>
          </a:xfrm>
          <a:custGeom>
            <a:avLst/>
            <a:gdLst/>
            <a:ahLst/>
            <a:cxnLst/>
            <a:rect l="l" t="t" r="r" b="b"/>
            <a:pathLst>
              <a:path w="1371600" h="548640">
                <a:moveTo>
                  <a:pt x="274320" y="0"/>
                </a:moveTo>
                <a:lnTo>
                  <a:pt x="1097280" y="0"/>
                </a:lnTo>
                <a:lnTo>
                  <a:pt x="137160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B5E2D3"/>
          </a:solidFill>
          <a:ln w="12700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 flipH="1">
            <a:off x="7949997" y="2909722"/>
            <a:ext cx="65429" cy="32715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6852717" y="2909722"/>
            <a:ext cx="65429" cy="32715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656831" y="3743959"/>
            <a:ext cx="1554480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Трапеция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56831" y="4112767"/>
            <a:ext cx="1554480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0" i="0">
                <a:solidFill>
                  <a:srgbClr val="4A5A70"/>
                </a:solidFill>
                <a:latin typeface="PT Sans"/>
              </a:rPr>
              <a:t>1 жуп параллель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" y="4996688"/>
            <a:ext cx="6949440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07A5A"/>
                </a:solidFill>
                <a:latin typeface="PT Sans"/>
              </a:rPr>
              <a:t>Квадрат – тик бурчтук да, ромб да: анда баары бар.</a:t>
            </a:r>
          </a:p>
        </p:txBody>
      </p:sp>
      <p:sp>
        <p:nvSpPr>
          <p:cNvPr id="62" name="Oval 61"/>
          <p:cNvSpPr/>
          <p:nvPr/>
        </p:nvSpPr>
        <p:spPr>
          <a:xfrm>
            <a:off x="8801100" y="2263140"/>
            <a:ext cx="2331720" cy="2331720"/>
          </a:xfrm>
          <a:prstGeom prst="ellipse">
            <a:avLst/>
          </a:prstGeom>
          <a:solidFill>
            <a:srgbClr val="B5E2D3"/>
          </a:solidFill>
          <a:ln w="285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 flipV="1">
            <a:off x="8871409" y="3030252"/>
            <a:ext cx="2191101" cy="797495"/>
          </a:xfrm>
          <a:prstGeom prst="line">
            <a:avLst/>
          </a:prstGeom>
          <a:ln w="381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H="1" flipV="1">
            <a:off x="9568212" y="2333449"/>
            <a:ext cx="398748" cy="1095551"/>
          </a:xfrm>
          <a:prstGeom prst="line">
            <a:avLst/>
          </a:prstGeom>
          <a:ln w="38100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9902952" y="3364992"/>
            <a:ext cx="128016" cy="128016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012680" y="3467608"/>
            <a:ext cx="274320" cy="3251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1D3557"/>
                </a:solidFill>
                <a:latin typeface="PT Sans"/>
              </a:rPr>
              <a:t>О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25212" y="2226769"/>
            <a:ext cx="91440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A84400"/>
                </a:solidFill>
                <a:latin typeface="PT Sans"/>
              </a:rPr>
              <a:t>радиус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30990" y="2557812"/>
            <a:ext cx="1005840" cy="304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24418C"/>
                </a:solidFill>
                <a:latin typeface="PT Sans"/>
              </a:rPr>
              <a:t>диаметр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0" y="4658360"/>
            <a:ext cx="1828800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D3557"/>
                </a:solidFill>
                <a:latin typeface="PT Sans"/>
              </a:rPr>
              <a:t>О – борбор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Диаметр = радиус + радиус:   3 м + 3 м = 6 м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Бурч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Бүктөлгөн кагаз менен текшер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тар &lt; тик &lt; кең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Аты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Адегенде бурчтары, анан жактары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4 тик бурч → тик бурчтук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Тегерек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Борбордон четке – радиус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Диаметр = 2 радиус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Белгиле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Чокуга тамга, тик бурчка 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Бурсак да, аты өзгөрбөйт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Квадрат – тик бурчтук да, ромб да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Айпери ордонун тегерегин 4 м жип менен чийди. Ордонун диаметри канча? Пойанын 4 кадамы менен.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Жип = радиус = 4 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Түшүн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Диаметр = радиус + радиус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Планда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4 + 4 = 8 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Аткар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8 ÷ 2 = 4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Диаметр = </a:t>
            </a:r>
            <a:r>
              <a:rPr sz="3400" b="1">
                <a:solidFill>
                  <a:srgbClr val="24418C"/>
                </a:solidFill>
                <a:latin typeface="PT Sans"/>
              </a:rPr>
              <a:t>8 м</a:t>
            </a:r>
          </a:p>
        </p:txBody>
      </p:sp>
      <p:sp>
        <p:nvSpPr>
          <p:cNvPr id="21" name="g3geo"/>
          <p:cNvSpPr/>
          <p:nvPr/>
        </p:nvSpPr>
        <p:spPr>
          <a:xfrm>
            <a:off x="548640" y="2880359"/>
            <a:ext cx="1737360" cy="1737360"/>
          </a:xfrm>
          <a:prstGeom prst="ellipse">
            <a:avLst/>
          </a:prstGeom>
          <a:solidFill>
            <a:srgbClr val="B5E2D3"/>
          </a:solidFill>
          <a:ln w="27749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g3geo"/>
          <p:cNvCxnSpPr/>
          <p:nvPr/>
        </p:nvCxnSpPr>
        <p:spPr>
          <a:xfrm flipV="1">
            <a:off x="1417320" y="3250785"/>
            <a:ext cx="711580" cy="498254"/>
          </a:xfrm>
          <a:prstGeom prst="line">
            <a:avLst/>
          </a:prstGeom>
          <a:ln w="38849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g3geo"/>
          <p:cNvSpPr/>
          <p:nvPr/>
        </p:nvSpPr>
        <p:spPr>
          <a:xfrm>
            <a:off x="2085466" y="3207351"/>
            <a:ext cx="86868" cy="86868"/>
          </a:xfrm>
          <a:prstGeom prst="ellipse">
            <a:avLst/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g3geo"/>
          <p:cNvSpPr/>
          <p:nvPr/>
        </p:nvSpPr>
        <p:spPr>
          <a:xfrm>
            <a:off x="1365199" y="3696919"/>
            <a:ext cx="104241" cy="104241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g3geo"/>
          <p:cNvSpPr txBox="1"/>
          <p:nvPr/>
        </p:nvSpPr>
        <p:spPr>
          <a:xfrm>
            <a:off x="1123797" y="3841699"/>
            <a:ext cx="274320" cy="2316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39" b="1" i="0">
                <a:solidFill>
                  <a:srgbClr val="1D3557"/>
                </a:solidFill>
                <a:latin typeface="PT Sans"/>
              </a:rPr>
              <a:t>О</a:t>
            </a:r>
          </a:p>
        </p:txBody>
      </p:sp>
      <p:sp>
        <p:nvSpPr>
          <p:cNvPr id="26" name="g3geo"/>
          <p:cNvSpPr txBox="1"/>
          <p:nvPr/>
        </p:nvSpPr>
        <p:spPr>
          <a:xfrm>
            <a:off x="1673352" y="2971799"/>
            <a:ext cx="493776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A84400"/>
                </a:solidFill>
                <a:latin typeface="PT Sans"/>
              </a:rPr>
              <a:t>4 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Гүлзардын 4 жагы барабар, бир да тик бурчу жок. Аты эмне? Ал квадратпы?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Бурчтары: тик бурч =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кагаз менен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Жактары: 4ү тең барабар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жип менен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Квадрат эмес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тик бурчу жок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= ромб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Аты = </a:t>
            </a:r>
            <a:r>
              <a:rPr sz="3400" b="1">
                <a:solidFill>
                  <a:srgbClr val="24418C"/>
                </a:solidFill>
                <a:latin typeface="PT Sans"/>
              </a:rPr>
              <a:t>ромб</a:t>
            </a:r>
          </a:p>
        </p:txBody>
      </p:sp>
      <p:sp>
        <p:nvSpPr>
          <p:cNvPr id="20" name="g3geo"/>
          <p:cNvSpPr/>
          <p:nvPr/>
        </p:nvSpPr>
        <p:spPr>
          <a:xfrm>
            <a:off x="548640" y="3314700"/>
            <a:ext cx="2103120" cy="1051560"/>
          </a:xfrm>
          <a:custGeom>
            <a:avLst/>
            <a:gdLst/>
            <a:ahLst/>
            <a:cxnLst/>
            <a:rect l="l" t="t" r="r" b="b"/>
            <a:pathLst>
              <a:path w="2103120" h="1051560">
                <a:moveTo>
                  <a:pt x="0" y="0"/>
                </a:moveTo>
                <a:lnTo>
                  <a:pt x="1314450" y="0"/>
                </a:lnTo>
                <a:lnTo>
                  <a:pt x="2103120" y="1051560"/>
                </a:lnTo>
                <a:lnTo>
                  <a:pt x="788670" y="1051560"/>
                </a:lnTo>
                <a:close/>
              </a:path>
            </a:pathLst>
          </a:custGeom>
          <a:solidFill>
            <a:srgbClr val="B5E2D3"/>
          </a:solidFill>
          <a:ln w="16795" cap="rnd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g3geo"/>
          <p:cNvCxnSpPr/>
          <p:nvPr/>
        </p:nvCxnSpPr>
        <p:spPr>
          <a:xfrm>
            <a:off x="1205865" y="3267379"/>
            <a:ext cx="0" cy="94641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3geo"/>
          <p:cNvCxnSpPr/>
          <p:nvPr/>
        </p:nvCxnSpPr>
        <p:spPr>
          <a:xfrm flipH="1">
            <a:off x="2219568" y="3812087"/>
            <a:ext cx="75713" cy="56785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3geo"/>
          <p:cNvCxnSpPr/>
          <p:nvPr/>
        </p:nvCxnSpPr>
        <p:spPr>
          <a:xfrm flipV="1">
            <a:off x="1994535" y="4318939"/>
            <a:ext cx="0" cy="94641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3geo"/>
          <p:cNvCxnSpPr/>
          <p:nvPr/>
        </p:nvCxnSpPr>
        <p:spPr>
          <a:xfrm flipV="1">
            <a:off x="905118" y="3812087"/>
            <a:ext cx="75713" cy="56785"/>
          </a:xfrm>
          <a:prstGeom prst="line">
            <a:avLst/>
          </a:prstGeom>
          <a:ln w="12700" cap="rnd">
            <a:solidFill>
              <a:srgbClr val="2441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g3geo"/>
          <p:cNvSpPr txBox="1"/>
          <p:nvPr/>
        </p:nvSpPr>
        <p:spPr>
          <a:xfrm>
            <a:off x="272443" y="3140025"/>
            <a:ext cx="274320" cy="2103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35" b="1" i="0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26" name="g3geo"/>
          <p:cNvSpPr txBox="1"/>
          <p:nvPr/>
        </p:nvSpPr>
        <p:spPr>
          <a:xfrm>
            <a:off x="1795448" y="3070507"/>
            <a:ext cx="274320" cy="2103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35" b="1" i="0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27" name="g3geo"/>
          <p:cNvSpPr txBox="1"/>
          <p:nvPr/>
        </p:nvSpPr>
        <p:spPr>
          <a:xfrm>
            <a:off x="2653636" y="4330622"/>
            <a:ext cx="274320" cy="2103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35" b="1" i="0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8" name="g3geo"/>
          <p:cNvSpPr txBox="1"/>
          <p:nvPr/>
        </p:nvSpPr>
        <p:spPr>
          <a:xfrm>
            <a:off x="1130631" y="4400140"/>
            <a:ext cx="274320" cy="2103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35" b="1" i="0">
                <a:solidFill>
                  <a:srgbClr val="1D3557"/>
                </a:solidFill>
                <a:latin typeface="PT Sans"/>
              </a:rPr>
              <a:t>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тез текшер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Радиус ↔ диаметр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r = 7 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d = 7 + 7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= 14 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d = 18 → r = 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Диаметр – эки радиус; радиус – жарымы.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Кагаз бурчу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Ичинде калат → тар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Дал келет → тик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Чыгып кетет → кең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Жактарын эмес, ачылышын кара.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Суроо тизмеги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тик бурч барбы?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жак барабарбы?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Параллель жуптар?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→ аты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Ушул тартипте сура.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Ыкмаңды айт: «Мен ... деп текшердим».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Кайсылары тик бурчтук: квадрат, тик бурчтук, ромб, параллелограмм?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Тик бурчтук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Квадрат, тик бурчтук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Тик бурчтук, параллелограмм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Төртөө тең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Гүлзар трапеция формасында. Анын параллель жактары 7 м жана 4 м. Экөө бирге канча метр?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Нурбек бор менен квадрат «классики» чийди. Жагы 2 м. Төрт жагынын сызыгы бирге канча метр?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Мамыт аванын 20 м жиби бар. Ордонун диаметрин белгилөө үчүн 7 м радиусту эки жолу өлчөдү. Канча метр жип калды?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Гүлзар трапеция формасында. Анын параллель жактары 7 м жана 4 м. Экөө бирге канча метр?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1491580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 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8508" y="3017520"/>
            <a:ext cx="852331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4 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11 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 + 4 = 11 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Нурбек бор менен квадрат «классики» чийди. Жагы 2 м. Төрт жагынын сызыгы бирге канча метр?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9600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 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5578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 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91555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 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7533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 м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92112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4951" y="3401568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037832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8 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× 2 = 8 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Мамыт аванын 20 м жиби бар. Ордонун диаметрин белгилөө үчүн 7 м радиусту эки жолу өлчөдү. Канча метр жип калды?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2272" y="3017520"/>
            <a:ext cx="164073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14 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13010" y="3017520"/>
            <a:ext cx="70317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?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20 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 + 7 = 14;  20 − 14 = 6 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Ордонун радиусу 5 м. Диаметри канча?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Диаметри 12 м. Радиусу канча?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Квадраттын канча тик бурчу бар? Ал тик бурчтукпу?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Ромбдун канча жагы барабар?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Трапециянын канча жуп параллель жагы бар?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Саат 3:00дө жебелер кандай бурч түзөт?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Ордонун радиусу 5 м. Диаметри канча?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10 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Диаметри 12 м. Радиусу канча?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 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Квадраттын канча тик бурчу бар? Ал тик бурчтукпу?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4; ооба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Ромбдун канча жагы барабар?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Трапециянын канча жуп параллель жагы бар?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Саат 3:00дө жебелер кандай бурч түзөт?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Тик бурч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Мамыт ава казыкка 3 м жип байлады. Айпери жиптин учундагы бор менен тегерек чийди. Ордонун диаметри канча метр болот?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Диаметр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37947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240280"/>
            <a:ext cx="379475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3 м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6 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Жип = радиус = 3 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 + 3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радиус + радиус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6 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диаметр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Ордонун диаметри 6 м: 3 м + 3 м.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Кызыл-Кыя короосу үчүн аянтча планын түз: бир тегерек жана бир төрт бурчтук. Чийип, белгилеп, суроо жаз.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Айпери, Нурбек, Мамыт ава.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Ордонун радиусу 6 м. Диаметри канча метр?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4 тик бурчу жана 4 барабар жагы бар фигуранын аты? Ал тик бурчтукпу?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Саат 4:00дө жебелер кандай бурч түзөт: тар, тик же кең?</a:t>
            </a:r>
          </a:p>
        </p:txBody>
      </p:sp>
      <p:sp>
        <p:nvSpPr>
          <p:cNvPr id="20" name="g3geo"/>
          <p:cNvSpPr/>
          <p:nvPr/>
        </p:nvSpPr>
        <p:spPr>
          <a:xfrm>
            <a:off x="10433304" y="4899660"/>
            <a:ext cx="1097280" cy="10972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g3geo"/>
          <p:cNvCxnSpPr/>
          <p:nvPr/>
        </p:nvCxnSpPr>
        <p:spPr>
          <a:xfrm flipV="1">
            <a:off x="10981944" y="4927091"/>
            <a:ext cx="0" cy="71324"/>
          </a:xfrm>
          <a:prstGeom prst="line">
            <a:avLst/>
          </a:prstGeom>
          <a:ln w="317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g3geo"/>
          <p:cNvCxnSpPr/>
          <p:nvPr/>
        </p:nvCxnSpPr>
        <p:spPr>
          <a:xfrm flipV="1">
            <a:off x="11206886" y="4996920"/>
            <a:ext cx="35662" cy="61768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3geo"/>
          <p:cNvCxnSpPr/>
          <p:nvPr/>
        </p:nvCxnSpPr>
        <p:spPr>
          <a:xfrm flipV="1">
            <a:off x="11371555" y="5187696"/>
            <a:ext cx="61768" cy="35661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3geo"/>
          <p:cNvCxnSpPr/>
          <p:nvPr/>
        </p:nvCxnSpPr>
        <p:spPr>
          <a:xfrm>
            <a:off x="11431828" y="5448300"/>
            <a:ext cx="71324" cy="0"/>
          </a:xfrm>
          <a:prstGeom prst="line">
            <a:avLst/>
          </a:prstGeom>
          <a:ln w="317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3geo"/>
          <p:cNvCxnSpPr/>
          <p:nvPr/>
        </p:nvCxnSpPr>
        <p:spPr>
          <a:xfrm>
            <a:off x="11371555" y="5673242"/>
            <a:ext cx="61768" cy="35662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g3geo"/>
          <p:cNvCxnSpPr/>
          <p:nvPr/>
        </p:nvCxnSpPr>
        <p:spPr>
          <a:xfrm>
            <a:off x="11206886" y="5837911"/>
            <a:ext cx="35662" cy="61768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g3geo"/>
          <p:cNvCxnSpPr/>
          <p:nvPr/>
        </p:nvCxnSpPr>
        <p:spPr>
          <a:xfrm>
            <a:off x="10981944" y="5898184"/>
            <a:ext cx="0" cy="71324"/>
          </a:xfrm>
          <a:prstGeom prst="line">
            <a:avLst/>
          </a:prstGeom>
          <a:ln w="317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3geo"/>
          <p:cNvCxnSpPr/>
          <p:nvPr/>
        </p:nvCxnSpPr>
        <p:spPr>
          <a:xfrm flipH="1">
            <a:off x="10721340" y="5837911"/>
            <a:ext cx="35661" cy="61768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g3geo"/>
          <p:cNvCxnSpPr/>
          <p:nvPr/>
        </p:nvCxnSpPr>
        <p:spPr>
          <a:xfrm flipH="1">
            <a:off x="10530564" y="5673242"/>
            <a:ext cx="61768" cy="35662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g3geo"/>
          <p:cNvCxnSpPr/>
          <p:nvPr/>
        </p:nvCxnSpPr>
        <p:spPr>
          <a:xfrm flipH="1">
            <a:off x="10460736" y="5448300"/>
            <a:ext cx="71323" cy="0"/>
          </a:xfrm>
          <a:prstGeom prst="line">
            <a:avLst/>
          </a:prstGeom>
          <a:ln w="317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3geo"/>
          <p:cNvCxnSpPr/>
          <p:nvPr/>
        </p:nvCxnSpPr>
        <p:spPr>
          <a:xfrm flipH="1" flipV="1">
            <a:off x="10530564" y="5187696"/>
            <a:ext cx="61768" cy="35661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3geo"/>
          <p:cNvCxnSpPr/>
          <p:nvPr/>
        </p:nvCxnSpPr>
        <p:spPr>
          <a:xfrm flipH="1" flipV="1">
            <a:off x="10721340" y="4996920"/>
            <a:ext cx="35661" cy="61768"/>
          </a:xfrm>
          <a:prstGeom prst="line">
            <a:avLst/>
          </a:prstGeom>
          <a:ln w="19050" cap="rnd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3geo"/>
          <p:cNvCxnSpPr/>
          <p:nvPr/>
        </p:nvCxnSpPr>
        <p:spPr>
          <a:xfrm>
            <a:off x="10981944" y="5448300"/>
            <a:ext cx="256573" cy="148132"/>
          </a:xfrm>
          <a:prstGeom prst="line">
            <a:avLst/>
          </a:prstGeom>
          <a:ln w="44450" cap="rnd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3geo"/>
          <p:cNvCxnSpPr/>
          <p:nvPr/>
        </p:nvCxnSpPr>
        <p:spPr>
          <a:xfrm flipV="1">
            <a:off x="10981944" y="5009388"/>
            <a:ext cx="0" cy="438912"/>
          </a:xfrm>
          <a:prstGeom prst="line">
            <a:avLst/>
          </a:prstGeom>
          <a:ln w="31750" cap="rnd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g3geo"/>
          <p:cNvSpPr/>
          <p:nvPr/>
        </p:nvSpPr>
        <p:spPr>
          <a:xfrm>
            <a:off x="10943539" y="5409895"/>
            <a:ext cx="76809" cy="76809"/>
          </a:xfrm>
          <a:prstGeom prst="ellipse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Бурчтун чоңдугу эмнеге көз каранды: жактарынабы же ачылышынабы?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квадрат – тик бурчтук да, ромб да?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Жип менен тегерек чийгенде, жиптин узундугу эмне болот?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3-класс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Бурчтар, төрт бурчтуктар, тегерек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Адегенде буюм: кагаз текшергич жана жип колдо (К → С).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Бурчтун чоңдугун ачылышы менен салыштырабыз (М1); бурсак да текшеребиз (М2).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Төрт бурчтук: адегенде бурчтар, анан жактар (М4, М7); квадрат – тик бурчтук да (М5).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Диаметр борбор аркылуу өтөт, эки радиуска барабар (М3, М6).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