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Окуучулар адегенде болжолдошот (1 500 + 2 400 ≈ 3 900). Так жоопту сабактын аягында табабыз (22-слайд).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Азамат: 457 + 386 ≈ 460 + 390 = 850. Мээрим разряддан өткөндү унутту (М1).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10дон резинка менен байланган санак таякчалары (10 боо = 1 чоң боо = 100), бош таякчалар, 4–5 резинка; же кагаздан кесилген 100 сомдук, 10 сомдук, 1 сомдук «акча». Разряд килемчеси: чакмак дептерде Ж | О | Б тилкелери. 1) 465 жана 378ди тилкелерге коюшат. 2) Бирдиктер: 5 + 8 = 13 → 10 таякчаны байлап, ондуктарга өткөрүшөт. 3) Ондуктар: 6 + 7 + 1 = 14 → 10 боону чоң боо кылып, жүздүктөргө. 4) 4 + 3 + 1 = 8 → 843. Кемитүүдө боону чечип майдалашат.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Чакмак дептерде ар бир цифра бир чакмакка. Үстүнө М Ж О Б жазабыз. Разряддан өткөн «1»ди кийинки разряддын үстүнө кичине жазабыз. Адегенде болжолдойбуз, акырында салыштырабыз.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чыгарылыштан кийин эки текшерүү: болжолдоо (≈) жана тескери амал (кемитүүнү кошуу менен).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Мамычага чейин ар дайым болжолдойбуз. Сандар тегерекке жакын болсо, мамыча керек эмес: оозеки ыкма үнөмдүү. «Мамыча керекпи же оозеки эсептейминби?» деп сурайм.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М2; Б = ✓; В = М4; Г = М5 (нөлдү аттады)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бөлүк–бүтүн → салыштыруу → көп кадам. Жооптор: 465 + 378 = 843 кг; 1 340 − 285 = 1 055 сом; 3 000 − 1 245 − 860 = 895 сом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Окуяга кайтабыз: 1 465 + 2 378 = 3 843 (болжол 3 900 – жакын), 4 000 − 3 843 = 157.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843; 2 546; ≈ 4 000;  4 004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Мамыча түрүндө кошуу жана кемитүү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Базардагы дүкөн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Мээрим менен Азамат апасы Сабира эженин базардагы дүкөнүндө күндүк сооданы мамыча түрүндө эсептешет.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КББА, «Математика боюнча мугалимдер үчүн колдонмо, 1–4-класстар» (2011), 3-класс: 3.3.1.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Базардагы дүкөн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Сабира эженин базарда кичинекей азык-түлүк дүкөнү бар.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Каникулда Мээрим менен Азамат апасына жардам беришет.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Акча 100 сомдук, 10 сомдук жана 1 сомдук менен саналат.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Чоң сандарды мамыча түрүндө кошуп, кемитип, болжолдоп текшеребиз.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Дүйшөмбүдө дүкөндө 1 465 сомдук, шейшембиде 2 378 сомдук соода болду. Эки күндө 4 000 сомго жеттиби?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Үч-төрт орундуу сандарды разряд боюнча мамыча түрүндө кошом жана кемитем.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10 болсо кийинки разрядга өткөрөм, жетпесе жогорку разряддан майдалайм.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Жоопту болжолдоп жана тескери амал менен текшерем.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Разряддан өтүүсүз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Разряддан өтүү менен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Нөлдөр, эки амал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Болжолдоп текшерүү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таякча боолору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Базардагы дүкөн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Тилке модели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100 ичинде кошуу, кемитүү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Мамыча түрүндө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Төрт орундуу сандар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18204" y="2057400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Көп орундуу сандар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Ондук бөлчөктөр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47 + 36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72 − 28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350 = ? жүз ? он ? бир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600 + 300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47 + 36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72 − 28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350 = ? жүз ? он ? бир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 жүз 5 он 0 бир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600 + 300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900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Мээрим: «457 + 386 = 733». Азамат: «457 + 386 = 843».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Мээрим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Б: 7 + 6 = 13 → 3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О: 5 + 8 = 13 → 3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Ж: 4 + 3 = 7 → 733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Азамат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Б: 13 → 3, 1 он өттү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О: 5 + 8 + 1 = 14 → 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Ж: 4 + 3 + 1 = 8 → 843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Болжолдоп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465 + 378 сом. Жупта 10дон байланган таякчалар (же 100, 10, 1 сомдук кагаз «акча») менен.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103120"/>
            <a:ext cx="2057400" cy="297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Жүздүк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2103120"/>
            <a:ext cx="2148840" cy="297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2103120"/>
            <a:ext cx="2148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Ондук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37760" y="2103120"/>
            <a:ext cx="1737360" cy="297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0" y="2103120"/>
            <a:ext cx="1737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Бирдик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2468880"/>
            <a:ext cx="6126480" cy="0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85800" y="2743200"/>
            <a:ext cx="402336" cy="402336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1F2430"/>
                </a:solidFill>
                <a:latin typeface="PT Sans"/>
              </a:rPr>
              <a:t>100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61288" y="2743200"/>
            <a:ext cx="402336" cy="402336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1F2430"/>
                </a:solidFill>
                <a:latin typeface="PT Sans"/>
              </a:rPr>
              <a:t>100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36776" y="2743200"/>
            <a:ext cx="402336" cy="402336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1F2430"/>
                </a:solidFill>
                <a:latin typeface="PT Sans"/>
              </a:rPr>
              <a:t>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12264" y="2743200"/>
            <a:ext cx="402336" cy="402336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1F2430"/>
                </a:solidFill>
                <a:latin typeface="PT Sans"/>
              </a:rPr>
              <a:t>100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34640" y="2606040"/>
            <a:ext cx="146304" cy="7315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2807208" y="2971800"/>
            <a:ext cx="20116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127248" y="2606040"/>
            <a:ext cx="146304" cy="7315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3099816" y="2971800"/>
            <a:ext cx="20116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3419856" y="2606040"/>
            <a:ext cx="146304" cy="7315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392424" y="2971800"/>
            <a:ext cx="20116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712464" y="2606040"/>
            <a:ext cx="146304" cy="7315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3685032" y="2971800"/>
            <a:ext cx="20116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4005072" y="2606040"/>
            <a:ext cx="146304" cy="7315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3977639" y="2971800"/>
            <a:ext cx="201169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297680" y="2606040"/>
            <a:ext cx="146304" cy="7315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4270248" y="2971800"/>
            <a:ext cx="20116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148072" y="2587752"/>
            <a:ext cx="0" cy="338328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440680" y="2587752"/>
            <a:ext cx="0" cy="338328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733288" y="2587752"/>
            <a:ext cx="0" cy="338328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025896" y="2587752"/>
            <a:ext cx="0" cy="338328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318504" y="2587752"/>
            <a:ext cx="0" cy="338328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48640" y="3429000"/>
            <a:ext cx="612648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85800" y="3703320"/>
            <a:ext cx="402336" cy="402336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1F2430"/>
                </a:solidFill>
                <a:latin typeface="PT Sans"/>
              </a:rPr>
              <a:t>100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61288" y="3703320"/>
            <a:ext cx="402336" cy="402336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1F2430"/>
                </a:solidFill>
                <a:latin typeface="PT Sans"/>
              </a:rPr>
              <a:t>100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636776" y="3703320"/>
            <a:ext cx="402336" cy="402336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1F2430"/>
                </a:solidFill>
                <a:latin typeface="PT Sans"/>
              </a:rPr>
              <a:t>100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34640" y="3566160"/>
            <a:ext cx="146304" cy="7315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2807208" y="3931920"/>
            <a:ext cx="20116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3127248" y="3566160"/>
            <a:ext cx="146304" cy="7315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3099816" y="3931920"/>
            <a:ext cx="20116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3419856" y="3566160"/>
            <a:ext cx="146304" cy="7315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3392424" y="3931920"/>
            <a:ext cx="20116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3712464" y="3566160"/>
            <a:ext cx="146304" cy="7315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3685032" y="3931920"/>
            <a:ext cx="20116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4005072" y="3566160"/>
            <a:ext cx="146304" cy="7315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977639" y="3931920"/>
            <a:ext cx="201169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4297680" y="3566160"/>
            <a:ext cx="146304" cy="7315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4270248" y="3931920"/>
            <a:ext cx="20116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4590288" y="3566160"/>
            <a:ext cx="146304" cy="7315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4562855" y="3931920"/>
            <a:ext cx="201169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5148072" y="3547872"/>
            <a:ext cx="0" cy="338328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440680" y="3547872"/>
            <a:ext cx="0" cy="338328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733288" y="3547872"/>
            <a:ext cx="0" cy="338328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6025896" y="3547872"/>
            <a:ext cx="0" cy="338328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6318504" y="3547872"/>
            <a:ext cx="0" cy="338328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148072" y="3959352"/>
            <a:ext cx="0" cy="338328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5440680" y="3959352"/>
            <a:ext cx="0" cy="338328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5733288" y="3959352"/>
            <a:ext cx="0" cy="338328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548640" y="4389120"/>
            <a:ext cx="612648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548640" y="4434840"/>
            <a:ext cx="205740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4 + 3 + 1 = 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697480" y="4434840"/>
            <a:ext cx="214884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6 + 7 + 1 = 14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37760" y="4434840"/>
            <a:ext cx="1737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5 + 8 = 13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0" y="5120640"/>
            <a:ext cx="61264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465 (жогору) + 378 (ылдый): 10 таякча = 1 боо, 10 боо = 1 чоң боо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040880" y="2103120"/>
            <a:ext cx="4663440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223760" y="2194560"/>
            <a:ext cx="4297680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Б: 13 = 1 боо + 3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A84400"/>
                </a:solidFill>
                <a:latin typeface="PT Sans"/>
              </a:rPr>
              <a:t>1 боо ондуктарга өтөт</a:t>
            </a:r>
          </a:p>
          <a:p>
            <a:pPr algn="l">
              <a:lnSpc>
                <a:spcPct val="11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О: 14 боо = 1 чоң боо + 4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A84400"/>
                </a:solidFill>
                <a:latin typeface="PT Sans"/>
              </a:rPr>
              <a:t>1 чоң боо жүздүктөргө</a:t>
            </a:r>
          </a:p>
          <a:p>
            <a:pPr algn="l">
              <a:lnSpc>
                <a:spcPct val="11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Ж: 4 + 3 + 1 = 8</a:t>
            </a:r>
          </a:p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4418C"/>
                </a:solidFill>
                <a:latin typeface="PT Sans"/>
              </a:rPr>
              <a:t>465 + 378 = 843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разряд таблицасында мамыча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Дүйшөмбүдө дүкөндө 1 465 сомдук, шейшембиде 2 378 сомдук соода болду. Эки күндө 4 000 сомго жеттиби?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03120"/>
            <a:ext cx="65836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2103120"/>
            <a:ext cx="65836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31136" y="2103120"/>
            <a:ext cx="65836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9504" y="2103120"/>
            <a:ext cx="65836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2103120"/>
            <a:ext cx="65836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971800"/>
            <a:ext cx="65836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572768" y="2971800"/>
            <a:ext cx="65836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72768" y="2971800"/>
            <a:ext cx="65836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36" y="2971800"/>
            <a:ext cx="65836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31136" y="2971800"/>
            <a:ext cx="65836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89504" y="2971800"/>
            <a:ext cx="65836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89504" y="2971800"/>
            <a:ext cx="65836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47872" y="2971800"/>
            <a:ext cx="65836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47872" y="2971800"/>
            <a:ext cx="65836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3630168"/>
            <a:ext cx="65836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3630168"/>
            <a:ext cx="65836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+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72768" y="3630168"/>
            <a:ext cx="65836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572768" y="3630168"/>
            <a:ext cx="65836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31136" y="3630168"/>
            <a:ext cx="65836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31136" y="3630168"/>
            <a:ext cx="65836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9504" y="3630168"/>
            <a:ext cx="65836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89504" y="3630168"/>
            <a:ext cx="65836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47872" y="3630168"/>
            <a:ext cx="65836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47872" y="3630168"/>
            <a:ext cx="65836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4434840"/>
            <a:ext cx="65836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572768" y="4434840"/>
            <a:ext cx="65836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572768" y="4434840"/>
            <a:ext cx="65836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31136" y="4434840"/>
            <a:ext cx="65836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31136" y="4434840"/>
            <a:ext cx="65836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889504" y="4434840"/>
            <a:ext cx="65836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889504" y="4434840"/>
            <a:ext cx="65836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547872" y="4434840"/>
            <a:ext cx="658368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47872" y="4434840"/>
            <a:ext cx="65836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31136" y="2514600"/>
            <a:ext cx="65836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89504" y="2514600"/>
            <a:ext cx="65836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1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14400" y="4361688"/>
            <a:ext cx="3291840" cy="0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4754880" y="2148840"/>
            <a:ext cx="6949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937760" y="2240280"/>
            <a:ext cx="6583680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Болжол: 1 500 + 2 400 ≈ 3 900</a:t>
            </a:r>
          </a:p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Б: 5 + 8 = 13 → 3, 1 он өтөт</a:t>
            </a:r>
          </a:p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О: 6 + 7 + 1 = 14 → 4, 1 жүз өтөт</a:t>
            </a:r>
          </a:p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Ж: 4 + 3 + 1 = 8;   М: 1 + 2 = 3</a:t>
            </a:r>
          </a:p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07A5A"/>
                </a:solidFill>
                <a:latin typeface="PT Sans"/>
              </a:rPr>
              <a:t>3 843 ≈ 3 900 ✓</a:t>
            </a:r>
          </a:p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4 000 − 3 843 = 157 жетпейт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1 465 + 2 378 = 3 843;   4 000 − 3 843 = 157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06524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М Ж О 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Тиз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Разрядды разряддын астына жаз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4436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Б → 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Оңдон башта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Бирдиктен баштап эсепте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65592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42348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10 ↔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Өткөр / майдала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10 болсо – өткөр; жетпесе – майдала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465 + 378:  13 → 3,  14 → 4,  8  →  843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Шейшембиде 2 378 сом, шаршембиде 1 856 сом түштү. Эки күндө канча сом түштү?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2 378 + 1 856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болжол ≈ 4 300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4 234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Б 14, О 13, Ж 12, М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4 234 ≈ 4 300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жакын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Эки күндө = </a:t>
            </a:r>
            <a:r>
              <a:rPr sz="3400" b="1">
                <a:solidFill>
                  <a:srgbClr val="24418C"/>
                </a:solidFill>
                <a:latin typeface="PT Sans"/>
              </a:rPr>
              <a:t>4 234 сом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Дүкөндө 3 005 сом бар эле. 1 268 сомго ун алышты. Канча сом калды?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3 005 − 1 268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болжол ≈ 1 700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1 737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майдаладык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1 737 + 1 268 = 3 005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текшерүү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Калды = </a:t>
            </a:r>
            <a:r>
              <a:rPr sz="3400" b="1">
                <a:solidFill>
                  <a:srgbClr val="24418C"/>
                </a:solidFill>
                <a:latin typeface="PT Sans"/>
              </a:rPr>
              <a:t>1 737 сом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чоң сандар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Тегерек санга толукта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598 + 304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600 + 304 − 2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902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598 ≈ 600, анан 2ни алабыз.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Кошуп кемит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1 000 − 365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365 → 400 → 1 000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35 + 600 = 635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Кемитүүнү кошуу менен: канча жетпейт?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Экөөнү тең жылдыр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702 − 299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703 − 300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403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Айырма өзгөрбөйт.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Адегенде ойлон: мамычабы же оозекиби? Болжолдо, эсепте, салыштыр.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704 − 368 = ?  Бир жоопту танда.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464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336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446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366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Сабира эже дүйшөмбүдө 465 кг алма, шейшембиде 378 кг алма сатты. Баары канча кг? Тилкеге сандарды жаз.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Азамат 1 340 сом чогултту, Мээрим андан 285 сомго аз. Мээрим канча сом чогултту?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Дүкөндө 3 000 сом бар эле. 1 245 сомго ун, 860 сомго май алышты. Канча сом калды?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Сабира эже дүйшөмбүдө 465 кг алма, шейшембиде 378 кг алма сатты. Баары канча кг? Тилкеге сандарды жаз.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129290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465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59833" y="3017520"/>
            <a:ext cx="105100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378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843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465 + 378 = 843 кг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Азамат 1 340 сом чогултту, Мээрим андан 285 сомго аз. Мээрим канча сом чогултту?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9600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Азамат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82640" y="3017520"/>
            <a:ext cx="69352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1 055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76162" y="3017520"/>
            <a:ext cx="187349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285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9600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Мээрим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2640" y="3574389"/>
            <a:ext cx="69352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1 055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1 340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1 340 − 285 = 1 055 сом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Дүкөндө 3 000 сом бар эле. 1 245 сомго ун, 860 сомго май алышты. Канча сом калды?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2272" y="3017520"/>
            <a:ext cx="97272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1 245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44995" y="3017520"/>
            <a:ext cx="67192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860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16916" y="3017520"/>
            <a:ext cx="699267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895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3 000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3 000 − 1 245 − 860 = 895 сом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352 + 419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836 − 571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2 467 + 1 685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7 000 − 2 846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Болжолдо: 4 012 − 1 998 ≈ 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Мээримде 1 200 сом, Азаматта 375 сомго аз. Азаматта канча?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352 + 419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771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836 − 571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265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2 467 + 1 685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4 152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7 000 − 2 846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4 154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Болжолдо: 4 012 − 1 998 ≈ 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≈ 2 000 (2 014)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Мээримде 1 200 сом, Азаматта 375 сомго аз. Азаматта канча?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825 сом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Дүйшөмбүдө дүкөндө 1 465 сомдук, шейшембиде 2 378 сомдук соода болду. Эки күндө 4 000 сомго жеттиби?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240280"/>
            <a:ext cx="331550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1 465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29900" y="2240280"/>
            <a:ext cx="5381746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2 378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11647" y="2240280"/>
            <a:ext cx="355312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157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4 000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1 465 + 2 378 = 3 843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мамыча түрүндө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4 000 − 3 843 = 157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жетпейт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Жеткен жок: 3 843 сом. 4 000 сомго 157 сом жетпейт.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Базардагы дүкөн жөнүндө үч-төрт орундуу сандар менен кошуу же кемитүү маселесин түз.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Мээрим, Азамат, Сабира эже.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568 + 275 =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4 003 − 1 457 =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Адегенде болжолдо, анан эсепте: 2 989 + 1 015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бирдиктерден баштайбыз?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Нөлдөн кемитүүдө эмне кылабыз?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Болжолдоо кантип жардам берди?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Адегенде ар бир жуп таякча боолору же кагаз акча менен разряд килемчесинде иштейт.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Мамычаны чакмак дептерде жаздырыңыз: бир чакмак – бир цифра, оң жактан.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Нөлдүү сандарда (3 005) майдалоону буюм менен кадам-кадам көрсөтүңүз.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жоопту болжол жана тескери амал менен текшертиңиз.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