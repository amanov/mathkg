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Сабактын аталышы жана бүгүнкү окуя.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Сабактын жолу: ар бир бөлүк өз слайды менен ачылат.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Окуяны окуп бериңиз. Окуучулар адегенде болжолдошот (1 500 + 2 400 ≈ 3 900). Так жоопту сабактын аягында табабыз (22-слайд).</a:t>
            </a:r>
          </a:p>
          <a:p>
            <a:r>
              <a:t>3C (Байланыштыруу): Окуя турмуштан: бул суроого сабактын аягында кайтабыз.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Ой жүгүртүү маданияты (Wenxi Lee, 2.6).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Ийгилик критерийлери: сабактын аягында ар бирине ✓ коёбуз.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Спираль: тема класстан класска тереңдейт.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Мини-тактага жазышат. Жооптор кийинки слайдда.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Жоопту дароо айтпайбыз. Жупта талкуулашат. Жооп: Азамат: 457 + 386 ≈ 460 + 390 = 850. Мээрим разряддан өткөндү унутту (М1).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жупка: 10дон резинка менен байланган санак таякчалары (10 боо = 1 чоң боо = 100), бош таякчалар, 4–5 резинка; же кагаздан кесилген 100 сомдук, 10 сомдук, 1 сомдук «акча». Разряд килемчеси: чакмак дептерде Ж | О | Б тилкелери. 1) 465 жана 378ди тилкелерге коюшат. 2) Бирдиктер: 5 + 8 = 13 → 10 таякчаны байлап, ондуктарга өткөрүшөт. 3) Ондуктар: 6 + 7 + 1 = 14 → 10 боону чоң боо кылып, жүздүктөргө. 4) 4 + 3 + 1 = 8 → 843. Кемитүүдө боону чечип майдалашат.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Чакмак дептерде ар бир цифра бир чакмакка. Үстүнө М Ж О Б жазабыз. Разряддан өткөн «1»ди кийинки разряддын үстүнө кичине жазабыз. Адегенде болжолдойбуз, акырында салыштырабыз.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чыгарылыштан кийин эки текшерүү: болжолдоо (≈) жана тескери амал (кемитүүнү кошуу менен).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сап «=» менен башталат. Окуучулар кадамды айтып турат.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сап «=» менен башталат. Окуучулар кадамды айтып турат.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Мамычага чейин ар дайым болжолдойбуз. Сандар тегерекке жакын болсо, мамыча керек эмес: оозеки ыкма үнөмдүү. «Мамыча керекпи же оозеки эсептейминби?» деп сурайм.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Баары бир убакта манжа менен көрсөтөт (1–4). Туура эмес жооптун коду: А = М2; Б = ✓; В = М4; Г = М5 (нөлдү аттады)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деңгээл: бөлүк–бүтүн → салыштыруу → көп кадам. Жооптор: 465 + 378 = 843 кг; 1 340 − 285 = 1 055 сом; 3 000 − 1 245 − 860 = 895 сом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Жеңилден баштап, мүмкүн болушунча алдыга. Жооптор кийинки слайдда.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Окуяга кайтабыз: 1 465 + 2 378 = 3 843 (болжол 3 900 – жакын), 4 000 − 3 843 = 157.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Блум: Түзүү. Жупта алмашып, бири-биринин маселесин чыгарышат.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Жооптор: 843; 2 546; ≈ 4 000;  4 004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Бул слайд окуучуларга көрсөтүлбөйт.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188720"/>
            <a:ext cx="96012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4A5A70"/>
                </a:solidFill>
                <a:latin typeface="PT Sans"/>
              </a:rPr>
              <a:t>3-класс · Математика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691640"/>
            <a:ext cx="9601200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D3557"/>
                </a:solidFill>
                <a:latin typeface="PT Sans"/>
              </a:rPr>
              <a:t>Мамыча түрүндө кошуу жана кемитүү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3611880"/>
            <a:ext cx="877824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57400" y="3657600"/>
            <a:ext cx="83210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>Бүгүнкү окуя: Базардагы дүкөн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4160520"/>
            <a:ext cx="832104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Мээрим менен Азамат апасы Сабира эженин базардагы дүкөнүндө күндүк сооданы мамыча түрүндө эсептешет.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349240"/>
            <a:ext cx="96012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1">
                <a:solidFill>
                  <a:srgbClr val="6B7280"/>
                </a:solidFill>
                <a:latin typeface="PT Sans"/>
              </a:rPr>
              <a:t>Китеп: КББА, «Математика боюнча мугалимдер үчүн колдонмо, 1–4-класстар» (2011), 3-класс: 3.3.1.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Сабактын мазмуну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Мамыча: кошуу,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" y="1463039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280160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Кириш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280160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Окуя, эрежелер, максаттар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2212848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080" y="2395728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212848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Даярдык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212848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Эстейбиз, «Ким туура?»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145536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0080" y="3328416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145536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Түшүнөбүз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145536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 → С → А: буюм, тилке, эреже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" y="4078224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080" y="426110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078224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Машыгабыз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78224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Чечүүчү суроо, тилке, өз алдынча иш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" y="5010912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0080" y="5193792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010912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Жыйынтык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5010912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Окуяга кайтуу, түзүү, чыгуу билети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Окуя: Базардагы дүкөн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Мамыча: кошуу,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676656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325880"/>
            <a:ext cx="6217920" cy="4389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Сабира эженин базарда кичинекей азык-түлүк дүкөнү бар.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Каникулда Мээрим менен Азамат апасына жардам беришет.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Акча 100 сомдук, 10 сомдук жана 1 сомдук менен саналат.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Чоң сандарды мамыча түрүндө кошуп, кемитип, болжолдоп текшеребиз.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1225296"/>
            <a:ext cx="4352544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1325880"/>
            <a:ext cx="39319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Суроо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1828800"/>
            <a:ext cx="3931920" cy="2743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Дүйшөмбүдө дүкөндө 1 465 сомдук, шейшембиде 2 378 сомдук соода болду. Эки күндө 4 000 сомго жеттиби?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4572000"/>
            <a:ext cx="3931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1">
                <a:solidFill>
                  <a:srgbClr val="6B7280"/>
                </a:solidFill>
                <a:latin typeface="PT Sans"/>
              </a:rPr>
              <a:t>Азыр жообун айтпайбыз. Ойлон: кантип билебиз?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Математикада биз…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Мамыча: кошуу,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007A5A"/>
                </a:solidFill>
                <a:latin typeface="PT Sans"/>
              </a:rPr>
              <a:t>Ката – үйрөнүүнүн бир бөлүгү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Ката кетсе, эмне үчүн кеткенин издейбиз.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2439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11039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A84400"/>
                </a:solidFill>
                <a:latin typeface="PT Sans"/>
              </a:rPr>
              <a:t>«Азырынча билбейм»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1039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«Билбейм» эмес, «азырынча». Машыксак, үйрөнөбүз.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5112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63712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Адегенде түшүн, анан эсепте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3712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Сүрөт же тилке чийип, анан сан менен жазабыз.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Максаттар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Мамыча: кошуу,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6409944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429768" y="1865376"/>
            <a:ext cx="6409944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2648" y="1225296"/>
            <a:ext cx="6044184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Бүгүн биз үйрөнөбүз</a:t>
            </a:r>
          </a:p>
        </p:txBody>
      </p:sp>
      <p:sp>
        <p:nvSpPr>
          <p:cNvPr id="13" name="Oval 12"/>
          <p:cNvSpPr/>
          <p:nvPr/>
        </p:nvSpPr>
        <p:spPr>
          <a:xfrm>
            <a:off x="722376" y="21488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211226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Үч-төрт орундуу сандарды разряд боюнча мамыча түрүндө кошом жана кемитем.</a:t>
            </a:r>
          </a:p>
        </p:txBody>
      </p:sp>
      <p:sp>
        <p:nvSpPr>
          <p:cNvPr id="15" name="Oval 14"/>
          <p:cNvSpPr/>
          <p:nvPr/>
        </p:nvSpPr>
        <p:spPr>
          <a:xfrm>
            <a:off x="722376" y="342900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339242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10 болсо кийинки разрядга өткөрөм, жетпесе жогорку разряддан майдалайм.</a:t>
            </a:r>
          </a:p>
        </p:txBody>
      </p:sp>
      <p:sp>
        <p:nvSpPr>
          <p:cNvPr id="17" name="Oval 16"/>
          <p:cNvSpPr/>
          <p:nvPr/>
        </p:nvSpPr>
        <p:spPr>
          <a:xfrm>
            <a:off x="722376" y="470916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467258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Жоопту болжолдоп жана тескери амал менен текшерем.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1225296"/>
            <a:ext cx="4636008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7132320" y="1865376"/>
            <a:ext cx="46360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06056" y="1225296"/>
            <a:ext cx="4270248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Деңгээлдер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0920" y="2103120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007A5A"/>
                </a:solidFill>
                <a:latin typeface="PT Sans"/>
              </a:rPr>
              <a:t>Жеңил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2057400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Разряддан өтүүсүз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60920" y="3127248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A84400"/>
                </a:solidFill>
                <a:latin typeface="PT Sans"/>
              </a:rPr>
              <a:t>Орто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3081528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Разряддан өтүү менен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60920" y="4151376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4A5A70"/>
                </a:solidFill>
                <a:latin typeface="PT Sans"/>
              </a:rPr>
              <a:t>Оор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1080" y="4105656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6B7280"/>
                </a:solidFill>
                <a:latin typeface="PT Sans"/>
              </a:rPr>
              <a:t>Нөлдөр, эки амал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3C: бүгүн кантип ойлонобуз?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Мамыча: кошуу,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04088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007A5A"/>
                </a:solidFill>
                <a:latin typeface="PT Sans"/>
              </a:rPr>
              <a:t>Сынчыл ой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Текшеребиз, далилдейбиз, катаны издейбиз.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4088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8368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«Ким туура?»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Болжолдоп текшерүү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0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A84400"/>
                </a:solidFill>
                <a:latin typeface="PT Sans"/>
              </a:rPr>
              <a:t>Кызматташуу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Жупта жана топто сүйлөшөбүз.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72000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26280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Жупта таякча боолору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65592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39912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Байланыштыруу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Математиканы турмуш менен байланыштырабыз.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439912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394192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Базардагы дүкөн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Тилке модели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Мурун – бүгүн – кийин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Мамыча: кошуу,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3017520"/>
            <a:ext cx="2660904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1089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007A5A"/>
                </a:solidFill>
                <a:latin typeface="PT Sans"/>
              </a:rPr>
              <a:t>2-класс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4088" y="3657600"/>
            <a:ext cx="2112264" cy="0"/>
          </a:xfrm>
          <a:prstGeom prst="line">
            <a:avLst/>
          </a:prstGeom>
          <a:ln w="127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12647" y="3749039"/>
            <a:ext cx="2295144" cy="1920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100 ичинде кошуу, кемитүү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9272" y="2560320"/>
            <a:ext cx="2660904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6432" y="26517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>3-класс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593591" y="3200400"/>
            <a:ext cx="2112265" cy="0"/>
          </a:xfrm>
          <a:prstGeom prst="line">
            <a:avLst/>
          </a:prstGeom>
          <a:ln w="127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502152" y="3291839"/>
            <a:ext cx="2295144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Мамыча түрүндө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Төрт орундуу сандар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18204" y="2057400"/>
            <a:ext cx="1463040" cy="384048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A84400"/>
                </a:solidFill>
                <a:latin typeface="PT Sans"/>
              </a:rPr>
              <a:t>Бүгүн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08776" y="2103120"/>
            <a:ext cx="2660904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45936" y="21945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4A5A70"/>
                </a:solidFill>
                <a:latin typeface="PT Sans"/>
              </a:rPr>
              <a:t>4-класс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83096" y="2743200"/>
            <a:ext cx="2112263" cy="0"/>
          </a:xfrm>
          <a:prstGeom prst="line">
            <a:avLst/>
          </a:prstGeom>
          <a:ln w="12700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391656" y="2834639"/>
            <a:ext cx="2295144" cy="2834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Көп орундуу сандар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1645919"/>
            <a:ext cx="2660904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17373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4A5A70"/>
                </a:solidFill>
                <a:latin typeface="PT Sans"/>
              </a:rPr>
              <a:t>5-класс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372600" y="2286000"/>
            <a:ext cx="2112264" cy="0"/>
          </a:xfrm>
          <a:prstGeom prst="line">
            <a:avLst/>
          </a:prstGeom>
          <a:ln w="12700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281160" y="2377439"/>
            <a:ext cx="2295144" cy="3291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Ондук бөлчөктөр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" y="5806440"/>
            <a:ext cx="11329416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1">
                <a:solidFill>
                  <a:srgbClr val="6B7280"/>
                </a:solidFill>
                <a:latin typeface="PT Sans"/>
              </a:rPr>
              <a:t>Ар бир класс мурункусунун үстүнө курулат.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Даярдык: эстейли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Мамыча: кошуу,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Мини-тактага жаз. 2 мүнөт.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53517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47 + 36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9164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253517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169164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72 − 28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400050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484403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400050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350 = ? жүз ? он ? бир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400050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91656" y="484403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400050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600 + 300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Даярдык: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Мамыча: кошуу,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47 + 36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804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83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45936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6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72 − 28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3812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44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350 = ? жүз ? он ? бир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804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3 жүз 5 он 0 бир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45936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600 + 300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3812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900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Ким туура?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Мамыча: кошуу,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Мээрим: «457 + 386 = 733». Азамат: «457 + 386 = 843».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103120"/>
            <a:ext cx="555040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429768" y="2697480"/>
            <a:ext cx="55504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29768" y="2103120"/>
            <a:ext cx="5550408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Мээрим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2834640"/>
            <a:ext cx="502920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Б: 7 + 6 = 13 → 3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О: 5 + 8 = 13 → 3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Ж: 4 + 3 = 7 → 733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2103120"/>
            <a:ext cx="555040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6208776" y="2697480"/>
            <a:ext cx="55504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208776" y="2103120"/>
            <a:ext cx="5550408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Азамат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2834640"/>
            <a:ext cx="502920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Б: 13 → 3, 1 он өттү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О: 5 + 8 + 1 = 14 → 4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Ж: 4 + 3 + 1 = 8 → 843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349240"/>
            <a:ext cx="1132941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A84400"/>
                </a:solidFill>
                <a:latin typeface="PT Sans"/>
              </a:rPr>
              <a:t>Ким туура? Болжолдоп текшер.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К: буюм менен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Мамыча: кошуу,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465 + 378 сом. Жупта 10дон байланган таякчалар (же 100, 10, 1 сомдук кагаз «акча») менен.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103120"/>
            <a:ext cx="2057400" cy="297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103120"/>
            <a:ext cx="2057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1D3557"/>
                </a:solidFill>
                <a:latin typeface="PT Sans"/>
              </a:rPr>
              <a:t>Жүздүк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97480" y="2103120"/>
            <a:ext cx="2148840" cy="297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97480" y="2103120"/>
            <a:ext cx="21488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1D3557"/>
                </a:solidFill>
                <a:latin typeface="PT Sans"/>
              </a:rPr>
              <a:t>Ондук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0" y="2103120"/>
            <a:ext cx="1737360" cy="297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60" y="2103120"/>
            <a:ext cx="1737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1D3557"/>
                </a:solidFill>
                <a:latin typeface="PT Sans"/>
              </a:rPr>
              <a:t>Бирдик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2468880"/>
            <a:ext cx="6126480" cy="0"/>
          </a:xfrm>
          <a:prstGeom prst="line">
            <a:avLst/>
          </a:prstGeom>
          <a:ln w="127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685800" y="2743200"/>
            <a:ext cx="402336" cy="402336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900" b="1">
                <a:solidFill>
                  <a:srgbClr val="1F2430"/>
                </a:solidFill>
                <a:latin typeface="PT Sans"/>
              </a:rPr>
              <a:t>100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61288" y="2743200"/>
            <a:ext cx="402336" cy="402336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900" b="1">
                <a:solidFill>
                  <a:srgbClr val="1F2430"/>
                </a:solidFill>
                <a:latin typeface="PT Sans"/>
              </a:rPr>
              <a:t>100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36776" y="2743200"/>
            <a:ext cx="402336" cy="402336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900" b="1">
                <a:solidFill>
                  <a:srgbClr val="1F2430"/>
                </a:solidFill>
                <a:latin typeface="PT Sans"/>
              </a:rPr>
              <a:t>100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12264" y="2743200"/>
            <a:ext cx="402336" cy="402336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900" b="1">
                <a:solidFill>
                  <a:srgbClr val="1F2430"/>
                </a:solidFill>
                <a:latin typeface="PT Sans"/>
              </a:rPr>
              <a:t>100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34640" y="2606040"/>
            <a:ext cx="146304" cy="731520"/>
          </a:xfrm>
          <a:prstGeom prst="rect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2807208" y="2971800"/>
            <a:ext cx="20116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3127248" y="2606040"/>
            <a:ext cx="146304" cy="731520"/>
          </a:xfrm>
          <a:prstGeom prst="rect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3099816" y="2971800"/>
            <a:ext cx="20116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3419856" y="2606040"/>
            <a:ext cx="146304" cy="731520"/>
          </a:xfrm>
          <a:prstGeom prst="rect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3392424" y="2971800"/>
            <a:ext cx="20116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712464" y="2606040"/>
            <a:ext cx="146304" cy="731520"/>
          </a:xfrm>
          <a:prstGeom prst="rect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3685032" y="2971800"/>
            <a:ext cx="20116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4005072" y="2606040"/>
            <a:ext cx="146304" cy="731520"/>
          </a:xfrm>
          <a:prstGeom prst="rect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3977639" y="2971800"/>
            <a:ext cx="201169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4297680" y="2606040"/>
            <a:ext cx="146304" cy="731520"/>
          </a:xfrm>
          <a:prstGeom prst="rect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4270248" y="2971800"/>
            <a:ext cx="20116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148072" y="2587752"/>
            <a:ext cx="0" cy="338328"/>
          </a:xfrm>
          <a:prstGeom prst="line">
            <a:avLst/>
          </a:prstGeom>
          <a:ln w="285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5440680" y="2587752"/>
            <a:ext cx="0" cy="338328"/>
          </a:xfrm>
          <a:prstGeom prst="line">
            <a:avLst/>
          </a:prstGeom>
          <a:ln w="285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733288" y="2587752"/>
            <a:ext cx="0" cy="338328"/>
          </a:xfrm>
          <a:prstGeom prst="line">
            <a:avLst/>
          </a:prstGeom>
          <a:ln w="285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025896" y="2587752"/>
            <a:ext cx="0" cy="338328"/>
          </a:xfrm>
          <a:prstGeom prst="line">
            <a:avLst/>
          </a:prstGeom>
          <a:ln w="285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318504" y="2587752"/>
            <a:ext cx="0" cy="338328"/>
          </a:xfrm>
          <a:prstGeom prst="line">
            <a:avLst/>
          </a:prstGeom>
          <a:ln w="285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48640" y="3429000"/>
            <a:ext cx="612648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685800" y="3703320"/>
            <a:ext cx="402336" cy="402336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900" b="1">
                <a:solidFill>
                  <a:srgbClr val="1F2430"/>
                </a:solidFill>
                <a:latin typeface="PT Sans"/>
              </a:rPr>
              <a:t>100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61288" y="3703320"/>
            <a:ext cx="402336" cy="402336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900" b="1">
                <a:solidFill>
                  <a:srgbClr val="1F2430"/>
                </a:solidFill>
                <a:latin typeface="PT Sans"/>
              </a:rPr>
              <a:t>100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636776" y="3703320"/>
            <a:ext cx="402336" cy="402336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900" b="1">
                <a:solidFill>
                  <a:srgbClr val="1F2430"/>
                </a:solidFill>
                <a:latin typeface="PT Sans"/>
              </a:rPr>
              <a:t>100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34640" y="3566160"/>
            <a:ext cx="146304" cy="731520"/>
          </a:xfrm>
          <a:prstGeom prst="rect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2807208" y="3931920"/>
            <a:ext cx="20116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3127248" y="3566160"/>
            <a:ext cx="146304" cy="731520"/>
          </a:xfrm>
          <a:prstGeom prst="rect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3099816" y="3931920"/>
            <a:ext cx="20116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3419856" y="3566160"/>
            <a:ext cx="146304" cy="731520"/>
          </a:xfrm>
          <a:prstGeom prst="rect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3392424" y="3931920"/>
            <a:ext cx="20116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3712464" y="3566160"/>
            <a:ext cx="146304" cy="731520"/>
          </a:xfrm>
          <a:prstGeom prst="rect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3685032" y="3931920"/>
            <a:ext cx="20116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4005072" y="3566160"/>
            <a:ext cx="146304" cy="731520"/>
          </a:xfrm>
          <a:prstGeom prst="rect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3977639" y="3931920"/>
            <a:ext cx="201169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4297680" y="3566160"/>
            <a:ext cx="146304" cy="731520"/>
          </a:xfrm>
          <a:prstGeom prst="rect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4270248" y="3931920"/>
            <a:ext cx="20116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4590288" y="3566160"/>
            <a:ext cx="146304" cy="731520"/>
          </a:xfrm>
          <a:prstGeom prst="rect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4562855" y="3931920"/>
            <a:ext cx="201169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148072" y="3547872"/>
            <a:ext cx="0" cy="338328"/>
          </a:xfrm>
          <a:prstGeom prst="line">
            <a:avLst/>
          </a:prstGeom>
          <a:ln w="285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5440680" y="3547872"/>
            <a:ext cx="0" cy="338328"/>
          </a:xfrm>
          <a:prstGeom prst="line">
            <a:avLst/>
          </a:prstGeom>
          <a:ln w="285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5733288" y="3547872"/>
            <a:ext cx="0" cy="338328"/>
          </a:xfrm>
          <a:prstGeom prst="line">
            <a:avLst/>
          </a:prstGeom>
          <a:ln w="285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6025896" y="3547872"/>
            <a:ext cx="0" cy="338328"/>
          </a:xfrm>
          <a:prstGeom prst="line">
            <a:avLst/>
          </a:prstGeom>
          <a:ln w="285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6318504" y="3547872"/>
            <a:ext cx="0" cy="338328"/>
          </a:xfrm>
          <a:prstGeom prst="line">
            <a:avLst/>
          </a:prstGeom>
          <a:ln w="285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5148072" y="3959352"/>
            <a:ext cx="0" cy="338328"/>
          </a:xfrm>
          <a:prstGeom prst="line">
            <a:avLst/>
          </a:prstGeom>
          <a:ln w="285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5440680" y="3959352"/>
            <a:ext cx="0" cy="338328"/>
          </a:xfrm>
          <a:prstGeom prst="line">
            <a:avLst/>
          </a:prstGeom>
          <a:ln w="285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5733288" y="3959352"/>
            <a:ext cx="0" cy="338328"/>
          </a:xfrm>
          <a:prstGeom prst="line">
            <a:avLst/>
          </a:prstGeom>
          <a:ln w="285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548640" y="4389120"/>
            <a:ext cx="6126480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548640" y="4434840"/>
            <a:ext cx="2057400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24418C"/>
                </a:solidFill>
                <a:latin typeface="PT Sans"/>
              </a:rPr>
              <a:t>4 + 3 + 1 = 8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697480" y="4434840"/>
            <a:ext cx="2148840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24418C"/>
                </a:solidFill>
                <a:latin typeface="PT Sans"/>
              </a:rPr>
              <a:t>6 + 7 + 1 = 14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937760" y="4434840"/>
            <a:ext cx="1737360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24418C"/>
                </a:solidFill>
                <a:latin typeface="PT Sans"/>
              </a:rPr>
              <a:t>5 + 8 = 13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48640" y="5120640"/>
            <a:ext cx="61264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465 (жогору) + 378 (ылдый): 10 таякча = 1 боо, 10 боо = 1 чоң боо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040880" y="2103120"/>
            <a:ext cx="4663440" cy="3474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223760" y="2194560"/>
            <a:ext cx="4297680" cy="3291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Б: 13 = 1 боо + 3</a:t>
            </a:r>
          </a:p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A84400"/>
                </a:solidFill>
                <a:latin typeface="PT Sans"/>
              </a:rPr>
              <a:t>1 боо ондуктарга өтөт</a:t>
            </a:r>
          </a:p>
          <a:p>
            <a:pPr algn="l">
              <a:lnSpc>
                <a:spcPct val="11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О: 14 боо = 1 чоң боо + 4</a:t>
            </a:r>
          </a:p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A84400"/>
                </a:solidFill>
                <a:latin typeface="PT Sans"/>
              </a:rPr>
              <a:t>1 чоң боо жүздүктөргө</a:t>
            </a:r>
          </a:p>
          <a:p>
            <a:pPr algn="l">
              <a:lnSpc>
                <a:spcPct val="11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Ж: 4 + 3 + 1 = 8</a:t>
            </a:r>
          </a:p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24418C"/>
                </a:solidFill>
                <a:latin typeface="PT Sans"/>
              </a:rPr>
              <a:t>465 + 378 = 843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К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С: разряд таблицасында мамыча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Мамыча: кошуу,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Дүйшөмбүдө дүкөндө 1 465 сомдук, шейшембиде 2 378 сомдук соода болду. Эки күндө 4 000 сомго жеттиби?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103120"/>
            <a:ext cx="65836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1D3557"/>
                </a:solidFill>
                <a:latin typeface="PT San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2103120"/>
            <a:ext cx="65836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1D3557"/>
                </a:solidFill>
                <a:latin typeface="PT Sans"/>
              </a:rPr>
              <a:t>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31136" y="2103120"/>
            <a:ext cx="65836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1D3557"/>
                </a:solidFill>
                <a:latin typeface="PT Sans"/>
              </a:rPr>
              <a:t>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9504" y="2103120"/>
            <a:ext cx="65836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1D3557"/>
                </a:solidFill>
                <a:latin typeface="PT Sans"/>
              </a:rPr>
              <a:t>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7872" y="2103120"/>
            <a:ext cx="65836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1D3557"/>
                </a:solidFill>
                <a:latin typeface="PT Sans"/>
              </a:rPr>
              <a:t>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2971800"/>
            <a:ext cx="658368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572768" y="2971800"/>
            <a:ext cx="658368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72768" y="2971800"/>
            <a:ext cx="658368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31136" y="2971800"/>
            <a:ext cx="658368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31136" y="2971800"/>
            <a:ext cx="658368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89504" y="2971800"/>
            <a:ext cx="658368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89504" y="2971800"/>
            <a:ext cx="658368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47872" y="2971800"/>
            <a:ext cx="658368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47872" y="2971800"/>
            <a:ext cx="658368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3630168"/>
            <a:ext cx="658368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3630168"/>
            <a:ext cx="658368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+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572768" y="3630168"/>
            <a:ext cx="658368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572768" y="3630168"/>
            <a:ext cx="658368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31136" y="3630168"/>
            <a:ext cx="658368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231136" y="3630168"/>
            <a:ext cx="658368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89504" y="3630168"/>
            <a:ext cx="658368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89504" y="3630168"/>
            <a:ext cx="658368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47872" y="3630168"/>
            <a:ext cx="658368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47872" y="3630168"/>
            <a:ext cx="658368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" y="4434840"/>
            <a:ext cx="658368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572768" y="4434840"/>
            <a:ext cx="658368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572768" y="4434840"/>
            <a:ext cx="658368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4418C"/>
                </a:solidFill>
                <a:latin typeface="PT Sans"/>
              </a:rPr>
              <a:t>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31136" y="4434840"/>
            <a:ext cx="658368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231136" y="4434840"/>
            <a:ext cx="658368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4418C"/>
                </a:solidFill>
                <a:latin typeface="PT Sans"/>
              </a:rPr>
              <a:t>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889504" y="4434840"/>
            <a:ext cx="658368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889504" y="4434840"/>
            <a:ext cx="658368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4418C"/>
                </a:solidFill>
                <a:latin typeface="PT Sans"/>
              </a:rPr>
              <a:t>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47872" y="4434840"/>
            <a:ext cx="658368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547872" y="4434840"/>
            <a:ext cx="658368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4418C"/>
                </a:solidFill>
                <a:latin typeface="PT Sans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31136" y="2514600"/>
            <a:ext cx="658368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889504" y="2514600"/>
            <a:ext cx="658368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1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914400" y="4361688"/>
            <a:ext cx="3291840" cy="0"/>
          </a:xfrm>
          <a:prstGeom prst="line">
            <a:avLst/>
          </a:prstGeom>
          <a:ln w="317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4754880" y="2148840"/>
            <a:ext cx="694944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937760" y="2240280"/>
            <a:ext cx="6583680" cy="3108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6B7280"/>
                </a:solidFill>
                <a:latin typeface="PT Sans"/>
              </a:rPr>
              <a:t>Болжол: 1 500 + 2 400 ≈ 3 900</a:t>
            </a:r>
          </a:p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Б: 5 + 8 = 13 → 3, 1 он өтөт</a:t>
            </a:r>
          </a:p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О: 6 + 7 + 1 = 14 → 4, 1 жүз өтөт</a:t>
            </a:r>
          </a:p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Ж: 4 + 3 + 1 = 8;   М: 1 + 2 = 3</a:t>
            </a:r>
          </a:p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07A5A"/>
                </a:solidFill>
                <a:latin typeface="PT Sans"/>
              </a:rPr>
              <a:t>3 843 ≈ 3 900 ✓</a:t>
            </a:r>
          </a:p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4 000 − 3 843 = 157 жетпейт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9768" y="562356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1 465 + 2 378 = 3 843;   4 000 − 3 843 = 157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А: эреже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Мамыча: кошуу,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71600"/>
            <a:ext cx="3593592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906524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" y="2377440"/>
            <a:ext cx="3410712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М Ж О 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7" y="3063240"/>
            <a:ext cx="3410712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Тиз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566160"/>
            <a:ext cx="3319272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Разрядды разряддын астына жаз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023360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297680" y="1371600"/>
            <a:ext cx="3593592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74436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377440"/>
            <a:ext cx="3410712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Б → 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063240"/>
            <a:ext cx="3410712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Оңдон башта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3566160"/>
            <a:ext cx="3319272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Бирдиктен баштап эсепте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891272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165592" y="1371600"/>
            <a:ext cx="3593592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42348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7032" y="2377440"/>
            <a:ext cx="3410712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10 ↔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7032" y="3063240"/>
            <a:ext cx="3410712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Өткөр / майдала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2752" y="3566160"/>
            <a:ext cx="3319272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10 болсо – өткөр; жетпесе – майдала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874519" y="4709160"/>
            <a:ext cx="8449056" cy="758952"/>
          </a:xfrm>
          <a:prstGeom prst="roundRect">
            <a:avLst>
              <a:gd name="adj" fmla="val 244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600" b="1">
                <a:solidFill>
                  <a:srgbClr val="A84400"/>
                </a:solidFill>
                <a:latin typeface="PT Sans"/>
              </a:rPr>
              <a:t>465 + 378:  13 → 3,  14 → 4,  8  →  843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Мисал 1: мен көрсөтөм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Мамыча: кошуу,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Шейшембиде 2 378 сом, шаршембиде 1 856 сом түштү. Эки күндө канча сом түштү?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2 378 + 1 856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240280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болжол ≈ 4 300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898648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= 4 234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898648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Б 14, О 13, Ж 12, М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557016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4 234 ≈ 4 300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557016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жакын 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5596128"/>
            <a:ext cx="11329416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Эки күндө = </a:t>
            </a:r>
            <a:r>
              <a:rPr sz="3400" b="1">
                <a:solidFill>
                  <a:srgbClr val="24418C"/>
                </a:solidFill>
                <a:latin typeface="PT Sans"/>
              </a:rPr>
              <a:t>4 234 сом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Мисал 2: мен көрсөтөм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Мамыча: кошуу,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Дүкөндө 3 005 сом бар эле. 1 268 сомго ун алышты. Канча сом калды?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3 005 − 1 268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240280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болжол ≈ 1 700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898648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= 1 737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898648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майдаладык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557016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1 737 + 1 268 = 3 005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557016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текшерүү 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5596128"/>
            <a:ext cx="11329416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Калды = </a:t>
            </a:r>
            <a:r>
              <a:rPr sz="3400" b="1">
                <a:solidFill>
                  <a:srgbClr val="24418C"/>
                </a:solidFill>
                <a:latin typeface="PT Sans"/>
              </a:rPr>
              <a:t>1 737 сом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Оозеки ыкма: чоң сандар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Мамыча: кошуу,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12647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Тегерек санга толукта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598 + 304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= 600 + 304 − 2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902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598 ≈ 600, анан 2ни алабыз.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80560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Кошуп кемит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1 000 − 365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365 → 400 → 1 000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35 + 600 = 635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Кемитүүнү кошуу менен: канча жетпейт?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65592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348472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42832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Экөөнү тең жылдыр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702 − 299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2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= 703 − 300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403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4192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Айырма өзгөрбөйт.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9768" y="5577840"/>
            <a:ext cx="11329416" cy="50292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222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700" b="1">
                <a:solidFill>
                  <a:srgbClr val="007A5A"/>
                </a:solidFill>
                <a:latin typeface="PT Sans"/>
              </a:rPr>
              <a:t>Адегенде ойлон: мамычабы же оозекиби? Болжолдо, эсепте, салыштыр.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Чечүүчү 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Мамыча: кошуу,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704 − 368 = ?  Бир жоопту танда.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28600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04088" y="274320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228600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464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228600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83096" y="274320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06056" y="228600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336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402336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4088" y="448056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7048" y="402336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446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402336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3096" y="448056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06056" y="402336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366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Тилке машыгуусу: чий, анан эсепте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Мамыча: кошуу,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Сабира эже дүйшөмбүдө 465 кг алма, шейшембиде 378 кг алма сатты. Баары канча кг? Тилкеге сандарды жаз.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7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67128" y="4956048"/>
            <a:ext cx="170383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12647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618488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282439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19600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76800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Азамат 1 340 сом чогултту, Мээрим андан 285 сомго аз. Мээрим канча сом чогултту?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6759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5320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19800" y="4956048"/>
            <a:ext cx="1703831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465320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71159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135112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72272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29472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Дүкөндө 3 000 сом бар эле. 1 245 сомго ун, 860 сомго май алышты. Канча сом калды?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09432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7991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872471" y="4956048"/>
            <a:ext cx="170383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317991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323831" y="5641848"/>
            <a:ext cx="225247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Тилке машыгуусу: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Мамыча: кошуу,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Сабира эже дүйшөмбүдө 465 кг алма, шейшембиде 378 кг алма сатты. Баары канча кг? Тилкеге сандарды жаз.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017520"/>
            <a:ext cx="1292905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465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59833" y="3017520"/>
            <a:ext cx="1051006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378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02280" y="30175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139440" y="3017520"/>
            <a:ext cx="0" cy="384048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002280" y="3401568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185160" y="2935224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843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7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465 + 378 = 843 кг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82439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419600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76800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Азамат 1 340 сом чогултту, Мээрим андан 285 сомго аз. Мээрим канча сом чогултту?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19600" y="3017520"/>
            <a:ext cx="137160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 i="0">
                <a:solidFill>
                  <a:srgbClr val="1F2430"/>
                </a:solidFill>
                <a:latin typeface="PT Sans"/>
              </a:rPr>
              <a:t>Азамат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82640" y="3017520"/>
            <a:ext cx="693522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1 055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76162" y="3017520"/>
            <a:ext cx="187349" cy="384048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285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19600" y="3574389"/>
            <a:ext cx="137160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 i="0">
                <a:solidFill>
                  <a:srgbClr val="1F2430"/>
                </a:solidFill>
                <a:latin typeface="PT Sans"/>
              </a:rPr>
              <a:t>Мээрим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82640" y="3574389"/>
            <a:ext cx="693522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1 055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854951" y="3017520"/>
            <a:ext cx="137161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992112" y="3017520"/>
            <a:ext cx="0" cy="384048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854951" y="3401568"/>
            <a:ext cx="137161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037832" y="2935224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1 340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65320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1 340 − 285 = 1 055 сом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35112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272272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29472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Дүкөндө 3 000 сом бар эле. 1 245 сомго ун, 860 сомго май алышты. Канча сом калды?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72272" y="3017520"/>
            <a:ext cx="972723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1 245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244995" y="3017520"/>
            <a:ext cx="671921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860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916916" y="3017520"/>
            <a:ext cx="699267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895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707624" y="30175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0844784" y="3017520"/>
            <a:ext cx="0" cy="384048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0707624" y="3401568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0890503" y="2935224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3 000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17991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3 000 − 1 245 − 860 = 895 сом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Өз алдынча иш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Мамыча: кошуу,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Дептериңе чыгар. Кыйын болсо – жакшы! Мээң өсүп жатат.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352 + 419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9164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169164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836 − 571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323088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323088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2 467 + 1 685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323088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91656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323088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7 000 − 2 846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" y="477012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12647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07007" y="477012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Болжолдо: 4 012 − 1 998 ≈ 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08776" y="477012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91656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86016" y="477012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Мээримде 1 200 сом, Азаматта 375 сомго аз. Азаматта канча?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Өз алдынча иш: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Мамыча: кошуу,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352 + 419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804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771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45936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6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836 − 571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3812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265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2 467 + 1 685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804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4 152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45936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7 000 − 2 846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3812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4 154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" y="3374136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66928" y="3630168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3374136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Болжолдо: 4 012 − 1 998 ≈ 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34804" y="3374136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≈ 2 000 (2 014)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08776" y="3374136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345936" y="3630168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94576" y="3374136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Мээримде 1 200 сом, Азаматта 375 сомго аз. Азаматта канча?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13812" y="3374136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825 сом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Окуяга кайтабыз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Мамыча: кошуу,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Дүйшөмбүдө дүкөндө 1 465 сомдук, шейшембиде 2 378 сомдук соода болду. Эки күндө 4 000 сомго жеттиби?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240280"/>
            <a:ext cx="3315500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1 465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29900" y="2240280"/>
            <a:ext cx="5381746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2 378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11647" y="2240280"/>
            <a:ext cx="355312" cy="54864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6B7280"/>
                </a:solidFill>
                <a:latin typeface="PT Sans"/>
              </a:rPr>
              <a:t>157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058399" y="224028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195559" y="2240280"/>
            <a:ext cx="0" cy="54864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058399" y="27889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241279" y="2240280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4 000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127248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1F2430"/>
                </a:solidFill>
                <a:latin typeface="PT Sans"/>
              </a:rPr>
              <a:t>1 465 + 2 378 = 3 843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127248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мамыча түрүндө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694176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24418C"/>
                </a:solidFill>
                <a:latin typeface="PT Sans"/>
              </a:rPr>
              <a:t>4 000 − 3 843 = 157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3694176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жетпейт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74519" y="5486400"/>
            <a:ext cx="8449056" cy="640080"/>
          </a:xfrm>
          <a:prstGeom prst="roundRect">
            <a:avLst>
              <a:gd name="adj" fmla="val 244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A84400"/>
                </a:solidFill>
                <a:latin typeface="PT Sans"/>
              </a:rPr>
              <a:t>Жеткен жок: 3 843 сом. 4 000 сомго 157 сом жетпейт.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Түз: өзүң маселе түз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Мамыча: кошуу,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371600"/>
            <a:ext cx="10780776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Базардагы дүкөн жөнүндө үч-төрт орундуу сандар менен кошуу же кемитүү маселесин түз.</a:t>
            </a:r>
          </a:p>
        </p:txBody>
      </p:sp>
      <p:sp>
        <p:nvSpPr>
          <p:cNvPr id="12" name="Oval 11"/>
          <p:cNvSpPr/>
          <p:nvPr/>
        </p:nvSpPr>
        <p:spPr>
          <a:xfrm>
            <a:off x="704088" y="256032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542032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Окуядагы каармандарды колдон: Мээрим, Азамат, Сабира эже.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" y="3383279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364991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Тилкесин чий жана туюнтмасын жаз.</a:t>
            </a:r>
          </a:p>
        </p:txBody>
      </p:sp>
      <p:sp>
        <p:nvSpPr>
          <p:cNvPr id="16" name="Oval 15"/>
          <p:cNvSpPr/>
          <p:nvPr/>
        </p:nvSpPr>
        <p:spPr>
          <a:xfrm>
            <a:off x="704088" y="42062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187952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Жупуңа бер: ал чыгарсын, сен текшер.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3C · Кызматташуу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Чыгуу билети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Мамыча: кошуу,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Өз алдынча, 3 мүнөт. Кагазыңа жазып бер.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568 + 275 =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323088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12647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7" y="323088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4 003 − 1 457 = 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477012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477012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Адегенде болжолдо, анан эсепте: 2 989 + 1 015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Оозеки талкуу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Мамыча: кошуу,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80160"/>
            <a:ext cx="1078077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Оозеки талкуу</a:t>
            </a:r>
          </a:p>
        </p:txBody>
      </p:sp>
      <p:sp>
        <p:nvSpPr>
          <p:cNvPr id="12" name="Oval 11"/>
          <p:cNvSpPr/>
          <p:nvPr/>
        </p:nvSpPr>
        <p:spPr>
          <a:xfrm>
            <a:off x="704088" y="19202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901952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Эмне үчүн бирдиктерден баштайбыз?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" y="2542032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523744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Нөлдөн кемитүүдө эмне кылабыз?</a:t>
            </a:r>
          </a:p>
        </p:txBody>
      </p:sp>
      <p:sp>
        <p:nvSpPr>
          <p:cNvPr id="16" name="Oval 15"/>
          <p:cNvSpPr/>
          <p:nvPr/>
        </p:nvSpPr>
        <p:spPr>
          <a:xfrm>
            <a:off x="704088" y="316382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145536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Болжолдоо кантип жардам берди?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461772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1">
                <a:solidFill>
                  <a:srgbClr val="6B7280"/>
                </a:solidFill>
                <a:latin typeface="PT Sans"/>
              </a:rPr>
              <a:t>Өзүңдү баала: колуңду көтөр.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7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007A5A"/>
                </a:solidFill>
                <a:latin typeface="PT Sans"/>
              </a:rPr>
              <a:t>Түшүндүм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36008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A84400"/>
                </a:solidFill>
                <a:latin typeface="PT Sans"/>
              </a:rPr>
              <a:t>Дагы машыгам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93608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Жардам керек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Мугалим үчүн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Мамыча: кошуу,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5120640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280160"/>
            <a:ext cx="466344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Тилке моделин кантип үйрөтөбүз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1874519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19" y="1856231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Адегенде ар бир жуп таякча боолору же кагаз акча менен разряд килемчесинде иштейт.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898648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19" y="2880360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Мамычаны чакмак дептерде жаздырыңыз: бир чакмак – бир цифра, оң жактан.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3922776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19" y="3904488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Нөлдүү сандарда (3 005) майдалоону буюм менен кадам-кадам көрсөтүңүз.</a:t>
            </a:r>
          </a:p>
        </p:txBody>
      </p:sp>
      <p:sp>
        <p:nvSpPr>
          <p:cNvPr id="18" name="Oval 17"/>
          <p:cNvSpPr/>
          <p:nvPr/>
        </p:nvSpPr>
        <p:spPr>
          <a:xfrm>
            <a:off x="658368" y="494690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19" y="4928616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Ар бир жоопту болжол жана тескери амал менен текшертиңиз.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79007" y="1225296"/>
            <a:ext cx="5980176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07607" y="1280160"/>
            <a:ext cx="54864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Ой жүгүртүү: эмне деп айтабыз?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07607" y="1783080"/>
            <a:ext cx="2651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6B7280"/>
                </a:solidFill>
                <a:latin typeface="PT Sans"/>
              </a:rPr>
              <a:t>Айтпайбыз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96528" y="1783080"/>
            <a:ext cx="29260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007A5A"/>
                </a:solidFill>
                <a:latin typeface="PT Sans"/>
              </a:rPr>
              <a:t>Айтабыз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07607" y="219456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«Бул оңой эмеспи?»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567928" y="2468879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796528" y="219456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«Кадамдарды бирге карайлы.»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07607" y="315468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«Туура эмес!»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567928" y="342900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796528" y="315468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«Кантип таптың? Текшерип көрөлүчү.»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07607" y="411480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«Сен математикага жөндөмсүзсүң»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567928" y="438912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796528" y="411480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«Азырынча. Машыксаң, үйрөнөсүң.»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07607" y="507492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«Тез чыгар»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567928" y="534924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796528" y="507492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«Шашпа, адегенде тилке чий.»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