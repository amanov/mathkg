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болжолдошсун: 10,71 км туура болушу мүмкүнбү? Бир эле 12,6 км 10,71ден узун! Жоопту сабактын аягында (22-слайд) текшеребиз. Проектор жок болсо, эки санды доскага жазам.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Эмил: 22,05 км (Асел – М1; баалоо ≈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кагазга чийилген разряд таблицасы (бирдик | ондон бир | жүздөн бир), 20–25 бөтөлкө капкагы (же таш, буурчак) жана бар болсо 10 тыйындык тыйындар. 3,7ни (3 капкак жана 7 капкак) жана 2,5ти коюшат, анан ондон бирлерди бириктиришет: 12 капкак. 10 капкакты алып, бирдиктер мамычасына 1 капкак коюшат: 6,2. Тыйындар менен ошол эле: 10 он тыйын = 1 сом. Проектор жок болсо, таблицаны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Чакмак дептерде ар бир цифрага бир чакмак берем, үтүр чакмактын сызыгында. 12,6 нын аягына нөл кошобуз (боз түстө): 12,60. Оңдон баштайбыз: 0 + 5 = 5; 6 + 4 = 10 ондон бир, 0 жазып, бирдиктердин үстүнө «1». Тилке сан огунун үстүндө: баалоо 13 + 9 = 22 жана калганы 3 кмге жакын.</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Кошууда да, кемитүүдө да төрт кадам. Үтүрдү үтүрдүн астына жазабыз, ошондо бирдик бирдиктин, ондон бир ондон бирдин астында турат (М1). Бош орунга нөл кошобуз (М5). Оңдон баштайбыз жана керек болсо алмаштырабыз (М2, М3, М4). Жоопту баалоо менен салыштырабыз.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«1,25тен 2ге чейин 0,75, 2ден 5ке чейин 3».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М1; Г = М3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бөлүк + бөлүк → айырма → көп кадам. Жооптор: 3,5 + 2,8 = 6,3 км; 12,60 − 9,45 = 3,15 км; 25 − 18,25 = 6,75 км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Адегенде баалайбыз: 12,6 ≈ 13, 9,45 ≈ 9, демек ≈ 22 км. Асел акыркы цифраларды тууралап жазды (М1): 126 + 945. Үтүрдү үтүрдүн астына жазып, нөл кошобуз: 12,60 + 9,45 = 22,05. Ондон бирлер: 6 + 4 = 10 ондон бир = 1 бирдик (алмаштыруу). Рекорд: 25 = 25,00; 25,00 − 22,05 = 2,95 км. Текшерүү: 22,05 + 2,95 =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8,35; 4,6; 31,50 сом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Ондук бөлчөктөрдү кошуу жана кемитүү</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Ысык-Атага велосипед сапары</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Эмил, Асел жана Бакыт байке Канттан Ысык-Ата шаркыратмасына велосипед менен барышат. Жолдун узундугу ондук бөлчөк.</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ондук бөлчөктөр менен амалдар.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Ысык-Атага велосипед сапары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Жайкы эс алууда Эмил, Асел жана Бакыт байке Канттан Ысык-Ата шаркыратмасына велосипед менен жөнөштү.</a:t>
            </a:r>
          </a:p>
          <a:p>
            <a:pPr algn="l">
              <a:lnSpc>
                <a:spcPct val="105000"/>
              </a:lnSpc>
              <a:spcBef>
                <a:spcPts val="800"/>
              </a:spcBef>
            </a:pPr>
            <a:r>
              <a:rPr sz="2100" b="0" i="0">
                <a:solidFill>
                  <a:srgbClr val="1F2430"/>
                </a:solidFill>
                <a:latin typeface="PT Sans"/>
              </a:rPr>
              <a:t>Велосипеддин эсептегичи: Канттан Ысык-Ата айылына 12,6 км, айылдан шаркыратмага 9,45 км.</a:t>
            </a:r>
          </a:p>
          <a:p>
            <a:pPr algn="l">
              <a:lnSpc>
                <a:spcPct val="105000"/>
              </a:lnSpc>
              <a:spcBef>
                <a:spcPts val="800"/>
              </a:spcBef>
            </a:pPr>
            <a:r>
              <a:rPr sz="2100" b="0" i="0">
                <a:solidFill>
                  <a:srgbClr val="1F2430"/>
                </a:solidFill>
                <a:latin typeface="PT Sans"/>
              </a:rPr>
              <a:t>Асел эсептеди: «Бардыгы 10,71 км!» Эмил: «Жок, 22,05 км».</a:t>
            </a:r>
          </a:p>
          <a:p>
            <a:pPr algn="l">
              <a:lnSpc>
                <a:spcPct val="105000"/>
              </a:lnSpc>
              <a:spcBef>
                <a:spcPts val="800"/>
              </a:spcBef>
            </a:pPr>
            <a:r>
              <a:rPr sz="2100" b="0" i="0">
                <a:solidFill>
                  <a:srgbClr val="1F2430"/>
                </a:solidFill>
                <a:latin typeface="PT Sans"/>
              </a:rPr>
              <a:t>Бакыт байке: «Бүгүн 25 км тепсек, бул биздин рекорд!»</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Ким туура? Адегенде баала: болжол менен канча км? Рекордго (25 км) дагы канча км калды?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Ондук бөлчөктөрдү үтүрдү үтүрдүн астына жазып кошом жана кемитем.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Бүтүн сан менен ондук бөлчөктү кошом жана кемитем: нөл кошом, разрядды алмаштырам.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Адегенде баалайм, анан эсептейм жана жообумду текшерем (акча, узундук).</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1 орундуу ондуктар</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 орундуу, бүтүн сандар</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Алмаштыруу, маселелер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Катаны тап</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капкактар, тыйындар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Велосипед сапары</a:t>
            </a:r>
          </a:p>
          <a:p>
            <a:pPr algn="l">
              <a:lnSpc>
                <a:spcPct val="105000"/>
              </a:lnSpc>
            </a:pPr>
            <a:r>
              <a:rPr sz="1800" b="0" i="0">
                <a:solidFill>
                  <a:srgbClr val="1F2430"/>
                </a:solidFill>
                <a:latin typeface="PT Sans"/>
              </a:rPr>
              <a:t>• Сом жана тыйын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Мамыча менен кошуу, кемитүү</a:t>
            </a:r>
          </a:p>
          <a:p>
            <a:pPr algn="l">
              <a:lnSpc>
                <a:spcPct val="105000"/>
              </a:lnSpc>
              <a:spcBef>
                <a:spcPts val="400"/>
              </a:spcBef>
            </a:pPr>
            <a:r>
              <a:rPr sz="1500" b="0" i="0">
                <a:solidFill>
                  <a:srgbClr val="1F2430"/>
                </a:solidFill>
                <a:latin typeface="PT Sans"/>
              </a:rPr>
              <a:t>• Разрядды алмаштыруу</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 бөлчөк: разряд</a:t>
            </a:r>
          </a:p>
          <a:p>
            <a:pPr algn="l">
              <a:lnSpc>
                <a:spcPct val="105000"/>
              </a:lnSpc>
              <a:spcBef>
                <a:spcPts val="400"/>
              </a:spcBef>
            </a:pPr>
            <a:r>
              <a:rPr sz="1500" b="0" i="0">
                <a:solidFill>
                  <a:srgbClr val="1F2430"/>
                </a:solidFill>
                <a:latin typeface="PT Sans"/>
              </a:rPr>
              <a:t>• Салыштыруу, тегеректөө</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Ондуктарды кошуу, кемитүү</a:t>
            </a:r>
          </a:p>
          <a:p>
            <a:pPr algn="l">
              <a:lnSpc>
                <a:spcPct val="105000"/>
              </a:lnSpc>
              <a:spcBef>
                <a:spcPts val="400"/>
              </a:spcBef>
            </a:pPr>
            <a:r>
              <a:rPr sz="1500" b="0" i="0">
                <a:solidFill>
                  <a:srgbClr val="1F2430"/>
                </a:solidFill>
                <a:latin typeface="PT Sans"/>
              </a:rPr>
              <a:t>• Адегенде баалоо</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Ондуктарды көбөйтүү, бөлүү</a:t>
            </a:r>
          </a:p>
          <a:p>
            <a:pPr algn="l">
              <a:lnSpc>
                <a:spcPct val="105000"/>
              </a:lnSpc>
              <a:spcBef>
                <a:spcPts val="400"/>
              </a:spcBef>
            </a:pPr>
            <a:r>
              <a:rPr sz="1500" b="0" i="0">
                <a:solidFill>
                  <a:srgbClr val="6B7280"/>
                </a:solidFill>
                <a:latin typeface="PT Sans"/>
              </a:rPr>
              <a:t>• Пайыз</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Мамыча менен: 476 + 358</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Мамыча менен: 600 − 247</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0,7 = □ ондон бир;   3,5 = □ жүздөн бир</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сом = □ тыйын;   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Мамыча менен: 476 + 358</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834</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Мамыча менен: 600 − 247</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353</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0,7 = □ ондон бир;   3,5 = □ жүздөн бир</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  350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сом = □ тыйын;   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Бакыт байке: «Жол 12,6 км жана 9,45 км. Бардыгы канча км?»</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Асел</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Оң жактан тууралап жаздым</a:t>
            </a:r>
          </a:p>
          <a:p>
            <a:pPr algn="l">
              <a:lnSpc>
                <a:spcPct val="105000"/>
              </a:lnSpc>
            </a:pPr>
            <a:r>
              <a:rPr sz="2600" b="0" i="0">
                <a:solidFill>
                  <a:srgbClr val="1F2430"/>
                </a:solidFill>
                <a:latin typeface="PT Sans"/>
              </a:rPr>
              <a:t>126 + 945 = 1071</a:t>
            </a:r>
          </a:p>
          <a:p>
            <a:pPr algn="l">
              <a:lnSpc>
                <a:spcPct val="105000"/>
              </a:lnSpc>
            </a:pPr>
            <a:r>
              <a:rPr sz="2600" b="0" i="0">
                <a:solidFill>
                  <a:srgbClr val="1F2430"/>
                </a:solidFill>
                <a:latin typeface="PT Sans"/>
              </a:rPr>
              <a:t>10,71 км</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Эмил</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Үтүр үтүрдүн астында</a:t>
            </a:r>
          </a:p>
          <a:p>
            <a:pPr algn="l">
              <a:lnSpc>
                <a:spcPct val="105000"/>
              </a:lnSpc>
            </a:pPr>
            <a:r>
              <a:rPr sz="2600" b="0" i="0">
                <a:solidFill>
                  <a:srgbClr val="1F2430"/>
                </a:solidFill>
                <a:latin typeface="PT Sans"/>
              </a:rPr>
              <a:t>12,60 + 9,45</a:t>
            </a:r>
          </a:p>
          <a:p>
            <a:pPr algn="l">
              <a:lnSpc>
                <a:spcPct val="105000"/>
              </a:lnSpc>
            </a:pPr>
            <a:r>
              <a:rPr sz="2600" b="0" i="0">
                <a:solidFill>
                  <a:srgbClr val="1F2430"/>
                </a:solidFill>
                <a:latin typeface="PT Sans"/>
              </a:rPr>
              <a:t>22,05 км</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Адегенде баала: 13 + 9 ≈ ?</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3,7 + 2,5 ти разряд таблицасына капкак менен кой. 10 ондон бир = 1 бирдик: алмаштыр!</a:t>
            </a:r>
          </a:p>
        </p:txBody>
      </p:sp>
      <p:sp>
        <p:nvSpPr>
          <p:cNvPr id="12" name="TextBox 11"/>
          <p:cNvSpPr txBox="1"/>
          <p:nvPr/>
        </p:nvSpPr>
        <p:spPr>
          <a:xfrm>
            <a:off x="548640" y="2148840"/>
            <a:ext cx="512064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Разряд таблицасы жана капкактар</a:t>
            </a:r>
          </a:p>
        </p:txBody>
      </p:sp>
      <p:sp>
        <p:nvSpPr>
          <p:cNvPr id="13" name="Rectangle 12"/>
          <p:cNvSpPr/>
          <p:nvPr/>
        </p:nvSpPr>
        <p:spPr>
          <a:xfrm>
            <a:off x="1325880" y="2560320"/>
            <a:ext cx="105156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Бирдик</a:t>
            </a:r>
          </a:p>
        </p:txBody>
      </p:sp>
      <p:sp>
        <p:nvSpPr>
          <p:cNvPr id="14" name="Rectangle 13"/>
          <p:cNvSpPr/>
          <p:nvPr/>
        </p:nvSpPr>
        <p:spPr>
          <a:xfrm>
            <a:off x="1325880" y="2971800"/>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25880" y="3630168"/>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25880" y="4288536"/>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33472" y="2560320"/>
            <a:ext cx="105156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Ондон бир</a:t>
            </a:r>
          </a:p>
        </p:txBody>
      </p:sp>
      <p:sp>
        <p:nvSpPr>
          <p:cNvPr id="18" name="Rectangle 17"/>
          <p:cNvSpPr/>
          <p:nvPr/>
        </p:nvSpPr>
        <p:spPr>
          <a:xfrm>
            <a:off x="2633472" y="2971800"/>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33472" y="3630168"/>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633472" y="4288536"/>
            <a:ext cx="1051560" cy="658368"/>
          </a:xfrm>
          <a:prstGeom prst="rect">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971800"/>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3,7</a:t>
            </a:r>
          </a:p>
        </p:txBody>
      </p:sp>
      <p:sp>
        <p:nvSpPr>
          <p:cNvPr id="22" name="Oval 21"/>
          <p:cNvSpPr/>
          <p:nvPr/>
        </p:nvSpPr>
        <p:spPr>
          <a:xfrm>
            <a:off x="1389888"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56819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46504"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31720" y="2971800"/>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26" name="Oval 25"/>
          <p:cNvSpPr/>
          <p:nvPr/>
        </p:nvSpPr>
        <p:spPr>
          <a:xfrm>
            <a:off x="2697479"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875787"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5409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232403"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10711"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697479"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875787"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630168"/>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+ 2,5</a:t>
            </a:r>
          </a:p>
        </p:txBody>
      </p:sp>
      <p:sp>
        <p:nvSpPr>
          <p:cNvPr id="34" name="Oval 33"/>
          <p:cNvSpPr/>
          <p:nvPr/>
        </p:nvSpPr>
        <p:spPr>
          <a:xfrm>
            <a:off x="1389888"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568196"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31720" y="3630168"/>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37" name="Oval 36"/>
          <p:cNvSpPr/>
          <p:nvPr/>
        </p:nvSpPr>
        <p:spPr>
          <a:xfrm>
            <a:off x="2697479"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75787"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54096"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32403"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410711"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88536"/>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Бирге</a:t>
            </a:r>
          </a:p>
        </p:txBody>
      </p:sp>
      <p:sp>
        <p:nvSpPr>
          <p:cNvPr id="43" name="Oval 42"/>
          <p:cNvSpPr/>
          <p:nvPr/>
        </p:nvSpPr>
        <p:spPr>
          <a:xfrm>
            <a:off x="1389888"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568196"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746504"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924812"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103120"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31720" y="4288536"/>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49" name="Oval 48"/>
          <p:cNvSpPr/>
          <p:nvPr/>
        </p:nvSpPr>
        <p:spPr>
          <a:xfrm>
            <a:off x="2697479"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875787"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3054096"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232403"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410711"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697479"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875787"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054096"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232403"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410711"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697479" y="4709160"/>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875787" y="4709160"/>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4992624"/>
            <a:ext cx="4023360" cy="365760"/>
          </a:xfrm>
          <a:prstGeom prst="rect">
            <a:avLst/>
          </a:prstGeom>
          <a:noFill/>
        </p:spPr>
        <p:txBody>
          <a:bodyPr wrap="square" anchor="t" lIns="45720" rIns="45720" tIns="27432" bIns="27432">
            <a:spAutoFit/>
          </a:bodyPr>
          <a:lstStyle/>
          <a:p>
            <a:pPr algn="l">
              <a:lnSpc>
                <a:spcPct val="105000"/>
              </a:lnSpc>
            </a:pPr>
            <a:r>
              <a:rPr sz="1300" b="1" i="0">
                <a:solidFill>
                  <a:srgbClr val="A84400"/>
                </a:solidFill>
                <a:latin typeface="PT Sans"/>
              </a:rPr>
              <a:t>12 ондон бир = 1 бирдик + 2 ондон бир</a:t>
            </a:r>
          </a:p>
        </p:txBody>
      </p:sp>
      <p:cxnSp>
        <p:nvCxnSpPr>
          <p:cNvPr id="62" name="Connector 61"/>
          <p:cNvCxnSpPr/>
          <p:nvPr/>
        </p:nvCxnSpPr>
        <p:spPr>
          <a:xfrm>
            <a:off x="3776472" y="4251960"/>
            <a:ext cx="59436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251960" y="4050791"/>
            <a:ext cx="365760" cy="411480"/>
          </a:xfrm>
          <a:prstGeom prst="rect">
            <a:avLst/>
          </a:prstGeom>
          <a:noFill/>
        </p:spPr>
        <p:txBody>
          <a:bodyPr wrap="square" anchor="t" lIns="45720" rIns="45720" tIns="27432" bIns="27432">
            <a:spAutoFit/>
          </a:bodyPr>
          <a:lstStyle/>
          <a:p>
            <a:pPr algn="l">
              <a:lnSpc>
                <a:spcPct val="105000"/>
              </a:lnSpc>
            </a:pPr>
            <a:r>
              <a:rPr sz="1400" b="0" i="0">
                <a:solidFill>
                  <a:srgbClr val="A84400"/>
                </a:solidFill>
                <a:latin typeface="PT Sans"/>
              </a:rPr>
              <a:t>▶</a:t>
            </a:r>
          </a:p>
        </p:txBody>
      </p:sp>
      <p:sp>
        <p:nvSpPr>
          <p:cNvPr id="64" name="TextBox 63"/>
          <p:cNvSpPr txBox="1"/>
          <p:nvPr/>
        </p:nvSpPr>
        <p:spPr>
          <a:xfrm>
            <a:off x="4599432" y="2148840"/>
            <a:ext cx="2377440" cy="365760"/>
          </a:xfrm>
          <a:prstGeom prst="rect">
            <a:avLst/>
          </a:prstGeom>
          <a:noFill/>
        </p:spPr>
        <p:txBody>
          <a:bodyPr wrap="square" anchor="t" lIns="45720" rIns="45720" tIns="27432" bIns="27432">
            <a:spAutoFit/>
          </a:bodyPr>
          <a:lstStyle/>
          <a:p>
            <a:pPr algn="l">
              <a:lnSpc>
                <a:spcPct val="105000"/>
              </a:lnSpc>
            </a:pPr>
            <a:r>
              <a:rPr sz="1500" b="1" i="0">
                <a:solidFill>
                  <a:srgbClr val="24418C"/>
                </a:solidFill>
                <a:latin typeface="PT Sans"/>
              </a:rPr>
              <a:t>Алмаштырдык</a:t>
            </a:r>
          </a:p>
        </p:txBody>
      </p:sp>
      <p:sp>
        <p:nvSpPr>
          <p:cNvPr id="65" name="Rectangle 64"/>
          <p:cNvSpPr/>
          <p:nvPr/>
        </p:nvSpPr>
        <p:spPr>
          <a:xfrm>
            <a:off x="4599432" y="2560320"/>
            <a:ext cx="91440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Бирдик</a:t>
            </a:r>
          </a:p>
        </p:txBody>
      </p:sp>
      <p:sp>
        <p:nvSpPr>
          <p:cNvPr id="66" name="Rectangle 65"/>
          <p:cNvSpPr/>
          <p:nvPr/>
        </p:nvSpPr>
        <p:spPr>
          <a:xfrm>
            <a:off x="4599432" y="2971800"/>
            <a:ext cx="91440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769864" y="2560320"/>
            <a:ext cx="91440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Ондон бир</a:t>
            </a:r>
          </a:p>
        </p:txBody>
      </p:sp>
      <p:sp>
        <p:nvSpPr>
          <p:cNvPr id="68" name="Rectangle 67"/>
          <p:cNvSpPr/>
          <p:nvPr/>
        </p:nvSpPr>
        <p:spPr>
          <a:xfrm>
            <a:off x="5769864" y="2971800"/>
            <a:ext cx="91440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663440"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841748"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502005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198364"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663440"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4841748"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468112" y="2971800"/>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76" name="Oval 75"/>
          <p:cNvSpPr/>
          <p:nvPr/>
        </p:nvSpPr>
        <p:spPr>
          <a:xfrm>
            <a:off x="5833872"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12180"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99432" y="3703320"/>
            <a:ext cx="2651760" cy="548640"/>
          </a:xfrm>
          <a:prstGeom prst="rect">
            <a:avLst/>
          </a:prstGeom>
          <a:noFill/>
        </p:spPr>
        <p:txBody>
          <a:bodyPr wrap="square" anchor="t" lIns="45720" rIns="45720" tIns="27432" bIns="27432">
            <a:spAutoFit/>
          </a:bodyPr>
          <a:lstStyle/>
          <a:p>
            <a:pPr algn="l">
              <a:lnSpc>
                <a:spcPct val="105000"/>
              </a:lnSpc>
            </a:pPr>
            <a:r>
              <a:rPr sz="2200" b="1" i="0">
                <a:solidFill>
                  <a:srgbClr val="24418C"/>
                </a:solidFill>
                <a:latin typeface="PT Sans"/>
              </a:rPr>
              <a:t>3,7 + 2,5 = 6,2</a:t>
            </a:r>
          </a:p>
        </p:txBody>
      </p:sp>
      <p:sp>
        <p:nvSpPr>
          <p:cNvPr id="79" name="TextBox 78"/>
          <p:cNvSpPr txBox="1"/>
          <p:nvPr/>
        </p:nvSpPr>
        <p:spPr>
          <a:xfrm>
            <a:off x="4599432" y="4343400"/>
            <a:ext cx="2651760" cy="320040"/>
          </a:xfrm>
          <a:prstGeom prst="rect">
            <a:avLst/>
          </a:prstGeom>
          <a:noFill/>
        </p:spPr>
        <p:txBody>
          <a:bodyPr wrap="square" anchor="t" lIns="45720" rIns="45720" tIns="27432" bIns="27432">
            <a:spAutoFit/>
          </a:bodyPr>
          <a:lstStyle/>
          <a:p>
            <a:pPr algn="l">
              <a:lnSpc>
                <a:spcPct val="105000"/>
              </a:lnSpc>
            </a:pPr>
            <a:r>
              <a:rPr sz="1300" b="1" i="0">
                <a:solidFill>
                  <a:srgbClr val="1D3557"/>
                </a:solidFill>
                <a:latin typeface="PT Sans"/>
              </a:rPr>
              <a:t>Тыйын менен:</a:t>
            </a:r>
          </a:p>
        </p:txBody>
      </p:sp>
      <p:sp>
        <p:nvSpPr>
          <p:cNvPr id="80" name="Oval 79"/>
          <p:cNvSpPr/>
          <p:nvPr/>
        </p:nvSpPr>
        <p:spPr>
          <a:xfrm>
            <a:off x="459943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46227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2" name="Oval 81"/>
          <p:cNvSpPr/>
          <p:nvPr/>
        </p:nvSpPr>
        <p:spPr>
          <a:xfrm>
            <a:off x="496519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82803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4" name="Oval 83"/>
          <p:cNvSpPr/>
          <p:nvPr/>
        </p:nvSpPr>
        <p:spPr>
          <a:xfrm>
            <a:off x="533095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19379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6" name="Oval 85"/>
          <p:cNvSpPr/>
          <p:nvPr/>
        </p:nvSpPr>
        <p:spPr>
          <a:xfrm>
            <a:off x="569671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55955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8" name="Oval 87"/>
          <p:cNvSpPr/>
          <p:nvPr/>
        </p:nvSpPr>
        <p:spPr>
          <a:xfrm>
            <a:off x="606247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92531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0" name="Oval 89"/>
          <p:cNvSpPr/>
          <p:nvPr/>
        </p:nvSpPr>
        <p:spPr>
          <a:xfrm>
            <a:off x="459943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6227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2" name="Oval 91"/>
          <p:cNvSpPr/>
          <p:nvPr/>
        </p:nvSpPr>
        <p:spPr>
          <a:xfrm>
            <a:off x="496519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82803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4" name="Oval 93"/>
          <p:cNvSpPr/>
          <p:nvPr/>
        </p:nvSpPr>
        <p:spPr>
          <a:xfrm>
            <a:off x="533095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19379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6" name="Oval 95"/>
          <p:cNvSpPr/>
          <p:nvPr/>
        </p:nvSpPr>
        <p:spPr>
          <a:xfrm>
            <a:off x="569671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55955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8" name="Oval 97"/>
          <p:cNvSpPr/>
          <p:nvPr/>
        </p:nvSpPr>
        <p:spPr>
          <a:xfrm>
            <a:off x="606247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92531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100" name="TextBox 99"/>
          <p:cNvSpPr txBox="1"/>
          <p:nvPr/>
        </p:nvSpPr>
        <p:spPr>
          <a:xfrm>
            <a:off x="6428232" y="4846320"/>
            <a:ext cx="365760" cy="457200"/>
          </a:xfrm>
          <a:prstGeom prst="rect">
            <a:avLst/>
          </a:prstGeom>
          <a:noFill/>
        </p:spPr>
        <p:txBody>
          <a:bodyPr wrap="square" anchor="t" lIns="45720" rIns="45720" tIns="27432" bIns="27432">
            <a:spAutoFit/>
          </a:bodyPr>
          <a:lstStyle/>
          <a:p>
            <a:pPr algn="ctr">
              <a:lnSpc>
                <a:spcPct val="105000"/>
              </a:lnSpc>
            </a:pPr>
            <a:r>
              <a:rPr sz="2200" b="1" i="0">
                <a:solidFill>
                  <a:srgbClr val="1D3557"/>
                </a:solidFill>
                <a:latin typeface="PT Sans"/>
              </a:rPr>
              <a:t>=</a:t>
            </a:r>
          </a:p>
        </p:txBody>
      </p:sp>
      <p:sp>
        <p:nvSpPr>
          <p:cNvPr id="101" name="Oval 100"/>
          <p:cNvSpPr/>
          <p:nvPr/>
        </p:nvSpPr>
        <p:spPr>
          <a:xfrm>
            <a:off x="6793992" y="4727448"/>
            <a:ext cx="685800" cy="685800"/>
          </a:xfrm>
          <a:prstGeom prst="ellipse">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D3557"/>
                </a:solidFill>
                <a:latin typeface="PT Sans"/>
              </a:rPr>
              <a:t>1 сом</a:t>
            </a:r>
          </a:p>
        </p:txBody>
      </p:sp>
      <p:sp>
        <p:nvSpPr>
          <p:cNvPr id="102" name="TextBox 101"/>
          <p:cNvSpPr txBox="1"/>
          <p:nvPr/>
        </p:nvSpPr>
        <p:spPr>
          <a:xfrm>
            <a:off x="4599432" y="5486400"/>
            <a:ext cx="3017520" cy="320040"/>
          </a:xfrm>
          <a:prstGeom prst="rect">
            <a:avLst/>
          </a:prstGeom>
          <a:noFill/>
        </p:spPr>
        <p:txBody>
          <a:bodyPr wrap="square" anchor="t" lIns="45720" rIns="45720" tIns="27432" bIns="27432">
            <a:spAutoFit/>
          </a:bodyPr>
          <a:lstStyle/>
          <a:p>
            <a:pPr algn="l">
              <a:lnSpc>
                <a:spcPct val="105000"/>
              </a:lnSpc>
            </a:pPr>
            <a:r>
              <a:rPr sz="1200" b="0" i="1">
                <a:solidFill>
                  <a:srgbClr val="4A5A70"/>
                </a:solidFill>
                <a:latin typeface="PT Sans"/>
              </a:rPr>
              <a:t>10 он тыйын = 1 сом:  10 × 0,1 = 1</a:t>
            </a:r>
          </a:p>
        </p:txBody>
      </p:sp>
      <p:sp>
        <p:nvSpPr>
          <p:cNvPr id="103" name="Rounded Rectangle 102"/>
          <p:cNvSpPr/>
          <p:nvPr/>
        </p:nvSpPr>
        <p:spPr>
          <a:xfrm>
            <a:off x="9372600" y="2148840"/>
            <a:ext cx="2377440" cy="35204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482328" y="2212848"/>
            <a:ext cx="2194560" cy="3429000"/>
          </a:xfrm>
          <a:prstGeom prst="rect">
            <a:avLst/>
          </a:prstGeom>
          <a:noFill/>
        </p:spPr>
        <p:txBody>
          <a:bodyPr wrap="square" anchor="t" lIns="45720" rIns="45720" tIns="27432" bIns="27432">
            <a:spAutoFit/>
          </a:bodyPr>
          <a:lstStyle/>
          <a:p>
            <a:pPr algn="l">
              <a:lnSpc>
                <a:spcPct val="105000"/>
              </a:lnSpc>
            </a:pPr>
            <a:r>
              <a:rPr sz="1700" b="1" i="0">
                <a:solidFill>
                  <a:srgbClr val="1F2430"/>
                </a:solidFill>
                <a:latin typeface="PT Sans"/>
              </a:rPr>
              <a:t>Ар бир жупта:</a:t>
            </a:r>
          </a:p>
          <a:p>
            <a:pPr algn="l">
              <a:lnSpc>
                <a:spcPct val="105000"/>
              </a:lnSpc>
            </a:pPr>
            <a:r>
              <a:rPr sz="1400" b="0" i="0">
                <a:solidFill>
                  <a:srgbClr val="1F2430"/>
                </a:solidFill>
                <a:latin typeface="PT Sans"/>
              </a:rPr>
              <a:t>• кагаз разряд таблицасы</a:t>
            </a:r>
          </a:p>
          <a:p>
            <a:pPr algn="l">
              <a:lnSpc>
                <a:spcPct val="105000"/>
              </a:lnSpc>
            </a:pPr>
            <a:r>
              <a:rPr sz="1400" b="0" i="0">
                <a:solidFill>
                  <a:srgbClr val="1F2430"/>
                </a:solidFill>
                <a:latin typeface="PT Sans"/>
              </a:rPr>
              <a:t>• 20–25 капкак же таш, буурчак</a:t>
            </a:r>
          </a:p>
          <a:p>
            <a:pPr algn="l">
              <a:lnSpc>
                <a:spcPct val="105000"/>
              </a:lnSpc>
            </a:pPr>
            <a:r>
              <a:rPr sz="1400" b="0" i="0">
                <a:solidFill>
                  <a:srgbClr val="1F2430"/>
                </a:solidFill>
                <a:latin typeface="PT Sans"/>
              </a:rPr>
              <a:t>• 10 тыйындык тыйындар жана 1 сом (бар болсо)</a:t>
            </a:r>
          </a:p>
          <a:p>
            <a:pPr algn="l">
              <a:lnSpc>
                <a:spcPct val="105000"/>
              </a:lnSpc>
            </a:pPr>
            <a:r>
              <a:rPr sz="1400" b="0" i="0">
                <a:solidFill>
                  <a:srgbClr val="1F2430"/>
                </a:solidFill>
                <a:latin typeface="PT Sans"/>
              </a:rPr>
              <a:t>• чакмак дептер</a:t>
            </a:r>
          </a:p>
          <a:p>
            <a:pPr algn="l">
              <a:lnSpc>
                <a:spcPct val="105000"/>
              </a:lnSpc>
            </a:pPr>
            <a:r>
              <a:rPr sz="1500" b="1" i="0">
                <a:solidFill>
                  <a:srgbClr val="24418C"/>
                </a:solidFill>
                <a:latin typeface="PT Sans"/>
              </a:rPr>
              <a:t>10 ондон бир = 1 бирдик!</a:t>
            </a:r>
          </a:p>
        </p:txBody>
      </p:sp>
      <p:sp>
        <p:nvSpPr>
          <p:cNvPr id="105" name="Rounded Rectangle 104"/>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06" name="Rounded Rectangle 105"/>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07" name="Rounded Rectangle 106"/>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мамыча жана тилке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Ар бир цифра өз чакмагында, үтүр бир мамычада. Тилкеде: 12,6 жана 9,45 км, 25 кмге чейин калганы.</a:t>
            </a:r>
          </a:p>
        </p:txBody>
      </p:sp>
      <p:sp>
        <p:nvSpPr>
          <p:cNvPr id="12" name="Rectangle 11"/>
          <p:cNvSpPr/>
          <p:nvPr/>
        </p:nvSpPr>
        <p:spPr>
          <a:xfrm>
            <a:off x="73152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28016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2880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77439"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2608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8016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2880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39"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2608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8016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377439"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2608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8016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82880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377439"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2608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28800" y="2258568"/>
            <a:ext cx="548640" cy="548640"/>
          </a:xfrm>
          <a:prstGeom prst="rect">
            <a:avLst/>
          </a:prstGeom>
          <a:noFill/>
        </p:spPr>
        <p:txBody>
          <a:bodyPr wrap="square" anchor="ctr" lIns="45720" rIns="45720" tIns="27432" bIns="27432">
            <a:spAutoFit/>
          </a:bodyPr>
          <a:lstStyle/>
          <a:p>
            <a:pPr algn="ctr">
              <a:lnSpc>
                <a:spcPct val="105000"/>
              </a:lnSpc>
            </a:pPr>
            <a:r>
              <a:rPr sz="1600" b="1" i="0">
                <a:solidFill>
                  <a:srgbClr val="A84400"/>
                </a:solidFill>
                <a:latin typeface="PT Sans"/>
              </a:rPr>
              <a:t>1</a:t>
            </a:r>
          </a:p>
        </p:txBody>
      </p:sp>
      <p:sp>
        <p:nvSpPr>
          <p:cNvPr id="33" name="TextBox 32"/>
          <p:cNvSpPr txBox="1"/>
          <p:nvPr/>
        </p:nvSpPr>
        <p:spPr>
          <a:xfrm>
            <a:off x="128016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1</a:t>
            </a:r>
          </a:p>
        </p:txBody>
      </p:sp>
      <p:sp>
        <p:nvSpPr>
          <p:cNvPr id="34" name="TextBox 33"/>
          <p:cNvSpPr txBox="1"/>
          <p:nvPr/>
        </p:nvSpPr>
        <p:spPr>
          <a:xfrm>
            <a:off x="182880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2</a:t>
            </a:r>
          </a:p>
        </p:txBody>
      </p:sp>
      <p:sp>
        <p:nvSpPr>
          <p:cNvPr id="35" name="TextBox 34"/>
          <p:cNvSpPr txBox="1"/>
          <p:nvPr/>
        </p:nvSpPr>
        <p:spPr>
          <a:xfrm>
            <a:off x="2377439"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6</a:t>
            </a:r>
          </a:p>
        </p:txBody>
      </p:sp>
      <p:sp>
        <p:nvSpPr>
          <p:cNvPr id="36" name="TextBox 35"/>
          <p:cNvSpPr txBox="1"/>
          <p:nvPr/>
        </p:nvSpPr>
        <p:spPr>
          <a:xfrm>
            <a:off x="292608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4A5A70"/>
                </a:solidFill>
                <a:latin typeface="PT Sans"/>
              </a:rPr>
              <a:t>0</a:t>
            </a:r>
          </a:p>
        </p:txBody>
      </p:sp>
      <p:sp>
        <p:nvSpPr>
          <p:cNvPr id="37" name="TextBox 36"/>
          <p:cNvSpPr txBox="1"/>
          <p:nvPr/>
        </p:nvSpPr>
        <p:spPr>
          <a:xfrm>
            <a:off x="2194559" y="289864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38" name="TextBox 37"/>
          <p:cNvSpPr txBox="1"/>
          <p:nvPr/>
        </p:nvSpPr>
        <p:spPr>
          <a:xfrm>
            <a:off x="182880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9</a:t>
            </a:r>
          </a:p>
        </p:txBody>
      </p:sp>
      <p:sp>
        <p:nvSpPr>
          <p:cNvPr id="39" name="TextBox 38"/>
          <p:cNvSpPr txBox="1"/>
          <p:nvPr/>
        </p:nvSpPr>
        <p:spPr>
          <a:xfrm>
            <a:off x="2377439"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4</a:t>
            </a:r>
          </a:p>
        </p:txBody>
      </p:sp>
      <p:sp>
        <p:nvSpPr>
          <p:cNvPr id="40" name="TextBox 39"/>
          <p:cNvSpPr txBox="1"/>
          <p:nvPr/>
        </p:nvSpPr>
        <p:spPr>
          <a:xfrm>
            <a:off x="292608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5</a:t>
            </a:r>
          </a:p>
        </p:txBody>
      </p:sp>
      <p:sp>
        <p:nvSpPr>
          <p:cNvPr id="41" name="TextBox 40"/>
          <p:cNvSpPr txBox="1"/>
          <p:nvPr/>
        </p:nvSpPr>
        <p:spPr>
          <a:xfrm>
            <a:off x="2194559" y="344728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42" name="TextBox 41"/>
          <p:cNvSpPr txBox="1"/>
          <p:nvPr/>
        </p:nvSpPr>
        <p:spPr>
          <a:xfrm>
            <a:off x="128016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2</a:t>
            </a:r>
          </a:p>
        </p:txBody>
      </p:sp>
      <p:sp>
        <p:nvSpPr>
          <p:cNvPr id="43" name="TextBox 42"/>
          <p:cNvSpPr txBox="1"/>
          <p:nvPr/>
        </p:nvSpPr>
        <p:spPr>
          <a:xfrm>
            <a:off x="182880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2</a:t>
            </a:r>
          </a:p>
        </p:txBody>
      </p:sp>
      <p:sp>
        <p:nvSpPr>
          <p:cNvPr id="44" name="TextBox 43"/>
          <p:cNvSpPr txBox="1"/>
          <p:nvPr/>
        </p:nvSpPr>
        <p:spPr>
          <a:xfrm>
            <a:off x="2377439"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0</a:t>
            </a:r>
          </a:p>
        </p:txBody>
      </p:sp>
      <p:sp>
        <p:nvSpPr>
          <p:cNvPr id="45" name="TextBox 44"/>
          <p:cNvSpPr txBox="1"/>
          <p:nvPr/>
        </p:nvSpPr>
        <p:spPr>
          <a:xfrm>
            <a:off x="292608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5</a:t>
            </a:r>
          </a:p>
        </p:txBody>
      </p:sp>
      <p:sp>
        <p:nvSpPr>
          <p:cNvPr id="46" name="TextBox 45"/>
          <p:cNvSpPr txBox="1"/>
          <p:nvPr/>
        </p:nvSpPr>
        <p:spPr>
          <a:xfrm>
            <a:off x="2194559" y="399592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47" name="TextBox 46"/>
          <p:cNvSpPr txBox="1"/>
          <p:nvPr/>
        </p:nvSpPr>
        <p:spPr>
          <a:xfrm>
            <a:off x="73152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D3557"/>
                </a:solidFill>
                <a:latin typeface="PT Sans"/>
              </a:rPr>
              <a:t>+</a:t>
            </a:r>
          </a:p>
        </p:txBody>
      </p:sp>
      <p:cxnSp>
        <p:nvCxnSpPr>
          <p:cNvPr id="48" name="Connector 47"/>
          <p:cNvCxnSpPr/>
          <p:nvPr/>
        </p:nvCxnSpPr>
        <p:spPr>
          <a:xfrm>
            <a:off x="777240" y="3886200"/>
            <a:ext cx="2651760" cy="0"/>
          </a:xfrm>
          <a:prstGeom prst="line">
            <a:avLst/>
          </a:prstGeom>
          <a:ln w="31750">
            <a:solidFill>
              <a:srgbClr val="1D355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3611879" y="2834640"/>
            <a:ext cx="1737360" cy="457200"/>
          </a:xfrm>
          <a:prstGeom prst="rect">
            <a:avLst/>
          </a:prstGeom>
          <a:noFill/>
        </p:spPr>
        <p:txBody>
          <a:bodyPr wrap="square" anchor="t" lIns="45720" rIns="45720" tIns="27432" bIns="27432">
            <a:spAutoFit/>
          </a:bodyPr>
          <a:lstStyle/>
          <a:p>
            <a:pPr algn="l">
              <a:lnSpc>
                <a:spcPct val="105000"/>
              </a:lnSpc>
            </a:pPr>
            <a:r>
              <a:rPr sz="1300" b="1" i="0">
                <a:solidFill>
                  <a:srgbClr val="4A5A70"/>
                </a:solidFill>
                <a:latin typeface="PT Sans"/>
              </a:rPr>
              <a:t>← нөл коштук</a:t>
            </a:r>
          </a:p>
        </p:txBody>
      </p:sp>
      <p:sp>
        <p:nvSpPr>
          <p:cNvPr id="50" name="TextBox 49"/>
          <p:cNvSpPr txBox="1"/>
          <p:nvPr/>
        </p:nvSpPr>
        <p:spPr>
          <a:xfrm>
            <a:off x="3611879" y="2286000"/>
            <a:ext cx="1737360" cy="457200"/>
          </a:xfrm>
          <a:prstGeom prst="rect">
            <a:avLst/>
          </a:prstGeom>
          <a:noFill/>
        </p:spPr>
        <p:txBody>
          <a:bodyPr wrap="square" anchor="t" lIns="45720" rIns="45720" tIns="27432" bIns="27432">
            <a:spAutoFit/>
          </a:bodyPr>
          <a:lstStyle/>
          <a:p>
            <a:pPr algn="l">
              <a:lnSpc>
                <a:spcPct val="105000"/>
              </a:lnSpc>
            </a:pPr>
            <a:r>
              <a:rPr sz="1300" b="1" i="0">
                <a:solidFill>
                  <a:srgbClr val="A84400"/>
                </a:solidFill>
                <a:latin typeface="PT Sans"/>
              </a:rPr>
              <a:t>← алмаштыруу</a:t>
            </a:r>
          </a:p>
        </p:txBody>
      </p:sp>
      <p:sp>
        <p:nvSpPr>
          <p:cNvPr id="51" name="TextBox 50"/>
          <p:cNvSpPr txBox="1"/>
          <p:nvPr/>
        </p:nvSpPr>
        <p:spPr>
          <a:xfrm>
            <a:off x="640080" y="4526279"/>
            <a:ext cx="4389120" cy="640080"/>
          </a:xfrm>
          <a:prstGeom prst="rect">
            <a:avLst/>
          </a:prstGeom>
          <a:noFill/>
        </p:spPr>
        <p:txBody>
          <a:bodyPr wrap="square" anchor="t" lIns="45720" rIns="45720" tIns="27432" bIns="27432">
            <a:spAutoFit/>
          </a:bodyPr>
          <a:lstStyle/>
          <a:p>
            <a:pPr algn="l">
              <a:lnSpc>
                <a:spcPct val="105000"/>
              </a:lnSpc>
            </a:pPr>
            <a:r>
              <a:rPr sz="1300" b="0" i="1">
                <a:solidFill>
                  <a:srgbClr val="4A5A70"/>
                </a:solidFill>
                <a:latin typeface="PT Sans"/>
              </a:rPr>
              <a:t>Үтүр бир сызыкта: бирдик бирдиктин, ондон бир ондон бирдин астында.</a:t>
            </a:r>
          </a:p>
        </p:txBody>
      </p:sp>
      <p:sp>
        <p:nvSpPr>
          <p:cNvPr id="52" name="Rectangle 51"/>
          <p:cNvSpPr/>
          <p:nvPr/>
        </p:nvSpPr>
        <p:spPr>
          <a:xfrm>
            <a:off x="5120640" y="2926080"/>
            <a:ext cx="31799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12,6 км</a:t>
            </a:r>
          </a:p>
        </p:txBody>
      </p:sp>
      <p:sp>
        <p:nvSpPr>
          <p:cNvPr id="53" name="Rectangle 52"/>
          <p:cNvSpPr/>
          <p:nvPr/>
        </p:nvSpPr>
        <p:spPr>
          <a:xfrm>
            <a:off x="8300557" y="2926080"/>
            <a:ext cx="238493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9,45 км</a:t>
            </a:r>
          </a:p>
        </p:txBody>
      </p:sp>
      <p:sp>
        <p:nvSpPr>
          <p:cNvPr id="54" name="Rectangle 53"/>
          <p:cNvSpPr/>
          <p:nvPr/>
        </p:nvSpPr>
        <p:spPr>
          <a:xfrm>
            <a:off x="10685495" y="2926080"/>
            <a:ext cx="744504"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6B7280"/>
                </a:solidFill>
                <a:latin typeface="PT Sans"/>
              </a:rPr>
              <a:t>?</a:t>
            </a:r>
          </a:p>
        </p:txBody>
      </p:sp>
      <p:cxnSp>
        <p:nvCxnSpPr>
          <p:cNvPr id="55" name="Connector 54"/>
          <p:cNvCxnSpPr/>
          <p:nvPr/>
        </p:nvCxnSpPr>
        <p:spPr>
          <a:xfrm>
            <a:off x="5029200" y="3977639"/>
            <a:ext cx="6537960" cy="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120640"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754879"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0</a:t>
            </a:r>
          </a:p>
        </p:txBody>
      </p:sp>
      <p:cxnSp>
        <p:nvCxnSpPr>
          <p:cNvPr id="58" name="Connector 57"/>
          <p:cNvCxnSpPr/>
          <p:nvPr/>
        </p:nvCxnSpPr>
        <p:spPr>
          <a:xfrm>
            <a:off x="5373014"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625388"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877763"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130137"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382512"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016751"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5</a:t>
            </a:r>
          </a:p>
        </p:txBody>
      </p:sp>
      <p:cxnSp>
        <p:nvCxnSpPr>
          <p:cNvPr id="64" name="Connector 63"/>
          <p:cNvCxnSpPr/>
          <p:nvPr/>
        </p:nvCxnSpPr>
        <p:spPr>
          <a:xfrm>
            <a:off x="6634886"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887260"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39635"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392009"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644383"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278623"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10</a:t>
            </a:r>
          </a:p>
        </p:txBody>
      </p:sp>
      <p:cxnSp>
        <p:nvCxnSpPr>
          <p:cNvPr id="70" name="Connector 69"/>
          <p:cNvCxnSpPr/>
          <p:nvPr/>
        </p:nvCxnSpPr>
        <p:spPr>
          <a:xfrm>
            <a:off x="7896758"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149132"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401507"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653881"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906256"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540496"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15</a:t>
            </a:r>
          </a:p>
        </p:txBody>
      </p:sp>
      <p:cxnSp>
        <p:nvCxnSpPr>
          <p:cNvPr id="76" name="Connector 75"/>
          <p:cNvCxnSpPr/>
          <p:nvPr/>
        </p:nvCxnSpPr>
        <p:spPr>
          <a:xfrm>
            <a:off x="9158630"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411004"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663379"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915753"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168128"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9802368"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20</a:t>
            </a:r>
          </a:p>
        </p:txBody>
      </p:sp>
      <p:cxnSp>
        <p:nvCxnSpPr>
          <p:cNvPr id="82" name="Connector 81"/>
          <p:cNvCxnSpPr/>
          <p:nvPr/>
        </p:nvCxnSpPr>
        <p:spPr>
          <a:xfrm>
            <a:off x="10420502"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672876"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925251"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177625"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1430000"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11064240"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25</a:t>
            </a:r>
          </a:p>
        </p:txBody>
      </p:sp>
      <p:cxnSp>
        <p:nvCxnSpPr>
          <p:cNvPr id="88" name="Connector 87"/>
          <p:cNvCxnSpPr/>
          <p:nvPr/>
        </p:nvCxnSpPr>
        <p:spPr>
          <a:xfrm>
            <a:off x="8300557" y="3474720"/>
            <a:ext cx="0" cy="502919"/>
          </a:xfrm>
          <a:prstGeom prst="line">
            <a:avLst/>
          </a:prstGeom>
          <a:ln w="15875">
            <a:solidFill>
              <a:srgbClr val="007A5A"/>
            </a:solidFill>
            <a:prstDash val="dash"/>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685495" y="3474720"/>
            <a:ext cx="0" cy="502919"/>
          </a:xfrm>
          <a:prstGeom prst="line">
            <a:avLst/>
          </a:prstGeom>
          <a:ln w="15875">
            <a:solidFill>
              <a:srgbClr val="24418C"/>
            </a:solidFill>
            <a:prstDash val="dash"/>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120640" y="4480559"/>
            <a:ext cx="6309360" cy="41148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Баалоо: 13 + 9 = 22;   25 − 22 = 3.   Так: 22,05 жана 2,95.</a:t>
            </a:r>
          </a:p>
        </p:txBody>
      </p:sp>
      <p:sp>
        <p:nvSpPr>
          <p:cNvPr id="91" name="TextBox 90"/>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12,60 + 9,45 = 22,05;      25,00 − 22,05 = 2,95</a:t>
            </a:r>
          </a:p>
        </p:txBody>
      </p:sp>
      <p:sp>
        <p:nvSpPr>
          <p:cNvPr id="92" name="Rounded Rectangle 91"/>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93" name="Rounded Rectangle 92"/>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94" name="Rounded Rectangle 9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95" name="Rounded Rectangle 94"/>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Баала</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13 + 9 ≈ 22</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12,60</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Үтүр астында</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Нөл кош: 12,6 = 12,60; 7 = 7,00</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10 → 1</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Оңдон эсепте</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10 ондон бир = 1 бирдик</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Текшер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Жооп баалоого жакынбы?</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12,60 + 9,45 = 22,05       (баалоо: 22 ✓)</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Рекорд 25 км. Эмил менен Асел 22,05 км жүрүштү. Рекордго дагы канча км калды?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25 − 22 = 3</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баалоо</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25,00 − 22,05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нөл коштук</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2,95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алмаштырдык</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2,95 + 22,05 = 25 ✓</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Калды = </a:t>
            </a:r>
            <a:r>
              <a:rPr sz="3400" b="1">
                <a:solidFill>
                  <a:srgbClr val="24418C"/>
                </a:solidFill>
                <a:latin typeface="PT Sans"/>
              </a:rPr>
              <a:t>2,95 км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Асел 100 сом берип, 45,50 сомго суу жана 38,20 сомго печенье алды. Канча кайтарым алды?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100 − 46 − 38 = 16</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баалоо</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45,50 + 38,20 = 83,70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сатып алды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100,00 − 83,70 = 16,30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кайтарым</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16,30 ≈ 16 ✓</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Кайтарым = </a:t>
            </a:r>
            <a:r>
              <a:rPr sz="3400" b="1">
                <a:solidFill>
                  <a:srgbClr val="24418C"/>
                </a:solidFill>
                <a:latin typeface="PT Sans"/>
              </a:rPr>
              <a:t>16,30 сом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Толуктап сана</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5 − 1,25 = ?</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1,25 → 2: + 0,75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 5: + 3</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3,75</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Кемитүүнү кошуу менен: кичине сандан чоңуна чейин сана.</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Акча менен ойлон</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45,50 + 38,20</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45 + 38 = 83 сом</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+ 20 = 70 т.</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83,70 сом</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Сомду сом менен, тыйынды тыйын менен кош.</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Баала, анан текшер</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12,6 + 9,45</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13 + 9 = 22</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так: 22,05</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22,05 ≈ 22 ✓</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Жооп баалоодон алыс болсо, кайра эсепте.</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Эмил 12,6 км, анан 9,45 км тепти. Бардыгы канча км?   12,6 + 9,45 = ?</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21,51</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22,05</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10,71</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21,05</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Эмил эртең менен 3,5 км, кечинде 2,8 км велосипед тепти. Бардыгы канча км тепти?</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Асел 12,6 км, Эмил 9,45 км тепти. Асел канча км көп тепти? Тилкесин чий.</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Жол 25 км. Биринчи саатта 8,75 км, экинчи саатта 9,5 км жүрүштү. Дагы канча км калды?</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Эмил эртең менен 3,5 км, кечинде 2,8 км велосипед тепти. Бардыгы канча км тепти?</a:t>
            </a:r>
          </a:p>
        </p:txBody>
      </p:sp>
      <p:sp>
        <p:nvSpPr>
          <p:cNvPr id="13" name="Rectangle 12"/>
          <p:cNvSpPr/>
          <p:nvPr/>
        </p:nvSpPr>
        <p:spPr>
          <a:xfrm>
            <a:off x="566928" y="3017520"/>
            <a:ext cx="13021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4" name="Rectangle 13"/>
          <p:cNvSpPr/>
          <p:nvPr/>
        </p:nvSpPr>
        <p:spPr>
          <a:xfrm>
            <a:off x="1869101" y="3017520"/>
            <a:ext cx="104173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2,8</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6,3</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3,5 + 2,8 = 6,3 км</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Асел 12,6 км, Эмил 9,45 км тепти. Асел канча км көп тепти? Тилкесин чий.</a:t>
            </a:r>
          </a:p>
        </p:txBody>
      </p:sp>
      <p:sp>
        <p:nvSpPr>
          <p:cNvPr id="23" name="TextBox 22"/>
          <p:cNvSpPr txBox="1"/>
          <p:nvPr/>
        </p:nvSpPr>
        <p:spPr>
          <a:xfrm>
            <a:off x="4419600"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Асел</a:t>
            </a:r>
          </a:p>
        </p:txBody>
      </p:sp>
      <p:sp>
        <p:nvSpPr>
          <p:cNvPr id="24" name="Rectangle 23"/>
          <p:cNvSpPr/>
          <p:nvPr/>
        </p:nvSpPr>
        <p:spPr>
          <a:xfrm>
            <a:off x="5882640" y="3017520"/>
            <a:ext cx="66414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9,45</a:t>
            </a:r>
          </a:p>
        </p:txBody>
      </p:sp>
      <p:sp>
        <p:nvSpPr>
          <p:cNvPr id="25" name="Rectangle 24"/>
          <p:cNvSpPr/>
          <p:nvPr/>
        </p:nvSpPr>
        <p:spPr>
          <a:xfrm>
            <a:off x="6546789" y="3017520"/>
            <a:ext cx="216722"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a:t>
            </a:r>
          </a:p>
        </p:txBody>
      </p:sp>
      <p:sp>
        <p:nvSpPr>
          <p:cNvPr id="26" name="TextBox 25"/>
          <p:cNvSpPr txBox="1"/>
          <p:nvPr/>
        </p:nvSpPr>
        <p:spPr>
          <a:xfrm>
            <a:off x="4419600"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Эмил</a:t>
            </a:r>
          </a:p>
        </p:txBody>
      </p:sp>
      <p:sp>
        <p:nvSpPr>
          <p:cNvPr id="27" name="Rectangle 26"/>
          <p:cNvSpPr/>
          <p:nvPr/>
        </p:nvSpPr>
        <p:spPr>
          <a:xfrm>
            <a:off x="5882640" y="3574389"/>
            <a:ext cx="66414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9,45</a:t>
            </a:r>
          </a:p>
        </p:txBody>
      </p:sp>
      <p:sp>
        <p:nvSpPr>
          <p:cNvPr id="28" name="TextBox 27"/>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12,60 − 9,45 = 3,15 км</a:t>
            </a:r>
          </a:p>
        </p:txBody>
      </p:sp>
      <p:sp>
        <p:nvSpPr>
          <p:cNvPr id="29" name="Rounded Rectangle 28"/>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1" name="TextBox 30"/>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Жол 25 км. Биринчи саатта 8,75 км, экинчи саатта 9,5 км жүрүштү. Дагы канча км калды?</a:t>
            </a:r>
          </a:p>
        </p:txBody>
      </p:sp>
      <p:sp>
        <p:nvSpPr>
          <p:cNvPr id="32" name="Rectangle 31"/>
          <p:cNvSpPr/>
          <p:nvPr/>
        </p:nvSpPr>
        <p:spPr>
          <a:xfrm>
            <a:off x="8272272" y="3017520"/>
            <a:ext cx="8203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8,75</a:t>
            </a:r>
          </a:p>
        </p:txBody>
      </p:sp>
      <p:sp>
        <p:nvSpPr>
          <p:cNvPr id="33" name="Rectangle 32"/>
          <p:cNvSpPr/>
          <p:nvPr/>
        </p:nvSpPr>
        <p:spPr>
          <a:xfrm>
            <a:off x="9092641" y="3017520"/>
            <a:ext cx="89068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9,5</a:t>
            </a:r>
          </a:p>
        </p:txBody>
      </p:sp>
      <p:sp>
        <p:nvSpPr>
          <p:cNvPr id="34" name="Rectangle 33"/>
          <p:cNvSpPr/>
          <p:nvPr/>
        </p:nvSpPr>
        <p:spPr>
          <a:xfrm>
            <a:off x="9983327" y="3017520"/>
            <a:ext cx="632856"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5" name="Connector 34"/>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25</a:t>
            </a:r>
          </a:p>
        </p:txBody>
      </p:sp>
      <p:sp>
        <p:nvSpPr>
          <p:cNvPr id="39" name="TextBox 38"/>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25 − 18,25 = 6,75 км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Кош: 3,6 + 4,8</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Кемит: 9,25 − 3,5</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Кош: 6 + 2,07</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Кемит: 8 − 2,35</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2,4 м + 85 см = ? 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сом − 27,50 сом</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Кош: 3,6 + 4,8</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8,4</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Кемит: 9,25 − 3,5</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5,75</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Кош: 6 + 2,07</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8,07</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Кемит: 8 − 2,35</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5,65</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2,4 м + 85 см = ? 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3,25 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 сом − 27,50 сом</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22,50 сом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Ким туура? Адегенде баала: болжол менен канча км? Рекордго (25 км) дагы канча км калды?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382511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12,6</a:t>
            </a:r>
          </a:p>
        </p:txBody>
      </p:sp>
      <p:sp>
        <p:nvSpPr>
          <p:cNvPr id="14" name="Rectangle 13"/>
          <p:cNvSpPr/>
          <p:nvPr/>
        </p:nvSpPr>
        <p:spPr>
          <a:xfrm>
            <a:off x="6202558" y="2240280"/>
            <a:ext cx="28840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9,45</a:t>
            </a:r>
          </a:p>
        </p:txBody>
      </p:sp>
      <p:sp>
        <p:nvSpPr>
          <p:cNvPr id="15" name="Rectangle 14"/>
          <p:cNvSpPr/>
          <p:nvPr/>
        </p:nvSpPr>
        <p:spPr>
          <a:xfrm>
            <a:off x="9086575" y="2240280"/>
            <a:ext cx="880384"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25</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 13 + 9 = 22</a:t>
            </a:r>
          </a:p>
        </p:txBody>
      </p:sp>
      <p:sp>
        <p:nvSpPr>
          <p:cNvPr id="21" name="TextBox 20"/>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баалоо</a:t>
            </a:r>
          </a:p>
        </p:txBody>
      </p:sp>
      <p:sp>
        <p:nvSpPr>
          <p:cNvPr id="22" name="TextBox 21"/>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12,60 + 9,45 = 22,05</a:t>
            </a:r>
          </a:p>
        </p:txBody>
      </p:sp>
      <p:sp>
        <p:nvSpPr>
          <p:cNvPr id="23" name="TextBox 22"/>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жүрдүк</a:t>
            </a:r>
          </a:p>
        </p:txBody>
      </p:sp>
      <p:sp>
        <p:nvSpPr>
          <p:cNvPr id="24" name="TextBox 23"/>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25,00 − 22,05 = 2,95</a:t>
            </a:r>
          </a:p>
        </p:txBody>
      </p:sp>
      <p:sp>
        <p:nvSpPr>
          <p:cNvPr id="25" name="TextBox 24"/>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калды</a:t>
            </a:r>
          </a:p>
        </p:txBody>
      </p:sp>
      <p:sp>
        <p:nvSpPr>
          <p:cNvPr id="26" name="Rounded Rectangle 25"/>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Эмил туура: 22,05 км. Рекордго 2,95 км калды.</a:t>
            </a:r>
          </a:p>
        </p:txBody>
      </p:sp>
      <p:sp>
        <p:nvSpPr>
          <p:cNvPr id="27" name="Rounded Rectangle 26"/>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Велосипед сапары жөнүндө маселе түз: эки жол бөлүгү (км) же эки сатып алуу (сом). Адегенде баала.</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Эмил, Асел, Бакыт байке, Жаңыл, Тилек.</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Кош: 4,6 + 3,75</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Кемит: 7 − 2,4</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Асел 50 сом берип, 18,50 сомго суу алды. Канча кайтарым алды?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үтүрдү үтүрдүн астына жазабыз?</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7 − 2,4 эсептегенде 7ни кантип жазасың? Эмне үчүн?</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Баалоо жообуңду текшерүүгө кантип жардам берди?</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сабакта разряд таблицасын жана капкактарды колдонууну сунуштайм: алмаштырууну окуучу өзү жасасын (М2, М3, М4).</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эсептен мурун баалоону жаздырам: «болжол менен канча?» (М1).</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Бүтүн санды «7,00» деп жаздырып, анан кемиттирем (М5).</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Акча маселелерин чыныгы тыйындар (10, 50 тыйын, 1 сом) менен ойнотом; м/см ди таблицада (М6).</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