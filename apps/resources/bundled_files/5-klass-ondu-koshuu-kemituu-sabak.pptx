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аталышы жана бүгүнкү окуя.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жолу: ар бир бөлүк өз слайды менен ачылат.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Окуяны окуп берем. Окуучулар болжолдошсун: 10,71 км туура болушу мүмкүнбү? Бир эле 12,6 км 10,71ден узун! Жоопту сабактын аягында (22-слайд) текшеребиз. Проектор жок болсо, эки санды доскага жазам.</a:t>
            </a:r>
          </a:p>
          <a:p>
            <a:r>
              <a:t>3C (Байланыштыруу): Окуя турмуштан: бул суроого сабактын аягында кайтабыз.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Ой жүгүртүү маданияты (Wenxi Lee,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Ийгилик критерийлери: сабактын аягында ар бирине ✓ коёбуз.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Спираль: тема класстан класска тереңдейт.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Мини-тактага жазышат.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Жоопту дароо айтпайбыз. Жупта талкуулашат. Жооп: Эмил: 22,05 км (Асел – М1; баалоо ≈ 22).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жупка: кагазга чийилген разряд таблицасы (бирдик | ондон бир | жүздөн бир), 20–25 бөтөлкө капкагы (же таш, буурчак) жана бар болсо 10 тыйындык тыйындар. 3,7ни (3 капкак жана 7 капкак) жана 2,5ти коюшат, анан ондон бирлерди бириктиришет: 12 капкак. 10 капкакты алып, бирдиктер мамычасына 1 капкак коюшат: 6,2. Тыйындар менен ошол эле: 10 он тыйын = 1 сом. Проектор жок болсо, таблицаны доскага чийем.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Чакмак дептерде ар бир цифрага бир чакмак берем, үтүр чакмактын сызыгында. 12,6 нын аягына нөл кошобуз (боз түстө): 12,60. Оңдон баштайбыз: 0 + 5 = 5; 6 + 4 = 10 ондон бир, 0 жазып, бирдиктердин үстүнө «1». Тилке сан огунун үстүндө: баалоо 13 + 9 = 22 жана калганы 3 кмге жакын.</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Кошууда да, кемитүүдө да төрт кадам. Үтүрдү үтүрдүн астына жазабыз, ошондо бирдик бирдиктин, ондон бир ондон бирдин астында турат (М1). Бош орунга нөл кошобуз (М5). Оңдон баштайбыз жана керек болсо алмаштырабыз (М2, М3, М4). Жоопту баалоо менен салыштырабыз.</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ыкманы окуучу үн чыгарып айтат: «1,25тен 2ге чейин 0,75, 2ден 5ке чейин 3». «Оозеки беш мүнөт» (класста колдонуу картасы) эки апта ушул ыкмаларды кайталайт.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Баары бир убакта манжа менен көрсөтөт (1–4). Туура эмес жооптун коду: А = М2; Б = ✓; В = М1; Г = М3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деңгээл: бөлүк + бөлүк → айырма → көп кадам. Жооптор: 3,5 + 2,8 = 6,3 км; 12,60 − 9,45 = 3,15 км; 25 − 18,25 = 6,75 км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Жеңилден баштап, мүмкүн болушунча алдыга.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Адегенде баалайбыз: 12,6 ≈ 13, 9,45 ≈ 9, демек ≈ 22 км. Асел акыркы цифраларды тууралап жазды (М1): 126 + 945. Үтүрдү үтүрдүн астына жазып, нөл кошобуз: 12,60 + 9,45 = 22,05. Ондон бирлер: 6 + 4 = 10 ондон бир = 1 бирдик (алмаштыруу). Рекорд: 25 = 25,00; 25,00 − 22,05 = 2,95 км. Текшерүү: 22,05 + 2,95 = 25.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Блум: Түзүү. Жупта алмашып, бири-биринин маселесин чыгарышат.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Жооптор: 8,35; 4,6; 31,50 сом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Бул слайд окуучуларга көрсөтүлбөйт.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3" name="TextBox 2"/>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1/26</a:t>
            </a:r>
          </a:p>
        </p:txBody>
      </p:sp>
      <p:sp>
        <p:nvSpPr>
          <p:cNvPr id="4" name="Rounded Rectangle 3"/>
          <p:cNvSpPr/>
          <p:nvPr/>
        </p:nvSpPr>
        <p:spPr>
          <a:xfrm>
            <a:off x="822960" y="1371600"/>
            <a:ext cx="164592" cy="128016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371600"/>
            <a:ext cx="164592" cy="128016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71600" y="1371600"/>
            <a:ext cx="164592" cy="128016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188720"/>
            <a:ext cx="9601200" cy="548640"/>
          </a:xfrm>
          <a:prstGeom prst="rect">
            <a:avLst/>
          </a:prstGeom>
          <a:noFill/>
        </p:spPr>
        <p:txBody>
          <a:bodyPr wrap="square" anchor="t" lIns="45720" rIns="45720" tIns="27432" bIns="27432">
            <a:spAutoFit/>
          </a:bodyPr>
          <a:lstStyle/>
          <a:p>
            <a:pPr algn="l">
              <a:lnSpc>
                <a:spcPct val="105000"/>
              </a:lnSpc>
            </a:pPr>
            <a:r>
              <a:rPr sz="2200" b="0" i="0">
                <a:solidFill>
                  <a:srgbClr val="4A5A70"/>
                </a:solidFill>
                <a:latin typeface="PT Sans"/>
              </a:rPr>
              <a:t/>
            </a:r>
          </a:p>
        </p:txBody>
      </p:sp>
      <p:sp>
        <p:nvSpPr>
          <p:cNvPr id="8" name="TextBox 7"/>
          <p:cNvSpPr txBox="1"/>
          <p:nvPr/>
        </p:nvSpPr>
        <p:spPr>
          <a:xfrm>
            <a:off x="1828800" y="1691640"/>
            <a:ext cx="9601200" cy="1737360"/>
          </a:xfrm>
          <a:prstGeom prst="rect">
            <a:avLst/>
          </a:prstGeom>
          <a:noFill/>
        </p:spPr>
        <p:txBody>
          <a:bodyPr wrap="square" anchor="t" lIns="45720" rIns="45720" tIns="27432" bIns="27432">
            <a:spAutoFit/>
          </a:bodyPr>
          <a:lstStyle/>
          <a:p>
            <a:pPr algn="l">
              <a:lnSpc>
                <a:spcPct val="105000"/>
              </a:lnSpc>
            </a:pPr>
            <a:r>
              <a:rPr sz="4000" b="1" i="0">
                <a:solidFill>
                  <a:srgbClr val="1D3557"/>
                </a:solidFill>
                <a:latin typeface="PT Sans"/>
              </a:rPr>
              <a:t>Ондук бөлчөктөрдү кошуу жана кемитүү</a:t>
            </a:r>
          </a:p>
        </p:txBody>
      </p:sp>
      <p:sp>
        <p:nvSpPr>
          <p:cNvPr id="9" name="Rounded Rectangle 8"/>
          <p:cNvSpPr/>
          <p:nvPr/>
        </p:nvSpPr>
        <p:spPr>
          <a:xfrm>
            <a:off x="1828800" y="3611880"/>
            <a:ext cx="8778240" cy="1463040"/>
          </a:xfrm>
          <a:prstGeom prst="roundRect">
            <a:avLst>
              <a:gd name="adj" fmla="val 12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0"/>
            <a:ext cx="8321040" cy="457200"/>
          </a:xfrm>
          <a:prstGeom prst="rect">
            <a:avLst/>
          </a:prstGeom>
          <a:noFill/>
        </p:spPr>
        <p:txBody>
          <a:bodyPr wrap="square" anchor="t" lIns="45720" rIns="45720" tIns="27432" bIns="27432">
            <a:spAutoFit/>
          </a:bodyPr>
          <a:lstStyle/>
          <a:p>
            <a:pPr algn="l">
              <a:lnSpc>
                <a:spcPct val="105000"/>
              </a:lnSpc>
            </a:pPr>
            <a:r>
              <a:rPr sz="2400" b="1" i="0">
                <a:solidFill>
                  <a:srgbClr val="A84400"/>
                </a:solidFill>
                <a:latin typeface="PT Sans"/>
              </a:rPr>
              <a:t>Бүгүнкү окуя: Ысык-Атага велосипед сапары</a:t>
            </a:r>
          </a:p>
        </p:txBody>
      </p:sp>
      <p:sp>
        <p:nvSpPr>
          <p:cNvPr id="11" name="TextBox 10"/>
          <p:cNvSpPr txBox="1"/>
          <p:nvPr/>
        </p:nvSpPr>
        <p:spPr>
          <a:xfrm>
            <a:off x="2057400" y="4160520"/>
            <a:ext cx="8321040" cy="914400"/>
          </a:xfrm>
          <a:prstGeom prst="rect">
            <a:avLst/>
          </a:prstGeom>
          <a:noFill/>
        </p:spPr>
        <p:txBody>
          <a:bodyPr wrap="square" anchor="t" lIns="45720" rIns="45720" tIns="27432" bIns="27432">
            <a:spAutoFit/>
          </a:bodyPr>
          <a:lstStyle/>
          <a:p>
            <a:pPr algn="l">
              <a:lnSpc>
                <a:spcPct val="105000"/>
              </a:lnSpc>
            </a:pPr>
            <a:r>
              <a:rPr sz="1900" b="0" i="0">
                <a:solidFill>
                  <a:srgbClr val="1F2430"/>
                </a:solidFill>
                <a:latin typeface="PT Sans"/>
              </a:rPr>
              <a:t>Эмил, Асел жана Бакыт байке Канттан Ысык-Ата шаркыратмасына велосипед менен барышат. Жолдун узундугу ондук бөлчөк.</a:t>
            </a:r>
          </a:p>
        </p:txBody>
      </p:sp>
      <p:sp>
        <p:nvSpPr>
          <p:cNvPr id="12" name="TextBox 11"/>
          <p:cNvSpPr txBox="1"/>
          <p:nvPr/>
        </p:nvSpPr>
        <p:spPr>
          <a:xfrm>
            <a:off x="1828800" y="5349240"/>
            <a:ext cx="9601200" cy="457200"/>
          </a:xfrm>
          <a:prstGeom prst="rect">
            <a:avLst/>
          </a:prstGeom>
          <a:noFill/>
        </p:spPr>
        <p:txBody>
          <a:bodyPr wrap="square" anchor="t" lIns="45720" rIns="45720" tIns="27432" bIns="27432">
            <a:spAutoFit/>
          </a:bodyPr>
          <a:lstStyle/>
          <a:p>
            <a:pPr algn="l">
              <a:lnSpc>
                <a:spcPct val="105000"/>
              </a:lnSpc>
            </a:pPr>
            <a:r>
              <a:rPr sz="1300" b="0" i="1">
                <a:solidFill>
                  <a:srgbClr val="6B7280"/>
                </a:solidFill>
                <a:latin typeface="PT Sans"/>
              </a:rPr>
              <a:t>Китеп: Математика стандарты (2018), 5-класс: ондук бөлчөктөр менен амалдар. Кыргызча окуу китеби папкада жок; мазмуну толук жаңы.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Сабактын мазмуну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2/26</a:t>
            </a:r>
          </a:p>
        </p:txBody>
      </p:sp>
      <p:sp>
        <p:nvSpPr>
          <p:cNvPr id="10" name="Rounded Rectangle 9"/>
          <p:cNvSpPr/>
          <p:nvPr/>
        </p:nvSpPr>
        <p:spPr>
          <a:xfrm>
            <a:off x="429768" y="1280160"/>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1463039"/>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80160" y="1280160"/>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Кириш</a:t>
            </a:r>
          </a:p>
        </p:txBody>
      </p:sp>
      <p:sp>
        <p:nvSpPr>
          <p:cNvPr id="13" name="TextBox 12"/>
          <p:cNvSpPr txBox="1"/>
          <p:nvPr/>
        </p:nvSpPr>
        <p:spPr>
          <a:xfrm>
            <a:off x="4480560" y="1280160"/>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 эрежелер, максаттар</a:t>
            </a:r>
          </a:p>
        </p:txBody>
      </p:sp>
      <p:sp>
        <p:nvSpPr>
          <p:cNvPr id="14" name="Rounded Rectangle 13"/>
          <p:cNvSpPr/>
          <p:nvPr/>
        </p:nvSpPr>
        <p:spPr>
          <a:xfrm>
            <a:off x="429768" y="2212848"/>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395728"/>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80160" y="2212848"/>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Даярдык</a:t>
            </a:r>
          </a:p>
        </p:txBody>
      </p:sp>
      <p:sp>
        <p:nvSpPr>
          <p:cNvPr id="17" name="TextBox 16"/>
          <p:cNvSpPr txBox="1"/>
          <p:nvPr/>
        </p:nvSpPr>
        <p:spPr>
          <a:xfrm>
            <a:off x="4480560" y="2212848"/>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Эстейбиз, «Ким туура?»</a:t>
            </a:r>
          </a:p>
        </p:txBody>
      </p:sp>
      <p:sp>
        <p:nvSpPr>
          <p:cNvPr id="18" name="Rounded Rectangle 17"/>
          <p:cNvSpPr/>
          <p:nvPr/>
        </p:nvSpPr>
        <p:spPr>
          <a:xfrm>
            <a:off x="429768" y="3145536"/>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3328416"/>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0" name="TextBox 19"/>
          <p:cNvSpPr txBox="1"/>
          <p:nvPr/>
        </p:nvSpPr>
        <p:spPr>
          <a:xfrm>
            <a:off x="1280160" y="3145536"/>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Түшүнөбүз</a:t>
            </a:r>
          </a:p>
        </p:txBody>
      </p:sp>
      <p:sp>
        <p:nvSpPr>
          <p:cNvPr id="21" name="TextBox 20"/>
          <p:cNvSpPr txBox="1"/>
          <p:nvPr/>
        </p:nvSpPr>
        <p:spPr>
          <a:xfrm>
            <a:off x="4480560" y="3145536"/>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К → С → А: буюм, тилке, эреже</a:t>
            </a:r>
          </a:p>
        </p:txBody>
      </p:sp>
      <p:sp>
        <p:nvSpPr>
          <p:cNvPr id="22" name="Rounded Rectangle 21"/>
          <p:cNvSpPr/>
          <p:nvPr/>
        </p:nvSpPr>
        <p:spPr>
          <a:xfrm>
            <a:off x="429768" y="4078224"/>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426110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4" name="TextBox 23"/>
          <p:cNvSpPr txBox="1"/>
          <p:nvPr/>
        </p:nvSpPr>
        <p:spPr>
          <a:xfrm>
            <a:off x="1280160" y="4078224"/>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Машыгабыз</a:t>
            </a:r>
          </a:p>
        </p:txBody>
      </p:sp>
      <p:sp>
        <p:nvSpPr>
          <p:cNvPr id="25" name="TextBox 24"/>
          <p:cNvSpPr txBox="1"/>
          <p:nvPr/>
        </p:nvSpPr>
        <p:spPr>
          <a:xfrm>
            <a:off x="4480560" y="4078224"/>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Чечүүчү суроо, тилке, өз алдынча иш</a:t>
            </a:r>
          </a:p>
        </p:txBody>
      </p:sp>
      <p:sp>
        <p:nvSpPr>
          <p:cNvPr id="26" name="Rounded Rectangle 25"/>
          <p:cNvSpPr/>
          <p:nvPr/>
        </p:nvSpPr>
        <p:spPr>
          <a:xfrm>
            <a:off x="429768" y="5010912"/>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193792"/>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8" name="TextBox 27"/>
          <p:cNvSpPr txBox="1"/>
          <p:nvPr/>
        </p:nvSpPr>
        <p:spPr>
          <a:xfrm>
            <a:off x="1280160" y="5010912"/>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Жыйынтык</a:t>
            </a:r>
          </a:p>
        </p:txBody>
      </p:sp>
      <p:sp>
        <p:nvSpPr>
          <p:cNvPr id="29" name="TextBox 28"/>
          <p:cNvSpPr txBox="1"/>
          <p:nvPr/>
        </p:nvSpPr>
        <p:spPr>
          <a:xfrm>
            <a:off x="4480560" y="5010912"/>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Окуяга кайтуу, түзүү, чыгуу билети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 Ысык-Атага велосипед сапары</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3/26</a:t>
            </a:r>
          </a:p>
        </p:txBody>
      </p:sp>
      <p:sp>
        <p:nvSpPr>
          <p:cNvPr id="10" name="Rounded Rectangle 9"/>
          <p:cNvSpPr/>
          <p:nvPr/>
        </p:nvSpPr>
        <p:spPr>
          <a:xfrm>
            <a:off x="429768" y="1225296"/>
            <a:ext cx="6766560" cy="45720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25880"/>
            <a:ext cx="6217920" cy="4389120"/>
          </a:xfrm>
          <a:prstGeom prst="rect">
            <a:avLst/>
          </a:prstGeom>
          <a:noFill/>
        </p:spPr>
        <p:txBody>
          <a:bodyPr wrap="square" anchor="t" lIns="45720" rIns="45720" tIns="27432" bIns="27432">
            <a:spAutoFit/>
          </a:bodyPr>
          <a:lstStyle/>
          <a:p>
            <a:pPr algn="l">
              <a:lnSpc>
                <a:spcPct val="105000"/>
              </a:lnSpc>
            </a:pPr>
            <a:r>
              <a:rPr sz="2100" b="0" i="0">
                <a:solidFill>
                  <a:srgbClr val="1F2430"/>
                </a:solidFill>
                <a:latin typeface="PT Sans"/>
              </a:rPr>
              <a:t>Жайкы эс алууда Эмил, Асел жана Бакыт байке Канттан Ысык-Ата шаркыратмасына велосипед менен жөнөштү.</a:t>
            </a:r>
          </a:p>
          <a:p>
            <a:pPr algn="l">
              <a:lnSpc>
                <a:spcPct val="105000"/>
              </a:lnSpc>
              <a:spcBef>
                <a:spcPts val="800"/>
              </a:spcBef>
            </a:pPr>
            <a:r>
              <a:rPr sz="2100" b="0" i="0">
                <a:solidFill>
                  <a:srgbClr val="1F2430"/>
                </a:solidFill>
                <a:latin typeface="PT Sans"/>
              </a:rPr>
              <a:t>Велосипеддин эсептегичи: Канттан Ысык-Ата айылына 12,6 км, айылдан шаркыратмага 9,45 км.</a:t>
            </a:r>
          </a:p>
          <a:p>
            <a:pPr algn="l">
              <a:lnSpc>
                <a:spcPct val="105000"/>
              </a:lnSpc>
              <a:spcBef>
                <a:spcPts val="800"/>
              </a:spcBef>
            </a:pPr>
            <a:r>
              <a:rPr sz="2100" b="0" i="0">
                <a:solidFill>
                  <a:srgbClr val="1F2430"/>
                </a:solidFill>
                <a:latin typeface="PT Sans"/>
              </a:rPr>
              <a:t>Асел эсептеди: «Бардыгы 10,71 км!» Эмил: «Жок, 22,05 км».</a:t>
            </a:r>
          </a:p>
          <a:p>
            <a:pPr algn="l">
              <a:lnSpc>
                <a:spcPct val="105000"/>
              </a:lnSpc>
              <a:spcBef>
                <a:spcPts val="800"/>
              </a:spcBef>
            </a:pPr>
            <a:r>
              <a:rPr sz="2100" b="0" i="0">
                <a:solidFill>
                  <a:srgbClr val="1F2430"/>
                </a:solidFill>
                <a:latin typeface="PT Sans"/>
              </a:rPr>
              <a:t>Бакыт байке: «Бүгүн 25 км тепсек, бул биздин рекорд!»</a:t>
            </a:r>
          </a:p>
        </p:txBody>
      </p:sp>
      <p:sp>
        <p:nvSpPr>
          <p:cNvPr id="12" name="Rounded Rectangle 11"/>
          <p:cNvSpPr/>
          <p:nvPr/>
        </p:nvSpPr>
        <p:spPr>
          <a:xfrm>
            <a:off x="7406640" y="1225296"/>
            <a:ext cx="4352544" cy="45720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325880"/>
            <a:ext cx="3931920" cy="457200"/>
          </a:xfrm>
          <a:prstGeom prst="rect">
            <a:avLst/>
          </a:prstGeom>
          <a:noFill/>
        </p:spPr>
        <p:txBody>
          <a:bodyPr wrap="square" anchor="t" lIns="45720" rIns="45720" tIns="27432" bIns="27432">
            <a:spAutoFit/>
          </a:bodyPr>
          <a:lstStyle/>
          <a:p>
            <a:pPr algn="l">
              <a:lnSpc>
                <a:spcPct val="105000"/>
              </a:lnSpc>
            </a:pPr>
            <a:r>
              <a:rPr sz="2200" b="1" i="0">
                <a:solidFill>
                  <a:srgbClr val="A84400"/>
                </a:solidFill>
                <a:latin typeface="PT Sans"/>
              </a:rPr>
              <a:t>Суроо</a:t>
            </a:r>
          </a:p>
        </p:txBody>
      </p:sp>
      <p:sp>
        <p:nvSpPr>
          <p:cNvPr id="14" name="TextBox 13"/>
          <p:cNvSpPr txBox="1"/>
          <p:nvPr/>
        </p:nvSpPr>
        <p:spPr>
          <a:xfrm>
            <a:off x="7635240" y="1828800"/>
            <a:ext cx="3931920" cy="2743200"/>
          </a:xfrm>
          <a:prstGeom prst="rect">
            <a:avLst/>
          </a:prstGeom>
          <a:noFill/>
        </p:spPr>
        <p:txBody>
          <a:bodyPr wrap="square" anchor="t" lIns="45720" rIns="45720" tIns="27432" bIns="27432">
            <a:spAutoFit/>
          </a:bodyPr>
          <a:lstStyle/>
          <a:p>
            <a:pPr algn="l">
              <a:lnSpc>
                <a:spcPct val="105000"/>
              </a:lnSpc>
            </a:pPr>
            <a:r>
              <a:rPr sz="2200" b="1" i="0">
                <a:solidFill>
                  <a:srgbClr val="1F2430"/>
                </a:solidFill>
                <a:latin typeface="PT Sans"/>
              </a:rPr>
              <a:t>Ким туура? Адегенде баала: болжол менен канча км? Рекордго (25 км) дагы канча км калды?</a:t>
            </a:r>
          </a:p>
        </p:txBody>
      </p:sp>
      <p:sp>
        <p:nvSpPr>
          <p:cNvPr id="15" name="TextBox 14"/>
          <p:cNvSpPr txBox="1"/>
          <p:nvPr/>
        </p:nvSpPr>
        <p:spPr>
          <a:xfrm>
            <a:off x="7635240" y="4572000"/>
            <a:ext cx="3931920" cy="1097280"/>
          </a:xfrm>
          <a:prstGeom prst="rect">
            <a:avLst/>
          </a:prstGeom>
          <a:noFill/>
        </p:spPr>
        <p:txBody>
          <a:bodyPr wrap="square" anchor="t" lIns="45720" rIns="45720" tIns="27432" bIns="27432">
            <a:spAutoFit/>
          </a:bodyPr>
          <a:lstStyle/>
          <a:p>
            <a:pPr algn="l">
              <a:lnSpc>
                <a:spcPct val="105000"/>
              </a:lnSpc>
            </a:pPr>
            <a:r>
              <a:rPr sz="1700" b="0" i="1">
                <a:solidFill>
                  <a:srgbClr val="6B7280"/>
                </a:solidFill>
                <a:latin typeface="PT Sans"/>
              </a:rPr>
              <a:t>Азыр жообун айтпайбыз. Ойлон: кантип билебиз?</a:t>
            </a:r>
          </a:p>
        </p:txBody>
      </p:sp>
      <p:sp>
        <p:nvSpPr>
          <p:cNvPr id="16" name="Rounded Rectangle 1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Математикада биз…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4/26</a:t>
            </a:r>
          </a:p>
        </p:txBody>
      </p:sp>
      <p:sp>
        <p:nvSpPr>
          <p:cNvPr id="10" name="Rounded Rectangle 9"/>
          <p:cNvSpPr/>
          <p:nvPr/>
        </p:nvSpPr>
        <p:spPr>
          <a:xfrm>
            <a:off x="429768"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600200"/>
            <a:ext cx="3166872" cy="1463040"/>
          </a:xfrm>
          <a:prstGeom prst="roundRect">
            <a:avLst>
              <a:gd name="adj" fmla="val 15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Ката – үйрөнүүнүн бир бөлүгү</a:t>
            </a:r>
          </a:p>
        </p:txBody>
      </p:sp>
      <p:sp>
        <p:nvSpPr>
          <p:cNvPr id="12" name="TextBox 11"/>
          <p:cNvSpPr txBox="1"/>
          <p:nvPr/>
        </p:nvSpPr>
        <p:spPr>
          <a:xfrm>
            <a:off x="658368"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Ката кетсе, эмне үчүн кеткенин издейбиз.</a:t>
            </a:r>
          </a:p>
        </p:txBody>
      </p:sp>
      <p:sp>
        <p:nvSpPr>
          <p:cNvPr id="13" name="Rounded Rectangle 12"/>
          <p:cNvSpPr/>
          <p:nvPr/>
        </p:nvSpPr>
        <p:spPr>
          <a:xfrm>
            <a:off x="4282439"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1039" y="1600200"/>
            <a:ext cx="3166872" cy="1463040"/>
          </a:xfrm>
          <a:prstGeom prst="roundRect">
            <a:avLst>
              <a:gd name="adj" fmla="val 15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«Азырынча билбейм»</a:t>
            </a:r>
          </a:p>
        </p:txBody>
      </p:sp>
      <p:sp>
        <p:nvSpPr>
          <p:cNvPr id="15" name="TextBox 14"/>
          <p:cNvSpPr txBox="1"/>
          <p:nvPr/>
        </p:nvSpPr>
        <p:spPr>
          <a:xfrm>
            <a:off x="4511039"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«Билбейм» эмес, «азырынча». Машыксак, үйрөнөбүз.</a:t>
            </a:r>
          </a:p>
        </p:txBody>
      </p:sp>
      <p:sp>
        <p:nvSpPr>
          <p:cNvPr id="16" name="Rounded Rectangle 15"/>
          <p:cNvSpPr/>
          <p:nvPr/>
        </p:nvSpPr>
        <p:spPr>
          <a:xfrm>
            <a:off x="8135112"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63712" y="1600200"/>
            <a:ext cx="3166872" cy="1463040"/>
          </a:xfrm>
          <a:prstGeom prst="roundRect">
            <a:avLst>
              <a:gd name="adj" fmla="val 15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Адегенде түшүн, анан эсепте</a:t>
            </a:r>
          </a:p>
        </p:txBody>
      </p:sp>
      <p:sp>
        <p:nvSpPr>
          <p:cNvPr id="18" name="TextBox 17"/>
          <p:cNvSpPr txBox="1"/>
          <p:nvPr/>
        </p:nvSpPr>
        <p:spPr>
          <a:xfrm>
            <a:off x="8363712"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Сүрөт же тилке чийип, анан сан менен жазабыз.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Максаттар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5/26</a:t>
            </a:r>
          </a:p>
        </p:txBody>
      </p:sp>
      <p:sp>
        <p:nvSpPr>
          <p:cNvPr id="10" name="Rounded Rectangle 9"/>
          <p:cNvSpPr/>
          <p:nvPr/>
        </p:nvSpPr>
        <p:spPr>
          <a:xfrm>
            <a:off x="429768" y="1225296"/>
            <a:ext cx="6409944"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429768" y="1865376"/>
            <a:ext cx="6409944"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 y="1225296"/>
            <a:ext cx="6044184"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Бүгүн биз үйрөнөбүз</a:t>
            </a:r>
          </a:p>
        </p:txBody>
      </p:sp>
      <p:sp>
        <p:nvSpPr>
          <p:cNvPr id="13" name="Oval 12"/>
          <p:cNvSpPr/>
          <p:nvPr/>
        </p:nvSpPr>
        <p:spPr>
          <a:xfrm>
            <a:off x="722376" y="21488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4" name="TextBox 13"/>
          <p:cNvSpPr txBox="1"/>
          <p:nvPr/>
        </p:nvSpPr>
        <p:spPr>
          <a:xfrm>
            <a:off x="1261872" y="211226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Ондук бөлчөктөрдү үтүрдү үтүрдүн астына жазып кошом жана кемитем.</a:t>
            </a:r>
          </a:p>
        </p:txBody>
      </p:sp>
      <p:sp>
        <p:nvSpPr>
          <p:cNvPr id="15" name="Oval 14"/>
          <p:cNvSpPr/>
          <p:nvPr/>
        </p:nvSpPr>
        <p:spPr>
          <a:xfrm>
            <a:off x="722376" y="342900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61872" y="339242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Бүтүн сан менен ондук бөлчөктү кошом жана кемитем: нөл кошом, разрядды алмаштырам.</a:t>
            </a:r>
          </a:p>
        </p:txBody>
      </p:sp>
      <p:sp>
        <p:nvSpPr>
          <p:cNvPr id="17" name="Oval 16"/>
          <p:cNvSpPr/>
          <p:nvPr/>
        </p:nvSpPr>
        <p:spPr>
          <a:xfrm>
            <a:off x="722376" y="470916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8" name="TextBox 17"/>
          <p:cNvSpPr txBox="1"/>
          <p:nvPr/>
        </p:nvSpPr>
        <p:spPr>
          <a:xfrm>
            <a:off x="1261872" y="467258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Адегенде баалайм, анан эсептейм жана жообумду текшерем (акча, узундук).</a:t>
            </a:r>
          </a:p>
        </p:txBody>
      </p:sp>
      <p:sp>
        <p:nvSpPr>
          <p:cNvPr id="19" name="Rounded Rectangle 18"/>
          <p:cNvSpPr/>
          <p:nvPr/>
        </p:nvSpPr>
        <p:spPr>
          <a:xfrm>
            <a:off x="7132320" y="1225296"/>
            <a:ext cx="4636008"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7132320" y="1865376"/>
            <a:ext cx="46360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6056" y="1225296"/>
            <a:ext cx="4270248"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Деңгээлдер</a:t>
            </a:r>
          </a:p>
        </p:txBody>
      </p:sp>
      <p:sp>
        <p:nvSpPr>
          <p:cNvPr id="22" name="Rounded Rectangle 21"/>
          <p:cNvSpPr/>
          <p:nvPr/>
        </p:nvSpPr>
        <p:spPr>
          <a:xfrm>
            <a:off x="7360920" y="2103120"/>
            <a:ext cx="1143000" cy="731520"/>
          </a:xfrm>
          <a:prstGeom prst="roundRect">
            <a:avLst>
              <a:gd name="adj" fmla="val 20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007A5A"/>
                </a:solidFill>
                <a:latin typeface="PT Sans"/>
              </a:rPr>
              <a:t>Жеңил</a:t>
            </a:r>
          </a:p>
        </p:txBody>
      </p:sp>
      <p:sp>
        <p:nvSpPr>
          <p:cNvPr id="23" name="TextBox 22"/>
          <p:cNvSpPr txBox="1"/>
          <p:nvPr/>
        </p:nvSpPr>
        <p:spPr>
          <a:xfrm>
            <a:off x="8641080" y="2057400"/>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1 орундуу ондуктар</a:t>
            </a:r>
          </a:p>
        </p:txBody>
      </p:sp>
      <p:sp>
        <p:nvSpPr>
          <p:cNvPr id="24" name="Rounded Rectangle 23"/>
          <p:cNvSpPr/>
          <p:nvPr/>
        </p:nvSpPr>
        <p:spPr>
          <a:xfrm>
            <a:off x="7360920" y="3127248"/>
            <a:ext cx="1143000" cy="731520"/>
          </a:xfrm>
          <a:prstGeom prst="roundRect">
            <a:avLst>
              <a:gd name="adj" fmla="val 20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Орто</a:t>
            </a:r>
          </a:p>
        </p:txBody>
      </p:sp>
      <p:sp>
        <p:nvSpPr>
          <p:cNvPr id="25" name="TextBox 24"/>
          <p:cNvSpPr txBox="1"/>
          <p:nvPr/>
        </p:nvSpPr>
        <p:spPr>
          <a:xfrm>
            <a:off x="8641080" y="3081528"/>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2 орундуу, бүтүн сандар</a:t>
            </a:r>
          </a:p>
        </p:txBody>
      </p:sp>
      <p:sp>
        <p:nvSpPr>
          <p:cNvPr id="26" name="Rounded Rectangle 25"/>
          <p:cNvSpPr/>
          <p:nvPr/>
        </p:nvSpPr>
        <p:spPr>
          <a:xfrm>
            <a:off x="7360920" y="4151376"/>
            <a:ext cx="1143000" cy="731520"/>
          </a:xfrm>
          <a:prstGeom prst="roundRect">
            <a:avLst>
              <a:gd name="adj" fmla="val 20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4A5A70"/>
                </a:solidFill>
                <a:latin typeface="PT Sans"/>
              </a:rPr>
              <a:t>Оор</a:t>
            </a:r>
          </a:p>
        </p:txBody>
      </p:sp>
      <p:sp>
        <p:nvSpPr>
          <p:cNvPr id="27" name="TextBox 26"/>
          <p:cNvSpPr txBox="1"/>
          <p:nvPr/>
        </p:nvSpPr>
        <p:spPr>
          <a:xfrm>
            <a:off x="8641080" y="4105656"/>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6B7280"/>
                </a:solidFill>
                <a:latin typeface="PT Sans"/>
              </a:rPr>
              <a:t>Алмаштыруу, маселелер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3C: бүгүн кантип ойлонобуз?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6/26</a:t>
            </a:r>
          </a:p>
        </p:txBody>
      </p:sp>
      <p:sp>
        <p:nvSpPr>
          <p:cNvPr id="10" name="Rounded Rectangle 9"/>
          <p:cNvSpPr/>
          <p:nvPr/>
        </p:nvSpPr>
        <p:spPr>
          <a:xfrm>
            <a:off x="429768"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4088" y="1463040"/>
            <a:ext cx="3044952" cy="64008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Сынчыл ой</a:t>
            </a:r>
          </a:p>
        </p:txBody>
      </p:sp>
      <p:sp>
        <p:nvSpPr>
          <p:cNvPr id="12" name="TextBox 11"/>
          <p:cNvSpPr txBox="1"/>
          <p:nvPr/>
        </p:nvSpPr>
        <p:spPr>
          <a:xfrm>
            <a:off x="658368"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Текшеребиз, далилдейбиз, катаны издейбиз.</a:t>
            </a:r>
          </a:p>
        </p:txBody>
      </p:sp>
      <p:cxnSp>
        <p:nvCxnSpPr>
          <p:cNvPr id="13" name="Connector 12"/>
          <p:cNvCxnSpPr/>
          <p:nvPr/>
        </p:nvCxnSpPr>
        <p:spPr>
          <a:xfrm>
            <a:off x="704088"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15" name="TextBox 14"/>
          <p:cNvSpPr txBox="1"/>
          <p:nvPr/>
        </p:nvSpPr>
        <p:spPr>
          <a:xfrm>
            <a:off x="658368"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«Ким туура?»</a:t>
            </a:r>
          </a:p>
          <a:p>
            <a:pPr algn="l">
              <a:lnSpc>
                <a:spcPct val="105000"/>
              </a:lnSpc>
            </a:pPr>
            <a:r>
              <a:rPr sz="1800" b="0" i="0">
                <a:solidFill>
                  <a:srgbClr val="1F2430"/>
                </a:solidFill>
                <a:latin typeface="PT Sans"/>
              </a:rPr>
              <a:t>• Катаны тап</a:t>
            </a:r>
          </a:p>
        </p:txBody>
      </p:sp>
      <p:sp>
        <p:nvSpPr>
          <p:cNvPr id="16" name="Rounded Rectangle 15"/>
          <p:cNvSpPr/>
          <p:nvPr/>
        </p:nvSpPr>
        <p:spPr>
          <a:xfrm>
            <a:off x="4297680"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1463040"/>
            <a:ext cx="3044952" cy="64008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Кызматташуу</a:t>
            </a:r>
          </a:p>
        </p:txBody>
      </p:sp>
      <p:sp>
        <p:nvSpPr>
          <p:cNvPr id="18" name="TextBox 17"/>
          <p:cNvSpPr txBox="1"/>
          <p:nvPr/>
        </p:nvSpPr>
        <p:spPr>
          <a:xfrm>
            <a:off x="4526280"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Жупта жана топто сүйлөшөбүз.</a:t>
            </a:r>
          </a:p>
        </p:txBody>
      </p:sp>
      <p:cxnSp>
        <p:nvCxnSpPr>
          <p:cNvPr id="19" name="Connector 18"/>
          <p:cNvCxnSpPr/>
          <p:nvPr/>
        </p:nvCxnSpPr>
        <p:spPr>
          <a:xfrm>
            <a:off x="4572000"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26280"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1" name="TextBox 20"/>
          <p:cNvSpPr txBox="1"/>
          <p:nvPr/>
        </p:nvSpPr>
        <p:spPr>
          <a:xfrm>
            <a:off x="4526280"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Жупта: капкактар, тыйындар</a:t>
            </a:r>
          </a:p>
        </p:txBody>
      </p:sp>
      <p:sp>
        <p:nvSpPr>
          <p:cNvPr id="22" name="Rounded Rectangle 21"/>
          <p:cNvSpPr/>
          <p:nvPr/>
        </p:nvSpPr>
        <p:spPr>
          <a:xfrm>
            <a:off x="8165592"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39912" y="1463040"/>
            <a:ext cx="3044952" cy="64008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Байланыштыруу</a:t>
            </a:r>
          </a:p>
        </p:txBody>
      </p:sp>
      <p:sp>
        <p:nvSpPr>
          <p:cNvPr id="24" name="TextBox 23"/>
          <p:cNvSpPr txBox="1"/>
          <p:nvPr/>
        </p:nvSpPr>
        <p:spPr>
          <a:xfrm>
            <a:off x="8394192"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Математиканы турмуш менен байланыштырабыз.</a:t>
            </a:r>
          </a:p>
        </p:txBody>
      </p:sp>
      <p:cxnSp>
        <p:nvCxnSpPr>
          <p:cNvPr id="25" name="Connector 24"/>
          <p:cNvCxnSpPr/>
          <p:nvPr/>
        </p:nvCxnSpPr>
        <p:spPr>
          <a:xfrm>
            <a:off x="8439912"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394192"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7" name="TextBox 26"/>
          <p:cNvSpPr txBox="1"/>
          <p:nvPr/>
        </p:nvSpPr>
        <p:spPr>
          <a:xfrm>
            <a:off x="8394192"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Велосипед сапары</a:t>
            </a:r>
          </a:p>
          <a:p>
            <a:pPr algn="l">
              <a:lnSpc>
                <a:spcPct val="105000"/>
              </a:lnSpc>
            </a:pPr>
            <a:r>
              <a:rPr sz="1800" b="0" i="0">
                <a:solidFill>
                  <a:srgbClr val="1F2430"/>
                </a:solidFill>
                <a:latin typeface="PT Sans"/>
              </a:rPr>
              <a:t>• Сом жана тыйын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Мурун – бүгүн – кийин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7/26</a:t>
            </a:r>
          </a:p>
        </p:txBody>
      </p:sp>
      <p:sp>
        <p:nvSpPr>
          <p:cNvPr id="10" name="Rounded Rectangle 9"/>
          <p:cNvSpPr/>
          <p:nvPr/>
        </p:nvSpPr>
        <p:spPr>
          <a:xfrm>
            <a:off x="429768" y="3017520"/>
            <a:ext cx="2660904" cy="27432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089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2" name="Connector 11"/>
          <p:cNvCxnSpPr/>
          <p:nvPr/>
        </p:nvCxnSpPr>
        <p:spPr>
          <a:xfrm>
            <a:off x="704088" y="3657600"/>
            <a:ext cx="2112264"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7" y="3749039"/>
            <a:ext cx="2295144" cy="19202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Мамыча менен кошуу, кемитүү</a:t>
            </a:r>
          </a:p>
          <a:p>
            <a:pPr algn="l">
              <a:lnSpc>
                <a:spcPct val="105000"/>
              </a:lnSpc>
              <a:spcBef>
                <a:spcPts val="400"/>
              </a:spcBef>
            </a:pPr>
            <a:r>
              <a:rPr sz="1500" b="0" i="0">
                <a:solidFill>
                  <a:srgbClr val="1F2430"/>
                </a:solidFill>
                <a:latin typeface="PT Sans"/>
              </a:rPr>
              <a:t>• Разрядды алмаштыруу</a:t>
            </a:r>
          </a:p>
        </p:txBody>
      </p:sp>
      <p:sp>
        <p:nvSpPr>
          <p:cNvPr id="14" name="Rounded Rectangle 13"/>
          <p:cNvSpPr/>
          <p:nvPr/>
        </p:nvSpPr>
        <p:spPr>
          <a:xfrm>
            <a:off x="3319272" y="2560320"/>
            <a:ext cx="2660904" cy="32004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6517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6" name="Connector 15"/>
          <p:cNvCxnSpPr/>
          <p:nvPr/>
        </p:nvCxnSpPr>
        <p:spPr>
          <a:xfrm>
            <a:off x="3593591" y="3200400"/>
            <a:ext cx="2112265"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02152" y="3291839"/>
            <a:ext cx="2295144" cy="23774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Ондук бөлчөк: разряд</a:t>
            </a:r>
          </a:p>
          <a:p>
            <a:pPr algn="l">
              <a:lnSpc>
                <a:spcPct val="105000"/>
              </a:lnSpc>
              <a:spcBef>
                <a:spcPts val="400"/>
              </a:spcBef>
            </a:pPr>
            <a:r>
              <a:rPr sz="1500" b="0" i="0">
                <a:solidFill>
                  <a:srgbClr val="1F2430"/>
                </a:solidFill>
                <a:latin typeface="PT Sans"/>
              </a:rPr>
              <a:t>• Салыштыруу, тегеректөө</a:t>
            </a:r>
          </a:p>
        </p:txBody>
      </p:sp>
      <p:sp>
        <p:nvSpPr>
          <p:cNvPr id="18" name="Rounded Rectangle 17"/>
          <p:cNvSpPr/>
          <p:nvPr/>
        </p:nvSpPr>
        <p:spPr>
          <a:xfrm>
            <a:off x="6208776" y="2103120"/>
            <a:ext cx="2660904" cy="36576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945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A84400"/>
                </a:solidFill>
                <a:latin typeface="PT Sans"/>
              </a:rPr>
              <a:t/>
            </a:r>
          </a:p>
        </p:txBody>
      </p:sp>
      <p:cxnSp>
        <p:nvCxnSpPr>
          <p:cNvPr id="20" name="Connector 19"/>
          <p:cNvCxnSpPr/>
          <p:nvPr/>
        </p:nvCxnSpPr>
        <p:spPr>
          <a:xfrm>
            <a:off x="6483096" y="2743200"/>
            <a:ext cx="2112263" cy="0"/>
          </a:xfrm>
          <a:prstGeom prst="line">
            <a:avLst/>
          </a:prstGeom>
          <a:ln w="12700">
            <a:solidFill>
              <a:srgbClr val="A844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91656" y="2834639"/>
            <a:ext cx="2295144" cy="28346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Ондуктарды кошуу, кемитүү</a:t>
            </a:r>
          </a:p>
          <a:p>
            <a:pPr algn="l">
              <a:lnSpc>
                <a:spcPct val="105000"/>
              </a:lnSpc>
              <a:spcBef>
                <a:spcPts val="400"/>
              </a:spcBef>
            </a:pPr>
            <a:r>
              <a:rPr sz="1500" b="0" i="0">
                <a:solidFill>
                  <a:srgbClr val="1F2430"/>
                </a:solidFill>
                <a:latin typeface="PT Sans"/>
              </a:rPr>
              <a:t>• Адегенде баалоо</a:t>
            </a:r>
          </a:p>
        </p:txBody>
      </p:sp>
      <p:sp>
        <p:nvSpPr>
          <p:cNvPr id="22" name="Rounded Rectangle 21"/>
          <p:cNvSpPr/>
          <p:nvPr/>
        </p:nvSpPr>
        <p:spPr>
          <a:xfrm>
            <a:off x="6807708" y="1600199"/>
            <a:ext cx="1463040" cy="384048"/>
          </a:xfrm>
          <a:prstGeom prst="roundRect">
            <a:avLst>
              <a:gd name="adj" fmla="val 50000"/>
            </a:avLst>
          </a:prstGeom>
          <a:no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Бүгүн</a:t>
            </a:r>
          </a:p>
        </p:txBody>
      </p:sp>
      <p:sp>
        <p:nvSpPr>
          <p:cNvPr id="23" name="Rounded Rectangle 22"/>
          <p:cNvSpPr/>
          <p:nvPr/>
        </p:nvSpPr>
        <p:spPr>
          <a:xfrm>
            <a:off x="9098280" y="1645919"/>
            <a:ext cx="2660904" cy="41148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17373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
            </a:r>
          </a:p>
        </p:txBody>
      </p:sp>
      <p:cxnSp>
        <p:nvCxnSpPr>
          <p:cNvPr id="25" name="Connector 24"/>
          <p:cNvCxnSpPr/>
          <p:nvPr/>
        </p:nvCxnSpPr>
        <p:spPr>
          <a:xfrm>
            <a:off x="9372600" y="2286000"/>
            <a:ext cx="2112264"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81160" y="2377439"/>
            <a:ext cx="2295144" cy="32918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Ондуктарды көбөйтүү, бөлүү</a:t>
            </a:r>
          </a:p>
          <a:p>
            <a:pPr algn="l">
              <a:lnSpc>
                <a:spcPct val="105000"/>
              </a:lnSpc>
              <a:spcBef>
                <a:spcPts val="400"/>
              </a:spcBef>
            </a:pPr>
            <a:r>
              <a:rPr sz="1500" b="0" i="0">
                <a:solidFill>
                  <a:srgbClr val="6B7280"/>
                </a:solidFill>
                <a:latin typeface="PT Sans"/>
              </a:rPr>
              <a:t>• Пайыз</a:t>
            </a:r>
          </a:p>
        </p:txBody>
      </p:sp>
      <p:sp>
        <p:nvSpPr>
          <p:cNvPr id="27" name="TextBox 26"/>
          <p:cNvSpPr txBox="1"/>
          <p:nvPr/>
        </p:nvSpPr>
        <p:spPr>
          <a:xfrm>
            <a:off x="429768" y="5806440"/>
            <a:ext cx="11329416" cy="365760"/>
          </a:xfrm>
          <a:prstGeom prst="rect">
            <a:avLst/>
          </a:prstGeom>
          <a:noFill/>
        </p:spPr>
        <p:txBody>
          <a:bodyPr wrap="square" anchor="t" lIns="45720" rIns="45720" tIns="27432" bIns="27432">
            <a:spAutoFit/>
          </a:bodyPr>
          <a:lstStyle/>
          <a:p>
            <a:pPr algn="ctr">
              <a:lnSpc>
                <a:spcPct val="105000"/>
              </a:lnSpc>
            </a:pPr>
            <a:r>
              <a:rPr sz="1800" b="0" i="1">
                <a:solidFill>
                  <a:srgbClr val="6B7280"/>
                </a:solidFill>
                <a:latin typeface="PT Sans"/>
              </a:rPr>
              <a:t>Ар бир класс мурункусунун үстүнө курулат.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эстейли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8/26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Мини-тактага жаз. 2 мүнөт.</a:t>
            </a:r>
          </a:p>
        </p:txBody>
      </p:sp>
      <p:sp>
        <p:nvSpPr>
          <p:cNvPr id="11" name="Rounded Rectangle 10"/>
          <p:cNvSpPr/>
          <p:nvPr/>
        </p:nvSpPr>
        <p:spPr>
          <a:xfrm>
            <a:off x="429768"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Мамыча менен: 476 + 358</a:t>
            </a:r>
          </a:p>
        </p:txBody>
      </p:sp>
      <p:sp>
        <p:nvSpPr>
          <p:cNvPr id="14" name="Rounded Rectangle 13"/>
          <p:cNvSpPr/>
          <p:nvPr/>
        </p:nvSpPr>
        <p:spPr>
          <a:xfrm>
            <a:off x="6208776"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Мамыча менен: 600 − 247</a:t>
            </a:r>
          </a:p>
        </p:txBody>
      </p:sp>
      <p:sp>
        <p:nvSpPr>
          <p:cNvPr id="17" name="Rounded Rectangle 16"/>
          <p:cNvSpPr/>
          <p:nvPr/>
        </p:nvSpPr>
        <p:spPr>
          <a:xfrm>
            <a:off x="429768"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0,7 = □ ондон бир;   3,5 = □ жүздөн бир</a:t>
            </a:r>
          </a:p>
        </p:txBody>
      </p:sp>
      <p:sp>
        <p:nvSpPr>
          <p:cNvPr id="20" name="Rounded Rectangle 19"/>
          <p:cNvSpPr/>
          <p:nvPr/>
        </p:nvSpPr>
        <p:spPr>
          <a:xfrm>
            <a:off x="6208776"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 сом = □ тыйын;   1 м = □ см</a:t>
            </a:r>
          </a:p>
        </p:txBody>
      </p:sp>
      <p:sp>
        <p:nvSpPr>
          <p:cNvPr id="23" name="Rounded Rectangle 2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24" name="Rounded Rectangle 2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25" name="Rounded Rectangle 2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9/26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Мамыча менен: 476 + 358</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834</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Мамыча менен: 600 − 247</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353</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0,7 = □ ондон бир;   3,5 = □ жүздөн бир</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7;  350</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 сом = □ тыйын;   1 м = □ см</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100;  100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Ким туура?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10/26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400" b="0" i="0">
                <a:solidFill>
                  <a:srgbClr val="1F2430"/>
                </a:solidFill>
                <a:latin typeface="PT Sans"/>
              </a:rPr>
              <a:t>Бакыт байке: «Жол 12,6 км жана 9,45 км. Бардыгы канча км?»</a:t>
            </a:r>
          </a:p>
        </p:txBody>
      </p:sp>
      <p:sp>
        <p:nvSpPr>
          <p:cNvPr id="12" name="Rounded Rectangle 11"/>
          <p:cNvSpPr/>
          <p:nvPr/>
        </p:nvSpPr>
        <p:spPr>
          <a:xfrm>
            <a:off x="429768"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429768"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Асел</a:t>
            </a:r>
          </a:p>
        </p:txBody>
      </p:sp>
      <p:sp>
        <p:nvSpPr>
          <p:cNvPr id="15" name="TextBox 14"/>
          <p:cNvSpPr txBox="1"/>
          <p:nvPr/>
        </p:nvSpPr>
        <p:spPr>
          <a:xfrm>
            <a:off x="704088"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Оң жактан тууралап жаздым</a:t>
            </a:r>
          </a:p>
          <a:p>
            <a:pPr algn="l">
              <a:lnSpc>
                <a:spcPct val="105000"/>
              </a:lnSpc>
            </a:pPr>
            <a:r>
              <a:rPr sz="2600" b="0" i="0">
                <a:solidFill>
                  <a:srgbClr val="1F2430"/>
                </a:solidFill>
                <a:latin typeface="PT Sans"/>
              </a:rPr>
              <a:t>126 + 945 = 1071</a:t>
            </a:r>
          </a:p>
          <a:p>
            <a:pPr algn="l">
              <a:lnSpc>
                <a:spcPct val="105000"/>
              </a:lnSpc>
            </a:pPr>
            <a:r>
              <a:rPr sz="2600" b="0" i="0">
                <a:solidFill>
                  <a:srgbClr val="1F2430"/>
                </a:solidFill>
                <a:latin typeface="PT Sans"/>
              </a:rPr>
              <a:t>10,71 км</a:t>
            </a:r>
          </a:p>
        </p:txBody>
      </p:sp>
      <p:sp>
        <p:nvSpPr>
          <p:cNvPr id="16" name="Rounded Rectangle 15"/>
          <p:cNvSpPr/>
          <p:nvPr/>
        </p:nvSpPr>
        <p:spPr>
          <a:xfrm>
            <a:off x="6208776"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208776"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08776"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Эмил</a:t>
            </a:r>
          </a:p>
        </p:txBody>
      </p:sp>
      <p:sp>
        <p:nvSpPr>
          <p:cNvPr id="19" name="TextBox 18"/>
          <p:cNvSpPr txBox="1"/>
          <p:nvPr/>
        </p:nvSpPr>
        <p:spPr>
          <a:xfrm>
            <a:off x="6483096"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Үтүр үтүрдүн астында</a:t>
            </a:r>
          </a:p>
          <a:p>
            <a:pPr algn="l">
              <a:lnSpc>
                <a:spcPct val="105000"/>
              </a:lnSpc>
            </a:pPr>
            <a:r>
              <a:rPr sz="2600" b="0" i="0">
                <a:solidFill>
                  <a:srgbClr val="1F2430"/>
                </a:solidFill>
                <a:latin typeface="PT Sans"/>
              </a:rPr>
              <a:t>12,60 + 9,45</a:t>
            </a:r>
          </a:p>
          <a:p>
            <a:pPr algn="l">
              <a:lnSpc>
                <a:spcPct val="105000"/>
              </a:lnSpc>
            </a:pPr>
            <a:r>
              <a:rPr sz="2600" b="0" i="0">
                <a:solidFill>
                  <a:srgbClr val="1F2430"/>
                </a:solidFill>
                <a:latin typeface="PT Sans"/>
              </a:rPr>
              <a:t>22,05 км</a:t>
            </a:r>
          </a:p>
        </p:txBody>
      </p:sp>
      <p:sp>
        <p:nvSpPr>
          <p:cNvPr id="20" name="TextBox 19"/>
          <p:cNvSpPr txBox="1"/>
          <p:nvPr/>
        </p:nvSpPr>
        <p:spPr>
          <a:xfrm>
            <a:off x="429768" y="5349240"/>
            <a:ext cx="11329416" cy="548640"/>
          </a:xfrm>
          <a:prstGeom prst="rect">
            <a:avLst/>
          </a:prstGeom>
          <a:noFill/>
        </p:spPr>
        <p:txBody>
          <a:bodyPr wrap="square" anchor="t" lIns="45720" rIns="45720" tIns="27432" bIns="27432">
            <a:spAutoFit/>
          </a:bodyPr>
          <a:lstStyle/>
          <a:p>
            <a:pPr algn="ctr">
              <a:lnSpc>
                <a:spcPct val="105000"/>
              </a:lnSpc>
            </a:pPr>
            <a:r>
              <a:rPr sz="2600" b="1" i="0">
                <a:solidFill>
                  <a:srgbClr val="A84400"/>
                </a:solidFill>
                <a:latin typeface="PT Sans"/>
              </a:rPr>
              <a:t>Ким туура? Адегенде баала: 13 + 9 ≈ ?</a:t>
            </a:r>
          </a:p>
        </p:txBody>
      </p:sp>
      <p:sp>
        <p:nvSpPr>
          <p:cNvPr id="21" name="Rounded Rectangle 20"/>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 буюм менен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11/26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Жупта: 3,7 + 2,5 ти разряд таблицасына капкак менен кой. 10 ондон бир = 1 бирдик: алмаштыр!</a:t>
            </a:r>
          </a:p>
        </p:txBody>
      </p:sp>
      <p:sp>
        <p:nvSpPr>
          <p:cNvPr id="12" name="TextBox 11"/>
          <p:cNvSpPr txBox="1"/>
          <p:nvPr/>
        </p:nvSpPr>
        <p:spPr>
          <a:xfrm>
            <a:off x="548640" y="2148840"/>
            <a:ext cx="512064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Разряд таблицасы жана капкактар</a:t>
            </a:r>
          </a:p>
        </p:txBody>
      </p:sp>
      <p:sp>
        <p:nvSpPr>
          <p:cNvPr id="13" name="Rectangle 12"/>
          <p:cNvSpPr/>
          <p:nvPr/>
        </p:nvSpPr>
        <p:spPr>
          <a:xfrm>
            <a:off x="1325880" y="2560320"/>
            <a:ext cx="1051560" cy="41148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Бирдик</a:t>
            </a:r>
          </a:p>
        </p:txBody>
      </p:sp>
      <p:sp>
        <p:nvSpPr>
          <p:cNvPr id="14" name="Rectangle 13"/>
          <p:cNvSpPr/>
          <p:nvPr/>
        </p:nvSpPr>
        <p:spPr>
          <a:xfrm>
            <a:off x="1325880" y="2971800"/>
            <a:ext cx="1051560" cy="658368"/>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325880" y="3630168"/>
            <a:ext cx="1051560" cy="658368"/>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325880" y="4288536"/>
            <a:ext cx="1051560" cy="658368"/>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33472" y="2560320"/>
            <a:ext cx="1051560" cy="41148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Ондон бир</a:t>
            </a:r>
          </a:p>
        </p:txBody>
      </p:sp>
      <p:sp>
        <p:nvSpPr>
          <p:cNvPr id="18" name="Rectangle 17"/>
          <p:cNvSpPr/>
          <p:nvPr/>
        </p:nvSpPr>
        <p:spPr>
          <a:xfrm>
            <a:off x="2633472" y="2971800"/>
            <a:ext cx="1051560" cy="658368"/>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633472" y="3630168"/>
            <a:ext cx="1051560" cy="658368"/>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633472" y="4288536"/>
            <a:ext cx="1051560" cy="658368"/>
          </a:xfrm>
          <a:prstGeom prst="rect">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2971800"/>
            <a:ext cx="704088" cy="658368"/>
          </a:xfrm>
          <a:prstGeom prst="rect">
            <a:avLst/>
          </a:prstGeom>
          <a:noFill/>
        </p:spPr>
        <p:txBody>
          <a:bodyPr wrap="square" anchor="ctr" lIns="45720" rIns="45720" tIns="27432" bIns="27432">
            <a:spAutoFit/>
          </a:bodyPr>
          <a:lstStyle/>
          <a:p>
            <a:pPr algn="r">
              <a:lnSpc>
                <a:spcPct val="105000"/>
              </a:lnSpc>
            </a:pPr>
            <a:r>
              <a:rPr sz="1300" b="1" i="0">
                <a:solidFill>
                  <a:srgbClr val="1D3557"/>
                </a:solidFill>
                <a:latin typeface="PT Sans"/>
              </a:rPr>
              <a:t>3,7</a:t>
            </a:r>
          </a:p>
        </p:txBody>
      </p:sp>
      <p:sp>
        <p:nvSpPr>
          <p:cNvPr id="22" name="Oval 21"/>
          <p:cNvSpPr/>
          <p:nvPr/>
        </p:nvSpPr>
        <p:spPr>
          <a:xfrm>
            <a:off x="1389888"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568196"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746504"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331720" y="2971800"/>
            <a:ext cx="347472" cy="658368"/>
          </a:xfrm>
          <a:prstGeom prst="rect">
            <a:avLst/>
          </a:prstGeom>
          <a:noFill/>
        </p:spPr>
        <p:txBody>
          <a:bodyPr wrap="square" anchor="ctr" lIns="45720" rIns="45720" tIns="27432" bIns="27432">
            <a:spAutoFit/>
          </a:bodyPr>
          <a:lstStyle/>
          <a:p>
            <a:pPr algn="ctr">
              <a:lnSpc>
                <a:spcPct val="105000"/>
              </a:lnSpc>
            </a:pPr>
            <a:r>
              <a:rPr sz="2400" b="1" i="0">
                <a:solidFill>
                  <a:srgbClr val="A84400"/>
                </a:solidFill>
                <a:latin typeface="PT Sans"/>
              </a:rPr>
              <a:t>,</a:t>
            </a:r>
          </a:p>
        </p:txBody>
      </p:sp>
      <p:sp>
        <p:nvSpPr>
          <p:cNvPr id="26" name="Oval 25"/>
          <p:cNvSpPr/>
          <p:nvPr/>
        </p:nvSpPr>
        <p:spPr>
          <a:xfrm>
            <a:off x="2697479"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875787"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054096"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232403"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410711"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2697479" y="321411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2875787" y="321411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630168"/>
            <a:ext cx="704088" cy="658368"/>
          </a:xfrm>
          <a:prstGeom prst="rect">
            <a:avLst/>
          </a:prstGeom>
          <a:noFill/>
        </p:spPr>
        <p:txBody>
          <a:bodyPr wrap="square" anchor="ctr" lIns="45720" rIns="45720" tIns="27432" bIns="27432">
            <a:spAutoFit/>
          </a:bodyPr>
          <a:lstStyle/>
          <a:p>
            <a:pPr algn="r">
              <a:lnSpc>
                <a:spcPct val="105000"/>
              </a:lnSpc>
            </a:pPr>
            <a:r>
              <a:rPr sz="1300" b="1" i="0">
                <a:solidFill>
                  <a:srgbClr val="1D3557"/>
                </a:solidFill>
                <a:latin typeface="PT Sans"/>
              </a:rPr>
              <a:t>+ 2,5</a:t>
            </a:r>
          </a:p>
        </p:txBody>
      </p:sp>
      <p:sp>
        <p:nvSpPr>
          <p:cNvPr id="34" name="Oval 33"/>
          <p:cNvSpPr/>
          <p:nvPr/>
        </p:nvSpPr>
        <p:spPr>
          <a:xfrm>
            <a:off x="1389888" y="369417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568196" y="369417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331720" y="3630168"/>
            <a:ext cx="347472" cy="658368"/>
          </a:xfrm>
          <a:prstGeom prst="rect">
            <a:avLst/>
          </a:prstGeom>
          <a:noFill/>
        </p:spPr>
        <p:txBody>
          <a:bodyPr wrap="square" anchor="ctr" lIns="45720" rIns="45720" tIns="27432" bIns="27432">
            <a:spAutoFit/>
          </a:bodyPr>
          <a:lstStyle/>
          <a:p>
            <a:pPr algn="ctr">
              <a:lnSpc>
                <a:spcPct val="105000"/>
              </a:lnSpc>
            </a:pPr>
            <a:r>
              <a:rPr sz="2400" b="1" i="0">
                <a:solidFill>
                  <a:srgbClr val="A84400"/>
                </a:solidFill>
                <a:latin typeface="PT Sans"/>
              </a:rPr>
              <a:t>,</a:t>
            </a:r>
          </a:p>
        </p:txBody>
      </p:sp>
      <p:sp>
        <p:nvSpPr>
          <p:cNvPr id="37" name="Oval 36"/>
          <p:cNvSpPr/>
          <p:nvPr/>
        </p:nvSpPr>
        <p:spPr>
          <a:xfrm>
            <a:off x="2697479" y="369417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75787" y="369417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54096" y="369417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32403" y="369417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410711" y="369417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288536"/>
            <a:ext cx="704088" cy="658368"/>
          </a:xfrm>
          <a:prstGeom prst="rect">
            <a:avLst/>
          </a:prstGeom>
          <a:noFill/>
        </p:spPr>
        <p:txBody>
          <a:bodyPr wrap="square" anchor="ctr" lIns="45720" rIns="45720" tIns="27432" bIns="27432">
            <a:spAutoFit/>
          </a:bodyPr>
          <a:lstStyle/>
          <a:p>
            <a:pPr algn="r">
              <a:lnSpc>
                <a:spcPct val="105000"/>
              </a:lnSpc>
            </a:pPr>
            <a:r>
              <a:rPr sz="1300" b="1" i="0">
                <a:solidFill>
                  <a:srgbClr val="1D3557"/>
                </a:solidFill>
                <a:latin typeface="PT Sans"/>
              </a:rPr>
              <a:t>Бирге</a:t>
            </a:r>
          </a:p>
        </p:txBody>
      </p:sp>
      <p:sp>
        <p:nvSpPr>
          <p:cNvPr id="43" name="Oval 42"/>
          <p:cNvSpPr/>
          <p:nvPr/>
        </p:nvSpPr>
        <p:spPr>
          <a:xfrm>
            <a:off x="1389888" y="4352544"/>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568196" y="4352544"/>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746504" y="4352544"/>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924812" y="4352544"/>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2103120" y="4352544"/>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331720" y="4288536"/>
            <a:ext cx="347472" cy="658368"/>
          </a:xfrm>
          <a:prstGeom prst="rect">
            <a:avLst/>
          </a:prstGeom>
          <a:noFill/>
        </p:spPr>
        <p:txBody>
          <a:bodyPr wrap="square" anchor="ctr" lIns="45720" rIns="45720" tIns="27432" bIns="27432">
            <a:spAutoFit/>
          </a:bodyPr>
          <a:lstStyle/>
          <a:p>
            <a:pPr algn="ctr">
              <a:lnSpc>
                <a:spcPct val="105000"/>
              </a:lnSpc>
            </a:pPr>
            <a:r>
              <a:rPr sz="2400" b="1" i="0">
                <a:solidFill>
                  <a:srgbClr val="A84400"/>
                </a:solidFill>
                <a:latin typeface="PT Sans"/>
              </a:rPr>
              <a:t>,</a:t>
            </a:r>
          </a:p>
        </p:txBody>
      </p:sp>
      <p:sp>
        <p:nvSpPr>
          <p:cNvPr id="49" name="Oval 48"/>
          <p:cNvSpPr/>
          <p:nvPr/>
        </p:nvSpPr>
        <p:spPr>
          <a:xfrm>
            <a:off x="2697479" y="4352544"/>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2875787" y="4352544"/>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3054096" y="4352544"/>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3232403" y="4352544"/>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3410711" y="4352544"/>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2697479" y="4530852"/>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2875787" y="4530852"/>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3054096" y="4530852"/>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3232403" y="4530852"/>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3410711" y="4530852"/>
            <a:ext cx="146304" cy="146304"/>
          </a:xfrm>
          <a:prstGeom prst="ellipse">
            <a:avLst/>
          </a:prstGeom>
          <a:solidFill>
            <a:srgbClr val="A84400"/>
          </a:solidFill>
          <a:ln w="63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697479" y="4709160"/>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875787" y="4709160"/>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8640" y="4992624"/>
            <a:ext cx="4023360" cy="365760"/>
          </a:xfrm>
          <a:prstGeom prst="rect">
            <a:avLst/>
          </a:prstGeom>
          <a:noFill/>
        </p:spPr>
        <p:txBody>
          <a:bodyPr wrap="square" anchor="t" lIns="45720" rIns="45720" tIns="27432" bIns="27432">
            <a:spAutoFit/>
          </a:bodyPr>
          <a:lstStyle/>
          <a:p>
            <a:pPr algn="l">
              <a:lnSpc>
                <a:spcPct val="105000"/>
              </a:lnSpc>
            </a:pPr>
            <a:r>
              <a:rPr sz="1300" b="1" i="0">
                <a:solidFill>
                  <a:srgbClr val="A84400"/>
                </a:solidFill>
                <a:latin typeface="PT Sans"/>
              </a:rPr>
              <a:t>12 ондон бир = 1 бирдик + 2 ондон бир</a:t>
            </a:r>
          </a:p>
        </p:txBody>
      </p:sp>
      <p:cxnSp>
        <p:nvCxnSpPr>
          <p:cNvPr id="62" name="Connector 61"/>
          <p:cNvCxnSpPr/>
          <p:nvPr/>
        </p:nvCxnSpPr>
        <p:spPr>
          <a:xfrm>
            <a:off x="3776472" y="4251960"/>
            <a:ext cx="59436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4251960" y="4050791"/>
            <a:ext cx="365760" cy="411480"/>
          </a:xfrm>
          <a:prstGeom prst="rect">
            <a:avLst/>
          </a:prstGeom>
          <a:noFill/>
        </p:spPr>
        <p:txBody>
          <a:bodyPr wrap="square" anchor="t" lIns="45720" rIns="45720" tIns="27432" bIns="27432">
            <a:spAutoFit/>
          </a:bodyPr>
          <a:lstStyle/>
          <a:p>
            <a:pPr algn="l">
              <a:lnSpc>
                <a:spcPct val="105000"/>
              </a:lnSpc>
            </a:pPr>
            <a:r>
              <a:rPr sz="1400" b="0" i="0">
                <a:solidFill>
                  <a:srgbClr val="A84400"/>
                </a:solidFill>
                <a:latin typeface="PT Sans"/>
              </a:rPr>
              <a:t>▶</a:t>
            </a:r>
          </a:p>
        </p:txBody>
      </p:sp>
      <p:sp>
        <p:nvSpPr>
          <p:cNvPr id="64" name="TextBox 63"/>
          <p:cNvSpPr txBox="1"/>
          <p:nvPr/>
        </p:nvSpPr>
        <p:spPr>
          <a:xfrm>
            <a:off x="4599432" y="2148840"/>
            <a:ext cx="2377440" cy="365760"/>
          </a:xfrm>
          <a:prstGeom prst="rect">
            <a:avLst/>
          </a:prstGeom>
          <a:noFill/>
        </p:spPr>
        <p:txBody>
          <a:bodyPr wrap="square" anchor="t" lIns="45720" rIns="45720" tIns="27432" bIns="27432">
            <a:spAutoFit/>
          </a:bodyPr>
          <a:lstStyle/>
          <a:p>
            <a:pPr algn="l">
              <a:lnSpc>
                <a:spcPct val="105000"/>
              </a:lnSpc>
            </a:pPr>
            <a:r>
              <a:rPr sz="1500" b="1" i="0">
                <a:solidFill>
                  <a:srgbClr val="24418C"/>
                </a:solidFill>
                <a:latin typeface="PT Sans"/>
              </a:rPr>
              <a:t>Алмаштырдык</a:t>
            </a:r>
          </a:p>
        </p:txBody>
      </p:sp>
      <p:sp>
        <p:nvSpPr>
          <p:cNvPr id="65" name="Rectangle 64"/>
          <p:cNvSpPr/>
          <p:nvPr/>
        </p:nvSpPr>
        <p:spPr>
          <a:xfrm>
            <a:off x="4599432" y="2560320"/>
            <a:ext cx="914400" cy="41148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Бирдик</a:t>
            </a:r>
          </a:p>
        </p:txBody>
      </p:sp>
      <p:sp>
        <p:nvSpPr>
          <p:cNvPr id="66" name="Rectangle 65"/>
          <p:cNvSpPr/>
          <p:nvPr/>
        </p:nvSpPr>
        <p:spPr>
          <a:xfrm>
            <a:off x="4599432" y="2971800"/>
            <a:ext cx="914400" cy="658368"/>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769864" y="2560320"/>
            <a:ext cx="914400" cy="41148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Ондон бир</a:t>
            </a:r>
          </a:p>
        </p:txBody>
      </p:sp>
      <p:sp>
        <p:nvSpPr>
          <p:cNvPr id="68" name="Rectangle 67"/>
          <p:cNvSpPr/>
          <p:nvPr/>
        </p:nvSpPr>
        <p:spPr>
          <a:xfrm>
            <a:off x="5769864" y="2971800"/>
            <a:ext cx="914400" cy="658368"/>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663440"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841748"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5020056"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198364"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4663440" y="321411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4841748" y="3214116"/>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468112" y="2971800"/>
            <a:ext cx="347472" cy="658368"/>
          </a:xfrm>
          <a:prstGeom prst="rect">
            <a:avLst/>
          </a:prstGeom>
          <a:noFill/>
        </p:spPr>
        <p:txBody>
          <a:bodyPr wrap="square" anchor="ctr" lIns="45720" rIns="45720" tIns="27432" bIns="27432">
            <a:spAutoFit/>
          </a:bodyPr>
          <a:lstStyle/>
          <a:p>
            <a:pPr algn="ctr">
              <a:lnSpc>
                <a:spcPct val="105000"/>
              </a:lnSpc>
            </a:pPr>
            <a:r>
              <a:rPr sz="2400" b="1" i="0">
                <a:solidFill>
                  <a:srgbClr val="A84400"/>
                </a:solidFill>
                <a:latin typeface="PT Sans"/>
              </a:rPr>
              <a:t>,</a:t>
            </a:r>
          </a:p>
        </p:txBody>
      </p:sp>
      <p:sp>
        <p:nvSpPr>
          <p:cNvPr id="76" name="Oval 75"/>
          <p:cNvSpPr/>
          <p:nvPr/>
        </p:nvSpPr>
        <p:spPr>
          <a:xfrm>
            <a:off x="5833872"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012180" y="3035808"/>
            <a:ext cx="146304" cy="146304"/>
          </a:xfrm>
          <a:prstGeom prst="ellipse">
            <a:avLst/>
          </a:prstGeom>
          <a:solidFill>
            <a:srgbClr val="24418C"/>
          </a:solidFill>
          <a:ln w="63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99432" y="3703320"/>
            <a:ext cx="2651760" cy="548640"/>
          </a:xfrm>
          <a:prstGeom prst="rect">
            <a:avLst/>
          </a:prstGeom>
          <a:noFill/>
        </p:spPr>
        <p:txBody>
          <a:bodyPr wrap="square" anchor="t" lIns="45720" rIns="45720" tIns="27432" bIns="27432">
            <a:spAutoFit/>
          </a:bodyPr>
          <a:lstStyle/>
          <a:p>
            <a:pPr algn="l">
              <a:lnSpc>
                <a:spcPct val="105000"/>
              </a:lnSpc>
            </a:pPr>
            <a:r>
              <a:rPr sz="2200" b="1" i="0">
                <a:solidFill>
                  <a:srgbClr val="24418C"/>
                </a:solidFill>
                <a:latin typeface="PT Sans"/>
              </a:rPr>
              <a:t>3,7 + 2,5 = 6,2</a:t>
            </a:r>
          </a:p>
        </p:txBody>
      </p:sp>
      <p:sp>
        <p:nvSpPr>
          <p:cNvPr id="79" name="TextBox 78"/>
          <p:cNvSpPr txBox="1"/>
          <p:nvPr/>
        </p:nvSpPr>
        <p:spPr>
          <a:xfrm>
            <a:off x="4599432" y="4343400"/>
            <a:ext cx="2651760" cy="320040"/>
          </a:xfrm>
          <a:prstGeom prst="rect">
            <a:avLst/>
          </a:prstGeom>
          <a:noFill/>
        </p:spPr>
        <p:txBody>
          <a:bodyPr wrap="square" anchor="t" lIns="45720" rIns="45720" tIns="27432" bIns="27432">
            <a:spAutoFit/>
          </a:bodyPr>
          <a:lstStyle/>
          <a:p>
            <a:pPr algn="l">
              <a:lnSpc>
                <a:spcPct val="105000"/>
              </a:lnSpc>
            </a:pPr>
            <a:r>
              <a:rPr sz="1300" b="1" i="0">
                <a:solidFill>
                  <a:srgbClr val="1D3557"/>
                </a:solidFill>
                <a:latin typeface="PT Sans"/>
              </a:rPr>
              <a:t>Тыйын менен:</a:t>
            </a:r>
          </a:p>
        </p:txBody>
      </p:sp>
      <p:sp>
        <p:nvSpPr>
          <p:cNvPr id="80" name="Oval 79"/>
          <p:cNvSpPr/>
          <p:nvPr/>
        </p:nvSpPr>
        <p:spPr>
          <a:xfrm>
            <a:off x="4599432" y="472744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462272" y="472744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82" name="Oval 81"/>
          <p:cNvSpPr/>
          <p:nvPr/>
        </p:nvSpPr>
        <p:spPr>
          <a:xfrm>
            <a:off x="4965192" y="472744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828032" y="472744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84" name="Oval 83"/>
          <p:cNvSpPr/>
          <p:nvPr/>
        </p:nvSpPr>
        <p:spPr>
          <a:xfrm>
            <a:off x="5330952" y="472744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193792" y="472744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86" name="Oval 85"/>
          <p:cNvSpPr/>
          <p:nvPr/>
        </p:nvSpPr>
        <p:spPr>
          <a:xfrm>
            <a:off x="5696712" y="472744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559552" y="472744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88" name="Oval 87"/>
          <p:cNvSpPr/>
          <p:nvPr/>
        </p:nvSpPr>
        <p:spPr>
          <a:xfrm>
            <a:off x="6062472" y="472744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925312" y="472744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90" name="Oval 89"/>
          <p:cNvSpPr/>
          <p:nvPr/>
        </p:nvSpPr>
        <p:spPr>
          <a:xfrm>
            <a:off x="4599432" y="509320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462272" y="509320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92" name="Oval 91"/>
          <p:cNvSpPr/>
          <p:nvPr/>
        </p:nvSpPr>
        <p:spPr>
          <a:xfrm>
            <a:off x="4965192" y="509320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828032" y="509320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94" name="Oval 93"/>
          <p:cNvSpPr/>
          <p:nvPr/>
        </p:nvSpPr>
        <p:spPr>
          <a:xfrm>
            <a:off x="5330952" y="509320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193792" y="509320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96" name="Oval 95"/>
          <p:cNvSpPr/>
          <p:nvPr/>
        </p:nvSpPr>
        <p:spPr>
          <a:xfrm>
            <a:off x="5696712" y="509320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559552" y="509320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98" name="Oval 97"/>
          <p:cNvSpPr/>
          <p:nvPr/>
        </p:nvSpPr>
        <p:spPr>
          <a:xfrm>
            <a:off x="6062472" y="5093208"/>
            <a:ext cx="310896" cy="310896"/>
          </a:xfrm>
          <a:prstGeom prst="ellipse">
            <a:avLst/>
          </a:prstGeom>
          <a:solidFill>
            <a:srgbClr val="FFFFFF"/>
          </a:solidFill>
          <a:ln w="1270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925312" y="5093208"/>
            <a:ext cx="585216" cy="310896"/>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10</a:t>
            </a:r>
          </a:p>
        </p:txBody>
      </p:sp>
      <p:sp>
        <p:nvSpPr>
          <p:cNvPr id="100" name="TextBox 99"/>
          <p:cNvSpPr txBox="1"/>
          <p:nvPr/>
        </p:nvSpPr>
        <p:spPr>
          <a:xfrm>
            <a:off x="6428232" y="4846320"/>
            <a:ext cx="365760" cy="457200"/>
          </a:xfrm>
          <a:prstGeom prst="rect">
            <a:avLst/>
          </a:prstGeom>
          <a:noFill/>
        </p:spPr>
        <p:txBody>
          <a:bodyPr wrap="square" anchor="t" lIns="45720" rIns="45720" tIns="27432" bIns="27432">
            <a:spAutoFit/>
          </a:bodyPr>
          <a:lstStyle/>
          <a:p>
            <a:pPr algn="ctr">
              <a:lnSpc>
                <a:spcPct val="105000"/>
              </a:lnSpc>
            </a:pPr>
            <a:r>
              <a:rPr sz="2200" b="1" i="0">
                <a:solidFill>
                  <a:srgbClr val="1D3557"/>
                </a:solidFill>
                <a:latin typeface="PT Sans"/>
              </a:rPr>
              <a:t>=</a:t>
            </a:r>
          </a:p>
        </p:txBody>
      </p:sp>
      <p:sp>
        <p:nvSpPr>
          <p:cNvPr id="101" name="Oval 100"/>
          <p:cNvSpPr/>
          <p:nvPr/>
        </p:nvSpPr>
        <p:spPr>
          <a:xfrm>
            <a:off x="6793992" y="4727448"/>
            <a:ext cx="685800" cy="685800"/>
          </a:xfrm>
          <a:prstGeom prst="ellipse">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D3557"/>
                </a:solidFill>
                <a:latin typeface="PT Sans"/>
              </a:rPr>
              <a:t>1 сом</a:t>
            </a:r>
          </a:p>
        </p:txBody>
      </p:sp>
      <p:sp>
        <p:nvSpPr>
          <p:cNvPr id="102" name="TextBox 101"/>
          <p:cNvSpPr txBox="1"/>
          <p:nvPr/>
        </p:nvSpPr>
        <p:spPr>
          <a:xfrm>
            <a:off x="4599432" y="5486400"/>
            <a:ext cx="3017520" cy="320040"/>
          </a:xfrm>
          <a:prstGeom prst="rect">
            <a:avLst/>
          </a:prstGeom>
          <a:noFill/>
        </p:spPr>
        <p:txBody>
          <a:bodyPr wrap="square" anchor="t" lIns="45720" rIns="45720" tIns="27432" bIns="27432">
            <a:spAutoFit/>
          </a:bodyPr>
          <a:lstStyle/>
          <a:p>
            <a:pPr algn="l">
              <a:lnSpc>
                <a:spcPct val="105000"/>
              </a:lnSpc>
            </a:pPr>
            <a:r>
              <a:rPr sz="1200" b="0" i="1">
                <a:solidFill>
                  <a:srgbClr val="4A5A70"/>
                </a:solidFill>
                <a:latin typeface="PT Sans"/>
              </a:rPr>
              <a:t>10 он тыйын = 1 сом:  10 × 0,1 = 1</a:t>
            </a:r>
          </a:p>
        </p:txBody>
      </p:sp>
      <p:sp>
        <p:nvSpPr>
          <p:cNvPr id="103" name="Rounded Rectangle 102"/>
          <p:cNvSpPr/>
          <p:nvPr/>
        </p:nvSpPr>
        <p:spPr>
          <a:xfrm>
            <a:off x="9372600" y="2148840"/>
            <a:ext cx="2377440" cy="35204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482328" y="2212848"/>
            <a:ext cx="2194560" cy="3429000"/>
          </a:xfrm>
          <a:prstGeom prst="rect">
            <a:avLst/>
          </a:prstGeom>
          <a:noFill/>
        </p:spPr>
        <p:txBody>
          <a:bodyPr wrap="square" anchor="t" lIns="45720" rIns="45720" tIns="27432" bIns="27432">
            <a:spAutoFit/>
          </a:bodyPr>
          <a:lstStyle/>
          <a:p>
            <a:pPr algn="l">
              <a:lnSpc>
                <a:spcPct val="105000"/>
              </a:lnSpc>
            </a:pPr>
            <a:r>
              <a:rPr sz="1700" b="1" i="0">
                <a:solidFill>
                  <a:srgbClr val="1F2430"/>
                </a:solidFill>
                <a:latin typeface="PT Sans"/>
              </a:rPr>
              <a:t>Ар бир жупта:</a:t>
            </a:r>
          </a:p>
          <a:p>
            <a:pPr algn="l">
              <a:lnSpc>
                <a:spcPct val="105000"/>
              </a:lnSpc>
            </a:pPr>
            <a:r>
              <a:rPr sz="1400" b="0" i="0">
                <a:solidFill>
                  <a:srgbClr val="1F2430"/>
                </a:solidFill>
                <a:latin typeface="PT Sans"/>
              </a:rPr>
              <a:t>• кагаз разряд таблицасы</a:t>
            </a:r>
          </a:p>
          <a:p>
            <a:pPr algn="l">
              <a:lnSpc>
                <a:spcPct val="105000"/>
              </a:lnSpc>
            </a:pPr>
            <a:r>
              <a:rPr sz="1400" b="0" i="0">
                <a:solidFill>
                  <a:srgbClr val="1F2430"/>
                </a:solidFill>
                <a:latin typeface="PT Sans"/>
              </a:rPr>
              <a:t>• 20–25 капкак же таш, буурчак</a:t>
            </a:r>
          </a:p>
          <a:p>
            <a:pPr algn="l">
              <a:lnSpc>
                <a:spcPct val="105000"/>
              </a:lnSpc>
            </a:pPr>
            <a:r>
              <a:rPr sz="1400" b="0" i="0">
                <a:solidFill>
                  <a:srgbClr val="1F2430"/>
                </a:solidFill>
                <a:latin typeface="PT Sans"/>
              </a:rPr>
              <a:t>• 10 тыйындык тыйындар жана 1 сом (бар болсо)</a:t>
            </a:r>
          </a:p>
          <a:p>
            <a:pPr algn="l">
              <a:lnSpc>
                <a:spcPct val="105000"/>
              </a:lnSpc>
            </a:pPr>
            <a:r>
              <a:rPr sz="1400" b="0" i="0">
                <a:solidFill>
                  <a:srgbClr val="1F2430"/>
                </a:solidFill>
                <a:latin typeface="PT Sans"/>
              </a:rPr>
              <a:t>• чакмак дептер</a:t>
            </a:r>
          </a:p>
          <a:p>
            <a:pPr algn="l">
              <a:lnSpc>
                <a:spcPct val="105000"/>
              </a:lnSpc>
            </a:pPr>
            <a:r>
              <a:rPr sz="1500" b="1" i="0">
                <a:solidFill>
                  <a:srgbClr val="24418C"/>
                </a:solidFill>
                <a:latin typeface="PT Sans"/>
              </a:rPr>
              <a:t>10 ондон бир = 1 бирдик!</a:t>
            </a:r>
          </a:p>
        </p:txBody>
      </p:sp>
      <p:sp>
        <p:nvSpPr>
          <p:cNvPr id="105" name="Rounded Rectangle 104"/>
          <p:cNvSpPr/>
          <p:nvPr/>
        </p:nvSpPr>
        <p:spPr>
          <a:xfrm>
            <a:off x="8412480"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К</a:t>
            </a:r>
          </a:p>
        </p:txBody>
      </p:sp>
      <p:sp>
        <p:nvSpPr>
          <p:cNvPr id="106" name="Rounded Rectangle 105"/>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107" name="Rounded Rectangle 106"/>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 мамыча жана тилке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Ар бир цифра өз чакмагында, үтүр бир мамычада. Тилкеде: 12,6 жана 9,45 км, 25 кмге чейин калганы.</a:t>
            </a:r>
          </a:p>
        </p:txBody>
      </p:sp>
      <p:sp>
        <p:nvSpPr>
          <p:cNvPr id="12" name="Rectangle 11"/>
          <p:cNvSpPr/>
          <p:nvPr/>
        </p:nvSpPr>
        <p:spPr>
          <a:xfrm>
            <a:off x="731520" y="224028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280160" y="224028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828800" y="224028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377439" y="224028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26080" y="224028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278892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280160" y="278892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28800" y="278892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377439" y="278892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26080" y="278892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333756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280160" y="333756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28800" y="333756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377439" y="333756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926080" y="333756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388620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280160" y="388620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828800" y="388620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377439" y="388620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926080" y="3886200"/>
            <a:ext cx="548640" cy="548640"/>
          </a:xfrm>
          <a:prstGeom prst="rect">
            <a:avLst/>
          </a:prstGeom>
          <a:solidFill>
            <a:srgbClr val="FFFFFF"/>
          </a:solidFill>
          <a:ln w="9525">
            <a:solidFill>
              <a:srgbClr val="B5E2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828800" y="2258568"/>
            <a:ext cx="548640" cy="548640"/>
          </a:xfrm>
          <a:prstGeom prst="rect">
            <a:avLst/>
          </a:prstGeom>
          <a:noFill/>
        </p:spPr>
        <p:txBody>
          <a:bodyPr wrap="square" anchor="ctr" lIns="45720" rIns="45720" tIns="27432" bIns="27432">
            <a:spAutoFit/>
          </a:bodyPr>
          <a:lstStyle/>
          <a:p>
            <a:pPr algn="ctr">
              <a:lnSpc>
                <a:spcPct val="105000"/>
              </a:lnSpc>
            </a:pPr>
            <a:r>
              <a:rPr sz="1600" b="1" i="0">
                <a:solidFill>
                  <a:srgbClr val="A84400"/>
                </a:solidFill>
                <a:latin typeface="PT Sans"/>
              </a:rPr>
              <a:t>1</a:t>
            </a:r>
          </a:p>
        </p:txBody>
      </p:sp>
      <p:sp>
        <p:nvSpPr>
          <p:cNvPr id="33" name="TextBox 32"/>
          <p:cNvSpPr txBox="1"/>
          <p:nvPr/>
        </p:nvSpPr>
        <p:spPr>
          <a:xfrm>
            <a:off x="1280160" y="278892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1F2430"/>
                </a:solidFill>
                <a:latin typeface="PT Sans"/>
              </a:rPr>
              <a:t>1</a:t>
            </a:r>
          </a:p>
        </p:txBody>
      </p:sp>
      <p:sp>
        <p:nvSpPr>
          <p:cNvPr id="34" name="TextBox 33"/>
          <p:cNvSpPr txBox="1"/>
          <p:nvPr/>
        </p:nvSpPr>
        <p:spPr>
          <a:xfrm>
            <a:off x="1828800" y="278892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1F2430"/>
                </a:solidFill>
                <a:latin typeface="PT Sans"/>
              </a:rPr>
              <a:t>2</a:t>
            </a:r>
          </a:p>
        </p:txBody>
      </p:sp>
      <p:sp>
        <p:nvSpPr>
          <p:cNvPr id="35" name="TextBox 34"/>
          <p:cNvSpPr txBox="1"/>
          <p:nvPr/>
        </p:nvSpPr>
        <p:spPr>
          <a:xfrm>
            <a:off x="2377439" y="278892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1F2430"/>
                </a:solidFill>
                <a:latin typeface="PT Sans"/>
              </a:rPr>
              <a:t>6</a:t>
            </a:r>
          </a:p>
        </p:txBody>
      </p:sp>
      <p:sp>
        <p:nvSpPr>
          <p:cNvPr id="36" name="TextBox 35"/>
          <p:cNvSpPr txBox="1"/>
          <p:nvPr/>
        </p:nvSpPr>
        <p:spPr>
          <a:xfrm>
            <a:off x="2926080" y="278892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4A5A70"/>
                </a:solidFill>
                <a:latin typeface="PT Sans"/>
              </a:rPr>
              <a:t>0</a:t>
            </a:r>
          </a:p>
        </p:txBody>
      </p:sp>
      <p:sp>
        <p:nvSpPr>
          <p:cNvPr id="37" name="TextBox 36"/>
          <p:cNvSpPr txBox="1"/>
          <p:nvPr/>
        </p:nvSpPr>
        <p:spPr>
          <a:xfrm>
            <a:off x="2194559" y="2898648"/>
            <a:ext cx="365760" cy="548640"/>
          </a:xfrm>
          <a:prstGeom prst="rect">
            <a:avLst/>
          </a:prstGeom>
          <a:noFill/>
        </p:spPr>
        <p:txBody>
          <a:bodyPr wrap="square" anchor="ctr" lIns="45720" rIns="45720" tIns="27432" bIns="27432">
            <a:spAutoFit/>
          </a:bodyPr>
          <a:lstStyle/>
          <a:p>
            <a:pPr algn="ctr">
              <a:lnSpc>
                <a:spcPct val="105000"/>
              </a:lnSpc>
            </a:pPr>
            <a:r>
              <a:rPr sz="2600" b="1" i="0">
                <a:solidFill>
                  <a:srgbClr val="A84400"/>
                </a:solidFill>
                <a:latin typeface="PT Sans"/>
              </a:rPr>
              <a:t>,</a:t>
            </a:r>
          </a:p>
        </p:txBody>
      </p:sp>
      <p:sp>
        <p:nvSpPr>
          <p:cNvPr id="38" name="TextBox 37"/>
          <p:cNvSpPr txBox="1"/>
          <p:nvPr/>
        </p:nvSpPr>
        <p:spPr>
          <a:xfrm>
            <a:off x="1828800" y="333756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1F2430"/>
                </a:solidFill>
                <a:latin typeface="PT Sans"/>
              </a:rPr>
              <a:t>9</a:t>
            </a:r>
          </a:p>
        </p:txBody>
      </p:sp>
      <p:sp>
        <p:nvSpPr>
          <p:cNvPr id="39" name="TextBox 38"/>
          <p:cNvSpPr txBox="1"/>
          <p:nvPr/>
        </p:nvSpPr>
        <p:spPr>
          <a:xfrm>
            <a:off x="2377439" y="333756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1F2430"/>
                </a:solidFill>
                <a:latin typeface="PT Sans"/>
              </a:rPr>
              <a:t>4</a:t>
            </a:r>
          </a:p>
        </p:txBody>
      </p:sp>
      <p:sp>
        <p:nvSpPr>
          <p:cNvPr id="40" name="TextBox 39"/>
          <p:cNvSpPr txBox="1"/>
          <p:nvPr/>
        </p:nvSpPr>
        <p:spPr>
          <a:xfrm>
            <a:off x="2926080" y="333756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1F2430"/>
                </a:solidFill>
                <a:latin typeface="PT Sans"/>
              </a:rPr>
              <a:t>5</a:t>
            </a:r>
          </a:p>
        </p:txBody>
      </p:sp>
      <p:sp>
        <p:nvSpPr>
          <p:cNvPr id="41" name="TextBox 40"/>
          <p:cNvSpPr txBox="1"/>
          <p:nvPr/>
        </p:nvSpPr>
        <p:spPr>
          <a:xfrm>
            <a:off x="2194559" y="3447288"/>
            <a:ext cx="365760" cy="548640"/>
          </a:xfrm>
          <a:prstGeom prst="rect">
            <a:avLst/>
          </a:prstGeom>
          <a:noFill/>
        </p:spPr>
        <p:txBody>
          <a:bodyPr wrap="square" anchor="ctr" lIns="45720" rIns="45720" tIns="27432" bIns="27432">
            <a:spAutoFit/>
          </a:bodyPr>
          <a:lstStyle/>
          <a:p>
            <a:pPr algn="ctr">
              <a:lnSpc>
                <a:spcPct val="105000"/>
              </a:lnSpc>
            </a:pPr>
            <a:r>
              <a:rPr sz="2600" b="1" i="0">
                <a:solidFill>
                  <a:srgbClr val="A84400"/>
                </a:solidFill>
                <a:latin typeface="PT Sans"/>
              </a:rPr>
              <a:t>,</a:t>
            </a:r>
          </a:p>
        </p:txBody>
      </p:sp>
      <p:sp>
        <p:nvSpPr>
          <p:cNvPr id="42" name="TextBox 41"/>
          <p:cNvSpPr txBox="1"/>
          <p:nvPr/>
        </p:nvSpPr>
        <p:spPr>
          <a:xfrm>
            <a:off x="1280160" y="388620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24418C"/>
                </a:solidFill>
                <a:latin typeface="PT Sans"/>
              </a:rPr>
              <a:t>2</a:t>
            </a:r>
          </a:p>
        </p:txBody>
      </p:sp>
      <p:sp>
        <p:nvSpPr>
          <p:cNvPr id="43" name="TextBox 42"/>
          <p:cNvSpPr txBox="1"/>
          <p:nvPr/>
        </p:nvSpPr>
        <p:spPr>
          <a:xfrm>
            <a:off x="1828800" y="388620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24418C"/>
                </a:solidFill>
                <a:latin typeface="PT Sans"/>
              </a:rPr>
              <a:t>2</a:t>
            </a:r>
          </a:p>
        </p:txBody>
      </p:sp>
      <p:sp>
        <p:nvSpPr>
          <p:cNvPr id="44" name="TextBox 43"/>
          <p:cNvSpPr txBox="1"/>
          <p:nvPr/>
        </p:nvSpPr>
        <p:spPr>
          <a:xfrm>
            <a:off x="2377439" y="388620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24418C"/>
                </a:solidFill>
                <a:latin typeface="PT Sans"/>
              </a:rPr>
              <a:t>0</a:t>
            </a:r>
          </a:p>
        </p:txBody>
      </p:sp>
      <p:sp>
        <p:nvSpPr>
          <p:cNvPr id="45" name="TextBox 44"/>
          <p:cNvSpPr txBox="1"/>
          <p:nvPr/>
        </p:nvSpPr>
        <p:spPr>
          <a:xfrm>
            <a:off x="2926080" y="388620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24418C"/>
                </a:solidFill>
                <a:latin typeface="PT Sans"/>
              </a:rPr>
              <a:t>5</a:t>
            </a:r>
          </a:p>
        </p:txBody>
      </p:sp>
      <p:sp>
        <p:nvSpPr>
          <p:cNvPr id="46" name="TextBox 45"/>
          <p:cNvSpPr txBox="1"/>
          <p:nvPr/>
        </p:nvSpPr>
        <p:spPr>
          <a:xfrm>
            <a:off x="2194559" y="3995928"/>
            <a:ext cx="365760" cy="548640"/>
          </a:xfrm>
          <a:prstGeom prst="rect">
            <a:avLst/>
          </a:prstGeom>
          <a:noFill/>
        </p:spPr>
        <p:txBody>
          <a:bodyPr wrap="square" anchor="ctr" lIns="45720" rIns="45720" tIns="27432" bIns="27432">
            <a:spAutoFit/>
          </a:bodyPr>
          <a:lstStyle/>
          <a:p>
            <a:pPr algn="ctr">
              <a:lnSpc>
                <a:spcPct val="105000"/>
              </a:lnSpc>
            </a:pPr>
            <a:r>
              <a:rPr sz="2600" b="1" i="0">
                <a:solidFill>
                  <a:srgbClr val="A84400"/>
                </a:solidFill>
                <a:latin typeface="PT Sans"/>
              </a:rPr>
              <a:t>,</a:t>
            </a:r>
          </a:p>
        </p:txBody>
      </p:sp>
      <p:sp>
        <p:nvSpPr>
          <p:cNvPr id="47" name="TextBox 46"/>
          <p:cNvSpPr txBox="1"/>
          <p:nvPr/>
        </p:nvSpPr>
        <p:spPr>
          <a:xfrm>
            <a:off x="731520" y="3337560"/>
            <a:ext cx="548640" cy="548640"/>
          </a:xfrm>
          <a:prstGeom prst="rect">
            <a:avLst/>
          </a:prstGeom>
          <a:noFill/>
        </p:spPr>
        <p:txBody>
          <a:bodyPr wrap="square" anchor="ctr" lIns="45720" rIns="45720" tIns="27432" bIns="27432">
            <a:spAutoFit/>
          </a:bodyPr>
          <a:lstStyle/>
          <a:p>
            <a:pPr algn="ctr">
              <a:lnSpc>
                <a:spcPct val="105000"/>
              </a:lnSpc>
            </a:pPr>
            <a:r>
              <a:rPr sz="2600" b="1" i="0">
                <a:solidFill>
                  <a:srgbClr val="1D3557"/>
                </a:solidFill>
                <a:latin typeface="PT Sans"/>
              </a:rPr>
              <a:t>+</a:t>
            </a:r>
          </a:p>
        </p:txBody>
      </p:sp>
      <p:cxnSp>
        <p:nvCxnSpPr>
          <p:cNvPr id="48" name="Connector 47"/>
          <p:cNvCxnSpPr/>
          <p:nvPr/>
        </p:nvCxnSpPr>
        <p:spPr>
          <a:xfrm>
            <a:off x="777240" y="3886200"/>
            <a:ext cx="2651760" cy="0"/>
          </a:xfrm>
          <a:prstGeom prst="line">
            <a:avLst/>
          </a:prstGeom>
          <a:ln w="31750">
            <a:solidFill>
              <a:srgbClr val="1D3557"/>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3611879" y="2834640"/>
            <a:ext cx="1737360" cy="457200"/>
          </a:xfrm>
          <a:prstGeom prst="rect">
            <a:avLst/>
          </a:prstGeom>
          <a:noFill/>
        </p:spPr>
        <p:txBody>
          <a:bodyPr wrap="square" anchor="t" lIns="45720" rIns="45720" tIns="27432" bIns="27432">
            <a:spAutoFit/>
          </a:bodyPr>
          <a:lstStyle/>
          <a:p>
            <a:pPr algn="l">
              <a:lnSpc>
                <a:spcPct val="105000"/>
              </a:lnSpc>
            </a:pPr>
            <a:r>
              <a:rPr sz="1300" b="1" i="0">
                <a:solidFill>
                  <a:srgbClr val="4A5A70"/>
                </a:solidFill>
                <a:latin typeface="PT Sans"/>
              </a:rPr>
              <a:t>← нөл коштук</a:t>
            </a:r>
          </a:p>
        </p:txBody>
      </p:sp>
      <p:sp>
        <p:nvSpPr>
          <p:cNvPr id="50" name="TextBox 49"/>
          <p:cNvSpPr txBox="1"/>
          <p:nvPr/>
        </p:nvSpPr>
        <p:spPr>
          <a:xfrm>
            <a:off x="3611879" y="2286000"/>
            <a:ext cx="1737360" cy="457200"/>
          </a:xfrm>
          <a:prstGeom prst="rect">
            <a:avLst/>
          </a:prstGeom>
          <a:noFill/>
        </p:spPr>
        <p:txBody>
          <a:bodyPr wrap="square" anchor="t" lIns="45720" rIns="45720" tIns="27432" bIns="27432">
            <a:spAutoFit/>
          </a:bodyPr>
          <a:lstStyle/>
          <a:p>
            <a:pPr algn="l">
              <a:lnSpc>
                <a:spcPct val="105000"/>
              </a:lnSpc>
            </a:pPr>
            <a:r>
              <a:rPr sz="1300" b="1" i="0">
                <a:solidFill>
                  <a:srgbClr val="A84400"/>
                </a:solidFill>
                <a:latin typeface="PT Sans"/>
              </a:rPr>
              <a:t>← алмаштыруу</a:t>
            </a:r>
          </a:p>
        </p:txBody>
      </p:sp>
      <p:sp>
        <p:nvSpPr>
          <p:cNvPr id="51" name="TextBox 50"/>
          <p:cNvSpPr txBox="1"/>
          <p:nvPr/>
        </p:nvSpPr>
        <p:spPr>
          <a:xfrm>
            <a:off x="640080" y="4526279"/>
            <a:ext cx="4389120" cy="640080"/>
          </a:xfrm>
          <a:prstGeom prst="rect">
            <a:avLst/>
          </a:prstGeom>
          <a:noFill/>
        </p:spPr>
        <p:txBody>
          <a:bodyPr wrap="square" anchor="t" lIns="45720" rIns="45720" tIns="27432" bIns="27432">
            <a:spAutoFit/>
          </a:bodyPr>
          <a:lstStyle/>
          <a:p>
            <a:pPr algn="l">
              <a:lnSpc>
                <a:spcPct val="105000"/>
              </a:lnSpc>
            </a:pPr>
            <a:r>
              <a:rPr sz="1300" b="0" i="1">
                <a:solidFill>
                  <a:srgbClr val="4A5A70"/>
                </a:solidFill>
                <a:latin typeface="PT Sans"/>
              </a:rPr>
              <a:t>Үтүр бир сызыкта: бирдик бирдиктин, ондон бир ондон бирдин астында.</a:t>
            </a:r>
          </a:p>
        </p:txBody>
      </p:sp>
      <p:sp>
        <p:nvSpPr>
          <p:cNvPr id="52" name="Rectangle 51"/>
          <p:cNvSpPr/>
          <p:nvPr/>
        </p:nvSpPr>
        <p:spPr>
          <a:xfrm>
            <a:off x="5120640" y="2926080"/>
            <a:ext cx="3179917"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F2430"/>
                </a:solidFill>
                <a:latin typeface="PT Sans"/>
              </a:rPr>
              <a:t>12,6 км</a:t>
            </a:r>
          </a:p>
        </p:txBody>
      </p:sp>
      <p:sp>
        <p:nvSpPr>
          <p:cNvPr id="53" name="Rectangle 52"/>
          <p:cNvSpPr/>
          <p:nvPr/>
        </p:nvSpPr>
        <p:spPr>
          <a:xfrm>
            <a:off x="8300557" y="2926080"/>
            <a:ext cx="2384938"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F2430"/>
                </a:solidFill>
                <a:latin typeface="PT Sans"/>
              </a:rPr>
              <a:t>9,45 км</a:t>
            </a:r>
          </a:p>
        </p:txBody>
      </p:sp>
      <p:sp>
        <p:nvSpPr>
          <p:cNvPr id="54" name="Rectangle 53"/>
          <p:cNvSpPr/>
          <p:nvPr/>
        </p:nvSpPr>
        <p:spPr>
          <a:xfrm>
            <a:off x="10685495" y="2926080"/>
            <a:ext cx="744504" cy="548640"/>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6B7280"/>
                </a:solidFill>
                <a:latin typeface="PT Sans"/>
              </a:rPr>
              <a:t>?</a:t>
            </a:r>
          </a:p>
        </p:txBody>
      </p:sp>
      <p:cxnSp>
        <p:nvCxnSpPr>
          <p:cNvPr id="55" name="Connector 54"/>
          <p:cNvCxnSpPr/>
          <p:nvPr/>
        </p:nvCxnSpPr>
        <p:spPr>
          <a:xfrm>
            <a:off x="5029200" y="3977639"/>
            <a:ext cx="6537960" cy="0"/>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5120640" y="3867911"/>
            <a:ext cx="0" cy="219457"/>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754879" y="4087368"/>
            <a:ext cx="731520" cy="320040"/>
          </a:xfrm>
          <a:prstGeom prst="rect">
            <a:avLst/>
          </a:prstGeom>
          <a:noFill/>
        </p:spPr>
        <p:txBody>
          <a:bodyPr wrap="square" anchor="t" lIns="45720" rIns="45720" tIns="27432" bIns="27432">
            <a:spAutoFit/>
          </a:bodyPr>
          <a:lstStyle/>
          <a:p>
            <a:pPr algn="ctr">
              <a:lnSpc>
                <a:spcPct val="105000"/>
              </a:lnSpc>
            </a:pPr>
            <a:r>
              <a:rPr sz="1300" b="0" i="0">
                <a:solidFill>
                  <a:srgbClr val="1F2430"/>
                </a:solidFill>
                <a:latin typeface="PT Sans"/>
              </a:rPr>
              <a:t>0</a:t>
            </a:r>
          </a:p>
        </p:txBody>
      </p:sp>
      <p:cxnSp>
        <p:nvCxnSpPr>
          <p:cNvPr id="58" name="Connector 57"/>
          <p:cNvCxnSpPr/>
          <p:nvPr/>
        </p:nvCxnSpPr>
        <p:spPr>
          <a:xfrm>
            <a:off x="5373014"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625388"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877763"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6130137"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6382512" y="3867911"/>
            <a:ext cx="0" cy="219457"/>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6016751" y="4087368"/>
            <a:ext cx="731520" cy="320040"/>
          </a:xfrm>
          <a:prstGeom prst="rect">
            <a:avLst/>
          </a:prstGeom>
          <a:noFill/>
        </p:spPr>
        <p:txBody>
          <a:bodyPr wrap="square" anchor="t" lIns="45720" rIns="45720" tIns="27432" bIns="27432">
            <a:spAutoFit/>
          </a:bodyPr>
          <a:lstStyle/>
          <a:p>
            <a:pPr algn="ctr">
              <a:lnSpc>
                <a:spcPct val="105000"/>
              </a:lnSpc>
            </a:pPr>
            <a:r>
              <a:rPr sz="1300" b="0" i="0">
                <a:solidFill>
                  <a:srgbClr val="1F2430"/>
                </a:solidFill>
                <a:latin typeface="PT Sans"/>
              </a:rPr>
              <a:t>5</a:t>
            </a:r>
          </a:p>
        </p:txBody>
      </p:sp>
      <p:cxnSp>
        <p:nvCxnSpPr>
          <p:cNvPr id="64" name="Connector 63"/>
          <p:cNvCxnSpPr/>
          <p:nvPr/>
        </p:nvCxnSpPr>
        <p:spPr>
          <a:xfrm>
            <a:off x="6634886"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6887260"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139635"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392009"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7644383" y="3867911"/>
            <a:ext cx="0" cy="219457"/>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7278623" y="4087368"/>
            <a:ext cx="731520" cy="320040"/>
          </a:xfrm>
          <a:prstGeom prst="rect">
            <a:avLst/>
          </a:prstGeom>
          <a:noFill/>
        </p:spPr>
        <p:txBody>
          <a:bodyPr wrap="square" anchor="t" lIns="45720" rIns="45720" tIns="27432" bIns="27432">
            <a:spAutoFit/>
          </a:bodyPr>
          <a:lstStyle/>
          <a:p>
            <a:pPr algn="ctr">
              <a:lnSpc>
                <a:spcPct val="105000"/>
              </a:lnSpc>
            </a:pPr>
            <a:r>
              <a:rPr sz="1300" b="0" i="0">
                <a:solidFill>
                  <a:srgbClr val="1F2430"/>
                </a:solidFill>
                <a:latin typeface="PT Sans"/>
              </a:rPr>
              <a:t>10</a:t>
            </a:r>
          </a:p>
        </p:txBody>
      </p:sp>
      <p:cxnSp>
        <p:nvCxnSpPr>
          <p:cNvPr id="70" name="Connector 69"/>
          <p:cNvCxnSpPr/>
          <p:nvPr/>
        </p:nvCxnSpPr>
        <p:spPr>
          <a:xfrm>
            <a:off x="7896758"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8149132"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8401507"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8653881"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8906256" y="3867911"/>
            <a:ext cx="0" cy="219457"/>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540496" y="4087368"/>
            <a:ext cx="731520" cy="320040"/>
          </a:xfrm>
          <a:prstGeom prst="rect">
            <a:avLst/>
          </a:prstGeom>
          <a:noFill/>
        </p:spPr>
        <p:txBody>
          <a:bodyPr wrap="square" anchor="t" lIns="45720" rIns="45720" tIns="27432" bIns="27432">
            <a:spAutoFit/>
          </a:bodyPr>
          <a:lstStyle/>
          <a:p>
            <a:pPr algn="ctr">
              <a:lnSpc>
                <a:spcPct val="105000"/>
              </a:lnSpc>
            </a:pPr>
            <a:r>
              <a:rPr sz="1300" b="0" i="0">
                <a:solidFill>
                  <a:srgbClr val="1F2430"/>
                </a:solidFill>
                <a:latin typeface="PT Sans"/>
              </a:rPr>
              <a:t>15</a:t>
            </a:r>
          </a:p>
        </p:txBody>
      </p:sp>
      <p:cxnSp>
        <p:nvCxnSpPr>
          <p:cNvPr id="76" name="Connector 75"/>
          <p:cNvCxnSpPr/>
          <p:nvPr/>
        </p:nvCxnSpPr>
        <p:spPr>
          <a:xfrm>
            <a:off x="9158630"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9411004"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663379"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915753"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168128" y="3867911"/>
            <a:ext cx="0" cy="219457"/>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9802368" y="4087368"/>
            <a:ext cx="731520" cy="320040"/>
          </a:xfrm>
          <a:prstGeom prst="rect">
            <a:avLst/>
          </a:prstGeom>
          <a:noFill/>
        </p:spPr>
        <p:txBody>
          <a:bodyPr wrap="square" anchor="t" lIns="45720" rIns="45720" tIns="27432" bIns="27432">
            <a:spAutoFit/>
          </a:bodyPr>
          <a:lstStyle/>
          <a:p>
            <a:pPr algn="ctr">
              <a:lnSpc>
                <a:spcPct val="105000"/>
              </a:lnSpc>
            </a:pPr>
            <a:r>
              <a:rPr sz="1300" b="0" i="0">
                <a:solidFill>
                  <a:srgbClr val="1F2430"/>
                </a:solidFill>
                <a:latin typeface="PT Sans"/>
              </a:rPr>
              <a:t>20</a:t>
            </a:r>
          </a:p>
        </p:txBody>
      </p:sp>
      <p:cxnSp>
        <p:nvCxnSpPr>
          <p:cNvPr id="82" name="Connector 81"/>
          <p:cNvCxnSpPr/>
          <p:nvPr/>
        </p:nvCxnSpPr>
        <p:spPr>
          <a:xfrm>
            <a:off x="10420502"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672876"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0925251"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1177625" y="3922776"/>
            <a:ext cx="0" cy="109727"/>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1430000" y="3867911"/>
            <a:ext cx="0" cy="219457"/>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11064240" y="4087368"/>
            <a:ext cx="731520" cy="320040"/>
          </a:xfrm>
          <a:prstGeom prst="rect">
            <a:avLst/>
          </a:prstGeom>
          <a:noFill/>
        </p:spPr>
        <p:txBody>
          <a:bodyPr wrap="square" anchor="t" lIns="45720" rIns="45720" tIns="27432" bIns="27432">
            <a:spAutoFit/>
          </a:bodyPr>
          <a:lstStyle/>
          <a:p>
            <a:pPr algn="ctr">
              <a:lnSpc>
                <a:spcPct val="105000"/>
              </a:lnSpc>
            </a:pPr>
            <a:r>
              <a:rPr sz="1300" b="0" i="0">
                <a:solidFill>
                  <a:srgbClr val="1F2430"/>
                </a:solidFill>
                <a:latin typeface="PT Sans"/>
              </a:rPr>
              <a:t>25</a:t>
            </a:r>
          </a:p>
        </p:txBody>
      </p:sp>
      <p:cxnSp>
        <p:nvCxnSpPr>
          <p:cNvPr id="88" name="Connector 87"/>
          <p:cNvCxnSpPr/>
          <p:nvPr/>
        </p:nvCxnSpPr>
        <p:spPr>
          <a:xfrm>
            <a:off x="8300557" y="3474720"/>
            <a:ext cx="0" cy="502919"/>
          </a:xfrm>
          <a:prstGeom prst="line">
            <a:avLst/>
          </a:prstGeom>
          <a:ln w="15875">
            <a:solidFill>
              <a:srgbClr val="007A5A"/>
            </a:solidFill>
            <a:prstDash val="dash"/>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685495" y="3474720"/>
            <a:ext cx="0" cy="502919"/>
          </a:xfrm>
          <a:prstGeom prst="line">
            <a:avLst/>
          </a:prstGeom>
          <a:ln w="15875">
            <a:solidFill>
              <a:srgbClr val="24418C"/>
            </a:solidFill>
            <a:prstDash val="dash"/>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120640" y="4480559"/>
            <a:ext cx="6309360" cy="411480"/>
          </a:xfrm>
          <a:prstGeom prst="rect">
            <a:avLst/>
          </a:prstGeom>
          <a:noFill/>
        </p:spPr>
        <p:txBody>
          <a:bodyPr wrap="square" anchor="t" lIns="45720" rIns="45720" tIns="27432" bIns="27432">
            <a:spAutoFit/>
          </a:bodyPr>
          <a:lstStyle/>
          <a:p>
            <a:pPr algn="ctr">
              <a:lnSpc>
                <a:spcPct val="105000"/>
              </a:lnSpc>
            </a:pPr>
            <a:r>
              <a:rPr sz="1500" b="1" i="0">
                <a:solidFill>
                  <a:srgbClr val="1D3557"/>
                </a:solidFill>
                <a:latin typeface="PT Sans"/>
              </a:rPr>
              <a:t>Баалоо: 13 + 9 = 22;   25 − 22 = 3.   Так: 22,05 жана 2,95.</a:t>
            </a:r>
          </a:p>
        </p:txBody>
      </p:sp>
      <p:sp>
        <p:nvSpPr>
          <p:cNvPr id="91" name="TextBox 90"/>
          <p:cNvSpPr txBox="1"/>
          <p:nvPr/>
        </p:nvSpPr>
        <p:spPr>
          <a:xfrm>
            <a:off x="429768" y="5623560"/>
            <a:ext cx="11329416" cy="457200"/>
          </a:xfrm>
          <a:prstGeom prst="rect">
            <a:avLst/>
          </a:prstGeom>
          <a:noFill/>
        </p:spPr>
        <p:txBody>
          <a:bodyPr wrap="square" anchor="t" lIns="45720" rIns="45720" tIns="27432" bIns="27432">
            <a:spAutoFit/>
          </a:bodyPr>
          <a:lstStyle/>
          <a:p>
            <a:pPr algn="ctr">
              <a:lnSpc>
                <a:spcPct val="105000"/>
              </a:lnSpc>
            </a:pPr>
            <a:r>
              <a:rPr sz="2200" b="1" i="0">
                <a:solidFill>
                  <a:srgbClr val="24418C"/>
                </a:solidFill>
                <a:latin typeface="PT Sans"/>
              </a:rPr>
              <a:t>12,60 + 9,45 = 22,05;      25,00 − 22,05 = 2,95</a:t>
            </a:r>
          </a:p>
        </p:txBody>
      </p:sp>
      <p:sp>
        <p:nvSpPr>
          <p:cNvPr id="92" name="Rounded Rectangle 91"/>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93" name="Rounded Rectangle 92"/>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94" name="Rounded Rectangle 93"/>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
        <p:nvSpPr>
          <p:cNvPr id="95" name="Rounded Rectangle 94"/>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А: эреже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13/26</a:t>
            </a:r>
          </a:p>
        </p:txBody>
      </p:sp>
      <p:sp>
        <p:nvSpPr>
          <p:cNvPr id="10" name="Rounded Rectangle 9"/>
          <p:cNvSpPr/>
          <p:nvPr/>
        </p:nvSpPr>
        <p:spPr>
          <a:xfrm>
            <a:off x="429768"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23035"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1</a:t>
            </a:r>
          </a:p>
        </p:txBody>
      </p:sp>
      <p:sp>
        <p:nvSpPr>
          <p:cNvPr id="12" name="TextBox 11"/>
          <p:cNvSpPr txBox="1"/>
          <p:nvPr/>
        </p:nvSpPr>
        <p:spPr>
          <a:xfrm>
            <a:off x="521207"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a:t>
            </a:r>
          </a:p>
        </p:txBody>
      </p:sp>
      <p:sp>
        <p:nvSpPr>
          <p:cNvPr id="13" name="TextBox 12"/>
          <p:cNvSpPr txBox="1"/>
          <p:nvPr/>
        </p:nvSpPr>
        <p:spPr>
          <a:xfrm>
            <a:off x="521207"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Баала</a:t>
            </a:r>
          </a:p>
        </p:txBody>
      </p:sp>
      <p:sp>
        <p:nvSpPr>
          <p:cNvPr id="14" name="TextBox 13"/>
          <p:cNvSpPr txBox="1"/>
          <p:nvPr/>
        </p:nvSpPr>
        <p:spPr>
          <a:xfrm>
            <a:off x="566928"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13 + 9 ≈ 22</a:t>
            </a:r>
          </a:p>
        </p:txBody>
      </p:sp>
      <p:cxnSp>
        <p:nvCxnSpPr>
          <p:cNvPr id="15" name="Connector 14"/>
          <p:cNvCxnSpPr/>
          <p:nvPr/>
        </p:nvCxnSpPr>
        <p:spPr>
          <a:xfrm>
            <a:off x="3056382"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30702"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23969"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2</a:t>
            </a:r>
          </a:p>
        </p:txBody>
      </p:sp>
      <p:sp>
        <p:nvSpPr>
          <p:cNvPr id="18" name="TextBox 17"/>
          <p:cNvSpPr txBox="1"/>
          <p:nvPr/>
        </p:nvSpPr>
        <p:spPr>
          <a:xfrm>
            <a:off x="3422142"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12,60</a:t>
            </a:r>
          </a:p>
        </p:txBody>
      </p:sp>
      <p:sp>
        <p:nvSpPr>
          <p:cNvPr id="19" name="TextBox 18"/>
          <p:cNvSpPr txBox="1"/>
          <p:nvPr/>
        </p:nvSpPr>
        <p:spPr>
          <a:xfrm>
            <a:off x="3422142"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Үтүр астында</a:t>
            </a:r>
          </a:p>
        </p:txBody>
      </p:sp>
      <p:sp>
        <p:nvSpPr>
          <p:cNvPr id="20" name="TextBox 19"/>
          <p:cNvSpPr txBox="1"/>
          <p:nvPr/>
        </p:nvSpPr>
        <p:spPr>
          <a:xfrm>
            <a:off x="3467862"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Нөл кош: 12,6 = 12,60; 7 = 7,00</a:t>
            </a:r>
          </a:p>
        </p:txBody>
      </p:sp>
      <p:cxnSp>
        <p:nvCxnSpPr>
          <p:cNvPr id="21" name="Connector 20"/>
          <p:cNvCxnSpPr/>
          <p:nvPr/>
        </p:nvCxnSpPr>
        <p:spPr>
          <a:xfrm>
            <a:off x="5957316"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31636"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4902"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3</a:t>
            </a:r>
          </a:p>
        </p:txBody>
      </p:sp>
      <p:sp>
        <p:nvSpPr>
          <p:cNvPr id="24" name="TextBox 23"/>
          <p:cNvSpPr txBox="1"/>
          <p:nvPr/>
        </p:nvSpPr>
        <p:spPr>
          <a:xfrm>
            <a:off x="6323075"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10 → 1</a:t>
            </a:r>
          </a:p>
        </p:txBody>
      </p:sp>
      <p:sp>
        <p:nvSpPr>
          <p:cNvPr id="25" name="TextBox 24"/>
          <p:cNvSpPr txBox="1"/>
          <p:nvPr/>
        </p:nvSpPr>
        <p:spPr>
          <a:xfrm>
            <a:off x="6323075"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Оңдон эсепте</a:t>
            </a:r>
          </a:p>
        </p:txBody>
      </p:sp>
      <p:sp>
        <p:nvSpPr>
          <p:cNvPr id="26" name="TextBox 25"/>
          <p:cNvSpPr txBox="1"/>
          <p:nvPr/>
        </p:nvSpPr>
        <p:spPr>
          <a:xfrm>
            <a:off x="6368796"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10 ондон бир = 1 бирдик</a:t>
            </a:r>
          </a:p>
        </p:txBody>
      </p:sp>
      <p:cxnSp>
        <p:nvCxnSpPr>
          <p:cNvPr id="27" name="Connector 26"/>
          <p:cNvCxnSpPr/>
          <p:nvPr/>
        </p:nvCxnSpPr>
        <p:spPr>
          <a:xfrm>
            <a:off x="8858250"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2570"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25837"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4</a:t>
            </a:r>
          </a:p>
        </p:txBody>
      </p:sp>
      <p:sp>
        <p:nvSpPr>
          <p:cNvPr id="30" name="TextBox 29"/>
          <p:cNvSpPr txBox="1"/>
          <p:nvPr/>
        </p:nvSpPr>
        <p:spPr>
          <a:xfrm>
            <a:off x="9224010"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a:t>
            </a:r>
          </a:p>
        </p:txBody>
      </p:sp>
      <p:sp>
        <p:nvSpPr>
          <p:cNvPr id="31" name="TextBox 30"/>
          <p:cNvSpPr txBox="1"/>
          <p:nvPr/>
        </p:nvSpPr>
        <p:spPr>
          <a:xfrm>
            <a:off x="9224010"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Текшер</a:t>
            </a:r>
          </a:p>
        </p:txBody>
      </p:sp>
      <p:sp>
        <p:nvSpPr>
          <p:cNvPr id="32" name="TextBox 31"/>
          <p:cNvSpPr txBox="1"/>
          <p:nvPr/>
        </p:nvSpPr>
        <p:spPr>
          <a:xfrm>
            <a:off x="9269730"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Жооп баалоого жакынбы?</a:t>
            </a:r>
          </a:p>
        </p:txBody>
      </p:sp>
      <p:sp>
        <p:nvSpPr>
          <p:cNvPr id="33" name="Rounded Rectangle 32"/>
          <p:cNvSpPr/>
          <p:nvPr/>
        </p:nvSpPr>
        <p:spPr>
          <a:xfrm>
            <a:off x="1874519" y="4709160"/>
            <a:ext cx="8449056" cy="758952"/>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600" b="1">
                <a:solidFill>
                  <a:srgbClr val="A84400"/>
                </a:solidFill>
                <a:latin typeface="PT Sans"/>
              </a:rPr>
              <a:t>12,60 + 9,45 = 22,05       (баалоо: 22 ✓)</a:t>
            </a:r>
          </a:p>
        </p:txBody>
      </p: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1: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14/26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Рекорд 25 км. Эмил менен Асел 22,05 км жүрүштү. Рекордго дагы канча км калды?</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 25 − 22 = 3</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баалоо</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25,00 − 22,05</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нөл коштук</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 2,95</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алмаштырдык</a:t>
            </a:r>
          </a:p>
        </p:txBody>
      </p:sp>
      <p:sp>
        <p:nvSpPr>
          <p:cNvPr id="18" name="TextBox 17"/>
          <p:cNvSpPr txBox="1"/>
          <p:nvPr/>
        </p:nvSpPr>
        <p:spPr>
          <a:xfrm>
            <a:off x="731520" y="4215384"/>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2,95 + 22,05 = 25 ✓</a:t>
            </a:r>
          </a:p>
        </p:txBody>
      </p:sp>
      <p:sp>
        <p:nvSpPr>
          <p:cNvPr id="19" name="TextBox 18"/>
          <p:cNvSpPr txBox="1"/>
          <p:nvPr/>
        </p:nvSpPr>
        <p:spPr>
          <a:xfrm>
            <a:off x="8366760" y="4215384"/>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текшердик</a:t>
            </a:r>
          </a:p>
        </p:txBody>
      </p:sp>
      <p:sp>
        <p:nvSpPr>
          <p:cNvPr id="20" name="TextBox 19"/>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Калды = </a:t>
            </a:r>
            <a:r>
              <a:rPr sz="3400" b="1">
                <a:solidFill>
                  <a:srgbClr val="24418C"/>
                </a:solidFill>
                <a:latin typeface="PT Sans"/>
              </a:rPr>
              <a:t>2,95 км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2: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15/26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Асел 100 сом берип, 45,50 сомго суу жана 38,20 сомго печенье алды. Канча кайтарым алды?</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 100 − 46 − 38 = 16</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баалоо</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45,50 + 38,20 = 83,70</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сатып алды</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100,00 − 83,70 = 16,30</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кайтарым</a:t>
            </a:r>
          </a:p>
        </p:txBody>
      </p:sp>
      <p:sp>
        <p:nvSpPr>
          <p:cNvPr id="18" name="TextBox 17"/>
          <p:cNvSpPr txBox="1"/>
          <p:nvPr/>
        </p:nvSpPr>
        <p:spPr>
          <a:xfrm>
            <a:off x="731520" y="4215384"/>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16,30 ≈ 16 ✓</a:t>
            </a:r>
          </a:p>
        </p:txBody>
      </p:sp>
      <p:sp>
        <p:nvSpPr>
          <p:cNvPr id="19" name="TextBox 18"/>
          <p:cNvSpPr txBox="1"/>
          <p:nvPr/>
        </p:nvSpPr>
        <p:spPr>
          <a:xfrm>
            <a:off x="8366760" y="4215384"/>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текшердик</a:t>
            </a:r>
          </a:p>
        </p:txBody>
      </p:sp>
      <p:sp>
        <p:nvSpPr>
          <p:cNvPr id="20" name="TextBox 19"/>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Кайтарым = </a:t>
            </a:r>
            <a:r>
              <a:rPr sz="3400" b="1">
                <a:solidFill>
                  <a:srgbClr val="24418C"/>
                </a:solidFill>
                <a:latin typeface="PT Sans"/>
              </a:rPr>
              <a:t>16,30 сом</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ыкма: үч жол</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16/26</a:t>
            </a:r>
          </a:p>
        </p:txBody>
      </p:sp>
      <p:sp>
        <p:nvSpPr>
          <p:cNvPr id="10" name="Rounded Rectangle 9"/>
          <p:cNvSpPr/>
          <p:nvPr/>
        </p:nvSpPr>
        <p:spPr>
          <a:xfrm>
            <a:off x="429768"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2647"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07007"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Толуктап сана</a:t>
            </a:r>
          </a:p>
        </p:txBody>
      </p:sp>
      <p:sp>
        <p:nvSpPr>
          <p:cNvPr id="13" name="TextBox 12"/>
          <p:cNvSpPr txBox="1"/>
          <p:nvPr/>
        </p:nvSpPr>
        <p:spPr>
          <a:xfrm>
            <a:off x="658368"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5 − 1,25 = ?</a:t>
            </a:r>
          </a:p>
        </p:txBody>
      </p:sp>
      <p:sp>
        <p:nvSpPr>
          <p:cNvPr id="14" name="TextBox 13"/>
          <p:cNvSpPr txBox="1"/>
          <p:nvPr/>
        </p:nvSpPr>
        <p:spPr>
          <a:xfrm>
            <a:off x="658368"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1,25 → 2: + 0,75</a:t>
            </a:r>
          </a:p>
        </p:txBody>
      </p:sp>
      <p:sp>
        <p:nvSpPr>
          <p:cNvPr id="15" name="TextBox 14"/>
          <p:cNvSpPr txBox="1"/>
          <p:nvPr/>
        </p:nvSpPr>
        <p:spPr>
          <a:xfrm>
            <a:off x="658368"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 → 5: + 3</a:t>
            </a:r>
          </a:p>
        </p:txBody>
      </p:sp>
      <p:sp>
        <p:nvSpPr>
          <p:cNvPr id="16" name="TextBox 15"/>
          <p:cNvSpPr txBox="1"/>
          <p:nvPr/>
        </p:nvSpPr>
        <p:spPr>
          <a:xfrm>
            <a:off x="658368"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3,75</a:t>
            </a:r>
          </a:p>
        </p:txBody>
      </p:sp>
      <p:sp>
        <p:nvSpPr>
          <p:cNvPr id="17" name="TextBox 16"/>
          <p:cNvSpPr txBox="1"/>
          <p:nvPr/>
        </p:nvSpPr>
        <p:spPr>
          <a:xfrm>
            <a:off x="658368"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Кемитүүнү кошуу менен: кичине сандан чоңуна чейин сана.</a:t>
            </a:r>
          </a:p>
        </p:txBody>
      </p:sp>
      <p:sp>
        <p:nvSpPr>
          <p:cNvPr id="18" name="Rounded Rectangle 17"/>
          <p:cNvSpPr/>
          <p:nvPr/>
        </p:nvSpPr>
        <p:spPr>
          <a:xfrm>
            <a:off x="4297680"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80560"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20" name="TextBox 19"/>
          <p:cNvSpPr txBox="1"/>
          <p:nvPr/>
        </p:nvSpPr>
        <p:spPr>
          <a:xfrm>
            <a:off x="5074920"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Акча менен ойлон</a:t>
            </a:r>
          </a:p>
        </p:txBody>
      </p:sp>
      <p:sp>
        <p:nvSpPr>
          <p:cNvPr id="21" name="TextBox 20"/>
          <p:cNvSpPr txBox="1"/>
          <p:nvPr/>
        </p:nvSpPr>
        <p:spPr>
          <a:xfrm>
            <a:off x="4526280"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45,50 + 38,20</a:t>
            </a:r>
          </a:p>
        </p:txBody>
      </p:sp>
      <p:sp>
        <p:nvSpPr>
          <p:cNvPr id="22" name="TextBox 21"/>
          <p:cNvSpPr txBox="1"/>
          <p:nvPr/>
        </p:nvSpPr>
        <p:spPr>
          <a:xfrm>
            <a:off x="4526280"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45 + 38 = 83 сом</a:t>
            </a:r>
          </a:p>
        </p:txBody>
      </p:sp>
      <p:sp>
        <p:nvSpPr>
          <p:cNvPr id="23" name="TextBox 22"/>
          <p:cNvSpPr txBox="1"/>
          <p:nvPr/>
        </p:nvSpPr>
        <p:spPr>
          <a:xfrm>
            <a:off x="4526280"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50 + 20 = 70 т.</a:t>
            </a:r>
          </a:p>
        </p:txBody>
      </p:sp>
      <p:sp>
        <p:nvSpPr>
          <p:cNvPr id="24" name="TextBox 23"/>
          <p:cNvSpPr txBox="1"/>
          <p:nvPr/>
        </p:nvSpPr>
        <p:spPr>
          <a:xfrm>
            <a:off x="4526280"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83,70 сом</a:t>
            </a:r>
          </a:p>
        </p:txBody>
      </p:sp>
      <p:sp>
        <p:nvSpPr>
          <p:cNvPr id="25" name="TextBox 24"/>
          <p:cNvSpPr txBox="1"/>
          <p:nvPr/>
        </p:nvSpPr>
        <p:spPr>
          <a:xfrm>
            <a:off x="4526280"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Сомду сом менен, тыйынды тыйын менен кош.</a:t>
            </a:r>
          </a:p>
        </p:txBody>
      </p:sp>
      <p:sp>
        <p:nvSpPr>
          <p:cNvPr id="26" name="Rounded Rectangle 25"/>
          <p:cNvSpPr/>
          <p:nvPr/>
        </p:nvSpPr>
        <p:spPr>
          <a:xfrm>
            <a:off x="8165592"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348472"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8" name="TextBox 27"/>
          <p:cNvSpPr txBox="1"/>
          <p:nvPr/>
        </p:nvSpPr>
        <p:spPr>
          <a:xfrm>
            <a:off x="8942832"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Баала, анан текшер</a:t>
            </a:r>
          </a:p>
        </p:txBody>
      </p:sp>
      <p:sp>
        <p:nvSpPr>
          <p:cNvPr id="29" name="TextBox 28"/>
          <p:cNvSpPr txBox="1"/>
          <p:nvPr/>
        </p:nvSpPr>
        <p:spPr>
          <a:xfrm>
            <a:off x="8394192"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12,6 + 9,45</a:t>
            </a:r>
          </a:p>
        </p:txBody>
      </p:sp>
      <p:sp>
        <p:nvSpPr>
          <p:cNvPr id="30" name="TextBox 29"/>
          <p:cNvSpPr txBox="1"/>
          <p:nvPr/>
        </p:nvSpPr>
        <p:spPr>
          <a:xfrm>
            <a:off x="8394192"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13 + 9 = 22</a:t>
            </a:r>
          </a:p>
        </p:txBody>
      </p:sp>
      <p:sp>
        <p:nvSpPr>
          <p:cNvPr id="31" name="TextBox 30"/>
          <p:cNvSpPr txBox="1"/>
          <p:nvPr/>
        </p:nvSpPr>
        <p:spPr>
          <a:xfrm>
            <a:off x="8394192"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так: 22,05</a:t>
            </a:r>
          </a:p>
        </p:txBody>
      </p:sp>
      <p:sp>
        <p:nvSpPr>
          <p:cNvPr id="32" name="TextBox 31"/>
          <p:cNvSpPr txBox="1"/>
          <p:nvPr/>
        </p:nvSpPr>
        <p:spPr>
          <a:xfrm>
            <a:off x="8394192"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22,05 ≈ 22 ✓</a:t>
            </a:r>
          </a:p>
        </p:txBody>
      </p:sp>
      <p:sp>
        <p:nvSpPr>
          <p:cNvPr id="33" name="TextBox 32"/>
          <p:cNvSpPr txBox="1"/>
          <p:nvPr/>
        </p:nvSpPr>
        <p:spPr>
          <a:xfrm>
            <a:off x="8394192"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Жооп баалоодон алыс болсо, кайра эсепте.</a:t>
            </a:r>
          </a:p>
        </p:txBody>
      </p:sp>
      <p:sp>
        <p:nvSpPr>
          <p:cNvPr id="34" name="Rounded Rectangle 33"/>
          <p:cNvSpPr/>
          <p:nvPr/>
        </p:nvSpPr>
        <p:spPr>
          <a:xfrm>
            <a:off x="429768" y="5577840"/>
            <a:ext cx="11329416" cy="502920"/>
          </a:xfrm>
          <a:prstGeom prst="roundRect">
            <a:avLst>
              <a:gd name="adj" fmla="val 40000"/>
            </a:avLst>
          </a:prstGeom>
          <a:solidFill>
            <a:srgbClr val="FFFFFF"/>
          </a:solidFill>
          <a:ln w="2222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700" b="1">
                <a:solidFill>
                  <a:srgbClr val="007A5A"/>
                </a:solidFill>
                <a:latin typeface="PT Sans"/>
              </a:rPr>
              <a:t>Түшүн → ыкма → эркин эсеп. Ыкмаңды үн чыгарып айт: «Мен ... деп ойлодум».</a:t>
            </a:r>
          </a:p>
        </p:txBody>
      </p:sp>
      <p:sp>
        <p:nvSpPr>
          <p:cNvPr id="35" name="Rounded Rectangle 34"/>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36" name="Rounded Rectangle 35"/>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7" name="Rounded Rectangle 36"/>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8" name="Rounded Rectangle 37"/>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Чечүүчү суроо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17/26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200" b="0" i="0">
                <a:solidFill>
                  <a:srgbClr val="1F2430"/>
                </a:solidFill>
                <a:latin typeface="PT Sans"/>
              </a:rPr>
              <a:t>Эмил 12,6 км, анан 9,45 км тепти. Бардыгы канча км?   12,6 + 9,45 = ?</a:t>
            </a:r>
          </a:p>
        </p:txBody>
      </p:sp>
      <p:sp>
        <p:nvSpPr>
          <p:cNvPr id="12" name="Rounded Rectangle 11"/>
          <p:cNvSpPr/>
          <p:nvPr/>
        </p:nvSpPr>
        <p:spPr>
          <a:xfrm>
            <a:off x="429768"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А</a:t>
            </a:r>
          </a:p>
        </p:txBody>
      </p:sp>
      <p:sp>
        <p:nvSpPr>
          <p:cNvPr id="14" name="TextBox 13"/>
          <p:cNvSpPr txBox="1"/>
          <p:nvPr/>
        </p:nvSpPr>
        <p:spPr>
          <a:xfrm>
            <a:off x="1527048"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21,51</a:t>
            </a:r>
          </a:p>
        </p:txBody>
      </p:sp>
      <p:sp>
        <p:nvSpPr>
          <p:cNvPr id="15" name="Rounded Rectangle 14"/>
          <p:cNvSpPr/>
          <p:nvPr/>
        </p:nvSpPr>
        <p:spPr>
          <a:xfrm>
            <a:off x="6208776"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3096"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Б</a:t>
            </a:r>
          </a:p>
        </p:txBody>
      </p:sp>
      <p:sp>
        <p:nvSpPr>
          <p:cNvPr id="17" name="TextBox 16"/>
          <p:cNvSpPr txBox="1"/>
          <p:nvPr/>
        </p:nvSpPr>
        <p:spPr>
          <a:xfrm>
            <a:off x="7306056"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22,05</a:t>
            </a:r>
          </a:p>
        </p:txBody>
      </p:sp>
      <p:sp>
        <p:nvSpPr>
          <p:cNvPr id="18" name="Rounded Rectangle 17"/>
          <p:cNvSpPr/>
          <p:nvPr/>
        </p:nvSpPr>
        <p:spPr>
          <a:xfrm>
            <a:off x="429768"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В</a:t>
            </a:r>
          </a:p>
        </p:txBody>
      </p:sp>
      <p:sp>
        <p:nvSpPr>
          <p:cNvPr id="20" name="TextBox 19"/>
          <p:cNvSpPr txBox="1"/>
          <p:nvPr/>
        </p:nvSpPr>
        <p:spPr>
          <a:xfrm>
            <a:off x="1527048"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10,71</a:t>
            </a:r>
          </a:p>
        </p:txBody>
      </p:sp>
      <p:sp>
        <p:nvSpPr>
          <p:cNvPr id="21" name="Rounded Rectangle 20"/>
          <p:cNvSpPr/>
          <p:nvPr/>
        </p:nvSpPr>
        <p:spPr>
          <a:xfrm>
            <a:off x="6208776"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83096"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Г</a:t>
            </a:r>
          </a:p>
        </p:txBody>
      </p:sp>
      <p:sp>
        <p:nvSpPr>
          <p:cNvPr id="23" name="TextBox 22"/>
          <p:cNvSpPr txBox="1"/>
          <p:nvPr/>
        </p:nvSpPr>
        <p:spPr>
          <a:xfrm>
            <a:off x="7306056"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21,05</a:t>
            </a:r>
          </a:p>
        </p:txBody>
      </p:sp>
      <p:sp>
        <p:nvSpPr>
          <p:cNvPr id="24" name="Rounded Rectangle 2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чий, анан эсепте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18/26</a:t>
            </a:r>
          </a:p>
        </p:txBody>
      </p:sp>
      <p:sp>
        <p:nvSpPr>
          <p:cNvPr id="10" name="Rounded Rectangle 9"/>
          <p:cNvSpPr/>
          <p:nvPr/>
        </p:nvSpPr>
        <p:spPr>
          <a:xfrm>
            <a:off x="429768"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Эмил эртең менен 3,5 км, кечинде 2,8 км велосипед тепти. Бардыгы канча км тепти?</a:t>
            </a:r>
          </a:p>
        </p:txBody>
      </p:sp>
      <p:sp>
        <p:nvSpPr>
          <p:cNvPr id="13" name="TextBox 12"/>
          <p:cNvSpPr txBox="1"/>
          <p:nvPr/>
        </p:nvSpPr>
        <p:spPr>
          <a:xfrm>
            <a:off x="704088"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14" name="TextBox 13"/>
          <p:cNvSpPr txBox="1"/>
          <p:nvPr/>
        </p:nvSpPr>
        <p:spPr>
          <a:xfrm>
            <a:off x="612647"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15" name="Connector 14"/>
          <p:cNvCxnSpPr/>
          <p:nvPr/>
        </p:nvCxnSpPr>
        <p:spPr>
          <a:xfrm>
            <a:off x="2167128" y="4956048"/>
            <a:ext cx="170383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7"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17" name="Connector 16"/>
          <p:cNvCxnSpPr/>
          <p:nvPr/>
        </p:nvCxnSpPr>
        <p:spPr>
          <a:xfrm>
            <a:off x="1618488"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2439"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19600"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0" name="TextBox 19"/>
          <p:cNvSpPr txBox="1"/>
          <p:nvPr/>
        </p:nvSpPr>
        <p:spPr>
          <a:xfrm>
            <a:off x="4876800"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Асел 12,6 км, Эмил 9,45 км тепти. Асел канча км көп тепти? Тилкесин чий.</a:t>
            </a:r>
          </a:p>
        </p:txBody>
      </p:sp>
      <p:sp>
        <p:nvSpPr>
          <p:cNvPr id="21" name="TextBox 20"/>
          <p:cNvSpPr txBox="1"/>
          <p:nvPr/>
        </p:nvSpPr>
        <p:spPr>
          <a:xfrm>
            <a:off x="4556759"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22" name="TextBox 21"/>
          <p:cNvSpPr txBox="1"/>
          <p:nvPr/>
        </p:nvSpPr>
        <p:spPr>
          <a:xfrm>
            <a:off x="4465320"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23" name="Connector 22"/>
          <p:cNvCxnSpPr/>
          <p:nvPr/>
        </p:nvCxnSpPr>
        <p:spPr>
          <a:xfrm>
            <a:off x="6019800" y="4956048"/>
            <a:ext cx="1703831"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5320"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25" name="Connector 24"/>
          <p:cNvCxnSpPr/>
          <p:nvPr/>
        </p:nvCxnSpPr>
        <p:spPr>
          <a:xfrm>
            <a:off x="5471159"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5112"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72272"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8" name="TextBox 27"/>
          <p:cNvSpPr txBox="1"/>
          <p:nvPr/>
        </p:nvSpPr>
        <p:spPr>
          <a:xfrm>
            <a:off x="8729472"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Жол 25 км. Биринчи саатта 8,75 км, экинчи саатта 9,5 км жүрүштү. Дагы канча км калды?</a:t>
            </a:r>
          </a:p>
        </p:txBody>
      </p:sp>
      <p:sp>
        <p:nvSpPr>
          <p:cNvPr id="29" name="TextBox 28"/>
          <p:cNvSpPr txBox="1"/>
          <p:nvPr/>
        </p:nvSpPr>
        <p:spPr>
          <a:xfrm>
            <a:off x="8409432"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30" name="TextBox 29"/>
          <p:cNvSpPr txBox="1"/>
          <p:nvPr/>
        </p:nvSpPr>
        <p:spPr>
          <a:xfrm>
            <a:off x="8317991"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31" name="Connector 30"/>
          <p:cNvCxnSpPr/>
          <p:nvPr/>
        </p:nvCxnSpPr>
        <p:spPr>
          <a:xfrm>
            <a:off x="9872471" y="4956048"/>
            <a:ext cx="170383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17991"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33" name="Connector 32"/>
          <p:cNvCxnSpPr/>
          <p:nvPr/>
        </p:nvCxnSpPr>
        <p:spPr>
          <a:xfrm>
            <a:off x="9323831" y="5641848"/>
            <a:ext cx="225247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19/26</a:t>
            </a:r>
          </a:p>
        </p:txBody>
      </p:sp>
      <p:sp>
        <p:nvSpPr>
          <p:cNvPr id="10" name="Rounded Rectangle 9"/>
          <p:cNvSpPr/>
          <p:nvPr/>
        </p:nvSpPr>
        <p:spPr>
          <a:xfrm>
            <a:off x="429768"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Эмил эртең менен 3,5 км, кечинде 2,8 км велосипед тепти. Бардыгы канча км тепти?</a:t>
            </a:r>
          </a:p>
        </p:txBody>
      </p:sp>
      <p:sp>
        <p:nvSpPr>
          <p:cNvPr id="13" name="Rectangle 12"/>
          <p:cNvSpPr/>
          <p:nvPr/>
        </p:nvSpPr>
        <p:spPr>
          <a:xfrm>
            <a:off x="566928" y="3017520"/>
            <a:ext cx="130217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3,5</a:t>
            </a:r>
          </a:p>
        </p:txBody>
      </p:sp>
      <p:sp>
        <p:nvSpPr>
          <p:cNvPr id="14" name="Rectangle 13"/>
          <p:cNvSpPr/>
          <p:nvPr/>
        </p:nvSpPr>
        <p:spPr>
          <a:xfrm>
            <a:off x="1869101" y="3017520"/>
            <a:ext cx="1041738"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2,8</a:t>
            </a:r>
          </a:p>
        </p:txBody>
      </p:sp>
      <p:cxnSp>
        <p:nvCxnSpPr>
          <p:cNvPr id="15" name="Connector 14"/>
          <p:cNvCxnSpPr/>
          <p:nvPr/>
        </p:nvCxnSpPr>
        <p:spPr>
          <a:xfrm>
            <a:off x="3002280"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139440"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02280"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185160"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6,3</a:t>
            </a:r>
          </a:p>
        </p:txBody>
      </p:sp>
      <p:sp>
        <p:nvSpPr>
          <p:cNvPr id="19" name="TextBox 18"/>
          <p:cNvSpPr txBox="1"/>
          <p:nvPr/>
        </p:nvSpPr>
        <p:spPr>
          <a:xfrm>
            <a:off x="612647"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3,5 + 2,8 = 6,3 км</a:t>
            </a:r>
          </a:p>
        </p:txBody>
      </p:sp>
      <p:sp>
        <p:nvSpPr>
          <p:cNvPr id="20" name="Rounded Rectangle 19"/>
          <p:cNvSpPr/>
          <p:nvPr/>
        </p:nvSpPr>
        <p:spPr>
          <a:xfrm>
            <a:off x="4282439"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19600"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2" name="TextBox 21"/>
          <p:cNvSpPr txBox="1"/>
          <p:nvPr/>
        </p:nvSpPr>
        <p:spPr>
          <a:xfrm>
            <a:off x="4876800"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Асел 12,6 км, Эмил 9,45 км тепти. Асел канча км көп тепти? Тилкесин чий.</a:t>
            </a:r>
          </a:p>
        </p:txBody>
      </p:sp>
      <p:sp>
        <p:nvSpPr>
          <p:cNvPr id="23" name="TextBox 22"/>
          <p:cNvSpPr txBox="1"/>
          <p:nvPr/>
        </p:nvSpPr>
        <p:spPr>
          <a:xfrm>
            <a:off x="4419600" y="3017520"/>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Асел</a:t>
            </a:r>
          </a:p>
        </p:txBody>
      </p:sp>
      <p:sp>
        <p:nvSpPr>
          <p:cNvPr id="24" name="Rectangle 23"/>
          <p:cNvSpPr/>
          <p:nvPr/>
        </p:nvSpPr>
        <p:spPr>
          <a:xfrm>
            <a:off x="5882640" y="3017520"/>
            <a:ext cx="664149"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9,45</a:t>
            </a:r>
          </a:p>
        </p:txBody>
      </p:sp>
      <p:sp>
        <p:nvSpPr>
          <p:cNvPr id="25" name="Rectangle 24"/>
          <p:cNvSpPr/>
          <p:nvPr/>
        </p:nvSpPr>
        <p:spPr>
          <a:xfrm>
            <a:off x="6546789" y="3017520"/>
            <a:ext cx="216722"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a:t>
            </a:r>
          </a:p>
        </p:txBody>
      </p:sp>
      <p:sp>
        <p:nvSpPr>
          <p:cNvPr id="26" name="TextBox 25"/>
          <p:cNvSpPr txBox="1"/>
          <p:nvPr/>
        </p:nvSpPr>
        <p:spPr>
          <a:xfrm>
            <a:off x="4419600" y="3574389"/>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Эмил</a:t>
            </a:r>
          </a:p>
        </p:txBody>
      </p:sp>
      <p:sp>
        <p:nvSpPr>
          <p:cNvPr id="27" name="Rectangle 26"/>
          <p:cNvSpPr/>
          <p:nvPr/>
        </p:nvSpPr>
        <p:spPr>
          <a:xfrm>
            <a:off x="5882640" y="3574389"/>
            <a:ext cx="664149"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9,45</a:t>
            </a:r>
          </a:p>
        </p:txBody>
      </p:sp>
      <p:sp>
        <p:nvSpPr>
          <p:cNvPr id="28" name="TextBox 27"/>
          <p:cNvSpPr txBox="1"/>
          <p:nvPr/>
        </p:nvSpPr>
        <p:spPr>
          <a:xfrm>
            <a:off x="4465320"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12,60 − 9,45 = 3,15 км</a:t>
            </a:r>
          </a:p>
        </p:txBody>
      </p:sp>
      <p:sp>
        <p:nvSpPr>
          <p:cNvPr id="29" name="Rounded Rectangle 28"/>
          <p:cNvSpPr/>
          <p:nvPr/>
        </p:nvSpPr>
        <p:spPr>
          <a:xfrm>
            <a:off x="8135112"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272272"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31" name="TextBox 30"/>
          <p:cNvSpPr txBox="1"/>
          <p:nvPr/>
        </p:nvSpPr>
        <p:spPr>
          <a:xfrm>
            <a:off x="8729472"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Жол 25 км. Биринчи саатта 8,75 км, экинчи саатта 9,5 км жүрүштү. Дагы канча км калды?</a:t>
            </a:r>
          </a:p>
        </p:txBody>
      </p:sp>
      <p:sp>
        <p:nvSpPr>
          <p:cNvPr id="32" name="Rectangle 31"/>
          <p:cNvSpPr/>
          <p:nvPr/>
        </p:nvSpPr>
        <p:spPr>
          <a:xfrm>
            <a:off x="8272272" y="3017520"/>
            <a:ext cx="820369"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8,75</a:t>
            </a:r>
          </a:p>
        </p:txBody>
      </p:sp>
      <p:sp>
        <p:nvSpPr>
          <p:cNvPr id="33" name="Rectangle 32"/>
          <p:cNvSpPr/>
          <p:nvPr/>
        </p:nvSpPr>
        <p:spPr>
          <a:xfrm>
            <a:off x="9092641" y="3017520"/>
            <a:ext cx="890686"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9,5</a:t>
            </a:r>
          </a:p>
        </p:txBody>
      </p:sp>
      <p:sp>
        <p:nvSpPr>
          <p:cNvPr id="34" name="Rectangle 33"/>
          <p:cNvSpPr/>
          <p:nvPr/>
        </p:nvSpPr>
        <p:spPr>
          <a:xfrm>
            <a:off x="9983327" y="3017520"/>
            <a:ext cx="632856"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a:t>
            </a:r>
          </a:p>
        </p:txBody>
      </p:sp>
      <p:cxnSp>
        <p:nvCxnSpPr>
          <p:cNvPr id="35" name="Connector 34"/>
          <p:cNvCxnSpPr/>
          <p:nvPr/>
        </p:nvCxnSpPr>
        <p:spPr>
          <a:xfrm>
            <a:off x="10707624"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844784"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707624"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0890503"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25</a:t>
            </a:r>
          </a:p>
        </p:txBody>
      </p:sp>
      <p:sp>
        <p:nvSpPr>
          <p:cNvPr id="39" name="TextBox 38"/>
          <p:cNvSpPr txBox="1"/>
          <p:nvPr/>
        </p:nvSpPr>
        <p:spPr>
          <a:xfrm>
            <a:off x="8317991"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25 − 18,25 = 6,75 км</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20/26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Дептериңе чыгар. Кыйын болсо – жакшы! Мээң өсүп жатат.</a:t>
            </a:r>
          </a:p>
        </p:txBody>
      </p:sp>
      <p:sp>
        <p:nvSpPr>
          <p:cNvPr id="11" name="Rounded Rectangle 10"/>
          <p:cNvSpPr/>
          <p:nvPr/>
        </p:nvSpPr>
        <p:spPr>
          <a:xfrm>
            <a:off x="429768"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Кош: 3,6 + 4,8</a:t>
            </a:r>
          </a:p>
        </p:txBody>
      </p:sp>
      <p:sp>
        <p:nvSpPr>
          <p:cNvPr id="14" name="Rounded Rectangle 13"/>
          <p:cNvSpPr/>
          <p:nvPr/>
        </p:nvSpPr>
        <p:spPr>
          <a:xfrm>
            <a:off x="6208776"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Кемит: 9,25 − 3,5</a:t>
            </a:r>
          </a:p>
        </p:txBody>
      </p:sp>
      <p:sp>
        <p:nvSpPr>
          <p:cNvPr id="17" name="Rounded Rectangle 16"/>
          <p:cNvSpPr/>
          <p:nvPr/>
        </p:nvSpPr>
        <p:spPr>
          <a:xfrm>
            <a:off x="429768"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Кош: 6 + 2,07</a:t>
            </a:r>
          </a:p>
        </p:txBody>
      </p:sp>
      <p:sp>
        <p:nvSpPr>
          <p:cNvPr id="20" name="Rounded Rectangle 19"/>
          <p:cNvSpPr/>
          <p:nvPr/>
        </p:nvSpPr>
        <p:spPr>
          <a:xfrm>
            <a:off x="6208776"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Кемит: 8 − 2,35</a:t>
            </a:r>
          </a:p>
        </p:txBody>
      </p:sp>
      <p:sp>
        <p:nvSpPr>
          <p:cNvPr id="23" name="Rounded Rectangle 22"/>
          <p:cNvSpPr/>
          <p:nvPr/>
        </p:nvSpPr>
        <p:spPr>
          <a:xfrm>
            <a:off x="429768"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5" name="TextBox 24"/>
          <p:cNvSpPr txBox="1"/>
          <p:nvPr/>
        </p:nvSpPr>
        <p:spPr>
          <a:xfrm>
            <a:off x="1207007"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2,4 м + 85 см = ? м</a:t>
            </a:r>
          </a:p>
        </p:txBody>
      </p:sp>
      <p:sp>
        <p:nvSpPr>
          <p:cNvPr id="26" name="Rounded Rectangle 25"/>
          <p:cNvSpPr/>
          <p:nvPr/>
        </p:nvSpPr>
        <p:spPr>
          <a:xfrm>
            <a:off x="6208776"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91656"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6</a:t>
            </a:r>
          </a:p>
        </p:txBody>
      </p:sp>
      <p:sp>
        <p:nvSpPr>
          <p:cNvPr id="28" name="TextBox 27"/>
          <p:cNvSpPr txBox="1"/>
          <p:nvPr/>
        </p:nvSpPr>
        <p:spPr>
          <a:xfrm>
            <a:off x="6986016"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50 сом − 27,50 сом</a:t>
            </a:r>
          </a:p>
        </p:txBody>
      </p:sp>
      <p:sp>
        <p:nvSpPr>
          <p:cNvPr id="29" name="Rounded Rectangle 2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0" name="Rounded Rectangle 2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1" name="Rounded Rectangle 30"/>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21/26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Кош: 3,6 + 4,8</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8,4</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Кемит: 9,25 − 3,5</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5,75</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Кош: 6 + 2,07</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8,07</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Кемит: 8 − 2,35</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5,65</a:t>
            </a:r>
          </a:p>
        </p:txBody>
      </p:sp>
      <p:sp>
        <p:nvSpPr>
          <p:cNvPr id="26" name="Rounded Rectangle 25"/>
          <p:cNvSpPr/>
          <p:nvPr/>
        </p:nvSpPr>
        <p:spPr>
          <a:xfrm>
            <a:off x="429768"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6928"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5</a:t>
            </a:r>
          </a:p>
        </p:txBody>
      </p:sp>
      <p:sp>
        <p:nvSpPr>
          <p:cNvPr id="28" name="TextBox 27"/>
          <p:cNvSpPr txBox="1"/>
          <p:nvPr/>
        </p:nvSpPr>
        <p:spPr>
          <a:xfrm>
            <a:off x="1115568"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2,4 м + 85 см = ? м</a:t>
            </a:r>
          </a:p>
        </p:txBody>
      </p:sp>
      <p:sp>
        <p:nvSpPr>
          <p:cNvPr id="29" name="TextBox 28"/>
          <p:cNvSpPr txBox="1"/>
          <p:nvPr/>
        </p:nvSpPr>
        <p:spPr>
          <a:xfrm>
            <a:off x="4334804"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3,25 м</a:t>
            </a:r>
          </a:p>
        </p:txBody>
      </p:sp>
      <p:sp>
        <p:nvSpPr>
          <p:cNvPr id="30" name="Rounded Rectangle 29"/>
          <p:cNvSpPr/>
          <p:nvPr/>
        </p:nvSpPr>
        <p:spPr>
          <a:xfrm>
            <a:off x="6208776"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5936"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6</a:t>
            </a:r>
          </a:p>
        </p:txBody>
      </p:sp>
      <p:sp>
        <p:nvSpPr>
          <p:cNvPr id="32" name="TextBox 31"/>
          <p:cNvSpPr txBox="1"/>
          <p:nvPr/>
        </p:nvSpPr>
        <p:spPr>
          <a:xfrm>
            <a:off x="6894576"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50 сом − 27,50 сом</a:t>
            </a:r>
          </a:p>
        </p:txBody>
      </p:sp>
      <p:sp>
        <p:nvSpPr>
          <p:cNvPr id="33" name="TextBox 32"/>
          <p:cNvSpPr txBox="1"/>
          <p:nvPr/>
        </p:nvSpPr>
        <p:spPr>
          <a:xfrm>
            <a:off x="10113812"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22,50 сом</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Окуяга кайтабыз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Ким туура? Адегенде баала: болжол менен канча км? Рекордго (25 км) дагы канча км калды?</a:t>
            </a:r>
          </a:p>
        </p:txBody>
      </p:sp>
      <p:sp>
        <p:nvSpPr>
          <p:cNvPr id="12" name="TextBox 11"/>
          <p:cNvSpPr txBox="1"/>
          <p:nvPr/>
        </p:nvSpPr>
        <p:spPr>
          <a:xfrm>
            <a:off x="914400" y="2240280"/>
            <a:ext cx="1371600" cy="548640"/>
          </a:xfrm>
          <a:prstGeom prst="rect">
            <a:avLst/>
          </a:prstGeom>
          <a:noFill/>
        </p:spPr>
        <p:txBody>
          <a:bodyPr wrap="square" anchor="ctr" lIns="45720" rIns="45720" tIns="27432" bIns="27432">
            <a:spAutoFit/>
          </a:bodyPr>
          <a:lstStyle/>
          <a:p>
            <a:pPr algn="r">
              <a:lnSpc>
                <a:spcPct val="105000"/>
              </a:lnSpc>
            </a:pPr>
            <a:r>
              <a:rPr sz="1800" b="1" i="0">
                <a:solidFill>
                  <a:srgbClr val="1F2430"/>
                </a:solidFill>
                <a:latin typeface="PT Sans"/>
              </a:rPr>
              <a:t>Жол</a:t>
            </a:r>
          </a:p>
        </p:txBody>
      </p:sp>
      <p:sp>
        <p:nvSpPr>
          <p:cNvPr id="13" name="Rectangle 12"/>
          <p:cNvSpPr/>
          <p:nvPr/>
        </p:nvSpPr>
        <p:spPr>
          <a:xfrm>
            <a:off x="2377440" y="2240280"/>
            <a:ext cx="3825118"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12,6</a:t>
            </a:r>
          </a:p>
        </p:txBody>
      </p:sp>
      <p:sp>
        <p:nvSpPr>
          <p:cNvPr id="14" name="Rectangle 13"/>
          <p:cNvSpPr/>
          <p:nvPr/>
        </p:nvSpPr>
        <p:spPr>
          <a:xfrm>
            <a:off x="6202558" y="2240280"/>
            <a:ext cx="2884017"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9,45</a:t>
            </a:r>
          </a:p>
        </p:txBody>
      </p:sp>
      <p:sp>
        <p:nvSpPr>
          <p:cNvPr id="15" name="Rectangle 14"/>
          <p:cNvSpPr/>
          <p:nvPr/>
        </p:nvSpPr>
        <p:spPr>
          <a:xfrm>
            <a:off x="9086575" y="2240280"/>
            <a:ext cx="880384" cy="548640"/>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6B7280"/>
                </a:solidFill>
                <a:latin typeface="PT Sans"/>
              </a:rPr>
              <a:t>?</a:t>
            </a:r>
          </a:p>
        </p:txBody>
      </p:sp>
      <p:cxnSp>
        <p:nvCxnSpPr>
          <p:cNvPr id="16" name="Connector 15"/>
          <p:cNvCxnSpPr/>
          <p:nvPr/>
        </p:nvCxnSpPr>
        <p:spPr>
          <a:xfrm>
            <a:off x="10058399" y="224028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195559" y="2240280"/>
            <a:ext cx="0" cy="54864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058399" y="27889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241279" y="2240280"/>
            <a:ext cx="1005840" cy="548640"/>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25</a:t>
            </a:r>
          </a:p>
        </p:txBody>
      </p:sp>
      <p:sp>
        <p:nvSpPr>
          <p:cNvPr id="20" name="TextBox 19"/>
          <p:cNvSpPr txBox="1"/>
          <p:nvPr/>
        </p:nvSpPr>
        <p:spPr>
          <a:xfrm>
            <a:off x="731520" y="3127248"/>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 13 + 9 = 22</a:t>
            </a:r>
          </a:p>
        </p:txBody>
      </p:sp>
      <p:sp>
        <p:nvSpPr>
          <p:cNvPr id="21" name="TextBox 20"/>
          <p:cNvSpPr txBox="1"/>
          <p:nvPr/>
        </p:nvSpPr>
        <p:spPr>
          <a:xfrm>
            <a:off x="8366760" y="3127248"/>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баалоо</a:t>
            </a:r>
          </a:p>
        </p:txBody>
      </p:sp>
      <p:sp>
        <p:nvSpPr>
          <p:cNvPr id="22" name="TextBox 21"/>
          <p:cNvSpPr txBox="1"/>
          <p:nvPr/>
        </p:nvSpPr>
        <p:spPr>
          <a:xfrm>
            <a:off x="731520" y="3694176"/>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12,60 + 9,45 = 22,05</a:t>
            </a:r>
          </a:p>
        </p:txBody>
      </p:sp>
      <p:sp>
        <p:nvSpPr>
          <p:cNvPr id="23" name="TextBox 22"/>
          <p:cNvSpPr txBox="1"/>
          <p:nvPr/>
        </p:nvSpPr>
        <p:spPr>
          <a:xfrm>
            <a:off x="8366760" y="3694176"/>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жүрдүк</a:t>
            </a:r>
          </a:p>
        </p:txBody>
      </p:sp>
      <p:sp>
        <p:nvSpPr>
          <p:cNvPr id="24" name="TextBox 23"/>
          <p:cNvSpPr txBox="1"/>
          <p:nvPr/>
        </p:nvSpPr>
        <p:spPr>
          <a:xfrm>
            <a:off x="731520" y="4261104"/>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24418C"/>
                </a:solidFill>
                <a:latin typeface="PT Sans"/>
              </a:rPr>
              <a:t>25,00 − 22,05 = 2,95</a:t>
            </a:r>
          </a:p>
        </p:txBody>
      </p:sp>
      <p:sp>
        <p:nvSpPr>
          <p:cNvPr id="25" name="TextBox 24"/>
          <p:cNvSpPr txBox="1"/>
          <p:nvPr/>
        </p:nvSpPr>
        <p:spPr>
          <a:xfrm>
            <a:off x="8366760" y="4261104"/>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калды</a:t>
            </a:r>
          </a:p>
        </p:txBody>
      </p:sp>
      <p:sp>
        <p:nvSpPr>
          <p:cNvPr id="26" name="Rounded Rectangle 25"/>
          <p:cNvSpPr/>
          <p:nvPr/>
        </p:nvSpPr>
        <p:spPr>
          <a:xfrm>
            <a:off x="1874519" y="5486400"/>
            <a:ext cx="8449056" cy="640080"/>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Эмил туура: 22,05 км. Рекордго 2,95 км калды.</a:t>
            </a:r>
          </a:p>
        </p:txBody>
      </p:sp>
      <p:sp>
        <p:nvSpPr>
          <p:cNvPr id="27" name="Rounded Rectangle 26"/>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Түз: өзүң маселе түз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23/26</a:t>
            </a:r>
          </a:p>
        </p:txBody>
      </p:sp>
      <p:sp>
        <p:nvSpPr>
          <p:cNvPr id="10" name="Rounded Rectangle 9"/>
          <p:cNvSpPr/>
          <p:nvPr/>
        </p:nvSpPr>
        <p:spPr>
          <a:xfrm>
            <a:off x="429768" y="1225296"/>
            <a:ext cx="11329416" cy="48920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71600"/>
            <a:ext cx="10780776" cy="914400"/>
          </a:xfrm>
          <a:prstGeom prst="rect">
            <a:avLst/>
          </a:prstGeom>
          <a:noFill/>
        </p:spPr>
        <p:txBody>
          <a:bodyPr wrap="square" anchor="t" lIns="45720" rIns="45720" tIns="27432" bIns="27432">
            <a:spAutoFit/>
          </a:bodyPr>
          <a:lstStyle/>
          <a:p>
            <a:pPr algn="l">
              <a:lnSpc>
                <a:spcPct val="105000"/>
              </a:lnSpc>
            </a:pPr>
            <a:r>
              <a:rPr sz="2400" b="1" i="0">
                <a:solidFill>
                  <a:srgbClr val="1F2430"/>
                </a:solidFill>
                <a:latin typeface="PT Sans"/>
              </a:rPr>
              <a:t>Велосипед сапары жөнүндө маселе түз: эки жол бөлүгү (км) же эки сатып алуу (сом). Адегенде баала.</a:t>
            </a:r>
          </a:p>
        </p:txBody>
      </p:sp>
      <p:sp>
        <p:nvSpPr>
          <p:cNvPr id="12" name="Oval 11"/>
          <p:cNvSpPr/>
          <p:nvPr/>
        </p:nvSpPr>
        <p:spPr>
          <a:xfrm>
            <a:off x="704088" y="256032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254203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Окуядагы каармандарды колдон: Эмил, Асел, Бакыт байке, Жаңыл, Тилек.</a:t>
            </a:r>
          </a:p>
        </p:txBody>
      </p:sp>
      <p:sp>
        <p:nvSpPr>
          <p:cNvPr id="14" name="Oval 13"/>
          <p:cNvSpPr/>
          <p:nvPr/>
        </p:nvSpPr>
        <p:spPr>
          <a:xfrm>
            <a:off x="704088" y="338327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3364991"/>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Тилкесин чий жана туюнтмасын жаз.</a:t>
            </a:r>
          </a:p>
        </p:txBody>
      </p:sp>
      <p:sp>
        <p:nvSpPr>
          <p:cNvPr id="16" name="Oval 15"/>
          <p:cNvSpPr/>
          <p:nvPr/>
        </p:nvSpPr>
        <p:spPr>
          <a:xfrm>
            <a:off x="704088" y="4206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418795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Жупуңа бер: ал чыгарсын, сен текшер.</a:t>
            </a:r>
          </a:p>
        </p:txBody>
      </p:sp>
      <p:sp>
        <p:nvSpPr>
          <p:cNvPr id="18" name="Rounded Rectangle 17"/>
          <p:cNvSpPr/>
          <p:nvPr/>
        </p:nvSpPr>
        <p:spPr>
          <a:xfrm>
            <a:off x="4449927" y="6327648"/>
            <a:ext cx="3291840" cy="411480"/>
          </a:xfrm>
          <a:prstGeom prst="roundRect">
            <a:avLst>
              <a:gd name="adj" fmla="val 50000"/>
            </a:avLst>
          </a:prstGeom>
          <a:no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A84400"/>
                </a:solidFill>
                <a:latin typeface="PT Sans"/>
              </a:rPr>
              <a:t>3C · Кызматташуу</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Чыгуу билети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24/26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Өз алдынча, 3 мүнөт. Кагазыңа жазып бер.</a:t>
            </a:r>
          </a:p>
        </p:txBody>
      </p:sp>
      <p:sp>
        <p:nvSpPr>
          <p:cNvPr id="11" name="Rounded Rectangle 10"/>
          <p:cNvSpPr/>
          <p:nvPr/>
        </p:nvSpPr>
        <p:spPr>
          <a:xfrm>
            <a:off x="429768" y="169164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Кош: 4,6 + 3,75</a:t>
            </a:r>
          </a:p>
        </p:txBody>
      </p:sp>
      <p:sp>
        <p:nvSpPr>
          <p:cNvPr id="14" name="Rounded Rectangle 13"/>
          <p:cNvSpPr/>
          <p:nvPr/>
        </p:nvSpPr>
        <p:spPr>
          <a:xfrm>
            <a:off x="429768" y="323088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07007" y="323088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Кемит: 7 − 2,4</a:t>
            </a:r>
          </a:p>
        </p:txBody>
      </p:sp>
      <p:sp>
        <p:nvSpPr>
          <p:cNvPr id="17" name="Rounded Rectangle 16"/>
          <p:cNvSpPr/>
          <p:nvPr/>
        </p:nvSpPr>
        <p:spPr>
          <a:xfrm>
            <a:off x="429768" y="477012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77012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Асел 50 сом берип, 18,50 сомго суу алды. Канча кайтарым алды?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талкуу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25/26</a:t>
            </a:r>
          </a:p>
        </p:txBody>
      </p:sp>
      <p:sp>
        <p:nvSpPr>
          <p:cNvPr id="10" name="Rounded Rectangle 9"/>
          <p:cNvSpPr/>
          <p:nvPr/>
        </p:nvSpPr>
        <p:spPr>
          <a:xfrm>
            <a:off x="429768" y="1225296"/>
            <a:ext cx="11329416" cy="32461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80160"/>
            <a:ext cx="10780776" cy="548640"/>
          </a:xfrm>
          <a:prstGeom prst="rect">
            <a:avLst/>
          </a:prstGeom>
          <a:noFill/>
        </p:spPr>
        <p:txBody>
          <a:bodyPr wrap="square" anchor="t" lIns="45720" rIns="45720" tIns="27432" bIns="27432">
            <a:spAutoFit/>
          </a:bodyPr>
          <a:lstStyle/>
          <a:p>
            <a:pPr algn="l">
              <a:lnSpc>
                <a:spcPct val="105000"/>
              </a:lnSpc>
            </a:pPr>
            <a:r>
              <a:rPr sz="2400" b="1" i="0">
                <a:solidFill>
                  <a:srgbClr val="1D3557"/>
                </a:solidFill>
                <a:latin typeface="PT Sans"/>
              </a:rPr>
              <a:t>Оозеки талкуу</a:t>
            </a:r>
          </a:p>
        </p:txBody>
      </p:sp>
      <p:sp>
        <p:nvSpPr>
          <p:cNvPr id="12" name="Oval 11"/>
          <p:cNvSpPr/>
          <p:nvPr/>
        </p:nvSpPr>
        <p:spPr>
          <a:xfrm>
            <a:off x="704088" y="1920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1901952"/>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үтүрдү үтүрдүн астына жазабыз?</a:t>
            </a:r>
          </a:p>
        </p:txBody>
      </p:sp>
      <p:sp>
        <p:nvSpPr>
          <p:cNvPr id="14" name="Oval 13"/>
          <p:cNvSpPr/>
          <p:nvPr/>
        </p:nvSpPr>
        <p:spPr>
          <a:xfrm>
            <a:off x="704088" y="2542032"/>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2523744"/>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7 − 2,4 эсептегенде 7ни кантип жазасың? Эмне үчүн?</a:t>
            </a:r>
          </a:p>
        </p:txBody>
      </p:sp>
      <p:sp>
        <p:nvSpPr>
          <p:cNvPr id="16" name="Oval 15"/>
          <p:cNvSpPr/>
          <p:nvPr/>
        </p:nvSpPr>
        <p:spPr>
          <a:xfrm>
            <a:off x="704088" y="316382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3145536"/>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Баалоо жообуңду текшерүүгө кантип жардам берди?</a:t>
            </a:r>
          </a:p>
        </p:txBody>
      </p:sp>
      <p:sp>
        <p:nvSpPr>
          <p:cNvPr id="18" name="TextBox 17"/>
          <p:cNvSpPr txBox="1"/>
          <p:nvPr/>
        </p:nvSpPr>
        <p:spPr>
          <a:xfrm>
            <a:off x="429768" y="4617720"/>
            <a:ext cx="11329416" cy="457200"/>
          </a:xfrm>
          <a:prstGeom prst="rect">
            <a:avLst/>
          </a:prstGeom>
          <a:noFill/>
        </p:spPr>
        <p:txBody>
          <a:bodyPr wrap="square" anchor="t" lIns="45720" rIns="45720" tIns="27432" bIns="27432">
            <a:spAutoFit/>
          </a:bodyPr>
          <a:lstStyle/>
          <a:p>
            <a:pPr algn="ctr">
              <a:lnSpc>
                <a:spcPct val="105000"/>
              </a:lnSpc>
            </a:pPr>
            <a:r>
              <a:rPr sz="2000" b="0" i="1">
                <a:solidFill>
                  <a:srgbClr val="6B7280"/>
                </a:solidFill>
                <a:latin typeface="PT Sans"/>
              </a:rPr>
              <a:t>Өзүңдү баала: колуңду көтөр.</a:t>
            </a:r>
          </a:p>
        </p:txBody>
      </p:sp>
      <p:sp>
        <p:nvSpPr>
          <p:cNvPr id="19" name="Rounded Rectangle 18"/>
          <p:cNvSpPr/>
          <p:nvPr/>
        </p:nvSpPr>
        <p:spPr>
          <a:xfrm>
            <a:off x="978407" y="5120640"/>
            <a:ext cx="3291840" cy="73152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007A5A"/>
                </a:solidFill>
                <a:latin typeface="PT Sans"/>
              </a:rPr>
              <a:t>Түшүндүм</a:t>
            </a:r>
          </a:p>
        </p:txBody>
      </p:sp>
      <p:sp>
        <p:nvSpPr>
          <p:cNvPr id="20" name="Rounded Rectangle 19"/>
          <p:cNvSpPr/>
          <p:nvPr/>
        </p:nvSpPr>
        <p:spPr>
          <a:xfrm>
            <a:off x="4636008" y="5120640"/>
            <a:ext cx="3291840" cy="73152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Дагы машыгам</a:t>
            </a:r>
          </a:p>
        </p:txBody>
      </p:sp>
      <p:sp>
        <p:nvSpPr>
          <p:cNvPr id="21" name="Rounded Rectangle 20"/>
          <p:cNvSpPr/>
          <p:nvPr/>
        </p:nvSpPr>
        <p:spPr>
          <a:xfrm>
            <a:off x="8293608" y="5120640"/>
            <a:ext cx="3291840" cy="73152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24418C"/>
                </a:solidFill>
                <a:latin typeface="PT Sans"/>
              </a:rPr>
              <a:t>Жардам керек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Мугалим үчүн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Ондук бөлчөктөрдү кошуу жана кемитүү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26/26</a:t>
            </a:r>
          </a:p>
        </p:txBody>
      </p:sp>
      <p:sp>
        <p:nvSpPr>
          <p:cNvPr id="10" name="Rounded Rectangle 9"/>
          <p:cNvSpPr/>
          <p:nvPr/>
        </p:nvSpPr>
        <p:spPr>
          <a:xfrm>
            <a:off x="429768" y="1225296"/>
            <a:ext cx="5120640"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466344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Тилке моделин кантип үйрөтөбүз</a:t>
            </a:r>
          </a:p>
        </p:txBody>
      </p:sp>
      <p:sp>
        <p:nvSpPr>
          <p:cNvPr id="12" name="Oval 11"/>
          <p:cNvSpPr/>
          <p:nvPr/>
        </p:nvSpPr>
        <p:spPr>
          <a:xfrm>
            <a:off x="658368" y="187451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188719" y="1856231"/>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сабакта разряд таблицасын жана капкактарды колдонууну сунуштайм: алмаштырууну окуучу өзү жасасын (М2, М3, М4).</a:t>
            </a:r>
          </a:p>
        </p:txBody>
      </p:sp>
      <p:sp>
        <p:nvSpPr>
          <p:cNvPr id="14" name="Oval 13"/>
          <p:cNvSpPr/>
          <p:nvPr/>
        </p:nvSpPr>
        <p:spPr>
          <a:xfrm>
            <a:off x="658368" y="2898648"/>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188719" y="2880360"/>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бир эсептен мурун баалоону жаздырам: «болжол менен канча?» (М1).</a:t>
            </a:r>
          </a:p>
        </p:txBody>
      </p:sp>
      <p:sp>
        <p:nvSpPr>
          <p:cNvPr id="16" name="Oval 15"/>
          <p:cNvSpPr/>
          <p:nvPr/>
        </p:nvSpPr>
        <p:spPr>
          <a:xfrm>
            <a:off x="658368" y="3922776"/>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188719" y="3904488"/>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Бүтүн санды «7,00» деп жаздырып, анан кемиттирем (М5).</a:t>
            </a:r>
          </a:p>
        </p:txBody>
      </p:sp>
      <p:sp>
        <p:nvSpPr>
          <p:cNvPr id="18" name="Oval 17"/>
          <p:cNvSpPr/>
          <p:nvPr/>
        </p:nvSpPr>
        <p:spPr>
          <a:xfrm>
            <a:off x="658368" y="494690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19" name="TextBox 18"/>
          <p:cNvSpPr txBox="1"/>
          <p:nvPr/>
        </p:nvSpPr>
        <p:spPr>
          <a:xfrm>
            <a:off x="1188719" y="4928616"/>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Акча маселелерин чыныгы тыйындар (10, 50 тыйын, 1 сом) менен ойнотом; м/см ди таблицада (М6).</a:t>
            </a:r>
          </a:p>
        </p:txBody>
      </p:sp>
      <p:sp>
        <p:nvSpPr>
          <p:cNvPr id="20" name="Rounded Rectangle 19"/>
          <p:cNvSpPr/>
          <p:nvPr/>
        </p:nvSpPr>
        <p:spPr>
          <a:xfrm>
            <a:off x="5779007" y="1225296"/>
            <a:ext cx="5980176"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7607" y="1280160"/>
            <a:ext cx="548640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Ой жүгүртүү: эмне деп айтабыз?</a:t>
            </a:r>
          </a:p>
        </p:txBody>
      </p:sp>
      <p:sp>
        <p:nvSpPr>
          <p:cNvPr id="22" name="TextBox 21"/>
          <p:cNvSpPr txBox="1"/>
          <p:nvPr/>
        </p:nvSpPr>
        <p:spPr>
          <a:xfrm>
            <a:off x="6007607" y="1783080"/>
            <a:ext cx="2651760" cy="365760"/>
          </a:xfrm>
          <a:prstGeom prst="rect">
            <a:avLst/>
          </a:prstGeom>
          <a:noFill/>
        </p:spPr>
        <p:txBody>
          <a:bodyPr wrap="square" anchor="t" lIns="45720" rIns="45720" tIns="27432" bIns="27432">
            <a:spAutoFit/>
          </a:bodyPr>
          <a:lstStyle/>
          <a:p>
            <a:pPr algn="l">
              <a:lnSpc>
                <a:spcPct val="105000"/>
              </a:lnSpc>
            </a:pPr>
            <a:r>
              <a:rPr sz="1500" b="1" i="0">
                <a:solidFill>
                  <a:srgbClr val="6B7280"/>
                </a:solidFill>
                <a:latin typeface="PT Sans"/>
              </a:rPr>
              <a:t>Айтпайбыз</a:t>
            </a:r>
          </a:p>
        </p:txBody>
      </p:sp>
      <p:sp>
        <p:nvSpPr>
          <p:cNvPr id="23" name="TextBox 22"/>
          <p:cNvSpPr txBox="1"/>
          <p:nvPr/>
        </p:nvSpPr>
        <p:spPr>
          <a:xfrm>
            <a:off x="8796528" y="1783080"/>
            <a:ext cx="292608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Айтабыз</a:t>
            </a:r>
          </a:p>
        </p:txBody>
      </p:sp>
      <p:sp>
        <p:nvSpPr>
          <p:cNvPr id="24" name="TextBox 23"/>
          <p:cNvSpPr txBox="1"/>
          <p:nvPr/>
        </p:nvSpPr>
        <p:spPr>
          <a:xfrm>
            <a:off x="6007607" y="219456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«Бул оңой эмеспи?»</a:t>
            </a:r>
          </a:p>
        </p:txBody>
      </p:sp>
      <p:cxnSp>
        <p:nvCxnSpPr>
          <p:cNvPr id="25" name="Connector 24"/>
          <p:cNvCxnSpPr/>
          <p:nvPr/>
        </p:nvCxnSpPr>
        <p:spPr>
          <a:xfrm>
            <a:off x="8567928" y="2468879"/>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796528" y="219456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«Кадамдарды бирге карайлы.»</a:t>
            </a:r>
          </a:p>
        </p:txBody>
      </p:sp>
      <p:sp>
        <p:nvSpPr>
          <p:cNvPr id="27" name="TextBox 26"/>
          <p:cNvSpPr txBox="1"/>
          <p:nvPr/>
        </p:nvSpPr>
        <p:spPr>
          <a:xfrm>
            <a:off x="6007607" y="315468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«Туура эмес!»</a:t>
            </a:r>
          </a:p>
        </p:txBody>
      </p:sp>
      <p:cxnSp>
        <p:nvCxnSpPr>
          <p:cNvPr id="28" name="Connector 27"/>
          <p:cNvCxnSpPr/>
          <p:nvPr/>
        </p:nvCxnSpPr>
        <p:spPr>
          <a:xfrm>
            <a:off x="8567928" y="342900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796528" y="315468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«Кантип таптың? Текшерип көрөлүчү.»</a:t>
            </a:r>
          </a:p>
        </p:txBody>
      </p:sp>
      <p:sp>
        <p:nvSpPr>
          <p:cNvPr id="30" name="TextBox 29"/>
          <p:cNvSpPr txBox="1"/>
          <p:nvPr/>
        </p:nvSpPr>
        <p:spPr>
          <a:xfrm>
            <a:off x="6007607" y="411480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«Сен математикага жөндөмсүзсүң»</a:t>
            </a:r>
          </a:p>
        </p:txBody>
      </p:sp>
      <p:cxnSp>
        <p:nvCxnSpPr>
          <p:cNvPr id="31" name="Connector 30"/>
          <p:cNvCxnSpPr/>
          <p:nvPr/>
        </p:nvCxnSpPr>
        <p:spPr>
          <a:xfrm>
            <a:off x="8567928" y="438912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796528" y="411480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«Азырынча. Машыксаң, үйрөнөсүң.»</a:t>
            </a:r>
          </a:p>
        </p:txBody>
      </p:sp>
      <p:sp>
        <p:nvSpPr>
          <p:cNvPr id="33" name="TextBox 32"/>
          <p:cNvSpPr txBox="1"/>
          <p:nvPr/>
        </p:nvSpPr>
        <p:spPr>
          <a:xfrm>
            <a:off x="6007607" y="507492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«Тез чыгар»</a:t>
            </a:r>
          </a:p>
        </p:txBody>
      </p:sp>
      <p:cxnSp>
        <p:nvCxnSpPr>
          <p:cNvPr id="34" name="Connector 33"/>
          <p:cNvCxnSpPr/>
          <p:nvPr/>
        </p:nvCxnSpPr>
        <p:spPr>
          <a:xfrm>
            <a:off x="8567928" y="534924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796528" y="507492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«Шашпа, адегенде тилке чий.»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