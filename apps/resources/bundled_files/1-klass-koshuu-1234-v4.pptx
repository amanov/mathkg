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топто 4 суроо. Ар бир суроонун Блум деңгээли бурчунда жазылган. Баалоо: ①② = А3, ③ = А1, ④ = А5; ар бир баланын жыйынтыгын класстык жазуу барагына белгилеңиз.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①-② – жылытуу, ③ – ойлонуу, ④ – маселе. Окуучулар мини-тактага же дептерге жазышат.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①-② – жылытуу, ③ – ойлонуу, ④ – маселе. Окуучулар мини-тактага же дептерге жазышат. Жооптор көк кутучада.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①-② – жылытуу, ③ – ойлонуу, ④ – маселе. Окуучулар мини-тактага же дептерге жазышат.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①-② – жылытуу, ③ – ойлонуу, ④ – маселе. Окуучулар мини-тактага же дептерге жазышат. Жооптор көк кутучада.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Нускама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Суроолорду экранга чыгаргыла же басып таркаткыла.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① жана ② – жылытуу, ③ – ойлонуу, ④ – окуя маселеси.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Окуучулар төртөөнү тең чыгарышат, анан жооптор слайды менен текшеришет.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Эки топ бар: 1-топ сабакта, 2-топ үйгө же кайталоого.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60743" y="5669280"/>
            <a:ext cx="4901184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 · А3 · А1 · А5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1234: Эсепте!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1-топ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1188720"/>
            <a:ext cx="55549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371600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Эсепте: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5596" y="1417320"/>
            <a:ext cx="224028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007A5A"/>
                </a:solidFill>
                <a:latin typeface="PT Sans"/>
              </a:rPr>
              <a:t>Колдонуу · А3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1965960"/>
            <a:ext cx="511606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+ 4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9340" y="1188720"/>
            <a:ext cx="55549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23076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3156" y="1371600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Эсепте: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0304" y="1417320"/>
            <a:ext cx="224028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007A5A"/>
                </a:solidFill>
                <a:latin typeface="PT Sans"/>
              </a:rPr>
              <a:t>Колдонуу · А3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8796" y="1965960"/>
            <a:ext cx="511606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+ 5 + 1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3675888"/>
            <a:ext cx="55549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" y="3858768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858768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Эсепте: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25596" y="3904488"/>
            <a:ext cx="224028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A84400"/>
                </a:solidFill>
                <a:latin typeface="PT Sans"/>
              </a:rPr>
              <a:t>Талдоо · А1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453128"/>
            <a:ext cx="511606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□ + 3 = 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9340" y="3675888"/>
            <a:ext cx="55549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23076" y="3858768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3156" y="3858768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Эсепте: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90304" y="3904488"/>
            <a:ext cx="224028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24418C"/>
                </a:solidFill>
                <a:latin typeface="PT Sans"/>
              </a:rPr>
              <a:t>Колдонуу · А5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8796" y="4453128"/>
            <a:ext cx="511606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Себетте 4 алма, 3 алмурут жана 2 өрүк бар. Баары канча жемиш?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1234: Эсепте!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1-топ · жооптор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1188720"/>
            <a:ext cx="55549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371600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Эсепте: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5596" y="1417320"/>
            <a:ext cx="224028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007A5A"/>
                </a:solidFill>
                <a:latin typeface="PT Sans"/>
              </a:rPr>
              <a:t>Колдонуу · А3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920240"/>
            <a:ext cx="2945648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 i="0">
                <a:solidFill>
                  <a:srgbClr val="1F2430"/>
                </a:solidFill>
                <a:latin typeface="PT Sans"/>
              </a:rPr>
              <a:t>3 + 4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3828592" y="2011680"/>
            <a:ext cx="1188720" cy="475488"/>
            <a:chOff x="3828592" y="2011680"/>
            <a:chExt cx="1188720" cy="475488"/>
          </a:xfrm>
        </p:grpSpPr>
        <p:sp>
          <p:nvSpPr>
            <p:cNvPr id="15" name="Rectangle 14"/>
            <p:cNvSpPr/>
            <p:nvPr/>
          </p:nvSpPr>
          <p:spPr>
            <a:xfrm>
              <a:off x="3828592" y="2011680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066336" y="2011680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304080" y="2011680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541824" y="2011680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779568" y="2011680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828592" y="2249424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066336" y="2249424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304080" y="2249424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541824" y="2249424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779568" y="2249424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3861876" y="2044964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4099620" y="2044964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4337364" y="2044964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4575108" y="2044964"/>
              <a:ext cx="171175" cy="171175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4812852" y="2044964"/>
              <a:ext cx="171175" cy="171175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3861876" y="2282708"/>
              <a:ext cx="171175" cy="171175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4099620" y="2282708"/>
              <a:ext cx="171175" cy="171175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3991356" y="2880360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= 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9340" y="1188720"/>
            <a:ext cx="55549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23076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3156" y="1371600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Эсепте: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90304" y="1417320"/>
            <a:ext cx="224028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007A5A"/>
                </a:solidFill>
                <a:latin typeface="PT Sans"/>
              </a:rPr>
              <a:t>Колдонуу · А3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3076" y="1920240"/>
            <a:ext cx="2945648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 i="0">
                <a:solidFill>
                  <a:srgbClr val="1F2430"/>
                </a:solidFill>
                <a:latin typeface="PT Sans"/>
              </a:rPr>
              <a:t>2 + 5 + 1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9493300" y="2011680"/>
            <a:ext cx="1188720" cy="475488"/>
            <a:chOff x="9493300" y="2011680"/>
            <a:chExt cx="1188720" cy="475488"/>
          </a:xfrm>
        </p:grpSpPr>
        <p:sp>
          <p:nvSpPr>
            <p:cNvPr id="39" name="Rectangle 38"/>
            <p:cNvSpPr/>
            <p:nvPr/>
          </p:nvSpPr>
          <p:spPr>
            <a:xfrm>
              <a:off x="9493300" y="2011680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9731044" y="2011680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968788" y="2011680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0206532" y="2011680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0444276" y="2011680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9493300" y="2249424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731044" y="2249424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9968788" y="2249424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0206532" y="2249424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0444276" y="2249424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9526584" y="2044964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9764328" y="2044964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10002072" y="2044964"/>
              <a:ext cx="171175" cy="171175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10239816" y="2044964"/>
              <a:ext cx="171175" cy="171175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10477560" y="2044964"/>
              <a:ext cx="171175" cy="171175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9526584" y="2282708"/>
              <a:ext cx="171175" cy="171175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9764328" y="2282708"/>
              <a:ext cx="171175" cy="171175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10002072" y="2282708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8" name="Rounded Rectangle 57"/>
          <p:cNvSpPr/>
          <p:nvPr/>
        </p:nvSpPr>
        <p:spPr>
          <a:xfrm>
            <a:off x="9656063" y="2880360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= 8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84632" y="3675888"/>
            <a:ext cx="55549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58368" y="3858768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98448" y="3858768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Эсепте: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25596" y="3904488"/>
            <a:ext cx="224028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A84400"/>
                </a:solidFill>
                <a:latin typeface="PT Sans"/>
              </a:rPr>
              <a:t>Талдоо · А1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4407408"/>
            <a:ext cx="2945648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 i="0">
                <a:solidFill>
                  <a:srgbClr val="1F2430"/>
                </a:solidFill>
                <a:latin typeface="PT Sans"/>
              </a:rPr>
              <a:t>□ + 3 = 9</a:t>
            </a:r>
          </a:p>
        </p:txBody>
      </p:sp>
      <p:grpSp>
        <p:nvGrpSpPr>
          <p:cNvPr id="80" name="Group 79"/>
          <p:cNvGrpSpPr/>
          <p:nvPr/>
        </p:nvGrpSpPr>
        <p:grpSpPr>
          <a:xfrm>
            <a:off x="3627424" y="4312666"/>
            <a:ext cx="2898648" cy="946099"/>
            <a:chOff x="3627424" y="4312666"/>
            <a:chExt cx="2898648" cy="946099"/>
          </a:xfrm>
        </p:grpSpPr>
        <p:sp>
          <p:nvSpPr>
            <p:cNvPr id="64" name="Rectangle 63"/>
            <p:cNvSpPr/>
            <p:nvPr/>
          </p:nvSpPr>
          <p:spPr>
            <a:xfrm>
              <a:off x="3828592" y="4708398"/>
              <a:ext cx="1426464" cy="190195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4A5A7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5255056" y="4708398"/>
              <a:ext cx="237744" cy="190195"/>
            </a:xfrm>
            <a:prstGeom prst="rect">
              <a:avLst/>
            </a:prstGeom>
            <a:solidFill>
              <a:srgbClr val="F5E9E0"/>
            </a:solidFill>
            <a:ln w="1587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492800" y="4708398"/>
              <a:ext cx="237744" cy="190195"/>
            </a:xfrm>
            <a:prstGeom prst="rect">
              <a:avLst/>
            </a:prstGeom>
            <a:solidFill>
              <a:srgbClr val="F5E9E0"/>
            </a:solidFill>
            <a:ln w="1587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730544" y="4708398"/>
              <a:ext cx="237744" cy="190195"/>
            </a:xfrm>
            <a:prstGeom prst="rect">
              <a:avLst/>
            </a:prstGeom>
            <a:solidFill>
              <a:srgbClr val="F5E9E0"/>
            </a:solidFill>
            <a:ln w="1587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8" name="Connector 67"/>
            <p:cNvCxnSpPr/>
            <p:nvPr/>
          </p:nvCxnSpPr>
          <p:spPr>
            <a:xfrm>
              <a:off x="3828592" y="4935169"/>
              <a:ext cx="0" cy="109728"/>
            </a:xfrm>
            <a:prstGeom prst="line">
              <a:avLst/>
            </a:prstGeom>
            <a:ln w="15875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 68"/>
            <p:cNvCxnSpPr/>
            <p:nvPr/>
          </p:nvCxnSpPr>
          <p:spPr>
            <a:xfrm>
              <a:off x="5255056" y="4935169"/>
              <a:ext cx="0" cy="109728"/>
            </a:xfrm>
            <a:prstGeom prst="line">
              <a:avLst/>
            </a:prstGeom>
            <a:ln w="15875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 69"/>
            <p:cNvCxnSpPr/>
            <p:nvPr/>
          </p:nvCxnSpPr>
          <p:spPr>
            <a:xfrm>
              <a:off x="3828592" y="5044897"/>
              <a:ext cx="1426464" cy="0"/>
            </a:xfrm>
            <a:prstGeom prst="line">
              <a:avLst/>
            </a:prstGeom>
            <a:ln w="15875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/>
            <p:cNvSpPr txBox="1"/>
            <p:nvPr/>
          </p:nvSpPr>
          <p:spPr>
            <a:xfrm>
              <a:off x="3627424" y="5063185"/>
              <a:ext cx="1828800" cy="19558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100" b="1" i="0">
                  <a:solidFill>
                    <a:srgbClr val="A84400"/>
                  </a:solidFill>
                  <a:latin typeface="PT Sans"/>
                </a:rPr>
                <a:t>?</a:t>
              </a:r>
            </a:p>
          </p:txBody>
        </p:sp>
        <p:cxnSp>
          <p:nvCxnSpPr>
            <p:cNvPr id="72" name="Connector 71"/>
            <p:cNvCxnSpPr/>
            <p:nvPr/>
          </p:nvCxnSpPr>
          <p:spPr>
            <a:xfrm>
              <a:off x="5255056" y="4935169"/>
              <a:ext cx="0" cy="109728"/>
            </a:xfrm>
            <a:prstGeom prst="line">
              <a:avLst/>
            </a:prstGeom>
            <a:ln w="15875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72"/>
            <p:cNvCxnSpPr/>
            <p:nvPr/>
          </p:nvCxnSpPr>
          <p:spPr>
            <a:xfrm>
              <a:off x="5968288" y="4935169"/>
              <a:ext cx="0" cy="109728"/>
            </a:xfrm>
            <a:prstGeom prst="line">
              <a:avLst/>
            </a:prstGeom>
            <a:ln w="15875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or 73"/>
            <p:cNvCxnSpPr/>
            <p:nvPr/>
          </p:nvCxnSpPr>
          <p:spPr>
            <a:xfrm>
              <a:off x="5255056" y="5044897"/>
              <a:ext cx="713232" cy="0"/>
            </a:xfrm>
            <a:prstGeom prst="line">
              <a:avLst/>
            </a:prstGeom>
            <a:ln w="15875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4697272" y="5063185"/>
              <a:ext cx="1828800" cy="19558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100" b="1" i="0">
                  <a:solidFill>
                    <a:srgbClr val="A84400"/>
                  </a:solidFill>
                  <a:latin typeface="PT Sans"/>
                </a:rPr>
                <a:t>3</a:t>
              </a:r>
            </a:p>
          </p:txBody>
        </p:sp>
        <p:cxnSp>
          <p:nvCxnSpPr>
            <p:cNvPr id="76" name="Connector 75"/>
            <p:cNvCxnSpPr/>
            <p:nvPr/>
          </p:nvCxnSpPr>
          <p:spPr>
            <a:xfrm flipV="1">
              <a:off x="3828592" y="4562094"/>
              <a:ext cx="0" cy="109728"/>
            </a:xfrm>
            <a:prstGeom prst="line">
              <a:avLst/>
            </a:prstGeom>
            <a:ln w="15875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 76"/>
            <p:cNvCxnSpPr/>
            <p:nvPr/>
          </p:nvCxnSpPr>
          <p:spPr>
            <a:xfrm flipV="1">
              <a:off x="5968288" y="4562094"/>
              <a:ext cx="0" cy="109728"/>
            </a:xfrm>
            <a:prstGeom prst="line">
              <a:avLst/>
            </a:prstGeom>
            <a:ln w="15875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>
              <a:off x="3828592" y="4562094"/>
              <a:ext cx="2139696" cy="0"/>
            </a:xfrm>
            <a:prstGeom prst="line">
              <a:avLst/>
            </a:prstGeom>
            <a:ln w="15875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3984040" y="4312666"/>
              <a:ext cx="1828800" cy="23114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300" b="1" i="0">
                  <a:solidFill>
                    <a:srgbClr val="1D3557"/>
                  </a:solidFill>
                  <a:latin typeface="PT Sans"/>
                </a:rPr>
                <a:t>9</a:t>
              </a:r>
            </a:p>
          </p:txBody>
        </p:sp>
      </p:grpSp>
      <p:sp>
        <p:nvSpPr>
          <p:cNvPr id="81" name="Rounded Rectangle 80"/>
          <p:cNvSpPr/>
          <p:nvPr/>
        </p:nvSpPr>
        <p:spPr>
          <a:xfrm>
            <a:off x="3991356" y="5367528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□ = 6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149340" y="3675888"/>
            <a:ext cx="55549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323076" y="3858768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63156" y="3858768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Эсепте: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290304" y="3904488"/>
            <a:ext cx="224028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24418C"/>
                </a:solidFill>
                <a:latin typeface="PT Sans"/>
              </a:rPr>
              <a:t>Колдонуу · А5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23076" y="4407408"/>
            <a:ext cx="2945648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Себетте 4 алма, 3 алмурут жана 2 өрүк бар. Баары канча жемиш?</a:t>
            </a:r>
          </a:p>
        </p:txBody>
      </p:sp>
      <p:grpSp>
        <p:nvGrpSpPr>
          <p:cNvPr id="106" name="Group 105"/>
          <p:cNvGrpSpPr/>
          <p:nvPr/>
        </p:nvGrpSpPr>
        <p:grpSpPr>
          <a:xfrm>
            <a:off x="9493300" y="4498848"/>
            <a:ext cx="1188720" cy="475488"/>
            <a:chOff x="9493300" y="4498848"/>
            <a:chExt cx="1188720" cy="475488"/>
          </a:xfrm>
        </p:grpSpPr>
        <p:sp>
          <p:nvSpPr>
            <p:cNvPr id="87" name="Rectangle 86"/>
            <p:cNvSpPr/>
            <p:nvPr/>
          </p:nvSpPr>
          <p:spPr>
            <a:xfrm>
              <a:off x="9493300" y="4498848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9731044" y="4498848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9968788" y="4498848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10206532" y="4498848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10444276" y="4498848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9493300" y="4736592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9731044" y="4736592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9968788" y="4736592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10206532" y="4736592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10444276" y="4736592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Oval 96"/>
            <p:cNvSpPr/>
            <p:nvPr/>
          </p:nvSpPr>
          <p:spPr>
            <a:xfrm>
              <a:off x="9526584" y="4532132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Oval 97"/>
            <p:cNvSpPr/>
            <p:nvPr/>
          </p:nvSpPr>
          <p:spPr>
            <a:xfrm>
              <a:off x="9764328" y="4532132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Oval 98"/>
            <p:cNvSpPr/>
            <p:nvPr/>
          </p:nvSpPr>
          <p:spPr>
            <a:xfrm>
              <a:off x="10002072" y="4532132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Oval 99"/>
            <p:cNvSpPr/>
            <p:nvPr/>
          </p:nvSpPr>
          <p:spPr>
            <a:xfrm>
              <a:off x="10239816" y="4532132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Oval 100"/>
            <p:cNvSpPr/>
            <p:nvPr/>
          </p:nvSpPr>
          <p:spPr>
            <a:xfrm>
              <a:off x="10477560" y="4532132"/>
              <a:ext cx="171175" cy="171175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Oval 101"/>
            <p:cNvSpPr/>
            <p:nvPr/>
          </p:nvSpPr>
          <p:spPr>
            <a:xfrm>
              <a:off x="9526584" y="4769876"/>
              <a:ext cx="171175" cy="171175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Oval 102"/>
            <p:cNvSpPr/>
            <p:nvPr/>
          </p:nvSpPr>
          <p:spPr>
            <a:xfrm>
              <a:off x="9764328" y="4769876"/>
              <a:ext cx="171175" cy="171175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Oval 103"/>
            <p:cNvSpPr/>
            <p:nvPr/>
          </p:nvSpPr>
          <p:spPr>
            <a:xfrm>
              <a:off x="10002072" y="4769876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val 104"/>
            <p:cNvSpPr/>
            <p:nvPr/>
          </p:nvSpPr>
          <p:spPr>
            <a:xfrm>
              <a:off x="10239816" y="4769876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7" name="Rounded Rectangle 106"/>
          <p:cNvSpPr/>
          <p:nvPr/>
        </p:nvSpPr>
        <p:spPr>
          <a:xfrm>
            <a:off x="9656063" y="5367528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=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1234: Эсепте!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2-топ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1188720"/>
            <a:ext cx="55549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371600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Эсепте: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5596" y="1417320"/>
            <a:ext cx="224028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007A5A"/>
                </a:solidFill>
                <a:latin typeface="PT Sans"/>
              </a:rPr>
              <a:t>Колдонуу · А3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1965960"/>
            <a:ext cx="511606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+ 2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9340" y="1188720"/>
            <a:ext cx="55549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23076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3156" y="1371600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Эсепте: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0304" y="1417320"/>
            <a:ext cx="224028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007A5A"/>
                </a:solidFill>
                <a:latin typeface="PT Sans"/>
              </a:rPr>
              <a:t>Колдонуу · А3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8796" y="1965960"/>
            <a:ext cx="511606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+ 4 + 3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3675888"/>
            <a:ext cx="55549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" y="3858768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858768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Эсепте: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25596" y="3904488"/>
            <a:ext cx="224028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A84400"/>
                </a:solidFill>
                <a:latin typeface="PT Sans"/>
              </a:rPr>
              <a:t>Талдоо · А1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453128"/>
            <a:ext cx="511606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 = 2 + 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9340" y="3675888"/>
            <a:ext cx="55549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23076" y="3858768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3156" y="3858768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Эсепте: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90304" y="3904488"/>
            <a:ext cx="224028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24418C"/>
                </a:solidFill>
                <a:latin typeface="PT Sans"/>
              </a:rPr>
              <a:t>Колдонуу · А5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8796" y="4453128"/>
            <a:ext cx="511606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Тыйын 3 жаңгак, Помпон 3 сабиз, Мышык 3 балык тапты. Баары канча?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1234: Эсепте!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2-топ · жооптор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1188720"/>
            <a:ext cx="55549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371600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Эсепте: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5596" y="1417320"/>
            <a:ext cx="224028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007A5A"/>
                </a:solidFill>
                <a:latin typeface="PT Sans"/>
              </a:rPr>
              <a:t>Колдонуу · А3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920240"/>
            <a:ext cx="2945648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 i="0">
                <a:solidFill>
                  <a:srgbClr val="1F2430"/>
                </a:solidFill>
                <a:latin typeface="PT Sans"/>
              </a:rPr>
              <a:t>6 + 2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3828592" y="2011680"/>
            <a:ext cx="1188720" cy="475488"/>
            <a:chOff x="3828592" y="2011680"/>
            <a:chExt cx="1188720" cy="475488"/>
          </a:xfrm>
        </p:grpSpPr>
        <p:sp>
          <p:nvSpPr>
            <p:cNvPr id="15" name="Rectangle 14"/>
            <p:cNvSpPr/>
            <p:nvPr/>
          </p:nvSpPr>
          <p:spPr>
            <a:xfrm>
              <a:off x="3828592" y="2011680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066336" y="2011680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304080" y="2011680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541824" y="2011680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779568" y="2011680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828592" y="2249424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066336" y="2249424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304080" y="2249424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541824" y="2249424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779568" y="2249424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3861876" y="2044964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4099620" y="2044964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4337364" y="2044964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4575108" y="2044964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4812852" y="2044964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3861876" y="2282708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4099620" y="2282708"/>
              <a:ext cx="171175" cy="171175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4337364" y="2282708"/>
              <a:ext cx="171175" cy="171175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4" name="Rounded Rectangle 33"/>
          <p:cNvSpPr/>
          <p:nvPr/>
        </p:nvSpPr>
        <p:spPr>
          <a:xfrm>
            <a:off x="3991356" y="2880360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= 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9340" y="1188720"/>
            <a:ext cx="55549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23076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3156" y="1371600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Эсепте: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90304" y="1417320"/>
            <a:ext cx="224028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007A5A"/>
                </a:solidFill>
                <a:latin typeface="PT Sans"/>
              </a:rPr>
              <a:t>Колдонуу · А3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3076" y="1920240"/>
            <a:ext cx="2945648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 i="0">
                <a:solidFill>
                  <a:srgbClr val="1F2430"/>
                </a:solidFill>
                <a:latin typeface="PT Sans"/>
              </a:rPr>
              <a:t>1 + 4 + 3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9493300" y="2011680"/>
            <a:ext cx="1188720" cy="475488"/>
            <a:chOff x="9493300" y="2011680"/>
            <a:chExt cx="1188720" cy="475488"/>
          </a:xfrm>
        </p:grpSpPr>
        <p:sp>
          <p:nvSpPr>
            <p:cNvPr id="40" name="Rectangle 39"/>
            <p:cNvSpPr/>
            <p:nvPr/>
          </p:nvSpPr>
          <p:spPr>
            <a:xfrm>
              <a:off x="9493300" y="2011680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731044" y="2011680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9968788" y="2011680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0206532" y="2011680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0444276" y="2011680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493300" y="2249424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9731044" y="2249424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968788" y="2249424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0206532" y="2249424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0444276" y="2249424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9526584" y="2044964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9764328" y="2044964"/>
              <a:ext cx="171175" cy="171175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10002072" y="2044964"/>
              <a:ext cx="171175" cy="171175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10239816" y="2044964"/>
              <a:ext cx="171175" cy="171175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10477560" y="2044964"/>
              <a:ext cx="171175" cy="171175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9526584" y="2282708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9764328" y="2282708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10002072" y="2282708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9" name="Rounded Rectangle 58"/>
          <p:cNvSpPr/>
          <p:nvPr/>
        </p:nvSpPr>
        <p:spPr>
          <a:xfrm>
            <a:off x="9656063" y="2880360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= 8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84632" y="3675888"/>
            <a:ext cx="55549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58368" y="3858768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98448" y="3858768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Эсепте: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625596" y="3904488"/>
            <a:ext cx="224028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A84400"/>
                </a:solidFill>
                <a:latin typeface="PT Sans"/>
              </a:rPr>
              <a:t>Талдоо · А1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4407408"/>
            <a:ext cx="2945648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 i="0">
                <a:solidFill>
                  <a:srgbClr val="1F2430"/>
                </a:solidFill>
                <a:latin typeface="PT Sans"/>
              </a:rPr>
              <a:t>7 = 2 + □</a:t>
            </a:r>
          </a:p>
        </p:txBody>
      </p:sp>
      <p:grpSp>
        <p:nvGrpSpPr>
          <p:cNvPr id="80" name="Group 79"/>
          <p:cNvGrpSpPr/>
          <p:nvPr/>
        </p:nvGrpSpPr>
        <p:grpSpPr>
          <a:xfrm>
            <a:off x="3151936" y="4312666"/>
            <a:ext cx="2660904" cy="946099"/>
            <a:chOff x="3151936" y="4312666"/>
            <a:chExt cx="2660904" cy="946099"/>
          </a:xfrm>
        </p:grpSpPr>
        <p:sp>
          <p:nvSpPr>
            <p:cNvPr id="65" name="Rectangle 64"/>
            <p:cNvSpPr/>
            <p:nvPr/>
          </p:nvSpPr>
          <p:spPr>
            <a:xfrm>
              <a:off x="3828592" y="4708398"/>
              <a:ext cx="237744" cy="190195"/>
            </a:xfrm>
            <a:prstGeom prst="rect">
              <a:avLst/>
            </a:prstGeom>
            <a:solidFill>
              <a:srgbClr val="B5E2D3"/>
            </a:solidFill>
            <a:ln w="158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4066336" y="4708398"/>
              <a:ext cx="237744" cy="190195"/>
            </a:xfrm>
            <a:prstGeom prst="rect">
              <a:avLst/>
            </a:prstGeom>
            <a:solidFill>
              <a:srgbClr val="B5E2D3"/>
            </a:solidFill>
            <a:ln w="158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4304080" y="4708398"/>
              <a:ext cx="1188720" cy="190195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4A5A7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8" name="Connector 67"/>
            <p:cNvCxnSpPr/>
            <p:nvPr/>
          </p:nvCxnSpPr>
          <p:spPr>
            <a:xfrm>
              <a:off x="3828592" y="4935169"/>
              <a:ext cx="0" cy="109728"/>
            </a:xfrm>
            <a:prstGeom prst="line">
              <a:avLst/>
            </a:prstGeom>
            <a:ln w="15875">
              <a:solidFill>
                <a:srgbClr val="007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 68"/>
            <p:cNvCxnSpPr/>
            <p:nvPr/>
          </p:nvCxnSpPr>
          <p:spPr>
            <a:xfrm>
              <a:off x="4304080" y="4935169"/>
              <a:ext cx="0" cy="109728"/>
            </a:xfrm>
            <a:prstGeom prst="line">
              <a:avLst/>
            </a:prstGeom>
            <a:ln w="15875">
              <a:solidFill>
                <a:srgbClr val="007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 69"/>
            <p:cNvCxnSpPr/>
            <p:nvPr/>
          </p:nvCxnSpPr>
          <p:spPr>
            <a:xfrm>
              <a:off x="3828592" y="5044897"/>
              <a:ext cx="475488" cy="0"/>
            </a:xfrm>
            <a:prstGeom prst="line">
              <a:avLst/>
            </a:prstGeom>
            <a:ln w="15875">
              <a:solidFill>
                <a:srgbClr val="007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/>
            <p:cNvSpPr txBox="1"/>
            <p:nvPr/>
          </p:nvSpPr>
          <p:spPr>
            <a:xfrm>
              <a:off x="3151936" y="5063185"/>
              <a:ext cx="1828800" cy="19558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100" b="1" i="0">
                  <a:solidFill>
                    <a:srgbClr val="007A5A"/>
                  </a:solidFill>
                  <a:latin typeface="PT Sans"/>
                </a:rPr>
                <a:t>2</a:t>
              </a:r>
            </a:p>
          </p:txBody>
        </p:sp>
        <p:cxnSp>
          <p:nvCxnSpPr>
            <p:cNvPr id="72" name="Connector 71"/>
            <p:cNvCxnSpPr/>
            <p:nvPr/>
          </p:nvCxnSpPr>
          <p:spPr>
            <a:xfrm>
              <a:off x="4304080" y="4935169"/>
              <a:ext cx="0" cy="109728"/>
            </a:xfrm>
            <a:prstGeom prst="line">
              <a:avLst/>
            </a:prstGeom>
            <a:ln w="15875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72"/>
            <p:cNvCxnSpPr/>
            <p:nvPr/>
          </p:nvCxnSpPr>
          <p:spPr>
            <a:xfrm>
              <a:off x="5492800" y="4935169"/>
              <a:ext cx="0" cy="109728"/>
            </a:xfrm>
            <a:prstGeom prst="line">
              <a:avLst/>
            </a:prstGeom>
            <a:ln w="15875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or 73"/>
            <p:cNvCxnSpPr/>
            <p:nvPr/>
          </p:nvCxnSpPr>
          <p:spPr>
            <a:xfrm>
              <a:off x="4304080" y="5044897"/>
              <a:ext cx="1188720" cy="0"/>
            </a:xfrm>
            <a:prstGeom prst="line">
              <a:avLst/>
            </a:prstGeom>
            <a:ln w="15875">
              <a:solidFill>
                <a:srgbClr val="A844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3984040" y="5063185"/>
              <a:ext cx="1828800" cy="19558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100" b="1" i="0">
                  <a:solidFill>
                    <a:srgbClr val="A84400"/>
                  </a:solidFill>
                  <a:latin typeface="PT Sans"/>
                </a:rPr>
                <a:t>?</a:t>
              </a:r>
            </a:p>
          </p:txBody>
        </p:sp>
        <p:cxnSp>
          <p:nvCxnSpPr>
            <p:cNvPr id="76" name="Connector 75"/>
            <p:cNvCxnSpPr/>
            <p:nvPr/>
          </p:nvCxnSpPr>
          <p:spPr>
            <a:xfrm flipV="1">
              <a:off x="3828592" y="4562094"/>
              <a:ext cx="0" cy="109728"/>
            </a:xfrm>
            <a:prstGeom prst="line">
              <a:avLst/>
            </a:prstGeom>
            <a:ln w="15875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 76"/>
            <p:cNvCxnSpPr/>
            <p:nvPr/>
          </p:nvCxnSpPr>
          <p:spPr>
            <a:xfrm flipV="1">
              <a:off x="5492800" y="4562094"/>
              <a:ext cx="0" cy="109728"/>
            </a:xfrm>
            <a:prstGeom prst="line">
              <a:avLst/>
            </a:prstGeom>
            <a:ln w="15875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>
              <a:off x="3828592" y="4562094"/>
              <a:ext cx="1664208" cy="0"/>
            </a:xfrm>
            <a:prstGeom prst="line">
              <a:avLst/>
            </a:prstGeom>
            <a:ln w="15875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3746296" y="4312666"/>
              <a:ext cx="1828800" cy="23114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300" b="1" i="0">
                  <a:solidFill>
                    <a:srgbClr val="1D3557"/>
                  </a:solidFill>
                  <a:latin typeface="PT Sans"/>
                </a:rPr>
                <a:t>7</a:t>
              </a:r>
            </a:p>
          </p:txBody>
        </p:sp>
      </p:grpSp>
      <p:sp>
        <p:nvSpPr>
          <p:cNvPr id="81" name="Rounded Rectangle 80"/>
          <p:cNvSpPr/>
          <p:nvPr/>
        </p:nvSpPr>
        <p:spPr>
          <a:xfrm>
            <a:off x="3991356" y="5367528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□ = 5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149340" y="3675888"/>
            <a:ext cx="55549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323076" y="3858768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63156" y="3858768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Эсепте: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290304" y="3904488"/>
            <a:ext cx="224028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24418C"/>
                </a:solidFill>
                <a:latin typeface="PT Sans"/>
              </a:rPr>
              <a:t>Колдонуу · А5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23076" y="4407408"/>
            <a:ext cx="2945648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Тыйын 3 жаңгак, Помпон 3 сабиз, Мышык 3 балык тапты. Баары канча?</a:t>
            </a:r>
          </a:p>
        </p:txBody>
      </p:sp>
      <p:grpSp>
        <p:nvGrpSpPr>
          <p:cNvPr id="106" name="Group 105"/>
          <p:cNvGrpSpPr/>
          <p:nvPr/>
        </p:nvGrpSpPr>
        <p:grpSpPr>
          <a:xfrm>
            <a:off x="9493300" y="4498848"/>
            <a:ext cx="1188720" cy="475488"/>
            <a:chOff x="9493300" y="4498848"/>
            <a:chExt cx="1188720" cy="475488"/>
          </a:xfrm>
        </p:grpSpPr>
        <p:sp>
          <p:nvSpPr>
            <p:cNvPr id="87" name="Rectangle 86"/>
            <p:cNvSpPr/>
            <p:nvPr/>
          </p:nvSpPr>
          <p:spPr>
            <a:xfrm>
              <a:off x="9493300" y="4498848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9731044" y="4498848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9968788" y="4498848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10206532" y="4498848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10444276" y="4498848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9493300" y="4736592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9731044" y="4736592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9968788" y="4736592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10206532" y="4736592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10444276" y="4736592"/>
              <a:ext cx="237744" cy="23774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Oval 96"/>
            <p:cNvSpPr/>
            <p:nvPr/>
          </p:nvSpPr>
          <p:spPr>
            <a:xfrm>
              <a:off x="9526584" y="4532132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Oval 97"/>
            <p:cNvSpPr/>
            <p:nvPr/>
          </p:nvSpPr>
          <p:spPr>
            <a:xfrm>
              <a:off x="9764328" y="4532132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Oval 98"/>
            <p:cNvSpPr/>
            <p:nvPr/>
          </p:nvSpPr>
          <p:spPr>
            <a:xfrm>
              <a:off x="10002072" y="4532132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Oval 99"/>
            <p:cNvSpPr/>
            <p:nvPr/>
          </p:nvSpPr>
          <p:spPr>
            <a:xfrm>
              <a:off x="10239816" y="4532132"/>
              <a:ext cx="171175" cy="171175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Oval 100"/>
            <p:cNvSpPr/>
            <p:nvPr/>
          </p:nvSpPr>
          <p:spPr>
            <a:xfrm>
              <a:off x="10477560" y="4532132"/>
              <a:ext cx="171175" cy="171175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Oval 101"/>
            <p:cNvSpPr/>
            <p:nvPr/>
          </p:nvSpPr>
          <p:spPr>
            <a:xfrm>
              <a:off x="9526584" y="4769876"/>
              <a:ext cx="171175" cy="171175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Oval 102"/>
            <p:cNvSpPr/>
            <p:nvPr/>
          </p:nvSpPr>
          <p:spPr>
            <a:xfrm>
              <a:off x="9764328" y="4769876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Oval 103"/>
            <p:cNvSpPr/>
            <p:nvPr/>
          </p:nvSpPr>
          <p:spPr>
            <a:xfrm>
              <a:off x="10002072" y="4769876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val 104"/>
            <p:cNvSpPr/>
            <p:nvPr/>
          </p:nvSpPr>
          <p:spPr>
            <a:xfrm>
              <a:off x="10239816" y="4769876"/>
              <a:ext cx="171175" cy="171175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7" name="Rounded Rectangle 106"/>
          <p:cNvSpPr/>
          <p:nvPr/>
        </p:nvSpPr>
        <p:spPr>
          <a:xfrm>
            <a:off x="9656063" y="5367528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24418C"/>
                </a:solidFill>
                <a:latin typeface="PT Sans"/>
              </a:rPr>
              <a:t>=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