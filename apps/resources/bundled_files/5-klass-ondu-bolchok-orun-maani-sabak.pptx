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Улан туурабы? Кимдин секириги эң узун? Жоопту сабактын аягында (22-слайд) текшеребиз. Проектор жок болсо, төрт натыйжаны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3,50 &gt; 3,08 (Улан – М1, «узун сан чоң»).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 м кагаз тилке (эски гезиттен же дептер барактарын улап), метр тасма же сызгыч, кагазга чийилген разряд таблицасы жана 15–20 бөтөлкө капкагы (же таш, буурчак). Тилкени 10 бирдей бөлүккө бүктөшөт: бир бөлүгү = 0,1 м = 10 см. Бир бөлүктү сызгыч менен 10 см ге бөлүшөт: 1 см = 0,01 м. Анан 3,45 жана 3,08ди капкак менен таблицага коюшат: 3,08де ондон бирлер тилкеси бош (нөл).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чийем, окуучулар чакмак дептерге (3,0дон 3,6га чейин, 1 чакмак = 0,01 болсо өтө узун, ошондуктан 1 чакмак = 0,02 же чоңойткуч менен). Сурайм: 3,08 3,0гө жакынбы же 3,1геби? 3,45 кайсы эки ондон бирдин ортосунда? Так ортодо болсо, мектептеги эреже боюнча өйдө тегеректейбиз (5 – өйдө).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Салыштыруу: бүтүн бөлүгүнөн баштап, солдон оңго разряд боюнча. Цифралардын саны эмес, разряд маанилүү (М1, М2). Тегеректөө: кошуна эки санды жазып, кийинки цифраны карайбыз: 0–4 ылдый, 5–9 өйдө (Мисал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«нөл кошом: 3,50 жана 3,45».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бүтүндүн бөлүгү → салыштыруу → айырма. Жооптор: 10 − 7 = 3 ондон бир: 0,3 м; Айдана: 3,45 &gt; 3,40; 0,05 м; Мээрим 0,05 с тез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Нөл кошуп теңейбиз: 3,50; 3,45; 3,40; 3,08. Ондон бирлер: 5 &gt; 4 = 4 &gt; 0; 3,45 менен 3,40та жүздөн бирлер: 5 &gt; 0. Таблодо ондон бирге: 3,45 так ортодо турат, 5 – өйдө, ошондуктан 3,5. Чыныгы натыйжада Бекзат 0,05 м (5 см) алыс секирди. Сан огун (12-слайд) кайра көрсөтөм.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0,7 &gt; 0,65; 0,08; 6,5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Караколдогу спорт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Нурлан агай 5-класстардын узундукка секирүүсүн метр тасма менен өлчөйт. Мектептин таблосу натыйжаны ондон бирге чейин гана көрсөтөт.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ондук бөлчөктөр.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Караколдогу спорт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Караколдогу мектепте спорт күнү: 5-класстар стадиондо узундукка секиришет.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Нурлан агай ар бир секирикти метр тасма менен сантиметрге чейин өлчөйт.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3,45 м, Бекзат 3,5 м, Мээрим 3,4 м, Улан 3,08 м секирди.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Таблодо Айдана менен Бекзаттын натыйжасы бирдей: 3,5! Улан: «Мен жеңдим, 3,08де цифра көп!»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Ким биринчи орунду алды? Төртөөнү чоңунан кичинесине тиз. Таблодо эмне үчүн Айдана менен Бекзат бирдей?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окуйм, жазам жана ар бир цифранын разрядын, маанисин айтам.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бөлчөктөрдү сан огунда белгилейм жана салыштырам, тартипке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бүтүнгө, ондон бирге, жүздөн бирге чейин тегеректейм.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Разряд, окуу, жазуу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Салыштыруу, тартип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Тегеректөө,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тилке, капкактар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Спорт күнү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Сом жана тыйын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Миллион ичиндеги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тегеректөө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Ондуктарды кошуу,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Бөлчөк, ондук,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Айландыруу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4 507 санында 5тин мааниси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Салыштыр: 589 □ 598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см;   1 сом = □ тыйын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47ни ондукка чейин тегеректе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4 507 санында 5тин мааниси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589 □ 598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589 &lt; 598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см;   1 сом = □ тыйын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100; 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47ни ондукка чейин тегеректе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Нурлан агай: «Улан 3,08 м, Бекзат 3,5 м секирди. Ким алыс секирди?»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Улан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3,08де цифра көп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308 &gt; 35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Улан алыс секирди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3,5 = 3,50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50 жүздөн бир &gt; 8 жүздөн бир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Бекзат алыс секирди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Метр тасма же разряд таблицасы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 м кагаз тилкени 10го бүктө; разряд таблицасына капкак кой: 3,45 = 3 + 0,4 + 0,05.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8308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8036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23559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08152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081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 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1 м кагаз тилке, 10 бөлүккө бүктөлгөн: 7 бөлүк = 0,7 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85800" y="3063240"/>
            <a:ext cx="4937759" cy="91439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72200" y="3063240"/>
            <a:ext cx="0" cy="91439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444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2900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77639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2628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7492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23559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348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Бир бөлүк = 0,1 м = 10 см.  1 см = 0,01 м (жүздөн бир)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846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Ондон бир 10 жүздөн бирге бөлүнөт: 0,1 = 0,10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214884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Разряд таблицасы: 3,45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79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75319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75319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0138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68426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671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3108960"/>
            <a:ext cx="365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50" name="Oval 49"/>
          <p:cNvSpPr/>
          <p:nvPr/>
        </p:nvSpPr>
        <p:spPr>
          <a:xfrm>
            <a:off x="75529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73582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1870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552944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33018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1306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6959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30183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513063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393192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3,08: ондон бир – бош (0)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46520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46520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498079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79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19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19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0138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68426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86714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8040" y="4892040"/>
            <a:ext cx="365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70" name="Oval 69"/>
          <p:cNvSpPr/>
          <p:nvPr/>
        </p:nvSpPr>
        <p:spPr>
          <a:xfrm>
            <a:off x="833018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51306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69594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30183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513063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95944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30183" y="53309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513063" y="53309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326880" y="2148840"/>
            <a:ext cx="242316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2212848"/>
            <a:ext cx="224028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1 м кагаз тилке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сызгыч же метр тасма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кагаз разряд таблицасы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15–20 капкак же таш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 сом, 1 сом, 50 жана 10 тыйындык тыйындар (бар болсо)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Капкак саны = цифра!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жана «чоңойткуч»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Төрт секирик сан огунда. 3,4 менен 3,5тин ортосун чоңойтуп, 10 жүздөн бирге бөлөбүз.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54680"/>
            <a:ext cx="1065275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265407" y="29352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6738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1180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56231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20065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54508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17932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89503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233927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57835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2277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267199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0143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3,20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61162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5604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0047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4489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98932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2355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3,30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3374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78167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2259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367015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11439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4567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3,40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55863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0028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74471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08913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43356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6780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3,50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7798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12240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66831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1125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15568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78991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3,60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200656" y="2743200"/>
            <a:ext cx="0" cy="41148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2136648" y="3090672"/>
            <a:ext cx="128016" cy="12801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42288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A84400"/>
                </a:solidFill>
                <a:latin typeface="PT Sans"/>
              </a:rPr>
              <a:t>Улан 3,08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7711439" y="2743200"/>
            <a:ext cx="0" cy="41148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7647431" y="3090672"/>
            <a:ext cx="128016" cy="128016"/>
          </a:xfrm>
          <a:prstGeom prst="ellipse">
            <a:avLst/>
          </a:prstGeom>
          <a:solidFill>
            <a:srgbClr val="4A5A70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H="1">
            <a:off x="7025639" y="2743200"/>
            <a:ext cx="68580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7271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4A5A70"/>
                </a:solidFill>
                <a:latin typeface="PT Sans"/>
              </a:rPr>
              <a:t>Мээрим 3,4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8572500" y="2743200"/>
            <a:ext cx="0" cy="41148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8508492" y="3090672"/>
            <a:ext cx="128016" cy="128016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14131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Айдана 3,45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9433560" y="2743200"/>
            <a:ext cx="0" cy="41148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9369552" y="3090672"/>
            <a:ext cx="128016" cy="128016"/>
          </a:xfrm>
          <a:prstGeom prst="ellipse">
            <a:avLst/>
          </a:prstGeom>
          <a:solidFill>
            <a:srgbClr val="24418C"/>
          </a:solidFill>
          <a:ln w="63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433560" y="2743200"/>
            <a:ext cx="685800" cy="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9460992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24418C"/>
                </a:solidFill>
                <a:latin typeface="PT Sans"/>
              </a:rPr>
              <a:t>Бекзат 3,5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2926080" y="3291840"/>
            <a:ext cx="4785359" cy="141731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9326880" y="3291840"/>
            <a:ext cx="106680" cy="141731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788920" y="4846320"/>
            <a:ext cx="67208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436607" y="462686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92608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6032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3,40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56616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20040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3,41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20624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384047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3,42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84632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448055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48640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12064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3,44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126479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76071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66559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40079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3,46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40664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04087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3,47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04672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68096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3,48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868680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832104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3,49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32688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896111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3,50</a:t>
            </a:r>
          </a:p>
        </p:txBody>
      </p:sp>
      <p:sp>
        <p:nvSpPr>
          <p:cNvPr id="92" name="Oval 91"/>
          <p:cNvSpPr/>
          <p:nvPr/>
        </p:nvSpPr>
        <p:spPr>
          <a:xfrm>
            <a:off x="6035040" y="4754880"/>
            <a:ext cx="182880" cy="182880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663440" y="4160520"/>
            <a:ext cx="2926080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3,45: так ортодо → өйдө: ≈ 3,5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2640" y="4434840"/>
            <a:ext cx="2194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Чоңойткуч: 0,1 = 10 жүздөн бир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3,08 &lt; 3,4 &lt; 3,45 &lt; 3,5;      3,45 ≈ 3,5 (ондон бирге)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3,5 · 3,45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Тууралап жаз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Үтүр үтүрдүн астында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3,50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Нөл кош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3,5 = 3,50: цифралар теңелет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 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Бүтүн бөлүгү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Бүтүнү чоң сан чоң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 &gt;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Солдон оңго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Айырмалуу биринчи разряд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3,50 □ 3,45:   5 &gt; 4,   демек   3,5 &gt; 3,45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Өсүү тартибинде жаз: Айдана 3,45;  Бекзат 3,5;  Мээрим 3,4;  Улан 3,08 (м).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3,45;  3,50;  3,40;  3,08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нөл коштук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ондон бирлер:  4;  5;  4; 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салыштыр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3,40 &lt; 3,45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жүздөн бир: 0 &lt;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3,08 &lt; 3,4 &lt; 3,45 &lt; 3,5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Өсүү тартиби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3,08; 3,4; 3,45; 3,5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Бекзат 60 метрди 9,46 секундда чуркады. Таблого ондон бирге чейин тегеректеп жаз.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ондон бир: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9,4  …  9,46  …  9,5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кошуна сандар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жүздөн бир: 6 ≥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өйдө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9,46 ≈ 9,5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Таблодо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9,5 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кошуп теңе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3,5 □ 3,45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3,50 □ 3,45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50 &gt;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3,5 &gt; 3,45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Цифралардын саны бирдей болсун.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Акча менен ойлон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0,6 сом □ 0,35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 т. □ 35 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0,6 &gt; 0,35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сом = 100 тыйын: жүздөн бир = 1 тыйын.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Кошуна сандар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7,38 ≈ ? (ондон бирге)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7,3 … 7,38 … 7,4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≥ 5: өйдө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≈ 7,4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кошуна эки санды жаз.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эң кичине?   0,4;   0,25;   0,275;   0,08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0,275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кагаз тилкеден Айдана желек үчүн 0,7 м кесип алды. Канча метр калды? 1 м = 10 ондон бир.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 3,45 м, Мээрим 3,4 м секирди. Ким алыс секирди? Канча жүздөн бир метрге?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метрге: Мээрим 10,2 с, Айдана 10,25 с чуркады. Ким тез? Канча секундга?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 м кагаз тилкеден Айдана желек үчүн 0,7 м кесип алды. Канча метр калды? 1 м = 10 ондон бир.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6407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7666" y="3017520"/>
            <a:ext cx="70317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0,3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10 − 7 = 3 ондон бир: 0,3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 3,45 м, Мээрим 3,4 м секирди. Ким алыс секирди? Канча жүздөн бир метрге?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Айдана 3,40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3822" y="3017520"/>
            <a:ext cx="66968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574389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Мээрим 3,40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Айдана: 3,45 &gt; 3,40; 0,05 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60 метрге: Мээрим 10,2 с, Айдана 10,25 с чуркады. Ким тез? Канча секундга?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2272" y="3017520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Мээрим 10,20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574389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Айдана 10,20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6494" y="3574389"/>
            <a:ext cx="66968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Мээрим 0,05 с тез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5,3 □ 5,29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Өсүү тартиби: 0,8;  0,08;  0,88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2,705теги 5тин мааниси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7,64 ≈ ? (ондон бирге)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12,5 ≈ ? (бүтүнгө)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Мээрим 10,2 с, Айдана 10,25 с. Ким тез?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5,3 □ 5,29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5,3 &gt; 5,29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Өсүү тартиби: 0,8;  0,08;  0,88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0,08; 0,8; 0,88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2,705теги 5тин мааниси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7,64 ≈ ? (ондон бирге)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7,6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12,5 ≈ ? (бүтүнгө)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Мээрим 10,2 с, Айдана 10,25 с. Ким тез?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Мээрим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Ким биринчи орунду алды? Төртөөнү чоңунан кичинесине тиз. Таблодо эмне үчүн Айдана менен Бекзат бирдей?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Бекзат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0698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7309" y="2240280"/>
            <a:ext cx="55196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Айдана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0698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7309" y="3035808"/>
            <a:ext cx="413973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87047" y="3035808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3,50 &gt; 3,45 &gt; 3,40 &gt; 3,08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орундар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3,45 ≈ 3,5 (ондон бирге)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таблодо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Бекзат биринчи. Таблодо 3,45 ≈ 3,5: экөө бирдей.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 жөнүндө маселе түз: 4 окуучунун натыйжасы ондук бөлчөк менен (м же с). Орундарды тап.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Бекзат, Мээрим, Улан, Нурлан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Салыштыр (&lt; же &gt;):  0,7 □ 0,65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5,08 санында 8 цифрасынын мааниси кандай?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6,47ни ондон бирге чейин тегеректе.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3,08 3,5тен кичине, цифрасы көп болсо да?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3,5 менен 3,50 бирдейби? Тилке же акча менен түшүндүр.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9,46ны ондон бирге тегеректегенде кайсы цифраны карайсың?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разряд таблицасын жана капкактарды колдонууну сунуштайм: окуучу өзү коёт.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 «нөл кошуп теңе» деп үн чыгарып айттырам (М1, 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 м 8 см сыяктуу узундуктарды метр тасмада көрсөтөм: бош разряд = нөл (М3).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Тегеректөөдө кошуна эки санды дайыма жаздырам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