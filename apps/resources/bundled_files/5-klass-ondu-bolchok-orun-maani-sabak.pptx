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болжолдошсун: Улан туурабы? Кимдин секириги эң узун? Жоопту сабактын аягында (22-слайд) текшеребиз. Проектор жок болсо, төрт натыйжаны доскага жазам.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Айдана: 3,50 &gt; 3,08 (Улан – М1, «узун сан чоң»).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 м кагаз тилке (эски гезиттен же дептер барактарын улап), метр тасма же сызгыч, кагазга чийилген разряд таблицасы жана 15–20 бөтөлкө капкагы (же таш, буурчак). Тилкени 10 бирдей бөлүккө бүктөшөт: бир бөлүгү = 0,1 м = 10 см. Бир бөлүктү сызгыч менен 10 см ге бөлүшөт: 1 см = 0,01 м. Анан 3,45 жана 3,08ди капкак менен таблицага коюшат: 3,08де ондон бирлер тилкеси бош (нөл).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Сан огун доскага чийем, окуучулар чакмак дептерге (3,0дон 3,6га чейин, 1 чакмак = 0,01 болсо өтө узун, ошондуктан 1 чакмак = 0,02 же чоңойткуч менен). Сурайм: 3,08 3,0гө жакынбы же 3,1геби? 3,45 кайсы эки ондон бирдин ортосунда? Так ортодо болсо, мектептеги эреже боюнча өйдө тегеректейбиз (5 – өйдө).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Салыштыруу: бүтүн бөлүгүнөн баштап, солдон оңго разряд боюнча. Цифралардын саны эмес, разряд маанилүү (М1, М2). Тегеректөө: кошуна эки санды жазып, кийинки цифраны карайбыз: 0–4 ылдый, 5–9 өйдө (Мисал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«нөл кошом: 3,50 жана 3,45». «Оозеки беш мүнөт» (класста колдонуу картасы)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✓; В = М2; Г = М3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бүтүндүн бөлүгү → салыштыруу → айырма. Жооптор: 10 − 7 = 3 ондон бир: 0,3 м; Айдана: 3,45 &gt; 3,40; 0,05 м; Мээрим 0,05 с тез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Нөл кошуп теңейбиз: 3,50; 3,45; 3,40; 3,08. Ондон бирлер: 5 &gt; 4 = 4 &gt; 0; 3,45 менен 3,40та жүздөн бирлер: 5 &gt; 0. Таблодо ондон бирге: 3,45 так ортодо турат, 5 – өйдө, ошондуктан 3,5. Чыныгы натыйжада Бекзат 0,05 м (5 см) алыс секирди. Сан огун (12-слайд) кайра көрсөтөм.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0,7 &gt; 0,65; 0,08; 6,5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5-класс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Караколдогу спорт күнү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Нурлан агай 5-класстардын узундукка секирүүсүн метр тасма менен өлчөйт. Мектептин таблосу натыйжаны ондон бирге чейин гана көрсөтөт.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 (2018), 5-класс: ондук бөлчөктөр. Кыргызча окуу китеби папкада жок; мазмуну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Караколдогу спорт күнү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Караколдогу мектепте спорт күнү: 5-класстар стадиондо узундукка секиришет.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Нурлан агай ар бир секирикти метр тасма менен сантиметрге чейин өлчөйт.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Айдана 3,45 м, Бекзат 3,5 м, Мээрим 3,4 м, Улан 3,08 м секирди.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Таблодо Айдана менен Бекзаттын натыйжасы бирдей: 3,5! Улан: «Мен жеңдим, 3,08де цифра көп!»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Ким биринчи орунду алды? Төртөөнү чоңунан кичинесине тиз. Таблодо эмне үчүн Айдана менен Бекзат бирдей?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Ондук бөлчөктү окуйм, жазам жана ар бир цифранын разрядын, маанисин айтам.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Ондук бөлчөктөрдү сан огунда белгилейм жана салыштырам, тартипке коём.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Ондук бөлчөктү бүтүнгө, ондон бирге, жүздөн бирге чейин тегеректейм.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Разряд, окуу, жазуу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Салыштыруу, тартип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Тегеректөө, маселелер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Катаны тап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тилке, капкактар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Спорт күнү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Сом жана тыйын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4-класс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Миллион ичиндеги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Разряд, тегеректөө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5-класс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Ондук бөлчөктөр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Разряд, салыштыруу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5–6-класс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Ондуктарды кошуу, кемитүү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Көбөйтүү, бөлүү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6-класс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Бөлчөк, ондук, пайыз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Айландыруу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4 507 санында 5тин мааниси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Салыштыр: 589 □ 598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м = □ см;   1 сом = □ тыйын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47ни ондукка чейин тегеректе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4 507 санында 5тин мааниси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Салыштыр: 589 □ 598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589 &lt; 598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м = □ см;   1 сом = □ тыйын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100;  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47ни ондукка чейин тегеректе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≈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Нурлан агай: «Улан 3,08 м, Бекзат 3,5 м секирди. Ким алыс секирди?»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Улан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3,08де цифра көп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308 &gt; 35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Улан алыс секирди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Айдана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3,5 = 3,50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50 жүздөн бир &gt; 8 жүздөн бир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Бекзат алыс секирди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Метр тасма же разряд таблицасы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1 м кагаз тилкени 10го бүктө; разряд таблицасына капкак кой: 3,45 = 3 + 0,4 + 0,05.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14600"/>
            <a:ext cx="5486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2514600"/>
            <a:ext cx="5486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3080" y="2514600"/>
            <a:ext cx="5486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2514600"/>
            <a:ext cx="5486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2514600"/>
            <a:ext cx="5486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2514600"/>
            <a:ext cx="5486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514600"/>
            <a:ext cx="5486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251460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251460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23559" y="251460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08152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08152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1 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1031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1 м кагаз тилке, 10 бөлүккө бүктөлгөн: 7 бөлүк = 0,7 м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85800" y="3063240"/>
            <a:ext cx="4937759" cy="914399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72200" y="3063240"/>
            <a:ext cx="0" cy="914399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85800" y="3977639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34440" y="3977639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83080" y="3977639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31720" y="3977639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360" y="3977639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3977639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77639" y="3977639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26280" y="3977639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74920" y="3977639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23559" y="3977639"/>
            <a:ext cx="548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348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Бир бөлүк = 0,1 м = 10 см.  1 см = 0,01 м (жүздөн бир)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846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4A5A70"/>
                </a:solidFill>
                <a:latin typeface="PT Sans"/>
              </a:rPr>
              <a:t>Ондон бир 10 жүздөн бирге бөлүнөт: 0,1 = 0,10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14884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Разряд таблицасы: 3,45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2560320"/>
            <a:ext cx="7772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>
                <a:solidFill>
                  <a:srgbClr val="1F2430"/>
                </a:solidFill>
                <a:latin typeface="PT Sans"/>
              </a:rPr>
              <a:t>Бирдик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3108960"/>
            <a:ext cx="777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98079" y="2560320"/>
            <a:ext cx="7772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>
                <a:solidFill>
                  <a:srgbClr val="1F2430"/>
                </a:solidFill>
                <a:latin typeface="PT Sans"/>
              </a:rPr>
              <a:t>Ондон бир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3108960"/>
            <a:ext cx="777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75319" y="2560320"/>
            <a:ext cx="7772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>
                <a:solidFill>
                  <a:srgbClr val="1F2430"/>
                </a:solidFill>
                <a:latin typeface="PT Sans"/>
              </a:rPr>
              <a:t>Жүздөн бир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19" y="3108960"/>
            <a:ext cx="777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01383" y="318211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84264" y="318211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867144" y="318211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3108960"/>
            <a:ext cx="3657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,</a:t>
            </a:r>
          </a:p>
        </p:txBody>
      </p:sp>
      <p:sp>
        <p:nvSpPr>
          <p:cNvPr id="50" name="Oval 49"/>
          <p:cNvSpPr/>
          <p:nvPr/>
        </p:nvSpPr>
        <p:spPr>
          <a:xfrm>
            <a:off x="7552944" y="318211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735823" y="318211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18704" y="318211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552944" y="336499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30183" y="318211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513063" y="318211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695944" y="318211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330183" y="336499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513063" y="336499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393192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3,08: ондон бир – бош (0)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46520" y="4343400"/>
            <a:ext cx="7772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>
                <a:solidFill>
                  <a:srgbClr val="1F2430"/>
                </a:solidFill>
                <a:latin typeface="PT Sans"/>
              </a:rPr>
              <a:t>Бирдик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4892040"/>
            <a:ext cx="777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98079" y="4343400"/>
            <a:ext cx="7772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>
                <a:solidFill>
                  <a:srgbClr val="1F2430"/>
                </a:solidFill>
                <a:latin typeface="PT Sans"/>
              </a:rPr>
              <a:t>Ондон бир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98079" y="4892040"/>
            <a:ext cx="777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75319" y="4343400"/>
            <a:ext cx="777240" cy="54864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>
                <a:solidFill>
                  <a:srgbClr val="1F2430"/>
                </a:solidFill>
                <a:latin typeface="PT Sans"/>
              </a:rPr>
              <a:t>Жүздөн бир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75319" y="4892040"/>
            <a:ext cx="777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01383" y="496519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684264" y="496519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67144" y="496519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78040" y="4892040"/>
            <a:ext cx="3657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,</a:t>
            </a:r>
          </a:p>
        </p:txBody>
      </p:sp>
      <p:sp>
        <p:nvSpPr>
          <p:cNvPr id="70" name="Oval 69"/>
          <p:cNvSpPr/>
          <p:nvPr/>
        </p:nvSpPr>
        <p:spPr>
          <a:xfrm>
            <a:off x="8330183" y="496519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513063" y="496519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695944" y="496519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30183" y="514807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513063" y="514807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695944" y="514807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330183" y="533095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13063" y="5330952"/>
            <a:ext cx="155448" cy="15544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326880" y="2148840"/>
            <a:ext cx="242316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436608" y="2212848"/>
            <a:ext cx="224028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1 м кагаз тилке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сызгыч же метр тасма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кагаз разряд таблицасы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15–20 капкак же таш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3 сом, 1 сом, 50 жана 10 тыйындык тыйындар (бар болсо)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Капкак саны = цифра!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сан огу жана «чоңойткуч»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Төрт секирик сан огунда. 3,4 менен 3,5тин ортосун чоңойтуп, 10 жүздөн бирге бөлөбүз.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154680"/>
            <a:ext cx="10652759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265407" y="2935224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D3557"/>
                </a:solidFill>
                <a:latin typeface="PT Sans"/>
              </a:rPr>
              <a:t>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0358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32644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3,0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67384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11808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56231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00656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45080" y="30358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179320" y="32644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3,10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89503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33927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78352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22776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67199" y="30358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01439" y="32644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3,20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11624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56048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00472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44896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89320" y="30358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23559" y="32644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3,30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33744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78167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22592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67015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11439" y="30358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345679" y="32644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3,40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55863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0288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744712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089136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433560" y="30358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067800" y="32644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3,50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777984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122408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466831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811256" y="30906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155680" y="30358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789919" y="32644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3,60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2200656" y="2743200"/>
            <a:ext cx="0" cy="41148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2136648" y="3090672"/>
            <a:ext cx="128016" cy="128016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542288" y="2286000"/>
            <a:ext cx="1316736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A84400"/>
                </a:solidFill>
                <a:latin typeface="PT Sans"/>
              </a:rPr>
              <a:t>Улан 3,08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7711439" y="2743200"/>
            <a:ext cx="0" cy="411480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647431" y="3090672"/>
            <a:ext cx="128016" cy="128016"/>
          </a:xfrm>
          <a:prstGeom prst="ellipse">
            <a:avLst/>
          </a:prstGeom>
          <a:solidFill>
            <a:srgbClr val="4A5A70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H="1">
            <a:off x="7025639" y="2743200"/>
            <a:ext cx="685800" cy="0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367271" y="2286000"/>
            <a:ext cx="1316736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4A5A70"/>
                </a:solidFill>
                <a:latin typeface="PT Sans"/>
              </a:rPr>
              <a:t>Мээрим 3,4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8572500" y="2743200"/>
            <a:ext cx="0" cy="411480"/>
          </a:xfrm>
          <a:prstGeom prst="line">
            <a:avLst/>
          </a:prstGeom>
          <a:ln w="1905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8508492" y="3090672"/>
            <a:ext cx="128016" cy="128016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914131" y="2286000"/>
            <a:ext cx="1316736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007A5A"/>
                </a:solidFill>
                <a:latin typeface="PT Sans"/>
              </a:rPr>
              <a:t>Айдана 3,45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9433560" y="2743200"/>
            <a:ext cx="0" cy="411480"/>
          </a:xfrm>
          <a:prstGeom prst="line">
            <a:avLst/>
          </a:prstGeom>
          <a:ln w="19050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9369552" y="3090672"/>
            <a:ext cx="128016" cy="128016"/>
          </a:xfrm>
          <a:prstGeom prst="ellipse">
            <a:avLst/>
          </a:prstGeom>
          <a:solidFill>
            <a:srgbClr val="24418C"/>
          </a:solidFill>
          <a:ln w="63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9433560" y="2743200"/>
            <a:ext cx="685800" cy="0"/>
          </a:xfrm>
          <a:prstGeom prst="line">
            <a:avLst/>
          </a:prstGeom>
          <a:ln w="19050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9460992" y="2286000"/>
            <a:ext cx="1316736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24418C"/>
                </a:solidFill>
                <a:latin typeface="PT Sans"/>
              </a:rPr>
              <a:t>Бекзат 3,5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2926080" y="3291840"/>
            <a:ext cx="4785359" cy="1417319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9326880" y="3291840"/>
            <a:ext cx="106680" cy="1417319"/>
          </a:xfrm>
          <a:prstGeom prst="line">
            <a:avLst/>
          </a:prstGeom>
          <a:ln w="12700">
            <a:solidFill>
              <a:srgbClr val="4A5A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788920" y="4846320"/>
            <a:ext cx="6720839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436607" y="4626864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D3557"/>
                </a:solidFill>
                <a:latin typeface="PT Sans"/>
              </a:rPr>
              <a:t>▶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926080" y="472744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560320" y="49560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3,40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566160" y="472744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200400" y="49560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3,41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206240" y="472744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840479" y="49560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3,42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846320" y="472744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480559" y="49560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3,43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486400" y="472744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120640" y="49560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3,44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126479" y="472744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760719" y="49560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3,45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766559" y="472744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400799" y="49560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3,46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406640" y="472744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7040879" y="49560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3,47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046720" y="472744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7680960" y="49560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3,48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686800" y="472744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321040" y="49560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3,49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326880" y="472744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8961119" y="49560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3,50</a:t>
            </a:r>
          </a:p>
        </p:txBody>
      </p:sp>
      <p:sp>
        <p:nvSpPr>
          <p:cNvPr id="92" name="Oval 91"/>
          <p:cNvSpPr/>
          <p:nvPr/>
        </p:nvSpPr>
        <p:spPr>
          <a:xfrm>
            <a:off x="6035040" y="4754880"/>
            <a:ext cx="182880" cy="182880"/>
          </a:xfrm>
          <a:prstGeom prst="ellipse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4663440" y="4160520"/>
            <a:ext cx="292608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3,45: так ортодо → өйдө: ≈ 3,5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92640" y="4434840"/>
            <a:ext cx="2194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4A5A70"/>
                </a:solidFill>
                <a:latin typeface="PT Sans"/>
              </a:rPr>
              <a:t>Чоңойткуч: 0,1 = 10 жүздөн бир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3,08 &lt; 3,4 &lt; 3,45 &lt; 3,5;      3,45 ≈ 3,5 (ондон бирге)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3,5 · 3,45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Тууралап жаз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Үтүр үтүрдүн астында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3,50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Нөл кош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3,5 = 3,50: цифралар теңелет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3 =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Бүтүн бөлүгү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Бүтүнү чоң сан чоң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5 &gt;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Солдон оңго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Айырмалуу биринчи разряд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3,50 □ 3,45:   5 &gt; 4,   демек   3,5 &gt; 3,45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Өсүү тартибинде жаз: Айдана 3,45;  Бекзат 3,5;  Мээрим 3,4;  Улан 3,08 (м).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3,45;  3,50;  3,40;  3,08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нөл коштук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ондон бирлер:  4;  5;  4; 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салыштыр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3,40 &lt; 3,45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жүздөн бир: 0 &lt;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3,08 &lt; 3,4 &lt; 3,45 &lt; 3,5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Өсүү тартиби = </a:t>
            </a:r>
            <a:r>
              <a:rPr sz="3400" b="1">
                <a:solidFill>
                  <a:srgbClr val="24418C"/>
                </a:solidFill>
                <a:latin typeface="PT Sans"/>
              </a:rPr>
              <a:t>3,08; 3,4; 3,45; 3,5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Бекзат 60 метрди 9,46 секундда чуркады. Таблого ондон бирге чейин тегеректеп жаз.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9,46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ондон бир: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9,4  …  9,46  …  9,5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кошуна сандар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жүздөн бир: 6 ≥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өйдө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9,46 ≈ 9,5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Таблодо = </a:t>
            </a:r>
            <a:r>
              <a:rPr sz="3400" b="1">
                <a:solidFill>
                  <a:srgbClr val="24418C"/>
                </a:solidFill>
                <a:latin typeface="PT Sans"/>
              </a:rPr>
              <a:t>9,5 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Нөл кошуп теңе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3,5 □ 3,45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3,50 □ 3,45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50 &gt; 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3,5 &gt; 3,45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Цифралардын саны бирдей болсун.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Акча менен ойлон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0,6 сом □ 0,35 сом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60 т. □ 35 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0,6 &gt; 0,35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 сом = 100 тыйын: жүздөн бир = 1 тыйын.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Кошуна сандар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7,38 ≈ ? (ондон бирге)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7,3 … 7,38 … 7,4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 ≥ 5: өйдө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≈ 7,4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Адегенде кошуна эки санды жаз.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Кайсы сан эң кичине?   0,4;   0,25;   0,275;   0,08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0,4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0,08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0,275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0,25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м кагаз тилкеден Айдана желек үчүн 0,7 м кесип алды. Канча метр калды? 1 м = 10 ондон бир.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Айдана 3,45 м, Мээрим 3,4 м секирди. Ким алыс секирди? Канча жүздөн бир метрге?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60 метрге: Мээрим 10,2 с, Айдана 10,25 с чуркады. Ким тез? Канча секундга?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 м кагаз тилкеден Айдана желек үчүн 0,7 м кесип алды. Канча метр калды? 1 м = 10 ондон бир.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6407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07666" y="3017520"/>
            <a:ext cx="70317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0,3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 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10 − 7 = 3 ондон бир: 0,3 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Айдана 3,45 м, Мээрим 3,4 м секирди. Ким алыс секирди? Канча жүздөн бир метрге?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167422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Айдана 3,40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3822" y="3017520"/>
            <a:ext cx="669689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9600" y="3574389"/>
            <a:ext cx="167422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Мээрим 3,40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Айдана: 3,45 &gt; 3,40; 0,05 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60 метрге: Мээрим 10,2 с, Айдана 10,25 с чуркады. Ким тез? Канча секундга?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2272" y="3017520"/>
            <a:ext cx="167422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Мээрим 10,20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2272" y="3574389"/>
            <a:ext cx="167422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Айдана 10,20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6494" y="3574389"/>
            <a:ext cx="669689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Мээрим 0,05 с тез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Салыштыр: 5,3 □ 5,29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Өсүү тартиби: 0,8;  0,08;  0,88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2,705теги 5тин мааниси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7,64 ≈ ? (ондон бирге)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12,5 ≈ ? (бүтүнгө)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Мээрим 10,2 с, Айдана 10,25 с. Ким тез?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Салыштыр: 5,3 □ 5,29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5,3 &gt; 5,29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Өсүү тартиби: 0,8;  0,08;  0,88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0,08; 0,8; 0,88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2,705теги 5тин мааниси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0,005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7,64 ≈ ? (ондон бирге)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7,6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12,5 ≈ ? (бүтүнгө)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Мээрим 10,2 с, Айдана 10,25 с. Ким тез?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Мээрим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Ким биринчи орунду алды? Төртөөнү чоңунан кичинесине тиз. Таблодо эмне үчүн Айдана менен Бекзат бирдей?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Бекзат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206986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 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7309" y="2240280"/>
            <a:ext cx="551965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0,50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35808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Айдана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3035808"/>
            <a:ext cx="206986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 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7309" y="3035808"/>
            <a:ext cx="4139738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0,45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87047" y="3035808"/>
            <a:ext cx="1379912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0,05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227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3,50 &gt; 3,45 &gt; 3,40 &gt; 3,08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9227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орундар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97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3,45 ≈ 3,5 (ондон бирге)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4897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таблодо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Бекзат биринчи. Таблодо 3,45 ≈ 3,5: экөө бирдей.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Спорт күнү жөнүндө маселе түз: 4 окуучунун натыйжасы ондук бөлчөк менен (м же с). Орундарды тап.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Айдана, Бекзат, Мээрим, Улан, Нурлан агай.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Салыштыр (&lt; же &gt;):  0,7 □ 0,65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5,08 санында 8 цифрасынын мааниси кандай?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6,47ни ондон бирге чейин тегеректе.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3,08 3,5тен кичине, цифрасы көп болсо да?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3,5 менен 3,50 бирдейби? Тилке же акча менен түшүндүр.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9,46ны ондон бирге тегеректегенде кайсы цифраны карайсың? Эмне үчүн?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сабакта разряд таблицасын жана капкактарды колдонууну сунуштайм: окуучу өзү коёт.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Салыштырууда «нөл кошуп теңе» деп үн чыгарып айттырам (М1, М2).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3 м 8 см сыяктуу узундуктарды метр тасмада көрсөтөм: бош разряд = нөл (М3).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Тегеректөөдө кошуна эки санды дайыма жаздырам (М5, 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