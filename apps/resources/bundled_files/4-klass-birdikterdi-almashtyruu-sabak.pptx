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берем. Окуучулар болжолдошот: баары машинага батабы? Тоннадан көппү, азбы? Жоопту сабактын аягында (22-слайд) текшеребиз. Проектор жок болсо, тилкени доскага чийем.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Асел: бир бирдикке (кг) айландырабыз, 2300 кг &gt; 2150 кг (Нурбек – М2).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10 уячалуу 4 жумуртка кутусу жана 40 бөтөлкө капкагы (1 капкак = 1 ц = 100 кг, толук куту = 1 т); чакмак дептерден кесилген 10 тилке (ар бири 10 см = 1 дм), алар желимделип 1 м кагаз лента болот: үстүнө дм, астына см жазышат; 1 л бөтөлкө жана 250 мл стакан. Окуучулар 3 т 6 ц ны капкак менен коюшат жана санашат: 36 ц = 3600 кг. Эрежени окуучулар өздөрү айтышат: чоң бирдиктен кичинеге – көбүрөөк сан, кичинеден чоңго – азыраак сан. Проектор жок болсо, ушул сүрөттү доскага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Кош шкаланы доскага чийем, окуучулар чакмак дептерге (1 чакмак = 10 см же 1 ц). Узундук: 2 м 35 см чекити астында 235 см. 1 м 80 см ге секиребиз: 235 + 180 = 415 см, үстүндө 4 м 15 см. Масса: ар бир тонна 10 бөлүккө (ц) бөлүнгөн; 3 т 6 ц чекити астында 3600 кг. Окуучулар өздөрү чекит тандап, эки жазуусун айтышат.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Чоң бирдиктен кичинеге өткөндө көбөйтөбүз (× 10, × 100, × 1000); кичинеден чоңго өткөндө 1000ден (метр менен сантиметрде 100дөн) топтойбуз (М4). Центнер 100 кг, тонна 1000 кг (М1). Салыштыруудан мурун бир бирдикке айландырабыз (М2); бош разрядга 0 (М3).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ыкманы окуучу үн чыгарып айтат: «акыркы үч цифра – килограмм». «Оозеки беш мүнөт» (класста колдонуу картасы) эки апта ушул ыкмаларды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М3; Б = ✓; В = М1; Г = М2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бөлүк – бүтүн → калганы → салыштыруу. Жооптор: 1 т 650 кг + 7 ц 80 кг = 2 т 430 кг; 20 л − 7 л 350 мл = 12 л 650 мл; 1 ц 15 кг − 85 кг = 30 кг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Адегенде бардыгын килограммга айландырабыз: 3 т 750 кг = 3750 кг, 8 ц 60 кг = 860 кг. Баары 4610 кг = 4 т 610 кг &lt; 5 т, батат. Калганы: 5000 кг − 4610 кг = 390 кг. Текшерүү: 4 т 610 кг + 390 кг = 4 т 1000 кг = 5 т. Пойанын 4-кадамы: жооп акылга сыябы? 390 кг – 4 кап кызылчадай.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4080 кг; 2150 м; 4 м 35 см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>4-класс · Математика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Бирдиктерди алмаштыруу: узундук, масса, сыйымдуулук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Кайыңдыдагы кант кызылчасы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Нурбек менен Асел Темир таякесинин талаасында кант кызылчасын жыйнашат: тонна, центнер, километр жана литр менен эсептешет.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Математика стандарты (2011), 4-класс: чоңдуктар жана алардын бирдиктери (3-класстын аттуу сандарынын уландысы). Мазмуну толук жаңы.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Кайыңдыдагы кант кызылчасы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Күз. Чүйдөгү Кайыңды айылында кант кызылчасы бышты.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Нурбек менен Асел Темир таякесине түшүм жыйнаганга жардам беришет.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Кызылча жүк машинасы менен Кайыңдыдагы кант заводуна ташылат.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Таяке 3 т 750 кг кызылча казып алды. Балдар 8 ц 60 кг терип чыгышты. Машинага 5 т батат.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Таяке 3 т 750 кг, балдар 8 ц 60 кг кызылча чогултушту. Жүк машинасына 5 т батат. Баары батабы? Машинада дагы канча орун калат?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Бирдиктерди эки багытта алмаштырам: чоңдон кичинеге көбөйтөм, кичинеден чоңго топтойм.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1 ц = 100 кг, 1 т = 10 ц экенин билем; аралаш бирдиктерди салыштырып, тартипке коём.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Аттуу сандарды кошом, кемитем жана маселени тилке менен чыгарам.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Бир багытта алмаштыруу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Эки багыт, салыштыруу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Кошуу, кемитүү, маселе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Кош шкала менен текшерүү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Жупта: жумуртка кутусу, кагаз метр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Кайыңды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Кант кызылчасы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3-класс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мм … км; г, кг; мл, л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Аттуу сандар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4-класс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ц жана т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Эки багытта алмаштыруу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18204" y="2057400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>5-класс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Ондук бөлчөк: 2,35 м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Аянт бирдиктери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>6-класс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Масштаб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Ылдамдык: км/саат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 м = □ см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 кг = □ 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 м 5 см = □ см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1000 − 350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 м = □ см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100 см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 кг = □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1000 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 м 5 см = □ см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305 см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1000 − 350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650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Темир таяке: «Кайсы араба оор: 2 т 3 ц же 2 т 150 кг?»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Нурбек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150 &gt; 3.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Демек 2 т 150 кг оор.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Асел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2 т 3 ц = 2300 кг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2 т 150 кг = 2150 кг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Демек 2 т 3 ц оор.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Кош шкала менен текшер.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жумуртка кутусу (1 т = 10 ц), кагаз метр жана бөтөлкө менен алмаштырабыз.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11680"/>
            <a:ext cx="69494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D3557"/>
                </a:solidFill>
                <a:latin typeface="PT Sans"/>
              </a:rPr>
              <a:t>1. Жумуртка кутусу: 1 капкак = 1 ц = 100 кг; толук куту = 10 ц = 1 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450592"/>
            <a:ext cx="1143000" cy="512064"/>
          </a:xfrm>
          <a:prstGeom prst="roundRect">
            <a:avLst>
              <a:gd name="adj" fmla="val 12000"/>
            </a:avLst>
          </a:prstGeom>
          <a:solidFill>
            <a:srgbClr val="F3E3C7"/>
          </a:solidFill>
          <a:ln w="15875">
            <a:solidFill>
              <a:srgbClr val="A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96112" y="2523744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6424" y="2523744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316736" y="2523744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527048" y="2523744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737360" y="2523744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6112" y="2734056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6424" y="2734056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16736" y="2734056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527048" y="2734056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737360" y="2734056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2980944"/>
            <a:ext cx="13258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D3557"/>
                </a:solidFill>
                <a:latin typeface="PT Sans"/>
              </a:rPr>
              <a:t>1 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67128" y="2450592"/>
            <a:ext cx="1143000" cy="512064"/>
          </a:xfrm>
          <a:prstGeom prst="roundRect">
            <a:avLst>
              <a:gd name="adj" fmla="val 12000"/>
            </a:avLst>
          </a:prstGeom>
          <a:solidFill>
            <a:srgbClr val="F3E3C7"/>
          </a:solidFill>
          <a:ln w="15875">
            <a:solidFill>
              <a:srgbClr val="A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240280" y="2523744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450592" y="2523744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660904" y="2523744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871216" y="2523744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081528" y="2523744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240280" y="2734056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450592" y="2734056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660904" y="2734056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871216" y="2734056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081528" y="2734056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075688" y="2980944"/>
            <a:ext cx="13258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D3557"/>
                </a:solidFill>
                <a:latin typeface="PT Sans"/>
              </a:rPr>
              <a:t>1 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511296" y="2450592"/>
            <a:ext cx="1143000" cy="512064"/>
          </a:xfrm>
          <a:prstGeom prst="roundRect">
            <a:avLst>
              <a:gd name="adj" fmla="val 12000"/>
            </a:avLst>
          </a:prstGeom>
          <a:solidFill>
            <a:srgbClr val="F3E3C7"/>
          </a:solidFill>
          <a:ln w="15875">
            <a:solidFill>
              <a:srgbClr val="A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584448" y="2523744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794760" y="2523744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005072" y="2523744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215384" y="2523744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425696" y="2523744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584448" y="2734056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794760" y="2734056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005072" y="2734056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215384" y="2734056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425696" y="2734056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19856" y="2980944"/>
            <a:ext cx="13258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D3557"/>
                </a:solidFill>
                <a:latin typeface="PT Sans"/>
              </a:rPr>
              <a:t>1 т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855464" y="2450592"/>
            <a:ext cx="1143000" cy="512064"/>
          </a:xfrm>
          <a:prstGeom prst="roundRect">
            <a:avLst>
              <a:gd name="adj" fmla="val 12000"/>
            </a:avLst>
          </a:prstGeom>
          <a:solidFill>
            <a:srgbClr val="F3E3C7"/>
          </a:solidFill>
          <a:ln w="15875">
            <a:solidFill>
              <a:srgbClr val="A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928616" y="2523744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138928" y="2523744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349240" y="2523744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559552" y="2523744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769864" y="2523744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928616" y="2734056"/>
            <a:ext cx="155448" cy="155448"/>
          </a:xfrm>
          <a:prstGeom prst="ellipse">
            <a:avLst/>
          </a:prstGeom>
          <a:solidFill>
            <a:srgbClr val="D9534F"/>
          </a:solidFill>
          <a:ln w="952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138928" y="2734056"/>
            <a:ext cx="155448" cy="1554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A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349240" y="2734056"/>
            <a:ext cx="155448" cy="1554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A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559552" y="2734056"/>
            <a:ext cx="155448" cy="1554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A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769864" y="2734056"/>
            <a:ext cx="155448" cy="1554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A0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764024" y="2980944"/>
            <a:ext cx="13258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D3557"/>
                </a:solidFill>
                <a:latin typeface="PT Sans"/>
              </a:rPr>
              <a:t>6 ц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45352" y="2395728"/>
            <a:ext cx="1737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3 т 6 ц</a:t>
            </a:r>
          </a:p>
          <a:p>
            <a:pPr algn="l">
              <a:lnSpc>
                <a:spcPct val="9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= 36 ц</a:t>
            </a:r>
          </a:p>
          <a:p>
            <a:pPr algn="l">
              <a:lnSpc>
                <a:spcPct val="9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= 3600 кг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0080" y="3584448"/>
            <a:ext cx="69494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D3557"/>
                </a:solidFill>
                <a:latin typeface="PT Sans"/>
              </a:rPr>
              <a:t>2. Кагаз метр: 10 тилке, ар бири 1 дм = 10 см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14400" y="4279392"/>
            <a:ext cx="585216" cy="36576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499616" y="4279392"/>
            <a:ext cx="585216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084832" y="4279392"/>
            <a:ext cx="585216" cy="36576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670048" y="4279392"/>
            <a:ext cx="585216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255264" y="4279392"/>
            <a:ext cx="585216" cy="36576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840480" y="4279392"/>
            <a:ext cx="585216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425696" y="4279392"/>
            <a:ext cx="585216" cy="36576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010912" y="4279392"/>
            <a:ext cx="585216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596128" y="4279392"/>
            <a:ext cx="585216" cy="36576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181344" y="4279392"/>
            <a:ext cx="585216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94360" y="3977639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8640" y="466344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79576" y="3977639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33856" y="466344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764792" y="3977639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719072" y="466344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50008" y="3977639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304288" y="466344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35224" y="3977639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889504" y="466344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40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520440" y="3977639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74720" y="466344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50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105656" y="3977639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059935" y="466344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60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690872" y="3977639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645152" y="466344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70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276088" y="3977639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230368" y="466344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80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861304" y="3977639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815583" y="466344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90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446520" y="3977639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400800" y="466344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100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995160" y="3977639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дм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995160" y="466344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см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40080" y="5029200"/>
            <a:ext cx="4206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D3557"/>
                </a:solidFill>
                <a:latin typeface="PT Sans"/>
              </a:rPr>
              <a:t>3. Бөтөлкө жана стакан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868680" y="5440680"/>
            <a:ext cx="502920" cy="7772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914400" y="5577840"/>
            <a:ext cx="411480" cy="603504"/>
          </a:xfrm>
          <a:prstGeom prst="roundRect">
            <a:avLst>
              <a:gd name="adj" fmla="val 12000"/>
            </a:avLst>
          </a:prstGeom>
          <a:solidFill>
            <a:srgbClr val="CFE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417320" y="5623560"/>
            <a:ext cx="5486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1 л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920240" y="5623560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F2430"/>
                </a:solidFill>
                <a:latin typeface="PT Sans"/>
              </a:rPr>
              <a:t>=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286000" y="5669280"/>
            <a:ext cx="310896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313432" y="5788152"/>
            <a:ext cx="256032" cy="310896"/>
          </a:xfrm>
          <a:prstGeom prst="rect">
            <a:avLst/>
          </a:prstGeom>
          <a:solidFill>
            <a:srgbClr val="CFE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697480" y="5669280"/>
            <a:ext cx="310896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724912" y="5788152"/>
            <a:ext cx="256032" cy="310896"/>
          </a:xfrm>
          <a:prstGeom prst="rect">
            <a:avLst/>
          </a:prstGeom>
          <a:solidFill>
            <a:srgbClr val="CFE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108960" y="5669280"/>
            <a:ext cx="310896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136391" y="5788152"/>
            <a:ext cx="256032" cy="310896"/>
          </a:xfrm>
          <a:prstGeom prst="rect">
            <a:avLst/>
          </a:prstGeom>
          <a:solidFill>
            <a:srgbClr val="CFE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3520440" y="5669280"/>
            <a:ext cx="310896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3547872" y="5788152"/>
            <a:ext cx="256032" cy="310896"/>
          </a:xfrm>
          <a:prstGeom prst="rect">
            <a:avLst/>
          </a:prstGeom>
          <a:solidFill>
            <a:srgbClr val="CFE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977639" y="5623560"/>
            <a:ext cx="35661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24418C"/>
                </a:solidFill>
                <a:latin typeface="PT Sans"/>
              </a:rPr>
              <a:t>4 × 250 мл = 1000 мл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863840" y="2011680"/>
            <a:ext cx="3886200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0" y="2084831"/>
            <a:ext cx="3611880" cy="3703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4 жумуртка кутусу, 40 капкак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чакмак дептерден 10 тилке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 л бөтөлкө, 250 мл стакан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800" b="1" i="0">
                <a:solidFill>
                  <a:srgbClr val="1F2430"/>
                </a:solidFill>
                <a:latin typeface="PT Sans"/>
              </a:rPr>
              <a:t>Суроолор: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3 т 6 ц: канча капкак? канча кг?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 м да канча дм, канча см?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 л 500 мл: канча стакан?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600" b="1" i="0">
                <a:solidFill>
                  <a:srgbClr val="24418C"/>
                </a:solidFill>
                <a:latin typeface="PT Sans"/>
              </a:rPr>
              <a:t>Чоң бирдик → кичине: сан чоңоёт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кош шкала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Бир чекит – эки жазуу: үстүндө чоң бирдик, астында кичине бирдик.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011680"/>
            <a:ext cx="4206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4A5A70"/>
                </a:solidFill>
                <a:latin typeface="PT Sans"/>
              </a:rPr>
              <a:t>Узундук: үстү – м, асты – см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2834640"/>
            <a:ext cx="960120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15568" y="2862072"/>
            <a:ext cx="4494276" cy="310896"/>
          </a:xfrm>
          <a:prstGeom prst="rect">
            <a:avLst/>
          </a:prstGeom>
          <a:solidFill>
            <a:srgbClr val="B5E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97280" y="2743200"/>
            <a:ext cx="0" cy="54864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40080" y="245059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2918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289304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289304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481328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481328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673352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673352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865376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865376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057400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057400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249424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249424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441448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441448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633472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633472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825496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825496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017520" y="2743200"/>
            <a:ext cx="0" cy="54864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2560320" y="245059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68879" y="32918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100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209544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209544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401568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3401568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593591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593591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3785615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785615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977639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977639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169663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4169663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4361688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4361688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4553712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553712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4745736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745736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937760" y="2743200"/>
            <a:ext cx="0" cy="54864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4480560" y="245059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89120" y="32918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200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129784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5129784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5321808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5321808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5513832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5513832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5705856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5705856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5897880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5897880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6089904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6089904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6281928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6281928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6473952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6473952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6665976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6665976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6858000" y="2743200"/>
            <a:ext cx="0" cy="54864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6400800" y="245059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9360" y="32918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300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7050024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7050024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7242048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7242048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7434071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7434071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7626096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7626096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7818119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7818119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8010144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8010144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8202167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8202167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8394192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8394192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8586215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8586215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8778240" y="2743200"/>
            <a:ext cx="0" cy="54864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8321040" y="245059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229600" y="32918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400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8970263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8970263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9162288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9162288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9354311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9354311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9546336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9546336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9738359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9738359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9930384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9930384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10122407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10122407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10314432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10314432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10506455" y="283464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10506455" y="309067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10698480" y="2743200"/>
            <a:ext cx="0" cy="54864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10241280" y="245059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149840" y="32918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500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808207" y="245059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м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201400" y="3291840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см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5609844" y="2377440"/>
            <a:ext cx="0" cy="1280160"/>
          </a:xfrm>
          <a:prstGeom prst="line">
            <a:avLst/>
          </a:prstGeom>
          <a:ln w="31750">
            <a:solidFill>
              <a:srgbClr val="24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Oval 125"/>
          <p:cNvSpPr/>
          <p:nvPr/>
        </p:nvSpPr>
        <p:spPr>
          <a:xfrm>
            <a:off x="5536692" y="2944368"/>
            <a:ext cx="146304" cy="146304"/>
          </a:xfrm>
          <a:prstGeom prst="ellipse">
            <a:avLst/>
          </a:prstGeom>
          <a:solidFill>
            <a:srgbClr val="24418C"/>
          </a:solidFill>
          <a:ln w="63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786883" y="2084832"/>
            <a:ext cx="16459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24418C"/>
                </a:solidFill>
                <a:latin typeface="PT Sans"/>
              </a:rPr>
              <a:t>2 м 35 см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786883" y="3584448"/>
            <a:ext cx="16459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24418C"/>
                </a:solidFill>
                <a:latin typeface="PT Sans"/>
              </a:rPr>
              <a:t>235 см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9066276" y="2377440"/>
            <a:ext cx="0" cy="128016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Oval 129"/>
          <p:cNvSpPr/>
          <p:nvPr/>
        </p:nvSpPr>
        <p:spPr>
          <a:xfrm>
            <a:off x="8993124" y="2944368"/>
            <a:ext cx="146304" cy="146304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243315" y="2084832"/>
            <a:ext cx="16459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4 м 15 см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243315" y="3584448"/>
            <a:ext cx="16459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415 см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432804" y="2103120"/>
            <a:ext cx="1810511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→ + 1 м 80 см →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48640" y="4023360"/>
            <a:ext cx="44805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4A5A70"/>
                </a:solidFill>
                <a:latin typeface="PT Sans"/>
              </a:rPr>
              <a:t>Масса: үстү – т, асты – кг; бөлүк = 1 ц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1097280" y="4846320"/>
            <a:ext cx="960120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1115568" y="4873752"/>
            <a:ext cx="6894576" cy="310896"/>
          </a:xfrm>
          <a:prstGeom prst="rect">
            <a:avLst/>
          </a:prstGeom>
          <a:solidFill>
            <a:srgbClr val="B5E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7" name="Connector 136"/>
          <p:cNvCxnSpPr/>
          <p:nvPr/>
        </p:nvCxnSpPr>
        <p:spPr>
          <a:xfrm>
            <a:off x="1097280" y="4754880"/>
            <a:ext cx="0" cy="54864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TextBox 137"/>
          <p:cNvSpPr txBox="1"/>
          <p:nvPr/>
        </p:nvSpPr>
        <p:spPr>
          <a:xfrm>
            <a:off x="640080" y="446227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48640" y="530352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1289304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1289304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1481328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481328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1673352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1673352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1865376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1865376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2057400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2057400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2249424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2249424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2441448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2441448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2633472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2633472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2825496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2825496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3017520" y="4754880"/>
            <a:ext cx="0" cy="54864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2560320" y="446227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468879" y="530352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1000</a:t>
            </a:r>
          </a:p>
        </p:txBody>
      </p:sp>
      <p:cxnSp>
        <p:nvCxnSpPr>
          <p:cNvPr id="161" name="Connector 160"/>
          <p:cNvCxnSpPr/>
          <p:nvPr/>
        </p:nvCxnSpPr>
        <p:spPr>
          <a:xfrm>
            <a:off x="3209544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3209544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3401568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3401568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3593591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3593591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3785615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3785615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3977639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3977639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4169663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>
            <a:off x="4169663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>
            <a:off x="4361688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>
            <a:off x="4361688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>
            <a:off x="4553712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>
            <a:off x="4553712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4745736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4745736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4937760" y="4754880"/>
            <a:ext cx="0" cy="54864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0" name="TextBox 179"/>
          <p:cNvSpPr txBox="1"/>
          <p:nvPr/>
        </p:nvSpPr>
        <p:spPr>
          <a:xfrm>
            <a:off x="4480560" y="446227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389120" y="530352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2000</a:t>
            </a:r>
          </a:p>
        </p:txBody>
      </p:sp>
      <p:cxnSp>
        <p:nvCxnSpPr>
          <p:cNvPr id="182" name="Connector 181"/>
          <p:cNvCxnSpPr/>
          <p:nvPr/>
        </p:nvCxnSpPr>
        <p:spPr>
          <a:xfrm>
            <a:off x="5129784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5129784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5321808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5321808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5513832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5513832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5705856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5705856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5897880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5897880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6089904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6089904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6281928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6281928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6473952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6473952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6665976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6665976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>
            <a:off x="6858000" y="4754880"/>
            <a:ext cx="0" cy="54864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1" name="TextBox 200"/>
          <p:cNvSpPr txBox="1"/>
          <p:nvPr/>
        </p:nvSpPr>
        <p:spPr>
          <a:xfrm>
            <a:off x="6400800" y="446227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6309360" y="530352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3000</a:t>
            </a:r>
          </a:p>
        </p:txBody>
      </p:sp>
      <p:cxnSp>
        <p:nvCxnSpPr>
          <p:cNvPr id="203" name="Connector 202"/>
          <p:cNvCxnSpPr/>
          <p:nvPr/>
        </p:nvCxnSpPr>
        <p:spPr>
          <a:xfrm>
            <a:off x="7050024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>
            <a:off x="7050024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>
            <a:off x="7242048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>
            <a:off x="7242048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>
            <a:off x="7434071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>
            <a:off x="7434071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7626096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7626096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7818119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7818119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8010144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8010144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8202167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8202167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8394192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8394192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8586215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8586215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8778240" y="4754880"/>
            <a:ext cx="0" cy="54864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2" name="TextBox 221"/>
          <p:cNvSpPr txBox="1"/>
          <p:nvPr/>
        </p:nvSpPr>
        <p:spPr>
          <a:xfrm>
            <a:off x="8321040" y="446227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8229600" y="530352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4000</a:t>
            </a:r>
          </a:p>
        </p:txBody>
      </p:sp>
      <p:cxnSp>
        <p:nvCxnSpPr>
          <p:cNvPr id="224" name="Connector 223"/>
          <p:cNvCxnSpPr/>
          <p:nvPr/>
        </p:nvCxnSpPr>
        <p:spPr>
          <a:xfrm>
            <a:off x="8970263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8970263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9162288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9162288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9354311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9354311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9546336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9546336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9738359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9738359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9930384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9930384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10122407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10122407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>
            <a:off x="10314432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10314432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10506455" y="4846320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>
            <a:off x="10506455" y="5102352"/>
            <a:ext cx="0" cy="109728"/>
          </a:xfrm>
          <a:prstGeom prst="line">
            <a:avLst/>
          </a:prstGeom>
          <a:ln w="1143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10698480" y="4754880"/>
            <a:ext cx="0" cy="54864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3" name="TextBox 242"/>
          <p:cNvSpPr txBox="1"/>
          <p:nvPr/>
        </p:nvSpPr>
        <p:spPr>
          <a:xfrm>
            <a:off x="10241280" y="446227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10149840" y="530352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5000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10808207" y="446227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т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1201400" y="5303520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кг</a:t>
            </a:r>
          </a:p>
        </p:txBody>
      </p:sp>
      <p:cxnSp>
        <p:nvCxnSpPr>
          <p:cNvPr id="247" name="Connector 246"/>
          <p:cNvCxnSpPr/>
          <p:nvPr/>
        </p:nvCxnSpPr>
        <p:spPr>
          <a:xfrm>
            <a:off x="8010144" y="4389120"/>
            <a:ext cx="0" cy="128016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8" name="Oval 247"/>
          <p:cNvSpPr/>
          <p:nvPr/>
        </p:nvSpPr>
        <p:spPr>
          <a:xfrm>
            <a:off x="7936992" y="4956048"/>
            <a:ext cx="146304" cy="146304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7187183" y="4096511"/>
            <a:ext cx="16459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3 т 6 ц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7187183" y="5596128"/>
            <a:ext cx="16459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3600 кг</a:t>
            </a:r>
          </a:p>
        </p:txBody>
      </p:sp>
      <p:sp>
        <p:nvSpPr>
          <p:cNvPr id="251" name="Rounded Rectangle 250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52" name="Rounded Rectangle 251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253" name="Rounded Rectangle 252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254" name="Rounded Rectangle 25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Чоңдон кичинеге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3 т 6 ц = 3000 + 600 = 3600 кг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топто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Кичинеден чоңго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4610 кг = 4 т 610 кг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ц, 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1 т = 10 ц = 1000 кг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1 ц = 100 кг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=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Салыштыр, кош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адегенде бир бирдикке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2 т 3 ц = 2300 кг &gt; 2150 кг = 2 т 150 кг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Жүктү жабуу үчүн эки кездеме тилкесин уланттык: 2 м 35 см жана 1 м 80 см. Узундугу баары канча?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 м 35 см + 1 м 80 см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3 м 115 см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м жана см өзүнчө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4 м 15 см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115 см = 1 м 15 см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Баары = </a:t>
            </a:r>
            <a:r>
              <a:rPr sz="3400" b="1">
                <a:solidFill>
                  <a:srgbClr val="24418C"/>
                </a:solidFill>
                <a:latin typeface="PT Sans"/>
              </a:rPr>
              <a:t>4 м 15 см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Машинада 4 т 2 ц кызылча бар эле. Заводдо 1 т 7 ц түшүрүштү. Машинада канча калды?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 т 2 ц − 1 т 7 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3 т 12 ц − 1 т 7 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1 т = 10 ц майдаладык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2 т 5 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Калды = </a:t>
            </a:r>
            <a:r>
              <a:rPr sz="3400" b="1">
                <a:solidFill>
                  <a:srgbClr val="24418C"/>
                </a:solidFill>
                <a:latin typeface="PT Sans"/>
              </a:rPr>
              <a:t>2 т 5 ц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үч жол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Үч цифраны бөл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4610 кг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4 т 610 кг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4 т 6 ц 10 кг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Оңдон үч цифра – кг, калганы – т. 4|610.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Толук метр кош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 м 35 см + 1 м 80 см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= 2 м 35 см + 2 м − 20 см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4 м 15 см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1 м 80 см = 2 м − 20 см: адегенде 2 м кош, анан 20 см кемит.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Толук тонна кемит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 т 3 ц − 1 т 7 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5 т 3 ц − 2 т + 3 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3 т 6 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2 т кемитип, ашыкча алган 3 цти кайра кошобуз.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Түшүн → ыкма → эркин эсеп. Ыкмаңды үн чыгарып айт: «Мен ... деп ойлодум».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Темир таякенин жүк машинасында 3 т 6 ц кызылча бар. Бул канча килограмм?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36 кг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3600 кг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3060 кг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9 кг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Таяке 1 т 650 кг, Нурбек менен Асел 7 ц 80 кг кызылча чогултушту. Баары канча кызылча?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Бочкада 20 л суу бар эле. Кызылча жууганга 7 л 350 мл кетти. Бочкада канча суу калды?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Биринчи капта 1 ц 15 кг, экинчи капта 85 кг кызылча. Биринчи кап канча оор?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Таяке 1 т 650 кг, Нурбек менен Асел 7 ц 80 кг кызылча чогултушту. Баары канча кызылча?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1591545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 т 650 кг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58473" y="3017520"/>
            <a:ext cx="75236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7 ц 80 кг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 т 650 кг + 7 ц 80 кг = 2 т 430 кг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Бочкада 20 л суу бар эле. Кызылча жууганга 7 л 350 мл кетти. Бочкада канча суу калды?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19600" y="3017520"/>
            <a:ext cx="86138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7 л 350 мл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280987" y="3017520"/>
            <a:ext cx="1482524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20 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20 л − 7 л 350 мл = 12 л 650 мл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Биринчи капта 1 ц 15 кг, экинчи капта 85 кг кызылча. Биринчи кап канча оор?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72272" y="3017520"/>
            <a:ext cx="173245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2-кап 85 кг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72272" y="3574389"/>
            <a:ext cx="173245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1-кап: 85 кг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04728" y="3574389"/>
            <a:ext cx="611455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 ц 15 кг − 85 кг = 30 кг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7 т 40 кг = □ кг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5300 м = □ км □ 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6 ц = □ кг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Салыштыр: 3 т 2 ц □ 3 т 150 кг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 м 65 см + 2 м 50 см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Термосто 2 л 200 мл чай бар эле. 750 мл ичишти. Канча калды?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7 т 40 кг = □ кг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7040 кг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5300 м = □ км □ 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 км 300 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6 ц = □ кг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600 кг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Салыштыр: 3 т 2 ц □ 3 т 150 кг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 т 2 ц &gt; 3 т 150 кг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 м 65 см + 2 м 50 см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 м 15 см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Термосто 2 л 200 мл чай бар эле. 750 мл ичишти. Канча калды?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 л 450 мл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Таяке 3 т 750 кг, балдар 8 ц 60 кг кызылча чогултушту. Жүк машинасына 5 т батат. Баары батабы? Машинада дагы канча орун калат?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240280"/>
            <a:ext cx="678941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Таяке 3 т 750 кг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03819" y="2240280"/>
            <a:ext cx="1557040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8 ц 60 кг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60860" y="2240280"/>
            <a:ext cx="70609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5 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3 т 750 кг + 8 ц 60 кг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= 3750 кг + 860 кг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кгга айландырдык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= 4610 кг = 4 т 610 кг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батат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828032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5 т − 4 т 610 кг = 390 кг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4828032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дагы батат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Баары 4 т 610 кг: машинага батат, дагы 390 кг орун калат.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Кайыңдыдагы кызылча жөнүндө маселе түз: эки аттуу санды кош же кемит (т, ц, кг же км, м).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Нурбек, Асел, Темир таяке.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4 т 80 кг = □ кг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Кайсынысы узун: 2 км 90 м же 2150 м?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1 м 75 см + 2 м 60 см =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чоңдон кичинеге өткөндө көбөйтөбүз?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3 т 2 ц жана 3 т 150 кг: кайсынысы оор? Кантип билдиң?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2 м 35 см + 1 м 80 см: 115 см менен эмне кылдык? Эмне үчүн?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Кош шкаланы доскада калтырууну сунуштайм: бир чекитти эки бирдикте окуйбуз.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Центнерди жумуртка кутусу менен көрсөтөм: 1 уяча = 1 ц = 100 кг (М1).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Салыштыруудан мурун «бир бирдикке айландырдыңбы?» деп сурайм (М2).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Кошуп-кемитүүдө тилке чийдирем: 100 см = 1 м бириктирилет, 1 л = 1000 мл майдаланат (М5, М6).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