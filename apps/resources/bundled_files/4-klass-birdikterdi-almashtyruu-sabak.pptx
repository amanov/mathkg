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берем. Окуучулар болжолдошот: баары машинага батабы? Тоннадан көппү, азбы? Жоопту сабактын аягында (22-слайд) текшеребиз. Проектор жок болсо, тилкени доскага чийем.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Асел: бир бирдикке (кг) айландырабыз, 2300 кг &gt; 2150 кг (Нурбек – М2).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10 уячалуу 4 жумуртка кутусу жана 40 бөтөлкө капкагы (1 капкак = 1 ц = 100 кг, толук куту = 1 т); чакмак дептерден кесилген 10 тилке (ар бири 10 см = 1 дм), алар желимделип 1 м кагаз лента болот: үстүнө дм, астына см жазышат; 1 л бөтөлкө жана 250 мл стакан. Окуучулар 3 т 6 ц ны капкак менен коюшат жана санашат: 36 ц = 3600 кг. Эрежени окуучулар өздөрү айтышат: чоң бирдиктен кичинеге – көбүрөөк сан, кичинеден чоңго – азыраак сан.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Кош шкаланы доскага чийем, окуучулар чакмак дептерге (1 чакмак = 10 см же 1 ц). Узундук: 2 м 35 см чекити астында 235 см. 1 м 80 см ге секиребиз: 235 + 180 = 415 см, үстүндө 4 м 15 см. Масса: ар бир тонна 10 бөлүккө (ц) бөлүнгөн; 3 т 6 ц чекити астында 3600 кг. Окуучулар өздөрү чекит тандап, эки жазуусун айтышат.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Чоң бирдиктен кичинеге өткөндө көбөйтөбүз (× 10, × 100, × 1000); кичинеден чоңго өткөндө 1000ден (метр менен сантиметрде 100дөн) топтойбуз (М4). Центнер 100 кг, тонна 1000 кг (М1). Салыштыруудан мурун бир бирдикке айландырабыз (М2); бош разрядга 0 (М3).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«акыркы үч цифра – килограмм».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М3; Б = ✓; В = М1;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 – бүтүн → калганы → салыштыруу. Жооптор: 1 т 650 кг + 7 ц 80 кг = 2 т 430 кг; 20 л − 7 л 350 мл = 12 л 650 мл; 1 ц 15 кг − 85 кг = 30 кг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Адегенде бардыгын килограммга айландырабыз: 3 т 750 кг = 3750 кг, 8 ц 60 кг = 860 кг. Баары 4610 кг = 4 т 610 кг &lt; 5 т, батат. Калганы: 5000 кг − 4610 кг = 390 кг. Текшерүү: 4 т 610 кг + 390 кг = 4 т 1000 кг = 5 т. Пойанын 4-кадамы: жооп акылга сыябы? 390 кг – 4 кап кызылчадай.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4080 кг; 2150 м; 4 м 35 см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Бирдиктерди алмаштыруу: узундук, масса, сыйымдуулук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Кайыңдыдагы кант кызылчасы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Нурбек менен Асел Темир таякесинин талаасында кант кызылчасын жыйнашат: тонна, центнер, километр жана литр менен эсептешет.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(2011), 4-класс: чоңдуктар жана алардын бирдиктери (3-класстын аттуу сандарынын уландысы). Мазмуну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Кайыңдыдагы кант кызылчасы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Күз. Чүйдөгү Кайыңды айылында кант кызылчасы бышты.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Нурбек менен Асел Темир таякесине түшүм жыйнаганга жардам беришет.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Кызылча жүк машинасы менен Кайыңдыдагы кант заводуна ташылат.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Таяке 3 т 750 кг кызылча казып алды. Балдар 8 ц 60 кг терип чыгышты. Машинага 5 т батат.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Таяке 3 т 750 кг, балдар 8 ц 60 кг кызылча чогултушту. Жүк машинасына 5 т батат. Баары батабы? Машинада дагы канча орун калат?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Бирдиктерди эки багытта алмаштырам: чоңдон кичинеге көбөйтөм, кичинеден чоңго топтойм.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1 ц = 100 кг, 1 т = 10 ц экенин билем; аралаш бирдиктерди салыштырып, тартипке коём.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Аттуу сандарды кошом, кемитем жана маселени тилке менен чыгарам.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багытта алмаштыруу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Эки багыт, салыштыруу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Кошуу, кемитүү,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Кош шкала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жумуртка кутусу, кагаз метр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Кайыңды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Кант кызылчасы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мм … км; г, кг; мл, л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Аттуу сандар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ц жана т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Эки багытта алмаштыруу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 бөлчөк: 2,35 м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Аянт бирдиктери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Масштаб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Ылдамдык: км/саат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м = □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кг = □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м 5 см = □ см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1000 − 350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м = □ 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кг = □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1000 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м 5 см = □ см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305 см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1000 − 350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Темир таяке: «Кайсы араба оор: 2 т 3 ц же 2 т 150 кг?»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Нурбек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150 &gt; 3.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Демек 2 т 150 кг оор.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Асел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 т 3 ц = 2300 кг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 т 150 кг = 2150 кг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Демек 2 т 3 ц оор.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Кош шкала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жумуртка кутусу (1 т = 10 ц), кагаз метр жана бөтөлкө менен алмаштырабыз.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6949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1. Жумуртка кутусу: 1 капкак = 1 ц = 100 кг; толук куту = 10 ц = 1 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450592"/>
            <a:ext cx="1143000" cy="512064"/>
          </a:xfrm>
          <a:prstGeom prst="roundRect">
            <a:avLst>
              <a:gd name="adj" fmla="val 12000"/>
            </a:avLst>
          </a:prstGeom>
          <a:solidFill>
            <a:srgbClr val="F3E3C7"/>
          </a:solidFill>
          <a:ln w="1587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96112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16736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27048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37360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6112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6424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16736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527048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737360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980944"/>
            <a:ext cx="13258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67128" y="2450592"/>
            <a:ext cx="1143000" cy="512064"/>
          </a:xfrm>
          <a:prstGeom prst="roundRect">
            <a:avLst>
              <a:gd name="adj" fmla="val 12000"/>
            </a:avLst>
          </a:prstGeom>
          <a:solidFill>
            <a:srgbClr val="F3E3C7"/>
          </a:solidFill>
          <a:ln w="1587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40280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450592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60904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871216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081528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240280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450592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660904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871216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081528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75688" y="2980944"/>
            <a:ext cx="13258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511296" y="2450592"/>
            <a:ext cx="1143000" cy="512064"/>
          </a:xfrm>
          <a:prstGeom prst="roundRect">
            <a:avLst>
              <a:gd name="adj" fmla="val 12000"/>
            </a:avLst>
          </a:prstGeom>
          <a:solidFill>
            <a:srgbClr val="F3E3C7"/>
          </a:solidFill>
          <a:ln w="1587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584448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794760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005072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215384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425696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584448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794760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005072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215384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425696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19856" y="2980944"/>
            <a:ext cx="13258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55464" y="2450592"/>
            <a:ext cx="1143000" cy="512064"/>
          </a:xfrm>
          <a:prstGeom prst="roundRect">
            <a:avLst>
              <a:gd name="adj" fmla="val 12000"/>
            </a:avLst>
          </a:prstGeom>
          <a:solidFill>
            <a:srgbClr val="F3E3C7"/>
          </a:solidFill>
          <a:ln w="1587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928616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138928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349240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559552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769864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28616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138928" y="2734056"/>
            <a:ext cx="155448" cy="1554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349240" y="2734056"/>
            <a:ext cx="155448" cy="1554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559552" y="2734056"/>
            <a:ext cx="155448" cy="1554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769864" y="2734056"/>
            <a:ext cx="155448" cy="1554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64024" y="2980944"/>
            <a:ext cx="13258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6 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45352" y="2395728"/>
            <a:ext cx="1737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3 т 6 ц</a:t>
            </a:r>
          </a:p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= 36 ц</a:t>
            </a:r>
          </a:p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= 3600 кг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3584448"/>
            <a:ext cx="6949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2. Кагаз метр: 10 тилке, ар бири 1 дм = 10 см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4279392"/>
            <a:ext cx="585216" cy="36576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499616" y="4279392"/>
            <a:ext cx="58521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084832" y="4279392"/>
            <a:ext cx="585216" cy="36576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670048" y="4279392"/>
            <a:ext cx="58521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55264" y="4279392"/>
            <a:ext cx="585216" cy="36576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40480" y="4279392"/>
            <a:ext cx="58521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25696" y="4279392"/>
            <a:ext cx="585216" cy="36576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010912" y="4279392"/>
            <a:ext cx="58521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596128" y="4279392"/>
            <a:ext cx="585216" cy="36576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81344" y="4279392"/>
            <a:ext cx="58521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4360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9576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64792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19072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50008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04288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35224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89504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40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20440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74720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05656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059935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90872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45152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76088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30368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80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861304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15583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46520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0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95160" y="3977639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дм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95160" y="466344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см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40080" y="5029200"/>
            <a:ext cx="4206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3. Бөтөлкө жана стакан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68680" y="5440680"/>
            <a:ext cx="50292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14400" y="5577840"/>
            <a:ext cx="411480" cy="603504"/>
          </a:xfrm>
          <a:prstGeom prst="roundRect">
            <a:avLst>
              <a:gd name="adj" fmla="val 12000"/>
            </a:avLst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417320" y="5623560"/>
            <a:ext cx="548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1 л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920240" y="562356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F2430"/>
                </a:solidFill>
                <a:latin typeface="PT Sans"/>
              </a:rPr>
              <a:t>=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286000" y="5669280"/>
            <a:ext cx="310896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313432" y="5788152"/>
            <a:ext cx="256032" cy="310896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697480" y="5669280"/>
            <a:ext cx="310896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724912" y="5788152"/>
            <a:ext cx="256032" cy="310896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08960" y="5669280"/>
            <a:ext cx="310896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136391" y="5788152"/>
            <a:ext cx="256032" cy="310896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520440" y="5669280"/>
            <a:ext cx="310896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547872" y="5788152"/>
            <a:ext cx="256032" cy="310896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977639" y="5623560"/>
            <a:ext cx="35661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4 × 250 мл = 1000 мл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863840" y="2011680"/>
            <a:ext cx="388620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0" y="2084831"/>
            <a:ext cx="3611880" cy="3703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4 жумуртка кутусу, 40 капкак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чакмак дептерден 10 тилке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 л бөтөлкө, 250 мл стакан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1F2430"/>
                </a:solidFill>
                <a:latin typeface="PT Sans"/>
              </a:rPr>
              <a:t>Суроолор: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 т 6 ц: канча капкак? канча кг?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 м да канча дм, канча см?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 л 500 мл: канча стакан?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600" b="1" i="0">
                <a:solidFill>
                  <a:srgbClr val="24418C"/>
                </a:solidFill>
                <a:latin typeface="PT Sans"/>
              </a:rPr>
              <a:t>Чоң бирдик → кичине: сан чоңоёт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кош шкала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чекит – эки жазуу: үстүндө чоң бирдик, астында кичине бирдик.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11680"/>
            <a:ext cx="4206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Узундук: үстү – м, асты – см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834640"/>
            <a:ext cx="960120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15568" y="2862072"/>
            <a:ext cx="4494276" cy="310896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97280" y="274320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" y="245059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8930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28930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8132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8132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673352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673352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865376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865376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57400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057400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24942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24942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44144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44144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633472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633472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825496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825496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017520" y="274320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560320" y="245059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79" y="32918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0954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20954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40156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40156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593591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593591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785615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785615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977639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977639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169663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169663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36168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36168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553712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553712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745736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745736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937760" y="274320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480560" y="245059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0" y="32918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200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12978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12978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32180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32180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513832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5513832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705856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705856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897880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897880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08990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08990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28192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28192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473952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473952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665976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6665976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858000" y="274320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6400800" y="245059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9360" y="32918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300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705002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705002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724204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724204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7434071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7434071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26096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7626096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818119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18119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01014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01014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8202167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8202167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8394192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8394192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8586215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8586215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8778240" y="274320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8321040" y="245059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229600" y="32918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400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8970263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8970263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916228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16228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9354311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9354311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546336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9546336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9738359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9738359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93038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993038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0122407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0122407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0314432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0314432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0506455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0506455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0698480" y="274320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241280" y="245059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149840" y="32918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500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808207" y="245059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м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201400" y="329184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см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5609844" y="2377440"/>
            <a:ext cx="0" cy="1280160"/>
          </a:xfrm>
          <a:prstGeom prst="line">
            <a:avLst/>
          </a:prstGeom>
          <a:ln w="3175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5536692" y="2944368"/>
            <a:ext cx="146304" cy="146304"/>
          </a:xfrm>
          <a:prstGeom prst="ellipse">
            <a:avLst/>
          </a:prstGeom>
          <a:solidFill>
            <a:srgbClr val="24418C"/>
          </a:solidFill>
          <a:ln w="63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786883" y="2084832"/>
            <a:ext cx="16459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2 м 35 см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786883" y="3584448"/>
            <a:ext cx="16459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235 см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9066276" y="2377440"/>
            <a:ext cx="0" cy="128016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/>
          <p:cNvSpPr/>
          <p:nvPr/>
        </p:nvSpPr>
        <p:spPr>
          <a:xfrm>
            <a:off x="8993124" y="2944368"/>
            <a:ext cx="146304" cy="146304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243315" y="2084832"/>
            <a:ext cx="16459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 м 15 см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43315" y="3584448"/>
            <a:ext cx="16459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415 см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32804" y="2103120"/>
            <a:ext cx="1810511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→ + 1 м 80 см →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48640" y="4023360"/>
            <a:ext cx="44805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Масса: үстү – т, асты – кг; бөлүк = 1 ц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97280" y="4846320"/>
            <a:ext cx="960120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15568" y="4873752"/>
            <a:ext cx="6894576" cy="310896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7" name="Connector 136"/>
          <p:cNvCxnSpPr/>
          <p:nvPr/>
        </p:nvCxnSpPr>
        <p:spPr>
          <a:xfrm>
            <a:off x="1097280" y="475488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640080" y="446227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48640" y="530352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128930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28930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48132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48132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673352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673352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865376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865376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057400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057400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24942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24942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44144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44144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633472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633472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825496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825496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3017520" y="475488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2560320" y="446227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68879" y="530352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1000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320954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320954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340156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40156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3593591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3593591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785615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3785615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3977639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977639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4169663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4169663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436168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436168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4553712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4553712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4745736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4745736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4937760" y="475488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TextBox 179"/>
          <p:cNvSpPr txBox="1"/>
          <p:nvPr/>
        </p:nvSpPr>
        <p:spPr>
          <a:xfrm>
            <a:off x="4480560" y="446227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389120" y="530352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2000</a:t>
            </a:r>
          </a:p>
        </p:txBody>
      </p:sp>
      <p:cxnSp>
        <p:nvCxnSpPr>
          <p:cNvPr id="182" name="Connector 181"/>
          <p:cNvCxnSpPr/>
          <p:nvPr/>
        </p:nvCxnSpPr>
        <p:spPr>
          <a:xfrm>
            <a:off x="512978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512978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532180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532180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5513832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5513832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5705856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5705856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5897880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5897880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608990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608990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628192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628192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6473952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6473952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6665976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6665976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6858000" y="475488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TextBox 200"/>
          <p:cNvSpPr txBox="1"/>
          <p:nvPr/>
        </p:nvSpPr>
        <p:spPr>
          <a:xfrm>
            <a:off x="6400800" y="446227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309360" y="530352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3000</a:t>
            </a:r>
          </a:p>
        </p:txBody>
      </p:sp>
      <p:cxnSp>
        <p:nvCxnSpPr>
          <p:cNvPr id="203" name="Connector 202"/>
          <p:cNvCxnSpPr/>
          <p:nvPr/>
        </p:nvCxnSpPr>
        <p:spPr>
          <a:xfrm>
            <a:off x="705002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705002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724204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724204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7434071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7434071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7626096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7626096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7818119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7818119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801014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801014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8202167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8202167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8394192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8394192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8586215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8586215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8778240" y="475488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TextBox 221"/>
          <p:cNvSpPr txBox="1"/>
          <p:nvPr/>
        </p:nvSpPr>
        <p:spPr>
          <a:xfrm>
            <a:off x="8321040" y="446227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229600" y="530352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4000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8970263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8970263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916228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916228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9354311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9354311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9546336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9546336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9738359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9738359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993038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993038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10122407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10122407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10314432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10314432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0506455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10506455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10698480" y="475488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TextBox 242"/>
          <p:cNvSpPr txBox="1"/>
          <p:nvPr/>
        </p:nvSpPr>
        <p:spPr>
          <a:xfrm>
            <a:off x="10241280" y="446227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10149840" y="530352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5000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0808207" y="446227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т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1201400" y="5303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кг</a:t>
            </a:r>
          </a:p>
        </p:txBody>
      </p:sp>
      <p:cxnSp>
        <p:nvCxnSpPr>
          <p:cNvPr id="247" name="Connector 246"/>
          <p:cNvCxnSpPr/>
          <p:nvPr/>
        </p:nvCxnSpPr>
        <p:spPr>
          <a:xfrm>
            <a:off x="8010144" y="4389120"/>
            <a:ext cx="0" cy="128016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Oval 247"/>
          <p:cNvSpPr/>
          <p:nvPr/>
        </p:nvSpPr>
        <p:spPr>
          <a:xfrm>
            <a:off x="7936992" y="4956048"/>
            <a:ext cx="146304" cy="146304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7187183" y="4096511"/>
            <a:ext cx="16459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 т 6 ц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7187183" y="5596128"/>
            <a:ext cx="16459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3600 кг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Чоңдон кичинеге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3 т 6 ц = 3000 + 600 = 3600 кг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топто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Кичинеден чоңго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4610 кг = 4 т 610 кг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ц, 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 т = 10 ц = 1000 кг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 ц = 100 кг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=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Салыштыр, кош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адегенде бир бирдикке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2 т 3 ц = 2300 кг &gt; 2150 кг = 2 т 150 кг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Жүктү жабуу үчүн эки кездеме тилкесин уланттык: 2 м 35 см жана 1 м 80 см. Узундугу баары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м 35 см + 1 м 80 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м 115 см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 жана см өзүнчө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 м 15 см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115 см = 1 м 15 см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Баары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4 м 15 см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Машинада 4 т 2 ц кызылча бар эле. Заводдо 1 т 7 ц түшүрүштү. Машинада канча калды?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т 2 ц − 1 т 7 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т 12 ц − 1 т 7 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 т = 10 ц майдаладык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 т 5 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Калды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2 т 5 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Үч цифраны бөл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4610 кг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 т 610 кг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 т 6 ц 10 кг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Оңдон үч цифра – кг, калганы – т. 4|610.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Толук метр кош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м 35 см + 1 м 80 см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= 2 м 35 см + 2 м − 20 см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 м 15 см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 м 80 см = 2 м − 20 см: адегенде 2 м кош, анан 20 см кемит.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Толук тонна кемит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т 3 ц − 1 т 7 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5 т 3 ц − 2 т + 3 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 т 6 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2 т кемитип, ашыкча алган 3 цти кайра кошобуз.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Темир таякенин жүк машинасында 3 т 6 ц кызылча бар. Бул канча килограмм?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36 кг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3600 кг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3060 кг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 кг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Таяке 1 т 650 кг, Нурбек менен Асел 7 ц 80 кг кызылча чогултушту. Баары канча кызылча?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Бочкада 20 л суу бар эле. Кызылча жууганга 7 л 350 мл кетти. Бочкада канча суу калды?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Биринчи капта 1 ц 15 кг, экинчи капта 85 кг кызылча. Биринчи кап канча оор?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Таяке 1 т 650 кг, Нурбек менен Асел 7 ц 80 кг кызылча чогултушту. Баары канча кызылча?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59154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 т 650 кг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58473" y="3017520"/>
            <a:ext cx="75236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 ц 80 кг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 т 650 кг + 7 ц 80 кг = 2 т 430 кг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Бочкада 20 л суу бар эле. Кызылча жууганга 7 л 350 мл кетти. Бочкада канча суу калды?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86138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 л 350 мл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80987" y="3017520"/>
            <a:ext cx="148252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20 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20 л − 7 л 350 мл = 12 л 650 мл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Биринчи капта 1 ц 15 кг, экинчи капта 85 кг кызылча. Биринчи кап канча оор?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72272" y="3017520"/>
            <a:ext cx="17324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2-кап 85 кг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2272" y="3574389"/>
            <a:ext cx="17324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1-кап: 85 кг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04728" y="3574389"/>
            <a:ext cx="611455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 ц 15 кг − 85 кг = 30 кг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т 40 кг = □ кг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5300 м = □ км □ 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ц = □ кг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Салыштыр: 3 т 2 ц □ 3 т 150 кг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м 65 см + 2 м 50 см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Термосто 2 л 200 мл чай бар эле. 750 мл ичишти. Канча калды?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 т 40 кг = □ кг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7040 кг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5300 м = □ км □ 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 км 300 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 ц = □ кг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600 кг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Салыштыр: 3 т 2 ц □ 3 т 150 кг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т 2 ц &gt; 3 т 150 кг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м 65 см + 2 м 50 см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 м 15 см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Термосто 2 л 200 мл чай бар эле. 750 мл ичишти. Канча калды?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л 450 мл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Таяке 3 т 750 кг, балдар 8 ц 60 кг кызылча чогултушту. Жүк машинасына 5 т батат. Баары батабы? Машинада дагы канча орун калат?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67894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Таяке 3 т 750 кг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3819" y="2240280"/>
            <a:ext cx="155704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 ц 60 кг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60860" y="2240280"/>
            <a:ext cx="70609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5 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 т 750 кг + 8 ц 60 кг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3750 кг + 860 кг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кгга айландырдык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4610 кг = 4 т 610 кг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батат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5 т − 4 т 610 кг = 390 кг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дагы батат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Баары 4 т 610 кг: машинага батат, дагы 390 кг орун калат.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Кайыңдыдагы кызылча жөнүндө маселе түз: эки аттуу санды кош же кемит (т, ц, кг же км, м).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Нурбек, Асел, Темир таяке.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 т 80 кг = □ кг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Кайсынысы узун: 2 км 90 м же 2150 м?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 м 75 см + 2 м 60 см =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чоңдон кичинеге өткөндө көбөйтөбүз?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 т 2 ц жана 3 т 150 кг: кайсынысы оор? Кантип билдиң?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2 м 35 см + 1 м 80 см: 115 см менен эмне кылдык? Эмне үчүн?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Кош шкаланы доскада калтырууну сунуштайм: бир чекитти эки бирдикте окуйбуз.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Центнерди жумуртка кутусу менен көрсөтөм: 1 уяча = 1 ц = 100 кг (М1).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Салыштыруудан мурун «бир бирдикке айландырдыңбы?» деп сурайм (М2).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Кошуп-кемитүүдө тилке чийдирем: 100 см = 1 м бириктирилет, 1 л = 1000 мл майдаланат (М5, 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