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Окуучулар болжолдошот: баары машинага батабы? Тоннадан көппү, азбы? Жоопту сабактын аягында (22-слайд) текшеребиз. Проектор жок болсо, тилкени доскага чийем.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Асел: бир бирдикке (кг) айландырабыз, 2300 кг &gt; 2150 кг (Нурбек – 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 уячалуу 4 жумуртка кутусу жана 40 бөтөлкө капкагы (1 капкак = 1 ц = 100 кг, толук куту = 1 т); чакмак дептерден кесилген 10 тилке (ар бири 10 см = 1 дм), алар желимделип 1 м кагаз лента болот: үстүнө дм, астына см жазышат; 1 л бөтөлкө жана 250 мл стакан. Окуучулар 3 т 6 ц ны капкак менен коюшат жана санашат: 36 ц = 3600 кг. Эрежени окуучулар өздөрү айтышат: чоң бирдиктен кичинеге – көбүрөөк сан, кичинеден чоңго – азыраак сан.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Кош шкаланы доскага чийем, окуучулар чакмак дептерге (1 чакмак = 10 см же 1 ц). Узундук: 2 м 35 см чекити астында 235 см. 1 м 80 см ге секиребиз: 235 + 180 = 415 см, үстүндө 4 м 15 см. Масса: ар бир тонна 10 бөлүккө (ц) бөлүнгөн; 3 т 6 ц чекити астында 3600 кг. Окуучулар өздөрү чекит тандап, эки жазуусун айтышат.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Чоң бирдиктен кичинеге өткөндө көбөйтөбүз (× 10, × 100, × 1000); кичинеден чоңго өткөндө 1000ден (метр менен сантиметрде 100дөн) топтойбуз (М4). Центнер 100 кг, тонна 1000 кг (М1). Салыштыруудан мурун бир бирдикке айландырабыз (М2); бош разрядга 0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«акыркы үч цифра – килограмм».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М1;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калганы → салыштыруу. Жооптор: 1 т 650 кг + 7 ц 80 кг = 2 т 430 кг; 20 л − 7 л 350 мл = 12 л 650 мл; 1 ц 15 кг − 85 кг = 30 кг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Адегенде бардыгын килограммга айландырабыз: 3 т 750 кг = 3750 кг, 8 ц 60 кг = 860 кг. Баары 4610 кг = 4 т 610 кг &lt; 5 т, батат. Калганы: 5000 кг − 4610 кг = 390 кг. Текшерүү: 4 т 610 кг + 390 кг = 4 т 1000 кг = 5 т. Пойанын 4-кадамы: жооп акылга сыябы? 390 кг – 4 кап кызылчадай.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4080 кг; 2150 м; 4 м 35 см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Бирдиктерди алмаштыруу: узундук, масса, сыйымдуулук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Кайыңдыдагы кант кызылчасы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Нурбек менен Асел Темир таякесинин талаасында кант кызылчасын жыйнашат: тонна, центнер, километр жана литр менен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(2011), 4-класс: чоңдуктар жана алардын бирдиктери (3-класстын аттуу сандарынын уландысы).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Кайыңдыдагы кант кызылчасы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Күз. Чүйдөгү Кайыңды айылында кант кызылчасы бышты.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Нурбек менен Асел Темир таякесине түшүм жыйнаганга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Кызылча жүк машинасы менен Кайыңдыдагы кант заводуна ташылат.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Таяке 3 т 750 кг кызылча казып алды. Балдар 8 ц 60 кг терип чыгышты. Машинага 5 т батат.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Таяке 3 т 750 кг, балдар 8 ц 60 кг кызылча чогултушту. Жүк машинасына 5 т батат. Баары батабы? Машинада дагы канча орун калат?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Бирдиктерди эки багытта алмаштырам: чоңдон кичинеге көбөйтөм, кичинеден чоңго топтойм.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 ц = 100 кг, 1 т = 10 ц экенин билем; аралаш бирдиктерди салыштырып, тартипке коём.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Аттуу сандарды кошом, кемитем жана маселени тилке менен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багытта алмаштыруу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багыт, салыштыруу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Кошуу, кемитүү,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Кош шкала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жумуртка кутусу, кагаз метр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Кайыңды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Кант кызылчасы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мм … км; г, кг; мл, л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Аттуу сандар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ц жана т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Эки багытта алмаштыруу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бөлчөк: 2,35 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Аянт бирдиктери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Масштаб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Ылдамдык: км/саат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кг = □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м 5 см = □ см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1000 − 350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кг = □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м 5 см = □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305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1000 − 350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Темир таяке: «Кайсы араба оор: 2 т 3 ц же 2 т 150 кг?»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150 &gt; 3.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 2 т 150 кг оор.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Асел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т 3 ц = 2300 кг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т 150 кг = 2150 кг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 2 т 3 ц оор.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Кош шкала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жумуртка кутусу (1 т = 10 ц), кагаз метр жана бөтөлкө менен алмаштырабыз.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949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1. Жумуртка кутусу: 1 капкак = 1 ц = 100 кг; толук куту = 10 ц = 1 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50592"/>
            <a:ext cx="1143000" cy="512064"/>
          </a:xfrm>
          <a:prstGeom prst="roundRect">
            <a:avLst>
              <a:gd name="adj" fmla="val 12000"/>
            </a:avLst>
          </a:prstGeom>
          <a:solidFill>
            <a:srgbClr val="F3E3C7"/>
          </a:solidFill>
          <a:ln w="1587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16736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27048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37360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424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16736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27048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37360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80944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67128" y="2450592"/>
            <a:ext cx="1143000" cy="512064"/>
          </a:xfrm>
          <a:prstGeom prst="roundRect">
            <a:avLst>
              <a:gd name="adj" fmla="val 12000"/>
            </a:avLst>
          </a:prstGeom>
          <a:solidFill>
            <a:srgbClr val="F3E3C7"/>
          </a:solidFill>
          <a:ln w="1587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40280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50592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60904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6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81528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40280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50592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60904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71216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81528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75688" y="2980944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11296" y="2450592"/>
            <a:ext cx="1143000" cy="512064"/>
          </a:xfrm>
          <a:prstGeom prst="roundRect">
            <a:avLst>
              <a:gd name="adj" fmla="val 12000"/>
            </a:avLst>
          </a:prstGeom>
          <a:solidFill>
            <a:srgbClr val="F3E3C7"/>
          </a:solidFill>
          <a:ln w="1587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84448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94760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05072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15384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25696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84448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94760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05072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15384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25696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9856" y="2980944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55464" y="2450592"/>
            <a:ext cx="1143000" cy="512064"/>
          </a:xfrm>
          <a:prstGeom prst="roundRect">
            <a:avLst>
              <a:gd name="adj" fmla="val 12000"/>
            </a:avLst>
          </a:prstGeom>
          <a:solidFill>
            <a:srgbClr val="F3E3C7"/>
          </a:solidFill>
          <a:ln w="1587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28616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38928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49240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559552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69864" y="2523744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28616" y="2734056"/>
            <a:ext cx="155448" cy="155448"/>
          </a:xfrm>
          <a:prstGeom prst="ellipse">
            <a:avLst/>
          </a:prstGeom>
          <a:solidFill>
            <a:srgbClr val="D9534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138928" y="2734056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349240" y="2734056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559552" y="2734056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769864" y="2734056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4024" y="2980944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6 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395728"/>
            <a:ext cx="17373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3 т 6 ц</a:t>
            </a:r>
          </a:p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= 36 ц</a:t>
            </a:r>
          </a:p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= 3600 кг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3584448"/>
            <a:ext cx="6949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2. Кагаз метр: 10 тилке, ар бири 1 дм = 10 см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4279392"/>
            <a:ext cx="585216" cy="36576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9616" y="4279392"/>
            <a:ext cx="585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84832" y="4279392"/>
            <a:ext cx="585216" cy="36576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70048" y="4279392"/>
            <a:ext cx="585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55264" y="4279392"/>
            <a:ext cx="585216" cy="36576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40480" y="4279392"/>
            <a:ext cx="585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25696" y="4279392"/>
            <a:ext cx="585216" cy="36576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10912" y="4279392"/>
            <a:ext cx="585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596128" y="4279392"/>
            <a:ext cx="585216" cy="36576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81344" y="4279392"/>
            <a:ext cx="585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9576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856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64792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19072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50008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4288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35224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9504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0440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0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05656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59935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90872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45152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76088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0368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80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61304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15583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3977639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46634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397763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дм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95160" y="466344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см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5029200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3. Бөтөлкө жана стакан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68680" y="5440680"/>
            <a:ext cx="50292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4400" y="5577840"/>
            <a:ext cx="411480" cy="603504"/>
          </a:xfrm>
          <a:prstGeom prst="roundRect">
            <a:avLst>
              <a:gd name="adj" fmla="val 12000"/>
            </a:avLst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17320" y="562356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1 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562356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=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0" y="5669280"/>
            <a:ext cx="3108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13432" y="5788152"/>
            <a:ext cx="256032" cy="310896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97480" y="5669280"/>
            <a:ext cx="3108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24912" y="5788152"/>
            <a:ext cx="256032" cy="310896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108960" y="5669280"/>
            <a:ext cx="3108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136391" y="5788152"/>
            <a:ext cx="256032" cy="310896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520440" y="5669280"/>
            <a:ext cx="3108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47872" y="5788152"/>
            <a:ext cx="256032" cy="310896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977639" y="562356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4 × 250 мл = 1000 мл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863840" y="2011680"/>
            <a:ext cx="38862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0" y="2084831"/>
            <a:ext cx="3611880" cy="3703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 жумуртка кутусу, 40 капкак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дептерден 10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л бөтөлкө, 250 мл стакан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1F2430"/>
                </a:solidFill>
                <a:latin typeface="PT Sans"/>
              </a:rPr>
              <a:t>Суроолор: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т 6 ц: канча капкак? канча кг?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м да канча дм, канча см?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л 500 мл: канча стакан?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600" b="1" i="0">
                <a:solidFill>
                  <a:srgbClr val="24418C"/>
                </a:solidFill>
                <a:latin typeface="PT Sans"/>
              </a:rPr>
              <a:t>Чоң бирдик → кичине: сан чоңоёт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кош шкала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чекит – эки жазуу: үстүндө чоң бирдик, астында кичине бирдик.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Узундук: үстү – м, асты – см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834640"/>
            <a:ext cx="96012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2862072"/>
            <a:ext cx="4494276" cy="310896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9728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930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930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8132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8132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7335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7335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6537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6537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57400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57400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942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4942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4144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4144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3347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3347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2549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2549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6032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79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0954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0954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0156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0156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593591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93591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85615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785615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977639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77639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169663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69663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6168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6168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5371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5371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74573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74573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93776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48056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2978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12978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32180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32180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51383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51383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0585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0585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897880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897880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08990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08990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28192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28192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7395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47395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66597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66597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85800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40080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300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05002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05002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24204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24204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434071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434071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62609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62609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18119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18119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01014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01014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202167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202167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39419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39419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86215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86215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77824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32104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400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970263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970263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162288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162288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354311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354311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546336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546336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738359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38359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930384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930384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122407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122407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314432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314432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506455" y="283464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506455" y="309067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698480" y="274320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241280" y="245059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3291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08207" y="245059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201400" y="32918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см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609844" y="2377440"/>
            <a:ext cx="0" cy="1280160"/>
          </a:xfrm>
          <a:prstGeom prst="line">
            <a:avLst/>
          </a:prstGeom>
          <a:ln w="3175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5536692" y="2944368"/>
            <a:ext cx="146304" cy="146304"/>
          </a:xfrm>
          <a:prstGeom prst="ellipse">
            <a:avLst/>
          </a:prstGeom>
          <a:solidFill>
            <a:srgbClr val="24418C"/>
          </a:solidFill>
          <a:ln w="63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86883" y="2084832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2 м 35 см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86883" y="3584448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235 см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9066276" y="2377440"/>
            <a:ext cx="0" cy="128016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993124" y="2944368"/>
            <a:ext cx="146304" cy="146304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243315" y="2084832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 м 15 см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43315" y="3584448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415 см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32804" y="2103120"/>
            <a:ext cx="1810511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→ + 1 м 80 см →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402336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Масса: үстү – т, асты – кг; бөлүк = 1 ц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97280" y="4846320"/>
            <a:ext cx="96012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15568" y="4873752"/>
            <a:ext cx="6894576" cy="310896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09728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4008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28930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28930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48132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48132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67335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67335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86537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86537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057400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057400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24942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24942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44144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44144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63347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63347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82549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82549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01752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56032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468879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1000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320954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20954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40156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40156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593591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593591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785615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785615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977639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977639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169663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169663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436168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36168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455371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55371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74573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74573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493776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448056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389120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2000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512978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12978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532180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532180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551383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551383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570585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570585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5897880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5897880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608990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08990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28192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28192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47395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47395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66597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66597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85800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640080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309360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3000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705002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05002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24204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24204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434071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434071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62609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2609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818119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7818119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01014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801014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8202167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202167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839419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839419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8586215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8586215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877824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832104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229600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4000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8970263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8970263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162288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162288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354311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354311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546336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546336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738359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738359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930384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930384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0122407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0122407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0314432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314432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506455" y="4846320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506455" y="5102352"/>
            <a:ext cx="0" cy="109728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698480" y="4754880"/>
            <a:ext cx="0" cy="54864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10241280" y="446227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149840" y="53035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5000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808207" y="446227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т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1201400" y="5303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кг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8010144" y="4389120"/>
            <a:ext cx="0" cy="128016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Oval 247"/>
          <p:cNvSpPr/>
          <p:nvPr/>
        </p:nvSpPr>
        <p:spPr>
          <a:xfrm>
            <a:off x="7936992" y="4956048"/>
            <a:ext cx="146304" cy="146304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187183" y="4096511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 т 6 ц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187183" y="5596128"/>
            <a:ext cx="1645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3600 кг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Чоңдон кичинеге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 т 6 ц = 3000 + 600 = 3600 кг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топто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Кичинеден чоңго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4610 кг = 4 т 610 кг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ц,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т = 10 ц = 1000 кг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ц = 100 кг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Салыштыр, кош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адегенде бир бирдикке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 т 3 ц = 2300 кг &gt; 2150 кг = 2 т 150 кг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Жүктү жабуу үчүн эки кездеме тилкесин уланттык: 2 м 35 см жана 1 м 80 см. Узундугу баары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м 35 см + 1 м 80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м 115 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 жана см өзүнчө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 м 15 см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115 см = 1 м 15 см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Баары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4 м 15 см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Машинада 4 т 2 ц кызылча бар эле. Заводдо 1 т 7 ц түшүрүштү. Машинада канча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т 2 ц − 1 т 7 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т 12 ц − 1 т 7 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т = 10 ц майдаладык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 т 5 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Калды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2 т 5 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Үч цифраны бөл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4610 кг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т 610 кг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 т 6 ц 10 кг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Оңдон үч цифра – кг, калганы – т. 4|610.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Толук метр кош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м 35 см + 1 м 80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= 2 м 35 см + 2 м − 20 см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 м 15 см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м 80 см = 2 м − 20 см: адегенде 2 м кош, анан 20 см кемит.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Толук тонна кемит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т 3 ц − 1 т 7 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5 т 3 ц − 2 т + 3 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 т 6 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 т кемитип, ашыкча алган 3 цти кайра кошобуз.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Темир таякенин жүк машинасында 3 т 6 ц кызылча бар. Бул канча килограмм?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3600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3060 кг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 кг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Таяке 1 т 650 кг, Нурбек менен Асел 7 ц 80 кг кызылча чогултушту. Баары канча кызылча?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Бочкада 20 л суу бар эле. Кызылча жууганга 7 л 350 мл кетти. Бочкада канча суу калды?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Биринчи капта 1 ц 15 кг, экинчи капта 85 кг кызылча. Биринчи кап канча оор?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Таяке 1 т 650 кг, Нурбек менен Асел 7 ц 80 кг кызылча чогултушту. Баары канча кызылча?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59154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 т 650 кг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8473" y="3017520"/>
            <a:ext cx="75236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 ц 80 кг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т 650 кг + 7 ц 80 кг = 2 т 430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Бочкада 20 л суу бар эле. Кызылча жууганга 7 л 350 мл кетти. Бочкада канча суу калды?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86138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 л 350 мл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80987" y="3017520"/>
            <a:ext cx="148252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 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20 л − 7 л 350 мл = 12 л 650 мл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Биринчи капта 1 ц 15 кг, экинчи капта 85 кг кызылча. Биринчи кап канча оор?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17324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2-кап 85 кг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2272" y="3574389"/>
            <a:ext cx="17324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1-кап: 85 кг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04728" y="3574389"/>
            <a:ext cx="611455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ц 15 кг − 85 кг = 30 кг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т 40 кг = □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5300 м = □ км □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ц = □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Салыштыр: 3 т 2 ц □ 3 т 150 кг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м 65 см + 2 м 50 см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Термосто 2 л 200 мл чай бар эле. 750 мл ичишти. Канча калды?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т 40 кг = □ кг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7040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5300 м = □ км □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 км 300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ц = □ кг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600 кг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Салыштыр: 3 т 2 ц □ 3 т 150 кг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т 2 ц &gt; 3 т 150 кг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м 65 см + 2 м 50 см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 м 15 см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Термосто 2 л 200 мл чай бар эле. 750 мл ичишти. Канча калды?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л 450 мл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Таяке 3 т 750 кг, балдар 8 ц 60 кг кызылча чогултушту. Жүк машинасына 5 т батат. Баары батабы? Машинада дагы канча орун калат?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67894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Таяке 3 т 750 кг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03819" y="2240280"/>
            <a:ext cx="155704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 ц 60 кг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0860" y="2240280"/>
            <a:ext cx="70609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т 750 кг + 8 ц 60 кг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3750 кг + 860 кг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кгга айландырдык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4610 кг = 4 т 610 кг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батат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5 т − 4 т 610 кг = 390 кг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дагы батат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Баары 4 т 610 кг: машинага батат, дагы 390 кг орун калат.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Кайыңдыдагы кызылча жөнүндө маселе түз: эки аттуу санды кош же кемит (т, ц, кг же км, м).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Нурбек, Асел, Темир таяке.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 т 80 кг = □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Кайсынысы узун: 2 км 90 м же 2150 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 м 75 см + 2 м 60 см =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чоңдон кичинеге өткөндө көбөйтөбүз?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 т 2 ц жана 3 т 150 кг: кайсынысы оор? Кантип билдиң?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 м 35 см + 1 м 80 см: 115 см менен эмне кылдык?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Кош шкаланы доскада калтырууну сунуштайм: бир чекитти эки бирдикте окуйбуз.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Центнерди жумуртка кутусу менен көрсөтөм: 1 уяча = 1 ц = 100 кг (М1).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Салыштыруудан мурун «бир бирдикке айландырдыңбы?» деп сурайм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Кошуп-кемитүүдө тилке чийдирем: 100 см = 1 м бириктирилет, 1 л = 1000 мл майдаланат (М5,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