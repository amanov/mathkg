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беремин. Шырдакты, кайманы көрсөтүүнү сунуштайм (үйдөгү шырдактын сүрөтү же класстагы килем). Окуучулар болжолдошсун: кайма көппү же кийизби? Бирдиктери эмнеси менен айырмаланат? Жоопту сабактын аягында (22-слайд) текшеребиз.</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Эмил: кайма четин айланат, 4 жак. Айпери аянтты эсептеди (М1).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1,5–2 м жип, чакмак кагаздан кесилген 15–20 бирдей квадрат (же китептер, дептерлер), сызгыч. Адегенде жип менен партанын четин айланып, жипти сызгычка коюп ченешет (периметр). Анан үстүн квадраттар менен жабышат, санашат (аянт). Анан 15 квадратты бир катарга тизип, четин кайра жип менен айланышат: аянт ошол эле, периметр чоңойду (М7). Проектор жок болсо, ушул сүрөттү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Окуучулар чакмак дептерге L фигураны чийишет (1 чакмак = 1 м). Аянт эки жол менен: 1) эки тик бурчтукка бөлөбүз; 2) чоң тик бурчтуктан кесилгенин кемитебиз. Эки жоопту салыштырабыз: бирдей! Периметр: 6 жактын баарын табабыз; белгисиз жак 5 − 2 = 3 жана 6 − 3 = 3 (М4). Байкоо: бурчун кессек, периметр 6 × 5 тик бурчтуктукундай эле калат.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Формуланы жаттоодон мурун: P – сызык (жип), S – чакмактар (кагаз квадраттар). Ар бир жоопко бирдик: см же см² (М3). Белгисиз жак: P ÷ 2 − a же S ÷ 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«адегенде жарым периметр».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М1; Б = ✓; В = М3; Г = М2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жакты табуу → периметрлерди салыштыруу → аянттарды салыштыруу. Жооптор: 18 ÷ 2 = 9;  9 − 5 = 4 м; 16 − 14 = 2 м: килемге; 12 + 9 = 21 м²;  3 м² көп</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Кайма – четин айлануу: 4 + 3 + 4 + 3 = 2 × (4 + 3) = 14 м, 14 × 25 = 350 сом. Кийиз – бетин жабуу: 4 катар × 3 = 12 м². 14 жана 12 салыштырууга болбойт: бири метр, экинчиси чарчы метр (М3).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P = 26 см;  S = 36 см²; 22 ÷ 2 − 7 = 4 м; 28 − 6 = 22 м²</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5-класс · Математика</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Периметр жана аянт: тик бурчтук, квадрат, L фигура</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Кочкордогу шырдак</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Бурул апа шырдак тигет. Айпери менен Эмил кайма менен кийизди эсептешет.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2-класс (периметр), 3-класс (аянт, палетка), 5-класс «Геометриялык маалымат». Мазмуну, сандары жана окуясы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Кочкордогу шырдак</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Кочкордо Бурул апа шырдак тигет. Неберелери Айпери менен Эмил жайкы каникулда жардам беришет.</a:t>
            </a:r>
          </a:p>
          <a:p>
            <a:pPr algn="l">
              <a:lnSpc>
                <a:spcPct val="105000"/>
              </a:lnSpc>
              <a:spcBef>
                <a:spcPts val="800"/>
              </a:spcBef>
            </a:pPr>
            <a:r>
              <a:rPr sz="2100" b="0" i="0">
                <a:solidFill>
                  <a:srgbClr val="1F2430"/>
                </a:solidFill>
                <a:latin typeface="PT Sans"/>
              </a:rPr>
              <a:t>Жаңы шырдак тик бурчтук болот: узуну 4 м, туурасы 3 м.</a:t>
            </a:r>
          </a:p>
          <a:p>
            <a:pPr algn="l">
              <a:lnSpc>
                <a:spcPct val="105000"/>
              </a:lnSpc>
              <a:spcBef>
                <a:spcPts val="800"/>
              </a:spcBef>
            </a:pPr>
            <a:r>
              <a:rPr sz="2100" b="0" i="0">
                <a:solidFill>
                  <a:srgbClr val="1F2430"/>
                </a:solidFill>
                <a:latin typeface="PT Sans"/>
              </a:rPr>
              <a:t>Шырдактын четине кооз кайма тигилет, ичине кийиз төшөлөт.</a:t>
            </a:r>
          </a:p>
          <a:p>
            <a:pPr algn="l">
              <a:lnSpc>
                <a:spcPct val="105000"/>
              </a:lnSpc>
              <a:spcBef>
                <a:spcPts val="800"/>
              </a:spcBef>
            </a:pPr>
            <a:r>
              <a:rPr sz="2100" b="0" i="0">
                <a:solidFill>
                  <a:srgbClr val="1F2430"/>
                </a:solidFill>
                <a:latin typeface="PT Sans"/>
              </a:rPr>
              <a:t>Базардан канча метр кайма жана канча чарчы метр кийиз алыш керек?</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Шырдак 4 м × 3 м. Четине канча метр кайма, ичине канча м² кийиз керек? Кайманын 1 метри 25 сом.</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Периметр менен аянтты айырмалайм, бирдигин туура жазам: см, м же см², м².</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Тик бурчтуктун, квадраттын P жана S табам; белгисиз жагын табам.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L фигуранын аянтын (бөлүп же кемитип) жана периметрин табам.</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Тик бурчтук, квадрат</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Белгисиз жак</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L фигура, салыштыруу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Айланабы же жабабы?</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жип жана квадраттар</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Кочкордогу шырдак</a:t>
            </a:r>
          </a:p>
          <a:p>
            <a:pPr algn="l">
              <a:lnSpc>
                <a:spcPct val="105000"/>
              </a:lnSpc>
            </a:pPr>
            <a:r>
              <a:rPr sz="1800" b="0" i="0">
                <a:solidFill>
                  <a:srgbClr val="1F2430"/>
                </a:solidFill>
                <a:latin typeface="PT Sans"/>
              </a:rPr>
              <a:t>• Бөлмө, короо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2-класс</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Тик бурчтук</a:t>
            </a:r>
          </a:p>
          <a:p>
            <a:pPr algn="l">
              <a:lnSpc>
                <a:spcPct val="105000"/>
              </a:lnSpc>
              <a:spcBef>
                <a:spcPts val="400"/>
              </a:spcBef>
            </a:pPr>
            <a:r>
              <a:rPr sz="1500" b="0" i="0">
                <a:solidFill>
                  <a:srgbClr val="1F2430"/>
                </a:solidFill>
                <a:latin typeface="PT Sans"/>
              </a:rPr>
              <a:t>• Периметр</a:t>
            </a:r>
          </a:p>
        </p:txBody>
      </p:sp>
      <p:sp>
        <p:nvSpPr>
          <p:cNvPr id="14" name="Rounded Rectangle 13"/>
          <p:cNvSpPr/>
          <p:nvPr/>
        </p:nvSpPr>
        <p:spPr>
          <a:xfrm>
            <a:off x="3319272" y="2560320"/>
            <a:ext cx="2660904" cy="32004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3–4-класс</a:t>
            </a:r>
          </a:p>
        </p:txBody>
      </p:sp>
      <p:cxnSp>
        <p:nvCxnSpPr>
          <p:cNvPr id="16" name="Connector 15"/>
          <p:cNvCxnSpPr/>
          <p:nvPr/>
        </p:nvCxnSpPr>
        <p:spPr>
          <a:xfrm>
            <a:off x="3593591" y="3200400"/>
            <a:ext cx="2112265"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Аянт, палетка</a:t>
            </a:r>
          </a:p>
          <a:p>
            <a:pPr algn="l">
              <a:lnSpc>
                <a:spcPct val="105000"/>
              </a:lnSpc>
              <a:spcBef>
                <a:spcPts val="400"/>
              </a:spcBef>
            </a:pPr>
            <a:r>
              <a:rPr sz="1500" b="0" i="0">
                <a:solidFill>
                  <a:srgbClr val="1F2430"/>
                </a:solidFill>
                <a:latin typeface="PT Sans"/>
              </a:rPr>
              <a:t>• см², м²</a:t>
            </a:r>
          </a:p>
        </p:txBody>
      </p:sp>
      <p:sp>
        <p:nvSpPr>
          <p:cNvPr id="18" name="Rounded Rectangle 17"/>
          <p:cNvSpPr/>
          <p:nvPr/>
        </p:nvSpPr>
        <p:spPr>
          <a:xfrm>
            <a:off x="6208776" y="2103120"/>
            <a:ext cx="2660904" cy="36576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5-класс</a:t>
            </a:r>
          </a:p>
        </p:txBody>
      </p:sp>
      <p:cxnSp>
        <p:nvCxnSpPr>
          <p:cNvPr id="20" name="Connector 19"/>
          <p:cNvCxnSpPr/>
          <p:nvPr/>
        </p:nvCxnSpPr>
        <p:spPr>
          <a:xfrm>
            <a:off x="6483096" y="2743200"/>
            <a:ext cx="2112263"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Белгисиз жак</a:t>
            </a:r>
          </a:p>
          <a:p>
            <a:pPr algn="l">
              <a:lnSpc>
                <a:spcPct val="105000"/>
              </a:lnSpc>
              <a:spcBef>
                <a:spcPts val="400"/>
              </a:spcBef>
            </a:pPr>
            <a:r>
              <a:rPr sz="1500" b="0" i="0">
                <a:solidFill>
                  <a:srgbClr val="1F2430"/>
                </a:solidFill>
                <a:latin typeface="PT Sans"/>
              </a:rPr>
              <a:t>• L фигура</a:t>
            </a:r>
          </a:p>
        </p:txBody>
      </p:sp>
      <p:sp>
        <p:nvSpPr>
          <p:cNvPr id="22" name="Rounded Rectangle 21"/>
          <p:cNvSpPr/>
          <p:nvPr/>
        </p:nvSpPr>
        <p:spPr>
          <a:xfrm>
            <a:off x="6807708" y="1600199"/>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6-класс</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Көлөм</a:t>
            </a:r>
          </a:p>
          <a:p>
            <a:pPr algn="l">
              <a:lnSpc>
                <a:spcPct val="105000"/>
              </a:lnSpc>
              <a:spcBef>
                <a:spcPts val="400"/>
              </a:spcBef>
            </a:pPr>
            <a:r>
              <a:rPr sz="1500" b="0" i="0">
                <a:solidFill>
                  <a:srgbClr val="6B7280"/>
                </a:solidFill>
                <a:latin typeface="PT Sans"/>
              </a:rPr>
              <a:t>• Айлана</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6 × 7</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2 × (5 + 3)</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36 ÷ 4</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 м = ? см</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 × 7</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42</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 × (5 + 3)</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16</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36 ÷ 4</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9</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 м = ? см</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100 см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Бурул апа: «Шырдак 5 м × 3 м. Четине канча метр кайма керек?»</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Айпери</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5 × 3 = 15</a:t>
            </a:r>
          </a:p>
          <a:p>
            <a:pPr algn="l">
              <a:lnSpc>
                <a:spcPct val="105000"/>
              </a:lnSpc>
            </a:pPr>
            <a:r>
              <a:rPr sz="2600" b="0" i="0">
                <a:solidFill>
                  <a:srgbClr val="1F2430"/>
                </a:solidFill>
                <a:latin typeface="PT Sans"/>
              </a:rPr>
              <a:t>15 м кайма керек</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Эмил</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5 + 3 + 5 + 3 = 16</a:t>
            </a:r>
          </a:p>
          <a:p>
            <a:pPr algn="l">
              <a:lnSpc>
                <a:spcPct val="105000"/>
              </a:lnSpc>
            </a:pPr>
            <a:r>
              <a:rPr sz="2600" b="0" i="0">
                <a:solidFill>
                  <a:srgbClr val="1F2430"/>
                </a:solidFill>
                <a:latin typeface="PT Sans"/>
              </a:rPr>
              <a:t>16 м кайма керек</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Шырдактын четин манжаң менен айлан.</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партанын четин жип менен айланабыз (P), үстүн кагаз квадраттар менен жабабыз (S).</a:t>
            </a:r>
          </a:p>
        </p:txBody>
      </p:sp>
      <p:cxnSp>
        <p:nvCxnSpPr>
          <p:cNvPr id="12" name="Connector 11"/>
          <p:cNvCxnSpPr/>
          <p:nvPr/>
        </p:nvCxnSpPr>
        <p:spPr>
          <a:xfrm>
            <a:off x="6858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430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6002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574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5146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9718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290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86200" y="2148840"/>
            <a:ext cx="0" cy="228600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5800" y="2148840"/>
            <a:ext cx="3200400"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85800" y="2606040"/>
            <a:ext cx="3200400"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5800" y="3063240"/>
            <a:ext cx="3200400"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5800" y="3520440"/>
            <a:ext cx="3200400"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85800" y="3977639"/>
            <a:ext cx="3200400"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85800" y="4434840"/>
            <a:ext cx="3200400"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143000" y="26060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00200" y="26060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57400" y="26060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4600" y="26060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71800" y="26060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43000" y="30632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600200" y="30632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057400" y="30632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14600" y="30632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71800" y="30632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43000" y="35204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600200" y="35204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57400" y="35204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514600" y="35204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971800" y="3520440"/>
            <a:ext cx="457200" cy="457200"/>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097280" y="2560320"/>
            <a:ext cx="2377440" cy="0"/>
          </a:xfrm>
          <a:prstGeom prst="line">
            <a:avLst/>
          </a:prstGeom>
          <a:ln w="508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474720" y="2560320"/>
            <a:ext cx="0" cy="1463040"/>
          </a:xfrm>
          <a:prstGeom prst="line">
            <a:avLst/>
          </a:prstGeom>
          <a:ln w="508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097280" y="4023360"/>
            <a:ext cx="2377440" cy="0"/>
          </a:xfrm>
          <a:prstGeom prst="line">
            <a:avLst/>
          </a:prstGeom>
          <a:ln w="508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97280" y="2560320"/>
            <a:ext cx="0" cy="1463040"/>
          </a:xfrm>
          <a:prstGeom prst="line">
            <a:avLst/>
          </a:prstGeom>
          <a:ln w="50800">
            <a:solidFill>
              <a:srgbClr val="B07A4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143000" y="2167128"/>
            <a:ext cx="2286000" cy="365760"/>
          </a:xfrm>
          <a:prstGeom prst="rect">
            <a:avLst/>
          </a:prstGeom>
          <a:noFill/>
        </p:spPr>
        <p:txBody>
          <a:bodyPr wrap="square" anchor="t" lIns="45720" rIns="45720" tIns="27432" bIns="27432">
            <a:spAutoFit/>
          </a:bodyPr>
          <a:lstStyle/>
          <a:p>
            <a:pPr algn="ctr">
              <a:lnSpc>
                <a:spcPct val="105000"/>
              </a:lnSpc>
            </a:pPr>
            <a:r>
              <a:rPr sz="1800" b="1" i="0">
                <a:solidFill>
                  <a:srgbClr val="1D3557"/>
                </a:solidFill>
                <a:latin typeface="PT Sans"/>
              </a:rPr>
              <a:t>5</a:t>
            </a:r>
          </a:p>
        </p:txBody>
      </p:sp>
      <p:sp>
        <p:nvSpPr>
          <p:cNvPr id="46" name="TextBox 45"/>
          <p:cNvSpPr txBox="1"/>
          <p:nvPr/>
        </p:nvSpPr>
        <p:spPr>
          <a:xfrm>
            <a:off x="685800" y="3108960"/>
            <a:ext cx="365760" cy="365760"/>
          </a:xfrm>
          <a:prstGeom prst="rect">
            <a:avLst/>
          </a:prstGeom>
          <a:noFill/>
        </p:spPr>
        <p:txBody>
          <a:bodyPr wrap="square" anchor="t" lIns="45720" rIns="45720" tIns="27432" bIns="27432">
            <a:spAutoFit/>
          </a:bodyPr>
          <a:lstStyle/>
          <a:p>
            <a:pPr algn="ctr">
              <a:lnSpc>
                <a:spcPct val="105000"/>
              </a:lnSpc>
            </a:pPr>
            <a:r>
              <a:rPr sz="1800" b="1" i="0">
                <a:solidFill>
                  <a:srgbClr val="1D3557"/>
                </a:solidFill>
                <a:latin typeface="PT Sans"/>
              </a:rPr>
              <a:t>3</a:t>
            </a:r>
          </a:p>
        </p:txBody>
      </p:sp>
      <p:sp>
        <p:nvSpPr>
          <p:cNvPr id="47" name="TextBox 46"/>
          <p:cNvSpPr txBox="1"/>
          <p:nvPr/>
        </p:nvSpPr>
        <p:spPr>
          <a:xfrm>
            <a:off x="548640" y="4663440"/>
            <a:ext cx="4023360" cy="914400"/>
          </a:xfrm>
          <a:prstGeom prst="rect">
            <a:avLst/>
          </a:prstGeom>
          <a:noFill/>
        </p:spPr>
        <p:txBody>
          <a:bodyPr wrap="square" anchor="t" lIns="45720" rIns="45720" tIns="27432" bIns="27432">
            <a:spAutoFit/>
          </a:bodyPr>
          <a:lstStyle/>
          <a:p>
            <a:pPr algn="l">
              <a:lnSpc>
                <a:spcPct val="105000"/>
              </a:lnSpc>
            </a:pPr>
            <a:r>
              <a:rPr sz="1800" b="1" i="0">
                <a:solidFill>
                  <a:srgbClr val="B07A4A"/>
                </a:solidFill>
                <a:latin typeface="PT Sans"/>
              </a:rPr>
              <a:t>Жип (P): 5 + 3 + 5 + 3 = 16</a:t>
            </a:r>
          </a:p>
          <a:p>
            <a:pPr algn="l">
              <a:lnSpc>
                <a:spcPct val="105000"/>
              </a:lnSpc>
            </a:pPr>
            <a:r>
              <a:rPr sz="1800" b="1" i="0">
                <a:solidFill>
                  <a:srgbClr val="007A5A"/>
                </a:solidFill>
                <a:latin typeface="PT Sans"/>
              </a:rPr>
              <a:t>Квадраттар (S): 3 × 5 = 15</a:t>
            </a:r>
          </a:p>
        </p:txBody>
      </p:sp>
      <p:sp>
        <p:nvSpPr>
          <p:cNvPr id="48" name="TextBox 47"/>
          <p:cNvSpPr txBox="1"/>
          <p:nvPr/>
        </p:nvSpPr>
        <p:spPr>
          <a:xfrm>
            <a:off x="4754880" y="2240280"/>
            <a:ext cx="3931920" cy="640080"/>
          </a:xfrm>
          <a:prstGeom prst="rect">
            <a:avLst/>
          </a:prstGeom>
          <a:noFill/>
        </p:spPr>
        <p:txBody>
          <a:bodyPr wrap="square" anchor="t" lIns="45720" rIns="45720" tIns="27432" bIns="27432">
            <a:spAutoFit/>
          </a:bodyPr>
          <a:lstStyle/>
          <a:p>
            <a:pPr algn="l">
              <a:lnSpc>
                <a:spcPct val="105000"/>
              </a:lnSpc>
            </a:pPr>
            <a:r>
              <a:rPr sz="1600" b="1" i="0">
                <a:solidFill>
                  <a:srgbClr val="1D3557"/>
                </a:solidFill>
                <a:latin typeface="PT Sans"/>
              </a:rPr>
              <a:t>Ошол эле 15 квадрат бир катарда:</a:t>
            </a:r>
          </a:p>
        </p:txBody>
      </p:sp>
      <p:sp>
        <p:nvSpPr>
          <p:cNvPr id="49" name="Rectangle 48"/>
          <p:cNvSpPr/>
          <p:nvPr/>
        </p:nvSpPr>
        <p:spPr>
          <a:xfrm>
            <a:off x="4800600"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47488"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294376"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541264"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788152"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35040"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81928"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28816"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775704"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22592"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69480"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516368"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63256"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010144"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257032" y="3063240"/>
            <a:ext cx="246888" cy="2468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4764024" y="3026664"/>
            <a:ext cx="3776472" cy="0"/>
          </a:xfrm>
          <a:prstGeom prst="line">
            <a:avLst/>
          </a:prstGeom>
          <a:ln w="381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40496" y="3026664"/>
            <a:ext cx="0" cy="320040"/>
          </a:xfrm>
          <a:prstGeom prst="line">
            <a:avLst/>
          </a:prstGeom>
          <a:ln w="381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4764024" y="3346704"/>
            <a:ext cx="3776472" cy="0"/>
          </a:xfrm>
          <a:prstGeom prst="line">
            <a:avLst/>
          </a:prstGeom>
          <a:ln w="38100">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764024" y="3026664"/>
            <a:ext cx="0" cy="320040"/>
          </a:xfrm>
          <a:prstGeom prst="line">
            <a:avLst/>
          </a:prstGeom>
          <a:ln w="38100">
            <a:solidFill>
              <a:srgbClr val="B07A4A"/>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754880" y="3520440"/>
            <a:ext cx="3931920" cy="822960"/>
          </a:xfrm>
          <a:prstGeom prst="rect">
            <a:avLst/>
          </a:prstGeom>
          <a:noFill/>
        </p:spPr>
        <p:txBody>
          <a:bodyPr wrap="square" anchor="t" lIns="45720" rIns="45720" tIns="27432" bIns="27432">
            <a:spAutoFit/>
          </a:bodyPr>
          <a:lstStyle/>
          <a:p>
            <a:pPr algn="l">
              <a:lnSpc>
                <a:spcPct val="105000"/>
              </a:lnSpc>
            </a:pPr>
            <a:r>
              <a:rPr sz="1700" b="1" i="0">
                <a:solidFill>
                  <a:srgbClr val="007A5A"/>
                </a:solidFill>
                <a:latin typeface="PT Sans"/>
              </a:rPr>
              <a:t>S = 15 (ошол эле)</a:t>
            </a:r>
          </a:p>
          <a:p>
            <a:pPr algn="l">
              <a:lnSpc>
                <a:spcPct val="105000"/>
              </a:lnSpc>
            </a:pPr>
            <a:r>
              <a:rPr sz="1700" b="1" i="0">
                <a:solidFill>
                  <a:srgbClr val="B07A4A"/>
                </a:solidFill>
                <a:latin typeface="PT Sans"/>
              </a:rPr>
              <a:t>P = 15 + 1 + 15 + 1 = 32</a:t>
            </a:r>
          </a:p>
        </p:txBody>
      </p:sp>
      <p:sp>
        <p:nvSpPr>
          <p:cNvPr id="69" name="TextBox 68"/>
          <p:cNvSpPr txBox="1"/>
          <p:nvPr/>
        </p:nvSpPr>
        <p:spPr>
          <a:xfrm>
            <a:off x="4754880" y="4434840"/>
            <a:ext cx="3931920" cy="822960"/>
          </a:xfrm>
          <a:prstGeom prst="rect">
            <a:avLst/>
          </a:prstGeom>
          <a:noFill/>
        </p:spPr>
        <p:txBody>
          <a:bodyPr wrap="square" anchor="t" lIns="45720" rIns="45720" tIns="27432" bIns="27432">
            <a:spAutoFit/>
          </a:bodyPr>
          <a:lstStyle/>
          <a:p>
            <a:pPr algn="l">
              <a:lnSpc>
                <a:spcPct val="105000"/>
              </a:lnSpc>
            </a:pPr>
            <a:r>
              <a:rPr sz="1500" b="0" i="1">
                <a:solidFill>
                  <a:srgbClr val="4A5A70"/>
                </a:solidFill>
                <a:latin typeface="PT Sans"/>
              </a:rPr>
              <a:t>Аянт бирдей, периметр башка! Жип узарды, кагаз ошол эле.</a:t>
            </a:r>
          </a:p>
        </p:txBody>
      </p:sp>
      <p:sp>
        <p:nvSpPr>
          <p:cNvPr id="70" name="Rounded Rectangle 69"/>
          <p:cNvSpPr/>
          <p:nvPr/>
        </p:nvSpPr>
        <p:spPr>
          <a:xfrm>
            <a:off x="9006840" y="2240280"/>
            <a:ext cx="2743200" cy="35204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0" y="2304288"/>
            <a:ext cx="2514600" cy="3383280"/>
          </a:xfrm>
          <a:prstGeom prst="rect">
            <a:avLst/>
          </a:prstGeom>
          <a:noFill/>
        </p:spPr>
        <p:txBody>
          <a:bodyPr wrap="square" anchor="t" lIns="45720" rIns="45720" tIns="27432" bIns="27432">
            <a:spAutoFit/>
          </a:bodyPr>
          <a:lstStyle/>
          <a:p>
            <a:pPr algn="l">
              <a:lnSpc>
                <a:spcPct val="110000"/>
              </a:lnSpc>
            </a:pPr>
            <a:r>
              <a:rPr sz="1800" b="1" i="0">
                <a:solidFill>
                  <a:srgbClr val="1F2430"/>
                </a:solidFill>
                <a:latin typeface="PT Sans"/>
              </a:rPr>
              <a:t>Ар бир жупта:</a:t>
            </a:r>
          </a:p>
          <a:p>
            <a:pPr algn="l">
              <a:lnSpc>
                <a:spcPct val="110000"/>
              </a:lnSpc>
            </a:pPr>
            <a:r>
              <a:rPr sz="1500" b="0" i="0">
                <a:solidFill>
                  <a:srgbClr val="1F2430"/>
                </a:solidFill>
                <a:latin typeface="PT Sans"/>
              </a:rPr>
              <a:t>• 1,5–2 м жип</a:t>
            </a:r>
          </a:p>
          <a:p>
            <a:pPr algn="l">
              <a:lnSpc>
                <a:spcPct val="110000"/>
              </a:lnSpc>
            </a:pPr>
            <a:r>
              <a:rPr sz="1500" b="0" i="0">
                <a:solidFill>
                  <a:srgbClr val="1F2430"/>
                </a:solidFill>
                <a:latin typeface="PT Sans"/>
              </a:rPr>
              <a:t>• 15–20 кагаз квадрат (чакмак кагаздан)</a:t>
            </a:r>
          </a:p>
          <a:p>
            <a:pPr algn="l">
              <a:lnSpc>
                <a:spcPct val="110000"/>
              </a:lnSpc>
            </a:pPr>
            <a:r>
              <a:rPr sz="1500" b="0" i="0">
                <a:solidFill>
                  <a:srgbClr val="1F2430"/>
                </a:solidFill>
                <a:latin typeface="PT Sans"/>
              </a:rPr>
              <a:t>• сызгыч</a:t>
            </a:r>
          </a:p>
          <a:p>
            <a:pPr algn="l">
              <a:lnSpc>
                <a:spcPct val="110000"/>
              </a:lnSpc>
            </a:pPr>
            <a:r>
              <a:rPr sz="1500" b="0" i="0">
                <a:solidFill>
                  <a:srgbClr val="1F2430"/>
                </a:solidFill>
                <a:latin typeface="PT Sans"/>
              </a:rPr>
              <a:t>• чакмак дептер</a:t>
            </a:r>
          </a:p>
          <a:p>
            <a:pPr algn="l">
              <a:lnSpc>
                <a:spcPct val="110000"/>
              </a:lnSpc>
            </a:pPr>
            <a:r>
              <a:rPr sz="1600" b="1" i="0">
                <a:solidFill>
                  <a:srgbClr val="24418C"/>
                </a:solidFill>
                <a:latin typeface="PT Sans"/>
              </a:rPr>
              <a:t>Жип = периметр, квадрат = аянт!</a:t>
            </a:r>
          </a:p>
        </p:txBody>
      </p:sp>
      <p:sp>
        <p:nvSpPr>
          <p:cNvPr id="72" name="Rounded Rectangle 71"/>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73" name="Rounded Rectangle 72"/>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74" name="Rounded Rectangle 73"/>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L фигура чакмак кагазда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Бурул апанын бөлмөсүнүн полу L түрүндө. Шырдак үчүн аянты, плинтус үчүн периметри керек.</a:t>
            </a:r>
          </a:p>
        </p:txBody>
      </p:sp>
      <p:cxnSp>
        <p:nvCxnSpPr>
          <p:cNvPr id="12" name="Connector 11"/>
          <p:cNvCxnSpPr/>
          <p:nvPr/>
        </p:nvCxnSpPr>
        <p:spPr>
          <a:xfrm>
            <a:off x="758952"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34440"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709928"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85416"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60904"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36392"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11880"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087368"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62856" y="2039112"/>
            <a:ext cx="0" cy="2852928"/>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8952" y="2039112"/>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8952" y="2514600"/>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8952" y="2990088"/>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8952" y="3465576"/>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8952" y="3941064"/>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8952" y="4416552"/>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58952" y="4892040"/>
            <a:ext cx="3803904" cy="0"/>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234440" y="2514600"/>
            <a:ext cx="475488" cy="475488"/>
          </a:xfrm>
          <a:prstGeom prst="rect">
            <a:avLst/>
          </a:prstGeom>
          <a:solidFill>
            <a:srgbClr val="F5E9E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09928" y="2514600"/>
            <a:ext cx="475488" cy="475488"/>
          </a:xfrm>
          <a:prstGeom prst="rect">
            <a:avLst/>
          </a:prstGeom>
          <a:solidFill>
            <a:srgbClr val="F5E9E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85416" y="2514600"/>
            <a:ext cx="475488" cy="475488"/>
          </a:xfrm>
          <a:prstGeom prst="rect">
            <a:avLst/>
          </a:prstGeom>
          <a:solidFill>
            <a:srgbClr val="F5E9E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234440" y="2990088"/>
            <a:ext cx="475488" cy="475488"/>
          </a:xfrm>
          <a:prstGeom prst="rect">
            <a:avLst/>
          </a:prstGeom>
          <a:solidFill>
            <a:srgbClr val="F5E9E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709928" y="2990088"/>
            <a:ext cx="475488" cy="475488"/>
          </a:xfrm>
          <a:prstGeom prst="rect">
            <a:avLst/>
          </a:prstGeom>
          <a:solidFill>
            <a:srgbClr val="F5E9E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85416" y="2990088"/>
            <a:ext cx="475488" cy="475488"/>
          </a:xfrm>
          <a:prstGeom prst="rect">
            <a:avLst/>
          </a:prstGeom>
          <a:solidFill>
            <a:srgbClr val="F5E9E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234440" y="3465576"/>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09928" y="3465576"/>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185416" y="3465576"/>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60904" y="3465576"/>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36392" y="3465576"/>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11880" y="3465576"/>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234440" y="3941064"/>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709928" y="3941064"/>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185416" y="3941064"/>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60904" y="3941064"/>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36392" y="3941064"/>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11880" y="3941064"/>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34440" y="4416552"/>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709928" y="4416552"/>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185416" y="4416552"/>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60904" y="4416552"/>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136392" y="4416552"/>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11880" y="4416552"/>
            <a:ext cx="475488" cy="475488"/>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60904" y="2514600"/>
            <a:ext cx="475488" cy="475488"/>
          </a:xfrm>
          <a:prstGeom prst="rect">
            <a:avLst/>
          </a:prstGeom>
          <a:solidFill>
            <a:srgbClr val="FFFFFF"/>
          </a:solidFill>
          <a:ln w="9525">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136392" y="2514600"/>
            <a:ext cx="475488" cy="475488"/>
          </a:xfrm>
          <a:prstGeom prst="rect">
            <a:avLst/>
          </a:prstGeom>
          <a:solidFill>
            <a:srgbClr val="FFFFFF"/>
          </a:solidFill>
          <a:ln w="9525">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11880" y="2514600"/>
            <a:ext cx="475488" cy="475488"/>
          </a:xfrm>
          <a:prstGeom prst="rect">
            <a:avLst/>
          </a:prstGeom>
          <a:solidFill>
            <a:srgbClr val="FFFFFF"/>
          </a:solidFill>
          <a:ln w="9525">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60904" y="2990088"/>
            <a:ext cx="475488" cy="475488"/>
          </a:xfrm>
          <a:prstGeom prst="rect">
            <a:avLst/>
          </a:prstGeom>
          <a:solidFill>
            <a:srgbClr val="FFFFFF"/>
          </a:solidFill>
          <a:ln w="9525">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136392" y="2990088"/>
            <a:ext cx="475488" cy="475488"/>
          </a:xfrm>
          <a:prstGeom prst="rect">
            <a:avLst/>
          </a:prstGeom>
          <a:solidFill>
            <a:srgbClr val="FFFFFF"/>
          </a:solidFill>
          <a:ln w="9525">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11880" y="2990088"/>
            <a:ext cx="475488" cy="475488"/>
          </a:xfrm>
          <a:prstGeom prst="rect">
            <a:avLst/>
          </a:prstGeom>
          <a:solidFill>
            <a:srgbClr val="FFFFFF"/>
          </a:solidFill>
          <a:ln w="9525">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1234440" y="2514600"/>
            <a:ext cx="1426464" cy="0"/>
          </a:xfrm>
          <a:prstGeom prst="line">
            <a:avLst/>
          </a:prstGeom>
          <a:ln w="381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660904" y="2514600"/>
            <a:ext cx="0" cy="950976"/>
          </a:xfrm>
          <a:prstGeom prst="line">
            <a:avLst/>
          </a:prstGeom>
          <a:ln w="381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660904" y="3465576"/>
            <a:ext cx="1426464" cy="0"/>
          </a:xfrm>
          <a:prstGeom prst="line">
            <a:avLst/>
          </a:prstGeom>
          <a:ln w="381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087368" y="3465576"/>
            <a:ext cx="0" cy="1426464"/>
          </a:xfrm>
          <a:prstGeom prst="line">
            <a:avLst/>
          </a:prstGeom>
          <a:ln w="381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234440" y="4892040"/>
            <a:ext cx="2852928" cy="0"/>
          </a:xfrm>
          <a:prstGeom prst="line">
            <a:avLst/>
          </a:prstGeom>
          <a:ln w="381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234440" y="2514600"/>
            <a:ext cx="0" cy="2377440"/>
          </a:xfrm>
          <a:prstGeom prst="line">
            <a:avLst/>
          </a:prstGeom>
          <a:ln w="381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234440" y="3465576"/>
            <a:ext cx="1426464" cy="0"/>
          </a:xfrm>
          <a:prstGeom prst="line">
            <a:avLst/>
          </a:prstGeom>
          <a:ln w="19050">
            <a:solidFill>
              <a:srgbClr val="1D3557"/>
            </a:solidFill>
            <a:prstDash val="dash"/>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234440" y="4910327"/>
            <a:ext cx="2852928" cy="32004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6 м</a:t>
            </a:r>
          </a:p>
        </p:txBody>
      </p:sp>
      <p:sp>
        <p:nvSpPr>
          <p:cNvPr id="66" name="TextBox 65"/>
          <p:cNvSpPr txBox="1"/>
          <p:nvPr/>
        </p:nvSpPr>
        <p:spPr>
          <a:xfrm>
            <a:off x="548640" y="3538727"/>
            <a:ext cx="640080" cy="32004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5 м</a:t>
            </a:r>
          </a:p>
        </p:txBody>
      </p:sp>
      <p:sp>
        <p:nvSpPr>
          <p:cNvPr id="67" name="TextBox 66"/>
          <p:cNvSpPr txBox="1"/>
          <p:nvPr/>
        </p:nvSpPr>
        <p:spPr>
          <a:xfrm>
            <a:off x="1234440" y="2167128"/>
            <a:ext cx="1426464" cy="32004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3 м</a:t>
            </a:r>
          </a:p>
        </p:txBody>
      </p:sp>
      <p:sp>
        <p:nvSpPr>
          <p:cNvPr id="68" name="TextBox 67"/>
          <p:cNvSpPr txBox="1"/>
          <p:nvPr/>
        </p:nvSpPr>
        <p:spPr>
          <a:xfrm>
            <a:off x="2679192" y="2752344"/>
            <a:ext cx="640080" cy="32004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2 м</a:t>
            </a:r>
          </a:p>
        </p:txBody>
      </p:sp>
      <p:sp>
        <p:nvSpPr>
          <p:cNvPr id="69" name="TextBox 68"/>
          <p:cNvSpPr txBox="1"/>
          <p:nvPr/>
        </p:nvSpPr>
        <p:spPr>
          <a:xfrm>
            <a:off x="2660904" y="3136392"/>
            <a:ext cx="1426464" cy="32004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3 м</a:t>
            </a:r>
          </a:p>
        </p:txBody>
      </p:sp>
      <p:sp>
        <p:nvSpPr>
          <p:cNvPr id="70" name="TextBox 69"/>
          <p:cNvSpPr txBox="1"/>
          <p:nvPr/>
        </p:nvSpPr>
        <p:spPr>
          <a:xfrm>
            <a:off x="4105656" y="4014216"/>
            <a:ext cx="640080" cy="32004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3 м</a:t>
            </a:r>
          </a:p>
        </p:txBody>
      </p:sp>
      <p:sp>
        <p:nvSpPr>
          <p:cNvPr id="71" name="TextBox 70"/>
          <p:cNvSpPr txBox="1"/>
          <p:nvPr/>
        </p:nvSpPr>
        <p:spPr>
          <a:xfrm>
            <a:off x="2708452" y="2609697"/>
            <a:ext cx="1331366" cy="320040"/>
          </a:xfrm>
          <a:prstGeom prst="rect">
            <a:avLst/>
          </a:prstGeom>
          <a:noFill/>
        </p:spPr>
        <p:txBody>
          <a:bodyPr wrap="square" anchor="t" lIns="45720" rIns="45720" tIns="27432" bIns="27432">
            <a:spAutoFit/>
          </a:bodyPr>
          <a:lstStyle/>
          <a:p>
            <a:pPr algn="ctr">
              <a:lnSpc>
                <a:spcPct val="105000"/>
              </a:lnSpc>
            </a:pPr>
            <a:r>
              <a:rPr sz="1200" b="0" i="1">
                <a:solidFill>
                  <a:srgbClr val="4A5A70"/>
                </a:solidFill>
                <a:latin typeface="PT Sans"/>
              </a:rPr>
              <a:t>кесилген</a:t>
            </a:r>
          </a:p>
        </p:txBody>
      </p:sp>
      <p:sp>
        <p:nvSpPr>
          <p:cNvPr id="72" name="Rounded Rectangle 71"/>
          <p:cNvSpPr/>
          <p:nvPr/>
        </p:nvSpPr>
        <p:spPr>
          <a:xfrm>
            <a:off x="5486400" y="2103120"/>
            <a:ext cx="2971800" cy="1920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23560" y="2148840"/>
            <a:ext cx="2743200" cy="411480"/>
          </a:xfrm>
          <a:prstGeom prst="rect">
            <a:avLst/>
          </a:prstGeom>
          <a:noFill/>
        </p:spPr>
        <p:txBody>
          <a:bodyPr wrap="square" anchor="t" lIns="45720" rIns="45720" tIns="27432" bIns="27432">
            <a:spAutoFit/>
          </a:bodyPr>
          <a:lstStyle/>
          <a:p>
            <a:pPr algn="l">
              <a:lnSpc>
                <a:spcPct val="105000"/>
              </a:lnSpc>
            </a:pPr>
            <a:r>
              <a:rPr sz="1800" b="1" i="0">
                <a:solidFill>
                  <a:srgbClr val="1D3557"/>
                </a:solidFill>
                <a:latin typeface="PT Sans"/>
              </a:rPr>
              <a:t>1-жол: бөлөбүз</a:t>
            </a:r>
          </a:p>
        </p:txBody>
      </p:sp>
      <p:sp>
        <p:nvSpPr>
          <p:cNvPr id="74" name="TextBox 73"/>
          <p:cNvSpPr txBox="1"/>
          <p:nvPr/>
        </p:nvSpPr>
        <p:spPr>
          <a:xfrm>
            <a:off x="5623560" y="2606040"/>
            <a:ext cx="2743200" cy="1371600"/>
          </a:xfrm>
          <a:prstGeom prst="rect">
            <a:avLst/>
          </a:prstGeom>
          <a:noFill/>
        </p:spPr>
        <p:txBody>
          <a:bodyPr wrap="square" anchor="t" lIns="45720" rIns="45720" tIns="27432" bIns="27432">
            <a:spAutoFit/>
          </a:bodyPr>
          <a:lstStyle/>
          <a:p>
            <a:pPr algn="l">
              <a:lnSpc>
                <a:spcPct val="105000"/>
              </a:lnSpc>
            </a:pPr>
            <a:r>
              <a:rPr sz="1900" b="1" i="0">
                <a:solidFill>
                  <a:srgbClr val="007A5A"/>
                </a:solidFill>
                <a:latin typeface="PT Sans"/>
              </a:rPr>
              <a:t>6 × 3 = 18</a:t>
            </a:r>
          </a:p>
          <a:p>
            <a:pPr algn="l">
              <a:lnSpc>
                <a:spcPct val="105000"/>
              </a:lnSpc>
            </a:pPr>
            <a:r>
              <a:rPr sz="1900" b="1" i="0">
                <a:solidFill>
                  <a:srgbClr val="A84400"/>
                </a:solidFill>
                <a:latin typeface="PT Sans"/>
              </a:rPr>
              <a:t>3 × 2 = 6</a:t>
            </a:r>
          </a:p>
          <a:p>
            <a:pPr algn="l">
              <a:lnSpc>
                <a:spcPct val="105000"/>
              </a:lnSpc>
            </a:pPr>
            <a:r>
              <a:rPr sz="1900" b="1" i="0">
                <a:solidFill>
                  <a:srgbClr val="24418C"/>
                </a:solidFill>
                <a:latin typeface="PT Sans"/>
              </a:rPr>
              <a:t>18 + 6 = 24 м²</a:t>
            </a:r>
          </a:p>
        </p:txBody>
      </p:sp>
      <p:sp>
        <p:nvSpPr>
          <p:cNvPr id="75" name="Rounded Rectangle 74"/>
          <p:cNvSpPr/>
          <p:nvPr/>
        </p:nvSpPr>
        <p:spPr>
          <a:xfrm>
            <a:off x="8641080" y="2103120"/>
            <a:ext cx="2971800" cy="1920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78240" y="2148840"/>
            <a:ext cx="2743200" cy="411480"/>
          </a:xfrm>
          <a:prstGeom prst="rect">
            <a:avLst/>
          </a:prstGeom>
          <a:noFill/>
        </p:spPr>
        <p:txBody>
          <a:bodyPr wrap="square" anchor="t" lIns="45720" rIns="45720" tIns="27432" bIns="27432">
            <a:spAutoFit/>
          </a:bodyPr>
          <a:lstStyle/>
          <a:p>
            <a:pPr algn="l">
              <a:lnSpc>
                <a:spcPct val="105000"/>
              </a:lnSpc>
            </a:pPr>
            <a:r>
              <a:rPr sz="1800" b="1" i="0">
                <a:solidFill>
                  <a:srgbClr val="1D3557"/>
                </a:solidFill>
                <a:latin typeface="PT Sans"/>
              </a:rPr>
              <a:t>2-жол: кемитебиз</a:t>
            </a:r>
          </a:p>
        </p:txBody>
      </p:sp>
      <p:sp>
        <p:nvSpPr>
          <p:cNvPr id="77" name="TextBox 76"/>
          <p:cNvSpPr txBox="1"/>
          <p:nvPr/>
        </p:nvSpPr>
        <p:spPr>
          <a:xfrm>
            <a:off x="8778240" y="2606040"/>
            <a:ext cx="2743200" cy="1371600"/>
          </a:xfrm>
          <a:prstGeom prst="rect">
            <a:avLst/>
          </a:prstGeom>
          <a:noFill/>
        </p:spPr>
        <p:txBody>
          <a:bodyPr wrap="square" anchor="t" lIns="45720" rIns="45720" tIns="27432" bIns="27432">
            <a:spAutoFit/>
          </a:bodyPr>
          <a:lstStyle/>
          <a:p>
            <a:pPr algn="l">
              <a:lnSpc>
                <a:spcPct val="105000"/>
              </a:lnSpc>
            </a:pPr>
            <a:r>
              <a:rPr sz="1900" b="1" i="0">
                <a:solidFill>
                  <a:srgbClr val="1F2430"/>
                </a:solidFill>
                <a:latin typeface="PT Sans"/>
              </a:rPr>
              <a:t>6 × 5 = 30</a:t>
            </a:r>
          </a:p>
          <a:p>
            <a:pPr algn="l">
              <a:lnSpc>
                <a:spcPct val="105000"/>
              </a:lnSpc>
            </a:pPr>
            <a:r>
              <a:rPr sz="1900" b="1" i="0">
                <a:solidFill>
                  <a:srgbClr val="4A5A70"/>
                </a:solidFill>
                <a:latin typeface="PT Sans"/>
              </a:rPr>
              <a:t>3 × 2 = 6 (кесилген)</a:t>
            </a:r>
          </a:p>
          <a:p>
            <a:pPr algn="l">
              <a:lnSpc>
                <a:spcPct val="105000"/>
              </a:lnSpc>
            </a:pPr>
            <a:r>
              <a:rPr sz="1900" b="1" i="0">
                <a:solidFill>
                  <a:srgbClr val="24418C"/>
                </a:solidFill>
                <a:latin typeface="PT Sans"/>
              </a:rPr>
              <a:t>30 − 6 = 24 м²</a:t>
            </a:r>
          </a:p>
        </p:txBody>
      </p:sp>
      <p:sp>
        <p:nvSpPr>
          <p:cNvPr id="78" name="Rounded Rectangle 77"/>
          <p:cNvSpPr/>
          <p:nvPr/>
        </p:nvSpPr>
        <p:spPr>
          <a:xfrm>
            <a:off x="5486400" y="4160520"/>
            <a:ext cx="6126480" cy="1143000"/>
          </a:xfrm>
          <a:prstGeom prst="roundRect">
            <a:avLst>
              <a:gd name="adj" fmla="val 8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623560" y="4206240"/>
            <a:ext cx="5852160" cy="1188720"/>
          </a:xfrm>
          <a:prstGeom prst="rect">
            <a:avLst/>
          </a:prstGeom>
          <a:noFill/>
        </p:spPr>
        <p:txBody>
          <a:bodyPr wrap="square" anchor="t" lIns="45720" rIns="45720" tIns="27432" bIns="27432">
            <a:spAutoFit/>
          </a:bodyPr>
          <a:lstStyle/>
          <a:p>
            <a:pPr algn="l">
              <a:lnSpc>
                <a:spcPct val="100000"/>
              </a:lnSpc>
            </a:pPr>
            <a:r>
              <a:rPr sz="1700" b="1" i="0">
                <a:solidFill>
                  <a:srgbClr val="A84400"/>
                </a:solidFill>
                <a:latin typeface="PT Sans"/>
              </a:rPr>
              <a:t>Периметр: 6 жактын баары</a:t>
            </a:r>
          </a:p>
          <a:p>
            <a:pPr algn="l">
              <a:lnSpc>
                <a:spcPct val="100000"/>
              </a:lnSpc>
            </a:pPr>
            <a:r>
              <a:rPr sz="1900" b="1" i="0">
                <a:solidFill>
                  <a:srgbClr val="1F2430"/>
                </a:solidFill>
                <a:latin typeface="PT Sans"/>
              </a:rPr>
              <a:t>6 + 3 + 3 + 2 + 3 + 5 = 22 м</a:t>
            </a:r>
          </a:p>
          <a:p>
            <a:pPr algn="l">
              <a:lnSpc>
                <a:spcPct val="100000"/>
              </a:lnSpc>
            </a:pPr>
            <a:r>
              <a:rPr sz="1400" b="0" i="0">
                <a:solidFill>
                  <a:srgbClr val="4A5A70"/>
                </a:solidFill>
                <a:latin typeface="PT Sans"/>
              </a:rPr>
              <a:t>Белгисиз жактар: 5 − 2 = 3 жана 6 − 3 = 3</a:t>
            </a:r>
          </a:p>
        </p:txBody>
      </p:sp>
      <p:sp>
        <p:nvSpPr>
          <p:cNvPr id="80" name="TextBox 79"/>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S = 6 × 3 + 3 × 2 = 24 м²    S = 6 × 5 − 3 × 2 = 24 м²    P = 22 м</a:t>
            </a:r>
          </a:p>
        </p:txBody>
      </p:sp>
      <p:sp>
        <p:nvSpPr>
          <p:cNvPr id="81" name="Rounded Rectangle 80"/>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82" name="Rounded Rectangle 81"/>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83" name="Rounded Rectangle 82"/>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84" name="Rounded Rectangle 83"/>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2(a + b)</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Тик бурчтуктун периметри</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Төрт жагы: см, м</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4 × a</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Квадраттын периметри</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Төрт бирдей жак</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 × b</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Тик бурчтуктун аянты</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Катар × катардагы чакмак: см², м²</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 × a</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Квадраттын аянты</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Жагы × жагы</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5 × 3:  P = 2 × (5 + 3) = 16 см,  S = 15 см²</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400" b="0" i="0">
                <a:solidFill>
                  <a:srgbClr val="1F2430"/>
                </a:solidFill>
                <a:latin typeface="PT Sans"/>
              </a:rPr>
              <a:t>Шырдактын периметри 18 м, узуну 5 м. Туурасы канча?</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18 ÷ 2 = 9</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узуну + туурасы</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9 − 5 = 4</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туурасы</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2 × (5 + 4) = 18</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 ✓</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Туурасы = </a:t>
            </a:r>
            <a:r>
              <a:rPr sz="3400" b="1">
                <a:solidFill>
                  <a:srgbClr val="24418C"/>
                </a:solidFill>
                <a:latin typeface="PT Sans"/>
              </a:rPr>
              <a:t>4 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Бөлмөнүн аянты 30 м², туурасы 5 м. Узуну канча? Полдун периметри канча?</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30 ÷ 5 = 6</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узуну, м</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2 × (6 + 5) = 22</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периметри, м</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6 × 5 = 30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 ✓</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Узуну 6 м, периметри = </a:t>
            </a:r>
            <a:r>
              <a:rPr sz="3400" b="1">
                <a:solidFill>
                  <a:srgbClr val="24418C"/>
                </a:solidFill>
                <a:latin typeface="PT Sans"/>
              </a:rPr>
              <a:t>22 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үч жол</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Жарым периметр</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 × (7 + 8)</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2 × 15</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30</a:t>
            </a:r>
          </a:p>
        </p:txBody>
      </p:sp>
      <p:sp>
        <p:nvSpPr>
          <p:cNvPr id="16" name="TextBox 15"/>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Адегенде a + b, анан эки эсе.</a:t>
            </a:r>
          </a:p>
        </p:txBody>
      </p:sp>
      <p:sp>
        <p:nvSpPr>
          <p:cNvPr id="17" name="Rounded Rectangle 16"/>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9" name="TextBox 18"/>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Квадрат: 4 жак</a:t>
            </a:r>
          </a:p>
        </p:txBody>
      </p:sp>
      <p:sp>
        <p:nvSpPr>
          <p:cNvPr id="20" name="TextBox 19"/>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Квадрат 9 см</a:t>
            </a:r>
          </a:p>
        </p:txBody>
      </p:sp>
      <p:sp>
        <p:nvSpPr>
          <p:cNvPr id="21" name="TextBox 20"/>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P = 4 × 9 = 36</a:t>
            </a:r>
          </a:p>
        </p:txBody>
      </p:sp>
      <p:sp>
        <p:nvSpPr>
          <p:cNvPr id="22" name="TextBox 21"/>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S = 9 × 9 = 81</a:t>
            </a:r>
          </a:p>
        </p:txBody>
      </p:sp>
      <p:sp>
        <p:nvSpPr>
          <p:cNvPr id="23" name="TextBox 22"/>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Квадраттын бардык жактары бирдей.</a:t>
            </a:r>
          </a:p>
        </p:txBody>
      </p:sp>
      <p:sp>
        <p:nvSpPr>
          <p:cNvPr id="24" name="Rounded Rectangle 23"/>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6" name="TextBox 25"/>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Кемит же бөл</a:t>
            </a:r>
          </a:p>
        </p:txBody>
      </p:sp>
      <p:sp>
        <p:nvSpPr>
          <p:cNvPr id="27" name="TextBox 26"/>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6 × 5 − 3 × 2</a:t>
            </a:r>
          </a:p>
        </p:txBody>
      </p:sp>
      <p:sp>
        <p:nvSpPr>
          <p:cNvPr id="28" name="TextBox 27"/>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30 − 6</a:t>
            </a:r>
          </a:p>
        </p:txBody>
      </p:sp>
      <p:sp>
        <p:nvSpPr>
          <p:cNvPr id="29" name="TextBox 28"/>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24</a:t>
            </a:r>
          </a:p>
        </p:txBody>
      </p:sp>
      <p:sp>
        <p:nvSpPr>
          <p:cNvPr id="30" name="TextBox 29"/>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L фигура: чоң тик бурчтуктан кесилгенин алам.</a:t>
            </a:r>
          </a:p>
        </p:txBody>
      </p:sp>
      <p:sp>
        <p:nvSpPr>
          <p:cNvPr id="31" name="Rounded Rectangle 30"/>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Түшүн → ыкма → эркин эсеп. Ыкмаңды үн чыгарып айт: «Мен ... деп ойлодум».</a:t>
            </a:r>
          </a:p>
        </p:txBody>
      </p:sp>
      <p:sp>
        <p:nvSpPr>
          <p:cNvPr id="32" name="Rounded Rectangle 31"/>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3" name="Rounded Rectangle 3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4" name="Rounded Rectangle 3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5" name="Rounded Rectangle 3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Шырдактын узуну 6 м, туурасы 4 м. Четине канча метр кайма керек?</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24 м</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20 м</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20 м²</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10 м</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Шырдактын периметри 18 м, узуну 5 м. Туурасы канча? Тилке: жарым периметр = узуну + туурасы.</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Шырдак 4 м × 3 м, килем 5 м × 3 м. Кайсынысына кайма көп кетет жана канча метрге?</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Эки шырдак: 4 м × 3 м жана 3 м × 3 м. Экөөнө канча м² кийиз кетет? Биринчисине канча көп?</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Шырдактын периметри 18 м, узуну 5 м. Туурасы канча? Тилке: жарым периметр = узуну + туурасы.</a:t>
            </a:r>
          </a:p>
        </p:txBody>
      </p:sp>
      <p:sp>
        <p:nvSpPr>
          <p:cNvPr id="13" name="Rectangle 12"/>
          <p:cNvSpPr/>
          <p:nvPr/>
        </p:nvSpPr>
        <p:spPr>
          <a:xfrm>
            <a:off x="566928" y="3017520"/>
            <a:ext cx="130217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5</a:t>
            </a:r>
          </a:p>
        </p:txBody>
      </p:sp>
      <p:sp>
        <p:nvSpPr>
          <p:cNvPr id="14" name="Rectangle 13"/>
          <p:cNvSpPr/>
          <p:nvPr/>
        </p:nvSpPr>
        <p:spPr>
          <a:xfrm>
            <a:off x="1869101" y="3017520"/>
            <a:ext cx="1041738"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4</a:t>
            </a:r>
          </a:p>
        </p:txBody>
      </p:sp>
      <p:cxnSp>
        <p:nvCxnSpPr>
          <p:cNvPr id="15" name="Connector 14"/>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9</a:t>
            </a:r>
          </a:p>
        </p:txBody>
      </p:sp>
      <p:sp>
        <p:nvSpPr>
          <p:cNvPr id="19" name="TextBox 18"/>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18 ÷ 2 = 9;  9 − 5 = 4 м</a:t>
            </a:r>
          </a:p>
        </p:txBody>
      </p:sp>
      <p:sp>
        <p:nvSpPr>
          <p:cNvPr id="20" name="Rounded Rectangle 19"/>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2" name="TextBox 21"/>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Шырдак 4 м × 3 м, килем 5 м × 3 м. Кайсынысына кайма көп кетет жана канча метрге?</a:t>
            </a:r>
          </a:p>
        </p:txBody>
      </p:sp>
      <p:sp>
        <p:nvSpPr>
          <p:cNvPr id="23" name="TextBox 22"/>
          <p:cNvSpPr txBox="1"/>
          <p:nvPr/>
        </p:nvSpPr>
        <p:spPr>
          <a:xfrm>
            <a:off x="4419600" y="3017520"/>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Шырдак</a:t>
            </a:r>
          </a:p>
        </p:txBody>
      </p:sp>
      <p:sp>
        <p:nvSpPr>
          <p:cNvPr id="24" name="Rectangle 23"/>
          <p:cNvSpPr/>
          <p:nvPr/>
        </p:nvSpPr>
        <p:spPr>
          <a:xfrm>
            <a:off x="5882640" y="3017520"/>
            <a:ext cx="77076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14</a:t>
            </a:r>
          </a:p>
        </p:txBody>
      </p:sp>
      <p:sp>
        <p:nvSpPr>
          <p:cNvPr id="25" name="TextBox 24"/>
          <p:cNvSpPr txBox="1"/>
          <p:nvPr/>
        </p:nvSpPr>
        <p:spPr>
          <a:xfrm>
            <a:off x="4419600" y="3574389"/>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Килем</a:t>
            </a:r>
          </a:p>
        </p:txBody>
      </p:sp>
      <p:sp>
        <p:nvSpPr>
          <p:cNvPr id="26" name="Rectangle 25"/>
          <p:cNvSpPr/>
          <p:nvPr/>
        </p:nvSpPr>
        <p:spPr>
          <a:xfrm>
            <a:off x="5882640" y="3574389"/>
            <a:ext cx="77076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14</a:t>
            </a:r>
          </a:p>
        </p:txBody>
      </p:sp>
      <p:sp>
        <p:nvSpPr>
          <p:cNvPr id="27" name="Rectangle 26"/>
          <p:cNvSpPr/>
          <p:nvPr/>
        </p:nvSpPr>
        <p:spPr>
          <a:xfrm>
            <a:off x="6653403" y="3574389"/>
            <a:ext cx="110108"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2</a:t>
            </a:r>
          </a:p>
        </p:txBody>
      </p:sp>
      <p:sp>
        <p:nvSpPr>
          <p:cNvPr id="28" name="TextBox 27"/>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16 − 14 = 2 м: килемге</a:t>
            </a:r>
          </a:p>
        </p:txBody>
      </p:sp>
      <p:sp>
        <p:nvSpPr>
          <p:cNvPr id="29" name="Rounded Rectangle 28"/>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1" name="TextBox 30"/>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Эки шырдак: 4 м × 3 м жана 3 м × 3 м. Экөөнө канча м² кийиз кетет? Биринчисине канча көп?</a:t>
            </a:r>
          </a:p>
        </p:txBody>
      </p:sp>
      <p:sp>
        <p:nvSpPr>
          <p:cNvPr id="32" name="TextBox 31"/>
          <p:cNvSpPr txBox="1"/>
          <p:nvPr/>
        </p:nvSpPr>
        <p:spPr>
          <a:xfrm>
            <a:off x="8272272" y="3017520"/>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1-шырдак</a:t>
            </a:r>
          </a:p>
        </p:txBody>
      </p:sp>
      <p:sp>
        <p:nvSpPr>
          <p:cNvPr id="33" name="Rectangle 32"/>
          <p:cNvSpPr/>
          <p:nvPr/>
        </p:nvSpPr>
        <p:spPr>
          <a:xfrm>
            <a:off x="9735312" y="3017520"/>
            <a:ext cx="66065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a:t>
            </a:r>
          </a:p>
        </p:txBody>
      </p:sp>
      <p:sp>
        <p:nvSpPr>
          <p:cNvPr id="34" name="Rectangle 33"/>
          <p:cNvSpPr/>
          <p:nvPr/>
        </p:nvSpPr>
        <p:spPr>
          <a:xfrm>
            <a:off x="10395966" y="3017520"/>
            <a:ext cx="220217"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a:t>
            </a:r>
          </a:p>
        </p:txBody>
      </p:sp>
      <p:sp>
        <p:nvSpPr>
          <p:cNvPr id="35" name="TextBox 34"/>
          <p:cNvSpPr txBox="1"/>
          <p:nvPr/>
        </p:nvSpPr>
        <p:spPr>
          <a:xfrm>
            <a:off x="8272272" y="3574389"/>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2-шырдак</a:t>
            </a:r>
          </a:p>
        </p:txBody>
      </p:sp>
      <p:sp>
        <p:nvSpPr>
          <p:cNvPr id="36" name="Rectangle 35"/>
          <p:cNvSpPr/>
          <p:nvPr/>
        </p:nvSpPr>
        <p:spPr>
          <a:xfrm>
            <a:off x="9735312" y="3574389"/>
            <a:ext cx="66065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a:t>
            </a:r>
          </a:p>
        </p:txBody>
      </p:sp>
      <p:sp>
        <p:nvSpPr>
          <p:cNvPr id="37" name="TextBox 36"/>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12 + 9 = 21 м²;  3 м² көп</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12 см × 5 см: периметри</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12 см × 5 см: аянты</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Квадрат 11 м: аянты</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P = 32 см, a = 10 см. b = ?</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S = 63 м², a = 7 м. b = ?</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L: 8 м × 6 м, бурчунан 3 м × 2 м кесилген. S жана P?</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12 см × 5 см: периметри</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34 см</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12 см × 5 см: аянты</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 см²</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Квадрат 11 м: аянты</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121 м²</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P = 32 см, a = 10 см. b = ?</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 см</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S = 63 м², a = 7 м. b = ?</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9 м</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L: 8 м × 6 м, бурчунан 3 м × 2 м кесилген. S жана P?</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42 м²;  28 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Шырдак 4 м × 3 м. Четине канча метр кайма, ичине канча м² кийиз керек? Кайманын 1 метри 25 сом.</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Кайма</a:t>
            </a:r>
          </a:p>
        </p:txBody>
      </p:sp>
      <p:sp>
        <p:nvSpPr>
          <p:cNvPr id="13" name="Rectangle 12"/>
          <p:cNvSpPr/>
          <p:nvPr/>
        </p:nvSpPr>
        <p:spPr>
          <a:xfrm>
            <a:off x="2377440" y="2240280"/>
            <a:ext cx="2168434"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4</a:t>
            </a:r>
          </a:p>
        </p:txBody>
      </p:sp>
      <p:sp>
        <p:nvSpPr>
          <p:cNvPr id="14" name="Rectangle 13"/>
          <p:cNvSpPr/>
          <p:nvPr/>
        </p:nvSpPr>
        <p:spPr>
          <a:xfrm>
            <a:off x="4545874" y="2240280"/>
            <a:ext cx="1626325"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3</a:t>
            </a:r>
          </a:p>
        </p:txBody>
      </p:sp>
      <p:sp>
        <p:nvSpPr>
          <p:cNvPr id="15" name="Rectangle 14"/>
          <p:cNvSpPr/>
          <p:nvPr/>
        </p:nvSpPr>
        <p:spPr>
          <a:xfrm>
            <a:off x="6172200" y="2240280"/>
            <a:ext cx="2168434"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4</a:t>
            </a:r>
          </a:p>
        </p:txBody>
      </p:sp>
      <p:sp>
        <p:nvSpPr>
          <p:cNvPr id="16" name="Rectangle 15"/>
          <p:cNvSpPr/>
          <p:nvPr/>
        </p:nvSpPr>
        <p:spPr>
          <a:xfrm>
            <a:off x="8340634" y="2240280"/>
            <a:ext cx="1626325"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3</a:t>
            </a:r>
          </a:p>
        </p:txBody>
      </p:sp>
      <p:cxnSp>
        <p:nvCxnSpPr>
          <p:cNvPr id="17" name="Connector 16"/>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14</a:t>
            </a:r>
          </a:p>
        </p:txBody>
      </p:sp>
      <p:sp>
        <p:nvSpPr>
          <p:cNvPr id="21" name="TextBox 20"/>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2 × (4 + 3) = 14</a:t>
            </a:r>
          </a:p>
        </p:txBody>
      </p:sp>
      <p:sp>
        <p:nvSpPr>
          <p:cNvPr id="22" name="TextBox 21"/>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м кайма</a:t>
            </a:r>
          </a:p>
        </p:txBody>
      </p:sp>
      <p:sp>
        <p:nvSpPr>
          <p:cNvPr id="23" name="TextBox 22"/>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4 × 3 = 12</a:t>
            </a:r>
          </a:p>
        </p:txBody>
      </p:sp>
      <p:sp>
        <p:nvSpPr>
          <p:cNvPr id="24" name="TextBox 23"/>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м² кийиз</a:t>
            </a:r>
          </a:p>
        </p:txBody>
      </p:sp>
      <p:sp>
        <p:nvSpPr>
          <p:cNvPr id="25" name="TextBox 24"/>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14 × 25 = 350</a:t>
            </a:r>
          </a:p>
        </p:txBody>
      </p:sp>
      <p:sp>
        <p:nvSpPr>
          <p:cNvPr id="26" name="TextBox 25"/>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сом</a:t>
            </a:r>
          </a:p>
        </p:txBody>
      </p:sp>
      <p:sp>
        <p:nvSpPr>
          <p:cNvPr id="27" name="Rounded Rectangle 26"/>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Кайма 14 м (350 сом), кийиз 12 м².</a:t>
            </a:r>
          </a:p>
        </p:txBody>
      </p:sp>
      <p:sp>
        <p:nvSpPr>
          <p:cNvPr id="28" name="Rounded Rectangle 27"/>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Кочкордогу шырдак жөнүндө маселе түз: бирөөндө периметр, экинчисинде аянт керек болсун.</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Бурул апа, Айпери, Эмил.</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Тик бурчтук 9 см × 4 см. Периметри жана аянты канча?</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Тик бурчтуктун периметри 22 м, узуну 7 м. Туурасы канча?</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L фигура: 7 м × 4 м тик бурчтуктун бурчунан 3 м × 2 м кесилген. Аянты?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Периметр менен аянттын айырмасы эмнеде? Бирдиктери кандай?</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P ÷ 2 кылабыз, жакты тапканда?</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Аянты бирдей, периметри ар башка эки фигура чий.</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Периметр жана аянт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маселеде «айланабы же жабабы?» деп сурайм (М1).</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Жоопто бирдик жок болсо, жоопту толук эмес деп эсептейм: см же см² (М3).</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Жип жана кагаз квадраттар ар бир окуучунун колунда болушун сунуштайм.</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L фигурада чокуларды санатып, 6 жактын баарын таптырам (М4, М5).</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