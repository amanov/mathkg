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Сандар окуу үчүн жөнөкөйлөтүлгөн (чыныгы өзгөрүү ар кайсы жылы ар башка). Окуучулар болжолдошсун: 4 күн мурун деңгээл жогору беле, төмөнбү? Жоопту 22-слайдда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Нурай: үлгүдө ар бир кадамда жооп 3кө чоңоёт, (−4) × (−3) = 12 (Бекжан – М2).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12 капкак бир түстө (+1) жана 12 капкак башка түстө (−1) – же бир жагы боёлгон таштар; 3 кагаз табак. 1) 3 табакка 4төн «−» капкак коюшат: 12 «−» = −12. 2) (−3) × (−4) = «3 жолу 4 «−» капкакты АЛЫП САЛ». Столдо 0 болушу үчүн 12 нөл жуп (+1 жана −1) коюшат, анан 3 жолу 4 «−» капкакты алып салышат: 12 «+» калат = 12. Проектор жок болсо, капкактарды доскага «+» жана «−» тегерекчелер менен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Сан огун жип менен полго же доскага (−8ден 8ге чейин) коём. Окуучу 0дон баштап 3 жолу 2 кадам солго басат: −6. Анан таблицаны бирге толтурабыз: биринчи көбөйтүүчү 1ге азайганда жооп 2ге чоңоёт. Ошол эле үлгү терс тарапка уланат: (−1) × (−2) = 2, (−3) × (−2) = 6 – карама-каршы багыт. Окуучулар таблицаны чакмак дептерге көчүрүшөт.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Адегенде белгини чечебиз, анан сандарды көбөйтөбүз же бөлөбүз. Бөлүүдө эреже ошол эле, анткени бөлүү – көбөйтүүгө тескери амал (М5). Нөлгө көбөйтсөк – 0 (М6).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ыкманы окуучу үн чыгарып айтат: «Адегенде белгини чечем: эки терс – оң. Анан 7 × 6». «Оозеки беш мүнөт» (класста колдонуу картасы, 3-бет) эки апта ушул ыкмаларды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✓; В = М4; Г = М3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бирдей топтор → бөлүү: бир бөлүк → өткөн күндөр. Жооптор: 5 × (−4) = −20 см; (−28) : 7 = −4 см; (−3) × (−5) = 15 см (жогору)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 күн, ар күнү −3: 6 × (−3) = −18 см. 4 күн мурун: убакыт −4, өзгөрүү −3, (−4) × (−3) = 12. Текшерүү: 12 см бийиктиктен 4 күн бою 3 смден түшсө, 0гө келет.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−24; 5; (−3) × (−2) = 6 см (жогору)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Бүтүн сандарды көбөйтүү жана бөлүү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Суу сактагычтын күндөлүгү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Кышында суу сактагычтын деңгээли күн сайын төмөндөйт. Нурай менен Бекжан өзгөрүүнү бүтүн сандар менен жазышат.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5-класстын программасы, «Бүтүн сандар» бөлүмү: көбөйтүү жана бөлүү, белгилер эрежеси. Тапшырмалар MathKG үчүн жаңы түзүлдү.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Суу сактагычтын күндөлүгү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Кышында Токтогул ГЭСи көп электр берет, ошондуктан суу сактагычтан суу көп агызылат.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Кара-Көлдө жашаган Нурай менен Бекжан күндөлүк жүргүзүшөт: бул аптада деңгээл күнүнө 3 см төмөндөдү (−3 см).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Бүгүнкү деңгээлди «0» деп алышты: кийинки күндөр «+», өткөн күндөр «−».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Бекжандын агасы Мирлан ГЭСте иштейт. Ал сурады: «6 күндөн кийин жана 4 күн мурун деңгээл кайда?»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Деңгээл күнүнө 3 см төмөндөйт (−3 см), бүгүн – 0. 6 күндөн кийин деңгээл кайда болот? 4 күн мурун кайда болгон?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Бүтүн сандарды көбөйтүүнү капкак жана сан огу менен көрсөтөм: 3 × (−4) = 3 топ, ар биринде −4.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Белгилер эрежесин үлгүдөн таап, түшүндүрөм жана колдоном.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Бөлүүнү көбөйтүүгө тескери амал катары колдонуп, маселе чыгарам.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Оң × терс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Белгилер эрежеси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Бөлүү, маселелер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Үлгү менен далилдөө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капкак менен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Суу сактагычтын күндөлүгү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Температура, карыз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Көбөйтүү, бөлүү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Сан огу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Терс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Кошуу, кемитүү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Көбөйтүү, бөлүү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Белгилер эрежеси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Рационалдык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Амалдардын тартиби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 + 3 + 3 + 3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(−2) + (−2) + (−2)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−5ке карама-каршы сан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(−7) + 7 =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+ 3 + 3 + 3 =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(−2) + (−2) + (−2) =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−5ке карама-каршы сан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(−7) + 7 =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Мирлан байке: «(−4) × (−3) = 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Бекжан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Эки минус болсо,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жооп да минус: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−12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 × (−3) = −3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0 × (−3) = 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(−1) × (−3) = 3 … 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Үлгүнү улантып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эки түстүү капкак (+1 жана −1). 3 × (−4): 3 топ, ар биринде −4. (−3) × (−4) кантип?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03120"/>
            <a:ext cx="676656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3 × (−4): 3 топ, ар биринде 4 «−» капкак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14" name="Oval 13"/>
          <p:cNvSpPr/>
          <p:nvPr/>
        </p:nvSpPr>
        <p:spPr>
          <a:xfrm>
            <a:off x="1161288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15" name="Oval 14"/>
          <p:cNvSpPr/>
          <p:nvPr/>
        </p:nvSpPr>
        <p:spPr>
          <a:xfrm>
            <a:off x="1545336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16" name="Oval 15"/>
          <p:cNvSpPr/>
          <p:nvPr/>
        </p:nvSpPr>
        <p:spPr>
          <a:xfrm>
            <a:off x="1929384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606040"/>
            <a:ext cx="1645920" cy="493776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743200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19" name="Oval 18"/>
          <p:cNvSpPr/>
          <p:nvPr/>
        </p:nvSpPr>
        <p:spPr>
          <a:xfrm>
            <a:off x="3127248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20" name="Oval 19"/>
          <p:cNvSpPr/>
          <p:nvPr/>
        </p:nvSpPr>
        <p:spPr>
          <a:xfrm>
            <a:off x="3511296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21" name="Oval 20"/>
          <p:cNvSpPr/>
          <p:nvPr/>
        </p:nvSpPr>
        <p:spPr>
          <a:xfrm>
            <a:off x="3895344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0" y="2606040"/>
            <a:ext cx="1645920" cy="493776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09159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24" name="Oval 23"/>
          <p:cNvSpPr/>
          <p:nvPr/>
        </p:nvSpPr>
        <p:spPr>
          <a:xfrm>
            <a:off x="5093207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25" name="Oval 24"/>
          <p:cNvSpPr/>
          <p:nvPr/>
        </p:nvSpPr>
        <p:spPr>
          <a:xfrm>
            <a:off x="5477255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26" name="Oval 25"/>
          <p:cNvSpPr/>
          <p:nvPr/>
        </p:nvSpPr>
        <p:spPr>
          <a:xfrm>
            <a:off x="5861304" y="2697480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17720" y="2606040"/>
            <a:ext cx="1645920" cy="493776"/>
          </a:xfrm>
          <a:prstGeom prst="roundRect">
            <a:avLst>
              <a:gd name="adj" fmla="val 25000"/>
            </a:avLst>
          </a:prstGeom>
          <a:noFill/>
          <a:ln w="15875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200400"/>
            <a:ext cx="676656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12 «−» капкак  →  3 × (−4) = −12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703320"/>
            <a:ext cx="676656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(−3) × (−4): 12 нөл жуп, анан 3 жолу 4 «−» алып сал</a:t>
            </a:r>
          </a:p>
        </p:txBody>
      </p:sp>
      <p:sp>
        <p:nvSpPr>
          <p:cNvPr id="30" name="Oval 29"/>
          <p:cNvSpPr/>
          <p:nvPr/>
        </p:nvSpPr>
        <p:spPr>
          <a:xfrm>
            <a:off x="777240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31" name="Oval 30"/>
          <p:cNvSpPr/>
          <p:nvPr/>
        </p:nvSpPr>
        <p:spPr>
          <a:xfrm>
            <a:off x="777240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40664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740664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252728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35" name="Oval 34"/>
          <p:cNvSpPr/>
          <p:nvPr/>
        </p:nvSpPr>
        <p:spPr>
          <a:xfrm>
            <a:off x="1252728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216152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216152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1728216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39" name="Oval 38"/>
          <p:cNvSpPr/>
          <p:nvPr/>
        </p:nvSpPr>
        <p:spPr>
          <a:xfrm>
            <a:off x="1728216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691640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1691640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Oval 41"/>
          <p:cNvSpPr/>
          <p:nvPr/>
        </p:nvSpPr>
        <p:spPr>
          <a:xfrm>
            <a:off x="2203704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43" name="Oval 42"/>
          <p:cNvSpPr/>
          <p:nvPr/>
        </p:nvSpPr>
        <p:spPr>
          <a:xfrm>
            <a:off x="2203704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2167128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167128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Oval 45"/>
          <p:cNvSpPr/>
          <p:nvPr/>
        </p:nvSpPr>
        <p:spPr>
          <a:xfrm>
            <a:off x="2679192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47" name="Oval 46"/>
          <p:cNvSpPr/>
          <p:nvPr/>
        </p:nvSpPr>
        <p:spPr>
          <a:xfrm>
            <a:off x="2679192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642616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642616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3154680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51" name="Oval 50"/>
          <p:cNvSpPr/>
          <p:nvPr/>
        </p:nvSpPr>
        <p:spPr>
          <a:xfrm>
            <a:off x="3154680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3118104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3118104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3630168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55" name="Oval 54"/>
          <p:cNvSpPr/>
          <p:nvPr/>
        </p:nvSpPr>
        <p:spPr>
          <a:xfrm>
            <a:off x="3630168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593592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3593592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4105656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59" name="Oval 58"/>
          <p:cNvSpPr/>
          <p:nvPr/>
        </p:nvSpPr>
        <p:spPr>
          <a:xfrm>
            <a:off x="4105656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069080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069080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4581144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63" name="Oval 62"/>
          <p:cNvSpPr/>
          <p:nvPr/>
        </p:nvSpPr>
        <p:spPr>
          <a:xfrm>
            <a:off x="4581144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544568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4544568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5056631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67" name="Oval 66"/>
          <p:cNvSpPr/>
          <p:nvPr/>
        </p:nvSpPr>
        <p:spPr>
          <a:xfrm>
            <a:off x="5056631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020055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5020055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Oval 69"/>
          <p:cNvSpPr/>
          <p:nvPr/>
        </p:nvSpPr>
        <p:spPr>
          <a:xfrm>
            <a:off x="5532120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71" name="Oval 70"/>
          <p:cNvSpPr/>
          <p:nvPr/>
        </p:nvSpPr>
        <p:spPr>
          <a:xfrm>
            <a:off x="5532120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495544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5495544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6007608" y="4206240"/>
            <a:ext cx="310896" cy="310896"/>
          </a:xfrm>
          <a:prstGeom prst="ellipse">
            <a:avLst/>
          </a:prstGeom>
          <a:solidFill>
            <a:srgbClr val="B5E2D3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+</a:t>
            </a:r>
          </a:p>
        </p:txBody>
      </p:sp>
      <p:sp>
        <p:nvSpPr>
          <p:cNvPr id="75" name="Oval 74"/>
          <p:cNvSpPr/>
          <p:nvPr/>
        </p:nvSpPr>
        <p:spPr>
          <a:xfrm>
            <a:off x="6007608" y="4590288"/>
            <a:ext cx="310896" cy="310896"/>
          </a:xfrm>
          <a:prstGeom prst="ellipse">
            <a:avLst/>
          </a:prstGeom>
          <a:solidFill>
            <a:srgbClr val="F5E9E0"/>
          </a:solidFill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−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5971032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 flipV="1">
            <a:off x="5971032" y="4553712"/>
            <a:ext cx="384048" cy="384047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548640" y="5074920"/>
            <a:ext cx="6766560" cy="38404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007A5A"/>
                </a:solidFill>
                <a:latin typeface="PT Sans"/>
              </a:rPr>
              <a:t>12 «+» калды  →  (−3) × (−4) = 12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63840" y="2148840"/>
            <a:ext cx="3886200" cy="3429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20" y="2240280"/>
            <a:ext cx="3566160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12 капкак: +1 (бир түс)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12 капкак: −1 (башка түс)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 кагаз табак (топтор)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«+» жана «−» = 0 (нөл жуп)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«−3 топ» = 3 топту алып сал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сан огу жана үлгү таблицасы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3 × (−2): сан огунда 3 секирик, ар бири −2. Үлгүнү улантып, белгилер эрежесин тап.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3 × (−2) =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54680" y="2157984"/>
            <a:ext cx="868680" cy="347472"/>
          </a:xfrm>
          <a:prstGeom prst="rect">
            <a:avLst/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1F2430"/>
                </a:solidFill>
                <a:latin typeface="PT Sans"/>
              </a:rPr>
              <a:t>−6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56032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2 × (−2) =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54680" y="2615184"/>
            <a:ext cx="868680" cy="347472"/>
          </a:xfrm>
          <a:prstGeom prst="rect">
            <a:avLst/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331720"/>
            <a:ext cx="731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01752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1 × (−2) =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54680" y="3072384"/>
            <a:ext cx="868680" cy="347472"/>
          </a:xfrm>
          <a:prstGeom prst="rect">
            <a:avLst/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2788920"/>
            <a:ext cx="731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+2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47472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0 × (−2) =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54680" y="3529584"/>
            <a:ext cx="868680" cy="347472"/>
          </a:xfrm>
          <a:prstGeom prst="rect">
            <a:avLst/>
          </a:prstGeom>
          <a:solidFill>
            <a:srgbClr val="FFFFFF"/>
          </a:solidFill>
          <a:ln w="15240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3246120"/>
            <a:ext cx="731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+2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(−1) × (−2) =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3986783"/>
            <a:ext cx="868680" cy="347472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3703320"/>
            <a:ext cx="731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+2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38912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(−2) × (−2) =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54680" y="4443983"/>
            <a:ext cx="868680" cy="347472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160520"/>
            <a:ext cx="731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+2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846320"/>
            <a:ext cx="237744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(−3) × (−2) =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54680" y="4901183"/>
            <a:ext cx="868680" cy="347472"/>
          </a:xfrm>
          <a:prstGeom prst="rect">
            <a:avLst/>
          </a:prstGeom>
          <a:solidFill>
            <a:srgbClr val="B5E2D3"/>
          </a:solidFill>
          <a:ln w="1524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9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14800" y="4617720"/>
            <a:ext cx="731520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+2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321807"/>
            <a:ext cx="4389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Көбөйтүүчү 1ге азайса, жооп 2ге чоңоёт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394960" y="3794760"/>
            <a:ext cx="6309359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5486400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257800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−8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869305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640705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−7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252210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023610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−6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635115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06515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−5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18020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789420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400925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172325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783829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555229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−2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166734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7938134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−1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8549640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8321040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932545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8703945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1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9315450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086850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2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698355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469755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0081259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9852659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0464165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10235565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847069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618469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1229975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11001375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1612880" y="3712464"/>
            <a:ext cx="0" cy="164592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11384280" y="3904488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1F2430"/>
                </a:solidFill>
                <a:latin typeface="PT Sans"/>
              </a:rPr>
              <a:t>8</a:t>
            </a:r>
          </a:p>
        </p:txBody>
      </p:sp>
      <p:sp>
        <p:nvSpPr>
          <p:cNvPr id="68" name="Left Arrow 67"/>
          <p:cNvSpPr/>
          <p:nvPr/>
        </p:nvSpPr>
        <p:spPr>
          <a:xfrm>
            <a:off x="7811261" y="3291840"/>
            <a:ext cx="710945" cy="237744"/>
          </a:xfrm>
          <a:prstGeom prst="leftArrow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783829" y="2926080"/>
            <a:ext cx="765809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−2</a:t>
            </a:r>
          </a:p>
        </p:txBody>
      </p:sp>
      <p:sp>
        <p:nvSpPr>
          <p:cNvPr id="70" name="Left Arrow 69"/>
          <p:cNvSpPr/>
          <p:nvPr/>
        </p:nvSpPr>
        <p:spPr>
          <a:xfrm>
            <a:off x="7045452" y="3291840"/>
            <a:ext cx="710945" cy="237744"/>
          </a:xfrm>
          <a:prstGeom prst="leftArrow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018020" y="2926080"/>
            <a:ext cx="765809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−2</a:t>
            </a:r>
          </a:p>
        </p:txBody>
      </p:sp>
      <p:sp>
        <p:nvSpPr>
          <p:cNvPr id="72" name="Left Arrow 71"/>
          <p:cNvSpPr/>
          <p:nvPr/>
        </p:nvSpPr>
        <p:spPr>
          <a:xfrm>
            <a:off x="6279642" y="3291840"/>
            <a:ext cx="710945" cy="237744"/>
          </a:xfrm>
          <a:prstGeom prst="leftArrow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52210" y="2926080"/>
            <a:ext cx="765809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−2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8577072" y="4251960"/>
            <a:ext cx="710945" cy="237744"/>
          </a:xfrm>
          <a:prstGeom prst="rightArrow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ight Arrow 74"/>
          <p:cNvSpPr/>
          <p:nvPr/>
        </p:nvSpPr>
        <p:spPr>
          <a:xfrm>
            <a:off x="9342882" y="4251960"/>
            <a:ext cx="710945" cy="237744"/>
          </a:xfrm>
          <a:prstGeom prst="rightArrow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ight Arrow 75"/>
          <p:cNvSpPr/>
          <p:nvPr/>
        </p:nvSpPr>
        <p:spPr>
          <a:xfrm>
            <a:off x="10108691" y="4251960"/>
            <a:ext cx="710945" cy="237744"/>
          </a:xfrm>
          <a:prstGeom prst="rightArrow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303520" y="2103120"/>
            <a:ext cx="6400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3 × (−2) = −6: 3 секирик, ар бири −2 (солго)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03520" y="4480560"/>
            <a:ext cx="6400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(−3) × (−2) = 6: карама-каршы багыт (оңго)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303520" y="493776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Терс көбөйтүүчү багытты карама-каршы кылат.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+ × + = +      + × − = −      − × + = −      − × − = +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906524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− × − = 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Бирдей белги → оң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3 × 4 = 12;  (−3) × (−4) = 12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2336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297680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74436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+ × − = 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Ар түрдүү → терс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3 × (−4) = −12;  (−3) × 4 = −12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165592" y="1371600"/>
            <a:ext cx="3593592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42348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2377440"/>
            <a:ext cx="3410712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 : b = 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57032" y="3063240"/>
            <a:ext cx="3410712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Бөлүү: c × b =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3566160"/>
            <a:ext cx="3319272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(−12) : 3 = −4, анткени 3 × (−4) = −12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(−5) × (−6) = 30;    (−30) : 5 = −6;    30 : (−6) = −5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Деңгээл 6 күн бою күнүнө 3 см төмөндөдү. Жалпы өзгөрүү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6 × (−3)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(−3) + (−3) + … + (−3)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6 топ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−18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Өзгөрүү = </a:t>
            </a:r>
            <a:r>
              <a:rPr sz="3400" b="1">
                <a:solidFill>
                  <a:srgbClr val="24418C"/>
                </a:solidFill>
                <a:latin typeface="PT Sans"/>
              </a:rPr>
              <a:t>−18 см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Түнкүсүн 5 саатта температура 15° төмөндөдү. Ар саатта бирдей болсо, саатына канча?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(−15) : 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?,  5 × ? = −15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−3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текшер: 5 × (−3) = −15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Саатына = </a:t>
            </a:r>
            <a:r>
              <a:rPr sz="3400" b="1">
                <a:solidFill>
                  <a:srgbClr val="24418C"/>
                </a:solidFill>
                <a:latin typeface="PT Sans"/>
              </a:rPr>
              <a:t>−3°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адегенде белги, анан сан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Адегенде белги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(−7) × (−6)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 × − → 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× 6 = 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Белгини чечип, анан сандарды көбөйт.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Терс сандарды сана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(−2) × 5 × (−1) × (−3)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терс → так → 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 × 5 × 1 × 3 = 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−30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Жуп болсо +, так болсо −.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Бөлүүнү көбөйтүү менен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(−56) : (−8)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(−8) × ? = −56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(−8) × 7 = −56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Бөлүү – көбөйтүүгө тескери амал.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Түшүн → ыкма → эркин эсеп. Ыкмаңды үн чыгарып айт: «Мен ... деп ойлодум».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(−4) × (−3) =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−12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−7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−1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Суу сактагычтын деңгээли 5 күн бою күнүнө 4 см төмөндөдү. Жалпы өзгөрүү канча?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Бир жумада (7 күн) деңгээл 28 см төмөндөдү. Ар күнү бирдей болсо, күнүнө канча?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Деңгээл күнүнө 5 см төмөндөйт. Бүгүн – 0. 3 күн мурун деңгээл кайда болгон?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Суу сактагычтын деңгээли 5 күн бою күнүнө 4 см төмөндөдү. Жалпы өзгөрүү канча?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5710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04492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73275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42057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−20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5 × (−4) = −20 см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Бир жумада (7 күн) деңгээл 28 см төмөндөдү. Ар күнү бирдей болсо, күнүнө канча?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19600" y="3017520"/>
            <a:ext cx="33484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54444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89289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24133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58978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3822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28667" y="3017520"/>
            <a:ext cx="334844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−28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(−28) : 7 = −4 см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Деңгээл күнүнө 5 см төмөндөйт. Бүгүн – 0. 3 күн мурун деңгээл кайда болгон?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2272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53576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34880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−5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−15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(−3) × (−5) = 15 см (жогору)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(−9) ×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(−8) × (−7)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(−54) : 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(−81) : (−9)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(−3) × (−5) × (−2)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Деңгээл 4 күндө 32 см төмөндөдү. Күнүнө?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(−9) ×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−36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(−8) × (−7)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(−54) : 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(−81) : (−9)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(−3) × (−5) × (−2)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−30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Деңгээл 4 күндө 32 см төмөндөдү. Күнүнө?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−8 см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Деңгээл күнүнө 3 см төмөндөйт (−3 см), бүгүн – 0. 6 күндөн кийин деңгээл кайда болот? 4 күн мурун кайда болгон?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6 күн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4236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0728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199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3712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0204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−3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−18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6 × (−3) = −18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6 күндөн кийин, см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(−4) × (−3) = 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4 күн мурун, см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12 + 4 × (−3) =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текшерүү: бүгүн 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6 күндөн кийин −18 см; 4 күн мурун +12 см.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Суу сактагыч, температура же карыз жөнүндө эки маселе түз: бири көбөйтүүгө, бири бөлүүгө.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Нурай, Бекжан, Мирлан байке.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(−6) × 4 =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(−45) : (−9) = 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Деңгээл күнүнө 2 см төмөндөйт, бүгүн 0. 3 күн мурун кайда болгон?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(−4) × (−3) оң? Үлгү же суу сактагыч менен түшүндүр.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Бөлүүнүн жообунун белгисин кантип билесиң?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Капкак, сан огу, үлгү: кайсынысы сага жардам берди?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эки түстүү капкак: бир түс +1, экинчиси −1; «нөл жуп» = 0.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a × b = a топ, ар биринде b: 3 × (−4) = 3 топ, ар биринде −4.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Терс × терс: адегенде үлгү таблицасы, анан окуя («4 күн мурун»).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Бөлүүнү дайыма көбөйтүү менен текшертиңиз (М5).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