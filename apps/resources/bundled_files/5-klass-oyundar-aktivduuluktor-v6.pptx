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файлда сабактын оюндары жана активдүүлүктөрү гана бар. Сабактын өзү өзүнчө презентацияда.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эреже бардык оюндарга тиешелүү. Упай ылдамдык үчүн эмес: туура жооп жана түшүндүрмө үчүн берилет. Убакыт чегин мен өзүм тандайм: класс жаңы теманы үйрөнүп жатса, убакытсыз ойнойбуз; бекемдөө учурунда 20 секунд же 1 мүнөт. Жай ойлонгон окуучу да туура жана түшүндүрүп, эң көп упай ала алат. Класс алдында ылдамдык боюнча тизме жок.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Сүрөт ↔ туюнтма (КСА: сүрөттөн санга). Командалар ар бир сүрөткө туура туюнтманы табышат жана эсептешет. Биринчи бүткөн жана баары туура болгон команда утат. Жооптору: A–3 (18), B–1 (11), C–5 (17), D–6 (18), E–4 (12), F–2 (4). Сураңыз: A менен D жооптору эмне үчүн бирдей?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Жооптор. Сүрөттөрдү талкуулаңыз: кайсы сүрөттө кашаа керек болду (D, F)? Кайсында даража (A, B, E)?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Оюн: Катаны тап. Окуучулар «мугалим» болушат. 2 мүнөт жеке, андан кийин жуп менен талкуу.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Ката 2-кадамда: (7 − 2) кашаада болушу керек. Кызыл 8 см болсо, көк 28 см болмок, айырма 20 см. 35 эмес.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1) 21  2) 30  3) 5  4) 30  5) 6. Туура жооп = гол (1 упай); туура жана түшүндүрдү = 2 упай. Ката болсо, дарбазачы катаны таап, туура айтса = сакталды (1 упай). Убакыт чеги – тандоо: жаңы темада убакытсыз, бекемдөөдө 20 секунд же 1 мүнөт.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секунд унчукпай ойлонуу, баш бармак көкүрөктө. Белги берилгенде бүт класс бир добуш менен. Жооптор ар түрдүү болсо, 2 окуучу түшүндүрөт. Туура түшүндүргөн окуучунун командасына 2 упай.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Жуп: А = айдоочу (эсептейт), Б = штурман (тилке модели менен текшерет). Ар тапшырмадан кийин ролдор алмашат. Упай: туура = 1, туура жана штурман түшүндүрдү = 2; убакыт чеги жок. Жооптор: 20, 5 | 8, 8 | Айпери 40, Эрлан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команда: Үч бурчтуктар жана Тегерекчелер. Туура жооп = 1 белги; туура жана түшүндүрдү (же татаал/эксперт суроо) = 2 белги. Убакыт чеги – тандоо. Жооптор: 3, 48, 14, 4 1/2, 88, 42, 10, (6 + 18) ÷ 3 ×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Тарсия, басып чыгаруу үчүн. Үч бурчтуктарды кесип, аралаштырып бериңиз. Ар бир ички жакта бир тарабында суроо, экинчи тарабында анын жообу турат. Сырткы жактар бош. Туура чогултулса, алты бурчтук болот. Жуптар: 20 − 12 ÷ 4 = 17; (20 − 12) ÷ 4 = 2; 3/5 × 15 + 2 = 11; 1/2 + 1/4 × 2 = 1; 25ти 2 : 3 катышында бөлгөндө чоңу 15; 36 ÷ (2 + 4) × 3 = 18. Ката болсо (мисалы 20 − 12 ÷ 4 = 2), окуучу жуп таба албай калат, ошондо «эмне үчүн?» деп сураңыз.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Жооптору: чогултулган алты бурчтук. Жашыл сызыктын бир тарабында суроо, экинчи тарабында анын жообу. Окуучулар ар бир жупту оозеки түшүндүрүшөт: «адегенде бөлүү, анан кемитүү, ошондуктан 17».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Бинго. Мугалим суроолорду кокус тартипте окуйт. Жооптор: 1) 18 2) 30 3) 5 4) 12 5) 4 6) 2 7) 7 8) 25 9) 6. Жеңүүчү белгиленген 3 суроонун чыгарылышын айтып бериши керек.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9 жоопту өз каалоосу менен торго жазышат, ошондуктан ар бир карта ар башка болот.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Алиппе мээ чабуулу, 4 мүнөт. Уникалдуу термин = 2 упай, бирдей = 1 упай, ★ тамгага +2. Үлгү жооптор: А айырма, алым; Б бирдик, бөлүү, бөлчөк; Д даража; Ж жалпы, жооп; И иш-аракет; К кашаа, кошуу, кемитүү, көбөйтүү, катыш; М маселе, модель; Н натыйжа; О ордун алмаштыруу; Ө өлчөм; П пропорция; С сан, салыштыруу; Т тилке модели, туюнтма, тартип; Ү үлүш; Ф формула; Ц цифра; Ч чыгаруу, чийме; Ш шарт; Ы ыкма; Э эсептөө, эсе.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Тилке эстафетасы. 4 кишилик топтор. Ар бир айлампада бир карточка: 1-оюнчу тилке чийет, 2-оюнчу туюнтма жазат, 3-оюнчу эсептейт, 4-оюнчу тилке менен текшерет. Ролдор ар айлампада алмашат. Мугалим «математика кыйын» дебейт: кыйналган топко «Эмне белгилүү? Эмне белгисиз?» деп сурайт.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Карточкаларды басып, кесиңиз. Ар бир топко айлампа сайын бир карточка. Бүткөн топ кошумча карточканы алат.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Жооптор. Ар бир топ өз тилкесин бул чиймелер менен салыштырат. Тилке башкача болсо да, бөлүктөр жана белгисиз туура болсо, упай берилет.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Кенч издөө. Ар бир жооп кийинки бекетте колдонулат. Жооптор: 1) 4 2) 8 3) 9 4) 15 5) 14. Финал: 14 кулпу кодун ачат. Бекеттер: эшик, 4-парта, текченин 8-орду, 9-конверт, 15-конверт.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Оюндар жана активдүүлүктөр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463040"/>
            <a:ext cx="1132941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D3557"/>
                </a:solidFill>
                <a:latin typeface="PT Sans"/>
              </a:rPr>
              <a:t>Амалдардын тартиби: оюн менен бышыктайбыз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28600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катыштар, бөлчөктөр жана КаДа – БөКө – КоКе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291840"/>
            <a:ext cx="556869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3931920"/>
            <a:ext cx="5568696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29768" y="3291840"/>
            <a:ext cx="556869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Класс оюндары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4114800"/>
            <a:ext cx="5029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Сүрөт ↔ туюнтма · Катаны тап · Футбол · Бат жооп · Рали · Төрттү бириктир · Тилке эстафетасы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291840"/>
            <a:ext cx="556869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6190488" y="3931920"/>
            <a:ext cx="5568696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90488" y="3291840"/>
            <a:ext cx="5568696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Басылма оюндар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7" y="4114800"/>
            <a:ext cx="5029200" cy="10972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Тарсия · Бинго · Алиппе мээ чабуулу · Кенч издөө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Упай кантип берилет?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эрежеси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325880"/>
            <a:ext cx="7315200" cy="804672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25880"/>
            <a:ext cx="51206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007A5A"/>
                </a:solidFill>
                <a:latin typeface="PT Sans"/>
              </a:rPr>
              <a:t>Туура жооп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19202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007A5A"/>
                </a:solidFill>
                <a:latin typeface="PT Sans"/>
              </a:rPr>
              <a:t>1 упай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2286000"/>
            <a:ext cx="7315200" cy="804672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286000"/>
            <a:ext cx="51206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Туура жана түшүндүрдү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2286000"/>
            <a:ext cx="19202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2 упай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46120"/>
            <a:ext cx="7315200" cy="804672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46120"/>
            <a:ext cx="51206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Катаны таап, оңдоду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3246120"/>
            <a:ext cx="192024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A84400"/>
                </a:solidFill>
                <a:latin typeface="PT Sans"/>
              </a:rPr>
              <a:t>1 упай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325880"/>
            <a:ext cx="375818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1371600"/>
            <a:ext cx="33832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«Түшүндүрдү» деген: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1874519"/>
            <a:ext cx="338328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• кайсы амал биринчи экенин айтты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• эмне үчүн экенин айтты (эреже, тилке же окуя)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700" b="0" i="0">
                <a:solidFill>
                  <a:srgbClr val="1F2430"/>
                </a:solidFill>
                <a:latin typeface="PT Sans"/>
              </a:rPr>
              <a:t>• жубу же командасы түшүндү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4343400"/>
            <a:ext cx="11329416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89120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D3557"/>
                </a:solidFill>
                <a:latin typeface="PT Sans"/>
              </a:rPr>
              <a:t>Убакыт чеги – тандоо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789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Мугалим тандайт: убакытсыз · 1 мүнөт · 20 секунд. Жаңы темада убакытсыз ойнойбуз.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800" b="0" i="0">
                <a:solidFill>
                  <a:srgbClr val="1F2430"/>
                </a:solidFill>
                <a:latin typeface="PT Sans"/>
              </a:rPr>
              <a:t>Ар ким өзүнүн мурунку жыйынтыгы менен салыштырат; ылдамдык боюнча тизме жок.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Сүрөт ↔ туюнтма: жупташтыр!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Сүрөт ↔ туюнтма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49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700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81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700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1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700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1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280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414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9280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6712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414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9280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6712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414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08152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19125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67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0416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1596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767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0416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1596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767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0416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1596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2744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0176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73328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84301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53327" y="2194560"/>
            <a:ext cx="59436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476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048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620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976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3949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2688" y="42976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64208" y="42976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32688" y="47548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64208" y="47548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8152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319125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90448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7880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45312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72744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90448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7880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45312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72744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0448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7880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5312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2744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0448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7880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5312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2744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573328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84301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007607" y="4709160"/>
            <a:ext cx="658368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65975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434071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77" name="Connector 76"/>
          <p:cNvCxnSpPr/>
          <p:nvPr/>
        </p:nvCxnSpPr>
        <p:spPr>
          <a:xfrm flipV="1">
            <a:off x="6007607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7818119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6007607" y="4526280"/>
            <a:ext cx="1810512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541263" y="41148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20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03920" y="1234440"/>
            <a:ext cx="3255264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503920" y="1280160"/>
            <a:ext cx="325526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Туюнтмалар</a:t>
            </a:r>
          </a:p>
        </p:txBody>
      </p:sp>
      <p:sp>
        <p:nvSpPr>
          <p:cNvPr id="83" name="Oval 82"/>
          <p:cNvSpPr/>
          <p:nvPr/>
        </p:nvSpPr>
        <p:spPr>
          <a:xfrm>
            <a:off x="8686800" y="18745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89720" y="178308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3² + 2</a:t>
            </a:r>
          </a:p>
        </p:txBody>
      </p:sp>
      <p:sp>
        <p:nvSpPr>
          <p:cNvPr id="85" name="Oval 84"/>
          <p:cNvSpPr/>
          <p:nvPr/>
        </p:nvSpPr>
        <p:spPr>
          <a:xfrm>
            <a:off x="8686800" y="2542032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89720" y="2450591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(20 − 8) ÷ 3</a:t>
            </a:r>
          </a:p>
        </p:txBody>
      </p:sp>
      <p:sp>
        <p:nvSpPr>
          <p:cNvPr id="87" name="Oval 86"/>
          <p:cNvSpPr/>
          <p:nvPr/>
        </p:nvSpPr>
        <p:spPr>
          <a:xfrm>
            <a:off x="8686800" y="3209544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189720" y="3118104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3²</a:t>
            </a:r>
          </a:p>
        </p:txBody>
      </p:sp>
      <p:sp>
        <p:nvSpPr>
          <p:cNvPr id="89" name="Oval 88"/>
          <p:cNvSpPr/>
          <p:nvPr/>
        </p:nvSpPr>
        <p:spPr>
          <a:xfrm>
            <a:off x="8686800" y="3877055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89720" y="3785615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4² − 2²</a:t>
            </a:r>
          </a:p>
        </p:txBody>
      </p:sp>
      <p:sp>
        <p:nvSpPr>
          <p:cNvPr id="91" name="Oval 90"/>
          <p:cNvSpPr/>
          <p:nvPr/>
        </p:nvSpPr>
        <p:spPr>
          <a:xfrm>
            <a:off x="8686800" y="454456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89720" y="4453128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+ 3 × 4</a:t>
            </a:r>
          </a:p>
        </p:txBody>
      </p:sp>
      <p:sp>
        <p:nvSpPr>
          <p:cNvPr id="93" name="Oval 92"/>
          <p:cNvSpPr/>
          <p:nvPr/>
        </p:nvSpPr>
        <p:spPr>
          <a:xfrm>
            <a:off x="8686800" y="521207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89720" y="512064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(4 + 5)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29768" y="5925312"/>
            <a:ext cx="7818120" cy="347472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Ар бир сүрөткө туюнтма тап жана эсепте: A – ?, B – ? …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Сүрөт ↔ туюнтма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3949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0700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81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268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0700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81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3268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700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481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89280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7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4414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9280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67127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4414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9280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167127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4414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04088" y="29718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2 × 3² = 18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8152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19125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4164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15968" y="19202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6732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04164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21945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76732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4164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5968" y="24688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72744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01768" y="2468880"/>
            <a:ext cx="274320" cy="274320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355848" y="29718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3² + 2 = 11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733288" y="123444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43016" y="134416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53327" y="2194560"/>
            <a:ext cx="594360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476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048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62088" y="2194560"/>
            <a:ext cx="457200" cy="41148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007607" y="297180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5 + 3 × 4 = 17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3949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32688" y="42976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664208" y="42976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32688" y="4754880"/>
            <a:ext cx="731520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664208" y="4754880"/>
            <a:ext cx="91440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4088" y="53492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2 × (4 + 5) = 18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8152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319125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90448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78808" y="416052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45312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727448" y="416052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390448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78808" y="443484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5312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727448" y="4434840"/>
            <a:ext cx="274320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90448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17880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45312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727448" y="470916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90448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17880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45312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727448" y="4983480"/>
            <a:ext cx="274320" cy="274320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3355848" y="53492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4² − 2² = 12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733288" y="361188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843016" y="3721608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F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07607" y="4709160"/>
            <a:ext cx="658368" cy="41148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65975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050023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434071" y="4709160"/>
            <a:ext cx="384048" cy="41148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6007607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7818119" y="4526280"/>
            <a:ext cx="0" cy="13716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6007607" y="4526280"/>
            <a:ext cx="1810512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541263" y="41148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D3557"/>
                </a:solidFill>
                <a:latin typeface="PT Sans"/>
              </a:rPr>
              <a:t>20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07607" y="534924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(20 − 8) ÷ 3 = 4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503920" y="1234440"/>
            <a:ext cx="3255264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503920" y="1280160"/>
            <a:ext cx="325526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Туюнтмалар</a:t>
            </a:r>
          </a:p>
        </p:txBody>
      </p:sp>
      <p:sp>
        <p:nvSpPr>
          <p:cNvPr id="89" name="Oval 88"/>
          <p:cNvSpPr/>
          <p:nvPr/>
        </p:nvSpPr>
        <p:spPr>
          <a:xfrm>
            <a:off x="8686800" y="18745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89720" y="178308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3² + 2</a:t>
            </a:r>
          </a:p>
        </p:txBody>
      </p:sp>
      <p:sp>
        <p:nvSpPr>
          <p:cNvPr id="91" name="Oval 90"/>
          <p:cNvSpPr/>
          <p:nvPr/>
        </p:nvSpPr>
        <p:spPr>
          <a:xfrm>
            <a:off x="8686800" y="2542032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189720" y="2450591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(20 − 8) ÷ 3</a:t>
            </a:r>
          </a:p>
        </p:txBody>
      </p:sp>
      <p:sp>
        <p:nvSpPr>
          <p:cNvPr id="93" name="Oval 92"/>
          <p:cNvSpPr/>
          <p:nvPr/>
        </p:nvSpPr>
        <p:spPr>
          <a:xfrm>
            <a:off x="8686800" y="3209544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189720" y="3118104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3²</a:t>
            </a:r>
          </a:p>
        </p:txBody>
      </p:sp>
      <p:sp>
        <p:nvSpPr>
          <p:cNvPr id="95" name="Oval 94"/>
          <p:cNvSpPr/>
          <p:nvPr/>
        </p:nvSpPr>
        <p:spPr>
          <a:xfrm>
            <a:off x="8686800" y="3877055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89720" y="3785615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4² − 2²</a:t>
            </a:r>
          </a:p>
        </p:txBody>
      </p:sp>
      <p:sp>
        <p:nvSpPr>
          <p:cNvPr id="97" name="Oval 96"/>
          <p:cNvSpPr/>
          <p:nvPr/>
        </p:nvSpPr>
        <p:spPr>
          <a:xfrm>
            <a:off x="8686800" y="4544568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89720" y="4453128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 + 3 × 4</a:t>
            </a:r>
          </a:p>
        </p:txBody>
      </p:sp>
      <p:sp>
        <p:nvSpPr>
          <p:cNvPr id="99" name="Oval 98"/>
          <p:cNvSpPr/>
          <p:nvPr/>
        </p:nvSpPr>
        <p:spPr>
          <a:xfrm>
            <a:off x="8686800" y="521207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189720" y="5120640"/>
            <a:ext cx="246888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(4 + 5)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сенсиң!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Катаны тап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Кызыл жана көк лентанын катышы 2 : 7. Көк лента кызылдан 35 см узун. Кызыл лента канча?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97480"/>
            <a:ext cx="603504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34640"/>
            <a:ext cx="566928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1) Кызыл = 2 бирдик, Көк = 7 бирдик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2) 2 × 35 ÷ 7 − 2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3) 2 × 35 = 70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4) 70 ÷ 7 = 10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5) 10 − 2 = 8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Жооп: 8 см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37744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280"/>
                </a:solidFill>
                <a:latin typeface="PT Sans"/>
              </a:rPr>
              <a:t>Тилектин чыгаруусу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2697480"/>
            <a:ext cx="411480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360" y="2880360"/>
            <a:ext cx="3749039" cy="3017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1. Катаны тап.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[Талдоо]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900" b="1" i="0">
                <a:solidFill>
                  <a:srgbClr val="1F2430"/>
                </a:solidFill>
                <a:latin typeface="PT Sans"/>
              </a:rPr>
              <a:t>2. Жооп акылга сыярлыкпы? Тилекке түшүндүр.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[Баалоо]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</a:pPr>
            <a:r>
              <a:rPr sz="1900" b="1" i="0">
                <a:solidFill>
                  <a:srgbClr val="1F2430"/>
                </a:solidFill>
                <a:latin typeface="PT Sans"/>
              </a:rPr>
              <a:t>3. Туура чыгар.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[Колдонуу]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Ката кайда?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 · Катаны тап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74519"/>
            <a:ext cx="4754880" cy="11887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0" i="0">
                <a:solidFill>
                  <a:srgbClr val="1F2430"/>
                </a:solidFill>
                <a:latin typeface="PT Sans"/>
              </a:rPr>
              <a:t>2 × 35 ÷ 7 − 2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1737360"/>
            <a:ext cx="5029200" cy="1463040"/>
          </a:xfrm>
          <a:prstGeom prst="ellipse">
            <a:avLst/>
          </a:prstGeom>
          <a:noFill/>
          <a:ln w="381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011680"/>
            <a:ext cx="51206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Кашаа жок! Айырма (7 − 2) = 5 бирдик болушу керек.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6616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007A5A"/>
                </a:solidFill>
                <a:latin typeface="PT Sans"/>
              </a:rPr>
              <a:t>2 × 35 ÷ (7 − 2) = 70 ÷ 5 = 14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754880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Кызыл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4754880"/>
            <a:ext cx="5486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4754880"/>
            <a:ext cx="5486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5303520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Көк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3464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5303520"/>
            <a:ext cx="5486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383280" y="5806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126480" y="5806440"/>
            <a:ext cx="0" cy="13716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383280" y="5943600"/>
            <a:ext cx="2743200" cy="0"/>
          </a:xfrm>
          <a:prstGeom prst="line">
            <a:avLst/>
          </a:prstGeom>
          <a:ln w="22225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0" y="598932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35 см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846320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007A5A"/>
                </a:solidFill>
                <a:latin typeface="PT Sans"/>
              </a:rPr>
              <a:t>Текшерүү: 1 бирдик = 7 см, көк = 49 см, 49 − 14 = 35 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Пенальти сериясы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Футбол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188720"/>
            <a:ext cx="10515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6B7280"/>
                </a:solidFill>
                <a:latin typeface="PT Sans"/>
              </a:rPr>
              <a:t>Убакыт чеги – тандоо (20 сек., 1 мүн. же убакытсыз). Туура = 1, туура жана түшүндүрдү = 2. Дарбазачы оңдосо: «Сакталды!»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37744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80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9 + 6 ×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4231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17720" y="237744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80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(9 + 6) ×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57800" y="24231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19456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29600" y="237744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288036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1" i="0">
                <a:solidFill>
                  <a:srgbClr val="1F2430"/>
                </a:solidFill>
                <a:latin typeface="PT Sans"/>
              </a:rPr>
              <a:t>2/5 × 20 − 3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42316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43434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84632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Катыш 2 : 5, жалпы 42. Чоң бөлүгү?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3891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Талдоо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17720" y="43434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846320"/>
            <a:ext cx="301752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1/3 × (14 − 5) + 1/2 × 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4389120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Колдонуу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Үч бурчтуктар</a:t>
            </a:r>
          </a:p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—  :  —</a:t>
            </a:r>
          </a:p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Тегерекчелер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Бүт класс бир добуш менен!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Бат жооп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8 + 2 ×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788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Биринчи кайсы амал? Жооп?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23360" y="32004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Эстөө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1/2 × 10 + 1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8892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Жооп канча?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320040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Колдонуу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3192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1480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1 :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920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Кичинеси 7. Чоңу канча?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23360" y="530352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Түшүнүү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931920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114800"/>
            <a:ext cx="45720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 i="0">
                <a:solidFill>
                  <a:srgbClr val="A84400"/>
                </a:solidFill>
                <a:latin typeface="PT Sans"/>
              </a:rPr>
              <a:t>2 + 3 × 4 = 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92040"/>
            <a:ext cx="45720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Кашааны кайда коёбуз?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5303520"/>
            <a:ext cx="1737360" cy="347472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D3557"/>
                </a:solidFill>
                <a:latin typeface="PT Sans"/>
              </a:rPr>
              <a:t>Блум: Талдоо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Жуп менен үч деңгээл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Рали жарышы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08960"/>
            <a:ext cx="3291840" cy="548640"/>
          </a:xfrm>
          <a:prstGeom prst="roundRect">
            <a:avLst>
              <a:gd name="adj" fmla="val 3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10896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PT Sans"/>
              </a:rPr>
              <a:t>1. Тоо этеги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94760"/>
            <a:ext cx="32918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931920"/>
            <a:ext cx="2926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50 − 5 × 6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(50 − 5) ÷ 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468880"/>
            <a:ext cx="3291840" cy="548640"/>
          </a:xfrm>
          <a:prstGeom prst="roundRect">
            <a:avLst>
              <a:gd name="adj" fmla="val 3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46888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PT Sans"/>
              </a:rPr>
              <a:t>2. Ашуу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154680"/>
            <a:ext cx="32918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2926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5/6 × 12 − 4 ÷ 2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Катыш 3 : 4, жалпы 56. Айырмасы?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828800"/>
            <a:ext cx="3291840" cy="548640"/>
          </a:xfrm>
          <a:prstGeom prst="roundRect">
            <a:avLst>
              <a:gd name="adj" fmla="val 3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1828800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FFFFFF"/>
                </a:solidFill>
                <a:latin typeface="PT Sans"/>
              </a:rPr>
              <a:t>3. Чоку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2514600"/>
            <a:ext cx="3291840" cy="3154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9" y="2651760"/>
            <a:ext cx="2926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Айпери : Эрлан = 5 : 3. Айпери 8 стикер берсе, теңелет. Башында канчадан?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 (7 − 2) × 6 = 30 үчүн өз маселеңди түз  [Түзүү]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Ката болсо: «техникалык тыныгуу», катаны өзүңөр табасыңар. Утуш тездик үчүн эмес, катасыз бүтүргөнгө.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8 суроо: жеңилден экспертке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Төрттү бириктир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1 · Жеңил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15 − 3 × 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2 · Жеңил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(15 − 3) ×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· Орто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3/8 × 24 + 5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15400" y="178308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187451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4 · Орто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24028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100 ÷ (4 × 5) − 1/2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5 · Татаал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Марка 3 : 8, айырма 40. Экөөндө бирге?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2044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6 · Татаал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Жаңыл = Мирландын 2/5 бөлүгү, айырма 18. Бирге?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7 · Эксперт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Кызыл : жашыл = 4 : 5. +12 кызыл → 2 : 1. Башында жашыл?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3931920"/>
            <a:ext cx="251460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023359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8 · Эксперт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389120"/>
            <a:ext cx="2240280" cy="14173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Кашаа кой: 6 + 18 ÷ 3 × 2 = 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Тарсия: кесип, жанаштыр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Тарсия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115568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6B7280"/>
                </a:solidFill>
                <a:latin typeface="PT Sans"/>
              </a:rPr>
              <a:t>Суроо жазылган жакты анын жообу жазылган жак менен жанаштыр. Алты бурчтук чыгат!</a:t>
            </a:r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1211580" y="2156352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211580" y="2156352"/>
            <a:ext cx="1874519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2148840" y="2156352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 rot="3600000">
            <a:off x="1026730" y="27028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1/2 + 1/4 × 2</a:t>
            </a:r>
          </a:p>
        </p:txBody>
      </p:sp>
      <p:sp>
        <p:nvSpPr>
          <p:cNvPr id="13" name="TextBox 12"/>
          <p:cNvSpPr txBox="1"/>
          <p:nvPr/>
        </p:nvSpPr>
        <p:spPr>
          <a:xfrm rot="18000000">
            <a:off x="1583881" y="27028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Oval 13"/>
          <p:cNvSpPr/>
          <p:nvPr/>
        </p:nvSpPr>
        <p:spPr>
          <a:xfrm>
            <a:off x="1965960" y="25146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В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5143500" y="3238607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143500" y="1615225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80760" y="1615225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37226" y="2863703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20 − 12 ÷ 4</a:t>
            </a:r>
          </a:p>
        </p:txBody>
      </p:sp>
      <p:sp>
        <p:nvSpPr>
          <p:cNvPr id="19" name="TextBox 18"/>
          <p:cNvSpPr txBox="1"/>
          <p:nvPr/>
        </p:nvSpPr>
        <p:spPr>
          <a:xfrm rot="3600000">
            <a:off x="5515801" y="2381196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5897880" y="25146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Г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9075419" y="2156352"/>
            <a:ext cx="937261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75419" y="2156352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10012680" y="2156352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 rot="3600000">
            <a:off x="8890570" y="2702867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36 ÷ (2 + 4) × 3</a:t>
            </a:r>
          </a:p>
        </p:txBody>
      </p:sp>
      <p:sp>
        <p:nvSpPr>
          <p:cNvPr id="25" name="TextBox 24"/>
          <p:cNvSpPr txBox="1"/>
          <p:nvPr/>
        </p:nvSpPr>
        <p:spPr>
          <a:xfrm rot="18000000">
            <a:off x="9447721" y="27028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26" name="Oval 25"/>
          <p:cNvSpPr/>
          <p:nvPr/>
        </p:nvSpPr>
        <p:spPr>
          <a:xfrm>
            <a:off x="9829799" y="25146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Б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211580" y="5753207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211580" y="4129825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148839" y="4129825"/>
            <a:ext cx="937261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305306" y="5378303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(20 − 12) ÷ 4</a:t>
            </a:r>
          </a:p>
        </p:txBody>
      </p:sp>
      <p:sp>
        <p:nvSpPr>
          <p:cNvPr id="31" name="TextBox 30"/>
          <p:cNvSpPr txBox="1"/>
          <p:nvPr/>
        </p:nvSpPr>
        <p:spPr>
          <a:xfrm rot="3600000">
            <a:off x="1583881" y="4895796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32" name="Oval 31"/>
          <p:cNvSpPr/>
          <p:nvPr/>
        </p:nvSpPr>
        <p:spPr>
          <a:xfrm>
            <a:off x="1965960" y="50292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5143500" y="4670952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143500" y="4670952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080760" y="4670952"/>
            <a:ext cx="937260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 rot="3600000">
            <a:off x="4958650" y="5217467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25ти 2 : 3 бөл. Чоңу?</a:t>
            </a:r>
          </a:p>
        </p:txBody>
      </p:sp>
      <p:sp>
        <p:nvSpPr>
          <p:cNvPr id="37" name="TextBox 36"/>
          <p:cNvSpPr txBox="1"/>
          <p:nvPr/>
        </p:nvSpPr>
        <p:spPr>
          <a:xfrm rot="18000000">
            <a:off x="5515801" y="5217467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38" name="Oval 37"/>
          <p:cNvSpPr/>
          <p:nvPr/>
        </p:nvSpPr>
        <p:spPr>
          <a:xfrm>
            <a:off x="5897880" y="50292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075419" y="4670952"/>
            <a:ext cx="1874520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012680" y="4670952"/>
            <a:ext cx="937259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 flipV="1">
            <a:off x="9075419" y="4670952"/>
            <a:ext cx="937261" cy="162338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 rot="0">
            <a:off x="9169146" y="4734960"/>
            <a:ext cx="1687067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3/5 × 15 + 2</a:t>
            </a:r>
          </a:p>
        </p:txBody>
      </p:sp>
      <p:sp>
        <p:nvSpPr>
          <p:cNvPr id="43" name="TextBox 42"/>
          <p:cNvSpPr txBox="1"/>
          <p:nvPr/>
        </p:nvSpPr>
        <p:spPr>
          <a:xfrm rot="3600000">
            <a:off x="8890570" y="5217467"/>
            <a:ext cx="1687068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44" name="Oval 43"/>
          <p:cNvSpPr/>
          <p:nvPr/>
        </p:nvSpPr>
        <p:spPr>
          <a:xfrm>
            <a:off x="9829800" y="5029200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Е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Тарсия: жооптору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Тарсия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3429000" y="1234439"/>
            <a:ext cx="0" cy="25146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429000" y="1234439"/>
            <a:ext cx="2177707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29000" y="2491739"/>
            <a:ext cx="2177707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 rot="5400000">
            <a:off x="2516886" y="2336291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20 − 12 ÷ 4</a:t>
            </a:r>
          </a:p>
        </p:txBody>
      </p:sp>
      <p:sp>
        <p:nvSpPr>
          <p:cNvPr id="12" name="TextBox 11"/>
          <p:cNvSpPr txBox="1"/>
          <p:nvPr/>
        </p:nvSpPr>
        <p:spPr>
          <a:xfrm rot="19800000">
            <a:off x="3276555" y="27748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3" name="Oval 12"/>
          <p:cNvSpPr/>
          <p:nvPr/>
        </p:nvSpPr>
        <p:spPr>
          <a:xfrm>
            <a:off x="3972022" y="23088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Г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3429000" y="2491739"/>
            <a:ext cx="2177707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606707" y="2491739"/>
            <a:ext cx="0" cy="251460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 flipV="1">
            <a:off x="3429000" y="3749039"/>
            <a:ext cx="2177707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 rot="19800000">
            <a:off x="3496011" y="31549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(20 − 12) ÷ 4</a:t>
            </a:r>
          </a:p>
        </p:txBody>
      </p:sp>
      <p:sp>
        <p:nvSpPr>
          <p:cNvPr id="18" name="TextBox 17"/>
          <p:cNvSpPr txBox="1"/>
          <p:nvPr/>
        </p:nvSpPr>
        <p:spPr>
          <a:xfrm rot="1800000">
            <a:off x="3496011" y="40321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11</a:t>
            </a:r>
          </a:p>
        </p:txBody>
      </p:sp>
      <p:sp>
        <p:nvSpPr>
          <p:cNvPr id="19" name="Oval 18"/>
          <p:cNvSpPr/>
          <p:nvPr/>
        </p:nvSpPr>
        <p:spPr>
          <a:xfrm>
            <a:off x="4697924" y="35661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29000" y="3749039"/>
            <a:ext cx="2177707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429000" y="5006340"/>
            <a:ext cx="2177707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3429000" y="3749039"/>
            <a:ext cx="0" cy="25146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 rot="1800000">
            <a:off x="3276555" y="44122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3/5 × 15 + 2</a:t>
            </a:r>
          </a:p>
        </p:txBody>
      </p:sp>
      <p:sp>
        <p:nvSpPr>
          <p:cNvPr id="24" name="TextBox 23"/>
          <p:cNvSpPr txBox="1"/>
          <p:nvPr/>
        </p:nvSpPr>
        <p:spPr>
          <a:xfrm rot="5400000">
            <a:off x="2516886" y="4850892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sp>
        <p:nvSpPr>
          <p:cNvPr id="25" name="Oval 24"/>
          <p:cNvSpPr/>
          <p:nvPr/>
        </p:nvSpPr>
        <p:spPr>
          <a:xfrm>
            <a:off x="3972022" y="48234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Е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429000" y="3749039"/>
            <a:ext cx="0" cy="25146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 flipV="1">
            <a:off x="1251292" y="5006340"/>
            <a:ext cx="2177708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251292" y="3749039"/>
            <a:ext cx="2177708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 rot="5400000">
            <a:off x="2077974" y="4850892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1/2 + 1/4 × 2</a:t>
            </a:r>
          </a:p>
        </p:txBody>
      </p:sp>
      <p:sp>
        <p:nvSpPr>
          <p:cNvPr id="30" name="TextBox 29"/>
          <p:cNvSpPr txBox="1"/>
          <p:nvPr/>
        </p:nvSpPr>
        <p:spPr>
          <a:xfrm rot="19800000">
            <a:off x="1318304" y="44122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31" name="Oval 30"/>
          <p:cNvSpPr/>
          <p:nvPr/>
        </p:nvSpPr>
        <p:spPr>
          <a:xfrm>
            <a:off x="2520217" y="48234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В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251292" y="3749039"/>
            <a:ext cx="2177708" cy="1257301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251292" y="2491739"/>
            <a:ext cx="0" cy="2514601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251292" y="2491739"/>
            <a:ext cx="2177708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 rot="19800000">
            <a:off x="1098848" y="40321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25ти 2 : 3 бөл. Чоңу?</a:t>
            </a:r>
          </a:p>
        </p:txBody>
      </p:sp>
      <p:sp>
        <p:nvSpPr>
          <p:cNvPr id="36" name="TextBox 35"/>
          <p:cNvSpPr txBox="1"/>
          <p:nvPr/>
        </p:nvSpPr>
        <p:spPr>
          <a:xfrm rot="1800000">
            <a:off x="1098848" y="3154996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18</a:t>
            </a:r>
          </a:p>
        </p:txBody>
      </p:sp>
      <p:sp>
        <p:nvSpPr>
          <p:cNvPr id="37" name="Oval 36"/>
          <p:cNvSpPr/>
          <p:nvPr/>
        </p:nvSpPr>
        <p:spPr>
          <a:xfrm>
            <a:off x="1794315" y="35661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Д</a:t>
            </a:r>
          </a:p>
        </p:txBody>
      </p:sp>
      <p:cxnSp>
        <p:nvCxnSpPr>
          <p:cNvPr id="38" name="Connector 37"/>
          <p:cNvCxnSpPr/>
          <p:nvPr/>
        </p:nvCxnSpPr>
        <p:spPr>
          <a:xfrm flipH="1" flipV="1">
            <a:off x="1251292" y="2491739"/>
            <a:ext cx="2177708" cy="12573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251292" y="1234439"/>
            <a:ext cx="2177708" cy="125730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429000" y="1234439"/>
            <a:ext cx="0" cy="2514600"/>
          </a:xfrm>
          <a:prstGeom prst="line">
            <a:avLst/>
          </a:prstGeom>
          <a:ln w="254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 rot="1800000">
            <a:off x="1318304" y="2774887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36 ÷ (2 + 4) × 3</a:t>
            </a:r>
          </a:p>
        </p:txBody>
      </p:sp>
      <p:sp>
        <p:nvSpPr>
          <p:cNvPr id="42" name="TextBox 41"/>
          <p:cNvSpPr txBox="1"/>
          <p:nvPr/>
        </p:nvSpPr>
        <p:spPr>
          <a:xfrm rot="5400000">
            <a:off x="2077974" y="2336291"/>
            <a:ext cx="2263140" cy="310896"/>
          </a:xfrm>
          <a:prstGeom prst="rect">
            <a:avLst/>
          </a:prstGeom>
          <a:noFill/>
        </p:spPr>
        <p:txBody>
          <a:bodyPr wrap="non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43" name="Oval 42"/>
          <p:cNvSpPr/>
          <p:nvPr/>
        </p:nvSpPr>
        <p:spPr>
          <a:xfrm>
            <a:off x="2520217" y="2308859"/>
            <a:ext cx="365760" cy="365760"/>
          </a:xfrm>
          <a:prstGeom prst="ellipse">
            <a:avLst/>
          </a:prstGeom>
          <a:noFill/>
          <a:ln w="1270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Б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75120" y="1225296"/>
            <a:ext cx="508406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6675120" y="1865376"/>
            <a:ext cx="508406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858000" y="1225296"/>
            <a:ext cx="475488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Жуптар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2057400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20 − 12 ÷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05740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03720" y="2715768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(20 − 12) ÷ 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78440" y="2715768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3374136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3/5 × 15 + 2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78440" y="3374136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032504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1/2 + 1/4 × 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4032504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690872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25ти 2 : 3 бөл. Чоңу?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78440" y="4690872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03720" y="5349240"/>
            <a:ext cx="356616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36 ÷ (2 + 4) × 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78440" y="5349240"/>
            <a:ext cx="118872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= 18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Математикалык бинго: суроолор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Бинго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2529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2647" y="14081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172821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6 + 4 ×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59" y="122529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34840" y="14081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2821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(6 + 4) × 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122529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14081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172821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40 ÷ (5 + 3)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287121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0540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337413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3/4 × 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59" y="287121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34840" y="30540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337413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2/3 × 9 − 2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74152" y="287121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57031" y="305409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1" y="337413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1/2 + 1/2 ×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451713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12647" y="47000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7" y="502005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Катыш 1 : 4, айырма 21. Кичинеси?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59" y="451713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34840" y="47000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02005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7 × (8 − 5) + 4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74152" y="4517136"/>
            <a:ext cx="365760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57031" y="470001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57031" y="5020056"/>
            <a:ext cx="329184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48 ÷ 4 ÷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Бинго картасы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Бинго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188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Бул сандарды каалаган уячага жаз: 2, 4, 5, 6, 7, 12, 18, 25, 30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0604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2336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8872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0604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02336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5989320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Аты-жөнү: 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18320" y="178308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418320" y="320040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100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18320" y="4617720"/>
            <a:ext cx="141732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5989320"/>
            <a:ext cx="4251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B7280"/>
                </a:solidFill>
                <a:latin typeface="PT Sans"/>
              </a:rPr>
              <a:t>Аты-жөнү: ______________________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Алиппе мээ чабуулу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Алиппе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19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66928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56232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29384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93392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282696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7096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419856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09159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2312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59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46320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35624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08776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72784" y="2093976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562088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35240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6488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699248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8988552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61704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125712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415016" y="1225296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488168" y="1261872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29416" y="1271016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552176" y="2093976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29768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19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И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66928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856232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9384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Й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24780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993392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282696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55848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3419856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709159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82312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59" y="2478024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846320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6135624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08776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272784" y="3300984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7562088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35240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99248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8988552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61704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125712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10415016" y="2432304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488168" y="2468880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Ө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552176" y="3300984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429768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19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П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6928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ounded Rectangle 64"/>
          <p:cNvSpPr/>
          <p:nvPr/>
        </p:nvSpPr>
        <p:spPr>
          <a:xfrm>
            <a:off x="1856232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929384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Р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0632" y="368503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1993392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ounded Rectangle 68"/>
          <p:cNvSpPr/>
          <p:nvPr/>
        </p:nvSpPr>
        <p:spPr>
          <a:xfrm>
            <a:off x="3282696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55848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419856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709159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82312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846320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ounded Rectangle 74"/>
          <p:cNvSpPr/>
          <p:nvPr/>
        </p:nvSpPr>
        <p:spPr>
          <a:xfrm>
            <a:off x="6135624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08776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50024" y="368503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272784" y="4507992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ounded Rectangle 78"/>
          <p:cNvSpPr/>
          <p:nvPr/>
        </p:nvSpPr>
        <p:spPr>
          <a:xfrm>
            <a:off x="7562088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635240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Ү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699248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8988552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061704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Ф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125712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ounded Rectangle 84"/>
          <p:cNvSpPr/>
          <p:nvPr/>
        </p:nvSpPr>
        <p:spPr>
          <a:xfrm>
            <a:off x="10415016" y="3639312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0488168" y="3675888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Х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29416" y="3685032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10552176" y="4507992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/>
          <p:cNvSpPr/>
          <p:nvPr/>
        </p:nvSpPr>
        <p:spPr>
          <a:xfrm>
            <a:off x="429768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02919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Ц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66928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ounded Rectangle 91"/>
          <p:cNvSpPr/>
          <p:nvPr/>
        </p:nvSpPr>
        <p:spPr>
          <a:xfrm>
            <a:off x="1856232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929384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Ч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993392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282696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55848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Ш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419856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ounded Rectangle 97"/>
          <p:cNvSpPr/>
          <p:nvPr/>
        </p:nvSpPr>
        <p:spPr>
          <a:xfrm>
            <a:off x="4709159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782312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Ы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4846320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ounded Rectangle 100"/>
          <p:cNvSpPr/>
          <p:nvPr/>
        </p:nvSpPr>
        <p:spPr>
          <a:xfrm>
            <a:off x="6135624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208776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6272784" y="5715000"/>
            <a:ext cx="107899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Rounded Rectangle 103"/>
          <p:cNvSpPr/>
          <p:nvPr/>
        </p:nvSpPr>
        <p:spPr>
          <a:xfrm>
            <a:off x="7562088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7635240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Ю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476488" y="489204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7699248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8988552" y="4846320"/>
            <a:ext cx="1353312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061704" y="4882896"/>
            <a:ext cx="7315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Я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902952" y="4892040"/>
            <a:ext cx="365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A84400"/>
                </a:solidFill>
                <a:latin typeface="PT Sans"/>
              </a:rPr>
              <a:t>★</a:t>
            </a:r>
          </a:p>
        </p:txBody>
      </p:sp>
      <p:cxnSp>
        <p:nvCxnSpPr>
          <p:cNvPr id="111" name="Connector 110"/>
          <p:cNvCxnSpPr/>
          <p:nvPr/>
        </p:nvCxnSpPr>
        <p:spPr>
          <a:xfrm>
            <a:off x="9125712" y="5715000"/>
            <a:ext cx="107899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/>
          <p:cNvSpPr txBox="1"/>
          <p:nvPr/>
        </p:nvSpPr>
        <p:spPr>
          <a:xfrm>
            <a:off x="429768" y="5989320"/>
            <a:ext cx="11329416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B7280"/>
                </a:solidFill>
                <a:latin typeface="PT Sans"/>
              </a:rPr>
              <a:t>Уникалдуу сөз = 2 упай · бирдей сөз = 1 упай · ★ тамга = +2 · сүйлөмдө колдонсоң = +1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Чий → жаз → эсепте → текшер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Тилке эстафетасы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" y="16002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Чийүүчү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Тилке моделин чийет: бөлүк, бүтүн, белгисиз «?»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37560" y="2542032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52044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03320" y="1600200"/>
            <a:ext cx="502920" cy="50292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Жазуучу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Тилкеге карап бир туюнтма жазат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35040" y="2542032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1792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0" y="1600200"/>
            <a:ext cx="502920" cy="502920"/>
          </a:xfrm>
          <a:prstGeom prst="ellipse">
            <a:avLst/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Эсепчи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КаДа – БөКө – КоКе боюнча эсептейт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32520" y="2542032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915400" y="1417320"/>
            <a:ext cx="251460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098280" y="1600200"/>
            <a:ext cx="502920" cy="502920"/>
          </a:xfrm>
          <a:prstGeom prst="ellipse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PT Sa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1600200"/>
            <a:ext cx="1691640" cy="5029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Текшерүүчү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240280"/>
            <a:ext cx="219456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Жоопту тилкеге коюп текшерет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3931920"/>
            <a:ext cx="3291840" cy="8686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95935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1-айлампа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251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007A5A"/>
                </a:solidFill>
                <a:latin typeface="PT Sans"/>
              </a:rPr>
              <a:t>Бөлүк – бүтүн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931920"/>
            <a:ext cx="3291840" cy="8686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395935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2-айлампа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251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Салыштыруу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3931920"/>
            <a:ext cx="3291840" cy="868680"/>
          </a:xfrm>
          <a:prstGeom prst="roundRect">
            <a:avLst>
              <a:gd name="adj" fmla="val 2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3959352"/>
            <a:ext cx="32918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3-айлампа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425196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Көп кадам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74920"/>
            <a:ext cx="1463040" cy="45720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бөлүк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86000" y="5074920"/>
            <a:ext cx="1463040" cy="45720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F2430"/>
                </a:solidFill>
                <a:latin typeface="PT Sans"/>
              </a:rPr>
              <a:t>бөлүк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49039" y="5074920"/>
            <a:ext cx="1188720" cy="45720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983480"/>
            <a:ext cx="621792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Упай: туура жооп = 2, туура тилке = 1. Топ өз катасын тапса = +1. Ката – үйрөнүүнүн бир бөлүгү.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Карточкалар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Тилке эстафетасы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25880"/>
            <a:ext cx="3291840" cy="457200"/>
          </a:xfrm>
          <a:prstGeom prst="roundRect">
            <a:avLst>
              <a:gd name="adj" fmla="val 3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1-айлампа · Бөлүк – бүтүн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2103120"/>
            <a:ext cx="411480" cy="411480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56032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Шире: 18 л алма, 27 л өрүк. Баары канча литр?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069079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60120" y="4206240"/>
            <a:ext cx="411480" cy="411480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66344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Китепканада 64 китеп, 29у кыргызча. Калганы канча?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325880"/>
            <a:ext cx="3291840" cy="457200"/>
          </a:xfrm>
          <a:prstGeom prst="roundRect">
            <a:avLst>
              <a:gd name="adj" fmla="val 3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2-айлампа · Салыштыруу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965960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6280" y="2103120"/>
            <a:ext cx="411480" cy="411480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6032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Айгеримдин тасмасы 3² см. Нурландыкы андан 7 см узун. Нурландыкы?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9120" y="4069079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26280" y="4206240"/>
            <a:ext cx="411480" cy="411480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66344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Бүгүн 48 окуучу келди. Кечээ 13кө аз келген. Кечээ канча?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1325880"/>
            <a:ext cx="3291840" cy="457200"/>
          </a:xfrm>
          <a:prstGeom prst="roundRect">
            <a:avLst>
              <a:gd name="adj" fmla="val 3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PT Sans"/>
              </a:rPr>
              <a:t>3-айлампа · Көп кадам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1965960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092440" y="2103120"/>
            <a:ext cx="411480" cy="411480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59" y="256032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4 кутуда 6дан калем бар. 5 калем жоголду. Канча калды?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4069079"/>
            <a:ext cx="329184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4206240"/>
            <a:ext cx="411480" cy="411480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5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4663440"/>
            <a:ext cx="2926080" cy="12344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Мышык : ит = 3 : 5 (кг). Ит мышыктан 10 кг оор. Мышык канча кг?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Жооптор жана тилкелер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Класс оюну · Тилке эстафетасы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32588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435607"/>
            <a:ext cx="384048" cy="384048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901952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? 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194560"/>
            <a:ext cx="1243584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18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57984" y="2194560"/>
            <a:ext cx="1865376" cy="36576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2926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007A5A"/>
                </a:solidFill>
                <a:latin typeface="PT Sans"/>
              </a:rPr>
              <a:t>18 + 27 = 45 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033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813048"/>
            <a:ext cx="384048" cy="384048"/>
          </a:xfrm>
          <a:prstGeom prst="ellipse">
            <a:avLst/>
          </a:prstGeom>
          <a:noFill/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279392"/>
            <a:ext cx="31089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64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572000"/>
            <a:ext cx="1417320" cy="36576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29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4572000"/>
            <a:ext cx="1691640" cy="36576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3035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007A5A"/>
                </a:solidFill>
                <a:latin typeface="PT Sans"/>
              </a:rPr>
              <a:t>64 − 29 = 35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32588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26280" y="1435607"/>
            <a:ext cx="384048" cy="384048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96596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Айгерим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0" y="1965960"/>
            <a:ext cx="114300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237744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Нурлан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03520" y="2377440"/>
            <a:ext cx="114300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377440"/>
            <a:ext cx="886968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63440" y="2926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3² + 7 = 16 см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89120" y="37033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26280" y="3813048"/>
            <a:ext cx="384048" cy="384048"/>
          </a:xfrm>
          <a:prstGeom prst="ellipse">
            <a:avLst/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34340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Бүгүн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03520" y="4343400"/>
            <a:ext cx="219456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75488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Кечээ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03520" y="4754880"/>
            <a:ext cx="1600200" cy="347472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03720" y="4754880"/>
            <a:ext cx="594360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53035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48 − 13 = 35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79" y="132588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092440" y="1435607"/>
            <a:ext cx="384048" cy="384048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1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2395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19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78439" y="1965960"/>
            <a:ext cx="77724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19" y="2377440"/>
            <a:ext cx="2459736" cy="347472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506455" y="2377440"/>
            <a:ext cx="649224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3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0" y="292608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4 × 6 − 5 = 19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55279" y="3703320"/>
            <a:ext cx="32918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8092440" y="3813048"/>
            <a:ext cx="384048" cy="384048"/>
          </a:xfrm>
          <a:prstGeom prst="ellipse">
            <a:avLst/>
          </a:prstGeom>
          <a:noFill/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34340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Мышык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869680" y="434340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281159" y="434340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692639" y="434340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55279" y="4754880"/>
            <a:ext cx="868680" cy="3474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Ит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869680" y="475488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9281159" y="475488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692639" y="4754880"/>
            <a:ext cx="411480" cy="347472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104119" y="4754880"/>
            <a:ext cx="822960" cy="347472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 b="1">
                <a:solidFill>
                  <a:srgbClr val="1F2430"/>
                </a:solidFill>
                <a:latin typeface="PT Sans"/>
              </a:rPr>
              <a:t>10 кг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0" y="53035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24418C"/>
                </a:solidFill>
                <a:latin typeface="PT Sans"/>
              </a:rPr>
              <a:t>10 ÷ 2 × 3 = 15 кг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Чыйырчыктын жашыруун сандыгы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Оюндар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Басылма · Кенч издөө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" y="13716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50876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14813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Класстын эшиги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" y="214884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24 − 4 × 5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32887" y="2834640"/>
            <a:ext cx="182881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15768" y="210312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52927" y="2240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7" y="221284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Жооп 1-номерлүү парта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25496" y="288036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(жооп 1 + 8) ÷ 3 × 2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818888" y="2834640"/>
            <a:ext cx="182880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001768" y="13716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138928" y="150876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14813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Текченин «жооп 2» орду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1496" y="214884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F2430"/>
                </a:solidFill>
                <a:latin typeface="PT Sans"/>
              </a:rPr>
              <a:t>3/4 × жооп 2 + 3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04888" y="2834640"/>
            <a:ext cx="182880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287768" y="210312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424927" y="2240279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82127" y="221284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«Жооп 3» конверт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97496" y="288036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Кыздар : балдар = 5 : 8. Балдар «жооп 3» кишиге көп. Кыздар?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9390888" y="2834640"/>
            <a:ext cx="182879" cy="73152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573768" y="1371600"/>
            <a:ext cx="210312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710928" y="1508760"/>
            <a:ext cx="411480" cy="41148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68128" y="14813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 i="0">
                <a:solidFill>
                  <a:srgbClr val="4A5A70"/>
                </a:solidFill>
                <a:latin typeface="PT Sans"/>
              </a:rPr>
              <a:t>«Жооп 4» конверт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83496" y="2148840"/>
            <a:ext cx="1883664" cy="2011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2 × (жооп 4 − жооп 3) + жооп 2 ÷ жооп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108960" y="5349240"/>
            <a:ext cx="594360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A84400"/>
                </a:solidFill>
                <a:latin typeface="PT Sans"/>
              </a:rPr>
              <a:t>Финал: акыркы жооп = сандыктын коду. Анан өз 6-бекетиңди түз!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