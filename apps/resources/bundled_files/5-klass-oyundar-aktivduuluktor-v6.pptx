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Бул файлда сабактын оюндары жана активдүүлүктөрү гана бар. Сабактын өзү өзүнчө презентацияда.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Бул эреже бардык оюндарга тиешелүү. Упай ылдамдык үчүн эмес: туура жооп жана түшүндүрмө үчүн берилет. Убакыт чегин мен өзүм тандайм: класс жаңы теманы үйрөнүп жатса, убакытсыз ойнойбуз; бекемдөө учурунда 20 секунд же 1 мүнөт. Жай ойлонгон окуучу да туура жана түшүндүрүп, эң көп упай ала алат. Класс алдында ылдамдык боюнча тизме жок.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Сүрөт ↔ туюнтма (КСА: сүрөттөн санга). Командалар ар бир сүрөткө туура туюнтманы табышат жана эсептешет. Биринчи бүткөн жана баары туура болгон команда утат. Жооптору: A–3 (18), B–1 (11), C–5 (17), D–6 (18), E–4 (12), F–2 (4). Сураңыз: A менен D жооптору эмне үчүн бирдей?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Жооптор. Сүрөттөрдү талкуулаңыз: кайсы сүрөттө кашаа керек болду (D, F)? Кайсында даража (A, B, E)?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Оюн: Катаны тап. Окуучулар «мугалим» болушат. 2 мүнөт жеке, андан кийин жуп менен талкуу.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Ката 2-кадамда: (7 − 2) кашаада болушу керек. Кызыл 8 см болсо, көк 28 см болмок, айырма 20 см. 35 эмес.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Жооптору: 1) 21  2) 30  3) 5  4) 30  5) 6. Туура жооп = гол (1 упай); туура жана түшүндүрдү = 2 упай. Ката болсо, дарбазачы катаны таап, туура айтса = сакталды (1 упай). Убакыт чеги – тандоо: жаңы темада убакытсыз, бекемдөөдө 20 секунд же 1 мүнөт.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 секунд унчукпай ойлонуу, баш бармак көкүрөктө. Белги берилгенде бүт класс бир добуш менен. Жооптор ар түрдүү болсо, 2 окуучу түшүндүрөт. Туура түшүндүргөн окуучунун командасына 2 упай.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Жуп: А = айдоочу (эсептейт), Б = штурман (тилке модели менен текшерет). Ар тапшырмадан кийин ролдор алмашат. Упай: туура = 1, туура жана штурман түшүндүрдү = 2; убакыт чеги жок. Жооптор: 20, 5 | 8, 8 | Айпери 40, Эрлан 24.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Эки команда: Үч бурчтуктар жана Тегерекчелер. Туура жооп = 1 белги; туура жана түшүндүрдү (же татаал/эксперт суроо) = 2 белги. Убакыт чеги – тандоо. Жооптор: 3, 48, 14, 4 1/2, 88, 42, 10, (6 + 18) ÷ 3 ×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Тарсия, басып чыгаруу үчүн. Үч бурчтуктарды кесип, аралаштырып бериңиз. Ар бир ички жакта бир тарабында суроо, экинчи тарабында анын жообу турат. Сырткы жактар бош. Туура чогултулса, алты бурчтук болот. Жуптар: 20 − 12 ÷ 4 = 17; (20 − 12) ÷ 4 = 2; 3/5 × 15 + 2 = 11; 1/2 + 1/4 × 2 = 1; 25ти 2 : 3 катышында бөлгөндө чоңу 15; 36 ÷ (2 + 4) × 3 = 18. Ката болсо (мисалы 20 − 12 ÷ 4 = 2), окуучу жуп таба албай калат, ошондо «эмне үчүн?» деп сураңыз.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Жооптору: чогултулган алты бурчтук. Жашыл сызыктын бир тарабында суроо, экинчи тарабында анын жообу. Окуучулар ар бир жупту оозеки түшүндүрүшөт: «адегенде бөлүү, анан кемитүү, ошондуктан 17».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Бинго. Мугалим суроолорду кокус тартипте окуйт. Жооптор: 1) 18 2) 30 3) 5 4) 12 5) 4 6) 2 7) 7 8) 25 9) 6. Жеңүүчү белгиленген 3 суроонун чыгарылышын айтып бериши керек.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Окуучулар 9 жоопту өз каалоосу менен торго жазышат, ошондуктан ар бир картa ар башка болот.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Алиппе мээ чабуулу, 4 мүнөт. Уникалдуу термин = 2 упай, бирдей = 1 упай, ★ тамгага +2. Үлгү жооптор: А айырма, алым; Б бирдик, бөлүү, бөлчөк; Д даража; Ж жалпы, жооп; И иш-аракет; К кашаа, кошуу, кемитүү, көбөйтүү, катыш; М маселе, модель; Н натыйжа; О ордун алмаштыруу; Ө өлчөм; П пропорция; С сан, салыштыруу; Т тилке модели, туюнтма, тартип; Ү үлүш; Ф формула; Ц цифра; Ч чыгаруу, чийме; Ш шарт; Ы ыкма; Э эсептөө, эсе.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Тилке эстафетасы. 4 кишилик топтор. Ар бир айлампада бир карточка: 1-оюнчу тилке чийет, 2-оюнчу туюнтма жазат, 3-оюнчу эсептейт, 4-оюнчу тилке менен текшерет. Ролдор ар айлампада алмашат. Мугалим «математика кыйын» дебейт: кыйналган топко «Эмне белгилүү? Эмне белгисиз?» деп сурайт.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Карточкаларды басып, кесиңиз. Ар бир топко айлампа сайын бир карточка. Бүткөн топ кошумча карточканы алат. Жооптор кийинки слайдда.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Жооптор. Ар бир топ өз тилкесин бул чиймелер менен салыштырат. Тилке башкача болсо да, бөлүктөр жана белгисиз туура болсо, упай берилет.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Кенч издөө. Ар бир жооп кийинки бекетте колдонулат. Жооптор: 1) 4 2) 8 3) 9 4) 15 5) 14. Финал: 14 кулпу кодун ачат. Бекеттер: эшик, 4-парта, текченин 8-орду, 9-конверт, 15-конверт.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Оюндар жана активдүүлүктөр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 Оюндар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Оюндар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1463040"/>
            <a:ext cx="1132941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1D3557"/>
                </a:solidFill>
                <a:latin typeface="PT Sans"/>
              </a:rPr>
              <a:t>Амалдардын тартиби: оюн менен бышыктайбыз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2286000"/>
            <a:ext cx="11329416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0">
                <a:solidFill>
                  <a:srgbClr val="4A5A70"/>
                </a:solidFill>
                <a:latin typeface="PT Sans"/>
              </a:rPr>
              <a:t>5-класс · катыштар, бөлчөктөр жана КаДа – БөКө – КоКе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3291840"/>
            <a:ext cx="5568696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429768" y="3931920"/>
            <a:ext cx="5568696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29768" y="3291840"/>
            <a:ext cx="5568696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Класс оюндары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4114800"/>
            <a:ext cx="5029200" cy="10972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Сүрөт ↔ туюнтма · Катаны тап · Футбол · Бат жооп · Рали · Төрттү бириктир · Тилке эстафетасы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0488" y="3291840"/>
            <a:ext cx="5568696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6190488" y="3931920"/>
            <a:ext cx="5568696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190488" y="3291840"/>
            <a:ext cx="5568696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Басылма оюндар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4807" y="4114800"/>
            <a:ext cx="5029200" cy="10972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Тарсия · Бинго · Алиппе мээ чабуулу · Кенч издөө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Упай кантип берилет?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 Оюндар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Оюн эрежеси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" y="1325880"/>
            <a:ext cx="7315200" cy="804672"/>
          </a:xfrm>
          <a:prstGeom prst="roundRect">
            <a:avLst>
              <a:gd name="adj" fmla="val 20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325880"/>
            <a:ext cx="512064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007A5A"/>
                </a:solidFill>
                <a:latin typeface="PT Sans"/>
              </a:rPr>
              <a:t>Туура жооп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1325880"/>
            <a:ext cx="192024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007A5A"/>
                </a:solidFill>
                <a:latin typeface="PT Sans"/>
              </a:rPr>
              <a:t>1 упай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2286000"/>
            <a:ext cx="7315200" cy="804672"/>
          </a:xfrm>
          <a:prstGeom prst="roundRect">
            <a:avLst>
              <a:gd name="adj" fmla="val 20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286000"/>
            <a:ext cx="512064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4418C"/>
                </a:solidFill>
                <a:latin typeface="PT Sans"/>
              </a:rPr>
              <a:t>Туура жана түшүндүрдү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286000"/>
            <a:ext cx="192024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2 упай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" y="3246120"/>
            <a:ext cx="7315200" cy="804672"/>
          </a:xfrm>
          <a:prstGeom prst="roundRect">
            <a:avLst>
              <a:gd name="adj" fmla="val 20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246120"/>
            <a:ext cx="512064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A84400"/>
                </a:solidFill>
                <a:latin typeface="PT Sans"/>
              </a:rPr>
              <a:t>Катаны таап, оңдоду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3246120"/>
            <a:ext cx="192024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A84400"/>
                </a:solidFill>
                <a:latin typeface="PT Sans"/>
              </a:rPr>
              <a:t>1 упай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1325880"/>
            <a:ext cx="3758184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79" y="1371600"/>
            <a:ext cx="33832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«Түшүндүрдү» деген: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1874519"/>
            <a:ext cx="3383280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• кайсы амал биринчи экенин айтты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700" b="0" i="0">
                <a:solidFill>
                  <a:srgbClr val="1F2430"/>
                </a:solidFill>
                <a:latin typeface="PT Sans"/>
              </a:rPr>
              <a:t>• эмне үчүн экенин айтты (эреже, тилке же окуя)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700" b="0" i="0">
                <a:solidFill>
                  <a:srgbClr val="1F2430"/>
                </a:solidFill>
                <a:latin typeface="PT Sans"/>
              </a:rPr>
              <a:t>• жубу же командасы түшүндү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" y="4343400"/>
            <a:ext cx="11329416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389120"/>
            <a:ext cx="107899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D3557"/>
                </a:solidFill>
                <a:latin typeface="PT Sans"/>
              </a:rPr>
              <a:t>Убакыт чеги – тандоо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892040"/>
            <a:ext cx="107899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Мугалим тандайт: убакытсыз · 1 мүнөт · 20 секунд. Жаңы темада убакытсыз ойнойбуз.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800" b="0" i="0">
                <a:solidFill>
                  <a:srgbClr val="1F2430"/>
                </a:solidFill>
                <a:latin typeface="PT Sans"/>
              </a:rPr>
              <a:t>Ар ким өзүнүн мурунку жыйынтыгы менен салыштырат; ылдамдык боюнча тизме жок.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Сүрөт ↔ туюнтма: жупташтыр!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 Оюндар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Оюн · Сүрөт ↔ туюнтма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" y="1234440"/>
            <a:ext cx="251460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39496" y="1344168"/>
            <a:ext cx="411480" cy="41148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A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192024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7008" y="192024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481328" y="192024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32688" y="219456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07008" y="219456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481328" y="219456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2688" y="246888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7008" y="246888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481328" y="246888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92807" y="192024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167127" y="192024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441448" y="192024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892807" y="219456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167127" y="219456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441448" y="219456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892807" y="246888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167127" y="246888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441448" y="246888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081528" y="1234440"/>
            <a:ext cx="251460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191256" y="1344168"/>
            <a:ext cx="411480" cy="41148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B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767328" y="192024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041648" y="192024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15968" y="192024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767328" y="219456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041648" y="219456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15968" y="219456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767328" y="246888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041648" y="246888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315968" y="246888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727448" y="2468880"/>
            <a:ext cx="274320" cy="274320"/>
          </a:xfrm>
          <a:prstGeom prst="rect">
            <a:avLst/>
          </a:pr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001768" y="2468880"/>
            <a:ext cx="274320" cy="274320"/>
          </a:xfrm>
          <a:prstGeom prst="rect">
            <a:avLst/>
          </a:pr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733288" y="1234440"/>
            <a:ext cx="251460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843016" y="1344168"/>
            <a:ext cx="411480" cy="41148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C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53327" y="2194560"/>
            <a:ext cx="594360" cy="41148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F2430"/>
                </a:solidFill>
                <a:latin typeface="PT Sans"/>
              </a:rPr>
              <a:t>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647688" y="2194560"/>
            <a:ext cx="457200" cy="41148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104888" y="2194560"/>
            <a:ext cx="457200" cy="41148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562088" y="2194560"/>
            <a:ext cx="457200" cy="41148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29768" y="3611880"/>
            <a:ext cx="251460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39496" y="3721608"/>
            <a:ext cx="411480" cy="41148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2688" y="4297680"/>
            <a:ext cx="731520" cy="384048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664208" y="4297680"/>
            <a:ext cx="914400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F2430"/>
                </a:solidFill>
                <a:latin typeface="PT Sans"/>
              </a:rPr>
              <a:t>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32688" y="4754880"/>
            <a:ext cx="731520" cy="384048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664208" y="4754880"/>
            <a:ext cx="914400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F2430"/>
                </a:solidFill>
                <a:latin typeface="PT Sans"/>
              </a:rPr>
              <a:t>5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081528" y="3611880"/>
            <a:ext cx="251460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3191256" y="3721608"/>
            <a:ext cx="411480" cy="41148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904488" y="416052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178808" y="416052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453128" y="4160520"/>
            <a:ext cx="2743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727448" y="4160520"/>
            <a:ext cx="2743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904488" y="443484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178808" y="443484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453128" y="4434840"/>
            <a:ext cx="2743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727448" y="4434840"/>
            <a:ext cx="2743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904488" y="470916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178808" y="470916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453128" y="470916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727448" y="470916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904488" y="498348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178808" y="498348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453128" y="498348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727448" y="498348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5733288" y="3611880"/>
            <a:ext cx="251460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5843016" y="3721608"/>
            <a:ext cx="411480" cy="41148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F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007607" y="4709160"/>
            <a:ext cx="658368" cy="41148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F2430"/>
                </a:solidFill>
                <a:latin typeface="PT Sans"/>
              </a:rPr>
              <a:t>8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665975" y="4709160"/>
            <a:ext cx="384048" cy="411480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6B7280"/>
                </a:solidFill>
                <a:latin typeface="PT Sans"/>
              </a:rPr>
              <a:t>?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050023" y="4709160"/>
            <a:ext cx="384048" cy="411480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6B7280"/>
                </a:solidFill>
                <a:latin typeface="PT Sans"/>
              </a:rPr>
              <a:t>?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434071" y="4709160"/>
            <a:ext cx="384048" cy="411480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6B7280"/>
                </a:solidFill>
                <a:latin typeface="PT Sans"/>
              </a:rPr>
              <a:t>?</a:t>
            </a:r>
          </a:p>
        </p:txBody>
      </p:sp>
      <p:cxnSp>
        <p:nvCxnSpPr>
          <p:cNvPr id="77" name="Connector 76"/>
          <p:cNvCxnSpPr/>
          <p:nvPr/>
        </p:nvCxnSpPr>
        <p:spPr>
          <a:xfrm flipV="1">
            <a:off x="6007607" y="4526280"/>
            <a:ext cx="0" cy="137160"/>
          </a:xfrm>
          <a:prstGeom prst="line">
            <a:avLst/>
          </a:prstGeom>
          <a:ln w="2222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7818119" y="4526280"/>
            <a:ext cx="0" cy="137160"/>
          </a:xfrm>
          <a:prstGeom prst="line">
            <a:avLst/>
          </a:prstGeom>
          <a:ln w="2222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6007607" y="4526280"/>
            <a:ext cx="1810512" cy="0"/>
          </a:xfrm>
          <a:prstGeom prst="line">
            <a:avLst/>
          </a:prstGeom>
          <a:ln w="2222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5541263" y="4114800"/>
            <a:ext cx="2743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1D3557"/>
                </a:solidFill>
                <a:latin typeface="PT Sans"/>
              </a:rPr>
              <a:t>20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8503920" y="1234440"/>
            <a:ext cx="3255264" cy="4617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503920" y="1280160"/>
            <a:ext cx="325526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Туюнтмалар</a:t>
            </a:r>
          </a:p>
        </p:txBody>
      </p:sp>
      <p:sp>
        <p:nvSpPr>
          <p:cNvPr id="83" name="Oval 82"/>
          <p:cNvSpPr/>
          <p:nvPr/>
        </p:nvSpPr>
        <p:spPr>
          <a:xfrm>
            <a:off x="8686800" y="18745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189720" y="1783080"/>
            <a:ext cx="246888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3² + 2</a:t>
            </a:r>
          </a:p>
        </p:txBody>
      </p:sp>
      <p:sp>
        <p:nvSpPr>
          <p:cNvPr id="85" name="Oval 84"/>
          <p:cNvSpPr/>
          <p:nvPr/>
        </p:nvSpPr>
        <p:spPr>
          <a:xfrm>
            <a:off x="8686800" y="2542032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189720" y="2450591"/>
            <a:ext cx="246888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(20 − 8) ÷ 3</a:t>
            </a:r>
          </a:p>
        </p:txBody>
      </p:sp>
      <p:sp>
        <p:nvSpPr>
          <p:cNvPr id="87" name="Oval 86"/>
          <p:cNvSpPr/>
          <p:nvPr/>
        </p:nvSpPr>
        <p:spPr>
          <a:xfrm>
            <a:off x="8686800" y="3209544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189720" y="3118104"/>
            <a:ext cx="246888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2 × 3²</a:t>
            </a:r>
          </a:p>
        </p:txBody>
      </p:sp>
      <p:sp>
        <p:nvSpPr>
          <p:cNvPr id="89" name="Oval 88"/>
          <p:cNvSpPr/>
          <p:nvPr/>
        </p:nvSpPr>
        <p:spPr>
          <a:xfrm>
            <a:off x="8686800" y="3877055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189720" y="3785615"/>
            <a:ext cx="246888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4² − 2²</a:t>
            </a:r>
          </a:p>
        </p:txBody>
      </p:sp>
      <p:sp>
        <p:nvSpPr>
          <p:cNvPr id="91" name="Oval 90"/>
          <p:cNvSpPr/>
          <p:nvPr/>
        </p:nvSpPr>
        <p:spPr>
          <a:xfrm>
            <a:off x="8686800" y="4544568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189720" y="4453128"/>
            <a:ext cx="246888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5 + 3 × 4</a:t>
            </a:r>
          </a:p>
        </p:txBody>
      </p:sp>
      <p:sp>
        <p:nvSpPr>
          <p:cNvPr id="93" name="Oval 92"/>
          <p:cNvSpPr/>
          <p:nvPr/>
        </p:nvSpPr>
        <p:spPr>
          <a:xfrm>
            <a:off x="8686800" y="521207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1D3557"/>
                </a:solidFill>
                <a:latin typeface="PT Sans"/>
              </a:rPr>
              <a:t>6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189720" y="5120640"/>
            <a:ext cx="246888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2 × (4 + 5)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429768" y="5925312"/>
            <a:ext cx="7818120" cy="347472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A84400"/>
                </a:solidFill>
                <a:latin typeface="PT Sans"/>
              </a:rPr>
              <a:t>Ар бир сүрөткө туюнтма тап жана эсепте: A – ?, B – ? …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 Оюндар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Оюн · Сүрөт ↔ туюнтма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" y="1234440"/>
            <a:ext cx="251460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39496" y="1344168"/>
            <a:ext cx="411480" cy="41148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A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192024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7008" y="192024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481328" y="192024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32688" y="219456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07008" y="219456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481328" y="219456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2688" y="246888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7008" y="246888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481328" y="246888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92807" y="192024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167127" y="192024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441448" y="192024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892807" y="219456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167127" y="219456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441448" y="219456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892807" y="246888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167127" y="246888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441448" y="246888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04088" y="2971800"/>
            <a:ext cx="196596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007A5A"/>
                </a:solidFill>
                <a:latin typeface="PT Sans"/>
              </a:rPr>
              <a:t>2 × 3² = 18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081528" y="1234440"/>
            <a:ext cx="251460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191256" y="1344168"/>
            <a:ext cx="411480" cy="41148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B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767328" y="192024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041648" y="192024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315968" y="192024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767328" y="219456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041648" y="219456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315968" y="219456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767328" y="246888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041648" y="246888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315968" y="246888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727448" y="2468880"/>
            <a:ext cx="274320" cy="274320"/>
          </a:xfrm>
          <a:prstGeom prst="rect">
            <a:avLst/>
          </a:pr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001768" y="2468880"/>
            <a:ext cx="274320" cy="274320"/>
          </a:xfrm>
          <a:prstGeom prst="rect">
            <a:avLst/>
          </a:pr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3355848" y="2971800"/>
            <a:ext cx="196596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007A5A"/>
                </a:solidFill>
                <a:latin typeface="PT Sans"/>
              </a:rPr>
              <a:t>3² + 2 = 11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733288" y="1234440"/>
            <a:ext cx="251460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843016" y="1344168"/>
            <a:ext cx="411480" cy="41148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C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53327" y="2194560"/>
            <a:ext cx="594360" cy="41148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F2430"/>
                </a:solidFill>
                <a:latin typeface="PT Sans"/>
              </a:rPr>
              <a:t>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647688" y="2194560"/>
            <a:ext cx="457200" cy="41148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104888" y="2194560"/>
            <a:ext cx="457200" cy="41148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62088" y="2194560"/>
            <a:ext cx="457200" cy="41148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007607" y="2971800"/>
            <a:ext cx="196596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007A5A"/>
                </a:solidFill>
                <a:latin typeface="PT Sans"/>
              </a:rPr>
              <a:t>5 + 3 × 4 = 17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29768" y="3611880"/>
            <a:ext cx="251460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39496" y="3721608"/>
            <a:ext cx="411480" cy="41148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32688" y="4297680"/>
            <a:ext cx="731520" cy="384048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664208" y="4297680"/>
            <a:ext cx="914400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F2430"/>
                </a:solidFill>
                <a:latin typeface="PT Sans"/>
              </a:rPr>
              <a:t>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32688" y="4754880"/>
            <a:ext cx="731520" cy="384048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664208" y="4754880"/>
            <a:ext cx="914400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F2430"/>
                </a:solidFill>
                <a:latin typeface="PT Sans"/>
              </a:rPr>
              <a:t>5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04088" y="5349240"/>
            <a:ext cx="196596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007A5A"/>
                </a:solidFill>
                <a:latin typeface="PT Sans"/>
              </a:rPr>
              <a:t>2 × (4 + 5) = 18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081528" y="3611880"/>
            <a:ext cx="251460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3191256" y="3721608"/>
            <a:ext cx="411480" cy="41148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904488" y="416052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178808" y="416052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453128" y="4160520"/>
            <a:ext cx="2743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727448" y="4160520"/>
            <a:ext cx="2743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904488" y="443484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178808" y="443484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453128" y="4434840"/>
            <a:ext cx="2743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727448" y="4434840"/>
            <a:ext cx="2743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904488" y="470916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178808" y="470916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453128" y="470916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727448" y="470916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904488" y="498348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178808" y="498348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4453128" y="498348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727448" y="498348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3355848" y="5349240"/>
            <a:ext cx="196596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007A5A"/>
                </a:solidFill>
                <a:latin typeface="PT Sans"/>
              </a:rPr>
              <a:t>4² − 2² = 12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5733288" y="3611880"/>
            <a:ext cx="251460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5843016" y="3721608"/>
            <a:ext cx="411480" cy="41148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F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007607" y="4709160"/>
            <a:ext cx="658368" cy="41148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F2430"/>
                </a:solidFill>
                <a:latin typeface="PT Sans"/>
              </a:rPr>
              <a:t>8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665975" y="4709160"/>
            <a:ext cx="384048" cy="411480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6B7280"/>
                </a:solidFill>
                <a:latin typeface="PT Sans"/>
              </a:rPr>
              <a:t>?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050023" y="4709160"/>
            <a:ext cx="384048" cy="411480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6B7280"/>
                </a:solidFill>
                <a:latin typeface="PT Sans"/>
              </a:rPr>
              <a:t>?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434071" y="4709160"/>
            <a:ext cx="384048" cy="411480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6B7280"/>
                </a:solidFill>
                <a:latin typeface="PT Sans"/>
              </a:rPr>
              <a:t>?</a:t>
            </a:r>
          </a:p>
        </p:txBody>
      </p:sp>
      <p:cxnSp>
        <p:nvCxnSpPr>
          <p:cNvPr id="82" name="Connector 81"/>
          <p:cNvCxnSpPr/>
          <p:nvPr/>
        </p:nvCxnSpPr>
        <p:spPr>
          <a:xfrm flipV="1">
            <a:off x="6007607" y="4526280"/>
            <a:ext cx="0" cy="137160"/>
          </a:xfrm>
          <a:prstGeom prst="line">
            <a:avLst/>
          </a:prstGeom>
          <a:ln w="2222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7818119" y="4526280"/>
            <a:ext cx="0" cy="137160"/>
          </a:xfrm>
          <a:prstGeom prst="line">
            <a:avLst/>
          </a:prstGeom>
          <a:ln w="2222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6007607" y="4526280"/>
            <a:ext cx="1810512" cy="0"/>
          </a:xfrm>
          <a:prstGeom prst="line">
            <a:avLst/>
          </a:prstGeom>
          <a:ln w="2222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5541263" y="4114800"/>
            <a:ext cx="2743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1D3557"/>
                </a:solidFill>
                <a:latin typeface="PT Sans"/>
              </a:rPr>
              <a:t>20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007607" y="5349240"/>
            <a:ext cx="196596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007A5A"/>
                </a:solidFill>
                <a:latin typeface="PT Sans"/>
              </a:rPr>
              <a:t>(20 − 8) ÷ 3 = 4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8503920" y="1234440"/>
            <a:ext cx="3255264" cy="4617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503920" y="1280160"/>
            <a:ext cx="325526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Туюнтмалар</a:t>
            </a:r>
          </a:p>
        </p:txBody>
      </p:sp>
      <p:sp>
        <p:nvSpPr>
          <p:cNvPr id="89" name="Oval 88"/>
          <p:cNvSpPr/>
          <p:nvPr/>
        </p:nvSpPr>
        <p:spPr>
          <a:xfrm>
            <a:off x="8686800" y="18745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189720" y="1783080"/>
            <a:ext cx="246888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3² + 2</a:t>
            </a:r>
          </a:p>
        </p:txBody>
      </p:sp>
      <p:sp>
        <p:nvSpPr>
          <p:cNvPr id="91" name="Oval 90"/>
          <p:cNvSpPr/>
          <p:nvPr/>
        </p:nvSpPr>
        <p:spPr>
          <a:xfrm>
            <a:off x="8686800" y="2542032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189720" y="2450591"/>
            <a:ext cx="246888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(20 − 8) ÷ 3</a:t>
            </a:r>
          </a:p>
        </p:txBody>
      </p:sp>
      <p:sp>
        <p:nvSpPr>
          <p:cNvPr id="93" name="Oval 92"/>
          <p:cNvSpPr/>
          <p:nvPr/>
        </p:nvSpPr>
        <p:spPr>
          <a:xfrm>
            <a:off x="8686800" y="3209544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189720" y="3118104"/>
            <a:ext cx="246888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2 × 3²</a:t>
            </a:r>
          </a:p>
        </p:txBody>
      </p:sp>
      <p:sp>
        <p:nvSpPr>
          <p:cNvPr id="95" name="Oval 94"/>
          <p:cNvSpPr/>
          <p:nvPr/>
        </p:nvSpPr>
        <p:spPr>
          <a:xfrm>
            <a:off x="8686800" y="3877055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189720" y="3785615"/>
            <a:ext cx="246888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4² − 2²</a:t>
            </a:r>
          </a:p>
        </p:txBody>
      </p:sp>
      <p:sp>
        <p:nvSpPr>
          <p:cNvPr id="97" name="Oval 96"/>
          <p:cNvSpPr/>
          <p:nvPr/>
        </p:nvSpPr>
        <p:spPr>
          <a:xfrm>
            <a:off x="8686800" y="4544568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189720" y="4453128"/>
            <a:ext cx="246888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5 + 3 × 4</a:t>
            </a:r>
          </a:p>
        </p:txBody>
      </p:sp>
      <p:sp>
        <p:nvSpPr>
          <p:cNvPr id="99" name="Oval 98"/>
          <p:cNvSpPr/>
          <p:nvPr/>
        </p:nvSpPr>
        <p:spPr>
          <a:xfrm>
            <a:off x="8686800" y="521207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1D3557"/>
                </a:solidFill>
                <a:latin typeface="PT Sans"/>
              </a:rPr>
              <a:t>6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189720" y="5120640"/>
            <a:ext cx="246888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2 × (4 + 5)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Мугалим сенсиң!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 Оюндар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Оюн · Катаны тап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4592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Кызыл жана көк лентанын катышы 2 : 7. Көк лента кызылдан 35 см узун. Кызыл лента канча?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697480"/>
            <a:ext cx="603504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834640"/>
            <a:ext cx="5669280" cy="3108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1) Кызыл = 2 бирдик, Көк = 7 бирдик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2000" b="0" i="0">
                <a:solidFill>
                  <a:srgbClr val="1F2430"/>
                </a:solidFill>
                <a:latin typeface="PT Sans"/>
              </a:rPr>
              <a:t>2) 2 × 35 ÷ 7 − 2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2000" b="0" i="0">
                <a:solidFill>
                  <a:srgbClr val="1F2430"/>
                </a:solidFill>
                <a:latin typeface="PT Sans"/>
              </a:rPr>
              <a:t>3) 2 × 35 = 70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2000" b="0" i="0">
                <a:solidFill>
                  <a:srgbClr val="1F2430"/>
                </a:solidFill>
                <a:latin typeface="PT Sans"/>
              </a:rPr>
              <a:t>4) 70 ÷ 7 = 10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2000" b="0" i="0">
                <a:solidFill>
                  <a:srgbClr val="1F2430"/>
                </a:solidFill>
                <a:latin typeface="PT Sans"/>
              </a:rPr>
              <a:t>5) 10 − 2 = 8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2000" b="0" i="0">
                <a:solidFill>
                  <a:srgbClr val="1F2430"/>
                </a:solidFill>
                <a:latin typeface="PT Sans"/>
              </a:rPr>
              <a:t>Жооп: 8 см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7744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6B7280"/>
                </a:solidFill>
                <a:latin typeface="PT Sans"/>
              </a:rPr>
              <a:t>Тилектин чыгаруусу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23760" y="2697480"/>
            <a:ext cx="411480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52360" y="2880360"/>
            <a:ext cx="3749039" cy="3017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i="0">
                <a:solidFill>
                  <a:srgbClr val="1F2430"/>
                </a:solidFill>
                <a:latin typeface="PT Sans"/>
              </a:rPr>
              <a:t>1. Катаны тап.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[Талдоо]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900" b="1" i="0">
                <a:solidFill>
                  <a:srgbClr val="1F2430"/>
                </a:solidFill>
                <a:latin typeface="PT Sans"/>
              </a:rPr>
              <a:t>2. Жооп акылга сыярлыкпы? Тилекке түшүндүр.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[Баалоо]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900" b="1" i="0">
                <a:solidFill>
                  <a:srgbClr val="1F2430"/>
                </a:solidFill>
                <a:latin typeface="PT Sans"/>
              </a:rPr>
              <a:t>3. Туура чыгар.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[Колдонуу]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Ката кайда?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 Оюндар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Оюн · Катаны тап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512064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874519"/>
            <a:ext cx="4754880" cy="1188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0" i="0">
                <a:solidFill>
                  <a:srgbClr val="1F2430"/>
                </a:solidFill>
                <a:latin typeface="PT Sans"/>
              </a:rPr>
              <a:t>2 × 35 ÷ 7 − 2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1737360"/>
            <a:ext cx="5029200" cy="1463040"/>
          </a:xfrm>
          <a:prstGeom prst="ellipse">
            <a:avLst/>
          </a:prstGeom>
          <a:noFill/>
          <a:ln w="381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2011680"/>
            <a:ext cx="512064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Кашаа жок! Айырма (7 − 2) = 5 бирдик болушу керек.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566160"/>
            <a:ext cx="105156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600" b="1">
                <a:solidFill>
                  <a:srgbClr val="007A5A"/>
                </a:solidFill>
                <a:latin typeface="PT Sans"/>
              </a:rPr>
              <a:t>2 × 35 ÷ (7 − 2) = 70 ÷ 5 = 14 см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4754880"/>
            <a:ext cx="132588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1F2430"/>
                </a:solidFill>
                <a:latin typeface="PT Sans"/>
              </a:rPr>
              <a:t>Кызыл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0" y="4754880"/>
            <a:ext cx="548640" cy="45720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F2430"/>
                </a:solidFill>
                <a:latin typeface="PT Sans"/>
              </a:rPr>
              <a:t>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34640" y="4754880"/>
            <a:ext cx="548640" cy="45720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F2430"/>
                </a:solidFill>
                <a:latin typeface="PT Sans"/>
              </a:rPr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5303520"/>
            <a:ext cx="132588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1F2430"/>
                </a:solidFill>
                <a:latin typeface="PT Sans"/>
              </a:rPr>
              <a:t>Көк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0" y="5303520"/>
            <a:ext cx="548640" cy="45720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F2430"/>
                </a:solidFill>
                <a:latin typeface="PT Sans"/>
              </a:rPr>
              <a:t>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34640" y="5303520"/>
            <a:ext cx="548640" cy="45720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F2430"/>
                </a:solidFill>
                <a:latin typeface="PT Sans"/>
              </a:rPr>
              <a:t>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83280" y="5303520"/>
            <a:ext cx="548640" cy="45720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F2430"/>
                </a:solidFill>
                <a:latin typeface="PT Sans"/>
              </a:rPr>
              <a:t>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31920" y="5303520"/>
            <a:ext cx="548640" cy="45720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F2430"/>
                </a:solidFill>
                <a:latin typeface="PT Sans"/>
              </a:rPr>
              <a:t>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0560" y="5303520"/>
            <a:ext cx="548640" cy="45720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F2430"/>
                </a:solidFill>
                <a:latin typeface="PT Sans"/>
              </a:rPr>
              <a:t>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0" y="5303520"/>
            <a:ext cx="548640" cy="45720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F2430"/>
                </a:solidFill>
                <a:latin typeface="PT Sans"/>
              </a:rPr>
              <a:t>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77840" y="5303520"/>
            <a:ext cx="548640" cy="45720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F2430"/>
                </a:solidFill>
                <a:latin typeface="PT Sans"/>
              </a:rPr>
              <a:t>7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383280" y="5806440"/>
            <a:ext cx="0" cy="137160"/>
          </a:xfrm>
          <a:prstGeom prst="line">
            <a:avLst/>
          </a:prstGeom>
          <a:ln w="22225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126480" y="5806440"/>
            <a:ext cx="0" cy="137160"/>
          </a:xfrm>
          <a:prstGeom prst="line">
            <a:avLst/>
          </a:prstGeom>
          <a:ln w="22225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383280" y="5943600"/>
            <a:ext cx="2743200" cy="0"/>
          </a:xfrm>
          <a:prstGeom prst="line">
            <a:avLst/>
          </a:prstGeom>
          <a:ln w="22225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383280" y="5989320"/>
            <a:ext cx="2743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A84400"/>
                </a:solidFill>
                <a:latin typeface="PT Sans"/>
              </a:rPr>
              <a:t>35 см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4846320"/>
            <a:ext cx="438912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007A5A"/>
                </a:solidFill>
                <a:latin typeface="PT Sans"/>
              </a:rPr>
              <a:t>Текшерүү: 1 бирдик = 7 см, көк = 49 см, 49 − 14 = 35 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Пенальти сериясы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 Оюндар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Класс оюну · Футбол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18872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6B7280"/>
                </a:solidFill>
                <a:latin typeface="PT Sans"/>
              </a:rPr>
              <a:t>Убакыт чеги – тандоо (20 сек., 1 мүн. же убакытсыз). Туура = 1, туура жана түшүндүрдү = 2. Дарбазачы оңдосо: «Сакталды!»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194560"/>
            <a:ext cx="329184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5840" y="2377440"/>
            <a:ext cx="502920" cy="50292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880360"/>
            <a:ext cx="301752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1" i="0">
                <a:solidFill>
                  <a:srgbClr val="1F2430"/>
                </a:solidFill>
                <a:latin typeface="PT Sans"/>
              </a:rPr>
              <a:t>9 + 6 ×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423160"/>
            <a:ext cx="22860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200" b="0" i="0">
                <a:solidFill>
                  <a:srgbClr val="6B7280"/>
                </a:solidFill>
                <a:latin typeface="PT Sans"/>
              </a:rPr>
              <a:t>Колдонуу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2194560"/>
            <a:ext cx="329184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17720" y="2377440"/>
            <a:ext cx="502920" cy="50292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880360"/>
            <a:ext cx="301752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1" i="0">
                <a:solidFill>
                  <a:srgbClr val="1F2430"/>
                </a:solidFill>
                <a:latin typeface="PT Sans"/>
              </a:rPr>
              <a:t>(9 + 6) ×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800" y="2423160"/>
            <a:ext cx="22860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200" b="0" i="0">
                <a:solidFill>
                  <a:srgbClr val="6B7280"/>
                </a:solidFill>
                <a:latin typeface="PT Sans"/>
              </a:rPr>
              <a:t>Колдонуу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194560"/>
            <a:ext cx="329184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29600" y="2377440"/>
            <a:ext cx="502920" cy="50292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80" y="2880360"/>
            <a:ext cx="301752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1" i="0">
                <a:solidFill>
                  <a:srgbClr val="1F2430"/>
                </a:solidFill>
                <a:latin typeface="PT Sans"/>
              </a:rPr>
              <a:t>2/5 × 20 − 3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2423160"/>
            <a:ext cx="22860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200" b="0" i="0">
                <a:solidFill>
                  <a:srgbClr val="6B7280"/>
                </a:solidFill>
                <a:latin typeface="PT Sans"/>
              </a:rPr>
              <a:t>Колдонуу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160520"/>
            <a:ext cx="329184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05840" y="4343400"/>
            <a:ext cx="502920" cy="50292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846320"/>
            <a:ext cx="301752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1F2430"/>
                </a:solidFill>
                <a:latin typeface="PT Sans"/>
              </a:rPr>
              <a:t>Катыш 2 : 5, жалпы 42. Чоң бөлүгү?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4389120"/>
            <a:ext cx="22860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200" b="0" i="0">
                <a:solidFill>
                  <a:srgbClr val="6B7280"/>
                </a:solidFill>
                <a:latin typeface="PT Sans"/>
              </a:rPr>
              <a:t>Талдоо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34840" y="4160520"/>
            <a:ext cx="329184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617720" y="4343400"/>
            <a:ext cx="502920" cy="50292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4846320"/>
            <a:ext cx="301752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1F2430"/>
                </a:solidFill>
                <a:latin typeface="PT Sans"/>
              </a:rPr>
              <a:t>1/3 × (14 − 5) + 1/2 × 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7800" y="4389120"/>
            <a:ext cx="22860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200" b="0" i="0">
                <a:solidFill>
                  <a:srgbClr val="6B7280"/>
                </a:solidFill>
                <a:latin typeface="PT Sans"/>
              </a:rPr>
              <a:t>Колдонуу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20" y="4160520"/>
            <a:ext cx="329184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A84400"/>
                </a:solidFill>
                <a:latin typeface="PT Sans"/>
              </a:rPr>
              <a:t>Үч бурчтуктар</a:t>
            </a:r>
          </a:p>
          <a:p>
            <a:pPr algn="ctr"/>
            <a:r>
              <a:rPr sz="1800" b="1">
                <a:solidFill>
                  <a:srgbClr val="A84400"/>
                </a:solidFill>
                <a:latin typeface="PT Sans"/>
              </a:rPr>
              <a:t>—  :  —</a:t>
            </a:r>
          </a:p>
          <a:p>
            <a:pPr algn="ctr"/>
            <a:r>
              <a:rPr sz="1800" b="1">
                <a:solidFill>
                  <a:srgbClr val="A84400"/>
                </a:solidFill>
                <a:latin typeface="PT Sans"/>
              </a:rPr>
              <a:t>Тегерекчелер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Бүт класс бир добуш менен!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 Оюндар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Класс оюну · Бат жооп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51206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011680"/>
            <a:ext cx="45720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A84400"/>
                </a:solidFill>
                <a:latin typeface="PT Sans"/>
              </a:rPr>
              <a:t>8 + 2 ×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788920"/>
            <a:ext cx="45720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Биринчи кайсы амал? Жооп?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23360" y="3200400"/>
            <a:ext cx="1737360" cy="347472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1D3557"/>
                </a:solidFill>
                <a:latin typeface="PT Sans"/>
              </a:rPr>
              <a:t>Блум: Эстөө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828800"/>
            <a:ext cx="51206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011680"/>
            <a:ext cx="45720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A84400"/>
                </a:solidFill>
                <a:latin typeface="PT Sans"/>
              </a:rPr>
              <a:t>1/2 × 10 + 1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788920"/>
            <a:ext cx="45720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Жооп канча?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18320" y="3200400"/>
            <a:ext cx="1737360" cy="347472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1D3557"/>
                </a:solidFill>
                <a:latin typeface="PT Sans"/>
              </a:rPr>
              <a:t>Блум: Колдонуу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931920"/>
            <a:ext cx="51206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114800"/>
            <a:ext cx="45720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A84400"/>
                </a:solidFill>
                <a:latin typeface="PT Sans"/>
              </a:rPr>
              <a:t>1 :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892040"/>
            <a:ext cx="45720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Кичинеси 7. Чоңу канча?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23360" y="5303520"/>
            <a:ext cx="1737360" cy="347472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1D3557"/>
                </a:solidFill>
                <a:latin typeface="PT Sans"/>
              </a:rPr>
              <a:t>Блум: Түшүнүү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931920"/>
            <a:ext cx="51206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4114800"/>
            <a:ext cx="45720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A84400"/>
                </a:solidFill>
                <a:latin typeface="PT Sans"/>
              </a:rPr>
              <a:t>2 + 3 × 4 = 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892040"/>
            <a:ext cx="45720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Кашааны кайда коёбуз?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18320" y="5303520"/>
            <a:ext cx="1737360" cy="347472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1D3557"/>
                </a:solidFill>
                <a:latin typeface="PT Sans"/>
              </a:rPr>
              <a:t>Блум: Талдоо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Жуп менен үч деңгээл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 Оюндар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Класс оюну · Рали жарышы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108960"/>
            <a:ext cx="3291840" cy="548640"/>
          </a:xfrm>
          <a:prstGeom prst="roundRect">
            <a:avLst>
              <a:gd name="adj" fmla="val 3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108960"/>
            <a:ext cx="3291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FFFFFF"/>
                </a:solidFill>
                <a:latin typeface="PT Sans"/>
              </a:rPr>
              <a:t>1. Тоо этеги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794760"/>
            <a:ext cx="329184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931920"/>
            <a:ext cx="2926080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1F2430"/>
                </a:solidFill>
                <a:latin typeface="PT Sans"/>
              </a:rPr>
              <a:t>•  50 − 5 × 6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600" b="0" i="0">
                <a:solidFill>
                  <a:srgbClr val="1F2430"/>
                </a:solidFill>
                <a:latin typeface="PT Sans"/>
              </a:rPr>
              <a:t>•  (50 − 5) ÷ 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468880"/>
            <a:ext cx="3291840" cy="548640"/>
          </a:xfrm>
          <a:prstGeom prst="roundRect">
            <a:avLst>
              <a:gd name="adj" fmla="val 3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2468880"/>
            <a:ext cx="3291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FFFFFF"/>
                </a:solidFill>
                <a:latin typeface="PT Sans"/>
              </a:rPr>
              <a:t>2. Ашуу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3154680"/>
            <a:ext cx="3291840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3291840"/>
            <a:ext cx="2926080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1F2430"/>
                </a:solidFill>
                <a:latin typeface="PT Sans"/>
              </a:rPr>
              <a:t>•  5/6 × 12 − 4 ÷ 2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600" b="0" i="0">
                <a:solidFill>
                  <a:srgbClr val="1F2430"/>
                </a:solidFill>
                <a:latin typeface="PT Sans"/>
              </a:rPr>
              <a:t>•  Катыш 3 : 4, жалпы 56. Айырмасы?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1828800"/>
            <a:ext cx="3291840" cy="548640"/>
          </a:xfrm>
          <a:prstGeom prst="roundRect">
            <a:avLst>
              <a:gd name="adj" fmla="val 3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79" y="1828800"/>
            <a:ext cx="3291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FFFFFF"/>
                </a:solidFill>
                <a:latin typeface="PT Sans"/>
              </a:rPr>
              <a:t>3. Чоку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79" y="2514600"/>
            <a:ext cx="3291840" cy="3154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59" y="2651760"/>
            <a:ext cx="2926080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1F2430"/>
                </a:solidFill>
                <a:latin typeface="PT Sans"/>
              </a:rPr>
              <a:t>•  Айпери : Эрлан = 5 : 3. Айпери 8 стикер берсе, теңелет. Башында канчадан?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600" b="0" i="0">
                <a:solidFill>
                  <a:srgbClr val="1F2430"/>
                </a:solidFill>
                <a:latin typeface="PT Sans"/>
              </a:rPr>
              <a:t>•  (7 − 2) × 6 = 30 үчүн өз маселеңди түз  [Түзүү]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89788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Ката болсо: «техникалык тыныгуу», катаны өзүңөр табасыңар. Утуш тездик үчүн эмес, катасыз бүтүргөнгө.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8 суроо: жеңилден экспертке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 Оюндар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Класс оюну · Төрттү бириктир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783080"/>
            <a:ext cx="251460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74519"/>
            <a:ext cx="16459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007A5A"/>
                </a:solidFill>
                <a:latin typeface="PT Sans"/>
              </a:rPr>
              <a:t>1 · Жеңил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240280"/>
            <a:ext cx="2240280" cy="1417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15 − 3 × 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40" y="1783080"/>
            <a:ext cx="251460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1874519"/>
            <a:ext cx="16459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007A5A"/>
                </a:solidFill>
                <a:latin typeface="PT Sans"/>
              </a:rPr>
              <a:t>2 · Жеңил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240280"/>
            <a:ext cx="2240280" cy="1417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(15 − 3) × 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783080"/>
            <a:ext cx="251460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874519"/>
            <a:ext cx="16459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24418C"/>
                </a:solidFill>
                <a:latin typeface="PT Sans"/>
              </a:rPr>
              <a:t>3 · Орто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240280"/>
            <a:ext cx="2240280" cy="1417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3/8 × 24 + 5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15400" y="1783080"/>
            <a:ext cx="251460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52560" y="1874519"/>
            <a:ext cx="16459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24418C"/>
                </a:solidFill>
                <a:latin typeface="PT Sans"/>
              </a:rPr>
              <a:t>4 · Орто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2240280"/>
            <a:ext cx="2240280" cy="1417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100 ÷ (4 × 5) − 1/2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3931920"/>
            <a:ext cx="251460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023359"/>
            <a:ext cx="16459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A84400"/>
                </a:solidFill>
                <a:latin typeface="PT Sans"/>
              </a:rPr>
              <a:t>5 · Татаал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389120"/>
            <a:ext cx="2240280" cy="1417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Марка 3 : 8, айырма 40. Экөөндө бирге?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20440" y="3931920"/>
            <a:ext cx="251460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0" y="4023359"/>
            <a:ext cx="16459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A84400"/>
                </a:solidFill>
                <a:latin typeface="PT Sans"/>
              </a:rPr>
              <a:t>6 · Татаал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4389120"/>
            <a:ext cx="2240280" cy="1417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Жаңыл = Мирландын 2/5 бөлүгү, айырма 18. Бирге?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3931920"/>
            <a:ext cx="251460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4023359"/>
            <a:ext cx="16459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D3557"/>
                </a:solidFill>
                <a:latin typeface="PT Sans"/>
              </a:rPr>
              <a:t>7 · Эксперт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4389120"/>
            <a:ext cx="2240280" cy="1417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Кызыл : жашыл = 4 : 5. +12 кызыл → 2 : 1. Башында жашыл?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15400" y="3931920"/>
            <a:ext cx="251460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52560" y="4023359"/>
            <a:ext cx="16459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D3557"/>
                </a:solidFill>
                <a:latin typeface="PT Sans"/>
              </a:rPr>
              <a:t>8 · Эксперт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0" y="4389120"/>
            <a:ext cx="2240280" cy="1417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Кашаа кой: 6 + 18 ÷ 3 × 2 = 16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10/19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Тарсия: кесип, жанаштыр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 Оюндар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Басылма · Тарсия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1115568"/>
            <a:ext cx="11329416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0" i="1">
                <a:solidFill>
                  <a:srgbClr val="6B7280"/>
                </a:solidFill>
                <a:latin typeface="PT Sans"/>
              </a:rPr>
              <a:t>Суроо жазылган жакты анын жообу жазылган жак менен жанаштыр. Алты бурчтук чыгат!</a:t>
            </a:r>
          </a:p>
        </p:txBody>
      </p:sp>
      <p:cxnSp>
        <p:nvCxnSpPr>
          <p:cNvPr id="9" name="Connector 8"/>
          <p:cNvCxnSpPr/>
          <p:nvPr/>
        </p:nvCxnSpPr>
        <p:spPr>
          <a:xfrm flipH="1" flipV="1">
            <a:off x="1211580" y="2156352"/>
            <a:ext cx="937260" cy="1623382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211580" y="2156352"/>
            <a:ext cx="1874519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2148840" y="2156352"/>
            <a:ext cx="937259" cy="1623382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 rot="3600000">
            <a:off x="1026730" y="2702867"/>
            <a:ext cx="1687067" cy="310896"/>
          </a:xfrm>
          <a:prstGeom prst="rect">
            <a:avLst/>
          </a:prstGeom>
          <a:noFill/>
        </p:spPr>
        <p:txBody>
          <a:bodyPr wrap="non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1F2430"/>
                </a:solidFill>
                <a:latin typeface="PT Sans"/>
              </a:rPr>
              <a:t>1/2 + 1/4 × 2</a:t>
            </a:r>
          </a:p>
        </p:txBody>
      </p:sp>
      <p:sp>
        <p:nvSpPr>
          <p:cNvPr id="13" name="TextBox 12"/>
          <p:cNvSpPr txBox="1"/>
          <p:nvPr/>
        </p:nvSpPr>
        <p:spPr>
          <a:xfrm rot="18000000">
            <a:off x="1583881" y="2702867"/>
            <a:ext cx="1687067" cy="310896"/>
          </a:xfrm>
          <a:prstGeom prst="rect">
            <a:avLst/>
          </a:prstGeom>
          <a:noFill/>
        </p:spPr>
        <p:txBody>
          <a:bodyPr wrap="non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24418C"/>
                </a:solidFill>
                <a:latin typeface="PT Sans"/>
              </a:rPr>
              <a:t>15</a:t>
            </a:r>
          </a:p>
        </p:txBody>
      </p:sp>
      <p:sp>
        <p:nvSpPr>
          <p:cNvPr id="14" name="Oval 13"/>
          <p:cNvSpPr/>
          <p:nvPr/>
        </p:nvSpPr>
        <p:spPr>
          <a:xfrm>
            <a:off x="1965960" y="2514600"/>
            <a:ext cx="365760" cy="365760"/>
          </a:xfrm>
          <a:prstGeom prst="ellipse">
            <a:avLst/>
          </a:prstGeom>
          <a:noFill/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6B7280"/>
                </a:solidFill>
                <a:latin typeface="PT Sans"/>
              </a:rPr>
              <a:t>В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5143500" y="3238607"/>
            <a:ext cx="1874520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5143500" y="1615225"/>
            <a:ext cx="937260" cy="1623382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080760" y="1615225"/>
            <a:ext cx="937260" cy="1623382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237226" y="2863703"/>
            <a:ext cx="1687068" cy="310896"/>
          </a:xfrm>
          <a:prstGeom prst="rect">
            <a:avLst/>
          </a:prstGeom>
          <a:noFill/>
        </p:spPr>
        <p:txBody>
          <a:bodyPr wrap="non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1F2430"/>
                </a:solidFill>
                <a:latin typeface="PT Sans"/>
              </a:rPr>
              <a:t>20 − 12 ÷ 4</a:t>
            </a:r>
          </a:p>
        </p:txBody>
      </p:sp>
      <p:sp>
        <p:nvSpPr>
          <p:cNvPr id="19" name="TextBox 18"/>
          <p:cNvSpPr txBox="1"/>
          <p:nvPr/>
        </p:nvSpPr>
        <p:spPr>
          <a:xfrm rot="3600000">
            <a:off x="5515801" y="2381196"/>
            <a:ext cx="1687068" cy="310896"/>
          </a:xfrm>
          <a:prstGeom prst="rect">
            <a:avLst/>
          </a:prstGeom>
          <a:noFill/>
        </p:spPr>
        <p:txBody>
          <a:bodyPr wrap="non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24418C"/>
                </a:solidFill>
                <a:latin typeface="PT Sans"/>
              </a:rPr>
              <a:t>2</a:t>
            </a:r>
          </a:p>
        </p:txBody>
      </p:sp>
      <p:sp>
        <p:nvSpPr>
          <p:cNvPr id="20" name="Oval 19"/>
          <p:cNvSpPr/>
          <p:nvPr/>
        </p:nvSpPr>
        <p:spPr>
          <a:xfrm>
            <a:off x="5897880" y="2514600"/>
            <a:ext cx="365760" cy="365760"/>
          </a:xfrm>
          <a:prstGeom prst="ellipse">
            <a:avLst/>
          </a:prstGeom>
          <a:noFill/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6B7280"/>
                </a:solidFill>
                <a:latin typeface="PT Sans"/>
              </a:rPr>
              <a:t>Г</a:t>
            </a:r>
          </a:p>
        </p:txBody>
      </p:sp>
      <p:cxnSp>
        <p:nvCxnSpPr>
          <p:cNvPr id="21" name="Connector 20"/>
          <p:cNvCxnSpPr/>
          <p:nvPr/>
        </p:nvCxnSpPr>
        <p:spPr>
          <a:xfrm flipH="1" flipV="1">
            <a:off x="9075419" y="2156352"/>
            <a:ext cx="937261" cy="1623382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075419" y="2156352"/>
            <a:ext cx="1874520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10012680" y="2156352"/>
            <a:ext cx="937259" cy="1623382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 rot="3600000">
            <a:off x="8890570" y="2702867"/>
            <a:ext cx="1687068" cy="310896"/>
          </a:xfrm>
          <a:prstGeom prst="rect">
            <a:avLst/>
          </a:prstGeom>
          <a:noFill/>
        </p:spPr>
        <p:txBody>
          <a:bodyPr wrap="non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1F2430"/>
                </a:solidFill>
                <a:latin typeface="PT Sans"/>
              </a:rPr>
              <a:t>36 ÷ (2 + 4) × 3</a:t>
            </a:r>
          </a:p>
        </p:txBody>
      </p:sp>
      <p:sp>
        <p:nvSpPr>
          <p:cNvPr id="25" name="TextBox 24"/>
          <p:cNvSpPr txBox="1"/>
          <p:nvPr/>
        </p:nvSpPr>
        <p:spPr>
          <a:xfrm rot="18000000">
            <a:off x="9447721" y="2702867"/>
            <a:ext cx="1687067" cy="310896"/>
          </a:xfrm>
          <a:prstGeom prst="rect">
            <a:avLst/>
          </a:prstGeom>
          <a:noFill/>
        </p:spPr>
        <p:txBody>
          <a:bodyPr wrap="non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24418C"/>
                </a:solidFill>
                <a:latin typeface="PT Sans"/>
              </a:rPr>
              <a:t>17</a:t>
            </a:r>
          </a:p>
        </p:txBody>
      </p:sp>
      <p:sp>
        <p:nvSpPr>
          <p:cNvPr id="26" name="Oval 25"/>
          <p:cNvSpPr/>
          <p:nvPr/>
        </p:nvSpPr>
        <p:spPr>
          <a:xfrm>
            <a:off x="9829799" y="2514600"/>
            <a:ext cx="365760" cy="365760"/>
          </a:xfrm>
          <a:prstGeom prst="ellipse">
            <a:avLst/>
          </a:prstGeom>
          <a:noFill/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6B7280"/>
                </a:solidFill>
                <a:latin typeface="PT Sans"/>
              </a:rPr>
              <a:t>Б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1211580" y="5753207"/>
            <a:ext cx="1874520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211580" y="4129825"/>
            <a:ext cx="937259" cy="1623382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148839" y="4129825"/>
            <a:ext cx="937261" cy="1623382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305306" y="5378303"/>
            <a:ext cx="1687068" cy="310896"/>
          </a:xfrm>
          <a:prstGeom prst="rect">
            <a:avLst/>
          </a:prstGeom>
          <a:noFill/>
        </p:spPr>
        <p:txBody>
          <a:bodyPr wrap="non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1F2430"/>
                </a:solidFill>
                <a:latin typeface="PT Sans"/>
              </a:rPr>
              <a:t>(20 − 12) ÷ 4</a:t>
            </a:r>
          </a:p>
        </p:txBody>
      </p:sp>
      <p:sp>
        <p:nvSpPr>
          <p:cNvPr id="31" name="TextBox 30"/>
          <p:cNvSpPr txBox="1"/>
          <p:nvPr/>
        </p:nvSpPr>
        <p:spPr>
          <a:xfrm rot="3600000">
            <a:off x="1583881" y="4895796"/>
            <a:ext cx="1687067" cy="310896"/>
          </a:xfrm>
          <a:prstGeom prst="rect">
            <a:avLst/>
          </a:prstGeom>
          <a:noFill/>
        </p:spPr>
        <p:txBody>
          <a:bodyPr wrap="non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24418C"/>
                </a:solidFill>
                <a:latin typeface="PT Sans"/>
              </a:rPr>
              <a:t>11</a:t>
            </a:r>
          </a:p>
        </p:txBody>
      </p:sp>
      <p:sp>
        <p:nvSpPr>
          <p:cNvPr id="32" name="Oval 31"/>
          <p:cNvSpPr/>
          <p:nvPr/>
        </p:nvSpPr>
        <p:spPr>
          <a:xfrm>
            <a:off x="1965960" y="5029200"/>
            <a:ext cx="365760" cy="365760"/>
          </a:xfrm>
          <a:prstGeom prst="ellipse">
            <a:avLst/>
          </a:prstGeom>
          <a:noFill/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6B7280"/>
                </a:solidFill>
                <a:latin typeface="PT Sans"/>
              </a:rPr>
              <a:t>А</a:t>
            </a:r>
          </a:p>
        </p:txBody>
      </p:sp>
      <p:cxnSp>
        <p:nvCxnSpPr>
          <p:cNvPr id="33" name="Connector 32"/>
          <p:cNvCxnSpPr/>
          <p:nvPr/>
        </p:nvCxnSpPr>
        <p:spPr>
          <a:xfrm flipH="1" flipV="1">
            <a:off x="5143500" y="4670952"/>
            <a:ext cx="937260" cy="1623382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143500" y="4670952"/>
            <a:ext cx="1874520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6080760" y="4670952"/>
            <a:ext cx="937260" cy="1623382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 rot="3600000">
            <a:off x="4958650" y="5217467"/>
            <a:ext cx="1687067" cy="310896"/>
          </a:xfrm>
          <a:prstGeom prst="rect">
            <a:avLst/>
          </a:prstGeom>
          <a:noFill/>
        </p:spPr>
        <p:txBody>
          <a:bodyPr wrap="non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1F2430"/>
                </a:solidFill>
                <a:latin typeface="PT Sans"/>
              </a:rPr>
              <a:t>25ти 2 : 3 бөл. Чоңу?</a:t>
            </a:r>
          </a:p>
        </p:txBody>
      </p:sp>
      <p:sp>
        <p:nvSpPr>
          <p:cNvPr id="37" name="TextBox 36"/>
          <p:cNvSpPr txBox="1"/>
          <p:nvPr/>
        </p:nvSpPr>
        <p:spPr>
          <a:xfrm rot="18000000">
            <a:off x="5515801" y="5217467"/>
            <a:ext cx="1687068" cy="310896"/>
          </a:xfrm>
          <a:prstGeom prst="rect">
            <a:avLst/>
          </a:prstGeom>
          <a:noFill/>
        </p:spPr>
        <p:txBody>
          <a:bodyPr wrap="non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24418C"/>
                </a:solidFill>
                <a:latin typeface="PT Sans"/>
              </a:rPr>
              <a:t>18</a:t>
            </a:r>
          </a:p>
        </p:txBody>
      </p:sp>
      <p:sp>
        <p:nvSpPr>
          <p:cNvPr id="38" name="Oval 37"/>
          <p:cNvSpPr/>
          <p:nvPr/>
        </p:nvSpPr>
        <p:spPr>
          <a:xfrm>
            <a:off x="5897880" y="5029200"/>
            <a:ext cx="365760" cy="365760"/>
          </a:xfrm>
          <a:prstGeom prst="ellipse">
            <a:avLst/>
          </a:prstGeom>
          <a:noFill/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6B7280"/>
                </a:solidFill>
                <a:latin typeface="PT Sans"/>
              </a:rPr>
              <a:t>Д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075419" y="4670952"/>
            <a:ext cx="1874520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10012680" y="4670952"/>
            <a:ext cx="937259" cy="1623382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 flipV="1">
            <a:off x="9075419" y="4670952"/>
            <a:ext cx="937261" cy="1623382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 rot="0">
            <a:off x="9169146" y="4734960"/>
            <a:ext cx="1687067" cy="310896"/>
          </a:xfrm>
          <a:prstGeom prst="rect">
            <a:avLst/>
          </a:prstGeom>
          <a:noFill/>
        </p:spPr>
        <p:txBody>
          <a:bodyPr wrap="non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1F2430"/>
                </a:solidFill>
                <a:latin typeface="PT Sans"/>
              </a:rPr>
              <a:t>3/5 × 15 + 2</a:t>
            </a:r>
          </a:p>
        </p:txBody>
      </p:sp>
      <p:sp>
        <p:nvSpPr>
          <p:cNvPr id="43" name="TextBox 42"/>
          <p:cNvSpPr txBox="1"/>
          <p:nvPr/>
        </p:nvSpPr>
        <p:spPr>
          <a:xfrm rot="3600000">
            <a:off x="8890570" y="5217467"/>
            <a:ext cx="1687068" cy="310896"/>
          </a:xfrm>
          <a:prstGeom prst="rect">
            <a:avLst/>
          </a:prstGeom>
          <a:noFill/>
        </p:spPr>
        <p:txBody>
          <a:bodyPr wrap="non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24418C"/>
                </a:solidFill>
                <a:latin typeface="PT Sans"/>
              </a:rPr>
              <a:t>1</a:t>
            </a:r>
          </a:p>
        </p:txBody>
      </p:sp>
      <p:sp>
        <p:nvSpPr>
          <p:cNvPr id="44" name="Oval 43"/>
          <p:cNvSpPr/>
          <p:nvPr/>
        </p:nvSpPr>
        <p:spPr>
          <a:xfrm>
            <a:off x="9829800" y="5029200"/>
            <a:ext cx="365760" cy="365760"/>
          </a:xfrm>
          <a:prstGeom prst="ellipse">
            <a:avLst/>
          </a:prstGeom>
          <a:noFill/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6B7280"/>
                </a:solidFill>
                <a:latin typeface="PT Sans"/>
              </a:rPr>
              <a:t>Е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11/19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Тарсия: жооптору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 Оюндар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Басылма · Тарсия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3429000" y="1234439"/>
            <a:ext cx="0" cy="2514600"/>
          </a:xfrm>
          <a:prstGeom prst="line">
            <a:avLst/>
          </a:prstGeom>
          <a:ln w="2540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429000" y="1234439"/>
            <a:ext cx="2177707" cy="1257300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3429000" y="2491739"/>
            <a:ext cx="2177707" cy="1257300"/>
          </a:xfrm>
          <a:prstGeom prst="line">
            <a:avLst/>
          </a:prstGeom>
          <a:ln w="2540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 rot="5400000">
            <a:off x="2516886" y="2336291"/>
            <a:ext cx="2263140" cy="310896"/>
          </a:xfrm>
          <a:prstGeom prst="rect">
            <a:avLst/>
          </a:prstGeom>
          <a:noFill/>
        </p:spPr>
        <p:txBody>
          <a:bodyPr wrap="non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1F2430"/>
                </a:solidFill>
                <a:latin typeface="PT Sans"/>
              </a:rPr>
              <a:t>20 − 12 ÷ 4</a:t>
            </a:r>
          </a:p>
        </p:txBody>
      </p:sp>
      <p:sp>
        <p:nvSpPr>
          <p:cNvPr id="12" name="TextBox 11"/>
          <p:cNvSpPr txBox="1"/>
          <p:nvPr/>
        </p:nvSpPr>
        <p:spPr>
          <a:xfrm rot="19800000">
            <a:off x="3276555" y="2774887"/>
            <a:ext cx="2263140" cy="310896"/>
          </a:xfrm>
          <a:prstGeom prst="rect">
            <a:avLst/>
          </a:prstGeom>
          <a:noFill/>
        </p:spPr>
        <p:txBody>
          <a:bodyPr wrap="non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2</a:t>
            </a:r>
          </a:p>
        </p:txBody>
      </p:sp>
      <p:sp>
        <p:nvSpPr>
          <p:cNvPr id="13" name="Oval 12"/>
          <p:cNvSpPr/>
          <p:nvPr/>
        </p:nvSpPr>
        <p:spPr>
          <a:xfrm>
            <a:off x="3972022" y="2308859"/>
            <a:ext cx="365760" cy="365760"/>
          </a:xfrm>
          <a:prstGeom prst="ellipse">
            <a:avLst/>
          </a:prstGeom>
          <a:noFill/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6B7280"/>
                </a:solidFill>
                <a:latin typeface="PT Sans"/>
              </a:rPr>
              <a:t>Г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3429000" y="2491739"/>
            <a:ext cx="2177707" cy="1257300"/>
          </a:xfrm>
          <a:prstGeom prst="line">
            <a:avLst/>
          </a:prstGeom>
          <a:ln w="2540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606707" y="2491739"/>
            <a:ext cx="0" cy="2514601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 flipV="1">
            <a:off x="3429000" y="3749039"/>
            <a:ext cx="2177707" cy="1257301"/>
          </a:xfrm>
          <a:prstGeom prst="line">
            <a:avLst/>
          </a:prstGeom>
          <a:ln w="2540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 rot="19800000">
            <a:off x="3496011" y="3154996"/>
            <a:ext cx="2263140" cy="310896"/>
          </a:xfrm>
          <a:prstGeom prst="rect">
            <a:avLst/>
          </a:prstGeom>
          <a:noFill/>
        </p:spPr>
        <p:txBody>
          <a:bodyPr wrap="non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1F2430"/>
                </a:solidFill>
                <a:latin typeface="PT Sans"/>
              </a:rPr>
              <a:t>(20 − 12) ÷ 4</a:t>
            </a:r>
          </a:p>
        </p:txBody>
      </p:sp>
      <p:sp>
        <p:nvSpPr>
          <p:cNvPr id="18" name="TextBox 17"/>
          <p:cNvSpPr txBox="1"/>
          <p:nvPr/>
        </p:nvSpPr>
        <p:spPr>
          <a:xfrm rot="1800000">
            <a:off x="3496011" y="4032187"/>
            <a:ext cx="2263140" cy="310896"/>
          </a:xfrm>
          <a:prstGeom prst="rect">
            <a:avLst/>
          </a:prstGeom>
          <a:noFill/>
        </p:spPr>
        <p:txBody>
          <a:bodyPr wrap="non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11</a:t>
            </a:r>
          </a:p>
        </p:txBody>
      </p:sp>
      <p:sp>
        <p:nvSpPr>
          <p:cNvPr id="19" name="Oval 18"/>
          <p:cNvSpPr/>
          <p:nvPr/>
        </p:nvSpPr>
        <p:spPr>
          <a:xfrm>
            <a:off x="4697924" y="3566159"/>
            <a:ext cx="365760" cy="365760"/>
          </a:xfrm>
          <a:prstGeom prst="ellipse">
            <a:avLst/>
          </a:prstGeom>
          <a:noFill/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6B7280"/>
                </a:solidFill>
                <a:latin typeface="PT Sans"/>
              </a:rPr>
              <a:t>А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429000" y="3749039"/>
            <a:ext cx="2177707" cy="1257301"/>
          </a:xfrm>
          <a:prstGeom prst="line">
            <a:avLst/>
          </a:prstGeom>
          <a:ln w="2540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3429000" y="5006340"/>
            <a:ext cx="2177707" cy="1257300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3429000" y="3749039"/>
            <a:ext cx="0" cy="2514601"/>
          </a:xfrm>
          <a:prstGeom prst="line">
            <a:avLst/>
          </a:prstGeom>
          <a:ln w="2540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 rot="1800000">
            <a:off x="3276555" y="4412296"/>
            <a:ext cx="2263140" cy="310896"/>
          </a:xfrm>
          <a:prstGeom prst="rect">
            <a:avLst/>
          </a:prstGeom>
          <a:noFill/>
        </p:spPr>
        <p:txBody>
          <a:bodyPr wrap="non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1F2430"/>
                </a:solidFill>
                <a:latin typeface="PT Sans"/>
              </a:rPr>
              <a:t>3/5 × 15 + 2</a:t>
            </a:r>
          </a:p>
        </p:txBody>
      </p:sp>
      <p:sp>
        <p:nvSpPr>
          <p:cNvPr id="24" name="TextBox 23"/>
          <p:cNvSpPr txBox="1"/>
          <p:nvPr/>
        </p:nvSpPr>
        <p:spPr>
          <a:xfrm rot="5400000">
            <a:off x="2516886" y="4850892"/>
            <a:ext cx="2263140" cy="310896"/>
          </a:xfrm>
          <a:prstGeom prst="rect">
            <a:avLst/>
          </a:prstGeom>
          <a:noFill/>
        </p:spPr>
        <p:txBody>
          <a:bodyPr wrap="non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1</a:t>
            </a:r>
          </a:p>
        </p:txBody>
      </p:sp>
      <p:sp>
        <p:nvSpPr>
          <p:cNvPr id="25" name="Oval 24"/>
          <p:cNvSpPr/>
          <p:nvPr/>
        </p:nvSpPr>
        <p:spPr>
          <a:xfrm>
            <a:off x="3972022" y="4823459"/>
            <a:ext cx="365760" cy="365760"/>
          </a:xfrm>
          <a:prstGeom prst="ellipse">
            <a:avLst/>
          </a:prstGeom>
          <a:noFill/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6B7280"/>
                </a:solidFill>
                <a:latin typeface="PT Sans"/>
              </a:rPr>
              <a:t>Е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429000" y="3749039"/>
            <a:ext cx="0" cy="2514601"/>
          </a:xfrm>
          <a:prstGeom prst="line">
            <a:avLst/>
          </a:prstGeom>
          <a:ln w="2540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1251292" y="5006340"/>
            <a:ext cx="2177708" cy="1257300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251292" y="3749039"/>
            <a:ext cx="2177708" cy="1257301"/>
          </a:xfrm>
          <a:prstGeom prst="line">
            <a:avLst/>
          </a:prstGeom>
          <a:ln w="2540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 rot="5400000">
            <a:off x="2077974" y="4850892"/>
            <a:ext cx="2263140" cy="310896"/>
          </a:xfrm>
          <a:prstGeom prst="rect">
            <a:avLst/>
          </a:prstGeom>
          <a:noFill/>
        </p:spPr>
        <p:txBody>
          <a:bodyPr wrap="non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1F2430"/>
                </a:solidFill>
                <a:latin typeface="PT Sans"/>
              </a:rPr>
              <a:t>1/2 + 1/4 × 2</a:t>
            </a:r>
          </a:p>
        </p:txBody>
      </p:sp>
      <p:sp>
        <p:nvSpPr>
          <p:cNvPr id="30" name="TextBox 29"/>
          <p:cNvSpPr txBox="1"/>
          <p:nvPr/>
        </p:nvSpPr>
        <p:spPr>
          <a:xfrm rot="19800000">
            <a:off x="1318304" y="4412296"/>
            <a:ext cx="2263140" cy="310896"/>
          </a:xfrm>
          <a:prstGeom prst="rect">
            <a:avLst/>
          </a:prstGeom>
          <a:noFill/>
        </p:spPr>
        <p:txBody>
          <a:bodyPr wrap="non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15</a:t>
            </a:r>
          </a:p>
        </p:txBody>
      </p:sp>
      <p:sp>
        <p:nvSpPr>
          <p:cNvPr id="31" name="Oval 30"/>
          <p:cNvSpPr/>
          <p:nvPr/>
        </p:nvSpPr>
        <p:spPr>
          <a:xfrm>
            <a:off x="2520217" y="4823459"/>
            <a:ext cx="365760" cy="365760"/>
          </a:xfrm>
          <a:prstGeom prst="ellipse">
            <a:avLst/>
          </a:prstGeom>
          <a:noFill/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6B7280"/>
                </a:solidFill>
                <a:latin typeface="PT Sans"/>
              </a:rPr>
              <a:t>В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1251292" y="3749039"/>
            <a:ext cx="2177708" cy="1257301"/>
          </a:xfrm>
          <a:prstGeom prst="line">
            <a:avLst/>
          </a:prstGeom>
          <a:ln w="2540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1251292" y="2491739"/>
            <a:ext cx="0" cy="2514601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251292" y="2491739"/>
            <a:ext cx="2177708" cy="1257300"/>
          </a:xfrm>
          <a:prstGeom prst="line">
            <a:avLst/>
          </a:prstGeom>
          <a:ln w="2540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 rot="19800000">
            <a:off x="1098848" y="4032187"/>
            <a:ext cx="2263140" cy="310896"/>
          </a:xfrm>
          <a:prstGeom prst="rect">
            <a:avLst/>
          </a:prstGeom>
          <a:noFill/>
        </p:spPr>
        <p:txBody>
          <a:bodyPr wrap="non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1F2430"/>
                </a:solidFill>
                <a:latin typeface="PT Sans"/>
              </a:rPr>
              <a:t>25ти 2 : 3 бөл. Чоңу?</a:t>
            </a:r>
          </a:p>
        </p:txBody>
      </p:sp>
      <p:sp>
        <p:nvSpPr>
          <p:cNvPr id="36" name="TextBox 35"/>
          <p:cNvSpPr txBox="1"/>
          <p:nvPr/>
        </p:nvSpPr>
        <p:spPr>
          <a:xfrm rot="1800000">
            <a:off x="1098848" y="3154996"/>
            <a:ext cx="2263140" cy="310896"/>
          </a:xfrm>
          <a:prstGeom prst="rect">
            <a:avLst/>
          </a:prstGeom>
          <a:noFill/>
        </p:spPr>
        <p:txBody>
          <a:bodyPr wrap="non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18</a:t>
            </a:r>
          </a:p>
        </p:txBody>
      </p:sp>
      <p:sp>
        <p:nvSpPr>
          <p:cNvPr id="37" name="Oval 36"/>
          <p:cNvSpPr/>
          <p:nvPr/>
        </p:nvSpPr>
        <p:spPr>
          <a:xfrm>
            <a:off x="1794315" y="3566159"/>
            <a:ext cx="365760" cy="365760"/>
          </a:xfrm>
          <a:prstGeom prst="ellipse">
            <a:avLst/>
          </a:prstGeom>
          <a:noFill/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6B7280"/>
                </a:solidFill>
                <a:latin typeface="PT Sans"/>
              </a:rPr>
              <a:t>Д</a:t>
            </a:r>
          </a:p>
        </p:txBody>
      </p:sp>
      <p:cxnSp>
        <p:nvCxnSpPr>
          <p:cNvPr id="38" name="Connector 37"/>
          <p:cNvCxnSpPr/>
          <p:nvPr/>
        </p:nvCxnSpPr>
        <p:spPr>
          <a:xfrm flipH="1" flipV="1">
            <a:off x="1251292" y="2491739"/>
            <a:ext cx="2177708" cy="1257300"/>
          </a:xfrm>
          <a:prstGeom prst="line">
            <a:avLst/>
          </a:prstGeom>
          <a:ln w="2540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1251292" y="1234439"/>
            <a:ext cx="2177708" cy="1257300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429000" y="1234439"/>
            <a:ext cx="0" cy="2514600"/>
          </a:xfrm>
          <a:prstGeom prst="line">
            <a:avLst/>
          </a:prstGeom>
          <a:ln w="2540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 rot="1800000">
            <a:off x="1318304" y="2774887"/>
            <a:ext cx="2263140" cy="310896"/>
          </a:xfrm>
          <a:prstGeom prst="rect">
            <a:avLst/>
          </a:prstGeom>
          <a:noFill/>
        </p:spPr>
        <p:txBody>
          <a:bodyPr wrap="non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1F2430"/>
                </a:solidFill>
                <a:latin typeface="PT Sans"/>
              </a:rPr>
              <a:t>36 ÷ (2 + 4) × 3</a:t>
            </a:r>
          </a:p>
        </p:txBody>
      </p:sp>
      <p:sp>
        <p:nvSpPr>
          <p:cNvPr id="42" name="TextBox 41"/>
          <p:cNvSpPr txBox="1"/>
          <p:nvPr/>
        </p:nvSpPr>
        <p:spPr>
          <a:xfrm rot="5400000">
            <a:off x="2077974" y="2336291"/>
            <a:ext cx="2263140" cy="310896"/>
          </a:xfrm>
          <a:prstGeom prst="rect">
            <a:avLst/>
          </a:prstGeom>
          <a:noFill/>
        </p:spPr>
        <p:txBody>
          <a:bodyPr wrap="non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17</a:t>
            </a:r>
          </a:p>
        </p:txBody>
      </p:sp>
      <p:sp>
        <p:nvSpPr>
          <p:cNvPr id="43" name="Oval 42"/>
          <p:cNvSpPr/>
          <p:nvPr/>
        </p:nvSpPr>
        <p:spPr>
          <a:xfrm>
            <a:off x="2520217" y="2308859"/>
            <a:ext cx="365760" cy="365760"/>
          </a:xfrm>
          <a:prstGeom prst="ellipse">
            <a:avLst/>
          </a:prstGeom>
          <a:noFill/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6B7280"/>
                </a:solidFill>
                <a:latin typeface="PT Sans"/>
              </a:rPr>
              <a:t>Б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675120" y="1225296"/>
            <a:ext cx="5084064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>
            <a:off x="6675120" y="1865376"/>
            <a:ext cx="5084064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858000" y="1225296"/>
            <a:ext cx="475488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Жуптар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03720" y="2057400"/>
            <a:ext cx="35661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20 − 12 ÷ 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378440" y="2057400"/>
            <a:ext cx="118872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24418C"/>
                </a:solidFill>
                <a:latin typeface="PT Sans"/>
              </a:rPr>
              <a:t>= 17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03720" y="2715768"/>
            <a:ext cx="35661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(20 − 12) ÷ 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378440" y="2715768"/>
            <a:ext cx="118872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24418C"/>
                </a:solidFill>
                <a:latin typeface="PT Sans"/>
              </a:rPr>
              <a:t>= 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03720" y="3374136"/>
            <a:ext cx="35661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3/5 × 15 + 2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378440" y="3374136"/>
            <a:ext cx="118872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24418C"/>
                </a:solidFill>
                <a:latin typeface="PT Sans"/>
              </a:rPr>
              <a:t>= 11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03720" y="4032504"/>
            <a:ext cx="35661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1/2 + 1/4 × 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378440" y="4032504"/>
            <a:ext cx="118872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24418C"/>
                </a:solidFill>
                <a:latin typeface="PT Sans"/>
              </a:rPr>
              <a:t>= 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903720" y="4690872"/>
            <a:ext cx="35661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25ти 2 : 3 бөл. Чоңу?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378440" y="4690872"/>
            <a:ext cx="118872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24418C"/>
                </a:solidFill>
                <a:latin typeface="PT Sans"/>
              </a:rPr>
              <a:t>= 15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903720" y="5349240"/>
            <a:ext cx="35661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36 ÷ (2 + 4) × 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378440" y="5349240"/>
            <a:ext cx="118872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24418C"/>
                </a:solidFill>
                <a:latin typeface="PT Sans"/>
              </a:rPr>
              <a:t>= 18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12/19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Математикалык бинго: суроолор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 Оюндар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Басылма · Бинго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" y="1225296"/>
            <a:ext cx="3657600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12647" y="1408176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7" y="1728216"/>
            <a:ext cx="329184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6 + 4 × 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59" y="1225296"/>
            <a:ext cx="3657600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434840" y="1408176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1728216"/>
            <a:ext cx="329184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(6 + 4) × 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74152" y="1225296"/>
            <a:ext cx="3657600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57031" y="1408176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7031" y="1728216"/>
            <a:ext cx="329184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40 ÷ (5 + 3)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2871216"/>
            <a:ext cx="3657600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3054096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7" y="3374136"/>
            <a:ext cx="329184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3/4 × 16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51959" y="2871216"/>
            <a:ext cx="3657600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434840" y="3054096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3374136"/>
            <a:ext cx="329184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2/3 × 9 − 2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74152" y="2871216"/>
            <a:ext cx="3657600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57031" y="3054096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57031" y="3374136"/>
            <a:ext cx="329184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1/2 + 1/2 × 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" y="4517136"/>
            <a:ext cx="3657600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12647" y="4700016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7" y="5020056"/>
            <a:ext cx="329184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1F2430"/>
                </a:solidFill>
                <a:latin typeface="PT Sans"/>
              </a:rPr>
              <a:t>Катыш 1 : 4, айырма 21. Кичинеси?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51959" y="4517136"/>
            <a:ext cx="3657600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434840" y="4700016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4840" y="5020056"/>
            <a:ext cx="329184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7 × (8 − 5) + 4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74152" y="4517136"/>
            <a:ext cx="3657600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257031" y="4700016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57031" y="5020056"/>
            <a:ext cx="329184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48 ÷ 4 ÷ 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13/19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Бинго картасы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 Оюндар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Басылма · Бинго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118872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1">
                <a:solidFill>
                  <a:srgbClr val="6B7280"/>
                </a:solidFill>
                <a:latin typeface="PT Sans"/>
              </a:rPr>
              <a:t>Бул сандарды каалаган уячага жаз: 2, 4, 5, 6, 7, 12, 18, 25, 30</a:t>
            </a:r>
          </a:p>
        </p:txBody>
      </p:sp>
      <p:sp>
        <p:nvSpPr>
          <p:cNvPr id="9" name="Rectangle 8"/>
          <p:cNvSpPr/>
          <p:nvPr/>
        </p:nvSpPr>
        <p:spPr>
          <a:xfrm>
            <a:off x="1188720" y="1783080"/>
            <a:ext cx="141732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606040" y="1783080"/>
            <a:ext cx="141732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23360" y="1783080"/>
            <a:ext cx="141732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88720" y="3200400"/>
            <a:ext cx="141732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06040" y="3200400"/>
            <a:ext cx="141732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023360" y="3200400"/>
            <a:ext cx="141732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" y="4617720"/>
            <a:ext cx="141732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606040" y="4617720"/>
            <a:ext cx="141732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023360" y="4617720"/>
            <a:ext cx="141732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5989320"/>
            <a:ext cx="4251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B7280"/>
                </a:solidFill>
                <a:latin typeface="PT Sans"/>
              </a:rPr>
              <a:t>Аты-жөнү: ______________________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1783080"/>
            <a:ext cx="141732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01000" y="1783080"/>
            <a:ext cx="141732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418320" y="1783080"/>
            <a:ext cx="141732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0" y="3200400"/>
            <a:ext cx="141732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01000" y="3200400"/>
            <a:ext cx="141732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418320" y="3200400"/>
            <a:ext cx="141732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0" y="4617720"/>
            <a:ext cx="141732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1000" y="4617720"/>
            <a:ext cx="141732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418320" y="4617720"/>
            <a:ext cx="141732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5989320"/>
            <a:ext cx="4251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B7280"/>
                </a:solidFill>
                <a:latin typeface="PT Sans"/>
              </a:rPr>
              <a:t>Аты-жөнү: ______________________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14/19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Алиппе мээ чабуулу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 Оюндар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Басылма · Алиппе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" y="1225296"/>
            <a:ext cx="135331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19" y="1261872"/>
            <a:ext cx="7315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А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66928" y="2093976"/>
            <a:ext cx="107899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856232" y="1225296"/>
            <a:ext cx="135331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29384" y="1261872"/>
            <a:ext cx="7315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Б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993392" y="2093976"/>
            <a:ext cx="107899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282696" y="1225296"/>
            <a:ext cx="135331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55848" y="1261872"/>
            <a:ext cx="7315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97096" y="1271016"/>
            <a:ext cx="3657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A84400"/>
                </a:solidFill>
                <a:latin typeface="PT Sans"/>
              </a:rPr>
              <a:t>★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419856" y="2093976"/>
            <a:ext cx="107899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709159" y="1225296"/>
            <a:ext cx="135331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82312" y="1261872"/>
            <a:ext cx="7315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23559" y="1271016"/>
            <a:ext cx="3657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A84400"/>
                </a:solidFill>
                <a:latin typeface="PT Sans"/>
              </a:rPr>
              <a:t>★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846320" y="2093976"/>
            <a:ext cx="107899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135624" y="1225296"/>
            <a:ext cx="135331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08776" y="1261872"/>
            <a:ext cx="7315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Д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272784" y="2093976"/>
            <a:ext cx="1078991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562088" y="1225296"/>
            <a:ext cx="135331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35240" y="1261872"/>
            <a:ext cx="7315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76488" y="1271016"/>
            <a:ext cx="3657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A84400"/>
                </a:solidFill>
                <a:latin typeface="PT Sans"/>
              </a:rPr>
              <a:t>★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699248" y="2093976"/>
            <a:ext cx="107899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8988552" y="1225296"/>
            <a:ext cx="135331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61704" y="1261872"/>
            <a:ext cx="7315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Ж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125712" y="2093976"/>
            <a:ext cx="107899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10415016" y="1225296"/>
            <a:ext cx="135331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488168" y="1261872"/>
            <a:ext cx="7315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29416" y="1271016"/>
            <a:ext cx="3657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A84400"/>
                </a:solidFill>
                <a:latin typeface="PT Sans"/>
              </a:rPr>
              <a:t>★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0552176" y="2093976"/>
            <a:ext cx="107899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429768" y="2432304"/>
            <a:ext cx="135331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19" y="2468880"/>
            <a:ext cx="7315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И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66928" y="3300984"/>
            <a:ext cx="107899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1856232" y="2432304"/>
            <a:ext cx="135331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929384" y="2468880"/>
            <a:ext cx="7315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Й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70632" y="2478024"/>
            <a:ext cx="3657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A84400"/>
                </a:solidFill>
                <a:latin typeface="PT Sans"/>
              </a:rPr>
              <a:t>★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1993392" y="3300984"/>
            <a:ext cx="107899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3282696" y="2432304"/>
            <a:ext cx="135331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55848" y="2468880"/>
            <a:ext cx="7315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К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3419856" y="3300984"/>
            <a:ext cx="107899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4709159" y="2432304"/>
            <a:ext cx="135331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82312" y="2468880"/>
            <a:ext cx="7315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Л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23559" y="2478024"/>
            <a:ext cx="3657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A84400"/>
                </a:solidFill>
                <a:latin typeface="PT Sans"/>
              </a:rPr>
              <a:t>★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4846320" y="3300984"/>
            <a:ext cx="107899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6135624" y="2432304"/>
            <a:ext cx="135331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08776" y="2468880"/>
            <a:ext cx="7315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М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6272784" y="3300984"/>
            <a:ext cx="1078991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7562088" y="2432304"/>
            <a:ext cx="135331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635240" y="2468880"/>
            <a:ext cx="7315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Н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7699248" y="3300984"/>
            <a:ext cx="107899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8988552" y="2432304"/>
            <a:ext cx="135331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061704" y="2468880"/>
            <a:ext cx="7315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О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9125712" y="3300984"/>
            <a:ext cx="107899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/>
          <p:cNvSpPr/>
          <p:nvPr/>
        </p:nvSpPr>
        <p:spPr>
          <a:xfrm>
            <a:off x="10415016" y="2432304"/>
            <a:ext cx="135331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488168" y="2468880"/>
            <a:ext cx="7315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Ө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10552176" y="3300984"/>
            <a:ext cx="107899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 61"/>
          <p:cNvSpPr/>
          <p:nvPr/>
        </p:nvSpPr>
        <p:spPr>
          <a:xfrm>
            <a:off x="429768" y="3639312"/>
            <a:ext cx="135331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02919" y="3675888"/>
            <a:ext cx="7315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П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566928" y="4507992"/>
            <a:ext cx="107899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ounded Rectangle 64"/>
          <p:cNvSpPr/>
          <p:nvPr/>
        </p:nvSpPr>
        <p:spPr>
          <a:xfrm>
            <a:off x="1856232" y="3639312"/>
            <a:ext cx="135331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929384" y="3675888"/>
            <a:ext cx="7315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Р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770632" y="3685032"/>
            <a:ext cx="3657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A84400"/>
                </a:solidFill>
                <a:latin typeface="PT Sans"/>
              </a:rPr>
              <a:t>★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1993392" y="4507992"/>
            <a:ext cx="107899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ounded Rectangle 68"/>
          <p:cNvSpPr/>
          <p:nvPr/>
        </p:nvSpPr>
        <p:spPr>
          <a:xfrm>
            <a:off x="3282696" y="3639312"/>
            <a:ext cx="135331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355848" y="3675888"/>
            <a:ext cx="7315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С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3419856" y="4507992"/>
            <a:ext cx="107899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ounded Rectangle 71"/>
          <p:cNvSpPr/>
          <p:nvPr/>
        </p:nvSpPr>
        <p:spPr>
          <a:xfrm>
            <a:off x="4709159" y="3639312"/>
            <a:ext cx="135331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782312" y="3675888"/>
            <a:ext cx="7315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Т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4846320" y="4507992"/>
            <a:ext cx="107899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ounded Rectangle 74"/>
          <p:cNvSpPr/>
          <p:nvPr/>
        </p:nvSpPr>
        <p:spPr>
          <a:xfrm>
            <a:off x="6135624" y="3639312"/>
            <a:ext cx="135331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208776" y="3675888"/>
            <a:ext cx="7315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У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050024" y="3685032"/>
            <a:ext cx="3657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A84400"/>
                </a:solidFill>
                <a:latin typeface="PT Sans"/>
              </a:rPr>
              <a:t>★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6272784" y="4507992"/>
            <a:ext cx="1078991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Rounded Rectangle 78"/>
          <p:cNvSpPr/>
          <p:nvPr/>
        </p:nvSpPr>
        <p:spPr>
          <a:xfrm>
            <a:off x="7562088" y="3639312"/>
            <a:ext cx="135331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635240" y="3675888"/>
            <a:ext cx="7315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Ү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7699248" y="4507992"/>
            <a:ext cx="107899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Rounded Rectangle 81"/>
          <p:cNvSpPr/>
          <p:nvPr/>
        </p:nvSpPr>
        <p:spPr>
          <a:xfrm>
            <a:off x="8988552" y="3639312"/>
            <a:ext cx="135331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061704" y="3675888"/>
            <a:ext cx="7315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Ф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9125712" y="4507992"/>
            <a:ext cx="107899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Rounded Rectangle 84"/>
          <p:cNvSpPr/>
          <p:nvPr/>
        </p:nvSpPr>
        <p:spPr>
          <a:xfrm>
            <a:off x="10415016" y="3639312"/>
            <a:ext cx="135331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0488168" y="3675888"/>
            <a:ext cx="7315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Х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1329416" y="3685032"/>
            <a:ext cx="3657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A84400"/>
                </a:solidFill>
                <a:latin typeface="PT Sans"/>
              </a:rPr>
              <a:t>★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10552176" y="4507992"/>
            <a:ext cx="107899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Rounded Rectangle 88"/>
          <p:cNvSpPr/>
          <p:nvPr/>
        </p:nvSpPr>
        <p:spPr>
          <a:xfrm>
            <a:off x="429768" y="4846320"/>
            <a:ext cx="135331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02919" y="4882896"/>
            <a:ext cx="7315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Ц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566928" y="5715000"/>
            <a:ext cx="107899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Rounded Rectangle 91"/>
          <p:cNvSpPr/>
          <p:nvPr/>
        </p:nvSpPr>
        <p:spPr>
          <a:xfrm>
            <a:off x="1856232" y="4846320"/>
            <a:ext cx="135331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929384" y="4882896"/>
            <a:ext cx="7315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Ч</a:t>
            </a:r>
          </a:p>
        </p:txBody>
      </p:sp>
      <p:cxnSp>
        <p:nvCxnSpPr>
          <p:cNvPr id="94" name="Connector 93"/>
          <p:cNvCxnSpPr/>
          <p:nvPr/>
        </p:nvCxnSpPr>
        <p:spPr>
          <a:xfrm>
            <a:off x="1993392" y="5715000"/>
            <a:ext cx="107899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Rounded Rectangle 94"/>
          <p:cNvSpPr/>
          <p:nvPr/>
        </p:nvSpPr>
        <p:spPr>
          <a:xfrm>
            <a:off x="3282696" y="4846320"/>
            <a:ext cx="135331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355848" y="4882896"/>
            <a:ext cx="7315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Ш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3419856" y="5715000"/>
            <a:ext cx="107899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Rounded Rectangle 97"/>
          <p:cNvSpPr/>
          <p:nvPr/>
        </p:nvSpPr>
        <p:spPr>
          <a:xfrm>
            <a:off x="4709159" y="4846320"/>
            <a:ext cx="135331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82312" y="4882896"/>
            <a:ext cx="7315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Ы</a:t>
            </a:r>
          </a:p>
        </p:txBody>
      </p:sp>
      <p:cxnSp>
        <p:nvCxnSpPr>
          <p:cNvPr id="100" name="Connector 99"/>
          <p:cNvCxnSpPr/>
          <p:nvPr/>
        </p:nvCxnSpPr>
        <p:spPr>
          <a:xfrm>
            <a:off x="4846320" y="5715000"/>
            <a:ext cx="107899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Rounded Rectangle 100"/>
          <p:cNvSpPr/>
          <p:nvPr/>
        </p:nvSpPr>
        <p:spPr>
          <a:xfrm>
            <a:off x="6135624" y="4846320"/>
            <a:ext cx="135331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208776" y="4882896"/>
            <a:ext cx="7315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Э</a:t>
            </a:r>
          </a:p>
        </p:txBody>
      </p:sp>
      <p:cxnSp>
        <p:nvCxnSpPr>
          <p:cNvPr id="103" name="Connector 102"/>
          <p:cNvCxnSpPr/>
          <p:nvPr/>
        </p:nvCxnSpPr>
        <p:spPr>
          <a:xfrm>
            <a:off x="6272784" y="5715000"/>
            <a:ext cx="1078991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Rounded Rectangle 103"/>
          <p:cNvSpPr/>
          <p:nvPr/>
        </p:nvSpPr>
        <p:spPr>
          <a:xfrm>
            <a:off x="7562088" y="4846320"/>
            <a:ext cx="135331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635240" y="4882896"/>
            <a:ext cx="7315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Ю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476488" y="4892040"/>
            <a:ext cx="3657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A84400"/>
                </a:solidFill>
                <a:latin typeface="PT Sans"/>
              </a:rPr>
              <a:t>★</a:t>
            </a:r>
          </a:p>
        </p:txBody>
      </p:sp>
      <p:cxnSp>
        <p:nvCxnSpPr>
          <p:cNvPr id="107" name="Connector 106"/>
          <p:cNvCxnSpPr/>
          <p:nvPr/>
        </p:nvCxnSpPr>
        <p:spPr>
          <a:xfrm>
            <a:off x="7699248" y="5715000"/>
            <a:ext cx="107899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Rounded Rectangle 107"/>
          <p:cNvSpPr/>
          <p:nvPr/>
        </p:nvSpPr>
        <p:spPr>
          <a:xfrm>
            <a:off x="8988552" y="4846320"/>
            <a:ext cx="135331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9061704" y="4882896"/>
            <a:ext cx="7315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Я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902952" y="4892040"/>
            <a:ext cx="3657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A84400"/>
                </a:solidFill>
                <a:latin typeface="PT Sans"/>
              </a:rPr>
              <a:t>★</a:t>
            </a:r>
          </a:p>
        </p:txBody>
      </p:sp>
      <p:cxnSp>
        <p:nvCxnSpPr>
          <p:cNvPr id="111" name="Connector 110"/>
          <p:cNvCxnSpPr/>
          <p:nvPr/>
        </p:nvCxnSpPr>
        <p:spPr>
          <a:xfrm>
            <a:off x="9125712" y="5715000"/>
            <a:ext cx="107899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429768" y="5989320"/>
            <a:ext cx="11329416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 i="0">
                <a:solidFill>
                  <a:srgbClr val="6B7280"/>
                </a:solidFill>
                <a:latin typeface="PT Sans"/>
              </a:rPr>
              <a:t>Уникалдуу сөз = 2 упай · бирдей сөз = 1 упай · ★ тамга = +2 · сүйлөмдө колдонсоң = +1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15/19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Чий → жаз → эсепте → текшер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 Оюндар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Класс оюну · Тилке эстафетасы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417320"/>
            <a:ext cx="251460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1600200"/>
            <a:ext cx="502920" cy="50292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600200"/>
            <a:ext cx="169164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007A5A"/>
                </a:solidFill>
                <a:latin typeface="PT Sans"/>
              </a:rPr>
              <a:t>Чийүүчү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240280"/>
            <a:ext cx="2194560" cy="1325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1F2430"/>
                </a:solidFill>
                <a:latin typeface="PT Sans"/>
              </a:rPr>
              <a:t>Тилке моделин чийет: бөлүк, бүтүн, белгисиз «?»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337560" y="2542032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20440" y="1417320"/>
            <a:ext cx="251460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703320" y="1600200"/>
            <a:ext cx="502920" cy="50292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1600200"/>
            <a:ext cx="169164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Жазуучу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2240280"/>
            <a:ext cx="2194560" cy="1325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1F2430"/>
                </a:solidFill>
                <a:latin typeface="PT Sans"/>
              </a:rPr>
              <a:t>Тилкеге карап бир туюнтма жазат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35040" y="2542032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217920" y="1417320"/>
            <a:ext cx="251460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00800" y="1600200"/>
            <a:ext cx="502920" cy="502920"/>
          </a:xfrm>
          <a:prstGeom prst="ellipse">
            <a:avLst/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1600200"/>
            <a:ext cx="169164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24418C"/>
                </a:solidFill>
                <a:latin typeface="PT Sans"/>
              </a:rPr>
              <a:t>Эсепчи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240280"/>
            <a:ext cx="2194560" cy="1325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1F2430"/>
                </a:solidFill>
                <a:latin typeface="PT Sans"/>
              </a:rPr>
              <a:t>КаДа – БөКө – КоКе боюнча эсептейт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732520" y="2542032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915400" y="1417320"/>
            <a:ext cx="251460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098280" y="1600200"/>
            <a:ext cx="502920" cy="502920"/>
          </a:xfrm>
          <a:prstGeom prst="ellipse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PT San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1600200"/>
            <a:ext cx="169164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D3557"/>
                </a:solidFill>
                <a:latin typeface="PT Sans"/>
              </a:rPr>
              <a:t>Текшерүүчү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2240280"/>
            <a:ext cx="2194560" cy="1325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1F2430"/>
                </a:solidFill>
                <a:latin typeface="PT Sans"/>
              </a:rPr>
              <a:t>Жоопту тилкеге коюп текшерет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3931920"/>
            <a:ext cx="3291840" cy="868680"/>
          </a:xfrm>
          <a:prstGeom prst="roundRect">
            <a:avLst>
              <a:gd name="adj" fmla="val 20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3959352"/>
            <a:ext cx="32918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1-айлампа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4251960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007A5A"/>
                </a:solidFill>
                <a:latin typeface="PT Sans"/>
              </a:rPr>
              <a:t>Бөлүк – бүтүн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9120" y="3931920"/>
            <a:ext cx="3291840" cy="868680"/>
          </a:xfrm>
          <a:prstGeom prst="roundRect">
            <a:avLst>
              <a:gd name="adj" fmla="val 20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89120" y="3959352"/>
            <a:ext cx="32918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2-айлампа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4251960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Салыштыруу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55279" y="3931920"/>
            <a:ext cx="3291840" cy="868680"/>
          </a:xfrm>
          <a:prstGeom prst="roundRect">
            <a:avLst>
              <a:gd name="adj" fmla="val 20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55279" y="3959352"/>
            <a:ext cx="32918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3-айлампа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5279" y="4251960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24418C"/>
                </a:solidFill>
                <a:latin typeface="PT Sans"/>
              </a:rPr>
              <a:t>Көп кадам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" y="5074920"/>
            <a:ext cx="1463040" cy="45720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F2430"/>
                </a:solidFill>
                <a:latin typeface="PT Sans"/>
              </a:rPr>
              <a:t>бөлүк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86000" y="5074920"/>
            <a:ext cx="1463040" cy="45720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F2430"/>
                </a:solidFill>
                <a:latin typeface="PT Sans"/>
              </a:rPr>
              <a:t>бөлүк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749039" y="5074920"/>
            <a:ext cx="1188720" cy="457200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6B7280"/>
                </a:solidFill>
                <a:latin typeface="PT Sans"/>
              </a:rPr>
              <a:t>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40" y="4983480"/>
            <a:ext cx="621792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6B7280"/>
                </a:solidFill>
                <a:latin typeface="PT Sans"/>
              </a:rPr>
              <a:t>Упай: туура жооп = 2, туура тилке = 1. Топ өз катасын тапса = +1. Ката – үйрөнүүнүн бир бөлүгү.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16/19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Карточкалар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 Оюндар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Класс оюну · Тилке эстафетасы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325880"/>
            <a:ext cx="3291840" cy="457200"/>
          </a:xfrm>
          <a:prstGeom prst="roundRect">
            <a:avLst>
              <a:gd name="adj" fmla="val 3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PT Sans"/>
              </a:rPr>
              <a:t>1-айлампа · Бөлүк – бүтүн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965960"/>
            <a:ext cx="329184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A5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" y="2103120"/>
            <a:ext cx="411480" cy="411480"/>
          </a:xfrm>
          <a:prstGeom prst="ellipse">
            <a:avLst/>
          </a:prstGeom>
          <a:noFill/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007A5A"/>
                </a:solidFill>
                <a:latin typeface="PT San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560320"/>
            <a:ext cx="2926080" cy="12344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1F2430"/>
                </a:solidFill>
                <a:latin typeface="PT Sans"/>
              </a:rPr>
              <a:t>Шире: 18 л алма, 27 л өрүк. Баары канча литр?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069079"/>
            <a:ext cx="329184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A5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60120" y="4206240"/>
            <a:ext cx="411480" cy="411480"/>
          </a:xfrm>
          <a:prstGeom prst="ellipse">
            <a:avLst/>
          </a:prstGeom>
          <a:noFill/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007A5A"/>
                </a:solidFill>
                <a:latin typeface="PT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663440"/>
            <a:ext cx="2926080" cy="12344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1F2430"/>
                </a:solidFill>
                <a:latin typeface="PT Sans"/>
              </a:rPr>
              <a:t>Китепканада 64 китеп, 29у кыргызча. Калганы канча?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1325880"/>
            <a:ext cx="3291840" cy="457200"/>
          </a:xfrm>
          <a:prstGeom prst="roundRect">
            <a:avLst>
              <a:gd name="adj" fmla="val 3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PT Sans"/>
              </a:rPr>
              <a:t>2-айлампа · Салыштыруу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1965960"/>
            <a:ext cx="329184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A844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6280" y="2103120"/>
            <a:ext cx="411480" cy="411480"/>
          </a:xfrm>
          <a:prstGeom prst="ellipse">
            <a:avLst/>
          </a:prstGeom>
          <a:noFill/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A84400"/>
                </a:solidFill>
                <a:latin typeface="PT San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560320"/>
            <a:ext cx="2926080" cy="12344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1F2430"/>
                </a:solidFill>
                <a:latin typeface="PT Sans"/>
              </a:rPr>
              <a:t>Айгеримдин тасмасы 3² см. Нурландыкы андан 7 см узун. Нурландыкы?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4069079"/>
            <a:ext cx="329184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A844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526280" y="4206240"/>
            <a:ext cx="411480" cy="411480"/>
          </a:xfrm>
          <a:prstGeom prst="ellipse">
            <a:avLst/>
          </a:prstGeom>
          <a:noFill/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A84400"/>
                </a:solidFill>
                <a:latin typeface="PT San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663440"/>
            <a:ext cx="2926080" cy="12344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1F2430"/>
                </a:solidFill>
                <a:latin typeface="PT Sans"/>
              </a:rPr>
              <a:t>Бүгүн 48 окуучу келди. Кечээ 13кө аз келген. Кечээ канча?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55279" y="1325880"/>
            <a:ext cx="3291840" cy="457200"/>
          </a:xfrm>
          <a:prstGeom prst="roundRect">
            <a:avLst>
              <a:gd name="adj" fmla="val 3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PT Sans"/>
              </a:rPr>
              <a:t>3-айлампа · Көп кадам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55279" y="1965960"/>
            <a:ext cx="329184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4418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092440" y="2103120"/>
            <a:ext cx="411480" cy="411480"/>
          </a:xfrm>
          <a:prstGeom prst="ellipse">
            <a:avLst/>
          </a:prstGeom>
          <a:noFill/>
          <a:ln w="190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24418C"/>
                </a:solidFill>
                <a:latin typeface="PT San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59" y="2560320"/>
            <a:ext cx="2926080" cy="12344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1F2430"/>
                </a:solidFill>
                <a:latin typeface="PT Sans"/>
              </a:rPr>
              <a:t>4 кутуда 6дан калем бар. 5 калем жоголду. Канча калды?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55279" y="4069079"/>
            <a:ext cx="329184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4418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092440" y="4206240"/>
            <a:ext cx="411480" cy="411480"/>
          </a:xfrm>
          <a:prstGeom prst="ellipse">
            <a:avLst/>
          </a:prstGeom>
          <a:noFill/>
          <a:ln w="190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24418C"/>
                </a:solidFill>
                <a:latin typeface="PT Sans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59" y="4663440"/>
            <a:ext cx="2926080" cy="12344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1F2430"/>
                </a:solidFill>
                <a:latin typeface="PT Sans"/>
              </a:rPr>
              <a:t>Мышык : ит = 3 : 5 (кг). Ит мышыктан 10 кг оор. Мышык канча кг?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17/19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Жооптор жана тилкелер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 Оюндар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Класс оюну · Тилке эстафетасы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325880"/>
            <a:ext cx="329184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1435607"/>
            <a:ext cx="384048" cy="384048"/>
          </a:xfrm>
          <a:prstGeom prst="ellipse">
            <a:avLst/>
          </a:prstGeom>
          <a:noFill/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01952"/>
            <a:ext cx="3108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1D3557"/>
                </a:solidFill>
                <a:latin typeface="PT Sans"/>
              </a:rPr>
              <a:t>? 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194560"/>
            <a:ext cx="1243584" cy="36576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300" b="1">
                <a:solidFill>
                  <a:srgbClr val="1F2430"/>
                </a:solidFill>
                <a:latin typeface="PT Sans"/>
              </a:rPr>
              <a:t>18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57984" y="2194560"/>
            <a:ext cx="1865376" cy="36576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300" b="1">
                <a:solidFill>
                  <a:srgbClr val="1F2430"/>
                </a:solidFill>
                <a:latin typeface="PT Sans"/>
              </a:rPr>
              <a:t>27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292608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007A5A"/>
                </a:solidFill>
                <a:latin typeface="PT Sans"/>
              </a:rPr>
              <a:t>18 + 27 = 45 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703320"/>
            <a:ext cx="329184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0120" y="3813048"/>
            <a:ext cx="384048" cy="384048"/>
          </a:xfrm>
          <a:prstGeom prst="ellipse">
            <a:avLst/>
          </a:prstGeom>
          <a:noFill/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279392"/>
            <a:ext cx="3108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1D3557"/>
                </a:solidFill>
                <a:latin typeface="PT Sans"/>
              </a:rPr>
              <a:t>64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572000"/>
            <a:ext cx="1417320" cy="36576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300" b="1">
                <a:solidFill>
                  <a:srgbClr val="1F2430"/>
                </a:solidFill>
                <a:latin typeface="PT Sans"/>
              </a:rPr>
              <a:t>29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31720" y="4572000"/>
            <a:ext cx="1691640" cy="365760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300" b="1">
                <a:solidFill>
                  <a:srgbClr val="6B7280"/>
                </a:solidFill>
                <a:latin typeface="PT Sans"/>
              </a:rPr>
              <a:t>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97280" y="530352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007A5A"/>
                </a:solidFill>
                <a:latin typeface="PT Sans"/>
              </a:rPr>
              <a:t>64 − 29 = 35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1325880"/>
            <a:ext cx="329184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26280" y="1435607"/>
            <a:ext cx="384048" cy="384048"/>
          </a:xfrm>
          <a:prstGeom prst="ellipse">
            <a:avLst/>
          </a:prstGeom>
          <a:noFill/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1965960"/>
            <a:ext cx="868680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1F2430"/>
                </a:solidFill>
                <a:latin typeface="PT Sans"/>
              </a:rPr>
              <a:t>Айгерим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03520" y="1965960"/>
            <a:ext cx="1143000" cy="347472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1F2430"/>
                </a:solidFill>
                <a:latin typeface="PT Sans"/>
              </a:rPr>
              <a:t>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2377440"/>
            <a:ext cx="868680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1F2430"/>
                </a:solidFill>
                <a:latin typeface="PT Sans"/>
              </a:rPr>
              <a:t>Нурлан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03520" y="2377440"/>
            <a:ext cx="1143000" cy="347472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1F2430"/>
                </a:solidFill>
                <a:latin typeface="PT Sans"/>
              </a:rPr>
              <a:t>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46520" y="2377440"/>
            <a:ext cx="886968" cy="347472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1F2430"/>
                </a:solidFill>
                <a:latin typeface="PT Sans"/>
              </a:rPr>
              <a:t>7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63440" y="292608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A84400"/>
                </a:solidFill>
                <a:latin typeface="PT Sans"/>
              </a:rPr>
              <a:t>3² + 7 = 16 см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89120" y="3703320"/>
            <a:ext cx="329184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526280" y="3813048"/>
            <a:ext cx="384048" cy="384048"/>
          </a:xfrm>
          <a:prstGeom prst="ellipse">
            <a:avLst/>
          </a:prstGeom>
          <a:noFill/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4343400"/>
            <a:ext cx="868680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1F2430"/>
                </a:solidFill>
                <a:latin typeface="PT Sans"/>
              </a:rPr>
              <a:t>Бүгүн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303520" y="4343400"/>
            <a:ext cx="2194560" cy="347472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1F2430"/>
                </a:solidFill>
                <a:latin typeface="PT Sans"/>
              </a:rPr>
              <a:t>48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4754880"/>
            <a:ext cx="868680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1F2430"/>
                </a:solidFill>
                <a:latin typeface="PT Sans"/>
              </a:rPr>
              <a:t>Кечээ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03520" y="4754880"/>
            <a:ext cx="1600200" cy="347472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6B7280"/>
                </a:solidFill>
                <a:latin typeface="PT Sans"/>
              </a:rPr>
              <a:t>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03720" y="4754880"/>
            <a:ext cx="594360" cy="347472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1F2430"/>
                </a:solidFill>
                <a:latin typeface="PT Sans"/>
              </a:rPr>
              <a:t>13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663440" y="530352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A84400"/>
                </a:solidFill>
                <a:latin typeface="PT Sans"/>
              </a:rPr>
              <a:t>48 − 13 = 35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55279" y="1325880"/>
            <a:ext cx="329184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092440" y="1435607"/>
            <a:ext cx="384048" cy="384048"/>
          </a:xfrm>
          <a:prstGeom prst="ellipse">
            <a:avLst/>
          </a:prstGeom>
          <a:noFill/>
          <a:ln w="190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46719" y="1965960"/>
            <a:ext cx="777240" cy="347472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300" b="1">
                <a:solidFill>
                  <a:srgbClr val="1F2430"/>
                </a:solidFill>
                <a:latin typeface="PT Sans"/>
              </a:rPr>
              <a:t>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823959" y="1965960"/>
            <a:ext cx="777240" cy="347472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300" b="1">
                <a:solidFill>
                  <a:srgbClr val="1F2430"/>
                </a:solidFill>
                <a:latin typeface="PT Sans"/>
              </a:rPr>
              <a:t>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601199" y="1965960"/>
            <a:ext cx="777240" cy="347472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300" b="1">
                <a:solidFill>
                  <a:srgbClr val="1F2430"/>
                </a:solidFill>
                <a:latin typeface="PT Sans"/>
              </a:rPr>
              <a:t>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378439" y="1965960"/>
            <a:ext cx="777240" cy="347472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300" b="1">
                <a:solidFill>
                  <a:srgbClr val="1F2430"/>
                </a:solidFill>
                <a:latin typeface="PT Sans"/>
              </a:rPr>
              <a:t>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46719" y="2377440"/>
            <a:ext cx="2459736" cy="347472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300" b="1">
                <a:solidFill>
                  <a:srgbClr val="6B7280"/>
                </a:solidFill>
                <a:latin typeface="PT Sans"/>
              </a:rPr>
              <a:t>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506455" y="2377440"/>
            <a:ext cx="649224" cy="347472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300" b="1">
                <a:solidFill>
                  <a:srgbClr val="1F2430"/>
                </a:solidFill>
                <a:latin typeface="PT Sans"/>
              </a:rPr>
              <a:t>5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229600" y="292608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24418C"/>
                </a:solidFill>
                <a:latin typeface="PT Sans"/>
              </a:rPr>
              <a:t>4 × 6 − 5 = 19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955279" y="3703320"/>
            <a:ext cx="329184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092440" y="3813048"/>
            <a:ext cx="384048" cy="384048"/>
          </a:xfrm>
          <a:prstGeom prst="ellipse">
            <a:avLst/>
          </a:prstGeom>
          <a:noFill/>
          <a:ln w="190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55279" y="4343400"/>
            <a:ext cx="868680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1F2430"/>
                </a:solidFill>
                <a:latin typeface="PT Sans"/>
              </a:rPr>
              <a:t>Мышык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869680" y="4343400"/>
            <a:ext cx="411480" cy="347472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281159" y="4343400"/>
            <a:ext cx="411480" cy="347472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692639" y="4343400"/>
            <a:ext cx="411480" cy="347472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955279" y="4754880"/>
            <a:ext cx="868680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1F2430"/>
                </a:solidFill>
                <a:latin typeface="PT Sans"/>
              </a:rPr>
              <a:t>Ит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869680" y="4754880"/>
            <a:ext cx="411480" cy="347472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281159" y="4754880"/>
            <a:ext cx="411480" cy="347472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692639" y="4754880"/>
            <a:ext cx="411480" cy="347472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0104119" y="4754880"/>
            <a:ext cx="822960" cy="347472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1F2430"/>
                </a:solidFill>
                <a:latin typeface="PT Sans"/>
              </a:rPr>
              <a:t>10 кг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229600" y="530352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24418C"/>
                </a:solidFill>
                <a:latin typeface="PT Sans"/>
              </a:rPr>
              <a:t>10 ÷ 2 × 3 = 15 кг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18/19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Чыйырчыктын жашыруун сандыгы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 Оюндар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Басылма · Кенч издөө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" y="1371600"/>
            <a:ext cx="210312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66928" y="1508760"/>
            <a:ext cx="411480" cy="41148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1481328"/>
            <a:ext cx="146304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4A5A70"/>
                </a:solidFill>
                <a:latin typeface="PT Sans"/>
              </a:rPr>
              <a:t>Класстын эшиги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" y="2148840"/>
            <a:ext cx="1883664" cy="2011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1F2430"/>
                </a:solidFill>
                <a:latin typeface="PT Sans"/>
              </a:rPr>
              <a:t>24 − 4 × 5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32887" y="2834640"/>
            <a:ext cx="182881" cy="73152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715768" y="2103120"/>
            <a:ext cx="210312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852927" y="2240279"/>
            <a:ext cx="411480" cy="41148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10127" y="2212848"/>
            <a:ext cx="146304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4A5A70"/>
                </a:solidFill>
                <a:latin typeface="PT Sans"/>
              </a:rPr>
              <a:t>Жооп 1-номерлүү парта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25496" y="2880360"/>
            <a:ext cx="1883664" cy="2011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1F2430"/>
                </a:solidFill>
                <a:latin typeface="PT Sans"/>
              </a:rPr>
              <a:t>(жооп 1 + 8) ÷ 3 × 2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4818888" y="2834640"/>
            <a:ext cx="182880" cy="73152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001768" y="1371600"/>
            <a:ext cx="210312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138928" y="1508760"/>
            <a:ext cx="411480" cy="41148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96128" y="1481328"/>
            <a:ext cx="146304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4A5A70"/>
                </a:solidFill>
                <a:latin typeface="PT Sans"/>
              </a:rPr>
              <a:t>Текченин «жооп 2» орду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11496" y="2148840"/>
            <a:ext cx="1883664" cy="2011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1F2430"/>
                </a:solidFill>
                <a:latin typeface="PT Sans"/>
              </a:rPr>
              <a:t>3/4 × жооп 2 + 3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104888" y="2834640"/>
            <a:ext cx="182880" cy="73152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287768" y="2103120"/>
            <a:ext cx="210312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424927" y="2240279"/>
            <a:ext cx="411480" cy="41148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82127" y="2212848"/>
            <a:ext cx="146304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4A5A70"/>
                </a:solidFill>
                <a:latin typeface="PT Sans"/>
              </a:rPr>
              <a:t>«Жооп 3» конверт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97496" y="2880360"/>
            <a:ext cx="1883664" cy="2011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Кыздар : балдар = 5 : 8. Балдар «жооп 3» кишиге көп. Кыздар?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9390888" y="2834640"/>
            <a:ext cx="182879" cy="73152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573768" y="1371600"/>
            <a:ext cx="210312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710928" y="1508760"/>
            <a:ext cx="411480" cy="41148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68128" y="1481328"/>
            <a:ext cx="146304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4A5A70"/>
                </a:solidFill>
                <a:latin typeface="PT Sans"/>
              </a:rPr>
              <a:t>«Жооп 4» конверт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83496" y="2148840"/>
            <a:ext cx="1883664" cy="2011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2 × (жооп 4 − жооп 3) + жооп 2 ÷ жооп 1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108960" y="5349240"/>
            <a:ext cx="5943600" cy="7315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A84400"/>
                </a:solidFill>
                <a:latin typeface="PT Sans"/>
              </a:rPr>
              <a:t>Финал: акыркы жооп = сандыктын коду. Анан өз 6-бекетиңди түз!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19/19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