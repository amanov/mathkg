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эсептебей болжолдошсун: 5 000 кгдан көппү же азбы? Колун көтөрүп добуш беришет. Жоопту сабактын аягында (22-слайд) текшеребиз. Проектор жок болсо, сандарды доскага жазам.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Айдана: 2 847ден 2 800гө 47, 2 900гө 53. Тилек «чынжыр» менен тегеректеди (М6).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узун кагаз тилке (дептер барагын узунунан кесип, желимдеп), сызгыч, калем, бир бөтөлкө капкагы. Тилкенин эки учуна 2 800 жана 2 900 жазышат, 10 бөлүккө бөлүшөт. Анан тилкени экиге бүктөшөт: бүктөлгөн жер – так орто 2 850. Капкакты 2 847ге коюп, «кайсы учуна жакын?» деп сурайм. Эрежени окуучулар өздөрү айтышат: ортодон солдо – ылдый, ортодо же оңдо – өйдө.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сан огун доскага чийем, окуучулар чакмак дептерге (1 чакмак = 10). Адегенде кошуна жүздүктөрдү жазышат (2 800 жана 2 900), анан так ортону (2 850), анан санды. 2 847 – ортодон солдо, ошондуктан 2 800. 3 162 – ортодон оңдо, ошондуктан 3 200. Ушул сүрөттөн эреже чыгат: оңдогу цифра 0–4 – ылдый, 5–9 – өйдө.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 ортодо (2 450) болсо өйдө тегеректейбиз: бул макулдашуу (М4). 9 өйдө тегеректелсе, 10 жүздүк = 1 миң: 3 962 ≈ 4 000 (М5). Чынжыр менен тегеректебейбиз (М6).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«2 847 – 2 800 менен 2 900дүн ортосунда, ортосу 2 850, ал андан кичине».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М1; В = ✓;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сумма → көбөйтүндү → акча жетеби. Жооптор: ≈ 6 000 кг (так 6 010); 20 × 40 = 800 кг (так 798); Так 1 040 сом: жетпейт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2 847 ≈ 2 800 (ондуктар 4), 3 162 ≈ 3 200 (ондуктар 6). Болжол 6 000 &gt; 5 000, ошондуктан так эсептебей эле «жетпейт» дей алабыз. Так жооп 6 009 болжолго жакын: жооп акылга сыярлык. Миңдикке тегеректесек да 3 000 + 3 000 = 6 000.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4 700; 4 000; 40 × 20 = 800: туура эмес (819)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Тегеректөө жана болжолдоо: сан огу, так орто, болжолдуу жооп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Жети-Өгүздөгү алма бакчасы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Айдана менен Тилек таякеси Бекбол байкенин бакчасында алма терип, жүк машинасы жетеби деп болжолдошот.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4-класс: көп орундуу сандар, сан огу (4.2.1–4.2.2) жана төрт амал (4.3.1–4.3.9); «Миллион ичиндеги сандар» пакетинин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Жети-Өгүздөгү алма бакчасы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Күз. Айдана менен Тилек Жети-Өгүздөгү таякеси Бекбол байкенин алма бакчасына келишти.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Бакчада 48 катар дарак бар, ар бир катарда 23 дарактан.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Эки күндө 2 847 кг жана 3 162 кг алма терилди.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Бекбол байкенин жүк машинасы бир каттамда 5 000 кг гана алат.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Эки күндө 2 847 кг жана 3 162 кг алма терилди. Машина бир каттамда 5 000 кг алат. Бир каттам жетеби? Болжол менен канча кг алма?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 сан огунда эки кошунасынын ортосуна коюп, ондукка, жүздүккө, миңдикке тегеректейм.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Так ортодогу санды (5 – өйдө) жана 9 турган санды туура тегеректейм.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Сумманы, айырманы, көбөйтүндүнү тегеректеп болжолдойм; жооп акылга сыярын текшерем.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Ондукка, жүздүккө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Миңдикке, так орто,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Болжолдоо, текшерүү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Жоопту болжол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кагаз тилке сан огу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Жети-Өгүздөгү алма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Машина жетеби?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 ичинде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Ондукка тегеректөө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1000 ичинде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Жүздүккө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10, 100, 1000ге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Болжолдоо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бөлчөктү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тегеректөө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3 862 санында 8 кайсы разрядда?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2 800 менен 2 900дүн так ортосу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60 × 40 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жүздүк =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3 862 санында 8 кайсы разрядда?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жүздүктөр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2 800 менен 2 900дүн так ортосу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2 850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60 × 40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2 400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жүздүк =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1 000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Бекбол байке: «2 847 кг алманы жүздүккө тегеректегиле».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Тилек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Бирдиктер 7: 2 847 → 2 850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Ондуктар 5: 2 850 → 2 900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2 900 кг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Жүздүктөр 8, оңдогусу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&lt; 5: ылдый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2 800 кг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Сан огунда текшер: 2 847 кайсы жүздүккө жакын?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 тилкеден сан огу 2 800 … 2 900. Тилкени бүктөп, так ортосун тап. Капкак 2 847де.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19" y="3520440"/>
            <a:ext cx="7406641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" y="3374136"/>
            <a:ext cx="0" cy="292608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199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2 800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70432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95144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83663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08376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96896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21608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10128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59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48072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36592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2 860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61304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49824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2 870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74536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63056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87768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76288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01000" y="3374136"/>
            <a:ext cx="0" cy="292608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89520" y="36576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2 900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34840" y="2834640"/>
            <a:ext cx="0" cy="777240"/>
          </a:xfrm>
          <a:prstGeom prst="line">
            <a:avLst/>
          </a:prstGeom>
          <a:ln w="1905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20439" y="2532888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так орто 2 850</a:t>
            </a:r>
          </a:p>
        </p:txBody>
      </p:sp>
      <p:sp>
        <p:nvSpPr>
          <p:cNvPr id="37" name="Oval 36"/>
          <p:cNvSpPr/>
          <p:nvPr/>
        </p:nvSpPr>
        <p:spPr>
          <a:xfrm>
            <a:off x="4092854" y="3392424"/>
            <a:ext cx="256032" cy="25603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868680" y="3977640"/>
            <a:ext cx="3355848" cy="411480"/>
          </a:xfrm>
          <a:custGeom>
            <a:avLst/>
            <a:gdLst/>
            <a:ahLst/>
            <a:cxnLst/>
            <a:rect l="l" t="t" r="r" b="b"/>
            <a:pathLst>
              <a:path w="367" h="45">
                <a:moveTo>
                  <a:pt x="367" y="0"/>
                </a:moveTo>
                <a:lnTo>
                  <a:pt x="365" y="5"/>
                </a:lnTo>
                <a:lnTo>
                  <a:pt x="362" y="10"/>
                </a:lnTo>
                <a:lnTo>
                  <a:pt x="356" y="15"/>
                </a:lnTo>
                <a:lnTo>
                  <a:pt x="348" y="20"/>
                </a:lnTo>
                <a:lnTo>
                  <a:pt x="339" y="24"/>
                </a:lnTo>
                <a:lnTo>
                  <a:pt x="327" y="28"/>
                </a:lnTo>
                <a:lnTo>
                  <a:pt x="313" y="32"/>
                </a:lnTo>
                <a:lnTo>
                  <a:pt x="298" y="35"/>
                </a:lnTo>
                <a:lnTo>
                  <a:pt x="281" y="38"/>
                </a:lnTo>
                <a:lnTo>
                  <a:pt x="263" y="41"/>
                </a:lnTo>
                <a:lnTo>
                  <a:pt x="244" y="42"/>
                </a:lnTo>
                <a:lnTo>
                  <a:pt x="224" y="44"/>
                </a:lnTo>
                <a:lnTo>
                  <a:pt x="204" y="45"/>
                </a:lnTo>
                <a:lnTo>
                  <a:pt x="183" y="45"/>
                </a:lnTo>
                <a:lnTo>
                  <a:pt x="163" y="45"/>
                </a:lnTo>
                <a:lnTo>
                  <a:pt x="143" y="44"/>
                </a:lnTo>
                <a:lnTo>
                  <a:pt x="123" y="42"/>
                </a:lnTo>
                <a:lnTo>
                  <a:pt x="104" y="41"/>
                </a:lnTo>
                <a:lnTo>
                  <a:pt x="86" y="38"/>
                </a:lnTo>
                <a:lnTo>
                  <a:pt x="69" y="35"/>
                </a:lnTo>
                <a:lnTo>
                  <a:pt x="54" y="32"/>
                </a:lnTo>
                <a:lnTo>
                  <a:pt x="40" y="28"/>
                </a:lnTo>
                <a:lnTo>
                  <a:pt x="28" y="24"/>
                </a:lnTo>
                <a:lnTo>
                  <a:pt x="18" y="20"/>
                </a:lnTo>
                <a:lnTo>
                  <a:pt x="10" y="15"/>
                </a:lnTo>
                <a:lnTo>
                  <a:pt x="5" y="10"/>
                </a:lnTo>
                <a:lnTo>
                  <a:pt x="1" y="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86384" y="3995928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15"/>
                </a:moveTo>
                <a:lnTo>
                  <a:pt x="18" y="15"/>
                </a:lnTo>
                <a:lnTo>
                  <a:pt x="9" y="0"/>
                </a:lnTo>
                <a:close/>
              </a:path>
            </a:pathLst>
          </a:custGeom>
          <a:solidFill>
            <a:srgbClr val="007A5A"/>
          </a:solidFill>
          <a:ln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2230" y="3063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2 847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21815" y="443484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аралык 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7975" y="4087368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4A5A70"/>
                </a:solidFill>
                <a:latin typeface="PT Sans"/>
              </a:rPr>
              <a:t>аралык 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074920"/>
            <a:ext cx="7132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2 847 ≈ 2 800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486400"/>
            <a:ext cx="7132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Капкак ортодон солдо → ылдый.  Ортодо же оңдо → өйдө.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2240280"/>
            <a:ext cx="30175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2304288"/>
            <a:ext cx="278892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узун кагаз тилке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сызгыч, калем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 бөтөлкө капкагы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бөлүк: ар бири 10 кг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Бүктөлгөн жер = так орто!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сан огунда тегеректөө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Ар бир санды эки кошуна жүздүктүн ортосуна коёбуз. Так ортону белгилейбиз. Кайсынысына жакын?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063240"/>
            <a:ext cx="950976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80160" y="2916936"/>
            <a:ext cx="0" cy="292608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2 800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03704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92224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27248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15768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0791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39311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74336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62855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97879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399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21423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9943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2 860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44968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33488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2 870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68512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57032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2056" y="29900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80576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2 890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15600" y="2916936"/>
            <a:ext cx="0" cy="292608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104120" y="32004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2 900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79" y="2377440"/>
            <a:ext cx="0" cy="777240"/>
          </a:xfrm>
          <a:prstGeom prst="line">
            <a:avLst/>
          </a:prstGeom>
          <a:ln w="1905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83479" y="2075688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так орто 2 850</a:t>
            </a:r>
          </a:p>
        </p:txBody>
      </p:sp>
      <p:sp>
        <p:nvSpPr>
          <p:cNvPr id="37" name="Oval 36"/>
          <p:cNvSpPr/>
          <p:nvPr/>
        </p:nvSpPr>
        <p:spPr>
          <a:xfrm>
            <a:off x="5538520" y="2980944"/>
            <a:ext cx="164592" cy="164592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80160" y="3520440"/>
            <a:ext cx="4343400" cy="411480"/>
          </a:xfrm>
          <a:custGeom>
            <a:avLst/>
            <a:gdLst/>
            <a:ahLst/>
            <a:cxnLst/>
            <a:rect l="l" t="t" r="r" b="b"/>
            <a:pathLst>
              <a:path w="475" h="45">
                <a:moveTo>
                  <a:pt x="475" y="0"/>
                </a:moveTo>
                <a:lnTo>
                  <a:pt x="473" y="5"/>
                </a:lnTo>
                <a:lnTo>
                  <a:pt x="469" y="10"/>
                </a:lnTo>
                <a:lnTo>
                  <a:pt x="461" y="15"/>
                </a:lnTo>
                <a:lnTo>
                  <a:pt x="451" y="20"/>
                </a:lnTo>
                <a:lnTo>
                  <a:pt x="438" y="24"/>
                </a:lnTo>
                <a:lnTo>
                  <a:pt x="423" y="28"/>
                </a:lnTo>
                <a:lnTo>
                  <a:pt x="405" y="32"/>
                </a:lnTo>
                <a:lnTo>
                  <a:pt x="385" y="35"/>
                </a:lnTo>
                <a:lnTo>
                  <a:pt x="364" y="38"/>
                </a:lnTo>
                <a:lnTo>
                  <a:pt x="340" y="41"/>
                </a:lnTo>
                <a:lnTo>
                  <a:pt x="316" y="42"/>
                </a:lnTo>
                <a:lnTo>
                  <a:pt x="290" y="44"/>
                </a:lnTo>
                <a:lnTo>
                  <a:pt x="264" y="45"/>
                </a:lnTo>
                <a:lnTo>
                  <a:pt x="237" y="45"/>
                </a:lnTo>
                <a:lnTo>
                  <a:pt x="211" y="45"/>
                </a:lnTo>
                <a:lnTo>
                  <a:pt x="185" y="44"/>
                </a:lnTo>
                <a:lnTo>
                  <a:pt x="159" y="42"/>
                </a:lnTo>
                <a:lnTo>
                  <a:pt x="134" y="41"/>
                </a:lnTo>
                <a:lnTo>
                  <a:pt x="111" y="38"/>
                </a:lnTo>
                <a:lnTo>
                  <a:pt x="89" y="35"/>
                </a:lnTo>
                <a:lnTo>
                  <a:pt x="70" y="32"/>
                </a:lnTo>
                <a:lnTo>
                  <a:pt x="52" y="28"/>
                </a:lnTo>
                <a:lnTo>
                  <a:pt x="36" y="24"/>
                </a:lnTo>
                <a:lnTo>
                  <a:pt x="24" y="20"/>
                </a:lnTo>
                <a:lnTo>
                  <a:pt x="13" y="15"/>
                </a:lnTo>
                <a:lnTo>
                  <a:pt x="6" y="10"/>
                </a:lnTo>
                <a:lnTo>
                  <a:pt x="1" y="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197864" y="3538728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15"/>
                </a:moveTo>
                <a:lnTo>
                  <a:pt x="18" y="15"/>
                </a:lnTo>
                <a:lnTo>
                  <a:pt x="9" y="0"/>
                </a:lnTo>
                <a:close/>
              </a:path>
            </a:pathLst>
          </a:custGeom>
          <a:solidFill>
            <a:srgbClr val="007A5A"/>
          </a:solidFill>
          <a:ln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2176" y="26060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2 847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288036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1-күн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288036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≈ 2 800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43000" y="4709160"/>
            <a:ext cx="950976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80160" y="4562856"/>
            <a:ext cx="0" cy="292608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68680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3 100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203704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92224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3 110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27248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15768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3 120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050791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39311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3 130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974336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62855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3 140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97879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486399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3 150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821423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9943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3 160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744968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33488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3 170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668512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257032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3 180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592056" y="46360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180576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3 190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515600" y="4562856"/>
            <a:ext cx="0" cy="292608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104120" y="48463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3 200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897879" y="4023360"/>
            <a:ext cx="0" cy="777240"/>
          </a:xfrm>
          <a:prstGeom prst="line">
            <a:avLst/>
          </a:prstGeom>
          <a:ln w="1905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983479" y="3721608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так орто 3 150</a:t>
            </a:r>
          </a:p>
        </p:txBody>
      </p:sp>
      <p:sp>
        <p:nvSpPr>
          <p:cNvPr id="68" name="Oval 67"/>
          <p:cNvSpPr/>
          <p:nvPr/>
        </p:nvSpPr>
        <p:spPr>
          <a:xfrm>
            <a:off x="6923836" y="4626864"/>
            <a:ext cx="164592" cy="164592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004304" y="5166360"/>
            <a:ext cx="3511296" cy="411480"/>
          </a:xfrm>
          <a:custGeom>
            <a:avLst/>
            <a:gdLst/>
            <a:ahLst/>
            <a:cxnLst/>
            <a:rect l="l" t="t" r="r" b="b"/>
            <a:pathLst>
              <a:path w="384" h="45">
                <a:moveTo>
                  <a:pt x="0" y="0"/>
                </a:moveTo>
                <a:lnTo>
                  <a:pt x="1" y="5"/>
                </a:lnTo>
                <a:lnTo>
                  <a:pt x="5" y="10"/>
                </a:lnTo>
                <a:lnTo>
                  <a:pt x="11" y="15"/>
                </a:lnTo>
                <a:lnTo>
                  <a:pt x="19" y="20"/>
                </a:lnTo>
                <a:lnTo>
                  <a:pt x="30" y="24"/>
                </a:lnTo>
                <a:lnTo>
                  <a:pt x="42" y="28"/>
                </a:lnTo>
                <a:lnTo>
                  <a:pt x="56" y="32"/>
                </a:lnTo>
                <a:lnTo>
                  <a:pt x="72" y="35"/>
                </a:lnTo>
                <a:lnTo>
                  <a:pt x="90" y="38"/>
                </a:lnTo>
                <a:lnTo>
                  <a:pt x="109" y="41"/>
                </a:lnTo>
                <a:lnTo>
                  <a:pt x="129" y="42"/>
                </a:lnTo>
                <a:lnTo>
                  <a:pt x="149" y="44"/>
                </a:lnTo>
                <a:lnTo>
                  <a:pt x="171" y="45"/>
                </a:lnTo>
                <a:lnTo>
                  <a:pt x="192" y="45"/>
                </a:lnTo>
                <a:lnTo>
                  <a:pt x="214" y="45"/>
                </a:lnTo>
                <a:lnTo>
                  <a:pt x="235" y="44"/>
                </a:lnTo>
                <a:lnTo>
                  <a:pt x="255" y="42"/>
                </a:lnTo>
                <a:lnTo>
                  <a:pt x="275" y="41"/>
                </a:lnTo>
                <a:lnTo>
                  <a:pt x="294" y="38"/>
                </a:lnTo>
                <a:lnTo>
                  <a:pt x="312" y="35"/>
                </a:lnTo>
                <a:lnTo>
                  <a:pt x="328" y="32"/>
                </a:lnTo>
                <a:lnTo>
                  <a:pt x="342" y="28"/>
                </a:lnTo>
                <a:lnTo>
                  <a:pt x="355" y="24"/>
                </a:lnTo>
                <a:lnTo>
                  <a:pt x="365" y="20"/>
                </a:lnTo>
                <a:lnTo>
                  <a:pt x="373" y="15"/>
                </a:lnTo>
                <a:lnTo>
                  <a:pt x="379" y="10"/>
                </a:lnTo>
                <a:lnTo>
                  <a:pt x="383" y="5"/>
                </a:lnTo>
                <a:lnTo>
                  <a:pt x="384" y="0"/>
                </a:lnTo>
              </a:path>
            </a:pathLst>
          </a:custGeom>
          <a:noFill/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0433304" y="5184648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15"/>
                </a:moveTo>
                <a:lnTo>
                  <a:pt x="18" y="15"/>
                </a:lnTo>
                <a:lnTo>
                  <a:pt x="9" y="0"/>
                </a:lnTo>
                <a:close/>
              </a:path>
            </a:pathLst>
          </a:custGeom>
          <a:solidFill>
            <a:srgbClr val="007A5A"/>
          </a:solidFill>
          <a:ln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7492" y="425196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3 162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45262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2-күн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44200" y="452628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≈ 3 200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2 847 ≈ 2 800      3 162 ≈ 3 200      2 800 + 3 200 = 6 000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2 847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Разрядды тап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Жүздүккө: 8 калат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→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Оңдогу цифра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БИР гана цифрага кара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4 &lt;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Ылдый же өйдө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0–4 ылдый, 5–9 өйдө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2 800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Нөлдөр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 жагы 0 болот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2 847 ≈ 2 800      3 962 ≈ 4 000      2 450 ≈ 2 500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Бакчада 48 катар, ар бир катарда 23 дарак. Болжол менен канча дарак бар?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48 ×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≈ 50 ×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ондукка тегеректедик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1 000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5 × 2 = 10, эки нөл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Болжол менен = </a:t>
            </a:r>
            <a:r>
              <a:rPr sz="3400" b="1">
                <a:solidFill>
                  <a:srgbClr val="24418C"/>
                </a:solidFill>
                <a:latin typeface="PT Sans"/>
              </a:rPr>
              <a:t>1 000 дарак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Алмадан 6 120 сом түштү. Жашиктерге 3 950 сом кетти. Болжол менен канча сом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6 120 − 3 950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≈ 6 100 − 4 000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3 950: так орто, өйдө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2 100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Болжол менен = </a:t>
            </a:r>
            <a:r>
              <a:rPr sz="3400" b="1">
                <a:solidFill>
                  <a:srgbClr val="24418C"/>
                </a:solidFill>
                <a:latin typeface="PT Sans"/>
              </a:rPr>
              <a:t>2 100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болжолдо, текшер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Кошуналар жана орто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2 847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2 800 | 2 850 | 2 900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2 847 &lt; 2 850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≈ 2 800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Эки кошунаны жана ортосун айт.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Нөлдөрдү сана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70 ×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 × 4 жүз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28 жүз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2 800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Цифраларды көбөйт, анан нөлдөрдү кош.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Акылга сыябы?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39 × 21 = 819?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≈ 40 ×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800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819 ≈ 800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Жоопту болжол менен салыштыр.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5 374 санын жүздүккө чейин тегеректе.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5 474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5 000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5 400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5 300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Дүйшөмбүдө 2 190 кг, шейшембиде 3 820 кг алма терилди. Болжол менен канча кг? (жүздүккө)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Ар бир жашикте 19 кг алма. 42 жашик бар. Болжол менен канча кг алма?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Тилекте 1 000 сом бар. Китептер: 285, 340 жана 415 сом. Болжолдо: акчасы жетеби?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Дүйшөмбүдө 2 190 кг, шейшембиде 3 820 кг алма терилди. Болжол менен канча кг? (жүздүккө)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859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2 190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6362" y="3017520"/>
            <a:ext cx="148447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3 820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≈ 6 000 кг (так 6 010)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Ар бир жашикте 19 кг алма. 42 жашик бар. Болжол менен канча кг алма?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42616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5765" y="3017520"/>
            <a:ext cx="42616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1931" y="3017520"/>
            <a:ext cx="42616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98097" y="3017520"/>
            <a:ext cx="63924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7346" y="3017520"/>
            <a:ext cx="42616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20 × 40 = 800 кг (так 798)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Тилекте 1 000 сом бар. Китептер: 285, 340 жана 415 сом. Болжолдо: акчасы жетеби?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2272" y="3017520"/>
            <a:ext cx="65359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25862" y="3017520"/>
            <a:ext cx="7662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141" y="3017520"/>
            <a:ext cx="92404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415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Так 1 040 сом: жетпейт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Ондукка тегеректе: 76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Жүздүккө тегеректе: 1 350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Жүздүккө тегеректе: 4 962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Болжолдо (жүздүккө): 3 870 + 2 140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Болжолдо: 62 × 38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Айдана: «7 205 − 2 890 = 5 315». Болжолдоп текшер.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Ондукка тегеректе: 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Жүздүккө тегеректе: 1 350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1 400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Жүздүккө тегеректе: 4 962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5 000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Болжолдо (жүздүккө): 3 870 + 2 140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≈ 6 000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Болжолдо: 62 × 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≈ 2 400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Айдана: «7 205 − 2 890 = 5 315». Болжолдоп текшер.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≈ 4 300: туура эмес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Эки күндө 2 847 кг жана 3 162 кг алма терилди. Машина бир каттамда 5 000 кг алат. Бир каттам жетеби? Болжол менен канча кг алма?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422452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2 847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8927" y="2240280"/>
            <a:ext cx="482803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3 162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2 847 + 3 162 ≈ 2 800 + 3 200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жүздүккө тегеректедик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6 000 &gt; 5 000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болжол менен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Так: 2 847 + 3 162 = 6 009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болжолго жакын 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≈ 6 000 кг (так 6 009): бир каттам жетпейт.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Жети-Өгүздөгү алма бакчасы жөнүндө маселе түз: сурооносу «болжол менен канча?» же «жетеби?»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Айдана, Тилек, Бекбол байке.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4 682 санын жүздүккө тегеректе.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3 950 санын жүздүккө тегеректе.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Тилек: «39 × 21 = 1 819». Болжолдоп текшер.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тегеректөөдө бир гана оңдогу цифрага карайбыз?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Болжол качан жетиштүү, качан так эсеп керек?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Жоопту болжол менен кантип текшересиң? Мисал айт.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Кагаз тилке сан огун ар сабакта колдонууну сунуштайм: окуучу өзү бүктөп, ортосун табат.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тегеректөөдө «кошуналар жана орто» деп үн чыгарып айттырам (М2, М6).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9 турган сандарды өзүнчө машыктырам: таякча топтомдору менен 10 жүздүк = 1 миң (М5).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так жоопту болжол менен салыштыртам: «акылга сыябы?» (М7).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