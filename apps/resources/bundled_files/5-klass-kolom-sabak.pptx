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беремин. Чыныгы картон кутуча (сүт же чай кутусу) көрсөтүүнү сунуштайм. Окуучулар болжолдошсун: кутучага 1 литр батабы, 3 литрби, 10 литрби? Картон канча кетет? Эки суроонун бирдиктери эмнеси менен айырмаланат?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Темир: 4 × 3 × 2 = 24 см³. Айсулуу өлчөмдөрдү кошту (М3).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24–30 кант кесеги (же ширеңке кутулары, оюнчук кубиктер), бош сүт же чай кутусу, кайчы, чакмак кагаз. 1) Кант кесектеринен түбүн курушат: 4 катар × 3 = 12, анан экинчи катмар: 24. Айтышат: «бир катмар × катмар саны». 2) Сүт кутусун кырлары боюнча кесип, жайылмасын ачышат: 6 бет, ар бир беттин жубу бар. 3) Класска бир кагаз куб (кыры 10 см) жасап, күрүч же буурчак толтуруп, 1 литрлик бөтөлкөгө куябыз: 1 л = 1 000 см³.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эки катмарды (4 × 3) жана жайылманы чийишет (1 чакмак = 1 см). Көлөм: бир катмар 12 кубик, 2 катмар – 24 см³. Бет аянты: жайылмада 6 тик бурчтук, түстөрү жуп-жуп: 12 жана 12 (асты, үстү), 8 жана 8 (алды, арты), 6 жана 6 (капталдары). Ар бир бетке аянтын жаздырам, анан кошобуз: 2 × (12 + 8 + 6) = 52 см². Сурайм: эмне үчүн көлөм см³, ал эми бет аянты см² (М4)?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Формуланы жаттоодон мурун: V – кубиктер (бир катмар × катмар саны), S – жайылманын 6 бети. Ар бир жоопко бирдик: см³ же см² (М4). Белгисиз өлчөм: V ÷ (түбүнүн аянты) (М2). Литр: кыры 10 см куб = 1 000 см³ = 1 л; 1 м³ = 1 000 л (М6). Бирдиктер ар башка болсо, адегенде которобуз (М7).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«адегенде 25 × 4 = 100». «Оозеки беш мүнөт» (класста колдонуу картасы) эки апта ушул ыкмаларды кайталайт. 2-мисалдагы суу багы Пойанын 4 кадамы менен чыгарылды: түшүн, план, чыгар, текшер.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М3; Г = М4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катмар менен → бет аянтынын 3 жубу → көлөмдөрдү салыштыруу. Жооптор: 12 × 4 = 48 см³; 2 × (20 + 10 + 8) = 76 см²; 1 000 − 500 = 500 см³: Айсулуу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Көлөм – ичин толтуруу: 20 × 10 = 200 кубик бир катмарда, 15 катмар: 3 000 см³ = 3 л. Картон – сыртын каптоо: 6 бет, 3 жуп: 2 × (200 + 150 + 300) = 1 300 см². Эки санды салыштырууга болбойт: бири см³, экинчиси см² (М1, М4). Кутучанын капкагы ачылып-жабылса, кошумча картон кетет; аны окуучулар өздөрү айтса, мактайм.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60 см³; 2 × (30 + 10 + 12) = 104 см²; 6 м³ = 6 000 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5-класс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Тик бурчтуу параллелепипеддин көлөмү жана бет аянты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Өзгөндөгү күрүч кутулары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Нурлан ата Өзгөн күрүчүн базарга кутулап жөнөтөт. Неберелери Айсулуу менен Темир кутучаларды жасап, эсептешет.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стандарты: 2-класс (литр, көлөм), 4-класс 4.1.3 (куб, параллелепипед), 5-класс «Геометриялык маалымат». Мазмуну, сандары жана окуясы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Өзгөндөгү күрүч кутулары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Өзгөндө Нурлан атанын күрүч талаасы бар. Күзүндө күрүч жыйналып, базарга кутулар менен жөнөтүлөт.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Неберелери Айсулуу менен Темир жардам беришет: картондон кутуча жасашат.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Темирдин кутучасы тик бурчтуу параллелепипед: узуну 20 см, туурасы 10 см, бийиктиги 15 см.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Айсулуу сурайт: «Ага канча күрүч батат? Канча картон кетет?»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Кутуча 20 × 10 × 15 см. Канча см³ күрүч батат? Канча см² картон кетет?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Көлөмдү 1 см³ кубиктер менен санайм жана V = a · b · c менен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Бирдиктерди туура жазам: см³, м³, литр (1 л = 1 000 см³, 1 м³ = 1 000 л).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Жайылма аркылуу бет аянтын табам: S = 2 · (ab + bc + ac).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Кубиктерди саноо,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Бет аянты, литр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Белгисиз өлчөм, маселелер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Толтурабы же каптайбы?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кант кесеги, жайылма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Өзгөндөгү күрүч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Суу багы, кампа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2-класс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3D фигуралар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Литр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4-класс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Куб, параллелепипед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Бет, кыр, чоку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5-класс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Көлөм: см³, л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Бет аянты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Куб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Даража: a³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× 3 ×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Тик бурчтук 6 см × 4 см: аянты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25 ×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м = ? см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× 3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бурчтук 6 см × 4 см: аянты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24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25 ×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м = ? 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 см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Нурлан ата: «Кутуча 4 см × 3 см × 2 см. Ага 1 см³ кубиктен канчасы батат?»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Айсулуу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+ 3 + 2 = 9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 кубик батат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Темир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Бир катмар: 4 × 3 = 12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 катмар: 12 × 2 = 24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24 кубик батат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Кубиктерди катмар менен санап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кант кесегинен кутуча курабыз, сүт кутусун ачып жайылма жасайбыз.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Кант кесектеринен кутуча</a:t>
            </a:r>
          </a:p>
        </p:txBody>
      </p:sp>
      <p:sp>
        <p:nvSpPr>
          <p:cNvPr id="13" name="Freeform 12"/>
          <p:cNvSpPr/>
          <p:nvPr/>
        </p:nvSpPr>
        <p:spPr>
          <a:xfrm>
            <a:off x="868300" y="3610300"/>
            <a:ext cx="1828000" cy="914000"/>
          </a:xfrm>
          <a:custGeom>
            <a:avLst/>
            <a:gdLst/>
            <a:ahLst/>
            <a:cxnLst/>
            <a:rect l="l" t="t" r="r" b="b"/>
            <a:pathLst>
              <a:path w="2000" h="1000">
                <a:moveTo>
                  <a:pt x="0" y="1000"/>
                </a:moveTo>
                <a:lnTo>
                  <a:pt x="2000" y="1000"/>
                </a:lnTo>
                <a:lnTo>
                  <a:pt x="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1EA"/>
          </a:solidFill>
          <a:ln w="222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68300" y="3267550"/>
            <a:ext cx="2422100" cy="342750"/>
          </a:xfrm>
          <a:custGeom>
            <a:avLst/>
            <a:gdLst/>
            <a:ahLst/>
            <a:cxnLst/>
            <a:rect l="l" t="t" r="r" b="b"/>
            <a:pathLst>
              <a:path w="2650" h="375">
                <a:moveTo>
                  <a:pt x="0" y="375"/>
                </a:moveTo>
                <a:lnTo>
                  <a:pt x="2000" y="375"/>
                </a:lnTo>
                <a:lnTo>
                  <a:pt x="2650" y="0"/>
                </a:lnTo>
                <a:lnTo>
                  <a:pt x="650" y="0"/>
                </a:lnTo>
                <a:close/>
              </a:path>
            </a:pathLst>
          </a:custGeom>
          <a:solidFill>
            <a:srgbClr val="F4F1EA"/>
          </a:solidFill>
          <a:ln w="222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696300" y="3267550"/>
            <a:ext cx="594100" cy="1256750"/>
          </a:xfrm>
          <a:custGeom>
            <a:avLst/>
            <a:gdLst/>
            <a:ahLst/>
            <a:cxnLst/>
            <a:rect l="l" t="t" r="r" b="b"/>
            <a:pathLst>
              <a:path w="650" h="1375">
                <a:moveTo>
                  <a:pt x="0" y="1375"/>
                </a:moveTo>
                <a:lnTo>
                  <a:pt x="650" y="1000"/>
                </a:lnTo>
                <a:lnTo>
                  <a:pt x="650" y="0"/>
                </a:lnTo>
                <a:lnTo>
                  <a:pt x="0" y="375"/>
                </a:lnTo>
                <a:close/>
              </a:path>
            </a:pathLst>
          </a:custGeom>
          <a:solidFill>
            <a:srgbClr val="E4E0D6"/>
          </a:solidFill>
          <a:ln w="222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1325880" y="3611880"/>
            <a:ext cx="0" cy="9144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25880" y="3268980"/>
            <a:ext cx="593902" cy="3429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783080" y="3611880"/>
            <a:ext cx="0" cy="9144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783080" y="3268980"/>
            <a:ext cx="593902" cy="3429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40280" y="3611880"/>
            <a:ext cx="0" cy="9144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40280" y="3268980"/>
            <a:ext cx="593902" cy="3429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8680" y="4069080"/>
            <a:ext cx="1828800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697480" y="3726180"/>
            <a:ext cx="593902" cy="3429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6647" y="3497580"/>
            <a:ext cx="1828800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95447" y="3497580"/>
            <a:ext cx="0" cy="9144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64615" y="3383280"/>
            <a:ext cx="1828800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093415" y="3383280"/>
            <a:ext cx="0" cy="91440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8680" y="454456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" y="3904488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0151" y="4309110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37760"/>
            <a:ext cx="42062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 катмар: 4 × 3 = 12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 катмар: 12 × 2 = 24 кесек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10312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Сүт кутусун кесип ачабыз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2606040"/>
            <a:ext cx="91440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20" y="3063240"/>
            <a:ext cx="457200" cy="13716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32120" y="3063240"/>
            <a:ext cx="914400" cy="1371600"/>
          </a:xfrm>
          <a:prstGeom prst="rect">
            <a:avLst/>
          </a:prstGeom>
          <a:solidFill>
            <a:srgbClr val="BFCBE9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3063240"/>
            <a:ext cx="457200" cy="13716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3063240"/>
            <a:ext cx="914400" cy="1371600"/>
          </a:xfrm>
          <a:prstGeom prst="rect">
            <a:avLst/>
          </a:prstGeom>
          <a:solidFill>
            <a:srgbClr val="BFCBE9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32120" y="4434840"/>
            <a:ext cx="91440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4937760"/>
            <a:ext cx="411480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6 бет: ар биринин жубу бар</a:t>
            </a:r>
          </a:p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Бирдей түс = бирдей бет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2240280"/>
            <a:ext cx="2743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2304288"/>
            <a:ext cx="25146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24–30 кант кесеги же ширеңке кутусу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бош сүт же чай кутусу, кайчы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чакмак кагаз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Класска: кагаз куб (кыры 10 см), күрүч, 1 л бөтөлкө</a:t>
            </a:r>
          </a:p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Кубик = көлөм, бет = аянт!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катмарлар жана жайылма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Кутуча 4 × 3 × 2: катмарлап санайбыз (V), жайылмасын ачабыз (S).</a:t>
            </a:r>
          </a:p>
        </p:txBody>
      </p:sp>
      <p:sp>
        <p:nvSpPr>
          <p:cNvPr id="12" name="Freeform 11"/>
          <p:cNvSpPr/>
          <p:nvPr/>
        </p:nvSpPr>
        <p:spPr>
          <a:xfrm>
            <a:off x="868300" y="2696300"/>
            <a:ext cx="1828000" cy="914000"/>
          </a:xfrm>
          <a:custGeom>
            <a:avLst/>
            <a:gdLst/>
            <a:ahLst/>
            <a:cxnLst/>
            <a:rect l="l" t="t" r="r" b="b"/>
            <a:pathLst>
              <a:path w="2000" h="1000">
                <a:moveTo>
                  <a:pt x="0" y="1000"/>
                </a:moveTo>
                <a:lnTo>
                  <a:pt x="2000" y="1000"/>
                </a:lnTo>
                <a:lnTo>
                  <a:pt x="2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5E2D3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68300" y="2353550"/>
            <a:ext cx="2422100" cy="342750"/>
          </a:xfrm>
          <a:custGeom>
            <a:avLst/>
            <a:gdLst/>
            <a:ahLst/>
            <a:cxnLst/>
            <a:rect l="l" t="t" r="r" b="b"/>
            <a:pathLst>
              <a:path w="2650" h="375">
                <a:moveTo>
                  <a:pt x="0" y="375"/>
                </a:moveTo>
                <a:lnTo>
                  <a:pt x="2000" y="375"/>
                </a:lnTo>
                <a:lnTo>
                  <a:pt x="2650" y="0"/>
                </a:lnTo>
                <a:lnTo>
                  <a:pt x="65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696300" y="2353550"/>
            <a:ext cx="594100" cy="1256750"/>
          </a:xfrm>
          <a:custGeom>
            <a:avLst/>
            <a:gdLst/>
            <a:ahLst/>
            <a:cxnLst/>
            <a:rect l="l" t="t" r="r" b="b"/>
            <a:pathLst>
              <a:path w="650" h="1375">
                <a:moveTo>
                  <a:pt x="0" y="1375"/>
                </a:moveTo>
                <a:lnTo>
                  <a:pt x="650" y="1000"/>
                </a:lnTo>
                <a:lnTo>
                  <a:pt x="650" y="0"/>
                </a:lnTo>
                <a:lnTo>
                  <a:pt x="0" y="375"/>
                </a:lnTo>
                <a:close/>
              </a:path>
            </a:pathLst>
          </a:custGeom>
          <a:solidFill>
            <a:srgbClr val="BFCBE9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325880" y="2697480"/>
            <a:ext cx="0" cy="9144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25880" y="2354580"/>
            <a:ext cx="593902" cy="3429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697480"/>
            <a:ext cx="0" cy="9144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783080" y="2354580"/>
            <a:ext cx="593902" cy="3429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240280" y="2697480"/>
            <a:ext cx="0" cy="9144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40280" y="2354580"/>
            <a:ext cx="593902" cy="3429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" y="3154680"/>
            <a:ext cx="1828800" cy="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697480" y="2811780"/>
            <a:ext cx="593902" cy="3429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6647" y="2583180"/>
            <a:ext cx="1828800" cy="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95447" y="2583180"/>
            <a:ext cx="0" cy="9144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64615" y="2468880"/>
            <a:ext cx="1828800" cy="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093415" y="2468880"/>
            <a:ext cx="0" cy="914400"/>
          </a:xfrm>
          <a:prstGeom prst="line">
            <a:avLst/>
          </a:prstGeom>
          <a:ln w="95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3621024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4 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1" y="3017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2 см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0151" y="3330702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3 см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2377440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05656" y="2377440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2377440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44568" y="2377440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2596896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05656" y="2596896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5112" y="2596896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44568" y="2596896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86200" y="2816352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05656" y="2816352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816352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44568" y="2816352"/>
            <a:ext cx="219456" cy="219456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22191" y="3072384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1-катмар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22191" y="3310128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4 × 3 =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2377440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11496" y="2377440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30952" y="2377440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50407" y="2377440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92040" y="2596896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11496" y="2596896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30952" y="2596896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50407" y="2596896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92040" y="2816352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11496" y="2816352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0952" y="2816352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50407" y="2816352"/>
            <a:ext cx="219456" cy="219456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28031" y="3072384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4A5A70"/>
                </a:solidFill>
                <a:latin typeface="PT Sans"/>
              </a:rPr>
              <a:t>2-катмар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28031" y="3310128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4 × 3 = 12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3977639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023360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Көлөм: кубиктерди санайбыз</a:t>
            </a:r>
          </a:p>
          <a:p>
            <a:pPr algn="l">
              <a:lnSpc>
                <a:spcPct val="102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12 + 12 = 24 кубик</a:t>
            </a:r>
          </a:p>
          <a:p>
            <a:pPr algn="l">
              <a:lnSpc>
                <a:spcPct val="102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× 3 × 2 = 24 см³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06440" y="2103120"/>
            <a:ext cx="58521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Жайылма: 6 бет, 3 жуп (см²)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12864" y="2487168"/>
            <a:ext cx="1353312" cy="1014983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7880" y="3502152"/>
            <a:ext cx="1014983" cy="676656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12864" y="3502152"/>
            <a:ext cx="1353312" cy="676656"/>
          </a:xfrm>
          <a:prstGeom prst="rect">
            <a:avLst/>
          </a:prstGeom>
          <a:solidFill>
            <a:srgbClr val="BFCBE9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66175" y="3502152"/>
            <a:ext cx="1014983" cy="676656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3502152"/>
            <a:ext cx="1353312" cy="676656"/>
          </a:xfrm>
          <a:prstGeom prst="rect">
            <a:avLst/>
          </a:prstGeom>
          <a:solidFill>
            <a:srgbClr val="BFCBE9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12864" y="4178808"/>
            <a:ext cx="1353312" cy="1014983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06440" y="5138928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12 + 12 + 8 + 8 + 6 + 6 = 52 см²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V = 4 × 3 × 2 = 24 см³          S = 2 × (12 + 8 + 6) = 52 см²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· b ·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Көлөм: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Узуну × туурасы × бийиктиги; см³, м³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· a ·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Кубдун көлөмү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Кыры × кыры × кыры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2(ab+bc+ac)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Бет аянты: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6 бет = 3 бирдей жуп; см²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1 л = 1 000 см³        1 м³ = 1 000 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Кутунун көлөмү 120 см³, узуну 6 см, туурасы 5 см. Бийиктиги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× 5 =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бир катмар, см²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120 ÷ 30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бийиктиги, см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6 × 5 × 4 = 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Бийиктиги = </a:t>
            </a:r>
            <a:r>
              <a:rPr sz="3400" b="1">
                <a:solidFill>
                  <a:srgbClr val="24418C"/>
                </a:solidFill>
                <a:latin typeface="PT Sans"/>
              </a:rPr>
              <a:t>4 см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Бак 2 м × 1 м × 1 м, анда 1 500 л суу бар. Дагы канча литр батат?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Бак 2 м, 1 м, 1 м;  бар 1 500 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1. Түшүн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× 1 × 1 = 2 м³ = 2 000 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2. План: V → 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2 000 − 1 500 =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3. Чыгар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1 500 + 500 = 2 000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4. Текшер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Дагы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500 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Ыңгайлуу тартип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25 × 7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(25 × 4) ×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100 ×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10 же 100 берген жупту табам.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Катмар менен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× 5 ×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30 ×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Бир катмар 30 кубик, 3 катмар.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Литрге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4 000 см³ = 4 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м³ = 3 000 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 л = 1 000 см³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1 000 см³ = 1 л: үч нөлдү алам же кошом.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Кутуча: узуну 5 см, туурасы 4 см, бийиктиги 3 см. Анын көлөмү канча?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94 см³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60 см³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 см³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60 см²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Кутучанын түбүнө 12 кубик батат (1 катмар). Куту 4 катмар бийик. Канча кубик батат? Тилке: 4 бирдей катмар.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Кутуча 5 см × 4 см × 2 см. Беттери жуп-жуп: 20, 10 жана 8 см². Кутучага канча см² картон кетет?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Айсулуунун кутусу 10 см × 10 см × 10 см, Темирдики 20 см × 5 см × 5 см. Кимдикине күрүч көп батат, канча см³ көп?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Кутучанын түбүнө 12 кубик батат (1 катмар). Куту 4 катмар бийик. Канча кубик батат? Тилке: 4 бирдей катмар.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906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8884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4862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12 × 4 = 48 см³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Кутуча 5 см × 4 см × 2 см. Беттери жуп-жуп: 20, 10 жана 8 см². Кутучага канча см² картон кетет?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9600" y="3017520"/>
            <a:ext cx="61681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6418" y="3017520"/>
            <a:ext cx="61681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3237" y="3017520"/>
            <a:ext cx="308409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647" y="3017520"/>
            <a:ext cx="308409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0056" y="3017520"/>
            <a:ext cx="24672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6784" y="3017520"/>
            <a:ext cx="24672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 × (20 + 10 + 8) = 76 см²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Айсулуунун кутусу 10 см × 10 см × 10 см, Темирдики 20 см × 5 см × 5 см. Кимдикине күрүч көп батат, канча см³ көп?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Айсулуу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5312" y="3017520"/>
            <a:ext cx="44043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75748" y="3017520"/>
            <a:ext cx="440435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Темир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5312" y="3574389"/>
            <a:ext cx="44043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1 000 − 500 = 500 см³: Айсулуу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см × 5 см × 3 см: көлөмү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Куб 7 см: көлөмү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см × 3 см × 2 см: бет аянты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Куб 4 см: бет аянты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V = 80 см³, түбү 5 см × 4 см. Бийиктиги?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Бак 2 м × 2 м × 1 м: канча литр суу батат?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 см × 5 см × 3 см: көлөмү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120 см³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Куб 7 см: көлөмү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343 см³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 см × 3 см × 2 см: бет аянты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72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Куб 4 см: бет аянты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96 см²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V = 80 см³, түбү 5 см × 4 см. Бийиктиги?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см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Бак 2 м × 2 м × 1 м: канча литр суу батат?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4 000 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Кутуча 20 × 10 × 15 см. Канча см³ күрүч батат? Канча см² картон кетет?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Картон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167618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5058" y="2240280"/>
            <a:ext cx="1167618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2676" y="2240280"/>
            <a:ext cx="875713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8390" y="2240280"/>
            <a:ext cx="875713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4104" y="2240280"/>
            <a:ext cx="175142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5532" y="2240280"/>
            <a:ext cx="175142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1 300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20 × 10 × 15 = 3 000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см³ күрүч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3 000 см³ = 3 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 л = 1 000 см³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2 × (200 + 150 + 300) = 1 300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см² картон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3 000 см³ = 3 л күрүч;  1 300 см² картон.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Өзгөндөгү күрүч жөнүндө маселе түз: бирөөндө көлөм (см³ же литр), экинчисинде бет аянты керек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Нурлан ата, Айсулуу, Темир.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Куту 6 см × 5 см × 2 см. Көлөмү канча?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Ошол эле кутунун бет аянты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Суу багы 3 м × 2 м × 1 м. Ага канча литр суу батат?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Көлөм менен бет аянтынын айырмасы эмнеде? Бирдиктери кандай?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бет аянтында 2ге көбөйтөбүз?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Көлөмү 24 см³ болгон эки түрдүү куту ойлоп тап.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маселеде «толтурабы же каптайбы?» деп сурайм (М1).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Жоопто бирдик жок болсо, жоопту толук эмес деп эсептейм: см² же см³ (М4).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Кант кесектери же ширеңке кутулары ар бир жупта болушун сунуштайм.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Жайылманы чакмак кагазга чийдирип, ар бир бетке аянтын жаздырам (М5).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