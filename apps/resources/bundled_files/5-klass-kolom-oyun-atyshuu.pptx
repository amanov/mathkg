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Атышуу (ылдамдыксыз): суроо слайды, андан кийин жооп слайды. Туура жооп 1 упай, «туура жана түшүндүрдү» дагы 1 упай. Ылдамдык боюнча тизме жок (3C · Сынчыл ой).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D3557"/>
                </a:solidFill>
                <a:latin typeface="PT Sans"/>
              </a:rPr>
              <a:t>Атышуу: туура жана түшүндүр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/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Көлөм жана бет аянты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1/25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" y="1280160"/>
            <a:ext cx="11332159" cy="42062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731520" y="1536192"/>
            <a:ext cx="457200" cy="457200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1D3557"/>
                </a:solidFill>
                <a:latin typeface="PT Sans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1490472"/>
            <a:ext cx="9966960" cy="8229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100" b="0" i="0">
                <a:solidFill>
                  <a:srgbClr val="1F2430"/>
                </a:solidFill>
                <a:latin typeface="PT Sans"/>
              </a:rPr>
              <a:t>Баары ойлонот (10 секунд), анан мини-тактага жазат. Ким биринчи экени маанилүү эмес.</a:t>
            </a:r>
          </a:p>
        </p:txBody>
      </p:sp>
      <p:sp>
        <p:nvSpPr>
          <p:cNvPr id="13" name="Oval 12"/>
          <p:cNvSpPr/>
          <p:nvPr/>
        </p:nvSpPr>
        <p:spPr>
          <a:xfrm>
            <a:off x="731520" y="2404872"/>
            <a:ext cx="457200" cy="457200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1D3557"/>
                </a:solidFill>
                <a:latin typeface="PT Sans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71600" y="2359152"/>
            <a:ext cx="9966960" cy="8229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100" b="0" i="0">
                <a:solidFill>
                  <a:srgbClr val="1F2430"/>
                </a:solidFill>
                <a:latin typeface="PT Sans"/>
              </a:rPr>
              <a:t>Туура жооп жана туура бирдик (см² же см³) = 1 упай. Сүрөт же сөз менен түшүндүрсө = дагы 1 упай.</a:t>
            </a:r>
          </a:p>
        </p:txBody>
      </p:sp>
      <p:sp>
        <p:nvSpPr>
          <p:cNvPr id="15" name="Oval 14"/>
          <p:cNvSpPr/>
          <p:nvPr/>
        </p:nvSpPr>
        <p:spPr>
          <a:xfrm>
            <a:off x="731520" y="3273552"/>
            <a:ext cx="457200" cy="457200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1D3557"/>
                </a:solidFill>
                <a:latin typeface="PT Sans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3227832"/>
            <a:ext cx="9966960" cy="8229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100" b="0" i="0">
                <a:solidFill>
                  <a:srgbClr val="1F2430"/>
                </a:solidFill>
                <a:latin typeface="PT Sans"/>
              </a:rPr>
              <a:t>Жооп слайдында текшеребиз: «толтурдуңбу же каптадыңбы?» деп 2–3 окуучудан сурайм.</a:t>
            </a:r>
          </a:p>
        </p:txBody>
      </p:sp>
      <p:sp>
        <p:nvSpPr>
          <p:cNvPr id="17" name="Oval 16"/>
          <p:cNvSpPr/>
          <p:nvPr/>
        </p:nvSpPr>
        <p:spPr>
          <a:xfrm>
            <a:off x="731520" y="4142231"/>
            <a:ext cx="457200" cy="457200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1D3557"/>
                </a:solidFill>
                <a:latin typeface="PT Sans"/>
              </a:rP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4096511"/>
            <a:ext cx="9966960" cy="8229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100" b="0" i="0">
                <a:solidFill>
                  <a:srgbClr val="1F2430"/>
                </a:solidFill>
                <a:latin typeface="PT Sans"/>
              </a:rPr>
              <a:t>Ар ким өз упайын өзүнүн мурунку жыйынтыгы менен салыштырат; класс алдында тизме жок.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007047" y="5669280"/>
            <a:ext cx="4754880" cy="411480"/>
          </a:xfrm>
          <a:prstGeom prst="roundRect">
            <a:avLst>
              <a:gd name="adj" fmla="val 50000"/>
            </a:avLst>
          </a:prstGeom>
          <a:noFill/>
          <a:ln w="15875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1">
                <a:solidFill>
                  <a:srgbClr val="1D3557"/>
                </a:solidFill>
                <a:latin typeface="PT Sans"/>
              </a:rPr>
              <a:t>Блум: Эстөө · Колдонуу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29768" y="5669280"/>
            <a:ext cx="5852160" cy="411480"/>
          </a:xfrm>
          <a:prstGeom prst="roundRect">
            <a:avLst>
              <a:gd name="adj" fmla="val 50000"/>
            </a:avLst>
          </a:prstGeom>
          <a:noFill/>
          <a:ln w="15875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1">
                <a:solidFill>
                  <a:srgbClr val="A84400"/>
                </a:solidFill>
                <a:latin typeface="PT Sans"/>
              </a:rPr>
              <a:t>Бүгүнкү окуя: Өзгөндөгү күрүч кутулары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D3557"/>
                </a:solidFill>
                <a:latin typeface="PT Sans"/>
              </a:rPr>
              <a:t>1-суроо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/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Көлөм жана бет аянты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2/25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" y="1463040"/>
            <a:ext cx="11332159" cy="21945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5400" b="1" i="0">
                <a:solidFill>
                  <a:srgbClr val="1F2430"/>
                </a:solidFill>
                <a:latin typeface="PT Sans"/>
              </a:rPr>
              <a:t>2 × 3 × 4 (см): V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9768" y="4206240"/>
            <a:ext cx="11332159" cy="5486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2200" b="0" i="1">
                <a:solidFill>
                  <a:srgbClr val="6B7280"/>
                </a:solidFill>
                <a:latin typeface="PT Sans"/>
              </a:rPr>
              <a:t>Ойлон… жаз… ыкмаңды айтууга даярдан!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D3557"/>
                </a:solidFill>
                <a:latin typeface="PT Sans"/>
              </a:rPr>
              <a:t>1-суроо — жооп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/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Көлөм жана бет аянты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3/25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" y="1463040"/>
            <a:ext cx="11332159" cy="21945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5400" b="1" i="0">
                <a:solidFill>
                  <a:srgbClr val="1F2430"/>
                </a:solidFill>
                <a:latin typeface="PT Sans"/>
              </a:rPr>
              <a:t>2 × 3 × 4 (см): V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352647" y="4114800"/>
            <a:ext cx="5486400" cy="118872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3175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4800" b="1">
                <a:solidFill>
                  <a:srgbClr val="24418C"/>
                </a:solidFill>
                <a:latin typeface="PT Sans"/>
              </a:rPr>
              <a:t>24 см³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D3557"/>
                </a:solidFill>
                <a:latin typeface="PT Sans"/>
              </a:rPr>
              <a:t>2-суроо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/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Көлөм жана бет аянты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4/25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" y="1463040"/>
            <a:ext cx="11332159" cy="21945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5400" b="1" i="0">
                <a:solidFill>
                  <a:srgbClr val="1F2430"/>
                </a:solidFill>
                <a:latin typeface="PT Sans"/>
              </a:rPr>
              <a:t>Куб 2 см: V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9768" y="4206240"/>
            <a:ext cx="11332159" cy="5486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2200" b="0" i="1">
                <a:solidFill>
                  <a:srgbClr val="6B7280"/>
                </a:solidFill>
                <a:latin typeface="PT Sans"/>
              </a:rPr>
              <a:t>Ойлон… жаз… ыкмаңды айтууга даярдан!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D3557"/>
                </a:solidFill>
                <a:latin typeface="PT Sans"/>
              </a:rPr>
              <a:t>2-суроо — жооп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/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Көлөм жана бет аянты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5/25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" y="1463040"/>
            <a:ext cx="11332159" cy="21945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5400" b="1" i="0">
                <a:solidFill>
                  <a:srgbClr val="1F2430"/>
                </a:solidFill>
                <a:latin typeface="PT Sans"/>
              </a:rPr>
              <a:t>Куб 2 см: V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352647" y="4114800"/>
            <a:ext cx="5486400" cy="118872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3175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4800" b="1">
                <a:solidFill>
                  <a:srgbClr val="24418C"/>
                </a:solidFill>
                <a:latin typeface="PT Sans"/>
              </a:rPr>
              <a:t>8 см³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D3557"/>
                </a:solidFill>
                <a:latin typeface="PT Sans"/>
              </a:rPr>
              <a:t>3-суроо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/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Көлөм жана бет аянты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6/25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" y="1463040"/>
            <a:ext cx="11332159" cy="21945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5400" b="1" i="0">
                <a:solidFill>
                  <a:srgbClr val="1F2430"/>
                </a:solidFill>
                <a:latin typeface="PT Sans"/>
              </a:rPr>
              <a:t>Куб 2 см: 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9768" y="4206240"/>
            <a:ext cx="11332159" cy="5486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2200" b="0" i="1">
                <a:solidFill>
                  <a:srgbClr val="6B7280"/>
                </a:solidFill>
                <a:latin typeface="PT Sans"/>
              </a:rPr>
              <a:t>Ойлон… жаз… ыкмаңды айтууга даярдан!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D3557"/>
                </a:solidFill>
                <a:latin typeface="PT Sans"/>
              </a:rPr>
              <a:t>3-суроо — жооп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/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Көлөм жана бет аянты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7/25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" y="1463040"/>
            <a:ext cx="11332159" cy="21945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5400" b="1" i="0">
                <a:solidFill>
                  <a:srgbClr val="1F2430"/>
                </a:solidFill>
                <a:latin typeface="PT Sans"/>
              </a:rPr>
              <a:t>Куб 2 см: 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352647" y="4114800"/>
            <a:ext cx="5486400" cy="118872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3175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4800" b="1">
                <a:solidFill>
                  <a:srgbClr val="24418C"/>
                </a:solidFill>
                <a:latin typeface="PT Sans"/>
              </a:rPr>
              <a:t>24 см²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D3557"/>
                </a:solidFill>
                <a:latin typeface="PT Sans"/>
              </a:rPr>
              <a:t>4-суроо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/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Көлөм жана бет аянты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8/25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" y="1463040"/>
            <a:ext cx="11332159" cy="21945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5400" b="1" i="0">
                <a:solidFill>
                  <a:srgbClr val="1F2430"/>
                </a:solidFill>
                <a:latin typeface="PT Sans"/>
              </a:rPr>
              <a:t>1 л = ? см³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9768" y="4206240"/>
            <a:ext cx="11332159" cy="5486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2200" b="0" i="1">
                <a:solidFill>
                  <a:srgbClr val="6B7280"/>
                </a:solidFill>
                <a:latin typeface="PT Sans"/>
              </a:rPr>
              <a:t>Ойлон… жаз… ыкмаңды айтууга даярдан!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D3557"/>
                </a:solidFill>
                <a:latin typeface="PT Sans"/>
              </a:rPr>
              <a:t>4-суроо — жооп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/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Көлөм жана бет аянты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9/25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" y="1463040"/>
            <a:ext cx="11332159" cy="21945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5400" b="1" i="0">
                <a:solidFill>
                  <a:srgbClr val="1F2430"/>
                </a:solidFill>
                <a:latin typeface="PT Sans"/>
              </a:rPr>
              <a:t>1 л = ? см³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352647" y="4114800"/>
            <a:ext cx="5486400" cy="118872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3175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4800" b="1">
                <a:solidFill>
                  <a:srgbClr val="24418C"/>
                </a:solidFill>
                <a:latin typeface="PT Sans"/>
              </a:rPr>
              <a:t>1 000 см³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D3557"/>
                </a:solidFill>
                <a:latin typeface="PT Sans"/>
              </a:rPr>
              <a:t>5-суроо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/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Көлөм жана бет аянты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10/25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" y="1463040"/>
            <a:ext cx="11332159" cy="21945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5400" b="1" i="0">
                <a:solidFill>
                  <a:srgbClr val="1F2430"/>
                </a:solidFill>
                <a:latin typeface="PT Sans"/>
              </a:rPr>
              <a:t>1 м³ = ? л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9768" y="4206240"/>
            <a:ext cx="11332159" cy="5486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2200" b="0" i="1">
                <a:solidFill>
                  <a:srgbClr val="6B7280"/>
                </a:solidFill>
                <a:latin typeface="PT Sans"/>
              </a:rPr>
              <a:t>Ойлон… жаз… ыкмаңды айтууга даярдан!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D3557"/>
                </a:solidFill>
                <a:latin typeface="PT Sans"/>
              </a:rPr>
              <a:t>5-суроо — жооп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/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Көлөм жана бет аянты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11/25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" y="1463040"/>
            <a:ext cx="11332159" cy="21945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5400" b="1" i="0">
                <a:solidFill>
                  <a:srgbClr val="1F2430"/>
                </a:solidFill>
                <a:latin typeface="PT Sans"/>
              </a:rPr>
              <a:t>1 м³ = ? л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352647" y="4114800"/>
            <a:ext cx="5486400" cy="118872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3175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4800" b="1">
                <a:solidFill>
                  <a:srgbClr val="24418C"/>
                </a:solidFill>
                <a:latin typeface="PT Sans"/>
              </a:rPr>
              <a:t>1 000 л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D3557"/>
                </a:solidFill>
                <a:latin typeface="PT Sans"/>
              </a:rPr>
              <a:t>6-суроо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/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Көлөм жана бет аянты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12/25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" y="1463040"/>
            <a:ext cx="11332159" cy="21945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5400" b="1" i="0">
                <a:solidFill>
                  <a:srgbClr val="1F2430"/>
                </a:solidFill>
                <a:latin typeface="PT Sans"/>
              </a:rPr>
              <a:t>Кутунун канча кыры бар?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9768" y="4206240"/>
            <a:ext cx="11332159" cy="5486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2200" b="0" i="1">
                <a:solidFill>
                  <a:srgbClr val="6B7280"/>
                </a:solidFill>
                <a:latin typeface="PT Sans"/>
              </a:rPr>
              <a:t>Ойлон… жаз… ыкмаңды айтууга даярдан!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D3557"/>
                </a:solidFill>
                <a:latin typeface="PT Sans"/>
              </a:rPr>
              <a:t>6-суроо — жооп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/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Көлөм жана бет аянты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13/25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" y="1463040"/>
            <a:ext cx="11332159" cy="21945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5400" b="1" i="0">
                <a:solidFill>
                  <a:srgbClr val="1F2430"/>
                </a:solidFill>
                <a:latin typeface="PT Sans"/>
              </a:rPr>
              <a:t>Кутунун канча кыры бар?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352647" y="4114800"/>
            <a:ext cx="5486400" cy="118872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3175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4800" b="1">
                <a:solidFill>
                  <a:srgbClr val="24418C"/>
                </a:solidFill>
                <a:latin typeface="PT Sans"/>
              </a:rPr>
              <a:t>12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D3557"/>
                </a:solidFill>
                <a:latin typeface="PT Sans"/>
              </a:rPr>
              <a:t>7-суроо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/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Көлөм жана бет аянты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14/25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" y="1463040"/>
            <a:ext cx="11332159" cy="21945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5400" b="1" i="0">
                <a:solidFill>
                  <a:srgbClr val="1F2430"/>
                </a:solidFill>
                <a:latin typeface="PT Sans"/>
              </a:rPr>
              <a:t>5 × 5 × 2 (см): V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9768" y="4206240"/>
            <a:ext cx="11332159" cy="5486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2200" b="0" i="1">
                <a:solidFill>
                  <a:srgbClr val="6B7280"/>
                </a:solidFill>
                <a:latin typeface="PT Sans"/>
              </a:rPr>
              <a:t>Ойлон… жаз… ыкмаңды айтууга даярдан!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D3557"/>
                </a:solidFill>
                <a:latin typeface="PT Sans"/>
              </a:rPr>
              <a:t>7-суроо — жооп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/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Көлөм жана бет аянты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15/25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" y="1463040"/>
            <a:ext cx="11332159" cy="21945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5400" b="1" i="0">
                <a:solidFill>
                  <a:srgbClr val="1F2430"/>
                </a:solidFill>
                <a:latin typeface="PT Sans"/>
              </a:rPr>
              <a:t>5 × 5 × 2 (см): V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352647" y="4114800"/>
            <a:ext cx="5486400" cy="118872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3175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4800" b="1">
                <a:solidFill>
                  <a:srgbClr val="24418C"/>
                </a:solidFill>
                <a:latin typeface="PT Sans"/>
              </a:rPr>
              <a:t>50 см³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D3557"/>
                </a:solidFill>
                <a:latin typeface="PT Sans"/>
              </a:rPr>
              <a:t>8-суроо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/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Көлөм жана бет аянты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16/25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" y="1463040"/>
            <a:ext cx="11332159" cy="21945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5400" b="1" i="0">
                <a:solidFill>
                  <a:srgbClr val="1F2430"/>
                </a:solidFill>
                <a:latin typeface="PT Sans"/>
              </a:rPr>
              <a:t>Аквариумга суу: көлөмбү же бет аянтыбы?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9768" y="4206240"/>
            <a:ext cx="11332159" cy="5486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2200" b="0" i="1">
                <a:solidFill>
                  <a:srgbClr val="6B7280"/>
                </a:solidFill>
                <a:latin typeface="PT Sans"/>
              </a:rPr>
              <a:t>Ойлон… жаз… ыкмаңды айтууга даярдан!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D3557"/>
                </a:solidFill>
                <a:latin typeface="PT Sans"/>
              </a:rPr>
              <a:t>8-суроо — жооп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/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Көлөм жана бет аянты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17/25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" y="1463040"/>
            <a:ext cx="11332159" cy="21945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5400" b="1" i="0">
                <a:solidFill>
                  <a:srgbClr val="1F2430"/>
                </a:solidFill>
                <a:latin typeface="PT Sans"/>
              </a:rPr>
              <a:t>Аквариумга суу: көлөмбү же бет аянтыбы?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352647" y="4114800"/>
            <a:ext cx="5486400" cy="118872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3175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4800" b="1">
                <a:solidFill>
                  <a:srgbClr val="24418C"/>
                </a:solidFill>
                <a:latin typeface="PT Sans"/>
              </a:rPr>
              <a:t>Көлөм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D3557"/>
                </a:solidFill>
                <a:latin typeface="PT Sans"/>
              </a:rPr>
              <a:t>9-суроо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/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Көлөм жана бет аянты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18/25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" y="1463040"/>
            <a:ext cx="11332159" cy="21945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5400" b="1" i="0">
                <a:solidFill>
                  <a:srgbClr val="1F2430"/>
                </a:solidFill>
                <a:latin typeface="PT Sans"/>
              </a:rPr>
              <a:t>Белек кагазы: көлөмбү же бет аянтыбы?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9768" y="4206240"/>
            <a:ext cx="11332159" cy="5486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2200" b="0" i="1">
                <a:solidFill>
                  <a:srgbClr val="6B7280"/>
                </a:solidFill>
                <a:latin typeface="PT Sans"/>
              </a:rPr>
              <a:t>Ойлон… жаз… ыкмаңды айтууга даярдан!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D3557"/>
                </a:solidFill>
                <a:latin typeface="PT Sans"/>
              </a:rPr>
              <a:t>9-суроо — жооп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/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Көлөм жана бет аянты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19/25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" y="1463040"/>
            <a:ext cx="11332159" cy="21945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5400" b="1" i="0">
                <a:solidFill>
                  <a:srgbClr val="1F2430"/>
                </a:solidFill>
                <a:latin typeface="PT Sans"/>
              </a:rPr>
              <a:t>Белек кагазы: көлөмбү же бет аянтыбы?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352647" y="4114800"/>
            <a:ext cx="5486400" cy="118872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3175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4800" b="1">
                <a:solidFill>
                  <a:srgbClr val="24418C"/>
                </a:solidFill>
                <a:latin typeface="PT Sans"/>
              </a:rPr>
              <a:t>Бет аянты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D3557"/>
                </a:solidFill>
                <a:latin typeface="PT Sans"/>
              </a:rPr>
              <a:t>10-суроо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/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Көлөм жана бет аянты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20/25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" y="1463040"/>
            <a:ext cx="11332159" cy="21945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5400" b="1" i="0">
                <a:solidFill>
                  <a:srgbClr val="1F2430"/>
                </a:solidFill>
                <a:latin typeface="PT Sans"/>
              </a:rPr>
              <a:t>6 000 см³ = ? л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9768" y="4206240"/>
            <a:ext cx="11332159" cy="5486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2200" b="0" i="1">
                <a:solidFill>
                  <a:srgbClr val="6B7280"/>
                </a:solidFill>
                <a:latin typeface="PT Sans"/>
              </a:rPr>
              <a:t>Ойлон… жаз… ыкмаңды айтууга даярдан!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D3557"/>
                </a:solidFill>
                <a:latin typeface="PT Sans"/>
              </a:rPr>
              <a:t>10-суроо — жооп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/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Көлөм жана бет аянты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21/25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" y="1463040"/>
            <a:ext cx="11332159" cy="21945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5400" b="1" i="0">
                <a:solidFill>
                  <a:srgbClr val="1F2430"/>
                </a:solidFill>
                <a:latin typeface="PT Sans"/>
              </a:rPr>
              <a:t>6 000 см³ = ? л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352647" y="4114800"/>
            <a:ext cx="5486400" cy="118872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3175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4800" b="1">
                <a:solidFill>
                  <a:srgbClr val="24418C"/>
                </a:solidFill>
                <a:latin typeface="PT Sans"/>
              </a:rPr>
              <a:t>6 л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D3557"/>
                </a:solidFill>
                <a:latin typeface="PT Sans"/>
              </a:rPr>
              <a:t>11-суроо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/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Көлөм жана бет аянты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22/25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" y="1463040"/>
            <a:ext cx="11332159" cy="21945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5400" b="1" i="0">
                <a:solidFill>
                  <a:srgbClr val="1F2430"/>
                </a:solidFill>
                <a:latin typeface="PT Sans"/>
              </a:rPr>
              <a:t>V = 30 см³, түбү 5 × 3 (см). Бийиктиги?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9768" y="4206240"/>
            <a:ext cx="11332159" cy="5486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2200" b="0" i="1">
                <a:solidFill>
                  <a:srgbClr val="6B7280"/>
                </a:solidFill>
                <a:latin typeface="PT Sans"/>
              </a:rPr>
              <a:t>Ойлон… жаз… ыкмаңды айтууга даярдан!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D3557"/>
                </a:solidFill>
                <a:latin typeface="PT Sans"/>
              </a:rPr>
              <a:t>11-суроо — жооп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/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Көлөм жана бет аянты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23/25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" y="1463040"/>
            <a:ext cx="11332159" cy="21945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5400" b="1" i="0">
                <a:solidFill>
                  <a:srgbClr val="1F2430"/>
                </a:solidFill>
                <a:latin typeface="PT Sans"/>
              </a:rPr>
              <a:t>V = 30 см³, түбү 5 × 3 (см). Бийиктиги?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352647" y="4114800"/>
            <a:ext cx="5486400" cy="118872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3175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4800" b="1">
                <a:solidFill>
                  <a:srgbClr val="24418C"/>
                </a:solidFill>
                <a:latin typeface="PT Sans"/>
              </a:rPr>
              <a:t>2 см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D3557"/>
                </a:solidFill>
                <a:latin typeface="PT Sans"/>
              </a:rPr>
              <a:t>12-суроо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/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Көлөм жана бет аянты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24/25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" y="1463040"/>
            <a:ext cx="11332159" cy="21945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5400" b="1" i="0">
                <a:solidFill>
                  <a:srgbClr val="1F2430"/>
                </a:solidFill>
                <a:latin typeface="PT Sans"/>
              </a:rPr>
              <a:t>3 × 1 × 1 (см): 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9768" y="4206240"/>
            <a:ext cx="11332159" cy="5486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2200" b="0" i="1">
                <a:solidFill>
                  <a:srgbClr val="6B7280"/>
                </a:solidFill>
                <a:latin typeface="PT Sans"/>
              </a:rPr>
              <a:t>Ойлон… жаз… ыкмаңды айтууга даярдан!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D3557"/>
                </a:solidFill>
                <a:latin typeface="PT Sans"/>
              </a:rPr>
              <a:t>12-суроо — жооп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/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Көлөм жана бет аянты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25/25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" y="1463040"/>
            <a:ext cx="11332159" cy="21945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5400" b="1" i="0">
                <a:solidFill>
                  <a:srgbClr val="1F2430"/>
                </a:solidFill>
                <a:latin typeface="PT Sans"/>
              </a:rPr>
              <a:t>3 × 1 × 1 (см): 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352647" y="4114800"/>
            <a:ext cx="5486400" cy="118872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3175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4800" b="1">
                <a:solidFill>
                  <a:srgbClr val="24418C"/>
                </a:solidFill>
                <a:latin typeface="PT Sans"/>
              </a:rPr>
              <a:t>14 см²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